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392e103-5b66-69bf-9bd9-b04f8b07009b}">
          <p14:sldIdLst>
            <p14:sldId id="256"/>
          </p14:sldIdLst>
        </p14:section>
        <p14:section name="Gate" id="{d730f3b7-5fbe-b38f-f2c6-a5580545c623}">
          <p14:sldIdLst>
            <p14:sldId id="257"/>
            <p14:sldId id="258"/>
          </p14:sldIdLst>
        </p14:section>
        <p14:section name="Pre-teach" id="{eebda94e-43e4-27ba-b9b0-12d15ca15a82}">
          <p14:sldIdLst>
            <p14:sldId id="259"/>
            <p14:sldId id="260"/>
          </p14:sldIdLst>
        </p14:section>
        <p14:section name="Read-along" id="{a3f6bb49-9786-11a5-4bd3-295bf2b738d8}">
          <p14:sldIdLst>
            <p14:sldId id="261"/>
            <p14:sldId id="262"/>
          </p14:sldIdLst>
        </p14:section>
        <p14:section name="Teach" id="{23af7e64-d8d9-7026-2638-ec0f365f2821}">
          <p14:sldIdLst>
            <p14:sldId id="263"/>
            <p14:sldId id="264"/>
            <p14:sldId id="265"/>
            <p14:sldId id="266"/>
          </p14:sldIdLst>
        </p14:section>
        <p14:section name="Routes" id="{04c7f25a-d8c2-701c-460b-81ab4de8ec61}">
          <p14:sldIdLst>
            <p14:sldId id="267"/>
            <p14:sldId id="268"/>
            <p14:sldId id="269"/>
          </p14:sldIdLst>
        </p14:section>
        <p14:section name="Close" id="{3ac72c42-1288-5844-6a7b-08ef6e751d47}">
          <p14:sldIdLst>
            <p14:sldId id="270"/>
          </p14:sldIdLst>
        </p14:section>
        <p14:section name="Answers" id="{486e61f5-c856-10fd-f4ed-b2c8602cc789}">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China's growth: the environment and the wider world. The environmental price of China's boom, from Beijing's air to the Three Gorges Dam, what sustainable development would mean, and how to judge whether China's investment in Africa is friendship or exploitation.
This deck covers the department's lessons: 8 (China and the environmental problems: What environmental problems has China's economic growth caused, and can its development be sustainable?); 9 (China in Africa (1): investment or exploitation?: What links China and Africa, and why has China invested in some African countries much more than others?); 10 (China in Africa (2): friend or foe?: Is China's growing trade with Africa good or bad for African countries, and what could they do about it?).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river does the Three Gorges Dam cross?  →  A   The Yangtze
2. In August 2010 Beijing's pollution score was 604 and London's was 38. How many points higher was Beijing's?  →  566 points
3. Sustainable development meets the needs of the present without harming the ability of ___ generations to meet their own needs.  →  future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 Yangtze. The Three Gorges Dam spans the Yangtze River at Sandouping, in Hubei province.
2. 566 points. Higher than means the difference: 604 − 38 = 566 points.
3. future. Sustainability is about the future: using what we need now without using up what people not yet born will need.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air pollution: harmful particles and gases in the air. Example: "Air pollution in Beijing was far worse than in London."
• deforestation: cutting down forests without replacing them. Example: "Deforestation leaves hillsides bare and loose."
• hydroelectric: making electricity from falling water held back by a dam. Example: "The Three Gorges Dam is a hydroelectric power station."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sustainable: able to carry on without using up what the future needs. Example: "Clean energy is a more sustainable choice than coal."
• investment: putting money into a place or business to make it grow. Example: "Chinese investment has built new railways in Africa."
• exploitation: using a place or people unfairly for your own gain. Example: "Critics call China's deals in Africa exploitation."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China's fast economic growth has come at a cost to the environment.
2. Its main problems are air pollution, deforestation, landslides and soil erosion.
3. In August 2010 Beijing's air scored 604 on a pollution measure.
4. London's air scored only 38 in the same month.
5. The Three Gorges Dam crosses the Yangtze River in Hubei province.
6. It is the world's largest hydroelectric power station.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It makes electricity without burning coal, but it has caused social, economic and environmental problems.
8. Sustainable development meets today's needs without harming future generations.
9. China also trades with and invests in many African countries.
10. Some people see this as investment that builds roads and railways.
11. Others see it as exploitation of Africa's resources.
12. Geographers test ideas like these against evidence before deciding.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cost of growth: Beijing's air. Say it in your own words, then check understanding with a quick question: ask a pupil from the pre-teach group first, since they met these words and ideas before the lesson. Pupils try to recall before you re-explain.
Your class graph compared particles of pollution in the air of three cities each August. Beijing scored 604 in 2010, 157 in 2011, 162 in 2012, 409 in 2013 and 97 in 2014. London scored 38, 50, 49, 62 and 65. New York scored 24, 11, 19, 29 and 41. Beijing is by far the worst overall: even its best year, 2014, was higher than London's worst. New York's air was the cleanest.
Why is Beijing's air so bad? China burns huge amounts of coal in power stations to run its factories and heat its cities, millions of new cars have filled its roads, and dust blows in from the dry north. Factory cities like Shenzhen have the same problem. A news report at the time compared a day breathing Beijing's air to smoking 40 cigarettes, and estimated that air pollution in China kills 4400 people every day.
Notice the anomaly in Beijing's line: a big fall after 2010, then a jump back up in 2013. One month's reading depends on the weather as well as on how much is burned, which is why geographers look at several years before they draw conclusions.
Worked example — model it step by step, thinking aloud: How much higher was Beijing's August pollution score than London's in 2010? (1) Read both values from the table: Beijing 604, London 38. (2) Higher than means the difference, so subtract: 604 − 38. (3) 604 − 38 = 566. Answer: 566 points higher.
Tip: Use data to support your answer means quote a number from the table, then say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Deforestation, landslides and the Three Gorges Dam. Say it in your own words, then check understanding with a quick question: ask a pupil from the pre-teach group first, since they met these words and ideas before the lesson. Pupils try to recall before you re-explain.
China has cut down forests on a huge scale, for farmland to feed its people, for timber, and for land to build on. Deforestation leaves hillsides bare, so rain washes the soil away (soil erosion) and whole slopes can slide (landslides). The trees that held the soil and soaked up the rain are gone.
The Three Gorges Dam is a hydroelectric dam across the Yangtze River by the town of Sandouping, in the Yiling District of Yichang, in Hubei province. It is the world's largest hydroelectric power station by the electricity it generates each year. Hydroelectric power makes electricity without burning coal, so it helps with air pollution. But the dam has created social, economic and environmental problems: the lake behind it flooded towns and farmland, so people had to leave their homes; it cost an enormous sum to build; and the flooded valley sides have suffered landslides and soil erosion.
To decide whether the dam is good or bad, use the frame from the lesson: economically good or bad because…, environmentally good or bad because…, socially good or bad because…. The top level says whether the dam makes China's development more or less sustainable.
Tip: Social is people, economic is money, environmental is nature. Say which you are using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Can China keep growing? Sustainable development. Say it in your own words, then check understanding with a quick question: ask a pupil from the pre-teach group first, since they met these words and ideas before the lesson. Pupils try to recall before you re-explain.
Sustainable development is development that meets the needs of people today without stopping future generations from meeting their own needs. Burning coal to make goods cheaply meets a need today; the dirty air and the warming climate are costs passed to the future.
China has around 1.4 billion people living in an area smaller than the USA, a rapidly growing economy and enormous demand for energy, water and land. That is why many people see China as a major test of whether development in the twenty-first century can be sustainable. Because China is so big, what it does affects the rest of the world: the goods we buy, the air we share and the climate we all live in.
What could make China's growth more sustainable? Replacing coal with wind, solar and hydroelectric power; planting trees on bare slopes; cleaner cars and better public transport; and stricter limits on what factories may release. When you write about these, use PEE: a point, a piece of evidence from the lesson, and an explanation of why it helps.
Tip: Sustainable has two halves: needs now, and needs in the future. A good answer mentions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China in Africa: investment or exploitation?. Say it in your own words, then check understanding with a quick question: ask a pupil from the pre-teach group first, since they met these words and ideas before the lesson. Pupils try to recall before you re-explain.
China's growth needs raw materials, and Africa has them: metals, oil and farmland. Chinese firms and the Chinese government have invested heavily in African countries, building roads, railways, ports, power stations and stadiums, and buying resources in return. The investment is uneven: a map of it shows some countries receiving far more than others, usually those with the resources China wants or the ports it needs. China's wider plan to build trade routes across Asia, Africa and Europe is known as the Belt and Road Initiative (BRI).
Is this good or bad for Africa? One view says investment: new infrastructure, jobs and trade that African countries could not afford alone. The other says exploitation: resources leave cheaply, the best jobs go to Chinese workers, and the country gains little. The lesson's starter asks who holds the power in the conversation; the opinion line asks you to mark where you stand between the two.
Geographers do not decide by feeling. The lesson sets a hypothesis (China in Africa: friend or foe?), tests it against evidence cards, sorts the evidence as friend or foe, and then reaches a joint decision with a partner, supported by an example. The follow-up questions are the hard ones: is the relationship unfair, what could African countries do to make it work better for them, and what would be the problem with a Pan-African approach, where Africa negotiates as one continent instead of as separate countries?
Tip: Justify means give your decision and the evidence that led you to it, including the evidence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Beijing's average score.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Beijing's August pollution scores were 604, 157, 162, 409 and 97 for 2010 to 2014. What was the mean score over the five years?
Support — work through the steps with the group: (1) The mean is the total shared equally between the years. (2) Add the five scores carefully; a running total helps. (3) Count the years: five. (4) Divide the total by 5 and keep one decimal place.
Parallel worked example for Support (model it, do not give the task answer): London's August scores were 38, 50, 49, 62 and 65. What was the mean? 38 + 50 + 49 + 62 + 65 = 264.; 264 ÷ 5 = 52.8.. Answer: 52.8 points.
Core — reveal the hint only on request: Total of the five, divided by five.
Stretch — no help; when finished: Work out New York's mean (24, 11, 19, 29, 41) and say roughly how many times higher Beijing's mean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problems, four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China's environmental problems to its description.
Support — work through the steps with the group: (1) Air pollution is the only problem about the air: look for particles. (2) Deforestation is about trees being removed. (3) Soil erosion and landslides both follow deforestation: one is soil washed away a little at a time, the other is a whole slope moving. (4) Erosion is gradual; a slide is sudden.
Parallel worked example for Support (model it, do not give the task answer): Match: water pollution, flooding. Descriptions: a river bursts its banks after heavy rain; chemicals from a factory poison a river. Pollution is about something harmful getting in.; Flooding is about water going where it should not.. Answer: Water pollution: chemicals from a factory poison a river. Flooding: a river bursts its banks after heavy rain..
Core — reveal the hint only on request: Air, trees, soil, slope: one each.
Stretch — no help; when finished: Explain how the Three Gorges Dam links to two of these four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Four problems, four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China's environmental problems to its description.
Support — work through the steps with the group: (1) Air pollution is the only problem about the air: look for particles. (2) Deforestation is about trees being removed. (3) Soil erosion and landslides both follow deforestation: one is soil washed away a little at a time, the other is a whole slope moving. (4) Erosion is gradual; a slide is sudden.
Parallel worked example for Support (model it, do not give the task answer): Match: water pollution, flooding. Descriptions: a river bursts its banks after heavy rain; chemicals from a factory poison a river. Pollution is about something harmful getting in.; Flooding is about water going where it should not.. Answer: Water pollution: chemicals from a factory poison a river. Flooding: a river bursts its banks after heavy rain..
Core — reveal the hint only on request: Air, trees, soil, slope: one each.
Stretch — no help; when finished: Explain how the Three Gorges Dam links to two of these four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river does the Three Gorges Dam cross?
Answer: D   The Yangtze. The Three Gorges Dam spans the Yangtze River at Sandouping, in Hubei province.
Source of this question: gate item 1 re-asked (options rotated) — this chapter has no third quick-check module.
The ebook also holds task 3, "Friend or foe?",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Beijing's average score. Reveal the answer; pupils mark their own work in a different colour, then read the "why" together. Same destination for every lane, so one answer serves the whole class.
Answer: 285.8 points
Why: The five scores total 1429; divided by five years that is a mean of 285.8, more than five times London's mean of 52.8.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Four problems, four causes. Reveal the answer; pupils mark their own work in a different colour, then read the "why" together. Same destination for every lane, so one answer serves the whole class.
Answer: Air pollution  →  B  Coal power stations, factories and traffic fill the air with harmful particles; Deforestation  →  D  Forests are cut down for farmland, timber and building land; Soil erosion  →  A  Rain washes soil off slopes that have lost the trees that held it; Landslides  →  C  Bare or flooded valley sides give way and slide downhill
Why: Air pollution comes from what China burns; deforestation is the loss of trees; soil erosion is the slow washing-away that follows; landslides are the sudden failure of bare or flooded slopes.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 Yangtze
Why: The Three Gorges Dam spans the Yangtze River at Sandouping, in Hubei province.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185724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China's growth: the environment and the wider world</a:t>
            </a:r>
            <a:endParaRPr lang="en-US" sz="2800" dirty="0"/>
          </a:p>
        </p:txBody>
      </p:sp>
      <p:sp>
        <p:nvSpPr>
          <p:cNvPr id="11" name="lessons-card"/>
          <p:cNvSpPr/>
          <p:nvPr/>
        </p:nvSpPr>
        <p:spPr>
          <a:xfrm>
            <a:off x="548640" y="3599688"/>
            <a:ext cx="5287975" cy="1986280"/>
          </a:xfrm>
          <a:prstGeom prst="roundRect">
            <a:avLst>
              <a:gd name="adj" fmla="val 3683"/>
            </a:avLst>
          </a:prstGeom>
          <a:solidFill>
            <a:srgbClr val="EFF2F0"/>
          </a:solidFill>
          <a:ln/>
        </p:spPr>
      </p:sp>
      <p:sp>
        <p:nvSpPr>
          <p:cNvPr id="12" name="lessons"/>
          <p:cNvSpPr txBox="1"/>
          <p:nvPr/>
        </p:nvSpPr>
        <p:spPr>
          <a:xfrm>
            <a:off x="685800" y="369112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China and the environmental problems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China in Africa (1): investment or exploitation?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China in Africa (2): friend or foe?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river does the Three Gorges Dam cross?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Yangtze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Ganges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Mekong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Yellow River</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August 2010 Beijing's pollution score was 604 and London's was 38. How many points higher was Beijing's?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points</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Sustainable development meets the needs of the present without harming the ability of ___ generations to meet their own needs.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future  ·  past  ·  wealthy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Yangtze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river does the Three Gorges Dam cross?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Three Gorges Dam spans the Yangtze River at Sandouping, in Hubei province.</a:t>
            </a:r>
            <a:endParaRPr lang="en-US" sz="22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566 points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August 2010 Beijing's pollution score was 604 and London's was 38. How many points higher was Beijing's?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Higher than means the difference: 604 − 38 = 566 points.</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future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Sustainable development meets the needs of the present without harming the ability of ___ generations to meet their own needs.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Sustainability is about the future: using what we need now without using up what people not yet born will need.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air pollution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harmful particles and gases in the 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Air pollution in Beijing was far worse than in London.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deforestation</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down forests without replacing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Deforestation leaves hillsides bare and loose.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hydroelectric</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electricity from falling water held back by a dam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Three Gorges Dam is a hydroelectric power station.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sustainable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able to carry on without using up what the future needs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Clean energy is a more sustainable choice than coal.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investment</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putting money into a place or business to make it grow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Chinese investment has built new railways in Africa.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exploitation</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using a place or people unfairly for your own gain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Critics call China's deals in Africa exploitation.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China's fast economic growth has come at a cost to the environment.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main problems are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air pollution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deforestation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landslides and soil erosion.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August 2010 Beijing's air scored 604 on a pollution measure.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London's air scored only 38 in the same month.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Three Gorges Dam crosses the Yangtze River in Hubei province.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the world's largest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hydroelectric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power station.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makes electricity without burning coal, but it has caused social, economic and environmental problems.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Sustainable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development meets today's needs without harming future generations.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China also trades with and invests in many African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people see this 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investment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that builds roads and railways.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Others see it 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exploitation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Africa's resources.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Geographers test ideas like these against evidence before deciding.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cost of growth: Beijing's air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data to support your answer means quote a number from the table, then say what it shows.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2B7A7"/>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much higher was Beijing's August pollution score than London's in 2010?</a:t>
            </a:r>
            <a:endParaRPr lang="en-US" sz="1800" dirty="0"/>
          </a:p>
        </p:txBody>
      </p:sp>
      <p:sp>
        <p:nvSpPr>
          <p:cNvPr id="14" name="step-box"/>
          <p:cNvSpPr/>
          <p:nvPr/>
        </p:nvSpPr>
        <p:spPr>
          <a:xfrm>
            <a:off x="6126480" y="2888488"/>
            <a:ext cx="5379415" cy="794512"/>
          </a:xfrm>
          <a:prstGeom prst="roundRect">
            <a:avLst>
              <a:gd name="adj" fmla="val 11509"/>
            </a:avLst>
          </a:prstGeom>
          <a:solidFill>
            <a:srgbClr val="EFF2F0"/>
          </a:solidFill>
          <a:ln/>
        </p:spPr>
      </p:sp>
      <p:sp>
        <p:nvSpPr>
          <p:cNvPr id="15" name="step-hex"/>
          <p:cNvSpPr/>
          <p:nvPr/>
        </p:nvSpPr>
        <p:spPr>
          <a:xfrm>
            <a:off x="6217920" y="3103614"/>
            <a:ext cx="420624" cy="364260"/>
          </a:xfrm>
          <a:prstGeom prst="hexagon">
            <a:avLst/>
          </a:prstGeom>
          <a:solidFill>
            <a:srgbClr val="3F6B4A"/>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Read both values from the table: Beijing 604, London 38.</a:t>
            </a:r>
            <a:endParaRPr lang="en-US" sz="1800" dirty="0"/>
          </a:p>
        </p:txBody>
      </p:sp>
      <p:sp>
        <p:nvSpPr>
          <p:cNvPr id="18" name="step-box"/>
          <p:cNvSpPr/>
          <p:nvPr/>
        </p:nvSpPr>
        <p:spPr>
          <a:xfrm>
            <a:off x="6126480" y="3774440"/>
            <a:ext cx="5379415" cy="794512"/>
          </a:xfrm>
          <a:prstGeom prst="roundRect">
            <a:avLst>
              <a:gd name="adj" fmla="val 11509"/>
            </a:avLst>
          </a:prstGeom>
          <a:solidFill>
            <a:srgbClr val="EFF2F0"/>
          </a:solidFill>
          <a:ln/>
        </p:spPr>
      </p:sp>
      <p:sp>
        <p:nvSpPr>
          <p:cNvPr id="19" name="step-hex"/>
          <p:cNvSpPr/>
          <p:nvPr/>
        </p:nvSpPr>
        <p:spPr>
          <a:xfrm>
            <a:off x="6217920" y="3989566"/>
            <a:ext cx="420624" cy="364260"/>
          </a:xfrm>
          <a:prstGeom prst="hexagon">
            <a:avLst/>
          </a:prstGeom>
          <a:solidFill>
            <a:srgbClr val="3F6B4A"/>
          </a:solidFill>
          <a:ln/>
        </p:spPr>
      </p:sp>
      <p:sp>
        <p:nvSpPr>
          <p:cNvPr id="20" name="step-hex-label"/>
          <p:cNvSpPr txBox="1"/>
          <p:nvPr/>
        </p:nvSpPr>
        <p:spPr>
          <a:xfrm>
            <a:off x="6217920" y="39895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Higher than means the difference, so subtract: 604 − 38.</a:t>
            </a:r>
            <a:endParaRPr lang="en-US" sz="1800" dirty="0"/>
          </a:p>
        </p:txBody>
      </p:sp>
      <p:sp>
        <p:nvSpPr>
          <p:cNvPr id="22" name="step-box"/>
          <p:cNvSpPr/>
          <p:nvPr/>
        </p:nvSpPr>
        <p:spPr>
          <a:xfrm>
            <a:off x="6126480" y="4660392"/>
            <a:ext cx="5379415" cy="566928"/>
          </a:xfrm>
          <a:prstGeom prst="roundRect">
            <a:avLst>
              <a:gd name="adj" fmla="val 16129"/>
            </a:avLst>
          </a:prstGeom>
          <a:solidFill>
            <a:srgbClr val="EFF2F0"/>
          </a:solidFill>
          <a:ln/>
        </p:spPr>
      </p:sp>
      <p:sp>
        <p:nvSpPr>
          <p:cNvPr id="23" name="step-hex"/>
          <p:cNvSpPr/>
          <p:nvPr/>
        </p:nvSpPr>
        <p:spPr>
          <a:xfrm>
            <a:off x="6217920" y="4761726"/>
            <a:ext cx="420624" cy="364260"/>
          </a:xfrm>
          <a:prstGeom prst="hexagon">
            <a:avLst/>
          </a:prstGeom>
          <a:solidFill>
            <a:srgbClr val="3F6B4A"/>
          </a:solidFill>
          <a:ln/>
        </p:spPr>
      </p:sp>
      <p:sp>
        <p:nvSpPr>
          <p:cNvPr id="24" name="step-hex-label"/>
          <p:cNvSpPr txBox="1"/>
          <p:nvPr/>
        </p:nvSpPr>
        <p:spPr>
          <a:xfrm>
            <a:off x="6217920" y="47617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6039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604 − 38 = 566.</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566 points higher</a:t>
            </a:r>
            <a:endParaRPr lang="en-US" sz="1800" dirty="0"/>
          </a:p>
        </p:txBody>
      </p:sp>
      <p:sp>
        <p:nvSpPr>
          <p:cNvPr id="27" name="bullet-card"/>
          <p:cNvSpPr/>
          <p:nvPr/>
        </p:nvSpPr>
        <p:spPr>
          <a:xfrm>
            <a:off x="548640" y="1389888"/>
            <a:ext cx="5074920" cy="1165606"/>
          </a:xfrm>
          <a:prstGeom prst="roundRect">
            <a:avLst>
              <a:gd name="adj" fmla="val 6276"/>
            </a:avLst>
          </a:prstGeom>
          <a:solidFill>
            <a:srgbClr val="F3F5F3"/>
          </a:solidFill>
          <a:ln/>
        </p:spPr>
      </p:sp>
      <p:sp>
        <p:nvSpPr>
          <p:cNvPr id="28" name="bullet-hex"/>
          <p:cNvSpPr/>
          <p:nvPr/>
        </p:nvSpPr>
        <p:spPr>
          <a:xfrm>
            <a:off x="676656" y="1806398"/>
            <a:ext cx="384048" cy="332586"/>
          </a:xfrm>
          <a:prstGeom prst="hexagon">
            <a:avLst/>
          </a:prstGeom>
          <a:solidFill>
            <a:srgbClr val="3F6B4A"/>
          </a:solidFill>
          <a:ln/>
        </p:spPr>
      </p:sp>
      <p:sp>
        <p:nvSpPr>
          <p:cNvPr id="29" name="bullet"/>
          <p:cNvSpPr txBox="1"/>
          <p:nvPr/>
        </p:nvSpPr>
        <p:spPr>
          <a:xfrm>
            <a:off x="1143000" y="1389888"/>
            <a:ext cx="4389120" cy="11656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class graph compared particles of pollution in the air of three cities each August.</a:t>
            </a:r>
            <a:endParaRPr lang="en-US" sz="2000" dirty="0"/>
          </a:p>
        </p:txBody>
      </p:sp>
      <p:sp>
        <p:nvSpPr>
          <p:cNvPr id="30" name="bullet-card"/>
          <p:cNvSpPr/>
          <p:nvPr/>
        </p:nvSpPr>
        <p:spPr>
          <a:xfrm>
            <a:off x="548640" y="2701798"/>
            <a:ext cx="5074920" cy="2095246"/>
          </a:xfrm>
          <a:prstGeom prst="roundRect">
            <a:avLst>
              <a:gd name="adj" fmla="val 3491"/>
            </a:avLst>
          </a:prstGeom>
          <a:solidFill>
            <a:srgbClr val="F3F5F3"/>
          </a:solidFill>
          <a:ln/>
        </p:spPr>
      </p:sp>
      <p:sp>
        <p:nvSpPr>
          <p:cNvPr id="31" name="bullet-hex"/>
          <p:cNvSpPr/>
          <p:nvPr/>
        </p:nvSpPr>
        <p:spPr>
          <a:xfrm>
            <a:off x="676656" y="3583128"/>
            <a:ext cx="384048" cy="332586"/>
          </a:xfrm>
          <a:prstGeom prst="hexagon">
            <a:avLst/>
          </a:prstGeom>
          <a:solidFill>
            <a:srgbClr val="B8862B"/>
          </a:solidFill>
          <a:ln/>
        </p:spPr>
      </p:sp>
      <p:sp>
        <p:nvSpPr>
          <p:cNvPr id="32" name="bullet"/>
          <p:cNvSpPr txBox="1"/>
          <p:nvPr/>
        </p:nvSpPr>
        <p:spPr>
          <a:xfrm>
            <a:off x="1143000" y="2701798"/>
            <a:ext cx="4389120" cy="20952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Why is Beijing's air so bad? China burns huge amounts of coal in power stations to run its factories and heat its cities, millions of new cars have filled its roads, and dust blows in from the dry north.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Deforestation, landslides and the Three Gorges Dam</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is people, economic is money, environmental is nature. Say which you are using each time.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China has cut down forests on a huge scale, for farmland to feed its people, for timber, and for land to build on.</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Three Gorges Dam is a hydroelectric dam across the Yangtze River by the town of Sandouping, in the Yiling District of Yichang, in Hubei province.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decide whether the dam is good or bad, use the frame from the lesson: economically good or bad because…, environmentally good or bad because…, socially good or bad because….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Can China keep growing? Sustainable development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Sustainable has two halves: needs now, and needs in the future. A good answer mentions both.</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Sustainable development is development that meets the needs of people today without stopping future generations from meeting their own needs.</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China has around 1.4 billion people living in an area smaller than the USA, a rapidly growing economy and enormous demand for energy, water and land.</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What could make China's growth more sustainable? Replacing coal with wind, solar and hydroelectric power; planting trees on bare slopes; cleaner cars and better public transport; and stricter limits on what factories may release.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China in Africa: investment or exploitation?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Justify means give your decision and the evidence that led you to it, including the evidence against.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China's growth needs raw materials, and Africa has them: metals, oil and farmland.</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Is this good or bad for Africa? One view says investment: new infrastructure, jobs and trade that African countries could not afford alone.</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Geographers do not decide by feeling. The lesson sets a hypothesis (China in Africa: friend or foe?), tests it against evidence cards, sorts the evidence as friend or foe, and then reaches a joint decision with a partner, supported by an example.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Beijing's average score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Beijing's August pollution scores were 604, 157, 162, 409 and 97 for 2010 to 2014. What was the mean score over the five years?</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points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FF2F0"/>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mean is the total shared equally between the years.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five scores carefully; a running total helps.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years: five.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total by 5 and keep one decimal place.</a:t>
            </a:r>
            <a:endParaRPr lang="en-US" sz="1800" dirty="0"/>
          </a:p>
        </p:txBody>
      </p:sp>
      <p:sp>
        <p:nvSpPr>
          <p:cNvPr id="17" name="col-Core"/>
          <p:cNvSpPr/>
          <p:nvPr/>
        </p:nvSpPr>
        <p:spPr>
          <a:xfrm>
            <a:off x="4338218" y="2948940"/>
            <a:ext cx="3515258" cy="3195828"/>
          </a:xfrm>
          <a:prstGeom prst="roundRect">
            <a:avLst>
              <a:gd name="adj" fmla="val 1717"/>
            </a:avLst>
          </a:prstGeom>
          <a:solidFill>
            <a:srgbClr val="D8E1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Total of the five, divided by five.</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3F6B4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New York's mean (24, 11, 19, 29, 41) and say roughly how many times higher Beijing's mean 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problems, four causes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of China's environmental problems to its description.</a:t>
            </a:r>
            <a:endParaRPr lang="en-US" sz="2200" dirty="0"/>
          </a:p>
        </p:txBody>
      </p:sp>
      <p:sp>
        <p:nvSpPr>
          <p:cNvPr id="11" name="match-card"/>
          <p:cNvSpPr/>
          <p:nvPr/>
        </p:nvSpPr>
        <p:spPr>
          <a:xfrm>
            <a:off x="777240" y="2468331"/>
            <a:ext cx="3081437" cy="949589"/>
          </a:xfrm>
          <a:prstGeom prst="roundRect">
            <a:avLst>
              <a:gd name="adj" fmla="val 7704"/>
            </a:avLst>
          </a:prstGeom>
          <a:solidFill>
            <a:srgbClr val="F3F5F3"/>
          </a:solidFill>
          <a:ln/>
        </p:spPr>
      </p:sp>
      <p:sp>
        <p:nvSpPr>
          <p:cNvPr id="12" name="match-hex"/>
          <p:cNvSpPr/>
          <p:nvPr/>
        </p:nvSpPr>
        <p:spPr>
          <a:xfrm>
            <a:off x="850392" y="2776833"/>
            <a:ext cx="384048" cy="332586"/>
          </a:xfrm>
          <a:prstGeom prst="hexagon">
            <a:avLst/>
          </a:prstGeom>
          <a:solidFill>
            <a:srgbClr val="3F6B4A"/>
          </a:solidFill>
          <a:ln/>
        </p:spPr>
      </p:sp>
      <p:sp>
        <p:nvSpPr>
          <p:cNvPr id="13" name="match-hex-label"/>
          <p:cNvSpPr txBox="1"/>
          <p:nvPr/>
        </p:nvSpPr>
        <p:spPr>
          <a:xfrm>
            <a:off x="850392" y="27768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Air pollution</a:t>
            </a:r>
            <a:endParaRPr lang="en-US" sz="2000" dirty="0"/>
          </a:p>
        </p:txBody>
      </p:sp>
      <p:sp>
        <p:nvSpPr>
          <p:cNvPr id="15" name="match-card"/>
          <p:cNvSpPr/>
          <p:nvPr/>
        </p:nvSpPr>
        <p:spPr>
          <a:xfrm>
            <a:off x="4224437" y="2468331"/>
            <a:ext cx="7190019" cy="949589"/>
          </a:xfrm>
          <a:prstGeom prst="roundRect">
            <a:avLst>
              <a:gd name="adj" fmla="val 7704"/>
            </a:avLst>
          </a:prstGeom>
          <a:solidFill>
            <a:srgbClr val="F8F2E9"/>
          </a:solidFill>
          <a:ln/>
        </p:spPr>
      </p:sp>
      <p:sp>
        <p:nvSpPr>
          <p:cNvPr id="16" name="match-hex"/>
          <p:cNvSpPr/>
          <p:nvPr/>
        </p:nvSpPr>
        <p:spPr>
          <a:xfrm>
            <a:off x="4297589" y="2776833"/>
            <a:ext cx="384048" cy="332586"/>
          </a:xfrm>
          <a:prstGeom prst="hexagon">
            <a:avLst/>
          </a:prstGeom>
          <a:solidFill>
            <a:srgbClr val="B8862B"/>
          </a:solidFill>
          <a:ln/>
        </p:spPr>
      </p:sp>
      <p:sp>
        <p:nvSpPr>
          <p:cNvPr id="17" name="match-hex-label"/>
          <p:cNvSpPr txBox="1"/>
          <p:nvPr/>
        </p:nvSpPr>
        <p:spPr>
          <a:xfrm>
            <a:off x="4297589" y="277683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Rain washes soil off slopes that have lost the trees that held it</a:t>
            </a:r>
            <a:endParaRPr lang="en-US" sz="2000" dirty="0"/>
          </a:p>
        </p:txBody>
      </p:sp>
      <p:sp>
        <p:nvSpPr>
          <p:cNvPr id="19" name="match-card"/>
          <p:cNvSpPr/>
          <p:nvPr/>
        </p:nvSpPr>
        <p:spPr>
          <a:xfrm>
            <a:off x="777240" y="3509361"/>
            <a:ext cx="3081437" cy="949589"/>
          </a:xfrm>
          <a:prstGeom prst="roundRect">
            <a:avLst>
              <a:gd name="adj" fmla="val 7704"/>
            </a:avLst>
          </a:prstGeom>
          <a:solidFill>
            <a:srgbClr val="F3F5F3"/>
          </a:solidFill>
          <a:ln/>
        </p:spPr>
      </p:sp>
      <p:sp>
        <p:nvSpPr>
          <p:cNvPr id="20" name="match-hex"/>
          <p:cNvSpPr/>
          <p:nvPr/>
        </p:nvSpPr>
        <p:spPr>
          <a:xfrm>
            <a:off x="850392" y="3817862"/>
            <a:ext cx="384048" cy="332586"/>
          </a:xfrm>
          <a:prstGeom prst="hexagon">
            <a:avLst/>
          </a:prstGeom>
          <a:solidFill>
            <a:srgbClr val="3F6B4A"/>
          </a:solidFill>
          <a:ln/>
        </p:spPr>
      </p:sp>
      <p:sp>
        <p:nvSpPr>
          <p:cNvPr id="21" name="match-hex-label"/>
          <p:cNvSpPr txBox="1"/>
          <p:nvPr/>
        </p:nvSpPr>
        <p:spPr>
          <a:xfrm>
            <a:off x="850392" y="3817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09361"/>
            <a:ext cx="2487077"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Deforestation</a:t>
            </a:r>
            <a:endParaRPr lang="en-US" sz="2000" dirty="0"/>
          </a:p>
        </p:txBody>
      </p:sp>
      <p:sp>
        <p:nvSpPr>
          <p:cNvPr id="23" name="match-card"/>
          <p:cNvSpPr/>
          <p:nvPr/>
        </p:nvSpPr>
        <p:spPr>
          <a:xfrm>
            <a:off x="4224437" y="3509361"/>
            <a:ext cx="7190019" cy="949589"/>
          </a:xfrm>
          <a:prstGeom prst="roundRect">
            <a:avLst>
              <a:gd name="adj" fmla="val 7704"/>
            </a:avLst>
          </a:prstGeom>
          <a:solidFill>
            <a:srgbClr val="F8F2E9"/>
          </a:solidFill>
          <a:ln/>
        </p:spPr>
      </p:sp>
      <p:sp>
        <p:nvSpPr>
          <p:cNvPr id="24" name="match-hex"/>
          <p:cNvSpPr/>
          <p:nvPr/>
        </p:nvSpPr>
        <p:spPr>
          <a:xfrm>
            <a:off x="4297589" y="3817862"/>
            <a:ext cx="384048" cy="332586"/>
          </a:xfrm>
          <a:prstGeom prst="hexagon">
            <a:avLst/>
          </a:prstGeom>
          <a:solidFill>
            <a:srgbClr val="B8862B"/>
          </a:solidFill>
          <a:ln/>
        </p:spPr>
      </p:sp>
      <p:sp>
        <p:nvSpPr>
          <p:cNvPr id="25" name="match-hex-label"/>
          <p:cNvSpPr txBox="1"/>
          <p:nvPr/>
        </p:nvSpPr>
        <p:spPr>
          <a:xfrm>
            <a:off x="4297589" y="3817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09361"/>
            <a:ext cx="6595659" cy="94958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Coal power stations, factories and traffic fill the air with harmful particles</a:t>
            </a:r>
            <a:endParaRPr lang="en-US" sz="2000" dirty="0"/>
          </a:p>
        </p:txBody>
      </p:sp>
      <p:sp>
        <p:nvSpPr>
          <p:cNvPr id="27" name="match-card"/>
          <p:cNvSpPr/>
          <p:nvPr/>
        </p:nvSpPr>
        <p:spPr>
          <a:xfrm>
            <a:off x="777240" y="4550390"/>
            <a:ext cx="3081437" cy="660029"/>
          </a:xfrm>
          <a:prstGeom prst="roundRect">
            <a:avLst>
              <a:gd name="adj" fmla="val 11083"/>
            </a:avLst>
          </a:prstGeom>
          <a:solidFill>
            <a:srgbClr val="F3F5F3"/>
          </a:solidFill>
          <a:ln/>
        </p:spPr>
      </p:sp>
      <p:sp>
        <p:nvSpPr>
          <p:cNvPr id="28" name="match-hex"/>
          <p:cNvSpPr/>
          <p:nvPr/>
        </p:nvSpPr>
        <p:spPr>
          <a:xfrm>
            <a:off x="850392" y="4714111"/>
            <a:ext cx="384048" cy="332586"/>
          </a:xfrm>
          <a:prstGeom prst="hexagon">
            <a:avLst/>
          </a:prstGeom>
          <a:solidFill>
            <a:srgbClr val="3F6B4A"/>
          </a:solidFill>
          <a:ln/>
        </p:spPr>
      </p:sp>
      <p:sp>
        <p:nvSpPr>
          <p:cNvPr id="29" name="match-hex-label"/>
          <p:cNvSpPr txBox="1"/>
          <p:nvPr/>
        </p:nvSpPr>
        <p:spPr>
          <a:xfrm>
            <a:off x="850392" y="47141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550390"/>
            <a:ext cx="2487077"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Soil erosion</a:t>
            </a:r>
            <a:endParaRPr lang="en-US" sz="2000" dirty="0"/>
          </a:p>
        </p:txBody>
      </p:sp>
      <p:sp>
        <p:nvSpPr>
          <p:cNvPr id="31" name="match-card"/>
          <p:cNvSpPr/>
          <p:nvPr/>
        </p:nvSpPr>
        <p:spPr>
          <a:xfrm>
            <a:off x="4224437" y="4550390"/>
            <a:ext cx="7190019" cy="660029"/>
          </a:xfrm>
          <a:prstGeom prst="roundRect">
            <a:avLst>
              <a:gd name="adj" fmla="val 11083"/>
            </a:avLst>
          </a:prstGeom>
          <a:solidFill>
            <a:srgbClr val="F8F2E9"/>
          </a:solidFill>
          <a:ln/>
        </p:spPr>
      </p:sp>
      <p:sp>
        <p:nvSpPr>
          <p:cNvPr id="32" name="match-hex"/>
          <p:cNvSpPr/>
          <p:nvPr/>
        </p:nvSpPr>
        <p:spPr>
          <a:xfrm>
            <a:off x="4297589" y="4714111"/>
            <a:ext cx="384048" cy="332586"/>
          </a:xfrm>
          <a:prstGeom prst="hexagon">
            <a:avLst/>
          </a:prstGeom>
          <a:solidFill>
            <a:srgbClr val="B8862B"/>
          </a:solidFill>
          <a:ln/>
        </p:spPr>
      </p:sp>
      <p:sp>
        <p:nvSpPr>
          <p:cNvPr id="33" name="match-hex-label"/>
          <p:cNvSpPr txBox="1"/>
          <p:nvPr/>
        </p:nvSpPr>
        <p:spPr>
          <a:xfrm>
            <a:off x="4297589" y="47141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550390"/>
            <a:ext cx="6595659"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Bare or flooded valley sides give way and slide downhill</a:t>
            </a:r>
            <a:endParaRPr lang="en-US" sz="2000" dirty="0"/>
          </a:p>
        </p:txBody>
      </p:sp>
      <p:sp>
        <p:nvSpPr>
          <p:cNvPr id="35" name="match-card"/>
          <p:cNvSpPr/>
          <p:nvPr/>
        </p:nvSpPr>
        <p:spPr>
          <a:xfrm>
            <a:off x="777240" y="5301859"/>
            <a:ext cx="3081437" cy="660029"/>
          </a:xfrm>
          <a:prstGeom prst="roundRect">
            <a:avLst>
              <a:gd name="adj" fmla="val 11083"/>
            </a:avLst>
          </a:prstGeom>
          <a:solidFill>
            <a:srgbClr val="F3F5F3"/>
          </a:solidFill>
          <a:ln/>
        </p:spPr>
      </p:sp>
      <p:sp>
        <p:nvSpPr>
          <p:cNvPr id="36" name="match-hex"/>
          <p:cNvSpPr/>
          <p:nvPr/>
        </p:nvSpPr>
        <p:spPr>
          <a:xfrm>
            <a:off x="850392" y="5465581"/>
            <a:ext cx="384048" cy="332586"/>
          </a:xfrm>
          <a:prstGeom prst="hexagon">
            <a:avLst/>
          </a:prstGeom>
          <a:solidFill>
            <a:srgbClr val="3F6B4A"/>
          </a:solidFill>
          <a:ln/>
        </p:spPr>
      </p:sp>
      <p:sp>
        <p:nvSpPr>
          <p:cNvPr id="37" name="match-hex-label"/>
          <p:cNvSpPr txBox="1"/>
          <p:nvPr/>
        </p:nvSpPr>
        <p:spPr>
          <a:xfrm>
            <a:off x="850392" y="54655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01859"/>
            <a:ext cx="2487077"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Landslides</a:t>
            </a:r>
            <a:endParaRPr lang="en-US" sz="2000" dirty="0"/>
          </a:p>
        </p:txBody>
      </p:sp>
      <p:sp>
        <p:nvSpPr>
          <p:cNvPr id="39" name="match-card"/>
          <p:cNvSpPr/>
          <p:nvPr/>
        </p:nvSpPr>
        <p:spPr>
          <a:xfrm>
            <a:off x="4224437" y="5301859"/>
            <a:ext cx="7190019" cy="660029"/>
          </a:xfrm>
          <a:prstGeom prst="roundRect">
            <a:avLst>
              <a:gd name="adj" fmla="val 11083"/>
            </a:avLst>
          </a:prstGeom>
          <a:solidFill>
            <a:srgbClr val="F8F2E9"/>
          </a:solidFill>
          <a:ln/>
        </p:spPr>
      </p:sp>
      <p:sp>
        <p:nvSpPr>
          <p:cNvPr id="40" name="match-hex"/>
          <p:cNvSpPr/>
          <p:nvPr/>
        </p:nvSpPr>
        <p:spPr>
          <a:xfrm>
            <a:off x="4297589" y="5465581"/>
            <a:ext cx="384048" cy="332586"/>
          </a:xfrm>
          <a:prstGeom prst="hexagon">
            <a:avLst/>
          </a:prstGeom>
          <a:solidFill>
            <a:srgbClr val="B8862B"/>
          </a:solidFill>
          <a:ln/>
        </p:spPr>
      </p:sp>
      <p:sp>
        <p:nvSpPr>
          <p:cNvPr id="41" name="match-hex-label"/>
          <p:cNvSpPr txBox="1"/>
          <p:nvPr/>
        </p:nvSpPr>
        <p:spPr>
          <a:xfrm>
            <a:off x="4297589" y="546558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01859"/>
            <a:ext cx="6595659" cy="66002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Forests are cut down for farmland, timber and building land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Four problems, four causes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Four problems, four causes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Air pollution is the only problem about the air: look for particles.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Deforestation is about trees being removed.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Soil erosion and landslides both follow deforestation: one is soil washed away a little at a time, the other is a whole slope moving.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Erosion is gradual; a slide is sudden.</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Air, trees, soil, slope: one each.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Three Gorges Dam links to two of these four problems.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river does the Three Gorges Dam cross?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Ganges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Mekong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Yellow River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Yangtze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Beijing's average score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Beijing's August pollution scores were 604, 157, 162, 409 and 97 for 2010 to 2014. What was the mean score over the five years?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285.8 points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five scores total 1429; divided by five years that is a mean of 285.8, more than five times London's mean of 52.8.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problems, four causes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Air pollution  →  B  Coal power stations, factories and traffic fill the air with harmful particles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Deforestation  →  D  Forests are cut down for farmland, timber and building land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Soil erosion  →  A  Rain washes soil off slopes that have lost the trees that held it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Landslides  →  C  Bare or flooded valley sides give way and slide downhill</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Air pollution comes from what China burns; deforestation is the loss of trees; soil erosion is the slow washing-away that follows; landslides are the sudden failure of bare or flooded slopes.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river does the Three Gorges Dam cross?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 Yangtze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Three Gorges Dam spans the Yangtze River at Sandouping, in Hubei province.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6: China's growth: the environment and the wider world</dc:title>
  <dc:subject>Geography · Year 8</dc:subject>
  <dc:creator>Dr Vitor Merissi de Carvalho</dc:creator>
  <cp:lastModifiedBy>Dr Vitor Merissi de Carvalho</cp:lastModifiedBy>
  <cp:revision>1</cp:revision>
  <dcterms:created xsi:type="dcterms:W3CDTF">2026-10-19T06:07:34Z</dcterms:created>
  <dcterms:modified xsi:type="dcterms:W3CDTF">2026-10-19T06:07:34Z</dcterms:modified>
</cp:coreProperties>
</file>