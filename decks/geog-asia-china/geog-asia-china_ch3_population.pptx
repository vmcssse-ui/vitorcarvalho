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feca722-0d2c-4290-cdba-320aa60d5f11}">
          <p14:sldIdLst>
            <p14:sldId id="256"/>
          </p14:sldIdLst>
        </p14:section>
        <p14:section name="Gate" id="{dea25ac0-0f3a-1d7e-48a0-80b0bbbbf5ad}">
          <p14:sldIdLst>
            <p14:sldId id="257"/>
            <p14:sldId id="258"/>
          </p14:sldIdLst>
        </p14:section>
        <p14:section name="Pre-teach" id="{469d162e-7a76-0628-ad51-60a48bda6c42}">
          <p14:sldIdLst>
            <p14:sldId id="259"/>
            <p14:sldId id="260"/>
          </p14:sldIdLst>
        </p14:section>
        <p14:section name="Read-along" id="{596192d6-dd65-0f99-805b-d0fa69f91c1d}">
          <p14:sldIdLst>
            <p14:sldId id="261"/>
            <p14:sldId id="262"/>
          </p14:sldIdLst>
        </p14:section>
        <p14:section name="Teach" id="{9240c7a0-e47d-8ed8-e857-aadbcaf5e188}">
          <p14:sldIdLst>
            <p14:sldId id="263"/>
            <p14:sldId id="264"/>
            <p14:sldId id="265"/>
            <p14:sldId id="266"/>
          </p14:sldIdLst>
        </p14:section>
        <p14:section name="Routes" id="{b0f448cc-e5c1-57c1-a2ea-bcf4a38460db}">
          <p14:sldIdLst>
            <p14:sldId id="267"/>
            <p14:sldId id="268"/>
          </p14:sldIdLst>
        </p14:section>
        <p14:section name="Close" id="{860870e2-4f44-b7cf-c494-64a8b0e632e9}">
          <p14:sldIdLst>
            <p14:sldId id="269"/>
          </p14:sldIdLst>
        </p14:section>
        <p14:section name="Answers" id="{f7919876-a317-b75e-0819-785a3fbb30c2}">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China's population: growth and distribution. How to read and describe China's population graph from 1950 to 2030, why the rate of growth changed, where the people live and why, and whether a huge population is a strength or a problem.
This deck covers the department's lesson: 4 (China's population: How has China's population grown since 1950, where do its people live, and is a large population an advantage or a disadvantage?).
Read the big question aloud: "What is the global importance of Asia, and what has China's rapid growth meant for its people, its environment and the wider world?"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China's population was 550 million in 1950 and 1390 million in 2020. By how many million did it grow over those 70 years?  →  840 million
2. Which part of China is the most densely populated?  →  D   The east, along the coast and the great rivers
3. Since 2000, the rate of China's population growth has ___.  →  slowed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840 million. Growth is the difference between the two values: 1390 − 550 = 840 million.
2. D   The east, along the coast and the great rivers. The eastern lowlands and coast have the flat land, water, mild climate and cities that attract people. The west and north are high, cold or dry.
3. slowed. Growth fell from 120 million in the 1990s to 70, then 50, then a projected 10 million a decade. It is still growing, but slowly.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population: the number of people living in a place. Example: "China's population grew quickly after 1950."
• trend: the general direction of a graph over time. Example: "The trend of the graph is a steady rise."
• anomaly: a point that does not fit the pattern. Example: "A sudden fall would be an anomaly on this graph."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densely populated: many people living in each square kilometre. Example: "The east coast of China is densely populated."
• sparsely populated: very few people living in each square kilometre. Example: "The deserts of the north are sparsely populated."
• rate of growth: how fast something increases. Example: "The rate of growth slowed down after 2000."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In 1950 China had about 550 million people.
2. By 2020 it had about 1390 million, or 1.39 billion.
3. That is 840 million more people in 70 years.
4. The population grew fastest in the 1970s.
5. Since 2000 the growth has slowed down.
6. By 2030 the population is expected to be about 1400 million.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 people are not spread evenly.
8. The east of China is densely populated.
9. Most big cities are there, near the coast and the great rivers.
10. The west is sparsely populated.
11. It has high mountains, cold plateaus and dry deserts.
12. A large population has advantages and disadvantages.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the growth table. Say it in your own words, then check understanding with a quick question: ask a pupil from the pre-teach group first, since they met these words and ideas before the lesson. Pupils try to recall before you re-explain.
The table your class turned into a line graph gives China's population in millions: 1950, 550; 1960, 660; 1970, 815; 1980, 1000; 1990, 1150; 2000, 1270; 2010, 1340; 2020, 1390; and a projection of 1400 for 2030. Plot the years along the bottom and the population up the side, label both axes, and join the points with a ruler in pencil.
To describe the graph, give the overall trend with data, then any anomalies. The trend is a rise from 550 million in 1950 to 1390 million in 2020, an increase of 840 million. The rise is not steady. Work out the growth in each decade by subtracting: 110, 155, 185, 150, 120, 70, 50 and then only 10 million for the 2020s. The 1970s saw the biggest jump; after 2000 the line flattens.
A trend is the general direction of a graph. An anomaly is a point or period that does not fit the pattern. Here there is no sudden fall, so the change worth commenting on is the rate of growth: fast, then slow.
Worked example — model it step by step, thinking aloud: By how much did China's population grow between 1970 and 1980? (1) Find the two values in the table: 1970, 815 million; 1980, 1000 million. (2) Growth means the difference, so subtract the earlier from the later: 1000 − 815. (3) 1000 − 815 = 185. Keep the units: millions. Answer: 185 million.
Tip: Describe the graph with three things: the trend, a figure from the start and the end, and any change in the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did the rate of growth change?. Say it in your own words, then check understanding with a quick question: ask a pupil from the pre-teach group first, since they met these words and ideas before the lesson. Pupils try to recall before you re-explain.
After 1950 China's population grew quickly. Better health care and food meant fewer babies died and people lived longer, while families stayed large. In the 1970s alone the country added 185 million people.
From 1980 the government limited most families to one child, a rule that lasted until 2015. At the same time, more people moved to cities, where children are expensive and families are smaller. Growth slowed to 70 million in the 2000s and 50 million in the 2010s, and the projection for the 2020s is just 10 million.
A country of about 1.4 billion people living in an area smaller than the USA puts huge pressure on land, water and resources. That is one reason the government tried to slow growth, and one reason this unit ends with China's environmental problems.
Tip: Explain why means give a cause for each change: faster growth needs a cause, and so does the slowdown.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Where are the people?. Say it in your own words, then check understanding with a quick question: ask a pupil from the pre-teach group first, since they met these words and ideas before the lesson. Pupils try to recall before you re-explain.
China's people are not spread evenly. The east is densely populated: a lot of people live in each square kilometre. The west is sparsely populated: very few people per square kilometre, with large almost empty areas.
The pattern follows the physical geography from chapter 2. The east has low, flat land, a mild wet climate, rich soils along the Yangtze and the Yellow River, and a coast for trade. The big cities, Beijing, Shanghai and Shenzhen, are all there. The west has the Tibetan Plateau, the Himalayas and the Gobi Desert: high, cold, dry and hard to farm.
When you explain a distribution, link each physical factor to the human result: flat land, so easy to build on; rivers, so water for farms and cities; a coast, so ports, trade and factories.
Tip: Dense means crowded; sparse means thinly spread. Both are about people per square kilometre, not total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Is a big population good or bad?. Say it in your own words, then check understanding with a quick question: ask a pupil from the pre-teach group first, since they met these words and ideas before the lesson. Pupils try to recall before you re-explain.
A large population has advantages. It gives China an enormous workforce for its factories, farms and services, and a huge home market: well over a billion customers. Many people also means many inventors, engineers and entrepreneurs, which has helped the economy grow fast.
It also has disadvantages. More people need more food, water, housing, schools, hospitals and jobs. Cities become crowded, land is used up, and the pollution from so much industry and traffic harms health. These pressures are hardest in the densely populated east.
Your green pen response asks whether China's dense population is a positive or a negative, and why. The best answers give one point for each side, then make a decision and support it with a figure from the table.
Tip: Because is the most important word in the plenary sentence. Give the reason, then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Growth in a decade.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1980 China's population was 1000 million and in 1990 it was 1150 million. By how many million did it grow in that decade?
Support — work through the steps with the group: (1) Write the earlier value and the later value side by side. (2) Growth means how much was added, so take the earlier away from the later. (3) Line up the digits and subtract carefully. (4) Give the units: millions.
Parallel worked example for Support (model it, do not give the task answer): China's population was 1270 million in 2000 and 1340 million in 2010. By how many million did it grow? Earlier: 1270. Later: 1340.; 1340 − 1270 = 70.. Answer: 70 million.
Core — reveal the hint only on request: Later value minus earlier value.
Stretch — no help; when finished: Work out the growth for every decade in the table and say which decade was the anomaly in the pattern of slowing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decade of fastest growth.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Using the table (1950, 550; 1960, 660; 1970, 815; 1980, 1000; 1990, 1150; 2000, 1270; 2010, 1340), in which decade did China's population grow by the most?
Support — work through the steps with the group: (1) For each decade, subtract the start value from the end value. (2) Write the six differences in a row. (3) Circle the largest difference. (4) Name the decade it belongs to by its starting year.
Parallel worked example for Support (model it, do not give the task answer): A town had 20 000 people in 1990, 26 000 in 2000 and 29 000 in 2010. Which decade saw the bigger growth? 1990s: 26 000 − 20 000 = 6000.; 2000s: 29 000 − 26 000 = 3000.; 6000 is bigger.. Answer: The 1990s.
Core — reveal the hint only on request: Find the steepest part of the graph: the decade where the line climbs most.
Stretch — no help; when finished: Explain why the rate of growth fell after 1980, giving at least two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China's population was 550 million in 1950 and 1390 million in 2020. By how many million did it grow over those 70 years?
Answer: 840 million. Growth is the difference between the two values: 1390 − 550 = 840 million.
Source of this question: gate item 1 re-asked (options rotated) — this chapter has no third quick-check module.
The ebook also holds task 3, "Positive or negative?",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Growth in a decade. Reveal the answer; pupils mark their own work in a different colour, then read the "why" together. Same destination for every lane, so one answer serves the whole class.
Answer: 150 million
Why: The population rose from 1000 million to 1150 million, so 1150 − 1000 = 150 million people were added in the 1980s.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decade of fastest growth. Reveal the answer; pupils mark their own work in a different colour, then read the "why" together. Same destination for every lane, so one answer serves the whole class.
Answer: D   The 1970s
Why: The decade differences are 110, 155, 185, 150, 120 and 70 million. The 1970s added 185 million, more than any other decade.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840 million
Why: Growth is the difference between the two values: 1390 − 550 = 840 million.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9F6F0"/>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EDE8"/>
          </a:solidFill>
          <a:ln w="12700">
            <a:solidFill>
              <a:srgbClr val="E7EDE8"/>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8 · Asia and China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4DE"/>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8</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Asia and China · AQA KS3 → 8035</a:t>
            </a:r>
            <a:endParaRPr lang="en-US" sz="1800" dirty="0"/>
          </a:p>
        </p:txBody>
      </p:sp>
      <p:sp>
        <p:nvSpPr>
          <p:cNvPr id="10" name="deck-title"/>
          <p:cNvSpPr txBox="1"/>
          <p:nvPr/>
        </p:nvSpPr>
        <p:spPr>
          <a:xfrm>
            <a:off x="548640" y="245922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China's population: growth and distribution</a:t>
            </a:r>
            <a:endParaRPr lang="en-US" sz="3600" dirty="0"/>
          </a:p>
        </p:txBody>
      </p:sp>
      <p:sp>
        <p:nvSpPr>
          <p:cNvPr id="11" name="lessons-card"/>
          <p:cNvSpPr/>
          <p:nvPr/>
        </p:nvSpPr>
        <p:spPr>
          <a:xfrm>
            <a:off x="548640" y="4003548"/>
            <a:ext cx="5287975" cy="980440"/>
          </a:xfrm>
          <a:prstGeom prst="roundRect">
            <a:avLst>
              <a:gd name="adj" fmla="val 7461"/>
            </a:avLst>
          </a:prstGeom>
          <a:solidFill>
            <a:srgbClr val="EFF2F0"/>
          </a:solidFill>
          <a:ln/>
        </p:spPr>
      </p:sp>
      <p:sp>
        <p:nvSpPr>
          <p:cNvPr id="12" name="lessons"/>
          <p:cNvSpPr txBox="1"/>
          <p:nvPr/>
        </p:nvSpPr>
        <p:spPr>
          <a:xfrm>
            <a:off x="685800" y="409498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China's population</a:t>
            </a:r>
            <a:endParaRPr lang="en-US" sz="2000" dirty="0"/>
          </a:p>
        </p:txBody>
      </p:sp>
      <p:sp>
        <p:nvSpPr>
          <p:cNvPr id="13" name="plate-frame"/>
          <p:cNvSpPr/>
          <p:nvPr/>
        </p:nvSpPr>
        <p:spPr>
          <a:xfrm>
            <a:off x="6248095" y="411480"/>
            <a:ext cx="5394960" cy="3130677"/>
          </a:xfrm>
          <a:prstGeom prst="rect">
            <a:avLst/>
          </a:prstGeom>
          <a:solidFill>
            <a:srgbClr val="F3EBDC"/>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8">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FF2F0"/>
          </a:solidFill>
          <a:ln w="12700">
            <a:solidFill>
              <a:srgbClr val="B5C6B9"/>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What is the global importance of Asia, and what has China's rapid growth meant for its people, its environment and the wider world?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China's population was 550 million in 1950 and 1390 million in 2020. By how many million did it grow over those 70 years?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million</a:t>
            </a:r>
            <a:endParaRPr lang="en-US" sz="2400" dirty="0"/>
          </a:p>
        </p:txBody>
      </p:sp>
      <p:sp>
        <p:nvSpPr>
          <p:cNvPr id="12"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part of China is the most densely populated?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people are spread evenly across the country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north, in the Gobi Desert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west, on the Tibetan Plateau</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east, along the coast and the great rivers</a:t>
            </a:r>
            <a:endParaRPr lang="en-US" sz="1800" dirty="0"/>
          </a:p>
        </p:txBody>
      </p:sp>
      <p:sp>
        <p:nvSpPr>
          <p:cNvPr id="17"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Since 2000, the rate of China's population growth has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slowed  ·  doubled  ·  stopped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4F7F5"/>
          </a:solidFill>
          <a:ln w="12700">
            <a:solidFill>
              <a:srgbClr val="BFCDC2"/>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EE3CD"/>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840 million</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China's population was 550 million in 1950 and 1390 million in 2020. By how many million did it grow over those 70 years?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Growth is the difference between the two values: 1390 − 550 = 840 million.</a:t>
            </a:r>
            <a:endParaRPr lang="en-US" sz="2000" dirty="0"/>
          </a:p>
        </p:txBody>
      </p:sp>
      <p:sp>
        <p:nvSpPr>
          <p:cNvPr id="14" name="card"/>
          <p:cNvSpPr/>
          <p:nvPr/>
        </p:nvSpPr>
        <p:spPr>
          <a:xfrm>
            <a:off x="4338218" y="1389888"/>
            <a:ext cx="3515258" cy="4754880"/>
          </a:xfrm>
          <a:prstGeom prst="roundRect">
            <a:avLst>
              <a:gd name="adj" fmla="val 1561"/>
            </a:avLst>
          </a:prstGeom>
          <a:solidFill>
            <a:srgbClr val="F4F7F5"/>
          </a:solidFill>
          <a:ln w="12700">
            <a:solidFill>
              <a:srgbClr val="BFCDC2"/>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EE3CD"/>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east, along the coast and the great rivers</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eastern lowlands and coast have the flat land, water, mild climate and cities that attract people. The west and north are high, cold or dry.</a:t>
            </a:r>
            <a:endParaRPr lang="en-US" sz="1800" dirty="0"/>
          </a:p>
        </p:txBody>
      </p:sp>
      <p:sp>
        <p:nvSpPr>
          <p:cNvPr id="21" name="card"/>
          <p:cNvSpPr/>
          <p:nvPr/>
        </p:nvSpPr>
        <p:spPr>
          <a:xfrm>
            <a:off x="8127797" y="1389888"/>
            <a:ext cx="3515258" cy="4754880"/>
          </a:xfrm>
          <a:prstGeom prst="roundRect">
            <a:avLst>
              <a:gd name="adj" fmla="val 1561"/>
            </a:avLst>
          </a:prstGeom>
          <a:solidFill>
            <a:srgbClr val="F4F7F5"/>
          </a:solidFill>
          <a:ln w="12700">
            <a:solidFill>
              <a:srgbClr val="BFCDC2"/>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EE3CD"/>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slowed</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Since 2000, the rate of China's population growth has ___.</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Growth fell from 120 million in the 1990s to 70, then 50, then a projected 10 million a decade. It is still growing, but slowly.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population</a:t>
            </a:r>
            <a:endParaRPr lang="en-US" sz="2600" dirty="0"/>
          </a:p>
        </p:txBody>
      </p:sp>
      <p:sp>
        <p:nvSpPr>
          <p:cNvPr id="11" name="word-rule"/>
          <p:cNvSpPr/>
          <p:nvPr/>
        </p:nvSpPr>
        <p:spPr>
          <a:xfrm>
            <a:off x="731520" y="2129028"/>
            <a:ext cx="3149498" cy="0"/>
          </a:xfrm>
          <a:prstGeom prst="line">
            <a:avLst/>
          </a:prstGeom>
          <a:ln w="12700">
            <a:solidFill>
              <a:srgbClr val="B5C6B9"/>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number of people living in a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China's population grew quickly after 1950.</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trend</a:t>
            </a:r>
            <a:endParaRPr lang="en-US" sz="2600" dirty="0"/>
          </a:p>
        </p:txBody>
      </p:sp>
      <p:sp>
        <p:nvSpPr>
          <p:cNvPr id="17" name="word-rule"/>
          <p:cNvSpPr/>
          <p:nvPr/>
        </p:nvSpPr>
        <p:spPr>
          <a:xfrm>
            <a:off x="4521098" y="2129028"/>
            <a:ext cx="3149498" cy="0"/>
          </a:xfrm>
          <a:prstGeom prst="line">
            <a:avLst/>
          </a:prstGeom>
          <a:ln w="12700">
            <a:solidFill>
              <a:srgbClr val="B5C6B9"/>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general direction of a graph over time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trend of the graph is a steady rise.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anomaly</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point that does not fit the pattern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sudden fall would be an anomaly on this graph.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3F5F3"/>
          </a:solidFill>
          <a:ln w="12700">
            <a:solidFill>
              <a:srgbClr val="B5C6B9"/>
            </a:solidFill>
            <a:prstDash val="solid"/>
          </a:ln>
        </p:spPr>
      </p:sp>
      <p:sp>
        <p:nvSpPr>
          <p:cNvPr id="8" name="word-hex"/>
          <p:cNvSpPr/>
          <p:nvPr/>
        </p:nvSpPr>
        <p:spPr>
          <a:xfrm>
            <a:off x="685800" y="1802044"/>
            <a:ext cx="502920" cy="435529"/>
          </a:xfrm>
          <a:prstGeom prst="hexagon">
            <a:avLst/>
          </a:prstGeom>
          <a:solidFill>
            <a:srgbClr val="B8862B"/>
          </a:solidFill>
          <a:ln/>
        </p:spPr>
      </p:sp>
      <p:sp>
        <p:nvSpPr>
          <p:cNvPr id="9" name="word-hex-label"/>
          <p:cNvSpPr txBox="1"/>
          <p:nvPr/>
        </p:nvSpPr>
        <p:spPr>
          <a:xfrm>
            <a:off x="685800"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densely populated</a:t>
            </a:r>
            <a:endParaRPr lang="en-US" sz="2600" dirty="0"/>
          </a:p>
        </p:txBody>
      </p:sp>
      <p:sp>
        <p:nvSpPr>
          <p:cNvPr id="11" name="word-rule"/>
          <p:cNvSpPr/>
          <p:nvPr/>
        </p:nvSpPr>
        <p:spPr>
          <a:xfrm>
            <a:off x="731520" y="2558288"/>
            <a:ext cx="3149498" cy="0"/>
          </a:xfrm>
          <a:prstGeom prst="line">
            <a:avLst/>
          </a:prstGeom>
          <a:ln w="12700">
            <a:solidFill>
              <a:srgbClr val="B5C6B9"/>
            </a:solidFill>
            <a:prstDash val="solid"/>
          </a:ln>
        </p:spPr>
      </p:sp>
      <p:sp>
        <p:nvSpPr>
          <p:cNvPr id="12" name="word-body"/>
          <p:cNvSpPr txBox="1"/>
          <p:nvPr/>
        </p:nvSpPr>
        <p:spPr>
          <a:xfrm>
            <a:off x="731520"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many people living in each square kilometre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east coast of China is densely populated.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F3F5F3"/>
          </a:solidFill>
          <a:ln w="12700">
            <a:solidFill>
              <a:srgbClr val="B5C6B9"/>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sparsely populated</a:t>
            </a:r>
            <a:endParaRPr lang="en-US" sz="2600" dirty="0"/>
          </a:p>
        </p:txBody>
      </p:sp>
      <p:sp>
        <p:nvSpPr>
          <p:cNvPr id="17" name="word-rule"/>
          <p:cNvSpPr/>
          <p:nvPr/>
        </p:nvSpPr>
        <p:spPr>
          <a:xfrm>
            <a:off x="4521098" y="2558288"/>
            <a:ext cx="3149498" cy="0"/>
          </a:xfrm>
          <a:prstGeom prst="line">
            <a:avLst/>
          </a:prstGeom>
          <a:ln w="12700">
            <a:solidFill>
              <a:srgbClr val="B5C6B9"/>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very few people living in each square kilometre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deserts of the north are sparsely populated.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3F5F3"/>
          </a:solidFill>
          <a:ln w="12700">
            <a:solidFill>
              <a:srgbClr val="B5C6B9"/>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rate of growth</a:t>
            </a:r>
            <a:endParaRPr lang="en-US" sz="2600" dirty="0"/>
          </a:p>
        </p:txBody>
      </p:sp>
      <p:sp>
        <p:nvSpPr>
          <p:cNvPr id="23" name="word-rule"/>
          <p:cNvSpPr/>
          <p:nvPr/>
        </p:nvSpPr>
        <p:spPr>
          <a:xfrm>
            <a:off x="8310677" y="2129028"/>
            <a:ext cx="3149498" cy="0"/>
          </a:xfrm>
          <a:prstGeom prst="line">
            <a:avLst/>
          </a:prstGeom>
          <a:ln w="12700">
            <a:solidFill>
              <a:srgbClr val="B5C6B9"/>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how fast something increases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rate of growth slowed down after 2000.</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In 1950 China had about 550 million people.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By 2020 it had about 1390 million, or 1.39 billion.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That is 840 million more people in 70 years.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population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grew fastest in the 1970s.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Since 2000 the growth has slowed down.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By 2030 the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population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is expected to be about 1400 million.</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4F7F5"/>
          </a:solidFill>
          <a:ln w="12700">
            <a:solidFill>
              <a:srgbClr val="C8D5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people are not spread evenly.</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east of China is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densely populated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Most big cities are there, near the coast and the great rivers.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west is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sparsely populated</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It has high mountains, cold plateaus and dry deserts.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large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population</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has advantages and disadvantages.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Reading the growth table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5EFE2"/>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Describe the graph with three things: the trend, a figure from the start and the end, and any change in the rate.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A2B7A7"/>
            </a:solidFill>
            <a:prstDash val="solid"/>
          </a:ln>
        </p:spPr>
      </p:sp>
      <p:sp>
        <p:nvSpPr>
          <p:cNvPr id="12" name="worked-tab"/>
          <p:cNvSpPr/>
          <p:nvPr/>
        </p:nvSpPr>
        <p:spPr>
          <a:xfrm>
            <a:off x="6126480" y="1499616"/>
            <a:ext cx="2377440" cy="457200"/>
          </a:xfrm>
          <a:prstGeom prst="roundRect">
            <a:avLst>
              <a:gd name="adj" fmla="val 40000"/>
            </a:avLst>
          </a:prstGeom>
          <a:solidFill>
            <a:srgbClr val="3F6B4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By how much did China's population grow between 1970 and 1980?</a:t>
            </a:r>
            <a:endParaRPr lang="en-US" sz="1800" dirty="0"/>
          </a:p>
        </p:txBody>
      </p:sp>
      <p:sp>
        <p:nvSpPr>
          <p:cNvPr id="14" name="step-box"/>
          <p:cNvSpPr/>
          <p:nvPr/>
        </p:nvSpPr>
        <p:spPr>
          <a:xfrm>
            <a:off x="6126480" y="2888488"/>
            <a:ext cx="5379415" cy="794512"/>
          </a:xfrm>
          <a:prstGeom prst="roundRect">
            <a:avLst>
              <a:gd name="adj" fmla="val 11509"/>
            </a:avLst>
          </a:prstGeom>
          <a:solidFill>
            <a:srgbClr val="EFF2F0"/>
          </a:solidFill>
          <a:ln/>
        </p:spPr>
      </p:sp>
      <p:sp>
        <p:nvSpPr>
          <p:cNvPr id="15" name="step-hex"/>
          <p:cNvSpPr/>
          <p:nvPr/>
        </p:nvSpPr>
        <p:spPr>
          <a:xfrm>
            <a:off x="6217920" y="3103614"/>
            <a:ext cx="420624" cy="364260"/>
          </a:xfrm>
          <a:prstGeom prst="hexagon">
            <a:avLst/>
          </a:prstGeom>
          <a:solidFill>
            <a:srgbClr val="3F6B4A"/>
          </a:solidFill>
          <a:ln/>
        </p:spPr>
      </p:sp>
      <p:sp>
        <p:nvSpPr>
          <p:cNvPr id="16" name="step-hex-label"/>
          <p:cNvSpPr txBox="1"/>
          <p:nvPr/>
        </p:nvSpPr>
        <p:spPr>
          <a:xfrm>
            <a:off x="6217920" y="31036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Find the two values in the table: 1970, 815 million; 1980, 1000 million.</a:t>
            </a:r>
            <a:endParaRPr lang="en-US" sz="1800" dirty="0"/>
          </a:p>
        </p:txBody>
      </p:sp>
      <p:sp>
        <p:nvSpPr>
          <p:cNvPr id="18" name="step-box"/>
          <p:cNvSpPr/>
          <p:nvPr/>
        </p:nvSpPr>
        <p:spPr>
          <a:xfrm>
            <a:off x="6126480" y="3774440"/>
            <a:ext cx="5379415" cy="794512"/>
          </a:xfrm>
          <a:prstGeom prst="roundRect">
            <a:avLst>
              <a:gd name="adj" fmla="val 11509"/>
            </a:avLst>
          </a:prstGeom>
          <a:solidFill>
            <a:srgbClr val="EFF2F0"/>
          </a:solidFill>
          <a:ln/>
        </p:spPr>
      </p:sp>
      <p:sp>
        <p:nvSpPr>
          <p:cNvPr id="19" name="step-hex"/>
          <p:cNvSpPr/>
          <p:nvPr/>
        </p:nvSpPr>
        <p:spPr>
          <a:xfrm>
            <a:off x="6217920" y="3989566"/>
            <a:ext cx="420624" cy="364260"/>
          </a:xfrm>
          <a:prstGeom prst="hexagon">
            <a:avLst/>
          </a:prstGeom>
          <a:solidFill>
            <a:srgbClr val="3F6B4A"/>
          </a:solidFill>
          <a:ln/>
        </p:spPr>
      </p:sp>
      <p:sp>
        <p:nvSpPr>
          <p:cNvPr id="20" name="step-hex-label"/>
          <p:cNvSpPr txBox="1"/>
          <p:nvPr/>
        </p:nvSpPr>
        <p:spPr>
          <a:xfrm>
            <a:off x="6217920" y="39895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7444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Growth means the difference, so subtract the earlier from the later: 1000 − 815.</a:t>
            </a:r>
            <a:endParaRPr lang="en-US" sz="1800" dirty="0"/>
          </a:p>
        </p:txBody>
      </p:sp>
      <p:sp>
        <p:nvSpPr>
          <p:cNvPr id="22" name="step-box"/>
          <p:cNvSpPr/>
          <p:nvPr/>
        </p:nvSpPr>
        <p:spPr>
          <a:xfrm>
            <a:off x="6126480" y="4660392"/>
            <a:ext cx="5379415" cy="566928"/>
          </a:xfrm>
          <a:prstGeom prst="roundRect">
            <a:avLst>
              <a:gd name="adj" fmla="val 16129"/>
            </a:avLst>
          </a:prstGeom>
          <a:solidFill>
            <a:srgbClr val="EFF2F0"/>
          </a:solidFill>
          <a:ln/>
        </p:spPr>
      </p:sp>
      <p:sp>
        <p:nvSpPr>
          <p:cNvPr id="23" name="step-hex"/>
          <p:cNvSpPr/>
          <p:nvPr/>
        </p:nvSpPr>
        <p:spPr>
          <a:xfrm>
            <a:off x="6217920" y="4761726"/>
            <a:ext cx="420624" cy="364260"/>
          </a:xfrm>
          <a:prstGeom prst="hexagon">
            <a:avLst/>
          </a:prstGeom>
          <a:solidFill>
            <a:srgbClr val="3F6B4A"/>
          </a:solidFill>
          <a:ln/>
        </p:spPr>
      </p:sp>
      <p:sp>
        <p:nvSpPr>
          <p:cNvPr id="24" name="step-hex-label"/>
          <p:cNvSpPr txBox="1"/>
          <p:nvPr/>
        </p:nvSpPr>
        <p:spPr>
          <a:xfrm>
            <a:off x="6217920" y="476172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6039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1000 − 815 = 185. Keep the units: millions.</a:t>
            </a:r>
            <a:endParaRPr lang="en-US" sz="1800" dirty="0"/>
          </a:p>
        </p:txBody>
      </p:sp>
      <p:sp>
        <p:nvSpPr>
          <p:cNvPr id="26" name="worked-answer"/>
          <p:cNvSpPr/>
          <p:nvPr/>
        </p:nvSpPr>
        <p:spPr>
          <a:xfrm>
            <a:off x="6126480" y="5364480"/>
            <a:ext cx="5379415" cy="552196"/>
          </a:xfrm>
          <a:prstGeom prst="roundRect">
            <a:avLst>
              <a:gd name="adj" fmla="val 33119"/>
            </a:avLst>
          </a:prstGeom>
          <a:solidFill>
            <a:srgbClr val="EEE3CD"/>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185 million</a:t>
            </a:r>
            <a:endParaRPr lang="en-US" sz="1800" dirty="0"/>
          </a:p>
        </p:txBody>
      </p:sp>
      <p:sp>
        <p:nvSpPr>
          <p:cNvPr id="27" name="bullet-card"/>
          <p:cNvSpPr/>
          <p:nvPr/>
        </p:nvSpPr>
        <p:spPr>
          <a:xfrm>
            <a:off x="548640" y="1389888"/>
            <a:ext cx="5074920" cy="2250186"/>
          </a:xfrm>
          <a:prstGeom prst="roundRect">
            <a:avLst>
              <a:gd name="adj" fmla="val 3251"/>
            </a:avLst>
          </a:prstGeom>
          <a:solidFill>
            <a:srgbClr val="F3F5F3"/>
          </a:solidFill>
          <a:ln/>
        </p:spPr>
      </p:sp>
      <p:sp>
        <p:nvSpPr>
          <p:cNvPr id="28" name="bullet-hex"/>
          <p:cNvSpPr/>
          <p:nvPr/>
        </p:nvSpPr>
        <p:spPr>
          <a:xfrm>
            <a:off x="676656" y="2348688"/>
            <a:ext cx="384048" cy="332586"/>
          </a:xfrm>
          <a:prstGeom prst="hexagon">
            <a:avLst/>
          </a:prstGeom>
          <a:solidFill>
            <a:srgbClr val="3F6B4A"/>
          </a:solidFill>
          <a:ln/>
        </p:spPr>
      </p:sp>
      <p:sp>
        <p:nvSpPr>
          <p:cNvPr id="29" name="bullet"/>
          <p:cNvSpPr txBox="1"/>
          <p:nvPr/>
        </p:nvSpPr>
        <p:spPr>
          <a:xfrm>
            <a:off x="1143000" y="1389888"/>
            <a:ext cx="4389120" cy="225018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table your class turned into a line graph gives China's population in millions: 1950, 550; 1960, 660; 1970, 815; 1980, 1000; 1990, 1150; 2000, 1270; 2010, 1340; 2020, 1390; and a projection of 1400 for 2030.</a:t>
            </a:r>
            <a:endParaRPr lang="en-US" sz="2000" dirty="0"/>
          </a:p>
        </p:txBody>
      </p:sp>
      <p:sp>
        <p:nvSpPr>
          <p:cNvPr id="30" name="bullet-card"/>
          <p:cNvSpPr/>
          <p:nvPr/>
        </p:nvSpPr>
        <p:spPr>
          <a:xfrm>
            <a:off x="548640" y="3786378"/>
            <a:ext cx="5074920" cy="1010666"/>
          </a:xfrm>
          <a:prstGeom prst="roundRect">
            <a:avLst>
              <a:gd name="adj" fmla="val 7238"/>
            </a:avLst>
          </a:prstGeom>
          <a:solidFill>
            <a:srgbClr val="F3F5F3"/>
          </a:solidFill>
          <a:ln/>
        </p:spPr>
      </p:sp>
      <p:sp>
        <p:nvSpPr>
          <p:cNvPr id="31" name="bullet-hex"/>
          <p:cNvSpPr/>
          <p:nvPr/>
        </p:nvSpPr>
        <p:spPr>
          <a:xfrm>
            <a:off x="676656" y="4125418"/>
            <a:ext cx="384048" cy="332586"/>
          </a:xfrm>
          <a:prstGeom prst="hexagon">
            <a:avLst/>
          </a:prstGeom>
          <a:solidFill>
            <a:srgbClr val="B8862B"/>
          </a:solidFill>
          <a:ln/>
        </p:spPr>
      </p:sp>
      <p:sp>
        <p:nvSpPr>
          <p:cNvPr id="32" name="bullet"/>
          <p:cNvSpPr txBox="1"/>
          <p:nvPr/>
        </p:nvSpPr>
        <p:spPr>
          <a:xfrm>
            <a:off x="1143000" y="3786378"/>
            <a:ext cx="4389120" cy="1010666"/>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To describe the graph, give the overall trend with data, then any anomalies.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did the rate of growth change?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Explain why means give a cause for each change: faster growth needs a cause, and so does the slowdown.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After 1950 China's population grew quickly. Better health care and food meant fewer babies died and people lived longer, while families stayed large.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From 1980 the government limited most families to one child, a rule that lasted until 2015.</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country of about 1.4 billion people living in an area smaller than the USA puts huge pressure on land, water and resources.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Where are the people?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5EFE2"/>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Dense means crowded; sparse means thinly spread. Both are about people per square kilometre, not total numbers.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China's people are not spread evenly. The east is densely populated: a lot of people live in each square kilometre.</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pattern follows the physical geography from chapter 2. The east has low, flat land, a mild wet climate, rich soils along the Yangtze and the Yellow River, and a coast for trade.</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you explain a distribution, link each physical factor to the human result: flat land, so easy to build on; rivers, so water for farms and cities; a coast, so ports, trade and factories.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Is a big population good or bad?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5EFE2"/>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Because is the most important word in the plenary sentence. Give the reason, then the evidence.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FF2F0"/>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large population has advantages. It gives China an enormous workforce for its factories, farms and services, and a huge home market: well over a billion customers.</a:t>
            </a:r>
            <a:endParaRPr lang="en-US" sz="2200" dirty="0"/>
          </a:p>
        </p:txBody>
      </p:sp>
      <p:sp>
        <p:nvSpPr>
          <p:cNvPr id="15" name="point-card"/>
          <p:cNvSpPr/>
          <p:nvPr/>
        </p:nvSpPr>
        <p:spPr>
          <a:xfrm>
            <a:off x="4338218" y="1389888"/>
            <a:ext cx="3515258" cy="3964940"/>
          </a:xfrm>
          <a:prstGeom prst="roundRect">
            <a:avLst>
              <a:gd name="adj" fmla="val 1561"/>
            </a:avLst>
          </a:prstGeom>
          <a:solidFill>
            <a:srgbClr val="F8F2E9"/>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It also has disadvantages. More people need more food, water, housing, schools, hospitals and jobs.</a:t>
            </a:r>
            <a:endParaRPr lang="en-US" sz="2200" dirty="0"/>
          </a:p>
        </p:txBody>
      </p:sp>
      <p:sp>
        <p:nvSpPr>
          <p:cNvPr id="19" name="point-card"/>
          <p:cNvSpPr/>
          <p:nvPr/>
        </p:nvSpPr>
        <p:spPr>
          <a:xfrm>
            <a:off x="8127797" y="1389888"/>
            <a:ext cx="3515258" cy="3964940"/>
          </a:xfrm>
          <a:prstGeom prst="roundRect">
            <a:avLst>
              <a:gd name="adj" fmla="val 1561"/>
            </a:avLst>
          </a:prstGeom>
          <a:solidFill>
            <a:srgbClr val="EFF2F0"/>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green pen response asks whether China's dense population is a positive or a negative,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Growth in a decade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In 1980 China's population was 1000 million and in 1990 it was 1150 million. By how many million did it grow in that decade?</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million</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FF2F0"/>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earlier value and the later value side by side.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Growth means how much was added, so take the earlier away from the later.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Line up the digits and subtract carefully.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Give the units: millions.</a:t>
            </a:r>
            <a:endParaRPr lang="en-US" sz="1800" dirty="0"/>
          </a:p>
        </p:txBody>
      </p:sp>
      <p:sp>
        <p:nvSpPr>
          <p:cNvPr id="17" name="col-Core"/>
          <p:cNvSpPr/>
          <p:nvPr/>
        </p:nvSpPr>
        <p:spPr>
          <a:xfrm>
            <a:off x="5490762" y="2948940"/>
            <a:ext cx="2938987" cy="3195828"/>
          </a:xfrm>
          <a:prstGeom prst="roundRect">
            <a:avLst>
              <a:gd name="adj" fmla="val 1867"/>
            </a:avLst>
          </a:prstGeom>
          <a:solidFill>
            <a:srgbClr val="D8E1DA"/>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Later value minus earlier value.</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Work out the growth for every decade in the table and say which decade was the anomaly in the pattern of slowing growth.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Same task, three ways in: The decade of fastest growth</a:t>
            </a:r>
            <a:endParaRPr lang="en-US" sz="26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Using the table (1950, 550; 1960, 660; 1970, 815; 1980, 1000; 1990, 1150; 2000, 1270; 2010, 1340), in which decade did China's population grow by the most?</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The 1960s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The 2000s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The 1950s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The 1970s</a:t>
            </a:r>
            <a:endParaRPr lang="en-US" sz="2000" dirty="0"/>
          </a:p>
        </p:txBody>
      </p:sp>
      <p:sp>
        <p:nvSpPr>
          <p:cNvPr id="12" name="col-Support"/>
          <p:cNvSpPr/>
          <p:nvPr/>
        </p:nvSpPr>
        <p:spPr>
          <a:xfrm>
            <a:off x="548640" y="3258820"/>
            <a:ext cx="4667802" cy="2885948"/>
          </a:xfrm>
          <a:prstGeom prst="roundRect">
            <a:avLst>
              <a:gd name="adj" fmla="val 1901"/>
            </a:avLst>
          </a:prstGeom>
          <a:solidFill>
            <a:srgbClr val="EFF2F0"/>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For each decade, subtract the start value from the end value.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the six differences in a row.</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Circle the largest difference.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Name the decade it belongs to by its starting year.</a:t>
            </a:r>
            <a:endParaRPr lang="en-US" sz="1800" dirty="0"/>
          </a:p>
        </p:txBody>
      </p:sp>
      <p:sp>
        <p:nvSpPr>
          <p:cNvPr id="17" name="col-Core"/>
          <p:cNvSpPr/>
          <p:nvPr/>
        </p:nvSpPr>
        <p:spPr>
          <a:xfrm>
            <a:off x="5490762" y="3258820"/>
            <a:ext cx="2938987" cy="2885948"/>
          </a:xfrm>
          <a:prstGeom prst="roundRect">
            <a:avLst>
              <a:gd name="adj" fmla="val 1901"/>
            </a:avLst>
          </a:prstGeom>
          <a:solidFill>
            <a:srgbClr val="D8E1DA"/>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Find the steepest part of the graph: the decade where the line climbs most.</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3F6B4A"/>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rate of growth fell after 1980, giving at least two causes.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China's population was 550 million in 1950 and 1390 million in 2020. By how many million did it grow over those 70 years?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4F7F5"/>
          </a:solidFill>
          <a:ln w="12700">
            <a:solidFill>
              <a:srgbClr val="A2B7A7"/>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(million):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Growth in a decade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1980 China's population was 1000 million and in 1990 it was 1150 million. By how many million did it grow in that decade?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150 million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population rose from 1000 million to 1150 million, so 1150 − 1000 = 150 million people were added in the 1980s.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decade of fastest growth</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Using the table (1950, 550; 1960, 660; 1970, 815; 1980, 1000; 1990, 1150; 2000, 1270; 2010, 1340), in which decade did China's population grow by the most?</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 1970s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decade differences are 110, 155, 185, 150, 120 and 70 million. The 1970s added 185 million, more than any other decade.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8F2E9"/>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China's population was 550 million in 1950 and 1390 million in 2020. By how many million did it grow over those 70 years?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840 million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FF2F0"/>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Growth is the difference between the two values: 1390 − 550 = 840 million.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FF2F0"/>
      </a:lt2>
      <a:accent1>
        <a:srgbClr val="3F6B4A"/>
      </a:accent1>
      <a:accent2>
        <a:srgbClr val="B8862B"/>
      </a:accent2>
      <a:accent3>
        <a:srgbClr val="8CA692"/>
      </a:accent3>
      <a:accent4>
        <a:srgbClr val="815E1E"/>
      </a:accent4>
      <a:accent5>
        <a:srgbClr val="4A505C"/>
      </a:accent5>
      <a:accent6>
        <a:srgbClr val="DDC498"/>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Asia and China · Chapter 3: China's population: growth and distribution</dc:title>
  <dc:subject>Geography · Year 8</dc:subject>
  <dc:creator>Dr Vitor Merissi de Carvalho</dc:creator>
  <cp:lastModifiedBy>Dr Vitor Merissi de Carvalho</cp:lastModifiedBy>
  <cp:revision>1</cp:revision>
  <dcterms:created xsi:type="dcterms:W3CDTF">2026-10-19T06:07:34Z</dcterms:created>
  <dcterms:modified xsi:type="dcterms:W3CDTF">2026-10-19T06:07:34Z</dcterms:modified>
</cp:coreProperties>
</file>