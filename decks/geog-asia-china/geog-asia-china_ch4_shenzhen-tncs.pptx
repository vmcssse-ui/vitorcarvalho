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a802714-25c2-a699-e13f-52f8c2b8aaf2}">
          <p14:sldIdLst>
            <p14:sldId id="256"/>
          </p14:sldIdLst>
        </p14:section>
        <p14:section name="Gate" id="{87762f5e-96d1-ec4b-bfc2-0c41b6af2754}">
          <p14:sldIdLst>
            <p14:sldId id="257"/>
            <p14:sldId id="258"/>
          </p14:sldIdLst>
        </p14:section>
        <p14:section name="Pre-teach" id="{306d9899-4b22-bb7a-d3bf-6a9df3ac999e}">
          <p14:sldIdLst>
            <p14:sldId id="259"/>
            <p14:sldId id="260"/>
          </p14:sldIdLst>
        </p14:section>
        <p14:section name="Read-along" id="{312c4de9-0b4c-804d-4821-a18de3d2b449}">
          <p14:sldIdLst>
            <p14:sldId id="261"/>
            <p14:sldId id="262"/>
          </p14:sldIdLst>
        </p14:section>
        <p14:section name="Teach" id="{d01025e7-1ba7-0b4e-87ed-153f3aa8d47e}">
          <p14:sldIdLst>
            <p14:sldId id="263"/>
            <p14:sldId id="264"/>
            <p14:sldId id="265"/>
            <p14:sldId id="266"/>
          </p14:sldIdLst>
        </p14:section>
        <p14:section name="Routes" id="{9fdc8d7b-97e6-ed22-37df-e51e31b217d8}">
          <p14:sldIdLst>
            <p14:sldId id="267"/>
            <p14:sldId id="268"/>
            <p14:sldId id="269"/>
          </p14:sldIdLst>
        </p14:section>
        <p14:section name="Close" id="{2f765620-33f0-5ee7-a6e5-17873b46c6b1}">
          <p14:sldIdLst>
            <p14:sldId id="270"/>
          </p14:sldIdLst>
        </p14:section>
        <p14:section name="Answers" id="{c2dcc3cf-33b1-8117-3319-da9051c6a6d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Shenzhen, Foxconn and the transnational corporations. How a fishing town became a factory megacity, what a TNC is and why Apple has its products made in China, what life is like inside the Foxconn factory, and how to weigh who gains and who loses.
This deck covers the department's lessons: 5 (Growing factories in China: case study Apple industry in Shenzhen: Why do transnational corporations such as Apple have their products made in Shenzhen, how are the workers treated, and who benefits?); 6 (TNCs: advantages and disadvantages (half-term progress check): To what extent do transnational corporations care only about their profits?).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transnational corporation (TNC)?  →  C   A firm that produces goods or services in countries other than its home country
2. In one year Apple sold 70 million iPhones, 30 million iPads and 59 million other products, almost all made overseas. How many million products is that altogether?  →  159 million
3. Industrialisation is the period of change when a society moves from farming jobs to ___ work.  →  factory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firm that produces goods or services in countries other than its home country. A TNC produces in one or more countries other than its home country: Apple is based in the USA but has its products made in China.
2. 159 million. Add the three figures: 70 + 30 + 59 = 159 million products.
3. factory. The lesson's definition: from farming jobs to factory work. That is what happened in Shenzhen after 1970.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industrialisation: when a society moves from farming jobs to factory work. Example: "Industrialisation turned Shenzhen from a fishing town into a factory city."
• transnational corporation: a firm that makes goods or services in more than one country. Example: "Apple is a transnational corporation based in the USA."
• wage: the money a worker is paid for their work. Example: "The minimum wage at Foxconn was US$130 a month."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overtime: extra hours worked beyond the normal working week. Example: "Chinese law allowed 36 hours of overtime a month."
• dormitory: a large building where many workers sleep. Example: "Many workers live in a dormitory next to the factory."
• subsidise: when a government pays part of a firm's costs to help it. Example: "The Chinese government subsidises many industries."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1970 Shenzhen was a small fishing town in the south of China.
2. Today it is a city of many millions of people.
3. It grew because factories were built there.
4. Industrialisation means a society moving from farming jobs to factory work.
5. Many of the factories make goods for transnational corporations, or TNCs.
6. A TNC is a firm that makes goods or services in more than one country.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Apple is a TNC based in the USA.
8. Its iPhones are put together by a company called Foxconn in Shenzhen.
9. Foxconn employs about 230 000 people in Shenzhen.
10. Workers often work six days a week, up to 12 hours a day.
11. The pay is low, about US$130 a month.
12. This has brought jobs to China, but also hard lives for many workers.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From fishing village to megacity. Say it in your own words, then check understanding with a quick question: ask a pupil from the pre-teach group first, since they met these words and ideas before the lesson. Pupils try to recall before you re-explain.
In 1970 Shenzhen was a small fishing town on the south coast of China, in Guangdong province, just across the border from Hong Kong. Today it is a megacity of tall towers, ports and thousands of factories. Its population has two parts: permanent residents, and a large unregistered population of workers who have moved in from the countryside without officially settling there.
Shenzhen grew because of industrialisation: the period of change when a society moves from farming jobs to factory work. China's government opened Shenzhen to foreign firms as a place to build factories and subsidised the industries that moved in, and millions of young people came for the jobs.
When you describe how Shenzhen has changed since 1970, compare the two photographs point by point: buildings, transport, land use, population, and the jobs people do. Then is small, low and quiet; now is tall, dense and busy.
Tip: Describe a change with then and now in the same sentence: In 1970 it was… but today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TNC, and why China?. Say it in your own words, then check understanding with a quick question: ask a pupil from the pre-teach group first, since they met these words and ideas before the lesson. Pupils try to recall before you re-explain.
A transnational corporation, or TNC (also called an MNC), is a firm that produces goods or services in one or more countries other than its home country. The home is usually a high income country (HIC); the factories are often in lower income countries (LICs) or newly emerging economies (NEEs), where costs are lower. Apple is the example in this unit. It was founded by Steve Jobs in California in 1976, and by 2004 it had largely moved its manufacturing abroad.
An iPhone is a world product. Apple buys memory chips from Korea and Japan, display panels and circuitry from Korea and Taiwan, advanced semiconductors from Germany and Taiwan, and rare metals from Africa and Asia. About 90 percent of iPhone components are made outside the USA. In one year Apple sold 70 million iPhones, 30 million iPads and 59 million other products, and nearly every one of them was made overseas.
Why China? Semi-skilled workers are cheaper; the Chinese government subsidises industries to make them more competitive; factories can change plans and hire thousands of workers at great speed; and firms build dormitories on site so that workers are available around the clock. Paying American wages would add up to US$65 to the shop price of each iPhone.
Worked example — model it step by step, thinking aloud: Many Foxconn employees work six days a week, up to 12 hours a day. How many hours is that in a week? (1) Hours in a week = days worked × hours each day. (2) 6 × 12 = 72. (3) Compare: a full-time week in the UK is around 37 to 40 hours, so this is almost double. Answer: 72 hours a week.
Tip: TNC: trans means across, national means countries. A firm that works across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Inside Foxconn. Say it in your own words, then check understanding with a quick question: ask a pupil from the pre-teach group first, since they met these words and ideas before the lesson. Pupils try to recall before you re-explain.
Foxconn is the company that assembles Apple's products. It has around one million employees and dozens of factories in Asia, Eastern Europe, Mexico and Brazil, and it makes an estimated 40 percent of the world's consumer electronics for customers including Amazon, Dell, Nintendo, Samsung and Sony. Its Shenzhen factory alone has 230 000 employees and nearly 300 guards. It pays the Chinese legal minimum wage of US$130 a month, and many workers earn less than US$17 a day.
Many employees work six days a week, often up to 12 hours a day. Chinese law allows 36 hours of overtime a month, but reporters found that more was routinely demanded. Over a quarter of the workforce lives in company barracks. In 2010, 14 workers at the Shenzhen factory took their own lives. Reporters linked the deaths to excessive shift-work, a very fast assembly line and military-style discipline.
Your lesson's case study is Ma Xiang Qian, a 19-year-old who moved from his family's farm to Shenzhen looking for work. Foxconn gave him an 11-hour night shift, seven nights a week, making plastic and metal parts for electronics. He took his own life after working 286 hours in one month, far beyond the legal limit. Afterwards Foxconn raised wages, fitted safety nets to its buildings, arranged prayer sessions and asked workers to sign new contracts. Even so, around 8000 people still apply to work there every day: for many young migrants, it is still a better chance than the farm.
Tip: Treated is the key word in the question: it asks about hours, pay, housing and pressure, with a figure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benefits? Thinking in SEEP. Say it in your own words, then check understanding with a quick question: ask a pupil from the pre-teach group first, since they met these words and ideas before the lesson. Pupils try to recall before you re-explain.
To judge the impacts of a TNC, geographers sort them into Social, Economic, Environmental and Political: SEEP. Social impacts are about people's lives: jobs for migrants, but long hours, low pay and life in barracks. Economic impacts are about money: wages sent home to villages, growth for China, and huge profits for Apple, whose revenue topped US$183 billion in 2014 and which earned over US$400 000 in profit per employee. In 2010 Apple's chief executive, Tim Cook, earned US$59 million; a Foxconn worker on the minimum wage earned US$130 a month.
Environmental impacts include the pollution and waste from thousands of factories and the power stations that run them, which you see in Beijing's air in the last chapter. Political impacts are about governments and power: the Chinese government subsidises industries to attract firms, and it sets the minimum wage and the overtime law that firms are supposed to follow.
A balanced judgement weighs both sides. Jobs, skills and income are real advantages; the hours, the pay and the pressure are real disadvantages. Your progress check asks how far you agree that TNCs care only about their profits. Introduce and define, write a PEE paragraph for each side using Foxconn as evidence, then conclude with a judgement: to a large or a small extent.
Tip: PEE: Point, Evidence, Explanation. Evidence means a figure from Shenzhen, not a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impacts: SEEP.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impact to the example from the Foxconn case study.
Support — work through the steps with the group: (1) Social is about people's daily lives: hours, housing, health, family. (2) Economic is about money: wages, profits, prices, growth. (3) Environmental is about air, water, land and living things. (4) Political is about governments, laws and power.
Parallel worked example for Support (model it, do not give the task answer): Sort these impacts of a new airport: noise disturbs sleep; it creates 2000 jobs; the council changes the planning law; wildlife loses habitat. Sleep is daily life: social.; Jobs are money: economic.; Planning law is government: political.; Habitat is nature: environmental.. Answer: Noise: social. Jobs: economic. Planning law: political. Habitat: environmental..
Core — reveal the hint only on request: People, money, nature, government: in that order the letters spell SEEP.
Stretch — no help; when finished: For each of the four impacts, decide whether it is positive or negative, and for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impacts: SEEP.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impact to the example from the Foxconn case study.
Support — work through the steps with the group: (1) Social is about people's daily lives: hours, housing, health, family. (2) Economic is about money: wages, profits, prices, growth. (3) Environmental is about air, water, land and living things. (4) Political is about governments, laws and power.
Parallel worked example for Support (model it, do not give the task answer): Sort these impacts of a new airport: noise disturbs sleep; it creates 2000 jobs; the council changes the planning law; wildlife loses habitat. Sleep is daily life: social.; Jobs are money: economic.; Planning law is government: political.; Habitat is nature: environmental.. Answer: Noise: social. Jobs: economic. Planning law: political. Habitat: environmental..
Core — reveal the hint only on request: People, money, nature, government: in that order the letters spell SEEP.
Stretch — no help; when finished: For each of the four impacts, decide whether it is positive or negative, and for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A year on the minimum wage.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Foxconn paid the Chinese legal minimum wage of US$130 a month. How much is that for 12 months, in US dollars?
Support — work through the steps with the group: (1) The wage is given per month. (2) A year has 12 months, so multiply the monthly wage by 12. (3) 130 × 12: do 130 × 10 and 130 × 2, then add. (4) Give the units: US dollars.
Parallel worked example for Support (model it, do not give the task answer): A worker is paid US$2 an hour and works 11 hours. How much does the shift pay? Pay per hour × hours.; 2 × 11 = 22.. Answer: US$22.
Core — reveal the hint only on request: Monthly means 12 times a year.
Stretch — no help; when finished: Apple's chief executive earned US$59 million in 2010. Roughly how many years would a minimum-wage worker need to earn US$1 million? Show your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transnational corporation (TNC)?
Answer: B   A firm that produces goods or services in countries other than its home country. A TNC produces in one or more countries other than its home country: Apple is based in the USA but has its products made in China.
Source of this question: gate item 1 re-asked (options rotated) — this chapter has no third quick-check module.
The ebook also holds task 3, "Do TNCs care only about profit?",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 the impacts: SEEP. Reveal the answer; pupils mark their own work in a different colour, then read the "why" together. Same destination for every lane, so one answer serves the whole class.
Answer: Social  →  D  Workers do 12-hour shifts six days a week and many live in company barracks; Economic  →  A  Migrants earn wages to send home, while Apple makes over US$400 000 profit per employee; Environmental  →  C  Thousands of factories and the power stations that run them pollute the air; Political  →  B  The Chinese government subsidises industries and sets the minimum wage and overtime law
Why: Social covers how workers live; economic covers wages and profits; environmental covers pollution from factories and power stations; political covers what the government does with subsidies and laws.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A year on the minimum wage. Reveal the answer; pupils mark their own work in a different colour, then read the "why" together. Same destination for every lane, so one answer serves the whole class.
Answer: 1560 US$
Why: US$130 a month for 12 months is 130 × 12 = US$1560 a year.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firm that produces goods or services in countries other than its home country
Why: A TNC produces in one or more countries other than its home country: Apple is based in the USA but has its products made in China.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210743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Shenzhen, Foxconn and the transnational corporations</a:t>
            </a:r>
            <a:endParaRPr lang="en-US" sz="2800" dirty="0"/>
          </a:p>
        </p:txBody>
      </p:sp>
      <p:sp>
        <p:nvSpPr>
          <p:cNvPr id="11" name="lessons-card"/>
          <p:cNvSpPr/>
          <p:nvPr/>
        </p:nvSpPr>
        <p:spPr>
          <a:xfrm>
            <a:off x="548640" y="3387598"/>
            <a:ext cx="5287975" cy="1948180"/>
          </a:xfrm>
          <a:prstGeom prst="roundRect">
            <a:avLst>
              <a:gd name="adj" fmla="val 3755"/>
            </a:avLst>
          </a:prstGeom>
          <a:solidFill>
            <a:srgbClr val="EFF2F0"/>
          </a:solidFill>
          <a:ln/>
        </p:spPr>
      </p:sp>
      <p:sp>
        <p:nvSpPr>
          <p:cNvPr id="12" name="lessons"/>
          <p:cNvSpPr txBox="1"/>
          <p:nvPr/>
        </p:nvSpPr>
        <p:spPr>
          <a:xfrm>
            <a:off x="685800" y="347903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Growing factories in China: case study Apple industry in Shenzhen</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TNCs: advantages and disadvantages (half-term progress check)</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is a transnational corporation (TNC)?</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firm that makes and sells goods only in its home country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government department that owns a country's factories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firm that produces goods or services in countries other than its home country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A trade union that represents factory workers</a:t>
            </a:r>
            <a:endParaRPr lang="en-US" sz="2000" dirty="0"/>
          </a:p>
        </p:txBody>
      </p:sp>
      <p:sp>
        <p:nvSpPr>
          <p:cNvPr id="12" name="card"/>
          <p:cNvSpPr/>
          <p:nvPr/>
        </p:nvSpPr>
        <p:spPr>
          <a:xfrm>
            <a:off x="6095848" y="1389888"/>
            <a:ext cx="2636444" cy="4754880"/>
          </a:xfrm>
          <a:prstGeom prst="roundRect">
            <a:avLst>
              <a:gd name="adj" fmla="val 2081"/>
            </a:avLst>
          </a:prstGeom>
          <a:solidFill>
            <a:srgbClr val="F4F7F5"/>
          </a:solidFill>
          <a:ln w="12700">
            <a:solidFill>
              <a:srgbClr val="BFCDC2"/>
            </a:solidFill>
            <a:prstDash val="solid"/>
          </a:ln>
        </p:spPr>
      </p:sp>
      <p:sp>
        <p:nvSpPr>
          <p:cNvPr id="13" name="card-hex"/>
          <p:cNvSpPr/>
          <p:nvPr/>
        </p:nvSpPr>
        <p:spPr>
          <a:xfrm>
            <a:off x="6278728" y="1572768"/>
            <a:ext cx="640080" cy="554309"/>
          </a:xfrm>
          <a:prstGeom prst="hexagon">
            <a:avLst/>
          </a:prstGeom>
          <a:solidFill>
            <a:srgbClr val="3F6B4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one year Apple sold 70 million iPhones, 30 million iPads and 59 million other products, almost all made overseas. How many million products is that altogether?</a:t>
            </a:r>
            <a:endParaRPr lang="en-US" sz="1800" dirty="0"/>
          </a:p>
          <a:p>
            <a:pPr algn="l" indent="0" marL="0">
              <a:buNone/>
            </a:pPr>
            <a:r>
              <a:rPr lang="en-US" sz="1800" b="1" dirty="0">
                <a:solidFill>
                  <a:srgbClr val="3F6B4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million</a:t>
            </a:r>
            <a:endParaRPr lang="en-US" sz="1800" dirty="0"/>
          </a:p>
        </p:txBody>
      </p:sp>
      <p:sp>
        <p:nvSpPr>
          <p:cNvPr id="17" name="card"/>
          <p:cNvSpPr/>
          <p:nvPr/>
        </p:nvSpPr>
        <p:spPr>
          <a:xfrm>
            <a:off x="9006611" y="1389888"/>
            <a:ext cx="2636444" cy="4754880"/>
          </a:xfrm>
          <a:prstGeom prst="roundRect">
            <a:avLst>
              <a:gd name="adj" fmla="val 2081"/>
            </a:avLst>
          </a:prstGeom>
          <a:solidFill>
            <a:srgbClr val="F4F7F5"/>
          </a:solidFill>
          <a:ln w="12700">
            <a:solidFill>
              <a:srgbClr val="BFCDC2"/>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Industrialisation is the period of change when a society moves from farming jobs to ___ work.</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factory  ·  office  ·  farm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firm that produces goods or services in countries other than its home country</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is a transnational corporation (TNC)?</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TNC produces in one or more countries other than its home country: Apple is based in the USA but has its products made in China.</a:t>
            </a:r>
            <a:endParaRPr lang="en-US" sz="2000" dirty="0"/>
          </a:p>
        </p:txBody>
      </p:sp>
      <p:sp>
        <p:nvSpPr>
          <p:cNvPr id="14" name="card"/>
          <p:cNvSpPr/>
          <p:nvPr/>
        </p:nvSpPr>
        <p:spPr>
          <a:xfrm>
            <a:off x="6095848" y="1389888"/>
            <a:ext cx="2636444" cy="4754880"/>
          </a:xfrm>
          <a:prstGeom prst="roundRect">
            <a:avLst>
              <a:gd name="adj" fmla="val 2081"/>
            </a:avLst>
          </a:prstGeom>
          <a:solidFill>
            <a:srgbClr val="F4F7F5"/>
          </a:solidFill>
          <a:ln w="12700">
            <a:solidFill>
              <a:srgbClr val="BFCDC2"/>
            </a:solidFill>
            <a:prstDash val="solid"/>
          </a:ln>
        </p:spPr>
      </p:sp>
      <p:sp>
        <p:nvSpPr>
          <p:cNvPr id="15" name="card-hex"/>
          <p:cNvSpPr/>
          <p:nvPr/>
        </p:nvSpPr>
        <p:spPr>
          <a:xfrm>
            <a:off x="6278728" y="1572768"/>
            <a:ext cx="640080" cy="554309"/>
          </a:xfrm>
          <a:prstGeom prst="hexagon">
            <a:avLst/>
          </a:prstGeom>
          <a:solidFill>
            <a:srgbClr val="3F6B4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159 million</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Add the three figures: 70 + 30 + 59 = 159 million products.</a:t>
            </a:r>
            <a:endParaRPr lang="en-US" sz="1800" dirty="0"/>
          </a:p>
        </p:txBody>
      </p:sp>
      <p:sp>
        <p:nvSpPr>
          <p:cNvPr id="21" name="card"/>
          <p:cNvSpPr/>
          <p:nvPr/>
        </p:nvSpPr>
        <p:spPr>
          <a:xfrm>
            <a:off x="9006611" y="1389888"/>
            <a:ext cx="2636444" cy="4754880"/>
          </a:xfrm>
          <a:prstGeom prst="roundRect">
            <a:avLst>
              <a:gd name="adj" fmla="val 2081"/>
            </a:avLst>
          </a:prstGeom>
          <a:solidFill>
            <a:srgbClr val="F4F7F5"/>
          </a:solidFill>
          <a:ln w="12700">
            <a:solidFill>
              <a:srgbClr val="BFCDC2"/>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factory</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lesson's definition: from farming jobs to factory work. That is what happened in Shenzhen after 1970.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industrialisation</a:t>
            </a:r>
            <a:endParaRPr lang="en-US" sz="2600" dirty="0"/>
          </a:p>
        </p:txBody>
      </p:sp>
      <p:sp>
        <p:nvSpPr>
          <p:cNvPr id="11" name="word-rule"/>
          <p:cNvSpPr/>
          <p:nvPr/>
        </p:nvSpPr>
        <p:spPr>
          <a:xfrm>
            <a:off x="731520" y="2558288"/>
            <a:ext cx="3149498" cy="0"/>
          </a:xfrm>
          <a:prstGeom prst="line">
            <a:avLst/>
          </a:prstGeom>
          <a:ln w="12700">
            <a:solidFill>
              <a:srgbClr val="B5C6B9"/>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society moves from farming jobs to factory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Industrialisation turned Shenzhen from a fishing town into a factory city.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transnational corporation</a:t>
            </a:r>
            <a:endParaRPr lang="en-US" sz="2600" dirty="0"/>
          </a:p>
        </p:txBody>
      </p:sp>
      <p:sp>
        <p:nvSpPr>
          <p:cNvPr id="17" name="word-rule"/>
          <p:cNvSpPr/>
          <p:nvPr/>
        </p:nvSpPr>
        <p:spPr>
          <a:xfrm>
            <a:off x="4521098" y="2558288"/>
            <a:ext cx="3149498" cy="0"/>
          </a:xfrm>
          <a:prstGeom prst="line">
            <a:avLst/>
          </a:prstGeom>
          <a:ln w="12700">
            <a:solidFill>
              <a:srgbClr val="B5C6B9"/>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firm that makes goods or services in more than one country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Apple is a transnational corporation based in the USA.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wage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money a worker is paid for their work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minimum wage at Foxconn was US$130 a month.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overtime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extra hours worked beyond the normal working week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Chinese law allowed 36 hours of overtime a month.</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dormitory</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building where many workers sleep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Many workers live in a dormitory next to the factory.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subsidise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a government pays part of a firm's costs to help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Chinese government subsidises many industries.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1970 Shenzhen was a small fishing town in the south of China.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it is a city of many millions of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grew because factories were built there.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Industrialisation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means a society moving from farming jobs to factory work.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of the factories make goods for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transnational corporations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or TNCs.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TNC is a firm that makes goods or services in more than one country.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Apple is a TNC based in the USA.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Its iPhones are put together by a company called Foxconn in Shenzhen.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Foxconn employs about 230 000 people in Shenzhen.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Workers often work six days a week, up to 12 hours a day.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pay is low, about US$130 a month.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has brought jobs to China, but also hard lives for many workers.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From fishing village to megacity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a change with then and now in the same sentence: In 1970 it was… but today it is…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1970 Shenzhen was a small fishing town on the south coast of China, in Guangdong province, just across the border from Hong Kong.</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Shenzhen grew because of industrialisation: the period of change when a society moves from farming jobs to factory work.</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describe how Shenzhen has changed since 1970, compare the two photographs point by point: buildings, transport, land use, population, and the jobs people do.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TNC, and why China?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TNC: trans means across, national means countries. A firm that works across countries.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2B7A7"/>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Many Foxconn employees work six days a week, up to 12 hours a day. How many hours is that in a week?</a:t>
            </a:r>
            <a:endParaRPr lang="en-US" sz="1800" dirty="0"/>
          </a:p>
        </p:txBody>
      </p:sp>
      <p:sp>
        <p:nvSpPr>
          <p:cNvPr id="14" name="step-box"/>
          <p:cNvSpPr/>
          <p:nvPr/>
        </p:nvSpPr>
        <p:spPr>
          <a:xfrm>
            <a:off x="6126480" y="3167380"/>
            <a:ext cx="5379415" cy="768435"/>
          </a:xfrm>
          <a:prstGeom prst="roundRect">
            <a:avLst>
              <a:gd name="adj" fmla="val 11900"/>
            </a:avLst>
          </a:prstGeom>
          <a:solidFill>
            <a:srgbClr val="EFF2F0"/>
          </a:solidFill>
          <a:ln/>
        </p:spPr>
      </p:sp>
      <p:sp>
        <p:nvSpPr>
          <p:cNvPr id="15" name="step-hex"/>
          <p:cNvSpPr/>
          <p:nvPr/>
        </p:nvSpPr>
        <p:spPr>
          <a:xfrm>
            <a:off x="6217920" y="3369467"/>
            <a:ext cx="420624" cy="364260"/>
          </a:xfrm>
          <a:prstGeom prst="hexagon">
            <a:avLst/>
          </a:prstGeom>
          <a:solidFill>
            <a:srgbClr val="3F6B4A"/>
          </a:solidFill>
          <a:ln/>
        </p:spPr>
      </p:sp>
      <p:sp>
        <p:nvSpPr>
          <p:cNvPr id="16" name="step-hex-label"/>
          <p:cNvSpPr txBox="1"/>
          <p:nvPr/>
        </p:nvSpPr>
        <p:spPr>
          <a:xfrm>
            <a:off x="6217920" y="336946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Hours in a week = days worked × hours each day.</a:t>
            </a:r>
            <a:endParaRPr lang="en-US" sz="1800" dirty="0"/>
          </a:p>
        </p:txBody>
      </p:sp>
      <p:sp>
        <p:nvSpPr>
          <p:cNvPr id="18" name="step-box"/>
          <p:cNvSpPr/>
          <p:nvPr/>
        </p:nvSpPr>
        <p:spPr>
          <a:xfrm>
            <a:off x="6126480" y="4027255"/>
            <a:ext cx="5379415" cy="540851"/>
          </a:xfrm>
          <a:prstGeom prst="roundRect">
            <a:avLst>
              <a:gd name="adj" fmla="val 16907"/>
            </a:avLst>
          </a:prstGeom>
          <a:solidFill>
            <a:srgbClr val="EFF2F0"/>
          </a:solidFill>
          <a:ln/>
        </p:spPr>
      </p:sp>
      <p:sp>
        <p:nvSpPr>
          <p:cNvPr id="19" name="step-hex"/>
          <p:cNvSpPr/>
          <p:nvPr/>
        </p:nvSpPr>
        <p:spPr>
          <a:xfrm>
            <a:off x="6217920" y="4115550"/>
            <a:ext cx="420624" cy="364260"/>
          </a:xfrm>
          <a:prstGeom prst="hexagon">
            <a:avLst/>
          </a:prstGeom>
          <a:solidFill>
            <a:srgbClr val="3F6B4A"/>
          </a:solidFill>
          <a:ln/>
        </p:spPr>
      </p:sp>
      <p:sp>
        <p:nvSpPr>
          <p:cNvPr id="20" name="step-hex-label"/>
          <p:cNvSpPr txBox="1"/>
          <p:nvPr/>
        </p:nvSpPr>
        <p:spPr>
          <a:xfrm>
            <a:off x="6217920" y="41155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27255"/>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6 × 12 = 72.</a:t>
            </a:r>
            <a:endParaRPr lang="en-US" sz="1800" dirty="0"/>
          </a:p>
        </p:txBody>
      </p:sp>
      <p:sp>
        <p:nvSpPr>
          <p:cNvPr id="22" name="step-box"/>
          <p:cNvSpPr/>
          <p:nvPr/>
        </p:nvSpPr>
        <p:spPr>
          <a:xfrm>
            <a:off x="6126480" y="4659545"/>
            <a:ext cx="5379415" cy="768435"/>
          </a:xfrm>
          <a:prstGeom prst="roundRect">
            <a:avLst>
              <a:gd name="adj" fmla="val 11900"/>
            </a:avLst>
          </a:prstGeom>
          <a:solidFill>
            <a:srgbClr val="EFF2F0"/>
          </a:solidFill>
          <a:ln/>
        </p:spPr>
      </p:sp>
      <p:sp>
        <p:nvSpPr>
          <p:cNvPr id="23" name="step-hex"/>
          <p:cNvSpPr/>
          <p:nvPr/>
        </p:nvSpPr>
        <p:spPr>
          <a:xfrm>
            <a:off x="6217920" y="4861632"/>
            <a:ext cx="420624" cy="364260"/>
          </a:xfrm>
          <a:prstGeom prst="hexagon">
            <a:avLst/>
          </a:prstGeom>
          <a:solidFill>
            <a:srgbClr val="3F6B4A"/>
          </a:solidFill>
          <a:ln/>
        </p:spPr>
      </p:sp>
      <p:sp>
        <p:nvSpPr>
          <p:cNvPr id="24" name="step-hex-label"/>
          <p:cNvSpPr txBox="1"/>
          <p:nvPr/>
        </p:nvSpPr>
        <p:spPr>
          <a:xfrm>
            <a:off x="6217920" y="486163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59545"/>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Compare: a full-time week in the UK is around 37 to 40 hours, so this is almost double.</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72 hours a week</a:t>
            </a:r>
            <a:endParaRPr lang="en-US" sz="1800" dirty="0"/>
          </a:p>
        </p:txBody>
      </p:sp>
      <p:sp>
        <p:nvSpPr>
          <p:cNvPr id="27" name="bullet-card"/>
          <p:cNvSpPr/>
          <p:nvPr/>
        </p:nvSpPr>
        <p:spPr>
          <a:xfrm>
            <a:off x="548640" y="1389888"/>
            <a:ext cx="5074920" cy="1351534"/>
          </a:xfrm>
          <a:prstGeom prst="roundRect">
            <a:avLst>
              <a:gd name="adj" fmla="val 5413"/>
            </a:avLst>
          </a:prstGeom>
          <a:solidFill>
            <a:srgbClr val="F3F5F3"/>
          </a:solidFill>
          <a:ln/>
        </p:spPr>
      </p:sp>
      <p:sp>
        <p:nvSpPr>
          <p:cNvPr id="28" name="bullet-hex"/>
          <p:cNvSpPr/>
          <p:nvPr/>
        </p:nvSpPr>
        <p:spPr>
          <a:xfrm>
            <a:off x="676656" y="1899362"/>
            <a:ext cx="384048" cy="332586"/>
          </a:xfrm>
          <a:prstGeom prst="hexagon">
            <a:avLst/>
          </a:prstGeom>
          <a:solidFill>
            <a:srgbClr val="3F6B4A"/>
          </a:solidFill>
          <a:ln/>
        </p:spPr>
      </p:sp>
      <p:sp>
        <p:nvSpPr>
          <p:cNvPr id="29" name="bullet"/>
          <p:cNvSpPr txBox="1"/>
          <p:nvPr/>
        </p:nvSpPr>
        <p:spPr>
          <a:xfrm>
            <a:off x="1143000" y="1389888"/>
            <a:ext cx="4389120" cy="135153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transnational corporation, or TNC (also called an MNC), is a firm that produces goods or services in one or more countries other than its home country.</a:t>
            </a:r>
            <a:endParaRPr lang="en-US" sz="1800" dirty="0"/>
          </a:p>
        </p:txBody>
      </p:sp>
      <p:sp>
        <p:nvSpPr>
          <p:cNvPr id="30" name="bullet-card"/>
          <p:cNvSpPr/>
          <p:nvPr/>
        </p:nvSpPr>
        <p:spPr>
          <a:xfrm>
            <a:off x="548640" y="2887726"/>
            <a:ext cx="5074920" cy="1909318"/>
          </a:xfrm>
          <a:prstGeom prst="roundRect">
            <a:avLst>
              <a:gd name="adj" fmla="val 3831"/>
            </a:avLst>
          </a:prstGeom>
          <a:solidFill>
            <a:srgbClr val="F3F5F3"/>
          </a:solidFill>
          <a:ln/>
        </p:spPr>
      </p:sp>
      <p:sp>
        <p:nvSpPr>
          <p:cNvPr id="31" name="bullet-hex"/>
          <p:cNvSpPr/>
          <p:nvPr/>
        </p:nvSpPr>
        <p:spPr>
          <a:xfrm>
            <a:off x="676656" y="3676092"/>
            <a:ext cx="384048" cy="332586"/>
          </a:xfrm>
          <a:prstGeom prst="hexagon">
            <a:avLst/>
          </a:prstGeom>
          <a:solidFill>
            <a:srgbClr val="B8862B"/>
          </a:solidFill>
          <a:ln/>
        </p:spPr>
      </p:sp>
      <p:sp>
        <p:nvSpPr>
          <p:cNvPr id="32" name="bullet"/>
          <p:cNvSpPr txBox="1"/>
          <p:nvPr/>
        </p:nvSpPr>
        <p:spPr>
          <a:xfrm>
            <a:off x="1143000" y="2887726"/>
            <a:ext cx="4389120" cy="19093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iPhone is a world product. Apple buys memory chips from Korea and Japan, display panels and circuitry from Korea and Taiwan, advanced semiconductors from Germany and Taiwan, and rare metals from Africa and Asia.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Inside Foxconn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Treated is the key word in the question: it asks about hours, pay, housing and pressure, with a figure for each.</a:t>
            </a:r>
            <a:endParaRPr lang="en-US" sz="1800" dirty="0"/>
          </a:p>
        </p:txBody>
      </p:sp>
      <p:sp>
        <p:nvSpPr>
          <p:cNvPr id="11" name="bullet-card"/>
          <p:cNvSpPr/>
          <p:nvPr/>
        </p:nvSpPr>
        <p:spPr>
          <a:xfrm>
            <a:off x="548640" y="1389888"/>
            <a:ext cx="11094415" cy="1666240"/>
          </a:xfrm>
          <a:prstGeom prst="roundRect">
            <a:avLst>
              <a:gd name="adj" fmla="val 4390"/>
            </a:avLst>
          </a:prstGeom>
          <a:solidFill>
            <a:srgbClr val="F3F5F3"/>
          </a:solidFill>
          <a:ln/>
        </p:spPr>
      </p:sp>
      <p:sp>
        <p:nvSpPr>
          <p:cNvPr id="12" name="bullet-hex"/>
          <p:cNvSpPr/>
          <p:nvPr/>
        </p:nvSpPr>
        <p:spPr>
          <a:xfrm>
            <a:off x="676656" y="2056715"/>
            <a:ext cx="384048" cy="332586"/>
          </a:xfrm>
          <a:prstGeom prst="hexagon">
            <a:avLst/>
          </a:prstGeom>
          <a:solidFill>
            <a:srgbClr val="3F6B4A"/>
          </a:solidFill>
          <a:ln/>
        </p:spPr>
      </p:sp>
      <p:sp>
        <p:nvSpPr>
          <p:cNvPr id="13" name="bullet"/>
          <p:cNvSpPr txBox="1"/>
          <p:nvPr/>
        </p:nvSpPr>
        <p:spPr>
          <a:xfrm>
            <a:off x="1143000" y="1389888"/>
            <a:ext cx="10408615" cy="166624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Foxconn is the company that assembles Apple's products. It has around one million employees and dozens of factories in Asia, Eastern Europe, Mexico and Brazil, and it makes an estimated 40 percent of the world's consumer electronics for customers including Amazon, Dell, Nintendo, Samsung and Sony.</a:t>
            </a:r>
            <a:endParaRPr lang="en-US" sz="2200" dirty="0"/>
          </a:p>
        </p:txBody>
      </p:sp>
      <p:sp>
        <p:nvSpPr>
          <p:cNvPr id="14" name="bullet-card"/>
          <p:cNvSpPr/>
          <p:nvPr/>
        </p:nvSpPr>
        <p:spPr>
          <a:xfrm>
            <a:off x="548640" y="3202432"/>
            <a:ext cx="11094415" cy="742696"/>
          </a:xfrm>
          <a:prstGeom prst="roundRect">
            <a:avLst>
              <a:gd name="adj" fmla="val 9850"/>
            </a:avLst>
          </a:prstGeom>
          <a:solidFill>
            <a:srgbClr val="F3F5F3"/>
          </a:solidFill>
          <a:ln/>
        </p:spPr>
      </p:sp>
      <p:sp>
        <p:nvSpPr>
          <p:cNvPr id="15" name="bullet-hex"/>
          <p:cNvSpPr/>
          <p:nvPr/>
        </p:nvSpPr>
        <p:spPr>
          <a:xfrm>
            <a:off x="676656" y="3407487"/>
            <a:ext cx="384048" cy="332586"/>
          </a:xfrm>
          <a:prstGeom prst="hexagon">
            <a:avLst/>
          </a:prstGeom>
          <a:solidFill>
            <a:srgbClr val="B8862B"/>
          </a:solidFill>
          <a:ln/>
        </p:spPr>
      </p:sp>
      <p:sp>
        <p:nvSpPr>
          <p:cNvPr id="16" name="bullet"/>
          <p:cNvSpPr txBox="1"/>
          <p:nvPr/>
        </p:nvSpPr>
        <p:spPr>
          <a:xfrm>
            <a:off x="1143000" y="3202432"/>
            <a:ext cx="10408615" cy="74269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Many employees work six days a week, often up to 12 hours a day.</a:t>
            </a:r>
            <a:endParaRPr lang="en-US" sz="2200" dirty="0"/>
          </a:p>
        </p:txBody>
      </p:sp>
      <p:sp>
        <p:nvSpPr>
          <p:cNvPr id="17" name="bullet-card"/>
          <p:cNvSpPr/>
          <p:nvPr/>
        </p:nvSpPr>
        <p:spPr>
          <a:xfrm>
            <a:off x="548640" y="4091432"/>
            <a:ext cx="11094415" cy="984504"/>
          </a:xfrm>
          <a:prstGeom prst="roundRect">
            <a:avLst>
              <a:gd name="adj" fmla="val 7430"/>
            </a:avLst>
          </a:prstGeom>
          <a:solidFill>
            <a:srgbClr val="F3F5F3"/>
          </a:solidFill>
          <a:ln/>
        </p:spPr>
      </p:sp>
      <p:sp>
        <p:nvSpPr>
          <p:cNvPr id="18" name="bullet-hex"/>
          <p:cNvSpPr/>
          <p:nvPr/>
        </p:nvSpPr>
        <p:spPr>
          <a:xfrm>
            <a:off x="676656" y="4417391"/>
            <a:ext cx="384048" cy="332586"/>
          </a:xfrm>
          <a:prstGeom prst="hexagon">
            <a:avLst/>
          </a:prstGeom>
          <a:solidFill>
            <a:srgbClr val="3F6B4A"/>
          </a:solidFill>
          <a:ln/>
        </p:spPr>
      </p:sp>
      <p:sp>
        <p:nvSpPr>
          <p:cNvPr id="19" name="bullet"/>
          <p:cNvSpPr txBox="1"/>
          <p:nvPr/>
        </p:nvSpPr>
        <p:spPr>
          <a:xfrm>
            <a:off x="1143000" y="4091432"/>
            <a:ext cx="10408615" cy="98450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Your lesson's case study is Ma Xiang Qian, a 19-year-old who moved from his family's farm to Shenzhen looking for work.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Who benefits? Thinking in SEEP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PEE: Point, Evidence, Explanation. Evidence means a figure from Shenzhen, not a feeling.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judge the impacts of a TNC, geographers sort them into Social, Economic, Environmental and Political: SEEP.</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 impacts include the pollution and waste from thousands of factories and the power stations that run them, which you see in Beijing's air in the last chapter.</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balanced judgement weighs both sides. Jobs, skills and income are real advantages; the hours, the pay and the pressure are real disadvantages.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Sort the impacts: SEEP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type of impact to the example from the Foxconn case study.</a:t>
            </a:r>
            <a:endParaRPr lang="en-US" sz="2000" dirty="0"/>
          </a:p>
        </p:txBody>
      </p:sp>
      <p:sp>
        <p:nvSpPr>
          <p:cNvPr id="11" name="match-card"/>
          <p:cNvSpPr/>
          <p:nvPr/>
        </p:nvSpPr>
        <p:spPr>
          <a:xfrm>
            <a:off x="777240" y="2468331"/>
            <a:ext cx="3081437" cy="804809"/>
          </a:xfrm>
          <a:prstGeom prst="roundRect">
            <a:avLst>
              <a:gd name="adj" fmla="val 9089"/>
            </a:avLst>
          </a:prstGeom>
          <a:solidFill>
            <a:srgbClr val="F3F5F3"/>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Social</a:t>
            </a:r>
            <a:endParaRPr lang="en-US" sz="2000" dirty="0"/>
          </a:p>
        </p:txBody>
      </p:sp>
      <p:sp>
        <p:nvSpPr>
          <p:cNvPr id="15" name="match-card"/>
          <p:cNvSpPr/>
          <p:nvPr/>
        </p:nvSpPr>
        <p:spPr>
          <a:xfrm>
            <a:off x="4224437" y="2468331"/>
            <a:ext cx="7190019" cy="804809"/>
          </a:xfrm>
          <a:prstGeom prst="roundRect">
            <a:avLst>
              <a:gd name="adj" fmla="val 9089"/>
            </a:avLst>
          </a:prstGeom>
          <a:solidFill>
            <a:srgbClr val="F8F2E9"/>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Migrants earn wages to send home, while Apple makes over US$400 000 profit per employee</a:t>
            </a:r>
            <a:endParaRPr lang="en-US" sz="2000" dirty="0"/>
          </a:p>
        </p:txBody>
      </p:sp>
      <p:sp>
        <p:nvSpPr>
          <p:cNvPr id="19" name="match-card"/>
          <p:cNvSpPr/>
          <p:nvPr/>
        </p:nvSpPr>
        <p:spPr>
          <a:xfrm>
            <a:off x="777240" y="3364581"/>
            <a:ext cx="3081437" cy="804809"/>
          </a:xfrm>
          <a:prstGeom prst="roundRect">
            <a:avLst>
              <a:gd name="adj" fmla="val 9089"/>
            </a:avLst>
          </a:prstGeom>
          <a:solidFill>
            <a:srgbClr val="F3F5F3"/>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Economic</a:t>
            </a:r>
            <a:endParaRPr lang="en-US" sz="2000" dirty="0"/>
          </a:p>
        </p:txBody>
      </p:sp>
      <p:sp>
        <p:nvSpPr>
          <p:cNvPr id="23" name="match-card"/>
          <p:cNvSpPr/>
          <p:nvPr/>
        </p:nvSpPr>
        <p:spPr>
          <a:xfrm>
            <a:off x="4224437" y="3364581"/>
            <a:ext cx="7190019" cy="804809"/>
          </a:xfrm>
          <a:prstGeom prst="roundRect">
            <a:avLst>
              <a:gd name="adj" fmla="val 9089"/>
            </a:avLst>
          </a:prstGeom>
          <a:solidFill>
            <a:srgbClr val="F8F2E9"/>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Chinese government subsidises industries and sets the minimum wage and overtime law</a:t>
            </a:r>
            <a:endParaRPr lang="en-US" sz="2000" dirty="0"/>
          </a:p>
        </p:txBody>
      </p:sp>
      <p:sp>
        <p:nvSpPr>
          <p:cNvPr id="27" name="match-card"/>
          <p:cNvSpPr/>
          <p:nvPr/>
        </p:nvSpPr>
        <p:spPr>
          <a:xfrm>
            <a:off x="777240" y="4260830"/>
            <a:ext cx="3081437" cy="804809"/>
          </a:xfrm>
          <a:prstGeom prst="roundRect">
            <a:avLst>
              <a:gd name="adj" fmla="val 9089"/>
            </a:avLst>
          </a:prstGeom>
          <a:solidFill>
            <a:srgbClr val="F3F5F3"/>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Environmental</a:t>
            </a:r>
            <a:endParaRPr lang="en-US" sz="2000" dirty="0"/>
          </a:p>
        </p:txBody>
      </p:sp>
      <p:sp>
        <p:nvSpPr>
          <p:cNvPr id="31" name="match-card"/>
          <p:cNvSpPr/>
          <p:nvPr/>
        </p:nvSpPr>
        <p:spPr>
          <a:xfrm>
            <a:off x="4224437" y="4260830"/>
            <a:ext cx="7190019" cy="804809"/>
          </a:xfrm>
          <a:prstGeom prst="roundRect">
            <a:avLst>
              <a:gd name="adj" fmla="val 9089"/>
            </a:avLst>
          </a:prstGeom>
          <a:solidFill>
            <a:srgbClr val="F8F2E9"/>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Thousands of factories and the power stations that run them pollute the air</a:t>
            </a:r>
            <a:endParaRPr lang="en-US" sz="2000" dirty="0"/>
          </a:p>
        </p:txBody>
      </p:sp>
      <p:sp>
        <p:nvSpPr>
          <p:cNvPr id="35" name="match-card"/>
          <p:cNvSpPr/>
          <p:nvPr/>
        </p:nvSpPr>
        <p:spPr>
          <a:xfrm>
            <a:off x="777240" y="5157079"/>
            <a:ext cx="3081437" cy="804809"/>
          </a:xfrm>
          <a:prstGeom prst="roundRect">
            <a:avLst>
              <a:gd name="adj" fmla="val 9089"/>
            </a:avLst>
          </a:prstGeom>
          <a:solidFill>
            <a:srgbClr val="F3F5F3"/>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Political</a:t>
            </a:r>
            <a:endParaRPr lang="en-US" sz="2000" dirty="0"/>
          </a:p>
        </p:txBody>
      </p:sp>
      <p:sp>
        <p:nvSpPr>
          <p:cNvPr id="39" name="match-card"/>
          <p:cNvSpPr/>
          <p:nvPr/>
        </p:nvSpPr>
        <p:spPr>
          <a:xfrm>
            <a:off x="4224437" y="5157079"/>
            <a:ext cx="7190019" cy="804809"/>
          </a:xfrm>
          <a:prstGeom prst="roundRect">
            <a:avLst>
              <a:gd name="adj" fmla="val 9089"/>
            </a:avLst>
          </a:prstGeom>
          <a:solidFill>
            <a:srgbClr val="F8F2E9"/>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Workers do 12-hour shifts six days a week and many live in company barracks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Sort the impacts: SEEP</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impact to the example from the Foxconn case study.</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is about people's daily lives: hours, housing, health, family.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is about money: wages, profits, prices, growth.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is about air, water, land and living things.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Political is about governments, laws and power.</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People, money, nature, government: in that order the letters spell SEEP.</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of the four impacts, decide whether it is positive or negative, and for whom.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A year on the minimum wage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Foxconn paid the Chinese legal minimum wage of US$130 a month. How much is that for 12 months, in US dollars?</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US$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EFF2F0"/>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wage is given per month.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year has 12 months, so multiply the monthly wage by 12.</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130 × 12: do 130 × 10 and 130 × 2, then add.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the units: US dollars.</a:t>
            </a:r>
            <a:endParaRPr lang="en-US" sz="1800" dirty="0"/>
          </a:p>
        </p:txBody>
      </p:sp>
      <p:sp>
        <p:nvSpPr>
          <p:cNvPr id="17" name="col-Core"/>
          <p:cNvSpPr/>
          <p:nvPr/>
        </p:nvSpPr>
        <p:spPr>
          <a:xfrm>
            <a:off x="4338218" y="2948940"/>
            <a:ext cx="3515258" cy="3195828"/>
          </a:xfrm>
          <a:prstGeom prst="roundRect">
            <a:avLst>
              <a:gd name="adj" fmla="val 1717"/>
            </a:avLst>
          </a:prstGeom>
          <a:solidFill>
            <a:srgbClr val="D8E1DA"/>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Monthly means 12 times a year.</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3F6B4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Apple's chief executive earned US$59 million in 2010. Roughly how many years would a minimum-wage worker need to earn US$1 million? Show your working.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transnational corporation (TNC)?</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government department that owns a country's factories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firm that produces goods or services in countries other than its home country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trade union that represents factory workers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firm that makes and sells goods only in its home country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Sort the impacts: SEEP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Social  →  D  Workers do 12-hour shifts six days a week and many live in company barracks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Economic  →  A  Migrants earn wages to send home, while Apple makes over US$400 000 profit per employee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Environmental  →  C  Thousands of factories and the power stations that run them pollute the air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Political  →  B  The Chinese government subsidises industries and sets the minimum wage and overtime law</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Social covers how workers live; economic covers wages and profits; environmental covers pollution from factories and power stations; political covers what the government does with subsidies and laws.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A year on the minimum wage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Foxconn paid the Chinese legal minimum wage of US$130 a month. How much is that for 12 months, in US dollars?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1560 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US$130 a month for 12 months is 130 × 12 = US$1560 a year.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transnational corporation (TNC)?</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firm that produces goods or services in countries other than its home country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TNC produces in one or more countries other than its home country: Apple is based in the USA but has its products made in China.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4: Shenzhen, Foxconn and the transnational corporations</dc:title>
  <dc:subject>Geography · Year 8</dc:subject>
  <dc:creator>Dr Vitor Merissi de Carvalho</dc:creator>
  <cp:lastModifiedBy>Dr Vitor Merissi de Carvalho</cp:lastModifiedBy>
  <cp:revision>1</cp:revision>
  <dcterms:created xsi:type="dcterms:W3CDTF">2026-10-19T16:22:44Z</dcterms:created>
  <dcterms:modified xsi:type="dcterms:W3CDTF">2026-10-19T16:22:44Z</dcterms:modified>
</cp:coreProperties>
</file>