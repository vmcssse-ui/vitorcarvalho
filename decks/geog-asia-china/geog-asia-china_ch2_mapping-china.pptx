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c54739-654e-2b56-cbac-d732bf0d918c}">
          <p14:sldIdLst>
            <p14:sldId id="256"/>
          </p14:sldIdLst>
        </p14:section>
        <p14:section name="Gate" id="{6556d0d6-bce2-3ae5-3627-7b5fd64fc167}">
          <p14:sldIdLst>
            <p14:sldId id="257"/>
            <p14:sldId id="258"/>
          </p14:sldIdLst>
        </p14:section>
        <p14:section name="Pre-teach" id="{e8a0bff2-158d-ce0c-ff57-fe18ad954247}">
          <p14:sldIdLst>
            <p14:sldId id="259"/>
            <p14:sldId id="260"/>
          </p14:sldIdLst>
        </p14:section>
        <p14:section name="Read-along" id="{bd6785f5-88d7-0a91-6914-856b900bb09f}">
          <p14:sldIdLst>
            <p14:sldId id="261"/>
            <p14:sldId id="262"/>
          </p14:sldIdLst>
        </p14:section>
        <p14:section name="Teach" id="{87dc1257-aa15-917b-cc18-96945b549e5a}">
          <p14:sldIdLst>
            <p14:sldId id="263"/>
            <p14:sldId id="264"/>
            <p14:sldId id="265"/>
            <p14:sldId id="266"/>
            <p14:sldId id="267"/>
          </p14:sldIdLst>
        </p14:section>
        <p14:section name="Routes" id="{41abb12d-cfbc-23dd-c3b2-796c91c73dbf}">
          <p14:sldIdLst>
            <p14:sldId id="268"/>
            <p14:sldId id="269"/>
            <p14:sldId id="270"/>
          </p14:sldIdLst>
        </p14:section>
        <p14:section name="Close" id="{0cda6dbc-c912-01b8-d213-417e60b9deb3}">
          <p14:sldIdLst>
            <p14:sldId id="271"/>
          </p14:sldIdLst>
        </p14:section>
        <p14:section name="Answers" id="{18b0a23c-cf87-7f5c-40bd-90d2a78fdf0a}">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Locating China and mapping its physical geography. How to describe exactly where China is, the difference between physical and human geography, China's main physical features, and how to draw a map that someone else can read.
This deck covers the department's lessons: 2 (Introducing China: Where is China, and how do you write a good geographical description of its location and features?); 3 (The Physical Geography of China: What are China's key physical features, and how do you map them with symbols, shading and a key?).
Read the big question aloud: "What is the global importance of Asia, and what has China's rapid growth meant for its people, its environment and the wider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physical feature of China?  →  D   The Yangtze River
2. A map's ___ explains what each symbol and colour means.  →  key
3. Which ocean lies to the east of China?  →  A   The Pacific Ocean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The Yangtze River. A river is a natural feature, so it belongs to physical geography. Cities, dams and factories are built by people: human geography.
2. key. The key is the box that decodes the symbols and shading. The title says what the map shows; the scale says how big it is.
3. A   The Pacific Ocean. China's coast faces east onto the Pacific Ocean. The Indian Ocean is to the south of Asia, not next to China.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locate: to say exactly where a place is. Example: "Use the atlas to locate China and its neighbours."
• physical geography: the natural features of the Earth, like rivers, mountains and deserts. Example: "The Yangtze River is part of China's physical geography."
• human geography: the features people make, like cities, farms and factories. Example: "Beijing and its factories are part of China's human geography."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symbol: a small picture or shape on a map that stands for a feature. Example: "A triangle is a common symbol for a mountain peak."
• key: the box on a map that explains what each symbol and colour means. Example: "Check the key before you read the map."
• latitude: how far north or south of the Equator a place is. Example: "The Tropic of Cancer is an important line of latitude."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China is a huge country in the east of Asia.
2. To its east lies the Pacific Ocean.
3. It shares borders with many countries, including Russia, Mongolia, India and Vietnam.
4. Its capital city is Beijing.
5. Shanghai, on the coast, is one of the world's largest megacities.
6. Physical geography is about natural features like rivers, mountains and deserts.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Human geography is about people and the things they build.
8. China has high mountains and plateaus in the west.
9. It has deserts in the north and wide lowlands and rivers in the east.
10. The Yangtze is China's longest river.
11. When you map these features, use symbols and colour shading.
12. Always add a key so others can read your map.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Describing where China is. Say it in your own words, then check understanding with a quick question: ask a pupil from the pre-teach group first, since they met these words and ideas before the lesson. Pupils try to recall before you re-explain.
China is in the east of Asia. Its long coastline faces the Pacific Ocean, with the Yellow Sea, the East China Sea and the South China Sea along its shore. Inland it shares borders with many countries, including Russia and Mongolia to the north, Kazakhstan to the north-west, India, Nepal and Bhutan to the south-west, and Myanmar, Laos and Vietnam to the south. North Korea lies to its north-east.
China sits in the northern hemisphere. The Tropic of Cancer, an important line of latitude, crosses its southern provinces, so the far south is tropical while the north has cold winters. Its capital is Beijing, in the north-east. Shanghai, on the east coast, is one of the world's largest megacities. Shenzhen, in the far south, is the factory city you study later in this unit.
When you describe China's location in as much detail as possible, use all of these: continent and part of continent, hemisphere and line of latitude, oceans and seas, neighbouring countries with compass directions, and named cities.
Worked example — model it step by step, thinking aloud: Describe the location of China in detail. (4 marks) (1) Continent and part: China is in the east of Asia. (2) Hemisphere and latitude: it is in the northern hemisphere, and the Tropic of Cancer crosses its south. (3) Water: the Pacific Ocean lies to its east, with the Yellow Sea, East China Sea and South China Sea along the coast. (4) Neighbours with directions, then cities: Russia and Mongolia to the north, India to the south-west, Vietnam to the south; Beijing is the capital, Shanghai the largest coastal city. Answer: China is a large country in the east of Asia, in the northern hemisphere, with the Tropic of Cancer crossing its south. The Pacific Ocean lies to its east. It borders Russia and Mongolia to the north, India to the south-west and Vietnam to the south. Its capital is Beijing and Shanghai is its great coastal city..
Tip: Compass directions and named neighbours turn a 1-mark answer into a 4-mark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Describing where China is. Say it in your own words, then check understanding with a quick question: ask a pupil from the pre-teach group first, since they met these words and ideas before the lesson. Pupils try to recall before you re-explain.
China is in the east of Asia. Its long coastline faces the Pacific Ocean, with the Yellow Sea, the East China Sea and the South China Sea along its shore. Inland it shares borders with many countries, including Russia and Mongolia to the north, Kazakhstan to the north-west, India, Nepal and Bhutan to the south-west, and Myanmar, Laos and Vietnam to the south. North Korea lies to its north-east.
China sits in the northern hemisphere. The Tropic of Cancer, an important line of latitude, crosses its southern provinces, so the far south is tropical while the north has cold winters. Its capital is Beijing, in the north-east. Shanghai, on the east coast, is one of the world's largest megacities. Shenzhen, in the far south, is the factory city you study later in this unit.
When you describe China's location in as much detail as possible, use all of these: continent and part of continent, hemisphere and line of latitude, oceans and seas, neighbouring countries with compass directions, and named cities.
Worked example — model it step by step, thinking aloud: Describe the location of China in detail. (4 marks) (1) Continent and part: China is in the east of Asia. (2) Hemisphere and latitude: it is in the northern hemisphere, and the Tropic of Cancer crosses its south. (3) Water: the Pacific Ocean lies to its east, with the Yellow Sea, East China Sea and South China Sea along the coast. (4) Neighbours with directions, then cities: Russia and Mongolia to the north, India to the south-west, Vietnam to the south; Beijing is the capital, Shanghai the largest coastal city. Answer: China is a large country in the east of Asia, in the northern hemisphere, with the Tropic of Cancer crossing its south. The Pacific Ocean lies to its east. It borders Russia and Mongolia to the north, India to the south-west and Vietnam to the south. Its capital is Beijing and Shanghai is its great coastal city..
Tip: Compass directions and named neighbours turn a 1-mark answer into a 4-mark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Physical or human?. Say it in your own words, then check understanding with a quick question: ask a pupil from the pre-teach group first, since they met these words and ideas before the lesson. Pupils try to recall before you re-explain.
Physical geography is about the natural features of the Earth: rivers, lakes, mountains, plateaus, deserts, seas, oceans, islands and climate. Human geography is about people and what they build and do: cities, roads, farms, factories, trade and population. Most places have both: the Yangtze is physical, but the dam built across it is human.
Your map task asks for two to five named examples of each physical category: lakes, rivers, mountain peaks, gulfs, channels, important lines of latitude, mountain ranges, plateaus, deserts, seas, oceans and islands. The atlas is your source. Even better if you can name an example of each inside China.
Tip: If it would still be there with no people on Earth, it is physical.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China's physical features. Say it in your own words, then check understanding with a quick question: ask a pupil from the pre-teach group first, since they met these words and ideas before the lesson. Pupils try to recall before you re-explain.
China's land rises from east to west like a giant staircase. In the west is the Tibetan Plateau, the highest and largest plateau on Earth, and along its southern edge the Himalayas, the world's highest mountain range. The north is dry: the Gobi Desert stretches along the border with Mongolia.
China's two great rivers, the Yangtze and the Yellow River (Huang He), rise in the western highlands and flow east across wide lowlands to the sea. The Yangtze is China's longest river; the Three Gorges Dam, which you meet in the last chapter, is built across it. Most of China's people and cities are on these eastern lowlands and the coast. Hainan, in the far south, is a large tropical island.
Check each of these against the atlas and the map you drew in class. The point of the lesson is the pattern: high and dry in the west and north, low, wet and crowded in the east.
Tip: West high, north dry, east low and crowded. Say the pattern before you list the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Making a map others can read. Say it in your own words, then check understanding with a quick question: ask a pupil from the pre-teach group first, since they met these words and ideas before the lesson. Pupils try to recall before you re-explain.
A good map does three things: it locates features accurately, it shows them clearly, and it explains itself. Decide for each feature whether a symbol (a triangle for a peak, a blue line for a river) or colour shading (brown for mountains, yellow for deserts) will work best. Shading suits areas; symbols suit points and lines.
Every map needs a key, so a reader knows what each symbol and colour means, and a title. Labels must be neat and easy to read. The gold-standard map in the peer assessment could pass for an atlas page: two or more features accurately located in every category, and a complete, neat key.
Tip: Title, key, neat labels, accurate locations: the four things every map is marked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category.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China's physical features to its category.
Support — work through the steps with the group: (1) One name has its category inside it. Match that one first. (2) Think of the map: which feature is a long blue line flowing to the sea? (3) Which is a line of the highest peaks on Earth, and which is a dry yellow area in the north? (4) The one left is a piece of land surrounded by sea.
Parallel worked example for Support (model it, do not give the task answer): Match: Sahara, Nile, Alps. Categories: river, desert, mountain range. The Nile is the long river of Africa.; The Sahara is the great desert of North Africa.; The Alps are the mountain range of Europe.. Answer: Sahara: desert. Nile: river. Alps: mountain range..
Core — reveal the hint only on request: Two are high land: one is a line of peaks, one is a wide flat area. One flows, one is dry, one is in the sea.
Stretch — no help; when finished: For each feature, say whether it is in the east or the west of China, and what that tells you about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category.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China's physical features to its category.
Support — work through the steps with the group: (1) One name has its category inside it. Match that one first. (2) Think of the map: which feature is a long blue line flowing to the sea? (3) Which is a line of the highest peaks on Earth, and which is a dry yellow area in the north? (4) The one left is a piece of land surrounded by sea.
Parallel worked example for Support (model it, do not give the task answer): Match: Sahara, Nile, Alps. Categories: river, desert, mountain range. The Nile is the long river of Africa.; The Sahara is the great desert of North Africa.; The Alps are the mountain range of Europe.. Answer: Sahara: desert. Nile: river. Alps: mountain range..
Core — reveal the hint only on request: Two are high land: one is a line of peaks, one is a wide flat area. One flows, one is dry, one is in the sea.
Stretch — no help; when finished: For each feature, say whether it is in the east or the west of China, and what that tells you about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human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pupil labels four features on a map of China: the Yangtze River, the Gobi Desert, Beijing and the Himalayas. Which label is a human feature?
Support — work through the steps with the group: (1) Ask of each feature: would it still be there if there were no people on Earth? (2) Rivers, deserts and mountains would still be there. They are physical. (3) A city only exists because people built it. That makes it human. (4) Pick the one that people made.
Parallel worked example for Support (model it, do not give the task answer): Which of these is a human feature: the South China Sea, the Three Gorges Dam, Hainan island? A sea and an island are natural.; A dam is built by people.. Answer: The Three Gorges Dam.
Core — reveal the hint only on request: Three of the four would exist without people. One would not.
Stretch — no help; when finished: Give one example of a feature in China that is both physical and human at once, and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 parts of a detailed location description in the order you would write them, from biggest to smallest.
Answer: Name the continent and the part of it the country is in  (A); Give the hemisphere and any important line of latitude  (D); Name the oceans and seas, and the neighbouring countries with compass directions  (B); Name the capital and other major cities  (C). Zooming in step by step (continent, hemisphere and latitude, surroundings, cities) means a reader who has never seen the map can picture where the country is.
Source of this question: module 3 task ("From big to small: describing a location")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category. Reveal the answer; pupils mark their own work in a different colour, then read the "why" together. Same destination for every lane, so one answer serves the whole class.
Answer: Yangtze  →  D  River; Himalayas  →  C  Mountain range; Gobi  →  E  Desert; Tibetan Plateau  →  B  Plateau; Hainan  →  A  Island
Why: The Yangtze is a river, the Himalayas a mountain range, the Gobi a desert, the Tibetan Plateau a plateau (a high, fairly flat area) and Hainan an island off the south coast.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Spot the human feature. Reveal the answer; pupils mark their own work in a different colour, then read the "why" together. Same destination for every lane, so one answer serves the whole class.
Answer: D   Beijing
Why: Beijing was built by people, so it is a human feature. The river, desert and mountains are natural and belong to physical geography.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Name the continent and the part of it the country is in  (A); Give the hemisphere and any important line of latitude  (D); Name the oceans and seas, and the neighbouring countries with compass directions  (B); Name the capital and other major cities  (C)
Why: Zooming in step by step (continent, hemisphere and latitude, surroundings, cities) means a reader who has never seen the map can picture where the country is.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Asia and China · AQA KS3 → 8035</a:t>
            </a:r>
            <a:endParaRPr lang="en-US" sz="1800" dirty="0"/>
          </a:p>
        </p:txBody>
      </p:sp>
      <p:sp>
        <p:nvSpPr>
          <p:cNvPr id="10" name="deck-title"/>
          <p:cNvSpPr txBox="1"/>
          <p:nvPr/>
        </p:nvSpPr>
        <p:spPr>
          <a:xfrm>
            <a:off x="548640" y="241731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Locating China and mapping its physical geography</a:t>
            </a:r>
            <a:endParaRPr lang="en-US" sz="2800" dirty="0"/>
          </a:p>
        </p:txBody>
      </p:sp>
      <p:sp>
        <p:nvSpPr>
          <p:cNvPr id="11" name="lessons-card"/>
          <p:cNvSpPr/>
          <p:nvPr/>
        </p:nvSpPr>
        <p:spPr>
          <a:xfrm>
            <a:off x="548640" y="3697478"/>
            <a:ext cx="5287975" cy="1328420"/>
          </a:xfrm>
          <a:prstGeom prst="roundRect">
            <a:avLst>
              <a:gd name="adj" fmla="val 5507"/>
            </a:avLst>
          </a:prstGeom>
          <a:solidFill>
            <a:srgbClr val="EFF2F0"/>
          </a:solidFill>
          <a:ln/>
        </p:spPr>
      </p:sp>
      <p:sp>
        <p:nvSpPr>
          <p:cNvPr id="12" name="lessons"/>
          <p:cNvSpPr txBox="1"/>
          <p:nvPr/>
        </p:nvSpPr>
        <p:spPr>
          <a:xfrm>
            <a:off x="685800" y="378891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Introducing China</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Physical Geography of China</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global importance of Asia, and what has China's rapid growth meant for its people, its environment and the wider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 physical feature of China?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factories of Shenzhen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Three Gorges Dam</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city of Beijing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Yangtze River</a:t>
            </a:r>
            <a:endParaRPr lang="en-US" sz="22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map's ___ explains what each symbol and colour means.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key  ·  title  ·  scale</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ocean lies to the east of China?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Pacific Ocean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Arctic Ocean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Indian Ocean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Atlantic Ocean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Yangtze River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physical feature of China?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river is a natural feature, so it belongs to physical geography. Cities, dams and factories are built by people: human geography.</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key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map's ___ explains what each symbol and colour means.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key is the box that decodes the symbols and shading. The title says what the map shows; the scale says how big it is.</a:t>
            </a:r>
            <a:endParaRPr lang="en-US" sz="20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Pacific Ocean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ocean lies to the east of China?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China's coast faces east onto the Pacific Ocean. The Indian Ocean is to the south of Asia, not next to China.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locate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say exactly where a place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Use the atlas to locate China and its neighbours.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physical geography</a:t>
            </a:r>
            <a:endParaRPr lang="en-US" sz="2600" dirty="0"/>
          </a:p>
        </p:txBody>
      </p:sp>
      <p:sp>
        <p:nvSpPr>
          <p:cNvPr id="17" name="word-rule"/>
          <p:cNvSpPr/>
          <p:nvPr/>
        </p:nvSpPr>
        <p:spPr>
          <a:xfrm>
            <a:off x="4521098" y="2558288"/>
            <a:ext cx="3149498" cy="0"/>
          </a:xfrm>
          <a:prstGeom prst="line">
            <a:avLst/>
          </a:prstGeom>
          <a:ln w="12700">
            <a:solidFill>
              <a:srgbClr val="B5C6B9"/>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natural features of the Earth, like rivers, mountains and deserts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Yangtze River is part of China's physical geography.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human geography</a:t>
            </a:r>
            <a:endParaRPr lang="en-US" sz="2600" dirty="0"/>
          </a:p>
        </p:txBody>
      </p:sp>
      <p:sp>
        <p:nvSpPr>
          <p:cNvPr id="23" name="word-rule"/>
          <p:cNvSpPr/>
          <p:nvPr/>
        </p:nvSpPr>
        <p:spPr>
          <a:xfrm>
            <a:off x="8310677" y="2558288"/>
            <a:ext cx="3149498" cy="0"/>
          </a:xfrm>
          <a:prstGeom prst="line">
            <a:avLst/>
          </a:prstGeom>
          <a:ln w="12700">
            <a:solidFill>
              <a:srgbClr val="B5C6B9"/>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features people make, like cities, farms and factories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Beijing and its factories are part of China's human geography.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symbol</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picture or shape on a map that stands for a feature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triangle is a common symbol for a mountain peak.</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key</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box on a map that explains what each symbol and colour means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Check the key before you read the map.</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latitude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far north or south of the Equator a place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Tropic of Cancer is an important line of latitude.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China is a huge country in the east of Asia.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its east lies the Pacific Ocean.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shares borders with many countries, including Russia, Mongolia, India and Vietnam.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capital city is Beijing.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Shanghai, on the coast, is one of the world's largest megacities.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Physical geography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about natural features like rivers, mountains and deserts.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Human geography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about people and the things they build.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China has high mountains and plateaus in the west.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has deserts in the north and wide lowlands and rivers in the east.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Yangtze is China's longest river.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you map these features, use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symbols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colour shading.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Always add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key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so others can read your map.</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Describing where China 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Compass directions and named neighbours turn a 1-mark answer into a 4-mark one.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China is in the east of Asia. Its long coastline faces the Pacific Ocean, with the Yellow Sea, the East China Sea and the South China Sea along its shore.</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China sits in the northern hemisphere. The Tropic of Cancer, an important line of latitude, crosses its southern provinces, so the far south is tropical while the north has cold winters.</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you describe China's location in as much detail as possible, use all of these: continent and part of continent, hemisphere and line of latitude, oceans and seas, neighbouring countries with compass directions, and named cities.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Describing where China 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FF2F0"/>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the location of China in detail. (4 marks)</a:t>
            </a:r>
            <a:endParaRPr lang="en-US" sz="2000" dirty="0"/>
          </a:p>
        </p:txBody>
      </p:sp>
      <p:sp>
        <p:nvSpPr>
          <p:cNvPr id="9" name="step-box"/>
          <p:cNvSpPr/>
          <p:nvPr/>
        </p:nvSpPr>
        <p:spPr>
          <a:xfrm>
            <a:off x="548640" y="2192528"/>
            <a:ext cx="11094415" cy="466446"/>
          </a:xfrm>
          <a:prstGeom prst="roundRect">
            <a:avLst>
              <a:gd name="adj" fmla="val 15683"/>
            </a:avLst>
          </a:prstGeom>
          <a:solidFill>
            <a:srgbClr val="FFFFFF"/>
          </a:solidFill>
          <a:ln w="15875">
            <a:solidFill>
              <a:srgbClr val="95AE9B"/>
            </a:solidFill>
            <a:prstDash val="solid"/>
          </a:ln>
        </p:spPr>
      </p:sp>
      <p:sp>
        <p:nvSpPr>
          <p:cNvPr id="10" name="step-hex"/>
          <p:cNvSpPr/>
          <p:nvPr/>
        </p:nvSpPr>
        <p:spPr>
          <a:xfrm>
            <a:off x="685800" y="2227783"/>
            <a:ext cx="457200" cy="395935"/>
          </a:xfrm>
          <a:prstGeom prst="hexagon">
            <a:avLst/>
          </a:prstGeom>
          <a:solidFill>
            <a:srgbClr val="3F6B4A"/>
          </a:solidFill>
          <a:ln/>
        </p:spPr>
      </p:sp>
      <p:sp>
        <p:nvSpPr>
          <p:cNvPr id="11" name="step-hex-label"/>
          <p:cNvSpPr txBox="1"/>
          <p:nvPr/>
        </p:nvSpPr>
        <p:spPr>
          <a:xfrm>
            <a:off x="685800" y="222778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Continent and part: China is in the east of Asia.</a:t>
            </a:r>
            <a:endParaRPr lang="en-US" sz="1800" dirty="0"/>
          </a:p>
        </p:txBody>
      </p:sp>
      <p:sp>
        <p:nvSpPr>
          <p:cNvPr id="13" name="step-box"/>
          <p:cNvSpPr/>
          <p:nvPr/>
        </p:nvSpPr>
        <p:spPr>
          <a:xfrm>
            <a:off x="548640" y="2732126"/>
            <a:ext cx="11094415" cy="466446"/>
          </a:xfrm>
          <a:prstGeom prst="roundRect">
            <a:avLst>
              <a:gd name="adj" fmla="val 15683"/>
            </a:avLst>
          </a:prstGeom>
          <a:solidFill>
            <a:srgbClr val="FFFFFF"/>
          </a:solidFill>
          <a:ln w="15875">
            <a:solidFill>
              <a:srgbClr val="95AE9B"/>
            </a:solidFill>
            <a:prstDash val="solid"/>
          </a:ln>
        </p:spPr>
      </p:sp>
      <p:sp>
        <p:nvSpPr>
          <p:cNvPr id="14" name="step-hex"/>
          <p:cNvSpPr/>
          <p:nvPr/>
        </p:nvSpPr>
        <p:spPr>
          <a:xfrm>
            <a:off x="685800" y="2767381"/>
            <a:ext cx="457200" cy="395935"/>
          </a:xfrm>
          <a:prstGeom prst="hexagon">
            <a:avLst/>
          </a:prstGeom>
          <a:solidFill>
            <a:srgbClr val="3F6B4A"/>
          </a:solidFill>
          <a:ln/>
        </p:spPr>
      </p:sp>
      <p:sp>
        <p:nvSpPr>
          <p:cNvPr id="15" name="step-hex-label"/>
          <p:cNvSpPr txBox="1"/>
          <p:nvPr/>
        </p:nvSpPr>
        <p:spPr>
          <a:xfrm>
            <a:off x="685800" y="27673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2126"/>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Hemisphere and latitude: it is in the northern hemisphere, and the Tropic of Cancer crosses its south.</a:t>
            </a:r>
            <a:endParaRPr lang="en-US" sz="1800" dirty="0"/>
          </a:p>
        </p:txBody>
      </p:sp>
      <p:sp>
        <p:nvSpPr>
          <p:cNvPr id="17" name="step-box"/>
          <p:cNvSpPr/>
          <p:nvPr/>
        </p:nvSpPr>
        <p:spPr>
          <a:xfrm>
            <a:off x="548640" y="3271723"/>
            <a:ext cx="11094415" cy="730606"/>
          </a:xfrm>
          <a:prstGeom prst="roundRect">
            <a:avLst>
              <a:gd name="adj" fmla="val 10013"/>
            </a:avLst>
          </a:prstGeom>
          <a:solidFill>
            <a:srgbClr val="FFFFFF"/>
          </a:solidFill>
          <a:ln w="15875">
            <a:solidFill>
              <a:srgbClr val="95AE9B"/>
            </a:solidFill>
            <a:prstDash val="solid"/>
          </a:ln>
        </p:spPr>
      </p:sp>
      <p:sp>
        <p:nvSpPr>
          <p:cNvPr id="18" name="step-hex"/>
          <p:cNvSpPr/>
          <p:nvPr/>
        </p:nvSpPr>
        <p:spPr>
          <a:xfrm>
            <a:off x="685800" y="3439058"/>
            <a:ext cx="457200" cy="395935"/>
          </a:xfrm>
          <a:prstGeom prst="hexagon">
            <a:avLst/>
          </a:prstGeom>
          <a:solidFill>
            <a:srgbClr val="3F6B4A"/>
          </a:solidFill>
          <a:ln/>
        </p:spPr>
      </p:sp>
      <p:sp>
        <p:nvSpPr>
          <p:cNvPr id="19" name="step-hex-label"/>
          <p:cNvSpPr txBox="1"/>
          <p:nvPr/>
        </p:nvSpPr>
        <p:spPr>
          <a:xfrm>
            <a:off x="685800" y="343905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271723"/>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Water: the Pacific Ocean lies to its east, with the Yellow Sea, East China Sea and South China Sea along the coast.</a:t>
            </a:r>
            <a:endParaRPr lang="en-US" sz="1800" dirty="0"/>
          </a:p>
        </p:txBody>
      </p:sp>
      <p:sp>
        <p:nvSpPr>
          <p:cNvPr id="21" name="step-box"/>
          <p:cNvSpPr/>
          <p:nvPr/>
        </p:nvSpPr>
        <p:spPr>
          <a:xfrm>
            <a:off x="548640" y="4075481"/>
            <a:ext cx="11094415" cy="730606"/>
          </a:xfrm>
          <a:prstGeom prst="roundRect">
            <a:avLst>
              <a:gd name="adj" fmla="val 10013"/>
            </a:avLst>
          </a:prstGeom>
          <a:solidFill>
            <a:srgbClr val="FFFFFF"/>
          </a:solidFill>
          <a:ln w="15875">
            <a:solidFill>
              <a:srgbClr val="95AE9B"/>
            </a:solidFill>
            <a:prstDash val="solid"/>
          </a:ln>
        </p:spPr>
      </p:sp>
      <p:sp>
        <p:nvSpPr>
          <p:cNvPr id="22" name="step-hex"/>
          <p:cNvSpPr/>
          <p:nvPr/>
        </p:nvSpPr>
        <p:spPr>
          <a:xfrm>
            <a:off x="685800" y="4242816"/>
            <a:ext cx="457200" cy="395935"/>
          </a:xfrm>
          <a:prstGeom prst="hexagon">
            <a:avLst/>
          </a:prstGeom>
          <a:solidFill>
            <a:srgbClr val="3F6B4A"/>
          </a:solidFill>
          <a:ln/>
        </p:spPr>
      </p:sp>
      <p:sp>
        <p:nvSpPr>
          <p:cNvPr id="23" name="step-hex-label"/>
          <p:cNvSpPr txBox="1"/>
          <p:nvPr/>
        </p:nvSpPr>
        <p:spPr>
          <a:xfrm>
            <a:off x="685800" y="424281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075481"/>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Neighbours with directions, then cities: Russia and Mongolia to the north, India to the south-west, Vietnam to the south; Beijing is the capital, Shanghai the largest coastal city.</a:t>
            </a:r>
            <a:endParaRPr lang="en-US" sz="1800" dirty="0"/>
          </a:p>
        </p:txBody>
      </p:sp>
      <p:sp>
        <p:nvSpPr>
          <p:cNvPr id="25" name="worked-answer"/>
          <p:cNvSpPr/>
          <p:nvPr/>
        </p:nvSpPr>
        <p:spPr>
          <a:xfrm>
            <a:off x="548640" y="4988966"/>
            <a:ext cx="11094415" cy="1109980"/>
          </a:xfrm>
          <a:prstGeom prst="roundRect">
            <a:avLst>
              <a:gd name="adj" fmla="val 12357"/>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China is a large country in the east of Asia, in the northern hemisphere, with the Tropic of Cancer crossing its south. The Pacific Ocean lies to its east. It borders Russia and Mongolia to the north, India to the south-west and Vietnam to the south. Its capital is Beijing and Shanghai is its great coastal city.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Physical or human?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it would still be there with no people on Earth, it is physical.</a:t>
            </a:r>
            <a:endParaRPr lang="en-US" sz="1800" dirty="0"/>
          </a:p>
        </p:txBody>
      </p:sp>
      <p:sp>
        <p:nvSpPr>
          <p:cNvPr id="11" name="point-card"/>
          <p:cNvSpPr/>
          <p:nvPr/>
        </p:nvSpPr>
        <p:spPr>
          <a:xfrm>
            <a:off x="548640" y="1389888"/>
            <a:ext cx="5410048" cy="3964940"/>
          </a:xfrm>
          <a:prstGeom prst="roundRect">
            <a:avLst>
              <a:gd name="adj" fmla="val 1384"/>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Physical geography is about the natural features of the Earth: rivers, lakes, mountains, plateaus, deserts, seas, oceans, islands and climate.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map task asks for two to five named examples of each physical category: lakes, rivers, mountain peaks, gulfs, channels, important lines of latitude, mountain ranges, plateaus, deserts, seas, oceans and islands.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China's physical features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West high, north dry, east low and crowded. Say the pattern before you list the places.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China's land rises from east to west like a giant staircase.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China's two great rivers, the Yangtze and the Yellow River (Huang He), rise in the western highlands and flow east across wide lowlands to the sea.</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Check each of these against the atlas and the map you drew in class.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Making a map others can read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Title, key, neat labels, accurate locations: the four things every map is marked on.</a:t>
            </a:r>
            <a:endParaRPr lang="en-US" sz="1800" dirty="0"/>
          </a:p>
        </p:txBody>
      </p:sp>
      <p:sp>
        <p:nvSpPr>
          <p:cNvPr id="11" name="point-card"/>
          <p:cNvSpPr/>
          <p:nvPr/>
        </p:nvSpPr>
        <p:spPr>
          <a:xfrm>
            <a:off x="548640" y="1389888"/>
            <a:ext cx="5410048" cy="3964940"/>
          </a:xfrm>
          <a:prstGeom prst="roundRect">
            <a:avLst>
              <a:gd name="adj" fmla="val 1384"/>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good map does three things: it locates features accurately, it shows them clearly, and it explains itself.</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map needs a key, so a reader knows what each symbol and colour means, and a title.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Name the category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of China's physical features to its category.</a:t>
            </a:r>
            <a:endParaRPr lang="en-US" sz="2400" dirty="0"/>
          </a:p>
        </p:txBody>
      </p:sp>
      <p:sp>
        <p:nvSpPr>
          <p:cNvPr id="11" name="match-card"/>
          <p:cNvSpPr/>
          <p:nvPr/>
        </p:nvSpPr>
        <p:spPr>
          <a:xfrm>
            <a:off x="777240" y="2468331"/>
            <a:ext cx="5135728" cy="625559"/>
          </a:xfrm>
          <a:prstGeom prst="roundRect">
            <a:avLst>
              <a:gd name="adj" fmla="val 11694"/>
            </a:avLst>
          </a:prstGeom>
          <a:solidFill>
            <a:srgbClr val="F3F5F3"/>
          </a:solidFill>
          <a:ln/>
        </p:spPr>
      </p:sp>
      <p:sp>
        <p:nvSpPr>
          <p:cNvPr id="12" name="match-hex"/>
          <p:cNvSpPr/>
          <p:nvPr/>
        </p:nvSpPr>
        <p:spPr>
          <a:xfrm>
            <a:off x="850392" y="2614818"/>
            <a:ext cx="384048" cy="332586"/>
          </a:xfrm>
          <a:prstGeom prst="hexagon">
            <a:avLst/>
          </a:prstGeom>
          <a:solidFill>
            <a:srgbClr val="3F6B4A"/>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Yangtze</a:t>
            </a:r>
            <a:endParaRPr lang="en-US" sz="2200" dirty="0"/>
          </a:p>
        </p:txBody>
      </p:sp>
      <p:sp>
        <p:nvSpPr>
          <p:cNvPr id="15" name="match-card"/>
          <p:cNvSpPr/>
          <p:nvPr/>
        </p:nvSpPr>
        <p:spPr>
          <a:xfrm>
            <a:off x="6278728" y="2468331"/>
            <a:ext cx="5135728" cy="625559"/>
          </a:xfrm>
          <a:prstGeom prst="roundRect">
            <a:avLst>
              <a:gd name="adj" fmla="val 11694"/>
            </a:avLst>
          </a:prstGeom>
          <a:solidFill>
            <a:srgbClr val="F8F2E9"/>
          </a:solidFill>
          <a:ln/>
        </p:spPr>
      </p:sp>
      <p:sp>
        <p:nvSpPr>
          <p:cNvPr id="16" name="match-hex"/>
          <p:cNvSpPr/>
          <p:nvPr/>
        </p:nvSpPr>
        <p:spPr>
          <a:xfrm>
            <a:off x="6351880" y="2614818"/>
            <a:ext cx="384048" cy="332586"/>
          </a:xfrm>
          <a:prstGeom prst="hexagon">
            <a:avLst/>
          </a:prstGeom>
          <a:solidFill>
            <a:srgbClr val="B8862B"/>
          </a:solidFill>
          <a:ln/>
        </p:spPr>
      </p:sp>
      <p:sp>
        <p:nvSpPr>
          <p:cNvPr id="17" name="match-hex-label"/>
          <p:cNvSpPr txBox="1"/>
          <p:nvPr/>
        </p:nvSpPr>
        <p:spPr>
          <a:xfrm>
            <a:off x="6351880"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Island</a:t>
            </a:r>
            <a:endParaRPr lang="en-US" sz="2200" dirty="0"/>
          </a:p>
        </p:txBody>
      </p:sp>
      <p:sp>
        <p:nvSpPr>
          <p:cNvPr id="19" name="match-card"/>
          <p:cNvSpPr/>
          <p:nvPr/>
        </p:nvSpPr>
        <p:spPr>
          <a:xfrm>
            <a:off x="777240" y="3185331"/>
            <a:ext cx="5135728" cy="625559"/>
          </a:xfrm>
          <a:prstGeom prst="roundRect">
            <a:avLst>
              <a:gd name="adj" fmla="val 11694"/>
            </a:avLst>
          </a:prstGeom>
          <a:solidFill>
            <a:srgbClr val="F3F5F3"/>
          </a:solidFill>
          <a:ln/>
        </p:spPr>
      </p:sp>
      <p:sp>
        <p:nvSpPr>
          <p:cNvPr id="20" name="match-hex"/>
          <p:cNvSpPr/>
          <p:nvPr/>
        </p:nvSpPr>
        <p:spPr>
          <a:xfrm>
            <a:off x="850392" y="3331818"/>
            <a:ext cx="384048" cy="332586"/>
          </a:xfrm>
          <a:prstGeom prst="hexagon">
            <a:avLst/>
          </a:prstGeom>
          <a:solidFill>
            <a:srgbClr val="3F6B4A"/>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Himalayas</a:t>
            </a:r>
            <a:endParaRPr lang="en-US" sz="2200" dirty="0"/>
          </a:p>
        </p:txBody>
      </p:sp>
      <p:sp>
        <p:nvSpPr>
          <p:cNvPr id="23" name="match-card"/>
          <p:cNvSpPr/>
          <p:nvPr/>
        </p:nvSpPr>
        <p:spPr>
          <a:xfrm>
            <a:off x="6278728" y="3185331"/>
            <a:ext cx="5135728" cy="625559"/>
          </a:xfrm>
          <a:prstGeom prst="roundRect">
            <a:avLst>
              <a:gd name="adj" fmla="val 11694"/>
            </a:avLst>
          </a:prstGeom>
          <a:solidFill>
            <a:srgbClr val="F8F2E9"/>
          </a:solidFill>
          <a:ln/>
        </p:spPr>
      </p:sp>
      <p:sp>
        <p:nvSpPr>
          <p:cNvPr id="24" name="match-hex"/>
          <p:cNvSpPr/>
          <p:nvPr/>
        </p:nvSpPr>
        <p:spPr>
          <a:xfrm>
            <a:off x="6351880" y="3331818"/>
            <a:ext cx="384048" cy="332586"/>
          </a:xfrm>
          <a:prstGeom prst="hexagon">
            <a:avLst/>
          </a:prstGeom>
          <a:solidFill>
            <a:srgbClr val="B8862B"/>
          </a:solidFill>
          <a:ln/>
        </p:spPr>
      </p:sp>
      <p:sp>
        <p:nvSpPr>
          <p:cNvPr id="25" name="match-hex-label"/>
          <p:cNvSpPr txBox="1"/>
          <p:nvPr/>
        </p:nvSpPr>
        <p:spPr>
          <a:xfrm>
            <a:off x="6351880"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85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Plateau</a:t>
            </a:r>
            <a:endParaRPr lang="en-US" sz="2200" dirty="0"/>
          </a:p>
        </p:txBody>
      </p:sp>
      <p:sp>
        <p:nvSpPr>
          <p:cNvPr id="27" name="match-card"/>
          <p:cNvSpPr/>
          <p:nvPr/>
        </p:nvSpPr>
        <p:spPr>
          <a:xfrm>
            <a:off x="777240" y="3902330"/>
            <a:ext cx="5135728" cy="625559"/>
          </a:xfrm>
          <a:prstGeom prst="roundRect">
            <a:avLst>
              <a:gd name="adj" fmla="val 11694"/>
            </a:avLst>
          </a:prstGeom>
          <a:solidFill>
            <a:srgbClr val="F3F5F3"/>
          </a:solidFill>
          <a:ln/>
        </p:spPr>
      </p:sp>
      <p:sp>
        <p:nvSpPr>
          <p:cNvPr id="28" name="match-hex"/>
          <p:cNvSpPr/>
          <p:nvPr/>
        </p:nvSpPr>
        <p:spPr>
          <a:xfrm>
            <a:off x="850392" y="4048817"/>
            <a:ext cx="384048" cy="332586"/>
          </a:xfrm>
          <a:prstGeom prst="hexagon">
            <a:avLst/>
          </a:prstGeom>
          <a:solidFill>
            <a:srgbClr val="3F6B4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Gobi</a:t>
            </a:r>
            <a:endParaRPr lang="en-US" sz="2200" dirty="0"/>
          </a:p>
        </p:txBody>
      </p:sp>
      <p:sp>
        <p:nvSpPr>
          <p:cNvPr id="31" name="match-card"/>
          <p:cNvSpPr/>
          <p:nvPr/>
        </p:nvSpPr>
        <p:spPr>
          <a:xfrm>
            <a:off x="6278728" y="3902330"/>
            <a:ext cx="5135728" cy="625559"/>
          </a:xfrm>
          <a:prstGeom prst="roundRect">
            <a:avLst>
              <a:gd name="adj" fmla="val 11694"/>
            </a:avLst>
          </a:prstGeom>
          <a:solidFill>
            <a:srgbClr val="F8F2E9"/>
          </a:solidFill>
          <a:ln/>
        </p:spPr>
      </p:sp>
      <p:sp>
        <p:nvSpPr>
          <p:cNvPr id="32" name="match-hex"/>
          <p:cNvSpPr/>
          <p:nvPr/>
        </p:nvSpPr>
        <p:spPr>
          <a:xfrm>
            <a:off x="6351880" y="4048817"/>
            <a:ext cx="384048" cy="332586"/>
          </a:xfrm>
          <a:prstGeom prst="hexagon">
            <a:avLst/>
          </a:prstGeom>
          <a:solidFill>
            <a:srgbClr val="B8862B"/>
          </a:solidFill>
          <a:ln/>
        </p:spPr>
      </p:sp>
      <p:sp>
        <p:nvSpPr>
          <p:cNvPr id="33"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902330"/>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Mountain range</a:t>
            </a:r>
            <a:endParaRPr lang="en-US" sz="2200" dirty="0"/>
          </a:p>
        </p:txBody>
      </p:sp>
      <p:sp>
        <p:nvSpPr>
          <p:cNvPr id="35" name="match-card"/>
          <p:cNvSpPr/>
          <p:nvPr/>
        </p:nvSpPr>
        <p:spPr>
          <a:xfrm>
            <a:off x="777240" y="4619329"/>
            <a:ext cx="5135728" cy="625559"/>
          </a:xfrm>
          <a:prstGeom prst="roundRect">
            <a:avLst>
              <a:gd name="adj" fmla="val 11694"/>
            </a:avLst>
          </a:prstGeom>
          <a:solidFill>
            <a:srgbClr val="F3F5F3"/>
          </a:solidFill>
          <a:ln/>
        </p:spPr>
      </p:sp>
      <p:sp>
        <p:nvSpPr>
          <p:cNvPr id="36" name="match-hex"/>
          <p:cNvSpPr/>
          <p:nvPr/>
        </p:nvSpPr>
        <p:spPr>
          <a:xfrm>
            <a:off x="850392" y="4765816"/>
            <a:ext cx="384048" cy="332586"/>
          </a:xfrm>
          <a:prstGeom prst="hexagon">
            <a:avLst/>
          </a:prstGeom>
          <a:solidFill>
            <a:srgbClr val="3F6B4A"/>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Tibetan Plateau</a:t>
            </a:r>
            <a:endParaRPr lang="en-US" sz="2200" dirty="0"/>
          </a:p>
        </p:txBody>
      </p:sp>
      <p:sp>
        <p:nvSpPr>
          <p:cNvPr id="39" name="match-card"/>
          <p:cNvSpPr/>
          <p:nvPr/>
        </p:nvSpPr>
        <p:spPr>
          <a:xfrm>
            <a:off x="6278728" y="4619329"/>
            <a:ext cx="5135728" cy="625559"/>
          </a:xfrm>
          <a:prstGeom prst="roundRect">
            <a:avLst>
              <a:gd name="adj" fmla="val 11694"/>
            </a:avLst>
          </a:prstGeom>
          <a:solidFill>
            <a:srgbClr val="F8F2E9"/>
          </a:solidFill>
          <a:ln/>
        </p:spPr>
      </p:sp>
      <p:sp>
        <p:nvSpPr>
          <p:cNvPr id="40" name="match-hex"/>
          <p:cNvSpPr/>
          <p:nvPr/>
        </p:nvSpPr>
        <p:spPr>
          <a:xfrm>
            <a:off x="6351880" y="4765816"/>
            <a:ext cx="384048" cy="332586"/>
          </a:xfrm>
          <a:prstGeom prst="hexagon">
            <a:avLst/>
          </a:prstGeom>
          <a:solidFill>
            <a:srgbClr val="B8862B"/>
          </a:solidFill>
          <a:ln/>
        </p:spPr>
      </p:sp>
      <p:sp>
        <p:nvSpPr>
          <p:cNvPr id="41" name="match-hex-label"/>
          <p:cNvSpPr txBox="1"/>
          <p:nvPr/>
        </p:nvSpPr>
        <p:spPr>
          <a:xfrm>
            <a:off x="6351880"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619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River</a:t>
            </a:r>
            <a:endParaRPr lang="en-US" sz="2200" dirty="0"/>
          </a:p>
        </p:txBody>
      </p:sp>
      <p:sp>
        <p:nvSpPr>
          <p:cNvPr id="43" name="match-card"/>
          <p:cNvSpPr/>
          <p:nvPr/>
        </p:nvSpPr>
        <p:spPr>
          <a:xfrm>
            <a:off x="777240" y="5336329"/>
            <a:ext cx="5135728" cy="625559"/>
          </a:xfrm>
          <a:prstGeom prst="roundRect">
            <a:avLst>
              <a:gd name="adj" fmla="val 11694"/>
            </a:avLst>
          </a:prstGeom>
          <a:solidFill>
            <a:srgbClr val="F3F5F3"/>
          </a:solidFill>
          <a:ln/>
        </p:spPr>
      </p:sp>
      <p:sp>
        <p:nvSpPr>
          <p:cNvPr id="44" name="match-hex"/>
          <p:cNvSpPr/>
          <p:nvPr/>
        </p:nvSpPr>
        <p:spPr>
          <a:xfrm>
            <a:off x="850392" y="5482816"/>
            <a:ext cx="384048" cy="332586"/>
          </a:xfrm>
          <a:prstGeom prst="hexagon">
            <a:avLst/>
          </a:prstGeom>
          <a:solidFill>
            <a:srgbClr val="3F6B4A"/>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Hainan</a:t>
            </a:r>
            <a:endParaRPr lang="en-US" sz="2200" dirty="0"/>
          </a:p>
        </p:txBody>
      </p:sp>
      <p:sp>
        <p:nvSpPr>
          <p:cNvPr id="47" name="match-card"/>
          <p:cNvSpPr/>
          <p:nvPr/>
        </p:nvSpPr>
        <p:spPr>
          <a:xfrm>
            <a:off x="6278728" y="5336329"/>
            <a:ext cx="5135728" cy="625559"/>
          </a:xfrm>
          <a:prstGeom prst="roundRect">
            <a:avLst>
              <a:gd name="adj" fmla="val 11694"/>
            </a:avLst>
          </a:prstGeom>
          <a:solidFill>
            <a:srgbClr val="F8F2E9"/>
          </a:solidFill>
          <a:ln/>
        </p:spPr>
      </p:sp>
      <p:sp>
        <p:nvSpPr>
          <p:cNvPr id="48" name="match-hex"/>
          <p:cNvSpPr/>
          <p:nvPr/>
        </p:nvSpPr>
        <p:spPr>
          <a:xfrm>
            <a:off x="6351880" y="5482816"/>
            <a:ext cx="384048" cy="332586"/>
          </a:xfrm>
          <a:prstGeom prst="hexagon">
            <a:avLst/>
          </a:prstGeom>
          <a:solidFill>
            <a:srgbClr val="B8862B"/>
          </a:solidFill>
          <a:ln/>
        </p:spPr>
      </p:sp>
      <p:sp>
        <p:nvSpPr>
          <p:cNvPr id="49" name="match-hex-label"/>
          <p:cNvSpPr txBox="1"/>
          <p:nvPr/>
        </p:nvSpPr>
        <p:spPr>
          <a:xfrm>
            <a:off x="6351880"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336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Desert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Name the category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Name the category</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name has its category inside it. Match that one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of the map: which feature is a long blue line flowing to the sea?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is a line of the highest peaks on Earth, and which is a dry yellow area in the north?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is a piece of land surrounded by sea.</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are high land: one is a line of peaks, one is a wide flat area. One flows, one is dry, one is in the sea.</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each feature, say whether it is in the east or the west of China, and what that tells you about where people live.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Spot the human feature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pupil labels four features on a map of China: the Yangtze River, the Gobi Desert, Beijing and the Himalayas. Which label is a human feature?</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The Gobi Desert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The Yangtze River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The Himalayas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Beijing</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FF2F0"/>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feature: would it still be there if there were no people on Earth?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Rivers, deserts and mountains would still be there. They are physical.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city only exists because people built it. That makes it human.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one that people made.</a:t>
            </a:r>
            <a:endParaRPr lang="en-US" sz="1800" dirty="0"/>
          </a:p>
        </p:txBody>
      </p:sp>
      <p:sp>
        <p:nvSpPr>
          <p:cNvPr id="17" name="col-Core"/>
          <p:cNvSpPr/>
          <p:nvPr/>
        </p:nvSpPr>
        <p:spPr>
          <a:xfrm>
            <a:off x="5490762" y="2948940"/>
            <a:ext cx="2938987" cy="3195828"/>
          </a:xfrm>
          <a:prstGeom prst="roundRect">
            <a:avLst>
              <a:gd name="adj" fmla="val 1867"/>
            </a:avLst>
          </a:prstGeom>
          <a:solidFill>
            <a:srgbClr val="D8E1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four would exist without people. One would not.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3F6B4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Give one example of a feature in China that is both physical and human at once, and explain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Put the parts of a detailed location description in the order you would write them, from biggest to smallest.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Name the continent and the part of it the country is 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Name the oceans and seas, and the neighbouring countries with compass directions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Name the capital and other major cities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Give the hemisphere and any important line of latitude</a:t>
            </a:r>
            <a:endParaRPr lang="en-US" sz="2400" dirty="0"/>
          </a:p>
        </p:txBody>
      </p:sp>
      <p:sp>
        <p:nvSpPr>
          <p:cNvPr id="11" name="exit-answer-box"/>
          <p:cNvSpPr/>
          <p:nvPr/>
        </p:nvSpPr>
        <p:spPr>
          <a:xfrm>
            <a:off x="2286000" y="5184648"/>
            <a:ext cx="7619695" cy="685800"/>
          </a:xfrm>
          <a:prstGeom prst="roundRect">
            <a:avLst>
              <a:gd name="adj" fmla="val 13333"/>
            </a:avLst>
          </a:prstGeom>
          <a:solidFill>
            <a:srgbClr val="F4F7F5"/>
          </a:solidFill>
          <a:ln w="12700">
            <a:solidFill>
              <a:srgbClr val="A2B7A7"/>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Name the category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Yangtze  →  D  River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Himalayas  →  C  Mountain range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Gobi  →  E  Desert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Tibetan Plateau  →  B  Plateau</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Hainan  →  A  Island</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Yangtze is a river, the Himalayas a mountain range, the Gobi a desert, the Tibetan Plateau a plateau (a high, fairly flat area) and Hainan an island off the south coast.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Spot the human feature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pupil labels four features on a map of China: the Yangtze River, the Gobi Desert, Beijing and the Himalayas. Which label is a human feature?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Beijing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Beijing was built by people, so it is a human feature. The river, desert and mountains are natural and belong to physical geography.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Name the continent and the part of it the country is in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Give the hemisphere and any important line of latitude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Name the oceans and seas, and the neighbouring countries with compass directions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Name the capital and other major cities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Zooming in step by step (continent, hemisphere and latitude, surroundings, cities) means a reader who has never seen the map can picture where the country 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 and China · Chapter 2: Locating China and mapping its physical geography</dc:title>
  <dc:subject>Geography · Year 8</dc:subject>
  <dc:creator>Dr Vitor Merissi de Carvalho</dc:creator>
  <cp:lastModifiedBy>Dr Vitor Merissi de Carvalho</cp:lastModifiedBy>
  <cp:revision>1</cp:revision>
  <dcterms:created xsi:type="dcterms:W3CDTF">2026-10-19T16:22:44Z</dcterms:created>
  <dcterms:modified xsi:type="dcterms:W3CDTF">2026-10-19T16:22:44Z</dcterms:modified>
</cp:coreProperties>
</file>