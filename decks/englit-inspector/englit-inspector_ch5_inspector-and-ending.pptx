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eb9ce1-7e64-2fef-2853-7e07447d66f5}">
          <p14:sldIdLst>
            <p14:sldId id="256"/>
          </p14:sldIdLst>
        </p14:section>
        <p14:section name="Gate" id="{59744d92-c38a-e695-68c9-527abdd69e7f}">
          <p14:sldIdLst>
            <p14:sldId id="257"/>
            <p14:sldId id="258"/>
          </p14:sldIdLst>
        </p14:section>
        <p14:section name="Pre-teach" id="{2d56e6df-6ac9-2d7c-a59f-f75ec3e3eeab}">
          <p14:sldIdLst>
            <p14:sldId id="259"/>
          </p14:sldIdLst>
        </p14:section>
        <p14:section name="Read-along" id="{19773277-c2f7-e92e-40cb-bc8d46e67c2b}">
          <p14:sldIdLst>
            <p14:sldId id="260"/>
            <p14:sldId id="261"/>
          </p14:sldIdLst>
        </p14:section>
        <p14:section name="Teach" id="{51097a02-ca0e-139b-9f32-5820148a66d7}">
          <p14:sldIdLst>
            <p14:sldId id="262"/>
            <p14:sldId id="263"/>
            <p14:sldId id="264"/>
            <p14:sldId id="265"/>
          </p14:sldIdLst>
        </p14:section>
        <p14:section name="Routes" id="{c2a0d9ae-1ffe-6e8b-7b7b-e7ad9297590e}">
          <p14:sldIdLst>
            <p14:sldId id="266"/>
            <p14:sldId id="267"/>
            <p14:sldId id="268"/>
            <p14:sldId id="269"/>
            <p14:sldId id="270"/>
            <p14:sldId id="271"/>
            <p14:sldId id="272"/>
          </p14:sldIdLst>
        </p14:section>
        <p14:section name="Close" id="{55b7e591-4d39-6313-e5b4-fd59d13a2fef}">
          <p14:sldIdLst>
            <p14:sldId id="273"/>
          </p14:sldIdLst>
        </p14:section>
        <p14:section name="Answers" id="{3e90c8e1-61cb-eb1e-69ee-f3ff57870cb2}">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Who is the Inspector? The final speech and the twist (Act 3). This chapter gives you the Inspector's last words, the different readings of who he is, and why Priestley ends with a telephone.
This deck covers the department's lessons: 10 (The Inspector: What is the Inspector's role in the play, and how are the Inspector and Priestley linked?); 14 (The Inspector leaves: What messages does the Inspector leave with the Birlings and the audience, and how do the characters react?); 15 (Interpreting the ending: what or who is the Inspector?: Which readings of the Inspector are most convincing, and why?); 25 (Priestley's message: How far did Priestley write the play to communicate his political messages?).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does NOT happen after the Inspector leaves?  →  C   Eva Smith walks in alive and explains the whole evening
2. The Inspector's name, Goole, sounds like the word ___, which means a spirit that feeds on the dead.  →  ghoul
3. The play is set in 1912. The Inspector's warning about war came true when the First World War began. How many years after the play's setting was that?  →  2 years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Eva Smith walks in alive and explains the whole evening. Eva never appears on stage; she is dead before the play begins and remains unseen. The other three things all happen, and they build the false relief that the final telephone call destroys.
2. ghoul. Priestley chose a name that sounds like a creature from the grave. It is one piece of evidence for reading the Inspector as a ghost or a visitor from beyond the natural world.
3. 2 years. The First World War began in August 1914, two years after the spring of 1912. Birling's promise of peace and the Inspector's warning are both tested within two years.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mouthpiece: a character who speaks the writer's own views. Example: "The Inspector is Priestley's mouthpiece for his socialist beliefs."
• conscience: the inner voice that knows right from wrong. Example: "Some readers see the Inspector as the Birlings' conscience made flesh."
• hoax: a trick that makes people believe something false. Example: "Mr Birling decides the whole evening was a hoax."
• warning: a message about danger to come. Example: "The final speech is a warning to the family and to the audience."
• pronoun: a word such as we, our or their that stands in for a name. Example: "The Inspector's pronouns pull the audience into his speech."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Inspector asks his questions one person at a time.
2. He shows the photograph to one person only.
3. He is calm, and he cannot be bullied or bought.
4. Before he leaves, he makes a speech.
5. He says there are countless young women and men like Eva Smith.
6. He says that nobody lives apart from other people.
7. He warns that those who will not learn this will be taught by war.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Then he goes.
9. The family discover that no Inspector Goole works for the police.
10. They telephone the Infirmary: no girl has died tonight.
11. Mr and Mrs Birling and Gerald are delighted and relieved.
12. Sheila and Eric say that nothing has changed, because they still did those things.
13. Then the telephone rings.
14. A girl has just died, and an inspector is on his way.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Inspector works. Say it in your own words, then check understanding with a quick question: ask a pupil from the pre-teach group first, since they met these words and ideas before the lesson. Pupils try to recall before you re-explain.
The Inspector controls the evening. He deals with one person at a time and refuses to be hurried, saying that he must finish with one person's part of the story before starting on the next. He shows the photograph to one person only, so nobody can compare what they saw. He answers Birling's bluster about the Chief Constable with a flat refusal to be impressed. When Gerald wants Sheila spared the details, the Inspector points out that nobody spared Eva Smith anything. He is in nobody's debt and afraid of nobody.
His sympathies are plain. He asks the Birlings to imagine themselves as a young woman counting every penny in a cheap rented room. He reminds Birling that asking for more is better than taking it. He tells Mrs Birling that the girl needed kindness and advice as much as money. Your lessons call him an authorial surrogate, or mouthpiece: he says what Priestley believes. He is also a dramatic device, the engine that drives the plot from confession to confession.
Tip: Three adjectives for the Inspector, each with a moment: calm (the golf remark), relentless (one person's story at a time), compassionate (the penny-counting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final speech. Say it in your own words, then check understanding with a quick question: ask a pupil from the pre-teach group first, since they met these words and ideas before the lesson. Pupils try to recall before you re-explain.
Before he leaves, the Inspector stops being a policeman and becomes a preacher. In your own words, his speech says this. This one girl is dead, but there are countless others like her, and their lives are tangled up with ours in everything we think and say and do. Nobody lives alone. We are all parts of one body, and we are responsible for one another. If people refuse to learn this, the time is coming when they will be taught it through war and suffering. Then he says good night and goes.
Look at the pronouns. He begins with ‘their’, the lives of the poor, and ends with ‘we’ and ‘our’, which includes the Birlings and every person in the theatre. The image of one body comes from the language of sermons, and the warning comes in a group of three, like a prophecy. For an audience in 1945 the prophecy had already come true twice, in 1914 and in 1939, and they had also watched the Russian Revolution of 1917 overturn a society that ignored its poor.
Priestley could have ended the play there. He did not. He keeps the Birlings on stage after the Inspector has gone, so that we watch what they do with the lesson. That choice is the subject of the next two sections.
Tip: When you write about the speech, name the methods: the shift of pronouns, the group of three, the sermon image, the prophecy. Then give the 1945 audience's experience as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or who is the Inspector?. Say it in your own words, then check understanding with a quick question: ask a pupil from the pre-teach group first, since they met these words and ideas before the lesson. Pupils try to recall before you re-explain.
Your lesson on the ending offers a menu of readings, and the play supports more than one. He may be a ghost: his name sounds like ‘ghoul’, he knows things before he is told them, and no Inspector Goole exists on the Brumley force. He may be a visitor from the future, since his warning describes the wars to come. He may be Priestley's mouthpiece, the vessel for his socialist message. He may be the Birlings' social conscience, forcing each of them to face what they would rather forget. He may be a warning to the comfortable classes, or even an image of the revolution that will come if they do not listen.
Priestley never tells us which, and the exam does not need you to decide. What it needs is for you to argue from evidence. If you call him a ghost, use the name and the telephone call. If you call him a mouthpiece, use the final speech. If you call him a conscience, use the fact that he does nothing but ask questions, and that the guilty answer them anyway. The strongest essays hold two readings together and show how Priestley makes both possible.
Tip: The deck's own exam question asks you to explore the Inspector as a vessel for Priestley's socialist message. Keep the word ‘vessel’: it means a container that carries something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ending: a telephone and a second chance. Say it in your own words, then check understanding with a quick question: ask a pupil from the pre-teach group first, since they met these words and ideas before the lesson. Pupils try to recall before you re-explain.
After the Inspector leaves, Gerald returns from a walk with news: a police sergeant has told him there is no Inspector Goole. Birling telephones the Chief Constable, who confirms it. Then Gerald suggests that there may have been no single girl at all, since each of them saw the photograph alone, and a call to the Infirmary finds that no one has died there that night. Birling is triumphant and pours himself a drink. He jeers at Sheila and Eric as the clever young generation who cannot take a joke, and Gerald offers Sheila the ring again.
Sheila and Eric will not join in. The Inspector may have been a fraud, they say, but what each of them did was true, and the fact that there may be no body does not make it less so. Sheila says she remembers how the Inspector's words made her feel. The two generations have split: the old and Gerald want to go back to the start of the evening; the young know there is no going back.
Then the telephone rings. Birling answers. A girl has just died on her way to the Infirmary after drinking disinfectant, and a police inspector is on his way to ask some questions. The family stare at one another, and the curtain falls. The ending is a loop: the evening is about to happen again, this time with real consequences. Priestley's audience had lived through exactly that, a second war after a first one taught nothing, and the Birlings are being given the lesson again until they learn it.
Tip: Answer the question the ending asks: who learned the lesson? Sheila and Eric did; Mr Birling, Mrs Birling and Gerald did not. That split is your conclusion for almost any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Delivering the message.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Inspector's final speech to deliver his message to the audience? Write one developed paragraph.
Support — work through the steps with the group: (1) Message: write one sentence, in your own words, saying what the Inspector tells the Birlings they must learn. (2) Method 1: describe how the pronouns move from ‘their’ to ‘we’ and say what that does to the audience. (3) Method 2: describe the warning as a group of three and say why it sounds like a prophecy. (4) Context: name the two wars and the Russian Revolution as events the 1945 audience could not forget.
Parallel worked example for Support (model it, do not give the task answer): Practice question: how does Priestley use the final telephone call to deliver his message? Message: the lesson will be repeated until it is learned.; Method: the ending is a loop; the evening is about to happen again.; Context: the 1945 audience had just lived through a second war that followed a first one.. Answer: Priestley uses the final telephone call to show that a lesson refused is a lesson repeated. The ending loops back to the beginning, with a girl dead and an inspector on his way, so that the Birlings, who have just congratulated themselves on escaping, must face the whole evening again. For an audience in 1945, who had watched a second war follow the first, the loop was not a trick but their own history..
Core — reveal the hint only on request: Pronouns, the group of three, the one-body image, the prophecy: pick two and give each a sentence of effect. Then one sentence of 1945 context.
Stretch — no help; when finished: Some critics find the speech too preachy. Argue whether Priestley's message is stronger because it is spoken plainly or weaker because the Inspector stops being a character and becomes a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Delivering the message.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Inspector's final speech to deliver his message to the audience? Write one developed paragraph.
Support — work through the steps with the group: (1) Message: write one sentence, in your own words, saying what the Inspector tells the Birlings they must learn. (2) Method 1: describe how the pronouns move from ‘their’ to ‘we’ and say what that does to the audience. (3) Method 2: describe the warning as a group of three and say why it sounds like a prophecy. (4) Context: name the two wars and the Russian Revolution as events the 1945 audience could not forget.
Parallel worked example for Support (model it, do not give the task answer): Practice question: how does Priestley use the final telephone call to deliver his message? Message: the lesson will be repeated until it is learned.; Method: the ending is a loop; the evening is about to happen again.; Context: the 1945 audience had just lived through a second war that followed a first one.. Answer: Priestley uses the final telephone call to show that a lesson refused is a lesson repeated. The ending loops back to the beginning, with a girl dead and an inspector on his way, so that the Birlings, who have just congratulated themselves on escaping, must face the whole evening again. For an audience in 1945, who had watched a second war follow the first, the loop was not a trick but their own history..
Core — reveal the hint only on request: Pronouns, the group of three, the one-body image, the prophecy: pick two and give each a sentence of effect. Then one sentence of 1945 context.
Stretch — no help; when finished: Some critics find the speech too preachy. Argue whether Priestley's message is stronger because it is spoken plainly or weaker because the Inspector stops being a character and becomes a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Delivering the message.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Inspector's final speech to deliver his message to the audience? Write one developed paragraph.
Support — work through the steps with the group: (1) Message: write one sentence, in your own words, saying what the Inspector tells the Birlings they must learn. (2) Method 1: describe how the pronouns move from ‘their’ to ‘we’ and say what that does to the audience. (3) Method 2: describe the warning as a group of three and say why it sounds like a prophecy. (4) Context: name the two wars and the Russian Revolution as events the 1945 audience could not forget.
Parallel worked example for Support (model it, do not give the task answer): Practice question: how does Priestley use the final telephone call to deliver his message? Message: the lesson will be repeated until it is learned.; Method: the ending is a loop; the evening is about to happen again.; Context: the 1945 audience had just lived through a second war that followed a first one.. Answer: Priestley uses the final telephone call to show that a lesson refused is a lesson repeated. The ending loops back to the beginning, with a girl dead and an inspector on his way, so that the Birlings, who have just congratulated themselves on escaping, must face the whole evening again. For an audience in 1945, who had watched a second war follow the first, the loop was not a trick but their own history..
Core — reveal the hint only on request: Pronouns, the group of three, the one-body image, the prophecy: pick two and give each a sentence of effect. Then one sentence of 1945 context.
Stretch — no help; when finished: Some critics find the speech too preachy. Argue whether Priestley's message is stronger because it is spoken plainly or weaker because the Inspector stops being a character and becomes a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Readings of the Inspector.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reading of the Inspector to the evidence that supports it best.
Support — work through the steps with the group: (1) Read each reading and ask: what would I need to see in the play for this to be true? (2) Match the supernatural reading to the clues about his name and his knowledge. (3) Match the political readings to what he says; match the conscience reading to what he makes others say.
Parallel worked example for Support (model it, do not give the task answer): Practice: which reading does the lighting change support best: a ghost, a conscience, or a defender of Eva? Harsher light exposes what was hidden.; That is what a conscience does.; A ghost or a defender would not need the lighting to change.. Answer: The conscience reading, because the harder light exposes what the family would rather hide, just as a conscience does..
Core — reveal the hint only on request: Two readings are about what he is, two are about what he says, one is about whom he speaks for.
Stretch — no help; when finished: Choose the two readings you find strongest and write a sentence showing how Priestley makes both possible at once. Then say which one the final telephone call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Readings of the Inspector.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reading of the Inspector to the evidence that supports it best.
Support — work through the steps with the group: (1) Read each reading and ask: what would I need to see in the play for this to be true? (2) Match the supernatural reading to the clues about his name and his knowledge. (3) Match the political readings to what he says; match the conscience reading to what he makes others say.
Parallel worked example for Support (model it, do not give the task answer): Practice: which reading does the lighting change support best: a ghost, a conscience, or a defender of Eva? Harsher light exposes what was hidden.; That is what a conscience does.; A ghost or a defender would not need the lighting to change.. Answer: The conscience reading, because the harder light exposes what the family would rather hide, just as a conscience does..
Core — reveal the hint only on request: Two readings are about what he is, two are about what he says, one is about whom he speaks for.
Stretch — no help; when finished: Choose the two readings you find strongest and write a sentence showing how Priestley makes both possible at once. Then say which one the final telephone call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Readings of the Inspector.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reading of the Inspector to the evidence that supports it best.
Support — work through the steps with the group: (1) Read each reading and ask: what would I need to see in the play for this to be true? (2) Match the supernatural reading to the clues about his name and his knowledge. (3) Match the political readings to what he says; match the conscience reading to what he makes others say.
Parallel worked example for Support (model it, do not give the task answer): Practice: which reading does the lighting change support best: a ghost, a conscience, or a defender of Eva? Harsher light exposes what was hidden.; That is what a conscience does.; A ghost or a defender would not need the lighting to change.. Answer: The conscience reading, because the harder light exposes what the family would rather hide, just as a conscience does..
Core — reveal the hint only on request: Two readings are about what he is, two are about what he says, one is about whom he speaks for.
Stretch — no help; when finished: Choose the two readings you find strongest and write a sentence showing how Priestley makes both possible at once. Then say which one the final telephone call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Readings of the Inspector.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reading of the Inspector to the evidence that supports it best.
Support — work through the steps with the group: (1) Read each reading and ask: what would I need to see in the play for this to be true? (2) Match the supernatural reading to the clues about his name and his knowledge. (3) Match the political readings to what he says; match the conscience reading to what he makes others say.
Parallel worked example for Support (model it, do not give the task answer): Practice: which reading does the lighting change support best: a ghost, a conscience, or a defender of Eva? Harsher light exposes what was hidden.; That is what a conscience does.; A ghost or a defender would not need the lighting to change.. Answer: The conscience reading, because the harder light exposes what the family would rather hide, just as a conscience does..
Core — reveal the hint only on request: Two readings are about what he is, two are about what he says, one is about whom he speaks for.
Stretch — no help; when finished: Choose the two readings you find strongest and write a sentence showing how Priestley makes both possible at once. Then say which one the final telephone call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does Priestley end the play with the telephone ringing and a second inspector on his way, rather than with the Inspector's final speech?
Answer: D   So that the Birlings, and the audience, must face the lesson again, and we see who has learned it and who has not. The twist ending turns the play into a loop. The Inspector's speech was the lesson; the telephone call is the test, and the family fails it in two different ways.
Source of this question: module 3 task ("Why end with a telephone?")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Delivering the message. Reveal the answer; pupils mark their own work in a different colour, then read the "why" together. Same destination for every lane, so one answer serves the whole class.
Answer: AO1: a clear statement of what the message is, in your own words; AO2: at least two methods in the speech (the shift of pronouns, the group of three, the image of one body, the prophecy of war) with their effects; AO3: a precise link to what the 1945 audience had lived through; AO1: a closing sentence on why Priestley gives the speech to the Inspector rather than to a Birling
Why: A top answer names the message, shows the methods that carry it, places it in 1945 and explains why the Inspector is the right mouth for it. The model does each in turn.
Model answer: Priestley uses the Inspector's final speech to turn a detective's summing-up into a sermon aimed at the audience. The message is simple: no one lives alone, every life is tied to every other, and a society that forgets this will be forced to remember. The method is in the pronouns. The speech begins with the poor, the lives of countless young women and men like Eva, and ends with ‘we’ and ‘our’, so that by the last sentence the Birlings and the people in the stalls are inside the same body. The warning comes in a group of three, like a prophecy, and in 1945 it was a prophecy the audience had already seen fulfilled twice, in 1914 and 1939. Priestley gives the speech to the Inspector because he is the only character who has nothing to hide, so his words carry an authority that no Birling could.
Success criteria: AO1: a clear statement of what the message is, in your own words; AO2: at least two methods in the speech (the shift of pronouns, the group of three, the image of one body, the prophecy of war) with their effects; AO3: a precise link to what the 1945 audience had lived through; AO1: a closing sentence on why Priestley gives the speech to the Inspector rather than to a Birling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Delivering the message. Reveal the answer; pupils mark their own work in a different colour, then read the "why" together. Same destination for every lane, so one answer serves the whole class.
Answer: AO1: a clear statement of what the message is, in your own words; AO2: at least two methods in the speech (the shift of pronouns, the group of three, the image of one body, the prophecy of war) with their effects; AO3: a precise link to what the 1945 audience had lived through; AO1: a closing sentence on why Priestley gives the speech to the Inspector rather than to a Birling
Why: A top answer names the message, shows the methods that carry it, places it in 1945 and explains why the Inspector is the right mouth for it. The model does each in turn.
Model answer: Priestley uses the Inspector's final speech to turn a detective's summing-up into a sermon aimed at the audience. The message is simple: no one lives alone, every life is tied to every other, and a society that forgets this will be forced to remember. The method is in the pronouns. The speech begins with the poor, the lives of countless young women and men like Eva, and ends with ‘we’ and ‘our’, so that by the last sentence the Birlings and the people in the stalls are inside the same body. The warning comes in a group of three, like a prophecy, and in 1945 it was a prophecy the audience had already seen fulfilled twice, in 1914 and 1939. Priestley gives the speech to the Inspector because he is the only character who has nothing to hide, so his words carry an authority that no Birling could.
Success criteria: AO1: a clear statement of what the message is, in your own words; AO2: at least two methods in the speech (the shift of pronouns, the group of three, the image of one body, the prophecy of war) with their effects; AO3: a precise link to what the 1945 audience had lived through; AO1: a closing sentence on why Priestley gives the speech to the Inspector rather than to a Birling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Readings of the Inspector. Reveal the answer; pupils mark their own work in a different colour, then read the "why" together. Same destination for every lane, so one answer serves the whole class.
Answer: A ghost or supernatural visitor  →  E  His name sounds like ghoul, he knows things before he is told them, and no such inspector exists; Priestley's mouthpiece (authorial surrogate)  →  A  His final speech gives the play's socialist message straight to the audience; The Birlings' social conscience  →  B  He does nothing but ask questions, yet each of them ends up confessing; A warning from the future  →  D  He speaks of lessons taught through war to an audience who had lived through two; Eva Smith's defender  →  C  He is the only character who speaks of her as a person with hopes of her own
Why: The play supports several readings of the Inspector on purpose. An essay earns marks by arguing from evidence for one or two, not by picking the right answer.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So that the Birlings, and the audience, must face the lesson again, and we see who has learned it and who has not
Why: The twist ending turns the play into a loop. The Inspector's speech was the lesson; the telephone call is the test, and the family fails it in two different ways.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191439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Who is the Inspector? The final speech and the twist (Act 3)</a:t>
            </a:r>
            <a:endParaRPr lang="en-US" sz="2800" dirty="0"/>
          </a:p>
        </p:txBody>
      </p:sp>
      <p:sp>
        <p:nvSpPr>
          <p:cNvPr id="11" name="lessons-card"/>
          <p:cNvSpPr/>
          <p:nvPr/>
        </p:nvSpPr>
        <p:spPr>
          <a:xfrm>
            <a:off x="548640" y="3194558"/>
            <a:ext cx="5287975" cy="2334260"/>
          </a:xfrm>
          <a:prstGeom prst="roundRect">
            <a:avLst>
              <a:gd name="adj" fmla="val 3134"/>
            </a:avLst>
          </a:prstGeom>
          <a:solidFill>
            <a:srgbClr val="EAE5EE"/>
          </a:solidFill>
          <a:ln/>
        </p:spPr>
      </p:sp>
      <p:sp>
        <p:nvSpPr>
          <p:cNvPr id="12" name="lessons"/>
          <p:cNvSpPr txBox="1"/>
          <p:nvPr/>
        </p:nvSpPr>
        <p:spPr>
          <a:xfrm>
            <a:off x="685800" y="3285998"/>
            <a:ext cx="5013655" cy="21513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Inspector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Inspector leaves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Interpreting the ending: what or who is the Inspector?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Priestley's message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does NOT happen after the Inspector leaves?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Gerald reports that there is no Inspector Goole on the Brumley police force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telephone call to the Infirmary finds that no girl has died there that evening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Eva Smith walks in alive and explains the whole evening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Gerald suggests that they may each have been shown a photograph of a different girl</a:t>
            </a:r>
            <a:endParaRPr lang="en-US" sz="1800" dirty="0"/>
          </a:p>
        </p:txBody>
      </p:sp>
      <p:sp>
        <p:nvSpPr>
          <p:cNvPr id="12" name="card"/>
          <p:cNvSpPr/>
          <p:nvPr/>
        </p:nvSpPr>
        <p:spPr>
          <a:xfrm>
            <a:off x="6095848" y="1389888"/>
            <a:ext cx="2636444" cy="4754880"/>
          </a:xfrm>
          <a:prstGeom prst="roundRect">
            <a:avLst>
              <a:gd name="adj" fmla="val 2081"/>
            </a:avLst>
          </a:prstGeom>
          <a:solidFill>
            <a:srgbClr val="EFEBF2"/>
          </a:solidFill>
          <a:ln w="12700">
            <a:solidFill>
              <a:srgbClr val="C1B4CC"/>
            </a:solidFill>
            <a:prstDash val="solid"/>
          </a:ln>
        </p:spPr>
      </p:sp>
      <p:sp>
        <p:nvSpPr>
          <p:cNvPr id="13" name="card-hex"/>
          <p:cNvSpPr/>
          <p:nvPr/>
        </p:nvSpPr>
        <p:spPr>
          <a:xfrm>
            <a:off x="6278728" y="1572768"/>
            <a:ext cx="640080" cy="554309"/>
          </a:xfrm>
          <a:prstGeom prst="hexagon">
            <a:avLst/>
          </a:prstGeom>
          <a:solidFill>
            <a:srgbClr val="5B3A7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Inspector's name, Goole, sounds like the word ___, which means a spirit that feeds on the dead.</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ghoul  ·  goal  ·  gaol</a:t>
            </a:r>
            <a:endParaRPr lang="en-US" sz="2200" dirty="0"/>
          </a:p>
        </p:txBody>
      </p:sp>
      <p:sp>
        <p:nvSpPr>
          <p:cNvPr id="17" name="card"/>
          <p:cNvSpPr/>
          <p:nvPr/>
        </p:nvSpPr>
        <p:spPr>
          <a:xfrm>
            <a:off x="9006611" y="1389888"/>
            <a:ext cx="2636444" cy="4754880"/>
          </a:xfrm>
          <a:prstGeom prst="roundRect">
            <a:avLst>
              <a:gd name="adj" fmla="val 2081"/>
            </a:avLst>
          </a:prstGeom>
          <a:solidFill>
            <a:srgbClr val="EFEBF2"/>
          </a:solidFill>
          <a:ln w="12700">
            <a:solidFill>
              <a:srgbClr val="C1B4CC"/>
            </a:solidFill>
            <a:prstDash val="solid"/>
          </a:ln>
        </p:spPr>
      </p:sp>
      <p:sp>
        <p:nvSpPr>
          <p:cNvPr id="18" name="card-hex"/>
          <p:cNvSpPr/>
          <p:nvPr/>
        </p:nvSpPr>
        <p:spPr>
          <a:xfrm>
            <a:off x="9189491" y="1572768"/>
            <a:ext cx="640080" cy="554309"/>
          </a:xfrm>
          <a:prstGeom prst="hexagon">
            <a:avLst/>
          </a:prstGeom>
          <a:solidFill>
            <a:srgbClr val="5B3A7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The play is set in 1912. The Inspector's warning about war came true when the First World War began. How many years after the play's setting was that?</a:t>
            </a:r>
            <a:endParaRPr lang="en-US" sz="1800" dirty="0"/>
          </a:p>
          <a:p>
            <a:pPr algn="l" indent="0" marL="0">
              <a:buNone/>
            </a:pPr>
            <a:r>
              <a:rPr lang="en-US" sz="1800" b="1" dirty="0">
                <a:solidFill>
                  <a:srgbClr val="5B3A7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Eva Smith walks in alive and explains the whole evening</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does NOT happen after the Inspector leaves?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Eva never appears on stage; she is dead before the play begins and remains unseen. The other three things all happen, and they build the false relief that the final telephone call destroys.</a:t>
            </a:r>
            <a:endParaRPr lang="en-US" sz="2000" dirty="0"/>
          </a:p>
        </p:txBody>
      </p:sp>
      <p:sp>
        <p:nvSpPr>
          <p:cNvPr id="14" name="card"/>
          <p:cNvSpPr/>
          <p:nvPr/>
        </p:nvSpPr>
        <p:spPr>
          <a:xfrm>
            <a:off x="6095848" y="1389888"/>
            <a:ext cx="2636444" cy="4754880"/>
          </a:xfrm>
          <a:prstGeom prst="roundRect">
            <a:avLst>
              <a:gd name="adj" fmla="val 2081"/>
            </a:avLst>
          </a:prstGeom>
          <a:solidFill>
            <a:srgbClr val="EFEBF2"/>
          </a:solidFill>
          <a:ln w="12700">
            <a:solidFill>
              <a:srgbClr val="C1B4CC"/>
            </a:solidFill>
            <a:prstDash val="solid"/>
          </a:ln>
        </p:spPr>
      </p:sp>
      <p:sp>
        <p:nvSpPr>
          <p:cNvPr id="15" name="card-hex"/>
          <p:cNvSpPr/>
          <p:nvPr/>
        </p:nvSpPr>
        <p:spPr>
          <a:xfrm>
            <a:off x="6278728" y="1572768"/>
            <a:ext cx="640080" cy="554309"/>
          </a:xfrm>
          <a:prstGeom prst="hexagon">
            <a:avLst/>
          </a:prstGeom>
          <a:solidFill>
            <a:srgbClr val="5B3A7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ghoul</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Priestley chose a name that sounds like a creature from the grave. It is one piece of evidence for reading the Inspector as a ghost or a visitor from beyond the natural world.</a:t>
            </a:r>
            <a:endParaRPr lang="en-US" sz="1800" dirty="0"/>
          </a:p>
        </p:txBody>
      </p:sp>
      <p:sp>
        <p:nvSpPr>
          <p:cNvPr id="21" name="card"/>
          <p:cNvSpPr/>
          <p:nvPr/>
        </p:nvSpPr>
        <p:spPr>
          <a:xfrm>
            <a:off x="9006611" y="1389888"/>
            <a:ext cx="2636444" cy="4754880"/>
          </a:xfrm>
          <a:prstGeom prst="roundRect">
            <a:avLst>
              <a:gd name="adj" fmla="val 2081"/>
            </a:avLst>
          </a:prstGeom>
          <a:solidFill>
            <a:srgbClr val="EFEBF2"/>
          </a:solidFill>
          <a:ln w="12700">
            <a:solidFill>
              <a:srgbClr val="C1B4CC"/>
            </a:solidFill>
            <a:prstDash val="solid"/>
          </a:ln>
        </p:spPr>
      </p:sp>
      <p:sp>
        <p:nvSpPr>
          <p:cNvPr id="22" name="card-hex"/>
          <p:cNvSpPr/>
          <p:nvPr/>
        </p:nvSpPr>
        <p:spPr>
          <a:xfrm>
            <a:off x="9189491" y="1572768"/>
            <a:ext cx="640080" cy="554309"/>
          </a:xfrm>
          <a:prstGeom prst="hexagon">
            <a:avLst/>
          </a:prstGeom>
          <a:solidFill>
            <a:srgbClr val="5B3A7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 years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First World War began in August 1914, two years after the spring of 1912. Birling's promise of peace and the Inspector's warning are both tested within two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DE9F0"/>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mouthpiece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character who speaks the writer's own views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Inspector is Priestley's mouthpiece for his socialist beliefs.</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conscience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inner voice that knows right from wrong</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Some readers see the Inspector as the Birlings' conscience made flesh.</a:t>
            </a:r>
            <a:endParaRPr lang="en-US" sz="1800" dirty="0"/>
          </a:p>
        </p:txBody>
      </p:sp>
      <p:sp>
        <p:nvSpPr>
          <p:cNvPr id="21" name="kw-row"/>
          <p:cNvSpPr/>
          <p:nvPr/>
        </p:nvSpPr>
        <p:spPr>
          <a:xfrm>
            <a:off x="548640" y="3639312"/>
            <a:ext cx="11094415" cy="786384"/>
          </a:xfrm>
          <a:prstGeom prst="roundRect">
            <a:avLst>
              <a:gd name="adj" fmla="val 6977"/>
            </a:avLst>
          </a:prstGeom>
          <a:solidFill>
            <a:srgbClr val="EDE9F0"/>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hoax</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trick that makes people believe something false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Mr Birling decides the whole evening was a hoax.</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warning</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message about danger to come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final speech is a warning to the family and to the audience.</a:t>
            </a:r>
            <a:endParaRPr lang="en-US" sz="1800" dirty="0"/>
          </a:p>
        </p:txBody>
      </p:sp>
      <p:sp>
        <p:nvSpPr>
          <p:cNvPr id="31" name="kw-row"/>
          <p:cNvSpPr/>
          <p:nvPr/>
        </p:nvSpPr>
        <p:spPr>
          <a:xfrm>
            <a:off x="548640" y="5358384"/>
            <a:ext cx="11094415" cy="786384"/>
          </a:xfrm>
          <a:prstGeom prst="roundRect">
            <a:avLst>
              <a:gd name="adj" fmla="val 6977"/>
            </a:avLst>
          </a:prstGeom>
          <a:solidFill>
            <a:srgbClr val="EDE9F0"/>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pronoun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word such as we, our or their that stands in for a name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Inspector's pronouns pull the audience into his speech.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Inspector asks his questions one person at a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shows the photograph to one person only.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is calm, and he cannot be bullied or bought.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he leaves, he makes a speech.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says there are countless young women and men like Eva Smith.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says that nobody lives apart from other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warns that those who will not learn this will be taught by war.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he goes.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family discover that no Inspector Goole works for the police.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telephone the Infirmary: no girl has died tonight.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Mr and Mrs Birling and Gerald are delighted and relieved.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Sheila and Eric say that nothing has changed, because they still did those things.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the telephone rings.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girl has just died, and an inspector is on his 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How the Inspector works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adjectives for the Inspector, each with a moment: calm (the golf remark), relentless (one person's story at a time), compassionate (the penny-counting image).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Inspector controls the evening. He deals with one person at a time and refuses to be hurried, saying that he must finish with one person's part of the story before starting on the next.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sympathies are plain. He asks the Birlings to imagine themselves as a young woman counting every penny in a cheap rented room.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final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the speech, name the methods: the shift of pronouns, the group of three, the sermon image, the prophecy. Then give the 1945 audience's experience as context.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Before he leaves, the Inspector stops being a policeman and becomes a preacher.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the pronouns. He begins with ‘their’, the lives of the poor, and ends with ‘we’ and ‘our’, which includes the Birlings and every person in the theatre.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Priestley could have ended the play there. He did not.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What or who is the Inspector?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deck's own exam question asks you to explore the Inspector as a vessel for Priestley's socialist message. Keep the word ‘vessel’: it means a container that carries something to the audience.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on the ending offers a menu of readings, and the play supports more than one.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Priestley never tells us which, and the exam does not need you to decide.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ending: a telephone and a second chance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Answer the question the ending asks: who learned the lesson? Sheila and Eric did; Mr Birling, Mrs Birling and Gerald did not. That split is your conclusion for almost any essay.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After the Inspector leaves, Gerald returns from a walk with news: a police sergeant has told him there is no Inspector Goole.</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Sheila and Eric will not join in. The Inspector may have been a fraud, they say, but what each of them did was true, and the fact that there may be no body does not make it less so.</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Then the telephone rings. Birling answers.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Delivering the message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Priestley use the Inspector's final speech to deliver his message to the audience?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(1 of 2): Delivering the message</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use the Inspector's final speech to deliver his message to the audience? Write one developed paragraph.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Message: write one sentence, in your own words, saying what the Inspector tells the Birlings they must learn.</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Method 1: describe how the pronouns move from ‘their’ to ‘we’ and say what that does to the audience.</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Method 2: describe the warning as a group of three and say why it sounds like a prophecy.</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Context: name the two wars and the Russian Revolution as events the 1945 audience could not forget.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(2 of 2): Delivering the message</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use the Inspector's final speech to deliver his message to the audience? Write one developed paragraph.</a:t>
            </a:r>
            <a:endParaRPr lang="en-US" sz="2000" dirty="0"/>
          </a:p>
        </p:txBody>
      </p:sp>
      <p:sp>
        <p:nvSpPr>
          <p:cNvPr id="12" name="col-Core"/>
          <p:cNvSpPr/>
          <p:nvPr/>
        </p:nvSpPr>
        <p:spPr>
          <a:xfrm>
            <a:off x="548640" y="2593848"/>
            <a:ext cx="5410048" cy="3550920"/>
          </a:xfrm>
          <a:prstGeom prst="roundRect">
            <a:avLst>
              <a:gd name="adj" fmla="val 1545"/>
            </a:avLst>
          </a:prstGeom>
          <a:solidFill>
            <a:srgbClr val="D6CED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Pronouns, the group of three, the one-body image, the prophecy: pick two and give each a sentence of effect. Then one sentence of 1945 context.</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Some critics find the speech too preachy. Argue whether Priestley's message is stronger because it is spoken plainly or weaker because the Inspector stops being a character and becomes a voice.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Readings of the Inspector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reading of the Inspector to the evidence that supports it best.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Readings of the Inspector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reading of the Inspector to the evidence that supports it best.</a:t>
            </a:r>
            <a:endParaRPr lang="en-US" sz="2000" dirty="0"/>
          </a:p>
        </p:txBody>
      </p:sp>
      <p:sp>
        <p:nvSpPr>
          <p:cNvPr id="11" name="match-card"/>
          <p:cNvSpPr/>
          <p:nvPr/>
        </p:nvSpPr>
        <p:spPr>
          <a:xfrm>
            <a:off x="777240" y="2468331"/>
            <a:ext cx="3423818" cy="1103559"/>
          </a:xfrm>
          <a:prstGeom prst="roundRect">
            <a:avLst>
              <a:gd name="adj" fmla="val 6629"/>
            </a:avLst>
          </a:prstGeom>
          <a:solidFill>
            <a:srgbClr val="EDE9F0"/>
          </a:solidFill>
          <a:ln/>
        </p:spPr>
      </p:sp>
      <p:sp>
        <p:nvSpPr>
          <p:cNvPr id="12" name="match-hex"/>
          <p:cNvSpPr/>
          <p:nvPr/>
        </p:nvSpPr>
        <p:spPr>
          <a:xfrm>
            <a:off x="850392" y="2853818"/>
            <a:ext cx="384048" cy="332586"/>
          </a:xfrm>
          <a:prstGeom prst="hexagon">
            <a:avLst/>
          </a:prstGeom>
          <a:solidFill>
            <a:srgbClr val="5B3A7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82945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ghost or supernatural visitor</a:t>
            </a:r>
            <a:endParaRPr lang="en-US" sz="2200" dirty="0"/>
          </a:p>
        </p:txBody>
      </p:sp>
      <p:sp>
        <p:nvSpPr>
          <p:cNvPr id="15" name="match-card"/>
          <p:cNvSpPr/>
          <p:nvPr/>
        </p:nvSpPr>
        <p:spPr>
          <a:xfrm>
            <a:off x="4566818" y="2468331"/>
            <a:ext cx="6847637" cy="1103559"/>
          </a:xfrm>
          <a:prstGeom prst="roundRect">
            <a:avLst>
              <a:gd name="adj" fmla="val 6629"/>
            </a:avLst>
          </a:prstGeom>
          <a:solidFill>
            <a:srgbClr val="F4EDDF"/>
          </a:solidFill>
          <a:ln/>
        </p:spPr>
      </p:sp>
      <p:sp>
        <p:nvSpPr>
          <p:cNvPr id="16" name="match-hex"/>
          <p:cNvSpPr/>
          <p:nvPr/>
        </p:nvSpPr>
        <p:spPr>
          <a:xfrm>
            <a:off x="4639970" y="2853818"/>
            <a:ext cx="384048" cy="332586"/>
          </a:xfrm>
          <a:prstGeom prst="hexagon">
            <a:avLst/>
          </a:prstGeom>
          <a:solidFill>
            <a:srgbClr val="B8862B"/>
          </a:solidFill>
          <a:ln/>
        </p:spPr>
      </p:sp>
      <p:sp>
        <p:nvSpPr>
          <p:cNvPr id="17" name="match-hex-label"/>
          <p:cNvSpPr txBox="1"/>
          <p:nvPr/>
        </p:nvSpPr>
        <p:spPr>
          <a:xfrm>
            <a:off x="4639970"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088026" y="2468331"/>
            <a:ext cx="62532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His final speech gives the play's socialist message straight to the audience</a:t>
            </a:r>
            <a:endParaRPr lang="en-US" sz="2200" dirty="0"/>
          </a:p>
        </p:txBody>
      </p:sp>
      <p:sp>
        <p:nvSpPr>
          <p:cNvPr id="19" name="match-card"/>
          <p:cNvSpPr/>
          <p:nvPr/>
        </p:nvSpPr>
        <p:spPr>
          <a:xfrm>
            <a:off x="777240" y="3663330"/>
            <a:ext cx="3423818" cy="1103559"/>
          </a:xfrm>
          <a:prstGeom prst="roundRect">
            <a:avLst>
              <a:gd name="adj" fmla="val 6629"/>
            </a:avLst>
          </a:prstGeom>
          <a:solidFill>
            <a:srgbClr val="EDE9F0"/>
          </a:solidFill>
          <a:ln/>
        </p:spPr>
      </p:sp>
      <p:sp>
        <p:nvSpPr>
          <p:cNvPr id="20" name="match-hex"/>
          <p:cNvSpPr/>
          <p:nvPr/>
        </p:nvSpPr>
        <p:spPr>
          <a:xfrm>
            <a:off x="850392" y="4048817"/>
            <a:ext cx="384048" cy="332586"/>
          </a:xfrm>
          <a:prstGeom prst="hexagon">
            <a:avLst/>
          </a:prstGeom>
          <a:solidFill>
            <a:srgbClr val="5B3A7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82945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Priestley's mouthpiece (authorial surrogate)</a:t>
            </a:r>
            <a:endParaRPr lang="en-US" sz="2200" dirty="0"/>
          </a:p>
        </p:txBody>
      </p:sp>
      <p:sp>
        <p:nvSpPr>
          <p:cNvPr id="23" name="match-card"/>
          <p:cNvSpPr/>
          <p:nvPr/>
        </p:nvSpPr>
        <p:spPr>
          <a:xfrm>
            <a:off x="4566818" y="3663330"/>
            <a:ext cx="6847637" cy="1103559"/>
          </a:xfrm>
          <a:prstGeom prst="roundRect">
            <a:avLst>
              <a:gd name="adj" fmla="val 6629"/>
            </a:avLst>
          </a:prstGeom>
          <a:solidFill>
            <a:srgbClr val="F4EDDF"/>
          </a:solidFill>
          <a:ln/>
        </p:spPr>
      </p:sp>
      <p:sp>
        <p:nvSpPr>
          <p:cNvPr id="24" name="match-hex"/>
          <p:cNvSpPr/>
          <p:nvPr/>
        </p:nvSpPr>
        <p:spPr>
          <a:xfrm>
            <a:off x="4639970" y="4048817"/>
            <a:ext cx="384048" cy="332586"/>
          </a:xfrm>
          <a:prstGeom prst="hexagon">
            <a:avLst/>
          </a:prstGeom>
          <a:solidFill>
            <a:srgbClr val="B8862B"/>
          </a:solidFill>
          <a:ln/>
        </p:spPr>
      </p:sp>
      <p:sp>
        <p:nvSpPr>
          <p:cNvPr id="25" name="match-hex-label"/>
          <p:cNvSpPr txBox="1"/>
          <p:nvPr/>
        </p:nvSpPr>
        <p:spPr>
          <a:xfrm>
            <a:off x="463997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088026" y="3663330"/>
            <a:ext cx="62532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 does nothing but ask questions, yet each of them ends up confessing</a:t>
            </a:r>
            <a:endParaRPr lang="en-US" sz="2200" dirty="0"/>
          </a:p>
        </p:txBody>
      </p:sp>
      <p:sp>
        <p:nvSpPr>
          <p:cNvPr id="27" name="match-card"/>
          <p:cNvSpPr/>
          <p:nvPr/>
        </p:nvSpPr>
        <p:spPr>
          <a:xfrm>
            <a:off x="777240" y="4858329"/>
            <a:ext cx="3423818" cy="1103559"/>
          </a:xfrm>
          <a:prstGeom prst="roundRect">
            <a:avLst>
              <a:gd name="adj" fmla="val 6629"/>
            </a:avLst>
          </a:prstGeom>
          <a:solidFill>
            <a:srgbClr val="EDE9F0"/>
          </a:solidFill>
          <a:ln/>
        </p:spPr>
      </p:sp>
      <p:sp>
        <p:nvSpPr>
          <p:cNvPr id="28" name="match-hex"/>
          <p:cNvSpPr/>
          <p:nvPr/>
        </p:nvSpPr>
        <p:spPr>
          <a:xfrm>
            <a:off x="850392" y="5243816"/>
            <a:ext cx="384048" cy="332586"/>
          </a:xfrm>
          <a:prstGeom prst="hexagon">
            <a:avLst/>
          </a:prstGeom>
          <a:solidFill>
            <a:srgbClr val="5B3A7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82945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Birlings' social conscience</a:t>
            </a:r>
            <a:endParaRPr lang="en-US" sz="2200" dirty="0"/>
          </a:p>
        </p:txBody>
      </p:sp>
      <p:sp>
        <p:nvSpPr>
          <p:cNvPr id="31" name="match-card"/>
          <p:cNvSpPr/>
          <p:nvPr/>
        </p:nvSpPr>
        <p:spPr>
          <a:xfrm>
            <a:off x="4566818" y="4858329"/>
            <a:ext cx="6847637" cy="1103559"/>
          </a:xfrm>
          <a:prstGeom prst="roundRect">
            <a:avLst>
              <a:gd name="adj" fmla="val 6629"/>
            </a:avLst>
          </a:prstGeom>
          <a:solidFill>
            <a:srgbClr val="F4EDDF"/>
          </a:solidFill>
          <a:ln/>
        </p:spPr>
      </p:sp>
      <p:sp>
        <p:nvSpPr>
          <p:cNvPr id="32" name="match-hex"/>
          <p:cNvSpPr/>
          <p:nvPr/>
        </p:nvSpPr>
        <p:spPr>
          <a:xfrm>
            <a:off x="4639970" y="5243816"/>
            <a:ext cx="384048" cy="332586"/>
          </a:xfrm>
          <a:prstGeom prst="hexagon">
            <a:avLst/>
          </a:prstGeom>
          <a:solidFill>
            <a:srgbClr val="B8862B"/>
          </a:solidFill>
          <a:ln/>
        </p:spPr>
      </p:sp>
      <p:sp>
        <p:nvSpPr>
          <p:cNvPr id="33" name="match-hex-label"/>
          <p:cNvSpPr txBox="1"/>
          <p:nvPr/>
        </p:nvSpPr>
        <p:spPr>
          <a:xfrm>
            <a:off x="4639970"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088026" y="4858329"/>
            <a:ext cx="62532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His name sounds like ghoul, he knows things before he is told them, and no such inspector exists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Readings of the Inspector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reading of the Inspector to the evidence that supports it best.</a:t>
            </a:r>
            <a:endParaRPr lang="en-US" sz="2000" dirty="0"/>
          </a:p>
        </p:txBody>
      </p:sp>
      <p:sp>
        <p:nvSpPr>
          <p:cNvPr id="11" name="match-card"/>
          <p:cNvSpPr/>
          <p:nvPr/>
        </p:nvSpPr>
        <p:spPr>
          <a:xfrm>
            <a:off x="777240" y="2468331"/>
            <a:ext cx="3081437" cy="1165352"/>
          </a:xfrm>
          <a:prstGeom prst="roundRect">
            <a:avLst>
              <a:gd name="adj" fmla="val 6277"/>
            </a:avLst>
          </a:prstGeom>
          <a:solidFill>
            <a:srgbClr val="EDE9F0"/>
          </a:solidFill>
          <a:ln/>
        </p:spPr>
      </p:sp>
      <p:sp>
        <p:nvSpPr>
          <p:cNvPr id="12" name="match-hex"/>
          <p:cNvSpPr/>
          <p:nvPr/>
        </p:nvSpPr>
        <p:spPr>
          <a:xfrm>
            <a:off x="850392" y="2884715"/>
            <a:ext cx="384048" cy="332586"/>
          </a:xfrm>
          <a:prstGeom prst="hexagon">
            <a:avLst/>
          </a:prstGeom>
          <a:solidFill>
            <a:srgbClr val="5B3A7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warning from the future</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4EDDF"/>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 is the only character who speaks of her as a person with hopes of her own</a:t>
            </a:r>
            <a:endParaRPr lang="en-US" sz="2200" dirty="0"/>
          </a:p>
        </p:txBody>
      </p:sp>
      <p:sp>
        <p:nvSpPr>
          <p:cNvPr id="19" name="match-card"/>
          <p:cNvSpPr/>
          <p:nvPr/>
        </p:nvSpPr>
        <p:spPr>
          <a:xfrm>
            <a:off x="777240" y="3725123"/>
            <a:ext cx="3081437" cy="1165352"/>
          </a:xfrm>
          <a:prstGeom prst="roundRect">
            <a:avLst>
              <a:gd name="adj" fmla="val 6277"/>
            </a:avLst>
          </a:prstGeom>
          <a:solidFill>
            <a:srgbClr val="EDE9F0"/>
          </a:solidFill>
          <a:ln/>
        </p:spPr>
      </p:sp>
      <p:sp>
        <p:nvSpPr>
          <p:cNvPr id="20" name="match-hex"/>
          <p:cNvSpPr/>
          <p:nvPr/>
        </p:nvSpPr>
        <p:spPr>
          <a:xfrm>
            <a:off x="850392" y="4141507"/>
            <a:ext cx="384048" cy="332586"/>
          </a:xfrm>
          <a:prstGeom prst="hexagon">
            <a:avLst/>
          </a:prstGeom>
          <a:solidFill>
            <a:srgbClr val="5B3A7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Eva Smith's defender</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4EDDF"/>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 speaks of lessons taught through war to an audience who had lived through two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Readings of the Inspector</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reading of the Inspector to the evidence that supports it best.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AE5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reading and ask: what would I need to see in the play for this to be true?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supernatural reading to the clues about his name and his knowledge.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political readings to what he says; match the conscience reading to what he makes others say.</a:t>
            </a:r>
            <a:endParaRPr lang="en-US" sz="1800" dirty="0"/>
          </a:p>
        </p:txBody>
      </p:sp>
      <p:sp>
        <p:nvSpPr>
          <p:cNvPr id="17" name="col-Core"/>
          <p:cNvSpPr/>
          <p:nvPr/>
        </p:nvSpPr>
        <p:spPr>
          <a:xfrm>
            <a:off x="5490762" y="2578608"/>
            <a:ext cx="2938987" cy="3566160"/>
          </a:xfrm>
          <a:prstGeom prst="roundRect">
            <a:avLst>
              <a:gd name="adj" fmla="val 1867"/>
            </a:avLst>
          </a:prstGeom>
          <a:solidFill>
            <a:srgbClr val="D6CED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readings are about what he is, two are about what he says, one is about whom he speaks for.</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5B3A7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two readings you find strongest and write a sentence showing how Priestley makes both possible at once. Then say which one the final telephone call supports.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does Priestley end the play with the telephone ringing and a second inspector on his way, rather than with the Inspector's final speech?</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prove that Inspector Goole was a real policeman after all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audiences in 1945 expected every play to end happily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set up a sequel in which the real inspector investigates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 that the Birlings, and the audience, must face the lesson again, and we see who has learned it and who has not</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Delivering the message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EDE9F0"/>
          </a:solidFill>
          <a:ln/>
        </p:spPr>
      </p:sp>
      <p:sp>
        <p:nvSpPr>
          <p:cNvPr id="9" name="tickbox"/>
          <p:cNvSpPr/>
          <p:nvPr/>
        </p:nvSpPr>
        <p:spPr>
          <a:xfrm>
            <a:off x="713232" y="2209038"/>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 clear statement of what the message is, in your own words</a:t>
            </a:r>
            <a:endParaRPr lang="en-US" sz="2200" dirty="0"/>
          </a:p>
        </p:txBody>
      </p:sp>
      <p:sp>
        <p:nvSpPr>
          <p:cNvPr id="11" name="crit-box"/>
          <p:cNvSpPr/>
          <p:nvPr/>
        </p:nvSpPr>
        <p:spPr>
          <a:xfrm>
            <a:off x="548640" y="2817876"/>
            <a:ext cx="11094415" cy="1083056"/>
          </a:xfrm>
          <a:prstGeom prst="roundRect">
            <a:avLst>
              <a:gd name="adj" fmla="val 8443"/>
            </a:avLst>
          </a:prstGeom>
          <a:solidFill>
            <a:srgbClr val="EDE9F0"/>
          </a:solidFill>
          <a:ln/>
        </p:spPr>
      </p:sp>
      <p:sp>
        <p:nvSpPr>
          <p:cNvPr id="12" name="tickbox"/>
          <p:cNvSpPr/>
          <p:nvPr/>
        </p:nvSpPr>
        <p:spPr>
          <a:xfrm>
            <a:off x="713232" y="3213100"/>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17876"/>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at least two methods in the speech (the shift of pronouns, the group of three, the image of one body, the prophecy of war) with their effects</a:t>
            </a:r>
            <a:endParaRPr lang="en-US" sz="2200" dirty="0"/>
          </a:p>
        </p:txBody>
      </p:sp>
      <p:sp>
        <p:nvSpPr>
          <p:cNvPr id="14" name="crit-box"/>
          <p:cNvSpPr/>
          <p:nvPr/>
        </p:nvSpPr>
        <p:spPr>
          <a:xfrm>
            <a:off x="548640" y="3992372"/>
            <a:ext cx="11094415" cy="742188"/>
          </a:xfrm>
          <a:prstGeom prst="roundRect">
            <a:avLst>
              <a:gd name="adj" fmla="val 12320"/>
            </a:avLst>
          </a:prstGeom>
          <a:solidFill>
            <a:srgbClr val="EDE9F0"/>
          </a:solidFill>
          <a:ln/>
        </p:spPr>
      </p:sp>
      <p:sp>
        <p:nvSpPr>
          <p:cNvPr id="15" name="tickbox"/>
          <p:cNvSpPr/>
          <p:nvPr/>
        </p:nvSpPr>
        <p:spPr>
          <a:xfrm>
            <a:off x="713232" y="4217162"/>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a precise link to what the 1945 audience had lived through</a:t>
            </a:r>
            <a:endParaRPr lang="en-US" sz="2200" dirty="0"/>
          </a:p>
        </p:txBody>
      </p:sp>
      <p:sp>
        <p:nvSpPr>
          <p:cNvPr id="17" name="crit-box"/>
          <p:cNvSpPr/>
          <p:nvPr/>
        </p:nvSpPr>
        <p:spPr>
          <a:xfrm>
            <a:off x="548640" y="4826000"/>
            <a:ext cx="11094415" cy="1083056"/>
          </a:xfrm>
          <a:prstGeom prst="roundRect">
            <a:avLst>
              <a:gd name="adj" fmla="val 8443"/>
            </a:avLst>
          </a:prstGeom>
          <a:solidFill>
            <a:srgbClr val="EDE9F0"/>
          </a:solidFill>
          <a:ln/>
        </p:spPr>
      </p:sp>
      <p:sp>
        <p:nvSpPr>
          <p:cNvPr id="18" name="tickbox"/>
          <p:cNvSpPr/>
          <p:nvPr/>
        </p:nvSpPr>
        <p:spPr>
          <a:xfrm>
            <a:off x="713232" y="5221224"/>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826000"/>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 closing sentence on why Priestley gives the speech to the Inspector rather than to a Birling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Delivering the message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Priestley uses the Inspector's final speech to turn a detective's summing-up into a sermon aimed at the audience. The message is simple: no one lives alone, every life is tied to every other, and a society that forgets this will be forced to remember. The method is in the pronouns. The speech begins with the poor, the lives of countless young women and men like Eva, and ends with ‘we’ and ‘our’, so that by the last sentence the Birlings and the people in the stalls are inside the same body. The warning comes in a group of three, like a prophecy, and in 1945 it was a prophecy the audience had already seen fulfilled twice, in 1914 and 1939. Priestley gives the speech to the Inspector because he is the only character who has nothing to hide, so his words carry an authority that no Birling could.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Readings of the Inspector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ghost or supernatural visitor  →  E  His name sounds like ghoul, he knows things before he is told them, and no such inspector exists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Priestley's mouthpiece (authorial surrogate)  →  A  His final speech gives the play's socialist message straight to the audience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Birlings' social conscience  →  B  He does nothing but ask questions, yet each of them ends up confessing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warning from the future  →  D  He speaks of lessons taught through war to an audience who had lived through two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Eva Smith's defender  →  C  He is the only character who speaks of her as a person with hopes of her own</a:t>
            </a:r>
            <a:endParaRPr lang="en-US" sz="1800" dirty="0"/>
          </a:p>
        </p:txBody>
      </p:sp>
      <p:sp>
        <p:nvSpPr>
          <p:cNvPr id="10" name="why-panel"/>
          <p:cNvSpPr/>
          <p:nvPr/>
        </p:nvSpPr>
        <p:spPr>
          <a:xfrm>
            <a:off x="7955280" y="1389888"/>
            <a:ext cx="3687775" cy="4754880"/>
          </a:xfrm>
          <a:prstGeom prst="roundRect">
            <a:avLst>
              <a:gd name="adj" fmla="val 1240"/>
            </a:avLst>
          </a:prstGeom>
          <a:solidFill>
            <a:srgbClr val="EAE5EE"/>
          </a:solidFill>
          <a:ln/>
        </p:spPr>
      </p:sp>
      <p:sp>
        <p:nvSpPr>
          <p:cNvPr id="11" name="why-hex"/>
          <p:cNvSpPr/>
          <p:nvPr/>
        </p:nvSpPr>
        <p:spPr>
          <a:xfrm>
            <a:off x="8138160" y="1572768"/>
            <a:ext cx="685800" cy="593903"/>
          </a:xfrm>
          <a:prstGeom prst="hexagon">
            <a:avLst/>
          </a:prstGeom>
          <a:solidFill>
            <a:srgbClr val="5B3A7A"/>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play supports several readings of the Inspector on purpose. An essay earns marks by arguing from evidence for one or two, not by picking the right answer.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Priestley end the play with the telephone ringing and a second inspector on his way, rather than with the Inspector's final speech?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So that the Birlings, and the audience, must face the lesson again, and we see who has learned it and who has not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twist ending turns the play into a loop. The Inspector's speech was the lesson; the telephone call is the test, and the family fails it in two different ways.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5: Who is the Inspector? The final speech and the twist (Act 3)</dc:title>
  <dc:subject>English Literature · Year 10</dc:subject>
  <dc:creator>Dr Vitor Merissi de Carvalho</dc:creator>
  <cp:lastModifiedBy>Dr Vitor Merissi de Carvalho</cp:lastModifiedBy>
  <cp:revision>1</cp:revision>
  <dcterms:created xsi:type="dcterms:W3CDTF">2026-10-19T16:22:40Z</dcterms:created>
  <dcterms:modified xsi:type="dcterms:W3CDTF">2026-10-19T16:22:40Z</dcterms:modified>
</cp:coreProperties>
</file>