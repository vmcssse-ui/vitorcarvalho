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175c3b4-3bd9-2d8b-177e-188fad68e2e5}">
          <p14:sldIdLst>
            <p14:sldId id="256"/>
          </p14:sldIdLst>
        </p14:section>
        <p14:section name="Gate" id="{a6b1f9fe-f3d6-7361-1df5-6725cb421265}">
          <p14:sldIdLst>
            <p14:sldId id="257"/>
            <p14:sldId id="258"/>
          </p14:sldIdLst>
        </p14:section>
        <p14:section name="Pre-teach" id="{5d042623-3240-efee-4667-c7e1826337aa}">
          <p14:sldIdLst>
            <p14:sldId id="259"/>
          </p14:sldIdLst>
        </p14:section>
        <p14:section name="Read-along" id="{882c0e2e-f167-7bc8-652c-6ecf1dda633b}">
          <p14:sldIdLst>
            <p14:sldId id="260"/>
            <p14:sldId id="261"/>
          </p14:sldIdLst>
        </p14:section>
        <p14:section name="Teach" id="{63e72c13-70ed-3ecf-f10d-366edbd95d1e}">
          <p14:sldIdLst>
            <p14:sldId id="262"/>
            <p14:sldId id="263"/>
            <p14:sldId id="264"/>
            <p14:sldId id="265"/>
          </p14:sldIdLst>
        </p14:section>
        <p14:section name="Routes" id="{6cc80f3f-b865-242c-f5b4-3676c322faec}">
          <p14:sldIdLst>
            <p14:sldId id="266"/>
            <p14:sldId id="267"/>
            <p14:sldId id="268"/>
            <p14:sldId id="269"/>
            <p14:sldId id="270"/>
          </p14:sldIdLst>
        </p14:section>
        <p14:section name="Close" id="{eadae492-2cbb-2260-9a6d-1987990a57c7}">
          <p14:sldIdLst>
            <p14:sldId id="271"/>
          </p14:sldIdLst>
        </p14:section>
        <p14:section name="Answers" id="{afcfd05d-7136-aaa7-f003-eb3b01a277be}">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Themes and the exam essay. This chapter turns everything you know into a 30-mark answer: the question, the plan, the PEIRL paragraph and the themes examiners expect.
This deck covers the department's lessons: 8 (Character profiles: Who is most, and who is least, to blame for Eva's death so far?); 16 (Essay preparation: sympathy and dislike: How does Priestley create sympathy for, or dislike of, each character across the three acts?); 18 (Essay: the significance of Mr Birling: Who does Mr Birling represent, and what does Priestley want us to understand through him?); 19 (Revising Gerald: Which six quotations best show Gerald across the three acts?); 21 (Gender: What is Priestley saying about gender roles, and how does it link to his political message?); 22 (Gender: the full essay: Can I turn my planning grid into a full essay on gender?); 23 (Relationships: Which relationships change by the end of the play, which stay the same, and why?); 24 (Older and younger generations: marking activity: How does a candidate's answer measure against the mark scheme, and how does mine?).
Read the big question aloud: "How does Priestley use the Birling family and the Inspector to make his 1945 audience accept that we are all responsible for one another?"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assessment objective rewards analysis of Priestley's methods, such as dramatic irony, stage directions and structure?  →  D   AO2
2. How many marks is the An Inspector Calls question worth, not counting the 4 marks for spelling, punctuation and grammar?  →  30 marks
3. Unlike the Shakespeare question in Paper 1, the Paper 2 question on An Inspector Calls gives you no ___ from the play to read in the exam.  →  extract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AO2. AO2 is analysis of language, form and structure, using subject terminology. Methods are AO2; context is AO3; argument and evidence are AO1; accuracy is AO4.
2. 30 marks. 30 marks for your response, plus 4 for AO4, makes 34 marks for Section A of Paper 2.
3. extract. Paper 2 Section A is closed book with no printed extract. You must know your quotations by heart, which is why your lessons build flashcards for every character.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assessment objective: one of the four things the examiner gives marks for. Example: "Each assessment objective rewards a different skill, from argument to spelling."
• PEIRL: Point, Evidence, Inference, Reader, Link. Example: "A PEIRL paragraph always ends by linking to Priestley's purpose."
• topic sentence: the first sentence of a paragraph, which states its point. Example: "A good topic sentence names the character and the stage of the play."
• theme: a big idea that runs through the whole play. Example: "Responsibility is the theme that holds every other theme together."
• generation: people born at about the same time. Example: "The older generation refuses to change and the younger generation begins to."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exam question on An Inspector Calls is in Paper 2.
2. You will not have the play with you.
3. There is no extract to read.
4. You choose one question from two.
5. The answer is worth 30 marks, with 4 more for spelling and grammar.
6. You should spend about 45 minutes on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Plan first: an introduction, three key moments and a conclusion.
8. Each paragraph follows PEIRL: Point, Evidence, Inference, Reader, Link.
9. The big themes are responsibility, class, gender and the generations.
10. The older Birlings do not change; the younger ones do.
11. Learn short quotations for each character and each theme.
12. Finish every paragraph by linking to Priestley's purpose.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question is asking for. Say it in your own words, then check understanding with a quick question: ask a pupil from the pre-teach group first, since they met these words and ideas before the lesson. Pupils try to recall before you re-explain.
An Inspector Calls is examined in Paper 2 Section A, Modern texts. You answer one question from a choice of two. The question is worth 30 marks, with 4 more for spelling, punctuation and grammar, so 34 marks in all, and you should give it about 45 minutes. Unlike the Shakespeare question in Paper 1, there is no extract: you do not have the play in front of you, so everything you quote must come from memory. That is why your lessons build flashcards, six quotations per character, two from each act.
Four assessment objectives are marked. AO1: you answer the question with a clear argument and support it with precise references and quotations. AO2: you analyse Priestley's methods, such as stage directions, dramatic irony, structure and the contrast between characters, using the right terms. AO3: you show how the play connects to 1912 and to 1945. AO4: your writing is accurate and your vocabulary is wide. Questions usually take one of two shapes: how Priestley presents a character, or how he explores a theme.
A reminder from chapter 1. This book cannot print Priestley's words because the play is still in copyright, so its model answers describe moments rather than quote them. In the exam, quote. The examiner wants Priestley's exact words, kept short and worked into your own sentences, and then analysed.
Tip: Twenty-two words a minute is plenty. In 45 minutes, a plan plus an introduction, three paragraphs and a conclusion will fill about two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Planning: five parts. Say it in your own words, then check understanding with a quick question: ask a pupil from the pre-teach group first, since they met these words and ideas before the lesson. Pupils try to recall before you re-explain.
Your lessons give you a five-part plan. The introduction states your argument, gives a sentence of context, and says what the character or theme symbolises. Paragraph one takes a key moment from the beginning of the play. Paragraph two takes a moment from the middle, as the plot develops. Paragraph three takes a moment from the resolution. The conclusion summarises the argument and answers the question directly. The topic sentences almost write themselves: at the outset of the play, as the play progresses, towards the play's resolution.
The Mr Birling essay in your lessons shows how the plan fills up. Section one: Birling represents the selfish capitalism of the business class, and his insecurity about his social standing shows in his hunger for a knighthood; he is the Inspector's opposite. Section two: he shows the gap between the generations, and his hypocrisy appears when he excuses young men's behaviour while condemning Eva; his refusal to accept any responsibility is total. Section three: his relief when he decides the evening was a hoax, and his complete lack of change, tell us what Priestley thought of the men who ran Britain in 1912.
Tip: Plan in the margin with five lines: argument, beginning, middle, end, conclusion. Write one quotation beside each of the three middle lines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PEIRL paragraph. Say it in your own words, then check understanding with a quick question: ask a pupil from the pre-teach group first, since they met these words and ideas before the lesson. Pupils try to recall before you re-explain.
Point: make a claim that answers the question, using the stage of the play in your topic sentence. Evidence: give a short quotation, embedded in your own sentence, and say briefly where it comes from. Inference: explain what the words imply, suggest, convey or represent, zooming in on one word or method. Reader or audience: say what Priestley makes the 1945 audience think or feel. Link: explain Priestley's purpose, using the deck's frame, that his purpose in doing this was to make the post-war audience think or feel something because of a precise piece of context.
The What / How / Why version is the same shape in three moves: what Priestley suggests, how he does it, and why he chose that method for that audience. Whichever you use, the mark is earned in the second half of the paragraph. Many pupils stop after Inference. The Reader and Link steps are where AO3 lives, and they are what moves an answer from describing the play to arguing about it.
Tip: Test your Link sentence: if you could paste it into any essay on the play, it is not doing its job. Tie it to the word you have just analysed.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themes. Say it in your own words, then check understanding with a quick question: ask a pupil from the pre-teach group first, since they met these words and ideas before the lesson. Pupils try to recall before you re-explain.
Responsibility is the theme that contains the others: who is responsible for Eva, and who accepts it? Class runs through every confession: the Birlings and Gerald have power over Eva because of where they stand on the ladder, and Mrs Birling judges her by her class alone. Gender shapes how she is treated: Birling sends his daughter out of the room like a child, Mrs Birling applies to a working-class girl a rule she never applies to men, and Gerald and Eric both use a poor young woman and expect to walk away. The generations split at the end: the older Birlings and Gerald learn nothing; Sheila and Eric learn too late to save Eva but in time to change.
Relationships give you a second way in: the engagement built on show, the parents who do not look at their children, the marriage in which the wife outranks the husband. Wealth and entitlement sit underneath them all. Your sympathy-and-dislike lesson asks you to track how your feelings about each character move across the three acts: the graph you drew is a plan for an essay on any character. And Eva, who never appears, is the test every theme is measured by.
Tip: For any theme, use the same three-moment plan: how it looks at the dinner table, how the Inspector exposes it, and where it stands when the telephone 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Plan in the right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parts of an essay on the significance of Mr Birling in the order you would write them.
Support — work through the steps with the group: (1) Every essay opens with your argument and closes with your conclusion. (2) The three middle paragraphs follow the play's own order: beginning, middle, end. (3) Check your topic sentences: at the outset, as the play progresses, towards the resolution.
Parallel worked example for Support (model it, do not give the task answer): Practice: order the parts of a single PEIRL paragraph: link to Priestley's purpose; make your point; describe the audience's response; give your evidence; explain what it suggests. P: the point comes first.; E: then the evidence.; I: then what it suggests.; R and L: then the audience, then the link.. Answer: Make your point; give your evidence; explain what it suggests; describe the audience's response; link to Priestley's purpose..
Core — reveal the hint only on request: The plan follows the play. Think of the three acts as your three middle paragraphs.
Stretch — no help; when finished: If the question were about Eva Smith, who never appears, how would you choose your three key moments? Rewrite the three middle lines for that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Plan in the right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parts of an essay on the significance of Mr Birling in the order you would write them.
Support — work through the steps with the group: (1) Every essay opens with your argument and closes with your conclusion. (2) The three middle paragraphs follow the play's own order: beginning, middle, end. (3) Check your topic sentences: at the outset, as the play progresses, towards the resolution.
Parallel worked example for Support (model it, do not give the task answer): Practice: order the parts of a single PEIRL paragraph: link to Priestley's purpose; make your point; describe the audience's response; give your evidence; explain what it suggests. P: the point comes first.; E: then the evidence.; I: then what it suggests.; R and L: then the audience, then the link.. Answer: Make your point; give your evidence; explain what it suggests; describe the audience's response; link to Priestley's purpose..
Core — reveal the hint only on request: The plan follows the play. Think of the three acts as your three middle paragraphs.
Stretch — no help; when finished: If the question were about Eva Smith, who never appears, how would you choose your three key moments? Rewrite the three middle lines for that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generations essay.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the differences between the older and younger generations in An Inspector Calls? Write your introduction and your first paragraph.
Support — work through the steps with the group: (1) Introduction: write two sentences, one saying what the older generation represents and one saying what the younger generation represents. (2) Paragraph 1: choose a moment from the dinner table that shows the gap, such as Birling's lecture beside Eric's questions. (3) Method: name the contrast and one stage direction, and say what each suggests. (4) Link: say what a 1945 audience, deciding the country's future, would make of it.
Parallel worked example for Support (model it, do not give the task answer): Practice question (a different theme): how does Priestley present the theme of responsibility? Write your introduction and first paragraph. Argument: responsibility is the play's test; the Inspector asks who accepts it, and the answer divides the family.; Moment: Birling's refusal to accept any blame for sacking Eva.; Method: his argument that responsibility for everyone would be impossibly awkward is a capitalist's logic, undercut by the dramatic irony of his earlier predictions.; Context: 1945 audiences building a welfare state were choosing shared responsibility.. Answer: Priestley presents responsibility as the test every character must face and most fail. The Inspector asks who is responsible for Eva Smith, and the answers divide the family into those who accept blame and those who refuse it. At the outset Mr Birling refuses completely: he insists that sacking Eva was his duty as an employer, and argues that if everyone were responsible for everyone else life would be impossible. Because the audience has just heard him be wrong about the Titanic and the war, dramatic irony makes his logic sound hollow. In 1945, with a Labour government about to build a welfare state on exactly the idea Birling mocks, Priestley's audience would hear in him the voice of the past..
Core — reveal the hint only on request: Your argument is the split at the end of the play; your first paragraph shows the split already present at the start. Gerald is your complication: young in years, old in attitude.
Stretch — no help; when finished: Write a conclusion that judges: does Priestley believe the young will build a better Britain, or does the final telephone call warn that they too may fail? Use Gerald's offer of the ring and Sheila's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generations essay.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the differences between the older and younger generations in An Inspector Calls? Write your introduction and your first paragraph.
Support — work through the steps with the group: (1) Introduction: write two sentences, one saying what the older generation represents and one saying what the younger generation represents. (2) Paragraph 1: choose a moment from the dinner table that shows the gap, such as Birling's lecture beside Eric's questions. (3) Method: name the contrast and one stage direction, and say what each suggests. (4) Link: say what a 1945 audience, deciding the country's future, would make of it.
Parallel worked example for Support (model it, do not give the task answer): Practice question (a different theme): how does Priestley present the theme of responsibility? Write your introduction and first paragraph. Argument: responsibility is the play's test; the Inspector asks who accepts it, and the answer divides the family.; Moment: Birling's refusal to accept any blame for sacking Eva.; Method: his argument that responsibility for everyone would be impossibly awkward is a capitalist's logic, undercut by the dramatic irony of his earlier predictions.; Context: 1945 audiences building a welfare state were choosing shared responsibility.. Answer: Priestley presents responsibility as the test every character must face and most fail. The Inspector asks who is responsible for Eva Smith, and the answers divide the family into those who accept blame and those who refuse it. At the outset Mr Birling refuses completely: he insists that sacking Eva was his duty as an employer, and argues that if everyone were responsible for everyone else life would be impossible. Because the audience has just heard him be wrong about the Titanic and the war, dramatic irony makes his logic sound hollow. In 1945, with a Labour government about to build a welfare state on exactly the idea Birling mocks, Priestley's audience would hear in him the voice of the past..
Core — reveal the hint only on request: Your argument is the split at the end of the play; your first paragraph shows the split already present at the start. Gerald is your complication: young in years, old in attitude.
Stretch — no help; when finished: Write a conclusion that judges: does Priestley believe the young will build a better Britain, or does the final telephone call warn that they too may fail? Use Gerald's offer of the ring and Sheila's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generations essay.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the differences between the older and younger generations in An Inspector Calls? Write your introduction and your first paragraph.
Support — work through the steps with the group: (1) Introduction: write two sentences, one saying what the older generation represents and one saying what the younger generation represents. (2) Paragraph 1: choose a moment from the dinner table that shows the gap, such as Birling's lecture beside Eric's questions. (3) Method: name the contrast and one stage direction, and say what each suggests. (4) Link: say what a 1945 audience, deciding the country's future, would make of it.
Parallel worked example for Support (model it, do not give the task answer): Practice question (a different theme): how does Priestley present the theme of responsibility? Write your introduction and first paragraph. Argument: responsibility is the play's test; the Inspector asks who accepts it, and the answer divides the family.; Moment: Birling's refusal to accept any blame for sacking Eva.; Method: his argument that responsibility for everyone would be impossibly awkward is a capitalist's logic, undercut by the dramatic irony of his earlier predictions.; Context: 1945 audiences building a welfare state were choosing shared responsibility.. Answer: Priestley presents responsibility as the test every character must face and most fail. The Inspector asks who is responsible for Eva Smith, and the answers divide the family into those who accept blame and those who refuse it. At the outset Mr Birling refuses completely: he insists that sacking Eva was his duty as an employer, and argues that if everyone were responsible for everyone else life would be impossible. Because the audience has just heard him be wrong about the Titanic and the war, dramatic irony makes his logic sound hollow. In 1945, with a Labour government about to build a welfare state on exactly the idea Birling mocks, Priestley's audience would hear in him the voice of the past..
Core — reveal the hint only on request: Your argument is the split at the end of the play; your first paragraph shows the split already present at the start. Gerald is your complication: young in years, old in attitude.
Stretch — no help; when finished: Write a conclusion that judges: does Priestley believe the young will build a better Britain, or does the final telephone call warn that they too may fail? Use Gerald's offer of the ring and Sheila's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assessment objective rewards analysis of Priestley's methods, such as dramatic irony, stage directions and structure?
Answer: C   AO2. AO2 is analysis of language, form and structure, using subject terminology. Methods are AO2; context is AO3; argument and evidence are AO1; accuracy is AO4.
Source of this question: gate item 1 re-asked (options rotated) — this chapter has no third quick-check module.
The ebook also holds task 3, "Weaving context in",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Plan in the right order. Reveal the answer; pupils mark their own work in a different colour, then read the "why" together. Same destination for every lane, so one answer serves the whole class.
Answer: Introduction: your argument, a sentence of context, and what the character or theme symbolises  (A); Paragraph 1: a key moment from the outset of the play  (E); Paragraph 2: a key moment from the middle, as the play progresses  (D); Paragraph 3: a key moment from towards the play's resolution  (C); Conclusion: summarise your argument and answer the question directly  (B)
Why: The plan moves through the play in order and ends with Priestley's purpose, so that every paragraph serves one argument.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generations essay. Reveal the answer; pupils mark their own work in a different colour, then read the "why" together. Same destination for every lane, so one answer serves the whole class.
Answer: AO1: an introduction with a clear argument about the two generations and what each represents; AO1: precise references to moments from the play (in the exam, short embedded quotations from memory); AO2: analysis of methods such as contrast, structure, stage directions or dramatic irony, using the right terms; AO3: context woven in, for example the 1945 audience's choice about the future, or the class system of 1912; AO4: accurate spelling, punctuation and grammar
Why: Top answers make one argument in the introduction and prove it from the opening of the play before moving on. Context should explain why a method matters, as the 1945 audience's choice does in the model.
Model answer: Priestley presents the older and younger generations as two possible futures for Britain. Mr and Mrs Birling, with Gerald alongside them in spirit, stand for a class that will not learn; Sheila and Eric stand for a generation that can. Writing in 1945 for an audience about to rebuild the country, Priestley uses the split to ask which future they will choose. At the outset of the play the gap is already visible at the dinner table. Mr Birling lectures the young men that a man's only duty is to himself and his own family, while Eric, uneasy and already drinking too much, asks the questions his father will not hear, such as why the workers should not ask for more. The stage directions mark Eric out from the first moment as the one person not at ease, and Priestley's method is contrast: a father certain of everything beside a son sure of nothing. For a 1945 audience, Birling's certainty would recall the leaders whose confidence had led to two wars, and Priestley's purpose is to make them distrust the older voice before the Inspector has even arrived.
Success criteria: AO1: an introduction with a clear argument about the two generations and what each represents; AO1: precise references to moments from the play (in the exam, short embedded quotations from memory); AO2: analysis of methods such as contrast, structure, stage directions or dramatic irony, using the right terms; AO3: context woven in, for example the 1945 audience's choice about the future, or the class system of 1912; AO4: accurate spelling, punctuation and grammar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generations essay. Reveal the answer; pupils mark their own work in a different colour, then read the "why" together. Same destination for every lane, so one answer serves the whole class.
Answer: AO1: an introduction with a clear argument about the two generations and what each represents; AO1: precise references to moments from the play (in the exam, short embedded quotations from memory); AO2: analysis of methods such as contrast, structure, stage directions or dramatic irony, using the right terms; AO3: context woven in, for example the 1945 audience's choice about the future, or the class system of 1912; AO4: accurate spelling, punctuation and grammar
Why: Top answers make one argument in the introduction and prove it from the opening of the play before moving on. Context should explain why a method matters, as the 1945 audience's choice does in the model.
Model answer: Priestley presents the older and younger generations as two possible futures for Britain. Mr and Mrs Birling, with Gerald alongside them in spirit, stand for a class that will not learn; Sheila and Eric stand for a generation that can. Writing in 1945 for an audience about to rebuild the country, Priestley uses the split to ask which future they will choose. At the outset of the play the gap is already visible at the dinner table. Mr Birling lectures the young men that a man's only duty is to himself and his own family, while Eric, uneasy and already drinking too much, asks the questions his father will not hear, such as why the workers should not ask for more. The stage directions mark Eric out from the first moment as the one person not at ease, and Priestley's method is contrast: a father certain of everything beside a son sure of nothing. For a 1945 audience, Birling's certainty would recall the leaders whose confidence had led to two wars, and Priestley's purpose is to make them distrust the older voice before the Inspector has even arrived.
Success criteria: AO1: an introduction with a clear argument about the two generations and what each represents; AO1: precise references to moments from the play (in the exam, short embedded quotations from memory); AO2: analysis of methods such as contrast, structure, stage directions or dramatic irony, using the right terms; AO3: context woven in, for example the 1945 audience's choice about the future, or the class system of 1912; AO4: accurate spelling, punctuation and grammar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AO2
Why: AO2 is analysis of language, form and structure, using subject terminology. Methods are AO2; context is AO3; argument and evidence are AO1; accuracy is AO4.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An Inspector Calls · AQA 8702</a:t>
            </a:r>
            <a:endParaRPr lang="en-US" sz="1800" dirty="0"/>
          </a:p>
        </p:txBody>
      </p:sp>
      <p:sp>
        <p:nvSpPr>
          <p:cNvPr id="10" name="deck-title"/>
          <p:cNvSpPr txBox="1"/>
          <p:nvPr/>
        </p:nvSpPr>
        <p:spPr>
          <a:xfrm>
            <a:off x="548640" y="1604518"/>
            <a:ext cx="5287975" cy="58928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Themes and the exam essay</a:t>
            </a:r>
            <a:endParaRPr lang="en-US" sz="2800" dirty="0"/>
          </a:p>
        </p:txBody>
      </p:sp>
      <p:sp>
        <p:nvSpPr>
          <p:cNvPr id="11" name="lessons-card"/>
          <p:cNvSpPr/>
          <p:nvPr/>
        </p:nvSpPr>
        <p:spPr>
          <a:xfrm>
            <a:off x="548640" y="2422398"/>
            <a:ext cx="5287975" cy="3416300"/>
          </a:xfrm>
          <a:prstGeom prst="roundRect">
            <a:avLst>
              <a:gd name="adj" fmla="val 2141"/>
            </a:avLst>
          </a:prstGeom>
          <a:solidFill>
            <a:srgbClr val="EAE5EE"/>
          </a:solidFill>
          <a:ln/>
        </p:spPr>
      </p:sp>
      <p:sp>
        <p:nvSpPr>
          <p:cNvPr id="12" name="lessons"/>
          <p:cNvSpPr txBox="1"/>
          <p:nvPr/>
        </p:nvSpPr>
        <p:spPr>
          <a:xfrm>
            <a:off x="685800" y="2513838"/>
            <a:ext cx="5013655" cy="3233420"/>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Character profiles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Essay preparation: sympathy and dislike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Essay: the significance of Mr Birling</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Revising Gerald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Gender</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Gender: the full essay</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Relationships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Older and younger generations: marking activity</a:t>
            </a:r>
            <a:endParaRPr lang="en-US" sz="18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Priestley use the Birling family and the Inspector to make his 1945 audience accept that we are all responsible for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assessment objective rewards analysis of Priestley's methods, such as dramatic irony, stage directions and structure?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AO4</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AO1</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AO3</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AO2</a:t>
            </a:r>
            <a:endParaRPr lang="en-US" sz="18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How many marks is the An Inspector Calls question worth, not counting the 4 marks for spelling, punctuation and grammar?</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marks</a:t>
            </a:r>
            <a:endParaRPr lang="en-US" sz="22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Unlike the Shakespeare question in Paper 1, the Paper 2 question on An Inspector Calls gives you no ___ from the play to read in the exam.</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extract  ·  question  ·  mark scheme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AO2</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AO2 is analysis of language, form and structure, using subject terminology. Methods are AO2; context is AO3; argument and evidence are AO1; accuracy is AO4.</a:t>
            </a:r>
            <a:endParaRPr lang="en-US" sz="18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30 marks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How many marks is the An Inspector Calls question worth, not counting the 4 marks for spelling, punctuation and grammar?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30 marks for your response, plus 4 for AO4, makes 34 marks for Section A of Paper 2.</a:t>
            </a:r>
            <a:endParaRPr lang="en-US" sz="18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extract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Paper 2 Section A is closed book with no printed extract. You must know your quotations by heart, which is why your lessons build flashcards for every character.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68477"/>
          </a:xfrm>
          <a:prstGeom prst="roundRect">
            <a:avLst>
              <a:gd name="adj" fmla="val 6317"/>
            </a:avLst>
          </a:prstGeom>
          <a:solidFill>
            <a:srgbClr val="EDE9F0"/>
          </a:solidFill>
          <a:ln/>
        </p:spPr>
      </p:sp>
      <p:sp>
        <p:nvSpPr>
          <p:cNvPr id="12" name="kw-hex"/>
          <p:cNvSpPr/>
          <p:nvPr/>
        </p:nvSpPr>
        <p:spPr>
          <a:xfrm>
            <a:off x="658368" y="2176308"/>
            <a:ext cx="411480" cy="356342"/>
          </a:xfrm>
          <a:prstGeom prst="hexagon">
            <a:avLst/>
          </a:prstGeom>
          <a:solidFill>
            <a:srgbClr val="5B3A7A"/>
          </a:solidFill>
          <a:ln/>
        </p:spPr>
      </p:sp>
      <p:sp>
        <p:nvSpPr>
          <p:cNvPr id="13" name="kw-cell"/>
          <p:cNvSpPr txBox="1"/>
          <p:nvPr/>
        </p:nvSpPr>
        <p:spPr>
          <a:xfrm>
            <a:off x="1143000" y="1920240"/>
            <a:ext cx="2331720" cy="868477"/>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assessment objective</a:t>
            </a:r>
            <a:endParaRPr lang="en-US" sz="2000" dirty="0"/>
          </a:p>
        </p:txBody>
      </p:sp>
      <p:sp>
        <p:nvSpPr>
          <p:cNvPr id="14" name="kw-cell"/>
          <p:cNvSpPr txBox="1"/>
          <p:nvPr/>
        </p:nvSpPr>
        <p:spPr>
          <a:xfrm>
            <a:off x="3657600" y="1920240"/>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four things the examiner gives marks for</a:t>
            </a:r>
            <a:endParaRPr lang="en-US" sz="1800" dirty="0"/>
          </a:p>
        </p:txBody>
      </p:sp>
      <p:sp>
        <p:nvSpPr>
          <p:cNvPr id="15" name="kw-cell"/>
          <p:cNvSpPr txBox="1"/>
          <p:nvPr/>
        </p:nvSpPr>
        <p:spPr>
          <a:xfrm>
            <a:off x="7315200" y="1920240"/>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Each assessment objective rewards a different skill, from argument to spelling.</a:t>
            </a:r>
            <a:endParaRPr lang="en-US" sz="1800" dirty="0"/>
          </a:p>
        </p:txBody>
      </p:sp>
      <p:sp>
        <p:nvSpPr>
          <p:cNvPr id="16" name="kw-row"/>
          <p:cNvSpPr/>
          <p:nvPr/>
        </p:nvSpPr>
        <p:spPr>
          <a:xfrm>
            <a:off x="548640" y="2861869"/>
            <a:ext cx="11094415" cy="765861"/>
          </a:xfrm>
          <a:prstGeom prst="roundRect">
            <a:avLst>
              <a:gd name="adj" fmla="val 7164"/>
            </a:avLst>
          </a:prstGeom>
          <a:solidFill>
            <a:srgbClr val="F4EDDF"/>
          </a:solidFill>
          <a:ln/>
        </p:spPr>
      </p:sp>
      <p:sp>
        <p:nvSpPr>
          <p:cNvPr id="17" name="kw-hex"/>
          <p:cNvSpPr/>
          <p:nvPr/>
        </p:nvSpPr>
        <p:spPr>
          <a:xfrm>
            <a:off x="658368" y="3066628"/>
            <a:ext cx="411480" cy="356342"/>
          </a:xfrm>
          <a:prstGeom prst="hexagon">
            <a:avLst/>
          </a:prstGeom>
          <a:solidFill>
            <a:srgbClr val="B8862B"/>
          </a:solidFill>
          <a:ln/>
        </p:spPr>
      </p:sp>
      <p:sp>
        <p:nvSpPr>
          <p:cNvPr id="18" name="kw-cell"/>
          <p:cNvSpPr txBox="1"/>
          <p:nvPr/>
        </p:nvSpPr>
        <p:spPr>
          <a:xfrm>
            <a:off x="1143000" y="2861869"/>
            <a:ext cx="2331720" cy="76586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PEIRL</a:t>
            </a:r>
            <a:endParaRPr lang="en-US" sz="2000" dirty="0"/>
          </a:p>
        </p:txBody>
      </p:sp>
      <p:sp>
        <p:nvSpPr>
          <p:cNvPr id="19" name="kw-cell"/>
          <p:cNvSpPr txBox="1"/>
          <p:nvPr/>
        </p:nvSpPr>
        <p:spPr>
          <a:xfrm>
            <a:off x="3657600" y="2861869"/>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Evidence, Inference, Reader, Link</a:t>
            </a:r>
            <a:endParaRPr lang="en-US" sz="1800" dirty="0"/>
          </a:p>
        </p:txBody>
      </p:sp>
      <p:sp>
        <p:nvSpPr>
          <p:cNvPr id="20" name="kw-cell"/>
          <p:cNvSpPr txBox="1"/>
          <p:nvPr/>
        </p:nvSpPr>
        <p:spPr>
          <a:xfrm>
            <a:off x="7315200" y="2861869"/>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PEIRL paragraph always ends by linking to Priestley's purpose.</a:t>
            </a:r>
            <a:endParaRPr lang="en-US" sz="1800" dirty="0"/>
          </a:p>
        </p:txBody>
      </p:sp>
      <p:sp>
        <p:nvSpPr>
          <p:cNvPr id="21" name="kw-row"/>
          <p:cNvSpPr/>
          <p:nvPr/>
        </p:nvSpPr>
        <p:spPr>
          <a:xfrm>
            <a:off x="548640" y="3700882"/>
            <a:ext cx="11094415" cy="765861"/>
          </a:xfrm>
          <a:prstGeom prst="roundRect">
            <a:avLst>
              <a:gd name="adj" fmla="val 7164"/>
            </a:avLst>
          </a:prstGeom>
          <a:solidFill>
            <a:srgbClr val="EDE9F0"/>
          </a:solidFill>
          <a:ln/>
        </p:spPr>
      </p:sp>
      <p:sp>
        <p:nvSpPr>
          <p:cNvPr id="22" name="kw-hex"/>
          <p:cNvSpPr/>
          <p:nvPr/>
        </p:nvSpPr>
        <p:spPr>
          <a:xfrm>
            <a:off x="658368" y="3905641"/>
            <a:ext cx="411480" cy="356342"/>
          </a:xfrm>
          <a:prstGeom prst="hexagon">
            <a:avLst/>
          </a:prstGeom>
          <a:solidFill>
            <a:srgbClr val="5B3A7A"/>
          </a:solidFill>
          <a:ln/>
        </p:spPr>
      </p:sp>
      <p:sp>
        <p:nvSpPr>
          <p:cNvPr id="23" name="kw-cell"/>
          <p:cNvSpPr txBox="1"/>
          <p:nvPr/>
        </p:nvSpPr>
        <p:spPr>
          <a:xfrm>
            <a:off x="1143000" y="3700882"/>
            <a:ext cx="2331720" cy="76586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topic sentence</a:t>
            </a:r>
            <a:endParaRPr lang="en-US" sz="2000" dirty="0"/>
          </a:p>
        </p:txBody>
      </p:sp>
      <p:sp>
        <p:nvSpPr>
          <p:cNvPr id="24" name="kw-cell"/>
          <p:cNvSpPr txBox="1"/>
          <p:nvPr/>
        </p:nvSpPr>
        <p:spPr>
          <a:xfrm>
            <a:off x="3657600" y="3700882"/>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first sentence of a paragraph, which states its point</a:t>
            </a:r>
            <a:endParaRPr lang="en-US" sz="1800" dirty="0"/>
          </a:p>
        </p:txBody>
      </p:sp>
      <p:sp>
        <p:nvSpPr>
          <p:cNvPr id="25" name="kw-cell"/>
          <p:cNvSpPr txBox="1"/>
          <p:nvPr/>
        </p:nvSpPr>
        <p:spPr>
          <a:xfrm>
            <a:off x="7315200" y="3700882"/>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topic sentence names the character and the stage of the play.</a:t>
            </a:r>
            <a:endParaRPr lang="en-US" sz="1800" dirty="0"/>
          </a:p>
        </p:txBody>
      </p:sp>
      <p:sp>
        <p:nvSpPr>
          <p:cNvPr id="26" name="kw-row"/>
          <p:cNvSpPr/>
          <p:nvPr/>
        </p:nvSpPr>
        <p:spPr>
          <a:xfrm>
            <a:off x="548640" y="4539894"/>
            <a:ext cx="11094415" cy="765861"/>
          </a:xfrm>
          <a:prstGeom prst="roundRect">
            <a:avLst>
              <a:gd name="adj" fmla="val 7164"/>
            </a:avLst>
          </a:prstGeom>
          <a:solidFill>
            <a:srgbClr val="F4EDDF"/>
          </a:solidFill>
          <a:ln/>
        </p:spPr>
      </p:sp>
      <p:sp>
        <p:nvSpPr>
          <p:cNvPr id="27" name="kw-hex"/>
          <p:cNvSpPr/>
          <p:nvPr/>
        </p:nvSpPr>
        <p:spPr>
          <a:xfrm>
            <a:off x="658368" y="4744654"/>
            <a:ext cx="411480" cy="356342"/>
          </a:xfrm>
          <a:prstGeom prst="hexagon">
            <a:avLst/>
          </a:prstGeom>
          <a:solidFill>
            <a:srgbClr val="B8862B"/>
          </a:solidFill>
          <a:ln/>
        </p:spPr>
      </p:sp>
      <p:sp>
        <p:nvSpPr>
          <p:cNvPr id="28" name="kw-cell"/>
          <p:cNvSpPr txBox="1"/>
          <p:nvPr/>
        </p:nvSpPr>
        <p:spPr>
          <a:xfrm>
            <a:off x="1143000" y="4539894"/>
            <a:ext cx="2331720" cy="76586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theme</a:t>
            </a:r>
            <a:endParaRPr lang="en-US" sz="2000" dirty="0"/>
          </a:p>
        </p:txBody>
      </p:sp>
      <p:sp>
        <p:nvSpPr>
          <p:cNvPr id="29" name="kw-cell"/>
          <p:cNvSpPr txBox="1"/>
          <p:nvPr/>
        </p:nvSpPr>
        <p:spPr>
          <a:xfrm>
            <a:off x="3657600" y="4539894"/>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big idea that runs through the whole play</a:t>
            </a:r>
            <a:endParaRPr lang="en-US" sz="1800" dirty="0"/>
          </a:p>
        </p:txBody>
      </p:sp>
      <p:sp>
        <p:nvSpPr>
          <p:cNvPr id="30" name="kw-cell"/>
          <p:cNvSpPr txBox="1"/>
          <p:nvPr/>
        </p:nvSpPr>
        <p:spPr>
          <a:xfrm>
            <a:off x="7315200" y="4539894"/>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Responsibility is the theme that holds every other theme together.</a:t>
            </a:r>
            <a:endParaRPr lang="en-US" sz="1800" dirty="0"/>
          </a:p>
        </p:txBody>
      </p:sp>
      <p:sp>
        <p:nvSpPr>
          <p:cNvPr id="31" name="kw-row"/>
          <p:cNvSpPr/>
          <p:nvPr/>
        </p:nvSpPr>
        <p:spPr>
          <a:xfrm>
            <a:off x="548640" y="5378907"/>
            <a:ext cx="11094415" cy="765861"/>
          </a:xfrm>
          <a:prstGeom prst="roundRect">
            <a:avLst>
              <a:gd name="adj" fmla="val 7164"/>
            </a:avLst>
          </a:prstGeom>
          <a:solidFill>
            <a:srgbClr val="EDE9F0"/>
          </a:solidFill>
          <a:ln/>
        </p:spPr>
      </p:sp>
      <p:sp>
        <p:nvSpPr>
          <p:cNvPr id="32" name="kw-hex"/>
          <p:cNvSpPr/>
          <p:nvPr/>
        </p:nvSpPr>
        <p:spPr>
          <a:xfrm>
            <a:off x="658368" y="5583667"/>
            <a:ext cx="411480" cy="356342"/>
          </a:xfrm>
          <a:prstGeom prst="hexagon">
            <a:avLst/>
          </a:prstGeom>
          <a:solidFill>
            <a:srgbClr val="5B3A7A"/>
          </a:solidFill>
          <a:ln/>
        </p:spPr>
      </p:sp>
      <p:sp>
        <p:nvSpPr>
          <p:cNvPr id="33" name="kw-cell"/>
          <p:cNvSpPr txBox="1"/>
          <p:nvPr/>
        </p:nvSpPr>
        <p:spPr>
          <a:xfrm>
            <a:off x="1143000" y="5378907"/>
            <a:ext cx="2331720" cy="765861"/>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generation</a:t>
            </a:r>
            <a:endParaRPr lang="en-US" sz="2000" dirty="0"/>
          </a:p>
        </p:txBody>
      </p:sp>
      <p:sp>
        <p:nvSpPr>
          <p:cNvPr id="34" name="kw-cell"/>
          <p:cNvSpPr txBox="1"/>
          <p:nvPr/>
        </p:nvSpPr>
        <p:spPr>
          <a:xfrm>
            <a:off x="3657600" y="5378907"/>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people born at about the same time</a:t>
            </a:r>
            <a:endParaRPr lang="en-US" sz="1800" dirty="0"/>
          </a:p>
        </p:txBody>
      </p:sp>
      <p:sp>
        <p:nvSpPr>
          <p:cNvPr id="35" name="kw-cell"/>
          <p:cNvSpPr txBox="1"/>
          <p:nvPr/>
        </p:nvSpPr>
        <p:spPr>
          <a:xfrm>
            <a:off x="7315200" y="5378907"/>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older generation refuses to change and the younger generation begins to.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exam question on An Inspector Calls is in Paper 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will not have the play with you.</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is no extract to read.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choose one question from two.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answer is worth 30 marks, with 4 more for spelling and grammar.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should spend about 45 minutes on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Plan first: an introduction, three key moments and a conclusion.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paragraph follows </a:t>
            </a:r>
            <a:pPr algn="l" indent="0" marL="0">
              <a:spcAft>
                <a:spcPts val="600"/>
              </a:spcAft>
              <a:buNone/>
            </a:pPr>
            <a:r>
              <a:rPr lang="en-US" sz="2400" b="1" dirty="0">
                <a:solidFill>
                  <a:srgbClr val="5B3A7A"/>
                </a:solidFill>
                <a:latin typeface="Calibri" pitchFamily="34" charset="0"/>
                <a:ea typeface="Calibri" pitchFamily="34" charset="-122"/>
                <a:cs typeface="Calibri" pitchFamily="34" charset="-120"/>
              </a:rPr>
              <a:t>PEIRL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Point, Evidence, Inference, Reader, Link.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big </a:t>
            </a:r>
            <a:pPr algn="l" indent="0" marL="0">
              <a:spcAft>
                <a:spcPts val="600"/>
              </a:spcAft>
              <a:buNone/>
            </a:pPr>
            <a:r>
              <a:rPr lang="en-US" sz="2400" b="1" dirty="0">
                <a:solidFill>
                  <a:srgbClr val="5B3A7A"/>
                </a:solidFill>
                <a:latin typeface="Calibri" pitchFamily="34" charset="0"/>
                <a:ea typeface="Calibri" pitchFamily="34" charset="-122"/>
                <a:cs typeface="Calibri" pitchFamily="34" charset="-120"/>
              </a:rPr>
              <a:t>themes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responsibility, class, gender and the </a:t>
            </a:r>
            <a:pPr algn="l" indent="0" marL="0">
              <a:spcAft>
                <a:spcPts val="600"/>
              </a:spcAft>
              <a:buNone/>
            </a:pPr>
            <a:r>
              <a:rPr lang="en-US" sz="2400" b="1" dirty="0">
                <a:solidFill>
                  <a:srgbClr val="5B3A7A"/>
                </a:solidFill>
                <a:latin typeface="Calibri" pitchFamily="34" charset="0"/>
                <a:ea typeface="Calibri" pitchFamily="34" charset="-122"/>
                <a:cs typeface="Calibri" pitchFamily="34" charset="-120"/>
              </a:rPr>
              <a:t>generations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older Birlings do not change; the younger ones do.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Learn short quotations for each character and each </a:t>
            </a:r>
            <a:pPr algn="l" indent="0" marL="0">
              <a:spcAft>
                <a:spcPts val="600"/>
              </a:spcAft>
              <a:buNone/>
            </a:pPr>
            <a:r>
              <a:rPr lang="en-US" sz="2400" b="1" dirty="0">
                <a:solidFill>
                  <a:srgbClr val="5B3A7A"/>
                </a:solidFill>
                <a:latin typeface="Calibri" pitchFamily="34" charset="0"/>
                <a:ea typeface="Calibri" pitchFamily="34" charset="-122"/>
                <a:cs typeface="Calibri" pitchFamily="34" charset="-120"/>
              </a:rPr>
              <a:t>theme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Finish every paragraph by linking to Priestley's purpose.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What the question is asking for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Twenty-two words a minute is plenty. In 45 minutes, a plan plus an introduction, three paragraphs and a conclusion will fill about two sides.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An Inspector Calls is examined in Paper 2 Section A, Modern texts.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Four assessment objectives are marked. AO1: you answer the question with a clear argument and support it with precise references and quotations.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reminder from chapter 1. This book cannot print Priestley's words because the play is still in copyright, so its model answers describe moments rather than quote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Planning: five parts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Plan in the margin with five lines: argument, beginning, middle, end, conclusion. Write one quotation beside each of the three middle lines before you start.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give you a five-part plan. The introduction states your argument, gives a sentence of context, and says what the character or theme symbolises.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Mr Birling essay in your lessons shows how the plan fills up.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PEIRL paragraph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Test your Link sentence: if you could paste it into any essay on the play, it is not doing its job. Tie it to the word you have just analysed.</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Point: make a claim that answers the question, using the stage of the play in your topic sentence.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What / How / Why version is the same shape in three moves: what Priestley suggests, how he does it, and why he chose that method for that audience.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themes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any theme, use the same three-moment plan: how it looks at the dinner table, how the Inspector exposes it, and where it stands when the telephone rings.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Responsibility is the theme that contains the others: who is responsible for Eva, and who accepts it?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Relationships give you a second way in: the engagement built on show, the parents who do not look at their children, the marriage in which the wife outranks the husband.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Plan in the right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five parts of an essay on the significance of Mr Birling in the order you would write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Introduction: your argument, a sentence of context, and what the character or theme symbolises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Conclusion: summarise your argument and answer the question directly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Paragraph 3: a key moment from towards the play's resolution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Paragraph 2: a key moment from the middle, as the play progresses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Paragraph 1: a key moment from the outset of the play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Same task, three ways in: Plan in the right order</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five parts of an essay on the significance of Mr Birling in the order you would write them.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essay opens with your argument and closes with your conclusion.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three middle paragraphs follow the play's own order: beginning, middle, end.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your topic sentences: at the outset, as the play progresses, towards the resolution.</a:t>
            </a:r>
            <a:endParaRPr lang="en-US" sz="1800" dirty="0"/>
          </a:p>
        </p:txBody>
      </p:sp>
      <p:sp>
        <p:nvSpPr>
          <p:cNvPr id="17" name="col-Core"/>
          <p:cNvSpPr/>
          <p:nvPr/>
        </p:nvSpPr>
        <p:spPr>
          <a:xfrm>
            <a:off x="5490762" y="2593848"/>
            <a:ext cx="2938987" cy="3550920"/>
          </a:xfrm>
          <a:prstGeom prst="roundRect">
            <a:avLst>
              <a:gd name="adj" fmla="val 1867"/>
            </a:avLst>
          </a:prstGeom>
          <a:solidFill>
            <a:srgbClr val="D6CED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plan follows the play. Think of the three acts as your three middle paragraphs.</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5B3A7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If the question were about Eva Smith, who never appears, how would you choose your three key moments? Rewrite the three middle lines for that case.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generations essay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Priestley present the differences between the older and younger generations in An Inspector Calls? Write your introduction and your first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30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(1 of 2): The generations essay</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present the differences between the older and younger generations in An Inspector Calls? Write your introduction and your first paragraph.</a:t>
            </a:r>
            <a:endParaRPr lang="en-US" sz="2000" dirty="0"/>
          </a:p>
        </p:txBody>
      </p:sp>
      <p:sp>
        <p:nvSpPr>
          <p:cNvPr id="12" name="col-Support"/>
          <p:cNvSpPr/>
          <p:nvPr/>
        </p:nvSpPr>
        <p:spPr>
          <a:xfrm>
            <a:off x="548640" y="2903728"/>
            <a:ext cx="11094415" cy="3241040"/>
          </a:xfrm>
          <a:prstGeom prst="roundRect">
            <a:avLst>
              <a:gd name="adj" fmla="val 1693"/>
            </a:avLst>
          </a:prstGeom>
          <a:solidFill>
            <a:srgbClr val="EAE5EE"/>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10820095" cy="249123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Introduction: write two sentences, one saying what the older generation represents and one saying what the younger generation represents.</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Paragraph 1: choose a moment from the dinner table that shows the gap, such as Birling's lecture beside Eric's questions.</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Method: name the contrast and one stage direction, and say what each suggests.</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Link: say what a 1945 audience, deciding the country's future, would make of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(2 of 2): The generations essay</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present the differences between the older and younger generations in An Inspector Calls? Write your introduction and your first paragraph.</a:t>
            </a:r>
            <a:endParaRPr lang="en-US" sz="2000" dirty="0"/>
          </a:p>
        </p:txBody>
      </p:sp>
      <p:sp>
        <p:nvSpPr>
          <p:cNvPr id="12" name="col-Core"/>
          <p:cNvSpPr/>
          <p:nvPr/>
        </p:nvSpPr>
        <p:spPr>
          <a:xfrm>
            <a:off x="548640" y="2903728"/>
            <a:ext cx="5410048" cy="3241040"/>
          </a:xfrm>
          <a:prstGeom prst="roundRect">
            <a:avLst>
              <a:gd name="adj" fmla="val 1693"/>
            </a:avLst>
          </a:prstGeom>
          <a:solidFill>
            <a:srgbClr val="D6CEDE"/>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Your argument is the split at the end of the play; your first paragraph shows the split already present at the start. Gerald is your complication: young in years, old in attitude.</a:t>
            </a:r>
            <a:endParaRPr lang="en-US" sz="2200" dirty="0"/>
          </a:p>
        </p:txBody>
      </p:sp>
      <p:sp>
        <p:nvSpPr>
          <p:cNvPr id="17" name="col-Stretch"/>
          <p:cNvSpPr/>
          <p:nvPr/>
        </p:nvSpPr>
        <p:spPr>
          <a:xfrm>
            <a:off x="6233008" y="2903728"/>
            <a:ext cx="5410048" cy="3241040"/>
          </a:xfrm>
          <a:prstGeom prst="roundRect">
            <a:avLst>
              <a:gd name="adj" fmla="val 1693"/>
            </a:avLst>
          </a:prstGeom>
          <a:solidFill>
            <a:srgbClr val="5B3A7A"/>
          </a:solidFill>
          <a:ln/>
        </p:spPr>
      </p:sp>
      <p:sp>
        <p:nvSpPr>
          <p:cNvPr id="18" name="col-hex"/>
          <p:cNvSpPr/>
          <p:nvPr/>
        </p:nvSpPr>
        <p:spPr>
          <a:xfrm>
            <a:off x="634273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94030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543808"/>
            <a:ext cx="5135728" cy="249123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Write a conclusion that judges: does Priestley believe the young will build a better Britain, or does the final telephone call warn that they too may fail? Use Gerald's offer of the ring and Sheila's answer.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assessment objective rewards analysis of Priestley's methods, such as dramatic irony, stage directions and structure?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AO1</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AO3</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AO2</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AO4</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Plan in the right order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Introduction: your argument, a sentence of context, and what the character or theme symbolises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Paragraph 1: a key moment from the outset of the play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Paragraph 2: a key moment from the middle, as the play progresses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Paragraph 3: a key moment from towards the play's resolution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Conclusion: summarise your argument and answer the question directly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plan moves through the play in order and ends with Priestley's purpose, so that every paragraph serves one argument.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generations essay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808838"/>
          </a:xfrm>
          <a:prstGeom prst="roundRect">
            <a:avLst>
              <a:gd name="adj" fmla="val 11305"/>
            </a:avLst>
          </a:prstGeom>
          <a:solidFill>
            <a:srgbClr val="EDE9F0"/>
          </a:solidFill>
          <a:ln/>
        </p:spPr>
      </p:sp>
      <p:sp>
        <p:nvSpPr>
          <p:cNvPr id="9" name="tickbox"/>
          <p:cNvSpPr/>
          <p:nvPr/>
        </p:nvSpPr>
        <p:spPr>
          <a:xfrm>
            <a:off x="713232" y="2242363"/>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an introduction with a clear argument about the two generations and what each represents</a:t>
            </a:r>
            <a:endParaRPr lang="en-US" sz="2200" dirty="0"/>
          </a:p>
        </p:txBody>
      </p:sp>
      <p:sp>
        <p:nvSpPr>
          <p:cNvPr id="11" name="crit-box"/>
          <p:cNvSpPr/>
          <p:nvPr/>
        </p:nvSpPr>
        <p:spPr>
          <a:xfrm>
            <a:off x="548640" y="2884526"/>
            <a:ext cx="11094415" cy="808838"/>
          </a:xfrm>
          <a:prstGeom prst="roundRect">
            <a:avLst>
              <a:gd name="adj" fmla="val 11305"/>
            </a:avLst>
          </a:prstGeom>
          <a:solidFill>
            <a:srgbClr val="EDE9F0"/>
          </a:solidFill>
          <a:ln/>
        </p:spPr>
      </p:sp>
      <p:sp>
        <p:nvSpPr>
          <p:cNvPr id="12" name="tickbox"/>
          <p:cNvSpPr/>
          <p:nvPr/>
        </p:nvSpPr>
        <p:spPr>
          <a:xfrm>
            <a:off x="713232" y="3142640"/>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884526"/>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precise references to moments from the play (in the exam, short embedded quotations from memory)</a:t>
            </a:r>
            <a:endParaRPr lang="en-US" sz="2200" dirty="0"/>
          </a:p>
        </p:txBody>
      </p:sp>
      <p:sp>
        <p:nvSpPr>
          <p:cNvPr id="14" name="crit-box"/>
          <p:cNvSpPr/>
          <p:nvPr/>
        </p:nvSpPr>
        <p:spPr>
          <a:xfrm>
            <a:off x="548640" y="3784803"/>
            <a:ext cx="11094415" cy="808838"/>
          </a:xfrm>
          <a:prstGeom prst="roundRect">
            <a:avLst>
              <a:gd name="adj" fmla="val 11305"/>
            </a:avLst>
          </a:prstGeom>
          <a:solidFill>
            <a:srgbClr val="EDE9F0"/>
          </a:solidFill>
          <a:ln/>
        </p:spPr>
      </p:sp>
      <p:sp>
        <p:nvSpPr>
          <p:cNvPr id="15" name="tickbox"/>
          <p:cNvSpPr/>
          <p:nvPr/>
        </p:nvSpPr>
        <p:spPr>
          <a:xfrm>
            <a:off x="713232" y="4042918"/>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784803"/>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AO2: analysis of methods such as contrast, structure, stage directions or dramatic irony, using the right terms</a:t>
            </a:r>
            <a:endParaRPr lang="en-US" sz="2200" dirty="0"/>
          </a:p>
        </p:txBody>
      </p:sp>
      <p:sp>
        <p:nvSpPr>
          <p:cNvPr id="17" name="crit-box"/>
          <p:cNvSpPr/>
          <p:nvPr/>
        </p:nvSpPr>
        <p:spPr>
          <a:xfrm>
            <a:off x="548640" y="4685081"/>
            <a:ext cx="11094415" cy="808838"/>
          </a:xfrm>
          <a:prstGeom prst="roundRect">
            <a:avLst>
              <a:gd name="adj" fmla="val 11305"/>
            </a:avLst>
          </a:prstGeom>
          <a:solidFill>
            <a:srgbClr val="EDE9F0"/>
          </a:solidFill>
          <a:ln/>
        </p:spPr>
      </p:sp>
      <p:sp>
        <p:nvSpPr>
          <p:cNvPr id="18" name="tickbox"/>
          <p:cNvSpPr/>
          <p:nvPr/>
        </p:nvSpPr>
        <p:spPr>
          <a:xfrm>
            <a:off x="713232" y="4943196"/>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685081"/>
            <a:ext cx="10317175"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context woven in, for example the 1945 audience's choice about the future, or the class system of 1912</a:t>
            </a:r>
            <a:endParaRPr lang="en-US" sz="2200" dirty="0"/>
          </a:p>
        </p:txBody>
      </p:sp>
      <p:sp>
        <p:nvSpPr>
          <p:cNvPr id="20" name="crit-box"/>
          <p:cNvSpPr/>
          <p:nvPr/>
        </p:nvSpPr>
        <p:spPr>
          <a:xfrm>
            <a:off x="548640" y="5585358"/>
            <a:ext cx="11094415" cy="467970"/>
          </a:xfrm>
          <a:prstGeom prst="roundRect">
            <a:avLst>
              <a:gd name="adj" fmla="val 19540"/>
            </a:avLst>
          </a:prstGeom>
          <a:solidFill>
            <a:srgbClr val="EDE9F0"/>
          </a:solidFill>
          <a:ln/>
        </p:spPr>
      </p:sp>
      <p:sp>
        <p:nvSpPr>
          <p:cNvPr id="21" name="tickbox"/>
          <p:cNvSpPr/>
          <p:nvPr/>
        </p:nvSpPr>
        <p:spPr>
          <a:xfrm>
            <a:off x="713232" y="5673039"/>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585358"/>
            <a:ext cx="10317175" cy="46797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AO4: accurate spelling, punctuation and grammar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The generations essay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Priestley presents the older and younger generations as two possible futures for Britain. Mr and Mrs Birling, with Gerald alongside them in spirit, stand for a class that will not learn; Sheila and Eric stand for a generation that can. Writing in 1945 for an audience about to rebuild the country, Priestley uses the split to ask which future they will choose. At the outset of the play the gap is already visible at the dinner table. Mr Birling lectures the young men that a man's only duty is to himself and his own family, while Eric, uneasy and already drinking too much, asks the questions his father will not hear, such as why the workers should not ask for more. The stage directions mark Eric out from the first moment as the one person not at ease, and Priestley's method is contrast: a father certain of everything beside a son sure of nothing. For a 1945 audience, Birling's certainty would recall the leaders whose confidence had led to two wars, and Priestley's purpose is to make them distrust the older voice before the Inspector has even arrived.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assessment objective rewards analysis of Priestley's methods, such as dramatic irony, stage directions and structure?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AO2</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AO2 is analysis of language, form and structure, using subject terminology. Methods are AO2; context is AO3; argument and evidence are AO1; accuracy is AO4.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Inspector Calls · Chapter 6: Themes and the exam essay</dc:title>
  <dc:subject>English Literature · Year 10</dc:subject>
  <dc:creator>Dr Vitor Merissi de Carvalho</dc:creator>
  <cp:lastModifiedBy>Dr Vitor Merissi de Carvalho</cp:lastModifiedBy>
  <cp:revision>1</cp:revision>
  <dcterms:created xsi:type="dcterms:W3CDTF">2026-10-19T16:22:40Z</dcterms:created>
  <dcterms:modified xsi:type="dcterms:W3CDTF">2026-10-19T16:22:40Z</dcterms:modified>
</cp:coreProperties>
</file>