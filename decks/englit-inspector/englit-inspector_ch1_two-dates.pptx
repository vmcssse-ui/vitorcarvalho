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f9d6e1-685f-e33f-3f5f-18e21779e206}">
          <p14:sldIdLst>
            <p14:sldId id="256"/>
          </p14:sldIdLst>
        </p14:section>
        <p14:section name="Gate" id="{7e09176d-c843-068a-0ef8-dade77307a9f}">
          <p14:sldIdLst>
            <p14:sldId id="257"/>
            <p14:sldId id="258"/>
          </p14:sldIdLst>
        </p14:section>
        <p14:section name="Pre-teach" id="{58e77607-3bc1-224d-45ff-359c8419658f}">
          <p14:sldIdLst>
            <p14:sldId id="259"/>
            <p14:sldId id="260"/>
          </p14:sldIdLst>
        </p14:section>
        <p14:section name="Read-along" id="{ea451e29-a9e8-97de-9bfe-e2bd2b554724}">
          <p14:sldIdLst>
            <p14:sldId id="261"/>
            <p14:sldId id="262"/>
          </p14:sldIdLst>
        </p14:section>
        <p14:section name="Teach" id="{09e150f7-8650-2a9a-5916-c66f98501227}">
          <p14:sldIdLst>
            <p14:sldId id="263"/>
            <p14:sldId id="264"/>
            <p14:sldId id="265"/>
            <p14:sldId id="266"/>
          </p14:sldIdLst>
        </p14:section>
        <p14:section name="Routes" id="{9c4da9fe-762b-1c13-c82c-45492a1809ff}">
          <p14:sldIdLst>
            <p14:sldId id="267"/>
            <p14:sldId id="268"/>
            <p14:sldId id="269"/>
            <p14:sldId id="270"/>
            <p14:sldId id="271"/>
            <p14:sldId id="272"/>
            <p14:sldId id="273"/>
          </p14:sldIdLst>
        </p14:section>
        <p14:section name="Close" id="{cb09f7e3-13e8-2a46-1180-1ebabe37ab96}">
          <p14:sldIdLst>
            <p14:sldId id="274"/>
          </p14:sldIdLst>
        </p14:section>
        <p14:section name="Answers" id="{430bb872-9ae5-2e52-b5ae-dc499ae36fc4}">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Two dates: 1912 and 1945. This chapter gives you the two worlds the play lives in: the year it is set and the year it was written.
This deck covers the department's lessons: 1 (Introduction: social and historical context: How can an understanding of history help us to understand this play?); 17 (Revising context: Where in the play do we see each piece of context at work?); 26 (Writing about context: How do I link each piece of context to evidence from the play in my own writing?).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is An Inspector Calls set?  →  B   1912
2. The play is set in 1912 and was written in 1945. How many years separate the two dates?  →  33 years
3. A system in which businesses are owned privately and run for profit, with each person looking after their own interests, is called ___.  →  capitalism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1912. The play is set on a spring evening in 1912, the year the Titanic sank and two years before the First World War. It was written in 1945.
2. 33 years. 1945 minus 1912 is 33. Those 33 years hold two world wars, the Russian Revolution, the General Strike and the Depression, and the audience knew all of it.
3. capitalism. Capitalism is Mr Birling's creed: profit first, and every man for himself. Socialism, the Inspector's creed, is the opposite.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context: the world a text was written in and about. Example: "Knowing the context of 1912 helps you see why Eva Smith had no one to turn to."
• social hierarchy: the ladder of classes from rich to poor. Example: "The Birlings stand near the top of the social hierarchy and Eva stands near the bottom."
• capitalism: a system where business is run for private profit. Example: "Mr Birling believes in capitalism: low wages mean higher profits."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socialism: the belief that society should share and look after everyone. Example: "Priestley's socialism says that everyone is responsible for everyone else."
• Edwardian: from the years before the First World War. Example: "Edwardian Britain had rich families with servants and poor families with almost nothing."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Inspector Calls is a play by J. B. Priestley.
2. He wrote it in 1945, at the end of the Second World War.
3. But he set the story in 1912, before the First World War.
4. In 1912, Britain had a strict social ladder.
5. Rich factory owners sat near the top.
6. Their workers earned very little and had few rights.
7. There was no welfare state to catch people who fell.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Priestley wanted a fairer country after the war.
9. He believed that everyone should look after everyone else.
10. The audience in 1945 knew what had happened since 1912.
11. They had lived through two wars.
12. Priestley uses that gap of thirty-three years to teach a lesson.
13. Keep both dates in your head as you read the play.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Britain in 1912: the social ladder. Say it in your own words, then check understanding with a quick question: ask a pupil from the pre-teach group first, since they met these words and ideas before the lesson. Pupils try to recall before you re-explain.
In 1912 Britain was divided into classes, and almost everyone knew exactly where they stood. At the top were the aristocracy and the landed families, like Gerald's parents, Sir George and Lady Croft. Below them came the wealthy business class, like the Birlings, who had made their money in factories and wanted the titles and respect of the class above. Below them were the working class: factory hands, shop assistants and servants, like Eva Smith and Edna the maid. The deck calls this ladder the social hierarchy.
There was no welfare state. If you lost your job, there was no unemployment benefit; if you fell ill, there was no National Health Service. You turned to family, to charity, or to the workhouse. Women earned less than men, could not vote, and were pushed out of respectable society if they became pregnant outside marriage. Workers were beginning to fight back: 1910 to 1912 saw strikes in the mines, the docks and the railways. This is the world Eva Smith falls through.
Tip: Context is only worth marks when you tie it to a moment in the play. Never write a history lesson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Capitalism and socialism. Say it in your own words, then check understanding with a quick question: ask a pupil from the pre-teach group first, since they met these words and ideas before the lesson. Pupils try to recall before you re-explain.
Capitalism is a system in which factories and businesses are owned privately and run for profit. A capitalist like Mr Birling sees low wages as good business, and sees looking after yourself as plain common sense. Socialism is the belief that wealth and responsibility should be shared, and that a society is judged by how it treats its weakest members. A socialist like the Inspector sees Eva Smith's wages as a question of right and wrong.
Priestley was a socialist. In July 1945, the year the play was written, Britain elected a Labour government that went on to build the welfare state and, in 1948, the National Health Service. The audience watching the play were deciding what kind of country they wanted after the war. Whenever a character talks about money, workers or responsibility, ask yourself which side of this argument they stand on.
Tip: Mr Birling and the Inspector are the two poles of the play. Every other character moves towards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Priestley's life and purpose. Say it in your own words, then check understanding with a quick question: ask a pupil from the pre-teach group first, since they met these words and ideas before the lesson. Pupils try to recall before you re-explain.
John Boynton Priestley was born in Bradford in 1894, the son of a schoolteacher. He joined the army in 1914 and was wounded in the First World War. He came out of the trenches convinced that the officer class, chosen for their background rather than their ability, had wasted the lives of working-class men. During the Second World War his Sunday evening radio talks for the BBC drew millions of listeners, and he used them to ask what kind of Britain should be built after victory. The talks were taken off the air in 1940, and Priestley believed his politics were the reason.
He wrote An Inspector Calls at the end of the war. It was first performed in 1945, in Moscow, because no London theatre was free, and opened in London in 1946. Priestley set it in 1912 for two reasons that your lessons give you. First, 1912 was the last year of a confident, comfortable world that was about to be destroyed, so the audience could see the Birlings' blindness with hindsight. Second, by criticising the past rather than the present, he could ask his audience hard questions without seeming to attack them directly.
Tip: The gap between 1912 and 1945 is the play's engine: every confident prediction Mr Birling makes, the audience knows to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story in one evening. Say it in your own words, then check understanding with a quick question: ask a pupil from the pre-teach group first, since they met these words and ideas before the lesson. Pupils try to recall before you re-explain.
The whole play happens in one room, in real time, on one spring evening in 1912. The Birlings are celebrating Sheila's engagement to Gerald Croft when a police inspector calls. A young woman, Eva Smith, has died that evening after drinking disinfectant. One by one, the Inspector shows that each person in the room helped to push her towards her death: Mr Birling sacked her, Sheila had her sacked again, Gerald made her his mistress and left her, Eric got her pregnant, and Mrs Birling refused her charity.
The Inspector leaves with a warning, and the family discover that he was not a real policeman and that no girl has died. The older Birlings are delighted; Sheila and Eric are not, because what they did was still true. Then the telephone rings: a girl has just died, and an inspector is on his way. Because everything happens in one place, in one evening, with one chain of consequences, critics say the play keeps the classical unities of time, place and action.
One honesty note before you start. This book never prints Priestley's words, because the play is still in copyright. It describes moments instead. In the exam you must quote, so learn your quotations from your own copy and your class flashcards, and use this book for the ideas around them.
Tip: Learn the order of the five confessions: Birling, Sheila, Gerald, Mrs Birling, Eric. The Inspector works through the family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fact means for an ordinary person in 1912. (2) Ask: which character would feel this fact most? The person who sacks, or the person who is sacked? (3) Find the moment on the right that would be different if the fact were not true.
Parallel worked example for Support (model it, do not give the task answer): Practice: which moment does the fact that women could not vote in 1912 help explain: (a) Mr Birling sending Sheila out of the room when serious matters come up, or (b) Eric's drinking? Women were treated as having no place in serious public business.; Being sent out of the room treats Sheila the same way.; Eric's drinking has nothing to do with women's rights.. Answer: (a) Mr Birling sending Sheila out of the room..
Core — reveal the hint only on request: Each fact removes a safety net or adds a blind spot. Match the net to the person who falls through it, or the blind spot to the person who cannot see.
Stretch — no help; when finished: Choose one pair and write a single exam sentence that names the moment, describes it precisely, and weaves the context into the same sentence. Then say which assessment objective that sentence is 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fact means for an ordinary person in 1912. (2) Ask: which character would feel this fact most? The person who sacks, or the person who is sacked? (3) Find the moment on the right that would be different if the fact were not true.
Parallel worked example for Support (model it, do not give the task answer): Practice: which moment does the fact that women could not vote in 1912 help explain: (a) Mr Birling sending Sheila out of the room when serious matters come up, or (b) Eric's drinking? Women were treated as having no place in serious public business.; Being sent out of the room treats Sheila the same way.; Eric's drinking has nothing to do with women's rights.. Answer: (a) Mr Birling sending Sheila out of the room..
Core — reveal the hint only on request: Each fact removes a safety net or adds a blind spot. Match the net to the person who falls through it, or the blind spot to the person who cannot see.
Stretch — no help; when finished: Choose one pair and write a single exam sentence that names the moment, describes it precisely, and weaves the context into the same sentence. Then say which assessment objective that sentence is 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fact means for an ordinary person in 1912. (2) Ask: which character would feel this fact most? The person who sacks, or the person who is sacked? (3) Find the moment on the right that would be different if the fact were not true.
Parallel worked example for Support (model it, do not give the task answer): Practice: which moment does the fact that women could not vote in 1912 help explain: (a) Mr Birling sending Sheila out of the room when serious matters come up, or (b) Eric's drinking? Women were treated as having no place in serious public business.; Being sent out of the room treats Sheila the same way.; Eric's drinking has nothing to do with women's rights.. Answer: (a) Mr Birling sending Sheila out of the room..
Core — reveal the hint only on request: Each fact removes a safety net or adds a blind spot. Match the net to the person who falls through it, or the blind spot to the person who cannot see.
Stretch — no help; when finished: Choose one pair and write a single exam sentence that names the moment, describes it precisely, and weaves the context into the same sentence. Then say which assessment objective that sentence is 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Context to meaning.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context to the moment in the play it helps you understand.
Support — work through the steps with the group: (1) Read the left-hand side and say in your own words what each fact means for an ordinary person in 1912. (2) Ask: which character would feel this fact most? The person who sacks, or the person who is sacked? (3) Find the moment on the right that would be different if the fact were not true.
Parallel worked example for Support (model it, do not give the task answer): Practice: which moment does the fact that women could not vote in 1912 help explain: (a) Mr Birling sending Sheila out of the room when serious matters come up, or (b) Eric's drinking? Women were treated as having no place in serious public business.; Being sent out of the room treats Sheila the same way.; Eric's drinking has nothing to do with women's rights.. Answer: (a) Mr Birling sending Sheila out of the room..
Core — reveal the hint only on request: Each fact removes a safety net or adds a blind spot. Match the net to the person who falls through it, or the blind spot to the person who cannot see.
Stretch — no help; when finished: Choose one pair and write a single exam sentence that names the moment, describes it precisely, and weaves the context into the same sentence. Then say which assessment objective that sentence is 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1912, written in 1945?.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Priestley set his play in 1912 but wrote it for an audience in 1945. Write one developed paragraph.
Support — work through the steps with the group: (1) What: write one sentence saying that the gap between the dates lets the audience see what the characters cannot. (2) How: describe one of Birling's confident predictions in your own words and say what really happened. (3) Why: name the method (dramatic irony) and say how it makes the audience feel about Birling. (4) Context: end with what the 1945 audience was deciding about the future of Britain.
Parallel worked example for Support (model it, do not give the task answer): Practice question: why does Priestley make Mr Birling, a factory owner, the first person the Inspector questions? What: Birling is the head of the family and stands for capitalism, so his view is tested first.; How: the Inspector reveals that Birling sacked Eva for asking for a rise, and Birling says he would do it again.; Why: starting with the most powerful person shows that the chain begins at the top of the social ladder.. Answer: Priestley begins with Mr Birling because he is the head of the family and the clearest capitalist in the room. The Inspector shows that Birling sacked Eva for asking for more pay, and Birling insists he would do the same again. Starting at the top of the social ladder shows the audience that the chain of harm begins with those who hold the power..
Core — reveal the hint only on request: Two reasons: hindsight (dramatic irony) and safety (criticising the past to question the present). Give an example of the first and a sentence on the second.
Stretch — no help; when finished: Argue the other way: what would the play lose if Priestley had set it in 1945? Then judge whether the 1912 setting makes the message stronger or lets a modern audience dismiss it as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1912, written in 1945?.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Priestley set his play in 1912 but wrote it for an audience in 1945. Write one developed paragraph.
Support — work through the steps with the group: (1) What: write one sentence saying that the gap between the dates lets the audience see what the characters cannot. (2) How: describe one of Birling's confident predictions in your own words and say what really happened. (3) Why: name the method (dramatic irony) and say how it makes the audience feel about Birling. (4) Context: end with what the 1945 audience was deciding about the future of Britain.
Parallel worked example for Support (model it, do not give the task answer): Practice question: why does Priestley make Mr Birling, a factory owner, the first person the Inspector questions? What: Birling is the head of the family and stands for capitalism, so his view is tested first.; How: the Inspector reveals that Birling sacked Eva for asking for a rise, and Birling says he would do it again.; Why: starting with the most powerful person shows that the chain begins at the top of the social ladder.. Answer: Priestley begins with Mr Birling because he is the head of the family and the clearest capitalist in the room. The Inspector shows that Birling sacked Eva for asking for more pay, and Birling insists he would do the same again. Starting at the top of the social ladder shows the audience that the chain of harm begins with those who hold the power..
Core — reveal the hint only on request: Two reasons: hindsight (dramatic irony) and safety (criticising the past to question the present). Give an example of the first and a sentence on the second.
Stretch — no help; when finished: Argue the other way: what would the play lose if Priestley had set it in 1945? Then judge whether the 1912 setting makes the message stronger or lets a modern audience dismiss it as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1912, written in 1945?.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Priestley set his play in 1912 but wrote it for an audience in 1945. Write one developed paragraph.
Support — work through the steps with the group: (1) What: write one sentence saying that the gap between the dates lets the audience see what the characters cannot. (2) How: describe one of Birling's confident predictions in your own words and say what really happened. (3) Why: name the method (dramatic irony) and say how it makes the audience feel about Birling. (4) Context: end with what the 1945 audience was deciding about the future of Britain.
Parallel worked example for Support (model it, do not give the task answer): Practice question: why does Priestley make Mr Birling, a factory owner, the first person the Inspector questions? What: Birling is the head of the family and stands for capitalism, so his view is tested first.; How: the Inspector reveals that Birling sacked Eva for asking for a rise, and Birling says he would do it again.; Why: starting with the most powerful person shows that the chain begins at the top of the social ladder.. Answer: Priestley begins with Mr Birling because he is the head of the family and the clearest capitalist in the room. The Inspector shows that Birling sacked Eva for asking for more pay, and Birling insists he would do the same again. Starting at the top of the social ladder shows the audience that the chain of harm begins with those who hold the power..
Core — reveal the hint only on request: Two reasons: hindsight (dramatic irony) and safety (criticising the past to question the present). Give an example of the first and a sentence on the second.
Stretch — no help; when finished: Argue the other way: what would the play lose if Priestley had set it in 1945? Then judge whether the 1912 setting makes the message stronger or lets a modern audience dismiss it as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is An Inspector Calls set?
Answer: A   1912. The play is set on a spring evening in 1912, the year the Titanic sank and two years before the First World War. It was written in 1945.
Source of this question: gate item 1 re-asked (options rotated) — this chapter has no third quick-check module.
The ebook also holds task 3, "The story in seven steps",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Context to meaning. Reveal the answer; pupils mark their own work in a different colour, then read the "why" together. Same destination for every lane, so one answer serves the whole class.
Answer: The Titanic sailed in April 1912 and sank on its first voyage  →  D  Mr Birling's confident speech about the future, which the audience knows is wrong in every detail; There was no welfare state in 1912  →  A  Eva Smith has to beg a charity committee for help when she is pregnant and penniless; Workers struck for better pay across Britain in 1910 to 1912  →  E  Mr Birling sacks the workers who asked him for a rise; Priestley's audience had just lived through a second world war  →  C  The Inspector's warning that people who will not learn the lesson will be taught it by force; Women in 1912 had few jobs open to them and could not vote  →  B  Eva's narrowing choices after she loses two jobs in a row
Why: Context earns marks (AO3) only when it explains why a moment matters. Each pair here is one link you can reuse in an essay.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Context to meaning. Reveal the answer; pupils mark their own work in a different colour, then read the "why" together. Same destination for every lane, so one answer serves the whole class.
Answer: The Titanic sailed in April 1912 and sank on its first voyage  →  D  Mr Birling's confident speech about the future, which the audience knows is wrong in every detail; There was no welfare state in 1912  →  A  Eva Smith has to beg a charity committee for help when she is pregnant and penniless; Workers struck for better pay across Britain in 1910 to 1912  →  E  Mr Birling sacks the workers who asked him for a rise; Priestley's audience had just lived through a second world war  →  C  The Inspector's warning that people who will not learn the lesson will be taught it by force; Women in 1912 had few jobs open to them and could not vote  →  B  Eva's narrowing choices after she loses two jobs in a row
Why: Context earns marks (AO3) only when it explains why a moment matters. Each pair here is one link you can reuse in an essay.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1912, written in 1945?. Reveal the answer; pupils mark their own work in a different colour, then read the "why" together. Same destination for every lane, so one answer serves the whole class.
Answer: AO3: you give at least two reasons for the gap between the two dates; AO1: you refer precisely to a moment in the play that the gap makes powerful; AO2: you name the method the gap creates (dramatic irony) and explain its effect; AO3: you link the choice to what the 1945 audience had lived through or was deciding
Why: A top answer explains the gap as a method, not just a fact: dramatic irony that undermines Birling, and distance that lets Priestley question the present through the past.
Model answer: Priestley set his play in 1912 but wrote it in 1945 so that his audience would watch the Birlings with hindsight. In the first act Mr Birling promises the young men a future of peace and growing prosperity and insists that the great new liner about to sail cannot sink. Every person in the theatre in 1945 knew that the Titanic sank days later, that war came in 1914, and that a second war had only just ended. This is dramatic irony: the audience knows what the character does not, and it makes Birling's confidence look foolish and his politics suspect. The gap also let Priestley criticise his own society safely, by placing its selfishness in the past, while asking his audience whether they wanted to build the same kind of Britain again or a fairer one.
Success criteria: AO3: you give at least two reasons for the gap between the two dates; AO1: you refer precisely to a moment in the play that the gap makes powerful; AO2: you name the method the gap creates (dramatic irony) and explain its effect; AO3: you link the choice to what the 1945 audience had lived through or was deciding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1912, written in 1945?. Reveal the answer; pupils mark their own work in a different colour, then read the "why" together. Same destination for every lane, so one answer serves the whole class.
Answer: AO3: you give at least two reasons for the gap between the two dates; AO1: you refer precisely to a moment in the play that the gap makes powerful; AO2: you name the method the gap creates (dramatic irony) and explain its effect; AO3: you link the choice to what the 1945 audience had lived through or was deciding
Why: A top answer explains the gap as a method, not just a fact: dramatic irony that undermines Birling, and distance that lets Priestley question the present through the past.
Model answer: Priestley set his play in 1912 but wrote it in 1945 so that his audience would watch the Birlings with hindsight. In the first act Mr Birling promises the young men a future of peace and growing prosperity and insists that the great new liner about to sail cannot sink. Every person in the theatre in 1945 knew that the Titanic sank days later, that war came in 1914, and that a second war had only just ended. This is dramatic irony: the audience knows what the character does not, and it makes Birling's confidence look foolish and his politics suspect. The gap also let Priestley criticise his own society safely, by placing its selfishness in the past, while asking his audience whether they wanted to build the same kind of Britain again or a fairer one.
Success criteria: AO3: you give at least two reasons for the gap between the two dates; AO1: you refer precisely to a moment in the play that the gap makes powerful; AO2: you name the method the gap creates (dramatic irony) and explain its effect; AO3: you link the choice to what the 1945 audience had lived through or was deciding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1912
Why: The play is set on a spring evening in 1912, the year the Titanic sank and two years before the First World War. It was written in 1945.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204520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Two dates: 1912 and 1945</a:t>
            </a:r>
            <a:endParaRPr lang="en-US" sz="4000" dirty="0"/>
          </a:p>
        </p:txBody>
      </p:sp>
      <p:sp>
        <p:nvSpPr>
          <p:cNvPr id="11" name="lessons-card"/>
          <p:cNvSpPr/>
          <p:nvPr/>
        </p:nvSpPr>
        <p:spPr>
          <a:xfrm>
            <a:off x="548640" y="3721608"/>
            <a:ext cx="5287975" cy="1676400"/>
          </a:xfrm>
          <a:prstGeom prst="roundRect">
            <a:avLst>
              <a:gd name="adj" fmla="val 4364"/>
            </a:avLst>
          </a:prstGeom>
          <a:solidFill>
            <a:srgbClr val="EAE5EE"/>
          </a:solidFill>
          <a:ln/>
        </p:spPr>
      </p:sp>
      <p:sp>
        <p:nvSpPr>
          <p:cNvPr id="12" name="lessons"/>
          <p:cNvSpPr txBox="1"/>
          <p:nvPr/>
        </p:nvSpPr>
        <p:spPr>
          <a:xfrm>
            <a:off x="685800" y="381304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social and historical context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Revising context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Writing about context</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is An Inspector Calls set?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1926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1912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1914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1945</a:t>
            </a:r>
            <a:endParaRPr lang="en-US" sz="24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play is set in 1912 and was written in 1945. How many years separate the two dates?</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system in which businesses are owned privately and run for profit, with each person looking after their own interests, is called ___.</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capitalism  ·  socialism  ·  hierarchy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1912</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which year is An Inspector Calls set?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play is set on a spring evening in 1912, the year the Titanic sank and two years before the First World War. It was written in 1945.</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33 years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play is set in 1912 and was written in 1945. How many years separate the two dates?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1945 minus 1912 is 33. Those 33 years hold two world wars, the Russian Revolution, the General Strike and the Depression, and the audience knew all of it.</a:t>
            </a:r>
            <a:endParaRPr lang="en-US" sz="18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capitalism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Capitalism is Mr Birling's creed: profit first, and every man for himself. Socialism, the Inspector's creed, is the opposite.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context</a:t>
            </a:r>
            <a:endParaRPr lang="en-US" sz="2600" dirty="0"/>
          </a:p>
        </p:txBody>
      </p:sp>
      <p:sp>
        <p:nvSpPr>
          <p:cNvPr id="11" name="word-rule"/>
          <p:cNvSpPr/>
          <p:nvPr/>
        </p:nvSpPr>
        <p:spPr>
          <a:xfrm>
            <a:off x="731520" y="2129028"/>
            <a:ext cx="3149498" cy="0"/>
          </a:xfrm>
          <a:prstGeom prst="line">
            <a:avLst/>
          </a:prstGeom>
          <a:ln w="12700">
            <a:solidFill>
              <a:srgbClr val="B8AAC6"/>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world a text was written in and about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Knowing the context of 1912 helps you see why Eva Smith had no one to turn to.</a:t>
            </a:r>
            <a:endParaRPr lang="en-US" sz="2200" dirty="0"/>
          </a:p>
        </p:txBody>
      </p:sp>
      <p:sp>
        <p:nvSpPr>
          <p:cNvPr id="13" name="word-card"/>
          <p:cNvSpPr/>
          <p:nvPr/>
        </p:nvSpPr>
        <p:spPr>
          <a:xfrm>
            <a:off x="4338218" y="1389888"/>
            <a:ext cx="3515258" cy="4754880"/>
          </a:xfrm>
          <a:prstGeom prst="roundRect">
            <a:avLst>
              <a:gd name="adj" fmla="val 1561"/>
            </a:avLst>
          </a:prstGeom>
          <a:solidFill>
            <a:srgbClr val="EDE9F0"/>
          </a:solidFill>
          <a:ln w="12700">
            <a:solidFill>
              <a:srgbClr val="B8AAC6"/>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social hierarchy</a:t>
            </a:r>
            <a:endParaRPr lang="en-US" sz="2600" dirty="0"/>
          </a:p>
        </p:txBody>
      </p:sp>
      <p:sp>
        <p:nvSpPr>
          <p:cNvPr id="17" name="word-rule"/>
          <p:cNvSpPr/>
          <p:nvPr/>
        </p:nvSpPr>
        <p:spPr>
          <a:xfrm>
            <a:off x="4521098" y="2129028"/>
            <a:ext cx="3149498" cy="0"/>
          </a:xfrm>
          <a:prstGeom prst="line">
            <a:avLst/>
          </a:prstGeom>
          <a:ln w="12700">
            <a:solidFill>
              <a:srgbClr val="B8AAC6"/>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ladder of classes from rich to poor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Birlings stand near the top of the social hierarchy and Eva stands near the bottom.</a:t>
            </a:r>
            <a:endParaRPr lang="en-US" sz="2200" dirty="0"/>
          </a:p>
        </p:txBody>
      </p:sp>
      <p:sp>
        <p:nvSpPr>
          <p:cNvPr id="19" name="word-card"/>
          <p:cNvSpPr/>
          <p:nvPr/>
        </p:nvSpPr>
        <p:spPr>
          <a:xfrm>
            <a:off x="8127797" y="1389888"/>
            <a:ext cx="3515258" cy="4754880"/>
          </a:xfrm>
          <a:prstGeom prst="roundRect">
            <a:avLst>
              <a:gd name="adj" fmla="val 1561"/>
            </a:avLst>
          </a:prstGeom>
          <a:solidFill>
            <a:srgbClr val="EDE9F0"/>
          </a:solidFill>
          <a:ln w="12700">
            <a:solidFill>
              <a:srgbClr val="B8AAC6"/>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capitalism</a:t>
            </a:r>
            <a:endParaRPr lang="en-US" sz="2600" dirty="0"/>
          </a:p>
        </p:txBody>
      </p:sp>
      <p:sp>
        <p:nvSpPr>
          <p:cNvPr id="23" name="word-rule"/>
          <p:cNvSpPr/>
          <p:nvPr/>
        </p:nvSpPr>
        <p:spPr>
          <a:xfrm>
            <a:off x="8310677" y="2129028"/>
            <a:ext cx="3149498" cy="0"/>
          </a:xfrm>
          <a:prstGeom prst="line">
            <a:avLst/>
          </a:prstGeom>
          <a:ln w="12700">
            <a:solidFill>
              <a:srgbClr val="B8AAC6"/>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system where business is run for private profit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Mr Birling believes in capitalism: low wages mean higher profits.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socialism</a:t>
            </a:r>
            <a:endParaRPr lang="en-US" sz="2600" dirty="0"/>
          </a:p>
        </p:txBody>
      </p:sp>
      <p:sp>
        <p:nvSpPr>
          <p:cNvPr id="11" name="word-rule"/>
          <p:cNvSpPr/>
          <p:nvPr/>
        </p:nvSpPr>
        <p:spPr>
          <a:xfrm>
            <a:off x="731520" y="2129028"/>
            <a:ext cx="5044288" cy="0"/>
          </a:xfrm>
          <a:prstGeom prst="line">
            <a:avLst/>
          </a:prstGeom>
          <a:ln w="12700">
            <a:solidFill>
              <a:srgbClr val="B8AAC6"/>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belief that society should share and look after everyone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Priestley's socialism says that everyone is responsible for everyone else.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DE9F0"/>
          </a:solidFill>
          <a:ln w="12700">
            <a:solidFill>
              <a:srgbClr val="B8AAC6"/>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Edwardian</a:t>
            </a:r>
            <a:endParaRPr lang="en-US" sz="2600" dirty="0"/>
          </a:p>
        </p:txBody>
      </p:sp>
      <p:sp>
        <p:nvSpPr>
          <p:cNvPr id="17" name="word-rule"/>
          <p:cNvSpPr/>
          <p:nvPr/>
        </p:nvSpPr>
        <p:spPr>
          <a:xfrm>
            <a:off x="6415888" y="2129028"/>
            <a:ext cx="5044288" cy="0"/>
          </a:xfrm>
          <a:prstGeom prst="line">
            <a:avLst/>
          </a:prstGeom>
          <a:ln w="12700">
            <a:solidFill>
              <a:srgbClr val="B8AAC6"/>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from the years before the First World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Edwardian Britain had rich families with servants and poor families with almost nothing.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Inspector Calls is a play by J. B. Priestley.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wrote it in 1945, at the end of the Second World War.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he set the story in 1912, before the First World War.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1912, Britain had a strict social ladder.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Rich factory owners sat near the top.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Their workers earned very little and had few rights.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was no welfare state to catch people who fell.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Priestley wanted a fairer country after the war.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believed that everyone should look after everyone else.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audience in 1945 knew what had happened since 1912.</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had lived through two wars.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Priestley uses that gap of thirty-three years to teach a lesson.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Keep both dates in your head as you read the play.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Britain in 1912: the social ladder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Context is only worth marks when you tie it to a moment in the play. Never write a history lesson on its own.</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1912 Britain was divided into classes, and almost everyone knew exactly where they stood.</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was no welfare state. If you lost your job, there was no unemployment benefit; if you fell ill, there was no National Health Service.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Capitalism and socialism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Mr Birling and the Inspector are the two poles of the play. Every other character moves towards one of them.</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Capitalism is a system in which factories and businesses are owned privately and run for profit.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Priestley was a socialist. In July 1945, the year the play was written, Britain elected a Labour government that went on to build the welfare state and, in 1948, the National Health Service.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Priestley's life and purpose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gap between 1912 and 1945 is the play's engine: every confident prediction Mr Birling makes, the audience knows to be wrong.</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John Boynton Priestley was born in Bradford in 1894, the son of a schoolteacher.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 wrote An Inspector Calls at the end of the war.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story in one evening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order of the five confessions: Birling, Sheila, Gerald, Mrs Birling, Eric. The Inspector works through the family in that order.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whole play happens in one room, in real time, on one spring evening in 1912.</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Inspector leaves with a warning, and the family discover that he was not a real policeman and that no girl has died.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One honesty note before you start. This book never prints Priestley's words, because the play is still in copyright.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400" dirty="0"/>
          </a:p>
        </p:txBody>
      </p:sp>
      <p:sp>
        <p:nvSpPr>
          <p:cNvPr id="11" name="match-card"/>
          <p:cNvSpPr/>
          <p:nvPr/>
        </p:nvSpPr>
        <p:spPr>
          <a:xfrm>
            <a:off x="777240" y="2672080"/>
            <a:ext cx="4073163" cy="1035643"/>
          </a:xfrm>
          <a:prstGeom prst="roundRect">
            <a:avLst>
              <a:gd name="adj" fmla="val 7063"/>
            </a:avLst>
          </a:prstGeom>
          <a:solidFill>
            <a:srgbClr val="EDE9F0"/>
          </a:solidFill>
          <a:ln/>
        </p:spPr>
      </p:sp>
      <p:sp>
        <p:nvSpPr>
          <p:cNvPr id="12" name="match-hex"/>
          <p:cNvSpPr/>
          <p:nvPr/>
        </p:nvSpPr>
        <p:spPr>
          <a:xfrm>
            <a:off x="850392" y="3023609"/>
            <a:ext cx="384048" cy="332586"/>
          </a:xfrm>
          <a:prstGeom prst="hexagon">
            <a:avLst/>
          </a:prstGeom>
          <a:solidFill>
            <a:srgbClr val="5B3A7A"/>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478803"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Titanic sailed in April 1912 and sank on its first voyage</a:t>
            </a:r>
            <a:endParaRPr lang="en-US" sz="2000" dirty="0"/>
          </a:p>
        </p:txBody>
      </p:sp>
      <p:sp>
        <p:nvSpPr>
          <p:cNvPr id="15" name="match-card"/>
          <p:cNvSpPr/>
          <p:nvPr/>
        </p:nvSpPr>
        <p:spPr>
          <a:xfrm>
            <a:off x="5216163" y="2672080"/>
            <a:ext cx="6198292" cy="1035643"/>
          </a:xfrm>
          <a:prstGeom prst="roundRect">
            <a:avLst>
              <a:gd name="adj" fmla="val 7063"/>
            </a:avLst>
          </a:prstGeom>
          <a:solidFill>
            <a:srgbClr val="F4EDDF"/>
          </a:solidFill>
          <a:ln/>
        </p:spPr>
      </p:sp>
      <p:sp>
        <p:nvSpPr>
          <p:cNvPr id="16" name="match-hex"/>
          <p:cNvSpPr/>
          <p:nvPr/>
        </p:nvSpPr>
        <p:spPr>
          <a:xfrm>
            <a:off x="5289315" y="3023609"/>
            <a:ext cx="384048" cy="332586"/>
          </a:xfrm>
          <a:prstGeom prst="hexagon">
            <a:avLst/>
          </a:prstGeom>
          <a:solidFill>
            <a:srgbClr val="B8862B"/>
          </a:solidFill>
          <a:ln/>
        </p:spPr>
      </p:sp>
      <p:sp>
        <p:nvSpPr>
          <p:cNvPr id="17" name="match-hex-label"/>
          <p:cNvSpPr txBox="1"/>
          <p:nvPr/>
        </p:nvSpPr>
        <p:spPr>
          <a:xfrm>
            <a:off x="5289315"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737371" y="2672080"/>
            <a:ext cx="5603932"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Mr Birling sacks the workers who asked him for a rise</a:t>
            </a:r>
            <a:endParaRPr lang="en-US" sz="2000" dirty="0"/>
          </a:p>
        </p:txBody>
      </p:sp>
      <p:sp>
        <p:nvSpPr>
          <p:cNvPr id="19" name="match-card"/>
          <p:cNvSpPr/>
          <p:nvPr/>
        </p:nvSpPr>
        <p:spPr>
          <a:xfrm>
            <a:off x="777240" y="3799163"/>
            <a:ext cx="4073163" cy="1035643"/>
          </a:xfrm>
          <a:prstGeom prst="roundRect">
            <a:avLst>
              <a:gd name="adj" fmla="val 7063"/>
            </a:avLst>
          </a:prstGeom>
          <a:solidFill>
            <a:srgbClr val="EDE9F0"/>
          </a:solidFill>
          <a:ln/>
        </p:spPr>
      </p:sp>
      <p:sp>
        <p:nvSpPr>
          <p:cNvPr id="20" name="match-hex"/>
          <p:cNvSpPr/>
          <p:nvPr/>
        </p:nvSpPr>
        <p:spPr>
          <a:xfrm>
            <a:off x="850392" y="4150691"/>
            <a:ext cx="384048" cy="332586"/>
          </a:xfrm>
          <a:prstGeom prst="hexagon">
            <a:avLst/>
          </a:prstGeom>
          <a:solidFill>
            <a:srgbClr val="5B3A7A"/>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3478803"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There was no welfare state in 1912</a:t>
            </a:r>
            <a:endParaRPr lang="en-US" sz="2000" dirty="0"/>
          </a:p>
        </p:txBody>
      </p:sp>
      <p:sp>
        <p:nvSpPr>
          <p:cNvPr id="23" name="match-card"/>
          <p:cNvSpPr/>
          <p:nvPr/>
        </p:nvSpPr>
        <p:spPr>
          <a:xfrm>
            <a:off x="5216163" y="3799163"/>
            <a:ext cx="6198292" cy="1035643"/>
          </a:xfrm>
          <a:prstGeom prst="roundRect">
            <a:avLst>
              <a:gd name="adj" fmla="val 7063"/>
            </a:avLst>
          </a:prstGeom>
          <a:solidFill>
            <a:srgbClr val="F4EDDF"/>
          </a:solidFill>
          <a:ln/>
        </p:spPr>
      </p:sp>
      <p:sp>
        <p:nvSpPr>
          <p:cNvPr id="24" name="match-hex"/>
          <p:cNvSpPr/>
          <p:nvPr/>
        </p:nvSpPr>
        <p:spPr>
          <a:xfrm>
            <a:off x="5289315" y="4150691"/>
            <a:ext cx="384048" cy="332586"/>
          </a:xfrm>
          <a:prstGeom prst="hexagon">
            <a:avLst/>
          </a:prstGeom>
          <a:solidFill>
            <a:srgbClr val="B8862B"/>
          </a:solidFill>
          <a:ln/>
        </p:spPr>
      </p:sp>
      <p:sp>
        <p:nvSpPr>
          <p:cNvPr id="25" name="match-hex-label"/>
          <p:cNvSpPr txBox="1"/>
          <p:nvPr/>
        </p:nvSpPr>
        <p:spPr>
          <a:xfrm>
            <a:off x="5289315"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737371" y="3799163"/>
            <a:ext cx="5603932"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Eva Smith has to beg a charity committee for help when she is pregnant and penniless</a:t>
            </a:r>
            <a:endParaRPr lang="en-US" sz="2000" dirty="0"/>
          </a:p>
        </p:txBody>
      </p:sp>
      <p:sp>
        <p:nvSpPr>
          <p:cNvPr id="27" name="match-card"/>
          <p:cNvSpPr/>
          <p:nvPr/>
        </p:nvSpPr>
        <p:spPr>
          <a:xfrm>
            <a:off x="777240" y="4926245"/>
            <a:ext cx="4073163" cy="1035643"/>
          </a:xfrm>
          <a:prstGeom prst="roundRect">
            <a:avLst>
              <a:gd name="adj" fmla="val 7063"/>
            </a:avLst>
          </a:prstGeom>
          <a:solidFill>
            <a:srgbClr val="EDE9F0"/>
          </a:solidFill>
          <a:ln/>
        </p:spPr>
      </p:sp>
      <p:sp>
        <p:nvSpPr>
          <p:cNvPr id="28" name="match-hex"/>
          <p:cNvSpPr/>
          <p:nvPr/>
        </p:nvSpPr>
        <p:spPr>
          <a:xfrm>
            <a:off x="850392" y="5277774"/>
            <a:ext cx="384048" cy="332586"/>
          </a:xfrm>
          <a:prstGeom prst="hexagon">
            <a:avLst/>
          </a:prstGeom>
          <a:solidFill>
            <a:srgbClr val="5B3A7A"/>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3478803"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Workers struck for better pay across Britain in 1910 to 1912</a:t>
            </a:r>
            <a:endParaRPr lang="en-US" sz="2000" dirty="0"/>
          </a:p>
        </p:txBody>
      </p:sp>
      <p:sp>
        <p:nvSpPr>
          <p:cNvPr id="31" name="match-card"/>
          <p:cNvSpPr/>
          <p:nvPr/>
        </p:nvSpPr>
        <p:spPr>
          <a:xfrm>
            <a:off x="5216163" y="4926245"/>
            <a:ext cx="6198292" cy="1035643"/>
          </a:xfrm>
          <a:prstGeom prst="roundRect">
            <a:avLst>
              <a:gd name="adj" fmla="val 7063"/>
            </a:avLst>
          </a:prstGeom>
          <a:solidFill>
            <a:srgbClr val="F4EDDF"/>
          </a:solidFill>
          <a:ln/>
        </p:spPr>
      </p:sp>
      <p:sp>
        <p:nvSpPr>
          <p:cNvPr id="32" name="match-hex"/>
          <p:cNvSpPr/>
          <p:nvPr/>
        </p:nvSpPr>
        <p:spPr>
          <a:xfrm>
            <a:off x="5289315" y="5277774"/>
            <a:ext cx="384048" cy="332586"/>
          </a:xfrm>
          <a:prstGeom prst="hexagon">
            <a:avLst/>
          </a:prstGeom>
          <a:solidFill>
            <a:srgbClr val="B8862B"/>
          </a:solidFill>
          <a:ln/>
        </p:spPr>
      </p:sp>
      <p:sp>
        <p:nvSpPr>
          <p:cNvPr id="33" name="match-hex-label"/>
          <p:cNvSpPr txBox="1"/>
          <p:nvPr/>
        </p:nvSpPr>
        <p:spPr>
          <a:xfrm>
            <a:off x="5289315"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737371" y="4926245"/>
            <a:ext cx="5603932" cy="103564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Mr Birling's confident speech about the future, which the audience knows is wrong in every detail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400" dirty="0"/>
          </a:p>
        </p:txBody>
      </p:sp>
      <p:sp>
        <p:nvSpPr>
          <p:cNvPr id="11" name="match-card"/>
          <p:cNvSpPr/>
          <p:nvPr/>
        </p:nvSpPr>
        <p:spPr>
          <a:xfrm>
            <a:off x="777240" y="2672080"/>
            <a:ext cx="4229423" cy="1506220"/>
          </a:xfrm>
          <a:prstGeom prst="roundRect">
            <a:avLst>
              <a:gd name="adj" fmla="val 4857"/>
            </a:avLst>
          </a:prstGeom>
          <a:solidFill>
            <a:srgbClr val="EDE9F0"/>
          </a:solidFill>
          <a:ln/>
        </p:spPr>
      </p:sp>
      <p:sp>
        <p:nvSpPr>
          <p:cNvPr id="12" name="match-hex"/>
          <p:cNvSpPr/>
          <p:nvPr/>
        </p:nvSpPr>
        <p:spPr>
          <a:xfrm>
            <a:off x="850392" y="3258897"/>
            <a:ext cx="384048" cy="332586"/>
          </a:xfrm>
          <a:prstGeom prst="hexagon">
            <a:avLst/>
          </a:prstGeom>
          <a:solidFill>
            <a:srgbClr val="5B3A7A"/>
          </a:solidFill>
          <a:ln/>
        </p:spPr>
      </p:sp>
      <p:sp>
        <p:nvSpPr>
          <p:cNvPr id="13" name="match-hex-label"/>
          <p:cNvSpPr txBox="1"/>
          <p:nvPr/>
        </p:nvSpPr>
        <p:spPr>
          <a:xfrm>
            <a:off x="850392"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635063"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Priestley's audience had just lived through a second world war</a:t>
            </a:r>
            <a:endParaRPr lang="en-US" sz="2200" dirty="0"/>
          </a:p>
        </p:txBody>
      </p:sp>
      <p:sp>
        <p:nvSpPr>
          <p:cNvPr id="15" name="match-card"/>
          <p:cNvSpPr/>
          <p:nvPr/>
        </p:nvSpPr>
        <p:spPr>
          <a:xfrm>
            <a:off x="5372423" y="2672080"/>
            <a:ext cx="6042032" cy="1506220"/>
          </a:xfrm>
          <a:prstGeom prst="roundRect">
            <a:avLst>
              <a:gd name="adj" fmla="val 4857"/>
            </a:avLst>
          </a:prstGeom>
          <a:solidFill>
            <a:srgbClr val="F4EDDF"/>
          </a:solidFill>
          <a:ln/>
        </p:spPr>
      </p:sp>
      <p:sp>
        <p:nvSpPr>
          <p:cNvPr id="16" name="match-hex"/>
          <p:cNvSpPr/>
          <p:nvPr/>
        </p:nvSpPr>
        <p:spPr>
          <a:xfrm>
            <a:off x="5445575" y="3258897"/>
            <a:ext cx="384048" cy="332586"/>
          </a:xfrm>
          <a:prstGeom prst="hexagon">
            <a:avLst/>
          </a:prstGeom>
          <a:solidFill>
            <a:srgbClr val="B8862B"/>
          </a:solidFill>
          <a:ln/>
        </p:spPr>
      </p:sp>
      <p:sp>
        <p:nvSpPr>
          <p:cNvPr id="17" name="match-hex-label"/>
          <p:cNvSpPr txBox="1"/>
          <p:nvPr/>
        </p:nvSpPr>
        <p:spPr>
          <a:xfrm>
            <a:off x="5445575"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893631" y="2672080"/>
            <a:ext cx="5447672"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Eva's narrowing choices after she loses two jobs in a row</a:t>
            </a:r>
            <a:endParaRPr lang="en-US" sz="2200" dirty="0"/>
          </a:p>
        </p:txBody>
      </p:sp>
      <p:sp>
        <p:nvSpPr>
          <p:cNvPr id="19" name="match-card"/>
          <p:cNvSpPr/>
          <p:nvPr/>
        </p:nvSpPr>
        <p:spPr>
          <a:xfrm>
            <a:off x="777240" y="4269740"/>
            <a:ext cx="4229423" cy="1506220"/>
          </a:xfrm>
          <a:prstGeom prst="roundRect">
            <a:avLst>
              <a:gd name="adj" fmla="val 4857"/>
            </a:avLst>
          </a:prstGeom>
          <a:solidFill>
            <a:srgbClr val="EDE9F0"/>
          </a:solidFill>
          <a:ln/>
        </p:spPr>
      </p:sp>
      <p:sp>
        <p:nvSpPr>
          <p:cNvPr id="20" name="match-hex"/>
          <p:cNvSpPr/>
          <p:nvPr/>
        </p:nvSpPr>
        <p:spPr>
          <a:xfrm>
            <a:off x="850392" y="4856557"/>
            <a:ext cx="384048" cy="332586"/>
          </a:xfrm>
          <a:prstGeom prst="hexagon">
            <a:avLst/>
          </a:prstGeom>
          <a:solidFill>
            <a:srgbClr val="5B3A7A"/>
          </a:solidFill>
          <a:ln/>
        </p:spPr>
      </p:sp>
      <p:sp>
        <p:nvSpPr>
          <p:cNvPr id="21" name="match-hex-label"/>
          <p:cNvSpPr txBox="1"/>
          <p:nvPr/>
        </p:nvSpPr>
        <p:spPr>
          <a:xfrm>
            <a:off x="850392" y="4856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269740"/>
            <a:ext cx="3635063"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Women in 1912 had few jobs open to them and could not vote</a:t>
            </a:r>
            <a:endParaRPr lang="en-US" sz="2200" dirty="0"/>
          </a:p>
        </p:txBody>
      </p:sp>
      <p:sp>
        <p:nvSpPr>
          <p:cNvPr id="23" name="match-card"/>
          <p:cNvSpPr/>
          <p:nvPr/>
        </p:nvSpPr>
        <p:spPr>
          <a:xfrm>
            <a:off x="5372423" y="4269740"/>
            <a:ext cx="6042032" cy="1506220"/>
          </a:xfrm>
          <a:prstGeom prst="roundRect">
            <a:avLst>
              <a:gd name="adj" fmla="val 4857"/>
            </a:avLst>
          </a:prstGeom>
          <a:solidFill>
            <a:srgbClr val="F4EDDF"/>
          </a:solidFill>
          <a:ln/>
        </p:spPr>
      </p:sp>
      <p:sp>
        <p:nvSpPr>
          <p:cNvPr id="24" name="match-hex"/>
          <p:cNvSpPr/>
          <p:nvPr/>
        </p:nvSpPr>
        <p:spPr>
          <a:xfrm>
            <a:off x="5445575" y="4856557"/>
            <a:ext cx="384048" cy="332586"/>
          </a:xfrm>
          <a:prstGeom prst="hexagon">
            <a:avLst/>
          </a:prstGeom>
          <a:solidFill>
            <a:srgbClr val="B8862B"/>
          </a:solidFill>
          <a:ln/>
        </p:spPr>
      </p:sp>
      <p:sp>
        <p:nvSpPr>
          <p:cNvPr id="25" name="match-hex-label"/>
          <p:cNvSpPr txBox="1"/>
          <p:nvPr/>
        </p:nvSpPr>
        <p:spPr>
          <a:xfrm>
            <a:off x="5445575" y="4856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893631" y="4269740"/>
            <a:ext cx="5447672"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Inspector's warning that people who will not learn the lesson will be taught it by force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piece of context to the moment in the play it helps you understand.</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left-hand side and say in your own words what each fact means for an ordinary person in 1912.</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character would feel this fact most? The person who sacks, or the person who is sacked?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moment on the right that would be different if the fact were not true.</a:t>
            </a:r>
            <a:endParaRPr lang="en-US" sz="1800" dirty="0"/>
          </a:p>
        </p:txBody>
      </p:sp>
      <p:sp>
        <p:nvSpPr>
          <p:cNvPr id="17" name="col-Core"/>
          <p:cNvSpPr/>
          <p:nvPr/>
        </p:nvSpPr>
        <p:spPr>
          <a:xfrm>
            <a:off x="5490762" y="2593848"/>
            <a:ext cx="2938987" cy="3550920"/>
          </a:xfrm>
          <a:prstGeom prst="roundRect">
            <a:avLst>
              <a:gd name="adj" fmla="val 1867"/>
            </a:avLst>
          </a:prstGeom>
          <a:solidFill>
            <a:srgbClr val="D6CED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fact removes a safety net or adds a blind spot. Match the net to the person who falls through it, or the blind spot to the person who cannot see.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5B3A7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one pair and write a single exam sentence that names the moment, describes it precisely, and weaves the context into the same sentence. Then say which assessment objective that sentence is earning.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Why 1912, written in 1945?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Priestley set his play in 1912 but wrote it for an audience in 1945.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(1 of 2): Why 1912, written in 1945?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why Priestley set his play in 1912 but wrote it for an audience in 1945. Write one developed paragraph.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What: write one sentence saying that the gap between the dates lets the audience see what the characters cannot.</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describe one of Birling's confident predictions in your own words and say what really happened.</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Why: name the method (dramatic irony) and say how it makes the audience feel about Birling.</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Context: end with what the 1945 audience was deciding about the future of Britain.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(2 of 2): Why 1912, written in 1945?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why Priestley set his play in 1912 but wrote it for an audience in 1945. Write one developed paragraph.</a:t>
            </a:r>
            <a:endParaRPr lang="en-US" sz="2000" dirty="0"/>
          </a:p>
        </p:txBody>
      </p:sp>
      <p:sp>
        <p:nvSpPr>
          <p:cNvPr id="12" name="col-Core"/>
          <p:cNvSpPr/>
          <p:nvPr/>
        </p:nvSpPr>
        <p:spPr>
          <a:xfrm>
            <a:off x="548640" y="2593848"/>
            <a:ext cx="5410048" cy="3550920"/>
          </a:xfrm>
          <a:prstGeom prst="roundRect">
            <a:avLst>
              <a:gd name="adj" fmla="val 1545"/>
            </a:avLst>
          </a:prstGeom>
          <a:solidFill>
            <a:srgbClr val="D6CED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Two reasons: hindsight (dramatic irony) and safety (criticising the past to question the present). Give an example of the first and a sentence on the second.</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Argue the other way: what would the play lose if Priestley had set it in 1945? Then judge whether the 1912 setting makes the message stronger or lets a modern audience dismiss it as history.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is An Inspector Calls set?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1912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1914</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1945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1926</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(1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16459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1691640" y="2167128"/>
            <a:ext cx="8808415"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Titanic sailed in April 1912 and sank on its first voyage  →  D  Mr Birling's confident speech about the future, which the audience knows is wrong in every detail</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There was no welfare state in 1912  →  A  Eva Smith has to beg a charity committee for help when she is pregnant and penniless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Workers struck for better pay across Britain in 1910 to 1912  →  E  Mr Birling sacks the workers who asked him for a rise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Priestley's audience had just lived through a second world war  →  C  The Inspector's warning that people who will not learn the lesson will be taught it by force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Women in 1912 had few jobs open to them and could not vote  →  B  Eva's narrowing choices after she loses two jobs in a row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(2 of 2): Context to meaning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why-panel"/>
          <p:cNvSpPr/>
          <p:nvPr/>
        </p:nvSpPr>
        <p:spPr>
          <a:xfrm>
            <a:off x="1463040" y="1389888"/>
            <a:ext cx="9265615" cy="4754880"/>
          </a:xfrm>
          <a:prstGeom prst="roundRect">
            <a:avLst>
              <a:gd name="adj" fmla="val 962"/>
            </a:avLst>
          </a:prstGeom>
          <a:solidFill>
            <a:srgbClr val="EAE5EE"/>
          </a:solidFill>
          <a:ln/>
        </p:spPr>
      </p:sp>
      <p:sp>
        <p:nvSpPr>
          <p:cNvPr id="8" name="why-hex"/>
          <p:cNvSpPr/>
          <p:nvPr/>
        </p:nvSpPr>
        <p:spPr>
          <a:xfrm>
            <a:off x="1645920" y="1572768"/>
            <a:ext cx="685800" cy="593903"/>
          </a:xfrm>
          <a:prstGeom prst="hexagon">
            <a:avLst/>
          </a:prstGeom>
          <a:solidFill>
            <a:srgbClr val="5B3A7A"/>
          </a:solidFill>
          <a:ln/>
        </p:spPr>
      </p:sp>
      <p:sp>
        <p:nvSpPr>
          <p:cNvPr id="9" name="why-hex-label"/>
          <p:cNvSpPr txBox="1"/>
          <p:nvPr/>
        </p:nvSpPr>
        <p:spPr>
          <a:xfrm>
            <a:off x="164592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0" name="why"/>
          <p:cNvSpPr txBox="1"/>
          <p:nvPr/>
        </p:nvSpPr>
        <p:spPr>
          <a:xfrm>
            <a:off x="1645920" y="2304288"/>
            <a:ext cx="889985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Context earns marks (AO3) only when it explains why a moment matters. Each pair here is one link you can reuse in an essay.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Why 1912, written in 1945?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EDE9F0"/>
          </a:solidFill>
          <a:ln/>
        </p:spPr>
      </p:sp>
      <p:sp>
        <p:nvSpPr>
          <p:cNvPr id="9" name="tickbox"/>
          <p:cNvSpPr/>
          <p:nvPr/>
        </p:nvSpPr>
        <p:spPr>
          <a:xfrm>
            <a:off x="713232" y="2209038"/>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you give at least two reasons for the gap between the two dates</a:t>
            </a:r>
            <a:endParaRPr lang="en-US" sz="2200" dirty="0"/>
          </a:p>
        </p:txBody>
      </p:sp>
      <p:sp>
        <p:nvSpPr>
          <p:cNvPr id="11" name="crit-box"/>
          <p:cNvSpPr/>
          <p:nvPr/>
        </p:nvSpPr>
        <p:spPr>
          <a:xfrm>
            <a:off x="548640" y="2817876"/>
            <a:ext cx="11094415" cy="742188"/>
          </a:xfrm>
          <a:prstGeom prst="roundRect">
            <a:avLst>
              <a:gd name="adj" fmla="val 12320"/>
            </a:avLst>
          </a:prstGeom>
          <a:solidFill>
            <a:srgbClr val="EDE9F0"/>
          </a:solidFill>
          <a:ln/>
        </p:spPr>
      </p:sp>
      <p:sp>
        <p:nvSpPr>
          <p:cNvPr id="12" name="tickbox"/>
          <p:cNvSpPr/>
          <p:nvPr/>
        </p:nvSpPr>
        <p:spPr>
          <a:xfrm>
            <a:off x="713232" y="3042666"/>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17876"/>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you refer precisely to a moment in the play that the gap makes powerful</a:t>
            </a:r>
            <a:endParaRPr lang="en-US" sz="2200" dirty="0"/>
          </a:p>
        </p:txBody>
      </p:sp>
      <p:sp>
        <p:nvSpPr>
          <p:cNvPr id="14" name="crit-box"/>
          <p:cNvSpPr/>
          <p:nvPr/>
        </p:nvSpPr>
        <p:spPr>
          <a:xfrm>
            <a:off x="548640" y="3651504"/>
            <a:ext cx="11094415" cy="742188"/>
          </a:xfrm>
          <a:prstGeom prst="roundRect">
            <a:avLst>
              <a:gd name="adj" fmla="val 12320"/>
            </a:avLst>
          </a:prstGeom>
          <a:solidFill>
            <a:srgbClr val="EDE9F0"/>
          </a:solidFill>
          <a:ln/>
        </p:spPr>
      </p:sp>
      <p:sp>
        <p:nvSpPr>
          <p:cNvPr id="15" name="tickbox"/>
          <p:cNvSpPr/>
          <p:nvPr/>
        </p:nvSpPr>
        <p:spPr>
          <a:xfrm>
            <a:off x="713232" y="387629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65150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you name the method the gap creates (dramatic irony) and explain its effect</a:t>
            </a:r>
            <a:endParaRPr lang="en-US" sz="2200" dirty="0"/>
          </a:p>
        </p:txBody>
      </p:sp>
      <p:sp>
        <p:nvSpPr>
          <p:cNvPr id="17" name="crit-box"/>
          <p:cNvSpPr/>
          <p:nvPr/>
        </p:nvSpPr>
        <p:spPr>
          <a:xfrm>
            <a:off x="548640" y="4485132"/>
            <a:ext cx="11094415" cy="1083056"/>
          </a:xfrm>
          <a:prstGeom prst="roundRect">
            <a:avLst>
              <a:gd name="adj" fmla="val 8443"/>
            </a:avLst>
          </a:prstGeom>
          <a:solidFill>
            <a:srgbClr val="EDE9F0"/>
          </a:solidFill>
          <a:ln/>
        </p:spPr>
      </p:sp>
      <p:sp>
        <p:nvSpPr>
          <p:cNvPr id="18" name="tickbox"/>
          <p:cNvSpPr/>
          <p:nvPr/>
        </p:nvSpPr>
        <p:spPr>
          <a:xfrm>
            <a:off x="713232" y="4880356"/>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485132"/>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you link the choice to what the 1945 audience had lived through or was deciding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Why 1912, written in 1945?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Priestley set his play in 1912 but wrote it in 1945 so that his audience would watch the Birlings with hindsight. In the first act Mr Birling promises the young men a future of peace and growing prosperity and insists that the great new liner about to sail cannot sink. Every person in the theatre in 1945 knew that the Titanic sank days later, that war came in 1914, and that a second war had only just ended. This is dramatic irony: the audience knows what the character does not, and it makes Birling's confidence look foolish and his politics suspect. The gap also let Priestley criticise his own society safely, by placing its selfishness in the past, while asking his audience whether they wanted to build the same kind of Britain again or a fairer one.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is An Inspector Calls set?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1912</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play is set on a spring evening in 1912, the year the Titanic sank and two years before the First World War. It was written in 1945.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1: Two dates: 1912 and 1945</dc:title>
  <dc:subject>English Literature · Year 10</dc:subject>
  <dc:creator>Dr Vitor Merissi de Carvalho</dc:creator>
  <cp:lastModifiedBy>Dr Vitor Merissi de Carvalho</cp:lastModifiedBy>
  <cp:revision>1</cp:revision>
  <dcterms:created xsi:type="dcterms:W3CDTF">2026-10-19T06:07:29Z</dcterms:created>
  <dcterms:modified xsi:type="dcterms:W3CDTF">2026-10-19T06:07:29Z</dcterms:modified>
</cp:coreProperties>
</file>