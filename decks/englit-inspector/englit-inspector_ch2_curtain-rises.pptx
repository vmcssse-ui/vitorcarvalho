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ca720a3-e489-aec8-bb3b-b51ad708774e}">
          <p14:sldIdLst>
            <p14:sldId id="256"/>
          </p14:sldIdLst>
        </p14:section>
        <p14:section name="Gate" id="{0508c7ff-c7bb-3554-da37-11c7ef468d6f}">
          <p14:sldIdLst>
            <p14:sldId id="257"/>
            <p14:sldId id="258"/>
          </p14:sldIdLst>
        </p14:section>
        <p14:section name="Pre-teach" id="{0cd86998-04a8-b747-e55f-15642a7578e7}">
          <p14:sldIdLst>
            <p14:sldId id="259"/>
            <p14:sldId id="260"/>
          </p14:sldIdLst>
        </p14:section>
        <p14:section name="Read-along" id="{057eb262-6ff6-eb11-aa4b-495c02294923}">
          <p14:sldIdLst>
            <p14:sldId id="261"/>
            <p14:sldId id="262"/>
          </p14:sldIdLst>
        </p14:section>
        <p14:section name="Teach" id="{e664429f-6078-8632-c7f6-58996be31095}">
          <p14:sldIdLst>
            <p14:sldId id="263"/>
            <p14:sldId id="264"/>
            <p14:sldId id="265"/>
            <p14:sldId id="266"/>
          </p14:sldIdLst>
        </p14:section>
        <p14:section name="Routes" id="{23857293-0fb0-8543-99c0-516898fa2951}">
          <p14:sldIdLst>
            <p14:sldId id="267"/>
            <p14:sldId id="268"/>
            <p14:sldId id="269"/>
            <p14:sldId id="270"/>
            <p14:sldId id="271"/>
          </p14:sldIdLst>
        </p14:section>
        <p14:section name="Close" id="{5d091108-e36d-cea1-cdac-0fa9ac5be132}">
          <p14:sldIdLst>
            <p14:sldId id="272"/>
          </p14:sldIdLst>
        </p14:section>
        <p14:section name="Answers" id="{22a2a274-6c02-390d-14a2-445955f0a211}">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The curtain rises: a comfortable room and a sharp ring at the door (Act 1). This chapter reads the opening stage directions, Mr Birling's speeches and the moment the Inspector walks in.
This deck covers the department's lessons: 2 (Inference from stage directions and setting: What do the opening stage directions show us about the characters and the world they live in?); 3 (Mr Birling's capitalist views: What is Priestley trying to show us about Mr Birling in the opening scene?); 4 (Mr Birling vs the Inspector: How does Priestley contrast Mr Birling with the Inspector?).
Read the big question aloud: "How does Priestley use the Birling family and the Inspector to make his 1945 audience accept that we are all responsible for one another?"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happens to the stage lighting when the Inspector arrives?  →  A   It becomes brighter and harsher
2. When the curtain rises, how many people are seated at the dining table?  →  5 people
3. When the audience knows something a character does not, for example that the Titanic will sink, the method is called dramatic ___.  →  irony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It becomes brighter and harsher. The directions ask for soft, rosy, intimate light before the Inspector arrives and brighter, harsher light afterwards. The cosy party is suddenly exposed, like a suspect under a lamp.
2. 5 people. The four Birlings (Arthur, Sybil, Sheila and Eric) plus Gerald Croft: five. Edna the maid is clearing the table, not sitting at it, and the Inspector has not yet arrived.
3. irony. Dramatic irony is the gap between what the audience knows and what the character knows. The 1945 audience knew the fate of the Titanic; Birling in 1912 did not.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stage directions: the playwright's instructions for set, lighting and actors. Example: "The stage directions tell us the room is rich but not warm."
• inference: working out what is suggested but not said. Example: "A good inference from the heavy furniture is that the Birlings like to show their money."
• portentous: self-important and pompous. Example: "Mr Birling is described as portentous, a man who thinks his own opinions matter a great deal."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prosperous: rich and successful. Example: "The house belongs to a prosperous factory owner."
• dramatic irony: when the audience knows what a character does not. Example: "It is dramatic irony when Birling says there will be no war."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play opens in a dining room in a big house.
2. The furniture is solid and expensive.
3. The room looks rich, but it does not feel warm.
4. The Birling family are finishing a special dinner.
5. Sheila has just become engaged to Gerald Croft.
6. Mr Birling is a factory owner who is proud of his success.
7. He makes long speeches about the future.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He says there will be no war and business will boom.
9. The audience in 1945 knows he is wrong about everything.
10. He tells the young men to look after themselves and nobody else.
11. At that very moment, the doorbell rings sharply.
12. A police inspector has come about a young woman's death.
13. The soft lighting becomes bright and harsh.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the room. Say it in your own words, then check understanding with a quick question: ask a pupil from the pre-teach group first, since they met these words and ideas before the lesson. Pupils try to recall before you re-explain.
Before anyone speaks, Priestley has already told you a great deal. The stage directions describe the dining room of a large house in the suburbs, owned by a prosperous manufacturer. The furniture is good and solid, the kind that costs money and is meant to look as if it does. Yet the directions insist that the effect is heavy and comfortable rather than warm and welcoming. Your first inference: this is a family that has money, and shows it, but is not close.
Look at the table. It has no cloth, so the polished wood is on display. The maid, Edna, is clearing away the dessert plates and the champagne glasses and bringing in the port and the cigars. Everyone is in evening dress, the men in tails and white ties, for a dinner at home. The directions tell us that they have eaten well, that they are celebrating, and that they are thoroughly satisfied with themselves. Priestley wants you to see smugness before you hear a word.
Then there is the light. Priestley asks for soft, rosy, intimate lighting until the Inspector arrives, and then for something brighter and harsher. The change works like an interrogation lamp: the cosy glow of the party gives way to a light in which nothing can hide. When you write about the setting, this is the detail examiners love, because it is a method with a clear effect.
Tip: For AO2 on a play, stage directions count as a method. Lighting, furniture, who sits where and how people move are all choices Priestley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people at the table. Say it in your own words, then check understanding with a quick question: ask a pupil from the pre-teach group first, since they met these words and ideas before the lesson. Pupils try to recall before you re-explain.
The stage directions introduce each character before they speak. Arthur Birling is a heavy-set man in his fifties, described with the word ‘portentous’, which means pompous and self-important. His manners are easy enough, but his accent and turns of phrase mark him as a man from an industrial town, not the capital: he is a self-made man from an industrial town, not a gentleman born. Sybil Birling, about fifty, is described as a cold woman, and she comes from a higher social class than her husband. That gap matters: it explains her snobbery and his hunger for a knighthood.
Sheila, in her early twenties, is pretty, excited and delighted with life. Gerald Croft, about thirty, is the polished, well-bred young gentleman, handsome and at ease without being vain about it. Eric, also in his early twenties, is the odd one out: not at ease, caught somewhere between shyness and over-confidence. Nothing has happened yet, but Priestley has planted a question. Why is the son of the house the only person at the table who looks uncomfortable?
Your lessons use PEIRL to turn these inferences into a paragraph: a Point, Evidence from the stage directions, an Inference about what it suggests, the Reader's or audience's response, and a Link to Priestley's purpose and the context. The word bank from the deck will help: implies, suggests, conveys, represents, alludes to.
Tip: Learn the one-word labels the directions give each character: pompous father, cold mother, excited daughter, polished fiancé, uneasy son. They are your starting points for every character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Mr Birling's speeches and the doorbell. Say it in your own words, then check understanding with a quick question: ask a pupil from the pre-teach group first, since they met these words and ideas before the lesson. Pupils try to recall before you re-explain.
Once the toasts are over, Mr Birling holds forth. He tells the table that the engagement is good news for business, because the Birling and Croft firms may stop competing and work together. He predicts a long period of growing prosperity. He dismisses the recent strikes as finished. He insists that the Germans do not want a war because they have too much to lose, and that the great new liner sailing next week is impossible to sink. He even looks forward to 1940, when, he says, all this talk of war will have been forgotten.
Every one of these claims is wrong, and the 1945 audience knew it. The Titanic sank on 15 April 1912, war began in 1914, the strikes grew into the General Strike of 1926, and in 1940 Britain was being bombed. This is dramatic irony, and it does more than make Birling look foolish. If he is wrong about every fact, why should we trust his opinions? Priestley is quietly discrediting Birling's politics before the Inspector has said a word.
The women leave, and Birling lectures Gerald and Eric. He tells them that community spirit is nonsense, and that a man's only duty is to himself and to his family. At that exact moment the doorbell rings, sharply. The man who has come to the door will spend the whole play proving the opposite. The timing is a structural choice: Priestley interrupts the selfish creed with the person who will destroy it.
Tip: When you write about Birling's predictions, give the real date of what happened. Precise context is what turns a mention into AO3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Inspector arrives: the first link. Say it in your own words, then check understanding with a quick question: ask a pupil from the pre-teach group first, since they met these words and ideas before the lesson. Pupils try to recall before you re-explain.
The stage directions make the Inspector solid. Priestley says he does not have to be physically large, yet he gives an impression of size, weight and purpose. He is in his fifties, in a plain dark suit, and he speaks slowly and carefully. He has an unsettling way of fixing his eyes on whoever he is about to address, and only then speaking. His name, Goole, sounds like ‘ghoul’, a spirit that haunts the dead, and the pun is a hint you will return to in chapter 5.
He tells the family that a young woman has died at the Infirmary two hours earlier after drinking disinfectant, and that she left a letter and a diary. Her name was Eva Smith, and she once worked in Birling's factory. In the autumn of 1910 she and some other workers asked for a small rise, from twenty-two shillings and sixpence to twenty-five shillings a week. Birling refused; they went on strike; after a week or two they came back; and he sacked the ringleaders, Eva among them. He says he would do the same again, because it was his duty to keep costs down.
The Inspector is not impressed by Birling's titles, his years as Lord Mayor, his seat as a magistrate or his friendship with the Chief Constable. When Birling mentions that the two of them play golf together, the Inspector flatly replies that he does not. He is the only character Birling cannot charm, bully or buy. Your lessons call him an authorial surrogate: the character through whom Priestley speaks directly to the audience, standing for socialism as Birling stands for capitalism.
Tip: Build a two-column table, Birling against the Inspector: profit against people, status against duty, the individual against the community. Every contrast is a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Why the doorbell rings when it does.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Mr Birling tells the young men that a man's only duty is to himself and to his family, and dismisses community spirit as nonsense. At that exact moment the doorbell rings. Why does Priestley time the Inspector's arrival like this?
Support — work through the steps with the group: (1) Write down, in your own words, the idea Birling is expressing just before the bell rings. (2) Write down what the Inspector will argue in his final speech in Act 3. (3) Notice that the two ideas are exact opposites. The bell cuts one off and brings in the other.
Parallel worked example for Support (model it, do not give the task answer): Practice: at the end of Act 2, Mrs Birling demands that the father of Eva's child be made an example of and punished severely. Eric then walks in. Why does Priestley time his entrance like this? Mrs Birling has just condemned the father without knowing who he is.; The audience and Sheila already suspect Eric.; His entrance makes her words land on her own son.. Answer: So that Mrs Birling's demand for punishment falls on her own son the moment he appears, which is dramatic irony turned against her..
Core — reveal the hint only on request: Ask what the Inspector stands for, then ask what Birling has just said. The bell rings between a creed and its opposite.
Stretch — no help; when finished: Priestley could have had the Inspector arrive during the toasts, or after dinner was over. Explain what would be lost in each case, then link the timing to the idea of the Inspector as a figure of conscience.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Why the doorbell rings when it does.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Mr Birling tells the young men that a man's only duty is to himself and to his family, and dismisses community spirit as nonsense. At that exact moment the doorbell rings. Why does Priestley time the Inspector's arrival like this?
Support — work through the steps with the group: (1) Write down, in your own words, the idea Birling is expressing just before the bell rings. (2) Write down what the Inspector will argue in his final speech in Act 3. (3) Notice that the two ideas are exact opposites. The bell cuts one off and brings in the other.
Parallel worked example for Support (model it, do not give the task answer): Practice: at the end of Act 2, Mrs Birling demands that the father of Eva's child be made an example of and punished severely. Eric then walks in. Why does Priestley time his entrance like this? Mrs Birling has just condemned the father without knowing who he is.; The audience and Sheila already suspect Eric.; His entrance makes her words land on her own son.. Answer: So that Mrs Birling's demand for punishment falls on her own son the moment he appears, which is dramatic irony turned against her..
Core — reveal the hint only on request: Ask what the Inspector stands for, then ask what Birling has just said. The bell rings between a creed and its opposite.
Stretch — no help; when finished: Priestley could have had the Inspector arrive during the toasts, or after dinner was over. Explain what would be lost in each case, then link the timing to the idea of the Inspector as a figure of conscience.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Birlings in the stage directions.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use the opening stage directions to present the Birling family? Write one developed PEIRL paragraph.
Support — work through the steps with the group: (1) Point: choose two adjectives for the family (wealthy, smug, cold, divided) and write a sentence using them. (2) Evidence: pick two details, such as the heavy furniture or the lack of a tablecloth, and describe them precisely. (3) Inference: for each detail, write ‘This suggests that…’ and finish the sentence. (4) Reader and Link: say how a 1945 audience would react, then write ‘Priestley's purpose was to…’ and link to the class divide of 1912.
Parallel worked example for Support (model it, do not give the task answer): Practice question: how do the stage directions present the Inspector when he first enters? Point: the Inspector is presented as solid and purposeful.; Evidence: he need not be large, but he gives an impression of size and weight; he stares at people before he speaks.; Inference: this suggests a man who cannot be hurried or pushed aside.; Reader and Link: the audience feels the balance of power shift; Priestley gives his socialist spokesman an authority Birling cannot match.. Answer: Priestley presents the Inspector as solid and purposeful. The directions say he need not be a large man, yet he gives an impression of size and weight, and he fixes his eyes on each person before speaking. This suggests someone who cannot be hurried or brushed aside, and the audience feels the balance of power in the room shift the moment he enters. Priestley's purpose is to give his socialist spokesman an authority that Birling's titles cannot match..
Core — reveal the hint only on request: Use the PEIRL letters as headings in your plan, then join them into one paragraph. Your Link must mention 1912 or 1945, not both vaguely.
Stretch — no help; when finished: Add a sentence on the lighting change and argue that the stage directions give away the play's whole structure before anyone speaks: comfort, interruption,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Birlings in the stage directions.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use the opening stage directions to present the Birling family? Write one developed PEIRL paragraph.
Support — work through the steps with the group: (1) Point: choose two adjectives for the family (wealthy, smug, cold, divided) and write a sentence using them. (2) Evidence: pick two details, such as the heavy furniture or the lack of a tablecloth, and describe them precisely. (3) Inference: for each detail, write ‘This suggests that…’ and finish the sentence. (4) Reader and Link: say how a 1945 audience would react, then write ‘Priestley's purpose was to…’ and link to the class divide of 1912.
Parallel worked example for Support (model it, do not give the task answer): Practice question: how do the stage directions present the Inspector when he first enters? Point: the Inspector is presented as solid and purposeful.; Evidence: he need not be large, but he gives an impression of size and weight; he stares at people before he speaks.; Inference: this suggests a man who cannot be hurried or pushed aside.; Reader and Link: the audience feels the balance of power shift; Priestley gives his socialist spokesman an authority Birling cannot match.. Answer: Priestley presents the Inspector as solid and purposeful. The directions say he need not be a large man, yet he gives an impression of size and weight, and he fixes his eyes on each person before speaking. This suggests someone who cannot be hurried or brushed aside, and the audience feels the balance of power in the room shift the moment he enters. Priestley's purpose is to give his socialist spokesman an authority that Birling's titles cannot match..
Core — reveal the hint only on request: Use the PEIRL letters as headings in your plan, then join them into one paragraph. Your Link must mention 1912 or 1945, not both vaguely.
Stretch — no help; when finished: Add a sentence on the lighting change and argue that the stage directions give away the play's whole structure before anyone speaks: comfort, interruption,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Birlings in the stage directions.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use the opening stage directions to present the Birling family? Write one developed PEIRL paragraph.
Support — work through the steps with the group: (1) Point: choose two adjectives for the family (wealthy, smug, cold, divided) and write a sentence using them. (2) Evidence: pick two details, such as the heavy furniture or the lack of a tablecloth, and describe them precisely. (3) Inference: for each detail, write ‘This suggests that…’ and finish the sentence. (4) Reader and Link: say how a 1945 audience would react, then write ‘Priestley's purpose was to…’ and link to the class divide of 1912.
Parallel worked example for Support (model it, do not give the task answer): Practice question: how do the stage directions present the Inspector when he first enters? Point: the Inspector is presented as solid and purposeful.; Evidence: he need not be large, but he gives an impression of size and weight; he stares at people before he speaks.; Inference: this suggests a man who cannot be hurried or pushed aside.; Reader and Link: the audience feels the balance of power shift; Priestley gives his socialist spokesman an authority Birling cannot match.. Answer: Priestley presents the Inspector as solid and purposeful. The directions say he need not be a large man, yet he gives an impression of size and weight, and he fixes his eyes on each person before speaking. This suggests someone who cannot be hurried or brushed aside, and the audience feels the balance of power in the room shift the moment he enters. Priestley's purpose is to give his socialist spokesman an authority that Birling's titles cannot match..
Core — reveal the hint only on request: Use the PEIRL letters as headings in your plan, then join them into one paragraph. Your Link must mention 1912 or 1945, not both vaguely.
Stretch — no help; when finished: Add a sentence on the lighting change and argue that the stage directions give away the play's whole structure before anyone speaks: comfort, interruption,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happens to the stage lighting when the Inspector arrives?
Answer: D   It becomes brighter and harsher. The directions ask for soft, rosy, intimate light before the Inspector arrives and brighter, harsher light afterwards. The cosy party is suddenly exposed, like a suspect under a lamp.
Source of this question: gate item 1 re-asked (options rotated) — this chapter has no third quick-check module.
The ebook also holds task 3, "What Mr Birling got wrong",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Why the doorbell rings when it does. Reveal the answer; pupils mark their own work in a different colour, then read the "why" together. Same destination for every lane, so one answer serves the whole class.
Answer: A   To interrupt Birling's selfish creed with the one person who will spend the play proving it wrong
Why: Structure is a method. The bell interrupts the clearest statement of capitalism in the play with the arrival of the character who stands for its opposite, so the audience hears the argument before it begins.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Birlings in the stage directions. Reveal the answer; pupils mark their own work in a different colour, then read the "why" together. Same destination for every lane, so one answer serves the whole class.
Answer: Point: a clear statement about how the family is presented (for example wealthy, smug, not close); Evidence: two precise details from the stage directions, described exactly (in the exam you would quote them); Inference: what each detail implies or suggests about the family; Reader and Link: what the 1945 audience would think or feel, and how it serves Priestley's purpose about class
Why: A PEIRL paragraph moves from a clear point, to precise evidence, to what it suggests, to the audience's response, to Priestley's purpose. The model shows each step in that order without quoting, which you would do in the exam.
Model answer: Priestley uses the opening stage directions to present the Birlings as wealthy, comfortable and smug. The dining room belongs to a prosperous factory owner, and the furniture is heavy and expensive, yet the directions insist that the room is not warm or welcoming. This suggests that money has bought the family comfort but not closeness: they sit at opposite ends of a long table, in full evening dress, celebrating themselves. The directions also tell us they are thoroughly satisfied with their own success, and the audience is invited to distrust that satisfaction before a word is spoken. A 1945 audience, many of whom had lost homes and relatives in the war, would recognise a class that was protected from hardship and believed it had earned that protection. Priestley's purpose was to make his post-war audience see the gap between families like the Birlings and the Eva Smiths who worked for them, so that when the Inspector arrives and the light hardens, it feels like the truth walking in.
Success criteria: Point: a clear statement about how the family is presented (for example wealthy, smug, not close); Evidence: two precise details from the stage directions, described exactly (in the exam you would quote them); Inference: what each detail implies or suggests about the family; Reader and Link: what the 1945 audience would think or feel, and how it serves Priestley's purpose about class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Birlings in the stage directions. Reveal the answer; pupils mark their own work in a different colour, then read the "why" together. Same destination for every lane, so one answer serves the whole class.
Answer: Point: a clear statement about how the family is presented (for example wealthy, smug, not close); Evidence: two precise details from the stage directions, described exactly (in the exam you would quote them); Inference: what each detail implies or suggests about the family; Reader and Link: what the 1945 audience would think or feel, and how it serves Priestley's purpose about class
Why: A PEIRL paragraph moves from a clear point, to precise evidence, to what it suggests, to the audience's response, to Priestley's purpose. The model shows each step in that order without quoting, which you would do in the exam.
Model answer: Priestley uses the opening stage directions to present the Birlings as wealthy, comfortable and smug. The dining room belongs to a prosperous factory owner, and the furniture is heavy and expensive, yet the directions insist that the room is not warm or welcoming. This suggests that money has bought the family comfort but not closeness: they sit at opposite ends of a long table, in full evening dress, celebrating themselves. The directions also tell us they are thoroughly satisfied with their own success, and the audience is invited to distrust that satisfaction before a word is spoken. A 1945 audience, many of whom had lost homes and relatives in the war, would recognise a class that was protected from hardship and believed it had earned that protection. Priestley's purpose was to make his post-war audience see the gap between families like the Birlings and the Eva Smiths who worked for them, so that when the Inspector arrives and the light hardens, it feels like the truth walking in.
Success criteria: Point: a clear statement about how the family is presented (for example wealthy, smug, not close); Evidence: two precise details from the stage directions, described exactly (in the exam you would quote them); Inference: what each detail implies or suggests about the family; Reader and Link: what the 1945 audience would think or feel, and how it serves Priestley's purpose about class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It becomes brighter and harsher
Why: The directions ask for soft, rosy, intimate light before the Inspector arrives and brighter, harsher light afterwards. The cosy party is suddenly exposed, like a suspect under a lamp.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An Inspector Calls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An Inspector Calls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D2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An Inspector Calls · AQA 8702</a:t>
            </a:r>
            <a:endParaRPr lang="en-US" sz="1800" dirty="0"/>
          </a:p>
        </p:txBody>
      </p:sp>
      <p:sp>
        <p:nvSpPr>
          <p:cNvPr id="10" name="deck-title"/>
          <p:cNvSpPr txBox="1"/>
          <p:nvPr/>
        </p:nvSpPr>
        <p:spPr>
          <a:xfrm>
            <a:off x="548640" y="201218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The curtain rises: a comfortable room and a sharp ring at the door (Act 1)</a:t>
            </a:r>
            <a:endParaRPr lang="en-US" sz="2800" dirty="0"/>
          </a:p>
        </p:txBody>
      </p:sp>
      <p:sp>
        <p:nvSpPr>
          <p:cNvPr id="11" name="lessons-card"/>
          <p:cNvSpPr/>
          <p:nvPr/>
        </p:nvSpPr>
        <p:spPr>
          <a:xfrm>
            <a:off x="548640" y="3754628"/>
            <a:ext cx="5287975" cy="1676400"/>
          </a:xfrm>
          <a:prstGeom prst="roundRect">
            <a:avLst>
              <a:gd name="adj" fmla="val 4364"/>
            </a:avLst>
          </a:prstGeom>
          <a:solidFill>
            <a:srgbClr val="EAE5EE"/>
          </a:solidFill>
          <a:ln/>
        </p:spPr>
      </p:sp>
      <p:sp>
        <p:nvSpPr>
          <p:cNvPr id="12" name="lessons"/>
          <p:cNvSpPr txBox="1"/>
          <p:nvPr/>
        </p:nvSpPr>
        <p:spPr>
          <a:xfrm>
            <a:off x="685800" y="3846068"/>
            <a:ext cx="5013655" cy="14935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Inference from stage directions and setting</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Mr Birling's capitalist views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Mr Birling vs the Inspector</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AE5EE"/>
          </a:solidFill>
          <a:ln w="12700">
            <a:solidFill>
              <a:srgbClr val="B8AAC6"/>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Priestley use the Birling family and the Inspector to make his 1945 audience accept that we are all responsible for one another?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happens to the stage lighting when the Inspector arrives?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becomes brighter and harsher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dims until the stage is almost dark</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turns deep red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does not change at all</a:t>
            </a:r>
            <a:endParaRPr lang="en-US" sz="2000" dirty="0"/>
          </a:p>
        </p:txBody>
      </p:sp>
      <p:sp>
        <p:nvSpPr>
          <p:cNvPr id="12"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When the curtain rises, how many people are seated at the dining table?</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people</a:t>
            </a:r>
            <a:endParaRPr lang="en-US" sz="2400" dirty="0"/>
          </a:p>
        </p:txBody>
      </p:sp>
      <p:sp>
        <p:nvSpPr>
          <p:cNvPr id="17"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When the audience knows something a character does not, for example that the Titanic will sink, the method is called dramatic ___.</a:t>
            </a:r>
            <a:endParaRPr lang="en-US" sz="2200" dirty="0"/>
          </a:p>
          <a:p>
            <a:pPr algn="l" indent="0" marL="0">
              <a:buNone/>
            </a:pPr>
            <a:r>
              <a:rPr lang="en-US" sz="2200" b="1" dirty="0">
                <a:solidFill>
                  <a:srgbClr val="5B3A7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irony  ·  tension  ·  licence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BDDC4"/>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It becomes brighter and harsher</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directions ask for soft, rosy, intimate light before the Inspector arrives and brighter, harsher light afterwards. The cosy party is suddenly exposed, like a suspect under a lamp.</a:t>
            </a:r>
            <a:endParaRPr lang="en-US" sz="1800" dirty="0"/>
          </a:p>
        </p:txBody>
      </p:sp>
      <p:sp>
        <p:nvSpPr>
          <p:cNvPr id="14"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5 people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When the curtain rises, how many people are seated at the dining table?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four Birlings (Arthur, Sybil, Sheila and Eric) plus Gerald Croft: five. Edna the maid is clearing the table, not sitting at it, and the Inspector has not yet arrived.</a:t>
            </a:r>
            <a:endParaRPr lang="en-US" sz="1800" dirty="0"/>
          </a:p>
        </p:txBody>
      </p:sp>
      <p:sp>
        <p:nvSpPr>
          <p:cNvPr id="21"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irony</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Dramatic irony is the gap between what the audience knows and what the character knows. The 1945 audience knew the fate of the Titanic; Birling in 1912 did not.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DE9F0"/>
          </a:solidFill>
          <a:ln w="12700">
            <a:solidFill>
              <a:srgbClr val="B8AAC6"/>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stage directions</a:t>
            </a:r>
            <a:endParaRPr lang="en-US" sz="2600" dirty="0"/>
          </a:p>
        </p:txBody>
      </p:sp>
      <p:sp>
        <p:nvSpPr>
          <p:cNvPr id="11" name="word-rule"/>
          <p:cNvSpPr/>
          <p:nvPr/>
        </p:nvSpPr>
        <p:spPr>
          <a:xfrm>
            <a:off x="731520" y="2129028"/>
            <a:ext cx="3149498" cy="0"/>
          </a:xfrm>
          <a:prstGeom prst="line">
            <a:avLst/>
          </a:prstGeom>
          <a:ln w="12700">
            <a:solidFill>
              <a:srgbClr val="B8AAC6"/>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playwright's instructions for set, lighting and actors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stage directions tell us the room is rich but not warm.</a:t>
            </a:r>
            <a:endParaRPr lang="en-US" sz="2200" dirty="0"/>
          </a:p>
        </p:txBody>
      </p:sp>
      <p:sp>
        <p:nvSpPr>
          <p:cNvPr id="13" name="word-card"/>
          <p:cNvSpPr/>
          <p:nvPr/>
        </p:nvSpPr>
        <p:spPr>
          <a:xfrm>
            <a:off x="4338218" y="1389888"/>
            <a:ext cx="3515258" cy="4754880"/>
          </a:xfrm>
          <a:prstGeom prst="roundRect">
            <a:avLst>
              <a:gd name="adj" fmla="val 1561"/>
            </a:avLst>
          </a:prstGeom>
          <a:solidFill>
            <a:srgbClr val="EDE9F0"/>
          </a:solidFill>
          <a:ln w="12700">
            <a:solidFill>
              <a:srgbClr val="B8AAC6"/>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inference</a:t>
            </a:r>
            <a:endParaRPr lang="en-US" sz="2600" dirty="0"/>
          </a:p>
        </p:txBody>
      </p:sp>
      <p:sp>
        <p:nvSpPr>
          <p:cNvPr id="17" name="word-rule"/>
          <p:cNvSpPr/>
          <p:nvPr/>
        </p:nvSpPr>
        <p:spPr>
          <a:xfrm>
            <a:off x="4521098" y="2129028"/>
            <a:ext cx="3149498" cy="0"/>
          </a:xfrm>
          <a:prstGeom prst="line">
            <a:avLst/>
          </a:prstGeom>
          <a:ln w="12700">
            <a:solidFill>
              <a:srgbClr val="B8AAC6"/>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working out what is suggested but not said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good inference from the heavy furniture is that the Birlings like to show their money.</a:t>
            </a:r>
            <a:endParaRPr lang="en-US" sz="2200" dirty="0"/>
          </a:p>
        </p:txBody>
      </p:sp>
      <p:sp>
        <p:nvSpPr>
          <p:cNvPr id="19" name="word-card"/>
          <p:cNvSpPr/>
          <p:nvPr/>
        </p:nvSpPr>
        <p:spPr>
          <a:xfrm>
            <a:off x="8127797" y="1389888"/>
            <a:ext cx="3515258" cy="4754880"/>
          </a:xfrm>
          <a:prstGeom prst="roundRect">
            <a:avLst>
              <a:gd name="adj" fmla="val 1561"/>
            </a:avLst>
          </a:prstGeom>
          <a:solidFill>
            <a:srgbClr val="EDE9F0"/>
          </a:solidFill>
          <a:ln w="12700">
            <a:solidFill>
              <a:srgbClr val="B8AAC6"/>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portentous</a:t>
            </a:r>
            <a:endParaRPr lang="en-US" sz="2600" dirty="0"/>
          </a:p>
        </p:txBody>
      </p:sp>
      <p:sp>
        <p:nvSpPr>
          <p:cNvPr id="23" name="word-rule"/>
          <p:cNvSpPr/>
          <p:nvPr/>
        </p:nvSpPr>
        <p:spPr>
          <a:xfrm>
            <a:off x="8310677" y="2129028"/>
            <a:ext cx="3149498" cy="0"/>
          </a:xfrm>
          <a:prstGeom prst="line">
            <a:avLst/>
          </a:prstGeom>
          <a:ln w="12700">
            <a:solidFill>
              <a:srgbClr val="B8AAC6"/>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self-important and pompous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Mr Birling is described as portentous, a man who thinks his own opinions matter a great deal.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DE9F0"/>
          </a:solidFill>
          <a:ln w="12700">
            <a:solidFill>
              <a:srgbClr val="B8AAC6"/>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prosperous</a:t>
            </a:r>
            <a:endParaRPr lang="en-US" sz="2600" dirty="0"/>
          </a:p>
        </p:txBody>
      </p:sp>
      <p:sp>
        <p:nvSpPr>
          <p:cNvPr id="11" name="word-rule"/>
          <p:cNvSpPr/>
          <p:nvPr/>
        </p:nvSpPr>
        <p:spPr>
          <a:xfrm>
            <a:off x="731520" y="2129028"/>
            <a:ext cx="5044288" cy="0"/>
          </a:xfrm>
          <a:prstGeom prst="line">
            <a:avLst/>
          </a:prstGeom>
          <a:ln w="12700">
            <a:solidFill>
              <a:srgbClr val="B8AAC6"/>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rich and successful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house belongs to a prosperous factory owner.</a:t>
            </a:r>
            <a:endParaRPr lang="en-US" sz="2200" dirty="0"/>
          </a:p>
        </p:txBody>
      </p:sp>
      <p:sp>
        <p:nvSpPr>
          <p:cNvPr id="13" name="word-card"/>
          <p:cNvSpPr/>
          <p:nvPr/>
        </p:nvSpPr>
        <p:spPr>
          <a:xfrm>
            <a:off x="6233008" y="1389888"/>
            <a:ext cx="5410048" cy="4754880"/>
          </a:xfrm>
          <a:prstGeom prst="roundRect">
            <a:avLst>
              <a:gd name="adj" fmla="val 1154"/>
            </a:avLst>
          </a:prstGeom>
          <a:solidFill>
            <a:srgbClr val="EDE9F0"/>
          </a:solidFill>
          <a:ln w="12700">
            <a:solidFill>
              <a:srgbClr val="B8AAC6"/>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dramatic irony</a:t>
            </a:r>
            <a:endParaRPr lang="en-US" sz="2600" dirty="0"/>
          </a:p>
        </p:txBody>
      </p:sp>
      <p:sp>
        <p:nvSpPr>
          <p:cNvPr id="17" name="word-rule"/>
          <p:cNvSpPr/>
          <p:nvPr/>
        </p:nvSpPr>
        <p:spPr>
          <a:xfrm>
            <a:off x="6415888" y="2129028"/>
            <a:ext cx="5044288" cy="0"/>
          </a:xfrm>
          <a:prstGeom prst="line">
            <a:avLst/>
          </a:prstGeom>
          <a:ln w="12700">
            <a:solidFill>
              <a:srgbClr val="B8AAC6"/>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the audience knows what a character does not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It is dramatic irony when Birling says there will be no war.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play opens in a dining room in a big house.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furniture is solid and expensive.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room looks rich, but it does not feel warm.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Birling family are finishing a special dinner.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Sheila has just become engaged to Gerald Croft.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Mr Birling is a factory owner who is proud of his success.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makes long speeches about the future.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says there will be no war and business will boom.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audience in 1945 knows he is wrong about everything.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tells the young men to look after themselves and nobody else.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that very moment, the doorbell rings sharply.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police inspector has come about a young woman's death.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soft lighting becomes bright and harsh.</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Reading the room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AO2 on a play, stage directions count as a method. Lighting, furniture, who sits where and how people move are all choices Priestley made.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Before anyone speaks, Priestley has already told you a great deal.</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Look at the table. It has no cloth, so the polished wood is on display.</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AE5EE"/>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Then there is the light. Priestley asks for soft, rosy, intimate lighting until the Inspector arrives, and then for something brighter and harsher.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people at the table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one-word labels the directions give each character: pompous father, cold mother, excited daughter, polished fiancé, uneasy son. They are your starting points for every character essay.</a:t>
            </a:r>
            <a:endParaRPr lang="en-US" sz="1800" dirty="0"/>
          </a:p>
        </p:txBody>
      </p:sp>
      <p:sp>
        <p:nvSpPr>
          <p:cNvPr id="11" name="bullet-card"/>
          <p:cNvSpPr/>
          <p:nvPr/>
        </p:nvSpPr>
        <p:spPr>
          <a:xfrm>
            <a:off x="548640" y="1389888"/>
            <a:ext cx="11094415" cy="1325372"/>
          </a:xfrm>
          <a:prstGeom prst="roundRect">
            <a:avLst>
              <a:gd name="adj" fmla="val 5519"/>
            </a:avLst>
          </a:prstGeom>
          <a:solidFill>
            <a:srgbClr val="EDE9F0"/>
          </a:solidFill>
          <a:ln/>
        </p:spPr>
      </p:sp>
      <p:sp>
        <p:nvSpPr>
          <p:cNvPr id="12" name="bullet-hex"/>
          <p:cNvSpPr/>
          <p:nvPr/>
        </p:nvSpPr>
        <p:spPr>
          <a:xfrm>
            <a:off x="676656" y="1886281"/>
            <a:ext cx="384048" cy="332586"/>
          </a:xfrm>
          <a:prstGeom prst="hexagon">
            <a:avLst/>
          </a:prstGeom>
          <a:solidFill>
            <a:srgbClr val="5B3A7A"/>
          </a:solidFill>
          <a:ln/>
        </p:spPr>
      </p:sp>
      <p:sp>
        <p:nvSpPr>
          <p:cNvPr id="13" name="bullet"/>
          <p:cNvSpPr txBox="1"/>
          <p:nvPr/>
        </p:nvSpPr>
        <p:spPr>
          <a:xfrm>
            <a:off x="1143000" y="1389888"/>
            <a:ext cx="10408615" cy="13253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stage directions introduce each character before they speak. Arthur Birling is a heavy-set man in his fifties, described with the word ‘portentous’, which means pompous and self-important.</a:t>
            </a:r>
            <a:endParaRPr lang="en-US" sz="2200" dirty="0"/>
          </a:p>
        </p:txBody>
      </p:sp>
      <p:sp>
        <p:nvSpPr>
          <p:cNvPr id="14" name="bullet-card"/>
          <p:cNvSpPr/>
          <p:nvPr/>
        </p:nvSpPr>
        <p:spPr>
          <a:xfrm>
            <a:off x="548640" y="2861564"/>
            <a:ext cx="11094415" cy="742696"/>
          </a:xfrm>
          <a:prstGeom prst="roundRect">
            <a:avLst>
              <a:gd name="adj" fmla="val 9850"/>
            </a:avLst>
          </a:prstGeom>
          <a:solidFill>
            <a:srgbClr val="EDE9F0"/>
          </a:solidFill>
          <a:ln/>
        </p:spPr>
      </p:sp>
      <p:sp>
        <p:nvSpPr>
          <p:cNvPr id="15" name="bullet-hex"/>
          <p:cNvSpPr/>
          <p:nvPr/>
        </p:nvSpPr>
        <p:spPr>
          <a:xfrm>
            <a:off x="676656" y="3066619"/>
            <a:ext cx="384048" cy="332586"/>
          </a:xfrm>
          <a:prstGeom prst="hexagon">
            <a:avLst/>
          </a:prstGeom>
          <a:solidFill>
            <a:srgbClr val="B8862B"/>
          </a:solidFill>
          <a:ln/>
        </p:spPr>
      </p:sp>
      <p:sp>
        <p:nvSpPr>
          <p:cNvPr id="16" name="bullet"/>
          <p:cNvSpPr txBox="1"/>
          <p:nvPr/>
        </p:nvSpPr>
        <p:spPr>
          <a:xfrm>
            <a:off x="1143000" y="2861564"/>
            <a:ext cx="10408615" cy="74269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Sheila, in her early twenties, is pretty, excited and delighted with life.</a:t>
            </a:r>
            <a:endParaRPr lang="en-US" sz="2200" dirty="0"/>
          </a:p>
        </p:txBody>
      </p:sp>
      <p:sp>
        <p:nvSpPr>
          <p:cNvPr id="17" name="bullet-card"/>
          <p:cNvSpPr/>
          <p:nvPr/>
        </p:nvSpPr>
        <p:spPr>
          <a:xfrm>
            <a:off x="548640" y="3750564"/>
            <a:ext cx="11094415" cy="1325372"/>
          </a:xfrm>
          <a:prstGeom prst="roundRect">
            <a:avLst>
              <a:gd name="adj" fmla="val 5519"/>
            </a:avLst>
          </a:prstGeom>
          <a:solidFill>
            <a:srgbClr val="EDE9F0"/>
          </a:solidFill>
          <a:ln/>
        </p:spPr>
      </p:sp>
      <p:sp>
        <p:nvSpPr>
          <p:cNvPr id="18" name="bullet-hex"/>
          <p:cNvSpPr/>
          <p:nvPr/>
        </p:nvSpPr>
        <p:spPr>
          <a:xfrm>
            <a:off x="676656" y="4246957"/>
            <a:ext cx="384048" cy="332586"/>
          </a:xfrm>
          <a:prstGeom prst="hexagon">
            <a:avLst/>
          </a:prstGeom>
          <a:solidFill>
            <a:srgbClr val="5B3A7A"/>
          </a:solidFill>
          <a:ln/>
        </p:spPr>
      </p:sp>
      <p:sp>
        <p:nvSpPr>
          <p:cNvPr id="19" name="bullet"/>
          <p:cNvSpPr txBox="1"/>
          <p:nvPr/>
        </p:nvSpPr>
        <p:spPr>
          <a:xfrm>
            <a:off x="1143000" y="3750564"/>
            <a:ext cx="10408615" cy="13253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lessons use PEIRL to turn these inferences into a paragraph: a Point, Evidence from the stage directions, an Inference about what it suggests, the Reader's or audience's response, and a Link to Priestley's purpose and the context.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Mr Birling's speeches and the doorbell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write about Birling's predictions, give the real date of what happened. Precise context is what turns a mention into AO3 marks.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Once the toasts are over, Mr Birling holds forth. He tells the table that the engagement is good news for business, because the Birling and Croft firms may stop competing and work together.</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Every one of these claims is wrong, and the 1945 audience knew it.</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AE5EE"/>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women leave, and Birling lectures Gerald and Eric. He tells them that community spirit is nonsense, and that a man's only duty is to himself and to his family.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Inspector arrives: the first link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Build a two-column table, Birling against the Inspector: profit against people, status against duty, the individual against the community. Every contrast is a paragraph.</a:t>
            </a:r>
            <a:endParaRPr lang="en-US" sz="1800" dirty="0"/>
          </a:p>
        </p:txBody>
      </p:sp>
      <p:sp>
        <p:nvSpPr>
          <p:cNvPr id="11" name="point-card"/>
          <p:cNvSpPr/>
          <p:nvPr/>
        </p:nvSpPr>
        <p:spPr>
          <a:xfrm>
            <a:off x="548640" y="1389888"/>
            <a:ext cx="3515258" cy="3686048"/>
          </a:xfrm>
          <a:prstGeom prst="roundRect">
            <a:avLst>
              <a:gd name="adj" fmla="val 1561"/>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stage directions make the Inspector solid. Priestley says he does not have to be physically large, yet he gives an impression of size, weight and purpose.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He tells the family that a young woman has died at the Infirmary two hours earlier after drinking disinfectant, and that she left a letter and a diary.</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AE5EE"/>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Inspector is not impressed by Birling's titles, his years as Lord Mayor, his seat as a magistrate or his friendship with the Chief Constable.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Why the doorbell rings when it does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Mr Birling tells the young men that a man's only duty is to himself and to his family, and dismisses community spirit as nonsense. At that exact moment the doorbell rings. Why does Priestley time the Inspector's arrival like this?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To interrupt Birling's selfish creed with the one person who will spend the play proving it wrong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Because the Inspector is late and has missed the dinner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To show that Birling is a popular man who receives many visitors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Because Priestley needed a reason to change the scenery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Why the doorbell rings when it does</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Why the doorbell rings when it does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AE5EE"/>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in your own words, the idea Birling is expressing just before the bell rings.</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what the Inspector will argue in his final speech in Act 3.</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Notice that the two ideas are exact opposites. The bell cuts one off and brings in the other.</a:t>
            </a:r>
            <a:endParaRPr lang="en-US" sz="1800" dirty="0"/>
          </a:p>
        </p:txBody>
      </p:sp>
      <p:sp>
        <p:nvSpPr>
          <p:cNvPr id="17" name="col-Core"/>
          <p:cNvSpPr/>
          <p:nvPr/>
        </p:nvSpPr>
        <p:spPr>
          <a:xfrm>
            <a:off x="5490762" y="2395728"/>
            <a:ext cx="2938987" cy="3749040"/>
          </a:xfrm>
          <a:prstGeom prst="roundRect">
            <a:avLst>
              <a:gd name="adj" fmla="val 1867"/>
            </a:avLst>
          </a:prstGeom>
          <a:solidFill>
            <a:srgbClr val="D6CED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Ask what the Inspector stands for, then ask what Birling has just said. The bell rings between a creed and its opposite.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5B3A7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Priestley could have had the Inspector arrive during the toasts, or after dinner was over. Explain what would be lost in each case, then link the timing to the idea of the Inspector as a figure of conscience.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The Birlings in the stage directions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does Priestley use the opening stage directions to present the Birling family? Write one developed PEIRL paragraph.</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8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(1 of 2): The Birlings in the stage directions</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does Priestley use the opening stage directions to present the Birling family? Write one developed PEIRL paragraph.</a:t>
            </a:r>
            <a:endParaRPr lang="en-US" sz="2000" dirty="0"/>
          </a:p>
        </p:txBody>
      </p:sp>
      <p:sp>
        <p:nvSpPr>
          <p:cNvPr id="12" name="col-Support"/>
          <p:cNvSpPr/>
          <p:nvPr/>
        </p:nvSpPr>
        <p:spPr>
          <a:xfrm>
            <a:off x="548640" y="2593848"/>
            <a:ext cx="11094415" cy="3550920"/>
          </a:xfrm>
          <a:prstGeom prst="roundRect">
            <a:avLst>
              <a:gd name="adj" fmla="val 1545"/>
            </a:avLst>
          </a:prstGeom>
          <a:solidFill>
            <a:srgbClr val="EAE5E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10820095" cy="280111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Point: choose two adjectives for the family (wealthy, smug, cold, divided) and write a sentence using them.</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Evidence: pick two details, such as the heavy furniture or the lack of a tablecloth, and describe them precisely.</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Inference: for each detail, write ‘This suggests that…’ and finish the sentence.</a:t>
            </a:r>
            <a:endParaRPr lang="en-US" sz="2200" dirty="0"/>
          </a:p>
          <a:p>
            <a:pPr algn="l" indent="0" marL="0">
              <a:spcAft>
                <a:spcPts val="600"/>
              </a:spcAft>
              <a:buNone/>
            </a:pPr>
            <a:r>
              <a:rPr lang="en-US" sz="22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Reader and Link: say how a 1945 audience would react, then write ‘Priestley's purpose was to…’ and link to the class divide of 1912.</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(2 of 2): The Birlings in the stage directions</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does Priestley use the opening stage directions to present the Birling family? Write one developed PEIRL paragraph.</a:t>
            </a:r>
            <a:endParaRPr lang="en-US" sz="2000" dirty="0"/>
          </a:p>
        </p:txBody>
      </p:sp>
      <p:sp>
        <p:nvSpPr>
          <p:cNvPr id="12" name="col-Core"/>
          <p:cNvSpPr/>
          <p:nvPr/>
        </p:nvSpPr>
        <p:spPr>
          <a:xfrm>
            <a:off x="548640" y="2593848"/>
            <a:ext cx="5410048" cy="3550920"/>
          </a:xfrm>
          <a:prstGeom prst="roundRect">
            <a:avLst>
              <a:gd name="adj" fmla="val 1545"/>
            </a:avLst>
          </a:prstGeom>
          <a:solidFill>
            <a:srgbClr val="D6CED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492E62"/>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Use the PEIRL letters as headings in your plan, then join them into one paragraph. Your Link must mention 1912 or 1945, not both vaguely.</a:t>
            </a:r>
            <a:endParaRPr lang="en-US" sz="2200" dirty="0"/>
          </a:p>
        </p:txBody>
      </p:sp>
      <p:sp>
        <p:nvSpPr>
          <p:cNvPr id="17" name="col-Stretch"/>
          <p:cNvSpPr/>
          <p:nvPr/>
        </p:nvSpPr>
        <p:spPr>
          <a:xfrm>
            <a:off x="6233008" y="2593848"/>
            <a:ext cx="5410048" cy="3550920"/>
          </a:xfrm>
          <a:prstGeom prst="roundRect">
            <a:avLst>
              <a:gd name="adj" fmla="val 1545"/>
            </a:avLst>
          </a:prstGeom>
          <a:solidFill>
            <a:srgbClr val="5B3A7A"/>
          </a:solidFill>
          <a:ln/>
        </p:spPr>
      </p:sp>
      <p:sp>
        <p:nvSpPr>
          <p:cNvPr id="18" name="col-hex"/>
          <p:cNvSpPr/>
          <p:nvPr/>
        </p:nvSpPr>
        <p:spPr>
          <a:xfrm>
            <a:off x="634273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Add a sentence on the lighting change and argue that the stage directions give away the play's whole structure before anyone speaks: comfort, interruption, exposure.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happens to the stage lighting when the Inspector arrives?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dims until the stage is almost dark</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turns deep red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does not change at all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becomes brighter and harsher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FEBF2"/>
          </a:solidFill>
          <a:ln w="12700">
            <a:solidFill>
              <a:srgbClr val="A897B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Why the doorbell rings when it does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Mr Birling tells the young men that a man's only duty is to himself and to his family, and dismisses community spirit as nonsense. At that exact moment the doorbell rings. Why does Priestley time the Inspector's arrival like this?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To interrupt Birling's selfish creed with the one person who will spend the play proving it wrong</a:t>
            </a:r>
            <a:endParaRPr lang="en-US" sz="18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Structure is a method. The bell interrupts the clearest statement of capitalism in the play with the arrival of the character who stands for its opposite, so the audience hears the argument before it begins.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The Birlings in the stage directions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1033907"/>
          </a:xfrm>
          <a:prstGeom prst="roundRect">
            <a:avLst>
              <a:gd name="adj" fmla="val 8844"/>
            </a:avLst>
          </a:prstGeom>
          <a:solidFill>
            <a:srgbClr val="EDE9F0"/>
          </a:solidFill>
          <a:ln/>
        </p:spPr>
      </p:sp>
      <p:sp>
        <p:nvSpPr>
          <p:cNvPr id="9" name="tickbox"/>
          <p:cNvSpPr/>
          <p:nvPr/>
        </p:nvSpPr>
        <p:spPr>
          <a:xfrm>
            <a:off x="713232" y="2354897"/>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103390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Point: a clear statement about how the family is presented (for example wealthy, smug, not close)</a:t>
            </a:r>
            <a:endParaRPr lang="en-US" sz="2200" dirty="0"/>
          </a:p>
        </p:txBody>
      </p:sp>
      <p:sp>
        <p:nvSpPr>
          <p:cNvPr id="11" name="crit-box"/>
          <p:cNvSpPr/>
          <p:nvPr/>
        </p:nvSpPr>
        <p:spPr>
          <a:xfrm>
            <a:off x="548640" y="3109595"/>
            <a:ext cx="11094415" cy="1033907"/>
          </a:xfrm>
          <a:prstGeom prst="roundRect">
            <a:avLst>
              <a:gd name="adj" fmla="val 8844"/>
            </a:avLst>
          </a:prstGeom>
          <a:solidFill>
            <a:srgbClr val="EDE9F0"/>
          </a:solidFill>
          <a:ln/>
        </p:spPr>
      </p:sp>
      <p:sp>
        <p:nvSpPr>
          <p:cNvPr id="12" name="tickbox"/>
          <p:cNvSpPr/>
          <p:nvPr/>
        </p:nvSpPr>
        <p:spPr>
          <a:xfrm>
            <a:off x="713232" y="3480244"/>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3109595"/>
            <a:ext cx="10317175" cy="103390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Evidence: two precise details from the stage directions, described exactly (in the exam you would quote them)</a:t>
            </a:r>
            <a:endParaRPr lang="en-US" sz="2200" dirty="0"/>
          </a:p>
        </p:txBody>
      </p:sp>
      <p:sp>
        <p:nvSpPr>
          <p:cNvPr id="14" name="crit-box"/>
          <p:cNvSpPr/>
          <p:nvPr/>
        </p:nvSpPr>
        <p:spPr>
          <a:xfrm>
            <a:off x="548640" y="4234942"/>
            <a:ext cx="11094415" cy="693039"/>
          </a:xfrm>
          <a:prstGeom prst="roundRect">
            <a:avLst>
              <a:gd name="adj" fmla="val 13194"/>
            </a:avLst>
          </a:prstGeom>
          <a:solidFill>
            <a:srgbClr val="EDE9F0"/>
          </a:solidFill>
          <a:ln/>
        </p:spPr>
      </p:sp>
      <p:sp>
        <p:nvSpPr>
          <p:cNvPr id="15" name="tickbox"/>
          <p:cNvSpPr/>
          <p:nvPr/>
        </p:nvSpPr>
        <p:spPr>
          <a:xfrm>
            <a:off x="713232" y="4435157"/>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4234942"/>
            <a:ext cx="10317175" cy="69303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Inference: what each detail implies or suggests about the family</a:t>
            </a:r>
            <a:endParaRPr lang="en-US" sz="2200" dirty="0"/>
          </a:p>
        </p:txBody>
      </p:sp>
      <p:sp>
        <p:nvSpPr>
          <p:cNvPr id="17" name="crit-box"/>
          <p:cNvSpPr/>
          <p:nvPr/>
        </p:nvSpPr>
        <p:spPr>
          <a:xfrm>
            <a:off x="548640" y="5019421"/>
            <a:ext cx="11094415" cy="1033907"/>
          </a:xfrm>
          <a:prstGeom prst="roundRect">
            <a:avLst>
              <a:gd name="adj" fmla="val 8844"/>
            </a:avLst>
          </a:prstGeom>
          <a:solidFill>
            <a:srgbClr val="EDE9F0"/>
          </a:solidFill>
          <a:ln/>
        </p:spPr>
      </p:sp>
      <p:sp>
        <p:nvSpPr>
          <p:cNvPr id="18" name="tickbox"/>
          <p:cNvSpPr/>
          <p:nvPr/>
        </p:nvSpPr>
        <p:spPr>
          <a:xfrm>
            <a:off x="713232" y="5390070"/>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5019421"/>
            <a:ext cx="10317175" cy="103390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Reader and Link: what the 1945 audience would think or feel, and how it serves Priestley's purpose about class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Model answer: The Birlings in the stage directions</a:t>
            </a:r>
            <a:endParaRPr lang="en-US" sz="30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4EDDF"/>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Priestley uses the opening stage directions to present the Birlings as wealthy, comfortable and smug. The dining room belongs to a prosperous factory owner, and the furniture is heavy and expensive, yet the directions insist that the room is not warm or welcoming. This suggests that money has bought the family comfort but not closeness: they sit at opposite ends of a long table, in full evening dress, celebrating themselves. The directions also tell us they are thoroughly satisfied with their own success, and the audience is invited to distrust that satisfaction before a word is spoken. A 1945 audience, many of whom had lost homes and relatives in the war, would recognise a class that was protected from hardship and believed it had earned that protection. Priestley's purpose was to make his post-war audience see the gap between families like the Birlings and the Eva Smiths who worked for them, so that when the Inspector arrives and the light hardens, it feels like the truth walking 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happens to the stage lighting when the Inspector arrives?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It becomes brighter and harsher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directions ask for soft, rosy, intimate light before the Inspector arrives and brighter, harsher light afterwards. The cosy party is suddenly exposed, like a suspect under a lamp.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AE5EE"/>
      </a:lt2>
      <a:accent1>
        <a:srgbClr val="5B3A7A"/>
      </a:accent1>
      <a:accent2>
        <a:srgbClr val="B8862B"/>
      </a:accent2>
      <a:accent3>
        <a:srgbClr val="9D89AF"/>
      </a:accent3>
      <a:accent4>
        <a:srgbClr val="815E1E"/>
      </a:accent4>
      <a:accent5>
        <a:srgbClr val="4A505C"/>
      </a:accent5>
      <a:accent6>
        <a:srgbClr val="D9BF8F"/>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Inspector Calls · Chapter 2: The curtain rises: a comfortable room and a sharp ring at the door (Act 1)</dc:title>
  <dc:subject>English Literature · Year 10</dc:subject>
  <dc:creator>Dr Vitor Merissi de Carvalho</dc:creator>
  <cp:lastModifiedBy>Dr Vitor Merissi de Carvalho</cp:lastModifiedBy>
  <cp:revision>1</cp:revision>
  <dcterms:created xsi:type="dcterms:W3CDTF">2026-10-18T17:47:09Z</dcterms:created>
  <dcterms:modified xsi:type="dcterms:W3CDTF">2026-10-18T17:47:09Z</dcterms:modified>
</cp:coreProperties>
</file>