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efd9287-f053-ee1e-daab-452c86026906}">
          <p14:sldIdLst>
            <p14:sldId id="256"/>
          </p14:sldIdLst>
        </p14:section>
        <p14:section name="Gate" id="{8b6633b4-1448-eb5e-319b-1b1bbde69616}">
          <p14:sldIdLst>
            <p14:sldId id="257"/>
            <p14:sldId id="258"/>
          </p14:sldIdLst>
        </p14:section>
        <p14:section name="Pre-teach" id="{195038dc-a463-8695-5849-abec6766ba77}">
          <p14:sldIdLst>
            <p14:sldId id="259"/>
            <p14:sldId id="260"/>
          </p14:sldIdLst>
        </p14:section>
        <p14:section name="Read-along" id="{a0acaecf-918d-bb20-2560-a8c18909bf5d}">
          <p14:sldIdLst>
            <p14:sldId id="261"/>
            <p14:sldId id="262"/>
          </p14:sldIdLst>
        </p14:section>
        <p14:section name="Teach" id="{63617362-26d9-8cef-1568-841ac63ba6d0}">
          <p14:sldIdLst>
            <p14:sldId id="263"/>
            <p14:sldId id="264"/>
            <p14:sldId id="265"/>
            <p14:sldId id="266"/>
          </p14:sldIdLst>
        </p14:section>
        <p14:section name="Routes" id="{d0d26796-5373-972c-40b8-180c686dd237}">
          <p14:sldIdLst>
            <p14:sldId id="267"/>
            <p14:sldId id="268"/>
            <p14:sldId id="269"/>
            <p14:sldId id="270"/>
            <p14:sldId id="271"/>
            <p14:sldId id="272"/>
            <p14:sldId id="273"/>
          </p14:sldIdLst>
        </p14:section>
        <p14:section name="Close" id="{6e980a77-c3c0-0337-668f-bd9c05374dd5}">
          <p14:sldIdLst>
            <p14:sldId id="274"/>
          </p14:sldIdLst>
        </p14:section>
        <p14:section name="Answers" id="{6a13c5e5-e441-e826-5941-84c7ee417dbb}">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Sheila, Gerald and the girl in the photograph (Acts 1 to 2). This chapter follows Eva Smith from the factory to the dress shop to the Palace bar, and watches Sheila change while Gerald does not.
This deck covers the department's lessons: 5 (Sheila's responsibility: How responsible do Mr Birling and Sheila feel for Eva's death, and which moments show it?); 6 (Gerald Croft and entitlement: How does Gerald represent the upper-class men of 1912?); 7 (Gerald Croft's significance: What is Priestley suggesting about Gerald, and how does it link to context?); 9 (Gerald and Sheila's relationship: How has Gerald and Sheila's relationship developed from the start of Act 1 to the middle of Act 2?); 20 (How is Eva Smith presented?: How is Eva Smith presented through the older generation, the younger generation and the Inspector?).
Read the big question aloud: "How does Priestley use the Birling family and the Inspector to make his 1945 audience accept that we are all responsible for one another?"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did Sheila have Eva Smith sacked from Milwards?  →  B   Eva seemed to smile at Sheila when a dress suited Eva better, and Sheila was jealous and in a bad temper
2. Gerald met Daisy Renton in March 1911 and ended the relationship in the first week of September 1911. For how many months was she his mistress?  →  6 months
3. After she lost her second job, Eva Smith started using a new name. Gerald knew her as Daisy ___.  →  Renton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Eva seemed to smile at Sheila when a dress suited Eva better, and Sheila was jealous and in a bad temper. Sheila admits she was in a foul temper, that the dress suited Eva and not her, and that she thought Eva was smirking. She used her family's custom at the shop to punish a girl for being pretty.
2. 6 months. March to September is six months: April, May, June, July, August, September. Gerald calls it a summer; it was half a year of her life.
3. Renton. Daisy Renton is the name Eva used from the spring of 1911. It is the Inspector's mention of this name that makes Gerald give himself away at the end of Act 1.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remorse: deep regret for something you did. Example: "Sheila shows remorse when she learns what happened to Eva."
• entitlement: believing you deserve whatever you want. Example: "Gerald's entitlement lets him treat Eva as something he can pick up and put down."
• impunity: escaping any punishment for doing wrong. Example: "Men of Gerald's class acted with impunity: nobody ever called them to account."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naive: innocent and inexperienced. Example: "At the start Sheila is naive about how people like Eva live."
• mistress: a woman a man keeps a relationship with without marrying her. Example: "Gerald made Eva his mistress for the summer and then ended it."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Sheila is Mr Birling's daughter.
2. At first she seems spoilt and a little childish.
3. She loves her engagement ring and shows it to her mother.
4. Then she learns how Eva Smith died.
5. She is shocked and says the girl deserved better.
6. Eva had worked in a dress shop called Milwards.
7. Sheila had her sacked out of jealousy and bad temper.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Sheila feels terrible and says she will never do it again.
9. Gerald is Sheila's fiancé.
10. He met Eva, who now called herself Daisy Renton, in a bar.
11. He gave her a place to live and made her his mistress.
12. Then he ended it when it suited him.
13. Sheila gives the ring back, but respects his honesty.
14. Eva never appears on stage, yet the whole play is about 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Sheila: from the ring to responsibility. Say it in your own words, then check understanding with a quick question: ask a pupil from the pre-teach group first, since they met these words and ideas before the lesson. Pupils try to recall before you re-explain.
At the start of the evening Sheila is exactly what her father's money has made her. She teases Gerald about how little she saw of him last summer, then forgets it the moment he gives her the ring. She shows the ring to her mother like a child with a present and asks whether it is the one Gerald wanted for her. When her father tells her off for not listening, she apologises like a schoolgirl. The deck's words for her are naive and sheltered.
Then the Inspector describes Eva's last months, and Sheila's first reaction is warm but shallow: she says it is a terrible shame, as if it were bad weather. Her real test comes with the dress shop. In January 1911 Eva had found work at Milwards. Sheila, in a foul temper because a dress did not suit her, saw Eva hold it up and look lovely in it. She thought the girl was smirking, complained to the manager, and threatened to have her mother close the family's account. Eva was sacked.
What makes Sheila different from her father is what happens next. She does not argue or make excuses. She accepts that she was responsible, says that it was the only time she has ever done anything like it, and swears she will never do it again to anybody. Earlier she had already told her father that the girls in his factory are people, not a cost to be cut. Sheila is the first person in the room to take the Inspector's lesson seriously, and she stands for the younger generation's openness to change.
Tip: Sheila's journey is naive, then shocked, then remorseful, then wiser than her parents. Track her with one moment for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Gerald: entitlement and impunity. Say it in your own words, then check understanding with a quick question: ask a pupil from the pre-teach group first, since they met these words and ideas before the lesson. Pupils try to recall before you re-explain.
Act 1 ends with a name. The Inspector mentions that Eva changed her name to Daisy Renton, and Gerald's reaction gives him away. Left alone with him, Sheila works out that he knew Daisy; he admits he knew her last spring and summer but insists it is over, and asks Sheila to say nothing. She laughs at him: the Inspector plainly knows already. Then the Inspector steps back in and asks a single, one-word question. The curtain falls. Priestley has learned from detective stories how to end an act.
In Act 2 Gerald tells his story. In March 1911 he went to the bar at the Palace Variety Theatre, a place where men met women they did not intend to marry. He saw a young woman being pestered by Alderman Meggarty, a well-known womaniser, and rescued her. She was hungry and had almost no money. He fed her, then installed her in rooms belonging to a friend who was abroad, and she became his mistress for the summer. In the first week of September he ended it because business took him away, gave her some money, and she went to the seaside for two months to be alone.
Gerald is the hardest character to judge, and that is the point. He was kind in his way, and he is probably the only one of them Eva loved. But he saw nothing wrong in keeping a working-class girl for a season and then dropping her when it was convenient. That is entitlement. He expected no consequences and, until this evening, there were none: that is impunity. Sheila sees it clearly when she mocks him as the storybook hero who rescued the poor girl, and she hands back the ring. Yet she also respects his honesty. She has grown up in two hours; he has not.
Tip: Gerald's age is a trap. He is about thirty, so he is young, but in his attitudes he belongs with the older generation. Use him to complicate the generation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Gerald and Sheila: a relationship under a lamp. Say it in your own words, then check understanding with a quick question: ask a pupil from the pre-teach group first, since they met these words and ideas before the lesson. Pupils try to recall before you re-explain.
Your lesson on their relationship traces five key moments. First, the ring: their happiness is built on a possession and a public show. Second, Sheila's remark about the summer: a crack is already there before the Inspector arrives. Third, the end of Act 1: she realises he knew Daisy Renton, and she realises the Inspector knows too. Fourth, Gerald tries to get her out of the room before his questioning: he still thinks women should be protected from unpleasant truths. Fifth, she returns the ring: she will not marry a man she does not yet know.
What is Priestley suggesting? That the engagement was never only about love. Mr Birling welcomes it because it may bring two rival firms together, and Gerald's mother, Lady Croft, is said to feel her son could have married better socially. The Inspector's questions strip away the show and leave two people who have to decide whether to start again, truthfully this time. At the very end of the play Gerald offers her the ring once more, as if nothing has happened. Sheila says not yet. Her answer is the play's answer to anyone who wants to carry on as before.
Tip: For a relationships essay, use the ring as a motif: given, admired, returned, offered again, refused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Eva Smith: the character we never see. Say it in your own words, then check understanding with a quick question: ask a pupil from the pre-teach group first, since they met these words and ideas before the lesson. Pupils try to recall before you re-explain.
Eva Smith is dead before the play begins and never appears on stage. We know her only through what five people choose to say about her. To Mr Birling she was a good worker who became a troublemaker. To Sheila she was a pretty girl who deserved better. To Gerald she was a young woman in trouble who was grateful to him. To Mrs Birling she was a girl of the wrong class with no right to fine feelings. To Eric she was different from the women he usually met. Only the Inspector speaks of her as a whole person: a lively young woman who harmed nobody and whose life was wrecked by others.
Her name does a lot of work. Eva recalls Eve, the first woman, and Smith is the most ordinary surname in England. She is every working-class woman, and the Inspector says so in his final speech when he speaks of countless others like her. Because she cannot speak for herself, the play keeps asking who speaks for people like Eva. The deck's lesson on her gives you the shape of an essay: the older generation's view, the younger generation's view, and the Inspector's.
Tip: An essay on Eva is really an essay on how each character sees the working class. Organise it by viewer, not by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character who changes.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Sheila as a character who changes? Write one developed paragraph using PEIRL or What / How / Why.
Support — work through the steps with the group: (1) Then: describe one moment from the start of the play that shows what the character was like. (2) Now: describe one moment from later in the play that shows a change, or shows that nothing has changed. (3) Method: name what Priestley does to make us notice (contrast, a stage direction, the order of events). (4) Why: say what Priestley wanted his 1945 audience to understand about people like this character.
Parallel worked example for Support (model it, do not give the task answer): Practice question: how does Priestley present Eric as a character who changes? Then: at dinner Eric is uneasy and laughs at the wrong moment, hiding something.; Now: in Act 3 he admits what he did to Eva and turns on his parents for refusing to learn.; Method: the contrast between hiding and confessing is structural.; Why: Priestley shows that even a damaged young man can accept responsibility, unlike his parents.. Answer: Priestley presents Eric as a young man who moves from hiding to facing the truth. At the start he is uneasy at the table and laughs at the wrong moment, as if he already has something to conceal. By Act 3 he has confessed his part in Eva's story and attacks his parents for refusing to learn anything. The contrast is structural, and it suggests to a 1945 audience that the young, however damaged, can change where the old cannot..
Core — reveal the hint only on request: Pick one moment from the opening and one from the questioning. The gap between them is your point; the reason Priestley wanted that gap is your link.
Stretch — no help; when finished: Add a sentence comparing your character with one who does not change, then judge: is Priestley saying that the young can change and the old cannot, or that change depends on being willing to feel guilt?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character who changes.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Sheila as a character who changes? Write one developed paragraph using PEIRL or What / How / Why.
Support — work through the steps with the group: (1) Then: describe one moment from the start of the play that shows what the character was like. (2) Now: describe one moment from later in the play that shows a change, or shows that nothing has changed. (3) Method: name what Priestley does to make us notice (contrast, a stage direction, the order of events). (4) Why: say what Priestley wanted his 1945 audience to understand about people like this character.
Parallel worked example for Support (model it, do not give the task answer): Practice question: how does Priestley present Eric as a character who changes? Then: at dinner Eric is uneasy and laughs at the wrong moment, hiding something.; Now: in Act 3 he admits what he did to Eva and turns on his parents for refusing to learn.; Method: the contrast between hiding and confessing is structural.; Why: Priestley shows that even a damaged young man can accept responsibility, unlike his parents.. Answer: Priestley presents Eric as a young man who moves from hiding to facing the truth. At the start he is uneasy at the table and laughs at the wrong moment, as if he already has something to conceal. By Act 3 he has confessed his part in Eva's story and attacks his parents for refusing to learn anything. The contrast is structural, and it suggests to a 1945 audience that the young, however damaged, can change where the old cannot..
Core — reveal the hint only on request: Pick one moment from the opening and one from the questioning. The gap between them is your point; the reason Priestley wanted that gap is your link.
Stretch — no help; when finished: Add a sentence comparing your character with one who does not change, then judge: is Priestley saying that the young can change and the old cannot, or that change depends on being willing to feel guilt?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 character who changes.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How does Priestley present Sheila as a character who changes? Write one developed paragraph using PEIRL or What / How / Why.
Support — work through the steps with the group: (1) Then: describe one moment from the start of the play that shows what the character was like. (2) Now: describe one moment from later in the play that shows a change, or shows that nothing has changed. (3) Method: name what Priestley does to make us notice (contrast, a stage direction, the order of events). (4) Why: say what Priestley wanted his 1945 audience to understand about people like this character.
Parallel worked example for Support (model it, do not give the task answer): Practice question: how does Priestley present Eric as a character who changes? Then: at dinner Eric is uneasy and laughs at the wrong moment, hiding something.; Now: in Act 3 he admits what he did to Eva and turns on his parents for refusing to learn.; Method: the contrast between hiding and confessing is structural.; Why: Priestley shows that even a damaged young man can accept responsibility, unlike his parents.. Answer: Priestley presents Eric as a young man who moves from hiding to facing the truth. At the start he is uneasy at the table and laughs at the wrong moment, as if he already has something to conceal. By Act 3 he has confessed his part in Eva's story and attacks his parents for refusing to learn anything. The contrast is structural, and it suggests to a 1945 audience that the young, however damaged, can change where the old cannot..
Core — reveal the hint only on request: Pick one moment from the opening and one from the questioning. The gap between them is your point; the reason Priestley wanted that gap is your link.
Stretch — no help; when finished: Add a sentence comparing your character with one who does not change, then judge: is Priestley saying that the young can change and the old cannot, or that change depends on being willing to feel guilt?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moments in a relationship.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moment to what it shows about Gerald and Sheila's relationship.
Support — work through the steps with the group: (1) Put the five moments in order: two before the Inspector, one at the end of Act 1, two in Act 2. (2) For each moment ask: who holds the power, Sheila or Gerald? (3) Match each moment to the sentence that describes that balance of power.
Parallel worked example for Support (model it, do not give the task answer): Practice: at the very end of the play Gerald offers Sheila the ring again and she says not yet. What does this moment show about the relationship? Gerald behaves as though nothing has happened.; Sheila refuses to go back to how things were.; So the two of them have learned different lessons.. Answer: That Gerald wants to return to the evening's beginning while Sheila refuses to pretend, so they have learned opposite lessons from the Inspector..
Core — reveal the hint only on request: The power moves from Gerald to Sheila as the evening goes on. Early moments are about show; later moments are about truth.
Stretch — no help; when finished: Argue that the engagement was always a business arrangement between two firms, using Mr Birling's speech and Lady Croft's reported view. Then decide whether Priestley wants us to hope Sheila and Gerald marry.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moments in a relationship.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moment to what it shows about Gerald and Sheila's relationship.
Support — work through the steps with the group: (1) Put the five moments in order: two before the Inspector, one at the end of Act 1, two in Act 2. (2) For each moment ask: who holds the power, Sheila or Gerald? (3) Match each moment to the sentence that describes that balance of power.
Parallel worked example for Support (model it, do not give the task answer): Practice: at the very end of the play Gerald offers Sheila the ring again and she says not yet. What does this moment show about the relationship? Gerald behaves as though nothing has happened.; Sheila refuses to go back to how things were.; So the two of them have learned different lessons.. Answer: That Gerald wants to return to the evening's beginning while Sheila refuses to pretend, so they have learned opposite lessons from the Inspector..
Core — reveal the hint only on request: The power moves from Gerald to Sheila as the evening goes on. Early moments are about show; later moments are about truth.
Stretch — no help; when finished: Argue that the engagement was always a business arrangement between two firms, using Mr Birling's speech and Lady Croft's reported view. Then decide whether Priestley wants us to hope Sheila and Gerald marry.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moments in a relationship.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moment to what it shows about Gerald and Sheila's relationship.
Support — work through the steps with the group: (1) Put the five moments in order: two before the Inspector, one at the end of Act 1, two in Act 2. (2) For each moment ask: who holds the power, Sheila or Gerald? (3) Match each moment to the sentence that describes that balance of power.
Parallel worked example for Support (model it, do not give the task answer): Practice: at the very end of the play Gerald offers Sheila the ring again and she says not yet. What does this moment show about the relationship? Gerald behaves as though nothing has happened.; Sheila refuses to go back to how things were.; So the two of them have learned different lessons.. Answer: That Gerald wants to return to the evening's beginning while Sheila refuses to pretend, so they have learned opposite lessons from the Inspector..
Core — reveal the hint only on request: The power moves from Gerald to Sheila as the evening goes on. Early moments are about show; later moments are about truth.
Stretch — no help; when finished: Argue that the engagement was always a business arrangement between two firms, using Mr Birling's speech and Lady Croft's reported view. Then decide whether Priestley wants us to hope Sheila and Gerald marry.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Five moments in a relationship.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moment to what it shows about Gerald and Sheila's relationship.
Support — work through the steps with the group: (1) Put the five moments in order: two before the Inspector, one at the end of Act 1, two in Act 2. (2) For each moment ask: who holds the power, Sheila or Gerald? (3) Match each moment to the sentence that describes that balance of power.
Parallel worked example for Support (model it, do not give the task answer): Practice: at the very end of the play Gerald offers Sheila the ring again and she says not yet. What does this moment show about the relationship? Gerald behaves as though nothing has happened.; Sheila refuses to go back to how things were.; So the two of them have learned different lessons.. Answer: That Gerald wants to return to the evening's beginning while Sheila refuses to pretend, so they have learned opposite lessons from the Inspector..
Core — reveal the hint only on request: The power moves from Gerald to Sheila as the evening goes on. Early moments are about show; later moments are about truth.
Stretch — no help; when finished: Argue that the engagement was always a business arrangement between two firms, using Mr Birling's speech and Lady Croft's reported view. Then decide whether Priestley wants us to hope Sheila and Gerald marry.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Sheila have Eva Smith sacked from Milwards?
Answer: A   Eva seemed to smile at Sheila when a dress suited Eva better, and Sheila was jealous and in a bad temper. Sheila admits she was in a foul temper, that the dress suited Eva and not her, and that she thought Eva was smirking. She used her family's custom at the shop to punish a girl for being pretty.
Source of this question: gate item 1 re-asked (options rotated) — this chapter has no third quick-check module.
The ebook also holds task 3, "Key words for Sheila and Gerald",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character who changes. Reveal the answer; pupils mark their own work in a different colour, then read the "why" together. Same destination for every lane, so one answer serves the whole class.
Answer: Point: a clear statement about how the character changes, or does not, across the play; Evidence: at least two precise references to moments from different parts of the play (in the exam you would quote them); Inference and method: what each moment suggests, and a method Priestley uses (stage direction, contrast, structure); Reader and Link: how the 1945 audience responds, and what Priestley wanted them to understand about change
Why: A top answer builds a then-and-now comparison, names the method that makes the change visible, and ends with why Priestley wanted his audience to see it.
Model answer: Priestley presents Sheila as the character who changes most, and most quickly. At the outset she is naive and sheltered: she admires her engagement ring like a child with a new toy and apologises to her father like a schoolgirl when he scolds her. Yet once the Inspector has told the story of the dress shop, she accepts her part at once, admits she acted out of jealousy and temper, and promises that she will never treat anyone that way again. The contrast between the two moments is Priestley's method: structure does the work, placing the spoilt girl of the opening beside the ashamed young woman of the questioning. The audience of 1945 is invited to see in her the younger generation that might build a fairer Britain, and Priestley's purpose is to show that change is possible, but only for those willing to feel responsible.
Success criteria: Point: a clear statement about how the character changes, or does not, across the play; Evidence: at least two precise references to moments from different parts of the play (in the exam you would quote them); Inference and method: what each moment suggests, and a method Priestley uses (stage direction, contrast, structure); Reader and Link: how the 1945 audience responds, and what Priestley wanted them to understand about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 character who changes. Reveal the answer; pupils mark their own work in a different colour, then read the "why" together. Same destination for every lane, so one answer serves the whole class.
Answer: Point: a clear statement about how the character changes, or does not, across the play; Evidence: at least two precise references to moments from different parts of the play (in the exam you would quote them); Inference and method: what each moment suggests, and a method Priestley uses (stage direction, contrast, structure); Reader and Link: how the 1945 audience responds, and what Priestley wanted them to understand about change
Why: A top answer builds a then-and-now comparison, names the method that makes the change visible, and ends with why Priestley wanted his audience to see it.
Model answer: Priestley presents Sheila as the character who changes most, and most quickly. At the outset she is naive and sheltered: she admires her engagement ring like a child with a new toy and apologises to her father like a schoolgirl when he scolds her. Yet once the Inspector has told the story of the dress shop, she accepts her part at once, admits she acted out of jealousy and temper, and promises that she will never treat anyone that way again. The contrast between the two moments is Priestley's method: structure does the work, placing the spoilt girl of the opening beside the ashamed young woman of the questioning. The audience of 1945 is invited to see in her the younger generation that might build a fairer Britain, and Priestley's purpose is to show that change is possible, but only for those willing to feel responsible.
Success criteria: Point: a clear statement about how the character changes, or does not, across the play; Evidence: at least two precise references to moments from different parts of the play (in the exam you would quote them); Inference and method: what each moment suggests, and a method Priestley uses (stage direction, contrast, structure); Reader and Link: how the 1945 audience responds, and what Priestley wanted them to understand about change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Five moments in a relationship. Reveal the answer; pupils mark their own work in a different colour, then read the "why" together. Same destination for every lane, so one answer serves the whole class.
Answer: Gerald gives Sheila the ring at dinner (Act 1)  →  A  Their happiness rests on a possession and a public show; Sheila reminds Gerald that he hardly saw her last summer (Act 1)  →  B  A crack is already there before the Inspector arrives; Sheila realises Gerald knew Daisy Renton (end of Act 1)  →  E  She can now see through him, and knows the Inspector can too; Gerald wants Sheila out of the room before he is questioned (Act 2)  →  C  He still believes women should be protected from unpleasant truths; Sheila hands back the ring but praises his honesty (Act 2)  →  D  She has grown up and will not pretend; the engagement must start again or not at all
Why: Priestley uses the engagement to test whether a relationship built on appearances can survive the truth. Sheila grows; Gerald does not; the ring moves between them as the measure.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Eva seemed to smile at Sheila when a dress suited Eva better, and Sheila was jealous and in a bad temper
Why: Sheila admits she was in a foul temper, that the dress suited Eva and not her, and that she thought Eva was smirking. She used her family's custom at the shop to punish a girl for being pretty.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6CEDE"/>
          </a:solidFill>
          <a:ln w="12700">
            <a:solidFill>
              <a:srgbClr val="D6CE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Literature · Year 10 · An Inspector Calls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5B3A7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D2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5B3A7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5B3A7A"/>
                </a:solidFill>
                <a:latin typeface="Calibri" pitchFamily="34" charset="0"/>
                <a:ea typeface="Calibri" pitchFamily="34" charset="-122"/>
                <a:cs typeface="Calibri" pitchFamily="34" charset="-120"/>
              </a:rPr>
              <a:t>English Literature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An Inspector Calls · AQA 8702</a:t>
            </a:r>
            <a:endParaRPr lang="en-US" sz="1800" dirty="0"/>
          </a:p>
        </p:txBody>
      </p:sp>
      <p:sp>
        <p:nvSpPr>
          <p:cNvPr id="10" name="deck-title"/>
          <p:cNvSpPr txBox="1"/>
          <p:nvPr/>
        </p:nvSpPr>
        <p:spPr>
          <a:xfrm>
            <a:off x="548640" y="189534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Sheila, Gerald and the girl in the photograph (Acts 1 to 2)</a:t>
            </a:r>
            <a:endParaRPr lang="en-US" sz="2800" dirty="0"/>
          </a:p>
        </p:txBody>
      </p:sp>
      <p:sp>
        <p:nvSpPr>
          <p:cNvPr id="11" name="lessons-card"/>
          <p:cNvSpPr/>
          <p:nvPr/>
        </p:nvSpPr>
        <p:spPr>
          <a:xfrm>
            <a:off x="548640" y="3175508"/>
            <a:ext cx="5287975" cy="2372360"/>
          </a:xfrm>
          <a:prstGeom prst="roundRect">
            <a:avLst>
              <a:gd name="adj" fmla="val 3084"/>
            </a:avLst>
          </a:prstGeom>
          <a:solidFill>
            <a:srgbClr val="EAE5EE"/>
          </a:solidFill>
          <a:ln/>
        </p:spPr>
      </p:sp>
      <p:sp>
        <p:nvSpPr>
          <p:cNvPr id="12" name="lessons"/>
          <p:cNvSpPr txBox="1"/>
          <p:nvPr/>
        </p:nvSpPr>
        <p:spPr>
          <a:xfrm>
            <a:off x="685800" y="3266948"/>
            <a:ext cx="5013655" cy="21894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5B3A7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Sheila's responsibility</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Gerald Croft and entitlement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Gerald Croft's significance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Gerald and Sheila's relationship</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is Eva Smith presented?</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iteratur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AE5EE"/>
          </a:solidFill>
          <a:ln w="12700">
            <a:solidFill>
              <a:srgbClr val="B8AAC6"/>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5B3A7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Priestley use the Birling family and the Inspector to make his 1945 audience accept that we are all responsible for one another?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did Sheila have Eva Smith sacked from Milwards?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stolen from the shop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seemed to smile at Sheila when a dress suited Eva better, and Sheila was jealous and in a bad temper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asked the shop for more pay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been rude to Mrs Birling</a:t>
            </a:r>
            <a:endParaRPr lang="en-US" sz="2200" dirty="0"/>
          </a:p>
        </p:txBody>
      </p:sp>
      <p:sp>
        <p:nvSpPr>
          <p:cNvPr id="12" name="card"/>
          <p:cNvSpPr/>
          <p:nvPr/>
        </p:nvSpPr>
        <p:spPr>
          <a:xfrm>
            <a:off x="6095848" y="1389888"/>
            <a:ext cx="2636444" cy="4754880"/>
          </a:xfrm>
          <a:prstGeom prst="roundRect">
            <a:avLst>
              <a:gd name="adj" fmla="val 2081"/>
            </a:avLst>
          </a:prstGeom>
          <a:solidFill>
            <a:srgbClr val="EFEBF2"/>
          </a:solidFill>
          <a:ln w="12700">
            <a:solidFill>
              <a:srgbClr val="C1B4CC"/>
            </a:solidFill>
            <a:prstDash val="solid"/>
          </a:ln>
        </p:spPr>
      </p:sp>
      <p:sp>
        <p:nvSpPr>
          <p:cNvPr id="13" name="card-hex"/>
          <p:cNvSpPr/>
          <p:nvPr/>
        </p:nvSpPr>
        <p:spPr>
          <a:xfrm>
            <a:off x="6278728" y="1572768"/>
            <a:ext cx="640080" cy="554309"/>
          </a:xfrm>
          <a:prstGeom prst="hexagon">
            <a:avLst/>
          </a:prstGeom>
          <a:solidFill>
            <a:srgbClr val="5B3A7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Gerald met Daisy Renton in March 1911 and ended the relationship in the first week of September 1911. For how many months was she his mistress?</a:t>
            </a:r>
            <a:endParaRPr lang="en-US" sz="1800" dirty="0"/>
          </a:p>
          <a:p>
            <a:pPr algn="l" indent="0" marL="0">
              <a:buNone/>
            </a:pPr>
            <a:r>
              <a:rPr lang="en-US" sz="1800" b="1" dirty="0">
                <a:solidFill>
                  <a:srgbClr val="5B3A7A"/>
                </a:solidFill>
                <a:latin typeface="Calibri" pitchFamily="34" charset="0"/>
                <a:ea typeface="Calibri" pitchFamily="34" charset="-122"/>
                <a:cs typeface="Calibri" pitchFamily="34" charset="-120"/>
              </a:rPr>
              <a:t>Answer:  </a:t>
            </a:r>
            <a:pPr algn="l" indent="0" marL="0">
              <a:buNone/>
            </a:pPr>
            <a:r>
              <a:rPr lang="en-US" sz="1800" dirty="0">
                <a:solidFill>
                  <a:srgbClr val="1E2229"/>
                </a:solidFill>
                <a:latin typeface="Calibri" pitchFamily="34" charset="0"/>
                <a:ea typeface="Calibri" pitchFamily="34" charset="-122"/>
                <a:cs typeface="Calibri" pitchFamily="34" charset="-120"/>
              </a:rPr>
              <a:t>________ months</a:t>
            </a:r>
            <a:endParaRPr lang="en-US" sz="1800" dirty="0"/>
          </a:p>
        </p:txBody>
      </p:sp>
      <p:sp>
        <p:nvSpPr>
          <p:cNvPr id="17" name="card"/>
          <p:cNvSpPr/>
          <p:nvPr/>
        </p:nvSpPr>
        <p:spPr>
          <a:xfrm>
            <a:off x="9006611" y="1389888"/>
            <a:ext cx="2636444" cy="4754880"/>
          </a:xfrm>
          <a:prstGeom prst="roundRect">
            <a:avLst>
              <a:gd name="adj" fmla="val 2081"/>
            </a:avLst>
          </a:prstGeom>
          <a:solidFill>
            <a:srgbClr val="EFEBF2"/>
          </a:solidFill>
          <a:ln w="12700">
            <a:solidFill>
              <a:srgbClr val="C1B4CC"/>
            </a:solidFill>
            <a:prstDash val="solid"/>
          </a:ln>
        </p:spPr>
      </p:sp>
      <p:sp>
        <p:nvSpPr>
          <p:cNvPr id="18" name="card-hex"/>
          <p:cNvSpPr/>
          <p:nvPr/>
        </p:nvSpPr>
        <p:spPr>
          <a:xfrm>
            <a:off x="9189491" y="1572768"/>
            <a:ext cx="640080" cy="554309"/>
          </a:xfrm>
          <a:prstGeom prst="hexagon">
            <a:avLst/>
          </a:prstGeom>
          <a:solidFill>
            <a:srgbClr val="5B3A7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After she lost her second job, Eva Smith started using a new name. Gerald knew her as Daisy ___.</a:t>
            </a:r>
            <a:endParaRPr lang="en-US" sz="2000" dirty="0"/>
          </a:p>
          <a:p>
            <a:pPr algn="l" indent="0" marL="0">
              <a:buNone/>
            </a:pPr>
            <a:r>
              <a:rPr lang="en-US" sz="2000" b="1" dirty="0">
                <a:solidFill>
                  <a:srgbClr val="5B3A7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Renton  ·  Croft  ·  Birling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FEBF2"/>
          </a:solidFill>
          <a:ln w="12700">
            <a:solidFill>
              <a:srgbClr val="C1B4CC"/>
            </a:solidFill>
            <a:prstDash val="solid"/>
          </a:ln>
        </p:spPr>
      </p:sp>
      <p:sp>
        <p:nvSpPr>
          <p:cNvPr id="8" name="card-hex"/>
          <p:cNvSpPr/>
          <p:nvPr/>
        </p:nvSpPr>
        <p:spPr>
          <a:xfrm>
            <a:off x="731520" y="1572768"/>
            <a:ext cx="640080" cy="554309"/>
          </a:xfrm>
          <a:prstGeom prst="hexagon">
            <a:avLst/>
          </a:prstGeom>
          <a:solidFill>
            <a:srgbClr val="5B3A7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Eva seemed to smile at Sheila when a dress suited Eva better, and Sheila was jealous and in a bad temper</a:t>
            </a:r>
            <a:endParaRPr lang="en-US" sz="2200" dirty="0"/>
          </a:p>
        </p:txBody>
      </p:sp>
      <p:sp>
        <p:nvSpPr>
          <p:cNvPr id="13" name="card-body"/>
          <p:cNvSpPr txBox="1"/>
          <p:nvPr/>
        </p:nvSpPr>
        <p:spPr>
          <a:xfrm>
            <a:off x="731520" y="3834465"/>
            <a:ext cx="490712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Sheila admits she was in a foul temper, that the dress suited Eva and not her, and that she thought Eva was smirking. She used her family's custom at the shop to punish a girl for being pretty.</a:t>
            </a:r>
            <a:endParaRPr lang="en-US" sz="1800" dirty="0"/>
          </a:p>
        </p:txBody>
      </p:sp>
      <p:sp>
        <p:nvSpPr>
          <p:cNvPr id="14" name="card"/>
          <p:cNvSpPr/>
          <p:nvPr/>
        </p:nvSpPr>
        <p:spPr>
          <a:xfrm>
            <a:off x="6095848" y="1389888"/>
            <a:ext cx="2636444" cy="4754880"/>
          </a:xfrm>
          <a:prstGeom prst="roundRect">
            <a:avLst>
              <a:gd name="adj" fmla="val 2081"/>
            </a:avLst>
          </a:prstGeom>
          <a:solidFill>
            <a:srgbClr val="EFEBF2"/>
          </a:solidFill>
          <a:ln w="12700">
            <a:solidFill>
              <a:srgbClr val="C1B4CC"/>
            </a:solidFill>
            <a:prstDash val="solid"/>
          </a:ln>
        </p:spPr>
      </p:sp>
      <p:sp>
        <p:nvSpPr>
          <p:cNvPr id="15" name="card-hex"/>
          <p:cNvSpPr/>
          <p:nvPr/>
        </p:nvSpPr>
        <p:spPr>
          <a:xfrm>
            <a:off x="6278728" y="1572768"/>
            <a:ext cx="640080" cy="554309"/>
          </a:xfrm>
          <a:prstGeom prst="hexagon">
            <a:avLst/>
          </a:prstGeom>
          <a:solidFill>
            <a:srgbClr val="5B3A7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6 months</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March to September is six months: April, May, June, July, August, September. Gerald calls it a summer; it was half a year of her life.</a:t>
            </a:r>
            <a:endParaRPr lang="en-US" sz="1800" dirty="0"/>
          </a:p>
        </p:txBody>
      </p:sp>
      <p:sp>
        <p:nvSpPr>
          <p:cNvPr id="21" name="card"/>
          <p:cNvSpPr/>
          <p:nvPr/>
        </p:nvSpPr>
        <p:spPr>
          <a:xfrm>
            <a:off x="9006611" y="1389888"/>
            <a:ext cx="2636444" cy="4754880"/>
          </a:xfrm>
          <a:prstGeom prst="roundRect">
            <a:avLst>
              <a:gd name="adj" fmla="val 2081"/>
            </a:avLst>
          </a:prstGeom>
          <a:solidFill>
            <a:srgbClr val="EFEBF2"/>
          </a:solidFill>
          <a:ln w="12700">
            <a:solidFill>
              <a:srgbClr val="C1B4CC"/>
            </a:solidFill>
            <a:prstDash val="solid"/>
          </a:ln>
        </p:spPr>
      </p:sp>
      <p:sp>
        <p:nvSpPr>
          <p:cNvPr id="22" name="card-hex"/>
          <p:cNvSpPr/>
          <p:nvPr/>
        </p:nvSpPr>
        <p:spPr>
          <a:xfrm>
            <a:off x="9189491" y="1572768"/>
            <a:ext cx="640080" cy="554309"/>
          </a:xfrm>
          <a:prstGeom prst="hexagon">
            <a:avLst/>
          </a:prstGeom>
          <a:solidFill>
            <a:srgbClr val="5B3A7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Renton</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Daisy Renton is the name Eva used from the spring of 1911. It is the Inspector's mention of this name that makes Gerald give himself away at the end of Act 1.</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remorse</a:t>
            </a:r>
            <a:endParaRPr lang="en-US" sz="2600" dirty="0"/>
          </a:p>
        </p:txBody>
      </p:sp>
      <p:sp>
        <p:nvSpPr>
          <p:cNvPr id="11" name="word-rule"/>
          <p:cNvSpPr/>
          <p:nvPr/>
        </p:nvSpPr>
        <p:spPr>
          <a:xfrm>
            <a:off x="731520" y="2129028"/>
            <a:ext cx="3149498" cy="0"/>
          </a:xfrm>
          <a:prstGeom prst="line">
            <a:avLst/>
          </a:prstGeom>
          <a:ln w="12700">
            <a:solidFill>
              <a:srgbClr val="B8AAC6"/>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deep regret for something you did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Sheila shows remorse when she learns what happened to Eva.</a:t>
            </a:r>
            <a:endParaRPr lang="en-US" sz="2200" dirty="0"/>
          </a:p>
        </p:txBody>
      </p:sp>
      <p:sp>
        <p:nvSpPr>
          <p:cNvPr id="13" name="word-card"/>
          <p:cNvSpPr/>
          <p:nvPr/>
        </p:nvSpPr>
        <p:spPr>
          <a:xfrm>
            <a:off x="4338218" y="1389888"/>
            <a:ext cx="3515258" cy="4754880"/>
          </a:xfrm>
          <a:prstGeom prst="roundRect">
            <a:avLst>
              <a:gd name="adj" fmla="val 1561"/>
            </a:avLst>
          </a:prstGeom>
          <a:solidFill>
            <a:srgbClr val="EDE9F0"/>
          </a:solidFill>
          <a:ln w="12700">
            <a:solidFill>
              <a:srgbClr val="B8AAC6"/>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entitlement</a:t>
            </a:r>
            <a:endParaRPr lang="en-US" sz="2600" dirty="0"/>
          </a:p>
        </p:txBody>
      </p:sp>
      <p:sp>
        <p:nvSpPr>
          <p:cNvPr id="17" name="word-rule"/>
          <p:cNvSpPr/>
          <p:nvPr/>
        </p:nvSpPr>
        <p:spPr>
          <a:xfrm>
            <a:off x="4521098" y="2129028"/>
            <a:ext cx="3149498" cy="0"/>
          </a:xfrm>
          <a:prstGeom prst="line">
            <a:avLst/>
          </a:prstGeom>
          <a:ln w="12700">
            <a:solidFill>
              <a:srgbClr val="B8AAC6"/>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believing you deserve whatever you want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Gerald's entitlement lets him treat Eva as something he can pick up and put down.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DE9F0"/>
          </a:solidFill>
          <a:ln w="12700">
            <a:solidFill>
              <a:srgbClr val="B8AAC6"/>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impunity</a:t>
            </a:r>
            <a:endParaRPr lang="en-US" sz="2600" dirty="0"/>
          </a:p>
        </p:txBody>
      </p:sp>
      <p:sp>
        <p:nvSpPr>
          <p:cNvPr id="23" name="word-rule"/>
          <p:cNvSpPr/>
          <p:nvPr/>
        </p:nvSpPr>
        <p:spPr>
          <a:xfrm>
            <a:off x="8310677" y="2129028"/>
            <a:ext cx="3149498" cy="0"/>
          </a:xfrm>
          <a:prstGeom prst="line">
            <a:avLst/>
          </a:prstGeom>
          <a:ln w="12700">
            <a:solidFill>
              <a:srgbClr val="B8AAC6"/>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escaping any punishment for doing wrong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Men of Gerald's class acted with impunity: nobody ever called them to account.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DE9F0"/>
          </a:solidFill>
          <a:ln w="12700">
            <a:solidFill>
              <a:srgbClr val="B8AAC6"/>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naive</a:t>
            </a:r>
            <a:endParaRPr lang="en-US" sz="2600" dirty="0"/>
          </a:p>
        </p:txBody>
      </p:sp>
      <p:sp>
        <p:nvSpPr>
          <p:cNvPr id="11" name="word-rule"/>
          <p:cNvSpPr/>
          <p:nvPr/>
        </p:nvSpPr>
        <p:spPr>
          <a:xfrm>
            <a:off x="731520" y="2129028"/>
            <a:ext cx="5044288" cy="0"/>
          </a:xfrm>
          <a:prstGeom prst="line">
            <a:avLst/>
          </a:prstGeom>
          <a:ln w="12700">
            <a:solidFill>
              <a:srgbClr val="B8AAC6"/>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innocent and inexperienced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the start Sheila is naive about how people like Eva live.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DE9F0"/>
          </a:solidFill>
          <a:ln w="12700">
            <a:solidFill>
              <a:srgbClr val="B8AAC6"/>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mistress</a:t>
            </a:r>
            <a:endParaRPr lang="en-US" sz="2600" dirty="0"/>
          </a:p>
        </p:txBody>
      </p:sp>
      <p:sp>
        <p:nvSpPr>
          <p:cNvPr id="17" name="word-rule"/>
          <p:cNvSpPr/>
          <p:nvPr/>
        </p:nvSpPr>
        <p:spPr>
          <a:xfrm>
            <a:off x="6415888" y="2129028"/>
            <a:ext cx="5044288" cy="0"/>
          </a:xfrm>
          <a:prstGeom prst="line">
            <a:avLst/>
          </a:prstGeom>
          <a:ln w="12700">
            <a:solidFill>
              <a:srgbClr val="B8AAC6"/>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woman a man keeps a relationship with without marrying 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Gerald made Eva his mistress for the summer and then ended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Sheila is Mr Birling's daughter.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first she seems spoilt and a little childish.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loves her engagement ring and shows it to her mother.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she learns how Eva Smith died.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 is shocked and says the girl deserved better.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Eva had worked in a dress shop called Milwards.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Sheila had her sacked out of jealousy and bad temper.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5B3A7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FEBF2"/>
          </a:solidFill>
          <a:ln w="12700">
            <a:solidFill>
              <a:srgbClr val="C9BED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Sheila feels terrible and says she will never do it again.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Gerald is Sheila's fiancé.</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met Eva, who now called herself Daisy Renton, in a bar.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He gave her a place to live and made her his </a:t>
            </a:r>
            <a:pPr algn="l" indent="0" marL="0">
              <a:spcAft>
                <a:spcPts val="600"/>
              </a:spcAft>
              <a:buNone/>
            </a:pPr>
            <a:r>
              <a:rPr lang="en-US" sz="2600" b="1" dirty="0">
                <a:solidFill>
                  <a:srgbClr val="5B3A7A"/>
                </a:solidFill>
                <a:latin typeface="Calibri" pitchFamily="34" charset="0"/>
                <a:ea typeface="Calibri" pitchFamily="34" charset="-122"/>
                <a:cs typeface="Calibri" pitchFamily="34" charset="-120"/>
              </a:rPr>
              <a:t>mistress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he ended it when it suited him.</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Sheila gives the ring back, but respects his honesty.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Eva never appears on stage, yet the whole play is about her.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Sheila: from the ring to responsibility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Sheila's journey is naive, then shocked, then remorseful, then wiser than her parents. Track her with one moment for each stage.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At the start of the evening Sheila is exactly what her father's money has made her.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Then the Inspector describes Eva's last months, and Sheila's first reaction is warm but shallow: she says it is a terrible shame, as if it were bad weather.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What makes Sheila different from her father is what happens next.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Gerald: entitlement and impunity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Gerald's age is a trap. He is about thirty, so he is young, but in his attitudes he belongs with the older generation. Use him to complicate the generation theme.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Act 1 ends with a name. The Inspector mentions that Eva changed her name to Daisy Renton, and Gerald's reaction gives him away.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Act 2 Gerald tells his story. In March 1911 he went to the bar at the Palace Variety Theatre, a place where men met women they did not intend to marry.</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AE5EE"/>
          </a:solidFill>
          <a:ln/>
        </p:spPr>
      </p:sp>
      <p:sp>
        <p:nvSpPr>
          <p:cNvPr id="20" name="point-hex"/>
          <p:cNvSpPr/>
          <p:nvPr/>
        </p:nvSpPr>
        <p:spPr>
          <a:xfrm>
            <a:off x="8310677" y="1572768"/>
            <a:ext cx="685800" cy="593903"/>
          </a:xfrm>
          <a:prstGeom prst="hexagon">
            <a:avLst/>
          </a:prstGeom>
          <a:solidFill>
            <a:srgbClr val="5B3A7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Gerald is the hardest character to judge, and that is the point.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Gerald and Sheila: a relationship under a lamp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a relationships essay, use the ring as a motif: given, admired, returned, offered again, refused for now.</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on their relationship traces five key moments. First, the ring: their happiness is built on a possession and a public show.</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is Priestley suggesting? That the engagement was never only about love.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Eva Smith: the character we never see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essay on Eva is really an essay on how each character sees the working class. Organise it by viewer, not by event.</a:t>
            </a:r>
            <a:endParaRPr lang="en-US" sz="1800" dirty="0"/>
          </a:p>
        </p:txBody>
      </p:sp>
      <p:sp>
        <p:nvSpPr>
          <p:cNvPr id="11" name="point-card"/>
          <p:cNvSpPr/>
          <p:nvPr/>
        </p:nvSpPr>
        <p:spPr>
          <a:xfrm>
            <a:off x="548640" y="1389888"/>
            <a:ext cx="5410048" cy="3686048"/>
          </a:xfrm>
          <a:prstGeom prst="roundRect">
            <a:avLst>
              <a:gd name="adj" fmla="val 1488"/>
            </a:avLst>
          </a:prstGeom>
          <a:solidFill>
            <a:srgbClr val="EAE5EE"/>
          </a:solidFill>
          <a:ln/>
        </p:spPr>
      </p:sp>
      <p:sp>
        <p:nvSpPr>
          <p:cNvPr id="12" name="point-hex"/>
          <p:cNvSpPr/>
          <p:nvPr/>
        </p:nvSpPr>
        <p:spPr>
          <a:xfrm>
            <a:off x="731520" y="1572768"/>
            <a:ext cx="685800" cy="593903"/>
          </a:xfrm>
          <a:prstGeom prst="hexagon">
            <a:avLst/>
          </a:prstGeom>
          <a:solidFill>
            <a:srgbClr val="5B3A7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Eva Smith is dead before the play begins and never appears on stage.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 name does a lot of work. Eva recalls Eve, the first woman, and Smith is the most ordinary surname in England.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A character who changes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How does Priestley present Sheila as a character who changes? Write one developed paragraph using PEIRL or What / How / Why.</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8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(1 of 2): A character who changes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Sheila as a character who changes? Write one developed paragraph using PEIRL or What / How / Why.</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EAE5E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describe one moment from the start of the play that shows what the character was like.</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Now: describe one moment from later in the play that shows a change, or shows that nothing has changed.</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Method: name what Priestley does to make us notice (contrast, a stage direction, the order of events).</a:t>
            </a:r>
            <a:endParaRPr lang="en-US" sz="2000" dirty="0"/>
          </a:p>
          <a:p>
            <a:pPr algn="l" indent="0" marL="0">
              <a:spcAft>
                <a:spcPts val="600"/>
              </a:spcAft>
              <a:buNone/>
            </a:pPr>
            <a:r>
              <a:rPr lang="en-US" sz="2000" b="1" dirty="0">
                <a:solidFill>
                  <a:srgbClr val="5B3A7A"/>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Why: say what Priestley wanted his 1945 audience to understand about people like this character.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5B3A7A"/>
                </a:solidFill>
                <a:latin typeface="Cambria" pitchFamily="34" charset="0"/>
                <a:ea typeface="Cambria" pitchFamily="34" charset="-122"/>
                <a:cs typeface="Cambria" pitchFamily="34" charset="-120"/>
              </a:rPr>
              <a:t>Same task, three ways in (2 of 2): A character who changes</a:t>
            </a:r>
            <a:endParaRPr lang="en-US" sz="24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How does Priestley present Sheila as a character who changes? Write one developed paragraph using PEIRL or What / How / Why.</a:t>
            </a:r>
            <a:endParaRPr lang="en-US" sz="2000" dirty="0"/>
          </a:p>
        </p:txBody>
      </p:sp>
      <p:sp>
        <p:nvSpPr>
          <p:cNvPr id="12" name="col-Core"/>
          <p:cNvSpPr/>
          <p:nvPr/>
        </p:nvSpPr>
        <p:spPr>
          <a:xfrm>
            <a:off x="548640" y="2593848"/>
            <a:ext cx="5410048" cy="3550920"/>
          </a:xfrm>
          <a:prstGeom prst="roundRect">
            <a:avLst>
              <a:gd name="adj" fmla="val 1545"/>
            </a:avLst>
          </a:prstGeom>
          <a:solidFill>
            <a:srgbClr val="D6CEDE"/>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492E62"/>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Pick one moment from the opening and one from the questioning. The gap between them is your point; the reason Priestley wanted that gap is your link.</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5B3A7A"/>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Add a sentence comparing your character with one who does not change, then judge: is Priestley saying that the young can change and the old cannot, or that change depends on being willing to feel guilt?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The task: Five moments in a relationship</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moment to what it shows about Gerald and Sheila's relationship.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The task (1 of 2): Five moments in a relationship</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moment to what it shows about Gerald and Sheila's relationship.</a:t>
            </a:r>
            <a:endParaRPr lang="en-US" sz="2400" dirty="0"/>
          </a:p>
        </p:txBody>
      </p:sp>
      <p:sp>
        <p:nvSpPr>
          <p:cNvPr id="11" name="match-card"/>
          <p:cNvSpPr/>
          <p:nvPr/>
        </p:nvSpPr>
        <p:spPr>
          <a:xfrm>
            <a:off x="777240" y="2672080"/>
            <a:ext cx="5135728" cy="1035643"/>
          </a:xfrm>
          <a:prstGeom prst="roundRect">
            <a:avLst>
              <a:gd name="adj" fmla="val 7063"/>
            </a:avLst>
          </a:prstGeom>
          <a:solidFill>
            <a:srgbClr val="EDE9F0"/>
          </a:solidFill>
          <a:ln/>
        </p:spPr>
      </p:sp>
      <p:sp>
        <p:nvSpPr>
          <p:cNvPr id="12" name="match-hex"/>
          <p:cNvSpPr/>
          <p:nvPr/>
        </p:nvSpPr>
        <p:spPr>
          <a:xfrm>
            <a:off x="850392" y="3023609"/>
            <a:ext cx="384048" cy="332586"/>
          </a:xfrm>
          <a:prstGeom prst="hexagon">
            <a:avLst/>
          </a:prstGeom>
          <a:solidFill>
            <a:srgbClr val="5B3A7A"/>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Gerald gives Sheila the ring at dinner (Act 1)</a:t>
            </a:r>
            <a:endParaRPr lang="en-US" sz="2200" dirty="0"/>
          </a:p>
        </p:txBody>
      </p:sp>
      <p:sp>
        <p:nvSpPr>
          <p:cNvPr id="15" name="match-card"/>
          <p:cNvSpPr/>
          <p:nvPr/>
        </p:nvSpPr>
        <p:spPr>
          <a:xfrm>
            <a:off x="6278728" y="2672080"/>
            <a:ext cx="5135728" cy="1035643"/>
          </a:xfrm>
          <a:prstGeom prst="roundRect">
            <a:avLst>
              <a:gd name="adj" fmla="val 7063"/>
            </a:avLst>
          </a:prstGeom>
          <a:solidFill>
            <a:srgbClr val="F4EDDF"/>
          </a:solidFill>
          <a:ln/>
        </p:spPr>
      </p:sp>
      <p:sp>
        <p:nvSpPr>
          <p:cNvPr id="16" name="match-hex"/>
          <p:cNvSpPr/>
          <p:nvPr/>
        </p:nvSpPr>
        <p:spPr>
          <a:xfrm>
            <a:off x="6351880" y="3023609"/>
            <a:ext cx="384048" cy="332586"/>
          </a:xfrm>
          <a:prstGeom prst="hexagon">
            <a:avLst/>
          </a:prstGeom>
          <a:solidFill>
            <a:srgbClr val="B8862B"/>
          </a:solidFill>
          <a:ln/>
        </p:spPr>
      </p:sp>
      <p:sp>
        <p:nvSpPr>
          <p:cNvPr id="17" name="match-hex-label"/>
          <p:cNvSpPr txBox="1"/>
          <p:nvPr/>
        </p:nvSpPr>
        <p:spPr>
          <a:xfrm>
            <a:off x="6351880"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672080"/>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crack is already there before the Inspector arrives</a:t>
            </a:r>
            <a:endParaRPr lang="en-US" sz="2200" dirty="0"/>
          </a:p>
        </p:txBody>
      </p:sp>
      <p:sp>
        <p:nvSpPr>
          <p:cNvPr id="19" name="match-card"/>
          <p:cNvSpPr/>
          <p:nvPr/>
        </p:nvSpPr>
        <p:spPr>
          <a:xfrm>
            <a:off x="777240" y="3799163"/>
            <a:ext cx="5135728" cy="1035643"/>
          </a:xfrm>
          <a:prstGeom prst="roundRect">
            <a:avLst>
              <a:gd name="adj" fmla="val 7063"/>
            </a:avLst>
          </a:prstGeom>
          <a:solidFill>
            <a:srgbClr val="EDE9F0"/>
          </a:solidFill>
          <a:ln/>
        </p:spPr>
      </p:sp>
      <p:sp>
        <p:nvSpPr>
          <p:cNvPr id="20" name="match-hex"/>
          <p:cNvSpPr/>
          <p:nvPr/>
        </p:nvSpPr>
        <p:spPr>
          <a:xfrm>
            <a:off x="850392" y="4150691"/>
            <a:ext cx="384048" cy="332586"/>
          </a:xfrm>
          <a:prstGeom prst="hexagon">
            <a:avLst/>
          </a:prstGeom>
          <a:solidFill>
            <a:srgbClr val="5B3A7A"/>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Sheila reminds Gerald that he hardly saw her last summer (Act 1)</a:t>
            </a:r>
            <a:endParaRPr lang="en-US" sz="2200" dirty="0"/>
          </a:p>
        </p:txBody>
      </p:sp>
      <p:sp>
        <p:nvSpPr>
          <p:cNvPr id="23" name="match-card"/>
          <p:cNvSpPr/>
          <p:nvPr/>
        </p:nvSpPr>
        <p:spPr>
          <a:xfrm>
            <a:off x="6278728" y="3799163"/>
            <a:ext cx="5135728" cy="1035643"/>
          </a:xfrm>
          <a:prstGeom prst="roundRect">
            <a:avLst>
              <a:gd name="adj" fmla="val 7063"/>
            </a:avLst>
          </a:prstGeom>
          <a:solidFill>
            <a:srgbClr val="F4EDDF"/>
          </a:solidFill>
          <a:ln/>
        </p:spPr>
      </p:sp>
      <p:sp>
        <p:nvSpPr>
          <p:cNvPr id="24" name="match-hex"/>
          <p:cNvSpPr/>
          <p:nvPr/>
        </p:nvSpPr>
        <p:spPr>
          <a:xfrm>
            <a:off x="6351880" y="4150691"/>
            <a:ext cx="384048" cy="332586"/>
          </a:xfrm>
          <a:prstGeom prst="hexagon">
            <a:avLst/>
          </a:prstGeom>
          <a:solidFill>
            <a:srgbClr val="B8862B"/>
          </a:solidFill>
          <a:ln/>
        </p:spPr>
      </p:sp>
      <p:sp>
        <p:nvSpPr>
          <p:cNvPr id="25" name="match-hex-label"/>
          <p:cNvSpPr txBox="1"/>
          <p:nvPr/>
        </p:nvSpPr>
        <p:spPr>
          <a:xfrm>
            <a:off x="6351880"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799163"/>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Their happiness rests on a possession and a public show</a:t>
            </a:r>
            <a:endParaRPr lang="en-US" sz="2200" dirty="0"/>
          </a:p>
        </p:txBody>
      </p:sp>
      <p:sp>
        <p:nvSpPr>
          <p:cNvPr id="27" name="match-card"/>
          <p:cNvSpPr/>
          <p:nvPr/>
        </p:nvSpPr>
        <p:spPr>
          <a:xfrm>
            <a:off x="777240" y="4926245"/>
            <a:ext cx="5135728" cy="1035643"/>
          </a:xfrm>
          <a:prstGeom prst="roundRect">
            <a:avLst>
              <a:gd name="adj" fmla="val 7063"/>
            </a:avLst>
          </a:prstGeom>
          <a:solidFill>
            <a:srgbClr val="EDE9F0"/>
          </a:solidFill>
          <a:ln/>
        </p:spPr>
      </p:sp>
      <p:sp>
        <p:nvSpPr>
          <p:cNvPr id="28" name="match-hex"/>
          <p:cNvSpPr/>
          <p:nvPr/>
        </p:nvSpPr>
        <p:spPr>
          <a:xfrm>
            <a:off x="850392" y="5277774"/>
            <a:ext cx="384048" cy="332586"/>
          </a:xfrm>
          <a:prstGeom prst="hexagon">
            <a:avLst/>
          </a:prstGeom>
          <a:solidFill>
            <a:srgbClr val="5B3A7A"/>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Sheila realises Gerald knew Daisy Renton (end of Act 1)</a:t>
            </a:r>
            <a:endParaRPr lang="en-US" sz="2200" dirty="0"/>
          </a:p>
        </p:txBody>
      </p:sp>
      <p:sp>
        <p:nvSpPr>
          <p:cNvPr id="31" name="match-card"/>
          <p:cNvSpPr/>
          <p:nvPr/>
        </p:nvSpPr>
        <p:spPr>
          <a:xfrm>
            <a:off x="6278728" y="4926245"/>
            <a:ext cx="5135728" cy="1035643"/>
          </a:xfrm>
          <a:prstGeom prst="roundRect">
            <a:avLst>
              <a:gd name="adj" fmla="val 7063"/>
            </a:avLst>
          </a:prstGeom>
          <a:solidFill>
            <a:srgbClr val="F4EDDF"/>
          </a:solidFill>
          <a:ln/>
        </p:spPr>
      </p:sp>
      <p:sp>
        <p:nvSpPr>
          <p:cNvPr id="32" name="match-hex"/>
          <p:cNvSpPr/>
          <p:nvPr/>
        </p:nvSpPr>
        <p:spPr>
          <a:xfrm>
            <a:off x="6351880" y="5277774"/>
            <a:ext cx="384048" cy="332586"/>
          </a:xfrm>
          <a:prstGeom prst="hexagon">
            <a:avLst/>
          </a:prstGeom>
          <a:solidFill>
            <a:srgbClr val="B8862B"/>
          </a:solidFill>
          <a:ln/>
        </p:spPr>
      </p:sp>
      <p:sp>
        <p:nvSpPr>
          <p:cNvPr id="33" name="match-hex-label"/>
          <p:cNvSpPr txBox="1"/>
          <p:nvPr/>
        </p:nvSpPr>
        <p:spPr>
          <a:xfrm>
            <a:off x="6351880"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926245"/>
            <a:ext cx="4541368"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 can now see through him, and knows the Inspector can too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5B3A7A"/>
                </a:solidFill>
                <a:latin typeface="Cambria" pitchFamily="34" charset="0"/>
                <a:ea typeface="Cambria" pitchFamily="34" charset="-122"/>
                <a:cs typeface="Cambria" pitchFamily="34" charset="-120"/>
              </a:rPr>
              <a:t>The task (2 of 2): Five moments in a relationship</a:t>
            </a:r>
            <a:endParaRPr lang="en-US" sz="30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moment to what it shows about Gerald and Sheila's relationship.</a:t>
            </a:r>
            <a:endParaRPr lang="en-US" sz="2400" dirty="0"/>
          </a:p>
        </p:txBody>
      </p:sp>
      <p:sp>
        <p:nvSpPr>
          <p:cNvPr id="11" name="match-card"/>
          <p:cNvSpPr/>
          <p:nvPr/>
        </p:nvSpPr>
        <p:spPr>
          <a:xfrm>
            <a:off x="777240" y="2672080"/>
            <a:ext cx="4612929" cy="1506220"/>
          </a:xfrm>
          <a:prstGeom prst="roundRect">
            <a:avLst>
              <a:gd name="adj" fmla="val 4857"/>
            </a:avLst>
          </a:prstGeom>
          <a:solidFill>
            <a:srgbClr val="EDE9F0"/>
          </a:solidFill>
          <a:ln/>
        </p:spPr>
      </p:sp>
      <p:sp>
        <p:nvSpPr>
          <p:cNvPr id="12" name="match-hex"/>
          <p:cNvSpPr/>
          <p:nvPr/>
        </p:nvSpPr>
        <p:spPr>
          <a:xfrm>
            <a:off x="850392" y="3258897"/>
            <a:ext cx="384048" cy="332586"/>
          </a:xfrm>
          <a:prstGeom prst="hexagon">
            <a:avLst/>
          </a:prstGeom>
          <a:solidFill>
            <a:srgbClr val="5B3A7A"/>
          </a:solidFill>
          <a:ln/>
        </p:spPr>
      </p:sp>
      <p:sp>
        <p:nvSpPr>
          <p:cNvPr id="13" name="match-hex-label"/>
          <p:cNvSpPr txBox="1"/>
          <p:nvPr/>
        </p:nvSpPr>
        <p:spPr>
          <a:xfrm>
            <a:off x="850392"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018569"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Gerald wants Sheila out of the room before he is questioned (Act 2)</a:t>
            </a:r>
            <a:endParaRPr lang="en-US" sz="2200" dirty="0"/>
          </a:p>
        </p:txBody>
      </p:sp>
      <p:sp>
        <p:nvSpPr>
          <p:cNvPr id="15" name="match-card"/>
          <p:cNvSpPr/>
          <p:nvPr/>
        </p:nvSpPr>
        <p:spPr>
          <a:xfrm>
            <a:off x="5755929" y="2672080"/>
            <a:ext cx="5658526" cy="1506220"/>
          </a:xfrm>
          <a:prstGeom prst="roundRect">
            <a:avLst>
              <a:gd name="adj" fmla="val 4857"/>
            </a:avLst>
          </a:prstGeom>
          <a:solidFill>
            <a:srgbClr val="F4EDDF"/>
          </a:solidFill>
          <a:ln/>
        </p:spPr>
      </p:sp>
      <p:sp>
        <p:nvSpPr>
          <p:cNvPr id="16" name="match-hex"/>
          <p:cNvSpPr/>
          <p:nvPr/>
        </p:nvSpPr>
        <p:spPr>
          <a:xfrm>
            <a:off x="5829081" y="3258897"/>
            <a:ext cx="384048" cy="332586"/>
          </a:xfrm>
          <a:prstGeom prst="hexagon">
            <a:avLst/>
          </a:prstGeom>
          <a:solidFill>
            <a:srgbClr val="B8862B"/>
          </a:solidFill>
          <a:ln/>
        </p:spPr>
      </p:sp>
      <p:sp>
        <p:nvSpPr>
          <p:cNvPr id="17" name="match-hex-label"/>
          <p:cNvSpPr txBox="1"/>
          <p:nvPr/>
        </p:nvSpPr>
        <p:spPr>
          <a:xfrm>
            <a:off x="5829081" y="325889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277137" y="2672080"/>
            <a:ext cx="5064166" cy="150622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 has grown up and will not pretend; the engagement must start again or not at all</a:t>
            </a:r>
            <a:endParaRPr lang="en-US" sz="2200" dirty="0"/>
          </a:p>
        </p:txBody>
      </p:sp>
      <p:sp>
        <p:nvSpPr>
          <p:cNvPr id="19" name="match-card"/>
          <p:cNvSpPr/>
          <p:nvPr/>
        </p:nvSpPr>
        <p:spPr>
          <a:xfrm>
            <a:off x="777240" y="4269740"/>
            <a:ext cx="4612929" cy="1165352"/>
          </a:xfrm>
          <a:prstGeom prst="roundRect">
            <a:avLst>
              <a:gd name="adj" fmla="val 6277"/>
            </a:avLst>
          </a:prstGeom>
          <a:solidFill>
            <a:srgbClr val="EDE9F0"/>
          </a:solidFill>
          <a:ln/>
        </p:spPr>
      </p:sp>
      <p:sp>
        <p:nvSpPr>
          <p:cNvPr id="20" name="match-hex"/>
          <p:cNvSpPr/>
          <p:nvPr/>
        </p:nvSpPr>
        <p:spPr>
          <a:xfrm>
            <a:off x="850392" y="4686123"/>
            <a:ext cx="384048" cy="332586"/>
          </a:xfrm>
          <a:prstGeom prst="hexagon">
            <a:avLst/>
          </a:prstGeom>
          <a:solidFill>
            <a:srgbClr val="5B3A7A"/>
          </a:solidFill>
          <a:ln/>
        </p:spPr>
      </p:sp>
      <p:sp>
        <p:nvSpPr>
          <p:cNvPr id="21" name="match-hex-label"/>
          <p:cNvSpPr txBox="1"/>
          <p:nvPr/>
        </p:nvSpPr>
        <p:spPr>
          <a:xfrm>
            <a:off x="850392" y="4686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4269740"/>
            <a:ext cx="4018569"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Sheila hands back the ring but praises his honesty (Act 2)</a:t>
            </a:r>
            <a:endParaRPr lang="en-US" sz="2200" dirty="0"/>
          </a:p>
        </p:txBody>
      </p:sp>
      <p:sp>
        <p:nvSpPr>
          <p:cNvPr id="23" name="match-card"/>
          <p:cNvSpPr/>
          <p:nvPr/>
        </p:nvSpPr>
        <p:spPr>
          <a:xfrm>
            <a:off x="5755929" y="4269740"/>
            <a:ext cx="5658526" cy="1165352"/>
          </a:xfrm>
          <a:prstGeom prst="roundRect">
            <a:avLst>
              <a:gd name="adj" fmla="val 6277"/>
            </a:avLst>
          </a:prstGeom>
          <a:solidFill>
            <a:srgbClr val="F4EDDF"/>
          </a:solidFill>
          <a:ln/>
        </p:spPr>
      </p:sp>
      <p:sp>
        <p:nvSpPr>
          <p:cNvPr id="24" name="match-hex"/>
          <p:cNvSpPr/>
          <p:nvPr/>
        </p:nvSpPr>
        <p:spPr>
          <a:xfrm>
            <a:off x="5829081" y="4686123"/>
            <a:ext cx="384048" cy="332586"/>
          </a:xfrm>
          <a:prstGeom prst="hexagon">
            <a:avLst/>
          </a:prstGeom>
          <a:solidFill>
            <a:srgbClr val="B8862B"/>
          </a:solidFill>
          <a:ln/>
        </p:spPr>
      </p:sp>
      <p:sp>
        <p:nvSpPr>
          <p:cNvPr id="25" name="match-hex-label"/>
          <p:cNvSpPr txBox="1"/>
          <p:nvPr/>
        </p:nvSpPr>
        <p:spPr>
          <a:xfrm>
            <a:off x="5829081" y="46861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277137" y="4269740"/>
            <a:ext cx="5064166"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 still believes women should be protected from unpleasant truths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5B3A7A"/>
                </a:solidFill>
                <a:latin typeface="Cambria" pitchFamily="34" charset="0"/>
                <a:ea typeface="Cambria" pitchFamily="34" charset="-122"/>
                <a:cs typeface="Cambria" pitchFamily="34" charset="-120"/>
              </a:rPr>
              <a:t>Same task, three ways in: Five moments in a relationship</a:t>
            </a:r>
            <a:endParaRPr lang="en-US" sz="26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Five moments in a relationship</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AE5EE"/>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Put the five moments in order: two before the Inspector, one at the end of Act 1, two in Act 2.</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each moment ask: who holds the power, Sheila or Gerald?</a:t>
            </a:r>
            <a:endParaRPr lang="en-US" sz="1800" dirty="0"/>
          </a:p>
          <a:p>
            <a:pPr algn="l" indent="0" marL="0">
              <a:spcAft>
                <a:spcPts val="600"/>
              </a:spcAft>
              <a:buNone/>
            </a:pPr>
            <a:r>
              <a:rPr lang="en-US" sz="1800" b="1" dirty="0">
                <a:solidFill>
                  <a:srgbClr val="5B3A7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each moment to the sentence that describes that balance of power.</a:t>
            </a:r>
            <a:endParaRPr lang="en-US" sz="1800" dirty="0"/>
          </a:p>
        </p:txBody>
      </p:sp>
      <p:sp>
        <p:nvSpPr>
          <p:cNvPr id="17" name="col-Core"/>
          <p:cNvSpPr/>
          <p:nvPr/>
        </p:nvSpPr>
        <p:spPr>
          <a:xfrm>
            <a:off x="5490762" y="2395728"/>
            <a:ext cx="2938987" cy="3749040"/>
          </a:xfrm>
          <a:prstGeom prst="roundRect">
            <a:avLst>
              <a:gd name="adj" fmla="val 1867"/>
            </a:avLst>
          </a:prstGeom>
          <a:solidFill>
            <a:srgbClr val="D6CED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40295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492E62"/>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power moves from Gerald to Sheila as the evening goes on. Early moments are about show; later moments are about truth.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5B3A7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Argue that the engagement was always a business arrangement between two firms, using Mr Birling's speech and Lady Croft's reported view. Then decide whether Priestley wants us to hope Sheila and Gerald marry.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5B3A7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5B3A7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did Sheila have Eva Smith sacked from Milwards?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seemed to smile at Sheila when a dress suited Eva better, and Sheila was jealous and in a bad temper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asked the shop for more pay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been rude to Mrs Birling</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Eva had stolen from the shop</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FEBF2"/>
          </a:solidFill>
          <a:ln w="12700">
            <a:solidFill>
              <a:srgbClr val="A897B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A character who changes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948690"/>
          </a:xfrm>
          <a:prstGeom prst="roundRect">
            <a:avLst>
              <a:gd name="adj" fmla="val 9639"/>
            </a:avLst>
          </a:prstGeom>
          <a:solidFill>
            <a:srgbClr val="EDE9F0"/>
          </a:solidFill>
          <a:ln/>
        </p:spPr>
      </p:sp>
      <p:sp>
        <p:nvSpPr>
          <p:cNvPr id="9" name="tickbox"/>
          <p:cNvSpPr/>
          <p:nvPr/>
        </p:nvSpPr>
        <p:spPr>
          <a:xfrm>
            <a:off x="713232" y="2312289"/>
            <a:ext cx="292608" cy="292608"/>
          </a:xfrm>
          <a:prstGeom prst="rect">
            <a:avLst/>
          </a:prstGeom>
          <a:solidFill>
            <a:srgbClr val="FFFFFF"/>
          </a:solidFill>
          <a:ln w="19050">
            <a:solidFill>
              <a:srgbClr val="5B3A7A"/>
            </a:solidFill>
            <a:prstDash val="solid"/>
          </a:ln>
        </p:spPr>
      </p:sp>
      <p:sp>
        <p:nvSpPr>
          <p:cNvPr id="10" name="crit"/>
          <p:cNvSpPr txBox="1"/>
          <p:nvPr/>
        </p:nvSpPr>
        <p:spPr>
          <a:xfrm>
            <a:off x="1143000" y="198424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Point: a clear statement about how the character changes, or does not, across the play</a:t>
            </a:r>
            <a:endParaRPr lang="en-US" sz="2200" dirty="0"/>
          </a:p>
        </p:txBody>
      </p:sp>
      <p:sp>
        <p:nvSpPr>
          <p:cNvPr id="11" name="crit-box"/>
          <p:cNvSpPr/>
          <p:nvPr/>
        </p:nvSpPr>
        <p:spPr>
          <a:xfrm>
            <a:off x="548640" y="3024378"/>
            <a:ext cx="11094415" cy="948690"/>
          </a:xfrm>
          <a:prstGeom prst="roundRect">
            <a:avLst>
              <a:gd name="adj" fmla="val 9639"/>
            </a:avLst>
          </a:prstGeom>
          <a:solidFill>
            <a:srgbClr val="EDE9F0"/>
          </a:solidFill>
          <a:ln/>
        </p:spPr>
      </p:sp>
      <p:sp>
        <p:nvSpPr>
          <p:cNvPr id="12" name="tickbox"/>
          <p:cNvSpPr/>
          <p:nvPr/>
        </p:nvSpPr>
        <p:spPr>
          <a:xfrm>
            <a:off x="713232" y="3352419"/>
            <a:ext cx="292608" cy="292608"/>
          </a:xfrm>
          <a:prstGeom prst="rect">
            <a:avLst/>
          </a:prstGeom>
          <a:solidFill>
            <a:srgbClr val="FFFFFF"/>
          </a:solidFill>
          <a:ln w="19050">
            <a:solidFill>
              <a:srgbClr val="5B3A7A"/>
            </a:solidFill>
            <a:prstDash val="solid"/>
          </a:ln>
        </p:spPr>
      </p:sp>
      <p:sp>
        <p:nvSpPr>
          <p:cNvPr id="13" name="crit"/>
          <p:cNvSpPr txBox="1"/>
          <p:nvPr/>
        </p:nvSpPr>
        <p:spPr>
          <a:xfrm>
            <a:off x="1143000" y="302437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Evidence: at least two precise references to moments from different parts of the play (in the exam you would quote them)</a:t>
            </a:r>
            <a:endParaRPr lang="en-US" sz="2200" dirty="0"/>
          </a:p>
        </p:txBody>
      </p:sp>
      <p:sp>
        <p:nvSpPr>
          <p:cNvPr id="14" name="crit-box"/>
          <p:cNvSpPr/>
          <p:nvPr/>
        </p:nvSpPr>
        <p:spPr>
          <a:xfrm>
            <a:off x="548640" y="4064508"/>
            <a:ext cx="11094415" cy="948690"/>
          </a:xfrm>
          <a:prstGeom prst="roundRect">
            <a:avLst>
              <a:gd name="adj" fmla="val 9639"/>
            </a:avLst>
          </a:prstGeom>
          <a:solidFill>
            <a:srgbClr val="EDE9F0"/>
          </a:solidFill>
          <a:ln/>
        </p:spPr>
      </p:sp>
      <p:sp>
        <p:nvSpPr>
          <p:cNvPr id="15" name="tickbox"/>
          <p:cNvSpPr/>
          <p:nvPr/>
        </p:nvSpPr>
        <p:spPr>
          <a:xfrm>
            <a:off x="713232" y="4392549"/>
            <a:ext cx="292608" cy="292608"/>
          </a:xfrm>
          <a:prstGeom prst="rect">
            <a:avLst/>
          </a:prstGeom>
          <a:solidFill>
            <a:srgbClr val="FFFFFF"/>
          </a:solidFill>
          <a:ln w="19050">
            <a:solidFill>
              <a:srgbClr val="5B3A7A"/>
            </a:solidFill>
            <a:prstDash val="solid"/>
          </a:ln>
        </p:spPr>
      </p:sp>
      <p:sp>
        <p:nvSpPr>
          <p:cNvPr id="16" name="crit"/>
          <p:cNvSpPr txBox="1"/>
          <p:nvPr/>
        </p:nvSpPr>
        <p:spPr>
          <a:xfrm>
            <a:off x="1143000" y="406450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Inference and method: what each moment suggests, and a method Priestley uses (stage direction, contrast, structure)</a:t>
            </a:r>
            <a:endParaRPr lang="en-US" sz="2200" dirty="0"/>
          </a:p>
        </p:txBody>
      </p:sp>
      <p:sp>
        <p:nvSpPr>
          <p:cNvPr id="17" name="crit-box"/>
          <p:cNvSpPr/>
          <p:nvPr/>
        </p:nvSpPr>
        <p:spPr>
          <a:xfrm>
            <a:off x="548640" y="5104638"/>
            <a:ext cx="11094415" cy="948690"/>
          </a:xfrm>
          <a:prstGeom prst="roundRect">
            <a:avLst>
              <a:gd name="adj" fmla="val 9639"/>
            </a:avLst>
          </a:prstGeom>
          <a:solidFill>
            <a:srgbClr val="EDE9F0"/>
          </a:solidFill>
          <a:ln/>
        </p:spPr>
      </p:sp>
      <p:sp>
        <p:nvSpPr>
          <p:cNvPr id="18" name="tickbox"/>
          <p:cNvSpPr/>
          <p:nvPr/>
        </p:nvSpPr>
        <p:spPr>
          <a:xfrm>
            <a:off x="713232" y="5432679"/>
            <a:ext cx="292608" cy="292608"/>
          </a:xfrm>
          <a:prstGeom prst="rect">
            <a:avLst/>
          </a:prstGeom>
          <a:solidFill>
            <a:srgbClr val="FFFFFF"/>
          </a:solidFill>
          <a:ln w="19050">
            <a:solidFill>
              <a:srgbClr val="5B3A7A"/>
            </a:solidFill>
            <a:prstDash val="solid"/>
          </a:ln>
        </p:spPr>
      </p:sp>
      <p:sp>
        <p:nvSpPr>
          <p:cNvPr id="19" name="crit"/>
          <p:cNvSpPr txBox="1"/>
          <p:nvPr/>
        </p:nvSpPr>
        <p:spPr>
          <a:xfrm>
            <a:off x="1143000" y="5104638"/>
            <a:ext cx="10317175" cy="9486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Reader and Link: how the 1945 audience responds, and what Priestley wanted them to understand about change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Model answer: A character who changes</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4EDDF"/>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Priestley presents Sheila as the character who changes most, and most quickly. At the outset she is naive and sheltered: she admires her engagement ring like a child with a new toy and apologises to her father like a schoolgirl when he scolds her. Yet once the Inspector has told the story of the dress shop, she accepts her part at once, admits she acted out of jealousy and temper, and promises that she will never treat anyone that way again. The contrast between the two moments is Priestley's method: structure does the work, placing the spoilt girl of the opening beside the ashamed young woman of the questioning. The audience of 1945 is invited to see in her the younger generation that might build a fairer Britain, and Priestley's purpose is to show that change is possible, but only for those willing to feel responsible.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Five moments in a relationship</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86384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740664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Gerald gives Sheila the ring at dinner (Act 1)  →  A  Their happiness rests on a possession and a public show</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Sheila reminds Gerald that he hardly saw her last summer (Act 1)  →  B  A crack is already there before the Inspector arrives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Sheila realises Gerald knew Daisy Renton (end of Act 1)  →  E  She can now see through him, and knows the Inspector can too</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Gerald wants Sheila out of the room before he is questioned (Act 2)  →  C  He still believes women should be protected from unpleasant truths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Sheila hands back the ring but praises his honesty (Act 2)  →  D  She has grown up and will not pretend; the engagement must start again or not at all</a:t>
            </a:r>
            <a:endParaRPr lang="en-US" sz="1800" dirty="0"/>
          </a:p>
        </p:txBody>
      </p:sp>
      <p:sp>
        <p:nvSpPr>
          <p:cNvPr id="10" name="why-panel"/>
          <p:cNvSpPr/>
          <p:nvPr/>
        </p:nvSpPr>
        <p:spPr>
          <a:xfrm>
            <a:off x="8686800" y="1389888"/>
            <a:ext cx="2956255" cy="4754880"/>
          </a:xfrm>
          <a:prstGeom prst="roundRect">
            <a:avLst>
              <a:gd name="adj" fmla="val 1547"/>
            </a:avLst>
          </a:prstGeom>
          <a:solidFill>
            <a:srgbClr val="EAE5EE"/>
          </a:solidFill>
          <a:ln/>
        </p:spPr>
      </p:sp>
      <p:sp>
        <p:nvSpPr>
          <p:cNvPr id="11" name="why-hex"/>
          <p:cNvSpPr/>
          <p:nvPr/>
        </p:nvSpPr>
        <p:spPr>
          <a:xfrm>
            <a:off x="8869680" y="1572768"/>
            <a:ext cx="685800" cy="593903"/>
          </a:xfrm>
          <a:prstGeom prst="hexagon">
            <a:avLst/>
          </a:prstGeom>
          <a:solidFill>
            <a:srgbClr val="5B3A7A"/>
          </a:solidFill>
          <a:ln/>
        </p:spPr>
      </p:sp>
      <p:sp>
        <p:nvSpPr>
          <p:cNvPr id="12" name="why-hex-label"/>
          <p:cNvSpPr txBox="1"/>
          <p:nvPr/>
        </p:nvSpPr>
        <p:spPr>
          <a:xfrm>
            <a:off x="886968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869680" y="2304288"/>
            <a:ext cx="259049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Priestley uses the engagement to test whether a relationship built on appearances can survive the truth. Sheila grows; Gerald does not; the ring moves between them as the measure.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5B3A7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5B3A7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5B3A7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Sheila have Eva Smith sacked from Milwards?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Eva seemed to smile at Sheila when a dress suited Eva better, and Sheila was jealous and in a bad temper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EAE5EE"/>
          </a:solidFill>
          <a:ln/>
        </p:spPr>
      </p:sp>
      <p:sp>
        <p:nvSpPr>
          <p:cNvPr id="11" name="why-hex"/>
          <p:cNvSpPr/>
          <p:nvPr/>
        </p:nvSpPr>
        <p:spPr>
          <a:xfrm>
            <a:off x="7406640" y="1572768"/>
            <a:ext cx="685800" cy="593903"/>
          </a:xfrm>
          <a:prstGeom prst="hexagon">
            <a:avLst/>
          </a:prstGeom>
          <a:solidFill>
            <a:srgbClr val="5B3A7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Sheila admits she was in a foul temper, that the dress suited Eva and not her, and that she thought Eva was smirking. She used her family's custom at the shop to punish a girl for being pretty.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5234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englit">
  <a:themeElements>
    <a:clrScheme name="Ad Astra englit">
      <a:dk1>
        <a:srgbClr val="1E2229"/>
      </a:dk1>
      <a:lt1>
        <a:srgbClr val="FFFFFF"/>
      </a:lt1>
      <a:dk2>
        <a:srgbClr val="492E62"/>
      </a:dk2>
      <a:lt2>
        <a:srgbClr val="EAE5EE"/>
      </a:lt2>
      <a:accent1>
        <a:srgbClr val="5B3A7A"/>
      </a:accent1>
      <a:accent2>
        <a:srgbClr val="B8862B"/>
      </a:accent2>
      <a:accent3>
        <a:srgbClr val="9D89AF"/>
      </a:accent3>
      <a:accent4>
        <a:srgbClr val="815E1E"/>
      </a:accent4>
      <a:accent5>
        <a:srgbClr val="4A505C"/>
      </a:accent5>
      <a:accent6>
        <a:srgbClr val="D9BF8F"/>
      </a:accent6>
      <a:hlink>
        <a:srgbClr val="5B3A7A"/>
      </a:hlink>
      <a:folHlink>
        <a:srgbClr val="402955"/>
      </a:folHlink>
    </a:clrScheme>
    <a:fontScheme name="Ad Astra engl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Inspector Calls · Chapter 3: Sheila, Gerald and the girl in the photograph (Acts 1 to 2)</dc:title>
  <dc:subject>English Literature · Year 10</dc:subject>
  <dc:creator>Dr Vitor Merissi de Carvalho</dc:creator>
  <cp:lastModifiedBy>Dr Vitor Merissi de Carvalho</cp:lastModifiedBy>
  <cp:revision>1</cp:revision>
  <dcterms:created xsi:type="dcterms:W3CDTF">2026-10-19T06:07:29Z</dcterms:created>
  <dcterms:modified xsi:type="dcterms:W3CDTF">2026-10-19T06:07:29Z</dcterms:modified>
</cp:coreProperties>
</file>