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9a5f41-f569-88ec-a008-6d74aeba96c5}">
          <p14:sldIdLst>
            <p14:sldId id="256"/>
          </p14:sldIdLst>
        </p14:section>
        <p14:section name="Gate" id="{90d9b8a3-cd26-3aab-46ef-59a8d51c70ba}">
          <p14:sldIdLst>
            <p14:sldId id="257"/>
            <p14:sldId id="258"/>
          </p14:sldIdLst>
        </p14:section>
        <p14:section name="Pre-teach" id="{2c56a4ac-75f9-d902-d22a-5f55c137c1bb}">
          <p14:sldIdLst>
            <p14:sldId id="259"/>
          </p14:sldIdLst>
        </p14:section>
        <p14:section name="Read-along" id="{c770cab0-0bd3-de59-3d0d-ab5ed86d02ba}">
          <p14:sldIdLst>
            <p14:sldId id="260"/>
            <p14:sldId id="261"/>
          </p14:sldIdLst>
        </p14:section>
        <p14:section name="Teach" id="{ac8aadaa-d1ad-c9d3-9f36-11049ea2f771}">
          <p14:sldIdLst>
            <p14:sldId id="262"/>
            <p14:sldId id="263"/>
            <p14:sldId id="264"/>
            <p14:sldId id="265"/>
          </p14:sldIdLst>
        </p14:section>
        <p14:section name="Routes" id="{e0ac111f-020d-83af-7bf0-cf42cd3577c2}">
          <p14:sldIdLst>
            <p14:sldId id="266"/>
            <p14:sldId id="267"/>
            <p14:sldId id="268"/>
            <p14:sldId id="269"/>
            <p14:sldId id="270"/>
          </p14:sldIdLst>
        </p14:section>
        <p14:section name="Close" id="{d40eb99b-103b-62e3-0de5-a5bd646ac0d2}">
          <p14:sldIdLst>
            <p14:sldId id="271"/>
          </p14:sldIdLst>
        </p14:section>
        <p14:section name="Answers" id="{41e1afb0-2f77-6a82-be9c-557ba2479de9}">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Mrs Birling and Eric: prejudice, and a family falls apart (Acts 2 to 3). This chapter watches Mrs Birling's pride and Eric's confession bring the Birling family down.
This deck covers the department's lessons: 11 (Mrs Birling's social superiority: How does Mrs Birling battle for power with the Inspector, and what does her view of Eric tell us about her?); 12 (Eric: his education and his part in Eva's story: What does Eric's connection to Eva Smith tell us about him and about society in 1912?); 13 (Eric's significance: How and why does Priestley present the breakdown of the Birling family through Eric?).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position did Mrs Birling hold in Brumley?  →  A   A leading member of a women's charity committee that decided which poor women to help
2. Mrs Birling turned Eva away partly because the girl had given her name as Mrs ___, which Mrs Birling took as a deliberate insult.  →  Birling
3. Eric stole about £50 from his father's firm. Eva and her workmates had asked Mr Birling for 25 shillings a week, and there were 20 shillings in a pound. How many weeks of that wage was £50?  →  40 weeks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leading member of a women's charity committee that decided which poor women to help. Mrs Birling is a prominent member of the Brumley Women's Charity Organisation. That is where Eva, pregnant and penniless, went for help two weeks before the play, and where she was turned away.
2. Birling. Eva gave the name Birling, perhaps because it was the father's name. Mrs Birling took it as impertinence, and admits that it prejudiced her against the case before she had heard it.
3. 40 weeks. £50 is 50 × 20 = 1,000 shillings. At 25 shillings a week, 1,000 ÷ 25 = 40 weeks. The money Eric took casually was most of a year's pay for the woman he took it for.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prejudice: judging people before you know them. Example: "Mrs Birling's prejudice against working-class girls decides Eva's fate."
• hypocrisy: claiming standards you do not keep yourself. Example: "Running a charity while refusing to help a desperate girl is hypocrisy."
• aloof: cold and distant, as if above everyone. Example: "Mrs Birling is aloof with the Inspector from the moment she enters."
• charity: an organisation that gives help to people in need. Example: "Eva went to the charity because there was nowhere else to go."
• confession: admitting what you have done. Example: "Eric's confession in Act 3 is the last link in the story."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Mrs Birling walks in full of confidence.
2. She thinks the Inspector is beneath her.
3. She runs a charity that is meant to help poor women.
4. Two weeks ago, a pregnant girl came to the charity for help.
5. The girl gave her name as Mrs Birling.
6. This made Mrs Birling angry, and she turned the girl away.
7. She says the father of the child is the one to blame.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Then the family realise who the father is.
9. It is Eric, her own son.
10. Eric met Eva in the same bar as Gerald.
11. He was drunk, and he forced his way into her room.
12. Later he stole money from his father's firm to help her.
13. Eva refused the stolen money.
14. By the end of Act 3, the family are shouting at one another.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Mrs Birling's entrance. Say it in your own words, then check understanding with a quick question: ask a pupil from the pre-teach group first, since they met these words and ideas before the lesson. Pupils try to recall before you re-explain.
Mrs Birling has been out of the room for the whole of Act 1. When she comes back near the start of Act 2, the stage directions have her walk in briskly, sure of herself, and quite out of step with the tense scene she has interrupted. Sheila feels it at once. Mrs Birling knows the Inspector is there, but she has no idea what he has already uncovered about her husband and her daughter, and she treats him like a tradesman who has called at the wrong door.
Watch how she tries to take control. She introduces herself as though her name should settle matters, speaks for the whole family with ‘we’, and tells the Inspector that she doubts they can help him. When he presses, she accuses him of being rude and of forgetting his place. Your lesson's key words are aloof, snobbery and power struggle. She is from a higher class than her husband, and she behaves as if class were a weapon. The dramatic irony is sharp: Sheila and the audience know that the Inspector cannot be put in his place, because he has already put the others in theirs.
Tip: Mrs Birling is the one character who does not change at all. That makes her the easiest to write about and the most useful contrast with Sheila.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charity and the photograph. Say it in your own words, then check understanding with a quick question: ask a pupil from the pre-teach group first, since they met these words and ideas before the lesson. Pupils try to recall before you re-explain.
Mrs Birling is a leading member of the Brumley Women's Charity Organisation, a committee of wealthy women who decide which poor women deserve help. When the Inspector shows her the photograph she claims not to recognise it. He then tells the story: two weeks earlier a young woman, pregnant and penniless, came to the committee. She gave her name as Mrs Birling. The real Mrs Birling took this as a deliberate insult, and she admits that it turned her against the case from the start.
The girl explained that she would not take any more money from the father of the child, because she had discovered it was stolen. To Mrs Birling this sounded like a working-class girl giving herself airs: fine feelings, in her view, were not for people of that class. She used her influence to have the appeal refused and sent the girl away with nothing. Pressed by the Inspector, she insists that she did nothing to be ashamed of and that the blame belongs entirely to the young man responsible, who should be made an example of.
This is prejudice and hypocrisy in one speech. She runs a charity yet refuses charity to the most desperate case she has seen, because of a name and an accent. And as she demands punishment for the father, Sheila tries to stop her, because Sheila has guessed what the audience has guessed. Mrs Birling realises too late. Eric walks in, and the curtain falls on Act 2.
Tip: The committee scene is the play's best example of dramatic irony after Birling's speeches. Use it when a question asks about how Priestley builds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Eric: a public-school boy in trouble. Say it in your own words, then check understanding with a quick question: ask a pupil from the pre-teach group first, since they met these words and ideas before the lesson. Pupils try to recall before you re-explain.
From the first stage direction Eric is the one who does not fit. He is uneasy at the table, caught between shyness and pushiness, and he laughs loudly at the wrong moment. Sheila and Gerald know that he drinks more than he should; his parents have chosen not to notice. His father mocks the expensive private school and university education that, he says, has taught his son nothing useful. Eric asks the awkward questions nobody else will: he raises the possibility of war during his father's speech, and he defends the workers' right to ask for more pay.
In Act 3 he tells his story. In November 1911 he met Eva at the Palace bar, drunk. He walked her home and, when she did not want him to come in, he insisted and threatened to make a scene. They met again and she became pregnant. She refused to marry him because she could see he did not love her. He stole about fifty pounds from his father's office to support her, and when she realised the money was stolen, she refused to take any more. The Inspector's judgement of him is blunt: he treated her as a thing to be used, not as a person.
Eric's confession is the last link in the story, and it breaks the family open. He learns that his mother turned Eva away, and he rounds on her for killing the girl and his unborn child. He tells his father that he was never a man a son in trouble could turn to. Mr Birling's response is to worry about the stolen money and the scandal. Eric, like Sheila, accepts what he did, but he also sees that his parents made him what he is.
Tip: Eric is responsible and a victim at the same time: guilty of what he did to Eva, failed by parents who never looked at him. Hold both ideas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family falls apart. Say it in your own words, then check understanding with a quick question: ask a pupil from the pre-teach group first, since they met these words and ideas before the lesson. Pupils try to recall before you re-explain.
Put the end of Act 3 beside the opening stage directions. The family that sat in evening dress, celebrating themselves, is now shouting across the same table. Birling threatens his son; Mrs Birling defends herself; Eric accuses them both; Sheila takes his side. The polished surface of the opening has cracked, and Priestley wants the 1945 audience to see what was underneath all along: a class that looked respectable and was not.
Your lesson on Eric asks how and why Priestley presents this breakdown. How: through structure, by bringing each confession out in turn until the parents are caught by their own words; through stage directions that show Eric near breaking point; through the contrast of the two dinner tables. Why: because the Birlings stand for the people who ran Britain in 1912, and Priestley wanted his audience to decide not to hand the country back to them.
Gender runs through all of this. Mrs Birling judges Eva by a rule she never applies to men of her own class. Mr Birling sends Sheila out of the room like a child when the talk turns serious, and he excuses young men's behaviour as the way of the world. Eric and Gerald both used a poor young woman and expected no consequences. Priestley's point is that the patriarchy of 1912 protected the men at the table and punished the woman who was not in the room.
Tip: Older and younger generations is the most common theme question. Mrs Birling and Eric are your clearest pair: the parent who learns nothing and the child who learns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end of Act 2.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At the end of Act 2, Mrs Birling insists that the young man who got Eva pregnant should be made an example of and dealt with severely. Why is this moment so powerful on stage?
Support — work through the steps with the group: (1) Remember: dramatic irony is when the audience knows something a character does not. (2) Ask: what has Sheila worked out while her mother was talking? (3) Ask: who walks in as the curtain falls, and whose words are waiting for him?
Parallel worked example for Support (model it, do not give the task answer): Practice: in Act 1 Mr Birling boasts that he knows the Chief Constable and that a knighthood is on its way, as long as the family keeps out of trouble. Why does the audience enjoy this later? He thinks his family is safe and respectable.; The audience will learn that every member of it has something to hide.; So his confidence is the set-up for a fall.. Answer: Because his confidence that the family will stay out of trouble is undone within the hour, as each of them is shown to have something shameful to hide..
Core — reveal the hint only on request: Who knows the father's identity at this point: Mrs Birling, Sheila, the audience, or all three? The gap between them is the power.
Stretch — no help; when finished: Priestley ends Act 1 with a one-word question and Act 2 with an entrance. Compare the two act endings as cliffhangers and explain what each one makes the audience wait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end of Act 2.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At the end of Act 2, Mrs Birling insists that the young man who got Eva pregnant should be made an example of and dealt with severely. Why is this moment so powerful on stage?
Support — work through the steps with the group: (1) Remember: dramatic irony is when the audience knows something a character does not. (2) Ask: what has Sheila worked out while her mother was talking? (3) Ask: who walks in as the curtain falls, and whose words are waiting for him?
Parallel worked example for Support (model it, do not give the task answer): Practice: in Act 1 Mr Birling boasts that he knows the Chief Constable and that a knighthood is on its way, as long as the family keeps out of trouble. Why does the audience enjoy this later? He thinks his family is safe and respectable.; The audience will learn that every member of it has something to hide.; So his confidence is the set-up for a fall.. Answer: Because his confidence that the family will stay out of trouble is undone within the hour, as each of them is shown to have something shameful to hide..
Core — reveal the hint only on request: Who knows the father's identity at this point: Mrs Birling, Sheila, the audience, or all three? The gap between them is the power.
Stretch — no help; when finished: Priestley ends Act 1 with a one-word question and Act 2 with an entrance. Compare the two act endings as cliffhangers and explain what each one makes the audience wait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Eric and his parents.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Eric's relationship with his parents? Write one developed PEIRL paragraph.
Support — work through the steps with the group: (1) Point: decide on two words for the relationship (distant, neglected, angry, broken) and write a sentence with them. (2) Evidence: describe Eric at the dinner table, then describe one thing he says to his father or mother in Act 3. (3) Inference: for each, write ‘This suggests that…’ about what the parents have failed to do. (4) Reader and Link: say how a 1945 audience would judge such parents, then link to Priestley's view of the older generation.
Parallel worked example for Support (model it, do not give the task answer): Practice question: how does Priestley present the relationship between Sheila and her mother? Point: Sheila grows beyond her mother during the evening.; Evidence: early on her mother corrects her for using slang; later Sheila warns her mother not to build a wall of excuses that the Inspector will knock down.; Inference: the daughter now understands the situation better than the parent.; Reader and Link: the audience sees the younger generation overtaking the older; Priestley wants them to trust the young.. Answer: Priestley presents Sheila as outgrowing her mother in a single evening. Early on Mrs Birling corrects her daughter's language as if she were a child, but once the Inspector is at work it is Sheila who warns her mother not to build a wall of excuses that will only be knocked down. The reversal suggests that the daughter now sees the situation more clearly than the parent, and Priestley uses it to tell his 1945 audience that hope lies with the young..
Core — reveal the hint only on request: Pair one detail from the dinner table with one line of accusation from Act 3. The distance was always there; the Inspector only makes it speak.
Stretch — no help; when finished: Argue whether Eric is more a victim of his parents or more guilty of what he did to Eva. Use the Inspector's judgement of him and his own admission, and decide where Priestley wants the balance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Eric and his parents.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Eric's relationship with his parents? Write one developed PEIRL paragraph.
Support — work through the steps with the group: (1) Point: decide on two words for the relationship (distant, neglected, angry, broken) and write a sentence with them. (2) Evidence: describe Eric at the dinner table, then describe one thing he says to his father or mother in Act 3. (3) Inference: for each, write ‘This suggests that…’ about what the parents have failed to do. (4) Reader and Link: say how a 1945 audience would judge such parents, then link to Priestley's view of the older generation.
Parallel worked example for Support (model it, do not give the task answer): Practice question: how does Priestley present the relationship between Sheila and her mother? Point: Sheila grows beyond her mother during the evening.; Evidence: early on her mother corrects her for using slang; later Sheila warns her mother not to build a wall of excuses that the Inspector will knock down.; Inference: the daughter now understands the situation better than the parent.; Reader and Link: the audience sees the younger generation overtaking the older; Priestley wants them to trust the young.. Answer: Priestley presents Sheila as outgrowing her mother in a single evening. Early on Mrs Birling corrects her daughter's language as if she were a child, but once the Inspector is at work it is Sheila who warns her mother not to build a wall of excuses that will only be knocked down. The reversal suggests that the daughter now sees the situation more clearly than the parent, and Priestley uses it to tell his 1945 audience that hope lies with the young..
Core — reveal the hint only on request: Pair one detail from the dinner table with one line of accusation from Act 3. The distance was always there; the Inspector only makes it speak.
Stretch — no help; when finished: Argue whether Eric is more a victim of his parents or more guilty of what he did to Eva. Use the Inspector's judgement of him and his own admission, and decide where Priestley wants the balance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Eric and his parents.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Eric's relationship with his parents? Write one developed PEIRL paragraph.
Support — work through the steps with the group: (1) Point: decide on two words for the relationship (distant, neglected, angry, broken) and write a sentence with them. (2) Evidence: describe Eric at the dinner table, then describe one thing he says to his father or mother in Act 3. (3) Inference: for each, write ‘This suggests that…’ about what the parents have failed to do. (4) Reader and Link: say how a 1945 audience would judge such parents, then link to Priestley's view of the older generation.
Parallel worked example for Support (model it, do not give the task answer): Practice question: how does Priestley present the relationship between Sheila and her mother? Point: Sheila grows beyond her mother during the evening.; Evidence: early on her mother corrects her for using slang; later Sheila warns her mother not to build a wall of excuses that the Inspector will knock down.; Inference: the daughter now understands the situation better than the parent.; Reader and Link: the audience sees the younger generation overtaking the older; Priestley wants them to trust the young.. Answer: Priestley presents Sheila as outgrowing her mother in a single evening. Early on Mrs Birling corrects her daughter's language as if she were a child, but once the Inspector is at work it is Sheila who warns her mother not to build a wall of excuses that will only be knocked down. The reversal suggests that the daughter now sees the situation more clearly than the parent, and Priestley uses it to tell his 1945 audience that hope lies with the young..
Core — reveal the hint only on request: Pair one detail from the dinner table with one line of accusation from Act 3. The distance was always there; the Inspector only makes it speak.
Stretch — no help; when finished: Argue whether Eric is more a victim of his parents or more guilty of what he did to Eva. Use the Inspector's judgement of him and his own admission, and decide where Priestley wants the balance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position did Mrs Birling hold in Brumley?
Answer: D   A leading member of a women's charity committee that decided which poor women to help. Mrs Birling is a prominent member of the Brumley Women's Charity Organisation. That is where Eva, pregnant and penniless, went for help two weeks before the play, and where she was turned away.
Source of this question: gate item 1 re-asked (options rotated) — this chapter has no third quick-check module.
The ebook also holds task 3, "Eric's part of the story",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end of Act 2. Reveal the answer; pupils mark their own work in a different colour, then read the "why" together. Same destination for every lane, so one answer serves the whole class.
Answer: A   Because Sheila and the audience have realised that the father is Eric, so Mrs Birling is condemning her own son without knowing it
Why: Mrs Birling pronounces sentence on a young man she has never met, and the audience watches her son walk in to receive it. It is the sharpest dramatic irony in the play, and it is aimed at the character who never changes.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Eric and his parents. Reveal the answer; pupils mark their own work in a different colour, then read the "why" together. Same destination for every lane, so one answer serves the whole class.
Answer: Point: a clear statement about the relationship (for example distant, neglectful, broken by the truth); Evidence: two precise references, one from before the Inspector's questioning and one from Act 3 (in the exam you would quote them); Inference and method: what the moments suggest, and a method Priestley uses (stage direction, contrast, structure); Reader and Link: how the 1945 audience would respond, and what Priestley wanted them to understand about the older generation
Why: A strong answer shows that the parents' neglect was visible in the stage directions before Eric said anything, and then lets Act 3 confirm it. The link to the older generation's failure gives the paragraph its purpose.
Model answer: Priestley presents Eric's relationship with his parents as distant long before the Inspector exposes it. From the first stage direction Eric is the uneasy figure at the celebration, laughing at the wrong moment and drinking too much, while his parents choose not to notice; his father's jibe about an expensive education that taught him nothing shows contempt rather than concern. By Act 3 the distance has become open war. Eric tells his father that he was never a man a son in trouble could turn to, and when he learns that his mother turned Eva away, he accuses her of killing the girl and his own child. Priestley's method is contrast: the son who could not speak at dinner now speaks the truth his parents cannot bear. A 1945 audience would see parents who gave their son everything except attention, and Priestley's purpose is to show that the older generation's failure is not only public, in factories and committees, but private, at their own table.
Success criteria: Point: a clear statement about the relationship (for example distant, neglectful, broken by the truth); Evidence: two precise references, one from before the Inspector's questioning and one from Act 3 (in the exam you would quote them); Inference and method: what the moments suggest, and a method Priestley uses (stage direction, contrast, structure); Reader and Link: how the 1945 audience would respond, and what Priestley wanted them to understand about the older generation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Eric and his parents. Reveal the answer; pupils mark their own work in a different colour, then read the "why" together. Same destination for every lane, so one answer serves the whole class.
Answer: Point: a clear statement about the relationship (for example distant, neglectful, broken by the truth); Evidence: two precise references, one from before the Inspector's questioning and one from Act 3 (in the exam you would quote them); Inference and method: what the moments suggest, and a method Priestley uses (stage direction, contrast, structure); Reader and Link: how the 1945 audience would respond, and what Priestley wanted them to understand about the older generation
Why: A strong answer shows that the parents' neglect was visible in the stage directions before Eric said anything, and then lets Act 3 confirm it. The link to the older generation's failure gives the paragraph its purpose.
Model answer: Priestley presents Eric's relationship with his parents as distant long before the Inspector exposes it. From the first stage direction Eric is the uneasy figure at the celebration, laughing at the wrong moment and drinking too much, while his parents choose not to notice; his father's jibe about an expensive education that taught him nothing shows contempt rather than concern. By Act 3 the distance has become open war. Eric tells his father that he was never a man a son in trouble could turn to, and when he learns that his mother turned Eva away, he accuses her of killing the girl and his own child. Priestley's method is contrast: the son who could not speak at dinner now speaks the truth his parents cannot bear. A 1945 audience would see parents who gave their son everything except attention, and Priestley's purpose is to show that the older generation's failure is not only public, in factories and committees, but private, at their own table.
Success criteria: Point: a clear statement about the relationship (for example distant, neglectful, broken by the truth); Evidence: two precise references, one from before the Inspector's questioning and one from Act 3 (in the exam you would quote them); Inference and method: what the moments suggest, and a method Priestley uses (stage direction, contrast, structure); Reader and Link: how the 1945 audience would respond, and what Priestley wanted them to understand about the older generation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leading member of a women's charity committee that decided which poor women to help
Why: Mrs Birling is a prominent member of the Brumley Women's Charity Organisation. That is where Eva, pregnant and penniless, went for help two weeks before the play, and where she was turned away.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185724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Mrs Birling and Eric: prejudice, and a family falls apart (Acts 2 to 3)</a:t>
            </a:r>
            <a:endParaRPr lang="en-US" sz="2800" dirty="0"/>
          </a:p>
        </p:txBody>
      </p:sp>
      <p:sp>
        <p:nvSpPr>
          <p:cNvPr id="11" name="lessons-card"/>
          <p:cNvSpPr/>
          <p:nvPr/>
        </p:nvSpPr>
        <p:spPr>
          <a:xfrm>
            <a:off x="548640" y="3599688"/>
            <a:ext cx="5287975" cy="1986280"/>
          </a:xfrm>
          <a:prstGeom prst="roundRect">
            <a:avLst>
              <a:gd name="adj" fmla="val 3683"/>
            </a:avLst>
          </a:prstGeom>
          <a:solidFill>
            <a:srgbClr val="EAE5EE"/>
          </a:solidFill>
          <a:ln/>
        </p:spPr>
      </p:sp>
      <p:sp>
        <p:nvSpPr>
          <p:cNvPr id="12" name="lessons"/>
          <p:cNvSpPr txBox="1"/>
          <p:nvPr/>
        </p:nvSpPr>
        <p:spPr>
          <a:xfrm>
            <a:off x="685800" y="369112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Mrs Birling's social superiority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Eric: his education and his part in Eva's story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Eric's significance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position did Mrs Birling hold in Brumley?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leading member of a women's charity committee that decided which poor women to help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owner of a dress shop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magistrate on the Brumley bench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secretary to the Chief Constable</a:t>
            </a:r>
            <a:endParaRPr lang="en-US" sz="1800" dirty="0"/>
          </a:p>
        </p:txBody>
      </p:sp>
      <p:sp>
        <p:nvSpPr>
          <p:cNvPr id="12" name="card"/>
          <p:cNvSpPr/>
          <p:nvPr/>
        </p:nvSpPr>
        <p:spPr>
          <a:xfrm>
            <a:off x="4777626" y="1389888"/>
            <a:ext cx="2636444" cy="4754880"/>
          </a:xfrm>
          <a:prstGeom prst="roundRect">
            <a:avLst>
              <a:gd name="adj" fmla="val 2081"/>
            </a:avLst>
          </a:prstGeom>
          <a:solidFill>
            <a:srgbClr val="EFEBF2"/>
          </a:solidFill>
          <a:ln w="12700">
            <a:solidFill>
              <a:srgbClr val="C1B4CC"/>
            </a:solidFill>
            <a:prstDash val="solid"/>
          </a:ln>
        </p:spPr>
      </p:sp>
      <p:sp>
        <p:nvSpPr>
          <p:cNvPr id="13" name="card-hex"/>
          <p:cNvSpPr/>
          <p:nvPr/>
        </p:nvSpPr>
        <p:spPr>
          <a:xfrm>
            <a:off x="4960506" y="1572768"/>
            <a:ext cx="640080" cy="554309"/>
          </a:xfrm>
          <a:prstGeom prst="hexagon">
            <a:avLst/>
          </a:prstGeom>
          <a:solidFill>
            <a:srgbClr val="5B3A7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Mrs Birling turned Eva away partly because the girl had given her name as Mrs ___, which Mrs Birling took as a deliberate insult.</a:t>
            </a:r>
            <a:endParaRPr lang="en-US" sz="2000" dirty="0"/>
          </a:p>
          <a:p>
            <a:pPr algn="l" indent="0" marL="0">
              <a:buNone/>
            </a:pPr>
            <a:r>
              <a:rPr lang="en-US" sz="2000" b="1" dirty="0">
                <a:solidFill>
                  <a:srgbClr val="5B3A7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Birling  ·  Renton  ·  Croft</a:t>
            </a:r>
            <a:endParaRPr lang="en-US" sz="2000" dirty="0"/>
          </a:p>
        </p:txBody>
      </p:sp>
      <p:sp>
        <p:nvSpPr>
          <p:cNvPr id="17" name="card"/>
          <p:cNvSpPr/>
          <p:nvPr/>
        </p:nvSpPr>
        <p:spPr>
          <a:xfrm>
            <a:off x="7688389" y="1389888"/>
            <a:ext cx="3954666" cy="4754880"/>
          </a:xfrm>
          <a:prstGeom prst="roundRect">
            <a:avLst>
              <a:gd name="adj" fmla="val 1387"/>
            </a:avLst>
          </a:prstGeom>
          <a:solidFill>
            <a:srgbClr val="EFEBF2"/>
          </a:solidFill>
          <a:ln w="12700">
            <a:solidFill>
              <a:srgbClr val="C1B4CC"/>
            </a:solidFill>
            <a:prstDash val="solid"/>
          </a:ln>
        </p:spPr>
      </p:sp>
      <p:sp>
        <p:nvSpPr>
          <p:cNvPr id="18" name="card-hex"/>
          <p:cNvSpPr/>
          <p:nvPr/>
        </p:nvSpPr>
        <p:spPr>
          <a:xfrm>
            <a:off x="7871269" y="1572768"/>
            <a:ext cx="640080" cy="554309"/>
          </a:xfrm>
          <a:prstGeom prst="hexagon">
            <a:avLst/>
          </a:prstGeom>
          <a:solidFill>
            <a:srgbClr val="5B3A7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Eric stole about £50 from his father's firm. Eva and her workmates had asked Mr Birling for 25 shillings a week, and there were 20 shillings in a pound. How many weeks of that wage was £50?</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weeks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636776"/>
          </a:xfrm>
          <a:prstGeom prst="roundRect">
            <a:avLst>
              <a:gd name="adj" fmla="val 6704"/>
            </a:avLst>
          </a:prstGeom>
          <a:solidFill>
            <a:srgbClr val="EBDDC4"/>
          </a:solidFill>
          <a:ln w="19050">
            <a:solidFill>
              <a:srgbClr val="B8862B"/>
            </a:solidFill>
            <a:prstDash val="solid"/>
          </a:ln>
        </p:spPr>
      </p:sp>
      <p:sp>
        <p:nvSpPr>
          <p:cNvPr id="12" name="answer"/>
          <p:cNvSpPr txBox="1"/>
          <p:nvPr/>
        </p:nvSpPr>
        <p:spPr>
          <a:xfrm>
            <a:off x="822960" y="2428829"/>
            <a:ext cx="3406026"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leading member of a women's charity committee that decided which poor women to help</a:t>
            </a:r>
            <a:endParaRPr lang="en-US" sz="2200" dirty="0"/>
          </a:p>
        </p:txBody>
      </p:sp>
      <p:sp>
        <p:nvSpPr>
          <p:cNvPr id="13" name="card-body"/>
          <p:cNvSpPr txBox="1"/>
          <p:nvPr/>
        </p:nvSpPr>
        <p:spPr>
          <a:xfrm>
            <a:off x="731520" y="4175333"/>
            <a:ext cx="3588906"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Mrs Birling is a prominent member of the Brumley Women's Charity Organisation. That is where Eva, pregnant and penniless, went for help two weeks before the play, and where she was turned away.</a:t>
            </a:r>
            <a:endParaRPr lang="en-US" sz="1800" dirty="0"/>
          </a:p>
        </p:txBody>
      </p:sp>
      <p:sp>
        <p:nvSpPr>
          <p:cNvPr id="14" name="card"/>
          <p:cNvSpPr/>
          <p:nvPr/>
        </p:nvSpPr>
        <p:spPr>
          <a:xfrm>
            <a:off x="4777626" y="1389888"/>
            <a:ext cx="2636444" cy="4754880"/>
          </a:xfrm>
          <a:prstGeom prst="roundRect">
            <a:avLst>
              <a:gd name="adj" fmla="val 2081"/>
            </a:avLst>
          </a:prstGeom>
          <a:solidFill>
            <a:srgbClr val="EFEBF2"/>
          </a:solidFill>
          <a:ln w="12700">
            <a:solidFill>
              <a:srgbClr val="C1B4CC"/>
            </a:solidFill>
            <a:prstDash val="solid"/>
          </a:ln>
        </p:spPr>
      </p:sp>
      <p:sp>
        <p:nvSpPr>
          <p:cNvPr id="15" name="card-hex"/>
          <p:cNvSpPr/>
          <p:nvPr/>
        </p:nvSpPr>
        <p:spPr>
          <a:xfrm>
            <a:off x="4960506" y="1572768"/>
            <a:ext cx="640080" cy="554309"/>
          </a:xfrm>
          <a:prstGeom prst="hexagon">
            <a:avLst/>
          </a:prstGeom>
          <a:solidFill>
            <a:srgbClr val="5B3A7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Birling</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Eva gave the name Birling, perhaps because it was the father's name. Mrs Birling took it as impertinence, and admits that it prejudiced her against the case…</a:t>
            </a:r>
            <a:endParaRPr lang="en-US" sz="1800" dirty="0"/>
          </a:p>
        </p:txBody>
      </p:sp>
      <p:sp>
        <p:nvSpPr>
          <p:cNvPr id="21" name="card"/>
          <p:cNvSpPr/>
          <p:nvPr/>
        </p:nvSpPr>
        <p:spPr>
          <a:xfrm>
            <a:off x="7688389" y="1389888"/>
            <a:ext cx="3954666" cy="4754880"/>
          </a:xfrm>
          <a:prstGeom prst="roundRect">
            <a:avLst>
              <a:gd name="adj" fmla="val 1387"/>
            </a:avLst>
          </a:prstGeom>
          <a:solidFill>
            <a:srgbClr val="EFEBF2"/>
          </a:solidFill>
          <a:ln w="12700">
            <a:solidFill>
              <a:srgbClr val="C1B4CC"/>
            </a:solidFill>
            <a:prstDash val="solid"/>
          </a:ln>
        </p:spPr>
      </p:sp>
      <p:sp>
        <p:nvSpPr>
          <p:cNvPr id="22" name="card-hex"/>
          <p:cNvSpPr/>
          <p:nvPr/>
        </p:nvSpPr>
        <p:spPr>
          <a:xfrm>
            <a:off x="7871269" y="1572768"/>
            <a:ext cx="640080" cy="554309"/>
          </a:xfrm>
          <a:prstGeom prst="hexagon">
            <a:avLst/>
          </a:prstGeom>
          <a:solidFill>
            <a:srgbClr val="5B3A7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7962709" y="2428829"/>
            <a:ext cx="3406026"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40 weeks</a:t>
            </a:r>
            <a:endParaRPr lang="en-US" sz="2200" dirty="0"/>
          </a:p>
        </p:txBody>
      </p:sp>
      <p:sp>
        <p:nvSpPr>
          <p:cNvPr id="27" name="card-body"/>
          <p:cNvSpPr txBox="1"/>
          <p:nvPr/>
        </p:nvSpPr>
        <p:spPr>
          <a:xfrm>
            <a:off x="7871269" y="3152729"/>
            <a:ext cx="3588906"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£50 is 50 × 20 = 1,000 shillings. At 25 shillings a week, 1,000 ÷ 25 = 40 weeks. The money Eric took casually was most of a year's pay for the woman he took it for.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DE9F0"/>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prejudice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judging people before you know them</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Mrs Birling's prejudice against working-class girls decides Eva's fate.</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hypocrisy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claiming standards you do not keep yourself</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Running a charity while refusing to help a desperate girl is hypocrisy.</a:t>
            </a:r>
            <a:endParaRPr lang="en-US" sz="1800" dirty="0"/>
          </a:p>
        </p:txBody>
      </p:sp>
      <p:sp>
        <p:nvSpPr>
          <p:cNvPr id="21" name="kw-row"/>
          <p:cNvSpPr/>
          <p:nvPr/>
        </p:nvSpPr>
        <p:spPr>
          <a:xfrm>
            <a:off x="548640" y="3639312"/>
            <a:ext cx="11094415" cy="786384"/>
          </a:xfrm>
          <a:prstGeom prst="roundRect">
            <a:avLst>
              <a:gd name="adj" fmla="val 6977"/>
            </a:avLst>
          </a:prstGeom>
          <a:solidFill>
            <a:srgbClr val="EDE9F0"/>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aloof</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cold and distant, as if above everyone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Mrs Birling is aloof with the Inspector from the moment she enters.</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charity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organisation that gives help to people in need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Eva went to the charity because there was nowhere else to go.</a:t>
            </a:r>
            <a:endParaRPr lang="en-US" sz="1800" dirty="0"/>
          </a:p>
        </p:txBody>
      </p:sp>
      <p:sp>
        <p:nvSpPr>
          <p:cNvPr id="31" name="kw-row"/>
          <p:cNvSpPr/>
          <p:nvPr/>
        </p:nvSpPr>
        <p:spPr>
          <a:xfrm>
            <a:off x="548640" y="5358384"/>
            <a:ext cx="11094415" cy="786384"/>
          </a:xfrm>
          <a:prstGeom prst="roundRect">
            <a:avLst>
              <a:gd name="adj" fmla="val 6977"/>
            </a:avLst>
          </a:prstGeom>
          <a:solidFill>
            <a:srgbClr val="EDE9F0"/>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confession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admitting what you have done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Eric's confession in Act 3 is the last link in the story.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Mrs Birling walks in full of confidence.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thinks the Inspector is beneath 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runs a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charity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that is meant to help poor women.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weeks ago, a pregnant girl came to 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charity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for help.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girl gave her name as Mrs Birling.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made Mrs Birling angry, and she turned the girl away.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says the father of the child is the one to blame.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the family realise who the father is.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Eric, her own 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Eric met Eva in the same bar as Gerald.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was drunk, and he forced his way into her room.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Later he stole money from his father's firm to help 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Eva refused the stolen money.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the end of Act 3, the family are shouting at one another.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Mrs Birling's entrance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Mrs Birling is the one character who does not change at all. That makes her the easiest to write about and the most useful contrast with Sheila.</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Mrs Birling has been out of the room for the whole of Act 1.</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Watch how she tries to take control. She introduces herself as though her name should settle matters, speaks for the whole family with ‘we’, and tells the Inspector that she doubts they can help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charity and the photograph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committee scene is the play's best example of dramatic irony after Birling's speeches. Use it when a question asks about how Priestley builds tension.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Mrs Birling is a leading member of the Brumley Women's Charity Organisation, a committee of wealthy women who decide which poor women deserve help.</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girl explained that she would not take any more money from the father of the child, because she had discovered it was stolen.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is prejudice and hypocrisy in one speech. She runs a charity yet refuses charity to the most desperate case she has seen, because of a name and an accent.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Eric: a public-school boy in trouble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Eric is responsible and a victim at the same time: guilty of what he did to Eva, failed by parents who never looked at him. Hold both ideas in one paragraph.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the first stage direction Eric is the one who does not fit.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Act 3 he tells his story. In November 1911 he met Eva at the Palace bar, drunk.</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Eric's confession is the last link in the story, and it breaks the family open.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family falls apart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Older and younger generations is the most common theme question. Mrs Birling and Eric are your clearest pair: the parent who learns nothing and the child who learns too late.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the end of Act 3 beside the opening stage directions.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on Eric asks how and why Priestley presents this breakdown.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Gender runs through all of this. Mrs Birling judges Eva by a rule she never applies to men of her own class.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end of Act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At the end of Act 2, Mrs Birling insists that the young man who got Eva pregnant should be made an example of and dealt with severely. Why is this moment so powerful on stage?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Because Sheila and the audience have realised that the father is Eric, so Mrs Birling is condemning her own son without knowing it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Because the Inspector finally agrees with Mrs Birling about something</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Because Mr Birling announces that he will call the police himself</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Because Gerald returns at that moment with proof that the Inspector is a fraud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The end of Act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At the end of Act 2, Mrs Birling insists that the young man who got Eva pregnant should be made an example of and dealt with severely. Why is this moment so powerful on stage?</a:t>
            </a:r>
            <a:endParaRPr lang="en-US" sz="2000" dirty="0"/>
          </a:p>
        </p:txBody>
      </p:sp>
      <p:sp>
        <p:nvSpPr>
          <p:cNvPr id="12" name="col-Support"/>
          <p:cNvSpPr/>
          <p:nvPr/>
        </p:nvSpPr>
        <p:spPr>
          <a:xfrm>
            <a:off x="548640" y="2903728"/>
            <a:ext cx="4667802" cy="3241040"/>
          </a:xfrm>
          <a:prstGeom prst="roundRect">
            <a:avLst>
              <a:gd name="adj" fmla="val 1693"/>
            </a:avLst>
          </a:prstGeom>
          <a:solidFill>
            <a:srgbClr val="EAE5EE"/>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dramatic irony is when the audience knows something a character does not.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has Sheila worked out while her mother was talking?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walks in as the curtain falls, and whose words are waiting for him?</a:t>
            </a:r>
            <a:endParaRPr lang="en-US" sz="1800" dirty="0"/>
          </a:p>
        </p:txBody>
      </p:sp>
      <p:sp>
        <p:nvSpPr>
          <p:cNvPr id="17" name="col-Core"/>
          <p:cNvSpPr/>
          <p:nvPr/>
        </p:nvSpPr>
        <p:spPr>
          <a:xfrm>
            <a:off x="5490762" y="2903728"/>
            <a:ext cx="2938987" cy="3241040"/>
          </a:xfrm>
          <a:prstGeom prst="roundRect">
            <a:avLst>
              <a:gd name="adj" fmla="val 1867"/>
            </a:avLst>
          </a:prstGeom>
          <a:solidFill>
            <a:srgbClr val="D6CEDE"/>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knows the father's identity at this point: Mrs Birling, Sheila, the audience, or all three? The gap between them is the power.</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5B3A7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Priestley ends Act 1 with a one-word question and Act 2 with an entrance. Compare the two act endings as cliffhangers and explain what each one makes the audience wait for.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Eric and his parents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Priestley present Eric's relationship with his parents? Write one developed PEIRL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(1 of 2): Eric and his parents</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Eric's relationship with his parents? Write one developed PEIRL paragraph.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Point: decide on two words for the relationship (distant, neglected, angry, broken) and write a sentence with them.</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Evidence: describe Eric at the dinner table, then describe one thing he says to his father or mother in Act 3.</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Inference: for each, write ‘This suggests that…’ about what the parents have failed to do.</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Reader and Link: say how a 1945 audience would judge such parents, then link to Priestley's view of the older generation.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(2 of 2): Eric and his parents</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Eric's relationship with his parents? Write one developed PEIRL paragraph.</a:t>
            </a:r>
            <a:endParaRPr lang="en-US" sz="2000" dirty="0"/>
          </a:p>
        </p:txBody>
      </p:sp>
      <p:sp>
        <p:nvSpPr>
          <p:cNvPr id="12" name="col-Core"/>
          <p:cNvSpPr/>
          <p:nvPr/>
        </p:nvSpPr>
        <p:spPr>
          <a:xfrm>
            <a:off x="548640" y="2593848"/>
            <a:ext cx="5410048" cy="3550920"/>
          </a:xfrm>
          <a:prstGeom prst="roundRect">
            <a:avLst>
              <a:gd name="adj" fmla="val 1545"/>
            </a:avLst>
          </a:prstGeom>
          <a:solidFill>
            <a:srgbClr val="D6CED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Pair one detail from the dinner table with one line of accusation from Act 3. The distance was always there; the Inspector only makes it speak.</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Argue whether Eric is more a victim of his parents or more guilty of what he did to Eva. Use the Inspector's judgement of him and his own admission, and decide where Priestley wants the balance to fall.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position did Mrs Birling hold in Brumley?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owner of a dress shop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magistrate on the Brumley bench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secretary to the Chief Constable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leading member of a women's charity committee that decided which poor women to help</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end of Act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buNone/>
            </a:pPr>
            <a:r>
              <a:rPr lang="en-US" sz="3200" b="1" dirty="0">
                <a:solidFill>
                  <a:srgbClr val="1E2229"/>
                </a:solidFill>
                <a:latin typeface="Cambria" pitchFamily="34" charset="0"/>
                <a:ea typeface="Cambria" pitchFamily="34" charset="-122"/>
                <a:cs typeface="Cambria" pitchFamily="34" charset="-120"/>
              </a:rPr>
              <a:t>A   Because Sheila and the audience have realised that the father is Eric, so Mrs Birling is condemning her own son without knowing it</a:t>
            </a:r>
            <a:endParaRPr lang="en-US" sz="32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Mrs Birling pronounces sentence on a young man she has never met, and the audience watches her son walk in to receive it. It is the sharpest dramatic irony in the play, and it is aimed at the character who never changes.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Eric and his parents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8690"/>
          </a:xfrm>
          <a:prstGeom prst="roundRect">
            <a:avLst>
              <a:gd name="adj" fmla="val 9639"/>
            </a:avLst>
          </a:prstGeom>
          <a:solidFill>
            <a:srgbClr val="EDE9F0"/>
          </a:solidFill>
          <a:ln/>
        </p:spPr>
      </p:sp>
      <p:sp>
        <p:nvSpPr>
          <p:cNvPr id="9" name="tickbox"/>
          <p:cNvSpPr/>
          <p:nvPr/>
        </p:nvSpPr>
        <p:spPr>
          <a:xfrm>
            <a:off x="713232" y="231228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Point: a clear statement about the relationship (for example distant, neglectful, broken by the truth)</a:t>
            </a:r>
            <a:endParaRPr lang="en-US" sz="2200" dirty="0"/>
          </a:p>
        </p:txBody>
      </p:sp>
      <p:sp>
        <p:nvSpPr>
          <p:cNvPr id="11" name="crit-box"/>
          <p:cNvSpPr/>
          <p:nvPr/>
        </p:nvSpPr>
        <p:spPr>
          <a:xfrm>
            <a:off x="548640" y="3024378"/>
            <a:ext cx="11094415" cy="948690"/>
          </a:xfrm>
          <a:prstGeom prst="roundRect">
            <a:avLst>
              <a:gd name="adj" fmla="val 9639"/>
            </a:avLst>
          </a:prstGeom>
          <a:solidFill>
            <a:srgbClr val="EDE9F0"/>
          </a:solidFill>
          <a:ln/>
        </p:spPr>
      </p:sp>
      <p:sp>
        <p:nvSpPr>
          <p:cNvPr id="12" name="tickbox"/>
          <p:cNvSpPr/>
          <p:nvPr/>
        </p:nvSpPr>
        <p:spPr>
          <a:xfrm>
            <a:off x="713232" y="3352419"/>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02437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Evidence: two precise references, one from before the Inspector's questioning and one from Act 3 (in the exam you would quote them)</a:t>
            </a:r>
            <a:endParaRPr lang="en-US" sz="2200" dirty="0"/>
          </a:p>
        </p:txBody>
      </p:sp>
      <p:sp>
        <p:nvSpPr>
          <p:cNvPr id="14" name="crit-box"/>
          <p:cNvSpPr/>
          <p:nvPr/>
        </p:nvSpPr>
        <p:spPr>
          <a:xfrm>
            <a:off x="548640" y="4064508"/>
            <a:ext cx="11094415" cy="948690"/>
          </a:xfrm>
          <a:prstGeom prst="roundRect">
            <a:avLst>
              <a:gd name="adj" fmla="val 9639"/>
            </a:avLst>
          </a:prstGeom>
          <a:solidFill>
            <a:srgbClr val="EDE9F0"/>
          </a:solidFill>
          <a:ln/>
        </p:spPr>
      </p:sp>
      <p:sp>
        <p:nvSpPr>
          <p:cNvPr id="15" name="tickbox"/>
          <p:cNvSpPr/>
          <p:nvPr/>
        </p:nvSpPr>
        <p:spPr>
          <a:xfrm>
            <a:off x="713232" y="4392549"/>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406450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Inference and method: what the moments suggest, and a method Priestley uses (stage direction, contrast, structure)</a:t>
            </a:r>
            <a:endParaRPr lang="en-US" sz="2200" dirty="0"/>
          </a:p>
        </p:txBody>
      </p:sp>
      <p:sp>
        <p:nvSpPr>
          <p:cNvPr id="17" name="crit-box"/>
          <p:cNvSpPr/>
          <p:nvPr/>
        </p:nvSpPr>
        <p:spPr>
          <a:xfrm>
            <a:off x="548640" y="5104638"/>
            <a:ext cx="11094415" cy="948690"/>
          </a:xfrm>
          <a:prstGeom prst="roundRect">
            <a:avLst>
              <a:gd name="adj" fmla="val 9639"/>
            </a:avLst>
          </a:prstGeom>
          <a:solidFill>
            <a:srgbClr val="EDE9F0"/>
          </a:solidFill>
          <a:ln/>
        </p:spPr>
      </p:sp>
      <p:sp>
        <p:nvSpPr>
          <p:cNvPr id="18" name="tickbox"/>
          <p:cNvSpPr/>
          <p:nvPr/>
        </p:nvSpPr>
        <p:spPr>
          <a:xfrm>
            <a:off x="713232" y="5432679"/>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10463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Reader and Link: how the 1945 audience would respond, and what Priestley wanted them to understand about the older generation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Eric and his parents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Priestley presents Eric's relationship with his parents as distant long before the Inspector exposes it. From the first stage direction Eric is the uneasy figure at the celebration, laughing at the wrong moment and drinking too much, while his parents choose not to notice; his father's jibe about an expensive education that taught him nothing shows contempt rather than concern. By Act 3 the distance has become open war. Eric tells his father that he was never a man a son in trouble could turn to, and when he learns that his mother turned Eva away, he accuses her of killing the girl and his own child. Priestley's method is contrast: the son who could not speak at dinner now speaks the truth his parents cannot bear. A 1945 audience would see parents who gave their son everything except attention, and Priestley's purpose is to show that the older generation's failure is not only public, in factories and committees, but private, at their own table.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position did Mrs Birling hold in Brumley?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leading member of a women's charity committee that decided which poor women to help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Mrs Birling is a prominent member of the Brumley Women's Charity Organisation. That is where Eva, pregnant and penniless, went for help two weeks before the play, and where she was turned away.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4: Mrs Birling and Eric: prejudice, and a family falls apart (Acts 2 to 3)</dc:title>
  <dc:subject>English Literature · Year 10</dc:subject>
  <dc:creator>Dr Vitor Merissi de Carvalho</dc:creator>
  <cp:lastModifiedBy>Dr Vitor Merissi de Carvalho</cp:lastModifiedBy>
  <cp:revision>1</cp:revision>
  <dcterms:created xsi:type="dcterms:W3CDTF">2026-10-18T17:47:09Z</dcterms:created>
  <dcterms:modified xsi:type="dcterms:W3CDTF">2026-10-18T17:47:09Z</dcterms:modified>
</cp:coreProperties>
</file>