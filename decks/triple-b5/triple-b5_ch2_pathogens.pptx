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c012dc-d786-da8b-02db-9baa339b0b2a}">
          <p14:sldIdLst>
            <p14:sldId id="256"/>
          </p14:sldIdLst>
        </p14:section>
        <p14:section name="Gate" id="{cd70f750-75ea-57e9-eaa0-a92eb8e2bce9}">
          <p14:sldIdLst>
            <p14:sldId id="257"/>
            <p14:sldId id="258"/>
          </p14:sldIdLst>
        </p14:section>
        <p14:section name="Pre-teach" id="{2480b6cd-475b-7e12-e64e-9d825c18219a}">
          <p14:sldIdLst>
            <p14:sldId id="259"/>
            <p14:sldId id="260"/>
          </p14:sldIdLst>
        </p14:section>
        <p14:section name="Read-along" id="{12db76fb-506d-6b9e-824b-a9596f937c9f}">
          <p14:sldIdLst>
            <p14:sldId id="261"/>
            <p14:sldId id="262"/>
          </p14:sldIdLst>
        </p14:section>
        <p14:section name="Teach" id="{1366f978-d1e8-d39c-2cc0-39eddf43cadd}">
          <p14:sldIdLst>
            <p14:sldId id="263"/>
            <p14:sldId id="264"/>
            <p14:sldId id="265"/>
            <p14:sldId id="266"/>
          </p14:sldIdLst>
        </p14:section>
        <p14:section name="Routes" id="{ded28284-42d1-7e41-db9b-6541a9cfdeb6}">
          <p14:sldIdLst>
            <p14:sldId id="267"/>
            <p14:sldId id="268"/>
            <p14:sldId id="269"/>
            <p14:sldId id="270"/>
          </p14:sldIdLst>
        </p14:section>
        <p14:section name="Close" id="{10e539c9-9907-9c80-a1f7-3e39cf6d1d74}">
          <p14:sldIdLst>
            <p14:sldId id="271"/>
          </p14:sldIdLst>
        </p14:section>
        <p14:section name="Answers" id="{7a388b8b-6a77-1720-dcc4-b11e813774d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Pathogens and how they spread. The four types of pathogen, how bacteria and viruses make you ill, and the routes pathogens take from one organism to the next.
This deck covers the department's lesson: 2 (B5.2 Pathogens and disease: What are pathogens, how do bacteria and viruses make us ill, and how are they spread?).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pathogen?  →  C   A microorganism that causes disease
2. Bacteria make you feel ill by releasing ___ that damage your cells.  →  toxins
3. Which statement about viruses is correct?  →  C   They can only reproduce inside living cells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microorganism that causes disease. Pathogens are microorganisms that cause disease: bacteria, viruses, fungi and protists.
2. toxins. Bacteria divide rapidly and produce toxins (poisons). Your body's response to the damage they cause gives you the symptoms.
3. C   They can only reproduce inside living cells. Viruses take over living cells to make copies of themselves, which destroys the cells. They are far smaller than bacteria and need an electron microscope.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pathogen: a microorganism that causes disease. Example: "Bacteria, viruses, fungi and protists can all be pathogens."
• bacteria: tiny living cells; some cause disease, many are useful. Example: "Bacteria divide very quickly inside the body."
• virus: a very small pathogen that can only reproduce inside living cells. Example: "A virus takes over a cell and makes copies of itself."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toxin: a poison made by a pathogen. Example: "Toxins made by bacteria damage your cells and make you feel ill."
• vector: an animal that carries a pathogen from one organism to another. Example: "The mosquito is the vector that spreads malaria."
• droplet: a tiny drop of liquid released when you cough or sneeze. Example: "Flu spreads in droplets that other people breathe 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pathogen is a microorganism that causes disease.
2. There are four types: bacteria, viruses, fungi and protists.
3. Pathogens can infect plants as well as animals.
4. Bacteria are tiny cells that divide very rapidly inside the body.
5. Bacteria make toxins, which are poisons that damage your cells.
6. Viruses are much smaller than bacteria.
7. A virus gets inside a cell, makes copies of itself and destroys the cell.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Pathogens spread in different ways.
9. Coughs and sneezes release droplets that carry pathogens through the air.
10. Pathogens can also spread by direct contact, such as touching or through a cut.
11. Dirty water and uncooked food can carry pathogens into your digestive system.
12. Some insects carry pathogens from one person to another.
13. An animal that carries a pathogen is called a vector.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Four kinds of pathogen. Say it in your own words, then check understanding with a quick question: ask a pupil from the pre-teach group first, since they met these words and ideas before the lesson. Pupils try to recall before you re-explain.
Pathogens are microorganisms that cause disease. There are four types: bacteria, viruses, fungi and protists. They infect animals, including people, and they infect plants too.
Bacteria are living cells, far smaller than your own: usually only a few microns across (a micron is a thousandth of a millimetre), so you need a microscope to see them. Viruses are much smaller still and can only be seen with an electron microscope. A virus cannot reproduce on its own; it has to get inside a living cell to make copies of itself, which is why the deck calls viruses parasites.
Not all bacteria are harmful. We use bacteria to make yoghurt and cheese, to treat sewage and to make some medicines, and bacteria living in your intestines help to keep you healthy. Viruses, however, cause disease in every type of organism.
Tip: Write 'microorganism that causes disease' for pathogen. A vague word such as 'bug' does not earn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bacteria and viruses make you ill. Say it in your own words, then check understanding with a quick question: ask a pupil from the pre-teach group first, since they met these words and ideas before the lesson. Pupils try to recall before you re-explain.
Once inside the body, bacteria divide rapidly by binary fission, so a few cells quickly become millions. As they grow they release toxins (poisons). The toxins damage your cells, and your body's response to that damage gives you the symptoms of disease.
Viruses work differently. A virus gets into one of your cells and takes it over, using the cell to make many new copies of the virus. The copies burst out, destroying the cell, and go on to infect other cells. Both bacteria and viruses reproduce very rapidly.
The common symptoms of infection are a high temperature or fever, a headache, a rash, vomiting and diarrhoea. They are caused by the way your body responds to the cell damage and to the toxins the pathogen produces.
Worked example — model it step by step, thinking aloud: Explain why a person with a bacterial infection develops a fever and feels unwell. (3 marks) (1) Start with what the bacteria do: they reproduce rapidly by binary fission inside the body. (2) Say what they release: toxins, which are poisons. (3) Finish with the effect: the toxins damage cells, and the body's response to this damage causes the fever and other symptoms. Answer: The bacteria divide rapidly by binary fission and release toxins; the toxins damage body cells, and the body's response to this damage causes the fever and other symptoms..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bacteria and viruses make you ill. Say it in your own words, then check understanding with a quick question: ask a pupil from the pre-teach group first, since they met these words and ideas before the lesson. Pupils try to recall before you re-explain.
Once inside the body, bacteria divide rapidly by binary fission, so a few cells quickly become millions. As they grow they release toxins (poisons). The toxins damage your cells, and your body's response to that damage gives you the symptoms of disease.
Viruses work differently. A virus gets into one of your cells and takes it over, using the cell to make many new copies of the virus. The copies burst out, destroying the cell, and go on to infect other cells. Both bacteria and viruses reproduce very rapidly.
The common symptoms of infection are a high temperature or fever, a headache, a rash, vomiting and diarrhoea. They are caused by the way your body responds to the cell damage and to the toxins the pathogen produces.
Worked example — model it step by step, thinking aloud: Explain why a person with a bacterial infection develops a fever and feels unwell. (3 marks) (1) Start with what the bacteria do: they reproduce rapidly by binary fission inside the body. (2) Say what they release: toxins, which are poisons. (3) Finish with the effect: the toxins damage cells, and the body's response to this damage causes the fever and other symptoms. Answer: The bacteria divide rapidly by binary fission and release toxins; the toxins damage body cells, and the body's response to this damage causes the fever and other symptoms..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pathogens spread. Say it in your own words, then check understanding with a quick question: ask a pupil from the pre-teach group first, since they met these words and ideas before the lesson. Pupils try to recall before you re-explain.
Different pathogens have different transmission routes. Airborne droplets: when an infected person coughs or sneezes, droplets carrying the pathogen are released and another person breathes them in. Flu, measles and TB spread this way.
Direct contact: a pathogen is passed when an infected person touches a healthy one, through a cut in the skin or by sexual contact; HIV is an example. In a field, a plant disease can pass from one plant to the plants touching it. Food and water: pathogens in dirty water (cholera) or undercooked food (Salmonella) are swallowed and enter the digestive system. Fungal spores can reach plants in water.
Vectors: some animals carry a pathogen from one organism to another without being harmed themselves. Mosquitoes carry the protist that causes malaria; aphids carry more than 150 plant diseases; houseflies and rats carry many human diseases.
Tip: In a 'how is it spread' answer, name the route AND the organism it carries pathogens between: 'in droplets, breathed in by another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sneeze spreads flu.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droplet infection in the correct order.
Support — work through the steps with the group: (1) Start with the person who already has the disease. What do they do? (2) What comes out of them, and what is in it? (3) How does it get into the next person? (4) The pathogen must reproduce before there are enough of it to cause symptoms. Symptoms come last.
Parallel worked example for Support (model it, do not give the task answer): Put these stages of getting Salmonella food poisoning in order: bacteria release toxins in the gut; a person eats undercooked chicken; the person has cramps and vomiting; bacteria enter the digestive system. First the chicken is eaten.; The bacteria in it enter the digestive system.; They reproduce and release toxins.; The toxins cause the symptoms.. Answer: Eats undercooked chicken; bacteria enter the digestive system; bacteria release toxins; cramps and vomiting..
Core — reveal the hint only on request: Release, breathe in, reproduce, symptoms. The pathogen has to multiply before anyone feels ill.
Stretch — no help; when finished: Explain why a person can pass flu on before they feel ill themselves, using the idea that the pathogen reproduces inside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sneeze spreads flu.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droplet infection in the correct order.
Support — work through the steps with the group: (1) Start with the person who already has the disease. What do they do? (2) What comes out of them, and what is in it? (3) How does it get into the next person? (4) The pathogen must reproduce before there are enough of it to cause symptoms. Symptoms come last.
Parallel worked example for Support (model it, do not give the task answer): Put these stages of getting Salmonella food poisoning in order: bacteria release toxins in the gut; a person eats undercooked chicken; the person has cramps and vomiting; bacteria enter the digestive system. First the chicken is eaten.; The bacteria in it enter the digestive system.; They reproduce and release toxins.; The toxins cause the symptoms.. Answer: Eats undercooked chicken; bacteria enter the digestive system; bacteria release toxins; cramps and vomiting..
Core — reveal the hint only on request: Release, breathe in, reproduce, symptoms. The pathogen has to multiply before anyone feels ill.
Stretch — no help; when finished: Explain why a person can pass flu on before they feel ill themselves, using the idea that the pathogen reproduces inside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Routes of transmission.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way pathogens are spread to a disease spread that way.
Support — work through the steps with the group: (1) Read each disease description and underline how it moves: coughs, touching, drinking, insect. (2) Coughs and sneezes release droplets into the air. (3) Touching, cuts and sexual contact are direct contact. (4) Anything swallowed is food and water; anything carried by an animal is a vector.
Parallel worked example for Support (model it, do not give the task answer): Match: measles; Salmonella food poisoning. Routes: airborne droplets; contaminated food. Measles spreads in droplets from sneezes and coughs: airborne droplets.; Salmonella bacteria are taken in with food: contaminated food.. Answer: Measles: airborne droplets. Salmonella: contaminated food..
Core — reveal the hint only on request: Match the verb: breathed in, touched, swallowed, bitten.
Stretch — no help; when finished: Plants catch diseases too. For each of the four routes, say whether a plant pathogen could use it, and give one example from the unit where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Routes of transmission.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way pathogens are spread to a disease spread that way.
Support — work through the steps with the group: (1) Read each disease description and underline how it moves: coughs, touching, drinking, insect. (2) Coughs and sneezes release droplets into the air. (3) Touching, cuts and sexual contact are direct contact. (4) Anything swallowed is food and water; anything carried by an animal is a vector.
Parallel worked example for Support (model it, do not give the task answer): Match: measles; Salmonella food poisoning. Routes: airborne droplets; contaminated food. Measles spreads in droplets from sneezes and coughs: airborne droplets.; Salmonella bacteria are taken in with food: contaminated food.. Answer: Measles: airborne droplets. Salmonella: contaminated food..
Core — reveal the hint only on request: Match the verb: breathed in, touched, swallowed, bitten.
Stretch — no help; when finished: Plants catch diseases too. For each of the four routes, say whether a plant pathogen could use it, and give one example from the unit where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Someone eats chicken that has not been cooked properly and becomes ill. How did the pathogen get into their body?
Answer: A   In contaminated food or water, into the digestive system. Pathogens in undercooked food or dirty water are swallowed and enter the digestive system. That is the food and water route of transmission.
Source of this question: module 3 task ("Into the body through the gut")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sneeze spreads flu. Reveal the answer; pupils mark their own work in a different colour, then read the "why" together. Same destination for every lane, so one answer serves the whole class.
Answer: An infected person coughs or sneezes  (A); Droplets carrying the pathogen are released into the air  (C); Another person breathes in the droplets  (E); The pathogen reproduces rapidly inside the new person's body  (B); Toxins and cell damage cause symptoms such as fever  (D)
Why: Droplets from the infected person's breathing system carry the pathogen; the next person breathes them in; the pathogen reproduces inside them; toxins and cell damage then cause the symptoms.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Routes of transmission. Reveal the answer; pupils mark their own work in a different colour, then read the "why" together. Same destination for every lane, so one answer serves the whole class.
Answer: Airborne droplets  →  B  Flu, passed on when an infected person coughs or sneezes; Direct contact  →  D  HIV, passed on by sexual contact or through a cut in the skin; Contaminated food and water  →  C  Cholera, caught by drinking dirty water; Vector  →  A  Malaria, carried from person to person by mosquitoes
Why: Droplets from coughs and sneezes spread flu; HIV passes by direct contact including sexual contact and through cuts; cholera is swallowed in dirty water; malaria is carried by the mosquito, a vector.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In contaminated food or water, into the digestive system
Why: Pathogens in undercooked food or dirty water are swallowed and enter the digestive system. That is the food and water route of transmission.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Pathogens and how they spread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B5.2 Pathogens and disease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a pathogen?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insect that carries disease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Any microorganism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microorganism that causes disease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poison made by bacteria</a:t>
            </a:r>
            <a:endParaRPr lang="en-US" sz="2400" dirty="0"/>
          </a:p>
        </p:txBody>
      </p:sp>
      <p:sp>
        <p:nvSpPr>
          <p:cNvPr id="12"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Bacteria make you feel ill by releasing ___ that damage your cells.</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toxins  ·  spores  ·  droplets</a:t>
            </a:r>
            <a:endParaRPr lang="en-US" sz="2400" dirty="0"/>
          </a:p>
        </p:txBody>
      </p:sp>
      <p:sp>
        <p:nvSpPr>
          <p:cNvPr id="17"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statement about viruses is correct?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make you ill by releasing toxins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can be seen with a school light microscope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can only reproduce inside living cells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are larger than bacteria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microorganism that causes disease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pathogen?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Pathogens are microorganisms that cause disease: bacteria, viruses, fungi and protists.</a:t>
            </a:r>
            <a:endParaRPr lang="en-US" sz="2200" dirty="0"/>
          </a:p>
        </p:txBody>
      </p:sp>
      <p:sp>
        <p:nvSpPr>
          <p:cNvPr id="14" name="card"/>
          <p:cNvSpPr/>
          <p:nvPr/>
        </p:nvSpPr>
        <p:spPr>
          <a:xfrm>
            <a:off x="4338218" y="1389888"/>
            <a:ext cx="3515258" cy="4754880"/>
          </a:xfrm>
          <a:prstGeom prst="roundRect">
            <a:avLst>
              <a:gd name="adj" fmla="val 1561"/>
            </a:avLst>
          </a:prstGeom>
          <a:solidFill>
            <a:srgbClr val="E9EBF0"/>
          </a:solidFill>
          <a:ln w="12700">
            <a:solidFill>
              <a:srgbClr val="ACB3C7"/>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toxins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Bacteria make you feel ill by releasing ___ that damage your cells.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Bacteria divide rapidly and produce toxins (poisons). Your body's response to the damage they cause gives you the symptoms.</a:t>
            </a:r>
            <a:endParaRPr lang="en-US" sz="2000" dirty="0"/>
          </a:p>
        </p:txBody>
      </p:sp>
      <p:sp>
        <p:nvSpPr>
          <p:cNvPr id="21" name="card"/>
          <p:cNvSpPr/>
          <p:nvPr/>
        </p:nvSpPr>
        <p:spPr>
          <a:xfrm>
            <a:off x="8127797" y="1389888"/>
            <a:ext cx="3515258" cy="4754880"/>
          </a:xfrm>
          <a:prstGeom prst="roundRect">
            <a:avLst>
              <a:gd name="adj" fmla="val 1561"/>
            </a:avLst>
          </a:prstGeom>
          <a:solidFill>
            <a:srgbClr val="E9EBF0"/>
          </a:solidFill>
          <a:ln w="12700">
            <a:solidFill>
              <a:srgbClr val="ACB3C7"/>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They can only reproduce inside living cells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Viruses take over living cells to make copies of themselves, which destroys the cells. They are far smaller than bacteria and need an electron microscope.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pathogen</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microorganism that causes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Bacteria, viruses, fungi and protists can all be pathogens.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bacteria</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tiny living cells; some cause disease, many are useful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Bacteria divide very quickly inside the body.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virus</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small pathogen that can only reproduce inside living cells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virus takes over a cell and makes copies of itself.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toxin</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poison made by a pathogen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Toxins made by bacteria damage your cells and make you feel ill.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vector</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animal that carries a pathogen from one organism to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mosquito is the vector that spreads malaria.</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droplet</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tiny drop of liquid released when you cough or sneeze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Flu spreads in droplets that other people breathe 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microorganism that causes disease.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four types: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fungi and protists.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infect plants as well as animals.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tiny cells that divide very rapidly inside the body.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make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toxins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are poisons that damage your cells.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Viruses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much smaller than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bacteria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virus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gets inside a cell, makes copies of itself and destroys the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spread in different ways.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Coughs and sneezes release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droplets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that carry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through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can also spread by direct contact, such as touching or through a cut.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Dirty water and uncooked food can carry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into your digestive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insects carry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from one person to another.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animal that carries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pathogen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vector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Four kinds of pathogen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'microorganism that causes disease' for pathogen. A vague word such as 'bug' does not earn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Pathogens are microorganisms that cause disease. There are four types: bacteria, viruses, fungi and protists.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Bacteria are living cells, far smaller than your own: usually only a few microns across (a micron is a thousandth of a millimetre), so you need a microscope to see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 all bacteria are harmful. We use bacteria to make yoghurt and cheese, to treat sewage and to make some medicines, and bacteria living in your intestines help to keep you healthy.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bacteria and viruses make you ill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inside the body, bacteria divide rapidly by binary fission, so a few cells quickly become millions.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Viruses work differently. A virus gets into one of your cells and takes it over, using the cell to make many new copies of the virus.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 symptoms of infection are a high temperature or fever, a headache, a rash, vomiting and diarrhoea.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Worked example: How bacteria and viruses make you ill</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3E5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a person with a bacterial infection develops a fever and feels unwell. (3 marks)</a:t>
            </a:r>
            <a:endParaRPr lang="en-US" sz="2200" dirty="0"/>
          </a:p>
        </p:txBody>
      </p:sp>
      <p:sp>
        <p:nvSpPr>
          <p:cNvPr id="9" name="step-box"/>
          <p:cNvSpPr/>
          <p:nvPr/>
        </p:nvSpPr>
        <p:spPr>
          <a:xfrm>
            <a:off x="548640" y="2655824"/>
            <a:ext cx="3423818"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what the bacteria do: they reproduce rapidly by binary fission inside the body.</a:t>
            </a:r>
            <a:endParaRPr lang="en-US" sz="1800" dirty="0"/>
          </a:p>
        </p:txBody>
      </p:sp>
      <p:sp>
        <p:nvSpPr>
          <p:cNvPr id="13" name="arrow"/>
          <p:cNvSpPr/>
          <p:nvPr/>
        </p:nvSpPr>
        <p:spPr>
          <a:xfrm>
            <a:off x="4045610" y="3645154"/>
            <a:ext cx="274320" cy="274320"/>
          </a:xfrm>
          <a:prstGeom prst="rightArrow">
            <a:avLst/>
          </a:prstGeom>
          <a:solidFill>
            <a:srgbClr val="B8862B"/>
          </a:solidFill>
          <a:ln/>
        </p:spPr>
      </p:sp>
      <p:sp>
        <p:nvSpPr>
          <p:cNvPr id="14" name="step-box"/>
          <p:cNvSpPr/>
          <p:nvPr/>
        </p:nvSpPr>
        <p:spPr>
          <a:xfrm>
            <a:off x="4383938" y="2655824"/>
            <a:ext cx="3423818"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4521098" y="2765552"/>
            <a:ext cx="530352" cy="459285"/>
          </a:xfrm>
          <a:prstGeom prst="hexagon">
            <a:avLst/>
          </a:prstGeom>
          <a:solidFill>
            <a:srgbClr val="24366B"/>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they release: toxins, which are poisons.</a:t>
            </a:r>
            <a:endParaRPr lang="en-US" sz="1800" dirty="0"/>
          </a:p>
        </p:txBody>
      </p:sp>
      <p:sp>
        <p:nvSpPr>
          <p:cNvPr id="18" name="arrow"/>
          <p:cNvSpPr/>
          <p:nvPr/>
        </p:nvSpPr>
        <p:spPr>
          <a:xfrm>
            <a:off x="7880909" y="3645154"/>
            <a:ext cx="274320" cy="274320"/>
          </a:xfrm>
          <a:prstGeom prst="rightArrow">
            <a:avLst/>
          </a:prstGeom>
          <a:solidFill>
            <a:srgbClr val="B8862B"/>
          </a:solidFill>
          <a:ln/>
        </p:spPr>
      </p:sp>
      <p:sp>
        <p:nvSpPr>
          <p:cNvPr id="19" name="step-box"/>
          <p:cNvSpPr/>
          <p:nvPr/>
        </p:nvSpPr>
        <p:spPr>
          <a:xfrm>
            <a:off x="8219237" y="2655824"/>
            <a:ext cx="3423818"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8356397" y="2765552"/>
            <a:ext cx="530352" cy="459285"/>
          </a:xfrm>
          <a:prstGeom prst="hexagon">
            <a:avLst/>
          </a:prstGeom>
          <a:solidFill>
            <a:srgbClr val="24366B"/>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effect: the toxins damage cells, and the body's response to this damage causes the fever and other symptoms.</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bacteria divide rapidly by binary fission and release toxins; the toxins damage body cells, and the body's response to this damage causes the fever and other symptoms.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How pathogens spread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'how is it spread' answer, name the route AND the organism it carries pathogens between: 'in droplets, breathed in by another person'.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Different pathogens have different transmission routes. Airborne droplets: when an infected person coughs or sneezes, droplets carrying the pathogen are released and another person breathes them in.</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Direct contact: a pathogen is passed when an infected person touches a healthy one, through a cut in the skin or by sexual contact; HIV is an example.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Vectors: some animals carry a pathogen from one organism to another without being harmed themselves.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How a sneeze spreads flu</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droplet infection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infected person coughs or sneezes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pathogen reproduces rapidly inside the new person's body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Droplets carrying the pathogen are released into the air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Toxins and cell damage cause symptoms such as fever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Another person breathes in the droplets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How a sneeze spreads flu</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droplet infection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3E5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person who already has the disease. What do they do?</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comes out of them, and what is in 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does it get into the next person?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pathogen must reproduce before there are enough of it to cause symptoms. Symptoms come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C8CD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Release, breathe in, reproduce, symptoms. The pathogen has to multiply before anyone feels ill.</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person can pass flu on before they feel ill themselves, using the idea that the pathogen reproduces inside the body.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Routes of transmission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way pathogens are spread to a disease spread that way.</a:t>
            </a:r>
            <a:endParaRPr lang="en-US" sz="2200" dirty="0"/>
          </a:p>
        </p:txBody>
      </p:sp>
      <p:sp>
        <p:nvSpPr>
          <p:cNvPr id="11" name="match-card"/>
          <p:cNvSpPr/>
          <p:nvPr/>
        </p:nvSpPr>
        <p:spPr>
          <a:xfrm>
            <a:off x="777240" y="2468331"/>
            <a:ext cx="3456740" cy="587639"/>
          </a:xfrm>
          <a:prstGeom prst="roundRect">
            <a:avLst>
              <a:gd name="adj" fmla="val 12448"/>
            </a:avLst>
          </a:prstGeom>
          <a:solidFill>
            <a:srgbClr val="E7E9EF"/>
          </a:solidFill>
          <a:ln/>
        </p:spPr>
      </p:sp>
      <p:sp>
        <p:nvSpPr>
          <p:cNvPr id="12" name="match-hex"/>
          <p:cNvSpPr/>
          <p:nvPr/>
        </p:nvSpPr>
        <p:spPr>
          <a:xfrm>
            <a:off x="850392" y="2595858"/>
            <a:ext cx="384048" cy="332586"/>
          </a:xfrm>
          <a:prstGeom prst="hexagon">
            <a:avLst/>
          </a:prstGeom>
          <a:solidFill>
            <a:srgbClr val="24366B"/>
          </a:solidFill>
          <a:ln/>
        </p:spPr>
      </p:sp>
      <p:sp>
        <p:nvSpPr>
          <p:cNvPr id="13" name="match-hex-label"/>
          <p:cNvSpPr txBox="1"/>
          <p:nvPr/>
        </p:nvSpPr>
        <p:spPr>
          <a:xfrm>
            <a:off x="8503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862380"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Airborne droplets</a:t>
            </a:r>
            <a:endParaRPr lang="en-US" sz="2000" dirty="0"/>
          </a:p>
        </p:txBody>
      </p:sp>
      <p:sp>
        <p:nvSpPr>
          <p:cNvPr id="15" name="match-card"/>
          <p:cNvSpPr/>
          <p:nvPr/>
        </p:nvSpPr>
        <p:spPr>
          <a:xfrm>
            <a:off x="4599740" y="2468331"/>
            <a:ext cx="6814715" cy="587639"/>
          </a:xfrm>
          <a:prstGeom prst="roundRect">
            <a:avLst>
              <a:gd name="adj" fmla="val 12448"/>
            </a:avLst>
          </a:prstGeom>
          <a:solidFill>
            <a:srgbClr val="F4EDDF"/>
          </a:solidFill>
          <a:ln/>
        </p:spPr>
      </p:sp>
      <p:sp>
        <p:nvSpPr>
          <p:cNvPr id="16" name="match-hex"/>
          <p:cNvSpPr/>
          <p:nvPr/>
        </p:nvSpPr>
        <p:spPr>
          <a:xfrm>
            <a:off x="4672892" y="2595858"/>
            <a:ext cx="384048" cy="332586"/>
          </a:xfrm>
          <a:prstGeom prst="hexagon">
            <a:avLst/>
          </a:prstGeom>
          <a:solidFill>
            <a:srgbClr val="B8862B"/>
          </a:solidFill>
          <a:ln/>
        </p:spPr>
      </p:sp>
      <p:sp>
        <p:nvSpPr>
          <p:cNvPr id="17" name="match-hex-label"/>
          <p:cNvSpPr txBox="1"/>
          <p:nvPr/>
        </p:nvSpPr>
        <p:spPr>
          <a:xfrm>
            <a:off x="4672892" y="25958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120948" y="2468331"/>
            <a:ext cx="6220355"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Malaria, carried from person to person by mosquitoes</a:t>
            </a:r>
            <a:endParaRPr lang="en-US" sz="2000" dirty="0"/>
          </a:p>
        </p:txBody>
      </p:sp>
      <p:sp>
        <p:nvSpPr>
          <p:cNvPr id="19" name="match-card"/>
          <p:cNvSpPr/>
          <p:nvPr/>
        </p:nvSpPr>
        <p:spPr>
          <a:xfrm>
            <a:off x="777240" y="3147411"/>
            <a:ext cx="3456740" cy="877199"/>
          </a:xfrm>
          <a:prstGeom prst="roundRect">
            <a:avLst>
              <a:gd name="adj" fmla="val 8339"/>
            </a:avLst>
          </a:prstGeom>
          <a:solidFill>
            <a:srgbClr val="E7E9EF"/>
          </a:solidFill>
          <a:ln/>
        </p:spPr>
      </p:sp>
      <p:sp>
        <p:nvSpPr>
          <p:cNvPr id="20" name="match-hex"/>
          <p:cNvSpPr/>
          <p:nvPr/>
        </p:nvSpPr>
        <p:spPr>
          <a:xfrm>
            <a:off x="850392" y="3419717"/>
            <a:ext cx="384048" cy="332586"/>
          </a:xfrm>
          <a:prstGeom prst="hexagon">
            <a:avLst/>
          </a:prstGeom>
          <a:solidFill>
            <a:srgbClr val="24366B"/>
          </a:solidFill>
          <a:ln/>
        </p:spPr>
      </p:sp>
      <p:sp>
        <p:nvSpPr>
          <p:cNvPr id="21" name="match-hex-label"/>
          <p:cNvSpPr txBox="1"/>
          <p:nvPr/>
        </p:nvSpPr>
        <p:spPr>
          <a:xfrm>
            <a:off x="8503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47411"/>
            <a:ext cx="286238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Direct contact</a:t>
            </a:r>
            <a:endParaRPr lang="en-US" sz="2000" dirty="0"/>
          </a:p>
        </p:txBody>
      </p:sp>
      <p:sp>
        <p:nvSpPr>
          <p:cNvPr id="23" name="match-card"/>
          <p:cNvSpPr/>
          <p:nvPr/>
        </p:nvSpPr>
        <p:spPr>
          <a:xfrm>
            <a:off x="4599740" y="3147411"/>
            <a:ext cx="6814715" cy="877199"/>
          </a:xfrm>
          <a:prstGeom prst="roundRect">
            <a:avLst>
              <a:gd name="adj" fmla="val 8339"/>
            </a:avLst>
          </a:prstGeom>
          <a:solidFill>
            <a:srgbClr val="F4EDDF"/>
          </a:solidFill>
          <a:ln/>
        </p:spPr>
      </p:sp>
      <p:sp>
        <p:nvSpPr>
          <p:cNvPr id="24" name="match-hex"/>
          <p:cNvSpPr/>
          <p:nvPr/>
        </p:nvSpPr>
        <p:spPr>
          <a:xfrm>
            <a:off x="4672892" y="3419717"/>
            <a:ext cx="384048" cy="332586"/>
          </a:xfrm>
          <a:prstGeom prst="hexagon">
            <a:avLst/>
          </a:prstGeom>
          <a:solidFill>
            <a:srgbClr val="B8862B"/>
          </a:solidFill>
          <a:ln/>
        </p:spPr>
      </p:sp>
      <p:sp>
        <p:nvSpPr>
          <p:cNvPr id="25" name="match-hex-label"/>
          <p:cNvSpPr txBox="1"/>
          <p:nvPr/>
        </p:nvSpPr>
        <p:spPr>
          <a:xfrm>
            <a:off x="4672892" y="34197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120948" y="3147411"/>
            <a:ext cx="622035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Flu, passed on when an infected person coughs or sneezes</a:t>
            </a:r>
            <a:endParaRPr lang="en-US" sz="2000" dirty="0"/>
          </a:p>
        </p:txBody>
      </p:sp>
      <p:sp>
        <p:nvSpPr>
          <p:cNvPr id="27" name="match-card"/>
          <p:cNvSpPr/>
          <p:nvPr/>
        </p:nvSpPr>
        <p:spPr>
          <a:xfrm>
            <a:off x="777240" y="4116050"/>
            <a:ext cx="3456740" cy="877199"/>
          </a:xfrm>
          <a:prstGeom prst="roundRect">
            <a:avLst>
              <a:gd name="adj" fmla="val 8339"/>
            </a:avLst>
          </a:prstGeom>
          <a:solidFill>
            <a:srgbClr val="E7E9EF"/>
          </a:solidFill>
          <a:ln/>
        </p:spPr>
      </p:sp>
      <p:sp>
        <p:nvSpPr>
          <p:cNvPr id="28" name="match-hex"/>
          <p:cNvSpPr/>
          <p:nvPr/>
        </p:nvSpPr>
        <p:spPr>
          <a:xfrm>
            <a:off x="850392" y="4388356"/>
            <a:ext cx="384048" cy="332586"/>
          </a:xfrm>
          <a:prstGeom prst="hexagon">
            <a:avLst/>
          </a:prstGeom>
          <a:solidFill>
            <a:srgbClr val="24366B"/>
          </a:solidFill>
          <a:ln/>
        </p:spPr>
      </p:sp>
      <p:sp>
        <p:nvSpPr>
          <p:cNvPr id="29" name="match-hex-label"/>
          <p:cNvSpPr txBox="1"/>
          <p:nvPr/>
        </p:nvSpPr>
        <p:spPr>
          <a:xfrm>
            <a:off x="8503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16050"/>
            <a:ext cx="286238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Contaminated food and water</a:t>
            </a:r>
            <a:endParaRPr lang="en-US" sz="2000" dirty="0"/>
          </a:p>
        </p:txBody>
      </p:sp>
      <p:sp>
        <p:nvSpPr>
          <p:cNvPr id="31" name="match-card"/>
          <p:cNvSpPr/>
          <p:nvPr/>
        </p:nvSpPr>
        <p:spPr>
          <a:xfrm>
            <a:off x="4599740" y="4116050"/>
            <a:ext cx="6814715" cy="877199"/>
          </a:xfrm>
          <a:prstGeom prst="roundRect">
            <a:avLst>
              <a:gd name="adj" fmla="val 8339"/>
            </a:avLst>
          </a:prstGeom>
          <a:solidFill>
            <a:srgbClr val="F4EDDF"/>
          </a:solidFill>
          <a:ln/>
        </p:spPr>
      </p:sp>
      <p:sp>
        <p:nvSpPr>
          <p:cNvPr id="32" name="match-hex"/>
          <p:cNvSpPr/>
          <p:nvPr/>
        </p:nvSpPr>
        <p:spPr>
          <a:xfrm>
            <a:off x="4672892" y="4388356"/>
            <a:ext cx="384048" cy="332586"/>
          </a:xfrm>
          <a:prstGeom prst="hexagon">
            <a:avLst/>
          </a:prstGeom>
          <a:solidFill>
            <a:srgbClr val="B8862B"/>
          </a:solidFill>
          <a:ln/>
        </p:spPr>
      </p:sp>
      <p:sp>
        <p:nvSpPr>
          <p:cNvPr id="33" name="match-hex-label"/>
          <p:cNvSpPr txBox="1"/>
          <p:nvPr/>
        </p:nvSpPr>
        <p:spPr>
          <a:xfrm>
            <a:off x="4672892" y="43883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120948" y="4116050"/>
            <a:ext cx="622035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Cholera, caught by drinking dirty water</a:t>
            </a:r>
            <a:endParaRPr lang="en-US" sz="2000" dirty="0"/>
          </a:p>
        </p:txBody>
      </p:sp>
      <p:sp>
        <p:nvSpPr>
          <p:cNvPr id="35" name="match-card"/>
          <p:cNvSpPr/>
          <p:nvPr/>
        </p:nvSpPr>
        <p:spPr>
          <a:xfrm>
            <a:off x="777240" y="5084689"/>
            <a:ext cx="3456740" cy="877199"/>
          </a:xfrm>
          <a:prstGeom prst="roundRect">
            <a:avLst>
              <a:gd name="adj" fmla="val 8339"/>
            </a:avLst>
          </a:prstGeom>
          <a:solidFill>
            <a:srgbClr val="E7E9EF"/>
          </a:solidFill>
          <a:ln/>
        </p:spPr>
      </p:sp>
      <p:sp>
        <p:nvSpPr>
          <p:cNvPr id="36" name="match-hex"/>
          <p:cNvSpPr/>
          <p:nvPr/>
        </p:nvSpPr>
        <p:spPr>
          <a:xfrm>
            <a:off x="850392" y="5356996"/>
            <a:ext cx="384048" cy="332586"/>
          </a:xfrm>
          <a:prstGeom prst="hexagon">
            <a:avLst/>
          </a:prstGeom>
          <a:solidFill>
            <a:srgbClr val="24366B"/>
          </a:solidFill>
          <a:ln/>
        </p:spPr>
      </p:sp>
      <p:sp>
        <p:nvSpPr>
          <p:cNvPr id="37" name="match-hex-label"/>
          <p:cNvSpPr txBox="1"/>
          <p:nvPr/>
        </p:nvSpPr>
        <p:spPr>
          <a:xfrm>
            <a:off x="8503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4689"/>
            <a:ext cx="2862380"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Vector</a:t>
            </a:r>
            <a:endParaRPr lang="en-US" sz="2000" dirty="0"/>
          </a:p>
        </p:txBody>
      </p:sp>
      <p:sp>
        <p:nvSpPr>
          <p:cNvPr id="39" name="match-card"/>
          <p:cNvSpPr/>
          <p:nvPr/>
        </p:nvSpPr>
        <p:spPr>
          <a:xfrm>
            <a:off x="4599740" y="5084689"/>
            <a:ext cx="6814715" cy="877199"/>
          </a:xfrm>
          <a:prstGeom prst="roundRect">
            <a:avLst>
              <a:gd name="adj" fmla="val 8339"/>
            </a:avLst>
          </a:prstGeom>
          <a:solidFill>
            <a:srgbClr val="F4EDDF"/>
          </a:solidFill>
          <a:ln/>
        </p:spPr>
      </p:sp>
      <p:sp>
        <p:nvSpPr>
          <p:cNvPr id="40" name="match-hex"/>
          <p:cNvSpPr/>
          <p:nvPr/>
        </p:nvSpPr>
        <p:spPr>
          <a:xfrm>
            <a:off x="4672892" y="5356996"/>
            <a:ext cx="384048" cy="332586"/>
          </a:xfrm>
          <a:prstGeom prst="hexagon">
            <a:avLst/>
          </a:prstGeom>
          <a:solidFill>
            <a:srgbClr val="B8862B"/>
          </a:solidFill>
          <a:ln/>
        </p:spPr>
      </p:sp>
      <p:sp>
        <p:nvSpPr>
          <p:cNvPr id="41" name="match-hex-label"/>
          <p:cNvSpPr txBox="1"/>
          <p:nvPr/>
        </p:nvSpPr>
        <p:spPr>
          <a:xfrm>
            <a:off x="4672892" y="535699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120948" y="5084689"/>
            <a:ext cx="6220355"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HIV, passed on by sexual contact or through a cut in the skin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Routes of transmission</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Routes of transmission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disease description and underline how it moves: coughs, touching, drinking, insect.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Coughs and sneezes release droplets into the air.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Touching, cuts and sexual contact are direct contact.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Anything swallowed is food and water; anything carried by an animal is a vector.</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Match the verb: breathed in, touched, swallowed, bitten.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Plants catch diseases too. For each of the four routes, say whether a plant pathogen could use it, and give one example from the unit where you can.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Someone eats chicken that has not been cooked properly and becomes ill. How did the pathogen get into their body?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contaminated food or water, into the digestive system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Through an insect bite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direct contact with another person's skin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droplets that they breathed in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a sneeze spreads flu</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 infected person coughs or sneezes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Droplets carrying the pathogen are released into the air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Another person breathes in the droplets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pathogen reproduces rapidly inside the new person's body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Toxins and cell damage cause symptoms such as fever  (D)</a:t>
            </a:r>
            <a:endParaRPr lang="en-US" sz="22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Droplets from the infected person's breathing system carry the pathogen; the next person breathes them in; the pathogen reproduces inside them; toxins and cell damage then cause the symptoms.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Routes of transmission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Airborne droplets  →  B  Flu, passed on when an infected person coughs or sneezes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Direct contact  →  D  HIV, passed on by sexual contact or through a cut in the skin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Contaminated food and water  →  C  Cholera, caught by drinking dirty water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Vector  →  A  Malaria, carried from person to person by mosquitoes</a:t>
            </a:r>
            <a:endParaRPr lang="en-US" sz="24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Droplets from coughs and sneezes spread flu; HIV passes by direct contact including sexual contact and through cuts; cholera is swallowed in dirty water; malaria is carried by the mosquito, a vector.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Someone eats chicken that has not been cooked properly and becomes ill. How did the pathogen get into their body?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In contaminated food or water, into the digestive system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Pathogens in undercooked food or dirty water are swallowed and enter the digestive system. That is the food and water route of transmission.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2: Pathogens and how they spread</dc:title>
  <dc:subject>Biology (Triple Science) · Year 10</dc:subject>
  <dc:creator>Dr Vitor Merissi de Carvalho</dc:creator>
  <cp:lastModifiedBy>Dr Vitor Merissi de Carvalho</cp:lastModifiedBy>
  <cp:revision>1</cp:revision>
  <dcterms:created xsi:type="dcterms:W3CDTF">2026-10-19T16:23:25Z</dcterms:created>
  <dcterms:modified xsi:type="dcterms:W3CDTF">2026-10-19T16:23:25Z</dcterms:modified>
</cp:coreProperties>
</file>