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c052f7ab-e121-cfed-2fb0-e84e0349aa94}">
          <p14:sldIdLst>
            <p14:sldId id="256"/>
          </p14:sldIdLst>
        </p14:section>
        <p14:section name="Gate" id="{bbfc9332-da81-85a9-12aa-61af14c2ad2b}">
          <p14:sldIdLst>
            <p14:sldId id="257"/>
            <p14:sldId id="258"/>
          </p14:sldIdLst>
        </p14:section>
        <p14:section name="Pre-teach" id="{ee0d32be-717a-3455-f825-05bd4be6ee80}">
          <p14:sldIdLst>
            <p14:sldId id="259"/>
            <p14:sldId id="260"/>
          </p14:sldIdLst>
        </p14:section>
        <p14:section name="Read-along" id="{a7171b27-5d2b-af5a-e0be-01c3c78d573c}">
          <p14:sldIdLst>
            <p14:sldId id="261"/>
            <p14:sldId id="262"/>
          </p14:sldIdLst>
        </p14:section>
        <p14:section name="Teach" id="{937e49ed-1a86-c27f-f14a-30d6319e90bd}">
          <p14:sldIdLst>
            <p14:sldId id="263"/>
            <p14:sldId id="264"/>
            <p14:sldId id="265"/>
            <p14:sldId id="266"/>
          </p14:sldIdLst>
        </p14:section>
        <p14:section name="Routes" id="{d13e071b-27c6-0bf5-a793-6ec80b711a1c}">
          <p14:sldIdLst>
            <p14:sldId id="267"/>
            <p14:sldId id="268"/>
            <p14:sldId id="269"/>
            <p14:sldId id="270"/>
          </p14:sldIdLst>
        </p14:section>
        <p14:section name="Close" id="{e9efe9d5-4f3a-c990-7498-db51ff0194c6}">
          <p14:sldIdLst>
            <p14:sldId id="271"/>
          </p14:sldIdLst>
        </p14:section>
        <p14:section name="Answers" id="{409c0657-9d7a-7dac-757c-8c3ee043098b}">
          <p14:sldIdLst>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2 of 6: Pathogens and how they spread. The four types of pathogen, how bacteria and viruses make you ill, and the routes pathogens take from one organism to the next.
This deck covers the department's lesson: 2 (B5.2 Pathogens and disease: What are pathogens, how do bacteria and viruses make us ill, and how are they spread?).
Read the big question aloud: "How do pathogens spread disease between people, animals and plants, and how can we stop them?"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What is a pathogen?  →  A   A microorganism that causes disease
2. Bacteria make you feel ill by releasing ___ that damage your cells.  →  toxins
3. Which statement about viruses is correct?  →  A   They can only reproduce inside living cells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A   A microorganism that causes disease. Pathogens are microorganisms that cause disease: bacteria, viruses, fungi and protists.
2. toxins. Bacteria divide rapidly and produce toxins (poisons). Your body's response to the damage they cause gives you the symptoms.
3. A   They can only reproduce inside living cells. Viruses take over living cells to make copies of themselves, which destroys the cells. They are far smaller than bacteria and need an electron microscope.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pathogen: a microorganism that causes disease. Example: "Bacteria, viruses, fungi and protists can all be pathogens."
• bacteria: tiny living cells; some cause disease, many are useful. Example: "Bacteria divide very quickly inside the body."
• virus: a very small pathogen that can only reproduce inside living cells. Example: "A virus takes over a cell and makes copies of itself."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toxin: a poison made by a pathogen. Example: "Toxins made by bacteria damage your cells and make you feel ill."
• vector: an animal that carries a pathogen from one organism to another. Example: "The mosquito is the vector that spreads malaria."
• droplet: a tiny drop of liquid released when you cough or sneeze. Example: "Flu spreads in droplets that other people breathe in."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A pathogen is a microorganism that causes disease.
2. There are four types: bacteria, viruses, fungi and protists.
3. Pathogens can infect plants as well as animals.
4. Bacteria are tiny cells that divide very rapidly inside the body.
5. Bacteria make toxins, which are poisons that damage your cells.
6. Viruses are much smaller than bacteria.
7. A virus gets inside a cell, makes copies of itself and destroys the cell.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Pathogens spread in different ways.
9. Coughs and sneezes release droplets that carry pathogens through the air.
10. Pathogens can also spread by direct contact, such as touching or through a cut.
11. Dirty water and uncooked food can carry pathogens into your digestive system.
12. Some insects carry pathogens from one person to another.
13. An animal that carries a pathogen is called a vector.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Four kinds of pathogen. Say it in your own words, then check understanding with a quick question: ask a pupil from the pre-teach group first, since they met these words and ideas before the lesson. Pupils try to recall before you re-explain.
Pathogens are microorganisms that cause disease. There are four types: bacteria, viruses, fungi and protists. They infect animals, including people, and they infect plants too.
Bacteria are living cells, far smaller than your own: usually only a few microns across (a micron is a thousandth of a millimetre), so you need a microscope to see them. Viruses are much smaller still and can only be seen with an electron microscope. A virus cannot reproduce on its own; it has to get inside a living cell to make copies of itself, which is why the deck calls viruses parasites.
Not all bacteria are harmful. We use bacteria to make yoghurt and cheese, to treat sewage and to make some medicines, and bacteria living in your intestines help to keep you healthy. Viruses, however, cause disease in every type of organism.
Tip: Write 'microorganism that causes disease' for pathogen. A vague word such as 'bug' does not earn the 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How bacteria and viruses make you ill. Say it in your own words, then check understanding with a quick question: ask a pupil from the pre-teach group first, since they met these words and ideas before the lesson. Pupils try to recall before you re-explain.
Once inside the body, bacteria divide rapidly by binary fission, so a few cells quickly become millions. As they grow they release toxins (poisons). The toxins damage your cells, and your body's response to that damage gives you the symptoms of disease.
Viruses work differently. A virus gets into one of your cells and takes it over, using the cell to make many new copies of the virus. The copies burst out, destroying the cell, and go on to infect other cells. Both bacteria and viruses reproduce very rapidly.
The common symptoms of infection are a high temperature or fever, a headache, a rash, vomiting and diarrhoea. They are caused by the way your body responds to the cell damage and to the toxins the pathogen produces.
Worked example — model it step by step, thinking aloud: Explain why a person with a bacterial infection develops a fever and feels unwell. (3 marks) (1) Start with what the bacteria do: they reproduce rapidly by binary fission inside the body. (2) Say what they release: toxins, which are poisons. (3) Finish with the effect: the toxins damage cells, and the body's response to this damage causes the fever and other symptoms. Answer: The bacteria divide rapidly by binary fission and release toxins; the toxins damage body cells, and the body's response to this damage causes the fever and other symptoms..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How bacteria and viruses make you ill. Say it in your own words, then check understanding with a quick question: ask a pupil from the pre-teach group first, since they met these words and ideas before the lesson. Pupils try to recall before you re-explain.
Once inside the body, bacteria divide rapidly by binary fission, so a few cells quickly become millions. As they grow they release toxins (poisons). The toxins damage your cells, and your body's response to that damage gives you the symptoms of disease.
Viruses work differently. A virus gets into one of your cells and takes it over, using the cell to make many new copies of the virus. The copies burst out, destroying the cell, and go on to infect other cells. Both bacteria and viruses reproduce very rapidly.
The common symptoms of infection are a high temperature or fever, a headache, a rash, vomiting and diarrhoea. They are caused by the way your body responds to the cell damage and to the toxins the pathogen produces.
Worked example — model it step by step, thinking aloud: Explain why a person with a bacterial infection develops a fever and feels unwell. (3 marks) (1) Start with what the bacteria do: they reproduce rapidly by binary fission inside the body. (2) Say what they release: toxins, which are poisons. (3) Finish with the effect: the toxins damage cells, and the body's response to this damage causes the fever and other symptoms. Answer: The bacteria divide rapidly by binary fission and release toxins; the toxins damage body cells, and the body's response to this damage causes the fever and other symptoms..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How pathogens spread. Say it in your own words, then check understanding with a quick question: ask a pupil from the pre-teach group first, since they met these words and ideas before the lesson. Pupils try to recall before you re-explain.
Different pathogens have different transmission routes. Airborne droplets: when an infected person coughs or sneezes, droplets carrying the pathogen are released and another person breathes them in. Flu, measles and TB spread this way.
Direct contact: a pathogen is passed when an infected person touches a healthy one, through a cut in the skin or by sexual contact; HIV is an example. In a field, a plant disease can pass from one plant to the plants touching it. Food and water: pathogens in dirty water (cholera) or undercooked food (Salmonella) are swallowed and enter the digestive system. Fungal spores can reach plants in water.
Vectors: some animals carry a pathogen from one organism to another without being harmed themselves. Mosquitoes carry the protist that causes malaria; aphids carry more than 150 plant diseases; houseflies and rats carry many human diseases.
Tip: In a 'how is it spread' answer, name the route AND the organism it carries pathogens between: 'in droplets, breathed in by another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How a sneeze spreads flu.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stages of droplet infection in the correct order.
Support — work through the steps with the group: (1) Start with the person who already has the disease. What do they do? (2) What comes out of them, and what is in it? (3) How does it get into the next person? (4) The pathogen must reproduce before there are enough of it to cause symptoms. Symptoms come last.
Parallel worked example for Support (model it, do not give the task answer): Put these stages of getting Salmonella food poisoning in order: bacteria release toxins in the gut; a person eats undercooked chicken; the person has cramps and vomiting; bacteria enter the digestive system. First the chicken is eaten.; The bacteria in it enter the digestive system.; They reproduce and release toxins.; The toxins cause the symptoms.. Answer: Eats undercooked chicken; bacteria enter the digestive system; bacteria release toxins; cramps and vomiting..
Core — reveal the hint only on request: Release, breathe in, reproduce, symptoms. The pathogen has to multiply before anyone feels ill.
Stretch — no help; when finished: Explain why a person can pass flu on before they feel ill themselves, using the idea that the pathogen reproduces inside the body.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How a sneeze spreads flu.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stages of droplet infection in the correct order.
Support — work through the steps with the group: (1) Start with the person who already has the disease. What do they do? (2) What comes out of them, and what is in it? (3) How does it get into the next person? (4) The pathogen must reproduce before there are enough of it to cause symptoms. Symptoms come last.
Parallel worked example for Support (model it, do not give the task answer): Put these stages of getting Salmonella food poisoning in order: bacteria release toxins in the gut; a person eats undercooked chicken; the person has cramps and vomiting; bacteria enter the digestive system. First the chicken is eaten.; The bacteria in it enter the digestive system.; They reproduce and release toxins.; The toxins cause the symptoms.. Answer: Eats undercooked chicken; bacteria enter the digestive system; bacteria release toxins; cramps and vomiting..
Core — reveal the hint only on request: Release, breathe in, reproduce, symptoms. The pathogen has to multiply before anyone feels ill.
Stretch — no help; when finished: Explain why a person can pass flu on before they feel ill themselves, using the idea that the pathogen reproduces inside the body.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Routes of transmission.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way pathogens are spread to a disease spread that way.
Support — work through the steps with the group: (1) Read each disease description and underline how it moves: coughs, touching, drinking, insect. (2) Coughs and sneezes release droplets into the air. (3) Touching, cuts and sexual contact are direct contact. (4) Anything swallowed is food and water; anything carried by an animal is a vector.
Parallel worked example for Support (model it, do not give the task answer): Match: measles; Salmonella food poisoning. Routes: airborne droplets; contaminated food. Measles spreads in droplets from sneezes and coughs: airborne droplets.; Salmonella bacteria are taken in with food: contaminated food.. Answer: Measles: airborne droplets. Salmonella: contaminated food..
Core — reveal the hint only on request: Match the verb: breathed in, touched, swallowed, bitten.
Stretch — no help; when finished: Plants catch diseases too. For each of the four routes, say whether a plant pathogen could use it, and give one example from the unit where you can.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Routes of transmission.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way pathogens are spread to a disease spread that way.
Support — work through the steps with the group: (1) Read each disease description and underline how it moves: coughs, touching, drinking, insect. (2) Coughs and sneezes release droplets into the air. (3) Touching, cuts and sexual contact are direct contact. (4) Anything swallowed is food and water; anything carried by an animal is a vector.
Parallel worked example for Support (model it, do not give the task answer): Match: measles; Salmonella food poisoning. Routes: airborne droplets; contaminated food. Measles spreads in droplets from sneezes and coughs: airborne droplets.; Salmonella bacteria are taken in with food: contaminated food.. Answer: Measles: airborne droplets. Salmonella: contaminated food..
Core — reveal the hint only on request: Match the verb: breathed in, touched, swallowed, bitten.
Stretch — no help; when finished: Plants catch diseases too. For each of the four routes, say whether a plant pathogen could use it, and give one example from the unit where you can.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Someone eats chicken that has not been cooked properly and becomes ill. How did the pathogen get into their body?
Answer: A   In contaminated food or water, into the digestive system. Pathogens in undercooked food or dirty water are swallowed and enter the digestive system. That is the food and water route of transmission.
Source of this question: module 3 task ("Into the body through the gut") from the manifest.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How a sneeze spreads flu. Reveal the answer; pupils mark their own work in a different colour, then read the "why" together. Same destination for every lane, so one answer serves the whole class.
Answer: An infected person coughs or sneezes  (A); Droplets carrying the pathogen are released into the air  (C); Another person breathes in the droplets  (E); The pathogen reproduces rapidly inside the new person's body  (B); Toxins and cell damage cause symptoms such as fever  (D)
Why: Droplets from the infected person's breathing system carry the pathogen; the next person breathes them in; the pathogen reproduces inside them; toxins and cell damage then cause the symptoms.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Routes of transmission. Reveal the answer; pupils mark their own work in a different colour, then read the "why" together. Same destination for every lane, so one answer serves the whole class.
Answer: Airborne droplets  →  B  Flu, passed on when an infected person coughs or sneezes; Direct contact  →  D  HIV, passed on by sexual contact or through a cut in the skin; Contaminated food and water  →  C  Cholera, caught by drinking dirty water; Vector  →  A  Malaria, carried from person to person by mosquitoes
Why: Droplets from coughs and sneezes spread flu; HIV passes by direct contact including sexual contact and through cuts; cholera is swallowed in dirty water; malaria is carried by the mosquito, a vector.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A   In contaminated food or water, into the digestive system
Why: Pathogens in undercooked food or dirty water are swallowed and enter the digestive system. That is the food and water route of transmission.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C8CDDA"/>
          </a:solidFill>
          <a:ln w="12700">
            <a:solidFill>
              <a:srgbClr val="C8CDDA"/>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Biology (Triple Science) · Year 10 · Communicable Diseases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C8CDDA"/>
          </a:solidFill>
          <a:ln w="12700">
            <a:solidFill>
              <a:srgbClr val="C8CDDA"/>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Biology (Triple Science) · Year 10 · Communicable Diseases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24366B"/>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CDD1DD"/>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24366B"/>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2</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24366B"/>
                </a:solidFill>
                <a:latin typeface="Calibri" pitchFamily="34" charset="0"/>
                <a:ea typeface="Calibri" pitchFamily="34" charset="-122"/>
                <a:cs typeface="Calibri" pitchFamily="34" charset="-120"/>
              </a:rPr>
              <a:t>Biology (Triple Science) · Year 10</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2/6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Communicable Diseases · AQA 8461</a:t>
            </a:r>
            <a:endParaRPr lang="en-US" sz="1800" dirty="0"/>
          </a:p>
        </p:txBody>
      </p:sp>
      <p:sp>
        <p:nvSpPr>
          <p:cNvPr id="10" name="deck-title"/>
          <p:cNvSpPr txBox="1"/>
          <p:nvPr/>
        </p:nvSpPr>
        <p:spPr>
          <a:xfrm>
            <a:off x="548640" y="239318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Pathogens and how they spread</a:t>
            </a:r>
            <a:endParaRPr lang="en-US" sz="4000" dirty="0"/>
          </a:p>
        </p:txBody>
      </p:sp>
      <p:sp>
        <p:nvSpPr>
          <p:cNvPr id="11" name="lessons-card"/>
          <p:cNvSpPr/>
          <p:nvPr/>
        </p:nvSpPr>
        <p:spPr>
          <a:xfrm>
            <a:off x="548640" y="4069588"/>
            <a:ext cx="5287975" cy="980440"/>
          </a:xfrm>
          <a:prstGeom prst="roundRect">
            <a:avLst>
              <a:gd name="adj" fmla="val 7461"/>
            </a:avLst>
          </a:prstGeom>
          <a:solidFill>
            <a:srgbClr val="E3E5EC"/>
          </a:solidFill>
          <a:ln/>
        </p:spPr>
      </p:sp>
      <p:sp>
        <p:nvSpPr>
          <p:cNvPr id="12" name="lessons"/>
          <p:cNvSpPr txBox="1"/>
          <p:nvPr/>
        </p:nvSpPr>
        <p:spPr>
          <a:xfrm>
            <a:off x="685800" y="416102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24366B"/>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2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B5.2 Pathogens and disease</a:t>
            </a:r>
            <a:endParaRPr lang="en-US" sz="2000" dirty="0"/>
          </a:p>
        </p:txBody>
      </p:sp>
      <p:sp>
        <p:nvSpPr>
          <p:cNvPr id="13" name="plate-frame"/>
          <p:cNvSpPr/>
          <p:nvPr/>
        </p:nvSpPr>
        <p:spPr>
          <a:xfrm>
            <a:off x="6248095" y="411480"/>
            <a:ext cx="5394960" cy="3130677"/>
          </a:xfrm>
          <a:prstGeom prst="rect">
            <a:avLst/>
          </a:prstGeom>
          <a:solidFill>
            <a:srgbClr val="F0E6D2"/>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Biology (Triple Science), Year 10">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E3E5EC"/>
          </a:solidFill>
          <a:ln w="12700">
            <a:solidFill>
              <a:srgbClr val="A1A9BF"/>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24366B"/>
                </a:solidFill>
                <a:latin typeface="Calibri" pitchFamily="34" charset="0"/>
                <a:ea typeface="Calibri" pitchFamily="34" charset="-122"/>
                <a:cs typeface="Calibri" pitchFamily="34" charset="-120"/>
              </a:rPr>
              <a:t>Big question</a:t>
            </a:r>
            <a:endParaRPr lang="en-US" sz="1800" dirty="0"/>
          </a:p>
          <a:p>
            <a:pPr algn="l" indent="0" marL="0">
              <a:buNone/>
            </a:pPr>
            <a:r>
              <a:rPr lang="en-US" sz="2200" i="1" dirty="0">
                <a:solidFill>
                  <a:srgbClr val="1E2229"/>
                </a:solidFill>
                <a:latin typeface="Cambria" pitchFamily="34" charset="0"/>
                <a:ea typeface="Cambria" pitchFamily="34" charset="-122"/>
                <a:cs typeface="Cambria" pitchFamily="34" charset="-120"/>
              </a:rPr>
              <a:t>How do pathogens spread disease between people, animals and plants, and how can we stop them?</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9EBF0"/>
          </a:solidFill>
          <a:ln w="12700">
            <a:solidFill>
              <a:srgbClr val="ACB3C7"/>
            </a:solidFill>
            <a:prstDash val="solid"/>
          </a:ln>
        </p:spPr>
      </p:sp>
      <p:sp>
        <p:nvSpPr>
          <p:cNvPr id="8" name="card-hex"/>
          <p:cNvSpPr/>
          <p:nvPr/>
        </p:nvSpPr>
        <p:spPr>
          <a:xfrm>
            <a:off x="731520" y="1572768"/>
            <a:ext cx="640080" cy="554309"/>
          </a:xfrm>
          <a:prstGeom prst="hexagon">
            <a:avLst/>
          </a:prstGeom>
          <a:solidFill>
            <a:srgbClr val="24366B"/>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What is a pathogen?</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A microorganism that causes disease</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Any microorganism</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A poison made by bacteria</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An insect that carries disease</a:t>
            </a:r>
            <a:endParaRPr lang="en-US" sz="2400" dirty="0"/>
          </a:p>
        </p:txBody>
      </p:sp>
      <p:sp>
        <p:nvSpPr>
          <p:cNvPr id="12" name="card"/>
          <p:cNvSpPr/>
          <p:nvPr/>
        </p:nvSpPr>
        <p:spPr>
          <a:xfrm>
            <a:off x="4338218" y="1389888"/>
            <a:ext cx="3515258" cy="4754880"/>
          </a:xfrm>
          <a:prstGeom prst="roundRect">
            <a:avLst>
              <a:gd name="adj" fmla="val 1561"/>
            </a:avLst>
          </a:prstGeom>
          <a:solidFill>
            <a:srgbClr val="E9EBF0"/>
          </a:solidFill>
          <a:ln w="12700">
            <a:solidFill>
              <a:srgbClr val="ACB3C7"/>
            </a:solidFill>
            <a:prstDash val="solid"/>
          </a:ln>
        </p:spPr>
      </p:sp>
      <p:sp>
        <p:nvSpPr>
          <p:cNvPr id="13" name="card-hex"/>
          <p:cNvSpPr/>
          <p:nvPr/>
        </p:nvSpPr>
        <p:spPr>
          <a:xfrm>
            <a:off x="4521098" y="1572768"/>
            <a:ext cx="640080" cy="554309"/>
          </a:xfrm>
          <a:prstGeom prst="hexagon">
            <a:avLst/>
          </a:prstGeom>
          <a:solidFill>
            <a:srgbClr val="24366B"/>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Bacteria make you feel ill by releasing ___ that damage your cells.</a:t>
            </a:r>
            <a:endParaRPr lang="en-US" sz="2400" dirty="0"/>
          </a:p>
          <a:p>
            <a:pPr algn="l" indent="0" marL="0">
              <a:buNone/>
            </a:pPr>
            <a:r>
              <a:rPr lang="en-US" sz="2400" b="1" dirty="0">
                <a:solidFill>
                  <a:srgbClr val="24366B"/>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toxins  ·  spores  ·  droplets</a:t>
            </a:r>
            <a:endParaRPr lang="en-US" sz="2400" dirty="0"/>
          </a:p>
        </p:txBody>
      </p:sp>
      <p:sp>
        <p:nvSpPr>
          <p:cNvPr id="17" name="card"/>
          <p:cNvSpPr/>
          <p:nvPr/>
        </p:nvSpPr>
        <p:spPr>
          <a:xfrm>
            <a:off x="8127797" y="1389888"/>
            <a:ext cx="3515258" cy="4754880"/>
          </a:xfrm>
          <a:prstGeom prst="roundRect">
            <a:avLst>
              <a:gd name="adj" fmla="val 1561"/>
            </a:avLst>
          </a:prstGeom>
          <a:solidFill>
            <a:srgbClr val="E9EBF0"/>
          </a:solidFill>
          <a:ln w="12700">
            <a:solidFill>
              <a:srgbClr val="ACB3C7"/>
            </a:solidFill>
            <a:prstDash val="solid"/>
          </a:ln>
        </p:spPr>
      </p:sp>
      <p:sp>
        <p:nvSpPr>
          <p:cNvPr id="18" name="card-hex"/>
          <p:cNvSpPr/>
          <p:nvPr/>
        </p:nvSpPr>
        <p:spPr>
          <a:xfrm>
            <a:off x="8310677" y="1572768"/>
            <a:ext cx="640080" cy="554309"/>
          </a:xfrm>
          <a:prstGeom prst="hexagon">
            <a:avLst/>
          </a:prstGeom>
          <a:solidFill>
            <a:srgbClr val="24366B"/>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Which statement about viruses is correct?</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They can only reproduce inside living cells</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They are larger than bacteria</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They make you ill by releasing toxins</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They can be seen with a school light microscope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9EBF0"/>
          </a:solidFill>
          <a:ln w="12700">
            <a:solidFill>
              <a:srgbClr val="ACB3C7"/>
            </a:solidFill>
            <a:prstDash val="solid"/>
          </a:ln>
        </p:spPr>
      </p:sp>
      <p:sp>
        <p:nvSpPr>
          <p:cNvPr id="8" name="card-hex"/>
          <p:cNvSpPr/>
          <p:nvPr/>
        </p:nvSpPr>
        <p:spPr>
          <a:xfrm>
            <a:off x="731520" y="1572768"/>
            <a:ext cx="640080" cy="554309"/>
          </a:xfrm>
          <a:prstGeom prst="hexagon">
            <a:avLst/>
          </a:prstGeom>
          <a:solidFill>
            <a:srgbClr val="24366B"/>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955040"/>
          </a:xfrm>
          <a:prstGeom prst="roundRect">
            <a:avLst>
              <a:gd name="adj" fmla="val 11489"/>
            </a:avLst>
          </a:prstGeom>
          <a:solidFill>
            <a:srgbClr val="EBDDC4"/>
          </a:solidFill>
          <a:ln w="19050">
            <a:solidFill>
              <a:srgbClr val="B8862B"/>
            </a:solidFill>
            <a:prstDash val="solid"/>
          </a:ln>
        </p:spPr>
      </p:sp>
      <p:sp>
        <p:nvSpPr>
          <p:cNvPr id="12" name="answer"/>
          <p:cNvSpPr txBox="1"/>
          <p:nvPr/>
        </p:nvSpPr>
        <p:spPr>
          <a:xfrm>
            <a:off x="822960" y="2428829"/>
            <a:ext cx="2966618"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A microorganism that causes disease</a:t>
            </a:r>
            <a:endParaRPr lang="en-US" sz="2200" dirty="0"/>
          </a:p>
        </p:txBody>
      </p:sp>
      <p:sp>
        <p:nvSpPr>
          <p:cNvPr id="13" name="card-body"/>
          <p:cNvSpPr txBox="1"/>
          <p:nvPr/>
        </p:nvSpPr>
        <p:spPr>
          <a:xfrm>
            <a:off x="731520" y="3493597"/>
            <a:ext cx="3149498" cy="2514011"/>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What is a pathogen?</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Pathogens are microorganisms that cause disease: bacteria, viruses, fungi and protists.</a:t>
            </a:r>
            <a:endParaRPr lang="en-US" sz="2200" dirty="0"/>
          </a:p>
        </p:txBody>
      </p:sp>
      <p:sp>
        <p:nvSpPr>
          <p:cNvPr id="14" name="card"/>
          <p:cNvSpPr/>
          <p:nvPr/>
        </p:nvSpPr>
        <p:spPr>
          <a:xfrm>
            <a:off x="4338218" y="1389888"/>
            <a:ext cx="3515258" cy="4754880"/>
          </a:xfrm>
          <a:prstGeom prst="roundRect">
            <a:avLst>
              <a:gd name="adj" fmla="val 1561"/>
            </a:avLst>
          </a:prstGeom>
          <a:solidFill>
            <a:srgbClr val="E9EBF0"/>
          </a:solidFill>
          <a:ln w="12700">
            <a:solidFill>
              <a:srgbClr val="ACB3C7"/>
            </a:solidFill>
            <a:prstDash val="solid"/>
          </a:ln>
        </p:spPr>
      </p:sp>
      <p:sp>
        <p:nvSpPr>
          <p:cNvPr id="15" name="card-hex"/>
          <p:cNvSpPr/>
          <p:nvPr/>
        </p:nvSpPr>
        <p:spPr>
          <a:xfrm>
            <a:off x="4521098" y="1572768"/>
            <a:ext cx="640080" cy="554309"/>
          </a:xfrm>
          <a:prstGeom prst="hexagon">
            <a:avLst/>
          </a:prstGeom>
          <a:solidFill>
            <a:srgbClr val="24366B"/>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BDDC4"/>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toxins</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Bacteria make you feel ill by releasing ___ that damage your cells.</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Bacteria divide rapidly and produce toxins (poisons). Your body's response to the damage they cause gives you the symptoms.</a:t>
            </a:r>
            <a:endParaRPr lang="en-US" sz="2000" dirty="0"/>
          </a:p>
        </p:txBody>
      </p:sp>
      <p:sp>
        <p:nvSpPr>
          <p:cNvPr id="21" name="card"/>
          <p:cNvSpPr/>
          <p:nvPr/>
        </p:nvSpPr>
        <p:spPr>
          <a:xfrm>
            <a:off x="8127797" y="1389888"/>
            <a:ext cx="3515258" cy="4754880"/>
          </a:xfrm>
          <a:prstGeom prst="roundRect">
            <a:avLst>
              <a:gd name="adj" fmla="val 1561"/>
            </a:avLst>
          </a:prstGeom>
          <a:solidFill>
            <a:srgbClr val="E9EBF0"/>
          </a:solidFill>
          <a:ln w="12700">
            <a:solidFill>
              <a:srgbClr val="ACB3C7"/>
            </a:solidFill>
            <a:prstDash val="solid"/>
          </a:ln>
        </p:spPr>
      </p:sp>
      <p:sp>
        <p:nvSpPr>
          <p:cNvPr id="22" name="card-hex"/>
          <p:cNvSpPr/>
          <p:nvPr/>
        </p:nvSpPr>
        <p:spPr>
          <a:xfrm>
            <a:off x="8310677" y="1572768"/>
            <a:ext cx="640080" cy="554309"/>
          </a:xfrm>
          <a:prstGeom prst="hexagon">
            <a:avLst/>
          </a:prstGeom>
          <a:solidFill>
            <a:srgbClr val="24366B"/>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1295908"/>
          </a:xfrm>
          <a:prstGeom prst="roundRect">
            <a:avLst>
              <a:gd name="adj" fmla="val 8467"/>
            </a:avLst>
          </a:prstGeom>
          <a:solidFill>
            <a:srgbClr val="EBDDC4"/>
          </a:solidFill>
          <a:ln w="19050">
            <a:solidFill>
              <a:srgbClr val="B8862B"/>
            </a:solidFill>
            <a:prstDash val="solid"/>
          </a:ln>
        </p:spPr>
      </p:sp>
      <p:sp>
        <p:nvSpPr>
          <p:cNvPr id="26" name="answer"/>
          <p:cNvSpPr txBox="1"/>
          <p:nvPr/>
        </p:nvSpPr>
        <p:spPr>
          <a:xfrm>
            <a:off x="8402117" y="2428829"/>
            <a:ext cx="2966618"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They can only reproduce inside living cells</a:t>
            </a:r>
            <a:endParaRPr lang="en-US" sz="2200" dirty="0"/>
          </a:p>
        </p:txBody>
      </p:sp>
      <p:sp>
        <p:nvSpPr>
          <p:cNvPr id="27" name="card-body"/>
          <p:cNvSpPr txBox="1"/>
          <p:nvPr/>
        </p:nvSpPr>
        <p:spPr>
          <a:xfrm>
            <a:off x="8310677" y="3834465"/>
            <a:ext cx="3149498" cy="2173143"/>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Viruses take over living cells to make copies of themselves, which destroys the cells. They are far smaller than bacteria and need an electron microscope.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E7E9EF"/>
          </a:solidFill>
          <a:ln w="12700">
            <a:solidFill>
              <a:srgbClr val="A1A9BF"/>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24366B"/>
                </a:solidFill>
                <a:latin typeface="Cambria" pitchFamily="34" charset="0"/>
                <a:ea typeface="Cambria" pitchFamily="34" charset="-122"/>
                <a:cs typeface="Cambria" pitchFamily="34" charset="-120"/>
              </a:rPr>
              <a:t>pathogen</a:t>
            </a:r>
            <a:endParaRPr lang="en-US" sz="2600" dirty="0"/>
          </a:p>
        </p:txBody>
      </p:sp>
      <p:sp>
        <p:nvSpPr>
          <p:cNvPr id="11" name="word-rule"/>
          <p:cNvSpPr/>
          <p:nvPr/>
        </p:nvSpPr>
        <p:spPr>
          <a:xfrm>
            <a:off x="731520" y="2129028"/>
            <a:ext cx="3149498" cy="0"/>
          </a:xfrm>
          <a:prstGeom prst="line">
            <a:avLst/>
          </a:prstGeom>
          <a:ln w="12700">
            <a:solidFill>
              <a:srgbClr val="A1A9BF"/>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microorganism that causes disease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Bacteria, viruses, fungi and protists can all be pathogens.</a:t>
            </a:r>
            <a:endParaRPr lang="en-US" sz="2200" dirty="0"/>
          </a:p>
        </p:txBody>
      </p:sp>
      <p:sp>
        <p:nvSpPr>
          <p:cNvPr id="13" name="word-card"/>
          <p:cNvSpPr/>
          <p:nvPr/>
        </p:nvSpPr>
        <p:spPr>
          <a:xfrm>
            <a:off x="4338218" y="1389888"/>
            <a:ext cx="3515258" cy="4754880"/>
          </a:xfrm>
          <a:prstGeom prst="roundRect">
            <a:avLst>
              <a:gd name="adj" fmla="val 1561"/>
            </a:avLst>
          </a:prstGeom>
          <a:solidFill>
            <a:srgbClr val="E7E9EF"/>
          </a:solidFill>
          <a:ln w="12700">
            <a:solidFill>
              <a:srgbClr val="A1A9BF"/>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24366B"/>
                </a:solidFill>
                <a:latin typeface="Cambria" pitchFamily="34" charset="0"/>
                <a:ea typeface="Cambria" pitchFamily="34" charset="-122"/>
                <a:cs typeface="Cambria" pitchFamily="34" charset="-120"/>
              </a:rPr>
              <a:t>bacteria</a:t>
            </a:r>
            <a:endParaRPr lang="en-US" sz="2600" dirty="0"/>
          </a:p>
        </p:txBody>
      </p:sp>
      <p:sp>
        <p:nvSpPr>
          <p:cNvPr id="17" name="word-rule"/>
          <p:cNvSpPr/>
          <p:nvPr/>
        </p:nvSpPr>
        <p:spPr>
          <a:xfrm>
            <a:off x="4521098" y="2129028"/>
            <a:ext cx="3149498" cy="0"/>
          </a:xfrm>
          <a:prstGeom prst="line">
            <a:avLst/>
          </a:prstGeom>
          <a:ln w="12700">
            <a:solidFill>
              <a:srgbClr val="A1A9BF"/>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tiny living cells; some cause disease, many are useful</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Bacteria divide very quickly inside the body.</a:t>
            </a:r>
            <a:endParaRPr lang="en-US" sz="2200" dirty="0"/>
          </a:p>
        </p:txBody>
      </p:sp>
      <p:sp>
        <p:nvSpPr>
          <p:cNvPr id="19" name="word-card"/>
          <p:cNvSpPr/>
          <p:nvPr/>
        </p:nvSpPr>
        <p:spPr>
          <a:xfrm>
            <a:off x="8127797" y="1389888"/>
            <a:ext cx="3515258" cy="4754880"/>
          </a:xfrm>
          <a:prstGeom prst="roundRect">
            <a:avLst>
              <a:gd name="adj" fmla="val 1561"/>
            </a:avLst>
          </a:prstGeom>
          <a:solidFill>
            <a:srgbClr val="E7E9EF"/>
          </a:solidFill>
          <a:ln w="12700">
            <a:solidFill>
              <a:srgbClr val="A1A9BF"/>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24366B"/>
                </a:solidFill>
                <a:latin typeface="Cambria" pitchFamily="34" charset="0"/>
                <a:ea typeface="Cambria" pitchFamily="34" charset="-122"/>
                <a:cs typeface="Cambria" pitchFamily="34" charset="-120"/>
              </a:rPr>
              <a:t>virus</a:t>
            </a:r>
            <a:endParaRPr lang="en-US" sz="2600" dirty="0"/>
          </a:p>
        </p:txBody>
      </p:sp>
      <p:sp>
        <p:nvSpPr>
          <p:cNvPr id="23" name="word-rule"/>
          <p:cNvSpPr/>
          <p:nvPr/>
        </p:nvSpPr>
        <p:spPr>
          <a:xfrm>
            <a:off x="8310677" y="2129028"/>
            <a:ext cx="3149498" cy="0"/>
          </a:xfrm>
          <a:prstGeom prst="line">
            <a:avLst/>
          </a:prstGeom>
          <a:ln w="12700">
            <a:solidFill>
              <a:srgbClr val="A1A9BF"/>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very small pathogen that can only reproduce inside living cells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virus takes over a cell and makes copies of itself.</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E7E9EF"/>
          </a:solidFill>
          <a:ln w="12700">
            <a:solidFill>
              <a:srgbClr val="A1A9BF"/>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24366B"/>
                </a:solidFill>
                <a:latin typeface="Cambria" pitchFamily="34" charset="0"/>
                <a:ea typeface="Cambria" pitchFamily="34" charset="-122"/>
                <a:cs typeface="Cambria" pitchFamily="34" charset="-120"/>
              </a:rPr>
              <a:t>toxin</a:t>
            </a:r>
            <a:endParaRPr lang="en-US" sz="2600" dirty="0"/>
          </a:p>
        </p:txBody>
      </p:sp>
      <p:sp>
        <p:nvSpPr>
          <p:cNvPr id="11" name="word-rule"/>
          <p:cNvSpPr/>
          <p:nvPr/>
        </p:nvSpPr>
        <p:spPr>
          <a:xfrm>
            <a:off x="731520" y="2129028"/>
            <a:ext cx="3149498" cy="0"/>
          </a:xfrm>
          <a:prstGeom prst="line">
            <a:avLst/>
          </a:prstGeom>
          <a:ln w="12700">
            <a:solidFill>
              <a:srgbClr val="A1A9BF"/>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poison made by a pathogen</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Toxins made by bacteria damage your cells and make you feel ill.</a:t>
            </a:r>
            <a:endParaRPr lang="en-US" sz="2200" dirty="0"/>
          </a:p>
        </p:txBody>
      </p:sp>
      <p:sp>
        <p:nvSpPr>
          <p:cNvPr id="13" name="word-card"/>
          <p:cNvSpPr/>
          <p:nvPr/>
        </p:nvSpPr>
        <p:spPr>
          <a:xfrm>
            <a:off x="4338218" y="1389888"/>
            <a:ext cx="3515258" cy="4754880"/>
          </a:xfrm>
          <a:prstGeom prst="roundRect">
            <a:avLst>
              <a:gd name="adj" fmla="val 1561"/>
            </a:avLst>
          </a:prstGeom>
          <a:solidFill>
            <a:srgbClr val="E7E9EF"/>
          </a:solidFill>
          <a:ln w="12700">
            <a:solidFill>
              <a:srgbClr val="A1A9BF"/>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24366B"/>
                </a:solidFill>
                <a:latin typeface="Cambria" pitchFamily="34" charset="0"/>
                <a:ea typeface="Cambria" pitchFamily="34" charset="-122"/>
                <a:cs typeface="Cambria" pitchFamily="34" charset="-120"/>
              </a:rPr>
              <a:t>vector</a:t>
            </a:r>
            <a:endParaRPr lang="en-US" sz="2600" dirty="0"/>
          </a:p>
        </p:txBody>
      </p:sp>
      <p:sp>
        <p:nvSpPr>
          <p:cNvPr id="17" name="word-rule"/>
          <p:cNvSpPr/>
          <p:nvPr/>
        </p:nvSpPr>
        <p:spPr>
          <a:xfrm>
            <a:off x="4521098" y="2129028"/>
            <a:ext cx="3149498" cy="0"/>
          </a:xfrm>
          <a:prstGeom prst="line">
            <a:avLst/>
          </a:prstGeom>
          <a:ln w="12700">
            <a:solidFill>
              <a:srgbClr val="A1A9BF"/>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an animal that carries a pathogen from one organism to another</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mosquito is the vector that spreads malaria.</a:t>
            </a:r>
            <a:endParaRPr lang="en-US" sz="2200" dirty="0"/>
          </a:p>
        </p:txBody>
      </p:sp>
      <p:sp>
        <p:nvSpPr>
          <p:cNvPr id="19" name="word-card"/>
          <p:cNvSpPr/>
          <p:nvPr/>
        </p:nvSpPr>
        <p:spPr>
          <a:xfrm>
            <a:off x="8127797" y="1389888"/>
            <a:ext cx="3515258" cy="4754880"/>
          </a:xfrm>
          <a:prstGeom prst="roundRect">
            <a:avLst>
              <a:gd name="adj" fmla="val 1561"/>
            </a:avLst>
          </a:prstGeom>
          <a:solidFill>
            <a:srgbClr val="E7E9EF"/>
          </a:solidFill>
          <a:ln w="12700">
            <a:solidFill>
              <a:srgbClr val="A1A9BF"/>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24366B"/>
                </a:solidFill>
                <a:latin typeface="Cambria" pitchFamily="34" charset="0"/>
                <a:ea typeface="Cambria" pitchFamily="34" charset="-122"/>
                <a:cs typeface="Cambria" pitchFamily="34" charset="-120"/>
              </a:rPr>
              <a:t>droplet</a:t>
            </a:r>
            <a:endParaRPr lang="en-US" sz="2600" dirty="0"/>
          </a:p>
        </p:txBody>
      </p:sp>
      <p:sp>
        <p:nvSpPr>
          <p:cNvPr id="23" name="word-rule"/>
          <p:cNvSpPr/>
          <p:nvPr/>
        </p:nvSpPr>
        <p:spPr>
          <a:xfrm>
            <a:off x="8310677" y="2129028"/>
            <a:ext cx="3149498" cy="0"/>
          </a:xfrm>
          <a:prstGeom prst="line">
            <a:avLst/>
          </a:prstGeom>
          <a:ln w="12700">
            <a:solidFill>
              <a:srgbClr val="A1A9BF"/>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tiny drop of liquid released when you cough or sneeze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Flu spreads in droplets that other people breathe in.</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24366B"/>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9EBF0"/>
          </a:solidFill>
          <a:ln w="12700">
            <a:solidFill>
              <a:srgbClr val="B7BDCE"/>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a:t>
            </a:r>
            <a:pPr algn="l" indent="0" marL="0">
              <a:spcAft>
                <a:spcPts val="600"/>
              </a:spcAft>
              <a:buNone/>
            </a:pPr>
            <a:r>
              <a:rPr lang="en-US" sz="2400" b="1" dirty="0">
                <a:solidFill>
                  <a:srgbClr val="24366B"/>
                </a:solidFill>
                <a:latin typeface="Calibri" pitchFamily="34" charset="0"/>
                <a:ea typeface="Calibri" pitchFamily="34" charset="-122"/>
                <a:cs typeface="Calibri" pitchFamily="34" charset="-120"/>
              </a:rPr>
              <a:t>pathogen</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is a microorganism that causes disease.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There are four types: </a:t>
            </a:r>
            <a:pPr algn="l" indent="0" marL="0">
              <a:spcAft>
                <a:spcPts val="600"/>
              </a:spcAft>
              <a:buNone/>
            </a:pPr>
            <a:r>
              <a:rPr lang="en-US" sz="2400" b="1" dirty="0">
                <a:solidFill>
                  <a:srgbClr val="24366B"/>
                </a:solidFill>
                <a:latin typeface="Calibri" pitchFamily="34" charset="0"/>
                <a:ea typeface="Calibri" pitchFamily="34" charset="-122"/>
                <a:cs typeface="Calibri" pitchFamily="34" charset="-120"/>
              </a:rPr>
              <a:t>bacteria</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a:t>
            </a:r>
            <a:pPr algn="l" indent="0" marL="0">
              <a:spcAft>
                <a:spcPts val="600"/>
              </a:spcAft>
              <a:buNone/>
            </a:pPr>
            <a:r>
              <a:rPr lang="en-US" sz="2400" b="1" dirty="0">
                <a:solidFill>
                  <a:srgbClr val="24366B"/>
                </a:solidFill>
                <a:latin typeface="Calibri" pitchFamily="34" charset="0"/>
                <a:ea typeface="Calibri" pitchFamily="34" charset="-122"/>
                <a:cs typeface="Calibri" pitchFamily="34" charset="-120"/>
              </a:rPr>
              <a:t>viruses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fungi and protists.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b="1" dirty="0">
                <a:solidFill>
                  <a:srgbClr val="24366B"/>
                </a:solidFill>
                <a:latin typeface="Calibri" pitchFamily="34" charset="0"/>
                <a:ea typeface="Calibri" pitchFamily="34" charset="-122"/>
                <a:cs typeface="Calibri" pitchFamily="34" charset="-120"/>
              </a:rPr>
              <a:t>Pathogens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can infect plants as well as animals.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b="1" dirty="0">
                <a:solidFill>
                  <a:srgbClr val="24366B"/>
                </a:solidFill>
                <a:latin typeface="Calibri" pitchFamily="34" charset="0"/>
                <a:ea typeface="Calibri" pitchFamily="34" charset="-122"/>
                <a:cs typeface="Calibri" pitchFamily="34" charset="-120"/>
              </a:rPr>
              <a:t>Bacteria</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are tiny cells that divide very rapidly inside the body.</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b="1" dirty="0">
                <a:solidFill>
                  <a:srgbClr val="24366B"/>
                </a:solidFill>
                <a:latin typeface="Calibri" pitchFamily="34" charset="0"/>
                <a:ea typeface="Calibri" pitchFamily="34" charset="-122"/>
                <a:cs typeface="Calibri" pitchFamily="34" charset="-120"/>
              </a:rPr>
              <a:t>Bacteria</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make </a:t>
            </a:r>
            <a:pPr algn="l" indent="0" marL="0">
              <a:spcAft>
                <a:spcPts val="600"/>
              </a:spcAft>
              <a:buNone/>
            </a:pPr>
            <a:r>
              <a:rPr lang="en-US" sz="2400" b="1" dirty="0">
                <a:solidFill>
                  <a:srgbClr val="24366B"/>
                </a:solidFill>
                <a:latin typeface="Calibri" pitchFamily="34" charset="0"/>
                <a:ea typeface="Calibri" pitchFamily="34" charset="-122"/>
                <a:cs typeface="Calibri" pitchFamily="34" charset="-120"/>
              </a:rPr>
              <a:t>toxins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which are poisons that damage your cells.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b="1" dirty="0">
                <a:solidFill>
                  <a:srgbClr val="24366B"/>
                </a:solidFill>
                <a:latin typeface="Calibri" pitchFamily="34" charset="0"/>
                <a:ea typeface="Calibri" pitchFamily="34" charset="-122"/>
                <a:cs typeface="Calibri" pitchFamily="34" charset="-120"/>
              </a:rPr>
              <a:t>Viruses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are much smaller than </a:t>
            </a:r>
            <a:pPr algn="l" indent="0" marL="0">
              <a:spcAft>
                <a:spcPts val="600"/>
              </a:spcAft>
              <a:buNone/>
            </a:pPr>
            <a:r>
              <a:rPr lang="en-US" sz="2400" b="1" dirty="0">
                <a:solidFill>
                  <a:srgbClr val="24366B"/>
                </a:solidFill>
                <a:latin typeface="Calibri" pitchFamily="34" charset="0"/>
                <a:ea typeface="Calibri" pitchFamily="34" charset="-122"/>
                <a:cs typeface="Calibri" pitchFamily="34" charset="-120"/>
              </a:rPr>
              <a:t>bacteria</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a:t>
            </a:r>
            <a:pPr algn="l" indent="0" marL="0">
              <a:spcAft>
                <a:spcPts val="600"/>
              </a:spcAft>
              <a:buNone/>
            </a:pPr>
            <a:r>
              <a:rPr lang="en-US" sz="2400" b="1" dirty="0">
                <a:solidFill>
                  <a:srgbClr val="24366B"/>
                </a:solidFill>
                <a:latin typeface="Calibri" pitchFamily="34" charset="0"/>
                <a:ea typeface="Calibri" pitchFamily="34" charset="-122"/>
                <a:cs typeface="Calibri" pitchFamily="34" charset="-120"/>
              </a:rPr>
              <a:t>virus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gets inside a cell, makes copies of itself and destroys the cell.</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24366B"/>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9EBF0"/>
          </a:solidFill>
          <a:ln w="12700">
            <a:solidFill>
              <a:srgbClr val="B7BDCE"/>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b="1" dirty="0">
                <a:solidFill>
                  <a:srgbClr val="24366B"/>
                </a:solidFill>
                <a:latin typeface="Calibri" pitchFamily="34" charset="0"/>
                <a:ea typeface="Calibri" pitchFamily="34" charset="-122"/>
                <a:cs typeface="Calibri" pitchFamily="34" charset="-120"/>
              </a:rPr>
              <a:t>Pathogens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spread in different ways.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Coughs and sneezes release </a:t>
            </a:r>
            <a:pPr algn="l" indent="0" marL="0">
              <a:spcAft>
                <a:spcPts val="600"/>
              </a:spcAft>
              <a:buNone/>
            </a:pPr>
            <a:r>
              <a:rPr lang="en-US" sz="2400" b="1" dirty="0">
                <a:solidFill>
                  <a:srgbClr val="24366B"/>
                </a:solidFill>
                <a:latin typeface="Calibri" pitchFamily="34" charset="0"/>
                <a:ea typeface="Calibri" pitchFamily="34" charset="-122"/>
                <a:cs typeface="Calibri" pitchFamily="34" charset="-120"/>
              </a:rPr>
              <a:t>droplets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that carry </a:t>
            </a:r>
            <a:pPr algn="l" indent="0" marL="0">
              <a:spcAft>
                <a:spcPts val="600"/>
              </a:spcAft>
              <a:buNone/>
            </a:pPr>
            <a:r>
              <a:rPr lang="en-US" sz="2400" b="1" dirty="0">
                <a:solidFill>
                  <a:srgbClr val="24366B"/>
                </a:solidFill>
                <a:latin typeface="Calibri" pitchFamily="34" charset="0"/>
                <a:ea typeface="Calibri" pitchFamily="34" charset="-122"/>
                <a:cs typeface="Calibri" pitchFamily="34" charset="-120"/>
              </a:rPr>
              <a:t>pathogens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through the air.</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b="1" dirty="0">
                <a:solidFill>
                  <a:srgbClr val="24366B"/>
                </a:solidFill>
                <a:latin typeface="Calibri" pitchFamily="34" charset="0"/>
                <a:ea typeface="Calibri" pitchFamily="34" charset="-122"/>
                <a:cs typeface="Calibri" pitchFamily="34" charset="-120"/>
              </a:rPr>
              <a:t>Pathogens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can also spread by direct contact, such as touching or through a cut.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Dirty water and uncooked food can carry </a:t>
            </a:r>
            <a:pPr algn="l" indent="0" marL="0">
              <a:spcAft>
                <a:spcPts val="600"/>
              </a:spcAft>
              <a:buNone/>
            </a:pPr>
            <a:r>
              <a:rPr lang="en-US" sz="2400" b="1" dirty="0">
                <a:solidFill>
                  <a:srgbClr val="24366B"/>
                </a:solidFill>
                <a:latin typeface="Calibri" pitchFamily="34" charset="0"/>
                <a:ea typeface="Calibri" pitchFamily="34" charset="-122"/>
                <a:cs typeface="Calibri" pitchFamily="34" charset="-120"/>
              </a:rPr>
              <a:t>pathogens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into your digestive system.</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Some insects carry </a:t>
            </a:r>
            <a:pPr algn="l" indent="0" marL="0">
              <a:spcAft>
                <a:spcPts val="600"/>
              </a:spcAft>
              <a:buNone/>
            </a:pPr>
            <a:r>
              <a:rPr lang="en-US" sz="2400" b="1" dirty="0">
                <a:solidFill>
                  <a:srgbClr val="24366B"/>
                </a:solidFill>
                <a:latin typeface="Calibri" pitchFamily="34" charset="0"/>
                <a:ea typeface="Calibri" pitchFamily="34" charset="-122"/>
                <a:cs typeface="Calibri" pitchFamily="34" charset="-120"/>
              </a:rPr>
              <a:t>pathogens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from one person to another.</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An animal that carries a </a:t>
            </a:r>
            <a:pPr algn="l" indent="0" marL="0">
              <a:spcAft>
                <a:spcPts val="600"/>
              </a:spcAft>
              <a:buNone/>
            </a:pPr>
            <a:r>
              <a:rPr lang="en-US" sz="2400" b="1" dirty="0">
                <a:solidFill>
                  <a:srgbClr val="24366B"/>
                </a:solidFill>
                <a:latin typeface="Calibri" pitchFamily="34" charset="0"/>
                <a:ea typeface="Calibri" pitchFamily="34" charset="-122"/>
                <a:cs typeface="Calibri" pitchFamily="34" charset="-120"/>
              </a:rPr>
              <a:t>pathogen</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is called a </a:t>
            </a:r>
            <a:pPr algn="l" indent="0" marL="0">
              <a:spcAft>
                <a:spcPts val="600"/>
              </a:spcAft>
              <a:buNone/>
            </a:pPr>
            <a:r>
              <a:rPr lang="en-US" sz="2400" b="1" dirty="0">
                <a:solidFill>
                  <a:srgbClr val="24366B"/>
                </a:solidFill>
                <a:latin typeface="Calibri" pitchFamily="34" charset="0"/>
                <a:ea typeface="Calibri" pitchFamily="34" charset="-122"/>
                <a:cs typeface="Calibri" pitchFamily="34" charset="-120"/>
              </a:rPr>
              <a:t>vector</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Four kinds of pathogen</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Write 'microorganism that causes disease' for pathogen. A vague word such as 'bug' does not earn the mark.</a:t>
            </a:r>
            <a:endParaRPr lang="en-US" sz="1800" dirty="0"/>
          </a:p>
        </p:txBody>
      </p:sp>
      <p:sp>
        <p:nvSpPr>
          <p:cNvPr id="11" name="point-card"/>
          <p:cNvSpPr/>
          <p:nvPr/>
        </p:nvSpPr>
        <p:spPr>
          <a:xfrm>
            <a:off x="548640" y="1389888"/>
            <a:ext cx="3515258" cy="3686048"/>
          </a:xfrm>
          <a:prstGeom prst="roundRect">
            <a:avLst>
              <a:gd name="adj" fmla="val 1561"/>
            </a:avLst>
          </a:prstGeom>
          <a:solidFill>
            <a:srgbClr val="E3E5EC"/>
          </a:solidFill>
          <a:ln/>
        </p:spPr>
      </p:sp>
      <p:sp>
        <p:nvSpPr>
          <p:cNvPr id="12" name="point-hex"/>
          <p:cNvSpPr/>
          <p:nvPr/>
        </p:nvSpPr>
        <p:spPr>
          <a:xfrm>
            <a:off x="731520" y="1572768"/>
            <a:ext cx="685800" cy="593903"/>
          </a:xfrm>
          <a:prstGeom prst="hexagon">
            <a:avLst/>
          </a:prstGeom>
          <a:solidFill>
            <a:srgbClr val="24366B"/>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Pathogens are microorganisms that cause disease. There are four types: bacteria, viruses, fungi and protists.</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4EDDF"/>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Bacteria are living cells, far smaller than your own: usually only a few microns across (a micron is a thousandth of a millimetre), so you need a microscope to see them.</a:t>
            </a:r>
            <a:endParaRPr lang="en-US" sz="1800" dirty="0"/>
          </a:p>
        </p:txBody>
      </p:sp>
      <p:sp>
        <p:nvSpPr>
          <p:cNvPr id="19" name="point-card"/>
          <p:cNvSpPr/>
          <p:nvPr/>
        </p:nvSpPr>
        <p:spPr>
          <a:xfrm>
            <a:off x="8127797" y="1389888"/>
            <a:ext cx="3515258" cy="3686048"/>
          </a:xfrm>
          <a:prstGeom prst="roundRect">
            <a:avLst>
              <a:gd name="adj" fmla="val 1561"/>
            </a:avLst>
          </a:prstGeom>
          <a:solidFill>
            <a:srgbClr val="E3E5EC"/>
          </a:solidFill>
          <a:ln/>
        </p:spPr>
      </p:sp>
      <p:sp>
        <p:nvSpPr>
          <p:cNvPr id="20" name="point-hex"/>
          <p:cNvSpPr/>
          <p:nvPr/>
        </p:nvSpPr>
        <p:spPr>
          <a:xfrm>
            <a:off x="8310677" y="1572768"/>
            <a:ext cx="685800" cy="593903"/>
          </a:xfrm>
          <a:prstGeom prst="hexagon">
            <a:avLst/>
          </a:prstGeom>
          <a:solidFill>
            <a:srgbClr val="24366B"/>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Not all bacteria are harmful. We use bacteria to make yoghurt and cheese, to treat sewage and to make some medicines, and bacteria living in your intestines help to keep you healthy.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How bacteria and viruses make you ill</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point-card"/>
          <p:cNvSpPr/>
          <p:nvPr/>
        </p:nvSpPr>
        <p:spPr>
          <a:xfrm>
            <a:off x="548640" y="1389888"/>
            <a:ext cx="3515258" cy="4754880"/>
          </a:xfrm>
          <a:prstGeom prst="roundRect">
            <a:avLst>
              <a:gd name="adj" fmla="val 1561"/>
            </a:avLst>
          </a:prstGeom>
          <a:solidFill>
            <a:srgbClr val="E3E5EC"/>
          </a:solidFill>
          <a:ln/>
        </p:spPr>
      </p:sp>
      <p:sp>
        <p:nvSpPr>
          <p:cNvPr id="8" name="point-hex"/>
          <p:cNvSpPr/>
          <p:nvPr/>
        </p:nvSpPr>
        <p:spPr>
          <a:xfrm>
            <a:off x="731520" y="1572768"/>
            <a:ext cx="685800" cy="593903"/>
          </a:xfrm>
          <a:prstGeom prst="hexagon">
            <a:avLst/>
          </a:prstGeom>
          <a:solidFill>
            <a:srgbClr val="24366B"/>
          </a:solidFill>
          <a:ln/>
        </p:spPr>
      </p:sp>
      <p:sp>
        <p:nvSpPr>
          <p:cNvPr id="9"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point"/>
          <p:cNvSpPr txBox="1"/>
          <p:nvPr/>
        </p:nvSpPr>
        <p:spPr>
          <a:xfrm>
            <a:off x="731520"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Once inside the body, bacteria divide rapidly by binary fission, so a few cells quickly become millions.</a:t>
            </a:r>
            <a:endParaRPr lang="en-US" sz="2400" dirty="0"/>
          </a:p>
        </p:txBody>
      </p:sp>
      <p:sp>
        <p:nvSpPr>
          <p:cNvPr id="11" name="point-card"/>
          <p:cNvSpPr/>
          <p:nvPr/>
        </p:nvSpPr>
        <p:spPr>
          <a:xfrm>
            <a:off x="4338218" y="1389888"/>
            <a:ext cx="3515258" cy="4754880"/>
          </a:xfrm>
          <a:prstGeom prst="roundRect">
            <a:avLst>
              <a:gd name="adj" fmla="val 1561"/>
            </a:avLst>
          </a:prstGeom>
          <a:solidFill>
            <a:srgbClr val="F4EDDF"/>
          </a:solidFill>
          <a:ln/>
        </p:spPr>
      </p:sp>
      <p:sp>
        <p:nvSpPr>
          <p:cNvPr id="12" name="point-hex"/>
          <p:cNvSpPr/>
          <p:nvPr/>
        </p:nvSpPr>
        <p:spPr>
          <a:xfrm>
            <a:off x="4521098" y="1572768"/>
            <a:ext cx="685800" cy="593903"/>
          </a:xfrm>
          <a:prstGeom prst="hexagon">
            <a:avLst/>
          </a:prstGeom>
          <a:solidFill>
            <a:srgbClr val="B8862B"/>
          </a:solidFill>
          <a:ln/>
        </p:spPr>
      </p:sp>
      <p:sp>
        <p:nvSpPr>
          <p:cNvPr id="13"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4" name="point"/>
          <p:cNvSpPr txBox="1"/>
          <p:nvPr/>
        </p:nvSpPr>
        <p:spPr>
          <a:xfrm>
            <a:off x="4521098"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Viruses work differently. A virus gets into one of your cells and takes it over, using the cell to make many new copies of the virus.</a:t>
            </a:r>
            <a:endParaRPr lang="en-US" sz="2400" dirty="0"/>
          </a:p>
        </p:txBody>
      </p:sp>
      <p:sp>
        <p:nvSpPr>
          <p:cNvPr id="15" name="point-card"/>
          <p:cNvSpPr/>
          <p:nvPr/>
        </p:nvSpPr>
        <p:spPr>
          <a:xfrm>
            <a:off x="8127797" y="1389888"/>
            <a:ext cx="3515258" cy="4754880"/>
          </a:xfrm>
          <a:prstGeom prst="roundRect">
            <a:avLst>
              <a:gd name="adj" fmla="val 1561"/>
            </a:avLst>
          </a:prstGeom>
          <a:solidFill>
            <a:srgbClr val="E3E5EC"/>
          </a:solidFill>
          <a:ln/>
        </p:spPr>
      </p:sp>
      <p:sp>
        <p:nvSpPr>
          <p:cNvPr id="16" name="point-hex"/>
          <p:cNvSpPr/>
          <p:nvPr/>
        </p:nvSpPr>
        <p:spPr>
          <a:xfrm>
            <a:off x="8310677" y="1572768"/>
            <a:ext cx="685800" cy="593903"/>
          </a:xfrm>
          <a:prstGeom prst="hexagon">
            <a:avLst/>
          </a:prstGeom>
          <a:solidFill>
            <a:srgbClr val="24366B"/>
          </a:solidFill>
          <a:ln/>
        </p:spPr>
      </p:sp>
      <p:sp>
        <p:nvSpPr>
          <p:cNvPr id="17"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8" name="point"/>
          <p:cNvSpPr txBox="1"/>
          <p:nvPr/>
        </p:nvSpPr>
        <p:spPr>
          <a:xfrm>
            <a:off x="8310677"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common symptoms of infection are a high temperature or fever, a headache, a rash, vomiting and diarrhoea.</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24366B"/>
                </a:solidFill>
                <a:latin typeface="Cambria" pitchFamily="34" charset="0"/>
                <a:ea typeface="Cambria" pitchFamily="34" charset="-122"/>
                <a:cs typeface="Cambria" pitchFamily="34" charset="-120"/>
              </a:rPr>
              <a:t>Worked example: How bacteria and viruses make you ill</a:t>
            </a:r>
            <a:endParaRPr lang="en-US" sz="26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E3E5EC"/>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Explain why a person with a bacterial infection develops a fever and feels unwell. (3 marks)</a:t>
            </a:r>
            <a:endParaRPr lang="en-US" sz="2200" dirty="0"/>
          </a:p>
        </p:txBody>
      </p:sp>
      <p:sp>
        <p:nvSpPr>
          <p:cNvPr id="9" name="step-box"/>
          <p:cNvSpPr/>
          <p:nvPr/>
        </p:nvSpPr>
        <p:spPr>
          <a:xfrm>
            <a:off x="548640" y="2655824"/>
            <a:ext cx="3423818" cy="2252980"/>
          </a:xfrm>
          <a:prstGeom prst="roundRect">
            <a:avLst>
              <a:gd name="adj" fmla="val 3247"/>
            </a:avLst>
          </a:prstGeom>
          <a:solidFill>
            <a:srgbClr val="FFFFFF"/>
          </a:solidFill>
          <a:ln w="15875">
            <a:solidFill>
              <a:srgbClr val="8790AE"/>
            </a:solidFill>
            <a:prstDash val="solid"/>
          </a:ln>
        </p:spPr>
      </p:sp>
      <p:sp>
        <p:nvSpPr>
          <p:cNvPr id="10" name="step-hex"/>
          <p:cNvSpPr/>
          <p:nvPr/>
        </p:nvSpPr>
        <p:spPr>
          <a:xfrm>
            <a:off x="685800" y="2765552"/>
            <a:ext cx="530352" cy="459285"/>
          </a:xfrm>
          <a:prstGeom prst="hexagon">
            <a:avLst/>
          </a:prstGeom>
          <a:solidFill>
            <a:srgbClr val="24366B"/>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250184"/>
            <a:ext cx="3149498"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Start with what the bacteria do: they reproduce rapidly by binary fission inside the body.</a:t>
            </a:r>
            <a:endParaRPr lang="en-US" sz="1800" dirty="0"/>
          </a:p>
        </p:txBody>
      </p:sp>
      <p:sp>
        <p:nvSpPr>
          <p:cNvPr id="13" name="arrow"/>
          <p:cNvSpPr/>
          <p:nvPr/>
        </p:nvSpPr>
        <p:spPr>
          <a:xfrm>
            <a:off x="4045610" y="3645154"/>
            <a:ext cx="274320" cy="274320"/>
          </a:xfrm>
          <a:prstGeom prst="rightArrow">
            <a:avLst/>
          </a:prstGeom>
          <a:solidFill>
            <a:srgbClr val="B8862B"/>
          </a:solidFill>
          <a:ln/>
        </p:spPr>
      </p:sp>
      <p:sp>
        <p:nvSpPr>
          <p:cNvPr id="14" name="step-box"/>
          <p:cNvSpPr/>
          <p:nvPr/>
        </p:nvSpPr>
        <p:spPr>
          <a:xfrm>
            <a:off x="4383938" y="2655824"/>
            <a:ext cx="3423818" cy="2252980"/>
          </a:xfrm>
          <a:prstGeom prst="roundRect">
            <a:avLst>
              <a:gd name="adj" fmla="val 3247"/>
            </a:avLst>
          </a:prstGeom>
          <a:solidFill>
            <a:srgbClr val="FFFFFF"/>
          </a:solidFill>
          <a:ln w="15875">
            <a:solidFill>
              <a:srgbClr val="8790AE"/>
            </a:solidFill>
            <a:prstDash val="solid"/>
          </a:ln>
        </p:spPr>
      </p:sp>
      <p:sp>
        <p:nvSpPr>
          <p:cNvPr id="15" name="step-hex"/>
          <p:cNvSpPr/>
          <p:nvPr/>
        </p:nvSpPr>
        <p:spPr>
          <a:xfrm>
            <a:off x="4521098" y="2765552"/>
            <a:ext cx="530352" cy="459285"/>
          </a:xfrm>
          <a:prstGeom prst="hexagon">
            <a:avLst/>
          </a:prstGeom>
          <a:solidFill>
            <a:srgbClr val="24366B"/>
          </a:solidFill>
          <a:ln/>
        </p:spPr>
      </p:sp>
      <p:sp>
        <p:nvSpPr>
          <p:cNvPr id="16" name="step-hex-label"/>
          <p:cNvSpPr txBox="1"/>
          <p:nvPr/>
        </p:nvSpPr>
        <p:spPr>
          <a:xfrm>
            <a:off x="452109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4521098" y="3250184"/>
            <a:ext cx="3149498"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Say what they release: toxins, which are poisons.</a:t>
            </a:r>
            <a:endParaRPr lang="en-US" sz="1800" dirty="0"/>
          </a:p>
        </p:txBody>
      </p:sp>
      <p:sp>
        <p:nvSpPr>
          <p:cNvPr id="18" name="arrow"/>
          <p:cNvSpPr/>
          <p:nvPr/>
        </p:nvSpPr>
        <p:spPr>
          <a:xfrm>
            <a:off x="7880909" y="3645154"/>
            <a:ext cx="274320" cy="274320"/>
          </a:xfrm>
          <a:prstGeom prst="rightArrow">
            <a:avLst/>
          </a:prstGeom>
          <a:solidFill>
            <a:srgbClr val="B8862B"/>
          </a:solidFill>
          <a:ln/>
        </p:spPr>
      </p:sp>
      <p:sp>
        <p:nvSpPr>
          <p:cNvPr id="19" name="step-box"/>
          <p:cNvSpPr/>
          <p:nvPr/>
        </p:nvSpPr>
        <p:spPr>
          <a:xfrm>
            <a:off x="8219237" y="2655824"/>
            <a:ext cx="3423818" cy="2252980"/>
          </a:xfrm>
          <a:prstGeom prst="roundRect">
            <a:avLst>
              <a:gd name="adj" fmla="val 3247"/>
            </a:avLst>
          </a:prstGeom>
          <a:solidFill>
            <a:srgbClr val="FFFFFF"/>
          </a:solidFill>
          <a:ln w="15875">
            <a:solidFill>
              <a:srgbClr val="8790AE"/>
            </a:solidFill>
            <a:prstDash val="solid"/>
          </a:ln>
        </p:spPr>
      </p:sp>
      <p:sp>
        <p:nvSpPr>
          <p:cNvPr id="20" name="step-hex"/>
          <p:cNvSpPr/>
          <p:nvPr/>
        </p:nvSpPr>
        <p:spPr>
          <a:xfrm>
            <a:off x="8356397" y="2765552"/>
            <a:ext cx="530352" cy="459285"/>
          </a:xfrm>
          <a:prstGeom prst="hexagon">
            <a:avLst/>
          </a:prstGeom>
          <a:solidFill>
            <a:srgbClr val="24366B"/>
          </a:solidFill>
          <a:ln/>
        </p:spPr>
      </p:sp>
      <p:sp>
        <p:nvSpPr>
          <p:cNvPr id="21" name="step-hex-label"/>
          <p:cNvSpPr txBox="1"/>
          <p:nvPr/>
        </p:nvSpPr>
        <p:spPr>
          <a:xfrm>
            <a:off x="8356397"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step"/>
          <p:cNvSpPr txBox="1"/>
          <p:nvPr/>
        </p:nvSpPr>
        <p:spPr>
          <a:xfrm>
            <a:off x="8356397" y="3250184"/>
            <a:ext cx="3149498"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Finish with the effect: the toxins damage cells, and the body's response to this damage causes the fever and other symptoms.</a:t>
            </a:r>
            <a:endParaRPr lang="en-US" sz="1800" dirty="0"/>
          </a:p>
        </p:txBody>
      </p:sp>
      <p:sp>
        <p:nvSpPr>
          <p:cNvPr id="23" name="worked-answer"/>
          <p:cNvSpPr/>
          <p:nvPr/>
        </p:nvSpPr>
        <p:spPr>
          <a:xfrm>
            <a:off x="1463040" y="5313680"/>
            <a:ext cx="9265615" cy="831088"/>
          </a:xfrm>
          <a:prstGeom prst="roundRect">
            <a:avLst>
              <a:gd name="adj" fmla="val 22005"/>
            </a:avLst>
          </a:prstGeom>
          <a:solidFill>
            <a:srgbClr val="EBDDC4"/>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The bacteria divide rapidly by binary fission and release toxins; the toxins damage body cells, and the body's response to this damage causes the fever and other symptoms.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How pathogens spread</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In a 'how is it spread' answer, name the route AND the organism it carries pathogens between: 'in droplets, breathed in by another person'.</a:t>
            </a:r>
            <a:endParaRPr lang="en-US" sz="1800" dirty="0"/>
          </a:p>
        </p:txBody>
      </p:sp>
      <p:sp>
        <p:nvSpPr>
          <p:cNvPr id="11" name="point-card"/>
          <p:cNvSpPr/>
          <p:nvPr/>
        </p:nvSpPr>
        <p:spPr>
          <a:xfrm>
            <a:off x="548640" y="1389888"/>
            <a:ext cx="3515258" cy="3686048"/>
          </a:xfrm>
          <a:prstGeom prst="roundRect">
            <a:avLst>
              <a:gd name="adj" fmla="val 1561"/>
            </a:avLst>
          </a:prstGeom>
          <a:solidFill>
            <a:srgbClr val="E3E5EC"/>
          </a:solidFill>
          <a:ln/>
        </p:spPr>
      </p:sp>
      <p:sp>
        <p:nvSpPr>
          <p:cNvPr id="12" name="point-hex"/>
          <p:cNvSpPr/>
          <p:nvPr/>
        </p:nvSpPr>
        <p:spPr>
          <a:xfrm>
            <a:off x="731520" y="1572768"/>
            <a:ext cx="685800" cy="593903"/>
          </a:xfrm>
          <a:prstGeom prst="hexagon">
            <a:avLst/>
          </a:prstGeom>
          <a:solidFill>
            <a:srgbClr val="24366B"/>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Different pathogens have different transmission routes. Airborne droplets: when an infected person coughs or sneezes, droplets carrying the pathogen are released and another person breathes them in.</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4EDDF"/>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Direct contact: a pathogen is passed when an infected person touches a healthy one, through a cut in the skin or by sexual contact; HIV is an example.</a:t>
            </a:r>
            <a:endParaRPr lang="en-US" sz="1800" dirty="0"/>
          </a:p>
        </p:txBody>
      </p:sp>
      <p:sp>
        <p:nvSpPr>
          <p:cNvPr id="19" name="point-card"/>
          <p:cNvSpPr/>
          <p:nvPr/>
        </p:nvSpPr>
        <p:spPr>
          <a:xfrm>
            <a:off x="8127797" y="1389888"/>
            <a:ext cx="3515258" cy="3686048"/>
          </a:xfrm>
          <a:prstGeom prst="roundRect">
            <a:avLst>
              <a:gd name="adj" fmla="val 1561"/>
            </a:avLst>
          </a:prstGeom>
          <a:solidFill>
            <a:srgbClr val="E3E5EC"/>
          </a:solidFill>
          <a:ln/>
        </p:spPr>
      </p:sp>
      <p:sp>
        <p:nvSpPr>
          <p:cNvPr id="20" name="point-hex"/>
          <p:cNvSpPr/>
          <p:nvPr/>
        </p:nvSpPr>
        <p:spPr>
          <a:xfrm>
            <a:off x="8310677" y="1572768"/>
            <a:ext cx="685800" cy="593903"/>
          </a:xfrm>
          <a:prstGeom prst="hexagon">
            <a:avLst/>
          </a:prstGeom>
          <a:solidFill>
            <a:srgbClr val="24366B"/>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Vectors: some animals carry a pathogen from one organism to another without being harmed themselves.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The task: How a sneeze spreads flu</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Put the stages of droplet infection in the correct order.</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An infected person coughs or sneezes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pathogen reproduces rapidly inside the new person's body</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Droplets carrying the pathogen are released into the air</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Toxins and cell damage cause symptoms such as fever</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E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Another person breathes in the droplets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24366B"/>
                </a:solidFill>
                <a:latin typeface="Cambria" pitchFamily="34" charset="0"/>
                <a:ea typeface="Cambria" pitchFamily="34" charset="-122"/>
                <a:cs typeface="Cambria" pitchFamily="34" charset="-120"/>
              </a:rPr>
              <a:t>Same task, three ways in: How a sneeze spreads flu</a:t>
            </a:r>
            <a:endParaRPr lang="en-US" sz="28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Put the stages of droplet infection in the correct order.</a:t>
            </a:r>
            <a:endParaRPr lang="en-US" sz="2000" dirty="0"/>
          </a:p>
        </p:txBody>
      </p:sp>
      <p:sp>
        <p:nvSpPr>
          <p:cNvPr id="12" name="col-Support"/>
          <p:cNvSpPr/>
          <p:nvPr/>
        </p:nvSpPr>
        <p:spPr>
          <a:xfrm>
            <a:off x="548640" y="2578608"/>
            <a:ext cx="4667802" cy="3566160"/>
          </a:xfrm>
          <a:prstGeom prst="roundRect">
            <a:avLst>
              <a:gd name="adj" fmla="val 1538"/>
            </a:avLst>
          </a:prstGeom>
          <a:solidFill>
            <a:srgbClr val="E3E5EC"/>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3936282" cy="566928"/>
          </a:xfrm>
          <a:prstGeom prst="rect">
            <a:avLst/>
          </a:prstGeom>
          <a:noFill/>
          <a:ln/>
        </p:spPr>
        <p:txBody>
          <a:bodyPr wrap="square" lIns="63500" tIns="63500" rIns="63500" bIns="63500" rtlCol="0" anchor="ctr"/>
          <a:lstStyle/>
          <a:p>
            <a:pPr algn="l" indent="0" marL="0">
              <a:buNone/>
            </a:pPr>
            <a:r>
              <a:rPr lang="en-US" sz="2000" b="1" dirty="0">
                <a:solidFill>
                  <a:srgbClr val="19264B"/>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4393482" cy="281635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Start with the person who already has the disease. What do they do?</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What comes out of them, and what is in it?</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How does it get into the next person?</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pathogen must reproduce before there are enough of it to cause symptoms. Symptoms come last.</a:t>
            </a:r>
            <a:endParaRPr lang="en-US" sz="1800" dirty="0"/>
          </a:p>
        </p:txBody>
      </p:sp>
      <p:sp>
        <p:nvSpPr>
          <p:cNvPr id="17" name="col-Core"/>
          <p:cNvSpPr/>
          <p:nvPr/>
        </p:nvSpPr>
        <p:spPr>
          <a:xfrm>
            <a:off x="5490762" y="2578608"/>
            <a:ext cx="2938987" cy="3566160"/>
          </a:xfrm>
          <a:prstGeom prst="roundRect">
            <a:avLst>
              <a:gd name="adj" fmla="val 1867"/>
            </a:avLst>
          </a:prstGeom>
          <a:solidFill>
            <a:srgbClr val="C8CDDA"/>
          </a:solidFill>
          <a:ln/>
        </p:spPr>
      </p:sp>
      <p:sp>
        <p:nvSpPr>
          <p:cNvPr id="18" name="col-hex"/>
          <p:cNvSpPr/>
          <p:nvPr/>
        </p:nvSpPr>
        <p:spPr>
          <a:xfrm>
            <a:off x="5600490"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19264B"/>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1D2B56"/>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Release, breathe in, reproduce, symptoms. The pathogen has to multiply before anyone feels ill.</a:t>
            </a:r>
            <a:endParaRPr lang="en-US" sz="1800" dirty="0"/>
          </a:p>
        </p:txBody>
      </p:sp>
      <p:sp>
        <p:nvSpPr>
          <p:cNvPr id="22" name="col-Stretch"/>
          <p:cNvSpPr/>
          <p:nvPr/>
        </p:nvSpPr>
        <p:spPr>
          <a:xfrm>
            <a:off x="8704069" y="2578608"/>
            <a:ext cx="2938987" cy="3566160"/>
          </a:xfrm>
          <a:prstGeom prst="roundRect">
            <a:avLst>
              <a:gd name="adj" fmla="val 1867"/>
            </a:avLst>
          </a:prstGeom>
          <a:solidFill>
            <a:srgbClr val="24366B"/>
          </a:solidFill>
          <a:ln/>
        </p:spPr>
      </p:sp>
      <p:sp>
        <p:nvSpPr>
          <p:cNvPr id="23" name="col-hex"/>
          <p:cNvSpPr/>
          <p:nvPr/>
        </p:nvSpPr>
        <p:spPr>
          <a:xfrm>
            <a:off x="8813797"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a person can pass flu on before they feel ill themselves, using the idea that the pathogen reproduces inside the body.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The task: Routes of transmission</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618488"/>
            <a:ext cx="8534095" cy="467868"/>
          </a:xfrm>
          <a:prstGeom prst="rect">
            <a:avLst/>
          </a:prstGeom>
          <a:noFill/>
          <a:ln/>
        </p:spPr>
        <p:txBody>
          <a:bodyPr wrap="square" lIns="63500" tIns="63500" rIns="63500" bIns="63500" rtlCol="0" anchor="t"/>
          <a:lstStyle/>
          <a:p>
            <a:pPr algn="ctr" indent="0" marL="0">
              <a:buNone/>
            </a:pPr>
            <a:r>
              <a:rPr lang="en-US" sz="2200" b="1" dirty="0">
                <a:solidFill>
                  <a:srgbClr val="1E2229"/>
                </a:solidFill>
                <a:latin typeface="Calibri" pitchFamily="34" charset="0"/>
                <a:ea typeface="Calibri" pitchFamily="34" charset="-122"/>
                <a:cs typeface="Calibri" pitchFamily="34" charset="-120"/>
              </a:rPr>
              <a:t>Match each way pathogens are spread to a disease spread that way.</a:t>
            </a:r>
            <a:endParaRPr lang="en-US" sz="2200" dirty="0"/>
          </a:p>
        </p:txBody>
      </p:sp>
      <p:sp>
        <p:nvSpPr>
          <p:cNvPr id="11" name="match-card"/>
          <p:cNvSpPr/>
          <p:nvPr/>
        </p:nvSpPr>
        <p:spPr>
          <a:xfrm>
            <a:off x="777240" y="2468331"/>
            <a:ext cx="3456740" cy="587639"/>
          </a:xfrm>
          <a:prstGeom prst="roundRect">
            <a:avLst>
              <a:gd name="adj" fmla="val 12448"/>
            </a:avLst>
          </a:prstGeom>
          <a:solidFill>
            <a:srgbClr val="E7E9EF"/>
          </a:solidFill>
          <a:ln/>
        </p:spPr>
      </p:sp>
      <p:sp>
        <p:nvSpPr>
          <p:cNvPr id="12" name="match-hex"/>
          <p:cNvSpPr/>
          <p:nvPr/>
        </p:nvSpPr>
        <p:spPr>
          <a:xfrm>
            <a:off x="850392" y="2595858"/>
            <a:ext cx="384048" cy="332586"/>
          </a:xfrm>
          <a:prstGeom prst="hexagon">
            <a:avLst/>
          </a:prstGeom>
          <a:solidFill>
            <a:srgbClr val="24366B"/>
          </a:solidFill>
          <a:ln/>
        </p:spPr>
      </p:sp>
      <p:sp>
        <p:nvSpPr>
          <p:cNvPr id="13" name="match-hex-label"/>
          <p:cNvSpPr txBox="1"/>
          <p:nvPr/>
        </p:nvSpPr>
        <p:spPr>
          <a:xfrm>
            <a:off x="850392" y="259585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2862380" cy="58763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Airborne droplets</a:t>
            </a:r>
            <a:endParaRPr lang="en-US" sz="2000" dirty="0"/>
          </a:p>
        </p:txBody>
      </p:sp>
      <p:sp>
        <p:nvSpPr>
          <p:cNvPr id="15" name="match-card"/>
          <p:cNvSpPr/>
          <p:nvPr/>
        </p:nvSpPr>
        <p:spPr>
          <a:xfrm>
            <a:off x="4599740" y="2468331"/>
            <a:ext cx="6814715" cy="587639"/>
          </a:xfrm>
          <a:prstGeom prst="roundRect">
            <a:avLst>
              <a:gd name="adj" fmla="val 12448"/>
            </a:avLst>
          </a:prstGeom>
          <a:solidFill>
            <a:srgbClr val="F4EDDF"/>
          </a:solidFill>
          <a:ln/>
        </p:spPr>
      </p:sp>
      <p:sp>
        <p:nvSpPr>
          <p:cNvPr id="16" name="match-hex"/>
          <p:cNvSpPr/>
          <p:nvPr/>
        </p:nvSpPr>
        <p:spPr>
          <a:xfrm>
            <a:off x="4672892" y="2595858"/>
            <a:ext cx="384048" cy="332586"/>
          </a:xfrm>
          <a:prstGeom prst="hexagon">
            <a:avLst/>
          </a:prstGeom>
          <a:solidFill>
            <a:srgbClr val="B8862B"/>
          </a:solidFill>
          <a:ln/>
        </p:spPr>
      </p:sp>
      <p:sp>
        <p:nvSpPr>
          <p:cNvPr id="17" name="match-hex-label"/>
          <p:cNvSpPr txBox="1"/>
          <p:nvPr/>
        </p:nvSpPr>
        <p:spPr>
          <a:xfrm>
            <a:off x="4672892" y="259585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5120948" y="2468331"/>
            <a:ext cx="6220355" cy="58763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Malaria, carried from person to person by mosquitoes</a:t>
            </a:r>
            <a:endParaRPr lang="en-US" sz="2000" dirty="0"/>
          </a:p>
        </p:txBody>
      </p:sp>
      <p:sp>
        <p:nvSpPr>
          <p:cNvPr id="19" name="match-card"/>
          <p:cNvSpPr/>
          <p:nvPr/>
        </p:nvSpPr>
        <p:spPr>
          <a:xfrm>
            <a:off x="777240" y="3147411"/>
            <a:ext cx="3456740" cy="877199"/>
          </a:xfrm>
          <a:prstGeom prst="roundRect">
            <a:avLst>
              <a:gd name="adj" fmla="val 8339"/>
            </a:avLst>
          </a:prstGeom>
          <a:solidFill>
            <a:srgbClr val="E7E9EF"/>
          </a:solidFill>
          <a:ln/>
        </p:spPr>
      </p:sp>
      <p:sp>
        <p:nvSpPr>
          <p:cNvPr id="20" name="match-hex"/>
          <p:cNvSpPr/>
          <p:nvPr/>
        </p:nvSpPr>
        <p:spPr>
          <a:xfrm>
            <a:off x="850392" y="3419717"/>
            <a:ext cx="384048" cy="332586"/>
          </a:xfrm>
          <a:prstGeom prst="hexagon">
            <a:avLst/>
          </a:prstGeom>
          <a:solidFill>
            <a:srgbClr val="24366B"/>
          </a:solidFill>
          <a:ln/>
        </p:spPr>
      </p:sp>
      <p:sp>
        <p:nvSpPr>
          <p:cNvPr id="21" name="match-hex-label"/>
          <p:cNvSpPr txBox="1"/>
          <p:nvPr/>
        </p:nvSpPr>
        <p:spPr>
          <a:xfrm>
            <a:off x="850392" y="341971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147411"/>
            <a:ext cx="2862380" cy="87719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Direct contact</a:t>
            </a:r>
            <a:endParaRPr lang="en-US" sz="2000" dirty="0"/>
          </a:p>
        </p:txBody>
      </p:sp>
      <p:sp>
        <p:nvSpPr>
          <p:cNvPr id="23" name="match-card"/>
          <p:cNvSpPr/>
          <p:nvPr/>
        </p:nvSpPr>
        <p:spPr>
          <a:xfrm>
            <a:off x="4599740" y="3147411"/>
            <a:ext cx="6814715" cy="877199"/>
          </a:xfrm>
          <a:prstGeom prst="roundRect">
            <a:avLst>
              <a:gd name="adj" fmla="val 8339"/>
            </a:avLst>
          </a:prstGeom>
          <a:solidFill>
            <a:srgbClr val="F4EDDF"/>
          </a:solidFill>
          <a:ln/>
        </p:spPr>
      </p:sp>
      <p:sp>
        <p:nvSpPr>
          <p:cNvPr id="24" name="match-hex"/>
          <p:cNvSpPr/>
          <p:nvPr/>
        </p:nvSpPr>
        <p:spPr>
          <a:xfrm>
            <a:off x="4672892" y="3419717"/>
            <a:ext cx="384048" cy="332586"/>
          </a:xfrm>
          <a:prstGeom prst="hexagon">
            <a:avLst/>
          </a:prstGeom>
          <a:solidFill>
            <a:srgbClr val="B8862B"/>
          </a:solidFill>
          <a:ln/>
        </p:spPr>
      </p:sp>
      <p:sp>
        <p:nvSpPr>
          <p:cNvPr id="25" name="match-hex-label"/>
          <p:cNvSpPr txBox="1"/>
          <p:nvPr/>
        </p:nvSpPr>
        <p:spPr>
          <a:xfrm>
            <a:off x="4672892" y="341971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5120948" y="3147411"/>
            <a:ext cx="6220355" cy="87719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Flu, passed on when an infected person coughs or sneezes</a:t>
            </a:r>
            <a:endParaRPr lang="en-US" sz="2000" dirty="0"/>
          </a:p>
        </p:txBody>
      </p:sp>
      <p:sp>
        <p:nvSpPr>
          <p:cNvPr id="27" name="match-card"/>
          <p:cNvSpPr/>
          <p:nvPr/>
        </p:nvSpPr>
        <p:spPr>
          <a:xfrm>
            <a:off x="777240" y="4116050"/>
            <a:ext cx="3456740" cy="877199"/>
          </a:xfrm>
          <a:prstGeom prst="roundRect">
            <a:avLst>
              <a:gd name="adj" fmla="val 8339"/>
            </a:avLst>
          </a:prstGeom>
          <a:solidFill>
            <a:srgbClr val="E7E9EF"/>
          </a:solidFill>
          <a:ln/>
        </p:spPr>
      </p:sp>
      <p:sp>
        <p:nvSpPr>
          <p:cNvPr id="28" name="match-hex"/>
          <p:cNvSpPr/>
          <p:nvPr/>
        </p:nvSpPr>
        <p:spPr>
          <a:xfrm>
            <a:off x="850392" y="4388356"/>
            <a:ext cx="384048" cy="332586"/>
          </a:xfrm>
          <a:prstGeom prst="hexagon">
            <a:avLst/>
          </a:prstGeom>
          <a:solidFill>
            <a:srgbClr val="24366B"/>
          </a:solidFill>
          <a:ln/>
        </p:spPr>
      </p:sp>
      <p:sp>
        <p:nvSpPr>
          <p:cNvPr id="29" name="match-hex-label"/>
          <p:cNvSpPr txBox="1"/>
          <p:nvPr/>
        </p:nvSpPr>
        <p:spPr>
          <a:xfrm>
            <a:off x="850392" y="438835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116050"/>
            <a:ext cx="2862380" cy="87719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Contaminated food and water</a:t>
            </a:r>
            <a:endParaRPr lang="en-US" sz="2000" dirty="0"/>
          </a:p>
        </p:txBody>
      </p:sp>
      <p:sp>
        <p:nvSpPr>
          <p:cNvPr id="31" name="match-card"/>
          <p:cNvSpPr/>
          <p:nvPr/>
        </p:nvSpPr>
        <p:spPr>
          <a:xfrm>
            <a:off x="4599740" y="4116050"/>
            <a:ext cx="6814715" cy="877199"/>
          </a:xfrm>
          <a:prstGeom prst="roundRect">
            <a:avLst>
              <a:gd name="adj" fmla="val 8339"/>
            </a:avLst>
          </a:prstGeom>
          <a:solidFill>
            <a:srgbClr val="F4EDDF"/>
          </a:solidFill>
          <a:ln/>
        </p:spPr>
      </p:sp>
      <p:sp>
        <p:nvSpPr>
          <p:cNvPr id="32" name="match-hex"/>
          <p:cNvSpPr/>
          <p:nvPr/>
        </p:nvSpPr>
        <p:spPr>
          <a:xfrm>
            <a:off x="4672892" y="4388356"/>
            <a:ext cx="384048" cy="332586"/>
          </a:xfrm>
          <a:prstGeom prst="hexagon">
            <a:avLst/>
          </a:prstGeom>
          <a:solidFill>
            <a:srgbClr val="B8862B"/>
          </a:solidFill>
          <a:ln/>
        </p:spPr>
      </p:sp>
      <p:sp>
        <p:nvSpPr>
          <p:cNvPr id="33" name="match-hex-label"/>
          <p:cNvSpPr txBox="1"/>
          <p:nvPr/>
        </p:nvSpPr>
        <p:spPr>
          <a:xfrm>
            <a:off x="4672892" y="438835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5120948" y="4116050"/>
            <a:ext cx="6220355" cy="87719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Cholera, caught by drinking dirty water</a:t>
            </a:r>
            <a:endParaRPr lang="en-US" sz="2000" dirty="0"/>
          </a:p>
        </p:txBody>
      </p:sp>
      <p:sp>
        <p:nvSpPr>
          <p:cNvPr id="35" name="match-card"/>
          <p:cNvSpPr/>
          <p:nvPr/>
        </p:nvSpPr>
        <p:spPr>
          <a:xfrm>
            <a:off x="777240" y="5084689"/>
            <a:ext cx="3456740" cy="877199"/>
          </a:xfrm>
          <a:prstGeom prst="roundRect">
            <a:avLst>
              <a:gd name="adj" fmla="val 8339"/>
            </a:avLst>
          </a:prstGeom>
          <a:solidFill>
            <a:srgbClr val="E7E9EF"/>
          </a:solidFill>
          <a:ln/>
        </p:spPr>
      </p:sp>
      <p:sp>
        <p:nvSpPr>
          <p:cNvPr id="36" name="match-hex"/>
          <p:cNvSpPr/>
          <p:nvPr/>
        </p:nvSpPr>
        <p:spPr>
          <a:xfrm>
            <a:off x="850392" y="5356996"/>
            <a:ext cx="384048" cy="332586"/>
          </a:xfrm>
          <a:prstGeom prst="hexagon">
            <a:avLst/>
          </a:prstGeom>
          <a:solidFill>
            <a:srgbClr val="24366B"/>
          </a:solidFill>
          <a:ln/>
        </p:spPr>
      </p:sp>
      <p:sp>
        <p:nvSpPr>
          <p:cNvPr id="37" name="match-hex-label"/>
          <p:cNvSpPr txBox="1"/>
          <p:nvPr/>
        </p:nvSpPr>
        <p:spPr>
          <a:xfrm>
            <a:off x="850392" y="535699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5084689"/>
            <a:ext cx="2862380" cy="87719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Vector</a:t>
            </a:r>
            <a:endParaRPr lang="en-US" sz="2000" dirty="0"/>
          </a:p>
        </p:txBody>
      </p:sp>
      <p:sp>
        <p:nvSpPr>
          <p:cNvPr id="39" name="match-card"/>
          <p:cNvSpPr/>
          <p:nvPr/>
        </p:nvSpPr>
        <p:spPr>
          <a:xfrm>
            <a:off x="4599740" y="5084689"/>
            <a:ext cx="6814715" cy="877199"/>
          </a:xfrm>
          <a:prstGeom prst="roundRect">
            <a:avLst>
              <a:gd name="adj" fmla="val 8339"/>
            </a:avLst>
          </a:prstGeom>
          <a:solidFill>
            <a:srgbClr val="F4EDDF"/>
          </a:solidFill>
          <a:ln/>
        </p:spPr>
      </p:sp>
      <p:sp>
        <p:nvSpPr>
          <p:cNvPr id="40" name="match-hex"/>
          <p:cNvSpPr/>
          <p:nvPr/>
        </p:nvSpPr>
        <p:spPr>
          <a:xfrm>
            <a:off x="4672892" y="5356996"/>
            <a:ext cx="384048" cy="332586"/>
          </a:xfrm>
          <a:prstGeom prst="hexagon">
            <a:avLst/>
          </a:prstGeom>
          <a:solidFill>
            <a:srgbClr val="B8862B"/>
          </a:solidFill>
          <a:ln/>
        </p:spPr>
      </p:sp>
      <p:sp>
        <p:nvSpPr>
          <p:cNvPr id="41" name="match-hex-label"/>
          <p:cNvSpPr txBox="1"/>
          <p:nvPr/>
        </p:nvSpPr>
        <p:spPr>
          <a:xfrm>
            <a:off x="4672892" y="535699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5120948" y="5084689"/>
            <a:ext cx="6220355" cy="87719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HIV, passed on by sexual contact or through a cut in the skin</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24366B"/>
                </a:solidFill>
                <a:latin typeface="Cambria" pitchFamily="34" charset="0"/>
                <a:ea typeface="Cambria" pitchFamily="34" charset="-122"/>
                <a:cs typeface="Cambria" pitchFamily="34" charset="-120"/>
              </a:rPr>
              <a:t>Same task, three ways in: Routes of transmission</a:t>
            </a:r>
            <a:endParaRPr lang="en-US" sz="30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Routes of transmission</a:t>
            </a:r>
            <a:endParaRPr lang="en-US" sz="2000" dirty="0"/>
          </a:p>
        </p:txBody>
      </p:sp>
      <p:sp>
        <p:nvSpPr>
          <p:cNvPr id="12" name="col-Support"/>
          <p:cNvSpPr/>
          <p:nvPr/>
        </p:nvSpPr>
        <p:spPr>
          <a:xfrm>
            <a:off x="548640" y="2395728"/>
            <a:ext cx="4667802" cy="3749040"/>
          </a:xfrm>
          <a:prstGeom prst="roundRect">
            <a:avLst>
              <a:gd name="adj" fmla="val 1463"/>
            </a:avLst>
          </a:prstGeom>
          <a:solidFill>
            <a:srgbClr val="E3E5EC"/>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19264B"/>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Read each disease description and underline how it moves: coughs, touching, drinking, insect.</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Coughs and sneezes release droplets into the air.</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Touching, cuts and sexual contact are direct contact.</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Anything swallowed is food and water; anything carried by an animal is a vector.</a:t>
            </a:r>
            <a:endParaRPr lang="en-US" sz="1800" dirty="0"/>
          </a:p>
        </p:txBody>
      </p:sp>
      <p:sp>
        <p:nvSpPr>
          <p:cNvPr id="17" name="col-Core"/>
          <p:cNvSpPr/>
          <p:nvPr/>
        </p:nvSpPr>
        <p:spPr>
          <a:xfrm>
            <a:off x="5490762" y="2395728"/>
            <a:ext cx="2938987" cy="3749040"/>
          </a:xfrm>
          <a:prstGeom prst="roundRect">
            <a:avLst>
              <a:gd name="adj" fmla="val 1867"/>
            </a:avLst>
          </a:prstGeom>
          <a:solidFill>
            <a:srgbClr val="C8CDDA"/>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19264B"/>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1D2B56"/>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Match the verb: breathed in, touched, swallowed, bitten.</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24366B"/>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Plants catch diseases too. For each of the four routes, say whether a plant pathogen could use it, and give one example from the unit where you can.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24366B"/>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24366B"/>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987040"/>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Someone eats chicken that has not been cooked properly and becomes ill. How did the pathogen get into their body?</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In contaminated food or water, into the digestive system</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In droplets that they breathed in</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Through an insect bite</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By direct contact with another person's skin</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E9EBF0"/>
          </a:solidFill>
          <a:ln w="12700">
            <a:solidFill>
              <a:srgbClr val="8B94B1"/>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Answers: How a sneeze spreads flu</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An infected person coughs or sneezes  (A)</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Droplets carrying the pathogen are released into the air  (C)</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Another person breathes in the droplets  (E)</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The pathogen reproduces rapidly inside the new person's body  (B)</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Toxins and cell damage cause symptoms such as fever  (D)</a:t>
            </a:r>
            <a:endParaRPr lang="en-US" sz="2200" dirty="0"/>
          </a:p>
        </p:txBody>
      </p:sp>
      <p:sp>
        <p:nvSpPr>
          <p:cNvPr id="10" name="why-panel"/>
          <p:cNvSpPr/>
          <p:nvPr/>
        </p:nvSpPr>
        <p:spPr>
          <a:xfrm>
            <a:off x="7223760" y="1389888"/>
            <a:ext cx="4419295" cy="4754880"/>
          </a:xfrm>
          <a:prstGeom prst="roundRect">
            <a:avLst>
              <a:gd name="adj" fmla="val 1035"/>
            </a:avLst>
          </a:prstGeom>
          <a:solidFill>
            <a:srgbClr val="E3E5EC"/>
          </a:solidFill>
          <a:ln/>
        </p:spPr>
      </p:sp>
      <p:sp>
        <p:nvSpPr>
          <p:cNvPr id="11" name="why-hex"/>
          <p:cNvSpPr/>
          <p:nvPr/>
        </p:nvSpPr>
        <p:spPr>
          <a:xfrm>
            <a:off x="7406640" y="1572768"/>
            <a:ext cx="685800" cy="593903"/>
          </a:xfrm>
          <a:prstGeom prst="hexagon">
            <a:avLst/>
          </a:prstGeom>
          <a:solidFill>
            <a:srgbClr val="24366B"/>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Droplets from the infected person's breathing system carry the pathogen; the next person breathes them in; the pathogen reproduces inside them; toxins and cell damage then cause the symptoms.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Answers: Routes of transmission</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Airborne droplets  →  B  Flu, passed on when an infected person coughs or sneezes</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Direct contact  →  D  HIV, passed on by sexual contact or through a cut in the skin</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Contaminated food and water  →  C  Cholera, caught by drinking dirty water</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Vector  →  A  Malaria, carried from person to person by mosquitoes</a:t>
            </a:r>
            <a:endParaRPr lang="en-US" sz="2400" dirty="0"/>
          </a:p>
        </p:txBody>
      </p:sp>
      <p:sp>
        <p:nvSpPr>
          <p:cNvPr id="10" name="why-panel"/>
          <p:cNvSpPr/>
          <p:nvPr/>
        </p:nvSpPr>
        <p:spPr>
          <a:xfrm>
            <a:off x="7223760" y="1389888"/>
            <a:ext cx="4419295" cy="4754880"/>
          </a:xfrm>
          <a:prstGeom prst="roundRect">
            <a:avLst>
              <a:gd name="adj" fmla="val 1035"/>
            </a:avLst>
          </a:prstGeom>
          <a:solidFill>
            <a:srgbClr val="E3E5EC"/>
          </a:solidFill>
          <a:ln/>
        </p:spPr>
      </p:sp>
      <p:sp>
        <p:nvSpPr>
          <p:cNvPr id="11" name="why-hex"/>
          <p:cNvSpPr/>
          <p:nvPr/>
        </p:nvSpPr>
        <p:spPr>
          <a:xfrm>
            <a:off x="7406640" y="1572768"/>
            <a:ext cx="685800" cy="593903"/>
          </a:xfrm>
          <a:prstGeom prst="hexagon">
            <a:avLst/>
          </a:prstGeom>
          <a:solidFill>
            <a:srgbClr val="24366B"/>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Droplets from coughs and sneezes spread flu; HIV passes by direct contact including sexual contact and through cuts; cholera is swallowed in dirty water; malaria is carried by the mosquito, a vector.</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Someone eats chicken that has not been cooked properly and becomes ill. How did the pathogen get into their body?</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A   In contaminated food or water, into the digestive system</a:t>
            </a:r>
            <a:endParaRPr lang="en-US" sz="1800" dirty="0"/>
          </a:p>
        </p:txBody>
      </p:sp>
      <p:sp>
        <p:nvSpPr>
          <p:cNvPr id="10" name="why-panel"/>
          <p:cNvSpPr/>
          <p:nvPr/>
        </p:nvSpPr>
        <p:spPr>
          <a:xfrm>
            <a:off x="7223760" y="1389888"/>
            <a:ext cx="4419295" cy="4754880"/>
          </a:xfrm>
          <a:prstGeom prst="roundRect">
            <a:avLst>
              <a:gd name="adj" fmla="val 1035"/>
            </a:avLst>
          </a:prstGeom>
          <a:solidFill>
            <a:srgbClr val="E3E5EC"/>
          </a:solidFill>
          <a:ln/>
        </p:spPr>
      </p:sp>
      <p:sp>
        <p:nvSpPr>
          <p:cNvPr id="11" name="why-hex"/>
          <p:cNvSpPr/>
          <p:nvPr/>
        </p:nvSpPr>
        <p:spPr>
          <a:xfrm>
            <a:off x="7406640" y="1572768"/>
            <a:ext cx="685800" cy="593903"/>
          </a:xfrm>
          <a:prstGeom prst="hexagon">
            <a:avLst/>
          </a:prstGeom>
          <a:solidFill>
            <a:srgbClr val="24366B"/>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Pathogens in undercooked food or dirty water are swallowed and enter the digestive system. That is the food and water route of transmission.</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Ad Astra triple">
  <a:themeElements>
    <a:clrScheme name="Ad Astra triple">
      <a:dk1>
        <a:srgbClr val="1E2229"/>
      </a:dk1>
      <a:lt1>
        <a:srgbClr val="FFFFFF"/>
      </a:lt1>
      <a:dk2>
        <a:srgbClr val="1D2B56"/>
      </a:dk2>
      <a:lt2>
        <a:srgbClr val="E3E5EC"/>
      </a:lt2>
      <a:accent1>
        <a:srgbClr val="24366B"/>
      </a:accent1>
      <a:accent2>
        <a:srgbClr val="B8862B"/>
      </a:accent2>
      <a:accent3>
        <a:srgbClr val="7C86A6"/>
      </a:accent3>
      <a:accent4>
        <a:srgbClr val="815E1E"/>
      </a:accent4>
      <a:accent5>
        <a:srgbClr val="4A505C"/>
      </a:accent5>
      <a:accent6>
        <a:srgbClr val="D9BF8F"/>
      </a:accent6>
      <a:hlink>
        <a:srgbClr val="24366B"/>
      </a:hlink>
      <a:folHlink>
        <a:srgbClr val="19264B"/>
      </a:folHlink>
    </a:clrScheme>
    <a:fontScheme name="Ad Astra tripl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Communicable Diseases · Chapter 2: Pathogens and how they spread</dc:title>
  <dc:subject>Biology (Triple Science) · Year 10</dc:subject>
  <dc:creator>Dr Vitor Merissi de Carvalho</dc:creator>
  <cp:lastModifiedBy>Dr Vitor Merissi de Carvalho</cp:lastModifiedBy>
  <cp:revision>1</cp:revision>
  <dcterms:created xsi:type="dcterms:W3CDTF">2026-10-18T17:47:18Z</dcterms:created>
  <dcterms:modified xsi:type="dcterms:W3CDTF">2026-10-18T17:47:18Z</dcterms:modified>
</cp:coreProperties>
</file>