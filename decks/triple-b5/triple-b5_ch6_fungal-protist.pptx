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33c6afe-2de4-c07d-2f43-77a34c5dc275}">
          <p14:sldIdLst>
            <p14:sldId id="256"/>
          </p14:sldIdLst>
        </p14:section>
        <p14:section name="Gate" id="{466a1184-7f12-66c6-13a8-902bd907ec3b}">
          <p14:sldIdLst>
            <p14:sldId id="257"/>
            <p14:sldId id="258"/>
          </p14:sldIdLst>
        </p14:section>
        <p14:section name="Pre-teach" id="{65f8031e-7b41-86c5-7ea1-4c9d65a41f5e}">
          <p14:sldIdLst>
            <p14:sldId id="259"/>
          </p14:sldIdLst>
        </p14:section>
        <p14:section name="Read-along" id="{35fe6687-9f7a-875e-585b-a84e94ee0ef2}">
          <p14:sldIdLst>
            <p14:sldId id="260"/>
            <p14:sldId id="261"/>
          </p14:sldIdLst>
        </p14:section>
        <p14:section name="Teach" id="{f486e57d-a127-276a-bb8b-a4a94c7af7e8}">
          <p14:sldIdLst>
            <p14:sldId id="262"/>
            <p14:sldId id="263"/>
            <p14:sldId id="264"/>
            <p14:sldId id="265"/>
            <p14:sldId id="266"/>
          </p14:sldIdLst>
        </p14:section>
        <p14:section name="Routes" id="{4d5aacc1-1094-c724-cbb5-4b8afac74df1}">
          <p14:sldIdLst>
            <p14:sldId id="267"/>
            <p14:sldId id="268"/>
            <p14:sldId id="269"/>
            <p14:sldId id="270"/>
          </p14:sldIdLst>
        </p14:section>
        <p14:section name="Close" id="{49532847-dfc0-e234-4b0c-13fb8dbd04fe}">
          <p14:sldIdLst>
            <p14:sldId id="271"/>
          </p14:sldIdLst>
        </p14:section>
        <p14:section name="Answers" id="{6bbf2e92-1006-bf22-01bc-9d6878272678}">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Fungal and protist diseases. Rose black spot and athlete's foot, both caused by fungi, and malaria, caused by a protist with a mosquito vector: symptoms, spread and control.
This deck covers the department's lesson: 7 (B5.8 Diseases caused by fungi and protists: What causes rose black spot, athlete's foot and malaria, and how are they controlled?).
Read the big question aloud: "How do pathogens spread disease between people, animals and plants, and how can we stop them?"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type of pathogen causes rose black spot?  →  A   A fungus
2. Malaria is caused by a protist called ___.  →  Plasmodium
3. How does rose black spot reduce the growth of a rose plant?  →  A   Leaves drop early, so less photosynthesis takes place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A fungus. Rose black spot is a fungal disease spread by water or wind, treated with fungicides and by removing infected leaves.
2. Plasmodium. Plasmodium is the protist that causes malaria. Its life cycle includes the mosquito, which carries it from person to person.
3. A   Leaves drop early, so less photosynthesis takes place. The spotted leaves turn yellow and drop early, so the plant has less leaf area for photosynthesis and makes less food.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fungus: a type of pathogen; moulds and yeasts are fungi. Example: "Rose black spot is caused by a fungus."
• protist: a single-celled organism; some protists cause disease. Example: "Malaria is caused by a protist."
• Plasmodium: the protist that causes malaria. Example: "Plasmodium is carried from person to person by mosquitoes."
• fungicide: a chemical that kills fungi. Example: "Gardeners spray roses with fungicide to treat black spot."
• photosynthesis: how plants make food using light in their leaves. Example: "When leaves drop early, less photosynthesis can happen."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Rose black spot is a disease of plants caused by a fungus.
2. Purple or black spots grow on the leaves.
3. The leaves turn yellow and drop early.
4. The plant makes less food, because less photosynthesis can take place.
5. The fungus spreads by water or wind.
6. Gardeners treat it with fungicides and by removing the infected leaves.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Athlete's foot is a fungal disease of the skin between the toes.
8. It spreads where feet are warm, damp and bare.
9. Malaria is caused by a protist called Plasmodium.
10. A mosquito carries the protist from one person to another, so it is a vector.
11. Malaria causes repeated fevers and can be fatal.
12. Stopping mosquitoes breeding and sleeping under nets help to stop malaria.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Rose black spot. Say it in your own words, then check understanding with a quick question: ask a pupil from the pre-teach group first, since they met these words and ideas before the lesson. Pupils try to recall before you re-explain.
Rose black spot is a fungal disease. Purple or black spots develop on the leaves, which often turn yellow and drop early. Because the plant loses leaves, and the spotted leaves work less well, less photosynthesis takes place, so the plant makes less food and its growth is reduced.
The fungus is spread in the environment by water or wind, so it moves easily from plant to plant in a garden. Rose black spot can be treated by spraying with fungicides, chemicals that kill fungi, and by removing and destroying the affected leaves so that the fungus cannot spread from them.
Tip: Spots, yellow, drop early, less photosynthesis, less growth: five words that earn the symptom-and-effect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Athlete's foot. Say it in your own words, then check understanding with a quick question: ask a pupil from the pre-teach group first, since they met these words and ideas before the lesson. Pupils try to recall before you re-explain.
Athlete's foot is a rash caused by a fungus, usually between the toes. The skin becomes itchy, red, scaly, dry, cracked or blistered. The fungi feed on the dead skin and keratin in your skin, growing fastest where it is warm and damp, and damage the cells as they grow.
It is not usually serious, but it should be treated so that it does not spread to other parts of the body or to other people. Scratching the rash and then touching other parts of your body can spread it. To prevent it, keep your feet clean and dry, do not share towels, socks or shoes, and do not walk barefoot in public changing rooms. Treatment is with antifungal creams, sprays or liquids from a pharmacy.
Tip: Athlete's foot is in the deck but not in the AQA specification; the examined fungal disease is rose black spot. Learn athlete's foot as a second example of how fungal diseases spread and are treated.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Malaria: a protist with a vector. Say it in your own words, then check understanding with a quick question: ask a pupil from the pre-teach group first, since they met these words and ideas before the lesson. Pupils try to recall before you re-explain.
The pathogens that cause malaria are protists called Plasmodium. The protist's life cycle includes the mosquito. When an infected mosquito feeds on a person, it passes Plasmodium into their blood. The protist travels to the liver, multiplies inside liver cells and bursts out of them, then infects red blood cells, reproducing inside them until they too burst and release more protists. If another mosquito bites the infected person, it picks up the protist and can carry it to someone else. The mosquito is the vector.
The bursting of red blood cells causes recurrent episodes of fever, with sweats and chills, headaches, vomiting and diarrhoea. The blood also loses some of its ability to carry oxygen. Malaria can be fatal if it is not treated quickly.
The spread of malaria is controlled by stopping the vector: preventing mosquitoes from breeding by removing stagnant water, and avoiding bites by sleeping under mosquito nets, wearing long sleeves and trousers and using insect repellent. Antimalarial medicines can be taken before, during and after a visit to an area with malaria; they stop Plasmodium infecting the liver or red blood cells, or destroy it directly.
Worked example — model it step by step, thinking aloud: Explain how sleeping under a mosquito net reduces the spread of malaria. (3 marks) (1) Name the vector and what it does: mosquitoes carry the Plasmodium protist and pass it on when they bite. (2) Say what the net does: it stops mosquitoes reaching the sleeper, so they cannot bite. (3) Link to spread in both directions: an uninfected person is not given the protist, and an infected person cannot pass it on to a mosquito that would carry it to someone else. Answer: Malaria is spread by mosquitoes, the vector, when they bite; the net stops mosquitoes biting the sleeper, so the protist is neither passed to the sleeper nor picked up from them to be carried to another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Malaria: a protist with a vector. Say it in your own words, then check understanding with a quick question: ask a pupil from the pre-teach group first, since they met these words and ideas before the lesson. Pupils try to recall before you re-explain.
The pathogens that cause malaria are protists called Plasmodium. The protist's life cycle includes the mosquito. When an infected mosquito feeds on a person, it passes Plasmodium into their blood. The protist travels to the liver, multiplies inside liver cells and bursts out of them, then infects red blood cells, reproducing inside them until they too burst and release more protists. If another mosquito bites the infected person, it picks up the protist and can carry it to someone else. The mosquito is the vector.
The bursting of red blood cells causes recurrent episodes of fever, with sweats and chills, headaches, vomiting and diarrhoea. The blood also loses some of its ability to carry oxygen. Malaria can be fatal if it is not treated quickly.
The spread of malaria is controlled by stopping the vector: preventing mosquitoes from breeding by removing stagnant water, and avoiding bites by sleeping under mosquito nets, wearing long sleeves and trousers and using insect repellent. Antimalarial medicines can be taken before, during and after a visit to an area with malaria; they stop Plasmodium infecting the liver or red blood cells, or destroy it directly.
Worked example — model it step by step, thinking aloud: Explain how sleeping under a mosquito net reduces the spread of malaria. (3 marks) (1) Name the vector and what it does: mosquitoes carry the Plasmodium protist and pass it on when they bite. (2) Say what the net does: it stops mosquitoes reaching the sleeper, so they cannot bite. (3) Link to spread in both directions: an uninfected person is not given the protist, and an infected person cannot pass it on to a mosquito that would carry it to someone else. Answer: Malaria is spread by mosquitoes, the vector, when they bite; the net stops mosquitoes biting the sleeper, so the protist is neither passed to the sleeper nor picked up from them to be carried to another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Comparing treatments. Say it in your own words, then check understanding with a quick question: ask a pupil from the pre-teach group first, since they met these words and ideas before the lesson. Pupils try to recall before you re-explain.
Each type of pathogen needs a different kind of treatment. Bacterial diseases can be treated with antibiotics, which kill bacteria, though resistant strains are a growing problem. Viral diseases cannot be treated with antibiotics; antiviral drugs slow the virus by stopping it replicating, and vaccination prevents many viral diseases.
Fungal diseases are treated with antifungal creams in people and with fungicides in plants, and by removing infected material. Protist diseases such as malaria are treated with antimalarial drugs, but the most powerful tool is controlling the vector so that the protist cannot move from person to person.
Tip: Match the drug to the pathogen: antibiotic to bacterium, antiviral to virus, antifungal or fungicide to fungus, antimalarial to protist.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life cycle of Plasmodium.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of the malaria life cycle in the correct order, starting with the bite.
Support — work through the steps with the group: (1) The cycle starts with the vector putting the protist into a person: the bite. (2) The protist goes to one organ first, then to the blood cells. Which organ does the deck name? (3) Fever happens when the blood cells burst. (4) The cycle ends when a new mosquito picks the protist up to carry it on.
Parallel worked example for Support (model it, do not give the task answer): Put these stages of a cold spreading in order: the virus reproduces in the new person's cells; a person with a cold sneezes; the new person sneezes and passes it on; someone nearby breathes in the droplets. Start with the person who already has it: the sneeze.; Then the droplets are breathed in.; The virus reproduces before the new person has symptoms.; Finally the new person passes it on.. Answer: A person with a cold sneezes; someone breathes in the droplets; the virus reproduces in their cells; they sneeze and pass it on..
Core — reveal the hint only on request: Bite, liver, blood cells, fever, next mosquito.
Stretch — no help; when finished: Antimalarial drugs stop Plasmodium infecting the liver or red blood cells. Say which stages of the cycle they interrupt, and why the drugs are taken before, during and after a visit to a malaria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life cycle of Plasmodium.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of the malaria life cycle in the correct order, starting with the bite.
Support — work through the steps with the group: (1) The cycle starts with the vector putting the protist into a person: the bite. (2) The protist goes to one organ first, then to the blood cells. Which organ does the deck name? (3) Fever happens when the blood cells burst. (4) The cycle ends when a new mosquito picks the protist up to carry it on.
Parallel worked example for Support (model it, do not give the task answer): Put these stages of a cold spreading in order: the virus reproduces in the new person's cells; a person with a cold sneezes; the new person sneezes and passes it on; someone nearby breathes in the droplets. Start with the person who already has it: the sneeze.; Then the droplets are breathed in.; The virus reproduces before the new person has symptoms.; Finally the new person passes it on.. Answer: A person with a cold sneezes; someone breathes in the droplets; the virus reproduces in their cells; they sneeze and pass it on..
Core — reveal the hint only on request: Bite, liver, blood cells, fever, next mosquito.
Stretch — no help; when finished: Antimalarial drugs stop Plasmodium infecting the liver or red blood cells. Say which stages of the cycle they interrupt, and why the drugs are taken before, during and after a visit to a malaria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Stopping the vector breeding.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village removes all the containers and puddles of stagnant water where mosquitoes lay their eggs. How does this reduce the spread of malaria?
Support — work through the steps with the group: (1) Where do mosquitoes lay their eggs? In stagnant water. (2) If the water is removed, what happens to the number of new mosquitoes? It falls. (3) Mosquitoes are the vector: they carry Plasmodium from person to person. (4) Fewer mosquitoes means fewer chances for the protist to be carried.
Parallel worked example for Support (model it, do not give the task answer): A family in a malaria area sleeps under mosquito nets every night. How does this reduce the spread of malaria? The net keeps mosquitoes away from the sleepers.; So the vector cannot bite them.; So the protist is not passed to them, and cannot be picked up from them.. Answer: It stops the vector biting, so Plasmodium is not passed to or from the sleepers..
Core — reveal the hint only on request: The method acts on the mosquito, not on the protist or the person. At which stage of the mosquito's life?
Stretch — no help; when finished: Explain why controlling the vector can protect a whole village, whereas antimalarial tablets protect only the person who takes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Stopping the vector breeding.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village removes all the containers and puddles of stagnant water where mosquitoes lay their eggs. How does this reduce the spread of malaria?
Support — work through the steps with the group: (1) Where do mosquitoes lay their eggs? In stagnant water. (2) If the water is removed, what happens to the number of new mosquitoes? It falls. (3) Mosquitoes are the vector: they carry Plasmodium from person to person. (4) Fewer mosquitoes means fewer chances for the protist to be carried.
Parallel worked example for Support (model it, do not give the task answer): A family in a malaria area sleeps under mosquito nets every night. How does this reduce the spread of malaria? The net keeps mosquitoes away from the sleepers.; So the vector cannot bite them.; So the protist is not passed to them, and cannot be picked up from them.. Answer: It stops the vector biting, so Plasmodium is not passed to or from the sleepers..
Core — reveal the hint only on request: The method acts on the mosquito, not on the protist or the person. At which stage of the mosquito's life?
Stretch — no help; when finished: Explain why controlling the vector can protect a whole village, whereas antimalarial tablets protect only the person who takes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type of pathogen causes rose black spot?
Answer: D   A fungus. Rose black spot is a fungal disease spread by water or wind, treated with fungicides and by removing infected leaves.
Source of this question: gate item 1 re-asked (options rotated) — this chapter has no third quick-check module.
The ebook also holds task 3, "Pathogen and treatment",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life cycle of Plasmodium. Reveal the answer; pupils mark their own work in a different colour, then read the "why" together. Same destination for every lane, so one answer serves the whole class.
Answer: An infected mosquito bites a person  (E); Plasmodium travels in the blood to the liver  (D); It reproduces inside liver cells and bursts out of them  (C); It infects red blood cells and keeps reproducing  (A); Infected red blood cells burst, causing fever and chills  (F); Another mosquito bites the person and picks up the protist  (B)
Why: The mosquito bite delivers Plasmodium; it multiplies in the liver, then in red blood cells; bursting red blood cells cause the fever; another mosquito picks up the protist and carries it 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Stopping the vector breeding. Reveal the answer; pupils mark their own work in a different colour, then read the "why" together. Same destination for every lane, so one answer serves the whole class.
Answer: A   It stops the vector breeding, so fewer mosquitoes carry the protist from person to person
Why: Mosquitoes breed in stagnant water. Removing it stops the vector breeding, so fewer mosquitoes are around to carry Plasmodium from one person to another.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A fungus
Why: Rose black spot is a fungal disease spread by water or wind, treated with fungicides and by removing infected leaves.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8CDDA"/>
          </a:solidFill>
          <a:ln w="12700">
            <a:solidFill>
              <a:srgbClr val="C8CD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Biology (Triple Science) · Year 10 · Communicable Diseases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8CDDA"/>
          </a:solidFill>
          <a:ln w="12700">
            <a:solidFill>
              <a:srgbClr val="C8CD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Biology (Triple Science) · Year 10 · Communicable Diseases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4366B"/>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DD1DD"/>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4366B"/>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4366B"/>
                </a:solidFill>
                <a:latin typeface="Calibri" pitchFamily="34" charset="0"/>
                <a:ea typeface="Calibri" pitchFamily="34" charset="-122"/>
                <a:cs typeface="Calibri" pitchFamily="34" charset="-120"/>
              </a:rPr>
              <a:t>Biology (Triple Science)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Communicable Diseases · AQA 8461</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Fungal and protist diseases</a:t>
            </a:r>
            <a:endParaRPr lang="en-US" sz="4000" dirty="0"/>
          </a:p>
        </p:txBody>
      </p:sp>
      <p:sp>
        <p:nvSpPr>
          <p:cNvPr id="11" name="lessons-card"/>
          <p:cNvSpPr/>
          <p:nvPr/>
        </p:nvSpPr>
        <p:spPr>
          <a:xfrm>
            <a:off x="548640" y="4069588"/>
            <a:ext cx="5287975" cy="980440"/>
          </a:xfrm>
          <a:prstGeom prst="roundRect">
            <a:avLst>
              <a:gd name="adj" fmla="val 7461"/>
            </a:avLst>
          </a:prstGeom>
          <a:solidFill>
            <a:srgbClr val="E3E5EC"/>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4366B"/>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B5.8 Diseases caused by fungi and protists</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Biology (Triple Scienc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3E5EC"/>
          </a:solidFill>
          <a:ln w="12700">
            <a:solidFill>
              <a:srgbClr val="A1A9BF"/>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4366B"/>
                </a:solidFill>
                <a:latin typeface="Calibri" pitchFamily="34" charset="0"/>
                <a:ea typeface="Calibri" pitchFamily="34" charset="-122"/>
                <a:cs typeface="Calibri" pitchFamily="34" charset="-120"/>
              </a:rPr>
              <a:t>Big question</a:t>
            </a:r>
            <a:endParaRPr lang="en-US" sz="1800" dirty="0"/>
          </a:p>
          <a:p>
            <a:pPr algn="l" indent="0" marL="0">
              <a:buNone/>
            </a:pPr>
            <a:r>
              <a:rPr lang="en-US" sz="2200" i="1" dirty="0">
                <a:solidFill>
                  <a:srgbClr val="1E2229"/>
                </a:solidFill>
                <a:latin typeface="Cambria" pitchFamily="34" charset="0"/>
                <a:ea typeface="Cambria" pitchFamily="34" charset="-122"/>
                <a:cs typeface="Cambria" pitchFamily="34" charset="-120"/>
              </a:rPr>
              <a:t>How do pathogens spread disease between people, animals and plants, and how can we stop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E9EBF0"/>
          </a:solidFill>
          <a:ln w="12700">
            <a:solidFill>
              <a:srgbClr val="ACB3C7"/>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type of pathogen causes rose black spot?</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fungus</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virus</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bacterium</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protist</a:t>
            </a:r>
            <a:endParaRPr lang="en-US" sz="2400" dirty="0"/>
          </a:p>
        </p:txBody>
      </p:sp>
      <p:sp>
        <p:nvSpPr>
          <p:cNvPr id="12" name="card"/>
          <p:cNvSpPr/>
          <p:nvPr/>
        </p:nvSpPr>
        <p:spPr>
          <a:xfrm>
            <a:off x="3459404" y="1389888"/>
            <a:ext cx="2636444" cy="4754880"/>
          </a:xfrm>
          <a:prstGeom prst="roundRect">
            <a:avLst>
              <a:gd name="adj" fmla="val 2081"/>
            </a:avLst>
          </a:prstGeom>
          <a:solidFill>
            <a:srgbClr val="E9EBF0"/>
          </a:solidFill>
          <a:ln w="12700">
            <a:solidFill>
              <a:srgbClr val="ACB3C7"/>
            </a:solidFill>
            <a:prstDash val="solid"/>
          </a:ln>
        </p:spPr>
      </p:sp>
      <p:sp>
        <p:nvSpPr>
          <p:cNvPr id="13" name="card-hex"/>
          <p:cNvSpPr/>
          <p:nvPr/>
        </p:nvSpPr>
        <p:spPr>
          <a:xfrm>
            <a:off x="3642284" y="1572768"/>
            <a:ext cx="640080" cy="554309"/>
          </a:xfrm>
          <a:prstGeom prst="hexagon">
            <a:avLst/>
          </a:prstGeom>
          <a:solidFill>
            <a:srgbClr val="24366B"/>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3642284"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Malaria is caused by a protist called ___.</a:t>
            </a:r>
            <a:endParaRPr lang="en-US" sz="2400" dirty="0"/>
          </a:p>
          <a:p>
            <a:pPr algn="l" indent="0" marL="0">
              <a:buNone/>
            </a:pPr>
            <a:r>
              <a:rPr lang="en-US" sz="2400" b="1" dirty="0">
                <a:solidFill>
                  <a:srgbClr val="24366B"/>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Plasmodium  ·  Salmonella  ·  dermatophyte</a:t>
            </a:r>
            <a:endParaRPr lang="en-US" sz="2400" dirty="0"/>
          </a:p>
        </p:txBody>
      </p:sp>
      <p:sp>
        <p:nvSpPr>
          <p:cNvPr id="17" name="card"/>
          <p:cNvSpPr/>
          <p:nvPr/>
        </p:nvSpPr>
        <p:spPr>
          <a:xfrm>
            <a:off x="6370168" y="1389888"/>
            <a:ext cx="5272888" cy="4754880"/>
          </a:xfrm>
          <a:prstGeom prst="roundRect">
            <a:avLst>
              <a:gd name="adj" fmla="val 1154"/>
            </a:avLst>
          </a:prstGeom>
          <a:solidFill>
            <a:srgbClr val="E9EBF0"/>
          </a:solidFill>
          <a:ln w="12700">
            <a:solidFill>
              <a:srgbClr val="ACB3C7"/>
            </a:solidFill>
            <a:prstDash val="solid"/>
          </a:ln>
        </p:spPr>
      </p:sp>
      <p:sp>
        <p:nvSpPr>
          <p:cNvPr id="18" name="card-hex"/>
          <p:cNvSpPr/>
          <p:nvPr/>
        </p:nvSpPr>
        <p:spPr>
          <a:xfrm>
            <a:off x="6553048" y="1572768"/>
            <a:ext cx="640080" cy="554309"/>
          </a:xfrm>
          <a:prstGeom prst="hexagon">
            <a:avLst/>
          </a:prstGeom>
          <a:solidFill>
            <a:srgbClr val="24366B"/>
          </a:solidFill>
          <a:ln/>
        </p:spPr>
      </p:sp>
      <p:sp>
        <p:nvSpPr>
          <p:cNvPr id="19"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6553048"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How does rose black spot reduce the growth of a rose plant?</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Leaves drop early, so less photosynthesis takes place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fungus eats the roots, so the plant cannot take up water</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flowers cannot make pollen</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stem is blocked, so water cannot reach the leaves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E9EBF0"/>
          </a:solidFill>
          <a:ln w="12700">
            <a:solidFill>
              <a:srgbClr val="ACB3C7"/>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A fungus</a:t>
            </a:r>
            <a:endParaRPr lang="en-US" sz="2200" dirty="0"/>
          </a:p>
        </p:txBody>
      </p:sp>
      <p:sp>
        <p:nvSpPr>
          <p:cNvPr id="13" name="card-body"/>
          <p:cNvSpPr txBox="1"/>
          <p:nvPr/>
        </p:nvSpPr>
        <p:spPr>
          <a:xfrm>
            <a:off x="731520"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Rose black spot is a fungal disease spread by water or wind, treated with fungicides and by removing infected leaves.</a:t>
            </a:r>
            <a:endParaRPr lang="en-US" sz="1800" dirty="0"/>
          </a:p>
        </p:txBody>
      </p:sp>
      <p:sp>
        <p:nvSpPr>
          <p:cNvPr id="14" name="card"/>
          <p:cNvSpPr/>
          <p:nvPr/>
        </p:nvSpPr>
        <p:spPr>
          <a:xfrm>
            <a:off x="3459404" y="1389888"/>
            <a:ext cx="2636444" cy="4754880"/>
          </a:xfrm>
          <a:prstGeom prst="roundRect">
            <a:avLst>
              <a:gd name="adj" fmla="val 2081"/>
            </a:avLst>
          </a:prstGeom>
          <a:solidFill>
            <a:srgbClr val="E9EBF0"/>
          </a:solidFill>
          <a:ln w="12700">
            <a:solidFill>
              <a:srgbClr val="ACB3C7"/>
            </a:solidFill>
            <a:prstDash val="solid"/>
          </a:ln>
        </p:spPr>
      </p:sp>
      <p:sp>
        <p:nvSpPr>
          <p:cNvPr id="15" name="card-hex"/>
          <p:cNvSpPr/>
          <p:nvPr/>
        </p:nvSpPr>
        <p:spPr>
          <a:xfrm>
            <a:off x="3642284" y="1572768"/>
            <a:ext cx="640080" cy="554309"/>
          </a:xfrm>
          <a:prstGeom prst="hexagon">
            <a:avLst/>
          </a:prstGeom>
          <a:solidFill>
            <a:srgbClr val="24366B"/>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2270684"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3733724"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Plasmodium</a:t>
            </a:r>
            <a:endParaRPr lang="en-US" sz="2200" dirty="0"/>
          </a:p>
        </p:txBody>
      </p:sp>
      <p:sp>
        <p:nvSpPr>
          <p:cNvPr id="20" name="card-body"/>
          <p:cNvSpPr txBox="1"/>
          <p:nvPr/>
        </p:nvSpPr>
        <p:spPr>
          <a:xfrm>
            <a:off x="3642284"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Malaria is caused by a protist called ___.</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Plasmodium is the protist that causes malaria. Its life cycle includes the mosquito, which carries it from person to person.</a:t>
            </a:r>
            <a:endParaRPr lang="en-US" sz="1800" dirty="0"/>
          </a:p>
        </p:txBody>
      </p:sp>
      <p:sp>
        <p:nvSpPr>
          <p:cNvPr id="21" name="card"/>
          <p:cNvSpPr/>
          <p:nvPr/>
        </p:nvSpPr>
        <p:spPr>
          <a:xfrm>
            <a:off x="6370168" y="1389888"/>
            <a:ext cx="5272888" cy="4754880"/>
          </a:xfrm>
          <a:prstGeom prst="roundRect">
            <a:avLst>
              <a:gd name="adj" fmla="val 1154"/>
            </a:avLst>
          </a:prstGeom>
          <a:solidFill>
            <a:srgbClr val="E9EBF0"/>
          </a:solidFill>
          <a:ln w="12700">
            <a:solidFill>
              <a:srgbClr val="ACB3C7"/>
            </a:solidFill>
            <a:prstDash val="solid"/>
          </a:ln>
        </p:spPr>
      </p:sp>
      <p:sp>
        <p:nvSpPr>
          <p:cNvPr id="22" name="card-hex"/>
          <p:cNvSpPr/>
          <p:nvPr/>
        </p:nvSpPr>
        <p:spPr>
          <a:xfrm>
            <a:off x="6553048" y="1572768"/>
            <a:ext cx="640080" cy="554309"/>
          </a:xfrm>
          <a:prstGeom prst="hexagon">
            <a:avLst/>
          </a:prstGeom>
          <a:solidFill>
            <a:srgbClr val="24366B"/>
          </a:solidFill>
          <a:ln/>
        </p:spPr>
      </p:sp>
      <p:sp>
        <p:nvSpPr>
          <p:cNvPr id="23"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6553048" y="2355677"/>
            <a:ext cx="4907128" cy="955040"/>
          </a:xfrm>
          <a:prstGeom prst="roundRect">
            <a:avLst>
              <a:gd name="adj" fmla="val 11489"/>
            </a:avLst>
          </a:prstGeom>
          <a:solidFill>
            <a:srgbClr val="EBDDC4"/>
          </a:solidFill>
          <a:ln w="19050">
            <a:solidFill>
              <a:srgbClr val="B8862B"/>
            </a:solidFill>
            <a:prstDash val="solid"/>
          </a:ln>
        </p:spPr>
      </p:sp>
      <p:sp>
        <p:nvSpPr>
          <p:cNvPr id="26" name="answer"/>
          <p:cNvSpPr txBox="1"/>
          <p:nvPr/>
        </p:nvSpPr>
        <p:spPr>
          <a:xfrm>
            <a:off x="6644488"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Leaves drop early, so less photosynthesis takes place</a:t>
            </a:r>
            <a:endParaRPr lang="en-US" sz="2200" dirty="0"/>
          </a:p>
        </p:txBody>
      </p:sp>
      <p:sp>
        <p:nvSpPr>
          <p:cNvPr id="27" name="card-body"/>
          <p:cNvSpPr txBox="1"/>
          <p:nvPr/>
        </p:nvSpPr>
        <p:spPr>
          <a:xfrm>
            <a:off x="6553048"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How does rose black spot reduce the growth of a rose plant?</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spotted leaves turn yellow and drop early, so the plant has less leaf area for photosynthesis and makes less food.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24366B"/>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E7E9EF"/>
          </a:solidFill>
          <a:ln/>
        </p:spPr>
      </p:sp>
      <p:sp>
        <p:nvSpPr>
          <p:cNvPr id="12" name="kw-hex"/>
          <p:cNvSpPr/>
          <p:nvPr/>
        </p:nvSpPr>
        <p:spPr>
          <a:xfrm>
            <a:off x="658368" y="2135261"/>
            <a:ext cx="411480" cy="356342"/>
          </a:xfrm>
          <a:prstGeom prst="hexagon">
            <a:avLst/>
          </a:prstGeom>
          <a:solidFill>
            <a:srgbClr val="24366B"/>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fungus</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type of pathogen; moulds and yeasts are fungi</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Rose black spot is caused by a fungus.</a:t>
            </a:r>
            <a:endParaRPr lang="en-US" sz="1800" dirty="0"/>
          </a:p>
        </p:txBody>
      </p:sp>
      <p:sp>
        <p:nvSpPr>
          <p:cNvPr id="16" name="kw-row"/>
          <p:cNvSpPr/>
          <p:nvPr/>
        </p:nvSpPr>
        <p:spPr>
          <a:xfrm>
            <a:off x="548640" y="2779776"/>
            <a:ext cx="11094415" cy="786384"/>
          </a:xfrm>
          <a:prstGeom prst="roundRect">
            <a:avLst>
              <a:gd name="adj" fmla="val 6977"/>
            </a:avLst>
          </a:prstGeom>
          <a:solidFill>
            <a:srgbClr val="F4EDDF"/>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protist</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single-celled organism; some protists cause disease</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Malaria is caused by a protist.</a:t>
            </a:r>
            <a:endParaRPr lang="en-US" sz="1800" dirty="0"/>
          </a:p>
        </p:txBody>
      </p:sp>
      <p:sp>
        <p:nvSpPr>
          <p:cNvPr id="21" name="kw-row"/>
          <p:cNvSpPr/>
          <p:nvPr/>
        </p:nvSpPr>
        <p:spPr>
          <a:xfrm>
            <a:off x="548640" y="3639312"/>
            <a:ext cx="11094415" cy="786384"/>
          </a:xfrm>
          <a:prstGeom prst="roundRect">
            <a:avLst>
              <a:gd name="adj" fmla="val 6977"/>
            </a:avLst>
          </a:prstGeom>
          <a:solidFill>
            <a:srgbClr val="E7E9EF"/>
          </a:solidFill>
          <a:ln/>
        </p:spPr>
      </p:sp>
      <p:sp>
        <p:nvSpPr>
          <p:cNvPr id="22" name="kw-hex"/>
          <p:cNvSpPr/>
          <p:nvPr/>
        </p:nvSpPr>
        <p:spPr>
          <a:xfrm>
            <a:off x="658368" y="3854333"/>
            <a:ext cx="411480" cy="356342"/>
          </a:xfrm>
          <a:prstGeom prst="hexagon">
            <a:avLst/>
          </a:prstGeom>
          <a:solidFill>
            <a:srgbClr val="24366B"/>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Plasmodium</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protist that causes malaria</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Plasmodium is carried from person to person by mosquitoes.</a:t>
            </a:r>
            <a:endParaRPr lang="en-US" sz="1800" dirty="0"/>
          </a:p>
        </p:txBody>
      </p:sp>
      <p:sp>
        <p:nvSpPr>
          <p:cNvPr id="26" name="kw-row"/>
          <p:cNvSpPr/>
          <p:nvPr/>
        </p:nvSpPr>
        <p:spPr>
          <a:xfrm>
            <a:off x="548640" y="4498848"/>
            <a:ext cx="11094415" cy="786384"/>
          </a:xfrm>
          <a:prstGeom prst="roundRect">
            <a:avLst>
              <a:gd name="adj" fmla="val 6977"/>
            </a:avLst>
          </a:prstGeom>
          <a:solidFill>
            <a:srgbClr val="F4EDDF"/>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fungicide</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chemical that kills fungi</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Gardeners spray roses with fungicide to treat black spot.</a:t>
            </a:r>
            <a:endParaRPr lang="en-US" sz="1800" dirty="0"/>
          </a:p>
        </p:txBody>
      </p:sp>
      <p:sp>
        <p:nvSpPr>
          <p:cNvPr id="31" name="kw-row"/>
          <p:cNvSpPr/>
          <p:nvPr/>
        </p:nvSpPr>
        <p:spPr>
          <a:xfrm>
            <a:off x="548640" y="5358384"/>
            <a:ext cx="11094415" cy="786384"/>
          </a:xfrm>
          <a:prstGeom prst="roundRect">
            <a:avLst>
              <a:gd name="adj" fmla="val 6977"/>
            </a:avLst>
          </a:prstGeom>
          <a:solidFill>
            <a:srgbClr val="E7E9EF"/>
          </a:solidFill>
          <a:ln/>
        </p:spPr>
      </p:sp>
      <p:sp>
        <p:nvSpPr>
          <p:cNvPr id="32" name="kw-hex"/>
          <p:cNvSpPr/>
          <p:nvPr/>
        </p:nvSpPr>
        <p:spPr>
          <a:xfrm>
            <a:off x="658368" y="5573405"/>
            <a:ext cx="411480" cy="356342"/>
          </a:xfrm>
          <a:prstGeom prst="hexagon">
            <a:avLst/>
          </a:prstGeom>
          <a:solidFill>
            <a:srgbClr val="24366B"/>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photosynthesis</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how plants make food using light in their leaves</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When leaves drop early, less photosynthesis can happen.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EBF0"/>
          </a:solidFill>
          <a:ln w="12700">
            <a:solidFill>
              <a:srgbClr val="B7BD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Rose black spot is a disease of plants caused by a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fungus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Purple or black spots grow on the leaves.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leaves turn yellow and drop early.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plant makes less food, because less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photosynthesis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can take place.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fungus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spreads by water or wind.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Gardeners treat it with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fungicides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and by removing the infected leaves.</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EBF0"/>
          </a:solidFill>
          <a:ln w="12700">
            <a:solidFill>
              <a:srgbClr val="B7BD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Athlete's foot is a fungal disease of the skin between the toes.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spreads where feet are warm, damp and bare.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Malaria is caused by a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protist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called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Plasmodium</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mosquito carries the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protist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from one person to another, so it is a vector.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Malaria causes repeated fevers and can be fatal.</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Stopping mosquitoes breeding and sleeping under nets help to stop malaria.</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Rose black spot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Spots, yellow, drop early, less photosynthesis, less growth: five words that earn the symptom-and-effect marks.</a:t>
            </a:r>
            <a:endParaRPr lang="en-US" sz="1800" dirty="0"/>
          </a:p>
        </p:txBody>
      </p:sp>
      <p:sp>
        <p:nvSpPr>
          <p:cNvPr id="11" name="point-card"/>
          <p:cNvSpPr/>
          <p:nvPr/>
        </p:nvSpPr>
        <p:spPr>
          <a:xfrm>
            <a:off x="548640" y="1389888"/>
            <a:ext cx="5410048" cy="3686048"/>
          </a:xfrm>
          <a:prstGeom prst="roundRect">
            <a:avLst>
              <a:gd name="adj" fmla="val 1488"/>
            </a:avLst>
          </a:prstGeom>
          <a:solidFill>
            <a:srgbClr val="E3E5EC"/>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Rose black spot is a fungal disease. Purple or black spots develop on the leaves, which often turn yellow and drop early.</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fungus is spread in the environment by water or wind, so it moves easily from plant to plant in a garden.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Athlete's foot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Athlete's foot is in the deck but not in the AQA specification; the examined fungal disease is rose black spot. Learn athlete's foot as a second example of how fungal diseases spread and are treated.</a:t>
            </a:r>
            <a:endParaRPr lang="en-US" sz="1800" dirty="0"/>
          </a:p>
        </p:txBody>
      </p:sp>
      <p:sp>
        <p:nvSpPr>
          <p:cNvPr id="11" name="point-card"/>
          <p:cNvSpPr/>
          <p:nvPr/>
        </p:nvSpPr>
        <p:spPr>
          <a:xfrm>
            <a:off x="548640" y="1389888"/>
            <a:ext cx="5410048" cy="3686048"/>
          </a:xfrm>
          <a:prstGeom prst="roundRect">
            <a:avLst>
              <a:gd name="adj" fmla="val 1488"/>
            </a:avLst>
          </a:prstGeom>
          <a:solidFill>
            <a:srgbClr val="E3E5EC"/>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Athlete's foot is a rash caused by a fungus, usually between the toes.</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It is not usually serious, but it should be treated so that it does not spread to other parts of the body or to other people.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Malaria: a protist with a vector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E3E5EC"/>
          </a:solidFill>
          <a:ln/>
        </p:spPr>
      </p:sp>
      <p:sp>
        <p:nvSpPr>
          <p:cNvPr id="8" name="point-hex"/>
          <p:cNvSpPr/>
          <p:nvPr/>
        </p:nvSpPr>
        <p:spPr>
          <a:xfrm>
            <a:off x="731520" y="1572768"/>
            <a:ext cx="685800" cy="593903"/>
          </a:xfrm>
          <a:prstGeom prst="hexagon">
            <a:avLst/>
          </a:prstGeom>
          <a:solidFill>
            <a:srgbClr val="24366B"/>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pathogens that cause malaria are protists called Plasmodium. The protist's life cycle includes the mosquito.</a:t>
            </a:r>
            <a:endParaRPr lang="en-US" sz="2000" dirty="0"/>
          </a:p>
        </p:txBody>
      </p:sp>
      <p:sp>
        <p:nvSpPr>
          <p:cNvPr id="11" name="point-card"/>
          <p:cNvSpPr/>
          <p:nvPr/>
        </p:nvSpPr>
        <p:spPr>
          <a:xfrm>
            <a:off x="4338218" y="1389888"/>
            <a:ext cx="3515258" cy="4754880"/>
          </a:xfrm>
          <a:prstGeom prst="roundRect">
            <a:avLst>
              <a:gd name="adj" fmla="val 1561"/>
            </a:avLst>
          </a:prstGeom>
          <a:solidFill>
            <a:srgbClr val="F4EDDF"/>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bursting of red blood cells causes recurrent episodes of fever, with sweats and chills, headaches, vomiting and diarrhoea.</a:t>
            </a:r>
            <a:endParaRPr lang="en-US" sz="2000" dirty="0"/>
          </a:p>
        </p:txBody>
      </p:sp>
      <p:sp>
        <p:nvSpPr>
          <p:cNvPr id="15" name="point-card"/>
          <p:cNvSpPr/>
          <p:nvPr/>
        </p:nvSpPr>
        <p:spPr>
          <a:xfrm>
            <a:off x="8127797" y="1389888"/>
            <a:ext cx="3515258" cy="4754880"/>
          </a:xfrm>
          <a:prstGeom prst="roundRect">
            <a:avLst>
              <a:gd name="adj" fmla="val 1561"/>
            </a:avLst>
          </a:prstGeom>
          <a:solidFill>
            <a:srgbClr val="E3E5EC"/>
          </a:solidFill>
          <a:ln/>
        </p:spPr>
      </p:sp>
      <p:sp>
        <p:nvSpPr>
          <p:cNvPr id="16" name="point-hex"/>
          <p:cNvSpPr/>
          <p:nvPr/>
        </p:nvSpPr>
        <p:spPr>
          <a:xfrm>
            <a:off x="8310677" y="1572768"/>
            <a:ext cx="685800" cy="593903"/>
          </a:xfrm>
          <a:prstGeom prst="hexagon">
            <a:avLst/>
          </a:prstGeom>
          <a:solidFill>
            <a:srgbClr val="24366B"/>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spread of malaria is controlled by stopping the vector: preventing mosquitoes from breeding by removing stagnant water, and avoiding bites by sleeping under mosquito nets, wearing long sleeves and trousers and using insect repellent.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24366B"/>
                </a:solidFill>
                <a:latin typeface="Cambria" pitchFamily="34" charset="0"/>
                <a:ea typeface="Cambria" pitchFamily="34" charset="-122"/>
                <a:cs typeface="Cambria" pitchFamily="34" charset="-120"/>
              </a:rPr>
              <a:t>Worked example: Malaria: a protist with a vector</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E3E5EC"/>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Explain how sleeping under a mosquito net reduces the spread of malaria. (3 marks)</a:t>
            </a:r>
            <a:endParaRPr lang="en-US" sz="2000" dirty="0"/>
          </a:p>
        </p:txBody>
      </p:sp>
      <p:sp>
        <p:nvSpPr>
          <p:cNvPr id="9" name="step-box"/>
          <p:cNvSpPr/>
          <p:nvPr/>
        </p:nvSpPr>
        <p:spPr>
          <a:xfrm>
            <a:off x="548640" y="2192528"/>
            <a:ext cx="11094415" cy="865505"/>
          </a:xfrm>
          <a:prstGeom prst="roundRect">
            <a:avLst>
              <a:gd name="adj" fmla="val 8452"/>
            </a:avLst>
          </a:prstGeom>
          <a:solidFill>
            <a:srgbClr val="FFFFFF"/>
          </a:solidFill>
          <a:ln w="15875">
            <a:solidFill>
              <a:srgbClr val="8790AE"/>
            </a:solidFill>
            <a:prstDash val="solid"/>
          </a:ln>
        </p:spPr>
      </p:sp>
      <p:sp>
        <p:nvSpPr>
          <p:cNvPr id="10" name="step-hex"/>
          <p:cNvSpPr/>
          <p:nvPr/>
        </p:nvSpPr>
        <p:spPr>
          <a:xfrm>
            <a:off x="685800" y="2427313"/>
            <a:ext cx="457200" cy="395935"/>
          </a:xfrm>
          <a:prstGeom prst="hexagon">
            <a:avLst/>
          </a:prstGeom>
          <a:solidFill>
            <a:srgbClr val="24366B"/>
          </a:solidFill>
          <a:ln/>
        </p:spPr>
      </p:sp>
      <p:sp>
        <p:nvSpPr>
          <p:cNvPr id="11" name="step-hex-label"/>
          <p:cNvSpPr txBox="1"/>
          <p:nvPr/>
        </p:nvSpPr>
        <p:spPr>
          <a:xfrm>
            <a:off x="685800" y="2427313"/>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86550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Name the vector and what it does: mosquitoes carry the Plasmodium protist and pass it on when they bite.</a:t>
            </a:r>
            <a:endParaRPr lang="en-US" sz="1800" dirty="0"/>
          </a:p>
        </p:txBody>
      </p:sp>
      <p:sp>
        <p:nvSpPr>
          <p:cNvPr id="13" name="step-box"/>
          <p:cNvSpPr/>
          <p:nvPr/>
        </p:nvSpPr>
        <p:spPr>
          <a:xfrm>
            <a:off x="548640" y="3131185"/>
            <a:ext cx="11094415" cy="601345"/>
          </a:xfrm>
          <a:prstGeom prst="roundRect">
            <a:avLst>
              <a:gd name="adj" fmla="val 12165"/>
            </a:avLst>
          </a:prstGeom>
          <a:solidFill>
            <a:srgbClr val="FFFFFF"/>
          </a:solidFill>
          <a:ln w="15875">
            <a:solidFill>
              <a:srgbClr val="8790AE"/>
            </a:solidFill>
            <a:prstDash val="solid"/>
          </a:ln>
        </p:spPr>
      </p:sp>
      <p:sp>
        <p:nvSpPr>
          <p:cNvPr id="14" name="step-hex"/>
          <p:cNvSpPr/>
          <p:nvPr/>
        </p:nvSpPr>
        <p:spPr>
          <a:xfrm>
            <a:off x="685800" y="3233890"/>
            <a:ext cx="457200" cy="395935"/>
          </a:xfrm>
          <a:prstGeom prst="hexagon">
            <a:avLst/>
          </a:prstGeom>
          <a:solidFill>
            <a:srgbClr val="24366B"/>
          </a:solidFill>
          <a:ln/>
        </p:spPr>
      </p:sp>
      <p:sp>
        <p:nvSpPr>
          <p:cNvPr id="15" name="step-hex-label"/>
          <p:cNvSpPr txBox="1"/>
          <p:nvPr/>
        </p:nvSpPr>
        <p:spPr>
          <a:xfrm>
            <a:off x="685800" y="323389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131185"/>
            <a:ext cx="10180015" cy="60134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Say what the net does: it stops mosquitoes reaching the sleeper, so they cannot bite.</a:t>
            </a:r>
            <a:endParaRPr lang="en-US" sz="1800" dirty="0"/>
          </a:p>
        </p:txBody>
      </p:sp>
      <p:sp>
        <p:nvSpPr>
          <p:cNvPr id="17" name="step-box"/>
          <p:cNvSpPr/>
          <p:nvPr/>
        </p:nvSpPr>
        <p:spPr>
          <a:xfrm>
            <a:off x="548640" y="3805682"/>
            <a:ext cx="11094415" cy="865505"/>
          </a:xfrm>
          <a:prstGeom prst="roundRect">
            <a:avLst>
              <a:gd name="adj" fmla="val 8452"/>
            </a:avLst>
          </a:prstGeom>
          <a:solidFill>
            <a:srgbClr val="FFFFFF"/>
          </a:solidFill>
          <a:ln w="15875">
            <a:solidFill>
              <a:srgbClr val="8790AE"/>
            </a:solidFill>
            <a:prstDash val="solid"/>
          </a:ln>
        </p:spPr>
      </p:sp>
      <p:sp>
        <p:nvSpPr>
          <p:cNvPr id="18" name="step-hex"/>
          <p:cNvSpPr/>
          <p:nvPr/>
        </p:nvSpPr>
        <p:spPr>
          <a:xfrm>
            <a:off x="685800" y="4040467"/>
            <a:ext cx="457200" cy="395935"/>
          </a:xfrm>
          <a:prstGeom prst="hexagon">
            <a:avLst/>
          </a:prstGeom>
          <a:solidFill>
            <a:srgbClr val="24366B"/>
          </a:solidFill>
          <a:ln/>
        </p:spPr>
      </p:sp>
      <p:sp>
        <p:nvSpPr>
          <p:cNvPr id="19" name="step-hex-label"/>
          <p:cNvSpPr txBox="1"/>
          <p:nvPr/>
        </p:nvSpPr>
        <p:spPr>
          <a:xfrm>
            <a:off x="685800" y="4040467"/>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805682"/>
            <a:ext cx="10180015" cy="86550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Link to spread in both directions: an uninfected person is not given the protist, and an infected person cannot pass it on to a mosquito that would carry it to someone else.</a:t>
            </a:r>
            <a:endParaRPr lang="en-US" sz="1800" dirty="0"/>
          </a:p>
        </p:txBody>
      </p:sp>
      <p:sp>
        <p:nvSpPr>
          <p:cNvPr id="21" name="worked-answer"/>
          <p:cNvSpPr/>
          <p:nvPr/>
        </p:nvSpPr>
        <p:spPr>
          <a:xfrm>
            <a:off x="548640" y="4854067"/>
            <a:ext cx="11094415" cy="1109980"/>
          </a:xfrm>
          <a:prstGeom prst="roundRect">
            <a:avLst>
              <a:gd name="adj" fmla="val 12357"/>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Malaria is spread by mosquitoes, the vector, when they bite; the net stops mosquitoes biting the sleeper, so the protist is neither passed to the sleeper nor picked up from them to be carried to another person.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Comparing treatments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Match the drug to the pathogen: antibiotic to bacterium, antiviral to virus, antifungal or fungicide to fungus, antimalarial to protist.</a:t>
            </a:r>
            <a:endParaRPr lang="en-US" sz="1800" dirty="0"/>
          </a:p>
        </p:txBody>
      </p:sp>
      <p:sp>
        <p:nvSpPr>
          <p:cNvPr id="11" name="point-card"/>
          <p:cNvSpPr/>
          <p:nvPr/>
        </p:nvSpPr>
        <p:spPr>
          <a:xfrm>
            <a:off x="548640" y="1389888"/>
            <a:ext cx="5410048" cy="3686048"/>
          </a:xfrm>
          <a:prstGeom prst="roundRect">
            <a:avLst>
              <a:gd name="adj" fmla="val 1488"/>
            </a:avLst>
          </a:prstGeom>
          <a:solidFill>
            <a:srgbClr val="E3E5EC"/>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Each type of pathogen needs a different kind of treatment.</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Fungal diseases are treated with antifungal creams in people and with fungicides in plants, and by removing infected material.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The life cycle of Plasmodium</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stages of the malaria life cycle in the correct order, starting with the bite.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infects red blood cells and keeps reproducing</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Another mosquito bites the person and picks up the protist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reproduces inside liver cells and bursts out of them</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Plasmodium travels in the blood to the liver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An infected mosquito bites a person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Infected red blood cells burst, causing fever and chills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Same task, three ways in: The life cycle of Plasmodium</a:t>
            </a:r>
            <a:endParaRPr lang="en-US" sz="26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stages of the malaria life cycle in the correct order, starting with the bite.</a:t>
            </a:r>
            <a:endParaRPr lang="en-US" sz="2000" dirty="0"/>
          </a:p>
        </p:txBody>
      </p:sp>
      <p:sp>
        <p:nvSpPr>
          <p:cNvPr id="12" name="col-Support"/>
          <p:cNvSpPr/>
          <p:nvPr/>
        </p:nvSpPr>
        <p:spPr>
          <a:xfrm>
            <a:off x="548640" y="2593848"/>
            <a:ext cx="4667802" cy="3550920"/>
          </a:xfrm>
          <a:prstGeom prst="roundRect">
            <a:avLst>
              <a:gd name="adj" fmla="val 1545"/>
            </a:avLst>
          </a:prstGeom>
          <a:solidFill>
            <a:srgbClr val="E3E5EC"/>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cycle starts with the vector putting the protist into a person: the bite.</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protist goes to one organ first, then to the blood cells. Which organ does the deck name?</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Fever happens when the blood cells burst.</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cycle ends when a new mosquito picks the protist up to carry it on.</a:t>
            </a:r>
            <a:endParaRPr lang="en-US" sz="1800" dirty="0"/>
          </a:p>
        </p:txBody>
      </p:sp>
      <p:sp>
        <p:nvSpPr>
          <p:cNvPr id="17" name="col-Core"/>
          <p:cNvSpPr/>
          <p:nvPr/>
        </p:nvSpPr>
        <p:spPr>
          <a:xfrm>
            <a:off x="5490762" y="2593848"/>
            <a:ext cx="2938987" cy="3550920"/>
          </a:xfrm>
          <a:prstGeom prst="roundRect">
            <a:avLst>
              <a:gd name="adj" fmla="val 1867"/>
            </a:avLst>
          </a:prstGeom>
          <a:solidFill>
            <a:srgbClr val="C8CDDA"/>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Bite, liver, blood cells, fever, next mosquito.</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24366B"/>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Antimalarial drugs stop Plasmodium infecting the liver or red blood cells. Say which stages of the cycle they interrupt, and why the drugs are taken before, during and after a visit to a malaria area.</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Stopping the vector breeding</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village removes all the containers and puddles of stagnant water where mosquitoes lay their eggs. How does this reduce the spread of malaria?</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stops the vector breeding, so fewer mosquitoes carry the protist from person to person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kills the Plasmodium protist directly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stops people being bitten while they sleep</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makes people immune to the protist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Same task, three ways in: Stopping the vector breeding</a:t>
            </a:r>
            <a:endParaRPr lang="en-US" sz="26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village removes all the containers and puddles of stagnant water where mosquitoes lay their eggs. How does this reduce the spread of malaria?</a:t>
            </a:r>
            <a:endParaRPr lang="en-US" sz="2000" dirty="0"/>
          </a:p>
        </p:txBody>
      </p:sp>
      <p:sp>
        <p:nvSpPr>
          <p:cNvPr id="12" name="col-Support"/>
          <p:cNvSpPr/>
          <p:nvPr/>
        </p:nvSpPr>
        <p:spPr>
          <a:xfrm>
            <a:off x="548640" y="2593848"/>
            <a:ext cx="4667802" cy="3550920"/>
          </a:xfrm>
          <a:prstGeom prst="roundRect">
            <a:avLst>
              <a:gd name="adj" fmla="val 1545"/>
            </a:avLst>
          </a:prstGeom>
          <a:solidFill>
            <a:srgbClr val="E3E5EC"/>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Where do mosquitoes lay their eggs? In stagnant water.</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If the water is removed, what happens to the number of new mosquitoes? It falls.</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Mosquitoes are the vector: they carry Plasmodium from person to person.</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Fewer mosquitoes means fewer chances for the protist to be carried.</a:t>
            </a:r>
            <a:endParaRPr lang="en-US" sz="1800" dirty="0"/>
          </a:p>
        </p:txBody>
      </p:sp>
      <p:sp>
        <p:nvSpPr>
          <p:cNvPr id="17" name="col-Core"/>
          <p:cNvSpPr/>
          <p:nvPr/>
        </p:nvSpPr>
        <p:spPr>
          <a:xfrm>
            <a:off x="5490762" y="2593848"/>
            <a:ext cx="2938987" cy="3550920"/>
          </a:xfrm>
          <a:prstGeom prst="roundRect">
            <a:avLst>
              <a:gd name="adj" fmla="val 1867"/>
            </a:avLst>
          </a:prstGeom>
          <a:solidFill>
            <a:srgbClr val="C8CDDA"/>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The method acts on the mosquito, not on the protist or the person. At which stage of the mosquito's life?</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24366B"/>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controlling the vector can protect a whole village, whereas antimalarial tablets protect only the person who takes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4366B"/>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4366B"/>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type of pathogen causes rose black spot?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virus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bacterium</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protist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fungus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9EBF0"/>
          </a:solidFill>
          <a:ln w="12700">
            <a:solidFill>
              <a:srgbClr val="8B94B1"/>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The life cycle of Plasmodium</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An infected mosquito bites a person  (E)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Plasmodium travels in the blood to the liver  (D)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It reproduces inside liver cells and bursts out of them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It infects red blood cells and keeps reproducing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Infected red blood cells burst, causing fever and chills  (F)</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Another mosquito bites the person and picks up the protist  (B)</a:t>
            </a:r>
            <a:endParaRPr lang="en-US" sz="2000" dirty="0"/>
          </a:p>
        </p:txBody>
      </p:sp>
      <p:sp>
        <p:nvSpPr>
          <p:cNvPr id="10" name="why-panel"/>
          <p:cNvSpPr/>
          <p:nvPr/>
        </p:nvSpPr>
        <p:spPr>
          <a:xfrm>
            <a:off x="7223760" y="1389888"/>
            <a:ext cx="4419295" cy="4754880"/>
          </a:xfrm>
          <a:prstGeom prst="roundRect">
            <a:avLst>
              <a:gd name="adj" fmla="val 1035"/>
            </a:avLst>
          </a:prstGeom>
          <a:solidFill>
            <a:srgbClr val="E3E5EC"/>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mosquito bite delivers Plasmodium; it multiplies in the liver, then in red blood cells; bursting red blood cells cause the fever; another mosquito picks up the protist and carries it 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Stopping the vector breeding</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village removes all the containers and puddles of stagnant water where mosquitoes lay their eggs. How does this reduce the spread of malaria?</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It stops the vector breeding, so fewer mosquitoes carry the protist from person to person</a:t>
            </a:r>
            <a:endParaRPr lang="en-US" sz="1800" dirty="0"/>
          </a:p>
        </p:txBody>
      </p:sp>
      <p:sp>
        <p:nvSpPr>
          <p:cNvPr id="10" name="why-panel"/>
          <p:cNvSpPr/>
          <p:nvPr/>
        </p:nvSpPr>
        <p:spPr>
          <a:xfrm>
            <a:off x="7223760" y="1389888"/>
            <a:ext cx="4419295" cy="4754880"/>
          </a:xfrm>
          <a:prstGeom prst="roundRect">
            <a:avLst>
              <a:gd name="adj" fmla="val 1035"/>
            </a:avLst>
          </a:prstGeom>
          <a:solidFill>
            <a:srgbClr val="E3E5EC"/>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Mosquitoes breed in stagnant water. Removing it stops the vector breeding, so fewer mosquitoes are around to carry Plasmodium from one person to another.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type of pathogen causes rose black spot?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A fungus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3E5EC"/>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Rose black spot is a fungal disease spread by water or wind, treated with fungicides and by removing infected leaves.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triple">
  <a:themeElements>
    <a:clrScheme name="Ad Astra triple">
      <a:dk1>
        <a:srgbClr val="1E2229"/>
      </a:dk1>
      <a:lt1>
        <a:srgbClr val="FFFFFF"/>
      </a:lt1>
      <a:dk2>
        <a:srgbClr val="1D2B56"/>
      </a:dk2>
      <a:lt2>
        <a:srgbClr val="E3E5EC"/>
      </a:lt2>
      <a:accent1>
        <a:srgbClr val="24366B"/>
      </a:accent1>
      <a:accent2>
        <a:srgbClr val="B8862B"/>
      </a:accent2>
      <a:accent3>
        <a:srgbClr val="7C86A6"/>
      </a:accent3>
      <a:accent4>
        <a:srgbClr val="815E1E"/>
      </a:accent4>
      <a:accent5>
        <a:srgbClr val="4A505C"/>
      </a:accent5>
      <a:accent6>
        <a:srgbClr val="D9BF8F"/>
      </a:accent6>
      <a:hlink>
        <a:srgbClr val="24366B"/>
      </a:hlink>
      <a:folHlink>
        <a:srgbClr val="19264B"/>
      </a:folHlink>
    </a:clrScheme>
    <a:fontScheme name="Ad Astra trip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Communicable Diseases · Chapter 6: Fungal and protist diseases</dc:title>
  <dc:subject>Biology (Triple Science) · Year 10</dc:subject>
  <dc:creator>Dr Vitor Merissi de Carvalho</dc:creator>
  <cp:lastModifiedBy>Dr Vitor Merissi de Carvalho</cp:lastModifiedBy>
  <cp:revision>1</cp:revision>
  <dcterms:created xsi:type="dcterms:W3CDTF">2026-10-18T17:47:19Z</dcterms:created>
  <dcterms:modified xsi:type="dcterms:W3CDTF">2026-10-18T17:47:19Z</dcterms:modified>
</cp:coreProperties>
</file>