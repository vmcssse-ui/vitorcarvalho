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e827ff-658f-7f1f-6ce2-4ce4f6e74dca}">
          <p14:sldIdLst>
            <p14:sldId id="256"/>
          </p14:sldIdLst>
        </p14:section>
        <p14:section name="Gate" id="{dd3e5398-c75f-1f32-a5d6-3e7bf72f0450}">
          <p14:sldIdLst>
            <p14:sldId id="257"/>
            <p14:sldId id="258"/>
          </p14:sldIdLst>
        </p14:section>
        <p14:section name="Pre-teach" id="{c8638fad-3d67-7b9f-ed1c-fc8ed666abc7}">
          <p14:sldIdLst>
            <p14:sldId id="259"/>
          </p14:sldIdLst>
        </p14:section>
        <p14:section name="Read-along" id="{7247ee28-b0f9-deaf-a419-6565216c8573}">
          <p14:sldIdLst>
            <p14:sldId id="260"/>
            <p14:sldId id="261"/>
          </p14:sldIdLst>
        </p14:section>
        <p14:section name="Teach" id="{0613596d-1676-e82d-8cdb-71faeb8aa08d}">
          <p14:sldIdLst>
            <p14:sldId id="262"/>
            <p14:sldId id="263"/>
            <p14:sldId id="264"/>
            <p14:sldId id="265"/>
            <p14:sldId id="266"/>
          </p14:sldIdLst>
        </p14:section>
        <p14:section name="Routes" id="{85f257b2-ed2a-b69b-65a1-03340912fb35}">
          <p14:sldIdLst>
            <p14:sldId id="267"/>
            <p14:sldId id="268"/>
            <p14:sldId id="269"/>
            <p14:sldId id="270"/>
          </p14:sldIdLst>
        </p14:section>
        <p14:section name="Close" id="{be7571b8-3384-6fb5-ae11-a0857e503b45}">
          <p14:sldIdLst>
            <p14:sldId id="271"/>
          </p14:sldIdLst>
        </p14:section>
        <p14:section name="Answers" id="{27f12d12-5e6b-6eca-79a2-dfc7a6fa5d4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Health, disease and what makes us ill. What health means, the difference between communicable and non-communicable diseases, and how lifestyle and other illnesses affect your health.
This deck covers the department's lesson: 1 (B5.1 Health and disease: What is health, and how are communicable and non-communicable diseases different?).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the definition of health used in biology?  →  B   The state of physical and mental well-being
2. A disease that can be passed from one person to another is a ___ disease.  →  communicable
3. Which of these is a non-communicable disease?  →  D   Coronary heart disease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state of physical and mental well-being. Health is the state of physical and mental well-being. Disease is one cause of ill health, but not the only one.
2. communicable. Communicable means infectious: caused by a pathogen that can be transmitted from person to person.
3. D   Coronary heart disease. Coronary heart disease cannot be passed from one person to another. Measles, flu and Salmonella are all caused by pathogens that spread.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health: the state of physical and mental well-being. Example: "Good health is about your mind as well as your body."
• communicable: able to be passed from one person to another. Example: "Flu is a communicable disease because it spreads by coughs and sneezes."
• non-communicable: not able to be passed from one person to another. Example: "Heart disease is a non-communicable disease."
• lifestyle: the way you live: what you eat, how you move, how you rest. Example: "Lifestyle factors such as diet and stress affect your health."
• correlation: a link between two things, where one changes as the other changes. Example: "The graph showed a correlation between stress and depression."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Health is the state of physical and mental well-being.
2. Disease is a major cause of ill health, but it is not the only one.
3. Some diseases are communicable.
4. They are caused by pathogens and can be passed from one person to another.
5. Flu is communicable: it spreads when people cough and sneeze.
6. Other diseases are non-communicable, so they cannot be passed on.
7. Heart disease, diabetes and arthritis are non-communicable.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Your lifestyle also affects your health.
9. Diet, stress and life situations can all make you ill.
10. Different illnesses can affect each other.
11. Some viruses living in cells can trigger cancers.
12. A long, serious physical illness can lead to depression.
13. Scientists use graphs to look for links between two things.
14. If one thing goes up as the other goes up, that is a positive correlation.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health?. Say it in your own words, then check understanding with a quick question: ask a pupil from the pre-teach group first, since they met these words and ideas before the lesson. Pupils try to recall before you re-explain.
In biology, health has a precise meaning: it is the state of physical and mental well-being. Both halves matter. A person with a healthy body but a great deal of stress, or who feels low for months, is not in good health.
Disease is the biggest cause of ill health, but not the only one. Your diet, the amount of stress in your life and your life situation (where you live, your work, your money worries) all affect both your physical and your mental health.
Other factors also affect how healthy people are: age, gender, ethnicity, where you live, how much money you have and whether you can get to a doctor or a hospital when you need one.
Tip: If an exam question asks you to define health, write the exact phrase: 'the state of physical and mental well-being'. Both words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Communicable or non-communicable?. Say it in your own words, then check understanding with a quick question: ask a pupil from the pre-teach group first, since they met these words and ideas before the lesson. Pupils try to recall before you re-explain.
Communicable diseases are infectious. They are caused by pathogens, which are harmful microorganisms such as bacteria and viruses, and they can be transmitted (passed on) from one person to another. Flu, measles, Salmonella food poisoning, HIV and the common cold are all communicable.
Non-communicable diseases cannot be passed from person to person. Coronary heart disease, diabetes, arthritis, cystic fibrosis and most cancers are non-communicable. Some, such as cystic fibrosis, are inherited; others, such as lung cancer, are linked to lifestyle.
To decide which type a disease is, ask one question: is it caused by a pathogen that can move from one person to another? If yes, it is communicable.
Worked example — model it step by step, thinking aloud: Is measles a communicable or a non-communicable disease? Give a reason for your answer. (2 marks) (1) Ask the key question: what causes it, and can that cause move between people? (2) Measles is caused by a virus, which is a pathogen. (3) The virus is passed on in droplets when an infected person coughs or sneezes. (4) So: communicable, because it is caused by a pathogen that can be transmitted from person to person. Answer: Communicable, because it is caused by a pathogen (a virus) that can be passed from one person to another in droplets from coughs and sneezes..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Communicable or non-communicable?. Say it in your own words, then check understanding with a quick question: ask a pupil from the pre-teach group first, since they met these words and ideas before the lesson. Pupils try to recall before you re-explain.
Communicable diseases are infectious. They are caused by pathogens, which are harmful microorganisms such as bacteria and viruses, and they can be transmitted (passed on) from one person to another. Flu, measles, Salmonella food poisoning, HIV and the common cold are all communicable.
Non-communicable diseases cannot be passed from person to person. Coronary heart disease, diabetes, arthritis, cystic fibrosis and most cancers are non-communicable. Some, such as cystic fibrosis, are inherited; others, such as lung cancer, are linked to lifestyle.
To decide which type a disease is, ask one question: is it caused by a pathogen that can move from one person to another? If yes, it is communicable.
Worked example — model it step by step, thinking aloud: Is measles a communicable or a non-communicable disease? Give a reason for your answer. (2 marks) (1) Ask the key question: what causes it, and can that cause move between people? (2) Measles is caused by a virus, which is a pathogen. (3) The virus is passed on in droplets when an infected person coughs or sneezes. (4) So: communicable, because it is caused by a pathogen that can be transmitted from person to person. Answer: Communicable, because it is caused by a pathogen (a virus) that can be passed from one person to another in droplets from coughs and sneezes..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different diseases interact. Say it in your own words, then check understanding with a quick question: ask a pupil from the pre-teach group first, since they met these words and ideas before the lesson. Pupils try to recall before you re-explain.
In real life, diseases do not happen one at a time. Different types of disease and health conditions interact. Some viruses that live inside cells can be the trigger for a cancer: for example, the risk of cervical cancer rises with the number of HPV viruses in a person's cells.
The body's reaction to a pathogen can also trigger other problems. An immune reaction that started with an infection can set off allergies, such as skin rashes or asthma.
Physical and mental health are linked too. A severe or long-lasting physical illness can lead to depression and other mental illnesses. This is one reason why the definition of health includes mental well-being.
Tip: An 'interaction' answer needs a chain: one condition (cause) leads to another (effect). Name both ends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graph: correlation. Say it in your own words, then check understanding with a quick question: ask a pupil from the pre-teach group first, since they met these words and ideas before the lesson. Pupils try to recall before you re-explain.
Scientists look for links between a factor and a disease by plotting one against the other. A positive correlation means that as one variable increases, the other increases too. A negative correlation means that as one variable increases, the other decreases.
When you describe a correlation in an exam, name the type and then quote data from the graph to back it up: 'as X rises from 2 to 10, Y falls from 60 to 20'. Without numbers, the description scores less.
Be careful: a correlation does not prove that one thing causes the other. Sample size matters too. A graph drawn from a handful of people is far less convincing than one drawn from thousands.
Tip: Positive: both go the same way. Negative: one goes up while the other goes down. Always quote two points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is it communicable?.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is flu classed as a communicable disease?
Support — work through the steps with the group: (1) Communicable means infectious: it can be passed on. (2) Ask: what causes flu? A virus, which is a pathogen. (3) Ask: can that pathogen move from one person to another? Yes, in droplets from coughs and sneezes. (4) Pick the option that mentions both the pathogen and passing it on.
Parallel worked example for Support (model it, do not give the task answer): Why is diabetes classed as a non-communicable disease? Ask: is it caused by a pathogen? No.; Ask: can it be passed from one person to another? No.; So it is non-communicable.. Answer: Because it is not caused by a pathogen and cannot be passed from one person to another..
Core — reveal the hint only on request: Communicable is about the cause and whether it can be passed on, not about how ill you feel.
Stretch — no help; when finished: Lung cancer is non-communicable, yet some cancers are triggered by viruses. Explain how a disease can be non-communicable even when a communicable disease helped to cause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is it communicable?.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is flu classed as a communicable disease?
Support — work through the steps with the group: (1) Communicable means infectious: it can be passed on. (2) Ask: what causes flu? A virus, which is a pathogen. (3) Ask: can that pathogen move from one person to another? Yes, in droplets from coughs and sneezes. (4) Pick the option that mentions both the pathogen and passing it on.
Parallel worked example for Support (model it, do not give the task answer): Why is diabetes classed as a non-communicable disease? Ask: is it caused by a pathogen? No.; Ask: can it be passed from one person to another? No.; So it is non-communicable.. Answer: Because it is not caused by a pathogen and cannot be passed from one person to another..
Core — reveal the hint only on request: Communicable is about the cause and whether it can be passed on, not about how ill you feel.
Stretch — no help; when finished: Lung cancer is non-communicable, yet some cancers are triggered by viruses. Explain how a disease can be non-communicable even when a communicable disease helped to cause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one illness leads to another.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long and serious physical illness can lead to ___, which is a mental illness.
Support — work through the steps with the group: (1) Find the cause in the story: a long, serious physical illness. (2) Find the effect: depression, which is a mental illness. (3) Ask: which option says that the physical illness led to the mental one? (4) Rule out options that call depression communicable or caused by a pathogen: it is neither.
Parallel worked example for Support (model it, do not give the task answer): A woman has a large number of HPV viruses in her cells and later develops cervical cancer. What does this show about how diseases interact? Cause: a virus living in cells.; Effect: a cancer.; So a virus (a communicable disease) can be the trigger for a cancer (a non-communicable disease).. Answer: Viruses living in cells can be the trigger for cancers: a communicable disease can lead to a non-communicable one..
Core — reveal the hint only on request: Which came first in the story, and which followed? The answer links the two.
Stretch — no help; when finished: Give two other examples of diseases interacting: one involving a virus and a cancer, and one involving an immune reaction and an allergy. Say which comes first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When one illness leads to another.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long and serious physical illness can lead to ___, which is a mental illness.
Support — work through the steps with the group: (1) Find the cause in the story: a long, serious physical illness. (2) Find the effect: depression, which is a mental illness. (3) Ask: which option says that the physical illness led to the mental one? (4) Rule out options that call depression communicable or caused by a pathogen: it is neither.
Parallel worked example for Support (model it, do not give the task answer): A woman has a large number of HPV viruses in her cells and later develops cervical cancer. What does this show about how diseases interact? Cause: a virus living in cells.; Effect: a cancer.; So a virus (a communicable disease) can be the trigger for a cancer (a non-communicable disease).. Answer: Viruses living in cells can be the trigger for cancers: a communicable disease can lead to a non-communicable one..
Core — reveal the hint only on request: Which came first in the story, and which followed? The answer links the two.
Stretch — no help; when finished: Give two other examples of diseases interacting: one involving a virus and a cancer, and one involving an immune reaction and an allergy. Say which comes first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graph shows that as the activity of a person's immune system increases, their risk of catching an infectious disease decreases. What type of correlation is this?
Answer: A   A negative correlation. A negative correlation is a relationship in which one variable decreases as the other increases. Here the risk of disease falls as immune activity rises.
Source of this question: module 3 task ("Positive or negative correlation?")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is it communicable?. Reveal the answer; pupils mark their own work in a different colour, then read the "why" together. Same destination for every lane, so one answer serves the whole class.
Answer: D   It is caused by a pathogen that can be passed from one person to another
Why: A communicable disease is one caused by a pathogen that can be transmitted from one person to another. Flu is caused by a virus that spreads in droplets, so it is communicable.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When one illness leads to another. Reveal the answer; pupils mark their own work in a different colour, then read the "why" together. Same destination for every lane, so one answer serves the whole class.
Answer: A long and serious physical illness can lead to depression, which is a mental illness.
Why: Different types of disease interact. A severe physical illness can lead to depression and other mental illnesses, so physical ill health can cause mental ill health.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negative correlation
Why: A negative correlation is a relationship in which one variable decreases as the other increases. Here the risk of disease falls as immune activity rises.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Health, disease and what makes us ill</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B5.1 Health and disease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the definition of health used in biology?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Having no stress in your life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state of physical and mental well-being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 having any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Being physically fit and strong</a:t>
            </a:r>
            <a:endParaRPr lang="en-US" sz="18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disease that can be passed from one person to another is a ___ disease.</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communicable  ·  non-communicable  ·  lifestyle</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non-communicable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Measles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Flu</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Salmonella food poisoning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Coronary heart disease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state of physical and mental well-being</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the definition of health used in biology?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Health is the state of physical and mental well-being. Disease is one cause of ill health, but not the only one.</a:t>
            </a:r>
            <a:endParaRPr lang="en-US" sz="18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communicable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disease that can be passed from one person to another is a ___ disease.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Communicable means infectious: caused by a pathogen that can be transmitted from person to person.</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Coronary heart disease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non-communicable disease?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Coronary heart disease cannot be passed from one person to another. Measles, flu and Salmonella are all caused by pathogens that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7E9EF"/>
          </a:solidFill>
          <a:ln/>
        </p:spPr>
      </p:sp>
      <p:sp>
        <p:nvSpPr>
          <p:cNvPr id="12" name="kw-hex"/>
          <p:cNvSpPr/>
          <p:nvPr/>
        </p:nvSpPr>
        <p:spPr>
          <a:xfrm>
            <a:off x="658368" y="2125000"/>
            <a:ext cx="411480" cy="356342"/>
          </a:xfrm>
          <a:prstGeom prst="hexagon">
            <a:avLst/>
          </a:prstGeom>
          <a:solidFill>
            <a:srgbClr val="24366B"/>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health</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state of physical and mental well-being</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Good health is about your mind as well as your body.</a:t>
            </a:r>
            <a:endParaRPr lang="en-US" sz="1800" dirty="0"/>
          </a:p>
        </p:txBody>
      </p:sp>
      <p:sp>
        <p:nvSpPr>
          <p:cNvPr id="16" name="kw-row"/>
          <p:cNvSpPr/>
          <p:nvPr/>
        </p:nvSpPr>
        <p:spPr>
          <a:xfrm>
            <a:off x="548640" y="2759253"/>
            <a:ext cx="11094415" cy="765861"/>
          </a:xfrm>
          <a:prstGeom prst="roundRect">
            <a:avLst>
              <a:gd name="adj" fmla="val 7164"/>
            </a:avLst>
          </a:prstGeom>
          <a:solidFill>
            <a:srgbClr val="F4EDDF"/>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communicable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able to be passed from one person to another</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Flu is a communicable disease because it spreads by coughs and sneezes.</a:t>
            </a:r>
            <a:endParaRPr lang="en-US" sz="1800" dirty="0"/>
          </a:p>
        </p:txBody>
      </p:sp>
      <p:sp>
        <p:nvSpPr>
          <p:cNvPr id="21" name="kw-row"/>
          <p:cNvSpPr/>
          <p:nvPr/>
        </p:nvSpPr>
        <p:spPr>
          <a:xfrm>
            <a:off x="548640" y="3598266"/>
            <a:ext cx="11094415" cy="868477"/>
          </a:xfrm>
          <a:prstGeom prst="roundRect">
            <a:avLst>
              <a:gd name="adj" fmla="val 6317"/>
            </a:avLst>
          </a:prstGeom>
          <a:solidFill>
            <a:srgbClr val="E7E9EF"/>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non-communicable</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 able to be passed from one person to another</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Heart disease is a non-communicable disease.</a:t>
            </a:r>
            <a:endParaRPr lang="en-US" sz="1800" dirty="0"/>
          </a:p>
        </p:txBody>
      </p:sp>
      <p:sp>
        <p:nvSpPr>
          <p:cNvPr id="26" name="kw-row"/>
          <p:cNvSpPr/>
          <p:nvPr/>
        </p:nvSpPr>
        <p:spPr>
          <a:xfrm>
            <a:off x="548640" y="4539894"/>
            <a:ext cx="11094415" cy="765861"/>
          </a:xfrm>
          <a:prstGeom prst="roundRect">
            <a:avLst>
              <a:gd name="adj" fmla="val 7164"/>
            </a:avLst>
          </a:prstGeom>
          <a:solidFill>
            <a:srgbClr val="F4EDDF"/>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lifestyle</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way you live: what you eat, how you move, how you rest</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Lifestyle factors such as diet and stress affect your health.</a:t>
            </a:r>
            <a:endParaRPr lang="en-US" sz="1800" dirty="0"/>
          </a:p>
        </p:txBody>
      </p:sp>
      <p:sp>
        <p:nvSpPr>
          <p:cNvPr id="31" name="kw-row"/>
          <p:cNvSpPr/>
          <p:nvPr/>
        </p:nvSpPr>
        <p:spPr>
          <a:xfrm>
            <a:off x="548640" y="5378907"/>
            <a:ext cx="11094415" cy="765861"/>
          </a:xfrm>
          <a:prstGeom prst="roundRect">
            <a:avLst>
              <a:gd name="adj" fmla="val 7164"/>
            </a:avLst>
          </a:prstGeom>
          <a:solidFill>
            <a:srgbClr val="E7E9EF"/>
          </a:solidFill>
          <a:ln/>
        </p:spPr>
      </p:sp>
      <p:sp>
        <p:nvSpPr>
          <p:cNvPr id="32" name="kw-hex"/>
          <p:cNvSpPr/>
          <p:nvPr/>
        </p:nvSpPr>
        <p:spPr>
          <a:xfrm>
            <a:off x="658368" y="5583667"/>
            <a:ext cx="411480" cy="356342"/>
          </a:xfrm>
          <a:prstGeom prst="hexagon">
            <a:avLst/>
          </a:prstGeom>
          <a:solidFill>
            <a:srgbClr val="24366B"/>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correlation</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link between two things, where one changes as the other changes</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graph showed a correlation between stress and depression.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state of physical and mental well-being.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Disease is a major cause of ill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but it is not the only 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diseases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caused by pathogens and can be passed from one person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Flu is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it spreads when people cough and sneeze.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 diseases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non-communicable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they cannot be passed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Heart disease, diabetes and arthritis are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non-communicable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lifestyle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also affects your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health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Diet, stress and life situations can all make you ill.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Different illnesses can affect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viruses living in cells can trigger cancers.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long, serious physical illness can lead to depression.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Scientists use graphs to look for links between two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one thing goes up as the other goes up, that is a positive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correlation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What is health?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an exam question asks you to define health, write the exact phrase: 'the state of physical and mental well-being'. Both words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biology, health has a precise meaning: it is the state of physical and mental well-being.</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Disease is the biggest cause of ill health, but not the only one.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Other factors also affect how healthy people are: age, gender, ethnicity, where you live, how much money you have and whether you can get to a doctor or a hospital when you need one.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Communicable or non-communicable?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Communicable diseases are infectious. They are caused by pathogens, which are harmful microorganisms such as bacteria and viruses, and they can be transmitted (passed on) from one person to another.</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Non-communicable diseases cannot be passed from person to person. Coronary heart disease, diabetes, arthritis, cystic fibrosis and most cancers are non-communicable.</a:t>
            </a:r>
            <a:endParaRPr lang="en-US" sz="22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decide which type a disease is, ask one question: is it caused by a pathogen that can move from one person to another?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Communicable or non-communicable?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3E5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Is measles a communicable or a non-communicable disease? Give a reason for your answer. (2 marks)</a:t>
            </a:r>
            <a:endParaRPr lang="en-US" sz="2000" dirty="0"/>
          </a:p>
        </p:txBody>
      </p:sp>
      <p:sp>
        <p:nvSpPr>
          <p:cNvPr id="9" name="step-box"/>
          <p:cNvSpPr/>
          <p:nvPr/>
        </p:nvSpPr>
        <p:spPr>
          <a:xfrm>
            <a:off x="548640" y="2502408"/>
            <a:ext cx="11094415" cy="565912"/>
          </a:xfrm>
          <a:prstGeom prst="roundRect">
            <a:avLst>
              <a:gd name="adj" fmla="val 12926"/>
            </a:avLst>
          </a:prstGeom>
          <a:solidFill>
            <a:srgbClr val="FFFFFF"/>
          </a:solidFill>
          <a:ln w="15875">
            <a:solidFill>
              <a:srgbClr val="8790AE"/>
            </a:solidFill>
            <a:prstDash val="solid"/>
          </a:ln>
        </p:spPr>
      </p:sp>
      <p:sp>
        <p:nvSpPr>
          <p:cNvPr id="10" name="step-hex"/>
          <p:cNvSpPr/>
          <p:nvPr/>
        </p:nvSpPr>
        <p:spPr>
          <a:xfrm>
            <a:off x="685800" y="2587396"/>
            <a:ext cx="457200" cy="395935"/>
          </a:xfrm>
          <a:prstGeom prst="hexagon">
            <a:avLst/>
          </a:prstGeom>
          <a:solidFill>
            <a:srgbClr val="24366B"/>
          </a:solidFill>
          <a:ln/>
        </p:spPr>
      </p:sp>
      <p:sp>
        <p:nvSpPr>
          <p:cNvPr id="11" name="step-hex-label"/>
          <p:cNvSpPr txBox="1"/>
          <p:nvPr/>
        </p:nvSpPr>
        <p:spPr>
          <a:xfrm>
            <a:off x="685800" y="25873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the key question: what causes it, and can that cause move between people?</a:t>
            </a:r>
            <a:endParaRPr lang="en-US" sz="1800" dirty="0"/>
          </a:p>
        </p:txBody>
      </p:sp>
      <p:sp>
        <p:nvSpPr>
          <p:cNvPr id="13" name="step-box"/>
          <p:cNvSpPr/>
          <p:nvPr/>
        </p:nvSpPr>
        <p:spPr>
          <a:xfrm>
            <a:off x="548640" y="3141472"/>
            <a:ext cx="11094415" cy="565912"/>
          </a:xfrm>
          <a:prstGeom prst="roundRect">
            <a:avLst>
              <a:gd name="adj" fmla="val 12926"/>
            </a:avLst>
          </a:prstGeom>
          <a:solidFill>
            <a:srgbClr val="FFFFFF"/>
          </a:solidFill>
          <a:ln w="15875">
            <a:solidFill>
              <a:srgbClr val="8790AE"/>
            </a:solidFill>
            <a:prstDash val="solid"/>
          </a:ln>
        </p:spPr>
      </p:sp>
      <p:sp>
        <p:nvSpPr>
          <p:cNvPr id="14" name="step-hex"/>
          <p:cNvSpPr/>
          <p:nvPr/>
        </p:nvSpPr>
        <p:spPr>
          <a:xfrm>
            <a:off x="685800" y="3226460"/>
            <a:ext cx="457200" cy="395935"/>
          </a:xfrm>
          <a:prstGeom prst="hexagon">
            <a:avLst/>
          </a:prstGeom>
          <a:solidFill>
            <a:srgbClr val="24366B"/>
          </a:solidFill>
          <a:ln/>
        </p:spPr>
      </p:sp>
      <p:sp>
        <p:nvSpPr>
          <p:cNvPr id="15" name="step-hex-label"/>
          <p:cNvSpPr txBox="1"/>
          <p:nvPr/>
        </p:nvSpPr>
        <p:spPr>
          <a:xfrm>
            <a:off x="685800" y="32264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1472"/>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Measles is caused by a virus, which is a pathogen.</a:t>
            </a:r>
            <a:endParaRPr lang="en-US" sz="1800" dirty="0"/>
          </a:p>
        </p:txBody>
      </p:sp>
      <p:sp>
        <p:nvSpPr>
          <p:cNvPr id="17" name="step-box"/>
          <p:cNvSpPr/>
          <p:nvPr/>
        </p:nvSpPr>
        <p:spPr>
          <a:xfrm>
            <a:off x="548640" y="3780536"/>
            <a:ext cx="11094415" cy="565912"/>
          </a:xfrm>
          <a:prstGeom prst="roundRect">
            <a:avLst>
              <a:gd name="adj" fmla="val 12926"/>
            </a:avLst>
          </a:prstGeom>
          <a:solidFill>
            <a:srgbClr val="FFFFFF"/>
          </a:solidFill>
          <a:ln w="15875">
            <a:solidFill>
              <a:srgbClr val="8790AE"/>
            </a:solidFill>
            <a:prstDash val="solid"/>
          </a:ln>
        </p:spPr>
      </p:sp>
      <p:sp>
        <p:nvSpPr>
          <p:cNvPr id="18" name="step-hex"/>
          <p:cNvSpPr/>
          <p:nvPr/>
        </p:nvSpPr>
        <p:spPr>
          <a:xfrm>
            <a:off x="685800" y="3865524"/>
            <a:ext cx="457200" cy="395935"/>
          </a:xfrm>
          <a:prstGeom prst="hexagon">
            <a:avLst/>
          </a:prstGeom>
          <a:solidFill>
            <a:srgbClr val="24366B"/>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0536"/>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virus is passed on in droplets when an infected person coughs or sneezes.</a:t>
            </a:r>
            <a:endParaRPr lang="en-US" sz="1800" dirty="0"/>
          </a:p>
        </p:txBody>
      </p:sp>
      <p:sp>
        <p:nvSpPr>
          <p:cNvPr id="21" name="step-box"/>
          <p:cNvSpPr/>
          <p:nvPr/>
        </p:nvSpPr>
        <p:spPr>
          <a:xfrm>
            <a:off x="548640" y="4419600"/>
            <a:ext cx="11094415" cy="565912"/>
          </a:xfrm>
          <a:prstGeom prst="roundRect">
            <a:avLst>
              <a:gd name="adj" fmla="val 12926"/>
            </a:avLst>
          </a:prstGeom>
          <a:solidFill>
            <a:srgbClr val="FFFFFF"/>
          </a:solidFill>
          <a:ln w="15875">
            <a:solidFill>
              <a:srgbClr val="8790AE"/>
            </a:solidFill>
            <a:prstDash val="solid"/>
          </a:ln>
        </p:spPr>
      </p:sp>
      <p:sp>
        <p:nvSpPr>
          <p:cNvPr id="22" name="step-hex"/>
          <p:cNvSpPr/>
          <p:nvPr/>
        </p:nvSpPr>
        <p:spPr>
          <a:xfrm>
            <a:off x="685800" y="4504588"/>
            <a:ext cx="457200" cy="395935"/>
          </a:xfrm>
          <a:prstGeom prst="hexagon">
            <a:avLst/>
          </a:prstGeom>
          <a:solidFill>
            <a:srgbClr val="24366B"/>
          </a:solidFill>
          <a:ln/>
        </p:spPr>
      </p:sp>
      <p:sp>
        <p:nvSpPr>
          <p:cNvPr id="23" name="step-hex-label"/>
          <p:cNvSpPr txBox="1"/>
          <p:nvPr/>
        </p:nvSpPr>
        <p:spPr>
          <a:xfrm>
            <a:off x="685800" y="45045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19600"/>
            <a:ext cx="10180015" cy="5659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communicable, because it is caused by a pathogen that can be transmitted from person to person.</a:t>
            </a:r>
            <a:endParaRPr lang="en-US" sz="1800" dirty="0"/>
          </a:p>
        </p:txBody>
      </p:sp>
      <p:sp>
        <p:nvSpPr>
          <p:cNvPr id="25" name="worked-answer"/>
          <p:cNvSpPr/>
          <p:nvPr/>
        </p:nvSpPr>
        <p:spPr>
          <a:xfrm>
            <a:off x="548640" y="5168392"/>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Communicable, because it is caused by a pathogen (a virus) that can be passed from one person to another in droplets from coughs and sneezes.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different diseases interact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'interaction' answer needs a chain: one condition (cause) leads to another (effect). Name both ends of the chain.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real life, diseases do not happen one at a time.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body's reaction to a pathogen can also trigger other problems.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Physical and mental health are linked too. A severe or long-lasting physical illness can lead to depression and other mental illnesses.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Reading a graph: correlation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Positive: both go the same way. Negative: one goes up while the other goes down. Always quote two points from the 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Scientists look for links between a factor and a disease by plotting one against the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describe a correlation in an exam, name the type and then quote data from the graph to back it up: 'as X rises from 2 to 10, Y falls from 60 to 20'.</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 careful: a correlation does not prove that one thing causes the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is it communicable?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is flu classed as a communicable disease?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people feel very unwell for several days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cannot be passed on to other people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caused by a poor diet and lack of exercise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caused by a pathogen that can be passed from one person to another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Why is it communicable?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is it communicable?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Communicable means infectious: it can be passed 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causes flu? A virus, which is a pathogen.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can that pathogen move from one person to another? Yes, in droplets from coughs and sneezes.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mentions both the pathogen and passing it on.</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Communicable is about the cause and whether it can be passed on, not about how ill you feel.</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Lung cancer is non-communicable, yet some cancers are triggered by viruses. Explain how a disease can be non-communicable even when a communicable disease helped to cause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When one illness leads to another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long and serious physical illness can lead to ___, which is a mental illness.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Word bank:  </a:t>
            </a:r>
            <a:pPr algn="ctr" indent="0" marL="0">
              <a:buNone/>
            </a:pPr>
            <a:r>
              <a:rPr lang="en-US" sz="2400" dirty="0">
                <a:solidFill>
                  <a:srgbClr val="1E2229"/>
                </a:solidFill>
                <a:latin typeface="Calibri" pitchFamily="34" charset="0"/>
                <a:ea typeface="Calibri" pitchFamily="34" charset="-122"/>
                <a:cs typeface="Calibri" pitchFamily="34" charset="-120"/>
              </a:rPr>
              <a:t>depression   ·   arthritis   ·   flu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When one illness leads to another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When one illness leads to another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cause in the story: a long, serious physical illness.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effect: depression, which is a mental illness.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option says that the physical illness led to the mental one?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options that call depression communicable or caused by a pathogen: it is neither.</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came first in the story, and which followed? The answer links the two.</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two other examples of diseases interacting: one involving a virus and a cancer, and one involving an immune reaction and an allergy. Say which comes first in each.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graph shows that as the activity of a person's immune system increases, their risk of catching an infectious disease decreases. What type of correlation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negative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straight-line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 correlation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positive correlation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is it communicable?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is flu classed as a communicable disease?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is caused by a pathogen that can be passed from one person to another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communicable disease is one caused by a pathogen that can be transmitted from one person to another. Flu is caused by a virus that spreads in droplets, so it is communicable.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When one illness leads to another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long and serious physical illness can lead to ___, which is a mental illness.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long and serious physical illness can lead to depression, which is a mental illness.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Different types of disease interact. A severe physical illness can lead to depression and other mental illnesses, so physical ill health can cause mental ill health.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shows that as the activity of a person's immune system increases, their risk of catching an infectious disease decreases. What type of correlation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negative correlation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negative correlation is a relationship in which one variable decreases as the other increases. Here the risk of disease falls as immune activity rises.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1: Health, disease and what makes us ill</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