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15e0821-3e0b-7588-9fbe-d9b6c94666ee}">
          <p14:sldIdLst>
            <p14:sldId id="256"/>
          </p14:sldIdLst>
        </p14:section>
        <p14:section name="Gate" id="{fb3b0dd2-6550-0d6e-7d2f-13c5c297e42d}">
          <p14:sldIdLst>
            <p14:sldId id="257"/>
            <p14:sldId id="258"/>
          </p14:sldIdLst>
        </p14:section>
        <p14:section name="Pre-teach" id="{1cfe7dc1-67c5-fbb7-7cd9-63634819087e}">
          <p14:sldIdLst>
            <p14:sldId id="259"/>
            <p14:sldId id="260"/>
          </p14:sldIdLst>
        </p14:section>
        <p14:section name="Read-along" id="{effb396a-633d-f7dc-e5d6-c19dde912fc3}">
          <p14:sldIdLst>
            <p14:sldId id="261"/>
            <p14:sldId id="262"/>
          </p14:sldIdLst>
        </p14:section>
        <p14:section name="Teach" id="{10b96b6f-d9ae-7d97-3335-f5035b39d149}">
          <p14:sldIdLst>
            <p14:sldId id="263"/>
            <p14:sldId id="264"/>
            <p14:sldId id="265"/>
            <p14:sldId id="266"/>
            <p14:sldId id="267"/>
            <p14:sldId id="268"/>
            <p14:sldId id="269"/>
            <p14:sldId id="270"/>
          </p14:sldIdLst>
        </p14:section>
        <p14:section name="Routes" id="{2e30af0d-ed66-0a18-7d31-3c20665d4df7}">
          <p14:sldIdLst>
            <p14:sldId id="271"/>
            <p14:sldId id="272"/>
            <p14:sldId id="273"/>
            <p14:sldId id="274"/>
            <p14:sldId id="275"/>
          </p14:sldIdLst>
        </p14:section>
        <p14:section name="Close" id="{59ec6f98-9815-203f-9925-553dbe86dc95}">
          <p14:sldIdLst>
            <p14:sldId id="276"/>
          </p14:sldIdLst>
        </p14:section>
        <p14:section name="Answers" id="{56abf656-d3a3-c615-26d6-bbd9b88596d2}">
          <p14:sldIdLst>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6: Bacterial and viral diseases. Five diseases to know in detail: measles, HIV and tobacco mosaic virus (viruses), Salmonella and gonorrhoea (bacteria), and why antibiotics work on one group but not the other.
This deck covers the department's lesson: 6 (B5.6/7 Bacterial and viral diseases: Which diseases are caused by bacteria and viruses, how do they spread, and how are they controlled?).
Read the big question aloud: "How do pathogens spread disease between people, animals and plants, and how can we stop them?"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type of pathogen causes measles?  →  A   A virus
2. Salmonella food poisoning is a ___ disease spread in food.  →  bacterial
3. How is HIV spread from person to person?  →  A   By sexual contact or exchange of body fluids such as blood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A virus. Measles is a viral disease spread in droplets from coughs and sneezes; it causes fever and a red skin rash.
2. bacterial. Salmonella bacteria are taken in with contaminated food; they and their toxins cause fever, cramps, vomiting and diarrhoea.
3. A   By sexual contact or exchange of body fluids such as blood. HIV passes in body fluids: by sexual contact, or in blood when drug users share needles. Condoms and not sharing needles reduce its spread.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measles: a viral disease with fever and a red skin rash. Example: "Most young children are vaccinated against measles."
• HIV: a virus that attacks the body's immune cells. Example: "HIV is spread by sexual contact or by sharing needles."
• Salmonella: bacteria spread in food that cause food poisoning. Example: "Undercooked chicken can carry Salmonella."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gonorrhoea: a bacterial disease spread by sexual contact. Example: "Gonorrhoea is treated with antibiotics."
• antibiotic: a medicine that kills bacteria. Example: "Antibiotics do not work on viruses."
• antiviral: a drug that stops viruses making copies of themselves. Example: "Antiretroviral drugs are antivirals used to control HIV."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Measles is caused by a virus.
2. It spreads in droplets from coughs and sneezes.
3. It causes a fever and a red skin rash, and it can be fatal.
4. Most young children are vaccinated against measles.
5. HIV is a virus spread by sexual contact or by sharing needles.
6. At first it causes a flu-like illness, then it attacks the immune system.
7. Antiretroviral drugs can control HIV.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Tobacco mosaic virus gives plant leaves a mosaic pattern, so they make less food.
9. Salmonella bacteria are spread in food and cause fever, cramps, vomiting and diarrhoea.
10. In the UK, poultry are vaccinated against Salmonella.
11. Gonorrhoea is a bacterial disease spread by sexual contact.
12. It is treated with antibiotics, but some strains are now resistant.
13. Antibiotics kill bacteria, but they do not work on viruses.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Viral diseases: measles and HIV. Say it in your own words, then check understanding with a quick question: ask a pupil from the pre-teach group first, since they met these words and ideas before the lesson. Pupils try to recall before you re-explain.
Measles is a viral disease. Its symptoms are a fever and a red skin rash. It is a serious illness that can be fatal if complications arise, which is why most young children are vaccinated against it (the MMR vaccine). The measles virus is spread by inhaling droplets from the sneezes and coughs of an infected person.
HIV is a virus spread by sexual contact, or by exchange of body fluids such as blood, which happens when drug users share needles. At first it causes a flu-like illness. Unless it is controlled with antiretroviral drugs, the virus then attacks the body's immune cells.
Late-stage HIV infection is called AIDS. It occurs when the immune system has been so badly damaged that the body can no longer deal with other infections or with cancers. The spread of HIV is reduced by using condoms, by not sharing needles and by screening donated blood. There is no cure once AIDS has developed, which is why early treatment with antiretroviral drugs matters.
Tip: HIV is the virus; AIDS is the late stage of the infection. Do not use the two words as if they meant the same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 viral disease of plants: tobacco mosaic virus. Say it in your own words, then check understanding with a quick question: ask a pupil from the pre-teach group first, since they met these words and ideas before the lesson. Pupils try to recall before you re-explain.
Tobacco mosaic virus (TMV) is a widespread plant pathogen that infects many species, including tomatoes. It gives the leaves a distinctive mosaic pattern of discolouration. The discoloured parts of the leaf cannot photosynthesise properly, so the plant makes less food and its growth is reduced.
TMV spreads by contact with diseased plant material and can be carried by insects. There is no treatment for an infected plant. Farmers control the disease by growing TMV-resistant strains, by good field hygiene (removing infected plants and cleaning tools) and by controlling the insect pests that carry it.
Tip: For every plant disease, link the symptom to photosynthesis: fewer or damaged leaves means less photosynthesis, so less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Bacterial diseases: Salmonella and gonorrhoea. Say it in your own words, then check understanding with a quick question: ask a pupil from the pre-teach group first, since they met these words and ideas before the lesson. Pupils try to recall before you re-explain.
Salmonella food poisoning is spread by bacteria taken in with food, or on food prepared in unhygienic conditions. The symptoms are fever, abdominal cramps, vomiting and diarrhoea, caused by the bacteria and the toxins they secrete. In the UK, poultry are vaccinated against Salmonella to control its spread.
Gonorrhoea is a sexually transmitted disease caused by a bacterium. Its symptoms are a thick yellow or green discharge from the vagina or penis and pain on urinating. It is spread by sexual contact.
Gonorrhoea was easily treated with the antibiotic penicillin until many resistant strains appeared. Its spread is now controlled by treatment with other antibiotics and by using a barrier method of contraception, such as a condom.
Worked example — model it step by step, thinking aloud: Compare the ways Salmonella food poisoning and gonorrhoea are spread and controlled. (4 marks) (1) Similarity first: both are caused by bacteria. (2) Difference in spread: Salmonella is taken in with contaminated food, whereas gonorrhoea is spread by sexual contact. (3) Difference in control: the spread of Salmonella is controlled by vaccinating poultry and by food hygiene, whereas gonorrhoea is controlled with antibiotics and by using condoms. (4) Use 'both' and 'whereas' so the two diseases sit side by side. Answer: Both are bacterial diseases. Salmonella is spread in contaminated food, whereas gonorrhoea is spread by sexual contact. Salmonella is controlled by vaccinating poultry and food hygiene, whereas gonorrhoea is controlled with antibiotics and barrier methods such as condoms..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Bacterial diseases: Salmonella and gonorrhoea. Say it in your own words, then check understanding with a quick question: ask a pupil from the pre-teach group first, since they met these words and ideas before the lesson. Pupils try to recall before you re-explain.
Salmonella food poisoning is spread by bacteria taken in with food, or on food prepared in unhygienic conditions. The symptoms are fever, abdominal cramps, vomiting and diarrhoea, caused by the bacteria and the toxins they secrete. In the UK, poultry are vaccinated against Salmonella to control its spread.
Gonorrhoea is a sexually transmitted disease caused by a bacterium. Its symptoms are a thick yellow or green discharge from the vagina or penis and pain on urinating. It is spread by sexual contact.
Gonorrhoea was easily treated with the antibiotic penicillin until many resistant strains appeared. Its spread is now controlled by treatment with other antibiotics and by using a barrier method of contraception, such as a condom.
Worked example — model it step by step, thinking aloud: Compare the ways Salmonella food poisoning and gonorrhoea are spread and controlled. (4 marks) (1) Similarity first: both are caused by bacteria. (2) Difference in spread: Salmonella is taken in with contaminated food, whereas gonorrhoea is spread by sexual contact. (3) Difference in control: the spread of Salmonella is controlled by vaccinating poultry and by food hygiene, whereas gonorrhoea is controlled with antibiotics and by using condoms. (4) Use 'both' and 'whereas' so the two diseases sit side by side. Answer: Both are bacterial diseases. Salmonella is spread in contaminated food, whereas gonorrhoea is spread by sexual contact. Salmonella is controlled by vaccinating poultry and food hygiene, whereas gonorrhoea is controlled with antibiotics and barrier methods such as condoms..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Bacterial diseases: Salmonella and gonorrhoea. Say it in your own words, then check understanding with a quick question: ask a pupil from the pre-teach group first, since they met these words and ideas before the lesson. Pupils try to recall before you re-explain.
Salmonella food poisoning is spread by bacteria taken in with food, or on food prepared in unhygienic conditions. The symptoms are fever, abdominal cramps, vomiting and diarrhoea, caused by the bacteria and the toxins they secrete. In the UK, poultry are vaccinated against Salmonella to control its spread.
Gonorrhoea is a sexually transmitted disease caused by a bacterium. Its symptoms are a thick yellow or green discharge from the vagina or penis and pain on urinating. It is spread by sexual contact.
Gonorrhoea was easily treated with the antibiotic penicillin until many resistant strains appeared. Its spread is now controlled by treatment with other antibiotics and by using a barrier method of contraception, such as a condom.
Worked example — model it step by step, thinking aloud: Compare the ways Salmonella food poisoning and gonorrhoea are spread and controlled. (4 marks) (1) Similarity first: both are caused by bacteria. (2) Difference in spread: Salmonella is taken in with contaminated food, whereas gonorrhoea is spread by sexual contact. (3) Difference in control: the spread of Salmonella is controlled by vaccinating poultry and by food hygiene, whereas gonorrhoea is controlled with antibiotics and by using condoms. (4) Use 'both' and 'whereas' so the two diseases sit side by side. Answer: Both are bacterial diseases. Salmonella is spread in contaminated food, whereas gonorrhoea is spread by sexual contact. Salmonella is controlled by vaccinating poultry and food hygiene, whereas gonorrhoea is controlled with antibiotics and barrier methods such as condoms..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Bacterial diseases: Salmonella and gonorrhoea. Say it in your own words, then check understanding with a quick question: ask a pupil from the pre-teach group first, since they met these words and ideas before the lesson. Pupils try to recall before you re-explain.
Salmonella food poisoning is spread by bacteria taken in with food, or on food prepared in unhygienic conditions. The symptoms are fever, abdominal cramps, vomiting and diarrhoea, caused by the bacteria and the toxins they secrete. In the UK, poultry are vaccinated against Salmonella to control its spread.
Gonorrhoea is a sexually transmitted disease caused by a bacterium. Its symptoms are a thick yellow or green discharge from the vagina or penis and pain on urinating. It is spread by sexual contact.
Gonorrhoea was easily treated with the antibiotic penicillin until many resistant strains appeared. Its spread is now controlled by treatment with other antibiotics and by using a barrier method of contraception, such as a condom.
Worked example — model it step by step, thinking aloud: Compare the ways Salmonella food poisoning and gonorrhoea are spread and controlled. (4 marks) (1) Similarity first: both are caused by bacteria. (2) Difference in spread: Salmonella is taken in with contaminated food, whereas gonorrhoea is spread by sexual contact. (3) Difference in control: the spread of Salmonella is controlled by vaccinating poultry and by food hygiene, whereas gonorrhoea is controlled with antibiotics and by using condoms. (4) Use 'both' and 'whereas' so the two diseases sit side by side. Answer: Both are bacterial diseases. Salmonella is spread in contaminated food, whereas gonorrhoea is spread by sexual contact. Salmonella is controlled by vaccinating poultry and food hygiene, whereas gonorrhoea is controlled with antibiotics and barrier methods such as condoms..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Bacterial diseases: Salmonella and gonorrhoea. Say it in your own words, then check understanding with a quick question: ask a pupil from the pre-teach group first, since they met these words and ideas before the lesson. Pupils try to recall before you re-explain.
Salmonella food poisoning is spread by bacteria taken in with food, or on food prepared in unhygienic conditions. The symptoms are fever, abdominal cramps, vomiting and diarrhoea, caused by the bacteria and the toxins they secrete. In the UK, poultry are vaccinated against Salmonella to control its spread.
Gonorrhoea is a sexually transmitted disease caused by a bacterium. Its symptoms are a thick yellow or green discharge from the vagina or penis and pain on urinating. It is spread by sexual contact.
Gonorrhoea was easily treated with the antibiotic penicillin until many resistant strains appeared. Its spread is now controlled by treatment with other antibiotics and by using a barrier method of contraception, such as a condom.
Worked example — model it step by step, thinking aloud: Compare the ways Salmonella food poisoning and gonorrhoea are spread and controlled. (4 marks) (1) Similarity first: both are caused by bacteria. (2) Difference in spread: Salmonella is taken in with contaminated food, whereas gonorrhoea is spread by sexual contact. (3) Difference in control: the spread of Salmonella is controlled by vaccinating poultry and by food hygiene, whereas gonorrhoea is controlled with antibiotics and by using condoms. (4) Use 'both' and 'whereas' so the two diseases sit side by side. Answer: Both are bacterial diseases. Salmonella is spread in contaminated food, whereas gonorrhoea is spread by sexual contact. Salmonella is controlled by vaccinating poultry and food hygiene, whereas gonorrhoea is controlled with antibiotics and barrier methods such as condoms..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Antibiotics and antivirals. Say it in your own words, then check understanding with a quick question: ask a pupil from the pre-teach group first, since they met these words and ideas before the lesson. Pupils try to recall before you re-explain.
Antibiotics, such as penicillin, are medicines that kill bacteria inside the body, and antibacterial chemicals destroy bacteria on surfaces. Because gonorrhoea and Salmonella are caused by bacteria, antibiotics can treat them, although resistant strains make this harder every year.
Antibiotics do nothing to viruses. Viruses are not living cells like bacteria; they reproduce inside your own cells, so a drug that reaches them risks damaging your cells too. Antiviral drugs do not kill viruses; instead they prevent the virus from replicating (making copies of itself). Antiretroviral drugs used to control HIV work in this way. Viruses also replicate faster than bacteria, so treatment must start early.
Tip: Bacterium: antibiotics kill it. Virus: antibiotics are useless; antivirals slow its copying. Never write 'antibiotics cure measles or flu'.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Five diseases, five fact files.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disease to its pathogen type and the way it is spread.
Support — work through the steps with the group: (1) Sort the five into viruses (three) and bacteria (two) first. (2) Of the viruses, one infects plants: find 'leaves'. (3) Of the two human viruses, one is caught from the air and one from body fluids. (4) Of the two bacteria, one comes from food and one from sexual contact.
Parallel worked example for Support (model it, do not give the task answer): Match: rose black spot; malaria. Facts: protist carried by mosquitoes, causing fever; fungus spread by wind and water, causing black spots on leaves. Rose black spot is a plant disease with spots on leaves: the fungus.; Malaria has a mosquito vector: the protist.. Answer: Rose black spot: fungus spread by wind and water. Malaria: protist carried by mosquitoes..
Core — reveal the hint only on request: Three viruses (one of plants), two bacteria. Then match the route: air, body fluids, food, sexual contact, plant contact.
Stretch — no help; when finished: Gonorrhoea and HIV are both spread by sexual contact. Explain why one can be treated with antibiotics and the other cannot, and what is used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Five diseases, five fact files.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disease to its pathogen type and the way it is spread.
Support — work through the steps with the group: (1) Sort the five into viruses (three) and bacteria (two) first. (2) Of the viruses, one infects plants: find 'leaves'. (3) Of the two human viruses, one is caught from the air and one from body fluids. (4) Of the two bacteria, one comes from food and one from sexual contact.
Parallel worked example for Support (model it, do not give the task answer): Match: rose black spot; malaria. Facts: protist carried by mosquitoes, causing fever; fungus spread by wind and water, causing black spots on leaves. Rose black spot is a plant disease with spots on leaves: the fungus.; Malaria has a mosquito vector: the protist.. Answer: Rose black spot: fungus spread by wind and water. Malaria: protist carried by mosquitoes..
Core — reveal the hint only on request: Three viruses (one of plants), two bacteria. Then match the route: air, body fluids, food, sexual contact, plant contact.
Stretch — no help; when finished: Gonorrhoea and HIV are both spread by sexual contact. Explain why one can be treated with antibiotics and the other cannot, and what is used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Five diseases, five fact files.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disease to its pathogen type and the way it is spread.
Support — work through the steps with the group: (1) Sort the five into viruses (three) and bacteria (two) first. (2) Of the viruses, one infects plants: find 'leaves'. (3) Of the two human viruses, one is caught from the air and one from body fluids. (4) Of the two bacteria, one comes from food and one from sexual contact.
Parallel worked example for Support (model it, do not give the task answer): Match: rose black spot; malaria. Facts: protist carried by mosquitoes, causing fever; fungus spread by wind and water, causing black spots on leaves. Rose black spot is a plant disease with spots on leaves: the fungus.; Malaria has a mosquito vector: the protist.. Answer: Rose black spot: fungus spread by wind and water. Malaria: protist carried by mosquitoes..
Core — reveal the hint only on request: Three viruses (one of plants), two bacteria. Then match the route: air, body fluids, food, sexual contact, plant contact.
Stretch — no help; when finished: Gonorrhoea and HIV are both spread by sexual contact. Explain why one can be treated with antibiotics and the other cannot, and what is used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Five diseases, five fact files.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disease to its pathogen type and the way it is spread.
Support — work through the steps with the group: (1) Sort the five into viruses (three) and bacteria (two) first. (2) Of the viruses, one infects plants: find 'leaves'. (3) Of the two human viruses, one is caught from the air and one from body fluids. (4) Of the two bacteria, one comes from food and one from sexual contact.
Parallel worked example for Support (model it, do not give the task answer): Match: rose black spot; malaria. Facts: protist carried by mosquitoes, causing fever; fungus spread by wind and water, causing black spots on leaves. Rose black spot is a plant disease with spots on leaves: the fungus.; Malaria has a mosquito vector: the protist.. Answer: Rose black spot: fungus spread by wind and water. Malaria: protist carried by mosquitoes..
Core — reveal the hint only on request: Three viruses (one of plants), two bacteria. Then match the route: air, body fluids, food, sexual contact, plant contact.
Stretch — no help; when finished: Gonorrhoea and HIV are both spread by sexual contact. Explain why one can be treated with antibiotics and the other cannot, and what is used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How many are protected?.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About 80% of the world's young children are vaccinated against measles. In a town with 2500 young children, how many would you expect to be vaccinated?
Support — work through the steps with the group: (1) 80% means 80 out of every 100, or 0.80 as a decimal. (2) 'Of' means multiply: 0.80 × 2500. (3) 0.80 × 2500 = 2000. (4) Check: 10% of 2500 is 250, so 80% is 8 × 250 = 2000.
Parallel worked example for Support (model it, do not give the task answer): In a flock of 1200 chickens, 75% have been vaccinated against Salmonella. How many chickens is that? 75% = 0.75.; 0.75 × 1200 = 900.; Check: 25% of 1200 is 300, so 75% is 3 × 300 = 900.. Answer: 900 chickens.
Core — reveal the hint only on request: Turn the percentage into a decimal, then multiply by the total.
Stretch — no help; when finished: The number of measles cases falls as the percentage vaccinated rises. Explain why, using the idea that the virus needs unvaccinated people to pass between.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type of pathogen causes measles?
Answer: D   A virus. Measles is a viral disease spread in droplets from coughs and sneezes; it causes fever and a red skin rash.
Source of this question: gate item 1 re-asked (options rotated) — this chapter has no third quick-check module.
The ebook also holds task 3, "Why antibiotics fail against measles (6 marks)",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Five diseases, five fact files. Reveal the answer; pupils mark their own work in a different colour, then read the "why" together. Same destination for every lane, so one answer serves the whole class.
Answer: Measles  →  C  Virus spread in droplets from coughs and sneezes; fever and a red skin rash; HIV  →  D  Virus spread by sexual contact or body fluids such as blood; attacks the immune cells; Salmonella food poisoning  →  E  Bacteria taken in with contaminated food; fever, cramps, vomiting and diarrhoea; Gonorrhoea  →  A  Bacterium spread by sexual contact; discharge and pain on urinating; Tobacco mosaic virus  →  B  Virus of plants spread by contact with diseased material; mosaic pattern on the leaves
Why: Measles and HIV are viruses of people (droplets; body fluids); TMV is a virus of plants; Salmonella and gonorrhoea are bacteria (food; sexual contact).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How many are protected?. Reveal the answer; pupils mark their own work in a different colour, then read the "why" together. Same destination for every lane, so one answer serves the whole class.
Answer: 2000 children
Why: 80% of 2500 = 0.80 × 2500 = 2000 children. The more children who are vaccinated, the fewer cases of measles there are.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A virus
Why: Measles is a viral disease spread in droplets from coughs and sneezes; it causes fever and a red skin rash.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8CDDA"/>
          </a:solidFill>
          <a:ln w="12700">
            <a:solidFill>
              <a:srgbClr val="C8CD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Biology (Triple Science) · Year 10 · Communicable Diseases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8CDDA"/>
          </a:solidFill>
          <a:ln w="12700">
            <a:solidFill>
              <a:srgbClr val="C8CD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Biology (Triple Science) · Year 10 · Communicable Diseases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4366B"/>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DD1DD"/>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4366B"/>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4366B"/>
                </a:solidFill>
                <a:latin typeface="Calibri" pitchFamily="34" charset="0"/>
                <a:ea typeface="Calibri" pitchFamily="34" charset="-122"/>
                <a:cs typeface="Calibri" pitchFamily="34" charset="-120"/>
              </a:rPr>
              <a:t>Biology (Triple Science)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5/6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Communicable Diseases · AQA 8461</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Bacterial and viral diseases</a:t>
            </a:r>
            <a:endParaRPr lang="en-US" sz="4000" dirty="0"/>
          </a:p>
        </p:txBody>
      </p:sp>
      <p:sp>
        <p:nvSpPr>
          <p:cNvPr id="11" name="lessons-card"/>
          <p:cNvSpPr/>
          <p:nvPr/>
        </p:nvSpPr>
        <p:spPr>
          <a:xfrm>
            <a:off x="548640" y="4069588"/>
            <a:ext cx="5287975" cy="980440"/>
          </a:xfrm>
          <a:prstGeom prst="roundRect">
            <a:avLst>
              <a:gd name="adj" fmla="val 7461"/>
            </a:avLst>
          </a:prstGeom>
          <a:solidFill>
            <a:srgbClr val="E3E5EC"/>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4366B"/>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B5.6/7 Bacterial and viral diseases</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Biology (Triple Scienc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3E5EC"/>
          </a:solidFill>
          <a:ln w="12700">
            <a:solidFill>
              <a:srgbClr val="A1A9BF"/>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4366B"/>
                </a:solidFill>
                <a:latin typeface="Calibri" pitchFamily="34" charset="0"/>
                <a:ea typeface="Calibri" pitchFamily="34" charset="-122"/>
                <a:cs typeface="Calibri" pitchFamily="34" charset="-120"/>
              </a:rPr>
              <a:t>Big question</a:t>
            </a:r>
            <a:endParaRPr lang="en-US" sz="1800" dirty="0"/>
          </a:p>
          <a:p>
            <a:pPr algn="l" indent="0" marL="0">
              <a:buNone/>
            </a:pPr>
            <a:r>
              <a:rPr lang="en-US" sz="2200" i="1" dirty="0">
                <a:solidFill>
                  <a:srgbClr val="1E2229"/>
                </a:solidFill>
                <a:latin typeface="Cambria" pitchFamily="34" charset="0"/>
                <a:ea typeface="Cambria" pitchFamily="34" charset="-122"/>
                <a:cs typeface="Cambria" pitchFamily="34" charset="-120"/>
              </a:rPr>
              <a:t>How do pathogens spread disease between people, animals and plants, and how can we stop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9EBF0"/>
          </a:solidFill>
          <a:ln w="12700">
            <a:solidFill>
              <a:srgbClr val="ACB3C7"/>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type of pathogen causes measles?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virus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bacterium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fungus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protist</a:t>
            </a:r>
            <a:endParaRPr lang="en-US" sz="2400" dirty="0"/>
          </a:p>
        </p:txBody>
      </p:sp>
      <p:sp>
        <p:nvSpPr>
          <p:cNvPr id="12" name="card"/>
          <p:cNvSpPr/>
          <p:nvPr/>
        </p:nvSpPr>
        <p:spPr>
          <a:xfrm>
            <a:off x="4338218" y="1389888"/>
            <a:ext cx="3515258" cy="4754880"/>
          </a:xfrm>
          <a:prstGeom prst="roundRect">
            <a:avLst>
              <a:gd name="adj" fmla="val 1561"/>
            </a:avLst>
          </a:prstGeom>
          <a:solidFill>
            <a:srgbClr val="E9EBF0"/>
          </a:solidFill>
          <a:ln w="12700">
            <a:solidFill>
              <a:srgbClr val="ACB3C7"/>
            </a:solidFill>
            <a:prstDash val="solid"/>
          </a:ln>
        </p:spPr>
      </p:sp>
      <p:sp>
        <p:nvSpPr>
          <p:cNvPr id="13" name="card-hex"/>
          <p:cNvSpPr/>
          <p:nvPr/>
        </p:nvSpPr>
        <p:spPr>
          <a:xfrm>
            <a:off x="4521098" y="1572768"/>
            <a:ext cx="640080" cy="554309"/>
          </a:xfrm>
          <a:prstGeom prst="hexagon">
            <a:avLst/>
          </a:prstGeom>
          <a:solidFill>
            <a:srgbClr val="24366B"/>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Salmonella food poisoning is a ___ disease spread in food.</a:t>
            </a:r>
            <a:endParaRPr lang="en-US" sz="2400" dirty="0"/>
          </a:p>
          <a:p>
            <a:pPr algn="l" indent="0" marL="0">
              <a:buNone/>
            </a:pPr>
            <a:r>
              <a:rPr lang="en-US" sz="2400" b="1" dirty="0">
                <a:solidFill>
                  <a:srgbClr val="24366B"/>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bacterial  ·  viral  ·  fungal</a:t>
            </a:r>
            <a:endParaRPr lang="en-US" sz="2400" dirty="0"/>
          </a:p>
        </p:txBody>
      </p:sp>
      <p:sp>
        <p:nvSpPr>
          <p:cNvPr id="17" name="card"/>
          <p:cNvSpPr/>
          <p:nvPr/>
        </p:nvSpPr>
        <p:spPr>
          <a:xfrm>
            <a:off x="8127797" y="1389888"/>
            <a:ext cx="3515258" cy="4754880"/>
          </a:xfrm>
          <a:prstGeom prst="roundRect">
            <a:avLst>
              <a:gd name="adj" fmla="val 1561"/>
            </a:avLst>
          </a:prstGeom>
          <a:solidFill>
            <a:srgbClr val="E9EBF0"/>
          </a:solidFill>
          <a:ln w="12700">
            <a:solidFill>
              <a:srgbClr val="ACB3C7"/>
            </a:solidFill>
            <a:prstDash val="solid"/>
          </a:ln>
        </p:spPr>
      </p:sp>
      <p:sp>
        <p:nvSpPr>
          <p:cNvPr id="18" name="card-hex"/>
          <p:cNvSpPr/>
          <p:nvPr/>
        </p:nvSpPr>
        <p:spPr>
          <a:xfrm>
            <a:off x="8310677" y="1572768"/>
            <a:ext cx="640080" cy="554309"/>
          </a:xfrm>
          <a:prstGeom prst="hexagon">
            <a:avLst/>
          </a:prstGeom>
          <a:solidFill>
            <a:srgbClr val="24366B"/>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How is HIV spread from person to person?</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By sexual contact or exchange of body fluids such as blood</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In droplets from coughs and sneezes</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In contaminated food</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By mosquito bites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9EBF0"/>
          </a:solidFill>
          <a:ln w="12700">
            <a:solidFill>
              <a:srgbClr val="ACB3C7"/>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BDDC4"/>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A virus</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Which type of pathogen causes measles?</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Measles is a viral disease spread in droplets from coughs and sneezes; it causes fever and a red skin rash.</a:t>
            </a:r>
            <a:endParaRPr lang="en-US" sz="2200" dirty="0"/>
          </a:p>
        </p:txBody>
      </p:sp>
      <p:sp>
        <p:nvSpPr>
          <p:cNvPr id="14" name="card"/>
          <p:cNvSpPr/>
          <p:nvPr/>
        </p:nvSpPr>
        <p:spPr>
          <a:xfrm>
            <a:off x="4338218" y="1389888"/>
            <a:ext cx="3515258" cy="4754880"/>
          </a:xfrm>
          <a:prstGeom prst="roundRect">
            <a:avLst>
              <a:gd name="adj" fmla="val 1561"/>
            </a:avLst>
          </a:prstGeom>
          <a:solidFill>
            <a:srgbClr val="E9EBF0"/>
          </a:solidFill>
          <a:ln w="12700">
            <a:solidFill>
              <a:srgbClr val="ACB3C7"/>
            </a:solidFill>
            <a:prstDash val="solid"/>
          </a:ln>
        </p:spPr>
      </p:sp>
      <p:sp>
        <p:nvSpPr>
          <p:cNvPr id="15" name="card-hex"/>
          <p:cNvSpPr/>
          <p:nvPr/>
        </p:nvSpPr>
        <p:spPr>
          <a:xfrm>
            <a:off x="4521098" y="1572768"/>
            <a:ext cx="640080" cy="554309"/>
          </a:xfrm>
          <a:prstGeom prst="hexagon">
            <a:avLst/>
          </a:prstGeom>
          <a:solidFill>
            <a:srgbClr val="24366B"/>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bacterial</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Salmonella food poisoning is a ___ disease spread in food.</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Salmonella bacteria are taken in with contaminated food; they and their toxins cause fever, cramps, vomiting and diarrhoea.</a:t>
            </a:r>
            <a:endParaRPr lang="en-US" sz="2000" dirty="0"/>
          </a:p>
        </p:txBody>
      </p:sp>
      <p:sp>
        <p:nvSpPr>
          <p:cNvPr id="21" name="card"/>
          <p:cNvSpPr/>
          <p:nvPr/>
        </p:nvSpPr>
        <p:spPr>
          <a:xfrm>
            <a:off x="8127797" y="1389888"/>
            <a:ext cx="3515258" cy="4754880"/>
          </a:xfrm>
          <a:prstGeom prst="roundRect">
            <a:avLst>
              <a:gd name="adj" fmla="val 1561"/>
            </a:avLst>
          </a:prstGeom>
          <a:solidFill>
            <a:srgbClr val="E9EBF0"/>
          </a:solidFill>
          <a:ln w="12700">
            <a:solidFill>
              <a:srgbClr val="ACB3C7"/>
            </a:solidFill>
            <a:prstDash val="solid"/>
          </a:ln>
        </p:spPr>
      </p:sp>
      <p:sp>
        <p:nvSpPr>
          <p:cNvPr id="22" name="card-hex"/>
          <p:cNvSpPr/>
          <p:nvPr/>
        </p:nvSpPr>
        <p:spPr>
          <a:xfrm>
            <a:off x="8310677" y="1572768"/>
            <a:ext cx="640080" cy="554309"/>
          </a:xfrm>
          <a:prstGeom prst="hexagon">
            <a:avLst/>
          </a:prstGeom>
          <a:solidFill>
            <a:srgbClr val="24366B"/>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295908"/>
          </a:xfrm>
          <a:prstGeom prst="roundRect">
            <a:avLst>
              <a:gd name="adj" fmla="val 8467"/>
            </a:avLst>
          </a:prstGeom>
          <a:solidFill>
            <a:srgbClr val="EBDDC4"/>
          </a:solidFill>
          <a:ln w="19050">
            <a:solidFill>
              <a:srgbClr val="B8862B"/>
            </a:solidFill>
            <a:prstDash val="solid"/>
          </a:ln>
        </p:spPr>
      </p:sp>
      <p:sp>
        <p:nvSpPr>
          <p:cNvPr id="26" name="answer"/>
          <p:cNvSpPr txBox="1"/>
          <p:nvPr/>
        </p:nvSpPr>
        <p:spPr>
          <a:xfrm>
            <a:off x="8402117"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By sexual contact or exchange of body fluids such as blood</a:t>
            </a:r>
            <a:endParaRPr lang="en-US" sz="2200" dirty="0"/>
          </a:p>
        </p:txBody>
      </p:sp>
      <p:sp>
        <p:nvSpPr>
          <p:cNvPr id="27" name="card-body"/>
          <p:cNvSpPr txBox="1"/>
          <p:nvPr/>
        </p:nvSpPr>
        <p:spPr>
          <a:xfrm>
            <a:off x="8310677" y="3834465"/>
            <a:ext cx="3149498" cy="2173143"/>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HIV passes in body fluids: by sexual contact, or in blood when drug users share needles. Condoms and not sharing needles reduce its spread.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7E9EF"/>
          </a:solidFill>
          <a:ln w="12700">
            <a:solidFill>
              <a:srgbClr val="A1A9BF"/>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measles</a:t>
            </a:r>
            <a:endParaRPr lang="en-US" sz="2600" dirty="0"/>
          </a:p>
        </p:txBody>
      </p:sp>
      <p:sp>
        <p:nvSpPr>
          <p:cNvPr id="11" name="word-rule"/>
          <p:cNvSpPr/>
          <p:nvPr/>
        </p:nvSpPr>
        <p:spPr>
          <a:xfrm>
            <a:off x="731520" y="2129028"/>
            <a:ext cx="3149498" cy="0"/>
          </a:xfrm>
          <a:prstGeom prst="line">
            <a:avLst/>
          </a:prstGeom>
          <a:ln w="12700">
            <a:solidFill>
              <a:srgbClr val="A1A9BF"/>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viral disease with fever and a red skin rash</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Most young children are vaccinated against measles.</a:t>
            </a:r>
            <a:endParaRPr lang="en-US" sz="2200" dirty="0"/>
          </a:p>
        </p:txBody>
      </p:sp>
      <p:sp>
        <p:nvSpPr>
          <p:cNvPr id="13" name="word-card"/>
          <p:cNvSpPr/>
          <p:nvPr/>
        </p:nvSpPr>
        <p:spPr>
          <a:xfrm>
            <a:off x="4338218" y="1389888"/>
            <a:ext cx="3515258" cy="4754880"/>
          </a:xfrm>
          <a:prstGeom prst="roundRect">
            <a:avLst>
              <a:gd name="adj" fmla="val 1561"/>
            </a:avLst>
          </a:prstGeom>
          <a:solidFill>
            <a:srgbClr val="E7E9EF"/>
          </a:solidFill>
          <a:ln w="12700">
            <a:solidFill>
              <a:srgbClr val="A1A9BF"/>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HIV</a:t>
            </a:r>
            <a:endParaRPr lang="en-US" sz="2600" dirty="0"/>
          </a:p>
        </p:txBody>
      </p:sp>
      <p:sp>
        <p:nvSpPr>
          <p:cNvPr id="17" name="word-rule"/>
          <p:cNvSpPr/>
          <p:nvPr/>
        </p:nvSpPr>
        <p:spPr>
          <a:xfrm>
            <a:off x="4521098" y="2129028"/>
            <a:ext cx="3149498" cy="0"/>
          </a:xfrm>
          <a:prstGeom prst="line">
            <a:avLst/>
          </a:prstGeom>
          <a:ln w="12700">
            <a:solidFill>
              <a:srgbClr val="A1A9BF"/>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virus that attacks the body's immune cells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HIV is spread by sexual contact or by sharing needles.</a:t>
            </a:r>
            <a:endParaRPr lang="en-US" sz="2200" dirty="0"/>
          </a:p>
        </p:txBody>
      </p:sp>
      <p:sp>
        <p:nvSpPr>
          <p:cNvPr id="19" name="word-card"/>
          <p:cNvSpPr/>
          <p:nvPr/>
        </p:nvSpPr>
        <p:spPr>
          <a:xfrm>
            <a:off x="8127797" y="1389888"/>
            <a:ext cx="3515258" cy="4754880"/>
          </a:xfrm>
          <a:prstGeom prst="roundRect">
            <a:avLst>
              <a:gd name="adj" fmla="val 1561"/>
            </a:avLst>
          </a:prstGeom>
          <a:solidFill>
            <a:srgbClr val="E7E9EF"/>
          </a:solidFill>
          <a:ln w="12700">
            <a:solidFill>
              <a:srgbClr val="A1A9BF"/>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Salmonella</a:t>
            </a:r>
            <a:endParaRPr lang="en-US" sz="2600" dirty="0"/>
          </a:p>
        </p:txBody>
      </p:sp>
      <p:sp>
        <p:nvSpPr>
          <p:cNvPr id="23" name="word-rule"/>
          <p:cNvSpPr/>
          <p:nvPr/>
        </p:nvSpPr>
        <p:spPr>
          <a:xfrm>
            <a:off x="8310677" y="2129028"/>
            <a:ext cx="3149498" cy="0"/>
          </a:xfrm>
          <a:prstGeom prst="line">
            <a:avLst/>
          </a:prstGeom>
          <a:ln w="12700">
            <a:solidFill>
              <a:srgbClr val="A1A9BF"/>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bacteria spread in food that cause food poisoning</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Undercooked chicken can carry Salmonella.</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7E9EF"/>
          </a:solidFill>
          <a:ln w="12700">
            <a:solidFill>
              <a:srgbClr val="A1A9BF"/>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gonorrhoea</a:t>
            </a:r>
            <a:endParaRPr lang="en-US" sz="2600" dirty="0"/>
          </a:p>
        </p:txBody>
      </p:sp>
      <p:sp>
        <p:nvSpPr>
          <p:cNvPr id="11" name="word-rule"/>
          <p:cNvSpPr/>
          <p:nvPr/>
        </p:nvSpPr>
        <p:spPr>
          <a:xfrm>
            <a:off x="731520" y="2129028"/>
            <a:ext cx="3149498" cy="0"/>
          </a:xfrm>
          <a:prstGeom prst="line">
            <a:avLst/>
          </a:prstGeom>
          <a:ln w="12700">
            <a:solidFill>
              <a:srgbClr val="A1A9BF"/>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bacterial disease spread by sexual contact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Gonorrhoea is treated with antibiotics.</a:t>
            </a:r>
            <a:endParaRPr lang="en-US" sz="2200" dirty="0"/>
          </a:p>
        </p:txBody>
      </p:sp>
      <p:sp>
        <p:nvSpPr>
          <p:cNvPr id="13" name="word-card"/>
          <p:cNvSpPr/>
          <p:nvPr/>
        </p:nvSpPr>
        <p:spPr>
          <a:xfrm>
            <a:off x="4338218" y="1389888"/>
            <a:ext cx="3515258" cy="4754880"/>
          </a:xfrm>
          <a:prstGeom prst="roundRect">
            <a:avLst>
              <a:gd name="adj" fmla="val 1561"/>
            </a:avLst>
          </a:prstGeom>
          <a:solidFill>
            <a:srgbClr val="E7E9EF"/>
          </a:solidFill>
          <a:ln w="12700">
            <a:solidFill>
              <a:srgbClr val="A1A9BF"/>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antibiotic</a:t>
            </a:r>
            <a:endParaRPr lang="en-US" sz="2600" dirty="0"/>
          </a:p>
        </p:txBody>
      </p:sp>
      <p:sp>
        <p:nvSpPr>
          <p:cNvPr id="17" name="word-rule"/>
          <p:cNvSpPr/>
          <p:nvPr/>
        </p:nvSpPr>
        <p:spPr>
          <a:xfrm>
            <a:off x="4521098" y="2129028"/>
            <a:ext cx="3149498" cy="0"/>
          </a:xfrm>
          <a:prstGeom prst="line">
            <a:avLst/>
          </a:prstGeom>
          <a:ln w="12700">
            <a:solidFill>
              <a:srgbClr val="A1A9BF"/>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medicine that kills bacteria</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Antibiotics do not work on viruses.</a:t>
            </a:r>
            <a:endParaRPr lang="en-US" sz="2200" dirty="0"/>
          </a:p>
        </p:txBody>
      </p:sp>
      <p:sp>
        <p:nvSpPr>
          <p:cNvPr id="19" name="word-card"/>
          <p:cNvSpPr/>
          <p:nvPr/>
        </p:nvSpPr>
        <p:spPr>
          <a:xfrm>
            <a:off x="8127797" y="1389888"/>
            <a:ext cx="3515258" cy="4754880"/>
          </a:xfrm>
          <a:prstGeom prst="roundRect">
            <a:avLst>
              <a:gd name="adj" fmla="val 1561"/>
            </a:avLst>
          </a:prstGeom>
          <a:solidFill>
            <a:srgbClr val="E7E9EF"/>
          </a:solidFill>
          <a:ln w="12700">
            <a:solidFill>
              <a:srgbClr val="A1A9BF"/>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antiviral</a:t>
            </a:r>
            <a:endParaRPr lang="en-US" sz="2600" dirty="0"/>
          </a:p>
        </p:txBody>
      </p:sp>
      <p:sp>
        <p:nvSpPr>
          <p:cNvPr id="23" name="word-rule"/>
          <p:cNvSpPr/>
          <p:nvPr/>
        </p:nvSpPr>
        <p:spPr>
          <a:xfrm>
            <a:off x="8310677" y="2129028"/>
            <a:ext cx="3149498" cy="0"/>
          </a:xfrm>
          <a:prstGeom prst="line">
            <a:avLst/>
          </a:prstGeom>
          <a:ln w="12700">
            <a:solidFill>
              <a:srgbClr val="A1A9BF"/>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drug that stops viruses making copies of themselves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Antiretroviral drugs are antivirals used to control HIV.</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EBF0"/>
          </a:solidFill>
          <a:ln w="12700">
            <a:solidFill>
              <a:srgbClr val="B7BD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Measles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caused by a virus.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spreads in droplets from coughs and sneezes.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causes a fever and a red skin rash, and it can be fatal.</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Most young children are vaccinated against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measles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HIV</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a virus spread by sexual contact or by sharing needles.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first it causes a flu-like illness, then it attacks the immune system.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Antiretroviral drugs can control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HIV</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EBF0"/>
          </a:solidFill>
          <a:ln w="12700">
            <a:solidFill>
              <a:srgbClr val="B7BD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Tobacco mosaic virus gives plant leaves a mosaic pattern, so they make less food.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Salmonella</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bacteria are spread in food and cause fever, cramps, vomiting and diarrhoea.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the UK, poultry are vaccinated against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Salmonella</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Gonorrhoea</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a bacterial disease spread by sexual contact.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is treated with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antibiotics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but some strains are now resistant.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Antibiotics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kill bacteria, but they do not work on viruses.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Viral diseases: measles and HIV</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HIV is the virus; AIDS is the late stage of the infection. Do not use the two words as if they meant the same thing.</a:t>
            </a:r>
            <a:endParaRPr lang="en-US" sz="1800" dirty="0"/>
          </a:p>
        </p:txBody>
      </p:sp>
      <p:sp>
        <p:nvSpPr>
          <p:cNvPr id="11" name="point-card"/>
          <p:cNvSpPr/>
          <p:nvPr/>
        </p:nvSpPr>
        <p:spPr>
          <a:xfrm>
            <a:off x="548640" y="1389888"/>
            <a:ext cx="3515258" cy="3686048"/>
          </a:xfrm>
          <a:prstGeom prst="roundRect">
            <a:avLst>
              <a:gd name="adj" fmla="val 1561"/>
            </a:avLst>
          </a:prstGeom>
          <a:solidFill>
            <a:srgbClr val="E3E5EC"/>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Measles is a viral disease. Its symptoms are a fever and a red skin rash.</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HIV is a virus spread by sexual contact, or by exchange of body fluids such as blood, which happens when drug users share needles.</a:t>
            </a:r>
            <a:endParaRPr lang="en-US" sz="2000" dirty="0"/>
          </a:p>
        </p:txBody>
      </p:sp>
      <p:sp>
        <p:nvSpPr>
          <p:cNvPr id="19" name="point-card"/>
          <p:cNvSpPr/>
          <p:nvPr/>
        </p:nvSpPr>
        <p:spPr>
          <a:xfrm>
            <a:off x="8127797" y="1389888"/>
            <a:ext cx="3515258" cy="3686048"/>
          </a:xfrm>
          <a:prstGeom prst="roundRect">
            <a:avLst>
              <a:gd name="adj" fmla="val 1561"/>
            </a:avLst>
          </a:prstGeom>
          <a:solidFill>
            <a:srgbClr val="E3E5EC"/>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Late-stage HIV infection is called AIDS. It occurs when the immune system has been so badly damaged that the body can no longer deal with other infections or with cancers.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 viral disease of plants: tobacco mosaic virus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For every plant disease, link the symptom to photosynthesis: fewer or damaged leaves means less photosynthesis, so less growth.</a:t>
            </a:r>
            <a:endParaRPr lang="en-US" sz="1800" dirty="0"/>
          </a:p>
        </p:txBody>
      </p:sp>
      <p:sp>
        <p:nvSpPr>
          <p:cNvPr id="11" name="point-card"/>
          <p:cNvSpPr/>
          <p:nvPr/>
        </p:nvSpPr>
        <p:spPr>
          <a:xfrm>
            <a:off x="548640" y="1389888"/>
            <a:ext cx="5410048" cy="3686048"/>
          </a:xfrm>
          <a:prstGeom prst="roundRect">
            <a:avLst>
              <a:gd name="adj" fmla="val 1488"/>
            </a:avLst>
          </a:prstGeom>
          <a:solidFill>
            <a:srgbClr val="E3E5EC"/>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Tobacco mosaic virus (TMV) is a widespread plant pathogen that infects many species, including tomatoes.</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TMV spreads by contact with diseased plant material and can be carried by insects.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Bacterial diseases: Salmonella and gonorrhoea</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E3E5EC"/>
          </a:solidFill>
          <a:ln/>
        </p:spPr>
      </p:sp>
      <p:sp>
        <p:nvSpPr>
          <p:cNvPr id="8" name="point-hex"/>
          <p:cNvSpPr/>
          <p:nvPr/>
        </p:nvSpPr>
        <p:spPr>
          <a:xfrm>
            <a:off x="731520" y="1572768"/>
            <a:ext cx="685800" cy="593903"/>
          </a:xfrm>
          <a:prstGeom prst="hexagon">
            <a:avLst/>
          </a:prstGeom>
          <a:solidFill>
            <a:srgbClr val="24366B"/>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Salmonella food poisoning is spread by bacteria taken in with food, or on food prepared in unhygienic conditions.</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4EDDF"/>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Gonorrhoea is a sexually transmitted disease caused by a bacterium.</a:t>
            </a:r>
            <a:endParaRPr lang="en-US" sz="2400" dirty="0"/>
          </a:p>
        </p:txBody>
      </p:sp>
      <p:sp>
        <p:nvSpPr>
          <p:cNvPr id="15" name="point-card"/>
          <p:cNvSpPr/>
          <p:nvPr/>
        </p:nvSpPr>
        <p:spPr>
          <a:xfrm>
            <a:off x="8127797" y="1389888"/>
            <a:ext cx="3515258" cy="4754880"/>
          </a:xfrm>
          <a:prstGeom prst="roundRect">
            <a:avLst>
              <a:gd name="adj" fmla="val 1561"/>
            </a:avLst>
          </a:prstGeom>
          <a:solidFill>
            <a:srgbClr val="E3E5EC"/>
          </a:solidFill>
          <a:ln/>
        </p:spPr>
      </p:sp>
      <p:sp>
        <p:nvSpPr>
          <p:cNvPr id="16" name="point-hex"/>
          <p:cNvSpPr/>
          <p:nvPr/>
        </p:nvSpPr>
        <p:spPr>
          <a:xfrm>
            <a:off x="8310677" y="1572768"/>
            <a:ext cx="685800" cy="593903"/>
          </a:xfrm>
          <a:prstGeom prst="hexagon">
            <a:avLst/>
          </a:prstGeom>
          <a:solidFill>
            <a:srgbClr val="24366B"/>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Gonorrhoea was easily treated with the antibiotic penicillin until many resistant strains appeared.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24366B"/>
                </a:solidFill>
                <a:latin typeface="Cambria" pitchFamily="34" charset="0"/>
                <a:ea typeface="Cambria" pitchFamily="34" charset="-122"/>
                <a:cs typeface="Cambria" pitchFamily="34" charset="-120"/>
              </a:rPr>
              <a:t>Worked example (1 of 4): Bacterial diseases: Salmonella and gonorrhoea</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3E5EC"/>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Compare the ways Salmonella food poisoning and gonorrhoea are spread and controlled. (4 marks)</a:t>
            </a:r>
            <a:endParaRPr lang="en-US" sz="2200" dirty="0"/>
          </a:p>
        </p:txBody>
      </p:sp>
      <p:sp>
        <p:nvSpPr>
          <p:cNvPr id="9" name="step-box"/>
          <p:cNvSpPr/>
          <p:nvPr/>
        </p:nvSpPr>
        <p:spPr>
          <a:xfrm>
            <a:off x="548640" y="2655824"/>
            <a:ext cx="11094415" cy="1463040"/>
          </a:xfrm>
          <a:prstGeom prst="roundRect">
            <a:avLst>
              <a:gd name="adj" fmla="val 5000"/>
            </a:avLst>
          </a:prstGeom>
          <a:solidFill>
            <a:srgbClr val="FFFFFF"/>
          </a:solidFill>
          <a:ln w="15875">
            <a:solidFill>
              <a:srgbClr val="8790AE"/>
            </a:solidFill>
            <a:prstDash val="solid"/>
          </a:ln>
        </p:spPr>
      </p:sp>
      <p:sp>
        <p:nvSpPr>
          <p:cNvPr id="10" name="step-hex"/>
          <p:cNvSpPr/>
          <p:nvPr/>
        </p:nvSpPr>
        <p:spPr>
          <a:xfrm>
            <a:off x="685800" y="2765552"/>
            <a:ext cx="530352" cy="459285"/>
          </a:xfrm>
          <a:prstGeom prst="hexagon">
            <a:avLst/>
          </a:prstGeom>
          <a:solidFill>
            <a:srgbClr val="24366B"/>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10820095"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Similarity first: both are caused by bacteria.</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24366B"/>
                </a:solidFill>
                <a:latin typeface="Cambria" pitchFamily="34" charset="0"/>
                <a:ea typeface="Cambria" pitchFamily="34" charset="-122"/>
                <a:cs typeface="Cambria" pitchFamily="34" charset="-120"/>
              </a:rPr>
              <a:t>Worked example (2 of 4): Bacterial diseases: Salmonella and gonorrhoea</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3E5EC"/>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Compare the ways Salmonella food poisoning and gonorrhoea are spread and controlled. (4 marks)</a:t>
            </a:r>
            <a:endParaRPr lang="en-US" sz="2200" dirty="0"/>
          </a:p>
        </p:txBody>
      </p:sp>
      <p:sp>
        <p:nvSpPr>
          <p:cNvPr id="9" name="step-box"/>
          <p:cNvSpPr/>
          <p:nvPr/>
        </p:nvSpPr>
        <p:spPr>
          <a:xfrm>
            <a:off x="548640" y="2655824"/>
            <a:ext cx="11094415" cy="1463040"/>
          </a:xfrm>
          <a:prstGeom prst="roundRect">
            <a:avLst>
              <a:gd name="adj" fmla="val 5000"/>
            </a:avLst>
          </a:prstGeom>
          <a:solidFill>
            <a:srgbClr val="FFFFFF"/>
          </a:solidFill>
          <a:ln w="15875">
            <a:solidFill>
              <a:srgbClr val="8790AE"/>
            </a:solidFill>
            <a:prstDash val="solid"/>
          </a:ln>
        </p:spPr>
      </p:sp>
      <p:sp>
        <p:nvSpPr>
          <p:cNvPr id="10" name="step-hex"/>
          <p:cNvSpPr/>
          <p:nvPr/>
        </p:nvSpPr>
        <p:spPr>
          <a:xfrm>
            <a:off x="685800" y="2765552"/>
            <a:ext cx="530352" cy="459285"/>
          </a:xfrm>
          <a:prstGeom prst="hexagon">
            <a:avLst/>
          </a:prstGeom>
          <a:solidFill>
            <a:srgbClr val="24366B"/>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2" name="step"/>
          <p:cNvSpPr txBox="1"/>
          <p:nvPr/>
        </p:nvSpPr>
        <p:spPr>
          <a:xfrm>
            <a:off x="685800" y="3250184"/>
            <a:ext cx="10820095"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Difference in spread: Salmonella is taken in with contaminated food, whereas gonorrhoea is spread by sexual contact.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24366B"/>
                </a:solidFill>
                <a:latin typeface="Cambria" pitchFamily="34" charset="0"/>
                <a:ea typeface="Cambria" pitchFamily="34" charset="-122"/>
                <a:cs typeface="Cambria" pitchFamily="34" charset="-120"/>
              </a:rPr>
              <a:t>Worked example (3 of 4): Bacterial diseases: Salmonella and gonorrhoea</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3E5EC"/>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Compare the ways Salmonella food poisoning and gonorrhoea are spread and controlled. (4 marks)</a:t>
            </a:r>
            <a:endParaRPr lang="en-US" sz="2200" dirty="0"/>
          </a:p>
        </p:txBody>
      </p:sp>
      <p:sp>
        <p:nvSpPr>
          <p:cNvPr id="9" name="step-box"/>
          <p:cNvSpPr/>
          <p:nvPr/>
        </p:nvSpPr>
        <p:spPr>
          <a:xfrm>
            <a:off x="548640" y="2655824"/>
            <a:ext cx="11094415" cy="1463040"/>
          </a:xfrm>
          <a:prstGeom prst="roundRect">
            <a:avLst>
              <a:gd name="adj" fmla="val 5000"/>
            </a:avLst>
          </a:prstGeom>
          <a:solidFill>
            <a:srgbClr val="FFFFFF"/>
          </a:solidFill>
          <a:ln w="15875">
            <a:solidFill>
              <a:srgbClr val="8790AE"/>
            </a:solidFill>
            <a:prstDash val="solid"/>
          </a:ln>
        </p:spPr>
      </p:sp>
      <p:sp>
        <p:nvSpPr>
          <p:cNvPr id="10" name="step-hex"/>
          <p:cNvSpPr/>
          <p:nvPr/>
        </p:nvSpPr>
        <p:spPr>
          <a:xfrm>
            <a:off x="685800" y="2765552"/>
            <a:ext cx="530352" cy="459285"/>
          </a:xfrm>
          <a:prstGeom prst="hexagon">
            <a:avLst/>
          </a:prstGeom>
          <a:solidFill>
            <a:srgbClr val="24366B"/>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step"/>
          <p:cNvSpPr txBox="1"/>
          <p:nvPr/>
        </p:nvSpPr>
        <p:spPr>
          <a:xfrm>
            <a:off x="685800" y="3250184"/>
            <a:ext cx="10820095"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Difference in control: the spread of Salmonella is controlled by vaccinating poultry and by food hygiene, whereas gonorrhoea is controlled with antibiotics and by using condoms.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24366B"/>
                </a:solidFill>
                <a:latin typeface="Cambria" pitchFamily="34" charset="0"/>
                <a:ea typeface="Cambria" pitchFamily="34" charset="-122"/>
                <a:cs typeface="Cambria" pitchFamily="34" charset="-120"/>
              </a:rPr>
              <a:t>Worked example (4 of 4): Bacterial diseases: Salmonella and gonorrhoea</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3E5EC"/>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Compare the ways Salmonella food poisoning and gonorrhoea are spread and controlled. (4 marks)</a:t>
            </a:r>
            <a:endParaRPr lang="en-US" sz="2200" dirty="0"/>
          </a:p>
        </p:txBody>
      </p:sp>
      <p:sp>
        <p:nvSpPr>
          <p:cNvPr id="9" name="step-box"/>
          <p:cNvSpPr/>
          <p:nvPr/>
        </p:nvSpPr>
        <p:spPr>
          <a:xfrm>
            <a:off x="548640" y="2655824"/>
            <a:ext cx="11094415" cy="1463040"/>
          </a:xfrm>
          <a:prstGeom prst="roundRect">
            <a:avLst>
              <a:gd name="adj" fmla="val 5000"/>
            </a:avLst>
          </a:prstGeom>
          <a:solidFill>
            <a:srgbClr val="FFFFFF"/>
          </a:solidFill>
          <a:ln w="15875">
            <a:solidFill>
              <a:srgbClr val="8790AE"/>
            </a:solidFill>
            <a:prstDash val="solid"/>
          </a:ln>
        </p:spPr>
      </p:sp>
      <p:sp>
        <p:nvSpPr>
          <p:cNvPr id="10" name="step-hex"/>
          <p:cNvSpPr/>
          <p:nvPr/>
        </p:nvSpPr>
        <p:spPr>
          <a:xfrm>
            <a:off x="685800" y="2765552"/>
            <a:ext cx="530352" cy="459285"/>
          </a:xfrm>
          <a:prstGeom prst="hexagon">
            <a:avLst/>
          </a:prstGeom>
          <a:solidFill>
            <a:srgbClr val="24366B"/>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2" name="step"/>
          <p:cNvSpPr txBox="1"/>
          <p:nvPr/>
        </p:nvSpPr>
        <p:spPr>
          <a:xfrm>
            <a:off x="685800" y="3250184"/>
            <a:ext cx="10820095"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Use 'both' and 'whereas' so the two diseases sit side by side.</a:t>
            </a:r>
            <a:endParaRPr lang="en-US" sz="1800" dirty="0"/>
          </a:p>
        </p:txBody>
      </p:sp>
      <p:sp>
        <p:nvSpPr>
          <p:cNvPr id="13" name="worked-answer"/>
          <p:cNvSpPr/>
          <p:nvPr/>
        </p:nvSpPr>
        <p:spPr>
          <a:xfrm>
            <a:off x="1463040" y="4755896"/>
            <a:ext cx="9265615" cy="1388872"/>
          </a:xfrm>
          <a:prstGeom prst="roundRect">
            <a:avLst>
              <a:gd name="adj" fmla="val 13168"/>
            </a:avLst>
          </a:prstGeom>
          <a:solidFill>
            <a:srgbClr val="EBDDC4"/>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Both are bacterial diseases. Salmonella is spread in contaminated food, whereas gonorrhoea is spread by sexual contact. Salmonella is controlled by vaccinating poultry and food hygiene, whereas gonorrhoea is controlled with antibiotics and barrier methods such as condoms.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Antibiotics and antivirals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Bacterium: antibiotics kill it. Virus: antibiotics are useless; antivirals slow its copying. Never write 'antibiotics cure measles or flu'.</a:t>
            </a:r>
            <a:endParaRPr lang="en-US" sz="1800" dirty="0"/>
          </a:p>
        </p:txBody>
      </p:sp>
      <p:sp>
        <p:nvSpPr>
          <p:cNvPr id="11" name="point-card"/>
          <p:cNvSpPr/>
          <p:nvPr/>
        </p:nvSpPr>
        <p:spPr>
          <a:xfrm>
            <a:off x="548640" y="1389888"/>
            <a:ext cx="5410048" cy="3686048"/>
          </a:xfrm>
          <a:prstGeom prst="roundRect">
            <a:avLst>
              <a:gd name="adj" fmla="val 1488"/>
            </a:avLst>
          </a:prstGeom>
          <a:solidFill>
            <a:srgbClr val="E3E5EC"/>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Antibiotics, such as penicillin, are medicines that kill bacteria inside the body, and antibacterial chemicals destroy bacteria on surfaces.</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Antibiotics do nothing to viruses. Viruses are not living cells like bacteria; they reproduce inside your own cells, so a drug that reaches them risks damaging your cells too.</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task: Five diseases, five fact files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67868"/>
          </a:xfrm>
          <a:prstGeom prst="rect">
            <a:avLst/>
          </a:prstGeom>
          <a:noFill/>
          <a:ln/>
        </p:spPr>
        <p:txBody>
          <a:bodyPr wrap="square" lIns="63500" tIns="63500" rIns="63500" bIns="63500" rtlCol="0" anchor="t"/>
          <a:lstStyle/>
          <a:p>
            <a:pPr algn="ctr" indent="0" marL="0">
              <a:buNone/>
            </a:pPr>
            <a:r>
              <a:rPr lang="en-US" sz="2200" b="1" dirty="0">
                <a:solidFill>
                  <a:srgbClr val="1E2229"/>
                </a:solidFill>
                <a:latin typeface="Calibri" pitchFamily="34" charset="0"/>
                <a:ea typeface="Calibri" pitchFamily="34" charset="-122"/>
                <a:cs typeface="Calibri" pitchFamily="34" charset="-120"/>
              </a:rPr>
              <a:t>Match each disease to its pathogen type and the way it is spread.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task (1 of 2): Five diseases, five fact files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67868"/>
          </a:xfrm>
          <a:prstGeom prst="rect">
            <a:avLst/>
          </a:prstGeom>
          <a:noFill/>
          <a:ln/>
        </p:spPr>
        <p:txBody>
          <a:bodyPr wrap="square" lIns="63500" tIns="63500" rIns="63500" bIns="63500" rtlCol="0" anchor="t"/>
          <a:lstStyle/>
          <a:p>
            <a:pPr algn="ctr" indent="0" marL="0">
              <a:buNone/>
            </a:pPr>
            <a:r>
              <a:rPr lang="en-US" sz="2200" b="1" dirty="0">
                <a:solidFill>
                  <a:srgbClr val="1E2229"/>
                </a:solidFill>
                <a:latin typeface="Calibri" pitchFamily="34" charset="0"/>
                <a:ea typeface="Calibri" pitchFamily="34" charset="-122"/>
                <a:cs typeface="Calibri" pitchFamily="34" charset="-120"/>
              </a:rPr>
              <a:t>Match each disease to its pathogen type and the way it is spread.</a:t>
            </a:r>
            <a:endParaRPr lang="en-US" sz="2200" dirty="0"/>
          </a:p>
        </p:txBody>
      </p:sp>
      <p:sp>
        <p:nvSpPr>
          <p:cNvPr id="11" name="match-card"/>
          <p:cNvSpPr/>
          <p:nvPr/>
        </p:nvSpPr>
        <p:spPr>
          <a:xfrm>
            <a:off x="777240" y="2468331"/>
            <a:ext cx="3081437" cy="1103559"/>
          </a:xfrm>
          <a:prstGeom prst="roundRect">
            <a:avLst>
              <a:gd name="adj" fmla="val 6629"/>
            </a:avLst>
          </a:prstGeom>
          <a:solidFill>
            <a:srgbClr val="E7E9EF"/>
          </a:solidFill>
          <a:ln/>
        </p:spPr>
      </p:sp>
      <p:sp>
        <p:nvSpPr>
          <p:cNvPr id="12" name="match-hex"/>
          <p:cNvSpPr/>
          <p:nvPr/>
        </p:nvSpPr>
        <p:spPr>
          <a:xfrm>
            <a:off x="850392" y="2853818"/>
            <a:ext cx="384048" cy="332586"/>
          </a:xfrm>
          <a:prstGeom prst="hexagon">
            <a:avLst/>
          </a:prstGeom>
          <a:solidFill>
            <a:srgbClr val="24366B"/>
          </a:solidFill>
          <a:ln/>
        </p:spPr>
      </p:sp>
      <p:sp>
        <p:nvSpPr>
          <p:cNvPr id="13" name="match-hex-label"/>
          <p:cNvSpPr txBox="1"/>
          <p:nvPr/>
        </p:nvSpPr>
        <p:spPr>
          <a:xfrm>
            <a:off x="850392" y="2853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Measles</a:t>
            </a:r>
            <a:endParaRPr lang="en-US" sz="2200" dirty="0"/>
          </a:p>
        </p:txBody>
      </p:sp>
      <p:sp>
        <p:nvSpPr>
          <p:cNvPr id="15" name="match-card"/>
          <p:cNvSpPr/>
          <p:nvPr/>
        </p:nvSpPr>
        <p:spPr>
          <a:xfrm>
            <a:off x="4224437" y="2468331"/>
            <a:ext cx="7190019" cy="1103559"/>
          </a:xfrm>
          <a:prstGeom prst="roundRect">
            <a:avLst>
              <a:gd name="adj" fmla="val 6629"/>
            </a:avLst>
          </a:prstGeom>
          <a:solidFill>
            <a:srgbClr val="F4EDDF"/>
          </a:solidFill>
          <a:ln/>
        </p:spPr>
      </p:sp>
      <p:sp>
        <p:nvSpPr>
          <p:cNvPr id="16" name="match-hex"/>
          <p:cNvSpPr/>
          <p:nvPr/>
        </p:nvSpPr>
        <p:spPr>
          <a:xfrm>
            <a:off x="4297589" y="2853818"/>
            <a:ext cx="384048" cy="332586"/>
          </a:xfrm>
          <a:prstGeom prst="hexagon">
            <a:avLst/>
          </a:prstGeom>
          <a:solidFill>
            <a:srgbClr val="B8862B"/>
          </a:solidFill>
          <a:ln/>
        </p:spPr>
      </p:sp>
      <p:sp>
        <p:nvSpPr>
          <p:cNvPr id="17" name="match-hex-label"/>
          <p:cNvSpPr txBox="1"/>
          <p:nvPr/>
        </p:nvSpPr>
        <p:spPr>
          <a:xfrm>
            <a:off x="4297589" y="2853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Virus spread by sexual contact or body fluids such as blood; attacks the immune cells</a:t>
            </a:r>
            <a:endParaRPr lang="en-US" sz="2200" dirty="0"/>
          </a:p>
        </p:txBody>
      </p:sp>
      <p:sp>
        <p:nvSpPr>
          <p:cNvPr id="19" name="match-card"/>
          <p:cNvSpPr/>
          <p:nvPr/>
        </p:nvSpPr>
        <p:spPr>
          <a:xfrm>
            <a:off x="777240" y="3663330"/>
            <a:ext cx="3081437" cy="1103559"/>
          </a:xfrm>
          <a:prstGeom prst="roundRect">
            <a:avLst>
              <a:gd name="adj" fmla="val 6629"/>
            </a:avLst>
          </a:prstGeom>
          <a:solidFill>
            <a:srgbClr val="E7E9EF"/>
          </a:solidFill>
          <a:ln/>
        </p:spPr>
      </p:sp>
      <p:sp>
        <p:nvSpPr>
          <p:cNvPr id="20" name="match-hex"/>
          <p:cNvSpPr/>
          <p:nvPr/>
        </p:nvSpPr>
        <p:spPr>
          <a:xfrm>
            <a:off x="850392" y="4048817"/>
            <a:ext cx="384048" cy="332586"/>
          </a:xfrm>
          <a:prstGeom prst="hexagon">
            <a:avLst/>
          </a:prstGeom>
          <a:solidFill>
            <a:srgbClr val="24366B"/>
          </a:solidFill>
          <a:ln/>
        </p:spPr>
      </p:sp>
      <p:sp>
        <p:nvSpPr>
          <p:cNvPr id="21" name="match-hex-label"/>
          <p:cNvSpPr txBox="1"/>
          <p:nvPr/>
        </p:nvSpPr>
        <p:spPr>
          <a:xfrm>
            <a:off x="850392"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663330"/>
            <a:ext cx="2487077"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HIV</a:t>
            </a:r>
            <a:endParaRPr lang="en-US" sz="2200" dirty="0"/>
          </a:p>
        </p:txBody>
      </p:sp>
      <p:sp>
        <p:nvSpPr>
          <p:cNvPr id="23" name="match-card"/>
          <p:cNvSpPr/>
          <p:nvPr/>
        </p:nvSpPr>
        <p:spPr>
          <a:xfrm>
            <a:off x="4224437" y="3663330"/>
            <a:ext cx="7190019" cy="1103559"/>
          </a:xfrm>
          <a:prstGeom prst="roundRect">
            <a:avLst>
              <a:gd name="adj" fmla="val 6629"/>
            </a:avLst>
          </a:prstGeom>
          <a:solidFill>
            <a:srgbClr val="F4EDDF"/>
          </a:solidFill>
          <a:ln/>
        </p:spPr>
      </p:sp>
      <p:sp>
        <p:nvSpPr>
          <p:cNvPr id="24" name="match-hex"/>
          <p:cNvSpPr/>
          <p:nvPr/>
        </p:nvSpPr>
        <p:spPr>
          <a:xfrm>
            <a:off x="4297589" y="4048817"/>
            <a:ext cx="384048" cy="332586"/>
          </a:xfrm>
          <a:prstGeom prst="hexagon">
            <a:avLst/>
          </a:prstGeom>
          <a:solidFill>
            <a:srgbClr val="B8862B"/>
          </a:solidFill>
          <a:ln/>
        </p:spPr>
      </p:sp>
      <p:sp>
        <p:nvSpPr>
          <p:cNvPr id="25" name="match-hex-label"/>
          <p:cNvSpPr txBox="1"/>
          <p:nvPr/>
        </p:nvSpPr>
        <p:spPr>
          <a:xfrm>
            <a:off x="4297589"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663330"/>
            <a:ext cx="6595659"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Bacteria taken in with contaminated food; fever, cramps, vomiting and diarrhoea</a:t>
            </a:r>
            <a:endParaRPr lang="en-US" sz="2200" dirty="0"/>
          </a:p>
        </p:txBody>
      </p:sp>
      <p:sp>
        <p:nvSpPr>
          <p:cNvPr id="27" name="match-card"/>
          <p:cNvSpPr/>
          <p:nvPr/>
        </p:nvSpPr>
        <p:spPr>
          <a:xfrm>
            <a:off x="777240" y="4858329"/>
            <a:ext cx="3081437" cy="1103559"/>
          </a:xfrm>
          <a:prstGeom prst="roundRect">
            <a:avLst>
              <a:gd name="adj" fmla="val 6629"/>
            </a:avLst>
          </a:prstGeom>
          <a:solidFill>
            <a:srgbClr val="E7E9EF"/>
          </a:solidFill>
          <a:ln/>
        </p:spPr>
      </p:sp>
      <p:sp>
        <p:nvSpPr>
          <p:cNvPr id="28" name="match-hex"/>
          <p:cNvSpPr/>
          <p:nvPr/>
        </p:nvSpPr>
        <p:spPr>
          <a:xfrm>
            <a:off x="850392" y="5243816"/>
            <a:ext cx="384048" cy="332586"/>
          </a:xfrm>
          <a:prstGeom prst="hexagon">
            <a:avLst/>
          </a:prstGeom>
          <a:solidFill>
            <a:srgbClr val="24366B"/>
          </a:solidFill>
          <a:ln/>
        </p:spPr>
      </p:sp>
      <p:sp>
        <p:nvSpPr>
          <p:cNvPr id="29" name="match-hex-label"/>
          <p:cNvSpPr txBox="1"/>
          <p:nvPr/>
        </p:nvSpPr>
        <p:spPr>
          <a:xfrm>
            <a:off x="850392" y="5243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858329"/>
            <a:ext cx="2487077"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Salmonella food poisoning</a:t>
            </a:r>
            <a:endParaRPr lang="en-US" sz="2200" dirty="0"/>
          </a:p>
        </p:txBody>
      </p:sp>
      <p:sp>
        <p:nvSpPr>
          <p:cNvPr id="31" name="match-card"/>
          <p:cNvSpPr/>
          <p:nvPr/>
        </p:nvSpPr>
        <p:spPr>
          <a:xfrm>
            <a:off x="4224437" y="4858329"/>
            <a:ext cx="7190019" cy="1103559"/>
          </a:xfrm>
          <a:prstGeom prst="roundRect">
            <a:avLst>
              <a:gd name="adj" fmla="val 6629"/>
            </a:avLst>
          </a:prstGeom>
          <a:solidFill>
            <a:srgbClr val="F4EDDF"/>
          </a:solidFill>
          <a:ln/>
        </p:spPr>
      </p:sp>
      <p:sp>
        <p:nvSpPr>
          <p:cNvPr id="32" name="match-hex"/>
          <p:cNvSpPr/>
          <p:nvPr/>
        </p:nvSpPr>
        <p:spPr>
          <a:xfrm>
            <a:off x="4297589" y="5243816"/>
            <a:ext cx="384048" cy="332586"/>
          </a:xfrm>
          <a:prstGeom prst="hexagon">
            <a:avLst/>
          </a:prstGeom>
          <a:solidFill>
            <a:srgbClr val="B8862B"/>
          </a:solidFill>
          <a:ln/>
        </p:spPr>
      </p:sp>
      <p:sp>
        <p:nvSpPr>
          <p:cNvPr id="33" name="match-hex-label"/>
          <p:cNvSpPr txBox="1"/>
          <p:nvPr/>
        </p:nvSpPr>
        <p:spPr>
          <a:xfrm>
            <a:off x="4297589" y="5243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858329"/>
            <a:ext cx="6595659"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Virus spread in droplets from coughs and sneezes; fever and a red skin rash</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task (2 of 2): Five diseases, five fact files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67868"/>
          </a:xfrm>
          <a:prstGeom prst="rect">
            <a:avLst/>
          </a:prstGeom>
          <a:noFill/>
          <a:ln/>
        </p:spPr>
        <p:txBody>
          <a:bodyPr wrap="square" lIns="63500" tIns="63500" rIns="63500" bIns="63500" rtlCol="0" anchor="t"/>
          <a:lstStyle/>
          <a:p>
            <a:pPr algn="ctr" indent="0" marL="0">
              <a:buNone/>
            </a:pPr>
            <a:r>
              <a:rPr lang="en-US" sz="2200" b="1" dirty="0">
                <a:solidFill>
                  <a:srgbClr val="1E2229"/>
                </a:solidFill>
                <a:latin typeface="Calibri" pitchFamily="34" charset="0"/>
                <a:ea typeface="Calibri" pitchFamily="34" charset="-122"/>
                <a:cs typeface="Calibri" pitchFamily="34" charset="-120"/>
              </a:rPr>
              <a:t>Match each disease to its pathogen type and the way it is spread.</a:t>
            </a:r>
            <a:endParaRPr lang="en-US" sz="2200" dirty="0"/>
          </a:p>
        </p:txBody>
      </p:sp>
      <p:sp>
        <p:nvSpPr>
          <p:cNvPr id="11" name="match-card"/>
          <p:cNvSpPr/>
          <p:nvPr/>
        </p:nvSpPr>
        <p:spPr>
          <a:xfrm>
            <a:off x="777240" y="2468331"/>
            <a:ext cx="3081437" cy="1165352"/>
          </a:xfrm>
          <a:prstGeom prst="roundRect">
            <a:avLst>
              <a:gd name="adj" fmla="val 6277"/>
            </a:avLst>
          </a:prstGeom>
          <a:solidFill>
            <a:srgbClr val="E7E9EF"/>
          </a:solidFill>
          <a:ln/>
        </p:spPr>
      </p:sp>
      <p:sp>
        <p:nvSpPr>
          <p:cNvPr id="12" name="match-hex"/>
          <p:cNvSpPr/>
          <p:nvPr/>
        </p:nvSpPr>
        <p:spPr>
          <a:xfrm>
            <a:off x="850392" y="2884715"/>
            <a:ext cx="384048" cy="332586"/>
          </a:xfrm>
          <a:prstGeom prst="hexagon">
            <a:avLst/>
          </a:prstGeom>
          <a:solidFill>
            <a:srgbClr val="24366B"/>
          </a:solidFill>
          <a:ln/>
        </p:spPr>
      </p:sp>
      <p:sp>
        <p:nvSpPr>
          <p:cNvPr id="13" name="match-hex-label"/>
          <p:cNvSpPr txBox="1"/>
          <p:nvPr/>
        </p:nvSpPr>
        <p:spPr>
          <a:xfrm>
            <a:off x="850392" y="288471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Gonorrhoea</a:t>
            </a:r>
            <a:endParaRPr lang="en-US" sz="2200" dirty="0"/>
          </a:p>
        </p:txBody>
      </p:sp>
      <p:sp>
        <p:nvSpPr>
          <p:cNvPr id="15" name="match-card"/>
          <p:cNvSpPr/>
          <p:nvPr/>
        </p:nvSpPr>
        <p:spPr>
          <a:xfrm>
            <a:off x="4224437" y="2468331"/>
            <a:ext cx="7190019" cy="1165352"/>
          </a:xfrm>
          <a:prstGeom prst="roundRect">
            <a:avLst>
              <a:gd name="adj" fmla="val 6277"/>
            </a:avLst>
          </a:prstGeom>
          <a:solidFill>
            <a:srgbClr val="F4EDDF"/>
          </a:solidFill>
          <a:ln/>
        </p:spPr>
      </p:sp>
      <p:sp>
        <p:nvSpPr>
          <p:cNvPr id="16" name="match-hex"/>
          <p:cNvSpPr/>
          <p:nvPr/>
        </p:nvSpPr>
        <p:spPr>
          <a:xfrm>
            <a:off x="4297589" y="2884715"/>
            <a:ext cx="384048" cy="332586"/>
          </a:xfrm>
          <a:prstGeom prst="hexagon">
            <a:avLst/>
          </a:prstGeom>
          <a:solidFill>
            <a:srgbClr val="B8862B"/>
          </a:solidFill>
          <a:ln/>
        </p:spPr>
      </p:sp>
      <p:sp>
        <p:nvSpPr>
          <p:cNvPr id="17" name="match-hex-label"/>
          <p:cNvSpPr txBox="1"/>
          <p:nvPr/>
        </p:nvSpPr>
        <p:spPr>
          <a:xfrm>
            <a:off x="4297589" y="288471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Virus of plants spread by contact with diseased material; mosaic pattern on the leaves</a:t>
            </a:r>
            <a:endParaRPr lang="en-US" sz="2200" dirty="0"/>
          </a:p>
        </p:txBody>
      </p:sp>
      <p:sp>
        <p:nvSpPr>
          <p:cNvPr id="19" name="match-card"/>
          <p:cNvSpPr/>
          <p:nvPr/>
        </p:nvSpPr>
        <p:spPr>
          <a:xfrm>
            <a:off x="777240" y="3725123"/>
            <a:ext cx="3081437" cy="1165352"/>
          </a:xfrm>
          <a:prstGeom prst="roundRect">
            <a:avLst>
              <a:gd name="adj" fmla="val 6277"/>
            </a:avLst>
          </a:prstGeom>
          <a:solidFill>
            <a:srgbClr val="E7E9EF"/>
          </a:solidFill>
          <a:ln/>
        </p:spPr>
      </p:sp>
      <p:sp>
        <p:nvSpPr>
          <p:cNvPr id="20" name="match-hex"/>
          <p:cNvSpPr/>
          <p:nvPr/>
        </p:nvSpPr>
        <p:spPr>
          <a:xfrm>
            <a:off x="850392" y="4141507"/>
            <a:ext cx="384048" cy="332586"/>
          </a:xfrm>
          <a:prstGeom prst="hexagon">
            <a:avLst/>
          </a:prstGeom>
          <a:solidFill>
            <a:srgbClr val="24366B"/>
          </a:solidFill>
          <a:ln/>
        </p:spPr>
      </p:sp>
      <p:sp>
        <p:nvSpPr>
          <p:cNvPr id="21" name="match-hex-label"/>
          <p:cNvSpPr txBox="1"/>
          <p:nvPr/>
        </p:nvSpPr>
        <p:spPr>
          <a:xfrm>
            <a:off x="850392" y="414150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725123"/>
            <a:ext cx="2487077"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Tobacco mosaic virus</a:t>
            </a:r>
            <a:endParaRPr lang="en-US" sz="2200" dirty="0"/>
          </a:p>
        </p:txBody>
      </p:sp>
      <p:sp>
        <p:nvSpPr>
          <p:cNvPr id="23" name="match-card"/>
          <p:cNvSpPr/>
          <p:nvPr/>
        </p:nvSpPr>
        <p:spPr>
          <a:xfrm>
            <a:off x="4224437" y="3725123"/>
            <a:ext cx="7190019" cy="1165352"/>
          </a:xfrm>
          <a:prstGeom prst="roundRect">
            <a:avLst>
              <a:gd name="adj" fmla="val 6277"/>
            </a:avLst>
          </a:prstGeom>
          <a:solidFill>
            <a:srgbClr val="F4EDDF"/>
          </a:solidFill>
          <a:ln/>
        </p:spPr>
      </p:sp>
      <p:sp>
        <p:nvSpPr>
          <p:cNvPr id="24" name="match-hex"/>
          <p:cNvSpPr/>
          <p:nvPr/>
        </p:nvSpPr>
        <p:spPr>
          <a:xfrm>
            <a:off x="4297589" y="4141507"/>
            <a:ext cx="384048" cy="332586"/>
          </a:xfrm>
          <a:prstGeom prst="hexagon">
            <a:avLst/>
          </a:prstGeom>
          <a:solidFill>
            <a:srgbClr val="B8862B"/>
          </a:solidFill>
          <a:ln/>
        </p:spPr>
      </p:sp>
      <p:sp>
        <p:nvSpPr>
          <p:cNvPr id="25" name="match-hex-label"/>
          <p:cNvSpPr txBox="1"/>
          <p:nvPr/>
        </p:nvSpPr>
        <p:spPr>
          <a:xfrm>
            <a:off x="4297589" y="414150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725123"/>
            <a:ext cx="6595659"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Bacterium spread by sexual contact; discharge and pain on urinating</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24366B"/>
                </a:solidFill>
                <a:latin typeface="Cambria" pitchFamily="34" charset="0"/>
                <a:ea typeface="Cambria" pitchFamily="34" charset="-122"/>
                <a:cs typeface="Cambria" pitchFamily="34" charset="-120"/>
              </a:rPr>
              <a:t>Same task, three ways in: Five diseases, five fact files</a:t>
            </a:r>
            <a:endParaRPr lang="en-US" sz="28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disease to its pathogen type and the way it is spread.</a:t>
            </a:r>
            <a:endParaRPr lang="en-US" sz="2000" dirty="0"/>
          </a:p>
        </p:txBody>
      </p:sp>
      <p:sp>
        <p:nvSpPr>
          <p:cNvPr id="12" name="col-Support"/>
          <p:cNvSpPr/>
          <p:nvPr/>
        </p:nvSpPr>
        <p:spPr>
          <a:xfrm>
            <a:off x="548640" y="2578608"/>
            <a:ext cx="4667802" cy="3566160"/>
          </a:xfrm>
          <a:prstGeom prst="roundRect">
            <a:avLst>
              <a:gd name="adj" fmla="val 1538"/>
            </a:avLst>
          </a:prstGeom>
          <a:solidFill>
            <a:srgbClr val="E3E5EC"/>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Sort the five into viruses (three) and bacteria (two) first.</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Of the viruses, one infects plants: find 'leaves'.</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Of the two human viruses, one is caught from the air and one from body fluids.</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Of the two bacteria, one comes from food and one from sexual contact.</a:t>
            </a:r>
            <a:endParaRPr lang="en-US" sz="1800" dirty="0"/>
          </a:p>
        </p:txBody>
      </p:sp>
      <p:sp>
        <p:nvSpPr>
          <p:cNvPr id="17" name="col-Core"/>
          <p:cNvSpPr/>
          <p:nvPr/>
        </p:nvSpPr>
        <p:spPr>
          <a:xfrm>
            <a:off x="5490762" y="2578608"/>
            <a:ext cx="2938987" cy="3566160"/>
          </a:xfrm>
          <a:prstGeom prst="roundRect">
            <a:avLst>
              <a:gd name="adj" fmla="val 1867"/>
            </a:avLst>
          </a:prstGeom>
          <a:solidFill>
            <a:srgbClr val="C8CDDA"/>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Three viruses (one of plants), two bacteria. Then match the route: air, body fluids, food, sexual contact, plant contact.</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24366B"/>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Gonorrhoea and HIV are both spread by sexual contact. Explain why one can be treated with antibiotics and the other cannot, and what is used instead.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24366B"/>
                </a:solidFill>
                <a:latin typeface="Cambria" pitchFamily="34" charset="0"/>
                <a:ea typeface="Cambria" pitchFamily="34" charset="-122"/>
                <a:cs typeface="Cambria" pitchFamily="34" charset="-120"/>
              </a:rPr>
              <a:t>Same task, three ways in: How many are protected?</a:t>
            </a:r>
            <a:endParaRPr lang="en-US" sz="28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594612"/>
          </a:xfrm>
          <a:prstGeom prst="roundRect">
            <a:avLst>
              <a:gd name="adj" fmla="val 5734"/>
            </a:avLst>
          </a:prstGeom>
          <a:solidFill>
            <a:srgbClr val="FFFFFF"/>
          </a:solidFill>
          <a:ln w="31750">
            <a:solidFill>
              <a:srgbClr val="B8862B"/>
            </a:solidFill>
            <a:prstDash val="solid"/>
          </a:ln>
        </p:spPr>
      </p:sp>
      <p:sp>
        <p:nvSpPr>
          <p:cNvPr id="8" name="task-hex"/>
          <p:cNvSpPr/>
          <p:nvPr/>
        </p:nvSpPr>
        <p:spPr>
          <a:xfrm>
            <a:off x="777240" y="1870446"/>
            <a:ext cx="731520" cy="633496"/>
          </a:xfrm>
          <a:prstGeom prst="hexagon">
            <a:avLst/>
          </a:prstGeom>
          <a:solidFill>
            <a:srgbClr val="B8862B"/>
          </a:solidFill>
          <a:ln/>
        </p:spPr>
      </p:sp>
      <p:sp>
        <p:nvSpPr>
          <p:cNvPr id="9" name="task-hex-label"/>
          <p:cNvSpPr txBox="1"/>
          <p:nvPr/>
        </p:nvSpPr>
        <p:spPr>
          <a:xfrm>
            <a:off x="777240" y="187044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91287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41173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About 80% of the world's young children are vaccinated against measles. In a town with 2500 young children, how many would you expect to be vaccinated?</a:t>
            </a:r>
            <a:endParaRPr lang="en-US" sz="2000" dirty="0"/>
          </a:p>
          <a:p>
            <a:pPr algn="ctr" indent="0" marL="0">
              <a:buNone/>
            </a:pPr>
            <a:r>
              <a:rPr lang="en-US" sz="1800" b="1" dirty="0">
                <a:solidFill>
                  <a:srgbClr val="24366B"/>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children</a:t>
            </a:r>
            <a:endParaRPr lang="en-US" sz="2000" dirty="0"/>
          </a:p>
        </p:txBody>
      </p:sp>
      <p:sp>
        <p:nvSpPr>
          <p:cNvPr id="12" name="col-Support"/>
          <p:cNvSpPr/>
          <p:nvPr/>
        </p:nvSpPr>
        <p:spPr>
          <a:xfrm>
            <a:off x="548640" y="3258820"/>
            <a:ext cx="4667802" cy="2885948"/>
          </a:xfrm>
          <a:prstGeom prst="roundRect">
            <a:avLst>
              <a:gd name="adj" fmla="val 1901"/>
            </a:avLst>
          </a:prstGeom>
          <a:solidFill>
            <a:srgbClr val="E3E5EC"/>
          </a:solidFill>
          <a:ln/>
        </p:spPr>
      </p:sp>
      <p:sp>
        <p:nvSpPr>
          <p:cNvPr id="13" name="col-hex"/>
          <p:cNvSpPr/>
          <p:nvPr/>
        </p:nvSpPr>
        <p:spPr>
          <a:xfrm>
            <a:off x="658368" y="333197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33197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3295396"/>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898900"/>
            <a:ext cx="4393482" cy="213614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80% means 80 out of every 100, or 0.80 as a decimal.</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'Of' means multiply: 0.80 × 2500.</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0.80 × 2500 = 2000.</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10% of 2500 is 250, so 80% is 8 × 250 = 2000.</a:t>
            </a:r>
            <a:endParaRPr lang="en-US" sz="1800" dirty="0"/>
          </a:p>
        </p:txBody>
      </p:sp>
      <p:sp>
        <p:nvSpPr>
          <p:cNvPr id="17" name="col-Core"/>
          <p:cNvSpPr/>
          <p:nvPr/>
        </p:nvSpPr>
        <p:spPr>
          <a:xfrm>
            <a:off x="5490762" y="3258820"/>
            <a:ext cx="2938987" cy="2885948"/>
          </a:xfrm>
          <a:prstGeom prst="roundRect">
            <a:avLst>
              <a:gd name="adj" fmla="val 1901"/>
            </a:avLst>
          </a:prstGeom>
          <a:solidFill>
            <a:srgbClr val="C8CDDA"/>
          </a:solidFill>
          <a:ln/>
        </p:spPr>
      </p:sp>
      <p:sp>
        <p:nvSpPr>
          <p:cNvPr id="18" name="col-hex"/>
          <p:cNvSpPr/>
          <p:nvPr/>
        </p:nvSpPr>
        <p:spPr>
          <a:xfrm>
            <a:off x="5600490" y="333197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33197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3295396"/>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898900"/>
            <a:ext cx="2664667" cy="2136140"/>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Turn the percentage into a decimal, then multiply by the total.</a:t>
            </a:r>
            <a:endParaRPr lang="en-US" sz="1800" dirty="0"/>
          </a:p>
        </p:txBody>
      </p:sp>
      <p:sp>
        <p:nvSpPr>
          <p:cNvPr id="22" name="col-Stretch"/>
          <p:cNvSpPr/>
          <p:nvPr/>
        </p:nvSpPr>
        <p:spPr>
          <a:xfrm>
            <a:off x="8704069" y="3258820"/>
            <a:ext cx="2938987" cy="2885948"/>
          </a:xfrm>
          <a:prstGeom prst="roundRect">
            <a:avLst>
              <a:gd name="adj" fmla="val 1901"/>
            </a:avLst>
          </a:prstGeom>
          <a:solidFill>
            <a:srgbClr val="24366B"/>
          </a:solidFill>
          <a:ln/>
        </p:spPr>
      </p:sp>
      <p:sp>
        <p:nvSpPr>
          <p:cNvPr id="23" name="col-hex"/>
          <p:cNvSpPr/>
          <p:nvPr/>
        </p:nvSpPr>
        <p:spPr>
          <a:xfrm>
            <a:off x="8813797" y="333197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33197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3295396"/>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898900"/>
            <a:ext cx="2664667" cy="213614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The number of measles cases falls as the percentage vaccinated rises. Explain why, using the idea that the virus needs unvaccinated people to pass between.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4366B"/>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4366B"/>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Which type of pathogen causes measles?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bacterium</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fungus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protist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virus</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9EBF0"/>
          </a:solidFill>
          <a:ln w="12700">
            <a:solidFill>
              <a:srgbClr val="8B94B1"/>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Five diseases, five fact files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Measles  →  C  Virus spread in droplets from coughs and sneezes; fever and a red skin rash</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HIV  →  D  Virus spread by sexual contact or body fluids such as blood; attacks the immune cells</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Salmonella food poisoning  →  E  Bacteria taken in with contaminated food; fever, cramps, vomiting and diarrhoea</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Gonorrhoea  →  A  Bacterium spread by sexual contact; discharge and pain on urinating</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Tobacco mosaic virus  →  B  Virus of plants spread by contact with diseased material; mosaic pattern on the leaves</a:t>
            </a:r>
            <a:endParaRPr lang="en-US" sz="1800" dirty="0"/>
          </a:p>
        </p:txBody>
      </p:sp>
      <p:sp>
        <p:nvSpPr>
          <p:cNvPr id="10" name="why-panel"/>
          <p:cNvSpPr/>
          <p:nvPr/>
        </p:nvSpPr>
        <p:spPr>
          <a:xfrm>
            <a:off x="7223760" y="1389888"/>
            <a:ext cx="4419295" cy="4754880"/>
          </a:xfrm>
          <a:prstGeom prst="roundRect">
            <a:avLst>
              <a:gd name="adj" fmla="val 1035"/>
            </a:avLst>
          </a:prstGeom>
          <a:solidFill>
            <a:srgbClr val="E3E5EC"/>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Measles and HIV are viruses of people (droplets; body fluids); TMV is a virus of plants; Salmonella and gonorrhoea are bacteria (food; sexual contact).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How many are protected?</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About 80% of the world's young children are vaccinated against measles. In a town with 2500 young children, how many would you expect to be vaccinated?</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2000 children</a:t>
            </a:r>
            <a:endParaRPr lang="en-US" sz="1800" dirty="0"/>
          </a:p>
        </p:txBody>
      </p:sp>
      <p:sp>
        <p:nvSpPr>
          <p:cNvPr id="10" name="why-panel"/>
          <p:cNvSpPr/>
          <p:nvPr/>
        </p:nvSpPr>
        <p:spPr>
          <a:xfrm>
            <a:off x="7223760" y="1389888"/>
            <a:ext cx="4419295" cy="4754880"/>
          </a:xfrm>
          <a:prstGeom prst="roundRect">
            <a:avLst>
              <a:gd name="adj" fmla="val 1035"/>
            </a:avLst>
          </a:prstGeom>
          <a:solidFill>
            <a:srgbClr val="E3E5EC"/>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80% of 2500 = 0.80 × 2500 = 2000 children. The more children who are vaccinated, the fewer cases of measles there are.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type of pathogen causes measles?</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A virus</a:t>
            </a:r>
            <a:endParaRPr lang="en-US" sz="1800" dirty="0"/>
          </a:p>
        </p:txBody>
      </p:sp>
      <p:sp>
        <p:nvSpPr>
          <p:cNvPr id="10" name="why-panel"/>
          <p:cNvSpPr/>
          <p:nvPr/>
        </p:nvSpPr>
        <p:spPr>
          <a:xfrm>
            <a:off x="7223760" y="1389888"/>
            <a:ext cx="4419295" cy="4754880"/>
          </a:xfrm>
          <a:prstGeom prst="roundRect">
            <a:avLst>
              <a:gd name="adj" fmla="val 1035"/>
            </a:avLst>
          </a:prstGeom>
          <a:solidFill>
            <a:srgbClr val="E3E5EC"/>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Measles is a viral disease spread in droplets from coughs and sneezes; it causes fever and a red skin rash.</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Ad Astra triple">
  <a:themeElements>
    <a:clrScheme name="Ad Astra triple">
      <a:dk1>
        <a:srgbClr val="1E2229"/>
      </a:dk1>
      <a:lt1>
        <a:srgbClr val="FFFFFF"/>
      </a:lt1>
      <a:dk2>
        <a:srgbClr val="1D2B56"/>
      </a:dk2>
      <a:lt2>
        <a:srgbClr val="E3E5EC"/>
      </a:lt2>
      <a:accent1>
        <a:srgbClr val="24366B"/>
      </a:accent1>
      <a:accent2>
        <a:srgbClr val="B8862B"/>
      </a:accent2>
      <a:accent3>
        <a:srgbClr val="7C86A6"/>
      </a:accent3>
      <a:accent4>
        <a:srgbClr val="815E1E"/>
      </a:accent4>
      <a:accent5>
        <a:srgbClr val="4A505C"/>
      </a:accent5>
      <a:accent6>
        <a:srgbClr val="D9BF8F"/>
      </a:accent6>
      <a:hlink>
        <a:srgbClr val="24366B"/>
      </a:hlink>
      <a:folHlink>
        <a:srgbClr val="19264B"/>
      </a:folHlink>
    </a:clrScheme>
    <a:fontScheme name="Ad Astra tripl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Communicable Diseases · Chapter 5: Bacterial and viral diseases</dc:title>
  <dc:subject>Biology (Triple Science) · Year 10</dc:subject>
  <dc:creator>Dr Vitor Merissi de Carvalho</dc:creator>
  <cp:lastModifiedBy>Dr Vitor Merissi de Carvalho</cp:lastModifiedBy>
  <cp:revision>1</cp:revision>
  <dcterms:created xsi:type="dcterms:W3CDTF">2026-10-18T17:47:19Z</dcterms:created>
  <dcterms:modified xsi:type="dcterms:W3CDTF">2026-10-18T17:47:19Z</dcterms:modified>
</cp:coreProperties>
</file>