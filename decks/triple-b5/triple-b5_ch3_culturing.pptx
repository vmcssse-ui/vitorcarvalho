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f8e7615-0aab-7f61-6e3a-a117b92171dc}">
          <p14:sldIdLst>
            <p14:sldId id="256"/>
          </p14:sldIdLst>
        </p14:section>
        <p14:section name="Gate" id="{fceaafdd-81ae-29b2-8230-ba684c0244f2}">
          <p14:sldIdLst>
            <p14:sldId id="257"/>
            <p14:sldId id="258"/>
          </p14:sldIdLst>
        </p14:section>
        <p14:section name="Pre-teach" id="{db37c866-5e29-d724-09c9-d96f7ef2aa71}">
          <p14:sldIdLst>
            <p14:sldId id="259"/>
            <p14:sldId id="260"/>
          </p14:sldIdLst>
        </p14:section>
        <p14:section name="Read-along" id="{9a9104f4-b447-9113-daeb-85c7707c13b3}">
          <p14:sldIdLst>
            <p14:sldId id="261"/>
            <p14:sldId id="262"/>
          </p14:sldIdLst>
        </p14:section>
        <p14:section name="Teach" id="{9846b793-4c6d-50a4-a207-af11f0082e8f}">
          <p14:sldIdLst>
            <p14:sldId id="263"/>
            <p14:sldId id="264"/>
            <p14:sldId id="265"/>
            <p14:sldId id="266"/>
            <p14:sldId id="267"/>
            <p14:sldId id="268"/>
            <p14:sldId id="269"/>
          </p14:sldIdLst>
        </p14:section>
        <p14:section name="Routes" id="{6744f413-6570-1f82-1500-8353530a0d15}">
          <p14:sldIdLst>
            <p14:sldId id="270"/>
            <p14:sldId id="271"/>
          </p14:sldIdLst>
        </p14:section>
        <p14:section name="Close" id="{65a05b2c-8157-edb2-718f-e87b8f972487}">
          <p14:sldIdLst>
            <p14:sldId id="272"/>
          </p14:sldIdLst>
        </p14:section>
        <p14:section name="Answers" id="{f8632144-22df-e8d9-c090-97d827f92e88}">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Growing bacteria in the lab (Biology only). How scientists grow bacteria safely without contamination, how to work out how many bacteria there will be, and how to measure how well a chemical stops them.
This deck covers the department's lessons: 3 (B5.3 Growing bacteria in the lab (Biology only): How do scientists grow an uncontaminated culture of bacteria safely?); 4 (B5.4 Preventing bacterial growth (Biology only): How can we calculate how fast bacteria grow, and measure how well a chemical stops them?).
Read the big question aloud: "How do pathogens spread disease between people, animals and plants, and how can we stop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Bacteria reproduce by a type of simple cell division called ___.  →  binary fission
2. A bacterium has a mean division time of 30 minutes. How many times will it divide in 3 hours?  →  6 divisions
3. Why are Petri dishes incubated at 25 °C, not 37 °C, in a school laboratory?  →  A   Harmful pathogens that live in the human body are less likely to grow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binary fission. Bacteria divide in two by binary fission. The population doubles with every division.
2. 6 divisions. Exact: 3 hours = 180 minutes, and 180 ÷ 30 = 6 divisions.
3. A   Harmful pathogens that live in the human body are less likely to grow. 37 °C is human body temperature, so bacteria that are dangerous to people would grow well. 25 °C reduces that risk.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culture: a population of microorganisms grown on purpose in the lab. Example: "The scientist grew a culture of bacteria in a Petri dish."
• nutrient agar: a jelly containing everything bacteria need to grow. Example: "The bacteria were spread across the surface of the nutrient agar."
• aseptic technique: careful methods that keep unwanted microorganisms out. Example: "Aseptic technique stops the culture becoming contaminated."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inoculate: to put the bacteria you want to grow onto the agar. Example: "Use a sterile loop to inoculate the agar."
• binary fission: the way bacteria reproduce: one cell splits into two. Example: "By binary fission, one bacterium becomes two, then four, then eight."
• zone of inhibition: the clear circle around a disc where bacteria have not grown. Example: "The antiseptic with the biggest zone of inhibition worked best."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Scientists grow bacteria in the lab to study them.
2. Growing bacteria is called culturing them.
3. Bacteria need food, warmth and usually oxygen to grow.
4. They are grown on nutrient agar in a Petri dish, or in nutrient broth.
5. Bacteria divide in two by binary fission, so one cell becomes two, then four.
6. Unwanted microorganisms must be kept out of the culture.
7. The careful methods used to keep them out are called aseptic technique.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 loop is heated in a flame before it touches the bacteria.
9. The lid is taped on, but not all the way round.
10. The dish is stored upside down so drops of water do not fall on the agar.
11. In school, the dish is kept at 25 °C, not 37 °C, so harmful bacteria are less likely to grow.
12. A chemical such as an antiseptic can stop bacteria growing.
13. The clear area around it is called the zone of inhibition.
14. A bigger clear area means the chemical works better.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and how we culture bacteria. Say it in your own words, then check understanding with a quick question: ask a pupil from the pre-teach group first, since they met these words and ideas before the lesson. Pupils try to recall before you re-explain.
Scientists grow (culture) bacteria so they can investigate how to treat bacterial infections, and so they can copy the conditions inside the human body and see how fast bacteria grow there. To culture bacteria you must give them everything they need: carbohydrates as an energy source, nitrogen to make proteins, various minerals, oxygen (most bacteria need it, but not all) and a warm temperature. Most bacteria grow best between 25 °C and 37 °C.
A culture medium contains all of these nutrients. It can be a liquid, nutrient broth, in a flask, or a jelly, nutrient agar, set in a shallow dish called a Petri dish. Bacteria placed on the agar reproduce by binary fission, one cell splitting into two, and in a day or two each cell has grown into a visible colony.
This chapter is Biology only. In the AQA specification it is 4.1.1.6 Culturing microorganisms and Required practical 2, which Combined Science pupils do not study.
Tip: Broth is liquid, in a flask; agar is a jelly, in a Petri dish. Both are culture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Aseptic technique: keeping other microbes out. Say it in your own words, then check understanding with a quick question: ask a pupil from the pre-teach group first, since they met these words and ideas before the lesson. Pupils try to recall before you re-explain.
Contamination means something unwanted has got into the culture. Bacteria and fungi are everywhere: on your skin, in the air, in soil and in water. If a culture is contaminated, the results are invalid, because the scientist cannot tell whether a treatment worked on the bacteria they meant to grow or on something else. Aseptic technique is the set of methods that prevents contamination.
Before you start, the Petri dish and the agar must be sterile: plastic dishes are bought ready-sterilised, glass dishes and agar are sterilised by heating in an autoclave (a special oven), and UV light or gamma radiation can also be used to kill microorganisms. The inoculating loop is sterilised by heating it in a Bunsen flame; let it cool in the air, and never blow on it.
Dip the cool loop in the broth and zigzag it across the agar, then put the lid back as quickly as possible. Tape the lid on, but do not seal it all the way round. Label the dish and store it upside down, so that condensation on the lid cannot drip onto the agar. In a school laboratory the dish is incubated at 25 °C; at 37 °C, human body temperature, there is a much higher risk of growing bacteria that are dangerous to people. Once a dish has been inoculated and sealed it is not opened again.
Worked example — model it step by step, thinking aloud: Explain why Petri dishes are incubated at 25 °C in a school laboratory rather than at 37 °C. (2 marks) (1) Say what 37 °C is: human body temperature, the temperature at which pathogens of the human body grow best. (2) Say what the risk is: at 37 °C there is a high risk of growing bacteria that are harmful to people. (3) Finish with the effect of the lower temperature: at 25 °C that risk is much reduced, and the bacteria still grow, just more slowly. Answer: Because 37 °C is human body temperature, so pathogens that harm people would grow well; at 25 °C the risk of growing harmful bacteria is much lower..
Tip: Every aseptic step has a reason. Learn the pairs: flame the loop (kill microbes on it); lid on quickly (keep airborne microbes out); tape but do not seal all round (oxygen gets in, so harmful bacteria that grow without air do not take over); upside down (no drips); 25 °C (safer).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Aseptic technique: keeping other microbes out. Say it in your own words, then check understanding with a quick question: ask a pupil from the pre-teach group first, since they met these words and ideas before the lesson. Pupils try to recall before you re-explain.
Contamination means something unwanted has got into the culture. Bacteria and fungi are everywhere: on your skin, in the air, in soil and in water. If a culture is contaminated, the results are invalid, because the scientist cannot tell whether a treatment worked on the bacteria they meant to grow or on something else. Aseptic technique is the set of methods that prevents contamination.
Before you start, the Petri dish and the agar must be sterile: plastic dishes are bought ready-sterilised, glass dishes and agar are sterilised by heating in an autoclave (a special oven), and UV light or gamma radiation can also be used to kill microorganisms. The inoculating loop is sterilised by heating it in a Bunsen flame; let it cool in the air, and never blow on it.
Dip the cool loop in the broth and zigzag it across the agar, then put the lid back as quickly as possible. Tape the lid on, but do not seal it all the way round. Label the dish and store it upside down, so that condensation on the lid cannot drip onto the agar. In a school laboratory the dish is incubated at 25 °C; at 37 °C, human body temperature, there is a much higher risk of growing bacteria that are dangerous to people. Once a dish has been inoculated and sealed it is not opened again.
Worked example — model it step by step, thinking aloud: Explain why Petri dishes are incubated at 25 °C in a school laboratory rather than at 37 °C. (2 marks) (1) Say what 37 °C is: human body temperature, the temperature at which pathogens of the human body grow best. (2) Say what the risk is: at 37 °C there is a high risk of growing bacteria that are harmful to people. (3) Finish with the effect of the lower temperature: at 25 °C that risk is much reduced, and the bacteria still grow, just more slowly. Answer: Because 37 °C is human body temperature, so pathogens that harm people would grow well; at 25 °C the risk of growing harmful bacteria is much lower..
Tip: Every aseptic step has a reason. Learn the pairs: flame the loop (kill microbes on it); lid on quickly (keep airborne microbes out); tape but do not seal all round (oxygen gets in, so harmful bacteria that grow without air do not take over); upside down (no drips); 25 °C (safer).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Calculating bacterial growth. Say it in your own words, then check understanding with a quick question: ask a pupil from the pre-teach group first, since they met these words and ideas before the lesson. Pupils try to recall before you re-explain.
Because bacteria double every time they divide, a population grows very fast. If you know the mean division time (how long, on average, one division takes), you can work out how many bacteria there will be after any length of time.
Step 1: work out how many times the bacteria divide. Number of divisions = total time ÷ mean division time, with both in the same units. Step 2: the population doubles each time, so number of bacteria at the end = number at the start × 2 to the power of the number of divisions.
Worked example — model it step by step, thinking aloud: The mean division time for a population of bacteria is 30 minutes. Calculate how many bacteria will result from one bacterium after 8 hours. (1) Convert the time: 8 hours = 8 × 60 = 480 minutes. (2) Number of divisions = 480 ÷ 30 = 16. (Or: 60 ÷ 30 = 2 divisions per hour, and 8 × 2 = 16.) (3) Each division doubles the population, so number of bacteria = 1 × 2¹⁶. (4) 2¹⁶ = 65 536 bacteria. In standard form to 2 significant figures that is 6.6 × 10⁴. Answer: 65 536 bacteria (about 6.6 × 10⁴).
Tip: Change hours into minutes before you divide. Then the number of divisions goes in the power: 2 to the power of 16, not 2 ×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Calculating bacterial growth. Say it in your own words, then check understanding with a quick question: ask a pupil from the pre-teach group first, since they met these words and ideas before the lesson. Pupils try to recall before you re-explain.
Because bacteria double every time they divide, a population grows very fast. If you know the mean division time (how long, on average, one division takes), you can work out how many bacteria there will be after any length of time.
Step 1: work out how many times the bacteria divide. Number of divisions = total time ÷ mean division time, with both in the same units. Step 2: the population doubles each time, so number of bacteria at the end = number at the start × 2 to the power of the number of divisions.
Worked example — model it step by step, thinking aloud: The mean division time for a population of bacteria is 30 minutes. Calculate how many bacteria will result from one bacterium after 8 hours. (1) Convert the time: 8 hours = 8 × 60 = 480 minutes. (2) Number of divisions = 480 ÷ 30 = 16. (Or: 60 ÷ 30 = 2 divisions per hour, and 8 × 2 = 16.) (3) Each division doubles the population, so number of bacteria = 1 × 2¹⁶. (4) 2¹⁶ = 65 536 bacteria. In standard form to 2 significant figures that is 6.6 × 10⁴. Answer: 65 536 bacteria (about 6.6 × 10⁴).
Tip: Change hours into minutes before you divide. Then the number of divisions goes in the power: 2 to the power of 16, not 2 ×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Measuring the zone of inhibition. Say it in your own words, then check understanding with a quick question: ask a pupil from the pre-teach group first, since they met these words and ideas before the lesson. Pupils try to recall before you re-explain.
Temperature, the nutrients available, oxygen levels and pH all affect how fast bacteria grow. So do chemicals. To test an antiseptic or an antibiotic, a small paper disc is soaked in it and placed on agar that has been spread with bacteria. A disc soaked in water is the control.
Where the chemical stops the bacteria growing, a clear circle forms around the disc. This is the zone of inhibition. The bigger the zone, the more effective the chemical is against that bacterium. To compare chemicals fairly, measure the diameter of each clear circle, halve it to get the radius, then calculate the area using area = πr².
Worked example — model it step by step, thinking aloud: A disc of antiseptic cream leaves a clear circle of diameter 12.0 mm. Calculate the area of the zone of inhibition. Give your answer to 1 decimal place. (1) Radius = diameter ÷ 2 = 12.0 ÷ 2 = 6.0 mm. (2) Area = π × r² = π × 6.0² = π × 36. (3) Area = 113.1 mm² (to 1 decimal place). (4) Check the pattern with the other discs: a 4.0 mm circle gives 12.6 mm² and a 7.0 mm circle gives 38.5 mm². The 12.0 mm circle has by far the largest area, so this antiseptic was the most effective. Answer: 113.1 mm².
Tip: Halve the diameter first. Using the diameter in πr² gives an answer four times too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Measuring the zone of inhibition. Say it in your own words, then check understanding with a quick question: ask a pupil from the pre-teach group first, since they met these words and ideas before the lesson. Pupils try to recall before you re-explain.
Temperature, the nutrients available, oxygen levels and pH all affect how fast bacteria grow. So do chemicals. To test an antiseptic or an antibiotic, a small paper disc is soaked in it and placed on agar that has been spread with bacteria. A disc soaked in water is the control.
Where the chemical stops the bacteria growing, a clear circle forms around the disc. This is the zone of inhibition. The bigger the zone, the more effective the chemical is against that bacterium. To compare chemicals fairly, measure the diameter of each clear circle, halve it to get the radius, then calculate the area using area = πr².
Worked example — model it step by step, thinking aloud: A disc of antiseptic cream leaves a clear circle of diameter 12.0 mm. Calculate the area of the zone of inhibition. Give your answer to 1 decimal place. (1) Radius = diameter ÷ 2 = 12.0 ÷ 2 = 6.0 mm. (2) Area = π × r² = π × 6.0² = π × 36. (3) Area = 113.1 mm² (to 1 decimal place). (4) Check the pattern with the other discs: a 4.0 mm circle gives 12.6 mm² and a 7.0 mm circle gives 38.5 mm². The 12.0 mm circle has by far the largest area, so this antiseptic was the most effective. Answer: 113.1 mm².
Tip: Halve the diameter first. Using the diameter in πr² gives an answer four times too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many bacteria?.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single bacterium with a mean division time of 20 minutes is placed in nutrient broth. How many bacteria will there be after 2 hours?
Support — work through the steps with the group: (1) Change the time to minutes: 2 hours = 2 × 60 = 120 minutes. (2) Number of divisions = 120 ÷ 20 = 6. (3) The population doubles each division: 1 → 2 → 4 → 8 → 16 → 32 → 64. (4) So the answer is 1 × 2⁶ = 64.
Parallel worked example for Support (model it, do not give the task answer): A bacterium divides every 30 minutes. Starting from one bacterium, how many will there be after 1 hour? 1 hour = 60 minutes.; Number of divisions = 60 ÷ 30 = 2.; Doubling twice: 1 → 2 → 4. So 1 × 2² = 4 bacteria.. Answer: 4 bacteria.
Core — reveal the hint only on request: Minutes first, then divisions = time ÷ division time, then 2 to that power.
Stretch — no help; when finished: Write the answer for 4 hours in standard form, and explain why a real population would not keep doubling like this for very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Area of the zone of inhibition.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paper disc soaked in antiseptic leaves a clear circle of diameter 10.0 mm on the agar. Calculate the area of the zone of inhibition in mm², to 1 decimal place.
Support — work through the steps with the group: (1) Find the radius: radius = diameter ÷ 2 = 10.0 ÷ 2 = 5.0 mm. (2) Square the radius: 5.0² = 5.0 × 5.0 = 25. (3) Multiply by π: 25 × π = 78.54… (4) Round to 1 decimal place: 78.5 mm².
Parallel worked example for Support (model it, do not give the task answer): A disc of TCP leaves a clear circle of diameter 6.0 mm. Calculate the area of the zone of inhibition to 1 decimal place. Radius = 6.0 ÷ 2 = 3.0 mm.; Area = π × 3.0² = π × 9.; Area = 28.3 mm² to 1 decimal place.. Answer: 28.3 mm².
Core — reveal the hint only on request: Halve the diameter, square it, multiply by π, round.
Stretch — no help; when finished: A second antiseptic gives a circle of diameter 20.0 mm. Without calculating, explain how many times bigger its zone of inhibition is, then check by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Put the steps for growing an uncontaminated culture of bacteria in the correct order.
Answer: Sterilise the inoculating loop in a Bunsen flame and let it cool without blowing on it  (D); Dip the loop in the bacterial broth and zigzag it across the surface of the agar  (C); Replace the lid quickly and tape it on, but not all the way round  (A); Label the dish and store it upside down  (B); Incubate the dish at 25 °C  (E). Sterilise the loop so nothing else is introduced; inoculate the agar; seal quickly so airborne microbes stay out; label and invert so condensation cannot drip onto the agar; then incubate at 25 °C so human pathogens are less likely to grow.
Source of this question: module 3 task ("Culturing bacteria step by step")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many bacteria?. Reveal the answer; pupils mark their own work in a different colour, then read the "why" together. Same destination for every lane, so one answer serves the whole class.
Answer: 64 bacteria
Why: Divisions = 120 ÷ 20 = 6. Each division doubles the population, so 1 × 2⁶ = 64 bacteria.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Area of the zone of inhibition. Reveal the answer; pupils mark their own work in a different colour, then read the "why" together. Same destination for every lane, so one answer serves the whole class.
Answer: 78.5 mm²
Why: Area = πr². Radius = 10.0 ÷ 2 = 5.0 mm, so area = π × 25 = 78.5 mm² to 1 decimal place.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Sterilise the inoculating loop in a Bunsen flame and let it cool without blowing on it  (D); Dip the loop in the bacterial broth and zigzag it across the surface of the agar  (C); Replace the lid quickly and tape it on, but not all the way round  (A); Label the dish and store it upside down  (B); Incubate the dish at 25 °C  (E)
Why: Sterilise the loop so nothing else is introduced; inoculate the agar; seal quickly so airborne microbes stay out; label and invert so condensation cannot drip onto the agar; then incubate at 25 °C so human pathogens are less likely to grow.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DD1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Biology (Triple Science)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Communicable Diseases · AQA 8461</a:t>
            </a:r>
            <a:endParaRPr lang="en-US" sz="1800" dirty="0"/>
          </a:p>
        </p:txBody>
      </p:sp>
      <p:sp>
        <p:nvSpPr>
          <p:cNvPr id="10" name="deck-title"/>
          <p:cNvSpPr txBox="1"/>
          <p:nvPr/>
        </p:nvSpPr>
        <p:spPr>
          <a:xfrm>
            <a:off x="548640" y="190931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Growing bacteria in the lab (Biology only)</a:t>
            </a:r>
            <a:endParaRPr lang="en-US" sz="4000" dirty="0"/>
          </a:p>
        </p:txBody>
      </p:sp>
      <p:sp>
        <p:nvSpPr>
          <p:cNvPr id="11" name="lessons-card"/>
          <p:cNvSpPr/>
          <p:nvPr/>
        </p:nvSpPr>
        <p:spPr>
          <a:xfrm>
            <a:off x="548640" y="3585718"/>
            <a:ext cx="5287975" cy="1948180"/>
          </a:xfrm>
          <a:prstGeom prst="roundRect">
            <a:avLst>
              <a:gd name="adj" fmla="val 3755"/>
            </a:avLst>
          </a:prstGeom>
          <a:solidFill>
            <a:srgbClr val="E3E5EC"/>
          </a:solidFill>
          <a:ln/>
        </p:spPr>
      </p:sp>
      <p:sp>
        <p:nvSpPr>
          <p:cNvPr id="12" name="lessons"/>
          <p:cNvSpPr txBox="1"/>
          <p:nvPr/>
        </p:nvSpPr>
        <p:spPr>
          <a:xfrm>
            <a:off x="685800" y="367715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B5.3 Growing bacteria in the lab (Biology only)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B5.4 Preventing bacterial growth (Biology only)</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Triple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3E5EC"/>
          </a:solidFill>
          <a:ln w="12700">
            <a:solidFill>
              <a:srgbClr val="A1A9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do pathogens spread disease between people, animals and plants, and how can we stop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Bacteria reproduce by a type of simple cell division called ___.</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binary fission  ·  mitosis  ·  fusion</a:t>
            </a:r>
            <a:endParaRPr lang="en-US" sz="2400" dirty="0"/>
          </a:p>
        </p:txBody>
      </p:sp>
      <p:sp>
        <p:nvSpPr>
          <p:cNvPr id="12" name="card"/>
          <p:cNvSpPr/>
          <p:nvPr/>
        </p:nvSpPr>
        <p:spPr>
          <a:xfrm>
            <a:off x="3459404" y="1389888"/>
            <a:ext cx="2636444" cy="4754880"/>
          </a:xfrm>
          <a:prstGeom prst="roundRect">
            <a:avLst>
              <a:gd name="adj" fmla="val 2081"/>
            </a:avLst>
          </a:prstGeom>
          <a:solidFill>
            <a:srgbClr val="E9EBF0"/>
          </a:solidFill>
          <a:ln w="12700">
            <a:solidFill>
              <a:srgbClr val="ACB3C7"/>
            </a:solidFill>
            <a:prstDash val="solid"/>
          </a:ln>
        </p:spPr>
      </p:sp>
      <p:sp>
        <p:nvSpPr>
          <p:cNvPr id="13" name="card-hex"/>
          <p:cNvSpPr/>
          <p:nvPr/>
        </p:nvSpPr>
        <p:spPr>
          <a:xfrm>
            <a:off x="3642284" y="1572768"/>
            <a:ext cx="640080" cy="554309"/>
          </a:xfrm>
          <a:prstGeom prst="hexagon">
            <a:avLst/>
          </a:prstGeom>
          <a:solidFill>
            <a:srgbClr val="24366B"/>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A bacterium has a mean division time of 30 minutes. How many times will it divide in 3 hours?</a:t>
            </a:r>
            <a:endParaRPr lang="en-US" sz="2000" dirty="0"/>
          </a:p>
          <a:p>
            <a:pPr algn="l" indent="0" marL="0">
              <a:buNone/>
            </a:pPr>
            <a:r>
              <a:rPr lang="en-US" sz="2000" b="1" dirty="0">
                <a:solidFill>
                  <a:srgbClr val="24366B"/>
                </a:solidFill>
                <a:latin typeface="Calibri" pitchFamily="34" charset="0"/>
                <a:ea typeface="Calibri" pitchFamily="34" charset="-122"/>
                <a:cs typeface="Calibri" pitchFamily="34" charset="-120"/>
              </a:rPr>
              <a:t>Answer:  </a:t>
            </a:r>
            <a:pPr algn="l" indent="0" marL="0">
              <a:buNone/>
            </a:pPr>
            <a:r>
              <a:rPr lang="en-US" sz="2000" dirty="0">
                <a:solidFill>
                  <a:srgbClr val="1E2229"/>
                </a:solidFill>
                <a:latin typeface="Calibri" pitchFamily="34" charset="0"/>
                <a:ea typeface="Calibri" pitchFamily="34" charset="-122"/>
                <a:cs typeface="Calibri" pitchFamily="34" charset="-120"/>
              </a:rPr>
              <a:t>________ divisions</a:t>
            </a:r>
            <a:endParaRPr lang="en-US" sz="2000" dirty="0"/>
          </a:p>
        </p:txBody>
      </p:sp>
      <p:sp>
        <p:nvSpPr>
          <p:cNvPr id="17" name="card"/>
          <p:cNvSpPr/>
          <p:nvPr/>
        </p:nvSpPr>
        <p:spPr>
          <a:xfrm>
            <a:off x="6370168" y="1389888"/>
            <a:ext cx="5272888" cy="4754880"/>
          </a:xfrm>
          <a:prstGeom prst="roundRect">
            <a:avLst>
              <a:gd name="adj" fmla="val 1154"/>
            </a:avLst>
          </a:prstGeom>
          <a:solidFill>
            <a:srgbClr val="E9EBF0"/>
          </a:solidFill>
          <a:ln w="12700">
            <a:solidFill>
              <a:srgbClr val="ACB3C7"/>
            </a:solidFill>
            <a:prstDash val="solid"/>
          </a:ln>
        </p:spPr>
      </p:sp>
      <p:sp>
        <p:nvSpPr>
          <p:cNvPr id="18" name="card-hex"/>
          <p:cNvSpPr/>
          <p:nvPr/>
        </p:nvSpPr>
        <p:spPr>
          <a:xfrm>
            <a:off x="6553048" y="1572768"/>
            <a:ext cx="640080" cy="554309"/>
          </a:xfrm>
          <a:prstGeom prst="hexagon">
            <a:avLst/>
          </a:prstGeom>
          <a:solidFill>
            <a:srgbClr val="24366B"/>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Why are Petri dishes incubated at 25 °C, not 37 °C, in a school laboratory?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Harmful pathogens that live in the human body are less likely to grow</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Bacteria grow fastest at 25 °C</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agar melts above 25 °C</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Bacteria cannot grow at all at 37 °C</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binary fission</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Bacteria reproduce by a type of simple cell division called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Bacteria divide in two by binary fission. The population doubles with every division.</a:t>
            </a:r>
            <a:endParaRPr lang="en-US" sz="1800" dirty="0"/>
          </a:p>
        </p:txBody>
      </p:sp>
      <p:sp>
        <p:nvSpPr>
          <p:cNvPr id="14" name="card"/>
          <p:cNvSpPr/>
          <p:nvPr/>
        </p:nvSpPr>
        <p:spPr>
          <a:xfrm>
            <a:off x="3459404" y="1389888"/>
            <a:ext cx="2636444" cy="4754880"/>
          </a:xfrm>
          <a:prstGeom prst="roundRect">
            <a:avLst>
              <a:gd name="adj" fmla="val 2081"/>
            </a:avLst>
          </a:prstGeom>
          <a:solidFill>
            <a:srgbClr val="E9EBF0"/>
          </a:solidFill>
          <a:ln w="12700">
            <a:solidFill>
              <a:srgbClr val="ACB3C7"/>
            </a:solidFill>
            <a:prstDash val="solid"/>
          </a:ln>
        </p:spPr>
      </p:sp>
      <p:sp>
        <p:nvSpPr>
          <p:cNvPr id="15" name="card-hex"/>
          <p:cNvSpPr/>
          <p:nvPr/>
        </p:nvSpPr>
        <p:spPr>
          <a:xfrm>
            <a:off x="3642284" y="1572768"/>
            <a:ext cx="640080" cy="554309"/>
          </a:xfrm>
          <a:prstGeom prst="hexagon">
            <a:avLst/>
          </a:prstGeom>
          <a:solidFill>
            <a:srgbClr val="24366B"/>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6 divisions</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bacterium has a mean division time of 30 minutes. How many times will it divide in 3 hours?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Exact: 3 hours = 180 minutes, and 180 ÷ 30 = 6 divisions.</a:t>
            </a:r>
            <a:endParaRPr lang="en-US" sz="1800" dirty="0"/>
          </a:p>
        </p:txBody>
      </p:sp>
      <p:sp>
        <p:nvSpPr>
          <p:cNvPr id="21" name="card"/>
          <p:cNvSpPr/>
          <p:nvPr/>
        </p:nvSpPr>
        <p:spPr>
          <a:xfrm>
            <a:off x="6370168" y="1389888"/>
            <a:ext cx="5272888" cy="4754880"/>
          </a:xfrm>
          <a:prstGeom prst="roundRect">
            <a:avLst>
              <a:gd name="adj" fmla="val 1154"/>
            </a:avLst>
          </a:prstGeom>
          <a:solidFill>
            <a:srgbClr val="E9EBF0"/>
          </a:solidFill>
          <a:ln w="12700">
            <a:solidFill>
              <a:srgbClr val="ACB3C7"/>
            </a:solidFill>
            <a:prstDash val="solid"/>
          </a:ln>
        </p:spPr>
      </p:sp>
      <p:sp>
        <p:nvSpPr>
          <p:cNvPr id="22" name="card-hex"/>
          <p:cNvSpPr/>
          <p:nvPr/>
        </p:nvSpPr>
        <p:spPr>
          <a:xfrm>
            <a:off x="6553048" y="1572768"/>
            <a:ext cx="640080" cy="554309"/>
          </a:xfrm>
          <a:prstGeom prst="hexagon">
            <a:avLst/>
          </a:prstGeom>
          <a:solidFill>
            <a:srgbClr val="24366B"/>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BDDC4"/>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Harmful pathogens that live in the human body are less likely to grow</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Why are Petri dishes incubated at 25 °C, not 37 °C, in a school laboratory?</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37 °C is human body temperature, so bacteria that are dangerous to people would grow well. 25 °C reduces that risk.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7E9EF"/>
          </a:solidFill>
          <a:ln w="12700">
            <a:solidFill>
              <a:srgbClr val="A1A9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culture</a:t>
            </a:r>
            <a:endParaRPr lang="en-US" sz="2600" dirty="0"/>
          </a:p>
        </p:txBody>
      </p:sp>
      <p:sp>
        <p:nvSpPr>
          <p:cNvPr id="11" name="word-rule"/>
          <p:cNvSpPr/>
          <p:nvPr/>
        </p:nvSpPr>
        <p:spPr>
          <a:xfrm>
            <a:off x="731520" y="2129028"/>
            <a:ext cx="3149498" cy="0"/>
          </a:xfrm>
          <a:prstGeom prst="line">
            <a:avLst/>
          </a:prstGeom>
          <a:ln w="12700">
            <a:solidFill>
              <a:srgbClr val="A1A9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population of microorganisms grown on purpose in the lab</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scientist grew a culture of bacteria in a Petri dish.</a:t>
            </a:r>
            <a:endParaRPr lang="en-US" sz="2200" dirty="0"/>
          </a:p>
        </p:txBody>
      </p:sp>
      <p:sp>
        <p:nvSpPr>
          <p:cNvPr id="13" name="word-card"/>
          <p:cNvSpPr/>
          <p:nvPr/>
        </p:nvSpPr>
        <p:spPr>
          <a:xfrm>
            <a:off x="4338218" y="1389888"/>
            <a:ext cx="3515258" cy="4754880"/>
          </a:xfrm>
          <a:prstGeom prst="roundRect">
            <a:avLst>
              <a:gd name="adj" fmla="val 1561"/>
            </a:avLst>
          </a:prstGeom>
          <a:solidFill>
            <a:srgbClr val="E7E9EF"/>
          </a:solidFill>
          <a:ln w="12700">
            <a:solidFill>
              <a:srgbClr val="A1A9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nutrient agar</a:t>
            </a:r>
            <a:endParaRPr lang="en-US" sz="2600" dirty="0"/>
          </a:p>
        </p:txBody>
      </p:sp>
      <p:sp>
        <p:nvSpPr>
          <p:cNvPr id="17" name="word-rule"/>
          <p:cNvSpPr/>
          <p:nvPr/>
        </p:nvSpPr>
        <p:spPr>
          <a:xfrm>
            <a:off x="4521098" y="2129028"/>
            <a:ext cx="3149498" cy="0"/>
          </a:xfrm>
          <a:prstGeom prst="line">
            <a:avLst/>
          </a:prstGeom>
          <a:ln w="12700">
            <a:solidFill>
              <a:srgbClr val="A1A9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jelly containing everything bacteria need to grow</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bacteria were spread across the surface of the nutrient agar.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7E9EF"/>
          </a:solidFill>
          <a:ln w="12700">
            <a:solidFill>
              <a:srgbClr val="A1A9BF"/>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aseptic technique</a:t>
            </a:r>
            <a:endParaRPr lang="en-US" sz="2600" dirty="0"/>
          </a:p>
        </p:txBody>
      </p:sp>
      <p:sp>
        <p:nvSpPr>
          <p:cNvPr id="23" name="word-rule"/>
          <p:cNvSpPr/>
          <p:nvPr/>
        </p:nvSpPr>
        <p:spPr>
          <a:xfrm>
            <a:off x="8310677" y="2558288"/>
            <a:ext cx="3149498" cy="0"/>
          </a:xfrm>
          <a:prstGeom prst="line">
            <a:avLst/>
          </a:prstGeom>
          <a:ln w="12700">
            <a:solidFill>
              <a:srgbClr val="A1A9BF"/>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careful methods that keep unwanted microorganisms out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Aseptic technique stops the culture becoming contaminated.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7E9EF"/>
          </a:solidFill>
          <a:ln w="12700">
            <a:solidFill>
              <a:srgbClr val="A1A9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inoculate</a:t>
            </a:r>
            <a:endParaRPr lang="en-US" sz="2600" dirty="0"/>
          </a:p>
        </p:txBody>
      </p:sp>
      <p:sp>
        <p:nvSpPr>
          <p:cNvPr id="11" name="word-rule"/>
          <p:cNvSpPr/>
          <p:nvPr/>
        </p:nvSpPr>
        <p:spPr>
          <a:xfrm>
            <a:off x="731520" y="2129028"/>
            <a:ext cx="3149498" cy="0"/>
          </a:xfrm>
          <a:prstGeom prst="line">
            <a:avLst/>
          </a:prstGeom>
          <a:ln w="12700">
            <a:solidFill>
              <a:srgbClr val="A1A9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put the bacteria you want to grow onto the agar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Use a sterile loop to inoculate the agar.</a:t>
            </a:r>
            <a:endParaRPr lang="en-US" sz="2200" dirty="0"/>
          </a:p>
        </p:txBody>
      </p:sp>
      <p:sp>
        <p:nvSpPr>
          <p:cNvPr id="13" name="word-card"/>
          <p:cNvSpPr/>
          <p:nvPr/>
        </p:nvSpPr>
        <p:spPr>
          <a:xfrm>
            <a:off x="4338218" y="1389888"/>
            <a:ext cx="3515258" cy="4754880"/>
          </a:xfrm>
          <a:prstGeom prst="roundRect">
            <a:avLst>
              <a:gd name="adj" fmla="val 1561"/>
            </a:avLst>
          </a:prstGeom>
          <a:solidFill>
            <a:srgbClr val="E7E9EF"/>
          </a:solidFill>
          <a:ln w="12700">
            <a:solidFill>
              <a:srgbClr val="A1A9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binary fission</a:t>
            </a:r>
            <a:endParaRPr lang="en-US" sz="2600" dirty="0"/>
          </a:p>
        </p:txBody>
      </p:sp>
      <p:sp>
        <p:nvSpPr>
          <p:cNvPr id="17" name="word-rule"/>
          <p:cNvSpPr/>
          <p:nvPr/>
        </p:nvSpPr>
        <p:spPr>
          <a:xfrm>
            <a:off x="4521098" y="2129028"/>
            <a:ext cx="3149498" cy="0"/>
          </a:xfrm>
          <a:prstGeom prst="line">
            <a:avLst/>
          </a:prstGeom>
          <a:ln w="12700">
            <a:solidFill>
              <a:srgbClr val="A1A9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way bacteria reproduce: one cell splits into two</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By binary fission, one bacterium becomes two, then four, then eight.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7E9EF"/>
          </a:solidFill>
          <a:ln w="12700">
            <a:solidFill>
              <a:srgbClr val="A1A9BF"/>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zone of inhibition</a:t>
            </a:r>
            <a:endParaRPr lang="en-US" sz="2600" dirty="0"/>
          </a:p>
        </p:txBody>
      </p:sp>
      <p:sp>
        <p:nvSpPr>
          <p:cNvPr id="23" name="word-rule"/>
          <p:cNvSpPr/>
          <p:nvPr/>
        </p:nvSpPr>
        <p:spPr>
          <a:xfrm>
            <a:off x="8310677" y="2558288"/>
            <a:ext cx="3149498" cy="0"/>
          </a:xfrm>
          <a:prstGeom prst="line">
            <a:avLst/>
          </a:prstGeom>
          <a:ln w="12700">
            <a:solidFill>
              <a:srgbClr val="A1A9BF"/>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clear circle around a disc where bacteria have not grown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antiseptic with the biggest zone of inhibition worked best.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Scientists grow bacteria in the lab to study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Growing bacteria is called culturing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Bacteria need food, warmth and usually oxygen to grow.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are grown on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nutrient agar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a Petri dish, or in nutrient broth.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Bacteria divide in two by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binary fission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 one cell becomes two, then four.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Unwanted microorganisms must be kept out of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culture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careful methods used to keep them out are called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aseptic technique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loop is heated in a flame before it touches the bacteria.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lid is taped on, but not all the way round.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dish is stored upside down so drops of water do not fall on the agar.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school, the dish is kept at 25 °C, not 37 °C, so harmful bacteria are less likely to grow.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chemical such as an antiseptic can stop bacteria growing.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clear area around it is called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zone of inhibition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bigger clear area means the chemical works better.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Why and how we culture bacteria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Broth is liquid, in a flask; agar is a jelly, in a Petri dish. Both are culture media.</a:t>
            </a:r>
            <a:endParaRPr lang="en-US" sz="1800" dirty="0"/>
          </a:p>
        </p:txBody>
      </p:sp>
      <p:sp>
        <p:nvSpPr>
          <p:cNvPr id="11" name="point-card"/>
          <p:cNvSpPr/>
          <p:nvPr/>
        </p:nvSpPr>
        <p:spPr>
          <a:xfrm>
            <a:off x="548640" y="1389888"/>
            <a:ext cx="3515258" cy="3964940"/>
          </a:xfrm>
          <a:prstGeom prst="roundRect">
            <a:avLst>
              <a:gd name="adj" fmla="val 1561"/>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Scientists grow (culture) bacteria so they can investigate how to treat bacterial infections, and so they can copy the conditions inside the human body and see how fast bacteria grow there.</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culture medium contains all of these nutrients. It can be a liquid, nutrient broth, in a flask, or a jelly, nutrient agar, set in a shallow dish called a Petri dish.</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3E5EC"/>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This chapter is Biology only. In the AQA specification it is 4.1.1.6 Culturing microorganisms and Required practical 2, which Combined Science pupils do not study.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Aseptic technique: keeping other microbes out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Every aseptic step has a reason. Learn the pairs: flame the loop (kill microbes on it); lid on quickly (keep airborne microbes out); tape but do not seal all round (oxygen gets in, so harmful bacteria that grow without air do not take over); upside down (no drips); 25 °C (safer).</a:t>
            </a:r>
            <a:endParaRPr lang="en-US" sz="1800" dirty="0"/>
          </a:p>
        </p:txBody>
      </p:sp>
      <p:sp>
        <p:nvSpPr>
          <p:cNvPr id="11" name="bullet-card"/>
          <p:cNvSpPr/>
          <p:nvPr/>
        </p:nvSpPr>
        <p:spPr>
          <a:xfrm>
            <a:off x="548640" y="1389888"/>
            <a:ext cx="11094415" cy="924560"/>
          </a:xfrm>
          <a:prstGeom prst="roundRect">
            <a:avLst>
              <a:gd name="adj" fmla="val 7912"/>
            </a:avLst>
          </a:prstGeom>
          <a:solidFill>
            <a:srgbClr val="E7E9EF"/>
          </a:solidFill>
          <a:ln/>
        </p:spPr>
      </p:sp>
      <p:sp>
        <p:nvSpPr>
          <p:cNvPr id="12" name="bullet-hex"/>
          <p:cNvSpPr/>
          <p:nvPr/>
        </p:nvSpPr>
        <p:spPr>
          <a:xfrm>
            <a:off x="676656" y="1685875"/>
            <a:ext cx="384048" cy="332586"/>
          </a:xfrm>
          <a:prstGeom prst="hexagon">
            <a:avLst/>
          </a:prstGeom>
          <a:solidFill>
            <a:srgbClr val="24366B"/>
          </a:solidFill>
          <a:ln/>
        </p:spPr>
      </p:sp>
      <p:sp>
        <p:nvSpPr>
          <p:cNvPr id="13" name="bullet"/>
          <p:cNvSpPr txBox="1"/>
          <p:nvPr/>
        </p:nvSpPr>
        <p:spPr>
          <a:xfrm>
            <a:off x="1143000" y="1389888"/>
            <a:ext cx="10408615" cy="9245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Contamination means something unwanted has got into the culture. Bacteria and fungi are everywhere: on your skin, in the air, in soil and in water.</a:t>
            </a:r>
            <a:endParaRPr lang="en-US" sz="2200" dirty="0"/>
          </a:p>
        </p:txBody>
      </p:sp>
      <p:sp>
        <p:nvSpPr>
          <p:cNvPr id="14" name="bullet-card"/>
          <p:cNvSpPr/>
          <p:nvPr/>
        </p:nvSpPr>
        <p:spPr>
          <a:xfrm>
            <a:off x="548640" y="2460752"/>
            <a:ext cx="11094415" cy="1265428"/>
          </a:xfrm>
          <a:prstGeom prst="roundRect">
            <a:avLst>
              <a:gd name="adj" fmla="val 5781"/>
            </a:avLst>
          </a:prstGeom>
          <a:solidFill>
            <a:srgbClr val="E7E9EF"/>
          </a:solidFill>
          <a:ln/>
        </p:spPr>
      </p:sp>
      <p:sp>
        <p:nvSpPr>
          <p:cNvPr id="15" name="bullet-hex"/>
          <p:cNvSpPr/>
          <p:nvPr/>
        </p:nvSpPr>
        <p:spPr>
          <a:xfrm>
            <a:off x="676656" y="2927173"/>
            <a:ext cx="384048" cy="332586"/>
          </a:xfrm>
          <a:prstGeom prst="hexagon">
            <a:avLst/>
          </a:prstGeom>
          <a:solidFill>
            <a:srgbClr val="B8862B"/>
          </a:solidFill>
          <a:ln/>
        </p:spPr>
      </p:sp>
      <p:sp>
        <p:nvSpPr>
          <p:cNvPr id="16" name="bullet"/>
          <p:cNvSpPr txBox="1"/>
          <p:nvPr/>
        </p:nvSpPr>
        <p:spPr>
          <a:xfrm>
            <a:off x="1143000" y="2460752"/>
            <a:ext cx="10408615" cy="126542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Before you start, the Petri dish and the agar must be sterile: plastic dishes are bought ready-sterilised, glass dishes and agar are sterilised by heating in an autoclave (a special oven), and UV light or gamma radiation can also be used to kill microorganisms.</a:t>
            </a:r>
            <a:endParaRPr lang="en-US" sz="2200" dirty="0"/>
          </a:p>
        </p:txBody>
      </p:sp>
      <p:sp>
        <p:nvSpPr>
          <p:cNvPr id="17" name="bullet-card"/>
          <p:cNvSpPr/>
          <p:nvPr/>
        </p:nvSpPr>
        <p:spPr>
          <a:xfrm>
            <a:off x="548640" y="3872484"/>
            <a:ext cx="11094415" cy="924560"/>
          </a:xfrm>
          <a:prstGeom prst="roundRect">
            <a:avLst>
              <a:gd name="adj" fmla="val 7912"/>
            </a:avLst>
          </a:prstGeom>
          <a:solidFill>
            <a:srgbClr val="E7E9EF"/>
          </a:solidFill>
          <a:ln/>
        </p:spPr>
      </p:sp>
      <p:sp>
        <p:nvSpPr>
          <p:cNvPr id="18" name="bullet-hex"/>
          <p:cNvSpPr/>
          <p:nvPr/>
        </p:nvSpPr>
        <p:spPr>
          <a:xfrm>
            <a:off x="676656" y="4168471"/>
            <a:ext cx="384048" cy="332586"/>
          </a:xfrm>
          <a:prstGeom prst="hexagon">
            <a:avLst/>
          </a:prstGeom>
          <a:solidFill>
            <a:srgbClr val="24366B"/>
          </a:solidFill>
          <a:ln/>
        </p:spPr>
      </p:sp>
      <p:sp>
        <p:nvSpPr>
          <p:cNvPr id="19" name="bullet"/>
          <p:cNvSpPr txBox="1"/>
          <p:nvPr/>
        </p:nvSpPr>
        <p:spPr>
          <a:xfrm>
            <a:off x="1143000" y="3872484"/>
            <a:ext cx="10408615" cy="9245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Dip the cool loop in the broth and zigzag it across the agar, then put the lid back as quickly as possible.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Worked example: Aseptic technique: keeping other microbes out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3E5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Petri dishes are incubated at 25 °C in a school laboratory rather than at 37 °C. (2 marks)</a:t>
            </a:r>
            <a:endParaRPr lang="en-US" sz="2200" dirty="0"/>
          </a:p>
        </p:txBody>
      </p:sp>
      <p:sp>
        <p:nvSpPr>
          <p:cNvPr id="9" name="step-box"/>
          <p:cNvSpPr/>
          <p:nvPr/>
        </p:nvSpPr>
        <p:spPr>
          <a:xfrm>
            <a:off x="548640" y="2655824"/>
            <a:ext cx="3423818" cy="2252980"/>
          </a:xfrm>
          <a:prstGeom prst="roundRect">
            <a:avLst>
              <a:gd name="adj" fmla="val 3247"/>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37 °C is: human body temperature, the temperature at which pathogens of the human body grow best.</a:t>
            </a:r>
            <a:endParaRPr lang="en-US" sz="1800" dirty="0"/>
          </a:p>
        </p:txBody>
      </p:sp>
      <p:sp>
        <p:nvSpPr>
          <p:cNvPr id="13" name="arrow"/>
          <p:cNvSpPr/>
          <p:nvPr/>
        </p:nvSpPr>
        <p:spPr>
          <a:xfrm>
            <a:off x="4045610" y="3645154"/>
            <a:ext cx="274320" cy="274320"/>
          </a:xfrm>
          <a:prstGeom prst="rightArrow">
            <a:avLst/>
          </a:prstGeom>
          <a:solidFill>
            <a:srgbClr val="B8862B"/>
          </a:solidFill>
          <a:ln/>
        </p:spPr>
      </p:sp>
      <p:sp>
        <p:nvSpPr>
          <p:cNvPr id="14" name="step-box"/>
          <p:cNvSpPr/>
          <p:nvPr/>
        </p:nvSpPr>
        <p:spPr>
          <a:xfrm>
            <a:off x="4383938" y="2655824"/>
            <a:ext cx="3423818" cy="2252980"/>
          </a:xfrm>
          <a:prstGeom prst="roundRect">
            <a:avLst>
              <a:gd name="adj" fmla="val 3247"/>
            </a:avLst>
          </a:prstGeom>
          <a:solidFill>
            <a:srgbClr val="FFFFFF"/>
          </a:solidFill>
          <a:ln w="15875">
            <a:solidFill>
              <a:srgbClr val="8790AE"/>
            </a:solidFill>
            <a:prstDash val="solid"/>
          </a:ln>
        </p:spPr>
      </p:sp>
      <p:sp>
        <p:nvSpPr>
          <p:cNvPr id="15" name="step-hex"/>
          <p:cNvSpPr/>
          <p:nvPr/>
        </p:nvSpPr>
        <p:spPr>
          <a:xfrm>
            <a:off x="4521098" y="2765552"/>
            <a:ext cx="530352" cy="459285"/>
          </a:xfrm>
          <a:prstGeom prst="hexagon">
            <a:avLst/>
          </a:prstGeom>
          <a:solidFill>
            <a:srgbClr val="24366B"/>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the risk is: at 37 °C there is a high risk of growing bacteria that are harmful to people.</a:t>
            </a:r>
            <a:endParaRPr lang="en-US" sz="1800" dirty="0"/>
          </a:p>
        </p:txBody>
      </p:sp>
      <p:sp>
        <p:nvSpPr>
          <p:cNvPr id="18" name="arrow"/>
          <p:cNvSpPr/>
          <p:nvPr/>
        </p:nvSpPr>
        <p:spPr>
          <a:xfrm>
            <a:off x="7880909" y="3645154"/>
            <a:ext cx="274320" cy="274320"/>
          </a:xfrm>
          <a:prstGeom prst="rightArrow">
            <a:avLst/>
          </a:prstGeom>
          <a:solidFill>
            <a:srgbClr val="B8862B"/>
          </a:solidFill>
          <a:ln/>
        </p:spPr>
      </p:sp>
      <p:sp>
        <p:nvSpPr>
          <p:cNvPr id="19" name="step-box"/>
          <p:cNvSpPr/>
          <p:nvPr/>
        </p:nvSpPr>
        <p:spPr>
          <a:xfrm>
            <a:off x="8219237" y="2655824"/>
            <a:ext cx="3423818" cy="2252980"/>
          </a:xfrm>
          <a:prstGeom prst="roundRect">
            <a:avLst>
              <a:gd name="adj" fmla="val 3247"/>
            </a:avLst>
          </a:prstGeom>
          <a:solidFill>
            <a:srgbClr val="FFFFFF"/>
          </a:solidFill>
          <a:ln w="15875">
            <a:solidFill>
              <a:srgbClr val="8790AE"/>
            </a:solidFill>
            <a:prstDash val="solid"/>
          </a:ln>
        </p:spPr>
      </p:sp>
      <p:sp>
        <p:nvSpPr>
          <p:cNvPr id="20" name="step-hex"/>
          <p:cNvSpPr/>
          <p:nvPr/>
        </p:nvSpPr>
        <p:spPr>
          <a:xfrm>
            <a:off x="8356397" y="2765552"/>
            <a:ext cx="530352" cy="459285"/>
          </a:xfrm>
          <a:prstGeom prst="hexagon">
            <a:avLst/>
          </a:prstGeom>
          <a:solidFill>
            <a:srgbClr val="24366B"/>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effect of the lower temperature: at 25 °C that risk is much reduced, and the bacteria still grow, just more slowly.</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Because 37 °C is human body temperature, so pathogens that harm people would grow well; at 25 °C the risk of growing harmful bacteria is much lower.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Calculating bacterial growth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Change hours into minutes before you divide. Then the number of divisions goes in the power: 2 to the power of 16, not 2 × 16.</a:t>
            </a:r>
            <a:endParaRPr lang="en-US" sz="1800" dirty="0"/>
          </a:p>
        </p:txBody>
      </p:sp>
      <p:sp>
        <p:nvSpPr>
          <p:cNvPr id="11" name="point-card"/>
          <p:cNvSpPr/>
          <p:nvPr/>
        </p:nvSpPr>
        <p:spPr>
          <a:xfrm>
            <a:off x="548640" y="1389888"/>
            <a:ext cx="5410048" cy="3686048"/>
          </a:xfrm>
          <a:prstGeom prst="roundRect">
            <a:avLst>
              <a:gd name="adj" fmla="val 1488"/>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Because bacteria double every time they divide, a population grows very fast.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Step 1: work out how many times the bacteria divide.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Worked example: Calculating bacterial growth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3E5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mean division time for a population of bacteria is 30 minutes. Calculate how many bacteria will result from one bacterium after 8 hours.</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Convert the time: 8 hours = 8 × 60 = 480 minutes.</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8790AE"/>
            </a:solidFill>
            <a:prstDash val="solid"/>
          </a:ln>
        </p:spPr>
      </p:sp>
      <p:sp>
        <p:nvSpPr>
          <p:cNvPr id="15" name="step-hex"/>
          <p:cNvSpPr/>
          <p:nvPr/>
        </p:nvSpPr>
        <p:spPr>
          <a:xfrm>
            <a:off x="3562274" y="2765552"/>
            <a:ext cx="530352" cy="459285"/>
          </a:xfrm>
          <a:prstGeom prst="hexagon">
            <a:avLst/>
          </a:prstGeom>
          <a:solidFill>
            <a:srgbClr val="24366B"/>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Number of divisions = 480 ÷ 30 = 16. (Or: 60 ÷ 30 = 2 divisions per hour, and 8 × 2 = 16.)</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8790AE"/>
            </a:solidFill>
            <a:prstDash val="solid"/>
          </a:ln>
        </p:spPr>
      </p:sp>
      <p:sp>
        <p:nvSpPr>
          <p:cNvPr id="20" name="step-hex"/>
          <p:cNvSpPr/>
          <p:nvPr/>
        </p:nvSpPr>
        <p:spPr>
          <a:xfrm>
            <a:off x="6438748" y="2765552"/>
            <a:ext cx="530352" cy="459285"/>
          </a:xfrm>
          <a:prstGeom prst="hexagon">
            <a:avLst/>
          </a:prstGeom>
          <a:solidFill>
            <a:srgbClr val="24366B"/>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Each division doubles the population, so number of bacteria = 1 × 2¹⁶.</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8790AE"/>
            </a:solidFill>
            <a:prstDash val="solid"/>
          </a:ln>
        </p:spPr>
      </p:sp>
      <p:sp>
        <p:nvSpPr>
          <p:cNvPr id="25" name="step-hex"/>
          <p:cNvSpPr/>
          <p:nvPr/>
        </p:nvSpPr>
        <p:spPr>
          <a:xfrm>
            <a:off x="9315221" y="2765552"/>
            <a:ext cx="530352" cy="459285"/>
          </a:xfrm>
          <a:prstGeom prst="hexagon">
            <a:avLst/>
          </a:prstGeom>
          <a:solidFill>
            <a:srgbClr val="24366B"/>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2¹⁶ = 65 536 bacteria. In standard form to 2 significant figures that is 6.6 × 10⁴.</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65 536 bacteria (about 6.6 × 10⁴)</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Measuring the zone of inhibition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Halve the diameter first. Using the diameter in πr² gives an answer four times too big.</a:t>
            </a:r>
            <a:endParaRPr lang="en-US" sz="1800" dirty="0"/>
          </a:p>
        </p:txBody>
      </p:sp>
      <p:sp>
        <p:nvSpPr>
          <p:cNvPr id="11" name="point-card"/>
          <p:cNvSpPr/>
          <p:nvPr/>
        </p:nvSpPr>
        <p:spPr>
          <a:xfrm>
            <a:off x="548640" y="1389888"/>
            <a:ext cx="5410048" cy="3964940"/>
          </a:xfrm>
          <a:prstGeom prst="roundRect">
            <a:avLst>
              <a:gd name="adj" fmla="val 1384"/>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Temperature, the nutrients available, oxygen levels and pH all affect how fast bacteria grow.</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Where the chemical stops the bacteria growing, a clear circle forms around the disc.</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Worked example: Measuring the zone of inhibition</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3E5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disc of antiseptic cream leaves a clear circle of diameter 12.0 mm. Calculate the area of the zone of inhibition. Give your answer to 1 decimal place.</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8790AE"/>
            </a:solidFill>
            <a:prstDash val="solid"/>
          </a:ln>
        </p:spPr>
      </p:sp>
      <p:sp>
        <p:nvSpPr>
          <p:cNvPr id="10" name="step-hex"/>
          <p:cNvSpPr/>
          <p:nvPr/>
        </p:nvSpPr>
        <p:spPr>
          <a:xfrm>
            <a:off x="685800" y="2588870"/>
            <a:ext cx="457200" cy="395935"/>
          </a:xfrm>
          <a:prstGeom prst="hexagon">
            <a:avLst/>
          </a:prstGeom>
          <a:solidFill>
            <a:srgbClr val="24366B"/>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Radius = diameter ÷ 2 = 12.0 ÷ 2 = 6.0 mm.</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8790AE"/>
            </a:solidFill>
            <a:prstDash val="solid"/>
          </a:ln>
        </p:spPr>
      </p:sp>
      <p:sp>
        <p:nvSpPr>
          <p:cNvPr id="14" name="step-hex"/>
          <p:cNvSpPr/>
          <p:nvPr/>
        </p:nvSpPr>
        <p:spPr>
          <a:xfrm>
            <a:off x="685800" y="3230880"/>
            <a:ext cx="457200" cy="395935"/>
          </a:xfrm>
          <a:prstGeom prst="hexagon">
            <a:avLst/>
          </a:prstGeom>
          <a:solidFill>
            <a:srgbClr val="24366B"/>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Area = π × r² = π × 6.0² = π × 36.</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8790AE"/>
            </a:solidFill>
            <a:prstDash val="solid"/>
          </a:ln>
        </p:spPr>
      </p:sp>
      <p:sp>
        <p:nvSpPr>
          <p:cNvPr id="18" name="step-hex"/>
          <p:cNvSpPr/>
          <p:nvPr/>
        </p:nvSpPr>
        <p:spPr>
          <a:xfrm>
            <a:off x="685800" y="3872890"/>
            <a:ext cx="457200" cy="395935"/>
          </a:xfrm>
          <a:prstGeom prst="hexagon">
            <a:avLst/>
          </a:prstGeom>
          <a:solidFill>
            <a:srgbClr val="24366B"/>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Area = 113.1 mm² (to 1 decimal place).</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8790AE"/>
            </a:solidFill>
            <a:prstDash val="solid"/>
          </a:ln>
        </p:spPr>
      </p:sp>
      <p:sp>
        <p:nvSpPr>
          <p:cNvPr id="22" name="step-hex"/>
          <p:cNvSpPr/>
          <p:nvPr/>
        </p:nvSpPr>
        <p:spPr>
          <a:xfrm>
            <a:off x="685800" y="4646981"/>
            <a:ext cx="457200" cy="395935"/>
          </a:xfrm>
          <a:prstGeom prst="hexagon">
            <a:avLst/>
          </a:prstGeom>
          <a:solidFill>
            <a:srgbClr val="24366B"/>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pattern with the other discs: a 4.0 mm circle gives 12.6 mm² and a 7.0 mm circle gives 38.5 mm². The 12.0 mm circle has by far the largest area, so this antiseptic was the most effective.</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113.1 mm²</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Same task, three ways in: How many bacteria?</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single bacterium with a mean division time of 20 minutes is placed in nutrient broth. How many bacteria will there be after 2 hours?</a:t>
            </a:r>
            <a:endParaRPr lang="en-US" sz="2000" dirty="0"/>
          </a:p>
          <a:p>
            <a:pPr algn="ctr" indent="0" marL="0">
              <a:buNone/>
            </a:pPr>
            <a:r>
              <a:rPr lang="en-US" sz="1800" b="1" dirty="0">
                <a:solidFill>
                  <a:srgbClr val="24366B"/>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bacteria</a:t>
            </a:r>
            <a:endParaRPr lang="en-US" sz="2000" dirty="0"/>
          </a:p>
        </p:txBody>
      </p:sp>
      <p:sp>
        <p:nvSpPr>
          <p:cNvPr id="12" name="col-Support"/>
          <p:cNvSpPr/>
          <p:nvPr/>
        </p:nvSpPr>
        <p:spPr>
          <a:xfrm>
            <a:off x="548640" y="2948940"/>
            <a:ext cx="4667802" cy="3195828"/>
          </a:xfrm>
          <a:prstGeom prst="roundRect">
            <a:avLst>
              <a:gd name="adj" fmla="val 1717"/>
            </a:avLst>
          </a:prstGeom>
          <a:solidFill>
            <a:srgbClr val="E3E5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Change the time to minutes: 2 hours = 2 × 60 = 120 minutes.</a:t>
            </a:r>
            <a:endParaRPr lang="en-US" sz="2000" dirty="0"/>
          </a:p>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Number of divisions = 120 ÷ 20 = 6.</a:t>
            </a:r>
            <a:endParaRPr lang="en-US" sz="2000" dirty="0"/>
          </a:p>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population doubles each division: 1 → 2 → 4 → 8 → 16 → 32 → 64.</a:t>
            </a:r>
            <a:endParaRPr lang="en-US" sz="2000" dirty="0"/>
          </a:p>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the answer is 1 × 2⁶ = 64.</a:t>
            </a:r>
            <a:endParaRPr lang="en-US" sz="2000" dirty="0"/>
          </a:p>
        </p:txBody>
      </p:sp>
      <p:sp>
        <p:nvSpPr>
          <p:cNvPr id="17" name="col-Core"/>
          <p:cNvSpPr/>
          <p:nvPr/>
        </p:nvSpPr>
        <p:spPr>
          <a:xfrm>
            <a:off x="5490762" y="2948940"/>
            <a:ext cx="2938987" cy="3195828"/>
          </a:xfrm>
          <a:prstGeom prst="roundRect">
            <a:avLst>
              <a:gd name="adj" fmla="val 1867"/>
            </a:avLst>
          </a:prstGeom>
          <a:solidFill>
            <a:srgbClr val="C8CDDA"/>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2000" b="1" dirty="0">
                <a:solidFill>
                  <a:srgbClr val="1D2B56"/>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Minutes first, then divisions = time ÷ division time, then 2 to that power.</a:t>
            </a:r>
            <a:endParaRPr lang="en-US" sz="2000" dirty="0"/>
          </a:p>
        </p:txBody>
      </p:sp>
      <p:sp>
        <p:nvSpPr>
          <p:cNvPr id="22" name="col-Stretch"/>
          <p:cNvSpPr/>
          <p:nvPr/>
        </p:nvSpPr>
        <p:spPr>
          <a:xfrm>
            <a:off x="8704069" y="2948940"/>
            <a:ext cx="2938987" cy="3195828"/>
          </a:xfrm>
          <a:prstGeom prst="roundRect">
            <a:avLst>
              <a:gd name="adj" fmla="val 1867"/>
            </a:avLst>
          </a:prstGeom>
          <a:solidFill>
            <a:srgbClr val="24366B"/>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Write the answer for 4 hours in standard form, and explain why a real population would not keep doubling like this for very long.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Same task, three ways in: Area of the zone of inhibition</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paper disc soaked in antiseptic leaves a clear circle of diameter 10.0 mm on the agar. Calculate the area of the zone of inhibition in mm², to 1 decimal place.</a:t>
            </a:r>
            <a:endParaRPr lang="en-US" sz="2000" dirty="0"/>
          </a:p>
          <a:p>
            <a:pPr algn="ctr" indent="0" marL="0">
              <a:buNone/>
            </a:pPr>
            <a:r>
              <a:rPr lang="en-US" sz="1800" b="1" dirty="0">
                <a:solidFill>
                  <a:srgbClr val="24366B"/>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mm²</a:t>
            </a:r>
            <a:endParaRPr lang="en-US" sz="2000" dirty="0"/>
          </a:p>
        </p:txBody>
      </p:sp>
      <p:sp>
        <p:nvSpPr>
          <p:cNvPr id="12" name="col-Support"/>
          <p:cNvSpPr/>
          <p:nvPr/>
        </p:nvSpPr>
        <p:spPr>
          <a:xfrm>
            <a:off x="548640" y="3258820"/>
            <a:ext cx="4667802" cy="2885948"/>
          </a:xfrm>
          <a:prstGeom prst="roundRect">
            <a:avLst>
              <a:gd name="adj" fmla="val 1901"/>
            </a:avLst>
          </a:prstGeom>
          <a:solidFill>
            <a:srgbClr val="E3E5EC"/>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4393482"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radius: radius = diameter ÷ 2 = 10.0 ÷ 2 = 5.0 mm.</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Square the radius: 5.0² = 5.0 × 5.0 = 25.</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by π: 25 × π = 78.54…</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Round to 1 decimal place: 78.5 mm².</a:t>
            </a:r>
            <a:endParaRPr lang="en-US" sz="1800" dirty="0"/>
          </a:p>
        </p:txBody>
      </p:sp>
      <p:sp>
        <p:nvSpPr>
          <p:cNvPr id="17" name="col-Core"/>
          <p:cNvSpPr/>
          <p:nvPr/>
        </p:nvSpPr>
        <p:spPr>
          <a:xfrm>
            <a:off x="5490762" y="3258820"/>
            <a:ext cx="2938987" cy="2885948"/>
          </a:xfrm>
          <a:prstGeom prst="roundRect">
            <a:avLst>
              <a:gd name="adj" fmla="val 1901"/>
            </a:avLst>
          </a:prstGeom>
          <a:solidFill>
            <a:srgbClr val="C8CDDA"/>
          </a:solidFill>
          <a:ln/>
        </p:spPr>
      </p:sp>
      <p:sp>
        <p:nvSpPr>
          <p:cNvPr id="18" name="col-hex"/>
          <p:cNvSpPr/>
          <p:nvPr/>
        </p:nvSpPr>
        <p:spPr>
          <a:xfrm>
            <a:off x="5600490"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Halve the diameter, square it, multiply by π, round.</a:t>
            </a:r>
            <a:endParaRPr lang="en-US" sz="1800" dirty="0"/>
          </a:p>
        </p:txBody>
      </p:sp>
      <p:sp>
        <p:nvSpPr>
          <p:cNvPr id="22" name="col-Stretch"/>
          <p:cNvSpPr/>
          <p:nvPr/>
        </p:nvSpPr>
        <p:spPr>
          <a:xfrm>
            <a:off x="8704069" y="3258820"/>
            <a:ext cx="2938987" cy="2885948"/>
          </a:xfrm>
          <a:prstGeom prst="roundRect">
            <a:avLst>
              <a:gd name="adj" fmla="val 1901"/>
            </a:avLst>
          </a:prstGeom>
          <a:solidFill>
            <a:srgbClr val="24366B"/>
          </a:solidFill>
          <a:ln/>
        </p:spPr>
      </p:sp>
      <p:sp>
        <p:nvSpPr>
          <p:cNvPr id="23" name="col-hex"/>
          <p:cNvSpPr/>
          <p:nvPr/>
        </p:nvSpPr>
        <p:spPr>
          <a:xfrm>
            <a:off x="8813797"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second antiseptic gives a circle of diameter 20.0 mm. Without calculating, explain how many times bigger its zone of inhibition is, then check by calculation.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877312"/>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Put the steps for growing an uncontaminated culture of bacteria in the correct order.</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Replace the lid quickly and tape it on, but not all the way round</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Label the dish and store it upside down</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Dip the loop in the bacterial broth and zigzag it across the surface of the agar</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Sterilise the inoculating loop in a Bunsen flame and let it cool without blowing on it</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E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Incubate the dish at 25 °C</a:t>
            </a:r>
            <a:endParaRPr lang="en-US" sz="2000" dirty="0"/>
          </a:p>
        </p:txBody>
      </p:sp>
      <p:sp>
        <p:nvSpPr>
          <p:cNvPr id="11" name="exit-answer-box"/>
          <p:cNvSpPr/>
          <p:nvPr/>
        </p:nvSpPr>
        <p:spPr>
          <a:xfrm>
            <a:off x="2286000" y="5184648"/>
            <a:ext cx="7619695" cy="685800"/>
          </a:xfrm>
          <a:prstGeom prst="roundRect">
            <a:avLst>
              <a:gd name="adj" fmla="val 13333"/>
            </a:avLst>
          </a:prstGeom>
          <a:solidFill>
            <a:srgbClr val="E9EBF0"/>
          </a:solidFill>
          <a:ln w="12700">
            <a:solidFill>
              <a:srgbClr val="8B94B1"/>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How many bacteria?</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single bacterium with a mean division time of 20 minutes is placed in nutrient broth. How many bacteria will there be after 2 hours?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64 bacteria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Divisions = 120 ÷ 20 = 6. Each division doubles the population, so 1 × 2⁶ = 64 bacteria.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Area of the zone of inhibition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paper disc soaked in antiseptic leaves a clear circle of diameter 10.0 mm on the agar. Calculate the area of the zone of inhibition in mm², to 1 decimal place.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78.5 mm²</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Area = πr². Radius = 10.0 ÷ 2 = 5.0 mm, so area = π × 25 = 78.5 mm² to 1 decimal place.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Sterilise the inoculating loop in a Bunsen flame and let it cool without blowing on it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Dip the loop in the bacterial broth and zigzag it across the surface of the agar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Replace the lid quickly and tape it on, but not all the way round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Label the dish and store it upside down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Incubate the dish at 25 °C  (E)</a:t>
            </a:r>
            <a:endParaRPr lang="en-US" sz="22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Sterilise the loop so nothing else is introduced; inoculate the agar; seal quickly so airborne microbes stay out; label and invert so condensation cannot drip onto the agar; then incubate at 25 °C so human pathogens are less likely to grow.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E3E5EC"/>
      </a:lt2>
      <a:accent1>
        <a:srgbClr val="24366B"/>
      </a:accent1>
      <a:accent2>
        <a:srgbClr val="B8862B"/>
      </a:accent2>
      <a:accent3>
        <a:srgbClr val="7C86A6"/>
      </a:accent3>
      <a:accent4>
        <a:srgbClr val="815E1E"/>
      </a:accent4>
      <a:accent5>
        <a:srgbClr val="4A505C"/>
      </a:accent5>
      <a:accent6>
        <a:srgbClr val="D9BF8F"/>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Communicable Diseases · Chapter 3: Growing bacteria in the lab (Biology only)</dc:title>
  <dc:subject>Biology (Triple Science) · Year 10</dc:subject>
  <dc:creator>Dr Vitor Merissi de Carvalho</dc:creator>
  <cp:lastModifiedBy>Dr Vitor Merissi de Carvalho</cp:lastModifiedBy>
  <cp:revision>1</cp:revision>
  <dcterms:created xsi:type="dcterms:W3CDTF">2026-10-18T17:47:19Z</dcterms:created>
  <dcterms:modified xsi:type="dcterms:W3CDTF">2026-10-18T17:47:19Z</dcterms:modified>
</cp:coreProperties>
</file>