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571f86c-0b3c-7b4a-f801-fa8d47ad77f0}">
          <p14:sldIdLst>
            <p14:sldId id="256"/>
          </p14:sldIdLst>
        </p14:section>
        <p14:section name="Gate" id="{61c48ac8-e8a8-18ad-2a72-e12d7b16a651}">
          <p14:sldIdLst>
            <p14:sldId id="257"/>
            <p14:sldId id="258"/>
          </p14:sldIdLst>
        </p14:section>
        <p14:section name="Pre-teach" id="{87c2d0ac-9d74-5d9f-5267-12f6d2ef3853}">
          <p14:sldIdLst>
            <p14:sldId id="259"/>
            <p14:sldId id="260"/>
          </p14:sldIdLst>
        </p14:section>
        <p14:section name="Read-along" id="{79f45685-1cc6-cde2-d0d9-7f18e75c538a}">
          <p14:sldIdLst>
            <p14:sldId id="261"/>
            <p14:sldId id="262"/>
          </p14:sldIdLst>
        </p14:section>
        <p14:section name="Teach" id="{a4316015-cbbe-543a-9c46-8e3aff83f8e6}">
          <p14:sldIdLst>
            <p14:sldId id="263"/>
            <p14:sldId id="264"/>
            <p14:sldId id="265"/>
            <p14:sldId id="266"/>
          </p14:sldIdLst>
        </p14:section>
        <p14:section name="Routes" id="{cdcbe918-f6e1-2548-eebd-883bfe814fc0}">
          <p14:sldIdLst>
            <p14:sldId id="267"/>
            <p14:sldId id="268"/>
            <p14:sldId id="269"/>
            <p14:sldId id="270"/>
          </p14:sldIdLst>
        </p14:section>
        <p14:section name="Close" id="{5fa952a7-37bf-6187-aabd-2b741a2b3907}">
          <p14:sldIdLst>
            <p14:sldId id="271"/>
          </p14:sldIdLst>
        </p14:section>
        <p14:section name="Answers" id="{f2c26fba-477d-9513-d9ff-53d5d9d6d867}">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Stopping the spread. How scientists learnt what causes disease, and the methods we now use to reduce or prevent the spread of pathogens: hygiene, isolation, controlling vectors and vaccination.
This deck covers the department's lesson: 5 (B5.5 Preventing infections: How can the spread of communicable diseases be reduced or prevented?).
Read the big question aloud: "How do pathogens spread disease between people, animals and plants, and how can we stop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did Ignaz Semmelweis show?  →  B   Washing hands between patients reduced the spread of disease in hospitals
2. Keeping a person with a serious infectious disease away from other people is called ___.  →  isolation
3. Why can plants not be protected by vaccination?  →  A   Plants do not have an immune system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Washing hands between patients reduced the spread of disease in hospitals. Semmelweis made doctors wash their hands, and deaths after childbirth fell sharply. Hand washing stops pathogens being carried from patient to patient.
2. isolation. Isolation means fewer people come into contact with the infected person, so the pathogen spreads to fewer people.
3. A   Plants do not have an immune system. A vaccine works by training the immune system. Plants have no immune system, so plant diseases are controlled by hygiene, destroying infected plants and controlling vectors.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hygiene: keeping clean so that pathogens are not passed on. Example: "Washing your hands after using the toilet is good hygiene."
• isolation: keeping an infected person away from others. Example: "The patient with Ebola was kept in isolation."
• vector: an animal that carries a pathogen from one organism to another. Example: "Killing mosquitoes controls the vector for malaria."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vaccination: giving a small amount of dead or inactive pathogen so the body can fight the real one. Example: "Vaccination protects most children against measles."
• antiseptic: a chemical that kills microorganisms on skin, wounds or surfaces. Example: "Lister used an antiseptic to clean wounds during surgery."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For thousands of years, people did not know what caused disease.
2. Only in the last 200 years have scientists really understood pathogens.
3. Ignaz Semmelweis showed that washing hands saved lives in hospitals.
4. Joseph Lister used antiseptic and clean equipment in surgery.
5. Louis Pasteur showed that microorganisms cause disease.
6. Today we know several ways to stop pathogens spreading.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Good hygiene means washing your hands and keeping raw meat away from cooked food.
8. People with a serious infectious disease can be isolated from others.
9. Vectors such as mosquitoes can be destroyed or controlled.
10. A vaccine gives you a small amount of dead or inactive pathogen.
11. Then your body can fight the real pathogen quickly if it meets it.
12. Plants cannot be vaccinated, because they do not have an immune system.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Learning what causes disease. Say it in your own words, then check understanding with a quick question: ask a pupil from the pre-teach group first, since they met these words and ideas before the lesson. Pupils try to recall before you re-explain.
Some illnesses have been with us for thousands of years. For most of that time people used herbal remedies without knowing why some of them worked, and blamed disease on bad air or bad luck. It is only in the past 200 years that the causes of disease have really been understood.
In the 1840s Ignaz Semmelweis, a doctor working in a maternity hospital, noticed that far more women died after childbirth on the wards where doctors came straight from examining dead bodies. He insisted that doctors wash their hands, and the number of deaths fell sharply. Later, Joseph Lister used an antiseptic, carbolic acid, to clean wounds and surgical instruments, and insisted on clean equipment and clean clothing in the operating theatre, at a time when many surgeons operated with unwashed instruments and in dirty coats.
Louis Pasteur showed that microorganisms cause disease and decay. Together, the work of these pioneers let modern scientists prevent the spread of pathogens and, in some cases, cure the diseases they cause.
Tip: Semmelweis = hand washing. Lister = antiseptic and clean surgery. Pasteur = microorganisms cause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Hygiene, isolation and controlling vectors. Say it in your own words, then check understanding with a quick question: ask a pupil from the pre-teach group first, since they met these words and ideas before the lesson. Pupils try to recall before you re-explain.
Hygiene removes pathogens before they can spread: washing your hands after using the toilet, before cooking, after handling animals and after contact with someone who is ill; using disinfectants in the house; keeping raw meat away from cooked meat; coughing or sneezing into a tissue. In farming, keeping machinery clean helps to stop plant diseases moving from field to field.
Isolation keeps a person with a serious infectious disease, such as Ebola or cholera, away from other people, so that fewer people come into contact with the pathogen. The same idea works for plants: infected plants can be destroyed or, if they are small, moved away from healthy ones.
Controlling vectors removes the carrier. Mosquitoes carry malaria and dengue fever, houseflies carry more than 100 human diseases, and rats carry disease too. Aphids transmit more than 150 plant diseases, and beetles carry viral, bacterial and fungal diseases of plants. Destroying the vectors, or stopping them breeding, prevents the spread of the diseases they carry.
Tip: Each method stops one link in the chain: hygiene removes the pathogen, isolation removes contact, vector control removes the carrier.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Vaccination. Say it in your own words, then check understanding with a quick question: ask a pupil from the pre-teach group first, since they met these words and ideas before the lesson. Pupils try to recall before you re-explain.
A vaccination gives a person a small amount of a dead or inactive form of a specific pathogen. The body learns to recognise it, so that if the person later meets the real, live pathogen, their body can fight it off quickly, before it causes serious illness.
Vaccines protect large numbers of people and animals: most young children in the UK are vaccinated against measles, and poultry are vaccinated against Salmonella. When most of a population is vaccinated, the pathogen finds it hard to spread, so even people who are not vaccinated are safer.
Vaccination cannot protect plants, because plants do not have an immune system. Plant diseases are controlled by the other methods: hygiene, destroying infected plants and controlling insect vectors.
Worked example — model it step by step, thinking aloud: Explain how good hygiene in a kitchen helps to prevent Salmonella food poisoning. (3 marks) (1) Name the pathogen and its route: Salmonella bacteria are spread in food, especially undercooked meat. (2) Give a hygiene action and link it to the route: keeping raw meat away from cooked food stops the bacteria moving onto food that will not be cooked again. (3) Give a second action with a reason: washing hands after handling raw meat stops bacteria being carried to other food or surfaces. Answer: Salmonella bacteria are spread in contaminated food, so keeping raw meat away from cooked food stops bacteria moving onto food that will be eaten, and washing hands after handling raw meat stops them being carried to other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Vaccination. Say it in your own words, then check understanding with a quick question: ask a pupil from the pre-teach group first, since they met these words and ideas before the lesson. Pupils try to recall before you re-explain.
A vaccination gives a person a small amount of a dead or inactive form of a specific pathogen. The body learns to recognise it, so that if the person later meets the real, live pathogen, their body can fight it off quickly, before it causes serious illness.
Vaccines protect large numbers of people and animals: most young children in the UK are vaccinated against measles, and poultry are vaccinated against Salmonella. When most of a population is vaccinated, the pathogen finds it hard to spread, so even people who are not vaccinated are safer.
Vaccination cannot protect plants, because plants do not have an immune system. Plant diseases are controlled by the other methods: hygiene, destroying infected plants and controlling insect vectors.
Worked example — model it step by step, thinking aloud: Explain how good hygiene in a kitchen helps to prevent Salmonella food poisoning. (3 marks) (1) Name the pathogen and its route: Salmonella bacteria are spread in food, especially undercooked meat. (2) Give a hygiene action and link it to the route: keeping raw meat away from cooked food stops the bacteria moving onto food that will not be cooked again. (3) Give a second action with a reason: washing hands after handling raw meat stops bacteria being carried to other food or surfaces. Answer: Salmonella bacteria are spread in contaminated food, so keeping raw meat away from cooked food stops bacteria moving onto food that will be eaten, and washing hands after handling raw meat stops them being carried to other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method is this?.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hospital places a patient with Ebola in a separate room and limits the number of staff who enter it. Which method of preventing disease is this?
Support — work through the steps with the group: (1) Ask: what is being done to the pathogen, the carrier or the people? (2) Nothing is being killed or cleaned, and nothing is being injected. (3) The infected person is being kept apart from others. (4) Keeping an infected person apart so fewer people meet the pathogen is isolation.
Parallel worked example for Support (model it, do not give the task answer): A council drains ponds of stagnant water near a village so that mosquitoes cannot breed. Which method of preventing disease is this? Mosquitoes carry the malaria protist: they are a vector.; Draining the water stops the vector breeding.; So this is controlling vectors.. Answer: Controlling vectors..
Core — reveal the hint only on request: Who or what is being kept away from whom?
Stretch — no help; when finished: Isolation reduces spread but does not cure the patient. Explain which other method would protect the hospital staff in the long term, and why it would not work for a plant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method is this?.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hospital places a patient with Ebola in a separate room and limits the number of staff who enter it. Which method of preventing disease is this?
Support — work through the steps with the group: (1) Ask: what is being done to the pathogen, the carrier or the people? (2) Nothing is being killed or cleaned, and nothing is being injected. (3) The infected person is being kept apart from others. (4) Keeping an infected person apart so fewer people meet the pathogen is isolation.
Parallel worked example for Support (model it, do not give the task answer): A council drains ponds of stagnant water near a village so that mosquitoes cannot breed. Which method of preventing disease is this? Mosquitoes carry the malaria protist: they are a vector.; Draining the water stops the vector breeding.; So this is controlling vectors.. Answer: Controlling vectors..
Core — reveal the hint only on request: Who or what is being kept away from whom?
Stretch — no help; when finished: Isolation reduces spread but does not cure the patient. Explain which other method would protect the hospital staff in the long term, and why it would not work for a plant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Four ways to stop the spread.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method of preventing disease to how it works.
Support — work through the steps with the group: (1) Hygiene is about being clean: look for washing. (2) Isolation is about keeping apart: look for 'apart' or 'away from'. (3) Vectors are carriers: look for insects or animals. (4) Vaccination is about the body: look for 'dead or inactive pathogen'.
Parallel worked example for Support (model it, do not give the task answer): Match: sneezing into a tissue; spraying aphids on a tomato crop. Methods: hygiene; controlling vectors. A tissue catches the droplets so pathogens are not released: hygiene.; Aphids carry plant diseases, so killing them removes the vector: controlling vectors.. Answer: Sneezing into a tissue: hygiene. Spraying aphids: controlling vectors..
Core — reveal the hint only on request: Clean, apart, carrier, body.
Stretch — no help; when finished: For a plant disease spread by aphids, say which of the four methods can be used and which cannot, with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Four ways to stop the spread.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method of preventing disease to how it works.
Support — work through the steps with the group: (1) Hygiene is about being clean: look for washing. (2) Isolation is about keeping apart: look for 'apart' or 'away from'. (3) Vectors are carriers: look for insects or animals. (4) Vaccination is about the body: look for 'dead or inactive pathogen'.
Parallel worked example for Support (model it, do not give the task answer): Match: sneezing into a tissue; spraying aphids on a tomato crop. Methods: hygiene; controlling vectors. A tissue catches the droplets so pathogens are not released: hygiene.; Aphids carry plant diseases, so killing them removes the vector: controlling vectors.. Answer: Sneezing into a tissue: hygiene. Spraying aphids: controlling vectors..
Core — reveal the hint only on request: Clean, apart, carrier, body.
Stretch — no help; when finished: For a plant disease spread by aphids, say which of the four methods can be used and which cannot, with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did Ignaz Semmelweis show?
Answer: A   Washing hands between patients reduced the spread of disease in hospitals. Semmelweis made doctors wash their hands, and deaths after childbirth fell sharply. Hand washing stops pathogens being carried from patient to patient.
Source of this question: gate item 1 re-asked (options rotated) — this chapter has no third quick-check module.
The ebook also holds task 3, "Stopping a cholera outbreak (6 marks)",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Which method is this?. Reveal the answer; pupils mark their own work in a different colour, then read the "why" together. Same destination for every lane, so one answer serves the whole class.
Answer: D   Isolation
Why: Isolation keeps a person with a serious infectious disease away from others, so fewer people come into contact with the pathogen and it spreads to fewer people.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Four ways to stop the spread. Reveal the answer; pupils mark their own work in a different colour, then read the "why" together. Same destination for every lane, so one answer serves the whole class.
Answer: Hygiene  →  A  Washing hands and keeping raw meat separate removes pathogens before they spread; Isolation  →  B  Keeping an infected person apart so fewer people come into contact with the pathogen; Controlling vectors  →  D  Destroying the insects or animals that carry the pathogen from one organism to another; Vaccination  →  C  Giving small amounts of dead or inactive pathogen so the body can fight the real one quickly
Why: Hygiene removes pathogens; isolation removes contact between people; controlling vectors removes the carrier; vaccination prepares the body to fight the pathogen.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Washing hands between patients reduced the spread of disease in hospitals
Why: Semmelweis made doctors wash their hands, and deaths after childbirth fell sharply. Hand washing stops pathogens being carried from patient to patient.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8CDDA"/>
          </a:solidFill>
          <a:ln w="12700">
            <a:solidFill>
              <a:srgbClr val="C8CD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(Triple Science) · Year 10 · Communicable Diseases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8CDDA"/>
          </a:solidFill>
          <a:ln w="12700">
            <a:solidFill>
              <a:srgbClr val="C8CD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(Triple Science) · Year 10 · Communicable Diseases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DD1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Biology (Triple Science)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Communicable Diseases · AQA 8461</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Stopping the spread</a:t>
            </a:r>
            <a:endParaRPr lang="en-US" sz="4000" dirty="0"/>
          </a:p>
        </p:txBody>
      </p:sp>
      <p:sp>
        <p:nvSpPr>
          <p:cNvPr id="11" name="lessons-card"/>
          <p:cNvSpPr/>
          <p:nvPr/>
        </p:nvSpPr>
        <p:spPr>
          <a:xfrm>
            <a:off x="548640" y="3739388"/>
            <a:ext cx="5287975" cy="980440"/>
          </a:xfrm>
          <a:prstGeom prst="roundRect">
            <a:avLst>
              <a:gd name="adj" fmla="val 7461"/>
            </a:avLst>
          </a:prstGeom>
          <a:solidFill>
            <a:srgbClr val="E3E5EC"/>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B5.5 Preventing infections</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Biology (Triple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3E5EC"/>
          </a:solidFill>
          <a:ln w="12700">
            <a:solidFill>
              <a:srgbClr val="A1A9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200" i="1" dirty="0">
                <a:solidFill>
                  <a:srgbClr val="1E2229"/>
                </a:solidFill>
                <a:latin typeface="Cambria" pitchFamily="34" charset="0"/>
                <a:ea typeface="Cambria" pitchFamily="34" charset="-122"/>
                <a:cs typeface="Cambria" pitchFamily="34" charset="-120"/>
              </a:rPr>
              <a:t>How do pathogens spread disease between people, animals and plants, and how can we stop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E9EBF0"/>
          </a:solidFill>
          <a:ln w="12700">
            <a:solidFill>
              <a:srgbClr val="ACB3C7"/>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did Ignaz Semmelweis show?</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Mosquitoes carry the pathogen that causes malaria</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Washing hands between patients reduced the spread of disease in hospitals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Viruses are smaller than bacteria</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Vaccination protects children against measles</a:t>
            </a:r>
            <a:endParaRPr lang="en-US" sz="1800" dirty="0"/>
          </a:p>
        </p:txBody>
      </p:sp>
      <p:sp>
        <p:nvSpPr>
          <p:cNvPr id="12" name="card"/>
          <p:cNvSpPr/>
          <p:nvPr/>
        </p:nvSpPr>
        <p:spPr>
          <a:xfrm>
            <a:off x="4777626" y="1389888"/>
            <a:ext cx="2636444" cy="4754880"/>
          </a:xfrm>
          <a:prstGeom prst="roundRect">
            <a:avLst>
              <a:gd name="adj" fmla="val 2081"/>
            </a:avLst>
          </a:prstGeom>
          <a:solidFill>
            <a:srgbClr val="E9EBF0"/>
          </a:solidFill>
          <a:ln w="12700">
            <a:solidFill>
              <a:srgbClr val="ACB3C7"/>
            </a:solidFill>
            <a:prstDash val="solid"/>
          </a:ln>
        </p:spPr>
      </p:sp>
      <p:sp>
        <p:nvSpPr>
          <p:cNvPr id="13" name="card-hex"/>
          <p:cNvSpPr/>
          <p:nvPr/>
        </p:nvSpPr>
        <p:spPr>
          <a:xfrm>
            <a:off x="4960506" y="1572768"/>
            <a:ext cx="640080" cy="554309"/>
          </a:xfrm>
          <a:prstGeom prst="hexagon">
            <a:avLst/>
          </a:prstGeom>
          <a:solidFill>
            <a:srgbClr val="24366B"/>
          </a:solidFill>
          <a:ln/>
        </p:spPr>
      </p:sp>
      <p:sp>
        <p:nvSpPr>
          <p:cNvPr id="14"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960506"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Keeping a person with a serious infectious disease away from other people is called ___.</a:t>
            </a:r>
            <a:endParaRPr lang="en-US" sz="2000" dirty="0"/>
          </a:p>
          <a:p>
            <a:pPr algn="l" indent="0" marL="0">
              <a:buNone/>
            </a:pPr>
            <a:r>
              <a:rPr lang="en-US" sz="2000" b="1" dirty="0">
                <a:solidFill>
                  <a:srgbClr val="24366B"/>
                </a:solidFill>
                <a:latin typeface="Calibri" pitchFamily="34" charset="0"/>
                <a:ea typeface="Calibri" pitchFamily="34" charset="-122"/>
                <a:cs typeface="Calibri" pitchFamily="34" charset="-120"/>
              </a:rPr>
              <a:t>Word bank:  </a:t>
            </a:r>
            <a:pPr algn="l" indent="0" marL="0">
              <a:buNone/>
            </a:pPr>
            <a:r>
              <a:rPr lang="en-US" sz="2000" dirty="0">
                <a:solidFill>
                  <a:srgbClr val="1E2229"/>
                </a:solidFill>
                <a:latin typeface="Calibri" pitchFamily="34" charset="0"/>
                <a:ea typeface="Calibri" pitchFamily="34" charset="-122"/>
                <a:cs typeface="Calibri" pitchFamily="34" charset="-120"/>
              </a:rPr>
              <a:t>isolation  ·  vaccination  ·  hygiene</a:t>
            </a:r>
            <a:endParaRPr lang="en-US" sz="2000" dirty="0"/>
          </a:p>
        </p:txBody>
      </p:sp>
      <p:sp>
        <p:nvSpPr>
          <p:cNvPr id="17" name="card"/>
          <p:cNvSpPr/>
          <p:nvPr/>
        </p:nvSpPr>
        <p:spPr>
          <a:xfrm>
            <a:off x="7688389" y="1389888"/>
            <a:ext cx="3954666" cy="4754880"/>
          </a:xfrm>
          <a:prstGeom prst="roundRect">
            <a:avLst>
              <a:gd name="adj" fmla="val 1387"/>
            </a:avLst>
          </a:prstGeom>
          <a:solidFill>
            <a:srgbClr val="E9EBF0"/>
          </a:solidFill>
          <a:ln w="12700">
            <a:solidFill>
              <a:srgbClr val="ACB3C7"/>
            </a:solidFill>
            <a:prstDash val="solid"/>
          </a:ln>
        </p:spPr>
      </p:sp>
      <p:sp>
        <p:nvSpPr>
          <p:cNvPr id="18" name="card-hex"/>
          <p:cNvSpPr/>
          <p:nvPr/>
        </p:nvSpPr>
        <p:spPr>
          <a:xfrm>
            <a:off x="7871269" y="1572768"/>
            <a:ext cx="640080" cy="554309"/>
          </a:xfrm>
          <a:prstGeom prst="hexagon">
            <a:avLst/>
          </a:prstGeom>
          <a:solidFill>
            <a:srgbClr val="24366B"/>
          </a:solidFill>
          <a:ln/>
        </p:spPr>
      </p:sp>
      <p:sp>
        <p:nvSpPr>
          <p:cNvPr id="19"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7871269"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Why can plants not be protected by vaccination?</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Plants do not have an immune system</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Plants are too small to inject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Pathogens cannot reach plants in a field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Plants are never infected by pathogens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E9EBF0"/>
          </a:solidFill>
          <a:ln w="12700">
            <a:solidFill>
              <a:srgbClr val="ACB3C7"/>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588906" cy="1636776"/>
          </a:xfrm>
          <a:prstGeom prst="roundRect">
            <a:avLst>
              <a:gd name="adj" fmla="val 6704"/>
            </a:avLst>
          </a:prstGeom>
          <a:solidFill>
            <a:srgbClr val="EBDDC4"/>
          </a:solidFill>
          <a:ln w="19050">
            <a:solidFill>
              <a:srgbClr val="B8862B"/>
            </a:solidFill>
            <a:prstDash val="solid"/>
          </a:ln>
        </p:spPr>
      </p:sp>
      <p:sp>
        <p:nvSpPr>
          <p:cNvPr id="12" name="answer"/>
          <p:cNvSpPr txBox="1"/>
          <p:nvPr/>
        </p:nvSpPr>
        <p:spPr>
          <a:xfrm>
            <a:off x="822960" y="2428829"/>
            <a:ext cx="3406026"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Washing hands between patients reduced the spread of disease in hospitals</a:t>
            </a:r>
            <a:endParaRPr lang="en-US" sz="2200" dirty="0"/>
          </a:p>
        </p:txBody>
      </p:sp>
      <p:sp>
        <p:nvSpPr>
          <p:cNvPr id="13" name="card-body"/>
          <p:cNvSpPr txBox="1"/>
          <p:nvPr/>
        </p:nvSpPr>
        <p:spPr>
          <a:xfrm>
            <a:off x="731520" y="4175333"/>
            <a:ext cx="3588906"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Semmelweis made doctors wash their hands, and deaths after childbirth fell sharply. Hand washing stops pathogens being carried from patient to patient.</a:t>
            </a:r>
            <a:endParaRPr lang="en-US" sz="1800" dirty="0"/>
          </a:p>
        </p:txBody>
      </p:sp>
      <p:sp>
        <p:nvSpPr>
          <p:cNvPr id="14" name="card"/>
          <p:cNvSpPr/>
          <p:nvPr/>
        </p:nvSpPr>
        <p:spPr>
          <a:xfrm>
            <a:off x="4777626" y="1389888"/>
            <a:ext cx="2636444" cy="4754880"/>
          </a:xfrm>
          <a:prstGeom prst="roundRect">
            <a:avLst>
              <a:gd name="adj" fmla="val 2081"/>
            </a:avLst>
          </a:prstGeom>
          <a:solidFill>
            <a:srgbClr val="E9EBF0"/>
          </a:solidFill>
          <a:ln w="12700">
            <a:solidFill>
              <a:srgbClr val="ACB3C7"/>
            </a:solidFill>
            <a:prstDash val="solid"/>
          </a:ln>
        </p:spPr>
      </p:sp>
      <p:sp>
        <p:nvSpPr>
          <p:cNvPr id="15" name="card-hex"/>
          <p:cNvSpPr/>
          <p:nvPr/>
        </p:nvSpPr>
        <p:spPr>
          <a:xfrm>
            <a:off x="4960506" y="1572768"/>
            <a:ext cx="640080" cy="554309"/>
          </a:xfrm>
          <a:prstGeom prst="hexagon">
            <a:avLst/>
          </a:prstGeom>
          <a:solidFill>
            <a:srgbClr val="24366B"/>
          </a:solidFill>
          <a:ln/>
        </p:spPr>
      </p:sp>
      <p:sp>
        <p:nvSpPr>
          <p:cNvPr id="16"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960506" y="2355677"/>
            <a:ext cx="2270684"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5051946"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isolation</a:t>
            </a:r>
            <a:endParaRPr lang="en-US" sz="2200" dirty="0"/>
          </a:p>
        </p:txBody>
      </p:sp>
      <p:sp>
        <p:nvSpPr>
          <p:cNvPr id="20" name="card-body"/>
          <p:cNvSpPr txBox="1"/>
          <p:nvPr/>
        </p:nvSpPr>
        <p:spPr>
          <a:xfrm>
            <a:off x="4960506"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Isolation means fewer people come into contact with the infected person, so the pathogen spreads to fewer people.</a:t>
            </a:r>
            <a:endParaRPr lang="en-US" sz="1800" dirty="0"/>
          </a:p>
        </p:txBody>
      </p:sp>
      <p:sp>
        <p:nvSpPr>
          <p:cNvPr id="21" name="card"/>
          <p:cNvSpPr/>
          <p:nvPr/>
        </p:nvSpPr>
        <p:spPr>
          <a:xfrm>
            <a:off x="7688389" y="1389888"/>
            <a:ext cx="3954666" cy="4754880"/>
          </a:xfrm>
          <a:prstGeom prst="roundRect">
            <a:avLst>
              <a:gd name="adj" fmla="val 1387"/>
            </a:avLst>
          </a:prstGeom>
          <a:solidFill>
            <a:srgbClr val="E9EBF0"/>
          </a:solidFill>
          <a:ln w="12700">
            <a:solidFill>
              <a:srgbClr val="ACB3C7"/>
            </a:solidFill>
            <a:prstDash val="solid"/>
          </a:ln>
        </p:spPr>
      </p:sp>
      <p:sp>
        <p:nvSpPr>
          <p:cNvPr id="22" name="card-hex"/>
          <p:cNvSpPr/>
          <p:nvPr/>
        </p:nvSpPr>
        <p:spPr>
          <a:xfrm>
            <a:off x="7871269" y="1572768"/>
            <a:ext cx="640080" cy="554309"/>
          </a:xfrm>
          <a:prstGeom prst="hexagon">
            <a:avLst/>
          </a:prstGeom>
          <a:solidFill>
            <a:srgbClr val="24366B"/>
          </a:solidFill>
          <a:ln/>
        </p:spPr>
      </p:sp>
      <p:sp>
        <p:nvSpPr>
          <p:cNvPr id="23"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7871269" y="2355677"/>
            <a:ext cx="3588906" cy="955040"/>
          </a:xfrm>
          <a:prstGeom prst="roundRect">
            <a:avLst>
              <a:gd name="adj" fmla="val 11489"/>
            </a:avLst>
          </a:prstGeom>
          <a:solidFill>
            <a:srgbClr val="EBDDC4"/>
          </a:solidFill>
          <a:ln w="19050">
            <a:solidFill>
              <a:srgbClr val="B8862B"/>
            </a:solidFill>
            <a:prstDash val="solid"/>
          </a:ln>
        </p:spPr>
      </p:sp>
      <p:sp>
        <p:nvSpPr>
          <p:cNvPr id="26" name="answer"/>
          <p:cNvSpPr txBox="1"/>
          <p:nvPr/>
        </p:nvSpPr>
        <p:spPr>
          <a:xfrm>
            <a:off x="7962709" y="2428829"/>
            <a:ext cx="3406026"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Plants do not have an immune system</a:t>
            </a:r>
            <a:endParaRPr lang="en-US" sz="2200" dirty="0"/>
          </a:p>
        </p:txBody>
      </p:sp>
      <p:sp>
        <p:nvSpPr>
          <p:cNvPr id="27" name="card-body"/>
          <p:cNvSpPr txBox="1"/>
          <p:nvPr/>
        </p:nvSpPr>
        <p:spPr>
          <a:xfrm>
            <a:off x="7871269" y="3493597"/>
            <a:ext cx="3588906"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Why can plants not be protected by vaccination?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 vaccine works by training the immune system. Plants have no immune system, so plant diseases are controlled by hygiene, destroying infected plants and controlling vectors.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7E9EF"/>
          </a:solidFill>
          <a:ln w="12700">
            <a:solidFill>
              <a:srgbClr val="A1A9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hygiene</a:t>
            </a:r>
            <a:endParaRPr lang="en-US" sz="2600" dirty="0"/>
          </a:p>
        </p:txBody>
      </p:sp>
      <p:sp>
        <p:nvSpPr>
          <p:cNvPr id="11" name="word-rule"/>
          <p:cNvSpPr/>
          <p:nvPr/>
        </p:nvSpPr>
        <p:spPr>
          <a:xfrm>
            <a:off x="731520" y="2129028"/>
            <a:ext cx="3149498" cy="0"/>
          </a:xfrm>
          <a:prstGeom prst="line">
            <a:avLst/>
          </a:prstGeom>
          <a:ln w="12700">
            <a:solidFill>
              <a:srgbClr val="A1A9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keeping clean so that pathogens are not passed on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Washing your hands after using the toilet is good hygiene.</a:t>
            </a:r>
            <a:endParaRPr lang="en-US" sz="2200" dirty="0"/>
          </a:p>
        </p:txBody>
      </p:sp>
      <p:sp>
        <p:nvSpPr>
          <p:cNvPr id="13" name="word-card"/>
          <p:cNvSpPr/>
          <p:nvPr/>
        </p:nvSpPr>
        <p:spPr>
          <a:xfrm>
            <a:off x="4338218" y="1389888"/>
            <a:ext cx="3515258" cy="4754880"/>
          </a:xfrm>
          <a:prstGeom prst="roundRect">
            <a:avLst>
              <a:gd name="adj" fmla="val 1561"/>
            </a:avLst>
          </a:prstGeom>
          <a:solidFill>
            <a:srgbClr val="E7E9EF"/>
          </a:solidFill>
          <a:ln w="12700">
            <a:solidFill>
              <a:srgbClr val="A1A9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isolation</a:t>
            </a:r>
            <a:endParaRPr lang="en-US" sz="2600" dirty="0"/>
          </a:p>
        </p:txBody>
      </p:sp>
      <p:sp>
        <p:nvSpPr>
          <p:cNvPr id="17" name="word-rule"/>
          <p:cNvSpPr/>
          <p:nvPr/>
        </p:nvSpPr>
        <p:spPr>
          <a:xfrm>
            <a:off x="4521098" y="2129028"/>
            <a:ext cx="3149498" cy="0"/>
          </a:xfrm>
          <a:prstGeom prst="line">
            <a:avLst/>
          </a:prstGeom>
          <a:ln w="12700">
            <a:solidFill>
              <a:srgbClr val="A1A9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keeping an infected person away from others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patient with Ebola was kept in isolation.</a:t>
            </a:r>
            <a:endParaRPr lang="en-US" sz="2200" dirty="0"/>
          </a:p>
        </p:txBody>
      </p:sp>
      <p:sp>
        <p:nvSpPr>
          <p:cNvPr id="19" name="word-card"/>
          <p:cNvSpPr/>
          <p:nvPr/>
        </p:nvSpPr>
        <p:spPr>
          <a:xfrm>
            <a:off x="8127797" y="1389888"/>
            <a:ext cx="3515258" cy="4754880"/>
          </a:xfrm>
          <a:prstGeom prst="roundRect">
            <a:avLst>
              <a:gd name="adj" fmla="val 1561"/>
            </a:avLst>
          </a:prstGeom>
          <a:solidFill>
            <a:srgbClr val="E7E9EF"/>
          </a:solidFill>
          <a:ln w="12700">
            <a:solidFill>
              <a:srgbClr val="A1A9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vector</a:t>
            </a:r>
            <a:endParaRPr lang="en-US" sz="2600" dirty="0"/>
          </a:p>
        </p:txBody>
      </p:sp>
      <p:sp>
        <p:nvSpPr>
          <p:cNvPr id="23" name="word-rule"/>
          <p:cNvSpPr/>
          <p:nvPr/>
        </p:nvSpPr>
        <p:spPr>
          <a:xfrm>
            <a:off x="8310677" y="2129028"/>
            <a:ext cx="3149498" cy="0"/>
          </a:xfrm>
          <a:prstGeom prst="line">
            <a:avLst/>
          </a:prstGeom>
          <a:ln w="12700">
            <a:solidFill>
              <a:srgbClr val="A1A9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an animal that carries a pathogen from one organism to another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Killing mosquitoes controls the vector for malaria.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E7E9EF"/>
          </a:solidFill>
          <a:ln w="12700">
            <a:solidFill>
              <a:srgbClr val="A1A9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vaccination</a:t>
            </a:r>
            <a:endParaRPr lang="en-US" sz="2600" dirty="0"/>
          </a:p>
        </p:txBody>
      </p:sp>
      <p:sp>
        <p:nvSpPr>
          <p:cNvPr id="11" name="word-rule"/>
          <p:cNvSpPr/>
          <p:nvPr/>
        </p:nvSpPr>
        <p:spPr>
          <a:xfrm>
            <a:off x="731520" y="2129028"/>
            <a:ext cx="5044288" cy="0"/>
          </a:xfrm>
          <a:prstGeom prst="line">
            <a:avLst/>
          </a:prstGeom>
          <a:ln w="12700">
            <a:solidFill>
              <a:srgbClr val="A1A9BF"/>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giving a small amount of dead or inactive pathogen so the body can fight the real one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Vaccination protects most children against measles.</a:t>
            </a:r>
            <a:endParaRPr lang="en-US" sz="2200" dirty="0"/>
          </a:p>
        </p:txBody>
      </p:sp>
      <p:sp>
        <p:nvSpPr>
          <p:cNvPr id="13" name="word-card"/>
          <p:cNvSpPr/>
          <p:nvPr/>
        </p:nvSpPr>
        <p:spPr>
          <a:xfrm>
            <a:off x="6233008" y="1389888"/>
            <a:ext cx="5410048" cy="4754880"/>
          </a:xfrm>
          <a:prstGeom prst="roundRect">
            <a:avLst>
              <a:gd name="adj" fmla="val 1154"/>
            </a:avLst>
          </a:prstGeom>
          <a:solidFill>
            <a:srgbClr val="E7E9EF"/>
          </a:solidFill>
          <a:ln w="12700">
            <a:solidFill>
              <a:srgbClr val="A1A9BF"/>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antiseptic</a:t>
            </a:r>
            <a:endParaRPr lang="en-US" sz="2600" dirty="0"/>
          </a:p>
        </p:txBody>
      </p:sp>
      <p:sp>
        <p:nvSpPr>
          <p:cNvPr id="17" name="word-rule"/>
          <p:cNvSpPr/>
          <p:nvPr/>
        </p:nvSpPr>
        <p:spPr>
          <a:xfrm>
            <a:off x="6415888" y="2129028"/>
            <a:ext cx="5044288" cy="0"/>
          </a:xfrm>
          <a:prstGeom prst="line">
            <a:avLst/>
          </a:prstGeom>
          <a:ln w="12700">
            <a:solidFill>
              <a:srgbClr val="A1A9BF"/>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chemical that kills microorganisms on skin, wounds or surfaces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Lister used an antiseptic to clean wounds during surgery.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EBF0"/>
          </a:solidFill>
          <a:ln w="12700">
            <a:solidFill>
              <a:srgbClr val="B7BD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For thousands of years, people did not know what caused disease.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Only in the last 200 years have scientists really understood pathogens.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Ignaz Semmelweis showed that washing hands saved lives in hospitals.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Joseph Lister used </a:t>
            </a:r>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antiseptic</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and clean equipment in surgery.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Louis Pasteur showed that microorganisms cause disease.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Today we know several ways to stop pathogens spreading.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EBF0"/>
          </a:solidFill>
          <a:ln w="12700">
            <a:solidFill>
              <a:srgbClr val="B7BD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Good </a:t>
            </a:r>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hygiene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means washing your hands and keeping raw meat away from cooked food.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People with a serious infectious disease can be isolated from others.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b="1" dirty="0">
                <a:solidFill>
                  <a:srgbClr val="24366B"/>
                </a:solidFill>
                <a:latin typeface="Calibri" pitchFamily="34" charset="0"/>
                <a:ea typeface="Calibri" pitchFamily="34" charset="-122"/>
                <a:cs typeface="Calibri" pitchFamily="34" charset="-120"/>
              </a:rPr>
              <a:t>Vectors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such as mosquitoes can be destroyed or controlled.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vaccine gives you a small amount of dead or inactive pathogen.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Then your body can fight the real pathogen quickly if it meets it.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Plants cannot be vaccinated, because they do not have an immune system.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Learning what causes disease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Semmelweis = hand washing. Lister = antiseptic and clean surgery. Pasteur = microorganisms cause disease.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3E5EC"/>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Some illnesses have been with us for thousands of years.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 the 1840s Ignaz Semmelweis, a doctor working in a maternity hospital, noticed that far more women died after childbirth on the wards where doctors came straight from examining dead bodies.</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3E5EC"/>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Louis Pasteur showed that microorganisms cause disease and decay. Together, the work of these pioneers let modern scientists prevent the spread of pathogens and, in some cases, cure the diseases they cause.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Hygiene, isolation and controlling vectors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Each method stops one link in the chain: hygiene removes the pathogen, isolation removes contact, vector control removes the carrier.</a:t>
            </a:r>
            <a:endParaRPr lang="en-US" sz="1800" dirty="0"/>
          </a:p>
        </p:txBody>
      </p:sp>
      <p:sp>
        <p:nvSpPr>
          <p:cNvPr id="11" name="bullet-card"/>
          <p:cNvSpPr/>
          <p:nvPr/>
        </p:nvSpPr>
        <p:spPr>
          <a:xfrm>
            <a:off x="548640" y="1389888"/>
            <a:ext cx="11094415" cy="1585637"/>
          </a:xfrm>
          <a:prstGeom prst="roundRect">
            <a:avLst>
              <a:gd name="adj" fmla="val 4613"/>
            </a:avLst>
          </a:prstGeom>
          <a:solidFill>
            <a:srgbClr val="E7E9EF"/>
          </a:solidFill>
          <a:ln/>
        </p:spPr>
      </p:sp>
      <p:sp>
        <p:nvSpPr>
          <p:cNvPr id="12" name="bullet-hex"/>
          <p:cNvSpPr/>
          <p:nvPr/>
        </p:nvSpPr>
        <p:spPr>
          <a:xfrm>
            <a:off x="676656" y="2016414"/>
            <a:ext cx="384048" cy="332586"/>
          </a:xfrm>
          <a:prstGeom prst="hexagon">
            <a:avLst/>
          </a:prstGeom>
          <a:solidFill>
            <a:srgbClr val="24366B"/>
          </a:solidFill>
          <a:ln/>
        </p:spPr>
      </p:sp>
      <p:sp>
        <p:nvSpPr>
          <p:cNvPr id="13" name="bullet"/>
          <p:cNvSpPr txBox="1"/>
          <p:nvPr/>
        </p:nvSpPr>
        <p:spPr>
          <a:xfrm>
            <a:off x="1143000" y="1389888"/>
            <a:ext cx="10408615" cy="15856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Hygiene removes pathogens before they can spread: washing your hands after using the toilet, before cooking, after handling animals and after contact with someone who is ill; using disinfectants in the house; keeping raw meat away from cooked meat; coughing or sneezing into a tissue.</a:t>
            </a:r>
            <a:endParaRPr lang="en-US" sz="2200" dirty="0"/>
          </a:p>
        </p:txBody>
      </p:sp>
      <p:sp>
        <p:nvSpPr>
          <p:cNvPr id="14" name="bullet-card"/>
          <p:cNvSpPr/>
          <p:nvPr/>
        </p:nvSpPr>
        <p:spPr>
          <a:xfrm>
            <a:off x="548640" y="3121829"/>
            <a:ext cx="11094415" cy="903901"/>
          </a:xfrm>
          <a:prstGeom prst="roundRect">
            <a:avLst>
              <a:gd name="adj" fmla="val 8093"/>
            </a:avLst>
          </a:prstGeom>
          <a:solidFill>
            <a:srgbClr val="E7E9EF"/>
          </a:solidFill>
          <a:ln/>
        </p:spPr>
      </p:sp>
      <p:sp>
        <p:nvSpPr>
          <p:cNvPr id="15" name="bullet-hex"/>
          <p:cNvSpPr/>
          <p:nvPr/>
        </p:nvSpPr>
        <p:spPr>
          <a:xfrm>
            <a:off x="676656" y="3407487"/>
            <a:ext cx="384048" cy="332586"/>
          </a:xfrm>
          <a:prstGeom prst="hexagon">
            <a:avLst/>
          </a:prstGeom>
          <a:solidFill>
            <a:srgbClr val="B8862B"/>
          </a:solidFill>
          <a:ln/>
        </p:spPr>
      </p:sp>
      <p:sp>
        <p:nvSpPr>
          <p:cNvPr id="16" name="bullet"/>
          <p:cNvSpPr txBox="1"/>
          <p:nvPr/>
        </p:nvSpPr>
        <p:spPr>
          <a:xfrm>
            <a:off x="1143000" y="3121829"/>
            <a:ext cx="10408615"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Isolation keeps a person with a serious infectious disease, such as Ebola or cholera, away from other people, so that fewer people come into contact with the pathogen.</a:t>
            </a:r>
            <a:endParaRPr lang="en-US" sz="2200" dirty="0"/>
          </a:p>
        </p:txBody>
      </p:sp>
      <p:sp>
        <p:nvSpPr>
          <p:cNvPr id="17" name="bullet-card"/>
          <p:cNvSpPr/>
          <p:nvPr/>
        </p:nvSpPr>
        <p:spPr>
          <a:xfrm>
            <a:off x="548640" y="4172035"/>
            <a:ext cx="11094415" cy="903901"/>
          </a:xfrm>
          <a:prstGeom prst="roundRect">
            <a:avLst>
              <a:gd name="adj" fmla="val 8093"/>
            </a:avLst>
          </a:prstGeom>
          <a:solidFill>
            <a:srgbClr val="E7E9EF"/>
          </a:solidFill>
          <a:ln/>
        </p:spPr>
      </p:sp>
      <p:sp>
        <p:nvSpPr>
          <p:cNvPr id="18" name="bullet-hex"/>
          <p:cNvSpPr/>
          <p:nvPr/>
        </p:nvSpPr>
        <p:spPr>
          <a:xfrm>
            <a:off x="676656" y="4457693"/>
            <a:ext cx="384048" cy="332586"/>
          </a:xfrm>
          <a:prstGeom prst="hexagon">
            <a:avLst/>
          </a:prstGeom>
          <a:solidFill>
            <a:srgbClr val="24366B"/>
          </a:solidFill>
          <a:ln/>
        </p:spPr>
      </p:sp>
      <p:sp>
        <p:nvSpPr>
          <p:cNvPr id="19" name="bullet"/>
          <p:cNvSpPr txBox="1"/>
          <p:nvPr/>
        </p:nvSpPr>
        <p:spPr>
          <a:xfrm>
            <a:off x="1143000" y="4172035"/>
            <a:ext cx="10408615"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Controlling vectors removes the carrier. Mosquitoes carry malaria and dengue fever, houseflies carry more than 100 human diseases, and rats carry disease too.</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Vaccination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E3E5EC"/>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vaccination gives a person a small amount of a dead or inactive form of a specific pathogen.</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4EDDF"/>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Vaccines protect large numbers of people and animals: most young children in the UK are vaccinated against measles, and poultry are vaccinated against Salmonella.</a:t>
            </a:r>
            <a:endParaRPr lang="en-US" sz="2400" dirty="0"/>
          </a:p>
        </p:txBody>
      </p:sp>
      <p:sp>
        <p:nvSpPr>
          <p:cNvPr id="15" name="point-card"/>
          <p:cNvSpPr/>
          <p:nvPr/>
        </p:nvSpPr>
        <p:spPr>
          <a:xfrm>
            <a:off x="8127797" y="1389888"/>
            <a:ext cx="3515258" cy="4754880"/>
          </a:xfrm>
          <a:prstGeom prst="roundRect">
            <a:avLst>
              <a:gd name="adj" fmla="val 1561"/>
            </a:avLst>
          </a:prstGeom>
          <a:solidFill>
            <a:srgbClr val="E3E5EC"/>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Vaccination cannot protect plants, because plants do not have an immune system.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Worked example: Vaccination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E3E5EC"/>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Explain how good hygiene in a kitchen helps to prevent Salmonella food poisoning. (3 marks)</a:t>
            </a:r>
            <a:endParaRPr lang="en-US" sz="2000" dirty="0"/>
          </a:p>
        </p:txBody>
      </p:sp>
      <p:sp>
        <p:nvSpPr>
          <p:cNvPr id="9" name="step-box"/>
          <p:cNvSpPr/>
          <p:nvPr/>
        </p:nvSpPr>
        <p:spPr>
          <a:xfrm>
            <a:off x="548640" y="2192528"/>
            <a:ext cx="11094415" cy="601345"/>
          </a:xfrm>
          <a:prstGeom prst="roundRect">
            <a:avLst>
              <a:gd name="adj" fmla="val 12165"/>
            </a:avLst>
          </a:prstGeom>
          <a:solidFill>
            <a:srgbClr val="FFFFFF"/>
          </a:solidFill>
          <a:ln w="15875">
            <a:solidFill>
              <a:srgbClr val="8790AE"/>
            </a:solidFill>
            <a:prstDash val="solid"/>
          </a:ln>
        </p:spPr>
      </p:sp>
      <p:sp>
        <p:nvSpPr>
          <p:cNvPr id="10" name="step-hex"/>
          <p:cNvSpPr/>
          <p:nvPr/>
        </p:nvSpPr>
        <p:spPr>
          <a:xfrm>
            <a:off x="685800" y="2295233"/>
            <a:ext cx="457200" cy="395935"/>
          </a:xfrm>
          <a:prstGeom prst="hexagon">
            <a:avLst/>
          </a:prstGeom>
          <a:solidFill>
            <a:srgbClr val="24366B"/>
          </a:solidFill>
          <a:ln/>
        </p:spPr>
      </p:sp>
      <p:sp>
        <p:nvSpPr>
          <p:cNvPr id="11" name="step-hex-label"/>
          <p:cNvSpPr txBox="1"/>
          <p:nvPr/>
        </p:nvSpPr>
        <p:spPr>
          <a:xfrm>
            <a:off x="685800" y="2295233"/>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60134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Name the pathogen and its route: Salmonella bacteria are spread in food, especially undercooked meat.</a:t>
            </a:r>
            <a:endParaRPr lang="en-US" sz="1800" dirty="0"/>
          </a:p>
        </p:txBody>
      </p:sp>
      <p:sp>
        <p:nvSpPr>
          <p:cNvPr id="13" name="step-box"/>
          <p:cNvSpPr/>
          <p:nvPr/>
        </p:nvSpPr>
        <p:spPr>
          <a:xfrm>
            <a:off x="548640" y="2867025"/>
            <a:ext cx="11094415" cy="865505"/>
          </a:xfrm>
          <a:prstGeom prst="roundRect">
            <a:avLst>
              <a:gd name="adj" fmla="val 8452"/>
            </a:avLst>
          </a:prstGeom>
          <a:solidFill>
            <a:srgbClr val="FFFFFF"/>
          </a:solidFill>
          <a:ln w="15875">
            <a:solidFill>
              <a:srgbClr val="8790AE"/>
            </a:solidFill>
            <a:prstDash val="solid"/>
          </a:ln>
        </p:spPr>
      </p:sp>
      <p:sp>
        <p:nvSpPr>
          <p:cNvPr id="14" name="step-hex"/>
          <p:cNvSpPr/>
          <p:nvPr/>
        </p:nvSpPr>
        <p:spPr>
          <a:xfrm>
            <a:off x="685800" y="3101810"/>
            <a:ext cx="457200" cy="395935"/>
          </a:xfrm>
          <a:prstGeom prst="hexagon">
            <a:avLst/>
          </a:prstGeom>
          <a:solidFill>
            <a:srgbClr val="24366B"/>
          </a:solidFill>
          <a:ln/>
        </p:spPr>
      </p:sp>
      <p:sp>
        <p:nvSpPr>
          <p:cNvPr id="15" name="step-hex-label"/>
          <p:cNvSpPr txBox="1"/>
          <p:nvPr/>
        </p:nvSpPr>
        <p:spPr>
          <a:xfrm>
            <a:off x="685800" y="310181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867025"/>
            <a:ext cx="10180015" cy="86550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Give a hygiene action and link it to the route: keeping raw meat away from cooked food stops the bacteria moving onto food that will not be cooked again.</a:t>
            </a:r>
            <a:endParaRPr lang="en-US" sz="1800" dirty="0"/>
          </a:p>
        </p:txBody>
      </p:sp>
      <p:sp>
        <p:nvSpPr>
          <p:cNvPr id="17" name="step-box"/>
          <p:cNvSpPr/>
          <p:nvPr/>
        </p:nvSpPr>
        <p:spPr>
          <a:xfrm>
            <a:off x="548640" y="3805682"/>
            <a:ext cx="11094415" cy="865505"/>
          </a:xfrm>
          <a:prstGeom prst="roundRect">
            <a:avLst>
              <a:gd name="adj" fmla="val 8452"/>
            </a:avLst>
          </a:prstGeom>
          <a:solidFill>
            <a:srgbClr val="FFFFFF"/>
          </a:solidFill>
          <a:ln w="15875">
            <a:solidFill>
              <a:srgbClr val="8790AE"/>
            </a:solidFill>
            <a:prstDash val="solid"/>
          </a:ln>
        </p:spPr>
      </p:sp>
      <p:sp>
        <p:nvSpPr>
          <p:cNvPr id="18" name="step-hex"/>
          <p:cNvSpPr/>
          <p:nvPr/>
        </p:nvSpPr>
        <p:spPr>
          <a:xfrm>
            <a:off x="685800" y="4040467"/>
            <a:ext cx="457200" cy="395935"/>
          </a:xfrm>
          <a:prstGeom prst="hexagon">
            <a:avLst/>
          </a:prstGeom>
          <a:solidFill>
            <a:srgbClr val="24366B"/>
          </a:solidFill>
          <a:ln/>
        </p:spPr>
      </p:sp>
      <p:sp>
        <p:nvSpPr>
          <p:cNvPr id="19" name="step-hex-label"/>
          <p:cNvSpPr txBox="1"/>
          <p:nvPr/>
        </p:nvSpPr>
        <p:spPr>
          <a:xfrm>
            <a:off x="685800" y="4040467"/>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805682"/>
            <a:ext cx="10180015" cy="86550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Give a second action with a reason: washing hands after handling raw meat stops bacteria being carried to other food or surfaces.</a:t>
            </a:r>
            <a:endParaRPr lang="en-US" sz="1800" dirty="0"/>
          </a:p>
        </p:txBody>
      </p:sp>
      <p:sp>
        <p:nvSpPr>
          <p:cNvPr id="21" name="worked-answer"/>
          <p:cNvSpPr/>
          <p:nvPr/>
        </p:nvSpPr>
        <p:spPr>
          <a:xfrm>
            <a:off x="548640" y="4854067"/>
            <a:ext cx="11094415" cy="1109980"/>
          </a:xfrm>
          <a:prstGeom prst="roundRect">
            <a:avLst>
              <a:gd name="adj" fmla="val 12357"/>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Salmonella bacteria are spread in contaminated food, so keeping raw meat away from cooked food stops bacteria moving onto food that will be eaten, and washing hands after handling raw meat stops them being carried to other food.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Which method is this?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hospital places a patient with Ebola in a separate room and limits the number of staff who enter it. Which method of preventing disease is this?</a:t>
            </a:r>
            <a:endParaRPr lang="en-US" sz="2600" dirty="0"/>
          </a:p>
          <a:p>
            <a:pPr algn="ctr" indent="0" marL="0">
              <a:buNone/>
            </a:pPr>
            <a:r>
              <a:rPr lang="en-US" sz="2400" b="1" dirty="0">
                <a:solidFill>
                  <a:srgbClr val="B8862B"/>
                </a:solidFill>
                <a:latin typeface="Calibri" pitchFamily="34" charset="0"/>
                <a:ea typeface="Calibri" pitchFamily="34" charset="-122"/>
                <a:cs typeface="Calibri" pitchFamily="34" charset="-120"/>
              </a:rPr>
              <a:t>A  </a:t>
            </a:r>
            <a:pPr algn="ctr" indent="0" marL="0">
              <a:buNone/>
            </a:pPr>
            <a:r>
              <a:rPr lang="en-US" sz="2400" dirty="0">
                <a:solidFill>
                  <a:srgbClr val="1E2229"/>
                </a:solidFill>
                <a:latin typeface="Calibri" pitchFamily="34" charset="0"/>
                <a:ea typeface="Calibri" pitchFamily="34" charset="-122"/>
                <a:cs typeface="Calibri" pitchFamily="34" charset="-120"/>
              </a:rPr>
              <a:t>Hygiene      </a:t>
            </a:r>
            <a:pPr algn="ctr" indent="0" marL="0">
              <a:buNone/>
            </a:pPr>
            <a:r>
              <a:rPr lang="en-US" sz="2400" b="1" dirty="0">
                <a:solidFill>
                  <a:srgbClr val="B8862B"/>
                </a:solidFill>
                <a:latin typeface="Calibri" pitchFamily="34" charset="0"/>
                <a:ea typeface="Calibri" pitchFamily="34" charset="-122"/>
                <a:cs typeface="Calibri" pitchFamily="34" charset="-120"/>
              </a:rPr>
              <a:t>B  </a:t>
            </a:r>
            <a:pPr algn="ctr" indent="0" marL="0">
              <a:buNone/>
            </a:pPr>
            <a:r>
              <a:rPr lang="en-US" sz="2400" dirty="0">
                <a:solidFill>
                  <a:srgbClr val="1E2229"/>
                </a:solidFill>
                <a:latin typeface="Calibri" pitchFamily="34" charset="0"/>
                <a:ea typeface="Calibri" pitchFamily="34" charset="-122"/>
                <a:cs typeface="Calibri" pitchFamily="34" charset="-120"/>
              </a:rPr>
              <a:t>Controlling vectors      </a:t>
            </a:r>
            <a:pPr algn="ctr" indent="0" marL="0">
              <a:buNone/>
            </a:pPr>
            <a:r>
              <a:rPr lang="en-US" sz="2400" b="1" dirty="0">
                <a:solidFill>
                  <a:srgbClr val="B8862B"/>
                </a:solidFill>
                <a:latin typeface="Calibri" pitchFamily="34" charset="0"/>
                <a:ea typeface="Calibri" pitchFamily="34" charset="-122"/>
                <a:cs typeface="Calibri" pitchFamily="34" charset="-120"/>
              </a:rPr>
              <a:t>C  </a:t>
            </a:r>
            <a:pPr algn="ctr" indent="0" marL="0">
              <a:buNone/>
            </a:pPr>
            <a:r>
              <a:rPr lang="en-US" sz="2400" dirty="0">
                <a:solidFill>
                  <a:srgbClr val="1E2229"/>
                </a:solidFill>
                <a:latin typeface="Calibri" pitchFamily="34" charset="0"/>
                <a:ea typeface="Calibri" pitchFamily="34" charset="-122"/>
                <a:cs typeface="Calibri" pitchFamily="34" charset="-120"/>
              </a:rPr>
              <a:t>Vaccination      </a:t>
            </a:r>
            <a:pPr algn="ctr" indent="0" marL="0">
              <a:buNone/>
            </a:pPr>
            <a:r>
              <a:rPr lang="en-US" sz="2400" b="1" dirty="0">
                <a:solidFill>
                  <a:srgbClr val="B8862B"/>
                </a:solidFill>
                <a:latin typeface="Calibri" pitchFamily="34" charset="0"/>
                <a:ea typeface="Calibri" pitchFamily="34" charset="-122"/>
                <a:cs typeface="Calibri" pitchFamily="34" charset="-120"/>
              </a:rPr>
              <a:t>D  </a:t>
            </a:r>
            <a:pPr algn="ctr" indent="0" marL="0">
              <a:buNone/>
            </a:pPr>
            <a:r>
              <a:rPr lang="en-US" sz="2400" dirty="0">
                <a:solidFill>
                  <a:srgbClr val="1E2229"/>
                </a:solidFill>
                <a:latin typeface="Calibri" pitchFamily="34" charset="0"/>
                <a:ea typeface="Calibri" pitchFamily="34" charset="-122"/>
                <a:cs typeface="Calibri" pitchFamily="34" charset="-120"/>
              </a:rPr>
              <a:t>Isolation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Same task, three ways in: Which method is this?</a:t>
            </a:r>
            <a:endParaRPr lang="en-US" sz="30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Which method is this?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3E5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is being done to the pathogen, the carrier or the people?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Nothing is being killed or cleaned, and nothing is being injected.</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infected person is being kept apart from others.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Keeping an infected person apart so fewer people meet the pathogen is isolation.</a:t>
            </a:r>
            <a:endParaRPr lang="en-US" sz="1800" dirty="0"/>
          </a:p>
        </p:txBody>
      </p:sp>
      <p:sp>
        <p:nvSpPr>
          <p:cNvPr id="17" name="col-Core"/>
          <p:cNvSpPr/>
          <p:nvPr/>
        </p:nvSpPr>
        <p:spPr>
          <a:xfrm>
            <a:off x="5490762" y="2395728"/>
            <a:ext cx="2938987" cy="3749040"/>
          </a:xfrm>
          <a:prstGeom prst="roundRect">
            <a:avLst>
              <a:gd name="adj" fmla="val 1867"/>
            </a:avLst>
          </a:prstGeom>
          <a:solidFill>
            <a:srgbClr val="C8CDDA"/>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Who or what is being kept away from whom?</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24366B"/>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Isolation reduces spread but does not cure the patient. Explain which other method would protect the hospital staff in the long term, and why it would not work for a plant disease.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Four ways to stop the spread</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method of preventing disease to how it works.</a:t>
            </a:r>
            <a:endParaRPr lang="en-US" sz="2400" dirty="0"/>
          </a:p>
        </p:txBody>
      </p:sp>
      <p:sp>
        <p:nvSpPr>
          <p:cNvPr id="11" name="match-card"/>
          <p:cNvSpPr/>
          <p:nvPr/>
        </p:nvSpPr>
        <p:spPr>
          <a:xfrm>
            <a:off x="777240" y="2468331"/>
            <a:ext cx="3081437" cy="804809"/>
          </a:xfrm>
          <a:prstGeom prst="roundRect">
            <a:avLst>
              <a:gd name="adj" fmla="val 9089"/>
            </a:avLst>
          </a:prstGeom>
          <a:solidFill>
            <a:srgbClr val="E7E9EF"/>
          </a:solidFill>
          <a:ln/>
        </p:spPr>
      </p:sp>
      <p:sp>
        <p:nvSpPr>
          <p:cNvPr id="12" name="match-hex"/>
          <p:cNvSpPr/>
          <p:nvPr/>
        </p:nvSpPr>
        <p:spPr>
          <a:xfrm>
            <a:off x="850392" y="2704443"/>
            <a:ext cx="384048" cy="332586"/>
          </a:xfrm>
          <a:prstGeom prst="hexagon">
            <a:avLst/>
          </a:prstGeom>
          <a:solidFill>
            <a:srgbClr val="24366B"/>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Hygiene</a:t>
            </a:r>
            <a:endParaRPr lang="en-US" sz="2000" dirty="0"/>
          </a:p>
        </p:txBody>
      </p:sp>
      <p:sp>
        <p:nvSpPr>
          <p:cNvPr id="15" name="match-card"/>
          <p:cNvSpPr/>
          <p:nvPr/>
        </p:nvSpPr>
        <p:spPr>
          <a:xfrm>
            <a:off x="4224437" y="2468331"/>
            <a:ext cx="7190019" cy="804809"/>
          </a:xfrm>
          <a:prstGeom prst="roundRect">
            <a:avLst>
              <a:gd name="adj" fmla="val 9089"/>
            </a:avLst>
          </a:prstGeom>
          <a:solidFill>
            <a:srgbClr val="F4EDDF"/>
          </a:solidFill>
          <a:ln/>
        </p:spPr>
      </p:sp>
      <p:sp>
        <p:nvSpPr>
          <p:cNvPr id="16" name="match-hex"/>
          <p:cNvSpPr/>
          <p:nvPr/>
        </p:nvSpPr>
        <p:spPr>
          <a:xfrm>
            <a:off x="4297589" y="2704443"/>
            <a:ext cx="384048" cy="332586"/>
          </a:xfrm>
          <a:prstGeom prst="hexagon">
            <a:avLst/>
          </a:prstGeom>
          <a:solidFill>
            <a:srgbClr val="B8862B"/>
          </a:solidFill>
          <a:ln/>
        </p:spPr>
      </p:sp>
      <p:sp>
        <p:nvSpPr>
          <p:cNvPr id="17" name="match-hex-label"/>
          <p:cNvSpPr txBox="1"/>
          <p:nvPr/>
        </p:nvSpPr>
        <p:spPr>
          <a:xfrm>
            <a:off x="4297589"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Washing hands and keeping raw meat separate removes pathogens before they spread</a:t>
            </a:r>
            <a:endParaRPr lang="en-US" sz="2000" dirty="0"/>
          </a:p>
        </p:txBody>
      </p:sp>
      <p:sp>
        <p:nvSpPr>
          <p:cNvPr id="19" name="match-card"/>
          <p:cNvSpPr/>
          <p:nvPr/>
        </p:nvSpPr>
        <p:spPr>
          <a:xfrm>
            <a:off x="777240" y="3364581"/>
            <a:ext cx="3081437" cy="804809"/>
          </a:xfrm>
          <a:prstGeom prst="roundRect">
            <a:avLst>
              <a:gd name="adj" fmla="val 9089"/>
            </a:avLst>
          </a:prstGeom>
          <a:solidFill>
            <a:srgbClr val="E7E9EF"/>
          </a:solidFill>
          <a:ln/>
        </p:spPr>
      </p:sp>
      <p:sp>
        <p:nvSpPr>
          <p:cNvPr id="20" name="match-hex"/>
          <p:cNvSpPr/>
          <p:nvPr/>
        </p:nvSpPr>
        <p:spPr>
          <a:xfrm>
            <a:off x="850392" y="3600692"/>
            <a:ext cx="384048" cy="332586"/>
          </a:xfrm>
          <a:prstGeom prst="hexagon">
            <a:avLst/>
          </a:prstGeom>
          <a:solidFill>
            <a:srgbClr val="24366B"/>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Isolation</a:t>
            </a:r>
            <a:endParaRPr lang="en-US" sz="2000" dirty="0"/>
          </a:p>
        </p:txBody>
      </p:sp>
      <p:sp>
        <p:nvSpPr>
          <p:cNvPr id="23" name="match-card"/>
          <p:cNvSpPr/>
          <p:nvPr/>
        </p:nvSpPr>
        <p:spPr>
          <a:xfrm>
            <a:off x="4224437" y="3364581"/>
            <a:ext cx="7190019" cy="804809"/>
          </a:xfrm>
          <a:prstGeom prst="roundRect">
            <a:avLst>
              <a:gd name="adj" fmla="val 9089"/>
            </a:avLst>
          </a:prstGeom>
          <a:solidFill>
            <a:srgbClr val="F4EDDF"/>
          </a:solidFill>
          <a:ln/>
        </p:spPr>
      </p:sp>
      <p:sp>
        <p:nvSpPr>
          <p:cNvPr id="24" name="match-hex"/>
          <p:cNvSpPr/>
          <p:nvPr/>
        </p:nvSpPr>
        <p:spPr>
          <a:xfrm>
            <a:off x="4297589" y="3600692"/>
            <a:ext cx="384048" cy="332586"/>
          </a:xfrm>
          <a:prstGeom prst="hexagon">
            <a:avLst/>
          </a:prstGeom>
          <a:solidFill>
            <a:srgbClr val="B8862B"/>
          </a:solidFill>
          <a:ln/>
        </p:spPr>
      </p:sp>
      <p:sp>
        <p:nvSpPr>
          <p:cNvPr id="25" name="match-hex-label"/>
          <p:cNvSpPr txBox="1"/>
          <p:nvPr/>
        </p:nvSpPr>
        <p:spPr>
          <a:xfrm>
            <a:off x="4297589"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36458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Keeping an infected person apart so fewer people come into contact with the pathogen</a:t>
            </a:r>
            <a:endParaRPr lang="en-US" sz="2000" dirty="0"/>
          </a:p>
        </p:txBody>
      </p:sp>
      <p:sp>
        <p:nvSpPr>
          <p:cNvPr id="27" name="match-card"/>
          <p:cNvSpPr/>
          <p:nvPr/>
        </p:nvSpPr>
        <p:spPr>
          <a:xfrm>
            <a:off x="777240" y="4260830"/>
            <a:ext cx="3081437" cy="804809"/>
          </a:xfrm>
          <a:prstGeom prst="roundRect">
            <a:avLst>
              <a:gd name="adj" fmla="val 9089"/>
            </a:avLst>
          </a:prstGeom>
          <a:solidFill>
            <a:srgbClr val="E7E9EF"/>
          </a:solidFill>
          <a:ln/>
        </p:spPr>
      </p:sp>
      <p:sp>
        <p:nvSpPr>
          <p:cNvPr id="28" name="match-hex"/>
          <p:cNvSpPr/>
          <p:nvPr/>
        </p:nvSpPr>
        <p:spPr>
          <a:xfrm>
            <a:off x="850392" y="4496941"/>
            <a:ext cx="384048" cy="332586"/>
          </a:xfrm>
          <a:prstGeom prst="hexagon">
            <a:avLst/>
          </a:prstGeom>
          <a:solidFill>
            <a:srgbClr val="24366B"/>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Controlling vectors</a:t>
            </a:r>
            <a:endParaRPr lang="en-US" sz="2000" dirty="0"/>
          </a:p>
        </p:txBody>
      </p:sp>
      <p:sp>
        <p:nvSpPr>
          <p:cNvPr id="31" name="match-card"/>
          <p:cNvSpPr/>
          <p:nvPr/>
        </p:nvSpPr>
        <p:spPr>
          <a:xfrm>
            <a:off x="4224437" y="4260830"/>
            <a:ext cx="7190019" cy="804809"/>
          </a:xfrm>
          <a:prstGeom prst="roundRect">
            <a:avLst>
              <a:gd name="adj" fmla="val 9089"/>
            </a:avLst>
          </a:prstGeom>
          <a:solidFill>
            <a:srgbClr val="F4EDDF"/>
          </a:solidFill>
          <a:ln/>
        </p:spPr>
      </p:sp>
      <p:sp>
        <p:nvSpPr>
          <p:cNvPr id="32" name="match-hex"/>
          <p:cNvSpPr/>
          <p:nvPr/>
        </p:nvSpPr>
        <p:spPr>
          <a:xfrm>
            <a:off x="4297589" y="4496941"/>
            <a:ext cx="384048" cy="332586"/>
          </a:xfrm>
          <a:prstGeom prst="hexagon">
            <a:avLst/>
          </a:prstGeom>
          <a:solidFill>
            <a:srgbClr val="B8862B"/>
          </a:solidFill>
          <a:ln/>
        </p:spPr>
      </p:sp>
      <p:sp>
        <p:nvSpPr>
          <p:cNvPr id="33" name="match-hex-label"/>
          <p:cNvSpPr txBox="1"/>
          <p:nvPr/>
        </p:nvSpPr>
        <p:spPr>
          <a:xfrm>
            <a:off x="4297589"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260830"/>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Giving small amounts of dead or inactive pathogen so the body can fight the real one quickly</a:t>
            </a:r>
            <a:endParaRPr lang="en-US" sz="2000" dirty="0"/>
          </a:p>
        </p:txBody>
      </p:sp>
      <p:sp>
        <p:nvSpPr>
          <p:cNvPr id="35" name="match-card"/>
          <p:cNvSpPr/>
          <p:nvPr/>
        </p:nvSpPr>
        <p:spPr>
          <a:xfrm>
            <a:off x="777240" y="5157079"/>
            <a:ext cx="3081437" cy="804809"/>
          </a:xfrm>
          <a:prstGeom prst="roundRect">
            <a:avLst>
              <a:gd name="adj" fmla="val 9089"/>
            </a:avLst>
          </a:prstGeom>
          <a:solidFill>
            <a:srgbClr val="E7E9EF"/>
          </a:solidFill>
          <a:ln/>
        </p:spPr>
      </p:sp>
      <p:sp>
        <p:nvSpPr>
          <p:cNvPr id="36" name="match-hex"/>
          <p:cNvSpPr/>
          <p:nvPr/>
        </p:nvSpPr>
        <p:spPr>
          <a:xfrm>
            <a:off x="850392" y="5393191"/>
            <a:ext cx="384048" cy="332586"/>
          </a:xfrm>
          <a:prstGeom prst="hexagon">
            <a:avLst/>
          </a:prstGeom>
          <a:solidFill>
            <a:srgbClr val="24366B"/>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Vaccination</a:t>
            </a:r>
            <a:endParaRPr lang="en-US" sz="2000" dirty="0"/>
          </a:p>
        </p:txBody>
      </p:sp>
      <p:sp>
        <p:nvSpPr>
          <p:cNvPr id="39" name="match-card"/>
          <p:cNvSpPr/>
          <p:nvPr/>
        </p:nvSpPr>
        <p:spPr>
          <a:xfrm>
            <a:off x="4224437" y="5157079"/>
            <a:ext cx="7190019" cy="804809"/>
          </a:xfrm>
          <a:prstGeom prst="roundRect">
            <a:avLst>
              <a:gd name="adj" fmla="val 9089"/>
            </a:avLst>
          </a:prstGeom>
          <a:solidFill>
            <a:srgbClr val="F4EDDF"/>
          </a:solidFill>
          <a:ln/>
        </p:spPr>
      </p:sp>
      <p:sp>
        <p:nvSpPr>
          <p:cNvPr id="40" name="match-hex"/>
          <p:cNvSpPr/>
          <p:nvPr/>
        </p:nvSpPr>
        <p:spPr>
          <a:xfrm>
            <a:off x="4297589" y="5393191"/>
            <a:ext cx="384048" cy="332586"/>
          </a:xfrm>
          <a:prstGeom prst="hexagon">
            <a:avLst/>
          </a:prstGeom>
          <a:solidFill>
            <a:srgbClr val="B8862B"/>
          </a:solidFill>
          <a:ln/>
        </p:spPr>
      </p:sp>
      <p:sp>
        <p:nvSpPr>
          <p:cNvPr id="41" name="match-hex-label"/>
          <p:cNvSpPr txBox="1"/>
          <p:nvPr/>
        </p:nvSpPr>
        <p:spPr>
          <a:xfrm>
            <a:off x="4297589"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157079"/>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Destroying the insects or animals that carry the pathogen from one organism to another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Same task, three ways in: Four ways to stop the spread</a:t>
            </a:r>
            <a:endParaRPr lang="en-US" sz="26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method of preventing disease to how it works.</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3E5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Hygiene is about being clean: look for washing.</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Isolation is about keeping apart: look for 'apart' or 'away from'.</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Vectors are carriers: look for insects or animals.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Vaccination is about the body: look for 'dead or inactive pathogen'.</a:t>
            </a:r>
            <a:endParaRPr lang="en-US" sz="1800" dirty="0"/>
          </a:p>
        </p:txBody>
      </p:sp>
      <p:sp>
        <p:nvSpPr>
          <p:cNvPr id="17" name="col-Core"/>
          <p:cNvSpPr/>
          <p:nvPr/>
        </p:nvSpPr>
        <p:spPr>
          <a:xfrm>
            <a:off x="5490762" y="2578608"/>
            <a:ext cx="2938987" cy="3566160"/>
          </a:xfrm>
          <a:prstGeom prst="roundRect">
            <a:avLst>
              <a:gd name="adj" fmla="val 1867"/>
            </a:avLst>
          </a:prstGeom>
          <a:solidFill>
            <a:srgbClr val="C8CDDA"/>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Clean, apart, carrier, body.</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24366B"/>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For a plant disease spread by aphids, say which of the four methods can be used and which cannot, with reasons.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58419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did Ignaz Semmelweis show?</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Washing hands between patients reduced the spread of disease in hospitals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Viruses are smaller than bacteria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Vaccination protects children against measles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Mosquitoes carry the pathogen that causes malaria</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EBF0"/>
          </a:solidFill>
          <a:ln w="12700">
            <a:solidFill>
              <a:srgbClr val="8B94B1"/>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Which method is this?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hospital places a patient with Ebola in a separate room and limits the number of staff who enter it. Which method of preventing disease is this?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Isolation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Isolation keeps a person with a serious infectious disease away from others, so fewer people come into contact with the pathogen and it spreads to fewer people.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Four ways to stop the spread</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Hygiene  →  A  Washing hands and keeping raw meat separate removes pathogens before they spread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Isolation  →  B  Keeping an infected person apart so fewer people come into contact with the pathogen</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Controlling vectors  →  D  Destroying the insects or animals that carry the pathogen from one organism to another</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Vaccination  →  C  Giving small amounts of dead or inactive pathogen so the body can fight the real one quickly</a:t>
            </a:r>
            <a:endParaRPr lang="en-US" sz="20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Hygiene removes pathogens; isolation removes contact between people; controlling vectors removes the carrier; vaccination prepares the body to fight the pathogen.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did Ignaz Semmelweis show?</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Washing hands between patients reduced the spread of disease in hospitals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Semmelweis made doctors wash their hands, and deaths after childbirth fell sharply. Hand washing stops pathogens being carried from patient to patient.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E3E5EC"/>
      </a:lt2>
      <a:accent1>
        <a:srgbClr val="24366B"/>
      </a:accent1>
      <a:accent2>
        <a:srgbClr val="B8862B"/>
      </a:accent2>
      <a:accent3>
        <a:srgbClr val="7C86A6"/>
      </a:accent3>
      <a:accent4>
        <a:srgbClr val="815E1E"/>
      </a:accent4>
      <a:accent5>
        <a:srgbClr val="4A505C"/>
      </a:accent5>
      <a:accent6>
        <a:srgbClr val="D9BF8F"/>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Communicable Diseases · Chapter 4: Stopping the spread</dc:title>
  <dc:subject>Biology (Triple Science) · Year 10</dc:subject>
  <dc:creator>Dr Vitor Merissi de Carvalho</dc:creator>
  <cp:lastModifiedBy>Dr Vitor Merissi de Carvalho</cp:lastModifiedBy>
  <cp:revision>1</cp:revision>
  <dcterms:created xsi:type="dcterms:W3CDTF">2026-10-19T06:08:14Z</dcterms:created>
  <dcterms:modified xsi:type="dcterms:W3CDTF">2026-10-19T06:08:14Z</dcterms:modified>
</cp:coreProperties>
</file>