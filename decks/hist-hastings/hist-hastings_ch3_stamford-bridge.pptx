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f16640-9072-e4e2-95fe-fda5f70c0178}">
          <p14:sldIdLst>
            <p14:sldId id="256"/>
          </p14:sldIdLst>
        </p14:section>
        <p14:section name="Gate" id="{a44ff3f8-99ab-8610-bebd-3e00252677e0}">
          <p14:sldIdLst>
            <p14:sldId id="257"/>
            <p14:sldId id="258"/>
          </p14:sldIdLst>
        </p14:section>
        <p14:section name="Pre-teach" id="{1f6b4117-6130-18d8-f9c2-de90c09f1ea9}">
          <p14:sldIdLst>
            <p14:sldId id="259"/>
            <p14:sldId id="260"/>
          </p14:sldIdLst>
        </p14:section>
        <p14:section name="Read-along" id="{6ac87ad5-63e4-1797-bf32-c85ecffef7bc}">
          <p14:sldIdLst>
            <p14:sldId id="261"/>
            <p14:sldId id="262"/>
          </p14:sldIdLst>
        </p14:section>
        <p14:section name="Teach" id="{3c1e1142-dcde-c0a7-380a-9cb21b321cef}">
          <p14:sldIdLst>
            <p14:sldId id="263"/>
            <p14:sldId id="264"/>
            <p14:sldId id="265"/>
            <p14:sldId id="266"/>
          </p14:sldIdLst>
        </p14:section>
        <p14:section name="Routes" id="{f3556e6c-74ec-d725-26eb-f20a947f231f}">
          <p14:sldIdLst>
            <p14:sldId id="267"/>
            <p14:sldId id="268"/>
            <p14:sldId id="269"/>
            <p14:sldId id="270"/>
          </p14:sldIdLst>
        </p14:section>
        <p14:section name="Close" id="{958bce20-ca77-4652-2fd0-e5804f271712}">
          <p14:sldIdLst>
            <p14:sldId id="271"/>
          </p14:sldIdLst>
        </p14:section>
        <p14:section name="Answers" id="{52a4381c-931d-704b-0a83-f628f4d24081}">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Stamford Bridge. This chapter takes you north with Harold on a five-day march, through a battle he won brilliantly, and into the paragraph your teacher will ask you to write about it.
This deck covers the department's lessons: 2 (The Battle of Stamford Bridge: Was Harold unlucky in the summer of 1066, or did he make bad decisions?); 3 (Progress check and preparations for Hastings: How did Stamford Bridge weaken Harold, how did William prepare, and who had the stronger army?).
Read the big question aloud: "William won the Battle of Hastings because he was lucky. How far do you agree?"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happened on 18 September 1066?  →  C   Hardrada's Vikings invaded the north of England
2. Hardrada landed on 18 September and the Battle of Stamford Bridge was fought on 25 September. How many days apart were these two events?  →  7 days
3. Harald Hardrada was killed by an ___ at the Battle of Stamford Bridge.  →  arrow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Hardrada's Vikings invaded the north of England. Hardrada landed in the north on 18 September, ten days after Harold sent his army home, and soon took York.
2. 7 days. 25 − 18 = 7. Harold spent five of those seven days marching north.
3. arrow. Hardrada was killed by an arrow. Without their king, the Viking army was defeated.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Viking: a warrior from Norway, Denmark or Sweden who raided and settled in England. Example: "Hardrada led a Viking army to York."
• surprise: to attack an enemy who is not expecting you. Example: "Harold wanted to take the Vikings by surprise."
• armour: metal or leather worn to protect the body in battle. Example: "Many Vikings had left their armour at the ships."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outnumbered: having fewer soldiers than the enemy. Example: "The Vikings were outnumbered by 12,000 to 9,000."
• evidence: facts you use to support a point. Example: "Give evidence from your own knowledge to support your reason."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On 18 September 1066, Hardrada's Vikings landed in the north of England.
2. Harold's army had just gone home.
3. Within days the Vikings beat the northern earls and took the town of York.
4. Harold did not panic.
5. He marched north for five days, gathering soldiers as he went.
6. On 25 September he reached Stamford Bridge.
7. The Vikings were not expecting him.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Many had left their armour behind at the ships.
9. One brave Viking held the bridge alone, until an English soldier killed him.
10. Then the English crossed and fought the Vikings head on.
11. The Vikings were outnumbered, 12,000 to 9,000.
12. Hardrada was killed by an arrow, and his army was defeated.
13. Harold had won his first battle as king.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Disaster in the north. Say it in your own words, then check understanding with a quick question: ask a pupil from the pre-teach group first, since they met these words and ideas before the lesson. Pupils try to recall before you re-explain.
On 18 September 1066, within days of Harold sending his army home, the Viking King Harald Hardrada invaded the north of England. Harold's soldiers were scattered across the country at their harvests. There was no army ready to fight. The northern earls gathered what men they could, but within days of landing Hardrada had defeated them and taken over the town of York.
Think about Harold's position. The Vikings held the north. William, with the best army in Europe, was still waiting across the Channel for the wind to change. If Harold marched north, he left the south coast open. If he stayed south, he lost the north. He chose to march, and to march fast.
For five days King Harold travelled north, building his army as he went. Men who had gone home for the harvest were called back to join him on the road. Speed was everything: Harold wanted to reach the Vikings before they knew he was coming.
Tip: 18 September, invasion. 25 September, battle. Seven days apart, five of them marching.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battle at the bridge. Say it in your own words, then check understanding with a quick question: ask a pupil from the pre-teach group first, since they met these words and ideas before the lesson. Pupils try to recall before you re-explain.
On 25 September 1066 the English army took the Vikings completely by surprise at Stamford Bridge, near York. The Vikings were not expecting to be attacked. Many of them had left their armour at their ships, and Hardrada had left some of his troops back there too, nearly 25 kilometres away. On the field, the English outnumbered the Vikings by about 12,000 men to 9,000.
The two armies were separated by a bridge, and a single Viking warrior blocked it, holding off the English for a time. When an English soldier killed him, the English army crossed and took the Vikings head on. The English had better armour and weapons, and their numbers broke the Viking shield wall.
Then Hardrada himself was killed by an arrow. Without their king, the Vikings were defeated. In one week Harold had marched the length of England and destroyed one of the two threats to his crown. It was, by any measure, a brilliant victory.
Worked example — model it step by step, thinking aloud: At Stamford Bridge the English had about 12,000 men and the Vikings about 9,000. How many more men did Harold have? (1) Subtract the smaller army from the larger: 12,000 − 9,000. (2) 12,000 − 9,000 = 3,000. Answer: 3,000 more men.
Tip: Bridge, arrow, armour, numbers, speed. Five words that hold the whole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Harold win?. Say it in your own words, then check understanding with a quick question: ask a pupil from the pre-teach group first, since they met these words and ideas before the lesson. Pupils try to recall before you re-explain.
Your lesson gave you six reasons for Harold's victory and asked you to rank them. The surprise attack: Harold marched north in five days so that the Vikings would not be ready, and they were not, with no armour on when the English arrived. Numbers: 12,000 against 9,000. Equipment: the English had better armour and weapons. Two deaths: the warrior on the bridge, which let the English cross, and Hardrada himself, which broke the Viking army's will to fight.
Your teacher's progress check groups these as surprise attack, Harold's leadership, Vikings unprepared, death of leaders, and the English army's strength. Notice that the reasons link together. Harold's speed caused the surprise; the surprise caused the missing armour; the bigger army broke the shield wall; the arrow that killed Hardrada ended it. When you rank reasons, show how one made another possible.
There were costs. Harold was at a disadvantage before the battle: his army had been sent home and had to be rebuilt on the march, and his men were tired after five days on the road. And every soldier who died at Stamford Bridge was a soldier Harold would not have against William. Keep that thought for the next chapter.
Tip: A reason is stronger when you can show what it caused. Surprise led to no armour; no armour led to a broken shield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paragraph. Say it in your own words, then check understanding with a quick question: ask a pupil from the pre-teach group first, since they met these words and ideas before the lesson. Pupils try to recall before you re-explain.
Your progress check asks: why did Harold Godwinson win the Battle of Stamford Bridge? You answer in one PEE paragraph, against three success criteria. SC1: give a reason why Harold won. SC2: give evidence or examples from your own knowledge to support that reason. SC3: explain why this led to victory.
Point: One reason Harold Godwinson won the Battle of Stamford Bridge was ___. Evidence: For example, ___, or This can be seen when ___. Explain: This shows that Harold won because ___. Three sentences, three criteria. Your teacher modelled an answer about the size of the army; you write your own about a different reason, with your own evidence.
A tip for the Explain sentence: do not repeat your evidence. Say what the evidence did. The Vikings had no armour on is evidence. So English weapons could cut through them and break the shield wall quickly is the explanation.
Tip: SC1 reason, SC2 evidence, SC3 explanation. If your paragraph has all three, it is a full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Seven days in September.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September 1066 in chronological order, earliest first.
Support — work through the steps with the group: (1) Start with the decision that left England unguarded: the army goes home. (2) Then the invasion, then the march to meet it. (3) The battle itself has two parts: the bridge first, then the fight beyond it. The bridge must be crossed before Hardrada can be killed.
Parallel worked example for Support (model it, do not give the task answer): Practice: put in order: the fire alarm rings; pupils line up outside; a teacher takes the register; pupils go back in. The alarm starts everything.; You cannot take a register of people who have not lined up.; Going back in is the end.. Answer: Alarm; line up; register; back in..
Core — reveal the hint only on request: 8 September, 18 September, five days of marching, then the bridge, then the arrow.
Stretch — no help; when finished: Pick the one event in this list that, if it had not happened, would have changed everything after it. Explain your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Seven days in September.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September 1066 in chronological order, earliest first.
Support — work through the steps with the group: (1) Start with the decision that left England unguarded: the army goes home. (2) Then the invasion, then the march to meet it. (3) The battle itself has two parts: the bridge first, then the fight beyond it. The bridge must be crossed before Hardrada can be killed.
Parallel worked example for Support (model it, do not give the task answer): Practice: put in order: the fire alarm rings; pupils line up outside; a teacher takes the register; pupils go back in. The alarm starts everything.; You cannot take a register of people who have not lined up.; Going back in is the end.. Answer: Alarm; line up; register; back in..
Core — reveal the hint only on request: 8 September, 18 September, five days of marching, then the bridge, then the arrow.
Stretch — no help; when finished: Pick the one event in this list that, if it had not happened, would have changed everything after it. Explain your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Rank the reasons.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reason for Harold's victory at Stamford Bridge made the others possible, because it happened first?
Support — work through the steps with the group: (1) Put the four reasons on a timeline: which happened before the battle, which during it, and which ended it? (2) Ask of each: did this cause another reason on the list? (3) The reason that caused the most and came earliest is the one you want.
Parallel worked example for Support (model it, do not give the task answer): Practice: a team wins because they trained hard, scored early and the other side got tired. Which reason came first and helped cause the others? Training happened before the match.; Training helped them score early and last longer than the other side.. Answer: Training hard: it came first and made the other two more likely..
Core — reveal the hint only on request: Which reason happened before the English even arrived at the bridge?
Stretch — no help; when finished: Argue the opposite case: that Hardrada's death was the most important reason even though it came last. Then say which argument you find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Rank the reasons.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reason for Harold's victory at Stamford Bridge made the others possible, because it happened first?
Support — work through the steps with the group: (1) Put the four reasons on a timeline: which happened before the battle, which during it, and which ended it? (2) Ask of each: did this cause another reason on the list? (3) The reason that caused the most and came earliest is the one you want.
Parallel worked example for Support (model it, do not give the task answer): Practice: a team wins because they trained hard, scored early and the other side got tired. Which reason came first and helped cause the others? Training happened before the match.; Training helped them score early and last longer than the other side.. Answer: Training hard: it came first and made the other two more likely..
Core — reveal the hint only on request: Which reason happened before the English even arrived at the bridge?
Stretch — no help; when finished: Argue the opposite case: that Hardrada's death was the most important reason even though it came last. Then say which argument you find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happened on 18 September 1066?
Answer: B   Hardrada's Vikings invaded the north of England. Hardrada landed in the north on 18 September, ten days after Harold sent his army home, and soon took York.
Source of this question: gate item 1 re-asked (options rotated) — this chapter has no third quick-check module.
The ebook also holds task 3, "Why did Harold win? The paragraph",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Seven days in September. Reveal the answer; pupils mark their own work in a different colour, then read the "why" together. Same destination for every lane, so one answer serves the whole class.
Answer: Harold sends his army home for the harvest (8 September)  (E); Hardrada's Vikings land in the north and take York (from 18 September)  (B); Harold marches north for five days, gathering soldiers as he goes  (A); A lone Viking warrior holds the bridge until an English soldier kills him (25 September)  (C); The English cross the bridge; Hardrada is killed by an arrow and the Vikings are defeated  (D)
Why: Harold sent his army home on 8 September; Hardrada landed on 18 September and took York; Harold marched north for five days; on 25 September the English fought their way across the bridge; then Hardrada was killed and the Vikings were defeated.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Rank the reasons. Reveal the answer; pupils mark their own work in a different colour, then read the "why" together. Same destination for every lane, so one answer serves the whole class.
Answer: B   Harold marched north very quickly, in five days, to take the Vikings by surprise
Why: Harold's speed caused the surprise; the surprise meant the Vikings had no armour on; that let English weapons break the shield wall; and the fighting ended when Hardrada was killed. The march came first and made the rest possible.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Hardrada's Vikings invaded the north of England
Why: Hardrada landed in the north on 18 September, ten days after Harold sent his army home, and soon took York.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Hastings · AQA KS3 → 8145</a:t>
            </a:r>
            <a:endParaRPr lang="en-US" sz="1800" dirty="0"/>
          </a:p>
        </p:txBody>
      </p:sp>
      <p:sp>
        <p:nvSpPr>
          <p:cNvPr id="10" name="deck-title"/>
          <p:cNvSpPr txBox="1"/>
          <p:nvPr/>
        </p:nvSpPr>
        <p:spPr>
          <a:xfrm>
            <a:off x="548640" y="239445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Stamford Bridge</a:t>
            </a:r>
            <a:endParaRPr lang="en-US" sz="4000" dirty="0"/>
          </a:p>
        </p:txBody>
      </p:sp>
      <p:sp>
        <p:nvSpPr>
          <p:cNvPr id="11" name="lessons-card"/>
          <p:cNvSpPr/>
          <p:nvPr/>
        </p:nvSpPr>
        <p:spPr>
          <a:xfrm>
            <a:off x="548640" y="3410458"/>
            <a:ext cx="5287975" cy="1638300"/>
          </a:xfrm>
          <a:prstGeom prst="roundRect">
            <a:avLst>
              <a:gd name="adj" fmla="val 4465"/>
            </a:avLst>
          </a:prstGeom>
          <a:solidFill>
            <a:srgbClr val="F6F2EF"/>
          </a:solidFill>
          <a:ln/>
        </p:spPr>
      </p:sp>
      <p:sp>
        <p:nvSpPr>
          <p:cNvPr id="12" name="lessons"/>
          <p:cNvSpPr txBox="1"/>
          <p:nvPr/>
        </p:nvSpPr>
        <p:spPr>
          <a:xfrm>
            <a:off x="685800" y="35018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Battle of Stamford Bridge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preparations for Hastings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William won the Battle of Hastings because he was lucky. How far do you 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happened on 18 September 1066?</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William landed in the south of England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Battle of Stamford Bridge was fought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Hardrada's Vikings invaded the north of England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Harold was crowned king</a:t>
            </a:r>
            <a:endParaRPr lang="en-US" sz="18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Hardrada landed on 18 September and the Battle of Stamford Bridge was fought on 25 September. How many days apart were these two events?</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days</a:t>
            </a:r>
            <a:endParaRPr lang="en-US" sz="22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Harald Hardrada was killed by an ___ at the Battle of Stamford Bridge.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arrow  ·  axe  ·  horse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Hardrada's Vikings invaded the north of England</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happened on 18 September 1066?</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Hardrada landed in the north on 18 September, ten days after Harold sent his army home, and soon took York.</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 days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Hardrada landed on 18 September and the Battle of Stamford Bridge was fought on 25 September. How many days apart were these two events?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25 − 18 = 7. Harold spent five of those seven days marching north.</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arrow</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Harald Hardrada was killed by an ___ at the Battle of Stamford Bridge.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Hardrada was killed by an arrow. Without their king, the Viking army was defeated.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Viking</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warrior from Norway, Denmark or Sweden who raided and settled in England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Hardrada led a Viking army to York.</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surprise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attack an enemy who is not expecting you</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Harold wanted to take the Vikings by surprise.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armour</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metal or leather worn to protect the body in battle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Vikings had left their armour at the ships.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outnumbered</a:t>
            </a:r>
            <a:endParaRPr lang="en-US" sz="2600" dirty="0"/>
          </a:p>
        </p:txBody>
      </p:sp>
      <p:sp>
        <p:nvSpPr>
          <p:cNvPr id="11" name="word-rule"/>
          <p:cNvSpPr/>
          <p:nvPr/>
        </p:nvSpPr>
        <p:spPr>
          <a:xfrm>
            <a:off x="731520" y="2129028"/>
            <a:ext cx="5044288" cy="0"/>
          </a:xfrm>
          <a:prstGeom prst="line">
            <a:avLst/>
          </a:prstGeom>
          <a:ln w="12700">
            <a:solidFill>
              <a:srgbClr val="CEBCAC"/>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having fewer soldiers than the enemy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Vikings were outnumbered by 12,000 to 9,000.</a:t>
            </a:r>
            <a:endParaRPr lang="en-US" sz="2200" dirty="0"/>
          </a:p>
        </p:txBody>
      </p:sp>
      <p:sp>
        <p:nvSpPr>
          <p:cNvPr id="13" name="word-card"/>
          <p:cNvSpPr/>
          <p:nvPr/>
        </p:nvSpPr>
        <p:spPr>
          <a:xfrm>
            <a:off x="6233008" y="1389888"/>
            <a:ext cx="5410048" cy="4754880"/>
          </a:xfrm>
          <a:prstGeom prst="roundRect">
            <a:avLst>
              <a:gd name="adj" fmla="val 1154"/>
            </a:avLst>
          </a:prstGeom>
          <a:solidFill>
            <a:srgbClr val="F8F6F4"/>
          </a:solidFill>
          <a:ln w="12700">
            <a:solidFill>
              <a:srgbClr val="CEBCAC"/>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evidence</a:t>
            </a:r>
            <a:endParaRPr lang="en-US" sz="2600" dirty="0"/>
          </a:p>
        </p:txBody>
      </p:sp>
      <p:sp>
        <p:nvSpPr>
          <p:cNvPr id="17" name="word-rule"/>
          <p:cNvSpPr/>
          <p:nvPr/>
        </p:nvSpPr>
        <p:spPr>
          <a:xfrm>
            <a:off x="6415888" y="2129028"/>
            <a:ext cx="5044288" cy="0"/>
          </a:xfrm>
          <a:prstGeom prst="line">
            <a:avLst/>
          </a:prstGeom>
          <a:ln w="12700">
            <a:solidFill>
              <a:srgbClr val="CEBCAC"/>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facts you use to support a point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Give evidence from your own knowledge to support your reason.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18 September 1066, Hardrada's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landed in the north of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Harold's army had just gone home.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Within days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beat the northern earls and took the town of York.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Harold did not panic.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marched north for five days, gathering soldiers as he went.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25 September he reached Stamford Bridge.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not expecting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had left their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armour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behind at the ships.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One brave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Viking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held the bridge alone, until an English soldier killed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the English crossed and fought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head 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outnumbered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12,000 to 9,000.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Hardrada was killed by an arrow, and his army was defeated.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Harold had won his first battle as king.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Disaster in the north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18 September, invasion. 25 September, battle. Seven days apart, five of them marching.</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18 September 1066, within days of Harold sending his army home, the Viking King Harald Hardrada invaded the north of England.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Think about Harold's position. The Vikings held the north.</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five days King Harold travelled north, building his army as he went.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battle at the bridge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Bridge, arrow, armour, numbers, speed. Five words that hold the whole battle.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At Stamford Bridge the English had about 12,000 men and the Vikings about 9,000. How many more men did Harold have?</a:t>
            </a:r>
            <a:endParaRPr lang="en-US" sz="1800" dirty="0"/>
          </a:p>
        </p:txBody>
      </p:sp>
      <p:sp>
        <p:nvSpPr>
          <p:cNvPr id="14" name="step-box"/>
          <p:cNvSpPr/>
          <p:nvPr/>
        </p:nvSpPr>
        <p:spPr>
          <a:xfrm>
            <a:off x="6126480" y="3167380"/>
            <a:ext cx="5379415" cy="794512"/>
          </a:xfrm>
          <a:prstGeom prst="roundRect">
            <a:avLst>
              <a:gd name="adj" fmla="val 11509"/>
            </a:avLst>
          </a:prstGeom>
          <a:solidFill>
            <a:srgbClr val="F6F2EF"/>
          </a:solidFill>
          <a:ln/>
        </p:spPr>
      </p:sp>
      <p:sp>
        <p:nvSpPr>
          <p:cNvPr id="15" name="step-hex"/>
          <p:cNvSpPr/>
          <p:nvPr/>
        </p:nvSpPr>
        <p:spPr>
          <a:xfrm>
            <a:off x="6217920" y="3382506"/>
            <a:ext cx="420624" cy="364260"/>
          </a:xfrm>
          <a:prstGeom prst="hexagon">
            <a:avLst/>
          </a:prstGeom>
          <a:solidFill>
            <a:srgbClr val="7A4A1E"/>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smaller army from the larger: 12,000 − 9,000.</a:t>
            </a:r>
            <a:endParaRPr lang="en-US" sz="1800" dirty="0"/>
          </a:p>
        </p:txBody>
      </p:sp>
      <p:sp>
        <p:nvSpPr>
          <p:cNvPr id="18" name="step-box"/>
          <p:cNvSpPr/>
          <p:nvPr/>
        </p:nvSpPr>
        <p:spPr>
          <a:xfrm>
            <a:off x="6126480" y="4053332"/>
            <a:ext cx="5379415" cy="566928"/>
          </a:xfrm>
          <a:prstGeom prst="roundRect">
            <a:avLst>
              <a:gd name="adj" fmla="val 16129"/>
            </a:avLst>
          </a:prstGeom>
          <a:solidFill>
            <a:srgbClr val="F6F2EF"/>
          </a:solidFill>
          <a:ln/>
        </p:spPr>
      </p:sp>
      <p:sp>
        <p:nvSpPr>
          <p:cNvPr id="19" name="step-hex"/>
          <p:cNvSpPr/>
          <p:nvPr/>
        </p:nvSpPr>
        <p:spPr>
          <a:xfrm>
            <a:off x="6217920" y="4154666"/>
            <a:ext cx="420624" cy="364260"/>
          </a:xfrm>
          <a:prstGeom prst="hexagon">
            <a:avLst/>
          </a:prstGeom>
          <a:solidFill>
            <a:srgbClr val="7A4A1E"/>
          </a:solidFill>
          <a:ln/>
        </p:spPr>
      </p:sp>
      <p:sp>
        <p:nvSpPr>
          <p:cNvPr id="20"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12,000 − 9,000 = 3,000.</a:t>
            </a:r>
            <a:endParaRPr lang="en-US" sz="1800" dirty="0"/>
          </a:p>
        </p:txBody>
      </p:sp>
      <p:sp>
        <p:nvSpPr>
          <p:cNvPr id="22" name="worked-answer"/>
          <p:cNvSpPr/>
          <p:nvPr/>
        </p:nvSpPr>
        <p:spPr>
          <a:xfrm>
            <a:off x="6126480" y="4757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3,000 more men</a:t>
            </a:r>
            <a:endParaRPr lang="en-US" sz="1800" dirty="0"/>
          </a:p>
        </p:txBody>
      </p:sp>
      <p:sp>
        <p:nvSpPr>
          <p:cNvPr id="23" name="bullet-card"/>
          <p:cNvSpPr/>
          <p:nvPr/>
        </p:nvSpPr>
        <p:spPr>
          <a:xfrm>
            <a:off x="548640" y="1389888"/>
            <a:ext cx="5074920" cy="1038183"/>
          </a:xfrm>
          <a:prstGeom prst="roundRect">
            <a:avLst>
              <a:gd name="adj" fmla="val 7046"/>
            </a:avLst>
          </a:prstGeom>
          <a:solidFill>
            <a:srgbClr val="F8F6F4"/>
          </a:solidFill>
          <a:ln/>
        </p:spPr>
      </p:sp>
      <p:sp>
        <p:nvSpPr>
          <p:cNvPr id="24" name="bullet-hex"/>
          <p:cNvSpPr/>
          <p:nvPr/>
        </p:nvSpPr>
        <p:spPr>
          <a:xfrm>
            <a:off x="676656" y="1742687"/>
            <a:ext cx="384048" cy="332586"/>
          </a:xfrm>
          <a:prstGeom prst="hexagon">
            <a:avLst/>
          </a:prstGeom>
          <a:solidFill>
            <a:srgbClr val="7A4A1E"/>
          </a:solidFill>
          <a:ln/>
        </p:spPr>
      </p:sp>
      <p:sp>
        <p:nvSpPr>
          <p:cNvPr id="25" name="bullet"/>
          <p:cNvSpPr txBox="1"/>
          <p:nvPr/>
        </p:nvSpPr>
        <p:spPr>
          <a:xfrm>
            <a:off x="1143000" y="1389888"/>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 25 September 1066 the English army took the Vikings completely by surprise at Stamford Bridge, near York.</a:t>
            </a:r>
            <a:endParaRPr lang="en-US" sz="1800" dirty="0"/>
          </a:p>
        </p:txBody>
      </p:sp>
      <p:sp>
        <p:nvSpPr>
          <p:cNvPr id="26" name="bullet-card"/>
          <p:cNvSpPr/>
          <p:nvPr/>
        </p:nvSpPr>
        <p:spPr>
          <a:xfrm>
            <a:off x="548640" y="2574375"/>
            <a:ext cx="5074920" cy="1038183"/>
          </a:xfrm>
          <a:prstGeom prst="roundRect">
            <a:avLst>
              <a:gd name="adj" fmla="val 7046"/>
            </a:avLst>
          </a:prstGeom>
          <a:solidFill>
            <a:srgbClr val="F8F6F4"/>
          </a:solidFill>
          <a:ln/>
        </p:spPr>
      </p:sp>
      <p:sp>
        <p:nvSpPr>
          <p:cNvPr id="27" name="bullet-hex"/>
          <p:cNvSpPr/>
          <p:nvPr/>
        </p:nvSpPr>
        <p:spPr>
          <a:xfrm>
            <a:off x="676656" y="2927173"/>
            <a:ext cx="384048" cy="332586"/>
          </a:xfrm>
          <a:prstGeom prst="hexagon">
            <a:avLst/>
          </a:prstGeom>
          <a:solidFill>
            <a:srgbClr val="B8862B"/>
          </a:solidFill>
          <a:ln/>
        </p:spPr>
      </p:sp>
      <p:sp>
        <p:nvSpPr>
          <p:cNvPr id="28" name="bullet"/>
          <p:cNvSpPr txBox="1"/>
          <p:nvPr/>
        </p:nvSpPr>
        <p:spPr>
          <a:xfrm>
            <a:off x="1143000" y="2574375"/>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two armies were separated by a bridge, and a single Viking warrior blocked it, holding off the English for a time.</a:t>
            </a:r>
            <a:endParaRPr lang="en-US" sz="1800" dirty="0"/>
          </a:p>
        </p:txBody>
      </p:sp>
      <p:sp>
        <p:nvSpPr>
          <p:cNvPr id="29" name="bullet-card"/>
          <p:cNvSpPr/>
          <p:nvPr/>
        </p:nvSpPr>
        <p:spPr>
          <a:xfrm>
            <a:off x="548640" y="3758861"/>
            <a:ext cx="5074920" cy="1038183"/>
          </a:xfrm>
          <a:prstGeom prst="roundRect">
            <a:avLst>
              <a:gd name="adj" fmla="val 7046"/>
            </a:avLst>
          </a:prstGeom>
          <a:solidFill>
            <a:srgbClr val="F8F6F4"/>
          </a:solidFill>
          <a:ln/>
        </p:spPr>
      </p:sp>
      <p:sp>
        <p:nvSpPr>
          <p:cNvPr id="30" name="bullet-hex"/>
          <p:cNvSpPr/>
          <p:nvPr/>
        </p:nvSpPr>
        <p:spPr>
          <a:xfrm>
            <a:off x="676656" y="4111660"/>
            <a:ext cx="384048" cy="332586"/>
          </a:xfrm>
          <a:prstGeom prst="hexagon">
            <a:avLst/>
          </a:prstGeom>
          <a:solidFill>
            <a:srgbClr val="7A4A1E"/>
          </a:solidFill>
          <a:ln/>
        </p:spPr>
      </p:sp>
      <p:sp>
        <p:nvSpPr>
          <p:cNvPr id="31" name="bullet"/>
          <p:cNvSpPr txBox="1"/>
          <p:nvPr/>
        </p:nvSpPr>
        <p:spPr>
          <a:xfrm>
            <a:off x="1143000" y="3758861"/>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Hardrada himself was killed by an arrow. Without their king, the Vikings were defeated.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did Harold win?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reason is stronger when you can show what it caused. Surprise led to no armour; no armour led to a broken shield wall.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gave you six reasons for Harold's victory and asked you to rank them.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teacher's progress check groups these as surprise attack, Harold's leadership, Vikings unprepared, death of leaders, and the English army's strength.</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were costs. Harold was at a disadvantage before the battle: his army had been sent home and had to be rebuilt on the march, and his men were tired after five days on the road.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Writing the paragraph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SC1 reason, SC2 evidence, SC3 explanation. If your paragraph has all three, it is a full answer.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progress check asks: why did Harold Godwinson win the Battle of Stamford Bridge?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Point: One reason Harold Godwinson won the Battle of Stamford Bridge was ___.</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tip for the Explain sentence: do not repeat your evidence.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Seven days in September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events of September 1066 in chronological order, earliest first.</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Harold marches north for five days, gathering soldiers as he goes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Hardrada's Vikings land in the north and take York (from 18 September)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lone Viking warrior holds the bridge until an English soldier kills him (25 September)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English cross the bridge; Hardrada is killed by an arrow and the Vikings are defeated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Harold sends his army home for the harvest (8 September)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Seven days in September</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events of September 1066 in chronological order, earliest first.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6F2EF"/>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decision that left England unguarded: the army goes home.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invasion, then the march to meet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battle itself has two parts: the bridge first, then the fight beyond it. The bridge must be crossed before Hardrada can be killed.</a:t>
            </a:r>
            <a:endParaRPr lang="en-US" sz="1800" dirty="0"/>
          </a:p>
        </p:txBody>
      </p:sp>
      <p:sp>
        <p:nvSpPr>
          <p:cNvPr id="17" name="col-Core"/>
          <p:cNvSpPr/>
          <p:nvPr/>
        </p:nvSpPr>
        <p:spPr>
          <a:xfrm>
            <a:off x="5490762" y="2578608"/>
            <a:ext cx="2938987" cy="3566160"/>
          </a:xfrm>
          <a:prstGeom prst="roundRect">
            <a:avLst>
              <a:gd name="adj" fmla="val 1867"/>
            </a:avLst>
          </a:prstGeom>
          <a:solidFill>
            <a:srgbClr val="E6DDD4"/>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8 September, 18 September, five days of marching, then the bridge, then the arrow.</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the one event in this list that, if it had not happened, would have changed everything after it. Explain your choice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Rank the reasons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reason for Harold's victory at Stamford Bridge made the others possible, because it happened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Viking warrior on the bridge was killed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Harold marched north very quickly, in five days, to take the Vikings by surprise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English had better armour and weapons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Hardrada was killed by an arrow</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Rank the reasons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reason for Harold's victory at Stamford Bridge made the others possible, because it happened first?</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four reasons on a timeline: which happened before the battle, which during it, and which ended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did this cause another reason on the list?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reason that caused the most and came earliest is the one you want.</a:t>
            </a:r>
            <a:endParaRPr lang="en-US" sz="1800" dirty="0"/>
          </a:p>
        </p:txBody>
      </p:sp>
      <p:sp>
        <p:nvSpPr>
          <p:cNvPr id="17" name="col-Core"/>
          <p:cNvSpPr/>
          <p:nvPr/>
        </p:nvSpPr>
        <p:spPr>
          <a:xfrm>
            <a:off x="4338218" y="2593848"/>
            <a:ext cx="3515258" cy="3550920"/>
          </a:xfrm>
          <a:prstGeom prst="roundRect">
            <a:avLst>
              <a:gd name="adj" fmla="val 1561"/>
            </a:avLst>
          </a:prstGeom>
          <a:solidFill>
            <a:srgbClr val="E6DDD4"/>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reason happened before the English even arrived at the bridge?</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7A4A1E"/>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the opposite case: that Hardrada's death was the most important reason even though it came last. Then say which argument you find stronger.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happened on 18 September 1066?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Battle of Stamford Bridge was fought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Hardrada's Vikings invaded the north of England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Harold was crowned king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landed in the south of England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Seven days in September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Harold sends his army home for the harvest (8 September)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Hardrada's Vikings land in the north and take York (from 18 September)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Harold marches north for five days, gathering soldiers as he goes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lone Viking warrior holds the bridge until an English soldier kills him (25 September)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English cross the bridge; Hardrada is killed by an arrow and the Vikings are defeated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 sent his army home on 8 September; Hardrada landed on 18 September and took York; Harold marched north for five days; on 25 September the English fought their way across the bridge; then Hardrada was killed and the Vikings were defeated.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Rank the reasons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reason for Harold's victory at Stamford Bridge made the others possible, because it happened first?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Harold marched north very quickly, in five days, to take the Vikings by surprise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Harold's speed caused the surprise; the surprise meant the Vikings had no armour on; that let English weapons break the shield wall; and the fighting ended when Hardrada was killed. The march came first and made the rest possible.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happened on 18 September 1066?</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Hardrada's Vikings invaded the north of England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Hardrada landed in the north on 18 September, ten days after Harold sent his army home, and soon took York.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Hastings · Chapter 3: Stamford Bridge</dc:title>
  <dc:subject>History · Year 7</dc:subject>
  <dc:creator>Dr Vitor Merissi de Carvalho</dc:creator>
  <cp:lastModifiedBy>Dr Vitor Merissi de Carvalho</cp:lastModifiedBy>
  <cp:revision>1</cp:revision>
  <dcterms:created xsi:type="dcterms:W3CDTF">2026-10-19T16:23:06Z</dcterms:created>
  <dcterms:modified xsi:type="dcterms:W3CDTF">2026-10-19T16:23:06Z</dcterms:modified>
</cp:coreProperties>
</file>