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c87613-068b-7a19-c9b5-7779552c00d8}">
          <p14:sldIdLst>
            <p14:sldId id="256"/>
          </p14:sldIdLst>
        </p14:section>
        <p14:section name="Gate" id="{221bb275-5a70-a5df-f815-a919639cbaf0}">
          <p14:sldIdLst>
            <p14:sldId id="257"/>
            <p14:sldId id="258"/>
          </p14:sldIdLst>
        </p14:section>
        <p14:section name="Pre-teach" id="{8fa9b053-8427-122b-651d-437f3e463d6d}">
          <p14:sldIdLst>
            <p14:sldId id="259"/>
          </p14:sldIdLst>
        </p14:section>
        <p14:section name="Read-along" id="{c3a73b8e-65d1-3216-7403-689fc2279244}">
          <p14:sldIdLst>
            <p14:sldId id="260"/>
            <p14:sldId id="261"/>
          </p14:sldIdLst>
        </p14:section>
        <p14:section name="Teach" id="{ad467808-a97b-924a-d2f5-1dd159b28063}">
          <p14:sldIdLst>
            <p14:sldId id="262"/>
            <p14:sldId id="263"/>
            <p14:sldId id="264"/>
          </p14:sldIdLst>
        </p14:section>
        <p14:section name="Routes" id="{c296ea57-32fe-3f08-c553-cf5c653b1dc1}">
          <p14:sldIdLst>
            <p14:sldId id="265"/>
            <p14:sldId id="266"/>
            <p14:sldId id="267"/>
            <p14:sldId id="268"/>
          </p14:sldIdLst>
        </p14:section>
        <p14:section name="Close" id="{ed10fd5e-e622-564b-f935-188288371051}">
          <p14:sldIdLst>
            <p14:sldId id="269"/>
          </p14:sldIdLst>
        </p14:section>
        <p14:section name="Answers" id="{ced99c8a-0d0c-0ad7-3140-c8d2a1d49a7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Battle of Hastings. This chapter takes you up Senlac Hill on 14 October 1066: a shield wall that would not break, a trick that broke it, and a king who died on the field.
This deck covers the department's lesson: 4 (The Battle of Hastings: What were the key moments of the battle, and why did William win it?).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Harold Godwinson formed a defensive shield wall at the top of ___ Hill.  →  Senlac
2. How did the Normans finally break Harold's shield wall?  →  D   They pretended to retreat, and English soldiers chased them down the hill
3. The Battle of Stamford Bridge was on 25 September 1066 and the Battle of Hastings on 14 October 1066. How many days apart were the two battles? (September has 30 days.)  →  19 days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Senlac. The English held the top of Senlac Hill, which forced William's archers and cavalry to attack uphill.
2. D   They pretended to retreat, and English soldiers chased them down the hill. The fake retreat drew English soldiers out of the wall and down the hill, where the Norman cavalry could kill them. Repeated, it broke the wall.
3. 19 days. 25 September to 30 September is 5 days; then 14 more days into October: 5 + 14 = 19.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shield wall: a line of soldiers with their shields locked together. Example: "Harold's shield wall stood at the top of the hill."
• reinforcements: extra soldiers who arrive during a battle. Example: "Harold was getting reinforcements as the battle went on."
• retreat: to move back or run away from the enemy. Example: "The Normans pretended to retreat down the hill."
• decisive: settling the result once and for all. Example: "Two events in the battle proved decisive."
• nightfall: the time when it gets dark. Example: "William needed to win before nightfall."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On 14 October 1066, the two armies met near Hastings.
2. Harold's men were exhausted, and there were only about 7,000 of them.
3. William's men were rested and ready.
4. Harold put his army at the top of Senlac Hill.
5. His men locked their shields together to make a shield wall.
6. William's archers, foot soldiers and cavalry were at the bottom.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Charging uphill, they could not break the wall.
8. Then the Normans tried a trick.
9. Some of them pretended to run away.
10. English soldiers chased them down the hill, and the wall broke.
11. The fighting went on for hours.
12. Then Harold was killed, and William had won.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two sides line up. Say it in your own words, then check understanding with a quick question: ask a pupil from the pre-teach group first, since they met these words and ideas before the lesson. Pupils try to recall before you re-explain.
On 14 October 1066 the battle began. Harold Godwinson's army was exhausted. It had lost nearly half its soldiers since Stamford Bridge and was down to about 7,000 men. William, on the other hand, had used his time in the south to build a base camp, rest and feed his army, and he had archers, cavalry and foot soldiers ready to use together. Harold tried to seize the advantage anyway, arriving at Hastings quickly in the hope of taking William by surprise.
Harold chose his ground well. He placed his army at the top of Senlac Hill and formed a defensive shield wall along the ridge. William was at the bottom of the hill with his archers, foot soldiers and cavalry. Your lesson asked why this was a big problem for William: his archers had to shoot uphill, so their arrows lost power or flew over the wall, and his cavalry had to charge uphill, so the horses arrived slow and tired.
Harold's tactic was to stand and hold. William's tactic was to attack: archers first, to weaken the wall, then foot soldiers and cavalry to break it. In the early stages Harold's tactic worked better. The wall held, and as the battle went on Harold was even getting reinforcements, more men arriving to join him.
Worked example — model it step by step, thinking aloud: William landed on 28 September and the battle was fought on 14 October. For how many days did William wait in the south for Harold? (September has 30 days.) (1) From 28 September to the end of the month: 30 − 28 = 2 days. (2) Then 14 days into October: 2 + 14 = 16 days. Answer: 16 days.
Tip: Top of the hill, shield wall, holds. Bottom of the hill, archers and cavalry, cannot break it. That is the first half of the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trick that broke the wall. Say it in your own words, then check understanding with a quick question: ask a pupil from the pre-teach group first, since they met these words and ideas before the lesson. Pupils try to recall before you re-explain.
William could not break the shield wall by force. So part of his army staged a fake retreat: they pretended to run away down the hill. Some of Harold's soldiers, thinking they had won, broke out of the wall to chase them. Once the English were off the ridge and spread out, William's cavalry turned and cut them down. Your lesson calls this the ‘Norman trick’.
The Normans kept doing it. Each fake retreat pulled more English soldiers out of the wall and killed them in the open. Gradually the shield wall, which had held all morning, was broken. Once it was broken, the battle continued for hours, with the English fighting on without the protection of their line.
Was the fake retreat a planned tactic or a lucky accident? Your lesson asks exactly that. If William planned it, it was brilliant leadership. If the first retreat was real, and the Normans only noticed what the English did and copied it, then luck played a part. Historians still argue about this, and you will need to decide.
Tip: Fake retreat: the Normans pretend to run; the English chase; the wall breaks. Say it in those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death of a king. Say it in your own words, then check understanding with a quick question: ask a pupil from the pre-teach group first, since they met these words and ideas before the lesson. Pupils try to recall before you re-explain.
Late in the day, Harold Godwinson was killed. How he died is disputed. One version, shown on the Bayeux Tapestry, is that he was shot in the eye with an arrow. Another is that he was cut down by William's cavalry. Your lesson leaves the question open, and so should you: say that it is disputed, and give both versions.
What is not disputed is the effect. Without their king, the English army had no cause left to fight for, and it broke and ran. William had won the Battle of Hastings. Your lesson asks why William needed to win before nightfall: if darkness had fallen with the wall still standing, the English could have slipped away, gathered reinforcements, and fought again on better terms, and William, in a foreign country with no way to replace his men, might never have had another chance.
A historian, Marc Morris, offers an interpretation of the result. In his view, one reason William won was that he led his army better than Harold: he kept his own line together while the English line fell apart. But Morris also argues that luck mattered a great deal, because what finally decided the battle was that William survived and Harold died, and it could easily have been the other way round. Do you agree with him? That is the question the rest of this unit answers.
Tip: Harold's death: disputed. Arrow in the eye, or cut down by cavalry. A careful historian gives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key moments.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key moments of the Battle of Hastings in chronological order, first to last.
Support — work through the steps with the group: (1) The battle starts with both sides in position: the wall on the hill. (2) Then William attacks and fails. Then he tries the trick once. Then he repeats it until it works. (3) The end of a battle is the end of a king.
Parallel worked example for Support (model it, do not give the task answer): Practice: put in order: the goalkeeper saves every shot; the other team tries a new tactic; it works and they score; the final whistle goes. Saving shots is the first stage, like the wall holding.; A new tactic comes after the old one fails.; Scoring comes before the whistle.. Answer: Saves every shot; new tactic; they score; final whistle..
Core — reveal the hint only on request: Wall holds; wall cannot be broken; one fake retreat; many fake retreats; the king dies.
Stretch — no help; when finished: Your homework storyboard needs six scenes. Add a sixth moment, before the first or after the last, and explain why it belongs in the story of the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Five key moments.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key moments of the Battle of Hastings in chronological order, first to last.
Support — work through the steps with the group: (1) The battle starts with both sides in position: the wall on the hill. (2) Then William attacks and fails. Then he tries the trick once. Then he repeats it until it works. (3) The end of a battle is the end of a king.
Parallel worked example for Support (model it, do not give the task answer): Practice: put in order: the goalkeeper saves every shot; the other team tries a new tactic; it works and they score; the final whistle goes. Saving shots is the first stage, like the wall holding.; A new tactic comes after the old one fails.; Scoring comes before the whistle.. Answer: Saves every shot; new tactic; they score; final whistle..
Core — reveal the hint only on request: Wall holds; wall cannot be broken; one fake retreat; many fake retreats; the king dies.
Stretch — no help; when finished: Your homework storyboard needs six scenes. Add a sixth moment, before the first or after the last, and explain why it belongs in the story of the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Tactics or luck?.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events at Hastings was most clearly a tactic, a plan carried out on purpose, rather than luck?
Support — work through the steps with the group: (1) Your lesson's definition: luck is something that happened by chance that William or Harold could not control. (2) Tactics are the way the two men organised and ordered their armies during the battle. (3) For each option ask: did someone decide this, or did it just happen?
Parallel worked example for Support (model it, do not give the task answer): Practice: a team wins a match. Was it a tactic or luck that (a) they put their fastest player on the wing, (b) the referee missed a foul? Putting a player somewhere is a decision: tactic.; A referee's mistake is outside the team's control: luck.. Answer: (a) tactic; (b) luck..
Core — reveal the hint only on request: Only one option is a decision somebody made. The other three happened to people.
Stretch — no help; when finished: The fake retreat is the hard case: it could be a tactic or an accident that became one. Write two sentences, one arguing each side, and say which you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Tactics or luck?.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events at Hastings was most clearly a tactic, a plan carried out on purpose, rather than luck?
Support — work through the steps with the group: (1) Your lesson's definition: luck is something that happened by chance that William or Harold could not control. (2) Tactics are the way the two men organised and ordered their armies during the battle. (3) For each option ask: did someone decide this, or did it just happen?
Parallel worked example for Support (model it, do not give the task answer): Practice: a team wins a match. Was it a tactic or luck that (a) they put their fastest player on the wing, (b) the referee missed a foul? Putting a player somewhere is a decision: tactic.; A referee's mistake is outside the team's control: luck.. Answer: (a) tactic; (b) luck..
Core — reveal the hint only on request: Only one option is a decision somebody made. The other three happened to people.
Stretch — no help; when finished: The fake retreat is the hard case: it could be a tactic or an accident that became one. Write two sentences, one arguing each side, and say which you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Harold Godwinson formed a defensive shield wall at the top of ___ Hill.
Answer: Harold Godwinson formed a defensive shield wall at the top of Senlac Hill.. The English held the top of Senlac Hill, which forced William's archers and cavalry to attack uphill.
Source of this question: gate item 1 re-asked (options rotated) — this chapter has no third quick-check module.
The ebook also holds task 3, "The battle in six scenes",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Five key moments. Reveal the answer; pupils mark their own work in a different colour, then read the "why" together. Same destination for every lane, so one answer serves the whole class.
Answer: Harold forms a shield wall at the top of Senlac Hill  (E); William's archers, foot soldiers and cavalry cannot break the wall, and Harold receives reinforcements  (D); Part of William's army stages a fake retreat, and some English soldiers chase them down the hill  (B); The Normans keep fake retreating until the shield wall is broken  (A); The battle continues for hours until Harold is killed and the English flee  (C)
Why: Harold formed the wall on Senlac Hill; William's attacks failed and Harold gained reinforcements; the Normans tried a fake retreat; they repeated it until the wall broke; then hours of fighting ended with Harold's death.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Tactics or luck?. Reveal the answer; pupils mark their own work in a different colour, then read the "why" together. Same destination for every lane, so one answer serves the whole class.
Answer: A   Harold placing his shield wall at the top of Senlac Hill
Why: A tactic is a deliberate choice about how to fight; luck is chance that nobody controlled. Choosing the hilltop was Harold's decision. The wind, Harold's death and William's survival were chance.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Harold Godwinson formed a defensive shield wall at the top of Senlac Hill.
Why: The English held the top of Senlac Hill, which forced William's archers and cavalry to attack uphill.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Battle of Hastings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Battle of Hastings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Harold Godwinson formed a defensive shield wall at the top of ___ Hill.</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Senlac  ·  Stamford  ·  Westminster</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did the Normans finally break Harold's shield wall?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attacked at night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Hardrada's Vikings attacked the English from behind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set fire to the shields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pretended to retreat, and English soldiers chased them down the hill</a:t>
            </a:r>
            <a:endParaRPr lang="en-US" sz="18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Battle of Stamford Bridge was on 25 September 1066 and the Battle of Hastings on 14 October 1066. How many days apart were the two battles? (September has 30 days.)</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days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Senlac</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Harold Godwinson formed a defensive shield wall at the top of ___ Hill.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English held the top of Senlac Hill, which forced William's archers and cavalry to attack uphill.</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636776"/>
          </a:xfrm>
          <a:prstGeom prst="roundRect">
            <a:avLst>
              <a:gd name="adj" fmla="val 6704"/>
            </a:avLst>
          </a:prstGeom>
          <a:solidFill>
            <a:srgbClr val="EFE4D0"/>
          </a:solidFill>
          <a:ln w="19050">
            <a:solidFill>
              <a:srgbClr val="B8862B"/>
            </a:solidFill>
            <a:prstDash val="solid"/>
          </a:ln>
        </p:spPr>
      </p:sp>
      <p:sp>
        <p:nvSpPr>
          <p:cNvPr id="19" name="answer"/>
          <p:cNvSpPr txBox="1"/>
          <p:nvPr/>
        </p:nvSpPr>
        <p:spPr>
          <a:xfrm>
            <a:off x="4612538"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They pretended to retreat, and English soldiers chased them down the hill</a:t>
            </a:r>
            <a:endParaRPr lang="en-US" sz="2200" dirty="0"/>
          </a:p>
        </p:txBody>
      </p:sp>
      <p:sp>
        <p:nvSpPr>
          <p:cNvPr id="20" name="card-body"/>
          <p:cNvSpPr txBox="1"/>
          <p:nvPr/>
        </p:nvSpPr>
        <p:spPr>
          <a:xfrm>
            <a:off x="4521098"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fake retreat drew English soldiers out of the wall and down the hill, where the Norman cavalry could kill them. Repeated, it broke the wall.</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 days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25 September to 30 September is 5 days; then 14 more days into October: 5 + 14 = 19.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77418"/>
          </a:xfrm>
          <a:prstGeom prst="roundRect">
            <a:avLst>
              <a:gd name="adj" fmla="val 6253"/>
            </a:avLst>
          </a:prstGeom>
          <a:solidFill>
            <a:srgbClr val="F8F6F4"/>
          </a:solidFill>
          <a:ln/>
        </p:spPr>
      </p:sp>
      <p:sp>
        <p:nvSpPr>
          <p:cNvPr id="12" name="kw-hex"/>
          <p:cNvSpPr/>
          <p:nvPr/>
        </p:nvSpPr>
        <p:spPr>
          <a:xfrm>
            <a:off x="658368" y="2180778"/>
            <a:ext cx="411480" cy="356342"/>
          </a:xfrm>
          <a:prstGeom prst="hexagon">
            <a:avLst/>
          </a:prstGeom>
          <a:solidFill>
            <a:srgbClr val="7A4A1E"/>
          </a:solidFill>
          <a:ln/>
        </p:spPr>
      </p:sp>
      <p:sp>
        <p:nvSpPr>
          <p:cNvPr id="13" name="kw-cell"/>
          <p:cNvSpPr txBox="1"/>
          <p:nvPr/>
        </p:nvSpPr>
        <p:spPr>
          <a:xfrm>
            <a:off x="1143000" y="1920240"/>
            <a:ext cx="2331720" cy="877418"/>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shield wall</a:t>
            </a:r>
            <a:endParaRPr lang="en-US" sz="2000" dirty="0"/>
          </a:p>
        </p:txBody>
      </p:sp>
      <p:sp>
        <p:nvSpPr>
          <p:cNvPr id="14" name="kw-cell"/>
          <p:cNvSpPr txBox="1"/>
          <p:nvPr/>
        </p:nvSpPr>
        <p:spPr>
          <a:xfrm>
            <a:off x="3657600" y="192024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line of soldiers with their shields locked together</a:t>
            </a:r>
            <a:endParaRPr lang="en-US" sz="1800" dirty="0"/>
          </a:p>
        </p:txBody>
      </p:sp>
      <p:sp>
        <p:nvSpPr>
          <p:cNvPr id="15" name="kw-cell"/>
          <p:cNvSpPr txBox="1"/>
          <p:nvPr/>
        </p:nvSpPr>
        <p:spPr>
          <a:xfrm>
            <a:off x="7315200" y="192024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Harold's shield wall stood at the top of the hill.</a:t>
            </a:r>
            <a:endParaRPr lang="en-US" sz="1800" dirty="0"/>
          </a:p>
        </p:txBody>
      </p:sp>
      <p:sp>
        <p:nvSpPr>
          <p:cNvPr id="16" name="kw-row"/>
          <p:cNvSpPr/>
          <p:nvPr/>
        </p:nvSpPr>
        <p:spPr>
          <a:xfrm>
            <a:off x="548640" y="2870810"/>
            <a:ext cx="11094415" cy="877418"/>
          </a:xfrm>
          <a:prstGeom prst="roundRect">
            <a:avLst>
              <a:gd name="adj" fmla="val 6253"/>
            </a:avLst>
          </a:prstGeom>
          <a:solidFill>
            <a:srgbClr val="F9F4EC"/>
          </a:solidFill>
          <a:ln/>
        </p:spPr>
      </p:sp>
      <p:sp>
        <p:nvSpPr>
          <p:cNvPr id="17" name="kw-hex"/>
          <p:cNvSpPr/>
          <p:nvPr/>
        </p:nvSpPr>
        <p:spPr>
          <a:xfrm>
            <a:off x="658368" y="3131348"/>
            <a:ext cx="411480" cy="356342"/>
          </a:xfrm>
          <a:prstGeom prst="hexagon">
            <a:avLst/>
          </a:prstGeom>
          <a:solidFill>
            <a:srgbClr val="B8862B"/>
          </a:solidFill>
          <a:ln/>
        </p:spPr>
      </p:sp>
      <p:sp>
        <p:nvSpPr>
          <p:cNvPr id="18" name="kw-cell"/>
          <p:cNvSpPr txBox="1"/>
          <p:nvPr/>
        </p:nvSpPr>
        <p:spPr>
          <a:xfrm>
            <a:off x="1143000" y="2870810"/>
            <a:ext cx="2331720" cy="877418"/>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reinforcements</a:t>
            </a:r>
            <a:endParaRPr lang="en-US" sz="2000" dirty="0"/>
          </a:p>
        </p:txBody>
      </p:sp>
      <p:sp>
        <p:nvSpPr>
          <p:cNvPr id="19" name="kw-cell"/>
          <p:cNvSpPr txBox="1"/>
          <p:nvPr/>
        </p:nvSpPr>
        <p:spPr>
          <a:xfrm>
            <a:off x="3657600" y="287081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extra soldiers who arrive during a battle</a:t>
            </a:r>
            <a:endParaRPr lang="en-US" sz="1800" dirty="0"/>
          </a:p>
        </p:txBody>
      </p:sp>
      <p:sp>
        <p:nvSpPr>
          <p:cNvPr id="20" name="kw-cell"/>
          <p:cNvSpPr txBox="1"/>
          <p:nvPr/>
        </p:nvSpPr>
        <p:spPr>
          <a:xfrm>
            <a:off x="7315200" y="287081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Harold was getting reinforcements as the battle went on.</a:t>
            </a:r>
            <a:endParaRPr lang="en-US" sz="1800" dirty="0"/>
          </a:p>
        </p:txBody>
      </p:sp>
      <p:sp>
        <p:nvSpPr>
          <p:cNvPr id="21" name="kw-row"/>
          <p:cNvSpPr/>
          <p:nvPr/>
        </p:nvSpPr>
        <p:spPr>
          <a:xfrm>
            <a:off x="548640" y="3821379"/>
            <a:ext cx="11094415" cy="877418"/>
          </a:xfrm>
          <a:prstGeom prst="roundRect">
            <a:avLst>
              <a:gd name="adj" fmla="val 6253"/>
            </a:avLst>
          </a:prstGeom>
          <a:solidFill>
            <a:srgbClr val="F8F6F4"/>
          </a:solidFill>
          <a:ln/>
        </p:spPr>
      </p:sp>
      <p:sp>
        <p:nvSpPr>
          <p:cNvPr id="22" name="kw-hex"/>
          <p:cNvSpPr/>
          <p:nvPr/>
        </p:nvSpPr>
        <p:spPr>
          <a:xfrm>
            <a:off x="658368" y="4081917"/>
            <a:ext cx="411480" cy="356342"/>
          </a:xfrm>
          <a:prstGeom prst="hexagon">
            <a:avLst/>
          </a:prstGeom>
          <a:solidFill>
            <a:srgbClr val="7A4A1E"/>
          </a:solidFill>
          <a:ln/>
        </p:spPr>
      </p:sp>
      <p:sp>
        <p:nvSpPr>
          <p:cNvPr id="23" name="kw-cell"/>
          <p:cNvSpPr txBox="1"/>
          <p:nvPr/>
        </p:nvSpPr>
        <p:spPr>
          <a:xfrm>
            <a:off x="1143000" y="3821379"/>
            <a:ext cx="2331720" cy="877418"/>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retreat</a:t>
            </a:r>
            <a:endParaRPr lang="en-US" sz="2000" dirty="0"/>
          </a:p>
        </p:txBody>
      </p:sp>
      <p:sp>
        <p:nvSpPr>
          <p:cNvPr id="24" name="kw-cell"/>
          <p:cNvSpPr txBox="1"/>
          <p:nvPr/>
        </p:nvSpPr>
        <p:spPr>
          <a:xfrm>
            <a:off x="3657600" y="3821379"/>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move back or run away from the enemy</a:t>
            </a:r>
            <a:endParaRPr lang="en-US" sz="1800" dirty="0"/>
          </a:p>
        </p:txBody>
      </p:sp>
      <p:sp>
        <p:nvSpPr>
          <p:cNvPr id="25" name="kw-cell"/>
          <p:cNvSpPr txBox="1"/>
          <p:nvPr/>
        </p:nvSpPr>
        <p:spPr>
          <a:xfrm>
            <a:off x="7315200" y="3821379"/>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Normans pretended to retreat down the hill.</a:t>
            </a:r>
            <a:endParaRPr lang="en-US" sz="1800" dirty="0"/>
          </a:p>
        </p:txBody>
      </p:sp>
      <p:sp>
        <p:nvSpPr>
          <p:cNvPr id="26" name="kw-row"/>
          <p:cNvSpPr/>
          <p:nvPr/>
        </p:nvSpPr>
        <p:spPr>
          <a:xfrm>
            <a:off x="548640" y="4771949"/>
            <a:ext cx="11094415" cy="649834"/>
          </a:xfrm>
          <a:prstGeom prst="roundRect">
            <a:avLst>
              <a:gd name="adj" fmla="val 8443"/>
            </a:avLst>
          </a:prstGeom>
          <a:solidFill>
            <a:srgbClr val="F9F4EC"/>
          </a:solidFill>
          <a:ln/>
        </p:spPr>
      </p:sp>
      <p:sp>
        <p:nvSpPr>
          <p:cNvPr id="27" name="kw-hex"/>
          <p:cNvSpPr/>
          <p:nvPr/>
        </p:nvSpPr>
        <p:spPr>
          <a:xfrm>
            <a:off x="658368" y="4918695"/>
            <a:ext cx="411480" cy="356342"/>
          </a:xfrm>
          <a:prstGeom prst="hexagon">
            <a:avLst/>
          </a:prstGeom>
          <a:solidFill>
            <a:srgbClr val="B8862B"/>
          </a:solidFill>
          <a:ln/>
        </p:spPr>
      </p:sp>
      <p:sp>
        <p:nvSpPr>
          <p:cNvPr id="28" name="kw-cell"/>
          <p:cNvSpPr txBox="1"/>
          <p:nvPr/>
        </p:nvSpPr>
        <p:spPr>
          <a:xfrm>
            <a:off x="1143000" y="4771949"/>
            <a:ext cx="2331720" cy="64983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decisive</a:t>
            </a:r>
            <a:endParaRPr lang="en-US" sz="2000" dirty="0"/>
          </a:p>
        </p:txBody>
      </p:sp>
      <p:sp>
        <p:nvSpPr>
          <p:cNvPr id="29" name="kw-cell"/>
          <p:cNvSpPr txBox="1"/>
          <p:nvPr/>
        </p:nvSpPr>
        <p:spPr>
          <a:xfrm>
            <a:off x="3657600" y="4771949"/>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settling the result once and for all</a:t>
            </a:r>
            <a:endParaRPr lang="en-US" sz="1800" dirty="0"/>
          </a:p>
        </p:txBody>
      </p:sp>
      <p:sp>
        <p:nvSpPr>
          <p:cNvPr id="30" name="kw-cell"/>
          <p:cNvSpPr txBox="1"/>
          <p:nvPr/>
        </p:nvSpPr>
        <p:spPr>
          <a:xfrm>
            <a:off x="7315200" y="4771949"/>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Two events in the battle proved decisive.</a:t>
            </a:r>
            <a:endParaRPr lang="en-US" sz="1800" dirty="0"/>
          </a:p>
        </p:txBody>
      </p:sp>
      <p:sp>
        <p:nvSpPr>
          <p:cNvPr id="31" name="kw-row"/>
          <p:cNvSpPr/>
          <p:nvPr/>
        </p:nvSpPr>
        <p:spPr>
          <a:xfrm>
            <a:off x="548640" y="5494934"/>
            <a:ext cx="11094415" cy="649834"/>
          </a:xfrm>
          <a:prstGeom prst="roundRect">
            <a:avLst>
              <a:gd name="adj" fmla="val 8443"/>
            </a:avLst>
          </a:prstGeom>
          <a:solidFill>
            <a:srgbClr val="F8F6F4"/>
          </a:solidFill>
          <a:ln/>
        </p:spPr>
      </p:sp>
      <p:sp>
        <p:nvSpPr>
          <p:cNvPr id="32" name="kw-hex"/>
          <p:cNvSpPr/>
          <p:nvPr/>
        </p:nvSpPr>
        <p:spPr>
          <a:xfrm>
            <a:off x="658368" y="5641680"/>
            <a:ext cx="411480" cy="356342"/>
          </a:xfrm>
          <a:prstGeom prst="hexagon">
            <a:avLst/>
          </a:prstGeom>
          <a:solidFill>
            <a:srgbClr val="7A4A1E"/>
          </a:solidFill>
          <a:ln/>
        </p:spPr>
      </p:sp>
      <p:sp>
        <p:nvSpPr>
          <p:cNvPr id="33" name="kw-cell"/>
          <p:cNvSpPr txBox="1"/>
          <p:nvPr/>
        </p:nvSpPr>
        <p:spPr>
          <a:xfrm>
            <a:off x="1143000" y="5494934"/>
            <a:ext cx="2331720" cy="64983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nightfall</a:t>
            </a:r>
            <a:endParaRPr lang="en-US" sz="2000" dirty="0"/>
          </a:p>
        </p:txBody>
      </p:sp>
      <p:sp>
        <p:nvSpPr>
          <p:cNvPr id="34" name="kw-cell"/>
          <p:cNvSpPr txBox="1"/>
          <p:nvPr/>
        </p:nvSpPr>
        <p:spPr>
          <a:xfrm>
            <a:off x="3657600" y="5494934"/>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time when it gets dark</a:t>
            </a:r>
            <a:endParaRPr lang="en-US" sz="1800" dirty="0"/>
          </a:p>
        </p:txBody>
      </p:sp>
      <p:sp>
        <p:nvSpPr>
          <p:cNvPr id="35" name="kw-cell"/>
          <p:cNvSpPr txBox="1"/>
          <p:nvPr/>
        </p:nvSpPr>
        <p:spPr>
          <a:xfrm>
            <a:off x="7315200" y="5494934"/>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 needed to win before nightfall.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14 October 1066, the two armies met near Hastings.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Harold's men were exhausted, and there were only about 7,000 of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William's men were rested and ready.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Harold put his army at the top of Senlac Hill.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men locked their shields together to make 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shield wall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William's archers, foot soldiers and cavalry were at the bottom.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Charging uphill, they could not break the wall.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the Normans tried a trick.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of them pretended to run away.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English soldiers chased them down the hill, and the wall broke.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fighting went on for hours.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Harold was killed, and William had won.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two sides line up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6F0E6"/>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Top of the hill, shield wall, holds. Bottom of the hill, archers and cavalry, cannot break it. That is the first half of the battle.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William landed on 28 September and the battle was fought on 14 October. For how many days did William wait in the south for Harold? (September has 30 days.)</a:t>
            </a:r>
            <a:endParaRPr lang="en-US" sz="1800" dirty="0"/>
          </a:p>
        </p:txBody>
      </p:sp>
      <p:sp>
        <p:nvSpPr>
          <p:cNvPr id="14" name="step-box"/>
          <p:cNvSpPr/>
          <p:nvPr/>
        </p:nvSpPr>
        <p:spPr>
          <a:xfrm>
            <a:off x="6126480" y="3446272"/>
            <a:ext cx="5379415" cy="794512"/>
          </a:xfrm>
          <a:prstGeom prst="roundRect">
            <a:avLst>
              <a:gd name="adj" fmla="val 11509"/>
            </a:avLst>
          </a:prstGeom>
          <a:solidFill>
            <a:srgbClr val="F6F2EF"/>
          </a:solidFill>
          <a:ln/>
        </p:spPr>
      </p:sp>
      <p:sp>
        <p:nvSpPr>
          <p:cNvPr id="15" name="step-hex"/>
          <p:cNvSpPr/>
          <p:nvPr/>
        </p:nvSpPr>
        <p:spPr>
          <a:xfrm>
            <a:off x="6217920" y="3661398"/>
            <a:ext cx="420624" cy="364260"/>
          </a:xfrm>
          <a:prstGeom prst="hexagon">
            <a:avLst/>
          </a:prstGeom>
          <a:solidFill>
            <a:srgbClr val="7A4A1E"/>
          </a:solidFill>
          <a:ln/>
        </p:spPr>
      </p:sp>
      <p:sp>
        <p:nvSpPr>
          <p:cNvPr id="16" name="step-hex-label"/>
          <p:cNvSpPr txBox="1"/>
          <p:nvPr/>
        </p:nvSpPr>
        <p:spPr>
          <a:xfrm>
            <a:off x="6217920" y="36613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28 September to the end of the month: 30 − 28 = 2 days.</a:t>
            </a:r>
            <a:endParaRPr lang="en-US" sz="1800" dirty="0"/>
          </a:p>
        </p:txBody>
      </p:sp>
      <p:sp>
        <p:nvSpPr>
          <p:cNvPr id="18" name="step-box"/>
          <p:cNvSpPr/>
          <p:nvPr/>
        </p:nvSpPr>
        <p:spPr>
          <a:xfrm>
            <a:off x="6126480" y="4332224"/>
            <a:ext cx="5379415" cy="566928"/>
          </a:xfrm>
          <a:prstGeom prst="roundRect">
            <a:avLst>
              <a:gd name="adj" fmla="val 16129"/>
            </a:avLst>
          </a:prstGeom>
          <a:solidFill>
            <a:srgbClr val="F6F2EF"/>
          </a:solidFill>
          <a:ln/>
        </p:spPr>
      </p:sp>
      <p:sp>
        <p:nvSpPr>
          <p:cNvPr id="19" name="step-hex"/>
          <p:cNvSpPr/>
          <p:nvPr/>
        </p:nvSpPr>
        <p:spPr>
          <a:xfrm>
            <a:off x="6217920" y="4433558"/>
            <a:ext cx="420624" cy="364260"/>
          </a:xfrm>
          <a:prstGeom prst="hexagon">
            <a:avLst/>
          </a:prstGeom>
          <a:solidFill>
            <a:srgbClr val="7A4A1E"/>
          </a:solidFill>
          <a:ln/>
        </p:spPr>
      </p:sp>
      <p:sp>
        <p:nvSpPr>
          <p:cNvPr id="20" name="step-hex-label"/>
          <p:cNvSpPr txBox="1"/>
          <p:nvPr/>
        </p:nvSpPr>
        <p:spPr>
          <a:xfrm>
            <a:off x="6217920" y="4433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332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14 days into October: 2 + 14 = 16 days.</a:t>
            </a:r>
            <a:endParaRPr lang="en-US" sz="1800" dirty="0"/>
          </a:p>
        </p:txBody>
      </p:sp>
      <p:sp>
        <p:nvSpPr>
          <p:cNvPr id="22" name="worked-answer"/>
          <p:cNvSpPr/>
          <p:nvPr/>
        </p:nvSpPr>
        <p:spPr>
          <a:xfrm>
            <a:off x="6126480" y="5036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16 days</a:t>
            </a:r>
            <a:endParaRPr lang="en-US" sz="1800" dirty="0"/>
          </a:p>
        </p:txBody>
      </p:sp>
      <p:sp>
        <p:nvSpPr>
          <p:cNvPr id="23" name="bullet-card"/>
          <p:cNvSpPr/>
          <p:nvPr/>
        </p:nvSpPr>
        <p:spPr>
          <a:xfrm>
            <a:off x="548640" y="1389888"/>
            <a:ext cx="5074920" cy="1320546"/>
          </a:xfrm>
          <a:prstGeom prst="roundRect">
            <a:avLst>
              <a:gd name="adj" fmla="val 5540"/>
            </a:avLst>
          </a:prstGeom>
          <a:solidFill>
            <a:srgbClr val="F8F6F4"/>
          </a:solidFill>
          <a:ln/>
        </p:spPr>
      </p:sp>
      <p:sp>
        <p:nvSpPr>
          <p:cNvPr id="24" name="bullet-hex"/>
          <p:cNvSpPr/>
          <p:nvPr/>
        </p:nvSpPr>
        <p:spPr>
          <a:xfrm>
            <a:off x="676656" y="1883868"/>
            <a:ext cx="384048" cy="332586"/>
          </a:xfrm>
          <a:prstGeom prst="hexagon">
            <a:avLst/>
          </a:prstGeom>
          <a:solidFill>
            <a:srgbClr val="7A4A1E"/>
          </a:solidFill>
          <a:ln/>
        </p:spPr>
      </p:sp>
      <p:sp>
        <p:nvSpPr>
          <p:cNvPr id="25"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14 October 1066 the battle began. Harold Godwinson's army was exhausted.</a:t>
            </a:r>
            <a:endParaRPr lang="en-US" sz="2200" dirty="0"/>
          </a:p>
        </p:txBody>
      </p:sp>
      <p:sp>
        <p:nvSpPr>
          <p:cNvPr id="26" name="bullet-card"/>
          <p:cNvSpPr/>
          <p:nvPr/>
        </p:nvSpPr>
        <p:spPr>
          <a:xfrm>
            <a:off x="548640" y="2856738"/>
            <a:ext cx="5074920" cy="1661414"/>
          </a:xfrm>
          <a:prstGeom prst="roundRect">
            <a:avLst>
              <a:gd name="adj" fmla="val 4403"/>
            </a:avLst>
          </a:prstGeom>
          <a:solidFill>
            <a:srgbClr val="F8F6F4"/>
          </a:solidFill>
          <a:ln/>
        </p:spPr>
      </p:sp>
      <p:sp>
        <p:nvSpPr>
          <p:cNvPr id="27" name="bullet-hex"/>
          <p:cNvSpPr/>
          <p:nvPr/>
        </p:nvSpPr>
        <p:spPr>
          <a:xfrm>
            <a:off x="676656" y="3521152"/>
            <a:ext cx="384048" cy="332586"/>
          </a:xfrm>
          <a:prstGeom prst="hexagon">
            <a:avLst/>
          </a:prstGeom>
          <a:solidFill>
            <a:srgbClr val="B8862B"/>
          </a:solidFill>
          <a:ln/>
        </p:spPr>
      </p:sp>
      <p:sp>
        <p:nvSpPr>
          <p:cNvPr id="28"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 chose his ground well. He placed his army at the top of Senlac Hill and formed a defensive shield wall along the ridge.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trick that broke the wall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Fake retreat: the Normans pretend to run; the English chase; the wall breaks. Say it in those three steps.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 could not break the shield wall by force. So part of his army staged a fake retreat: they pretended to run away down the hill.</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Normans kept doing it. Each fake retreat pulled more English soldiers out of the wall and killed them in the open.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Was the fake retreat a planned tactic or a lucky accident?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death of a 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Harold's death: disputed. Arrow in the eye, or cut down by cavalry. A careful historian gives both.</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Late in the day, Harold Godwinson was killed. How he died is disputed.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is not disputed is the effect. Without their king, the English army had no cause left to fight for, and it broke and ran.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historian, Marc Morris, offers an interpretation of the result.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Five key moments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five key moments of the Battle of Hastings in chronological order, first to last.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Normans keep fake retreating until the shield wall is broken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Part of William's army stages a fake retreat, and some English soldiers chase them down the hill</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battle continues for hours until Harold is killed and the English flee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William's archers, foot soldiers and cavalry cannot break the wall, and Harold receives reinforcements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Harold forms a shield wall at the top of Senlac Hill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Five key moments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five key moments of the Battle of Hastings in chronological order, first to last.</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battle starts with both sides in position: the wall on the hill.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William attacks and fails. Then he tries the trick once. Then he repeats it until it works.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end of a battle is the end of a king.</a:t>
            </a:r>
            <a:endParaRPr lang="en-US" sz="1800" dirty="0"/>
          </a:p>
        </p:txBody>
      </p:sp>
      <p:sp>
        <p:nvSpPr>
          <p:cNvPr id="17" name="col-Core"/>
          <p:cNvSpPr/>
          <p:nvPr/>
        </p:nvSpPr>
        <p:spPr>
          <a:xfrm>
            <a:off x="4338218" y="2593848"/>
            <a:ext cx="3515258" cy="3550920"/>
          </a:xfrm>
          <a:prstGeom prst="roundRect">
            <a:avLst>
              <a:gd name="adj" fmla="val 1561"/>
            </a:avLst>
          </a:prstGeom>
          <a:solidFill>
            <a:srgbClr val="E6DDD4"/>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Wall holds; wall cannot be broken; one fake retreat; many fake retreats; the king dies.</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7A4A1E"/>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homework storyboard needs six scenes. Add a sixth moment, before the first or after the last, and explain why it belongs in the story of the battle.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Tactics or luck?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events at Hastings was most clearly a tactic, a plan carried out on purpose, rather than luck?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placing his shield wall at the top of Senlac Hill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being killed late in the day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happening to survive the battle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wind changing so that William could cross the Channel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Tactics or luck?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of these events at Hastings was most clearly a tactic, a plan carried out on purpose, rather than luck?</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lesson's definition: luck is something that happened by chance that William or Harold could not control.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Tactics are the way the two men organised and ordered their armies during the battle.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each option ask: did someone decide this, or did it just happen?</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DD4"/>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one option is a decision somebody made. The other three happened to people.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fake retreat is the hard case: it could be a tactic or an accident that became one. Write two sentences, one arguing each side, and say which you believe.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Harold Godwinson formed a defensive shield wall at the top of ___ Hill.</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Senlac   ·   Stamford   ·   Westminster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Five key moments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Harold forms a shield wall at the top of Senlac Hill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William's archers, foot soldiers and cavalry cannot break the wall, and Harold receives reinforcements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Part of William's army stages a fake retreat, and some English soldiers chase them down the hill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Normans keep fake retreating until the shield wall is broken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battle continues for hours until Harold is killed and the English flee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formed the wall on Senlac Hill; William's attacks failed and Harold gained reinforcements; the Normans tried a fake retreat; they repeated it until the wall broke; then hours of fighting ended with Harold's death.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Tactics or luck?</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events at Hastings was most clearly a tactic, a plan carried out on purpose, rather than luck?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Harold placing his shield wall at the top of Senlac Hill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tactic is a deliberate choice about how to fight; luck is chance that nobody controlled. Choosing the hilltop was Harold's decision. The wind, Harold's death and William's survival were chance.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Harold Godwinson formed a defensive shield wall at the top of ___ Hill.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Harold Godwinson formed a defensive shield wall at the top of Senlac Hill.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English held the top of Senlac Hill, which forced William's archers and cavalry to attack uphill.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5: The Battle of Hastings</dc:title>
  <dc:subject>History · Year 7</dc:subject>
  <dc:creator>Dr Vitor Merissi de Carvalho</dc:creator>
  <cp:lastModifiedBy>Dr Vitor Merissi de Carvalho</cp:lastModifiedBy>
  <cp:revision>1</cp:revision>
  <dcterms:created xsi:type="dcterms:W3CDTF">2026-10-19T16:23:06Z</dcterms:created>
  <dcterms:modified xsi:type="dcterms:W3CDTF">2026-10-19T16:23:06Z</dcterms:modified>
</cp:coreProperties>
</file>