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01b1705-b3f3-25da-3b1e-43159a8f63bf}">
          <p14:sldIdLst>
            <p14:sldId id="256"/>
          </p14:sldIdLst>
        </p14:section>
        <p14:section name="Gate" id="{5b4416f4-5c17-407e-9e52-afcf0c4b1d3f}">
          <p14:sldIdLst>
            <p14:sldId id="257"/>
            <p14:sldId id="258"/>
          </p14:sldIdLst>
        </p14:section>
        <p14:section name="Pre-teach" id="{54747a0b-527e-9b7a-48b7-fc8eb6660d7a}">
          <p14:sldIdLst>
            <p14:sldId id="259"/>
          </p14:sldIdLst>
        </p14:section>
        <p14:section name="Read-along" id="{a65c2f93-5b44-48f5-8adc-aad0e7285d40}">
          <p14:sldIdLst>
            <p14:sldId id="260"/>
            <p14:sldId id="261"/>
          </p14:sldIdLst>
        </p14:section>
        <p14:section name="Teach" id="{2978b56c-d810-be13-f108-db263418693e}">
          <p14:sldIdLst>
            <p14:sldId id="262"/>
            <p14:sldId id="263"/>
            <p14:sldId id="264"/>
            <p14:sldId id="265"/>
          </p14:sldIdLst>
        </p14:section>
        <p14:section name="Routes" id="{28abbbd0-dad1-db33-2194-d74011312e00}">
          <p14:sldIdLst>
            <p14:sldId id="266"/>
            <p14:sldId id="267"/>
            <p14:sldId id="268"/>
            <p14:sldId id="269"/>
          </p14:sldIdLst>
        </p14:section>
        <p14:section name="Close" id="{089f9e59-f22e-70ee-9b57-462869203898}">
          <p14:sldIdLst>
            <p14:sldId id="270"/>
          </p14:sldIdLst>
        </p14:section>
        <p14:section name="Answers" id="{7ccf9bff-a39a-8795-869e-9aa4542a5f75}">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A throne up for grabs. This chapter gives you the problem that started everything: a king who died without a son, and three men who each said the crown was theirs.
This deck covers the department's lesson: 1 (Challengers for the throne: who should be King in 1066?: Why was the throne up for grabs in 1066, and who had the best claim to it?).
Read the big question aloud: "William won the Battle of Hastings because he was lucky. How far do you agree?"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was it not clear who should be king when Edward the Confessor died?  →  C   Edward had no children, and he had let his earls rule for him
2. Edward the Confessor became king in 1042 and died in 1066. For how many years was he king?  →  24 years
3. Harold Godwinson was crowned on 6 January 1066, the same day as Edward's ___.  →  funeral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Edward had no children, and he had let his earls rule for him. Edward had no son or heir, and because he relied on his earls to rule, nobody could be sure who he wanted to take over.
2. 24 years. 1066 − 1042 = 24. Subtract the earlier AD date from the later one to find the gap.
3. funeral. Edward was buried on 6 January, and Harold was crowned in Westminster Abbey the same day, so that England had a king at once.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heir: the person who takes over when a king dies. Example: "Edward had no son, so England had no clear heir."
• earl: a man who ruled part of England for the king. Example: "Harold was the Earl of Wessex, the most powerful part of England."
• claim: a reason for saying the throne should be yours. Example: "William's claim was that Edward had promised him the throne."
• oath: a very serious promise, often made on holy objects. Example: "In 1064 Harold swore an oath to support William."
• coronation: the ceremony where someone is crowned king. Example: "Harold's coronation happened the day after Edward died."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In 1066 England had a problem.
2. King Edward the Confessor died on 5 January.
3. He had no children, so there was no clear heir.
4. Three men said the throne should be theirs.
5. Harold Godwinson was the Earl of Wessex and Edward's brother-in-law.
6. He said Edward had named him heir on his deathbed.
7. William was the Duke of Normandy, across the sea in France.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He said Edward had promised him the throne in 1051.
9. Harald Hardrada was the King of Norway, a Viking.
10. He said the throne had been promised to his family long before.
11. Harold Godwinson acted fast.
12. He was crowned King on 6 January, the day of Edward's funeral.
13. But the contest for the throne was only just beginning.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does 1066 fit?. Say it in your own words, then check understanding with a quick question: ask a pupil from the pre-teach group first, since they met these words and ideas before the lesson. Pupils try to recall before you re-explain.
Historians put events in order of time. This is called chronology. Years before the birth of Jesus are labelled BC, and the bigger the number, the longer ago it was: Alexander the Great conquered Egypt in 332 BC, and the Roman Empire was created in 27 BC. Years after the birth of Jesus are labelled AD, and here the bigger the number, the more recent the event: the Romans left Britain in AD 410, the Great Fire of London was in 1666, and Queen Elizabeth II died in 2022.
So where does 1066 sit? It is AD, so it comes after the Romans left Britain. It is 600 years before the Great Fire of London, and nearly a thousand years before today. Historians call this period the Middle Ages, or the medieval period. England was a kingdom ruled by a king, with powerful earls who ran its regions for him.
Keep this timeline in your head as you read. Everything in this unit happens inside one year, 1066, between a death in January and a battle in October. Knowing the order of events is the first skill of a historian, and you will be asked to use it in every chapter.
Worked example — model it step by step, thinking aloud: How many years passed between the Romans leaving Britain (AD 410) and the year 1066? (1) Both dates are AD, so the later date minus the earlier date gives the gap. (2) 1066 − 410 = 656. Answer: 656 years.
Tip: BC counts down to zero; AD counts up from it. For two AD dates, subtract the smaller from the bigger to find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king who let others rule. Say it in your own words, then check understanding with a quick question: ask a pupil from the pre-teach group first, since they met these words and ideas before the lesson. Pupils try to recall before you re-explain.
Edward the Confessor had been King of England since 1042. He was a deeply religious man, who spent more time on his relationship with God than on running his kingdom. Instead he relied on his earls, the powerful men who ruled parts of England on his behalf, to govern the country for him.
The most powerful of these earls was Harold Godwinson, Earl of Wessex. Wessex was the richest and strongest region in England. To secure his throne, Edward had married Harold's sister, which made Harold the king's brother-in-law as well as his close friend and right-hand man. By the end of Edward's reign, Harold was running England in all but name.
There was one thing Edward did not do: he did not have a son. When he died on 5 January 1066, after 24 years as king, there was no obvious heir. Because Edward had let others rule for him, it was also not clear who he would have wanted to take over. England fell into a crisis. The contest for the throne had begun.
Tip: An earl ruled part of England for the king. Remember the word: it comes up in every lesson of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contenders, three claims. Say it in your own words, then check understanding with a quick question: ask a pupil from the pre-teach group first, since they met these words and ideas before the lesson. Pupils try to recall before you re-explain.
Harold Godwinson was English, the Earl of Wessex, and already the most powerful man in the country. His claim was that Edward had named him as heir on his deathbed. He had the support of the English nobles, who wanted a strong soldier on the throne straight away. Against him: he was not of royal blood, and in 1064 he had sworn an oath, on holy relics, to support William.
William, Duke of Normandy, was a ruthless ruler from across the Channel in France, feared as one of the best warriors in Europe. His claim was that Edward had promised him the throne in 1051, when William visited England, and that Harold had confirmed it with his oath in 1064. Against him: he was a foreigner, and a promise made fifteen years earlier is hard to prove. One English writer, Eadmer, said Harold only agreed because he was in danger: “Harold saw there was danger and so agreed to all that William wished.”
Harald Hardrada was King of Norway, a fierce Viking warrior whose name means ‘hard ruler’. His claim went back a generation: an earlier Norwegian king, Magnus, had been promised the English throne by Harthacnut, who ruled England from 1040 to 1042. Harthacnut's father Cnut had been King of England before that, from 1016 to 1035, so Hardrada said he was reclaiming a Viking line. He could count on support from Viking families in the north of England. Against him: the promise was not made to him, and most of England did not want a Viking king.
Quotation: "William told Harold that King Edward had promised him that he would succeed him on the throne." (Eadmer, writing c. 1120, as given in the department's source sheet). Read it aloud; ask what it shows.
Tip: Two Harolds, one Harald. Harold Godwinson is English; Harald Hardrada is the Norwegian. Spell them differently and you will never mix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Harold moves fast. Say it in your own words, then check understanding with a quick question: ask a pupil from the pre-teach group first, since they met these words and ideas before the lesson. Pupils try to recall before you re-explain.
Harold Godwinson did not wait. On 6 January 1066, the day after Edward died and the very same day as the king's funeral, Harold was crowned King Harold II in Westminster Abbey. The English nobles wanted a quick coronation so that there was a king on the throne before anyone could argue.
Think about how the other two contenders felt when the news reached them. William believed the throne had been promised to him and that Harold had sworn to support him. Hardrada believed a Viking line was being pushed aside. A coronation in one day looked, to both men, like a crown being grabbed. Both began to prepare.
Your lesson asked what makes a good king in 1066: a strong army, skill in battle, loyal supporters, knowing how to lead and understand the country, ruthlessness towards enemies, and a valid claim through blood or promise. As you read the rest of this unit, keep scoring the three men against that list. The contest for the throne was not over; it had just moved from the council chamber to the battlefield.
Tip: Edward died on 5 January; Harold was crowned on 6 January. Two dates, one day apart: learn them as a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 claimed what?.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contender to his main claim to the English throne.
Support — work through the steps with the group: (1) Start with where each man came from: England, Normandy, Norway. (2) The English contender's claim comes from the dying king and the English nobles. (3) The Norman's claim comes from a promise in 1051 and an oath in 1064. (4) The Viking's claim goes back to earlier kings: Cnut and Harthacnut.
Parallel worked example for Support (model it, do not give the task answer): Practice: a king dies and leaves a will naming his nephew. His cousin says the throne was promised to her years ago. Whose claim rests on a promise, and whose on the king's last wishes? The nephew's claim rests on the will: the king's last wishes.; The cousin's claim rests on an old promise.. Answer: The nephew: last wishes. The cousin: a promise..
Core — reveal the hint only on request: Deathbed, promise and oath, Viking line. Each phrase belongs to one man.
Stretch — no help; when finished: Each claim has a weakness: not royal blood, a foreigner with an old promise, a promise made to someone else. Match each weakness to its contender, then say which weakness you think mattered most to people in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 claimed what?.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contender to his main claim to the English throne.
Support — work through the steps with the group: (1) Start with where each man came from: England, Normandy, Norway. (2) The English contender's claim comes from the dying king and the English nobles. (3) The Norman's claim comes from a promise in 1051 and an oath in 1064. (4) The Viking's claim goes back to earlier kings: Cnut and Harthacnut.
Parallel worked example for Support (model it, do not give the task answer): Practice: a king dies and leaves a will naming his nephew. His cousin says the throne was promised to her years ago. Whose claim rests on a promise, and whose on the king's last wishes? The nephew's claim rests on the will: the king's last wishes.; The cousin's claim rests on an old promise.. Answer: The nephew: last wishes. The cousin: a promise..
Core — reveal the hint only on request: Deathbed, promise and oath, Viking line. Each phrase belongs to one man.
Stretch — no help; when finished: Each claim has a weakness: not royal blood, a foreigner with an old promise, a promise made to someone else. Match each weakness to its contender, then say which weakness you think mattered most to people in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road to 1066.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earliest first.
Support — work through the steps with the group: (1) Every event has a year in brackets. Chronological order means smallest year first. (2) Two events share 1042: Harthacnut's reign ends in 1042 and Edward's begins in 1042, so the one that ends comes first. (3) Check the story makes sense: a promise (1051) must come before the oath that confirms it (1064), and both come before Edward dies.
Parallel worked example for Support (model it, do not give the task answer): Practice: put in order: the Great Fire of London (1666), the Romans leave Britain (410), Queen Elizabeth II dies (2022). All three are AD, so smallest number first.; 410, then 1666, then 2022.. Answer: Romans leave Britain; Great Fire of London; Queen Elizabeth II dies..
Core — reveal the hint only on request: Cnut, then his son Harthacnut, then Edward. Then the promise, then the oath, then the death.
Stretch — no help; when finished: Harold's oath came thirteen years after Edward's promise. Explain why William thought the oath made his claim stronger, and why Harold said it did not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road to 1066.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earliest first.
Support — work through the steps with the group: (1) Every event has a year in brackets. Chronological order means smallest year first. (2) Two events share 1042: Harthacnut's reign ends in 1042 and Edward's begins in 1042, so the one that ends comes first. (3) Check the story makes sense: a promise (1051) must come before the oath that confirms it (1064), and both come before Edward dies.
Parallel worked example for Support (model it, do not give the task answer): Practice: put in order: the Great Fire of London (1666), the Romans leave Britain (410), Queen Elizabeth II dies (2022). All three are AD, so smallest number first.; 410, then 1666, then 2022.. Answer: Romans leave Britain; Great Fire of London; Queen Elizabeth II dies..
Core — reveal the hint only on request: Cnut, then his son Harthacnut, then Edward. Then the promise, then the oath, then the death.
Stretch — no help; when finished: Harold's oath came thirteen years after Edward's promise. Explain why William thought the oath made his claim stronger, and why Harold said it did not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was it not clear who should be king when Edward the Confessor died?
Answer: B   Edward had no children, and he had let his earls rule for him. Edward had no son or heir, and because he relied on his earls to rule, nobody could be sure who he wanted to take over.
Source of this question: gate item 1 re-asked (options rotated) — this chapter has no third quick-check module.
The ebook also holds task 3, "Who should be king?",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Who claimed what?. Reveal the answer; pupils mark their own work in a different colour, then read the "why" together. Same destination for every lane, so one answer serves the whole class.
Answer: Harold Godwinson  →  B  Edward named him heir on his deathbed, and the English nobles supported him; William, Duke of Normandy  →  C  Edward promised him the throne in 1051, and Harold swore an oath to support him in 1064; Harald Hardrada  →  A  An earlier Norwegian king had been promised the throne by Harthacnut, so he was reclaiming a Viking line
Why: Harold's claim was Edward's deathbed wish and English support; William's was Edward's promise in 1051 backed by Harold's oath in 1064; Hardrada's was a promise made to the Norwegian king Magnus by Harthacnut, which he said made him heir to a Viking line.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road to 1066. Reveal the answer; pupils mark their own work in a different colour, then read the "why" together. Same destination for every lane, so one answer serves the whole class.
Answer: Cnut becomes King of England (1016)  (C); Harthacnut is King of England (1040 to 1042)  (B); Edward the Confessor becomes King of England (1042)  (E); Edward promises the throne to William (1051)  (F); Harold swears an oath to support William (1064)  (D); Edward dies without an heir (5 January 1066)  (A)
Why: Cnut (1016) came before his son Harthacnut (1040 to 1042); Edward took over in 1042; he promised William the throne in 1051; Harold swore his oath in 1064; and Edward died on 5 January 1066.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Edward had no children, and he had let his earls rule for him
Why: Edward had no son or heir, and because he relied on his earls to rule, nobody could be sure who he wanted to take over.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Hastings · AQA KS3 → 8145</a:t>
            </a:r>
            <a:endParaRPr lang="en-US" sz="1800" dirty="0"/>
          </a:p>
        </p:txBody>
      </p:sp>
      <p:sp>
        <p:nvSpPr>
          <p:cNvPr id="10" name="deck-title"/>
          <p:cNvSpPr txBox="1"/>
          <p:nvPr/>
        </p:nvSpPr>
        <p:spPr>
          <a:xfrm>
            <a:off x="548640" y="256844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 throne up for grabs</a:t>
            </a:r>
            <a:endParaRPr lang="en-US" sz="4000" dirty="0"/>
          </a:p>
        </p:txBody>
      </p:sp>
      <p:sp>
        <p:nvSpPr>
          <p:cNvPr id="11" name="lessons-card"/>
          <p:cNvSpPr/>
          <p:nvPr/>
        </p:nvSpPr>
        <p:spPr>
          <a:xfrm>
            <a:off x="548640" y="3584448"/>
            <a:ext cx="5287975" cy="1290320"/>
          </a:xfrm>
          <a:prstGeom prst="roundRect">
            <a:avLst>
              <a:gd name="adj" fmla="val 5669"/>
            </a:avLst>
          </a:prstGeom>
          <a:solidFill>
            <a:srgbClr val="F6F2EF"/>
          </a:solidFill>
          <a:ln/>
        </p:spPr>
      </p:sp>
      <p:sp>
        <p:nvSpPr>
          <p:cNvPr id="12" name="lessons"/>
          <p:cNvSpPr txBox="1"/>
          <p:nvPr/>
        </p:nvSpPr>
        <p:spPr>
          <a:xfrm>
            <a:off x="685800" y="36758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Challengers for the throne: who should be King in 1066?</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William won the Battle of Hastings because he was lucky. How far do you agree?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Why was it not clear who should be king when Edward the Confessor died?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England had never had a king before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Edward had given the crown to the Pope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Edward had no children, and he had let his earls rule for him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Edward had twin sons who both wanted the throne</a:t>
            </a:r>
            <a:endParaRPr lang="en-US" sz="2200" dirty="0"/>
          </a:p>
        </p:txBody>
      </p:sp>
      <p:sp>
        <p:nvSpPr>
          <p:cNvPr id="12" name="card"/>
          <p:cNvSpPr/>
          <p:nvPr/>
        </p:nvSpPr>
        <p:spPr>
          <a:xfrm>
            <a:off x="6095848" y="1389888"/>
            <a:ext cx="2636444" cy="4754880"/>
          </a:xfrm>
          <a:prstGeom prst="roundRect">
            <a:avLst>
              <a:gd name="adj" fmla="val 2081"/>
            </a:avLst>
          </a:prstGeom>
          <a:solidFill>
            <a:srgbClr val="FAF8F6"/>
          </a:solidFill>
          <a:ln w="12700">
            <a:solidFill>
              <a:srgbClr val="D4C5B7"/>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Edward the Confessor became king in 1042 and died in 1066. For how many years was he king?</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years</a:t>
            </a:r>
            <a:endParaRPr lang="en-US" sz="2200" dirty="0"/>
          </a:p>
        </p:txBody>
      </p:sp>
      <p:sp>
        <p:nvSpPr>
          <p:cNvPr id="17"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Harold Godwinson was crowned on 6 January 1066, the same day as Edward's ___.</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funeral  ·  wedding  ·  birthday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Edward had no children, and he had let his earls rule for him</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Why was it not clear who should be king when Edward the Confessor died?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Edward had no son or heir, and because he relied on his earls to rule, nobody could be sure who he wanted to take over.</a:t>
            </a:r>
            <a:endParaRPr lang="en-US" sz="2200" dirty="0"/>
          </a:p>
        </p:txBody>
      </p:sp>
      <p:sp>
        <p:nvSpPr>
          <p:cNvPr id="14" name="card"/>
          <p:cNvSpPr/>
          <p:nvPr/>
        </p:nvSpPr>
        <p:spPr>
          <a:xfrm>
            <a:off x="6095848" y="1389888"/>
            <a:ext cx="2636444" cy="4754880"/>
          </a:xfrm>
          <a:prstGeom prst="roundRect">
            <a:avLst>
              <a:gd name="adj" fmla="val 2081"/>
            </a:avLst>
          </a:prstGeom>
          <a:solidFill>
            <a:srgbClr val="FAF8F6"/>
          </a:solidFill>
          <a:ln w="12700">
            <a:solidFill>
              <a:srgbClr val="D4C5B7"/>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24 years</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1066 − 1042 = 24. Subtract the earlier AD date from the later one to find the gap.</a:t>
            </a:r>
            <a:endParaRPr lang="en-US" sz="1800" dirty="0"/>
          </a:p>
        </p:txBody>
      </p:sp>
      <p:sp>
        <p:nvSpPr>
          <p:cNvPr id="21"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funeral</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Edward was buried on 6 January, and Harold was crowned in Westminster Abbey the same day, so that England had a king at once.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6F4"/>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heir</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person who takes over when a king dies</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Edward had no son, so England had no clear heir.</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earl</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man who ruled part of England for the king</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Harold was the Earl of Wessex, the most powerful part of England.</a:t>
            </a:r>
            <a:endParaRPr lang="en-US" sz="1800" dirty="0"/>
          </a:p>
        </p:txBody>
      </p:sp>
      <p:sp>
        <p:nvSpPr>
          <p:cNvPr id="21" name="kw-row"/>
          <p:cNvSpPr/>
          <p:nvPr/>
        </p:nvSpPr>
        <p:spPr>
          <a:xfrm>
            <a:off x="548640" y="3639312"/>
            <a:ext cx="11094415" cy="786384"/>
          </a:xfrm>
          <a:prstGeom prst="roundRect">
            <a:avLst>
              <a:gd name="adj" fmla="val 6977"/>
            </a:avLst>
          </a:prstGeom>
          <a:solidFill>
            <a:srgbClr val="F8F6F4"/>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claim</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reason for saying the throne should be yours</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William's claim was that Edward had promised him the throne.</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oath</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very serious promise, often made on holy objects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1064 Harold swore an oath to support William.</a:t>
            </a:r>
            <a:endParaRPr lang="en-US" sz="1800" dirty="0"/>
          </a:p>
        </p:txBody>
      </p:sp>
      <p:sp>
        <p:nvSpPr>
          <p:cNvPr id="31" name="kw-row"/>
          <p:cNvSpPr/>
          <p:nvPr/>
        </p:nvSpPr>
        <p:spPr>
          <a:xfrm>
            <a:off x="548640" y="5358384"/>
            <a:ext cx="11094415" cy="786384"/>
          </a:xfrm>
          <a:prstGeom prst="roundRect">
            <a:avLst>
              <a:gd name="adj" fmla="val 6977"/>
            </a:avLst>
          </a:prstGeom>
          <a:solidFill>
            <a:srgbClr val="F8F6F4"/>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coronation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ceremony where someone is crowned king</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Harold's coronation happened the day after Edward died.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1066 England had a problem.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King Edward the Confessor died on 5 January.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had no children, so there was no clear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heir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Three men said the throne should be theirs.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Harold Godwinson was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Earl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Wessex and Edward's brother-in-law.</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said Edward had named him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heir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on his deathbed.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William was the Duke of Normandy, across the sea in France.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said Edward had promised him the throne in 1051.</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Harald Hardrada was the King of Norway, a Viking.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said the throne had been promised to his family long before.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Harold Godwinson acted fast.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was crowned King on 6 January, the day of Edward's funeral.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the contest for the throne was only just beginning.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Where does 1066 fit?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BC counts down to zero; AD counts up from it. For two AD dates, subtract the smaller from the bigger to find the gap.</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0AA95"/>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How many years passed between the Romans leaving Britain (AD 410) and the year 1066?</a:t>
            </a:r>
            <a:endParaRPr lang="en-US" sz="1800" dirty="0"/>
          </a:p>
        </p:txBody>
      </p:sp>
      <p:sp>
        <p:nvSpPr>
          <p:cNvPr id="14" name="step-box"/>
          <p:cNvSpPr/>
          <p:nvPr/>
        </p:nvSpPr>
        <p:spPr>
          <a:xfrm>
            <a:off x="6126480" y="2888488"/>
            <a:ext cx="5379415" cy="794512"/>
          </a:xfrm>
          <a:prstGeom prst="roundRect">
            <a:avLst>
              <a:gd name="adj" fmla="val 11509"/>
            </a:avLst>
          </a:prstGeom>
          <a:solidFill>
            <a:srgbClr val="F6F2EF"/>
          </a:solidFill>
          <a:ln/>
        </p:spPr>
      </p:sp>
      <p:sp>
        <p:nvSpPr>
          <p:cNvPr id="15" name="step-hex"/>
          <p:cNvSpPr/>
          <p:nvPr/>
        </p:nvSpPr>
        <p:spPr>
          <a:xfrm>
            <a:off x="6217920" y="3103614"/>
            <a:ext cx="420624" cy="364260"/>
          </a:xfrm>
          <a:prstGeom prst="hexagon">
            <a:avLst/>
          </a:prstGeom>
          <a:solidFill>
            <a:srgbClr val="7A4A1E"/>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Both dates are AD, so the later date minus the earlier date gives the gap.</a:t>
            </a:r>
            <a:endParaRPr lang="en-US" sz="1800" dirty="0"/>
          </a:p>
        </p:txBody>
      </p:sp>
      <p:sp>
        <p:nvSpPr>
          <p:cNvPr id="18" name="step-box"/>
          <p:cNvSpPr/>
          <p:nvPr/>
        </p:nvSpPr>
        <p:spPr>
          <a:xfrm>
            <a:off x="6126480" y="3774440"/>
            <a:ext cx="5379415" cy="566928"/>
          </a:xfrm>
          <a:prstGeom prst="roundRect">
            <a:avLst>
              <a:gd name="adj" fmla="val 16129"/>
            </a:avLst>
          </a:prstGeom>
          <a:solidFill>
            <a:srgbClr val="F6F2EF"/>
          </a:solidFill>
          <a:ln/>
        </p:spPr>
      </p:sp>
      <p:sp>
        <p:nvSpPr>
          <p:cNvPr id="19" name="step-hex"/>
          <p:cNvSpPr/>
          <p:nvPr/>
        </p:nvSpPr>
        <p:spPr>
          <a:xfrm>
            <a:off x="6217920" y="3875774"/>
            <a:ext cx="420624" cy="364260"/>
          </a:xfrm>
          <a:prstGeom prst="hexagon">
            <a:avLst/>
          </a:prstGeom>
          <a:solidFill>
            <a:srgbClr val="7A4A1E"/>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1066 − 410 = 656.</a:t>
            </a:r>
            <a:endParaRPr lang="en-US" sz="1800" dirty="0"/>
          </a:p>
        </p:txBody>
      </p:sp>
      <p:sp>
        <p:nvSpPr>
          <p:cNvPr id="22" name="worked-answer"/>
          <p:cNvSpPr/>
          <p:nvPr/>
        </p:nvSpPr>
        <p:spPr>
          <a:xfrm>
            <a:off x="6126480" y="447852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656 years</a:t>
            </a:r>
            <a:endParaRPr lang="en-US" sz="1800" dirty="0"/>
          </a:p>
        </p:txBody>
      </p:sp>
      <p:sp>
        <p:nvSpPr>
          <p:cNvPr id="23" name="bullet-card"/>
          <p:cNvSpPr/>
          <p:nvPr/>
        </p:nvSpPr>
        <p:spPr>
          <a:xfrm>
            <a:off x="548640" y="1389888"/>
            <a:ext cx="5074920" cy="831596"/>
          </a:xfrm>
          <a:prstGeom prst="roundRect">
            <a:avLst>
              <a:gd name="adj" fmla="val 8797"/>
            </a:avLst>
          </a:prstGeom>
          <a:solidFill>
            <a:srgbClr val="F8F6F4"/>
          </a:solidFill>
          <a:ln/>
        </p:spPr>
      </p:sp>
      <p:sp>
        <p:nvSpPr>
          <p:cNvPr id="24" name="bullet-hex"/>
          <p:cNvSpPr/>
          <p:nvPr/>
        </p:nvSpPr>
        <p:spPr>
          <a:xfrm>
            <a:off x="676656" y="1639393"/>
            <a:ext cx="384048" cy="332586"/>
          </a:xfrm>
          <a:prstGeom prst="hexagon">
            <a:avLst/>
          </a:prstGeom>
          <a:solidFill>
            <a:srgbClr val="7A4A1E"/>
          </a:solidFill>
          <a:ln/>
        </p:spPr>
      </p:sp>
      <p:sp>
        <p:nvSpPr>
          <p:cNvPr id="25" name="bullet"/>
          <p:cNvSpPr txBox="1"/>
          <p:nvPr/>
        </p:nvSpPr>
        <p:spPr>
          <a:xfrm>
            <a:off x="1143000" y="1389888"/>
            <a:ext cx="4389120" cy="83159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Historians put events in order of time. This is called chronology.</a:t>
            </a:r>
            <a:endParaRPr lang="en-US" sz="2000" dirty="0"/>
          </a:p>
        </p:txBody>
      </p:sp>
      <p:sp>
        <p:nvSpPr>
          <p:cNvPr id="26" name="bullet-card"/>
          <p:cNvSpPr/>
          <p:nvPr/>
        </p:nvSpPr>
        <p:spPr>
          <a:xfrm>
            <a:off x="548640" y="2367788"/>
            <a:ext cx="5074920" cy="831596"/>
          </a:xfrm>
          <a:prstGeom prst="roundRect">
            <a:avLst>
              <a:gd name="adj" fmla="val 8797"/>
            </a:avLst>
          </a:prstGeom>
          <a:solidFill>
            <a:srgbClr val="F8F6F4"/>
          </a:solidFill>
          <a:ln/>
        </p:spPr>
      </p:sp>
      <p:sp>
        <p:nvSpPr>
          <p:cNvPr id="27" name="bullet-hex"/>
          <p:cNvSpPr/>
          <p:nvPr/>
        </p:nvSpPr>
        <p:spPr>
          <a:xfrm>
            <a:off x="676656" y="2617293"/>
            <a:ext cx="384048" cy="332586"/>
          </a:xfrm>
          <a:prstGeom prst="hexagon">
            <a:avLst/>
          </a:prstGeom>
          <a:solidFill>
            <a:srgbClr val="B8862B"/>
          </a:solidFill>
          <a:ln/>
        </p:spPr>
      </p:sp>
      <p:sp>
        <p:nvSpPr>
          <p:cNvPr id="28" name="bullet"/>
          <p:cNvSpPr txBox="1"/>
          <p:nvPr/>
        </p:nvSpPr>
        <p:spPr>
          <a:xfrm>
            <a:off x="1143000" y="2367788"/>
            <a:ext cx="4389120" cy="83159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 where does 1066 sit? It is AD, so it comes after the Romans left Britain.</a:t>
            </a:r>
            <a:endParaRPr lang="en-US" sz="2000" dirty="0"/>
          </a:p>
        </p:txBody>
      </p:sp>
      <p:sp>
        <p:nvSpPr>
          <p:cNvPr id="29" name="bullet-card"/>
          <p:cNvSpPr/>
          <p:nvPr/>
        </p:nvSpPr>
        <p:spPr>
          <a:xfrm>
            <a:off x="548640" y="3345688"/>
            <a:ext cx="5074920" cy="1451356"/>
          </a:xfrm>
          <a:prstGeom prst="roundRect">
            <a:avLst>
              <a:gd name="adj" fmla="val 5040"/>
            </a:avLst>
          </a:prstGeom>
          <a:solidFill>
            <a:srgbClr val="F8F6F4"/>
          </a:solidFill>
          <a:ln/>
        </p:spPr>
      </p:sp>
      <p:sp>
        <p:nvSpPr>
          <p:cNvPr id="30" name="bullet-hex"/>
          <p:cNvSpPr/>
          <p:nvPr/>
        </p:nvSpPr>
        <p:spPr>
          <a:xfrm>
            <a:off x="676656" y="3905073"/>
            <a:ext cx="384048" cy="332586"/>
          </a:xfrm>
          <a:prstGeom prst="hexagon">
            <a:avLst/>
          </a:prstGeom>
          <a:solidFill>
            <a:srgbClr val="7A4A1E"/>
          </a:solidFill>
          <a:ln/>
        </p:spPr>
      </p:sp>
      <p:sp>
        <p:nvSpPr>
          <p:cNvPr id="31" name="bullet"/>
          <p:cNvSpPr txBox="1"/>
          <p:nvPr/>
        </p:nvSpPr>
        <p:spPr>
          <a:xfrm>
            <a:off x="1143000" y="3345688"/>
            <a:ext cx="4389120" cy="1451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Keep this timeline in your head as you read. Everything in this unit happens inside one year, 1066, between a death in January and a battle in October.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king who let others rule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earl ruled part of England for the king. Remember the word: it comes up in every lesson of this unit.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Edward the Confessor had been King of England since 1042.</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most powerful of these earls was Harold Godwinson, Earl of Wessex.</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was one thing Edward did not do: he did not have a son.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Three contenders, three claims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6F0E6"/>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Harolds, one Harald. Harold Godwinson is English; Harald Hardrada is the Norwegian. Spell them differently and you will never mix them up.</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6F2EF"/>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William told Harold that King Edward had promised him that he would succeed him on the throne.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Eadmer, writing c. 1120, as given in the department's source sheet</a:t>
            </a:r>
            <a:endParaRPr lang="en-US" sz="2600" dirty="0"/>
          </a:p>
        </p:txBody>
      </p:sp>
      <p:sp>
        <p:nvSpPr>
          <p:cNvPr id="14" name="bullet-card"/>
          <p:cNvSpPr/>
          <p:nvPr/>
        </p:nvSpPr>
        <p:spPr>
          <a:xfrm>
            <a:off x="548640" y="1389888"/>
            <a:ext cx="5074920" cy="1320546"/>
          </a:xfrm>
          <a:prstGeom prst="roundRect">
            <a:avLst>
              <a:gd name="adj" fmla="val 5540"/>
            </a:avLst>
          </a:prstGeom>
          <a:solidFill>
            <a:srgbClr val="F8F6F4"/>
          </a:solidFill>
          <a:ln/>
        </p:spPr>
      </p:sp>
      <p:sp>
        <p:nvSpPr>
          <p:cNvPr id="15" name="bullet-hex"/>
          <p:cNvSpPr/>
          <p:nvPr/>
        </p:nvSpPr>
        <p:spPr>
          <a:xfrm>
            <a:off x="676656" y="1883868"/>
            <a:ext cx="384048" cy="332586"/>
          </a:xfrm>
          <a:prstGeom prst="hexagon">
            <a:avLst/>
          </a:prstGeom>
          <a:solidFill>
            <a:srgbClr val="7A4A1E"/>
          </a:solidFill>
          <a:ln/>
        </p:spPr>
      </p:sp>
      <p:sp>
        <p:nvSpPr>
          <p:cNvPr id="16" name="bullet"/>
          <p:cNvSpPr txBox="1"/>
          <p:nvPr/>
        </p:nvSpPr>
        <p:spPr>
          <a:xfrm>
            <a:off x="1143000" y="1389888"/>
            <a:ext cx="4389120" cy="132054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Harold Godwinson was English, the Earl of Wessex, and already the most powerful man in the country.</a:t>
            </a:r>
            <a:endParaRPr lang="en-US" sz="2200" dirty="0"/>
          </a:p>
        </p:txBody>
      </p:sp>
      <p:sp>
        <p:nvSpPr>
          <p:cNvPr id="17" name="bullet-card"/>
          <p:cNvSpPr/>
          <p:nvPr/>
        </p:nvSpPr>
        <p:spPr>
          <a:xfrm>
            <a:off x="548640" y="2856738"/>
            <a:ext cx="5074920" cy="1661414"/>
          </a:xfrm>
          <a:prstGeom prst="roundRect">
            <a:avLst>
              <a:gd name="adj" fmla="val 4403"/>
            </a:avLst>
          </a:prstGeom>
          <a:solidFill>
            <a:srgbClr val="F8F6F4"/>
          </a:solidFill>
          <a:ln/>
        </p:spPr>
      </p:sp>
      <p:sp>
        <p:nvSpPr>
          <p:cNvPr id="18" name="bullet-hex"/>
          <p:cNvSpPr/>
          <p:nvPr/>
        </p:nvSpPr>
        <p:spPr>
          <a:xfrm>
            <a:off x="676656" y="3521152"/>
            <a:ext cx="384048" cy="332586"/>
          </a:xfrm>
          <a:prstGeom prst="hexagon">
            <a:avLst/>
          </a:prstGeom>
          <a:solidFill>
            <a:srgbClr val="B8862B"/>
          </a:solidFill>
          <a:ln/>
        </p:spPr>
      </p:sp>
      <p:sp>
        <p:nvSpPr>
          <p:cNvPr id="19" name="bullet"/>
          <p:cNvSpPr txBox="1"/>
          <p:nvPr/>
        </p:nvSpPr>
        <p:spPr>
          <a:xfrm>
            <a:off x="1143000" y="2856738"/>
            <a:ext cx="4389120" cy="166141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William, Duke of Normandy, was a ruthless ruler from across the Channel in France, feared as one of the best warriors in Europe.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Harold moves fast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Edward died on 5 January; Harold was crowned on 6 January. Two dates, one day apart: learn them as a pair.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Harold Godwinson did not wait. On 6 January 1066, the day after Edward died and the very same day as the king's funeral, Harold was crowned King Harold II in Westminster Abbey.</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Think about how the other two contenders felt when the news reached them.</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asked what makes a good king in 1066: a strong army, skill in battle, loyal supporters, knowing how to lead and understand the country, ruthlessness towards enemies, and a valid claim through blood or promise.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 claimed what?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contender to his main claim to the English throne.</a:t>
            </a:r>
            <a:endParaRPr lang="en-US" sz="2400" dirty="0"/>
          </a:p>
        </p:txBody>
      </p:sp>
      <p:sp>
        <p:nvSpPr>
          <p:cNvPr id="11" name="match-card"/>
          <p:cNvSpPr/>
          <p:nvPr/>
        </p:nvSpPr>
        <p:spPr>
          <a:xfrm>
            <a:off x="777240" y="2468331"/>
            <a:ext cx="3081437" cy="1330804"/>
          </a:xfrm>
          <a:prstGeom prst="roundRect">
            <a:avLst>
              <a:gd name="adj" fmla="val 5497"/>
            </a:avLst>
          </a:prstGeom>
          <a:solidFill>
            <a:srgbClr val="F8F6F4"/>
          </a:solidFill>
          <a:ln/>
        </p:spPr>
      </p:sp>
      <p:sp>
        <p:nvSpPr>
          <p:cNvPr id="12" name="match-hex"/>
          <p:cNvSpPr/>
          <p:nvPr/>
        </p:nvSpPr>
        <p:spPr>
          <a:xfrm>
            <a:off x="850392" y="2967441"/>
            <a:ext cx="384048" cy="332586"/>
          </a:xfrm>
          <a:prstGeom prst="hexagon">
            <a:avLst/>
          </a:prstGeom>
          <a:solidFill>
            <a:srgbClr val="7A4A1E"/>
          </a:solidFill>
          <a:ln/>
        </p:spPr>
      </p:sp>
      <p:sp>
        <p:nvSpPr>
          <p:cNvPr id="13" name="match-hex-label"/>
          <p:cNvSpPr txBox="1"/>
          <p:nvPr/>
        </p:nvSpPr>
        <p:spPr>
          <a:xfrm>
            <a:off x="850392" y="29674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3308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Harold Godwinson</a:t>
            </a:r>
            <a:endParaRPr lang="en-US" sz="2200" dirty="0"/>
          </a:p>
        </p:txBody>
      </p:sp>
      <p:sp>
        <p:nvSpPr>
          <p:cNvPr id="15" name="match-card"/>
          <p:cNvSpPr/>
          <p:nvPr/>
        </p:nvSpPr>
        <p:spPr>
          <a:xfrm>
            <a:off x="4224437" y="2468331"/>
            <a:ext cx="7190019" cy="1330804"/>
          </a:xfrm>
          <a:prstGeom prst="roundRect">
            <a:avLst>
              <a:gd name="adj" fmla="val 5497"/>
            </a:avLst>
          </a:prstGeom>
          <a:solidFill>
            <a:srgbClr val="F9F4EC"/>
          </a:solidFill>
          <a:ln/>
        </p:spPr>
      </p:sp>
      <p:sp>
        <p:nvSpPr>
          <p:cNvPr id="16" name="match-hex"/>
          <p:cNvSpPr/>
          <p:nvPr/>
        </p:nvSpPr>
        <p:spPr>
          <a:xfrm>
            <a:off x="4297589" y="2967441"/>
            <a:ext cx="384048" cy="332586"/>
          </a:xfrm>
          <a:prstGeom prst="hexagon">
            <a:avLst/>
          </a:prstGeom>
          <a:solidFill>
            <a:srgbClr val="B8862B"/>
          </a:solidFill>
          <a:ln/>
        </p:spPr>
      </p:sp>
      <p:sp>
        <p:nvSpPr>
          <p:cNvPr id="17" name="match-hex-label"/>
          <p:cNvSpPr txBox="1"/>
          <p:nvPr/>
        </p:nvSpPr>
        <p:spPr>
          <a:xfrm>
            <a:off x="4297589" y="29674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3308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earlier Norwegian king had been promised the throne by Harthacnut, so he was reclaiming a Viking line</a:t>
            </a:r>
            <a:endParaRPr lang="en-US" sz="2200" dirty="0"/>
          </a:p>
        </p:txBody>
      </p:sp>
      <p:sp>
        <p:nvSpPr>
          <p:cNvPr id="19" name="match-card"/>
          <p:cNvSpPr/>
          <p:nvPr/>
        </p:nvSpPr>
        <p:spPr>
          <a:xfrm>
            <a:off x="777240" y="3890576"/>
            <a:ext cx="3081437" cy="989936"/>
          </a:xfrm>
          <a:prstGeom prst="roundRect">
            <a:avLst>
              <a:gd name="adj" fmla="val 7390"/>
            </a:avLst>
          </a:prstGeom>
          <a:solidFill>
            <a:srgbClr val="F8F6F4"/>
          </a:solidFill>
          <a:ln/>
        </p:spPr>
      </p:sp>
      <p:sp>
        <p:nvSpPr>
          <p:cNvPr id="20" name="match-hex"/>
          <p:cNvSpPr/>
          <p:nvPr/>
        </p:nvSpPr>
        <p:spPr>
          <a:xfrm>
            <a:off x="850392" y="4219251"/>
            <a:ext cx="384048" cy="332586"/>
          </a:xfrm>
          <a:prstGeom prst="hexagon">
            <a:avLst/>
          </a:prstGeom>
          <a:solidFill>
            <a:srgbClr val="7A4A1E"/>
          </a:solidFill>
          <a:ln/>
        </p:spPr>
      </p:sp>
      <p:sp>
        <p:nvSpPr>
          <p:cNvPr id="21" name="match-hex-label"/>
          <p:cNvSpPr txBox="1"/>
          <p:nvPr/>
        </p:nvSpPr>
        <p:spPr>
          <a:xfrm>
            <a:off x="850392" y="421925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890576"/>
            <a:ext cx="2487077"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William, Duke of Normandy</a:t>
            </a:r>
            <a:endParaRPr lang="en-US" sz="2200" dirty="0"/>
          </a:p>
        </p:txBody>
      </p:sp>
      <p:sp>
        <p:nvSpPr>
          <p:cNvPr id="23" name="match-card"/>
          <p:cNvSpPr/>
          <p:nvPr/>
        </p:nvSpPr>
        <p:spPr>
          <a:xfrm>
            <a:off x="4224437" y="3890576"/>
            <a:ext cx="7190019" cy="989936"/>
          </a:xfrm>
          <a:prstGeom prst="roundRect">
            <a:avLst>
              <a:gd name="adj" fmla="val 7390"/>
            </a:avLst>
          </a:prstGeom>
          <a:solidFill>
            <a:srgbClr val="F9F4EC"/>
          </a:solidFill>
          <a:ln/>
        </p:spPr>
      </p:sp>
      <p:sp>
        <p:nvSpPr>
          <p:cNvPr id="24" name="match-hex"/>
          <p:cNvSpPr/>
          <p:nvPr/>
        </p:nvSpPr>
        <p:spPr>
          <a:xfrm>
            <a:off x="4297589" y="4219251"/>
            <a:ext cx="384048" cy="332586"/>
          </a:xfrm>
          <a:prstGeom prst="hexagon">
            <a:avLst/>
          </a:prstGeom>
          <a:solidFill>
            <a:srgbClr val="B8862B"/>
          </a:solidFill>
          <a:ln/>
        </p:spPr>
      </p:sp>
      <p:sp>
        <p:nvSpPr>
          <p:cNvPr id="25" name="match-hex-label"/>
          <p:cNvSpPr txBox="1"/>
          <p:nvPr/>
        </p:nvSpPr>
        <p:spPr>
          <a:xfrm>
            <a:off x="4297589" y="421925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890576"/>
            <a:ext cx="6595659"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Edward named him heir on his deathbed, and the English nobles supported him</a:t>
            </a:r>
            <a:endParaRPr lang="en-US" sz="2200" dirty="0"/>
          </a:p>
        </p:txBody>
      </p:sp>
      <p:sp>
        <p:nvSpPr>
          <p:cNvPr id="27" name="match-card"/>
          <p:cNvSpPr/>
          <p:nvPr/>
        </p:nvSpPr>
        <p:spPr>
          <a:xfrm>
            <a:off x="777240" y="4971952"/>
            <a:ext cx="3081437" cy="989936"/>
          </a:xfrm>
          <a:prstGeom prst="roundRect">
            <a:avLst>
              <a:gd name="adj" fmla="val 7390"/>
            </a:avLst>
          </a:prstGeom>
          <a:solidFill>
            <a:srgbClr val="F8F6F4"/>
          </a:solidFill>
          <a:ln/>
        </p:spPr>
      </p:sp>
      <p:sp>
        <p:nvSpPr>
          <p:cNvPr id="28" name="match-hex"/>
          <p:cNvSpPr/>
          <p:nvPr/>
        </p:nvSpPr>
        <p:spPr>
          <a:xfrm>
            <a:off x="850392" y="5300627"/>
            <a:ext cx="384048" cy="332586"/>
          </a:xfrm>
          <a:prstGeom prst="hexagon">
            <a:avLst/>
          </a:prstGeom>
          <a:solidFill>
            <a:srgbClr val="7A4A1E"/>
          </a:solidFill>
          <a:ln/>
        </p:spPr>
      </p:sp>
      <p:sp>
        <p:nvSpPr>
          <p:cNvPr id="29" name="match-hex-label"/>
          <p:cNvSpPr txBox="1"/>
          <p:nvPr/>
        </p:nvSpPr>
        <p:spPr>
          <a:xfrm>
            <a:off x="850392" y="530062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71952"/>
            <a:ext cx="2487077"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Harald Hardrada</a:t>
            </a:r>
            <a:endParaRPr lang="en-US" sz="2200" dirty="0"/>
          </a:p>
        </p:txBody>
      </p:sp>
      <p:sp>
        <p:nvSpPr>
          <p:cNvPr id="31" name="match-card"/>
          <p:cNvSpPr/>
          <p:nvPr/>
        </p:nvSpPr>
        <p:spPr>
          <a:xfrm>
            <a:off x="4224437" y="4971952"/>
            <a:ext cx="7190019" cy="989936"/>
          </a:xfrm>
          <a:prstGeom prst="roundRect">
            <a:avLst>
              <a:gd name="adj" fmla="val 7390"/>
            </a:avLst>
          </a:prstGeom>
          <a:solidFill>
            <a:srgbClr val="F9F4EC"/>
          </a:solidFill>
          <a:ln/>
        </p:spPr>
      </p:sp>
      <p:sp>
        <p:nvSpPr>
          <p:cNvPr id="32" name="match-hex"/>
          <p:cNvSpPr/>
          <p:nvPr/>
        </p:nvSpPr>
        <p:spPr>
          <a:xfrm>
            <a:off x="4297589" y="5300627"/>
            <a:ext cx="384048" cy="332586"/>
          </a:xfrm>
          <a:prstGeom prst="hexagon">
            <a:avLst/>
          </a:prstGeom>
          <a:solidFill>
            <a:srgbClr val="B8862B"/>
          </a:solidFill>
          <a:ln/>
        </p:spPr>
      </p:sp>
      <p:sp>
        <p:nvSpPr>
          <p:cNvPr id="33" name="match-hex-label"/>
          <p:cNvSpPr txBox="1"/>
          <p:nvPr/>
        </p:nvSpPr>
        <p:spPr>
          <a:xfrm>
            <a:off x="4297589" y="530062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971952"/>
            <a:ext cx="6595659"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Edward promised him the throne in 1051, and Harold swore an oath to support him in 1064</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Who claimed what?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Who claimed what?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where each man came from: England, Normandy, Norway.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English contender's claim comes from the dying king and the English nobles.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Norman's claim comes from a promise in 1051 and an oath in 1064.</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Viking's claim goes back to earlier kings: Cnut and Harthacnut.</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Deathbed, promise and oath, Viking line. Each phrase belongs to one man.</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Each claim has a weakness: not royal blood, a foreigner with an old promise, a promise made to someone else. Match each weakness to its contender, then say which weakness you think mattered most to people in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road to 1066</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in chronological order, earliest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dies without an heir (5 January 1066)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Harthacnut is King of England (1040 to 1042)</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Cnut becomes King of England (1016)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Harold swears an oath to support William (1064)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the Confessor becomes King of England (1042)</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promises the throne to William (1051)</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The road to 1066</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The road to 1066</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event has a year in brackets. Chronological order means smallest year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events share 1042: Harthacnut's reign ends in 1042 and Edward's begins in 1042, so the one that ends comes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makes sense: a promise (1051) must come before the oath that confirms it (1064), and both come before Edward dies.</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Cnut, then his son Harthacnut, then Edward. Then the promise, then the oath, then the death.</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Harold's oath came thirteen years after Edward's promise. Explain why William thought the oath made his claim stronger, and why Harold said it did not count.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was it not clear who should be king when Edward the Confessor died?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Edward had given the crown to the Pope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Edward had no children, and he had let his earls rule for him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Edward had twin sons who both wanted the throne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England had never had a king before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 claimed what?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Harold Godwinson  →  B  Edward named him heir on his deathbed, and the English nobles supported him</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William, Duke of Normandy  →  C  Edward promised him the throne in 1051, and Harold swore an oath to support him in 1064</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Harald Hardrada  →  A  An earlier Norwegian king had been promised the throne by Harthacnut, so he was reclaiming a Viking line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Harold's claim was Edward's deathbed wish and English support; William's was Edward's promise in 1051 backed by Harold's oath in 1064; Hardrada's was a promise made to the Norwegian king Magnus by Harthacnut, which he said made him heir to a Viking line.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road to 1066</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Cnut becomes King of England (1016)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Harthacnut is King of England (1040 to 1042)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Edward the Confessor becomes King of England (1042)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Edward promises the throne to William (1051)  (F)</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Harold swears an oath to support William (1064)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Edward dies without an heir (5 January 1066)  (A)</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Cnut (1016) came before his son Harthacnut (1040 to 1042); Edward took over in 1042; he promised William the throne in 1051; Harold swore his oath in 1064; and Edward died on 5 January 1066.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was it not clear who should be king when Edward the Confessor died?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Edward had no children, and he had let his earls rule for him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Edward had no son or heir, and because he relied on his earls to rule, nobody could be sure who he wanted to take over.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Hastings · Chapter 1: A throne up for grabs</dc:title>
  <dc:subject>History · Year 7</dc:subject>
  <dc:creator>Dr Vitor Merissi de Carvalho</dc:creator>
  <cp:lastModifiedBy>Dr Vitor Merissi de Carvalho</cp:lastModifiedBy>
  <cp:revision>1</cp:revision>
  <dcterms:created xsi:type="dcterms:W3CDTF">2026-10-19T16:23:05Z</dcterms:created>
  <dcterms:modified xsi:type="dcterms:W3CDTF">2026-10-19T16:23:05Z</dcterms:modified>
</cp:coreProperties>
</file>