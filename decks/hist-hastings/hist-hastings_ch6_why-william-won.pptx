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120f1ee-d971-9bfc-e510-5a15882236c3}">
          <p14:sldIdLst>
            <p14:sldId id="256"/>
          </p14:sldIdLst>
        </p14:section>
        <p14:section name="Gate" id="{2f357430-898c-7934-3510-3b3cfd990d9a}">
          <p14:sldIdLst>
            <p14:sldId id="257"/>
            <p14:sldId id="258"/>
          </p14:sldIdLst>
        </p14:section>
        <p14:section name="Pre-teach" id="{80d682b2-4152-88a8-bb27-50336905e173}">
          <p14:sldIdLst>
            <p14:sldId id="259"/>
          </p14:sldIdLst>
        </p14:section>
        <p14:section name="Read-along" id="{fc695573-2ff5-27b2-99ec-964ff77d13e1}">
          <p14:sldIdLst>
            <p14:sldId id="260"/>
            <p14:sldId id="261"/>
          </p14:sldIdLst>
        </p14:section>
        <p14:section name="Teach" id="{db3ba7a1-e732-f83d-6e77-056ee84f0102}">
          <p14:sldIdLst>
            <p14:sldId id="262"/>
            <p14:sldId id="263"/>
            <p14:sldId id="264"/>
            <p14:sldId id="265"/>
          </p14:sldIdLst>
        </p14:section>
        <p14:section name="Routes" id="{698a78b6-03e7-1fd6-51b9-5ac1688be816}">
          <p14:sldIdLst>
            <p14:sldId id="266"/>
            <p14:sldId id="267"/>
            <p14:sldId id="268"/>
            <p14:sldId id="269"/>
            <p14:sldId id="270"/>
            <p14:sldId id="271"/>
          </p14:sldIdLst>
        </p14:section>
        <p14:section name="Close" id="{fb8baa09-158b-5f8e-6761-653c20da0afb}">
          <p14:sldIdLst>
            <p14:sldId id="272"/>
          </p14:sldIdLst>
        </p14:section>
        <p14:section name="Answers" id="{8e5bc9ad-57f6-a106-3005-73ecac799e1f}">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Why did William win?. This chapter gives you the historian's toolkit for the unit's big question: sorting reasons into factors, weighing them against each other, and answering Marc Morris.
This deck covers the department's lesson: 5 (Review of the battle: why did William win?: Which factor best explains William's victory: luck, tactics, William's preparations or Harold's?).
Read the big question aloud: "William won the Battle of Hastings because he was lucky. How far do you agree?"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history, what is a cause?  →  B   A reason why something happened
2. Things that happened by chance, which William or Harold could not control, are grouped under the factor called ___.  →  luck
3. According to the historian Marc Morris, what was the lucky event that finally decided the Battle of Hastings?  →  D   William survived and Harold died, when it could have been either of them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A reason why something happened. Causes are the reasons why something happens. For Hastings, a cause is anything that helped William or hurt Harold.
2. luck. Luck is your lesson's name for chance events outside anyone's control, such as the wind changing.
3. D   William survived and Harold died, when it could have been either of them. Morris argues that the battle was ultimately decided by which king died, and that this was chance: it could have been William.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cause: a reason why something happened. Example: "Historians look for the causes of William's victory."
• factor: a type of cause, such as luck or tactics. Example: "We sort the reasons into four factors."
• luck: something that happens by chance and cannot be controlled. Example: "The wind changing was luck."
• tactics: the way a leader organises his army in a battle. Example: "The fake retreat was one of William's tactics."
• evaluate: to weigh things up and decide which matters most. Example: "Evaluate the four factors and rank them."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Now we know what happened at Hastings.
2. The harder question is why William won.
3. In history, the reasons why something happens are called causes.
4. A cause could be anything that helped William before or during the battle.
5. It could also be anything that went badly for Harold.
6. Historians sort causes into groups called factors.
7. For Hastings we use four: luck, tactics, William's preparations and Harold's preparations.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wind changing was luck.
9. The fake retreat was a tactic.
10. William's trained, paid army was his preparation.
11. Harold's tired, mostly untrained army was his.
12. Your job is to decide which factor mattered most.
13. Then you can answer the big question: was William just lucky?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Causes and factors. Say it in your own words, then check understanding with a quick question: ask a pupil from the pre-teach group first, since they met these words and ideas before the lesson. Pupils try to recall before you re-explain.
In history, the reasons why something happens are called causes. A cause of William's victory could be anything that helped William before or during the battle, or anything that was bad for Harold before or during the battle. Your lesson began by asking you to write down as many reasons as you could. There are a lot of them, and that is the problem: a long list is hard to argue with.
So historians group causes into factors. For the Battle of Hastings your lesson uses four. Luck means things that happened by chance that neither William nor Harold could control. Tactics means the way the two men organised and ordered their armies during the battle, and whose tactics were better. William's preparations asks whether his army was ready and well trained. Harold's preparations asks the same about Harold, and whether something happened that left his army weak.
Once reasons are sorted into factors, you can compare whole groups of causes instead of single ones. That is how you move from a list to an argument.
Tip: Cause: a reason. Factor: a group of reasons. Four factors for Hastings: luck, tactics, William's preparations, Harold's preparations.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Sorting the reasons. Say it in your own words, then check understanding with a quick question: ask a pupil from the pre-teach group first, since they met these words and ideas before the lesson. Pupils try to recall before you re-explain.
Your lesson gave you ten reasons to sort. Under luck: the wind changed and let William cross the Channel while Harold was fighting in the north; and Harold was killed, so that the English had no king to fight for and ran. Under tactics: the ‘Norman trick’ of the fake retreat broke the shield wall; and William waited in the south for Harold to come to him, so that Harold's army arrived even more tired.
Under William's preparations: his army was one of the best in Europe, with some of the best armour and weapons; and his soldiers were all trained, paid professionals. Under Harold's preparations: some of his best soldiers died at Stamford Bridge, where he lost about 5,000 men; the battle and the journey south left his troops exhausted and over 3,000 went home; his 7,000-man army was mostly fyrd, without proper weapons, armour or training; and he started the battle before his army was ready.
Some reasons could sit in two boxes. Harold's death looks like luck, but you could argue it was the result of William's tactics finally breaking the wall. William waiting in the south is a tactic, but it also made Harold's preparations worse. Where a reason sits is a decision, and a good historian can explain the decision.
Worked example — model it step by step, thinking aloud: Of the ten reasons your lesson gave, two are luck, two are tactics, two are William's preparations and the rest are Harold's preparations. How many are Harold's preparations? (1) Add the three groups you know: 2 + 2 + 2 = 6. (2) Take them from the total: 10 − 6 = 4. Answer: 4 reasons.
Tip: Luck is what nobody controlled. If someone decided it, it is not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Evaluating the factors. Say it in your own words, then check understanding with a quick question: ask a pupil from the pre-teach group first, since they met these words and ideas before the lesson. Pupils try to recall before you re-explain.
Evaluating means deciding which factor was more important than the others, and saying why. Your lesson asks you to rank the four factors, then explain your number one in a PEE paragraph. Point: ___ was the most important reason why William won the Battle of Hastings. Evidence: for example, or this can be seen from, and then facts from your own knowledge. Explain: this led to William winning because, or this meant that.
A strong evaluation does one more thing: it links the factors. If you think luck was most important, you must say why luck mattered more than Harold being tired or William's tactics. If you think Harold's preparations were most important, you might argue that a rested, full-strength English army would have held the hill all day, so no trick and no lucky arrow would have been enough.
Ask yourself the counterfactual question: if this factor had been different, would William still have won? The factor that changes the answer most is the one that mattered most.
Tip: Rank, explain your number one, then say why it beats the others. The last step is what turns a paragraph into an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Answering the historian. Say it in your own words, then check understanding with a quick question: ask a pupil from the pre-teach group first, since they met these words and ideas before the lesson. Pupils try to recall before you re-explain.
Marc Morris, a historian of the Norman Conquest, argues that one of the main reasons William won was luck. His evidence is that what finally decided the battle was that William survived and Harold died, and it could just as easily have been the other way round. He also credits William's leadership in holding his line together while Harold's broke up. That is an interpretation: a historian's view of why something happened, written long afterwards.
Your lesson asks three things of you. According to this historian, why did William win? What evidence does he give? And which factors does he not mention: does his argument leave out William's preparations, or Harold's exhausted army, or the fake retreat? An interpretation is not wrong because it leaves things out, but a good historian notices what has been left out.
Then you write your own PEE paragraph agreeing or disagreeing with Morris. Say whether you agree. Give evidence and explain. Then link to the other factors: if you agree that luck was decisive, say why luck beats tactics and preparations; if you disagree, say which factor beats luck and why. After the battle, William went on to be crowned King of England at Westminster Abbey on Christmas Day 1066. That is where your next unit, the Norman Conquest, begins.
Tip: Agree or disagree, evidence, explain, link to the other factors. Four moves, one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reasons into factors.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reason William won to the factor it belongs to.
Support — work through the steps with the group: (1) Luck: could anyone control it? If not, it is luck. (2) Tactics: is it about how an army was organised and ordered during the battle? (3) Preparations: is it about whether an army was trained, rested and ready? Then ask whose army.
Parallel worked example for Support (model it, do not give the task answer): Practice: sort these reasons a school team won: it rained and the other side hated mud; the coach switched to defence at half time; the team had trained all year. Rain: nobody controlled it, so luck.; Switching to defence during the match: tactics.; Training all year: preparations.. Answer: Rain: luck. Switch to defence: tactics. Training: preparations..
Core — reveal the hint only on request: Wind, trick, trained Normans, tired English. One factor each.
Stretch — no help; when finished: Take the reason ‘Harold was killed, so the English had no king to fight for’. Argue that it belongs under luck, then argue that it belongs under tactics. Which argument is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reasons into factors.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reason William won to the factor it belongs to.
Support — work through the steps with the group: (1) Luck: could anyone control it? If not, it is luck. (2) Tactics: is it about how an army was organised and ordered during the battle? (3) Preparations: is it about whether an army was trained, rested and ready? Then ask whose army.
Parallel worked example for Support (model it, do not give the task answer): Practice: sort these reasons a school team won: it rained and the other side hated mud; the coach switched to defence at half time; the team had trained all year. Rain: nobody controlled it, so luck.; Switching to defence during the match: tactics.; Training all year: preparations.. Answer: Rain: luck. Switch to defence: tactics. Training: preparations..
Core — reveal the hint only on request: Wind, trick, trained Normans, tired English. One factor each.
Stretch — no help; when finished: Take the reason ‘Harold was killed, so the English had no king to fight for’. Argue that it belongs under luck, then argue that it belongs under tactics. Which argument is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reasons into factors.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reason William won to the factor it belongs to.
Support — work through the steps with the group: (1) Luck: could anyone control it? If not, it is luck. (2) Tactics: is it about how an army was organised and ordered during the battle? (3) Preparations: is it about whether an army was trained, rested and ready? Then ask whose army.
Parallel worked example for Support (model it, do not give the task answer): Practice: sort these reasons a school team won: it rained and the other side hated mud; the coach switched to defence at half time; the team had trained all year. Rain: nobody controlled it, so luck.; Switching to defence during the match: tactics.; Training all year: preparations.. Answer: Rain: luck. Switch to defence: tactics. Training: preparations..
Core — reveal the hint only on request: Wind, trick, trained Normans, tired English. One factor each.
Stretch — no help; when finished: Take the reason ‘Harold was killed, so the English had no king to fight for’. Argue that it belongs under luck, then argue that it belongs under tactics. Which argument is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reasons into factors.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reason William won to the factor it belongs to.
Support — work through the steps with the group: (1) Luck: could anyone control it? If not, it is luck. (2) Tactics: is it about how an army was organised and ordered during the battle? (3) Preparations: is it about whether an army was trained, rested and ready? Then ask whose army.
Parallel worked example for Support (model it, do not give the task answer): Practice: sort these reasons a school team won: it rained and the other side hated mud; the coach switched to defence at half time; the team had trained all year. Rain: nobody controlled it, so luck.; Switching to defence during the match: tactics.; Training all year: preparations.. Answer: Rain: luck. Switch to defence: tactics. Training: preparations..
Core — reveal the hint only on request: Wind, trick, trained Normans, tired English. One factor each.
Stretch — no help; when finished: Take the reason ‘Harold was killed, so the English had no king to fight for’. Argue that it belongs under luck, then argue that it belongs under tactics. Which argument is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year 1066.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turning points of 1066 in chronological order, earliest first.
Support — work through the steps with the group: (1) The year starts with a death and ends with a coronation. (2) January first: the death, then the next day's crowning. (3) Autumn: the battle in the north comes before the battle in the south, by 19 days. (4) Christmas Day: the winner is crowned.
Parallel worked example for Support (model it, do not give the task answer): Practice: put in order: Harold sends his army home (8 September); Hardrada lands (18 September); William lands (28 September). All in September, so order by day number.; 8, then 18, then 28.. Answer: Army sent home; Hardrada lands; William lands..
Core — reveal the hint only on request: 5 January, 6 January, 25 September, 14 October, 25 December.
Stretch — no help; when finished: Between 6 January and 25 September nothing on this list happens, yet those months decided everything. Write two sentences explaining what was happening in that gap and why it mattered.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year 1066.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turning points of 1066 in chronological order, earliest first.
Support — work through the steps with the group: (1) The year starts with a death and ends with a coronation. (2) January first: the death, then the next day's crowning. (3) Autumn: the battle in the north comes before the battle in the south, by 19 days. (4) Christmas Day: the winner is crowned.
Parallel worked example for Support (model it, do not give the task answer): Practice: put in order: Harold sends his army home (8 September); Hardrada lands (18 September); William lands (28 September). All in September, so order by day number.; 8, then 18, then 28.. Answer: Army sent home; Hardrada lands; William lands..
Core — reveal the hint only on request: 5 January, 6 January, 25 September, 14 October, 25 December.
Stretch — no help; when finished: Between 6 January and 25 September nothing on this list happens, yet those months decided everything. Write two sentences explaining what was happening in that gap and why it mattered.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history, what is a cause?
Answer: A   A reason why something happened. Causes are the reasons why something happens. For Hastings, a cause is anything that helped William or hurt Harold.
Source of this question: gate item 1 re-asked (options rotated) — this chapter has no third quick-check module.
The ebook also holds task 3, "Was William just lucky?",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Sort the reasons into factors. Reveal the answer; pupils mark their own work in a different colour, then read the "why" together. Same destination for every lane, so one answer serves the whole class.
Answer: The wind changed and let William cross the Channel while Harold was fighting in the north  →  D  Luck; The fake retreat tricked the English into breaking their shield wall  →  C  Tactics; William's soldiers were all trained, paid professionals with some of the best armour and weapons in Europe  →  B  William's preparations; Harold lost about 5,000 men at Stamford Bridge and his tired army was mostly untrained fyrd  →  A  Harold's preparations
Why: The wind is luck (nobody controlled it); the fake retreat is tactics (how William fought); the trained professional army is William's preparations; the losses at Stamford Bridge and the tired, mostly untrained army are Harold's preparations.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year 1066. Reveal the answer; pupils mark their own work in a different colour, then read the "why" together. Same destination for every lane, so one answer serves the whole class.
Answer: Edward the Confessor dies without an heir (5 January)  (A); Harold Godwinson is crowned King of England (6 January)  (E); Harold defeats Hardrada at the Battle of Stamford Bridge (25 September)  (C); William defeats Harold at the Battle of Hastings (14 October)  (B); William is crowned King of England at Westminster Abbey (25 December)  (D)
Why: Edward died on 5 January; Harold was crowned on 6 January; Stamford Bridge was fought on 25 September; Hastings on 14 October; and William was crowned on Christmas Day, 25 December 1066. One year, two kings crowned, one killed.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A reason why something happened
Why: Causes are the reasons why something happens. For Hastings, a cause is anything that helped William or hurt Harold.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Hastings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Why did William win?</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6F2EF"/>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Review of the battle: why did William win?</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William won the Battle of Hastings because he was lucky. How far do you agree?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history, what is a cause?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battle between two armies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reason why something happened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date on a timeline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historian who writes about the past</a:t>
            </a:r>
            <a:endParaRPr lang="en-US" sz="1800" dirty="0"/>
          </a:p>
        </p:txBody>
      </p:sp>
      <p:sp>
        <p:nvSpPr>
          <p:cNvPr id="12" name="card"/>
          <p:cNvSpPr/>
          <p:nvPr/>
        </p:nvSpPr>
        <p:spPr>
          <a:xfrm>
            <a:off x="3459404" y="1389888"/>
            <a:ext cx="2636444" cy="4754880"/>
          </a:xfrm>
          <a:prstGeom prst="roundRect">
            <a:avLst>
              <a:gd name="adj" fmla="val 2081"/>
            </a:avLst>
          </a:prstGeom>
          <a:solidFill>
            <a:srgbClr val="FAF8F6"/>
          </a:solidFill>
          <a:ln w="12700">
            <a:solidFill>
              <a:srgbClr val="D4C5B7"/>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Things that happened by chance, which William or Harold could not control, are grouped under the factor called ___.</a:t>
            </a:r>
            <a:endParaRPr lang="en-US" sz="1800" dirty="0"/>
          </a:p>
          <a:p>
            <a:pPr algn="l" indent="0" marL="0">
              <a:buNone/>
            </a:pPr>
            <a:r>
              <a:rPr lang="en-US" sz="1800" b="1" dirty="0">
                <a:solidFill>
                  <a:srgbClr val="7A4A1E"/>
                </a:solidFill>
                <a:latin typeface="Calibri" pitchFamily="34" charset="0"/>
                <a:ea typeface="Calibri" pitchFamily="34" charset="-122"/>
                <a:cs typeface="Calibri" pitchFamily="34" charset="-120"/>
              </a:rPr>
              <a:t>Word bank:  </a:t>
            </a:r>
            <a:pPr algn="l" indent="0" marL="0">
              <a:buNone/>
            </a:pPr>
            <a:r>
              <a:rPr lang="en-US" sz="1800" dirty="0">
                <a:solidFill>
                  <a:srgbClr val="1E2229"/>
                </a:solidFill>
                <a:latin typeface="Calibri" pitchFamily="34" charset="0"/>
                <a:ea typeface="Calibri" pitchFamily="34" charset="-122"/>
                <a:cs typeface="Calibri" pitchFamily="34" charset="-120"/>
              </a:rPr>
              <a:t>luck  ·  tactics  ·  preparations</a:t>
            </a:r>
            <a:endParaRPr lang="en-US" sz="1800" dirty="0"/>
          </a:p>
        </p:txBody>
      </p:sp>
      <p:sp>
        <p:nvSpPr>
          <p:cNvPr id="17" name="card"/>
          <p:cNvSpPr/>
          <p:nvPr/>
        </p:nvSpPr>
        <p:spPr>
          <a:xfrm>
            <a:off x="6370168" y="1389888"/>
            <a:ext cx="5272888" cy="4754880"/>
          </a:xfrm>
          <a:prstGeom prst="roundRect">
            <a:avLst>
              <a:gd name="adj" fmla="val 1154"/>
            </a:avLst>
          </a:prstGeom>
          <a:solidFill>
            <a:srgbClr val="FAF8F6"/>
          </a:solidFill>
          <a:ln w="12700">
            <a:solidFill>
              <a:srgbClr val="D4C5B7"/>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According to the historian Marc Morris, what was the lucky event that finally decided the Battle of Hastings?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Hardrada arrived to help William</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Pope sent William more soldiers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It rained and the English arrows would not fly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William survived and Harold died, when it could have been either of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1295908"/>
          </a:xfrm>
          <a:prstGeom prst="roundRect">
            <a:avLst>
              <a:gd name="adj" fmla="val 8467"/>
            </a:avLst>
          </a:prstGeom>
          <a:solidFill>
            <a:srgbClr val="EFE4D0"/>
          </a:solidFill>
          <a:ln w="19050">
            <a:solidFill>
              <a:srgbClr val="B8862B"/>
            </a:solidFill>
            <a:prstDash val="solid"/>
          </a:ln>
        </p:spPr>
      </p:sp>
      <p:sp>
        <p:nvSpPr>
          <p:cNvPr id="12" name="answer"/>
          <p:cNvSpPr txBox="1"/>
          <p:nvPr/>
        </p:nvSpPr>
        <p:spPr>
          <a:xfrm>
            <a:off x="822960" y="2428829"/>
            <a:ext cx="2087804"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 reason why something happened</a:t>
            </a:r>
            <a:endParaRPr lang="en-US" sz="2200" dirty="0"/>
          </a:p>
        </p:txBody>
      </p:sp>
      <p:sp>
        <p:nvSpPr>
          <p:cNvPr id="13" name="card-body"/>
          <p:cNvSpPr txBox="1"/>
          <p:nvPr/>
        </p:nvSpPr>
        <p:spPr>
          <a:xfrm>
            <a:off x="731520" y="3834465"/>
            <a:ext cx="2270684"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Causes are the reasons why something happens. For Hastings, a cause is anything that helped William or hurt Harold.</a:t>
            </a:r>
            <a:endParaRPr lang="en-US" sz="1800" dirty="0"/>
          </a:p>
        </p:txBody>
      </p:sp>
      <p:sp>
        <p:nvSpPr>
          <p:cNvPr id="14" name="card"/>
          <p:cNvSpPr/>
          <p:nvPr/>
        </p:nvSpPr>
        <p:spPr>
          <a:xfrm>
            <a:off x="3459404" y="1389888"/>
            <a:ext cx="2636444" cy="4754880"/>
          </a:xfrm>
          <a:prstGeom prst="roundRect">
            <a:avLst>
              <a:gd name="adj" fmla="val 2081"/>
            </a:avLst>
          </a:prstGeom>
          <a:solidFill>
            <a:srgbClr val="FAF8F6"/>
          </a:solidFill>
          <a:ln w="12700">
            <a:solidFill>
              <a:srgbClr val="D4C5B7"/>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luck</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Luck is your lesson's name for chance events outside anyone's control, such as the wind changing.</a:t>
            </a:r>
            <a:endParaRPr lang="en-US" sz="1800" dirty="0"/>
          </a:p>
        </p:txBody>
      </p:sp>
      <p:sp>
        <p:nvSpPr>
          <p:cNvPr id="21" name="card"/>
          <p:cNvSpPr/>
          <p:nvPr/>
        </p:nvSpPr>
        <p:spPr>
          <a:xfrm>
            <a:off x="6370168" y="1389888"/>
            <a:ext cx="5272888" cy="4754880"/>
          </a:xfrm>
          <a:prstGeom prst="roundRect">
            <a:avLst>
              <a:gd name="adj" fmla="val 1154"/>
            </a:avLst>
          </a:prstGeom>
          <a:solidFill>
            <a:srgbClr val="FAF8F6"/>
          </a:solidFill>
          <a:ln w="12700">
            <a:solidFill>
              <a:srgbClr val="D4C5B7"/>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1295908"/>
          </a:xfrm>
          <a:prstGeom prst="roundRect">
            <a:avLst>
              <a:gd name="adj" fmla="val 8467"/>
            </a:avLst>
          </a:prstGeom>
          <a:solidFill>
            <a:srgbClr val="EFE4D0"/>
          </a:solidFill>
          <a:ln w="19050">
            <a:solidFill>
              <a:srgbClr val="B8862B"/>
            </a:solidFill>
            <a:prstDash val="solid"/>
          </a:ln>
        </p:spPr>
      </p:sp>
      <p:sp>
        <p:nvSpPr>
          <p:cNvPr id="26" name="answer"/>
          <p:cNvSpPr txBox="1"/>
          <p:nvPr/>
        </p:nvSpPr>
        <p:spPr>
          <a:xfrm>
            <a:off x="6644488"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William survived and Harold died, when it could have been either of them</a:t>
            </a:r>
            <a:endParaRPr lang="en-US" sz="2200" dirty="0"/>
          </a:p>
        </p:txBody>
      </p:sp>
      <p:sp>
        <p:nvSpPr>
          <p:cNvPr id="27" name="card-body"/>
          <p:cNvSpPr txBox="1"/>
          <p:nvPr/>
        </p:nvSpPr>
        <p:spPr>
          <a:xfrm>
            <a:off x="6553048"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According to the historian Marc Morris, what was the lucky event that finally decided the Battle of Hastings?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Morris argues that the battle was ultimately decided by which king died, and that this was chance: it could have been William.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8F6F4"/>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cause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reason why something happened</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Historians look for the causes of William's victory.</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factor</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type of cause, such as luck or tactics</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We sort the reasons into four factors.</a:t>
            </a:r>
            <a:endParaRPr lang="en-US" sz="1800" dirty="0"/>
          </a:p>
        </p:txBody>
      </p:sp>
      <p:sp>
        <p:nvSpPr>
          <p:cNvPr id="21" name="kw-row"/>
          <p:cNvSpPr/>
          <p:nvPr/>
        </p:nvSpPr>
        <p:spPr>
          <a:xfrm>
            <a:off x="548640" y="3639312"/>
            <a:ext cx="11094415" cy="786384"/>
          </a:xfrm>
          <a:prstGeom prst="roundRect">
            <a:avLst>
              <a:gd name="adj" fmla="val 6977"/>
            </a:avLst>
          </a:prstGeom>
          <a:solidFill>
            <a:srgbClr val="F8F6F4"/>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luck</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something that happens by chance and cannot be controlled</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wind changing was luck.</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tactics</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way a leader organises his army in a battle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fake retreat was one of William's tactics.</a:t>
            </a:r>
            <a:endParaRPr lang="en-US" sz="1800" dirty="0"/>
          </a:p>
        </p:txBody>
      </p:sp>
      <p:sp>
        <p:nvSpPr>
          <p:cNvPr id="31" name="kw-row"/>
          <p:cNvSpPr/>
          <p:nvPr/>
        </p:nvSpPr>
        <p:spPr>
          <a:xfrm>
            <a:off x="548640" y="5358384"/>
            <a:ext cx="11094415" cy="786384"/>
          </a:xfrm>
          <a:prstGeom prst="roundRect">
            <a:avLst>
              <a:gd name="adj" fmla="val 6977"/>
            </a:avLst>
          </a:prstGeom>
          <a:solidFill>
            <a:srgbClr val="F8F6F4"/>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evaluate</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weigh things up and decide which matters most</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Evaluate the four factors and rank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Now we know what happened at Hastings.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harder question is why William won.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history, the reasons why something happens are called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causes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cause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could be anything that helped William before or during the battle.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could also be anything that went badly for Harold.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Historians sort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causes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into groups called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factors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For Hastings we use four: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luck</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tactics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William's preparations and Harold's preparations.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wind changing was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luck</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fake retreat was a tactic.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William's trained, paid army was his preparation.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Harold's tired, mostly untrained army was his.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Your job is to decide which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factor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mattered most.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you can answer the big question: was William just lucky?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Causes and factors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Cause: a reason. Factor: a group of reasons. Four factors for Hastings: luck, tactics, William's preparations, Harold's preparations.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history, the reasons why something happens are called causes.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historians group causes into factors. For the Battle of Hastings your lesson uses four.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Once reasons are sorted into factors, you can compare whole groups of causes instead of single ones.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Sorting the reasons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Luck is what nobody controlled. If someone decided it, it is not luck.</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C0AA95"/>
            </a:solidFill>
            <a:prstDash val="solid"/>
          </a:ln>
        </p:spPr>
      </p:sp>
      <p:sp>
        <p:nvSpPr>
          <p:cNvPr id="12" name="worked-tab"/>
          <p:cNvSpPr/>
          <p:nvPr/>
        </p:nvSpPr>
        <p:spPr>
          <a:xfrm>
            <a:off x="6126480" y="1499616"/>
            <a:ext cx="2377440" cy="457200"/>
          </a:xfrm>
          <a:prstGeom prst="roundRect">
            <a:avLst>
              <a:gd name="adj" fmla="val 40000"/>
            </a:avLst>
          </a:prstGeom>
          <a:solidFill>
            <a:srgbClr val="7A4A1E"/>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1242568"/>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Of the ten reasons your lesson gave, two are luck, two are tactics, two are William's preparations and the rest are Harold's preparations. How many are Harold's preparations?</a:t>
            </a:r>
            <a:endParaRPr lang="en-US" sz="1800" dirty="0"/>
          </a:p>
        </p:txBody>
      </p:sp>
      <p:sp>
        <p:nvSpPr>
          <p:cNvPr id="14" name="step-box"/>
          <p:cNvSpPr/>
          <p:nvPr/>
        </p:nvSpPr>
        <p:spPr>
          <a:xfrm>
            <a:off x="6126480" y="3446272"/>
            <a:ext cx="5379415" cy="566928"/>
          </a:xfrm>
          <a:prstGeom prst="roundRect">
            <a:avLst>
              <a:gd name="adj" fmla="val 16129"/>
            </a:avLst>
          </a:prstGeom>
          <a:solidFill>
            <a:srgbClr val="F6F2EF"/>
          </a:solidFill>
          <a:ln/>
        </p:spPr>
      </p:sp>
      <p:sp>
        <p:nvSpPr>
          <p:cNvPr id="15" name="step-hex"/>
          <p:cNvSpPr/>
          <p:nvPr/>
        </p:nvSpPr>
        <p:spPr>
          <a:xfrm>
            <a:off x="6217920" y="3547606"/>
            <a:ext cx="420624" cy="364260"/>
          </a:xfrm>
          <a:prstGeom prst="hexagon">
            <a:avLst/>
          </a:prstGeom>
          <a:solidFill>
            <a:srgbClr val="7A4A1E"/>
          </a:solidFill>
          <a:ln/>
        </p:spPr>
      </p:sp>
      <p:sp>
        <p:nvSpPr>
          <p:cNvPr id="16" name="step-hex-label"/>
          <p:cNvSpPr txBox="1"/>
          <p:nvPr/>
        </p:nvSpPr>
        <p:spPr>
          <a:xfrm>
            <a:off x="6217920" y="35476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44627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three groups you know: 2 + 2 + 2 = 6.</a:t>
            </a:r>
            <a:endParaRPr lang="en-US" sz="1800" dirty="0"/>
          </a:p>
        </p:txBody>
      </p:sp>
      <p:sp>
        <p:nvSpPr>
          <p:cNvPr id="18" name="step-box"/>
          <p:cNvSpPr/>
          <p:nvPr/>
        </p:nvSpPr>
        <p:spPr>
          <a:xfrm>
            <a:off x="6126480" y="4104640"/>
            <a:ext cx="5379415" cy="566928"/>
          </a:xfrm>
          <a:prstGeom prst="roundRect">
            <a:avLst>
              <a:gd name="adj" fmla="val 16129"/>
            </a:avLst>
          </a:prstGeom>
          <a:solidFill>
            <a:srgbClr val="F6F2EF"/>
          </a:solidFill>
          <a:ln/>
        </p:spPr>
      </p:sp>
      <p:sp>
        <p:nvSpPr>
          <p:cNvPr id="19" name="step-hex"/>
          <p:cNvSpPr/>
          <p:nvPr/>
        </p:nvSpPr>
        <p:spPr>
          <a:xfrm>
            <a:off x="6217920" y="4205974"/>
            <a:ext cx="420624" cy="364260"/>
          </a:xfrm>
          <a:prstGeom prst="hexagon">
            <a:avLst/>
          </a:prstGeom>
          <a:solidFill>
            <a:srgbClr val="7A4A1E"/>
          </a:solidFill>
          <a:ln/>
        </p:spPr>
      </p:sp>
      <p:sp>
        <p:nvSpPr>
          <p:cNvPr id="20" name="step-hex-label"/>
          <p:cNvSpPr txBox="1"/>
          <p:nvPr/>
        </p:nvSpPr>
        <p:spPr>
          <a:xfrm>
            <a:off x="6217920" y="42059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1046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Take them from the total: 10 − 6 = 4.</a:t>
            </a:r>
            <a:endParaRPr lang="en-US" sz="1800" dirty="0"/>
          </a:p>
        </p:txBody>
      </p:sp>
      <p:sp>
        <p:nvSpPr>
          <p:cNvPr id="22" name="worked-answer"/>
          <p:cNvSpPr/>
          <p:nvPr/>
        </p:nvSpPr>
        <p:spPr>
          <a:xfrm>
            <a:off x="6126480" y="480872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 reasons</a:t>
            </a:r>
            <a:endParaRPr lang="en-US" sz="1800" dirty="0"/>
          </a:p>
        </p:txBody>
      </p:sp>
      <p:sp>
        <p:nvSpPr>
          <p:cNvPr id="23" name="bullet-card"/>
          <p:cNvSpPr/>
          <p:nvPr/>
        </p:nvSpPr>
        <p:spPr>
          <a:xfrm>
            <a:off x="548640" y="1389888"/>
            <a:ext cx="5074920" cy="2048764"/>
          </a:xfrm>
          <a:prstGeom prst="roundRect">
            <a:avLst>
              <a:gd name="adj" fmla="val 3571"/>
            </a:avLst>
          </a:prstGeom>
          <a:solidFill>
            <a:srgbClr val="F8F6F4"/>
          </a:solidFill>
          <a:ln/>
        </p:spPr>
      </p:sp>
      <p:sp>
        <p:nvSpPr>
          <p:cNvPr id="24" name="bullet-hex"/>
          <p:cNvSpPr/>
          <p:nvPr/>
        </p:nvSpPr>
        <p:spPr>
          <a:xfrm>
            <a:off x="676656" y="2247977"/>
            <a:ext cx="384048" cy="332586"/>
          </a:xfrm>
          <a:prstGeom prst="hexagon">
            <a:avLst/>
          </a:prstGeom>
          <a:solidFill>
            <a:srgbClr val="7A4A1E"/>
          </a:solidFill>
          <a:ln/>
        </p:spPr>
      </p:sp>
      <p:sp>
        <p:nvSpPr>
          <p:cNvPr id="25" name="bullet"/>
          <p:cNvSpPr txBox="1"/>
          <p:nvPr/>
        </p:nvSpPr>
        <p:spPr>
          <a:xfrm>
            <a:off x="1143000" y="1389888"/>
            <a:ext cx="4389120" cy="204876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lesson gave you ten reasons to sort. Under luck: the wind changed and let William cross the Channel while Harold was fighting in the north; and Harold was killed, so that the English had no king to fight for and ran.</a:t>
            </a:r>
            <a:endParaRPr lang="en-US" sz="1800" dirty="0"/>
          </a:p>
        </p:txBody>
      </p:sp>
      <p:sp>
        <p:nvSpPr>
          <p:cNvPr id="26" name="bullet-card"/>
          <p:cNvSpPr/>
          <p:nvPr/>
        </p:nvSpPr>
        <p:spPr>
          <a:xfrm>
            <a:off x="548640" y="3584956"/>
            <a:ext cx="5074920" cy="1490980"/>
          </a:xfrm>
          <a:prstGeom prst="roundRect">
            <a:avLst>
              <a:gd name="adj" fmla="val 4906"/>
            </a:avLst>
          </a:prstGeom>
          <a:solidFill>
            <a:srgbClr val="F8F6F4"/>
          </a:solidFill>
          <a:ln/>
        </p:spPr>
      </p:sp>
      <p:sp>
        <p:nvSpPr>
          <p:cNvPr id="27" name="bullet-hex"/>
          <p:cNvSpPr/>
          <p:nvPr/>
        </p:nvSpPr>
        <p:spPr>
          <a:xfrm>
            <a:off x="676656" y="4164153"/>
            <a:ext cx="384048" cy="332586"/>
          </a:xfrm>
          <a:prstGeom prst="hexagon">
            <a:avLst/>
          </a:prstGeom>
          <a:solidFill>
            <a:srgbClr val="B8862B"/>
          </a:solidFill>
          <a:ln/>
        </p:spPr>
      </p:sp>
      <p:sp>
        <p:nvSpPr>
          <p:cNvPr id="28" name="bullet"/>
          <p:cNvSpPr txBox="1"/>
          <p:nvPr/>
        </p:nvSpPr>
        <p:spPr>
          <a:xfrm>
            <a:off x="1143000" y="3584956"/>
            <a:ext cx="4389120" cy="14909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Under William's preparations: his army was one of the best in Europe, with some of the best armour and weapons; and his soldiers were all trained, paid professionals.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Evaluating the factors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Rank, explain your number one, then say why it beats the others. The last step is what turns a paragraph into an evaluation.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Evaluating means deciding which factor was more important than the others, and saying why.</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strong evaluation does one more thing: it links the factors.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Ask yourself the counterfactual question: if this factor had been different, would William still have won?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Answering the historian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Agree or disagree, evidence, explain, link to the other factors. Four moves, one paragraph.</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Marc Morris, a historian of the Norman Conquest, argues that one of the main reasons William won was luck.</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asks three things of you. According to this historian, why did William win?</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Then you write your own PEE paragraph agreeing or disagreeing with Morris.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Sort the reasons into factors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reason William won to the factor it belongs to.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(1 of 2): Sort the reasons into factors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reason William won to the factor it belongs to.</a:t>
            </a:r>
            <a:endParaRPr lang="en-US" sz="2400" dirty="0"/>
          </a:p>
        </p:txBody>
      </p:sp>
      <p:sp>
        <p:nvSpPr>
          <p:cNvPr id="11" name="match-card"/>
          <p:cNvSpPr/>
          <p:nvPr/>
        </p:nvSpPr>
        <p:spPr>
          <a:xfrm>
            <a:off x="777240" y="2468331"/>
            <a:ext cx="5135728" cy="1506220"/>
          </a:xfrm>
          <a:prstGeom prst="roundRect">
            <a:avLst>
              <a:gd name="adj" fmla="val 4857"/>
            </a:avLst>
          </a:prstGeom>
          <a:solidFill>
            <a:srgbClr val="F8F6F4"/>
          </a:solidFill>
          <a:ln/>
        </p:spPr>
      </p:sp>
      <p:sp>
        <p:nvSpPr>
          <p:cNvPr id="12" name="match-hex"/>
          <p:cNvSpPr/>
          <p:nvPr/>
        </p:nvSpPr>
        <p:spPr>
          <a:xfrm>
            <a:off x="850392" y="3055149"/>
            <a:ext cx="384048" cy="332586"/>
          </a:xfrm>
          <a:prstGeom prst="hexagon">
            <a:avLst/>
          </a:prstGeom>
          <a:solidFill>
            <a:srgbClr val="7A4A1E"/>
          </a:solidFill>
          <a:ln/>
        </p:spPr>
      </p:sp>
      <p:sp>
        <p:nvSpPr>
          <p:cNvPr id="13" name="match-hex-label"/>
          <p:cNvSpPr txBox="1"/>
          <p:nvPr/>
        </p:nvSpPr>
        <p:spPr>
          <a:xfrm>
            <a:off x="850392" y="305514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wind changed and let William cross the Channel while Harold was fighting in the north</a:t>
            </a:r>
            <a:endParaRPr lang="en-US" sz="2200" dirty="0"/>
          </a:p>
        </p:txBody>
      </p:sp>
      <p:sp>
        <p:nvSpPr>
          <p:cNvPr id="15" name="match-card"/>
          <p:cNvSpPr/>
          <p:nvPr/>
        </p:nvSpPr>
        <p:spPr>
          <a:xfrm>
            <a:off x="6278728" y="2468331"/>
            <a:ext cx="5135728" cy="1506220"/>
          </a:xfrm>
          <a:prstGeom prst="roundRect">
            <a:avLst>
              <a:gd name="adj" fmla="val 4857"/>
            </a:avLst>
          </a:prstGeom>
          <a:solidFill>
            <a:srgbClr val="F9F4EC"/>
          </a:solidFill>
          <a:ln/>
        </p:spPr>
      </p:sp>
      <p:sp>
        <p:nvSpPr>
          <p:cNvPr id="16" name="match-hex"/>
          <p:cNvSpPr/>
          <p:nvPr/>
        </p:nvSpPr>
        <p:spPr>
          <a:xfrm>
            <a:off x="6351880" y="3055149"/>
            <a:ext cx="384048" cy="332586"/>
          </a:xfrm>
          <a:prstGeom prst="hexagon">
            <a:avLst/>
          </a:prstGeom>
          <a:solidFill>
            <a:srgbClr val="B8862B"/>
          </a:solidFill>
          <a:ln/>
        </p:spPr>
      </p:sp>
      <p:sp>
        <p:nvSpPr>
          <p:cNvPr id="17" name="match-hex-label"/>
          <p:cNvSpPr txBox="1"/>
          <p:nvPr/>
        </p:nvSpPr>
        <p:spPr>
          <a:xfrm>
            <a:off x="6351880" y="305514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Tactics</a:t>
            </a:r>
            <a:endParaRPr lang="en-US" sz="2200" dirty="0"/>
          </a:p>
        </p:txBody>
      </p:sp>
      <p:sp>
        <p:nvSpPr>
          <p:cNvPr id="19" name="match-card"/>
          <p:cNvSpPr/>
          <p:nvPr/>
        </p:nvSpPr>
        <p:spPr>
          <a:xfrm>
            <a:off x="777240" y="4065991"/>
            <a:ext cx="5135728" cy="1165352"/>
          </a:xfrm>
          <a:prstGeom prst="roundRect">
            <a:avLst>
              <a:gd name="adj" fmla="val 6277"/>
            </a:avLst>
          </a:prstGeom>
          <a:solidFill>
            <a:srgbClr val="F8F6F4"/>
          </a:solidFill>
          <a:ln/>
        </p:spPr>
      </p:sp>
      <p:sp>
        <p:nvSpPr>
          <p:cNvPr id="20" name="match-hex"/>
          <p:cNvSpPr/>
          <p:nvPr/>
        </p:nvSpPr>
        <p:spPr>
          <a:xfrm>
            <a:off x="850392" y="4482375"/>
            <a:ext cx="384048" cy="332586"/>
          </a:xfrm>
          <a:prstGeom prst="hexagon">
            <a:avLst/>
          </a:prstGeom>
          <a:solidFill>
            <a:srgbClr val="7A4A1E"/>
          </a:solidFill>
          <a:ln/>
        </p:spPr>
      </p:sp>
      <p:sp>
        <p:nvSpPr>
          <p:cNvPr id="21" name="match-hex-label"/>
          <p:cNvSpPr txBox="1"/>
          <p:nvPr/>
        </p:nvSpPr>
        <p:spPr>
          <a:xfrm>
            <a:off x="850392" y="44823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4065991"/>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fake retreat tricked the English into breaking their shield wall</a:t>
            </a:r>
            <a:endParaRPr lang="en-US" sz="2200" dirty="0"/>
          </a:p>
        </p:txBody>
      </p:sp>
      <p:sp>
        <p:nvSpPr>
          <p:cNvPr id="23" name="match-card"/>
          <p:cNvSpPr/>
          <p:nvPr/>
        </p:nvSpPr>
        <p:spPr>
          <a:xfrm>
            <a:off x="6278728" y="4065991"/>
            <a:ext cx="5135728" cy="1165352"/>
          </a:xfrm>
          <a:prstGeom prst="roundRect">
            <a:avLst>
              <a:gd name="adj" fmla="val 6277"/>
            </a:avLst>
          </a:prstGeom>
          <a:solidFill>
            <a:srgbClr val="F9F4EC"/>
          </a:solidFill>
          <a:ln/>
        </p:spPr>
      </p:sp>
      <p:sp>
        <p:nvSpPr>
          <p:cNvPr id="24" name="match-hex"/>
          <p:cNvSpPr/>
          <p:nvPr/>
        </p:nvSpPr>
        <p:spPr>
          <a:xfrm>
            <a:off x="6351880" y="4482375"/>
            <a:ext cx="384048" cy="332586"/>
          </a:xfrm>
          <a:prstGeom prst="hexagon">
            <a:avLst/>
          </a:prstGeom>
          <a:solidFill>
            <a:srgbClr val="B8862B"/>
          </a:solidFill>
          <a:ln/>
        </p:spPr>
      </p:sp>
      <p:sp>
        <p:nvSpPr>
          <p:cNvPr id="25" name="match-hex-label"/>
          <p:cNvSpPr txBox="1"/>
          <p:nvPr/>
        </p:nvSpPr>
        <p:spPr>
          <a:xfrm>
            <a:off x="6351880" y="44823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4065991"/>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Luck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(2 of 2): Sort the reasons into factors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reason William won to the factor it belongs to.</a:t>
            </a:r>
            <a:endParaRPr lang="en-US" sz="2400" dirty="0"/>
          </a:p>
        </p:txBody>
      </p:sp>
      <p:sp>
        <p:nvSpPr>
          <p:cNvPr id="11" name="match-card"/>
          <p:cNvSpPr/>
          <p:nvPr/>
        </p:nvSpPr>
        <p:spPr>
          <a:xfrm>
            <a:off x="777240" y="2468331"/>
            <a:ext cx="5135728" cy="1506220"/>
          </a:xfrm>
          <a:prstGeom prst="roundRect">
            <a:avLst>
              <a:gd name="adj" fmla="val 4857"/>
            </a:avLst>
          </a:prstGeom>
          <a:solidFill>
            <a:srgbClr val="F8F6F4"/>
          </a:solidFill>
          <a:ln/>
        </p:spPr>
      </p:sp>
      <p:sp>
        <p:nvSpPr>
          <p:cNvPr id="12" name="match-hex"/>
          <p:cNvSpPr/>
          <p:nvPr/>
        </p:nvSpPr>
        <p:spPr>
          <a:xfrm>
            <a:off x="850392" y="3055149"/>
            <a:ext cx="384048" cy="332586"/>
          </a:xfrm>
          <a:prstGeom prst="hexagon">
            <a:avLst/>
          </a:prstGeom>
          <a:solidFill>
            <a:srgbClr val="7A4A1E"/>
          </a:solidFill>
          <a:ln/>
        </p:spPr>
      </p:sp>
      <p:sp>
        <p:nvSpPr>
          <p:cNvPr id="13" name="match-hex-label"/>
          <p:cNvSpPr txBox="1"/>
          <p:nvPr/>
        </p:nvSpPr>
        <p:spPr>
          <a:xfrm>
            <a:off x="850392" y="305514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William's soldiers were all trained, paid professionals with some of the best armour and weapons in Europe</a:t>
            </a:r>
            <a:endParaRPr lang="en-US" sz="2200" dirty="0"/>
          </a:p>
        </p:txBody>
      </p:sp>
      <p:sp>
        <p:nvSpPr>
          <p:cNvPr id="15" name="match-card"/>
          <p:cNvSpPr/>
          <p:nvPr/>
        </p:nvSpPr>
        <p:spPr>
          <a:xfrm>
            <a:off x="6278728" y="2468331"/>
            <a:ext cx="5135728" cy="1506220"/>
          </a:xfrm>
          <a:prstGeom prst="roundRect">
            <a:avLst>
              <a:gd name="adj" fmla="val 4857"/>
            </a:avLst>
          </a:prstGeom>
          <a:solidFill>
            <a:srgbClr val="F9F4EC"/>
          </a:solidFill>
          <a:ln/>
        </p:spPr>
      </p:sp>
      <p:sp>
        <p:nvSpPr>
          <p:cNvPr id="16" name="match-hex"/>
          <p:cNvSpPr/>
          <p:nvPr/>
        </p:nvSpPr>
        <p:spPr>
          <a:xfrm>
            <a:off x="6351880" y="3055149"/>
            <a:ext cx="384048" cy="332586"/>
          </a:xfrm>
          <a:prstGeom prst="hexagon">
            <a:avLst/>
          </a:prstGeom>
          <a:solidFill>
            <a:srgbClr val="B8862B"/>
          </a:solidFill>
          <a:ln/>
        </p:spPr>
      </p:sp>
      <p:sp>
        <p:nvSpPr>
          <p:cNvPr id="17" name="match-hex-label"/>
          <p:cNvSpPr txBox="1"/>
          <p:nvPr/>
        </p:nvSpPr>
        <p:spPr>
          <a:xfrm>
            <a:off x="6351880" y="305514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Harold's preparations</a:t>
            </a:r>
            <a:endParaRPr lang="en-US" sz="2200" dirty="0"/>
          </a:p>
        </p:txBody>
      </p:sp>
      <p:sp>
        <p:nvSpPr>
          <p:cNvPr id="19" name="match-card"/>
          <p:cNvSpPr/>
          <p:nvPr/>
        </p:nvSpPr>
        <p:spPr>
          <a:xfrm>
            <a:off x="777240" y="4065991"/>
            <a:ext cx="5135728" cy="1506220"/>
          </a:xfrm>
          <a:prstGeom prst="roundRect">
            <a:avLst>
              <a:gd name="adj" fmla="val 4857"/>
            </a:avLst>
          </a:prstGeom>
          <a:solidFill>
            <a:srgbClr val="F8F6F4"/>
          </a:solidFill>
          <a:ln/>
        </p:spPr>
      </p:sp>
      <p:sp>
        <p:nvSpPr>
          <p:cNvPr id="20" name="match-hex"/>
          <p:cNvSpPr/>
          <p:nvPr/>
        </p:nvSpPr>
        <p:spPr>
          <a:xfrm>
            <a:off x="850392" y="4652809"/>
            <a:ext cx="384048" cy="332586"/>
          </a:xfrm>
          <a:prstGeom prst="hexagon">
            <a:avLst/>
          </a:prstGeom>
          <a:solidFill>
            <a:srgbClr val="7A4A1E"/>
          </a:solidFill>
          <a:ln/>
        </p:spPr>
      </p:sp>
      <p:sp>
        <p:nvSpPr>
          <p:cNvPr id="21" name="match-hex-label"/>
          <p:cNvSpPr txBox="1"/>
          <p:nvPr/>
        </p:nvSpPr>
        <p:spPr>
          <a:xfrm>
            <a:off x="850392" y="46528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4065991"/>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Harold lost about 5,000 men at Stamford Bridge and his tired army was mostly untrained fyrd</a:t>
            </a:r>
            <a:endParaRPr lang="en-US" sz="2200" dirty="0"/>
          </a:p>
        </p:txBody>
      </p:sp>
      <p:sp>
        <p:nvSpPr>
          <p:cNvPr id="23" name="match-card"/>
          <p:cNvSpPr/>
          <p:nvPr/>
        </p:nvSpPr>
        <p:spPr>
          <a:xfrm>
            <a:off x="6278728" y="4065991"/>
            <a:ext cx="5135728" cy="1506220"/>
          </a:xfrm>
          <a:prstGeom prst="roundRect">
            <a:avLst>
              <a:gd name="adj" fmla="val 4857"/>
            </a:avLst>
          </a:prstGeom>
          <a:solidFill>
            <a:srgbClr val="F9F4EC"/>
          </a:solidFill>
          <a:ln/>
        </p:spPr>
      </p:sp>
      <p:sp>
        <p:nvSpPr>
          <p:cNvPr id="24" name="match-hex"/>
          <p:cNvSpPr/>
          <p:nvPr/>
        </p:nvSpPr>
        <p:spPr>
          <a:xfrm>
            <a:off x="6351880" y="4652809"/>
            <a:ext cx="384048" cy="332586"/>
          </a:xfrm>
          <a:prstGeom prst="hexagon">
            <a:avLst/>
          </a:prstGeom>
          <a:solidFill>
            <a:srgbClr val="B8862B"/>
          </a:solidFill>
          <a:ln/>
        </p:spPr>
      </p:sp>
      <p:sp>
        <p:nvSpPr>
          <p:cNvPr id="25" name="match-hex-label"/>
          <p:cNvSpPr txBox="1"/>
          <p:nvPr/>
        </p:nvSpPr>
        <p:spPr>
          <a:xfrm>
            <a:off x="6351880" y="46528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4065991"/>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William's preparations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Sort the reasons into factors</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reason William won to the factor it belongs to.</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6F2EF"/>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Luck: could anyone control it? If not, it is luck.</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Tactics: is it about how an army was organised and ordered during the battle?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Preparations: is it about whether an army was trained, rested and ready? Then ask whose army.</a:t>
            </a:r>
            <a:endParaRPr lang="en-US" sz="1800" dirty="0"/>
          </a:p>
        </p:txBody>
      </p:sp>
      <p:sp>
        <p:nvSpPr>
          <p:cNvPr id="17" name="col-Core"/>
          <p:cNvSpPr/>
          <p:nvPr/>
        </p:nvSpPr>
        <p:spPr>
          <a:xfrm>
            <a:off x="4338218" y="2578608"/>
            <a:ext cx="3515258" cy="3566160"/>
          </a:xfrm>
          <a:prstGeom prst="roundRect">
            <a:avLst>
              <a:gd name="adj" fmla="val 1561"/>
            </a:avLst>
          </a:prstGeom>
          <a:solidFill>
            <a:srgbClr val="E6DDD4"/>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Wind, trick, trained Normans, tired English. One factor each.</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7A4A1E"/>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Take the reason ‘Harold was killed, so the English had no king to fight for’. Argue that it belongs under luck, then argue that it belongs under tactics. Which argument is stronger?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year 1066</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five turning points of 1066 in chronological order, earliest first.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Edward the Confessor dies without an heir (5 January)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William defeats Harold at the Battle of Hastings (14 October)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Harold defeats Hardrada at the Battle of Stamford Bridge (25 September)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William is crowned King of England at Westminster Abbey (25 December)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Harold Godwinson is crowned King of England (6 January)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The year 1066</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The year 1066</a:t>
            </a:r>
            <a:endParaRPr lang="en-US" sz="2000" dirty="0"/>
          </a:p>
        </p:txBody>
      </p:sp>
      <p:sp>
        <p:nvSpPr>
          <p:cNvPr id="12" name="col-Support"/>
          <p:cNvSpPr/>
          <p:nvPr/>
        </p:nvSpPr>
        <p:spPr>
          <a:xfrm>
            <a:off x="548640" y="2395728"/>
            <a:ext cx="3515258" cy="3749040"/>
          </a:xfrm>
          <a:prstGeom prst="roundRect">
            <a:avLst>
              <a:gd name="adj" fmla="val 1561"/>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year starts with a death and ends with a coronation.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January first: the death, then the next day's crowning.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Autumn: the battle in the north comes before the battle in the south, by 19 days.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Christmas Day: the winner is crowned.</a:t>
            </a:r>
            <a:endParaRPr lang="en-US" sz="1800" dirty="0"/>
          </a:p>
        </p:txBody>
      </p:sp>
      <p:sp>
        <p:nvSpPr>
          <p:cNvPr id="17" name="col-Core"/>
          <p:cNvSpPr/>
          <p:nvPr/>
        </p:nvSpPr>
        <p:spPr>
          <a:xfrm>
            <a:off x="4338218" y="2395728"/>
            <a:ext cx="3515258" cy="3749040"/>
          </a:xfrm>
          <a:prstGeom prst="roundRect">
            <a:avLst>
              <a:gd name="adj" fmla="val 1561"/>
            </a:avLst>
          </a:prstGeom>
          <a:solidFill>
            <a:srgbClr val="E6DDD4"/>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5 January, 6 January, 25 September, 14 October, 25 December.</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7A4A1E"/>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Between 6 January and 25 September nothing on this list happens, yet those months decided everything. Write two sentences explaining what was happening in that gap and why it mattered.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history, what is a cause?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reason why something happened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date on a timeline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historian who writes about the past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battle between two armies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Sort the reasons into factors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wind changed and let William cross the Channel while Harold was fighting in the north  →  D  Luck</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fake retreat tricked the English into breaking their shield wall  →  C  Tactics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William's soldiers were all trained, paid professionals with some of the best armour and weapons in Europe  →  B  William's preparations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Harold lost about 5,000 men at Stamford Bridge and his tired army was mostly untrained fyrd  →  A  Harold's preparations</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wind is luck (nobody controlled it); the fake retreat is tactics (how William fought); the trained professional army is William's preparations; the losses at Stamford Bridge and the tired, mostly untrained army are Harold's preparations.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year 1066</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Edward the Confessor dies without an heir (5 January)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Harold Godwinson is crowned King of England (6 January)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Harold defeats Hardrada at the Battle of Stamford Bridge (25 September)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William defeats Harold at the Battle of Hastings (14 October)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William is crowned King of England at Westminster Abbey (25 December)  (D)</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Edward died on 5 January; Harold was crowned on 6 January; Stamford Bridge was fought on 25 September; Hastings on 14 October; and William was crowned on Christmas Day, 25 December 1066. One year, two kings crowned, one killed.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history, what is a cause?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 reason why something happened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Causes are the reasons why something happens. For Hastings, a cause is anything that helped William or hurt Harold.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Hastings · Chapter 6: Why did William win?</dc:title>
  <dc:subject>History · Year 7</dc:subject>
  <dc:creator>Dr Vitor Merissi de Carvalho</dc:creator>
  <cp:lastModifiedBy>Dr Vitor Merissi de Carvalho</cp:lastModifiedBy>
  <cp:revision>1</cp:revision>
  <dcterms:created xsi:type="dcterms:W3CDTF">2026-10-19T06:07:54Z</dcterms:created>
  <dcterms:modified xsi:type="dcterms:W3CDTF">2026-10-19T06:07:54Z</dcterms:modified>
</cp:coreProperties>
</file>