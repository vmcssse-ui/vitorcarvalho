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bb38bf0-e262-dac5-9597-fb9561d0bfcf}">
          <p14:sldIdLst>
            <p14:sldId id="256"/>
          </p14:sldIdLst>
        </p14:section>
        <p14:section name="Gate" id="{03600fc6-3622-f143-8581-ffba6e58852d}">
          <p14:sldIdLst>
            <p14:sldId id="257"/>
            <p14:sldId id="258"/>
            <p14:sldId id="259"/>
          </p14:sldIdLst>
        </p14:section>
        <p14:section name="Pre-teach" id="{e09ec819-7c3d-fc25-b91a-1f4839a92ca8}">
          <p14:sldIdLst>
            <p14:sldId id="260"/>
          </p14:sldIdLst>
        </p14:section>
        <p14:section name="Read-along" id="{a7e3b190-1985-4299-ef73-41199b0bdbb8}">
          <p14:sldIdLst>
            <p14:sldId id="261"/>
            <p14:sldId id="262"/>
          </p14:sldIdLst>
        </p14:section>
        <p14:section name="Teach" id="{053c96e8-5471-b401-9704-d754906ed35c}">
          <p14:sldIdLst>
            <p14:sldId id="263"/>
            <p14:sldId id="264"/>
            <p14:sldId id="265"/>
          </p14:sldIdLst>
        </p14:section>
        <p14:section name="Routes" id="{1befb154-7a9b-91a1-47db-f0783c6d8c72}">
          <p14:sldIdLst>
            <p14:sldId id="266"/>
            <p14:sldId id="267"/>
            <p14:sldId id="268"/>
            <p14:sldId id="269"/>
          </p14:sldIdLst>
        </p14:section>
        <p14:section name="Close" id="{28d3c783-50ba-8ad5-c838-bda81863aa3d}">
          <p14:sldIdLst>
            <p14:sldId id="270"/>
          </p14:sldIdLst>
        </p14:section>
        <p14:section name="Answers" id="{750fb4e2-5e0a-b928-0ff0-23ce121d780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Harold's summer of problems. This chapter puts you in King Harold's shoes in the summer of 1066: two enemies, one army, and a harvest that would not wait.
This deck covers the department's lesson: 2 (The Battle of Stamford Bridge: Was Harold unlucky in the summer of 1066, or did he make bad decisions?).
Read the big question aloud: "William won the Battle of Hastings because he was lucky. How far do you agree?"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did Harold keep his army on the south coast through the summer of 1066?  →  B   William was closer, had the best army in Europe and the Pope's support
2. By September, Harold had to decide whether to send his army home for the ___.  →  harvest
3. Why could William not sail to England during the summer of 1066?  →  B   Very bad weather kept his ships in Normandy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did Harold keep his army on the south coast through the summer of 1066?  →  B   William was closer, had the best army in Europe and the Pope's support
2. By September, Harold had to decide whether to send his army home for the ___.  →  harvest
3. Why could William not sail to England during the summer of 1066?  →  B   Very bad weather kept his ships in Normandy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William was closer, had the best army in Europe and the Pope's support. Harold expected William, the nearer and stronger enemy, to land in the south. The Pope's support made William look even more dangerous.
2. harvest. Most of Harold's soldiers were farmers. If the harvest was not gathered, the kingdom would starve.
3. B   Very bad weather kept his ships in Normandy. All summer the weather was against William. His fleet could not cross the Channel until the wind changed in the autumn.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invade: to enter a country with an army to take it over. Example: "William and Hardrada both planned to invade England."
• harvest: the time when crops are gathered in from the fields. Example: "By September the harvest could not wait any longer."
• peasant: an ordinary person who worked on the land. Example: "Most of Harold's soldiers were peasants and farmers."
• Channel: the narrow sea between England and France. Example: "William's ships had to cross the Channel."
• Pope: the head of the Christian Church. Example: "The Pope gave his support to William."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Harold was king, but he was not safe.
2. William was in Normandy, to the south, across the Channel.
3. Hardrada was in Norway, far to the north-east.
4. Harold could be attacked from the north and the south at once.
5. His first problem was where to put his army.
6. He chose the south coast, because William was closer and had the best army in Europe.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All summer, the winds were wrong and William's ships could not sail.
8. Harold's second problem was his soldiers.
9. Most of them were farmers, and September was harvest time.
10. Keeping them together was also very expensive.
11. On 8 September, Harold sent his army home.
12. Ten days later, the Vikings landed in the north.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Problem 1: north or south?. Say it in your own words, then check understanding with a quick question: ask a pupil from the pre-teach group first, since they met these words and ideas before the lesson. Pupils try to recall before you re-explain.
Look at a map of 1066. William's Normandy lies just across the Channel to the south of England. Hardrada's Norway lies far away to the north-east, across the North Sea. Harold, in the middle, could be attacked from either direction, and he had only one army. His biggest problem was simple to state and very hard to solve: where should he put his soldiers?
William looked like the bigger threat. He had one of the best armies in Europe. He was very close to England, a short crossing away. And he had won the support of the Pope, the head of the Christian Church, which in 1066 meant that many people believed God was on William's side. Hardrada, meanwhile, was gathering a huge force: over 300 ships and more than 7,000 fierce Viking soldiers.
Harold chose the south. He kept his army on the south coast through the summer of 1066, waiting for William. But William never came. Very bad weather all summer long meant that his fleet could not sail. Harold's army sat on the beaches, watching an empty sea.
Tip: North or south, keep or send home. Two problems, two decisions. Everything that happens next follows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Problem 2: an army that could not stay. Say it in your own words, then check understanding with a quick question: ask a pupil from the pre-teach group first, since they met these words and ideas before the lesson. Pupils try to recall before you re-explain.
Harold's army was not a professional force. Most of his soldiers were peasants and farmers who fought when the king called them. They could not stay away from their fields for ever, and by September it was harvest time. If the crops were not gathered in, Harold's people and his army would starve in the winter, whether or not there was a war.
There was a second reason. Keeping thousands of men together, fed and paid, when they were not fighting, was very expensive. Harold could not afford to keep his army together indefinitely. Every week on the south coast with no sign of William cost him money he did not have.
So on 8 September 1066 Harold made his second decision: he sent his army home for the harvest. It was a reasonable choice. He had waited all summer, the weather still kept William in Normandy, and his people needed food for the winter. Ten days later, it looked like the worst decision of his life.
Worked example — model it step by step, thinking aloud: Harold sent his army home on 8 September 1066. Hardrada landed in the north on 18 September. How many days did Harold have before the first invasion? (1) Both dates are in September, so subtract the day numbers. (2) 18 − 8 = 10 days. Answer: 10 days.
Tip: Harvest and cost: two reasons to send the army home. Learn both; a question may ask for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Unlucky, or a bad decision?. Say it in your own words, then check understanding with a quick question: ask a pupil from the pre-teach group first, since they met these words and ideas before the lesson. Pupils try to recall before you re-explain.
Your lesson asked you to be Harold's adviser. Should he have stationed his army in the north, in the south, or somewhere in the middle? Should he have sent it home? Historians argue about this. Harold guarded against the enemy who was closer and stronger, which looks sensible. He sent his army home when the weather had held William back all summer, which also looks sensible.
But both decisions rested on things Harold could not control: the wind in the Channel and the timing of Hardrada's fleet. That is what makes 1066 such a good test of a historian's skill. When something goes wrong, was it luck, or was it a mistake? Keep that question in mind. It is the big question of the whole unit, and it starts here, before a single battle has been fought.
One more clue about Harold's position comes from the Bayeux Tapestry, a long embroidered cloth made after the Conquest. One scene shows Harold in France in 1064, touching holy relics as he swears his oath to William. Whatever Harold said in 1066, the Normans had a picture of his promise.
Tip: When you judge a decision, ask: what did the person know at the time? Harold did not know Hardrada's ships were ten days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Two problems, two decisions.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problem Harold faced in 1066 to the decision he actually made about it.
Support — work through the steps with the group: (1) Problem 1 is about place: north or south. Find the decision that names a place. (2) Problem 2 is about time and money: harvest and cost. Find the decisions about sending men home and paying for them. (3) One item is not a decision at all but something Harold could not control. That is the weather.
Parallel worked example for Support (model it, do not give the task answer): Practice: a head teacher has one spare teacher and two classes without a teacher, one of which has an exam next week. Which problem is about place, and what would you expect the decision to be? The problem is where to put the one teacher.; The decision picks the class with the greater need: the exam class.. Answer: A problem of place; the teacher goes to the exam class, the bigger threat..
Core — reveal the hint only on request: Two problems were Harold's to solve. One, the weather, was nobody's. Match the places, then the money, then the weather.
Stretch — no help; when finished: For each decision, write one sentence saying whether it was a good decision given what Harold knew at the time, and one sentence saying how it looked after 18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Two problems, two decisions.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problem Harold faced in 1066 to the decision he actually made about it.
Support — work through the steps with the group: (1) Problem 1 is about place: north or south. Find the decision that names a place. (2) Problem 2 is about time and money: harvest and cost. Find the decisions about sending men home and paying for them. (3) One item is not a decision at all but something Harold could not control. That is the weather.
Parallel worked example for Support (model it, do not give the task answer): Practice: a head teacher has one spare teacher and two classes without a teacher, one of which has an exam next week. Which problem is about place, and what would you expect the decision to be? The problem is where to put the one teacher.; The decision picks the class with the greater need: the exam class.. Answer: A problem of place; the teacher goes to the exam class, the bigger threat..
Core — reveal the hint only on request: Two problems were Harold's to solve. One, the weather, was nobody's. Match the places, then the money, then the weather.
Stretch — no help; when finished: For each decision, write one sentence saying whether it was a good decision given what Harold knew at the time, and one sentence saying how it looked after 18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 the days.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Harold sent his army home on 8 September 1066. Hardrada's Vikings landed on 18 September. How many days after sending his army home was Harold invaded?
Support — work through the steps with the group: (1) Write both dates: 8 September and 18 September. They are in the same month. (2) The later day number minus the earlier day number gives the gap. (3) 18 − 8 = 10.
Parallel worked example for Support (model it, do not give the task answer): Practice: Edward died on 5 January and Harold was crowned on 6 January. How many days later was the coronation? Same month, so subtract the day numbers.; 6 − 5 = 1.. Answer: 1 day.
Core — reveal the hint only on request: Same month, so just subtract the day numbers.
Stretch — no help; when finished: Harold's men needed roughly a day's march for every 25 kilometres. Explain why ten days was not long enough for a scattered army to gather again, and what that meant for Harold when the news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Count the days.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Harold sent his army home on 8 September 1066. Hardrada's Vikings landed on 18 September. How many days after sending his army home was Harold invaded?
Support — work through the steps with the group: (1) Write both dates: 8 September and 18 September. They are in the same month. (2) The later day number minus the earlier day number gives the gap. (3) 18 − 8 = 10.
Parallel worked example for Support (model it, do not give the task answer): Practice: Edward died on 5 January and Harold was crowned on 6 January. How many days later was the coronation? Same month, so subtract the day numbers.; 6 − 5 = 1.. Answer: 1 day.
Core — reveal the hint only on request: Same month, so just subtract the day numbers.
Stretch — no help; when finished: Harold's men needed roughly a day's march for every 25 kilometres. Explain why ten days was not long enough for a scattered army to gather again, and what that meant for Harold when the news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did Harold keep his army on the south coast through the summer of 1066?
Answer: A   William was closer, had the best army in Europe and the Pope's support. Harold expected William, the nearer and stronger enemy, to land in the south. The Pope's support made William look even more dangerous.
Source of this question: gate item 1 re-asked (options rotated) — this chapter has no third quick-check module.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Two problems, two decisions. Reveal the answer; pupils mark their own work in a different colour, then read the "why" together. Same destination for every lane, so one answer serves the whole class.
Answer: Where to put his one army, with enemies to the north and the south  →  B  He kept it on the south coast, waiting for William; Soldiers who were farmers, with the harvest due in September  →  A  He sent them home on 8 September; The cost of keeping thousands of men together with no fighting  →  C  He accepted he could not keep the army together indefinitely; Bad weather all summer in the Channel  →  D  He could do nothing; it kept William away but also kept Harold waiting
Why: Harold put his army in the south because William was the nearer and stronger threat; he sent it home on 8 September for the harvest and because it cost too much to keep; the weather was beyond his control and cut both ways.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Count the days. Reveal the answer; pupils mark their own work in a different colour, then read the "why" together. Same destination for every lane, so one answer serves the whole class.
Answer: 10 days
Why: The gap between 8 and 18 September is 10 days. Harold's farmers had barely reached their fields when he had to call them back and march north.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William was closer, had the best army in Europe and the Pope's support
Why: Harold expected William, the nearer and stronger enemy, to land in the south. The Pope's support made William look even more dangerous.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Battle of Hastings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Battle of Hastings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Harold's summer of problems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6F2EF"/>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Battle of Stamford Bridge</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William won the Battle of Hastings because he was lucky. How far do you agree?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Why did Harold keep his army on the south coast through the summer of 1066?</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English nobles lived in the south</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was closer, had the best army in Europe and the Pope's support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south coast had the best harvest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Hardrada had already been defeated</a:t>
            </a:r>
            <a:endParaRPr lang="en-US" sz="2200" dirty="0"/>
          </a:p>
        </p:txBody>
      </p:sp>
      <p:sp>
        <p:nvSpPr>
          <p:cNvPr id="12" name="card"/>
          <p:cNvSpPr/>
          <p:nvPr/>
        </p:nvSpPr>
        <p:spPr>
          <a:xfrm>
            <a:off x="6233008" y="1389888"/>
            <a:ext cx="5410048" cy="4754880"/>
          </a:xfrm>
          <a:prstGeom prst="roundRect">
            <a:avLst>
              <a:gd name="adj" fmla="val 1154"/>
            </a:avLst>
          </a:prstGeom>
          <a:solidFill>
            <a:srgbClr val="FAF8F6"/>
          </a:solidFill>
          <a:ln w="12700">
            <a:solidFill>
              <a:srgbClr val="D4C5B7"/>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By September, Harold had to decide whether to send his army home for the ___.</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harvest  ·  coronation  ·  winter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Why could William not sail to England during the summer of 1066?</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His ships had not been built yet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Very bad weather kept his ships in Normandy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was fighting Hardrada in Norway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Pope forbade him to sail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FE4D0"/>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William was closer, had the best army in Europe and the Pope's support</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Harold expected William, the nearer and stronger enemy, to land in the south. The Pope's support made William look even more dangerous.</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harvest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By September, Harold had to decide whether to send his army home for the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Most of Harold's soldiers were farmers. If the harvest was not gathered, the kingdom would starve.</a:t>
            </a:r>
            <a:endParaRPr lang="en-US" sz="20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FE4D0"/>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Very bad weather kept his ships in Normandy</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All summer the weather was against William. His fleet could not cross the Channel until the wind changed in the autumn.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7A4A1E"/>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F8F6F4"/>
          </a:solidFill>
          <a:ln/>
        </p:spPr>
      </p:sp>
      <p:sp>
        <p:nvSpPr>
          <p:cNvPr id="12" name="kw-hex"/>
          <p:cNvSpPr/>
          <p:nvPr/>
        </p:nvSpPr>
        <p:spPr>
          <a:xfrm>
            <a:off x="658368" y="2158020"/>
            <a:ext cx="411480" cy="356342"/>
          </a:xfrm>
          <a:prstGeom prst="hexagon">
            <a:avLst/>
          </a:prstGeom>
          <a:solidFill>
            <a:srgbClr val="7A4A1E"/>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invade</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enter a country with an army to take it over</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William and Hardrada both planned to invade England.</a:t>
            </a:r>
            <a:endParaRPr lang="en-US" sz="1800" dirty="0"/>
          </a:p>
        </p:txBody>
      </p:sp>
      <p:sp>
        <p:nvSpPr>
          <p:cNvPr id="16" name="kw-row"/>
          <p:cNvSpPr/>
          <p:nvPr/>
        </p:nvSpPr>
        <p:spPr>
          <a:xfrm>
            <a:off x="548640" y="2825293"/>
            <a:ext cx="11094415" cy="831901"/>
          </a:xfrm>
          <a:prstGeom prst="roundRect">
            <a:avLst>
              <a:gd name="adj" fmla="val 6595"/>
            </a:avLst>
          </a:prstGeom>
          <a:solidFill>
            <a:srgbClr val="F9F4EC"/>
          </a:solidFill>
          <a:ln/>
        </p:spPr>
      </p:sp>
      <p:sp>
        <p:nvSpPr>
          <p:cNvPr id="17" name="kw-hex"/>
          <p:cNvSpPr/>
          <p:nvPr/>
        </p:nvSpPr>
        <p:spPr>
          <a:xfrm>
            <a:off x="658368" y="3063072"/>
            <a:ext cx="411480" cy="356342"/>
          </a:xfrm>
          <a:prstGeom prst="hexagon">
            <a:avLst/>
          </a:prstGeom>
          <a:solidFill>
            <a:srgbClr val="B8862B"/>
          </a:solidFill>
          <a:ln/>
        </p:spPr>
      </p:sp>
      <p:sp>
        <p:nvSpPr>
          <p:cNvPr id="18" name="kw-cell"/>
          <p:cNvSpPr txBox="1"/>
          <p:nvPr/>
        </p:nvSpPr>
        <p:spPr>
          <a:xfrm>
            <a:off x="1143000" y="2825293"/>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harvest</a:t>
            </a:r>
            <a:endParaRPr lang="en-US" sz="2000" dirty="0"/>
          </a:p>
        </p:txBody>
      </p:sp>
      <p:sp>
        <p:nvSpPr>
          <p:cNvPr id="19" name="kw-cell"/>
          <p:cNvSpPr txBox="1"/>
          <p:nvPr/>
        </p:nvSpPr>
        <p:spPr>
          <a:xfrm>
            <a:off x="3657600" y="2825293"/>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time when crops are gathered in from the fields</a:t>
            </a:r>
            <a:endParaRPr lang="en-US" sz="1800" dirty="0"/>
          </a:p>
        </p:txBody>
      </p:sp>
      <p:sp>
        <p:nvSpPr>
          <p:cNvPr id="20" name="kw-cell"/>
          <p:cNvSpPr txBox="1"/>
          <p:nvPr/>
        </p:nvSpPr>
        <p:spPr>
          <a:xfrm>
            <a:off x="7315200" y="2825293"/>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By September the harvest could not wait any longer.</a:t>
            </a:r>
            <a:endParaRPr lang="en-US" sz="1800" dirty="0"/>
          </a:p>
        </p:txBody>
      </p:sp>
      <p:sp>
        <p:nvSpPr>
          <p:cNvPr id="21" name="kw-row"/>
          <p:cNvSpPr/>
          <p:nvPr/>
        </p:nvSpPr>
        <p:spPr>
          <a:xfrm>
            <a:off x="548640" y="3730346"/>
            <a:ext cx="11094415" cy="831901"/>
          </a:xfrm>
          <a:prstGeom prst="roundRect">
            <a:avLst>
              <a:gd name="adj" fmla="val 6595"/>
            </a:avLst>
          </a:prstGeom>
          <a:solidFill>
            <a:srgbClr val="F8F6F4"/>
          </a:solidFill>
          <a:ln/>
        </p:spPr>
      </p:sp>
      <p:sp>
        <p:nvSpPr>
          <p:cNvPr id="22" name="kw-hex"/>
          <p:cNvSpPr/>
          <p:nvPr/>
        </p:nvSpPr>
        <p:spPr>
          <a:xfrm>
            <a:off x="658368" y="3968125"/>
            <a:ext cx="411480" cy="356342"/>
          </a:xfrm>
          <a:prstGeom prst="hexagon">
            <a:avLst/>
          </a:prstGeom>
          <a:solidFill>
            <a:srgbClr val="7A4A1E"/>
          </a:solidFill>
          <a:ln/>
        </p:spPr>
      </p:sp>
      <p:sp>
        <p:nvSpPr>
          <p:cNvPr id="23" name="kw-cell"/>
          <p:cNvSpPr txBox="1"/>
          <p:nvPr/>
        </p:nvSpPr>
        <p:spPr>
          <a:xfrm>
            <a:off x="1143000" y="3730346"/>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peasant</a:t>
            </a:r>
            <a:endParaRPr lang="en-US" sz="2000" dirty="0"/>
          </a:p>
        </p:txBody>
      </p:sp>
      <p:sp>
        <p:nvSpPr>
          <p:cNvPr id="24" name="kw-cell"/>
          <p:cNvSpPr txBox="1"/>
          <p:nvPr/>
        </p:nvSpPr>
        <p:spPr>
          <a:xfrm>
            <a:off x="3657600" y="3730346"/>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an ordinary person who worked on the land</a:t>
            </a:r>
            <a:endParaRPr lang="en-US" sz="1800" dirty="0"/>
          </a:p>
        </p:txBody>
      </p:sp>
      <p:sp>
        <p:nvSpPr>
          <p:cNvPr id="25" name="kw-cell"/>
          <p:cNvSpPr txBox="1"/>
          <p:nvPr/>
        </p:nvSpPr>
        <p:spPr>
          <a:xfrm>
            <a:off x="7315200" y="3730346"/>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Most of Harold's soldiers were peasants and farmers.</a:t>
            </a:r>
            <a:endParaRPr lang="en-US" sz="1800" dirty="0"/>
          </a:p>
        </p:txBody>
      </p:sp>
      <p:sp>
        <p:nvSpPr>
          <p:cNvPr id="26" name="kw-row"/>
          <p:cNvSpPr/>
          <p:nvPr/>
        </p:nvSpPr>
        <p:spPr>
          <a:xfrm>
            <a:off x="548640" y="4635398"/>
            <a:ext cx="11094415" cy="831901"/>
          </a:xfrm>
          <a:prstGeom prst="roundRect">
            <a:avLst>
              <a:gd name="adj" fmla="val 6595"/>
            </a:avLst>
          </a:prstGeom>
          <a:solidFill>
            <a:srgbClr val="F9F4EC"/>
          </a:solidFill>
          <a:ln/>
        </p:spPr>
      </p:sp>
      <p:sp>
        <p:nvSpPr>
          <p:cNvPr id="27" name="kw-hex"/>
          <p:cNvSpPr/>
          <p:nvPr/>
        </p:nvSpPr>
        <p:spPr>
          <a:xfrm>
            <a:off x="658368" y="4873178"/>
            <a:ext cx="411480" cy="356342"/>
          </a:xfrm>
          <a:prstGeom prst="hexagon">
            <a:avLst/>
          </a:prstGeom>
          <a:solidFill>
            <a:srgbClr val="B8862B"/>
          </a:solidFill>
          <a:ln/>
        </p:spPr>
      </p:sp>
      <p:sp>
        <p:nvSpPr>
          <p:cNvPr id="28" name="kw-cell"/>
          <p:cNvSpPr txBox="1"/>
          <p:nvPr/>
        </p:nvSpPr>
        <p:spPr>
          <a:xfrm>
            <a:off x="1143000" y="4635398"/>
            <a:ext cx="2331720" cy="831901"/>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Channel</a:t>
            </a:r>
            <a:endParaRPr lang="en-US" sz="2000" dirty="0"/>
          </a:p>
        </p:txBody>
      </p:sp>
      <p:sp>
        <p:nvSpPr>
          <p:cNvPr id="29" name="kw-cell"/>
          <p:cNvSpPr txBox="1"/>
          <p:nvPr/>
        </p:nvSpPr>
        <p:spPr>
          <a:xfrm>
            <a:off x="3657600" y="4635398"/>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narrow sea between England and France</a:t>
            </a:r>
            <a:endParaRPr lang="en-US" sz="1800" dirty="0"/>
          </a:p>
        </p:txBody>
      </p:sp>
      <p:sp>
        <p:nvSpPr>
          <p:cNvPr id="30" name="kw-cell"/>
          <p:cNvSpPr txBox="1"/>
          <p:nvPr/>
        </p:nvSpPr>
        <p:spPr>
          <a:xfrm>
            <a:off x="7315200" y="4635398"/>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William's ships had to cross the Channel.</a:t>
            </a:r>
            <a:endParaRPr lang="en-US" sz="1800" dirty="0"/>
          </a:p>
        </p:txBody>
      </p:sp>
      <p:sp>
        <p:nvSpPr>
          <p:cNvPr id="31" name="kw-row"/>
          <p:cNvSpPr/>
          <p:nvPr/>
        </p:nvSpPr>
        <p:spPr>
          <a:xfrm>
            <a:off x="548640" y="5540451"/>
            <a:ext cx="11094415" cy="604317"/>
          </a:xfrm>
          <a:prstGeom prst="roundRect">
            <a:avLst>
              <a:gd name="adj" fmla="val 9079"/>
            </a:avLst>
          </a:prstGeom>
          <a:solidFill>
            <a:srgbClr val="F8F6F4"/>
          </a:solidFill>
          <a:ln/>
        </p:spPr>
      </p:sp>
      <p:sp>
        <p:nvSpPr>
          <p:cNvPr id="32" name="kw-hex"/>
          <p:cNvSpPr/>
          <p:nvPr/>
        </p:nvSpPr>
        <p:spPr>
          <a:xfrm>
            <a:off x="658368" y="5664439"/>
            <a:ext cx="411480" cy="356342"/>
          </a:xfrm>
          <a:prstGeom prst="hexagon">
            <a:avLst/>
          </a:prstGeom>
          <a:solidFill>
            <a:srgbClr val="7A4A1E"/>
          </a:solidFill>
          <a:ln/>
        </p:spPr>
      </p:sp>
      <p:sp>
        <p:nvSpPr>
          <p:cNvPr id="33" name="kw-cell"/>
          <p:cNvSpPr txBox="1"/>
          <p:nvPr/>
        </p:nvSpPr>
        <p:spPr>
          <a:xfrm>
            <a:off x="1143000" y="5540451"/>
            <a:ext cx="2331720" cy="604317"/>
          </a:xfrm>
          <a:prstGeom prst="rect">
            <a:avLst/>
          </a:prstGeom>
          <a:noFill/>
          <a:ln/>
        </p:spPr>
        <p:txBody>
          <a:bodyPr wrap="square" lIns="63500" tIns="63500" rIns="63500" bIns="63500" rtlCol="0" anchor="ctr"/>
          <a:lstStyle/>
          <a:p>
            <a:pPr algn="l" indent="0" marL="0">
              <a:buNone/>
            </a:pPr>
            <a:r>
              <a:rPr lang="en-US" sz="2000" b="1" dirty="0">
                <a:solidFill>
                  <a:srgbClr val="7A4A1E"/>
                </a:solidFill>
                <a:latin typeface="Cambria" pitchFamily="34" charset="0"/>
                <a:ea typeface="Cambria" pitchFamily="34" charset="-122"/>
                <a:cs typeface="Cambria" pitchFamily="34" charset="-120"/>
              </a:rPr>
              <a:t>Pope</a:t>
            </a:r>
            <a:endParaRPr lang="en-US" sz="2000" dirty="0"/>
          </a:p>
        </p:txBody>
      </p:sp>
      <p:sp>
        <p:nvSpPr>
          <p:cNvPr id="34" name="kw-cell"/>
          <p:cNvSpPr txBox="1"/>
          <p:nvPr/>
        </p:nvSpPr>
        <p:spPr>
          <a:xfrm>
            <a:off x="3657600" y="5540451"/>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head of the Christian Church</a:t>
            </a:r>
            <a:endParaRPr lang="en-US" sz="1800" dirty="0"/>
          </a:p>
        </p:txBody>
      </p:sp>
      <p:sp>
        <p:nvSpPr>
          <p:cNvPr id="35" name="kw-cell"/>
          <p:cNvSpPr txBox="1"/>
          <p:nvPr/>
        </p:nvSpPr>
        <p:spPr>
          <a:xfrm>
            <a:off x="7315200" y="5540451"/>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Pope gave his support to William.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Harold was king, but he was not safe.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William was in Normandy, to the south, across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Channel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Hardrada was in Norway, far to the north-east.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Harold could be attacked from the north and the south at once.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 first problem was where to put his army.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chose the south coast, because William was closer and had the best army in Europe.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All summer, the winds were wrong and William's ships could not sail.</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Harold's second problem was his soldiers.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Most of them were farmers, and September was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harvest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Keeping them together was also very expensive.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On 8 September, Harold sent his army home.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Ten days later, the Vikings landed in the north.</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Problem 1: north or south?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North or south, keep or send home. Two problems, two decisions. Everything that happens next follows from them.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Look at a map of 1066. William's Normandy lies just across the Channel to the south of England.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William looked like the bigger threat. He had one of the best armies in Europe.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 chose the south. He kept his army on the south coast through the summer of 1066, waiting for William.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Problem 2: an army that could not stay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Harvest and cost: two reasons to send the army home. Learn both; a question may ask for two.</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C0AA95"/>
            </a:solidFill>
            <a:prstDash val="solid"/>
          </a:ln>
        </p:spPr>
      </p:sp>
      <p:sp>
        <p:nvSpPr>
          <p:cNvPr id="12" name="worked-tab"/>
          <p:cNvSpPr/>
          <p:nvPr/>
        </p:nvSpPr>
        <p:spPr>
          <a:xfrm>
            <a:off x="6126480" y="1499616"/>
            <a:ext cx="2377440" cy="457200"/>
          </a:xfrm>
          <a:prstGeom prst="roundRect">
            <a:avLst>
              <a:gd name="adj" fmla="val 40000"/>
            </a:avLst>
          </a:prstGeom>
          <a:solidFill>
            <a:srgbClr val="7A4A1E"/>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Harold sent his army home on 8 September 1066. Hardrada landed in the north on 18 September. How many days did Harold have before the first invasion?</a:t>
            </a:r>
            <a:endParaRPr lang="en-US" sz="1800" dirty="0"/>
          </a:p>
        </p:txBody>
      </p:sp>
      <p:sp>
        <p:nvSpPr>
          <p:cNvPr id="14" name="step-box"/>
          <p:cNvSpPr/>
          <p:nvPr/>
        </p:nvSpPr>
        <p:spPr>
          <a:xfrm>
            <a:off x="6126480" y="3167380"/>
            <a:ext cx="5379415" cy="794512"/>
          </a:xfrm>
          <a:prstGeom prst="roundRect">
            <a:avLst>
              <a:gd name="adj" fmla="val 11509"/>
            </a:avLst>
          </a:prstGeom>
          <a:solidFill>
            <a:srgbClr val="F6F2EF"/>
          </a:solidFill>
          <a:ln/>
        </p:spPr>
      </p:sp>
      <p:sp>
        <p:nvSpPr>
          <p:cNvPr id="15" name="step-hex"/>
          <p:cNvSpPr/>
          <p:nvPr/>
        </p:nvSpPr>
        <p:spPr>
          <a:xfrm>
            <a:off x="6217920" y="3382506"/>
            <a:ext cx="420624" cy="364260"/>
          </a:xfrm>
          <a:prstGeom prst="hexagon">
            <a:avLst/>
          </a:prstGeom>
          <a:solidFill>
            <a:srgbClr val="7A4A1E"/>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Both dates are in September, so subtract the day numbers.</a:t>
            </a:r>
            <a:endParaRPr lang="en-US" sz="1800" dirty="0"/>
          </a:p>
        </p:txBody>
      </p:sp>
      <p:sp>
        <p:nvSpPr>
          <p:cNvPr id="18" name="step-box"/>
          <p:cNvSpPr/>
          <p:nvPr/>
        </p:nvSpPr>
        <p:spPr>
          <a:xfrm>
            <a:off x="6126480" y="4053332"/>
            <a:ext cx="5379415" cy="566928"/>
          </a:xfrm>
          <a:prstGeom prst="roundRect">
            <a:avLst>
              <a:gd name="adj" fmla="val 16129"/>
            </a:avLst>
          </a:prstGeom>
          <a:solidFill>
            <a:srgbClr val="F6F2EF"/>
          </a:solidFill>
          <a:ln/>
        </p:spPr>
      </p:sp>
      <p:sp>
        <p:nvSpPr>
          <p:cNvPr id="19" name="step-hex"/>
          <p:cNvSpPr/>
          <p:nvPr/>
        </p:nvSpPr>
        <p:spPr>
          <a:xfrm>
            <a:off x="6217920" y="4154666"/>
            <a:ext cx="420624" cy="364260"/>
          </a:xfrm>
          <a:prstGeom prst="hexagon">
            <a:avLst/>
          </a:prstGeom>
          <a:solidFill>
            <a:srgbClr val="7A4A1E"/>
          </a:solidFill>
          <a:ln/>
        </p:spPr>
      </p:sp>
      <p:sp>
        <p:nvSpPr>
          <p:cNvPr id="20"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18 − 8 = 10 days.</a:t>
            </a:r>
            <a:endParaRPr lang="en-US" sz="1800" dirty="0"/>
          </a:p>
        </p:txBody>
      </p:sp>
      <p:sp>
        <p:nvSpPr>
          <p:cNvPr id="22" name="worked-answer"/>
          <p:cNvSpPr/>
          <p:nvPr/>
        </p:nvSpPr>
        <p:spPr>
          <a:xfrm>
            <a:off x="6126480" y="475742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10 days</a:t>
            </a:r>
            <a:endParaRPr lang="en-US" sz="1800" dirty="0"/>
          </a:p>
        </p:txBody>
      </p:sp>
      <p:sp>
        <p:nvSpPr>
          <p:cNvPr id="23" name="bullet-card"/>
          <p:cNvSpPr/>
          <p:nvPr/>
        </p:nvSpPr>
        <p:spPr>
          <a:xfrm>
            <a:off x="548640" y="1389888"/>
            <a:ext cx="5074920" cy="1630426"/>
          </a:xfrm>
          <a:prstGeom prst="roundRect">
            <a:avLst>
              <a:gd name="adj" fmla="val 4487"/>
            </a:avLst>
          </a:prstGeom>
          <a:solidFill>
            <a:srgbClr val="F8F6F4"/>
          </a:solidFill>
          <a:ln/>
        </p:spPr>
      </p:sp>
      <p:sp>
        <p:nvSpPr>
          <p:cNvPr id="24" name="bullet-hex"/>
          <p:cNvSpPr/>
          <p:nvPr/>
        </p:nvSpPr>
        <p:spPr>
          <a:xfrm>
            <a:off x="676656" y="2038808"/>
            <a:ext cx="384048" cy="332586"/>
          </a:xfrm>
          <a:prstGeom prst="hexagon">
            <a:avLst/>
          </a:prstGeom>
          <a:solidFill>
            <a:srgbClr val="7A4A1E"/>
          </a:solidFill>
          <a:ln/>
        </p:spPr>
      </p:sp>
      <p:sp>
        <p:nvSpPr>
          <p:cNvPr id="25" name="bullet"/>
          <p:cNvSpPr txBox="1"/>
          <p:nvPr/>
        </p:nvSpPr>
        <p:spPr>
          <a:xfrm>
            <a:off x="1143000" y="1389888"/>
            <a:ext cx="4389120" cy="163042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Harold's army was not a professional force. Most of his soldiers were peasants and farmers who fought when the king called them.</a:t>
            </a:r>
            <a:endParaRPr lang="en-US" sz="2000" dirty="0"/>
          </a:p>
        </p:txBody>
      </p:sp>
      <p:sp>
        <p:nvSpPr>
          <p:cNvPr id="26" name="bullet-card"/>
          <p:cNvSpPr/>
          <p:nvPr/>
        </p:nvSpPr>
        <p:spPr>
          <a:xfrm>
            <a:off x="548640" y="3166618"/>
            <a:ext cx="5074920" cy="1630426"/>
          </a:xfrm>
          <a:prstGeom prst="roundRect">
            <a:avLst>
              <a:gd name="adj" fmla="val 4487"/>
            </a:avLst>
          </a:prstGeom>
          <a:solidFill>
            <a:srgbClr val="F8F6F4"/>
          </a:solidFill>
          <a:ln/>
        </p:spPr>
      </p:sp>
      <p:sp>
        <p:nvSpPr>
          <p:cNvPr id="27" name="bullet-hex"/>
          <p:cNvSpPr/>
          <p:nvPr/>
        </p:nvSpPr>
        <p:spPr>
          <a:xfrm>
            <a:off x="676656" y="3815538"/>
            <a:ext cx="384048" cy="332586"/>
          </a:xfrm>
          <a:prstGeom prst="hexagon">
            <a:avLst/>
          </a:prstGeom>
          <a:solidFill>
            <a:srgbClr val="B8862B"/>
          </a:solidFill>
          <a:ln/>
        </p:spPr>
      </p:sp>
      <p:sp>
        <p:nvSpPr>
          <p:cNvPr id="28" name="bullet"/>
          <p:cNvSpPr txBox="1"/>
          <p:nvPr/>
        </p:nvSpPr>
        <p:spPr>
          <a:xfrm>
            <a:off x="1143000" y="3166618"/>
            <a:ext cx="4389120" cy="163042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There was a second reason. Keeping thousands of men together, fed and paid, when they were not fighting, was very expensive.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Unlucky, or a bad decision?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judge a decision, ask: what did the person know at the time? Harold did not know Hardrada's ships were ten days away.</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asked you to be Harold's adviser. Should he have stationed his army in the north, in the south, or somewhere in the middle?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But both decisions rested on things Harold could not control: the wind in the Channel and the timing of Hardrada's fleet.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One more clue about Harold's position comes from the Bayeux Tapestry, a long embroidered cloth made after the Conquest.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Two problems, two decisions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870712"/>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problem Harold faced in 1066 to the decision he actually made about it.</a:t>
            </a:r>
            <a:endParaRPr lang="en-US" sz="2400" dirty="0"/>
          </a:p>
        </p:txBody>
      </p:sp>
      <p:sp>
        <p:nvSpPr>
          <p:cNvPr id="11" name="match-card"/>
          <p:cNvSpPr/>
          <p:nvPr/>
        </p:nvSpPr>
        <p:spPr>
          <a:xfrm>
            <a:off x="777240" y="2672080"/>
            <a:ext cx="5000577" cy="753872"/>
          </a:xfrm>
          <a:prstGeom prst="roundRect">
            <a:avLst>
              <a:gd name="adj" fmla="val 9704"/>
            </a:avLst>
          </a:prstGeom>
          <a:solidFill>
            <a:srgbClr val="F8F6F4"/>
          </a:solidFill>
          <a:ln/>
        </p:spPr>
      </p:sp>
      <p:sp>
        <p:nvSpPr>
          <p:cNvPr id="12" name="match-hex"/>
          <p:cNvSpPr/>
          <p:nvPr/>
        </p:nvSpPr>
        <p:spPr>
          <a:xfrm>
            <a:off x="850392" y="2882723"/>
            <a:ext cx="384048" cy="332586"/>
          </a:xfrm>
          <a:prstGeom prst="hexagon">
            <a:avLst/>
          </a:prstGeom>
          <a:solidFill>
            <a:srgbClr val="7A4A1E"/>
          </a:solidFill>
          <a:ln/>
        </p:spPr>
      </p:sp>
      <p:sp>
        <p:nvSpPr>
          <p:cNvPr id="13" name="match-hex-label"/>
          <p:cNvSpPr txBox="1"/>
          <p:nvPr/>
        </p:nvSpPr>
        <p:spPr>
          <a:xfrm>
            <a:off x="850392"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672080"/>
            <a:ext cx="440621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Where to put his one army, with enemies to the north and the south</a:t>
            </a:r>
            <a:endParaRPr lang="en-US" sz="1800" dirty="0"/>
          </a:p>
        </p:txBody>
      </p:sp>
      <p:sp>
        <p:nvSpPr>
          <p:cNvPr id="15" name="match-card"/>
          <p:cNvSpPr/>
          <p:nvPr/>
        </p:nvSpPr>
        <p:spPr>
          <a:xfrm>
            <a:off x="6143577" y="2672080"/>
            <a:ext cx="5270878" cy="753872"/>
          </a:xfrm>
          <a:prstGeom prst="roundRect">
            <a:avLst>
              <a:gd name="adj" fmla="val 9704"/>
            </a:avLst>
          </a:prstGeom>
          <a:solidFill>
            <a:srgbClr val="F9F4EC"/>
          </a:solidFill>
          <a:ln/>
        </p:spPr>
      </p:sp>
      <p:sp>
        <p:nvSpPr>
          <p:cNvPr id="16" name="match-hex"/>
          <p:cNvSpPr/>
          <p:nvPr/>
        </p:nvSpPr>
        <p:spPr>
          <a:xfrm>
            <a:off x="6216729" y="2882723"/>
            <a:ext cx="384048" cy="332586"/>
          </a:xfrm>
          <a:prstGeom prst="hexagon">
            <a:avLst/>
          </a:prstGeom>
          <a:solidFill>
            <a:srgbClr val="B8862B"/>
          </a:solidFill>
          <a:ln/>
        </p:spPr>
      </p:sp>
      <p:sp>
        <p:nvSpPr>
          <p:cNvPr id="17" name="match-hex-label"/>
          <p:cNvSpPr txBox="1"/>
          <p:nvPr/>
        </p:nvSpPr>
        <p:spPr>
          <a:xfrm>
            <a:off x="6216729" y="288272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664785" y="2672080"/>
            <a:ext cx="467651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 sent them home on 8 September</a:t>
            </a:r>
            <a:endParaRPr lang="en-US" sz="1800" dirty="0"/>
          </a:p>
        </p:txBody>
      </p:sp>
      <p:sp>
        <p:nvSpPr>
          <p:cNvPr id="19" name="match-card"/>
          <p:cNvSpPr/>
          <p:nvPr/>
        </p:nvSpPr>
        <p:spPr>
          <a:xfrm>
            <a:off x="777240" y="3517392"/>
            <a:ext cx="5000577" cy="753872"/>
          </a:xfrm>
          <a:prstGeom prst="roundRect">
            <a:avLst>
              <a:gd name="adj" fmla="val 9704"/>
            </a:avLst>
          </a:prstGeom>
          <a:solidFill>
            <a:srgbClr val="F8F6F4"/>
          </a:solidFill>
          <a:ln/>
        </p:spPr>
      </p:sp>
      <p:sp>
        <p:nvSpPr>
          <p:cNvPr id="20" name="match-hex"/>
          <p:cNvSpPr/>
          <p:nvPr/>
        </p:nvSpPr>
        <p:spPr>
          <a:xfrm>
            <a:off x="850392" y="3728035"/>
            <a:ext cx="384048" cy="332586"/>
          </a:xfrm>
          <a:prstGeom prst="hexagon">
            <a:avLst/>
          </a:prstGeom>
          <a:solidFill>
            <a:srgbClr val="7A4A1E"/>
          </a:solidFill>
          <a:ln/>
        </p:spPr>
      </p:sp>
      <p:sp>
        <p:nvSpPr>
          <p:cNvPr id="21" name="match-hex-label"/>
          <p:cNvSpPr txBox="1"/>
          <p:nvPr/>
        </p:nvSpPr>
        <p:spPr>
          <a:xfrm>
            <a:off x="850392"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17392"/>
            <a:ext cx="440621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Soldiers who were farmers, with the harvest due in September</a:t>
            </a:r>
            <a:endParaRPr lang="en-US" sz="1800" dirty="0"/>
          </a:p>
        </p:txBody>
      </p:sp>
      <p:sp>
        <p:nvSpPr>
          <p:cNvPr id="23" name="match-card"/>
          <p:cNvSpPr/>
          <p:nvPr/>
        </p:nvSpPr>
        <p:spPr>
          <a:xfrm>
            <a:off x="6143577" y="3517392"/>
            <a:ext cx="5270878" cy="753872"/>
          </a:xfrm>
          <a:prstGeom prst="roundRect">
            <a:avLst>
              <a:gd name="adj" fmla="val 9704"/>
            </a:avLst>
          </a:prstGeom>
          <a:solidFill>
            <a:srgbClr val="F9F4EC"/>
          </a:solidFill>
          <a:ln/>
        </p:spPr>
      </p:sp>
      <p:sp>
        <p:nvSpPr>
          <p:cNvPr id="24" name="match-hex"/>
          <p:cNvSpPr/>
          <p:nvPr/>
        </p:nvSpPr>
        <p:spPr>
          <a:xfrm>
            <a:off x="6216729" y="3728035"/>
            <a:ext cx="384048" cy="332586"/>
          </a:xfrm>
          <a:prstGeom prst="hexagon">
            <a:avLst/>
          </a:prstGeom>
          <a:solidFill>
            <a:srgbClr val="B8862B"/>
          </a:solidFill>
          <a:ln/>
        </p:spPr>
      </p:sp>
      <p:sp>
        <p:nvSpPr>
          <p:cNvPr id="25" name="match-hex-label"/>
          <p:cNvSpPr txBox="1"/>
          <p:nvPr/>
        </p:nvSpPr>
        <p:spPr>
          <a:xfrm>
            <a:off x="6216729" y="372803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664785" y="3517392"/>
            <a:ext cx="467651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 kept it on the south coast, waiting for William</a:t>
            </a:r>
            <a:endParaRPr lang="en-US" sz="1800" dirty="0"/>
          </a:p>
        </p:txBody>
      </p:sp>
      <p:sp>
        <p:nvSpPr>
          <p:cNvPr id="27" name="match-card"/>
          <p:cNvSpPr/>
          <p:nvPr/>
        </p:nvSpPr>
        <p:spPr>
          <a:xfrm>
            <a:off x="777240" y="4362704"/>
            <a:ext cx="5000577" cy="753872"/>
          </a:xfrm>
          <a:prstGeom prst="roundRect">
            <a:avLst>
              <a:gd name="adj" fmla="val 9704"/>
            </a:avLst>
          </a:prstGeom>
          <a:solidFill>
            <a:srgbClr val="F8F6F4"/>
          </a:solidFill>
          <a:ln/>
        </p:spPr>
      </p:sp>
      <p:sp>
        <p:nvSpPr>
          <p:cNvPr id="28" name="match-hex"/>
          <p:cNvSpPr/>
          <p:nvPr/>
        </p:nvSpPr>
        <p:spPr>
          <a:xfrm>
            <a:off x="850392" y="4573347"/>
            <a:ext cx="384048" cy="332586"/>
          </a:xfrm>
          <a:prstGeom prst="hexagon">
            <a:avLst/>
          </a:prstGeom>
          <a:solidFill>
            <a:srgbClr val="7A4A1E"/>
          </a:solidFill>
          <a:ln/>
        </p:spPr>
      </p:sp>
      <p:sp>
        <p:nvSpPr>
          <p:cNvPr id="29" name="match-hex-label"/>
          <p:cNvSpPr txBox="1"/>
          <p:nvPr/>
        </p:nvSpPr>
        <p:spPr>
          <a:xfrm>
            <a:off x="850392"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362704"/>
            <a:ext cx="440621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cost of keeping thousands of men together with no fighting</a:t>
            </a:r>
            <a:endParaRPr lang="en-US" sz="1800" dirty="0"/>
          </a:p>
        </p:txBody>
      </p:sp>
      <p:sp>
        <p:nvSpPr>
          <p:cNvPr id="31" name="match-card"/>
          <p:cNvSpPr/>
          <p:nvPr/>
        </p:nvSpPr>
        <p:spPr>
          <a:xfrm>
            <a:off x="6143577" y="4362704"/>
            <a:ext cx="5270878" cy="753872"/>
          </a:xfrm>
          <a:prstGeom prst="roundRect">
            <a:avLst>
              <a:gd name="adj" fmla="val 9704"/>
            </a:avLst>
          </a:prstGeom>
          <a:solidFill>
            <a:srgbClr val="F9F4EC"/>
          </a:solidFill>
          <a:ln/>
        </p:spPr>
      </p:sp>
      <p:sp>
        <p:nvSpPr>
          <p:cNvPr id="32" name="match-hex"/>
          <p:cNvSpPr/>
          <p:nvPr/>
        </p:nvSpPr>
        <p:spPr>
          <a:xfrm>
            <a:off x="6216729" y="4573347"/>
            <a:ext cx="384048" cy="332586"/>
          </a:xfrm>
          <a:prstGeom prst="hexagon">
            <a:avLst/>
          </a:prstGeom>
          <a:solidFill>
            <a:srgbClr val="B8862B"/>
          </a:solidFill>
          <a:ln/>
        </p:spPr>
      </p:sp>
      <p:sp>
        <p:nvSpPr>
          <p:cNvPr id="33" name="match-hex-label"/>
          <p:cNvSpPr txBox="1"/>
          <p:nvPr/>
        </p:nvSpPr>
        <p:spPr>
          <a:xfrm>
            <a:off x="6216729" y="457334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664785" y="4362704"/>
            <a:ext cx="467651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 accepted he could not keep the army together indefinitely</a:t>
            </a:r>
            <a:endParaRPr lang="en-US" sz="1800" dirty="0"/>
          </a:p>
        </p:txBody>
      </p:sp>
      <p:sp>
        <p:nvSpPr>
          <p:cNvPr id="35" name="match-card"/>
          <p:cNvSpPr/>
          <p:nvPr/>
        </p:nvSpPr>
        <p:spPr>
          <a:xfrm>
            <a:off x="777240" y="5208016"/>
            <a:ext cx="5000577" cy="753872"/>
          </a:xfrm>
          <a:prstGeom prst="roundRect">
            <a:avLst>
              <a:gd name="adj" fmla="val 9704"/>
            </a:avLst>
          </a:prstGeom>
          <a:solidFill>
            <a:srgbClr val="F8F6F4"/>
          </a:solidFill>
          <a:ln/>
        </p:spPr>
      </p:sp>
      <p:sp>
        <p:nvSpPr>
          <p:cNvPr id="36" name="match-hex"/>
          <p:cNvSpPr/>
          <p:nvPr/>
        </p:nvSpPr>
        <p:spPr>
          <a:xfrm>
            <a:off x="850392" y="5418659"/>
            <a:ext cx="384048" cy="332586"/>
          </a:xfrm>
          <a:prstGeom prst="hexagon">
            <a:avLst/>
          </a:prstGeom>
          <a:solidFill>
            <a:srgbClr val="7A4A1E"/>
          </a:solidFill>
          <a:ln/>
        </p:spPr>
      </p:sp>
      <p:sp>
        <p:nvSpPr>
          <p:cNvPr id="37" name="match-hex-label"/>
          <p:cNvSpPr txBox="1"/>
          <p:nvPr/>
        </p:nvSpPr>
        <p:spPr>
          <a:xfrm>
            <a:off x="850392"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208016"/>
            <a:ext cx="4406217"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Bad weather all summer in the Channel</a:t>
            </a:r>
            <a:endParaRPr lang="en-US" sz="1800" dirty="0"/>
          </a:p>
        </p:txBody>
      </p:sp>
      <p:sp>
        <p:nvSpPr>
          <p:cNvPr id="39" name="match-card"/>
          <p:cNvSpPr/>
          <p:nvPr/>
        </p:nvSpPr>
        <p:spPr>
          <a:xfrm>
            <a:off x="6143577" y="5208016"/>
            <a:ext cx="5270878" cy="753872"/>
          </a:xfrm>
          <a:prstGeom prst="roundRect">
            <a:avLst>
              <a:gd name="adj" fmla="val 9704"/>
            </a:avLst>
          </a:prstGeom>
          <a:solidFill>
            <a:srgbClr val="F9F4EC"/>
          </a:solidFill>
          <a:ln/>
        </p:spPr>
      </p:sp>
      <p:sp>
        <p:nvSpPr>
          <p:cNvPr id="40" name="match-hex"/>
          <p:cNvSpPr/>
          <p:nvPr/>
        </p:nvSpPr>
        <p:spPr>
          <a:xfrm>
            <a:off x="6216729" y="5418659"/>
            <a:ext cx="384048" cy="332586"/>
          </a:xfrm>
          <a:prstGeom prst="hexagon">
            <a:avLst/>
          </a:prstGeom>
          <a:solidFill>
            <a:srgbClr val="B8862B"/>
          </a:solidFill>
          <a:ln/>
        </p:spPr>
      </p:sp>
      <p:sp>
        <p:nvSpPr>
          <p:cNvPr id="41" name="match-hex-label"/>
          <p:cNvSpPr txBox="1"/>
          <p:nvPr/>
        </p:nvSpPr>
        <p:spPr>
          <a:xfrm>
            <a:off x="6216729" y="54186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664785" y="5208016"/>
            <a:ext cx="4676518" cy="75387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He could do nothing; it kept William away but also kept Harold waiting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Two problems, two decisions</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problem Harold faced in 1066 to the decision he actually made about it.</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6F2EF"/>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Problem 1 is about place: north or south. Find the decision that names a place.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Problem 2 is about time and money: harvest and cost. Find the decisions about sending men home and paying for them.</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item is not a decision at all but something Harold could not control. That is the weather.</a:t>
            </a:r>
            <a:endParaRPr lang="en-US" sz="1800" dirty="0"/>
          </a:p>
        </p:txBody>
      </p:sp>
      <p:sp>
        <p:nvSpPr>
          <p:cNvPr id="17" name="col-Core"/>
          <p:cNvSpPr/>
          <p:nvPr/>
        </p:nvSpPr>
        <p:spPr>
          <a:xfrm>
            <a:off x="5490762" y="2593848"/>
            <a:ext cx="2938987" cy="3550920"/>
          </a:xfrm>
          <a:prstGeom prst="roundRect">
            <a:avLst>
              <a:gd name="adj" fmla="val 1867"/>
            </a:avLst>
          </a:prstGeom>
          <a:solidFill>
            <a:srgbClr val="E6DDD4"/>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problems were Harold's to solve. One, the weather, was nobody's. Match the places, then the money, then the weather.</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7A4A1E"/>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For each decision, write one sentence saying whether it was a good decision given what Harold knew at the time, and one sentence saying how it looked after 18 September.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Count the days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Harold sent his army home on 8 September 1066. Hardrada's Vikings landed on 18 September. How many days after sending his army home was Harold invaded?</a:t>
            </a:r>
            <a:endParaRPr lang="en-US" sz="2600" dirty="0"/>
          </a:p>
          <a:p>
            <a:pPr algn="ctr" indent="0" marL="0">
              <a:buNone/>
            </a:pPr>
            <a:r>
              <a:rPr lang="en-US" sz="2400" b="1" dirty="0">
                <a:solidFill>
                  <a:srgbClr val="7A4A1E"/>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days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Count the days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39520"/>
          </a:xfrm>
          <a:prstGeom prst="roundRect">
            <a:avLst>
              <a:gd name="adj" fmla="val 7377"/>
            </a:avLst>
          </a:prstGeom>
          <a:solidFill>
            <a:srgbClr val="FFFFFF"/>
          </a:solidFill>
          <a:ln w="31750">
            <a:solidFill>
              <a:srgbClr val="B8862B"/>
            </a:solidFill>
            <a:prstDash val="solid"/>
          </a:ln>
        </p:spPr>
      </p:sp>
      <p:sp>
        <p:nvSpPr>
          <p:cNvPr id="8" name="task-hex"/>
          <p:cNvSpPr/>
          <p:nvPr/>
        </p:nvSpPr>
        <p:spPr>
          <a:xfrm>
            <a:off x="777240" y="1692900"/>
            <a:ext cx="731520" cy="633496"/>
          </a:xfrm>
          <a:prstGeom prst="hexagon">
            <a:avLst/>
          </a:prstGeom>
          <a:solidFill>
            <a:srgbClr val="B8862B"/>
          </a:solidFill>
          <a:ln/>
        </p:spPr>
      </p:sp>
      <p:sp>
        <p:nvSpPr>
          <p:cNvPr id="9" name="task-hex-label"/>
          <p:cNvSpPr txBox="1"/>
          <p:nvPr/>
        </p:nvSpPr>
        <p:spPr>
          <a:xfrm>
            <a:off x="777240" y="1692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35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05664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Harold sent his army home on 8 September 1066. Hardrada's Vikings landed on 18 September. How many days after sending his army home was Harold invaded?</a:t>
            </a:r>
            <a:endParaRPr lang="en-US" sz="2000" dirty="0"/>
          </a:p>
        </p:txBody>
      </p:sp>
      <p:sp>
        <p:nvSpPr>
          <p:cNvPr id="12" name="col-Support"/>
          <p:cNvSpPr/>
          <p:nvPr/>
        </p:nvSpPr>
        <p:spPr>
          <a:xfrm>
            <a:off x="548640" y="2903728"/>
            <a:ext cx="3515258" cy="3241040"/>
          </a:xfrm>
          <a:prstGeom prst="roundRect">
            <a:avLst>
              <a:gd name="adj" fmla="val 1693"/>
            </a:avLst>
          </a:prstGeom>
          <a:solidFill>
            <a:srgbClr val="F6F2EF"/>
          </a:solidFill>
          <a:ln/>
        </p:spPr>
      </p:sp>
      <p:sp>
        <p:nvSpPr>
          <p:cNvPr id="13" name="col-hex"/>
          <p:cNvSpPr/>
          <p:nvPr/>
        </p:nvSpPr>
        <p:spPr>
          <a:xfrm>
            <a:off x="658368" y="2976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43808"/>
            <a:ext cx="3240938" cy="2491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both dates: 8 September and 18 September. They are in the same month.</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later day number minus the earlier day number gives the gap.</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18 − 8 = 10.</a:t>
            </a:r>
            <a:endParaRPr lang="en-US" sz="1800" dirty="0"/>
          </a:p>
        </p:txBody>
      </p:sp>
      <p:sp>
        <p:nvSpPr>
          <p:cNvPr id="17" name="col-Core"/>
          <p:cNvSpPr/>
          <p:nvPr/>
        </p:nvSpPr>
        <p:spPr>
          <a:xfrm>
            <a:off x="4338218" y="2903728"/>
            <a:ext cx="3515258" cy="3241040"/>
          </a:xfrm>
          <a:prstGeom prst="roundRect">
            <a:avLst>
              <a:gd name="adj" fmla="val 1693"/>
            </a:avLst>
          </a:prstGeom>
          <a:solidFill>
            <a:srgbClr val="E6DDD4"/>
          </a:solidFill>
          <a:ln/>
        </p:spPr>
      </p:sp>
      <p:sp>
        <p:nvSpPr>
          <p:cNvPr id="18" name="col-hex"/>
          <p:cNvSpPr/>
          <p:nvPr/>
        </p:nvSpPr>
        <p:spPr>
          <a:xfrm>
            <a:off x="4447946" y="2976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Same month, so just subtract the day numbers.</a:t>
            </a:r>
            <a:endParaRPr lang="en-US" sz="1800" dirty="0"/>
          </a:p>
        </p:txBody>
      </p:sp>
      <p:sp>
        <p:nvSpPr>
          <p:cNvPr id="22" name="col-Stretch"/>
          <p:cNvSpPr/>
          <p:nvPr/>
        </p:nvSpPr>
        <p:spPr>
          <a:xfrm>
            <a:off x="8127797" y="2903728"/>
            <a:ext cx="3515258" cy="3241040"/>
          </a:xfrm>
          <a:prstGeom prst="roundRect">
            <a:avLst>
              <a:gd name="adj" fmla="val 1693"/>
            </a:avLst>
          </a:prstGeom>
          <a:solidFill>
            <a:srgbClr val="7A4A1E"/>
          </a:solidFill>
          <a:ln/>
        </p:spPr>
      </p:sp>
      <p:sp>
        <p:nvSpPr>
          <p:cNvPr id="23" name="col-hex"/>
          <p:cNvSpPr/>
          <p:nvPr/>
        </p:nvSpPr>
        <p:spPr>
          <a:xfrm>
            <a:off x="8237525" y="2976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976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40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43808"/>
            <a:ext cx="3240938" cy="2491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Harold's men needed roughly a day's march for every 25 kilometres. Explain why ten days was not long enough for a scattered army to gather again, and what that meant for Harold when the news arrived.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5605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did Harold keep his army on the south coast through the summer of 1066?</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William was closer, had the best army in Europe and the Pope's support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south coast had the best harvest</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Hardrada had already been defeated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English nobles lived in the south</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Two problems, two decisions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Where to put his one army, with enemies to the north and the south  →  B  He kept it on the south coast, waiting for William</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Soldiers who were farmers, with the harvest due in September  →  A  He sent them home on 8 September</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The cost of keeping thousands of men together with no fighting  →  C  He accepted he could not keep the army together indefinitely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Bad weather all summer in the Channel  →  D  He could do nothing; it kept William away but also kept Harold waiting</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 put his army in the south because William was the nearer and stronger threat; he sent it home on 8 September for the harvest and because it cost too much to keep; the weather was beyond his control and cut both ways.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Count the days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Harold sent his army home on 8 September 1066. Hardrada's Vikings landed on 18 September. How many days after sending his army home was Harold invaded?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10 days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gap between 8 and 18 September is 10 days. Harold's farmers had barely reached their fields when he had to call them back and march north.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did Harold keep his army on the south coast through the summer of 1066?</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William was closer, had the best army in Europe and the Pope's support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Harold expected William, the nearer and stronger enemy, to land in the south. The Pope's support made William look even more dangerous.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Battle of Hastings · Chapter 2: Harold's summer of problems</dc:title>
  <dc:subject>History · Year 7</dc:subject>
  <dc:creator>Dr Vitor Merissi de Carvalho</dc:creator>
  <cp:lastModifiedBy>Dr Vitor Merissi de Carvalho</cp:lastModifiedBy>
  <cp:revision>1</cp:revision>
  <dcterms:created xsi:type="dcterms:W3CDTF">2026-10-19T16:23:06Z</dcterms:created>
  <dcterms:modified xsi:type="dcterms:W3CDTF">2026-10-19T16:23:06Z</dcterms:modified>
</cp:coreProperties>
</file>