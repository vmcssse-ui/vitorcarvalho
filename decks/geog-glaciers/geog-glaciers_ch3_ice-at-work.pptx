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740fc85-e843-fb6c-c2c1-e39a60afd8a4}">
          <p14:sldIdLst>
            <p14:sldId id="256"/>
          </p14:sldIdLst>
        </p14:section>
        <p14:section name="Gate" id="{0d9acc2e-4a65-5613-3936-1fb40814b602}">
          <p14:sldIdLst>
            <p14:sldId id="257"/>
            <p14:sldId id="258"/>
          </p14:sldIdLst>
        </p14:section>
        <p14:section name="Pre-teach" id="{d33f0114-0e45-1b0b-a97b-a26ce0439829}">
          <p14:sldIdLst>
            <p14:sldId id="259"/>
            <p14:sldId id="260"/>
          </p14:sldIdLst>
        </p14:section>
        <p14:section name="Read-along" id="{388e98cf-cf2a-c153-b0c9-d57a3f0b5efe}">
          <p14:sldIdLst>
            <p14:sldId id="261"/>
            <p14:sldId id="262"/>
          </p14:sldIdLst>
        </p14:section>
        <p14:section name="Teach" id="{49bf19cd-f611-c5fd-9c9e-6e3399734765}">
          <p14:sldIdLst>
            <p14:sldId id="263"/>
            <p14:sldId id="264"/>
            <p14:sldId id="265"/>
            <p14:sldId id="266"/>
            <p14:sldId id="267"/>
          </p14:sldIdLst>
        </p14:section>
        <p14:section name="Routes" id="{fe34158d-9bf7-e82f-b0dc-072c815865f8}">
          <p14:sldIdLst>
            <p14:sldId id="268"/>
            <p14:sldId id="269"/>
            <p14:sldId id="270"/>
            <p14:sldId id="271"/>
          </p14:sldIdLst>
        </p14:section>
        <p14:section name="Close" id="{a0995dea-d505-3fae-d8db-1cf8e3a5a392}">
          <p14:sldIdLst>
            <p14:sldId id="272"/>
          </p14:sldIdLst>
        </p14:section>
        <p14:section name="Answers" id="{dabc8d81-29ad-03a2-0bed-f6d7796b58e2}">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What ice does to the landscape. The three jobs a glacier does, how freeze-thaw weathering loosens rock for it, how plucking and abrasion carve the ground, and how a V-shaped valley becomes a U-shaped valley.
This deck covers the department's lesson: 5 (What does ice do to the landscape?: How does a glacier erode, transport and deposit, and how does it turn a V-shaped valley into a U-shaped valley?).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plucking?  →  D   A glacier tearing blocks of rock away from the ground as it moves
2. In freeze-thaw weathering, water in a crack freezes and ___, forcing the rock apart.  →  expands
3. What shape is a valley after a glacier has moved through it?  →  D   U-shaped, with a wide, flat floor and steep sides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glacier tearing blocks of rock away from the ground as it moves. Plucking is the tearing away of blocks of rock as a glacier moves: meltwater freezes the rock onto the base of the ice, and the moving glacier pulls it out.
2. expands. Ice takes up more room than the water it came from, so as the water freezes it expands and pushes the sides of the crack apart.
3. D   U-shaped, with a wide, flat floor and steep sides. A glacier widens and deepens the river valley it fills, leaving a U-shaped valley with a wide, flat floor and steep sides after the ice melts.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erosion: the wearing away of the land. Example: "Erosion by ice carved the deep valleys of Scotland."
• weathering: rock breaking up where it stands, because of the weather. Example: "Weathering loosens rock before the glacier carries it away."
• freeze-thaw: water in a crack freezing, expanding and breaking the rock. Example: "Freeze-thaw weathering leaves sharp, jagged mountain tops."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plucking: a glacier tearing blocks of rock away as it moves. Example: "Plucking makes the back wall of a corrie steep."
• abrasion: rocks frozen into the glacier scraping the ground like sandpaper. Example: "Abrasion leaves long scratches on the valley floor."
• U-shaped valley: a valley with a wide, flat floor and steep sides, carved by a glacier. Example: "After the ice melted, a U-shaped valley was left behind."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glacier does three jobs.
2. It picks up rock, which is erosion.
3. It carries the rock away, which is transport.
4. It drops the rock, which is deposition.
5. A glacier is like a huge bulldozer pushing through the land.
6. Weathering breaks rock while it is still in place.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 freeze-thaw weathering, water fills cracks in the rock.
8. The water freezes and expands, and in time the rock breaks apart.
9. Plucking is when a glacier tears blocks of rock away as it moves.
10. Abrasion is when rocks frozen into the bottom of the glacier scrape the ground.
11. Before glaciation, a valley is V-shaped, with rounded hills.
12. After glaciation, the valley is U-shaped, with steep sides and a flat floor.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jobs: erode, transport, deposit. Say it in your own words, then check understanding with a quick question: ask a pupil from the pre-teach group first, since they met these words and ideas before the lesson. Pupils try to recall before you re-explain.
A glacier changes the landscape in three ways, and you need all three words. It erodes: it picks up rock from the ground it moves over. It transports: it carries that rock along, frozen into the ice or riding on top of it. It deposits: it drops the rock when the ice melts. Erosion is the wearing away of the land, and deposition is the opposite, the laying down of material.
The deck's picture for this is a bulldozer. A bulldozer scrapes up earth with its blade, pushes it along, and dumps it in a heap somewhere else. A glacier does exactly the same with rock, only far more slowly and on a far bigger scale, over hundreds or thousands of years.
Weathering is different from erosion. Weathering is rock breaking up where it stands, because it is exposed to the weather: to frost, rain, heat and cold. Nothing carries the pieces away. Weathering works first, loosening the rock; the glacier then erodes and transports the loosened pieces.
Tip: Erode, transport, deposit: pick up, carry, drop. Weathering is none of these; it breaks the rock in place, ready for the glacier.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Freeze-thaw weathering. Say it in your own words, then check understanding with a quick question: ask a pupil from the pre-teach group first, since they met these words and ideas before the lesson. Pupils try to recall before you re-explain.
Freeze-thaw weathering is the kind of weathering that matters most in cold mountains. During the day, water from rain or melting snow fills the cracks in a rock face. At night, the temperature drops below freezing and the water turns to ice. Ice takes up more room than water, so as it freezes it expands and pushes against the sides of the crack.
In the morning the ice thaws, the water sinks a little deeper, and the next night it freezes again. Each freeze widens the crack a little more. After many cycles of freezing and thawing, the rock breaks apart, and pieces fall away. On a mountain above a glacier, this frost action is what makes the peaks sharp and jagged. The broken pieces fall onto the glacier or into the hollow where it forms, and become part of the load the ice carries.
Tip: Water in, freeze and expand, thaw, repeat, break. The word to use in an answer is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Plucking and abrasion. Say it in your own words, then check understanding with a quick question: ask a pupil from the pre-teach group first, since they met these words and ideas before the lesson. Pupils try to recall before you re-explain.
Glaciers erode in two main ways. Plucking is the tearing away of blocks of rock as the glacier moves. Meltwater at the bottom of the glacier seeps into cracks in the rock beneath and freezes, so the rock is frozen onto the base of the ice. As the glacier moves on, it pulls, or plucks, the block of rock out of the ground and carries it away. Plucking leaves a rough, steep, jagged surface behind.
Abrasion is the scraping that follows. The rocks that have been plucked are frozen into the base of the glacier, and as the ice slides forward they scrape across the ground underneath like sandpaper on wood. Abrasion wears the ground smooth and leaves long scratches, called striations, in the direction the ice was moving.
The two processes work together. Plucking gives the glacier its tools; abrasion uses them. Freeze-thaw weathering on the slopes above keeps adding sharp new rock to the load.
Tip: Plucking tears; abrasion scrapes. If a rock surface is rough and broken it was plucked; if it is smooth and scratched it was abraded.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Before, during and after glaciation. Say it in your own words, then check understanding with a quick question: ask a pupil from the pre-teach group first, since they met these words and ideas before the lesson. Pupils try to recall before you re-explain.
Before glaciation, a mountain valley is carved by a river. It is V-shaped, with a narrow valley floor and very steep sides, and the hills around it are rounded. During glaciation, a glacier fills the valley, and plucking, abrasion and freeze-thaw weathering begin to change the shape of the landscape. The ice is far bigger and heavier than a river, so it widens and deepens the valley rather than cutting a narrow slot.
After glaciation, when the ice has melted, the valley is U-shaped: it has a wide, flat valley floor and steep valley sides. The mountains around it are steep-sided and jagged. Many valleys in Scotland, northern England and Wales have this shape, and it is the clearest sign that ice was once there.
Worked example — model it step by step, thinking aloud: Describe two differences between a V-shaped valley and a U-shaped valley. (2 marks) (1) Pick the valley floor first: a V-shaped valley has a narrow floor, whereas a U-shaped valley has a wide, flat floor. (2) Pick a second feature: how the valley was made. A V-shaped valley is carved by a river, whereas a U-shaped valley is carved by a glacier. (3) Two differences, each stated for both valleys, earns both marks. Answer: A V-shaped valley has a narrow floor and very steep sides, whereas a U-shaped valley has a wide, flat floor with steep sides. A V-shaped valley is carved by a river before glaciation, whereas a U-shaped valley is carved by a glacier..
Tip: Before: V-shaped valleys and rounded hills. After: U-shaped valleys and steep-sided mountains. The three processes in between are plucking, abrasion and freeze-thaw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Before, during and after glaciation. Say it in your own words, then check understanding with a quick question: ask a pupil from the pre-teach group first, since they met these words and ideas before the lesson. Pupils try to recall before you re-explain.
Before glaciation, a mountain valley is carved by a river. It is V-shaped, with a narrow valley floor and very steep sides, and the hills around it are rounded. During glaciation, a glacier fills the valley, and plucking, abrasion and freeze-thaw weathering begin to change the shape of the landscape. The ice is far bigger and heavier than a river, so it widens and deepens the valley rather than cutting a narrow slot.
After glaciation, when the ice has melted, the valley is U-shaped: it has a wide, flat valley floor and steep valley sides. The mountains around it are steep-sided and jagged. Many valleys in Scotland, northern England and Wales have this shape, and it is the clearest sign that ice was once there.
Worked example — model it step by step, thinking aloud: Describe two differences between a V-shaped valley and a U-shaped valley. (2 marks) (1) Pick the valley floor first: a V-shaped valley has a narrow floor, whereas a U-shaped valley has a wide, flat floor. (2) Pick a second feature: how the valley was made. A V-shaped valley is carved by a river, whereas a U-shaped valley is carved by a glacier. (3) Two differences, each stated for both valleys, earns both marks. Answer: A V-shaped valley has a narrow floor and very steep sides, whereas a U-shaped valley has a wide, flat floor with steep sides. A V-shaped valley is carved by a river before glaciation, whereas a U-shaped valley is carved by a glacier..
Tip: Before: V-shaped valleys and rounded hills. After: U-shaped valleys and steep-sided mountains. The three processes in between are plucking, abrasion and freeze-thaw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Freeze-thaw,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freeze-thaw weathering in the correct order.
Support — work through the steps with the group: (1) Nothing can happen until there is water in the crack, so that is the start. (2) The water has to freeze before it can push; that is the second stage. (3) Pushing many times is what finally breaks the rock. (4) Only broken rock can fall, so falling comes last.
Parallel worked example for Support (model it, do not give the task answer): Put in order: the bottle cracks; the water inside freezes and expands; a full bottle of water is left outside on a frosty night. The bottle has to be outside first.; Then the water freezes and expands.; The crack is the result.. Answer: A full bottle of water is left outside on a frosty night; the water inside freezes and expands; the bottle cracks..
Core — reveal the hint only on request: Water in, freeze and expand, break, fall. Cause before effect each time.
Stretch — no help; when finished: Explain why freeze-thaw weathering is faster on a mountain where the temperature crosses freezing point every day than in a place that stays frozen all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Freeze-thaw,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freeze-thaw weathering in the correct order.
Support — work through the steps with the group: (1) Nothing can happen until there is water in the crack, so that is the start. (2) The water has to freeze before it can push; that is the second stage. (3) Pushing many times is what finally breaks the rock. (4) Only broken rock can fall, so falling comes last.
Parallel worked example for Support (model it, do not give the task answer): Put in order: the bottle cracks; the water inside freezes and expands; a full bottle of water is left outside on a frosty night. The bottle has to be outside first.; Then the water freezes and expands.; The crack is the result.. Answer: A full bottle of water is left outside on a frosty night; the water inside freezes and expands; the bottle cracks..
Core — reveal the hint only on request: Water in, freeze and expand, break, fall. Cause before effect each time.
Stretch — no help; when finished: Explain why freeze-thaw weathering is faster on a mountain where the temperature crosses freezing point every day than in a place that stays frozen all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process.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process to its description.
Support — work through the steps with the group: (1) One process is weathering, not erosion: it happens in a crack and involves ice forming. Match that first. (2) Of the erosion processes, one tears and one scrapes. Tearing is plucking; scraping is abrasion. (3) The one left is the opposite of erosion: dropping rock. (4) Check that each left-hand name appears once.
Parallel worked example for Support (model it, do not give the task answer): Match: transport, erosion. Choices: picking rock up from the ground; carrying rock along inside or on top of the ice. Erosion is picking up or wearing away.; Transport is carrying.. Answer: Transport: carrying rock along inside or on top of the ice. Erosion: picking rock up from the ground..
Core — reveal the hint only on request: Tear, scrape, freeze, drop. Which name goes with each verb?
Stretch — no help; when finished: Explain how plucking makes abrasion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process.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process to its description.
Support — work through the steps with the group: (1) One process is weathering, not erosion: it happens in a crack and involves ice forming. Match that first. (2) Of the erosion processes, one tears and one scrapes. Tearing is plucking; scraping is abrasion. (3) The one left is the opposite of erosion: dropping rock. (4) Check that each left-hand name appears once.
Parallel worked example for Support (model it, do not give the task answer): Match: transport, erosion. Choices: picking rock up from the ground; carrying rock along inside or on top of the ice. Erosion is picking up or wearing away.; Transport is carrying.. Answer: Transport: carrying rock along inside or on top of the ice. Erosion: picking rock up from the ground..
Core — reveal the hint only on request: Tear, scrape, freeze, drop. Which name goes with each verb?
Stretch — no help; when finished: Explain how plucking makes abrasion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valley floor has long, straight scratches in the bare rock where a glacier once flowed. Which process made them?
Answer: B   Abrasion. Long straight scratches on a rock floor are made by rocks frozen into the base of the moving ice scraping across it, like sandpaper. That is abrasion. The scratches run in the direction the ice moved.
Source of this question: module 3 task ("Which process left this mark?")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Freeze-thaw, step by step. Reveal the answer; pupils mark their own work in a different colour, then read the "why" together. Same destination for every lane, so one answer serves the whole class.
Answer: Water fills cracks in the rock  (B); The water freezes and expands, pushing the crack wider  (C); After many freezes and thaws, the rock breaks apart  (D); Broken pieces of rock fall and can be picked up by the glacier  (A)
Why: Water fills the crack, freezes and expands, and the expansion pushes the crack wider. Repeated freezing and thawing weakens the rock until it breaks apart, and the pieces fall where the glacier can pick them up.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process. Reveal the answer; pupils mark their own work in a different colour, then read the "why" together. Same destination for every lane, so one answer serves the whole class.
Answer: Freeze-thaw weathering  →  D  Water in a crack freezes, expands and breaks the rock apart; Plucking  →  C  The moving glacier tears blocks of rock away from the ground; Abrasion  →  B  Rocks frozen into the base of the glacier scrape the ground like sandpaper; Deposition  →  A  The glacier drops the rock it has been carrying
Why: Freeze-thaw weathering breaks rock in place by freezing water. Plucking is the glacier tearing blocks away as it moves. Abrasion is those rocks, frozen into the base of the ice, scraping the ground. Deposition is the glacier dropping its load.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Abrasion
Why: Long straight scratches on a rock floor are made by rocks frozen into the base of the moving ice scraping across it, like sandpaper. That is abrasion. The scratches run in the direction the ice moved.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ice does to the landscape</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FF2F0"/>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does ice do to the landscape?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plucking?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freezing in a crack and breaking the rock apart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glacier dropping the rock it has been carrying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Rocks frozen into the glacier scraping the ground underneath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glacier tearing blocks of rock away from the ground as it moves</a:t>
            </a:r>
            <a:endParaRPr lang="en-US" sz="1800" dirty="0"/>
          </a:p>
        </p:txBody>
      </p:sp>
      <p:sp>
        <p:nvSpPr>
          <p:cNvPr id="12"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3" name="card-hex"/>
          <p:cNvSpPr/>
          <p:nvPr/>
        </p:nvSpPr>
        <p:spPr>
          <a:xfrm>
            <a:off x="4960506" y="1572768"/>
            <a:ext cx="640080" cy="554309"/>
          </a:xfrm>
          <a:prstGeom prst="hexagon">
            <a:avLst/>
          </a:prstGeom>
          <a:solidFill>
            <a:srgbClr val="3F6B4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freeze-thaw weathering, water in a crack freezes and ___, forcing the rock apart.</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expands  ·  shrinks  ·  evaporates</a:t>
            </a:r>
            <a:endParaRPr lang="en-US" sz="2200" dirty="0"/>
          </a:p>
        </p:txBody>
      </p:sp>
      <p:sp>
        <p:nvSpPr>
          <p:cNvPr id="17"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18" name="card-hex"/>
          <p:cNvSpPr/>
          <p:nvPr/>
        </p:nvSpPr>
        <p:spPr>
          <a:xfrm>
            <a:off x="7871269" y="1572768"/>
            <a:ext cx="640080" cy="554309"/>
          </a:xfrm>
          <a:prstGeom prst="hexagon">
            <a:avLst/>
          </a:prstGeom>
          <a:solidFill>
            <a:srgbClr val="3F6B4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shape is a valley after a glacier has moved through it?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Flat, with no sides at all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Round, like a bowl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V-shaped, with a narrow floor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U-shaped, with a wide, flat floor and steep sides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glacier tearing blocks of rock away from the ground as it moves</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plucking?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Plucking is the tearing away of blocks of rock as a glacier moves: meltwater freezes the rock onto the base of the ice, and the moving glacier pulls it out.</a:t>
            </a:r>
            <a:endParaRPr lang="en-US" sz="1800" dirty="0"/>
          </a:p>
        </p:txBody>
      </p:sp>
      <p:sp>
        <p:nvSpPr>
          <p:cNvPr id="14"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5" name="card-hex"/>
          <p:cNvSpPr/>
          <p:nvPr/>
        </p:nvSpPr>
        <p:spPr>
          <a:xfrm>
            <a:off x="4960506" y="1572768"/>
            <a:ext cx="640080" cy="554309"/>
          </a:xfrm>
          <a:prstGeom prst="hexagon">
            <a:avLst/>
          </a:prstGeom>
          <a:solidFill>
            <a:srgbClr val="3F6B4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expands</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Ice takes up more room than the water it came from, so as the water freezes it expands and pushes the sides of the crack apart.</a:t>
            </a:r>
            <a:endParaRPr lang="en-US" sz="1800" dirty="0"/>
          </a:p>
        </p:txBody>
      </p:sp>
      <p:sp>
        <p:nvSpPr>
          <p:cNvPr id="21"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22" name="card-hex"/>
          <p:cNvSpPr/>
          <p:nvPr/>
        </p:nvSpPr>
        <p:spPr>
          <a:xfrm>
            <a:off x="7871269" y="1572768"/>
            <a:ext cx="640080" cy="554309"/>
          </a:xfrm>
          <a:prstGeom prst="hexagon">
            <a:avLst/>
          </a:prstGeom>
          <a:solidFill>
            <a:srgbClr val="3F6B4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U-shaped, with a wide, flat floor and steep sides</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shape is a valley after a glacier has moved through it?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glacier widens and deepens the river valley it fills, leaving a U-shaped valley with a wide, flat floor and steep sides after the ice melts.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erosion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wearing away of the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Erosion by ice carved the deep valleys of Scotland.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weathering</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rock breaking up where it stands, because of the weather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Weathering loosens rock before the glacier carries it away.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freeze-thaw</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water in a crack freezing, expanding and breaking the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Freeze-thaw weathering leaves sharp, jagged mountain tops.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plucking</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glacier tearing blocks of rock away as it moves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Plucking makes the back wall of a corrie steep.</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abrasion</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rocks frozen into the glacier scraping the ground like sandpaper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Abrasion leaves long scratches on the valley floor.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U-shaped valley</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valley with a wide, flat floor and steep sides, carved by a glacier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the ice melted, a U-shaped valley was left behind.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glacier does three jobs.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picks up rock, which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erosion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carries the rock away, which is transport.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drops the rock, which is deposition.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glacier is like a huge bulldozer pushing through the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Weathering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breaks rock while it is still in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freeze-thaw</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weathering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water fills cracks in the rock.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water freezes and expands, and in time the rock breaks apart.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Plucking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when a glacier tears blocks of rock away as it moves.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Abrasion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when rocks frozen into the bottom of the glacier scrape the ground.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glaciation, a valley is V-shaped, with rounded hills.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glaciation, the valley is U-shaped, with steep sides and a flat floor.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jobs: erode, transport, deposit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Erode, transport, deposit: pick up, carry, drop. Weathering is none of these; it breaks the rock in place, ready for the glacier.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glacier changes the landscape in three ways, and you need all three words.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deck's picture for this is a bulldozer. A bulldozer scrapes up earth with its blade, pushes it along, and dumps it in a heap somewhere else.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Weathering is different from erosion. Weathering is rock breaking up where it stands, because it is exposed to the weather: to frost, rain, heat and cold.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Freeze-thaw weathering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Water in, freeze and expand, thaw, repeat, break. The word to use in an answer is expands.</a:t>
            </a:r>
            <a:endParaRPr lang="en-US" sz="1800" dirty="0"/>
          </a:p>
        </p:txBody>
      </p:sp>
      <p:sp>
        <p:nvSpPr>
          <p:cNvPr id="11" name="point-card"/>
          <p:cNvSpPr/>
          <p:nvPr/>
        </p:nvSpPr>
        <p:spPr>
          <a:xfrm>
            <a:off x="548640" y="1389888"/>
            <a:ext cx="5410048" cy="3964940"/>
          </a:xfrm>
          <a:prstGeom prst="roundRect">
            <a:avLst>
              <a:gd name="adj" fmla="val 1384"/>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Freeze-thaw weathering is the kind of weathering that matters most in cold mountains.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morning the ice thaws, the water sinks a little deeper, and the next night it freezes again.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Plucking and abrasion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Plucking tears; abrasion scrapes. If a rock surface is rough and broken it was plucked; if it is smooth and scratched it was abraded.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Glaciers erode in two main ways. Plucking is the tearing away of blocks of rock as the glacier moves.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Abrasion is the scraping that follows. The rocks that have been plucked are frozen into the base of the glacier, and as the ice slides forward they scrape across the ground underneath like sandpaper on wood.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processes work together. Plucking gives the glacier its tools; abrasion uses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Before, during and after glaciation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V-shaped valleys and rounded hills. After: U-shaped valleys and steep-sided mountains. The three processes in between are plucking, abrasion and freeze-thaw weathering.</a:t>
            </a:r>
            <a:endParaRPr lang="en-US" sz="1800" dirty="0"/>
          </a:p>
        </p:txBody>
      </p:sp>
      <p:sp>
        <p:nvSpPr>
          <p:cNvPr id="11" name="point-card"/>
          <p:cNvSpPr/>
          <p:nvPr/>
        </p:nvSpPr>
        <p:spPr>
          <a:xfrm>
            <a:off x="548640" y="1389888"/>
            <a:ext cx="5410048" cy="3686048"/>
          </a:xfrm>
          <a:prstGeom prst="roundRect">
            <a:avLst>
              <a:gd name="adj" fmla="val 1488"/>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Before glaciation, a mountain valley is carved by a river.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After glaciation, when the ice has melted, the valley is U-shaped: it has a wide, flat valley floor and steep valley sides.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Before, during and after glaciation</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two differences between a V-shaped valley and a U-shaped valley. (2 marks)</a:t>
            </a:r>
            <a:endParaRPr lang="en-US" sz="2200" dirty="0"/>
          </a:p>
        </p:txBody>
      </p:sp>
      <p:sp>
        <p:nvSpPr>
          <p:cNvPr id="9" name="step-box"/>
          <p:cNvSpPr/>
          <p:nvPr/>
        </p:nvSpPr>
        <p:spPr>
          <a:xfrm>
            <a:off x="548640" y="2314956"/>
            <a:ext cx="3423818"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Pick the valley floor first: a V-shaped valley has a narrow floor, whereas a U-shaped valley has a wide, flat floor.</a:t>
            </a:r>
            <a:endParaRPr lang="en-US" sz="1800" dirty="0"/>
          </a:p>
        </p:txBody>
      </p:sp>
      <p:sp>
        <p:nvSpPr>
          <p:cNvPr id="13" name="arrow"/>
          <p:cNvSpPr/>
          <p:nvPr/>
        </p:nvSpPr>
        <p:spPr>
          <a:xfrm>
            <a:off x="4045610" y="3304286"/>
            <a:ext cx="274320" cy="274320"/>
          </a:xfrm>
          <a:prstGeom prst="rightArrow">
            <a:avLst/>
          </a:prstGeom>
          <a:solidFill>
            <a:srgbClr val="B8862B"/>
          </a:solidFill>
          <a:ln/>
        </p:spPr>
      </p:sp>
      <p:sp>
        <p:nvSpPr>
          <p:cNvPr id="14" name="step-box"/>
          <p:cNvSpPr/>
          <p:nvPr/>
        </p:nvSpPr>
        <p:spPr>
          <a:xfrm>
            <a:off x="4383938" y="2314956"/>
            <a:ext cx="3423818"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Pick a second feature: how the valley was made. A V-shaped valley is carved by a river, whereas a U-shaped valley is carved by a glacier.</a:t>
            </a:r>
            <a:endParaRPr lang="en-US" sz="1800" dirty="0"/>
          </a:p>
        </p:txBody>
      </p:sp>
      <p:sp>
        <p:nvSpPr>
          <p:cNvPr id="18" name="arrow"/>
          <p:cNvSpPr/>
          <p:nvPr/>
        </p:nvSpPr>
        <p:spPr>
          <a:xfrm>
            <a:off x="7880909" y="3304286"/>
            <a:ext cx="274320" cy="274320"/>
          </a:xfrm>
          <a:prstGeom prst="rightArrow">
            <a:avLst/>
          </a:prstGeom>
          <a:solidFill>
            <a:srgbClr val="B8862B"/>
          </a:solidFill>
          <a:ln/>
        </p:spPr>
      </p:sp>
      <p:sp>
        <p:nvSpPr>
          <p:cNvPr id="19" name="step-box"/>
          <p:cNvSpPr/>
          <p:nvPr/>
        </p:nvSpPr>
        <p:spPr>
          <a:xfrm>
            <a:off x="8219237" y="2314956"/>
            <a:ext cx="3423818"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differences, each stated for both valleys, earns both marks.</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V-shaped valley has a narrow floor and very steep sides, whereas a U-shaped valley has a wide, flat floor with steep sides. A V-shaped valley is carved by a river before glaciation, whereas a U-shaped valley is carved by a glacier.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Freeze-thaw,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freeze-thaw weathering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Broken pieces of rock fall and can be picked up by the glacier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fills cracks in the rock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water freezes and expands, pushing the crack wider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After many freezes and thaws, the rock breaks apart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Freeze-thaw, step by step</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freeze-thaw weathering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can happen until there is water in the crack, so that is the start.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water has to freeze before it can push; that is the second stage.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Pushing many times is what finally breaks the rock.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broken rock can fall, so falling comes last.</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Water in, freeze and expand, break, fall. Cause before effect each time.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freeze-thaw weathering is faster on a mountain where the temperature crosses freezing point every day than in a place that stays frozen all winter.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the process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process to its description.</a:t>
            </a:r>
            <a:endParaRPr lang="en-US" sz="2400" dirty="0"/>
          </a:p>
        </p:txBody>
      </p:sp>
      <p:sp>
        <p:nvSpPr>
          <p:cNvPr id="11" name="match-card"/>
          <p:cNvSpPr/>
          <p:nvPr/>
        </p:nvSpPr>
        <p:spPr>
          <a:xfrm>
            <a:off x="777240" y="2468331"/>
            <a:ext cx="3081437" cy="877199"/>
          </a:xfrm>
          <a:prstGeom prst="roundRect">
            <a:avLst>
              <a:gd name="adj" fmla="val 8339"/>
            </a:avLst>
          </a:prstGeom>
          <a:solidFill>
            <a:srgbClr val="F3F5F3"/>
          </a:solidFill>
          <a:ln/>
        </p:spPr>
      </p:sp>
      <p:sp>
        <p:nvSpPr>
          <p:cNvPr id="12" name="match-hex"/>
          <p:cNvSpPr/>
          <p:nvPr/>
        </p:nvSpPr>
        <p:spPr>
          <a:xfrm>
            <a:off x="850392" y="2740638"/>
            <a:ext cx="384048" cy="332586"/>
          </a:xfrm>
          <a:prstGeom prst="hexagon">
            <a:avLst/>
          </a:prstGeom>
          <a:solidFill>
            <a:srgbClr val="3F6B4A"/>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Freeze-thaw weathering</a:t>
            </a:r>
            <a:endParaRPr lang="en-US" sz="2000" dirty="0"/>
          </a:p>
        </p:txBody>
      </p:sp>
      <p:sp>
        <p:nvSpPr>
          <p:cNvPr id="15" name="match-card"/>
          <p:cNvSpPr/>
          <p:nvPr/>
        </p:nvSpPr>
        <p:spPr>
          <a:xfrm>
            <a:off x="4224437" y="2468331"/>
            <a:ext cx="7190019" cy="877199"/>
          </a:xfrm>
          <a:prstGeom prst="roundRect">
            <a:avLst>
              <a:gd name="adj" fmla="val 8339"/>
            </a:avLst>
          </a:prstGeom>
          <a:solidFill>
            <a:srgbClr val="F8F2E9"/>
          </a:solidFill>
          <a:ln/>
        </p:spPr>
      </p:sp>
      <p:sp>
        <p:nvSpPr>
          <p:cNvPr id="16" name="match-hex"/>
          <p:cNvSpPr/>
          <p:nvPr/>
        </p:nvSpPr>
        <p:spPr>
          <a:xfrm>
            <a:off x="4297589" y="2740638"/>
            <a:ext cx="384048" cy="332586"/>
          </a:xfrm>
          <a:prstGeom prst="hexagon">
            <a:avLst/>
          </a:prstGeom>
          <a:solidFill>
            <a:srgbClr val="B8862B"/>
          </a:solidFill>
          <a:ln/>
        </p:spPr>
      </p:sp>
      <p:sp>
        <p:nvSpPr>
          <p:cNvPr id="17" name="match-hex-label"/>
          <p:cNvSpPr txBox="1"/>
          <p:nvPr/>
        </p:nvSpPr>
        <p:spPr>
          <a:xfrm>
            <a:off x="4297589"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glacier drops the rock it has been carrying</a:t>
            </a:r>
            <a:endParaRPr lang="en-US" sz="2000" dirty="0"/>
          </a:p>
        </p:txBody>
      </p:sp>
      <p:sp>
        <p:nvSpPr>
          <p:cNvPr id="19" name="match-card"/>
          <p:cNvSpPr/>
          <p:nvPr/>
        </p:nvSpPr>
        <p:spPr>
          <a:xfrm>
            <a:off x="777240" y="3436971"/>
            <a:ext cx="3081437" cy="877199"/>
          </a:xfrm>
          <a:prstGeom prst="roundRect">
            <a:avLst>
              <a:gd name="adj" fmla="val 8339"/>
            </a:avLst>
          </a:prstGeom>
          <a:solidFill>
            <a:srgbClr val="F3F5F3"/>
          </a:solidFill>
          <a:ln/>
        </p:spPr>
      </p:sp>
      <p:sp>
        <p:nvSpPr>
          <p:cNvPr id="20" name="match-hex"/>
          <p:cNvSpPr/>
          <p:nvPr/>
        </p:nvSpPr>
        <p:spPr>
          <a:xfrm>
            <a:off x="850392" y="3709277"/>
            <a:ext cx="384048" cy="332586"/>
          </a:xfrm>
          <a:prstGeom prst="hexagon">
            <a:avLst/>
          </a:prstGeom>
          <a:solidFill>
            <a:srgbClr val="3F6B4A"/>
          </a:solidFill>
          <a:ln/>
        </p:spPr>
      </p:sp>
      <p:sp>
        <p:nvSpPr>
          <p:cNvPr id="21" name="match-hex-label"/>
          <p:cNvSpPr txBox="1"/>
          <p:nvPr/>
        </p:nvSpPr>
        <p:spPr>
          <a:xfrm>
            <a:off x="850392"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Plucking</a:t>
            </a:r>
            <a:endParaRPr lang="en-US" sz="2000" dirty="0"/>
          </a:p>
        </p:txBody>
      </p:sp>
      <p:sp>
        <p:nvSpPr>
          <p:cNvPr id="23" name="match-card"/>
          <p:cNvSpPr/>
          <p:nvPr/>
        </p:nvSpPr>
        <p:spPr>
          <a:xfrm>
            <a:off x="4224437" y="3436971"/>
            <a:ext cx="7190019" cy="877199"/>
          </a:xfrm>
          <a:prstGeom prst="roundRect">
            <a:avLst>
              <a:gd name="adj" fmla="val 8339"/>
            </a:avLst>
          </a:prstGeom>
          <a:solidFill>
            <a:srgbClr val="F8F2E9"/>
          </a:solidFill>
          <a:ln/>
        </p:spPr>
      </p:sp>
      <p:sp>
        <p:nvSpPr>
          <p:cNvPr id="24" name="match-hex"/>
          <p:cNvSpPr/>
          <p:nvPr/>
        </p:nvSpPr>
        <p:spPr>
          <a:xfrm>
            <a:off x="4297589" y="3709277"/>
            <a:ext cx="384048" cy="332586"/>
          </a:xfrm>
          <a:prstGeom prst="hexagon">
            <a:avLst/>
          </a:prstGeom>
          <a:solidFill>
            <a:srgbClr val="B8862B"/>
          </a:solidFill>
          <a:ln/>
        </p:spPr>
      </p:sp>
      <p:sp>
        <p:nvSpPr>
          <p:cNvPr id="25" name="match-hex-label"/>
          <p:cNvSpPr txBox="1"/>
          <p:nvPr/>
        </p:nvSpPr>
        <p:spPr>
          <a:xfrm>
            <a:off x="4297589"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3697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Rocks frozen into the base of the glacier scrape the ground like sandpaper</a:t>
            </a:r>
            <a:endParaRPr lang="en-US" sz="2000" dirty="0"/>
          </a:p>
        </p:txBody>
      </p:sp>
      <p:sp>
        <p:nvSpPr>
          <p:cNvPr id="27" name="match-card"/>
          <p:cNvSpPr/>
          <p:nvPr/>
        </p:nvSpPr>
        <p:spPr>
          <a:xfrm>
            <a:off x="777240" y="4405610"/>
            <a:ext cx="3081437" cy="877199"/>
          </a:xfrm>
          <a:prstGeom prst="roundRect">
            <a:avLst>
              <a:gd name="adj" fmla="val 8339"/>
            </a:avLst>
          </a:prstGeom>
          <a:solidFill>
            <a:srgbClr val="F3F5F3"/>
          </a:solidFill>
          <a:ln/>
        </p:spPr>
      </p:sp>
      <p:sp>
        <p:nvSpPr>
          <p:cNvPr id="28" name="match-hex"/>
          <p:cNvSpPr/>
          <p:nvPr/>
        </p:nvSpPr>
        <p:spPr>
          <a:xfrm>
            <a:off x="850392" y="4677916"/>
            <a:ext cx="384048" cy="332586"/>
          </a:xfrm>
          <a:prstGeom prst="hexagon">
            <a:avLst/>
          </a:prstGeom>
          <a:solidFill>
            <a:srgbClr val="3F6B4A"/>
          </a:solidFill>
          <a:ln/>
        </p:spPr>
      </p:sp>
      <p:sp>
        <p:nvSpPr>
          <p:cNvPr id="29" name="match-hex-label"/>
          <p:cNvSpPr txBox="1"/>
          <p:nvPr/>
        </p:nvSpPr>
        <p:spPr>
          <a:xfrm>
            <a:off x="850392"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05610"/>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Abrasion</a:t>
            </a:r>
            <a:endParaRPr lang="en-US" sz="2000" dirty="0"/>
          </a:p>
        </p:txBody>
      </p:sp>
      <p:sp>
        <p:nvSpPr>
          <p:cNvPr id="31" name="match-card"/>
          <p:cNvSpPr/>
          <p:nvPr/>
        </p:nvSpPr>
        <p:spPr>
          <a:xfrm>
            <a:off x="4224437" y="4405610"/>
            <a:ext cx="7190019" cy="877199"/>
          </a:xfrm>
          <a:prstGeom prst="roundRect">
            <a:avLst>
              <a:gd name="adj" fmla="val 8339"/>
            </a:avLst>
          </a:prstGeom>
          <a:solidFill>
            <a:srgbClr val="F8F2E9"/>
          </a:solidFill>
          <a:ln/>
        </p:spPr>
      </p:sp>
      <p:sp>
        <p:nvSpPr>
          <p:cNvPr id="32" name="match-hex"/>
          <p:cNvSpPr/>
          <p:nvPr/>
        </p:nvSpPr>
        <p:spPr>
          <a:xfrm>
            <a:off x="4297589" y="4677916"/>
            <a:ext cx="384048" cy="332586"/>
          </a:xfrm>
          <a:prstGeom prst="hexagon">
            <a:avLst/>
          </a:prstGeom>
          <a:solidFill>
            <a:srgbClr val="B8862B"/>
          </a:solidFill>
          <a:ln/>
        </p:spPr>
      </p:sp>
      <p:sp>
        <p:nvSpPr>
          <p:cNvPr id="33" name="match-hex-label"/>
          <p:cNvSpPr txBox="1"/>
          <p:nvPr/>
        </p:nvSpPr>
        <p:spPr>
          <a:xfrm>
            <a:off x="4297589"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05610"/>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moving glacier tears blocks of rock away from the ground</a:t>
            </a:r>
            <a:endParaRPr lang="en-US" sz="2000" dirty="0"/>
          </a:p>
        </p:txBody>
      </p:sp>
      <p:sp>
        <p:nvSpPr>
          <p:cNvPr id="35" name="match-card"/>
          <p:cNvSpPr/>
          <p:nvPr/>
        </p:nvSpPr>
        <p:spPr>
          <a:xfrm>
            <a:off x="777240" y="5374249"/>
            <a:ext cx="3081437" cy="587639"/>
          </a:xfrm>
          <a:prstGeom prst="roundRect">
            <a:avLst>
              <a:gd name="adj" fmla="val 12448"/>
            </a:avLst>
          </a:prstGeom>
          <a:solidFill>
            <a:srgbClr val="F3F5F3"/>
          </a:solidFill>
          <a:ln/>
        </p:spPr>
      </p:sp>
      <p:sp>
        <p:nvSpPr>
          <p:cNvPr id="36" name="match-hex"/>
          <p:cNvSpPr/>
          <p:nvPr/>
        </p:nvSpPr>
        <p:spPr>
          <a:xfrm>
            <a:off x="850392" y="5501776"/>
            <a:ext cx="384048" cy="332586"/>
          </a:xfrm>
          <a:prstGeom prst="hexagon">
            <a:avLst/>
          </a:prstGeom>
          <a:solidFill>
            <a:srgbClr val="3F6B4A"/>
          </a:solidFill>
          <a:ln/>
        </p:spPr>
      </p:sp>
      <p:sp>
        <p:nvSpPr>
          <p:cNvPr id="37" name="match-hex-label"/>
          <p:cNvSpPr txBox="1"/>
          <p:nvPr/>
        </p:nvSpPr>
        <p:spPr>
          <a:xfrm>
            <a:off x="850392"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74249"/>
            <a:ext cx="2487077"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Deposition</a:t>
            </a:r>
            <a:endParaRPr lang="en-US" sz="2000" dirty="0"/>
          </a:p>
        </p:txBody>
      </p:sp>
      <p:sp>
        <p:nvSpPr>
          <p:cNvPr id="39" name="match-card"/>
          <p:cNvSpPr/>
          <p:nvPr/>
        </p:nvSpPr>
        <p:spPr>
          <a:xfrm>
            <a:off x="4224437" y="5374249"/>
            <a:ext cx="7190019" cy="587639"/>
          </a:xfrm>
          <a:prstGeom prst="roundRect">
            <a:avLst>
              <a:gd name="adj" fmla="val 12448"/>
            </a:avLst>
          </a:prstGeom>
          <a:solidFill>
            <a:srgbClr val="F8F2E9"/>
          </a:solidFill>
          <a:ln/>
        </p:spPr>
      </p:sp>
      <p:sp>
        <p:nvSpPr>
          <p:cNvPr id="40" name="match-hex"/>
          <p:cNvSpPr/>
          <p:nvPr/>
        </p:nvSpPr>
        <p:spPr>
          <a:xfrm>
            <a:off x="4297589" y="5501776"/>
            <a:ext cx="384048" cy="332586"/>
          </a:xfrm>
          <a:prstGeom prst="hexagon">
            <a:avLst/>
          </a:prstGeom>
          <a:solidFill>
            <a:srgbClr val="B8862B"/>
          </a:solidFill>
          <a:ln/>
        </p:spPr>
      </p:sp>
      <p:sp>
        <p:nvSpPr>
          <p:cNvPr id="41" name="match-hex-label"/>
          <p:cNvSpPr txBox="1"/>
          <p:nvPr/>
        </p:nvSpPr>
        <p:spPr>
          <a:xfrm>
            <a:off x="4297589"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74249"/>
            <a:ext cx="6595659"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Water in a crack freezes, expands and breaks the rock apart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the process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the process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process is weathering, not erosion: it happens in a crack and involves ice forming. Match that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erosion processes, one tears and one scrapes. Tearing is plucking; scraping is abrasion.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is the opposite of erosion: dropping rock.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each left-hand name appears once.</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Tear, scrape, freeze, drop. Which name goes with each verb?</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plucking makes abrasion 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valley floor has long, straight scratches in the bare rock where a glacier once flowed. Which process made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Deposition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Abrasion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Freeze-thaw weathering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Plucking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Freeze-thaw,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Water fills cracks in the rock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water freezes and expands, pushing the crack wider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After many freezes and thaws, the rock breaks apart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Broken pieces of rock fall and can be picked up by the glacier  (A)</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fills the crack, freezes and expands, and the expansion pushes the crack wider. Repeated freezing and thawing weakens the rock until it breaks apart, and the pieces fall where the glacier can pick them up.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the process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Freeze-thaw weathering  →  D  Water in a crack freezes, expands and breaks the rock apart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Plucking  →  C  The moving glacier tears blocks of rock away from the ground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Abrasion  →  B  Rocks frozen into the base of the glacier scrape the ground like sandpaper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Deposition  →  A  The glacier drops the rock it has been carrying</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Freeze-thaw weathering breaks rock in place by freezing water. Plucking is the glacier tearing blocks away as it moves. Abrasion is those rocks, frozen into the base of the ice, scraping the ground. Deposition is the glacier dropping its load.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valley floor has long, straight scratches in the bare rock where a glacier once flowed. Which process made them?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Abrasion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Long straight scratches on a rock floor are made by rocks frozen into the base of the moving ice scraping across it, like sandpaper. That is abrasion. The scratches run in the direction the ice moved.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3: What ice does to the landscape</dc:title>
  <dc:subject>Geography · Year 8</dc:subject>
  <dc:creator>Dr Vitor Merissi de Carvalho</dc:creator>
  <cp:lastModifiedBy>Dr Vitor Merissi de Carvalho</cp:lastModifiedBy>
  <cp:revision>1</cp:revision>
  <dcterms:created xsi:type="dcterms:W3CDTF">2026-10-19T06:07:38Z</dcterms:created>
  <dcterms:modified xsi:type="dcterms:W3CDTF">2026-10-19T06:07:38Z</dcterms:modified>
</cp:coreProperties>
</file>