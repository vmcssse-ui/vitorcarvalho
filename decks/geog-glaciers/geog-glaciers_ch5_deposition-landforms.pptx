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48eb79-1f07-6988-9f9f-3c66f5da7b6b}">
          <p14:sldIdLst>
            <p14:sldId id="256"/>
          </p14:sldIdLst>
        </p14:section>
        <p14:section name="Gate" id="{c65cbf25-84cf-3590-df7c-ba1242c3d730}">
          <p14:sldIdLst>
            <p14:sldId id="257"/>
            <p14:sldId id="258"/>
          </p14:sldIdLst>
        </p14:section>
        <p14:section name="Pre-teach" id="{75327f24-3d82-54c1-65d7-0c0be963070d}">
          <p14:sldIdLst>
            <p14:sldId id="259"/>
            <p14:sldId id="260"/>
          </p14:sldIdLst>
        </p14:section>
        <p14:section name="Read-along" id="{ba3b443f-d37b-c3c6-6fb4-fc08bebbb7e6}">
          <p14:sldIdLst>
            <p14:sldId id="261"/>
            <p14:sldId id="262"/>
          </p14:sldIdLst>
        </p14:section>
        <p14:section name="Teach" id="{75fb9351-1bc9-cf1f-33d8-6728492076ea}">
          <p14:sldIdLst>
            <p14:sldId id="263"/>
            <p14:sldId id="264"/>
            <p14:sldId id="265"/>
          </p14:sldIdLst>
        </p14:section>
        <p14:section name="Routes" id="{651e48b6-0fe7-5ed7-ea5d-ab2be0ac23df}">
          <p14:sldIdLst>
            <p14:sldId id="266"/>
            <p14:sldId id="267"/>
            <p14:sldId id="268"/>
            <p14:sldId id="269"/>
            <p14:sldId id="270"/>
            <p14:sldId id="271"/>
          </p14:sldIdLst>
        </p14:section>
        <p14:section name="Close" id="{f22e43dc-799e-2e9d-edaa-90d4f60ce7a3}">
          <p14:sldIdLst>
            <p14:sldId id="272"/>
          </p14:sldIdLst>
        </p14:section>
        <p14:section name="Answers" id="{73b5f1ad-8830-13e1-924f-e864bcf9c78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Moraines, drumlins and erratics. What happens to the rock a glacier carries when the ice melts: till, the five kinds of moraine and where each forms, drumlin swarms, and the boulders called erratics that show which way the ice flowed.
This deck covers the department's lesson: 7 (Glacial depositional features: How do moraines, drumlins and erratics form from the material a glacier carries?).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type of moraine forms where two glaciers meet and their side moraines join into one ridge along the middle?  →  A   Medial moraine
2. According to the deck, a typical drumlin is about how many metres wide?  →  500 m
3. A group of drumlins is called a ___.  →  swarm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Medial moraine. Medial means in the middle. When two glaciers meet, their lateral moraines combine into one medial moraine running along the middle of the joined glacier.
2. 500 m. The deck gives drumlins as a kilometre or more long, 500 m or so wide and over 50 m high.
3. swarm. Drumlins are usually found in groups, and the deck's word for a group of drumlins is a swarm.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till: the jumble of unsorted, angular rocks a glacier drops. Example: "The field is full of till left by the Ice Age glacier."
• moraine: a mound or ridge of till left by a glacier. Example: "A line of moraine marks where the glacier ended."
• lateral: at the side. Example: "Lateral moraines run along the sides of the valley."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medial: in the middle. Example: "A medial moraine forms where two glaciers join."
• drumlin: a long, low hill made of till. Example: "From the air, a drumlin looks like an upturned boat."
• erratic: a boulder that is different from the rock it sits on. Example: "The glacier carried the erratic many kilometres before dropping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glacier carries a huge load of rock.
2. When the ice melts, the glacier drops this load.
3. The dropped material is called till.
4. Till is a jumble of angular rocks of all sizes.
5. A moraine is a mound or ridge of till.
6. Lateral moraines form along the sides of a glacier.
7. A medial moraine forms down the middle, where two glaciers join.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terminal moraine marks the furthest point the snout reached.
9. Ground moraine is spread under the glacier.
10. Drumlins are long, low hills made of till.
11. A group of drumlins is called a swarm.
12. An erratic is a boulder that is different from the rock it sits on.
13. The glacier carried it there, so erratics show which way the ice flowed.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Till and moraine. Say it in your own words, then check understanding with a quick question: ask a pupil from the pre-teach group first, since they met these words and ideas before the lesson. Pupils try to recall before you re-explain.
Everything a glacier plucks, scrapes and collects from the slopes above has to go somewhere. While the ice is moving, the rock is transported, frozen into the ice or carried on top of it. When the ice melts, the glacier deposits its load. This dropped material is called till. Because the ice simply lets go of everything at once, till is unsorted: boulders, stones, gravel and fine rock dust are all mixed together. The pieces are angular, with sharp edges, because they have been carried in ice rather than rolled along a river bed.
Where does all the material come from? From the glacier's own erosion of its bed by plucking and abrasion, and from freeze-thaw weathering on the valley sides, which drops broken rock onto the ice. The glacier is a bulldozer, and till is the heap it leaves.
A moraine is a landform made when a glacier deposits till as a mound or ridge. The deck names four main types, lateral, medial, ground and terminal, and adds a fifth, recessional, in the worksheet. Each one forms in a different place, and you need to know where.
Tip: Till is the material; moraine is the landform made of it. Unsorted and angular are the two words that describe 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each moraine forms. Say it in your own words, then check understanding with a quick question: ask a pupil from the pre-teach group first, since they met these words and ideas before the lesson. Pupils try to recall before you re-explain.
Lateral moraines form at the side edges of the glacier, as ridges running along the valley. Rock weathered from the valley sides falls onto the edges of the ice and is dropped there. Medial moraines form when two glaciers meet and their lateral moraines combine into a single ridge running along the middle of the joined glacier. Ground moraine is the till spread out under the glacier, left as a layer across the valley floor when the ice melts.
The end of a glacier is called its snout, terminus or toe. A terminal moraine is a ridge of till pushed up across the valley at the snout. It marks the maximum extent of the glacier, the furthest point the ice ever reached. As a glacier retreats, it may pause for a time and build a smaller ridge across the valley at each resting place. These are recessional moraines, and they mark the stages of the retreat.
So the direction of each ridge tells you what it is. Along the valley: lateral at the sides, medial in the middle. Across the valley: terminal at the furthest point, recessional at each stage of retreat behind it.
Tip: Along the valley: lateral and medial. Across the valley: terminal and recessional. Underneath everything: ground moraine.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Drumlins and erratics. Say it in your own words, then check understanding with a quick question: ask a pupil from the pre-teach group first, since they met these words and ideas before the lesson. Pupils try to recall before you re-explain.
Drumlins are hills made of till, shaped like an upturned boat or half an egg, with a steep, blunt end facing the way the ice came from and a long, gentle tail pointing the way it went. They are elongated, much longer than they are wide. The deck gives their size: a kilometre or more in length, about 500 m in width, and over 50 m in height. Drumlins are usually found in groups, and a group of drumlins is called a swarm.
An erratic is a boulder that is a different kind of rock from the bedrock it is sitting on. It did not form there. A glacier picked it up somewhere else, carried it, perhaps for hundreds of kilometres, and dropped it when the ice melted. Because geologists can often work out where a particular rock type comes from, erratics are useful clues to the patterns of former ice flow: they show where the ice came from and which way it moved.
Worked example — model it step by step, thinking aloud: A drumlin is 1000 m long and 500 m wide. How much longer is it than it is wide? (1) Length: 1000 m. Width: 500 m. (2) How much longer means find the difference: 1000 − 500. (3) 1000 − 500 = 500, so the drumlin is 500 m longer than it is wide, twice as long as it is wide. Answer: 500 m longer than it is wide..
Tip: A drumlin's steep end faces the way the ice came from; its long tail points the way the ice went. An erratic tells you where the ice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does each moraine form?.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moraine to where it forms.
Support — work through the steps with the group: (1) Use the first word of each name. Lateral means side; medial means middle; terminal means end. (2) Recessional comes from recede, to move back, so it marks the glacier moving back. (3) Ground moraine is the only one that is not a ridge: it is spread underneath. (4) Check: two run along the valley, two run across it, one lies under it.
Parallel worked example for Support (model it, do not give the task answer): Match: terminus, zone of ablation. Choices: the lower part of a glacier, where melting is greatest; another word for the snout, the end of the glacier. Terminus means end.; Ablation means melting, so the zone of ablation is where melting is greatest.. Answer: Terminus: another word for the snout, the end of the glacier. Zone of ablation: the lower part of a glacier, where melting is greatest..
Core — reveal the hint only on request: Side, middle, end, stepping back, underneath. The names tell you the places.
Stretch — no help; when finished: Explain how a geographer could use terminal and recessional moraines to work out the history of a glacier that has now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does each moraine form?.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moraine to where it forms.
Support — work through the steps with the group: (1) Use the first word of each name. Lateral means side; medial means middle; terminal means end. (2) Recessional comes from recede, to move back, so it marks the glacier moving back. (3) Ground moraine is the only one that is not a ridge: it is spread underneath. (4) Check: two run along the valley, two run across it, one lies under it.
Parallel worked example for Support (model it, do not give the task answer): Match: terminus, zone of ablation. Choices: the lower part of a glacier, where melting is greatest; another word for the snout, the end of the glacier. Terminus means end.; Ablation means melting, so the zone of ablation is where melting is greatest.. Answer: Terminus: another word for the snout, the end of the glacier. Zone of ablation: the lower part of a glacier, where melting is greatest..
Core — reveal the hint only on request: Side, middle, end, stepping back, underneath. The names tell you the places.
Stretch — no help; when finished: Explain how a geographer could use terminal and recessional moraines to work out the history of a glacier that has now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does each moraine form?.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moraine to where it forms.
Support — work through the steps with the group: (1) Use the first word of each name. Lateral means side; medial means middle; terminal means end. (2) Recessional comes from recede, to move back, so it marks the glacier moving back. (3) Ground moraine is the only one that is not a ridge: it is spread underneath. (4) Check: two run along the valley, two run across it, one lies under it.
Parallel worked example for Support (model it, do not give the task answer): Match: terminus, zone of ablation. Choices: the lower part of a glacier, where melting is greatest; another word for the snout, the end of the glacier. Terminus means end.; Ablation means melting, so the zone of ablation is where melting is greatest.. Answer: Terminus: another word for the snout, the end of the glacier. Zone of ablation: the lower part of a glacier, where melting is greatest..
Core — reveal the hint only on request: Side, middle, end, stepping back, underneath. The names tell you the places.
Stretch — no help; when finished: Explain how a geographer could use terminal and recessional moraines to work out the history of a glacier that has now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Where does each moraine form?.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moraine to where it forms.
Support — work through the steps with the group: (1) Use the first word of each name. Lateral means side; medial means middle; terminal means end. (2) Recessional comes from recede, to move back, so it marks the glacier moving back. (3) Ground moraine is the only one that is not a ridge: it is spread underneath. (4) Check: two run along the valley, two run across it, one lies under it.
Parallel worked example for Support (model it, do not give the task answer): Match: terminus, zone of ablation. Choices: the lower part of a glacier, where melting is greatest; another word for the snout, the end of the glacier. Terminus means end.; Ablation means melting, so the zone of ablation is where melting is greatest.. Answer: Terminus: another word for the snout, the end of the glacier. Zone of ablation: the lower part of a glacier, where melting is greatest..
Core — reveal the hint only on request: Side, middle, end, stepping back, underneath. The names tell you the places.
Stretch — no help; when finished: Explain how a geographer could use terminal and recessional moraines to work out the history of a glacier that has now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big is a drumlin?.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drumlin is 1000 m long and 50 m high. How many times longer is it than it is high?
Support — work through the steps with the group: (1) Write the two measurements: length 1000 m, height 50 m. (2) How many times longer means how many 50s fit into 1000, so divide. (3) 1000 ÷ 50: there are two 50s in 100, so twenty 50s in 1000. (4) Answer: 20 times longer than it is high. A drumlin is a long, low hill.
Parallel worked example for Support (model it, do not give the task answer): A drumlin is 1200 m long and 60 m high. How many times longer is it than it is high? Length 1200, height 60.; Divide: 1200 ÷ 60.; There are two 60s in 120, so twenty 60s in 1200.. Answer: 20 times longer than it is high..
Core — reveal the hint only on request: How many times means divide. Which number goes on top?
Stretch — no help; when finished: Explain what the result tells you about the shape of a drumlin, and why it is described as elongated.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big is a drumlin?.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drumlin is 1000 m long and 50 m high. How many times longer is it than it is high?
Support — work through the steps with the group: (1) Write the two measurements: length 1000 m, height 50 m. (2) How many times longer means how many 50s fit into 1000, so divide. (3) 1000 ÷ 50: there are two 50s in 100, so twenty 50s in 1000. (4) Answer: 20 times longer than it is high. A drumlin is a long, low hill.
Parallel worked example for Support (model it, do not give the task answer): A drumlin is 1200 m long and 60 m high. How many times longer is it than it is high? Length 1200, height 60.; Divide: 1200 ÷ 60.; There are two 60s in 120, so twenty 60s in 1200.. Answer: 20 times longer than it is high..
Core — reveal the hint only on request: How many times means divide. Which number goes on top?
Stretch — no help; when finished: Explain what the result tells you about the shape of a drumlin, and why it is described as elongated.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type of moraine forms where two glaciers meet and their side moraines join into one ridge along the middle?
Answer: D   Medial moraine. Medial means in the middle. When two glaciers meet, their lateral moraines combine into one medial moraine running along the middle of the joined glacier.
Source of this question: gate item 1 re-asked (options rotated) — this chapter has no third quick-check module.
The ebook also holds task 3, "Reading an erratic",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Where does each moraine form?. Reveal the answer; pupils mark their own work in a different colour, then read the "why" together. Same destination for every lane, so one answer serves the whole class.
Answer: Lateral moraine  →  A  Along the side edges of the glacier; Medial moraine  →  E  Along the middle, where two glaciers meet and their side moraines combine; Terminal moraine  →  D  Across the valley at the snout, marking the furthest point the ice reached; Recessional moraine  →  C  Across the valley behind the terminal moraine, marking a stage in the glacier's retreat; Ground moraine  →  B  Spread over the valley floor beneath the ice
Why: Lateral moraines run along the sides; a medial moraine runs along the middle where two glaciers have joined; a terminal moraine runs across the valley at the furthest point the ice reached; recessional moraines run across the valley at each pause in the retreat; ground moraine is spread beneath the ice.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big is a drumlin?. Reveal the answer; pupils mark their own work in a different colour, then read the "why" together. Same destination for every lane, so one answer serves the whole class.
Answer: 20 times
Why: How many times longer means divide the length by the height: 1000 ÷ 50 = 20. A drumlin is twenty times longer than it is high, which is why it is a long, low, elongated hill.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Medial moraine
Why: Medial means in the middle. When two glaciers meet, their lateral moraines combine into one medial moraine running along the middle of the joined glacier.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Moraines, drumlins and erratics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FF2F0"/>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Glacial depositional features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type of moraine forms where two glaciers meet and their side moraines join into one ridge along the middle?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Medial moraine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Ground moraine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Lateral moraine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Terminal moraine</a:t>
            </a:r>
            <a:endParaRPr lang="en-US" sz="20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According to the deck, a typical drumlin is about how many metres wide?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group of drumlins is called a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swarm  ·  ridge  ·  field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Medial moraine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Medial means in the middle. When two glaciers meet, their lateral moraines combine into one medial moraine running along the middle of the joined glacier.</a:t>
            </a:r>
            <a:endParaRPr lang="en-US" sz="18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500 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According to the deck, a typical drumlin is about how many metres wide?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deck gives drumlins as a kilometre or more long, 500 m or so wide and over 50 m high.</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swarm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group of drumlins is called 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Drumlins are usually found in groups, and the deck's word for a group of drumlins is a swarm.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till</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jumble of unsorted, angular rocks a glacier drops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field is full of till left by the Ice Age glacier.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moraine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mound or ridge of till left by a glacier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line of moraine marks where the glacier ended.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lateral</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at the 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Lateral moraines run along the sides of the valley.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medial</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 the middle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medial moraine forms where two glaciers join.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drumlin</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low hill made of till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From the air, a drumlin looks like an upturned boat.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erratic</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boulder that is different from the rock it sits 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glacier carried the erratic many kilometres before dropping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glacier carries a huge load of rock.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the ice melts, the glacier drops this load.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dropped material is called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till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Till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jumble of angular rocks of all sizes.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moraine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mound or ridge of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till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Lateral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moraines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form along the sides of a glacier.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medial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moraine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forms down the middle, where two glaciers join.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terminal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moraine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marks the furthest point the snout reached.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Ground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moraine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spread under the glacier.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Drumlins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long, low hills made of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till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group of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drumlins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called a swarm.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erratic</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boulder that is different from the rock it sits 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glacier carried it there, so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erratics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show which way the ice flowed.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Till and moraine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Till is the material; moraine is the landform made of it. Unsorted and angular are the two words that describe till.</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Everything a glacier plucks, scrapes and collects from the slopes above has to go somewhere.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Where does all the material come from? From the glacier's own erosion of its bed by plucking and abrasion, and from freeze-thaw weathering on the valley sides, which drops broken rock onto the ice.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moraine is a landform made when a glacier deposits till as a mound or ridge.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each moraine 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Along the valley: lateral and medial. Across the valley: terminal and recessional. Underneath everything: ground moraine.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Lateral moraines form at the side edges of the glacier, as ridges running along the valley.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end of a glacier is called its snout, terminus or toe.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the direction of each ridge tells you what it 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Drumlins and erratics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5EFE2"/>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drumlin's steep end faces the way the ice came from; its long tail points the way the ice went. An erratic tells you where the ice came from.</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2B7A7"/>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drumlin is 1000 m long and 500 m wide. How much longer is it than it is wide?</a:t>
            </a:r>
            <a:endParaRPr lang="en-US" sz="1800" dirty="0"/>
          </a:p>
        </p:txBody>
      </p:sp>
      <p:sp>
        <p:nvSpPr>
          <p:cNvPr id="14" name="step-box"/>
          <p:cNvSpPr/>
          <p:nvPr/>
        </p:nvSpPr>
        <p:spPr>
          <a:xfrm>
            <a:off x="6126480" y="2888488"/>
            <a:ext cx="5379415" cy="540851"/>
          </a:xfrm>
          <a:prstGeom prst="roundRect">
            <a:avLst>
              <a:gd name="adj" fmla="val 16907"/>
            </a:avLst>
          </a:prstGeom>
          <a:solidFill>
            <a:srgbClr val="EFF2F0"/>
          </a:solidFill>
          <a:ln/>
        </p:spPr>
      </p:sp>
      <p:sp>
        <p:nvSpPr>
          <p:cNvPr id="15" name="step-hex"/>
          <p:cNvSpPr/>
          <p:nvPr/>
        </p:nvSpPr>
        <p:spPr>
          <a:xfrm>
            <a:off x="6217920" y="2976783"/>
            <a:ext cx="420624" cy="364260"/>
          </a:xfrm>
          <a:prstGeom prst="hexagon">
            <a:avLst/>
          </a:prstGeom>
          <a:solidFill>
            <a:srgbClr val="3F6B4A"/>
          </a:solidFill>
          <a:ln/>
        </p:spPr>
      </p:sp>
      <p:sp>
        <p:nvSpPr>
          <p:cNvPr id="16" name="step-hex-label"/>
          <p:cNvSpPr txBox="1"/>
          <p:nvPr/>
        </p:nvSpPr>
        <p:spPr>
          <a:xfrm>
            <a:off x="6217920" y="297678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Length: 1000 m. Width: 500 m.</a:t>
            </a:r>
            <a:endParaRPr lang="en-US" sz="1800" dirty="0"/>
          </a:p>
        </p:txBody>
      </p:sp>
      <p:sp>
        <p:nvSpPr>
          <p:cNvPr id="18" name="step-box"/>
          <p:cNvSpPr/>
          <p:nvPr/>
        </p:nvSpPr>
        <p:spPr>
          <a:xfrm>
            <a:off x="6126480" y="3520779"/>
            <a:ext cx="5379415" cy="768435"/>
          </a:xfrm>
          <a:prstGeom prst="roundRect">
            <a:avLst>
              <a:gd name="adj" fmla="val 11900"/>
            </a:avLst>
          </a:prstGeom>
          <a:solidFill>
            <a:srgbClr val="EFF2F0"/>
          </a:solidFill>
          <a:ln/>
        </p:spPr>
      </p:sp>
      <p:sp>
        <p:nvSpPr>
          <p:cNvPr id="19" name="step-hex"/>
          <p:cNvSpPr/>
          <p:nvPr/>
        </p:nvSpPr>
        <p:spPr>
          <a:xfrm>
            <a:off x="6217920" y="3722866"/>
            <a:ext cx="420624" cy="364260"/>
          </a:xfrm>
          <a:prstGeom prst="hexagon">
            <a:avLst/>
          </a:prstGeom>
          <a:solidFill>
            <a:srgbClr val="3F6B4A"/>
          </a:solidFill>
          <a:ln/>
        </p:spPr>
      </p:sp>
      <p:sp>
        <p:nvSpPr>
          <p:cNvPr id="20" name="step-hex-label"/>
          <p:cNvSpPr txBox="1"/>
          <p:nvPr/>
        </p:nvSpPr>
        <p:spPr>
          <a:xfrm>
            <a:off x="6217920" y="37228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20779"/>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much longer means find the difference: 1000 − 500.</a:t>
            </a:r>
            <a:endParaRPr lang="en-US" sz="1800" dirty="0"/>
          </a:p>
        </p:txBody>
      </p:sp>
      <p:sp>
        <p:nvSpPr>
          <p:cNvPr id="22" name="step-box"/>
          <p:cNvSpPr/>
          <p:nvPr/>
        </p:nvSpPr>
        <p:spPr>
          <a:xfrm>
            <a:off x="6126480" y="4380653"/>
            <a:ext cx="5379415" cy="1047327"/>
          </a:xfrm>
          <a:prstGeom prst="roundRect">
            <a:avLst>
              <a:gd name="adj" fmla="val 8731"/>
            </a:avLst>
          </a:prstGeom>
          <a:solidFill>
            <a:srgbClr val="EFF2F0"/>
          </a:solidFill>
          <a:ln/>
        </p:spPr>
      </p:sp>
      <p:sp>
        <p:nvSpPr>
          <p:cNvPr id="23" name="step-hex"/>
          <p:cNvSpPr/>
          <p:nvPr/>
        </p:nvSpPr>
        <p:spPr>
          <a:xfrm>
            <a:off x="6217920" y="4722186"/>
            <a:ext cx="420624" cy="364260"/>
          </a:xfrm>
          <a:prstGeom prst="hexagon">
            <a:avLst/>
          </a:prstGeom>
          <a:solidFill>
            <a:srgbClr val="3F6B4A"/>
          </a:solidFill>
          <a:ln/>
        </p:spPr>
      </p:sp>
      <p:sp>
        <p:nvSpPr>
          <p:cNvPr id="24" name="step-hex-label"/>
          <p:cNvSpPr txBox="1"/>
          <p:nvPr/>
        </p:nvSpPr>
        <p:spPr>
          <a:xfrm>
            <a:off x="6217920" y="472218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0653"/>
            <a:ext cx="4739335" cy="10473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1000 − 500 = 500, so the drumlin is 500 m longer than it is wide, twice as long as it is wide.</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500 m longer than it is wide.</a:t>
            </a:r>
            <a:endParaRPr lang="en-US" sz="1800" dirty="0"/>
          </a:p>
        </p:txBody>
      </p:sp>
      <p:sp>
        <p:nvSpPr>
          <p:cNvPr id="27" name="bullet-card"/>
          <p:cNvSpPr/>
          <p:nvPr/>
        </p:nvSpPr>
        <p:spPr>
          <a:xfrm>
            <a:off x="548640" y="1389888"/>
            <a:ext cx="5074920" cy="1800860"/>
          </a:xfrm>
          <a:prstGeom prst="roundRect">
            <a:avLst>
              <a:gd name="adj" fmla="val 4062"/>
            </a:avLst>
          </a:prstGeom>
          <a:solidFill>
            <a:srgbClr val="F3F5F3"/>
          </a:solidFill>
          <a:ln/>
        </p:spPr>
      </p:sp>
      <p:sp>
        <p:nvSpPr>
          <p:cNvPr id="28" name="bullet-hex"/>
          <p:cNvSpPr/>
          <p:nvPr/>
        </p:nvSpPr>
        <p:spPr>
          <a:xfrm>
            <a:off x="676656" y="2124025"/>
            <a:ext cx="384048" cy="332586"/>
          </a:xfrm>
          <a:prstGeom prst="hexagon">
            <a:avLst/>
          </a:prstGeom>
          <a:solidFill>
            <a:srgbClr val="3F6B4A"/>
          </a:solidFill>
          <a:ln/>
        </p:spPr>
      </p:sp>
      <p:sp>
        <p:nvSpPr>
          <p:cNvPr id="29" name="bullet"/>
          <p:cNvSpPr txBox="1"/>
          <p:nvPr/>
        </p:nvSpPr>
        <p:spPr>
          <a:xfrm>
            <a:off x="1143000" y="1389888"/>
            <a:ext cx="4389120" cy="18008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Drumlins are hills made of till, shaped like an upturned boat or half an egg, with a steep, blunt end facing the way the ice came from and a long, gentle tail pointing the way it went.</a:t>
            </a:r>
            <a:endParaRPr lang="en-US" sz="2000" dirty="0"/>
          </a:p>
        </p:txBody>
      </p:sp>
      <p:sp>
        <p:nvSpPr>
          <p:cNvPr id="30" name="bullet-card"/>
          <p:cNvSpPr/>
          <p:nvPr/>
        </p:nvSpPr>
        <p:spPr>
          <a:xfrm>
            <a:off x="548640" y="3337052"/>
            <a:ext cx="5074920" cy="1181100"/>
          </a:xfrm>
          <a:prstGeom prst="roundRect">
            <a:avLst>
              <a:gd name="adj" fmla="val 6194"/>
            </a:avLst>
          </a:prstGeom>
          <a:solidFill>
            <a:srgbClr val="F3F5F3"/>
          </a:solidFill>
          <a:ln/>
        </p:spPr>
      </p:sp>
      <p:sp>
        <p:nvSpPr>
          <p:cNvPr id="31" name="bullet-hex"/>
          <p:cNvSpPr/>
          <p:nvPr/>
        </p:nvSpPr>
        <p:spPr>
          <a:xfrm>
            <a:off x="676656" y="3761309"/>
            <a:ext cx="384048" cy="332586"/>
          </a:xfrm>
          <a:prstGeom prst="hexagon">
            <a:avLst/>
          </a:prstGeom>
          <a:solidFill>
            <a:srgbClr val="B8862B"/>
          </a:solidFill>
          <a:ln/>
        </p:spPr>
      </p:sp>
      <p:sp>
        <p:nvSpPr>
          <p:cNvPr id="32" name="bullet"/>
          <p:cNvSpPr txBox="1"/>
          <p:nvPr/>
        </p:nvSpPr>
        <p:spPr>
          <a:xfrm>
            <a:off x="1143000" y="3337052"/>
            <a:ext cx="438912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 erratic is a boulder that is a different kind of rock from the bedrock it is sitting 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Where does each moraine form?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moraine to where it forms.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(1 of 2): Where does each moraine form?</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moraine to where it forms.</a:t>
            </a:r>
            <a:endParaRPr lang="en-US" sz="2400" dirty="0"/>
          </a:p>
        </p:txBody>
      </p:sp>
      <p:sp>
        <p:nvSpPr>
          <p:cNvPr id="11" name="match-card"/>
          <p:cNvSpPr/>
          <p:nvPr/>
        </p:nvSpPr>
        <p:spPr>
          <a:xfrm>
            <a:off x="777240" y="2468331"/>
            <a:ext cx="3081437" cy="1165352"/>
          </a:xfrm>
          <a:prstGeom prst="roundRect">
            <a:avLst>
              <a:gd name="adj" fmla="val 6277"/>
            </a:avLst>
          </a:prstGeom>
          <a:solidFill>
            <a:srgbClr val="F3F5F3"/>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Lateral moraine</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8F2E9"/>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Across the valley at the snout, marking the furthest point the ice reached</a:t>
            </a:r>
            <a:endParaRPr lang="en-US" sz="2200" dirty="0"/>
          </a:p>
        </p:txBody>
      </p:sp>
      <p:sp>
        <p:nvSpPr>
          <p:cNvPr id="19" name="match-card"/>
          <p:cNvSpPr/>
          <p:nvPr/>
        </p:nvSpPr>
        <p:spPr>
          <a:xfrm>
            <a:off x="777240" y="3725123"/>
            <a:ext cx="3081437" cy="824484"/>
          </a:xfrm>
          <a:prstGeom prst="roundRect">
            <a:avLst>
              <a:gd name="adj" fmla="val 8872"/>
            </a:avLst>
          </a:prstGeom>
          <a:solidFill>
            <a:srgbClr val="F3F5F3"/>
          </a:solidFill>
          <a:ln/>
        </p:spPr>
      </p:sp>
      <p:sp>
        <p:nvSpPr>
          <p:cNvPr id="20" name="match-hex"/>
          <p:cNvSpPr/>
          <p:nvPr/>
        </p:nvSpPr>
        <p:spPr>
          <a:xfrm>
            <a:off x="850392" y="3971073"/>
            <a:ext cx="384048" cy="332586"/>
          </a:xfrm>
          <a:prstGeom prst="hexagon">
            <a:avLst/>
          </a:prstGeom>
          <a:solidFill>
            <a:srgbClr val="3F6B4A"/>
          </a:solidFill>
          <a:ln/>
        </p:spPr>
      </p:sp>
      <p:sp>
        <p:nvSpPr>
          <p:cNvPr id="21" name="match-hex-label"/>
          <p:cNvSpPr txBox="1"/>
          <p:nvPr/>
        </p:nvSpPr>
        <p:spPr>
          <a:xfrm>
            <a:off x="850392" y="397107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Medial moraine</a:t>
            </a:r>
            <a:endParaRPr lang="en-US" sz="2200" dirty="0"/>
          </a:p>
        </p:txBody>
      </p:sp>
      <p:sp>
        <p:nvSpPr>
          <p:cNvPr id="23" name="match-card"/>
          <p:cNvSpPr/>
          <p:nvPr/>
        </p:nvSpPr>
        <p:spPr>
          <a:xfrm>
            <a:off x="4224437" y="3725123"/>
            <a:ext cx="7190019" cy="824484"/>
          </a:xfrm>
          <a:prstGeom prst="roundRect">
            <a:avLst>
              <a:gd name="adj" fmla="val 8872"/>
            </a:avLst>
          </a:prstGeom>
          <a:solidFill>
            <a:srgbClr val="F8F2E9"/>
          </a:solidFill>
          <a:ln/>
        </p:spPr>
      </p:sp>
      <p:sp>
        <p:nvSpPr>
          <p:cNvPr id="24" name="match-hex"/>
          <p:cNvSpPr/>
          <p:nvPr/>
        </p:nvSpPr>
        <p:spPr>
          <a:xfrm>
            <a:off x="4297589" y="3971073"/>
            <a:ext cx="384048" cy="332586"/>
          </a:xfrm>
          <a:prstGeom prst="hexagon">
            <a:avLst/>
          </a:prstGeom>
          <a:solidFill>
            <a:srgbClr val="B8862B"/>
          </a:solidFill>
          <a:ln/>
        </p:spPr>
      </p:sp>
      <p:sp>
        <p:nvSpPr>
          <p:cNvPr id="25" name="match-hex-label"/>
          <p:cNvSpPr txBox="1"/>
          <p:nvPr/>
        </p:nvSpPr>
        <p:spPr>
          <a:xfrm>
            <a:off x="4297589" y="397107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Along the side edges of the glacier</a:t>
            </a:r>
            <a:endParaRPr lang="en-US" sz="2200" dirty="0"/>
          </a:p>
        </p:txBody>
      </p:sp>
      <p:sp>
        <p:nvSpPr>
          <p:cNvPr id="27" name="match-card"/>
          <p:cNvSpPr/>
          <p:nvPr/>
        </p:nvSpPr>
        <p:spPr>
          <a:xfrm>
            <a:off x="777240" y="4641047"/>
            <a:ext cx="3081437" cy="1165352"/>
          </a:xfrm>
          <a:prstGeom prst="roundRect">
            <a:avLst>
              <a:gd name="adj" fmla="val 6277"/>
            </a:avLst>
          </a:prstGeom>
          <a:solidFill>
            <a:srgbClr val="F3F5F3"/>
          </a:solidFill>
          <a:ln/>
        </p:spPr>
      </p:sp>
      <p:sp>
        <p:nvSpPr>
          <p:cNvPr id="28" name="match-hex"/>
          <p:cNvSpPr/>
          <p:nvPr/>
        </p:nvSpPr>
        <p:spPr>
          <a:xfrm>
            <a:off x="850392" y="5057431"/>
            <a:ext cx="384048" cy="332586"/>
          </a:xfrm>
          <a:prstGeom prst="hexagon">
            <a:avLst/>
          </a:prstGeom>
          <a:solidFill>
            <a:srgbClr val="3F6B4A"/>
          </a:solidFill>
          <a:ln/>
        </p:spPr>
      </p:sp>
      <p:sp>
        <p:nvSpPr>
          <p:cNvPr id="29" name="match-hex-label"/>
          <p:cNvSpPr txBox="1"/>
          <p:nvPr/>
        </p:nvSpPr>
        <p:spPr>
          <a:xfrm>
            <a:off x="850392" y="50574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641047"/>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Terminal moraine</a:t>
            </a:r>
            <a:endParaRPr lang="en-US" sz="2200" dirty="0"/>
          </a:p>
        </p:txBody>
      </p:sp>
      <p:sp>
        <p:nvSpPr>
          <p:cNvPr id="31" name="match-card"/>
          <p:cNvSpPr/>
          <p:nvPr/>
        </p:nvSpPr>
        <p:spPr>
          <a:xfrm>
            <a:off x="4224437" y="4641047"/>
            <a:ext cx="7190019" cy="1165352"/>
          </a:xfrm>
          <a:prstGeom prst="roundRect">
            <a:avLst>
              <a:gd name="adj" fmla="val 6277"/>
            </a:avLst>
          </a:prstGeom>
          <a:solidFill>
            <a:srgbClr val="F8F2E9"/>
          </a:solidFill>
          <a:ln/>
        </p:spPr>
      </p:sp>
      <p:sp>
        <p:nvSpPr>
          <p:cNvPr id="32" name="match-hex"/>
          <p:cNvSpPr/>
          <p:nvPr/>
        </p:nvSpPr>
        <p:spPr>
          <a:xfrm>
            <a:off x="4297589" y="5057431"/>
            <a:ext cx="384048" cy="332586"/>
          </a:xfrm>
          <a:prstGeom prst="hexagon">
            <a:avLst/>
          </a:prstGeom>
          <a:solidFill>
            <a:srgbClr val="B8862B"/>
          </a:solidFill>
          <a:ln/>
        </p:spPr>
      </p:sp>
      <p:sp>
        <p:nvSpPr>
          <p:cNvPr id="33" name="match-hex-label"/>
          <p:cNvSpPr txBox="1"/>
          <p:nvPr/>
        </p:nvSpPr>
        <p:spPr>
          <a:xfrm>
            <a:off x="4297589" y="50574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641047"/>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Along the middle, where two glaciers meet and their side moraines combine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(2 of 2): Where does each moraine form?</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moraine to where it forms.</a:t>
            </a:r>
            <a:endParaRPr lang="en-US" sz="2400" dirty="0"/>
          </a:p>
        </p:txBody>
      </p:sp>
      <p:sp>
        <p:nvSpPr>
          <p:cNvPr id="11" name="match-card"/>
          <p:cNvSpPr/>
          <p:nvPr/>
        </p:nvSpPr>
        <p:spPr>
          <a:xfrm>
            <a:off x="777240" y="2468331"/>
            <a:ext cx="3081437" cy="1165352"/>
          </a:xfrm>
          <a:prstGeom prst="roundRect">
            <a:avLst>
              <a:gd name="adj" fmla="val 6277"/>
            </a:avLst>
          </a:prstGeom>
          <a:solidFill>
            <a:srgbClr val="F3F5F3"/>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Recessional moraine</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8F2E9"/>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Spread over the valley floor beneath the ice</a:t>
            </a:r>
            <a:endParaRPr lang="en-US" sz="2200" dirty="0"/>
          </a:p>
        </p:txBody>
      </p:sp>
      <p:sp>
        <p:nvSpPr>
          <p:cNvPr id="19" name="match-card"/>
          <p:cNvSpPr/>
          <p:nvPr/>
        </p:nvSpPr>
        <p:spPr>
          <a:xfrm>
            <a:off x="777240" y="3725123"/>
            <a:ext cx="3081437" cy="1165352"/>
          </a:xfrm>
          <a:prstGeom prst="roundRect">
            <a:avLst>
              <a:gd name="adj" fmla="val 6277"/>
            </a:avLst>
          </a:prstGeom>
          <a:solidFill>
            <a:srgbClr val="F3F5F3"/>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Ground moraine</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8F2E9"/>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Across the valley behind the terminal moraine, marking a stage in the glacier's retreat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Where does each moraine form?</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Where does each moraine form?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Use the first word of each name. Lateral means side; medial means middle; terminal means end.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Recessional comes from recede, to move back, so it marks the glacier moving back.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Ground moraine is the only one that is not a ridge: it is spread underneath.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two run along the valley, two run across it, one lies under it.</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Side, middle, end, stepping back, underneath. The names tell you the places.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geographer could use terminal and recessional moraines to work out the history of a glacier that has now disappeared.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big is a drumlin?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drumlin is 1000 m long and 50 m high. How many times longer is it than it is high?</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times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How big is a drumlin?</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drumlin is 1000 m long and 50 m high. How many times longer is it than it is high?</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FF2F0"/>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two measurements: length 1000 m, height 50 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many times longer means how many 50s fit into 1000, so divide.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1000 ÷ 50: there are two 50s in 100, so twenty 50s in 1000.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Answer: 20 times longer than it is high. A drumlin is a long, low hill.</a:t>
            </a:r>
            <a:endParaRPr lang="en-US" sz="1800" dirty="0"/>
          </a:p>
        </p:txBody>
      </p:sp>
      <p:sp>
        <p:nvSpPr>
          <p:cNvPr id="17" name="col-Core"/>
          <p:cNvSpPr/>
          <p:nvPr/>
        </p:nvSpPr>
        <p:spPr>
          <a:xfrm>
            <a:off x="5490762" y="2593848"/>
            <a:ext cx="2938987" cy="3550920"/>
          </a:xfrm>
          <a:prstGeom prst="roundRect">
            <a:avLst>
              <a:gd name="adj" fmla="val 1867"/>
            </a:avLst>
          </a:prstGeom>
          <a:solidFill>
            <a:srgbClr val="D8E1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times means divide. Which number goes on top?</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the result tells you about the shape of a drumlin, and why it is described as elongated.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type of moraine forms where two glaciers meet and their side moraines join into one ridge along the middle?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Ground moraine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Lateral moraine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Terminal moraine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Medial moraine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Where does each moraine form?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Lateral moraine  →  A  Along the side edges of the glacier</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Medial moraine  →  E  Along the middle, where two glaciers meet and their side moraines combine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Terminal moraine  →  D  Across the valley at the snout, marking the furthest point the ice reached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Recessional moraine  →  C  Across the valley behind the terminal moraine, marking a stage in the glacier's retreat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Ground moraine  →  B  Spread over the valley floor beneath the ice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Lateral moraines run along the sides; a medial moraine runs along the middle where two glaciers have joined; a terminal moraine runs across the valley at the furthest point the ice reached; recessional moraines run across the valley at each pause in the retreat; ground moraine is spread beneath the ice.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big is a drumlin?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drumlin is 1000 m long and 50 m high. How many times longer is it than it is high?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 times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How many times longer means divide the length by the height: 1000 ÷ 50 = 20. A drumlin is twenty times longer than it is high, which is why it is a long, low, elongated hill.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type of moraine forms where two glaciers meet and their side moraines join into one ridge along the middle?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Medial moraine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Medial means in the middle. When two glaciers meet, their lateral moraines combine into one medial moraine running along the middle of the joined glacier.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5: Moraines, drumlins and erratics</dc:title>
  <dc:subject>Geography · Year 8</dc:subject>
  <dc:creator>Dr Vitor Merissi de Carvalho</dc:creator>
  <cp:lastModifiedBy>Dr Vitor Merissi de Carvalho</cp:lastModifiedBy>
  <cp:revision>1</cp:revision>
  <dcterms:created xsi:type="dcterms:W3CDTF">2026-10-19T06:07:38Z</dcterms:created>
  <dcterms:modified xsi:type="dcterms:W3CDTF">2026-10-19T06:07:38Z</dcterms:modified>
</cp:coreProperties>
</file>