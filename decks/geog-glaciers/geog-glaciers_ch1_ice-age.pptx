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0ef7a0f-0ed1-53b3-b782-bc1e4829a3a8}">
          <p14:sldIdLst>
            <p14:sldId id="256"/>
          </p14:sldIdLst>
        </p14:section>
        <p14:section name="Gate" id="{7fdbf1a8-07df-87df-7c58-284b1bcc37c6}">
          <p14:sldIdLst>
            <p14:sldId id="257"/>
            <p14:sldId id="258"/>
          </p14:sldIdLst>
        </p14:section>
        <p14:section name="Pre-teach" id="{b4774bff-a3a3-3215-ce13-9bf6de11849b}">
          <p14:sldIdLst>
            <p14:sldId id="259"/>
            <p14:sldId id="260"/>
          </p14:sldIdLst>
        </p14:section>
        <p14:section name="Read-along" id="{48ce7365-b372-0208-765a-c61449692a51}">
          <p14:sldIdLst>
            <p14:sldId id="261"/>
            <p14:sldId id="262"/>
          </p14:sldIdLst>
        </p14:section>
        <p14:section name="Teach" id="{35a107df-0bf6-bb15-3c34-39d9a68ad428}">
          <p14:sldIdLst>
            <p14:sldId id="263"/>
            <p14:sldId id="264"/>
            <p14:sldId id="265"/>
            <p14:sldId id="266"/>
          </p14:sldIdLst>
        </p14:section>
        <p14:section name="Routes" id="{e3aa8cab-db71-ecfa-157c-7c42fc1c99af}">
          <p14:sldIdLst>
            <p14:sldId id="267"/>
            <p14:sldId id="268"/>
            <p14:sldId id="269"/>
            <p14:sldId id="270"/>
          </p14:sldIdLst>
        </p14:section>
        <p14:section name="Close" id="{1eb7e28c-112f-8e27-1767-2a4d5f4ca8ad}">
          <p14:sldIdLst>
            <p14:sldId id="271"/>
          </p14:sldIdLst>
        </p14:section>
        <p14:section name="Answers" id="{7b7fac6b-7594-8f1c-574e-bbbb6874fc15}">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The Ice Age and where ice is found. What a glacier is, what the Ice Age did to Europe and Britain 20 000 years ago, and where land ice and sea ice are found in the world today.
This deck covers the department's lessons: 1 (Glaciers: the Ice Age: Which parts of Europe, including the UK, were covered by ice about 20 000 years ago, and what was the Ice Age like?); 2 (Ice formation and location: where is ice found?: Where in the world is ice found today, and what is the difference between land ice and sea ice?).
Read the big question aloud: "How does ice shape the land, and what happens to the landscape and to people when glaciers grow or shrink?"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About what percentage of the surface of the Earth is covered by ice?  →  10 %
2. Which of these is a place where sea ice is found?  →  A   The Arctic Ocean
3. About ___ years ago, during the Ice Age, ice covered much of Europe and most of the United Kingdom.  →  20 000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10 %. Ice covers about 10 per cent of the surface of the Earth, as glaciers, ice caps and ice sheets.
2. A   The Arctic Ocean. Sea ice is frozen sea water floating on the ocean. The Arctic Ocean, the North Atlantic and the Southern Ocean are the deck's three examples.
3. 20 000. The deck dates the Ice Age ice cover to about 20 000 years ago, long before any towns or farms existed in Britain.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glacier: a large mass of ice that flows very slowly downhill. Example: "A glacier moves so slowly that you cannot see it flow."
• ice sheet: a huge area of ice that covers a whole land mass. Example: "Antarctica is covered by an ice sheet."
• Ice Age: a long cold period when ice covered much more of the Earth. Example: "During the Ice Age, ice covered most of Britain."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land ice: ice that rests on land, such as glaciers and ice sheets. Example: "Greenland has a great deal of land ice."
• sea ice: frozen sea water that floats on the ocean. Example: "Sea ice covers much of the Arctic Ocean in winter."
• distribution: where something is found across the world. Example: "The distribution of ice shows it is mostly near the poles and on high mountains."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Ice covers about 10 per cent of the surface of the Earth.
2. It is found as glaciers, ice caps and ice sheets.
3. A glacier is a large mass of ice that flows very slowly downhill, pulled by gravity.
4. Many glaciers are shaped like a river of ice.
5. About 20 000 years ago, the Earth was in an Ice Age.
6. Ice covered much of Europe, including most of the United Kingdom.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Animals such as the woolly mammoth lived on the cold land near the ice.
8. Today, land ice is found in Greenland, Antarctica, North America, the Alps and the Himalayas.
9. Sea ice floats on the Arctic Ocean, the North Atlantic and the Southern Ocean.
10. Land ice sits on rock, but sea ice floats on water.
11. When land ice melts, the water runs into the sea and sea level rises.
12. Glaciers grow and shrink as the seasons change.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glacier?. Say it in your own words, then check understanding with a quick question: ask a pupil from the pre-teach group first, since they met these words and ideas before the lesson. Pupils try to recall before you re-explain.
Look at a globe and you will see white at the top and the bottom. Ice covers about 10 per cent of the surface of the Earth. It comes in three forms. An ice sheet is a vast, thick layer of ice that buries a whole land mass; Antarctica and Greenland are covered by ice sheets. An ice cap is a smaller dome of ice that sits on top of a mountain range or an island. A glacier is a large mass of ice, often shaped like a river, that flows very slowly downhill under the force of gravity.
A glacier really does flow, even though it is solid. The ice at the bottom is squeezed by the enormous weight above it, and the whole mass creeps down the valley a few centimetres or metres a day. You would not see it move if you stood and watched, but over hundreds of years a glacier can travel many kilometres.
Glaciers grow and shrink with the seasons. In winter, snow piles up and the glacier gets bigger. In summer, the warmer air melts ice at the lower end, and the glacier gets smaller. Chapter 2 looks at this balance in detail.
Tip: Three forms of ice, from biggest to smallest: ice sheet, ice cap, glacier. If you can picture Antarctica, the Alps and a river of ice, you have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Ice Age. Say it in your own words, then check understanding with a quick question: ask a pupil from the pre-teach group first, since they met these words and ideas before the lesson. Pupils try to recall before you re-explain.
About 20 000 years ago, the Earth was in an Ice Age. The climate was far colder than today, and ice sheets spread south from the Arctic until they covered much of the continent of Europe, including most of the United Kingdom. Scotland, northern England and Wales lay under ice hundreds of metres thick. The land to the south was a cold, treeless plain, something like the tundra of northern Russia today.
Animals that could cope with the cold lived there: the woolly mammoth and the sabre-toothed cat are the famous examples. Plants were small and tough, because the growing season was short. When the climate warmed and the ice melted, these animals either moved north or died out.
The ice changed the shape of the land itself. So much water was locked up as ice that sea level was much lower than today, and Britain was joined to the rest of Europe by dry land. The weight of the ice also pressed the Earth's crust downwards. When the ice melted, the crust slowly rose back up again. Geographers call this isostatic change. Parts of Scotland are still rising today, thousands of years after the ice left.
Tip: Two kinds of level change to remember from the Ice Age: sea level fell because water was locked up as ice, and the land itself was pressed down by the weight of the ice and rose again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Land ice and sea ice. Say it in your own words, then check understanding with a quick question: ask a pupil from the pre-teach group first, since they met these words and ideas before the lesson. Pupils try to recall before you re-explain.
Where is ice found today? Geographers split it into two kinds. Land ice rests on land, and it includes glaciers, ice caps and ice sheets. It is found in Greenland, Antarctica, the mountains of North America, the Alps and the Himalayas. Scotland had land ice in the Ice Age, and its mountains still show the hollows and ridges the glaciers carved, but today it has no glaciers.
Sea ice is frozen sea water that floats on the ocean. It is found on the Arctic Ocean, in the North Atlantic near Greenland, and on the Southern Ocean around Antarctica. It grows in winter and shrinks in summer.
The difference matters for sea level. When sea ice melts, the water was already in the sea, so the level barely changes, just as a melting ice cube does not make a full glass overflow. When land ice melts, the meltwater runs off the land into the sea and adds to it, so sea level rises. That is why scientists watch the ice sheets of Greenland and Antarctica so closely.
Worked example — model it step by step, thinking aloud: Describe the distribution of sea ice in the world today. Use the names of oceans. (2 marks) (1) A describe question asks for the pattern and the names, not the reasons. (2) Pattern first: sea ice floats on the oceans closest to the two poles. (3) Then the names from this chapter: the Arctic Ocean, the North Atlantic beside Greenland, the Southern Ocean around Antarctica. (4) A pattern plus named oceans earns both marks. Answer: Sea ice is found on the oceans closest to the two poles. In the far north it floats on the Arctic Ocean and reaches the North Atlantic beside Greenland; in the far south it surrounds Antarctica on the Southern Ocean..
Tip: Describe means say where, using names and directions. You do not need to explain why the ice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Land ice and sea ice. Say it in your own words, then check understanding with a quick question: ask a pupil from the pre-teach group first, since they met these words and ideas before the lesson. Pupils try to recall before you re-explain.
Where is ice found today? Geographers split it into two kinds. Land ice rests on land, and it includes glaciers, ice caps and ice sheets. It is found in Greenland, Antarctica, the mountains of North America, the Alps and the Himalayas. Scotland had land ice in the Ice Age, and its mountains still show the hollows and ridges the glaciers carved, but today it has no glaciers.
Sea ice is frozen sea water that floats on the ocean. It is found on the Arctic Ocean, in the North Atlantic near Greenland, and on the Southern Ocean around Antarctica. It grows in winter and shrinks in summer.
The difference matters for sea level. When sea ice melts, the water was already in the sea, so the level barely changes, just as a melting ice cube does not make a full glass overflow. When land ice melts, the meltwater runs off the land into the sea and adds to it, so sea level rises. That is why scientists watch the ice sheets of Greenland and Antarctica so closely.
Worked example — model it step by step, thinking aloud: Describe the distribution of sea ice in the world today. Use the names of oceans. (2 marks) (1) A describe question asks for the pattern and the names, not the reasons. (2) Pattern first: sea ice floats on the oceans closest to the two poles. (3) Then the names from this chapter: the Arctic Ocean, the North Atlantic beside Greenland, the Southern Ocean around Antarctica. (4) A pattern plus named oceans earns both marks. Answer: Sea ice is found on the oceans closest to the two poles. In the far north it floats on the Arctic Ocean and reaches the North Atlantic beside Greenland; in the far south it surrounds Antarctica on the Southern Ocean..
Tip: Describe means say where, using names and directions. You do not need to explain why the ice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kinds of 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kind of ice to its description.
Support — work through the steps with the group: (1) Two of the names tell you where the ice is: land or sea. Match those first. (2) Of the two left, one is the biggest kind of ice there is and buries whole continents. (3) The other flows downhill like a very slow river. (4) Check: a glacier is a kind of land ice, so land ice must be the wider group.
Parallel worked example for Support (model it, do not give the task answer): Match: iceberg, ice cap. Choices: a smaller dome of ice on top of a mountain range or island; a chunk of ice that has broken off a glacier and floats in the sea. An iceberg floats, so it is the chunk broken off into the sea.; An ice cap sits on top of something, so it is the dome on a mountain range or island.. Answer: Iceberg: a chunk of ice broken off a glacier, floating in the sea. Ice cap: a smaller dome of ice on a mountain range or island..
Core — reveal the hint only on request: Where is the ice: on land or on the sea? Then: is it moving like a river, or sitting on a whole continent?
Stretch — no help; when finished: Explain why a glacier counts as land ice but an iceberg that has broken off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Four kinds of 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kind of ice to its description.
Support — work through the steps with the group: (1) Two of the names tell you where the ice is: land or sea. Match those first. (2) Of the two left, one is the biggest kind of ice there is and buries whole continents. (3) The other flows downhill like a very slow river. (4) Check: a glacier is a kind of land ice, so land ice must be the wider group.
Parallel worked example for Support (model it, do not give the task answer): Match: iceberg, ice cap. Choices: a smaller dome of ice on top of a mountain range or island; a chunk of ice that has broken off a glacier and floats in the sea. An iceberg floats, so it is the chunk broken off into the sea.; An ice cap sits on top of something, so it is the dome on a mountain range or island.. Answer: Iceberg: a chunk of ice broken off a glacier, floating in the sea. Ice cap: a smaller dome of ice on a mountain range or island..
Core — reveal the hint only on request: Where is the ice: on land or on the sea? Then: is it moving like a river, or sitting on a whole continent?
Stretch — no help; when finished: Explain why a glacier counts as land ice but an iceberg that has broken off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melting ice raises the sea?.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kind of melting ice makes sea level rise, and why?
Support — work through the steps with the group: (1) Ask where the ice is before it melts: on land, or already floating in the sea? (2) Ice already floating in the sea is already part of the sea, so melting it changes little. (3) Ice on land is extra water that has not reached the sea yet. When it melts, it runs down to the sea. (4) So the ice that raises sea level is the ice that starts on land.
Parallel worked example for Support (model it, do not give the task answer): A glass is full to the brim with water and ice cubes. When the cubes melt, does the glass overflow? Now pour in an extra cup of water. What happens? The floating cubes are already part of the water in the glass, so melting them does not overflow it.; The extra cup is new water from outside, so the glass overflows.. Answer: The melting cubes do not make it overflow, like sea ice. The extra cup does, like meltwater from land ice..
Core — reveal the hint only on request: Is the ice already in the sea before it melts, or does its water have to travel down to the sea?
Stretch — no help; when finished: Explain why scientists are more worried about the Antarctic and Greenland ice sheets than about Arctic sea ice when they think about sea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melting ice raises the sea?.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kind of melting ice makes sea level rise, and why?
Support — work through the steps with the group: (1) Ask where the ice is before it melts: on land, or already floating in the sea? (2) Ice already floating in the sea is already part of the sea, so melting it changes little. (3) Ice on land is extra water that has not reached the sea yet. When it melts, it runs down to the sea. (4) So the ice that raises sea level is the ice that starts on land.
Parallel worked example for Support (model it, do not give the task answer): A glass is full to the brim with water and ice cubes. When the cubes melt, does the glass overflow? Now pour in an extra cup of water. What happens? The floating cubes are already part of the water in the glass, so melting them does not overflow it.; The extra cup is new water from outside, so the glass overflows.. Answer: The melting cubes do not make it overflow, like sea ice. The extra cup does, like meltwater from land ice..
Core — reveal the hint only on request: Is the ice already in the sea before it melts, or does its water have to travel down to the sea?
Stretch — no help; when finished: Explain why scientists are more worried about the Antarctic and Greenland ice sheets than about Arctic sea ice when they think about sea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About what percentage of the surface of the Earth is covered by ice?
Answer: 10 %. Ice covers about 10 per cent of the surface of the Earth, as glaciers, ice caps and ice sheets.
Source of this question: gate item 1 re-asked (options rotated) — this chapter has no third quick-check module.
The ebook also holds task 3, "Describe where the ice is",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Four kinds of ice. Reveal the answer; pupils mark their own work in a different colour, then read the "why" together. Same destination for every lane, so one answer serves the whole class.
Answer: Glacier  →  D  A large mass of ice that flows slowly downhill under gravity; Ice sheet  →  B  A vast layer of ice that buries a whole land mass, such as Antarctica; Sea ice  →  A  Frozen sea water floating on the ocean; Land ice  →  C  Any ice resting on land, including glaciers and ice sheets
Why: A glacier flows slowly downhill under gravity. An ice sheet is the biggest kind of ice and covers a whole land mass. Sea ice is frozen sea water floating on the ocean. Land ice is the wider group: any ice on land, so glaciers and ice sheets both belong to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melting ice raises the sea?. Reveal the answer; pupils mark their own work in a different colour, then read the "why" together. Same destination for every lane, so one answer serves the whole class.
Answer: B   Land ice, because its meltwater runs off the land into the sea
Why: Sea ice is already floating in the ocean, so melting it adds almost nothing to sea level. Land ice, such as the Greenland and Antarctic ice sheets and mountain glaciers, is water held on land; when it melts, that water runs into the sea and sea level rises.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10 %
Why: Ice covers about 10 per cent of the surface of the Earth, as glaciers, ice caps and ice sheets.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Glaciers and Landforms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Glaciers and Landforms · AQA KS3 → 8035</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Ice Age and where ice is found</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EFF2F0"/>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Glaciers: the Ice Age</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Ice formation and location: where is ice found?</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ice shape the land, and what happens to the landscape and to people when glaciers grow or shrink?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About what percentage of the surface of the Earth is covered by ice?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t>
            </a:r>
            <a:endParaRPr lang="en-US" sz="24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place where sea ice is found?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Arctic Ocean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Antarctica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Alps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Greenland</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About ___ years ago, during the Ice Age, ice covered much of Europe and most of the United Kingdom.</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20 000  ·  2000  ·  200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10 %</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About what percentage of the surface of the Earth is covered by ice?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Ice covers about 10 per cent of the surface of the Earth, as glaciers, ice caps and ice sheets.</a:t>
            </a:r>
            <a:endParaRPr lang="en-US" sz="22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Arctic Ocean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place where sea ice is found?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Sea ice is frozen sea water floating on the ocean. The Arctic Ocean, the North Atlantic and the Southern Ocean are the deck's three examples.</a:t>
            </a:r>
            <a:endParaRPr lang="en-US" sz="20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20 000</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About ___ years ago, during the Ice Age, ice covered much of Europe and most of the United Kingdom.</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deck dates the Ice Age ice cover to about 20 000 years ago, long before any towns or farms existed in Britain.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glacier</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large mass of ice that flows very slowly downhill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glacier moves so slowly that you cannot see it flow.</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ice sheet</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area of ice that covers a whole land mass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Antarctica is covered by an ice sheet.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Ice Age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cold period when ice covered much more of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During the Ice Age, ice covered most of Britain.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land ice</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ice that rests on land, such as glaciers and ice sheets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Greenland has a great deal of land ice.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sea ice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frozen sea water that floats on the ocean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Sea ice covers much of the Arctic Ocean in winter.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distribution</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where something is found across the world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distribution of ice shows it is mostly near the poles and on high mountains.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Ice covers about 10 per cent of the surface of the Earth.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found as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glaciers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ice caps and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ice sheets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glacier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large mass of ice that flows very slowly downhill, pulled by gravity.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glaciers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shaped like a river of ice.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20 000 years ago, the Earth was in an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Ice Age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Ice covered much of Europe, including most of the United Kingdom.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Animals such as the woolly mammoth lived on the cold land near the ice.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Today,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land ice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found in Greenland, Antarctica, North America, the Alps and the Himalayas.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Sea ice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floats on the Arctic Ocean, the North Atlantic and the Southern Ocean.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Land ice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sits on rock, but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sea ice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floats on water.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land ice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melts, the water runs into the sea and sea level rises.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Glaciers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grow and shrink as the seasons change.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a glacier?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forms of ice, from biggest to smallest: ice sheet, ice cap, glacier. If you can picture Antarctica, the Alps and a river of ice, you have all three.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Look at a globe and you will see white at the top and the bottom.</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glacier really does flow, even though it is solid.</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Glaciers grow and shrink with the seasons. In winter, snow piles up and the glacier gets bigger.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Ice Age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kinds of level change to remember from the Ice Age: sea level fell because water was locked up as ice, and the land itself was pressed down by the weight of the ice and rose again afterwards.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About 20 000 years ago, the Earth was in an Ice Age.</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Animals that could cope with the cold lived there: the woolly mammoth and the sabre-toothed cat are the famous examples.</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ice changed the shape of the land itself. So much water was locked up as ice that sea level was much lower than today, and Britain was joined to the rest of Europe by dry land.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Land ice and sea ice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means say where, using names and directions. You do not need to explain why the ice is there.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Where is ice found today? Geographers split it into two kinds.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Sea ice is frozen sea water that floats on the ocean.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difference matters for sea level. When sea ice melts, the water was already in the sea, so the level barely changes, just as a melting ice cube does not make a full glass overflow.</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Land ice and sea ice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FF2F0"/>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the distribution of sea ice in the world today. Use the names of oceans. (2 marks)</a:t>
            </a:r>
            <a:endParaRPr lang="en-US" sz="2000" dirty="0"/>
          </a:p>
        </p:txBody>
      </p:sp>
      <p:sp>
        <p:nvSpPr>
          <p:cNvPr id="9" name="step-box"/>
          <p:cNvSpPr/>
          <p:nvPr/>
        </p:nvSpPr>
        <p:spPr>
          <a:xfrm>
            <a:off x="548640" y="2192528"/>
            <a:ext cx="11094415" cy="519278"/>
          </a:xfrm>
          <a:prstGeom prst="roundRect">
            <a:avLst>
              <a:gd name="adj" fmla="val 14087"/>
            </a:avLst>
          </a:prstGeom>
          <a:solidFill>
            <a:srgbClr val="FFFFFF"/>
          </a:solidFill>
          <a:ln w="15875">
            <a:solidFill>
              <a:srgbClr val="95AE9B"/>
            </a:solidFill>
            <a:prstDash val="solid"/>
          </a:ln>
        </p:spPr>
      </p:sp>
      <p:sp>
        <p:nvSpPr>
          <p:cNvPr id="10" name="step-hex"/>
          <p:cNvSpPr/>
          <p:nvPr/>
        </p:nvSpPr>
        <p:spPr>
          <a:xfrm>
            <a:off x="685800" y="2254199"/>
            <a:ext cx="457200" cy="395935"/>
          </a:xfrm>
          <a:prstGeom prst="hexagon">
            <a:avLst/>
          </a:prstGeom>
          <a:solidFill>
            <a:srgbClr val="3F6B4A"/>
          </a:solidFill>
          <a:ln/>
        </p:spPr>
      </p:sp>
      <p:sp>
        <p:nvSpPr>
          <p:cNvPr id="11" name="step-hex-label"/>
          <p:cNvSpPr txBox="1"/>
          <p:nvPr/>
        </p:nvSpPr>
        <p:spPr>
          <a:xfrm>
            <a:off x="685800" y="225419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describe question asks for the pattern and the names, not the reasons.</a:t>
            </a:r>
            <a:endParaRPr lang="en-US" sz="1800" dirty="0"/>
          </a:p>
        </p:txBody>
      </p:sp>
      <p:sp>
        <p:nvSpPr>
          <p:cNvPr id="13" name="step-box"/>
          <p:cNvSpPr/>
          <p:nvPr/>
        </p:nvSpPr>
        <p:spPr>
          <a:xfrm>
            <a:off x="548640" y="2784958"/>
            <a:ext cx="11094415" cy="519278"/>
          </a:xfrm>
          <a:prstGeom prst="roundRect">
            <a:avLst>
              <a:gd name="adj" fmla="val 14087"/>
            </a:avLst>
          </a:prstGeom>
          <a:solidFill>
            <a:srgbClr val="FFFFFF"/>
          </a:solidFill>
          <a:ln w="15875">
            <a:solidFill>
              <a:srgbClr val="95AE9B"/>
            </a:solidFill>
            <a:prstDash val="solid"/>
          </a:ln>
        </p:spPr>
      </p:sp>
      <p:sp>
        <p:nvSpPr>
          <p:cNvPr id="14" name="step-hex"/>
          <p:cNvSpPr/>
          <p:nvPr/>
        </p:nvSpPr>
        <p:spPr>
          <a:xfrm>
            <a:off x="685800" y="2846629"/>
            <a:ext cx="457200" cy="395935"/>
          </a:xfrm>
          <a:prstGeom prst="hexagon">
            <a:avLst/>
          </a:prstGeom>
          <a:solidFill>
            <a:srgbClr val="3F6B4A"/>
          </a:solidFill>
          <a:ln/>
        </p:spPr>
      </p:sp>
      <p:sp>
        <p:nvSpPr>
          <p:cNvPr id="15" name="step-hex-label"/>
          <p:cNvSpPr txBox="1"/>
          <p:nvPr/>
        </p:nvSpPr>
        <p:spPr>
          <a:xfrm>
            <a:off x="685800" y="284662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8495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Pattern first: sea ice floats on the oceans closest to the two poles.</a:t>
            </a:r>
            <a:endParaRPr lang="en-US" sz="1800" dirty="0"/>
          </a:p>
        </p:txBody>
      </p:sp>
      <p:sp>
        <p:nvSpPr>
          <p:cNvPr id="17" name="step-box"/>
          <p:cNvSpPr/>
          <p:nvPr/>
        </p:nvSpPr>
        <p:spPr>
          <a:xfrm>
            <a:off x="548640" y="3377387"/>
            <a:ext cx="11094415" cy="783438"/>
          </a:xfrm>
          <a:prstGeom prst="roundRect">
            <a:avLst>
              <a:gd name="adj" fmla="val 9337"/>
            </a:avLst>
          </a:prstGeom>
          <a:solidFill>
            <a:srgbClr val="FFFFFF"/>
          </a:solidFill>
          <a:ln w="15875">
            <a:solidFill>
              <a:srgbClr val="95AE9B"/>
            </a:solidFill>
            <a:prstDash val="solid"/>
          </a:ln>
        </p:spPr>
      </p:sp>
      <p:sp>
        <p:nvSpPr>
          <p:cNvPr id="18" name="step-hex"/>
          <p:cNvSpPr/>
          <p:nvPr/>
        </p:nvSpPr>
        <p:spPr>
          <a:xfrm>
            <a:off x="685800" y="3571138"/>
            <a:ext cx="457200" cy="395935"/>
          </a:xfrm>
          <a:prstGeom prst="hexagon">
            <a:avLst/>
          </a:prstGeom>
          <a:solidFill>
            <a:srgbClr val="3F6B4A"/>
          </a:solidFill>
          <a:ln/>
        </p:spPr>
      </p:sp>
      <p:sp>
        <p:nvSpPr>
          <p:cNvPr id="19" name="step-hex-label"/>
          <p:cNvSpPr txBox="1"/>
          <p:nvPr/>
        </p:nvSpPr>
        <p:spPr>
          <a:xfrm>
            <a:off x="685800" y="357113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377387"/>
            <a:ext cx="10180015" cy="7834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Then the names from this chapter: the Arctic Ocean, the North Atlantic beside Greenland, the Southern Ocean around Antarctica.</a:t>
            </a:r>
            <a:endParaRPr lang="en-US" sz="1800" dirty="0"/>
          </a:p>
        </p:txBody>
      </p:sp>
      <p:sp>
        <p:nvSpPr>
          <p:cNvPr id="21" name="step-box"/>
          <p:cNvSpPr/>
          <p:nvPr/>
        </p:nvSpPr>
        <p:spPr>
          <a:xfrm>
            <a:off x="548640" y="4233977"/>
            <a:ext cx="11094415" cy="519278"/>
          </a:xfrm>
          <a:prstGeom prst="roundRect">
            <a:avLst>
              <a:gd name="adj" fmla="val 14087"/>
            </a:avLst>
          </a:prstGeom>
          <a:solidFill>
            <a:srgbClr val="FFFFFF"/>
          </a:solidFill>
          <a:ln w="15875">
            <a:solidFill>
              <a:srgbClr val="95AE9B"/>
            </a:solidFill>
            <a:prstDash val="solid"/>
          </a:ln>
        </p:spPr>
      </p:sp>
      <p:sp>
        <p:nvSpPr>
          <p:cNvPr id="22" name="step-hex"/>
          <p:cNvSpPr/>
          <p:nvPr/>
        </p:nvSpPr>
        <p:spPr>
          <a:xfrm>
            <a:off x="685800" y="4295648"/>
            <a:ext cx="457200" cy="395935"/>
          </a:xfrm>
          <a:prstGeom prst="hexagon">
            <a:avLst/>
          </a:prstGeom>
          <a:solidFill>
            <a:srgbClr val="3F6B4A"/>
          </a:solidFill>
          <a:ln/>
        </p:spPr>
      </p:sp>
      <p:sp>
        <p:nvSpPr>
          <p:cNvPr id="23" name="step-hex-label"/>
          <p:cNvSpPr txBox="1"/>
          <p:nvPr/>
        </p:nvSpPr>
        <p:spPr>
          <a:xfrm>
            <a:off x="685800" y="42956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3397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pattern plus named oceans earns both marks.</a:t>
            </a:r>
            <a:endParaRPr lang="en-US" sz="1800" dirty="0"/>
          </a:p>
        </p:txBody>
      </p:sp>
      <p:sp>
        <p:nvSpPr>
          <p:cNvPr id="25" name="worked-answer"/>
          <p:cNvSpPr/>
          <p:nvPr/>
        </p:nvSpPr>
        <p:spPr>
          <a:xfrm>
            <a:off x="548640" y="4936134"/>
            <a:ext cx="11094415" cy="1109980"/>
          </a:xfrm>
          <a:prstGeom prst="roundRect">
            <a:avLst>
              <a:gd name="adj" fmla="val 12357"/>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Sea ice is found on the oceans closest to the two poles. In the far north it floats on the Arctic Ocean and reaches the North Atlantic beside Greenland; in the far south it surrounds Antarctica on the Southern Ocean.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Four kinds of ice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kind of ice to its description.</a:t>
            </a:r>
            <a:endParaRPr lang="en-US" sz="2400" dirty="0"/>
          </a:p>
        </p:txBody>
      </p:sp>
      <p:sp>
        <p:nvSpPr>
          <p:cNvPr id="11" name="match-card"/>
          <p:cNvSpPr/>
          <p:nvPr/>
        </p:nvSpPr>
        <p:spPr>
          <a:xfrm>
            <a:off x="777240" y="2468331"/>
            <a:ext cx="3081437" cy="549158"/>
          </a:xfrm>
          <a:prstGeom prst="roundRect">
            <a:avLst>
              <a:gd name="adj" fmla="val 13321"/>
            </a:avLst>
          </a:prstGeom>
          <a:solidFill>
            <a:srgbClr val="F3F5F3"/>
          </a:solidFill>
          <a:ln/>
        </p:spPr>
      </p:sp>
      <p:sp>
        <p:nvSpPr>
          <p:cNvPr id="12" name="match-hex"/>
          <p:cNvSpPr/>
          <p:nvPr/>
        </p:nvSpPr>
        <p:spPr>
          <a:xfrm>
            <a:off x="850392" y="2576618"/>
            <a:ext cx="384048" cy="332586"/>
          </a:xfrm>
          <a:prstGeom prst="hexagon">
            <a:avLst/>
          </a:prstGeom>
          <a:solidFill>
            <a:srgbClr val="3F6B4A"/>
          </a:solidFill>
          <a:ln/>
        </p:spPr>
      </p:sp>
      <p:sp>
        <p:nvSpPr>
          <p:cNvPr id="13" name="match-hex-label"/>
          <p:cNvSpPr txBox="1"/>
          <p:nvPr/>
        </p:nvSpPr>
        <p:spPr>
          <a:xfrm>
            <a:off x="850392" y="25766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Glacier</a:t>
            </a:r>
            <a:endParaRPr lang="en-US" sz="2200" dirty="0"/>
          </a:p>
        </p:txBody>
      </p:sp>
      <p:sp>
        <p:nvSpPr>
          <p:cNvPr id="15" name="match-card"/>
          <p:cNvSpPr/>
          <p:nvPr/>
        </p:nvSpPr>
        <p:spPr>
          <a:xfrm>
            <a:off x="4224437" y="2468331"/>
            <a:ext cx="7190019" cy="549158"/>
          </a:xfrm>
          <a:prstGeom prst="roundRect">
            <a:avLst>
              <a:gd name="adj" fmla="val 13321"/>
            </a:avLst>
          </a:prstGeom>
          <a:solidFill>
            <a:srgbClr val="F8F2E9"/>
          </a:solidFill>
          <a:ln/>
        </p:spPr>
      </p:sp>
      <p:sp>
        <p:nvSpPr>
          <p:cNvPr id="16" name="match-hex"/>
          <p:cNvSpPr/>
          <p:nvPr/>
        </p:nvSpPr>
        <p:spPr>
          <a:xfrm>
            <a:off x="4297589" y="2576618"/>
            <a:ext cx="384048" cy="332586"/>
          </a:xfrm>
          <a:prstGeom prst="hexagon">
            <a:avLst/>
          </a:prstGeom>
          <a:solidFill>
            <a:srgbClr val="B8862B"/>
          </a:solidFill>
          <a:ln/>
        </p:spPr>
      </p:sp>
      <p:sp>
        <p:nvSpPr>
          <p:cNvPr id="17" name="match-hex-label"/>
          <p:cNvSpPr txBox="1"/>
          <p:nvPr/>
        </p:nvSpPr>
        <p:spPr>
          <a:xfrm>
            <a:off x="4297589" y="257661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491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Frozen sea water floating on the ocean</a:t>
            </a:r>
            <a:endParaRPr lang="en-US" sz="2200" dirty="0"/>
          </a:p>
        </p:txBody>
      </p:sp>
      <p:sp>
        <p:nvSpPr>
          <p:cNvPr id="19" name="match-card"/>
          <p:cNvSpPr/>
          <p:nvPr/>
        </p:nvSpPr>
        <p:spPr>
          <a:xfrm>
            <a:off x="777240" y="3108930"/>
            <a:ext cx="3081437" cy="890026"/>
          </a:xfrm>
          <a:prstGeom prst="roundRect">
            <a:avLst>
              <a:gd name="adj" fmla="val 8219"/>
            </a:avLst>
          </a:prstGeom>
          <a:solidFill>
            <a:srgbClr val="F3F5F3"/>
          </a:solidFill>
          <a:ln/>
        </p:spPr>
      </p:sp>
      <p:sp>
        <p:nvSpPr>
          <p:cNvPr id="20" name="match-hex"/>
          <p:cNvSpPr/>
          <p:nvPr/>
        </p:nvSpPr>
        <p:spPr>
          <a:xfrm>
            <a:off x="850392" y="3387650"/>
            <a:ext cx="384048" cy="332586"/>
          </a:xfrm>
          <a:prstGeom prst="hexagon">
            <a:avLst/>
          </a:prstGeom>
          <a:solidFill>
            <a:srgbClr val="3F6B4A"/>
          </a:solidFill>
          <a:ln/>
        </p:spPr>
      </p:sp>
      <p:sp>
        <p:nvSpPr>
          <p:cNvPr id="21" name="match-hex-label"/>
          <p:cNvSpPr txBox="1"/>
          <p:nvPr/>
        </p:nvSpPr>
        <p:spPr>
          <a:xfrm>
            <a:off x="850392" y="33876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08930"/>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Ice sheet</a:t>
            </a:r>
            <a:endParaRPr lang="en-US" sz="2200" dirty="0"/>
          </a:p>
        </p:txBody>
      </p:sp>
      <p:sp>
        <p:nvSpPr>
          <p:cNvPr id="23" name="match-card"/>
          <p:cNvSpPr/>
          <p:nvPr/>
        </p:nvSpPr>
        <p:spPr>
          <a:xfrm>
            <a:off x="4224437" y="3108930"/>
            <a:ext cx="7190019" cy="890026"/>
          </a:xfrm>
          <a:prstGeom prst="roundRect">
            <a:avLst>
              <a:gd name="adj" fmla="val 8219"/>
            </a:avLst>
          </a:prstGeom>
          <a:solidFill>
            <a:srgbClr val="F8F2E9"/>
          </a:solidFill>
          <a:ln/>
        </p:spPr>
      </p:sp>
      <p:sp>
        <p:nvSpPr>
          <p:cNvPr id="24" name="match-hex"/>
          <p:cNvSpPr/>
          <p:nvPr/>
        </p:nvSpPr>
        <p:spPr>
          <a:xfrm>
            <a:off x="4297589" y="3387650"/>
            <a:ext cx="384048" cy="332586"/>
          </a:xfrm>
          <a:prstGeom prst="hexagon">
            <a:avLst/>
          </a:prstGeom>
          <a:solidFill>
            <a:srgbClr val="B8862B"/>
          </a:solidFill>
          <a:ln/>
        </p:spPr>
      </p:sp>
      <p:sp>
        <p:nvSpPr>
          <p:cNvPr id="25" name="match-hex-label"/>
          <p:cNvSpPr txBox="1"/>
          <p:nvPr/>
        </p:nvSpPr>
        <p:spPr>
          <a:xfrm>
            <a:off x="4297589" y="338765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08930"/>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vast layer of ice that buries a whole land mass, such as Antarctica</a:t>
            </a:r>
            <a:endParaRPr lang="en-US" sz="2200" dirty="0"/>
          </a:p>
        </p:txBody>
      </p:sp>
      <p:sp>
        <p:nvSpPr>
          <p:cNvPr id="27" name="match-card"/>
          <p:cNvSpPr/>
          <p:nvPr/>
        </p:nvSpPr>
        <p:spPr>
          <a:xfrm>
            <a:off x="777240" y="4090396"/>
            <a:ext cx="3081437" cy="890026"/>
          </a:xfrm>
          <a:prstGeom prst="roundRect">
            <a:avLst>
              <a:gd name="adj" fmla="val 8219"/>
            </a:avLst>
          </a:prstGeom>
          <a:solidFill>
            <a:srgbClr val="F3F5F3"/>
          </a:solidFill>
          <a:ln/>
        </p:spPr>
      </p:sp>
      <p:sp>
        <p:nvSpPr>
          <p:cNvPr id="28" name="match-hex"/>
          <p:cNvSpPr/>
          <p:nvPr/>
        </p:nvSpPr>
        <p:spPr>
          <a:xfrm>
            <a:off x="850392" y="4369116"/>
            <a:ext cx="384048" cy="332586"/>
          </a:xfrm>
          <a:prstGeom prst="hexagon">
            <a:avLst/>
          </a:prstGeom>
          <a:solidFill>
            <a:srgbClr val="3F6B4A"/>
          </a:solidFill>
          <a:ln/>
        </p:spPr>
      </p:sp>
      <p:sp>
        <p:nvSpPr>
          <p:cNvPr id="29" name="match-hex-label"/>
          <p:cNvSpPr txBox="1"/>
          <p:nvPr/>
        </p:nvSpPr>
        <p:spPr>
          <a:xfrm>
            <a:off x="850392" y="43691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090396"/>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Sea ice</a:t>
            </a:r>
            <a:endParaRPr lang="en-US" sz="2200" dirty="0"/>
          </a:p>
        </p:txBody>
      </p:sp>
      <p:sp>
        <p:nvSpPr>
          <p:cNvPr id="31" name="match-card"/>
          <p:cNvSpPr/>
          <p:nvPr/>
        </p:nvSpPr>
        <p:spPr>
          <a:xfrm>
            <a:off x="4224437" y="4090396"/>
            <a:ext cx="7190019" cy="890026"/>
          </a:xfrm>
          <a:prstGeom prst="roundRect">
            <a:avLst>
              <a:gd name="adj" fmla="val 8219"/>
            </a:avLst>
          </a:prstGeom>
          <a:solidFill>
            <a:srgbClr val="F8F2E9"/>
          </a:solidFill>
          <a:ln/>
        </p:spPr>
      </p:sp>
      <p:sp>
        <p:nvSpPr>
          <p:cNvPr id="32" name="match-hex"/>
          <p:cNvSpPr/>
          <p:nvPr/>
        </p:nvSpPr>
        <p:spPr>
          <a:xfrm>
            <a:off x="4297589" y="4369116"/>
            <a:ext cx="384048" cy="332586"/>
          </a:xfrm>
          <a:prstGeom prst="hexagon">
            <a:avLst/>
          </a:prstGeom>
          <a:solidFill>
            <a:srgbClr val="B8862B"/>
          </a:solidFill>
          <a:ln/>
        </p:spPr>
      </p:sp>
      <p:sp>
        <p:nvSpPr>
          <p:cNvPr id="33" name="match-hex-label"/>
          <p:cNvSpPr txBox="1"/>
          <p:nvPr/>
        </p:nvSpPr>
        <p:spPr>
          <a:xfrm>
            <a:off x="4297589" y="436911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090396"/>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Any ice resting on land, including glaciers and ice sheets</a:t>
            </a:r>
            <a:endParaRPr lang="en-US" sz="2200" dirty="0"/>
          </a:p>
        </p:txBody>
      </p:sp>
      <p:sp>
        <p:nvSpPr>
          <p:cNvPr id="35" name="match-card"/>
          <p:cNvSpPr/>
          <p:nvPr/>
        </p:nvSpPr>
        <p:spPr>
          <a:xfrm>
            <a:off x="777240" y="5071862"/>
            <a:ext cx="3081437" cy="890026"/>
          </a:xfrm>
          <a:prstGeom prst="roundRect">
            <a:avLst>
              <a:gd name="adj" fmla="val 8219"/>
            </a:avLst>
          </a:prstGeom>
          <a:solidFill>
            <a:srgbClr val="F3F5F3"/>
          </a:solidFill>
          <a:ln/>
        </p:spPr>
      </p:sp>
      <p:sp>
        <p:nvSpPr>
          <p:cNvPr id="36" name="match-hex"/>
          <p:cNvSpPr/>
          <p:nvPr/>
        </p:nvSpPr>
        <p:spPr>
          <a:xfrm>
            <a:off x="850392" y="5350582"/>
            <a:ext cx="384048" cy="332586"/>
          </a:xfrm>
          <a:prstGeom prst="hexagon">
            <a:avLst/>
          </a:prstGeom>
          <a:solidFill>
            <a:srgbClr val="3F6B4A"/>
          </a:solidFill>
          <a:ln/>
        </p:spPr>
      </p:sp>
      <p:sp>
        <p:nvSpPr>
          <p:cNvPr id="37" name="match-hex-label"/>
          <p:cNvSpPr txBox="1"/>
          <p:nvPr/>
        </p:nvSpPr>
        <p:spPr>
          <a:xfrm>
            <a:off x="850392" y="53505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71862"/>
            <a:ext cx="2487077"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Land ice</a:t>
            </a:r>
            <a:endParaRPr lang="en-US" sz="2200" dirty="0"/>
          </a:p>
        </p:txBody>
      </p:sp>
      <p:sp>
        <p:nvSpPr>
          <p:cNvPr id="39" name="match-card"/>
          <p:cNvSpPr/>
          <p:nvPr/>
        </p:nvSpPr>
        <p:spPr>
          <a:xfrm>
            <a:off x="4224437" y="5071862"/>
            <a:ext cx="7190019" cy="890026"/>
          </a:xfrm>
          <a:prstGeom prst="roundRect">
            <a:avLst>
              <a:gd name="adj" fmla="val 8219"/>
            </a:avLst>
          </a:prstGeom>
          <a:solidFill>
            <a:srgbClr val="F8F2E9"/>
          </a:solidFill>
          <a:ln/>
        </p:spPr>
      </p:sp>
      <p:sp>
        <p:nvSpPr>
          <p:cNvPr id="40" name="match-hex"/>
          <p:cNvSpPr/>
          <p:nvPr/>
        </p:nvSpPr>
        <p:spPr>
          <a:xfrm>
            <a:off x="4297589" y="5350582"/>
            <a:ext cx="384048" cy="332586"/>
          </a:xfrm>
          <a:prstGeom prst="hexagon">
            <a:avLst/>
          </a:prstGeom>
          <a:solidFill>
            <a:srgbClr val="B8862B"/>
          </a:solidFill>
          <a:ln/>
        </p:spPr>
      </p:sp>
      <p:sp>
        <p:nvSpPr>
          <p:cNvPr id="41" name="match-hex-label"/>
          <p:cNvSpPr txBox="1"/>
          <p:nvPr/>
        </p:nvSpPr>
        <p:spPr>
          <a:xfrm>
            <a:off x="4297589" y="53505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071862"/>
            <a:ext cx="6595659" cy="89002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large mass of ice that flows slowly downhill under gravity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Four kinds of ice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kind of ice to its description.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names tell you where the ice is: land or sea. Match those first.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two left, one is the biggest kind of ice there is and buries whole continents.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other flows downhill like a very slow river.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a glacier is a kind of land ice, so land ice must be the wider group.</a:t>
            </a:r>
            <a:endParaRPr lang="en-US" sz="1800" dirty="0"/>
          </a:p>
        </p:txBody>
      </p:sp>
      <p:sp>
        <p:nvSpPr>
          <p:cNvPr id="17" name="col-Core"/>
          <p:cNvSpPr/>
          <p:nvPr/>
        </p:nvSpPr>
        <p:spPr>
          <a:xfrm>
            <a:off x="5490762" y="2578608"/>
            <a:ext cx="2938987" cy="3566160"/>
          </a:xfrm>
          <a:prstGeom prst="roundRect">
            <a:avLst>
              <a:gd name="adj" fmla="val 1867"/>
            </a:avLst>
          </a:prstGeom>
          <a:solidFill>
            <a:srgbClr val="D8E1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Where is the ice: on land or on the sea? Then: is it moving like a river, or sitting on a whole continent?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glacier counts as land ice but an iceberg that has broken off it does not.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melting ice raises the sea?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kind of melting ice makes sea level rise, and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Sea ice, because it is already floating in the sea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Land ice, because its meltwater runs off the land into the sea</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Neither, because melted ice turns into rain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Both equally, because all melting ice adds water to the sea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Which melting ice raises the sea?</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melting ice raises the sea?</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where the ice is before it melts: on land, or already floating in the sea?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Ice already floating in the sea is already part of the sea, so melting it changes little.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Ice on land is extra water that has not reached the sea yet. When it melts, it runs down to the sea.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the ice that raises sea level is the ice that starts on land.</a:t>
            </a:r>
            <a:endParaRPr lang="en-US" sz="1800" dirty="0"/>
          </a:p>
        </p:txBody>
      </p:sp>
      <p:sp>
        <p:nvSpPr>
          <p:cNvPr id="17" name="col-Core"/>
          <p:cNvSpPr/>
          <p:nvPr/>
        </p:nvSpPr>
        <p:spPr>
          <a:xfrm>
            <a:off x="5490762" y="2395728"/>
            <a:ext cx="2938987" cy="3749040"/>
          </a:xfrm>
          <a:prstGeom prst="roundRect">
            <a:avLst>
              <a:gd name="adj" fmla="val 1867"/>
            </a:avLst>
          </a:prstGeom>
          <a:solidFill>
            <a:srgbClr val="D8E1DA"/>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Is the ice already in the sea before it melts, or does its water have to travel down to the sea?</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scientists are more worried about the Antarctic and Greenland ice sheets than about Arctic sea ice when they think about sea level.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About what percentage of the surface of the Earth is covered by ice?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Four kinds of ice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Glacier  →  D  A large mass of ice that flows slowly downhill under gravity</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Ice sheet  →  B  A vast layer of ice that buries a whole land mass, such as Antarctica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Sea ice  →  A  Frozen sea water floating on the ocean</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Land ice  →  C  Any ice resting on land, including glaciers and ice sheets</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glacier flows slowly downhill under gravity. An ice sheet is the biggest kind of ice and covers a whole land mass. Sea ice is frozen sea water floating on the ocean. Land ice is the wider group: any ice on land, so glaciers and ice sheets both belong to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melting ice raises the sea?</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kind of melting ice makes sea level rise, and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Land ice, because its meltwater runs off the land into the sea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Sea ice is already floating in the ocean, so melting it adds almost nothing to sea level. Land ice, such as the Greenland and Antarctic ice sheets and mountain glaciers, is water held on land; when it melts, that water runs into the sea and sea level rises.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About what percentage of the surface of the Earth is covered by ice?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10 %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Ice covers about 10 per cent of the surface of the Earth, as glaciers, ice caps and ice sheets.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Glaciers and Landforms · Chapter 1: The Ice Age and where ice is found</dc:title>
  <dc:subject>Geography · Year 8</dc:subject>
  <dc:creator>Dr Vitor Merissi de Carvalho</dc:creator>
  <cp:lastModifiedBy>Dr Vitor Merissi de Carvalho</cp:lastModifiedBy>
  <cp:revision>1</cp:revision>
  <dcterms:created xsi:type="dcterms:W3CDTF">2026-10-19T16:22:50Z</dcterms:created>
  <dcterms:modified xsi:type="dcterms:W3CDTF">2026-10-19T16:22:50Z</dcterms:modified>
</cp:coreProperties>
</file>