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af265df-4803-bfe3-5674-18c44eb9c67a}">
          <p14:sldIdLst>
            <p14:sldId id="256"/>
          </p14:sldIdLst>
        </p14:section>
        <p14:section name="Gate" id="{06443064-cc70-f53b-ced7-2542e95adf9d}">
          <p14:sldIdLst>
            <p14:sldId id="257"/>
            <p14:sldId id="258"/>
          </p14:sldIdLst>
        </p14:section>
        <p14:section name="Pre-teach" id="{99860780-9358-c3f9-c095-20a1b2b141ba}">
          <p14:sldIdLst>
            <p14:sldId id="259"/>
            <p14:sldId id="260"/>
          </p14:sldIdLst>
        </p14:section>
        <p14:section name="Read-along" id="{ab59af58-3005-b08e-45e2-8ec872516a03}">
          <p14:sldIdLst>
            <p14:sldId id="261"/>
            <p14:sldId id="262"/>
          </p14:sldIdLst>
        </p14:section>
        <p14:section name="Teach" id="{858a04fb-6e0c-4b52-76ef-9d496346b891}">
          <p14:sldIdLst>
            <p14:sldId id="263"/>
            <p14:sldId id="264"/>
            <p14:sldId id="265"/>
            <p14:sldId id="266"/>
            <p14:sldId id="267"/>
          </p14:sldIdLst>
        </p14:section>
        <p14:section name="Routes" id="{5cf0c7e2-a15d-0a4a-1d9a-810f4093bbf5}">
          <p14:sldIdLst>
            <p14:sldId id="268"/>
            <p14:sldId id="269"/>
            <p14:sldId id="270"/>
            <p14:sldId id="271"/>
          </p14:sldIdLst>
        </p14:section>
        <p14:section name="Close" id="{6685fbf9-5d8b-4d5c-4f2a-98577ee97a5d}">
          <p14:sldIdLst>
            <p14:sldId id="272"/>
          </p14:sldIdLst>
        </p14:section>
        <p14:section name="Answers" id="{7c980c63-b0b0-1c62-1992-1f741c50fdb9}">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Glaciers and people. How people use glaciers and glaciated landscapes, what the difference between advance and retreat really means, and how climate change is tipping the glacial budget towards retreat.
This deck covers the department's lessons: 9 (Human uses of glaciers and glacial landscapes: How do people use glaciers and glaciated landscapes?); 10 (Human impacts on glaciers: climate change and the glacial budget: How is climate change affecting the glacial budget, what is the evidence, and why should we worry?).
Read the big question aloud: "How does ice shape the land, and what happens to the landscape and to people when glaciers grow or shrink?"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 glacier is retreating. What does this mean?  →  A   Its snout is moving back up the valley because the glacier is shrinking
2. If ablation is greater than accumulation, the glacier will ___.  →  retreat
3. Which of these is evidence that a glacier is retreating?  →  B   Its snout is further up the valley than in old photographs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Its snout is moving back up the valley because the glacier is shrinking. Retreat means the glacier is losing more ice by ablation than it gains by accumulation, so it shrinks and its snout moves back up the valley.
2. retreat. Ablation is loss by melting. When more is lost than is added, the glacier shrinks and its snout moves back: a retreat.
3. B   Its snout is further up the valley than in old photographs. Comparing the position of the snout now with old photographs or maps shows whether the glacier has shrunk. A snout further up the valley means retreat.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glaciated: shaped by glaciers in the past. Example: "The Scottish Highlands are a glaciated landscape."
• land use: what people use an area of land for. Example: "Farming and tourism are two kinds of land use in a glaciated valley."
• climate change: a long-term change in the Earth's weather patterns, now mainly warming. Example: "Climate change is making glaciers melt faster."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fossil fuels: coal, oil and gas, which release warming gases when burned. Example: "Burning fossil fuels is the main human cause of climate change."
• evidence: facts that show something is true. Example: "Old photographs are evidence that the glacier has retreated."
• retreat: a glacier shrinking, so that its snout moves back up the valley. Example: "Most of the world's glaciers are in retreat."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Today the UK has no glaciers, but it has glaciated landscapes.
2. People use these landscapes in many ways.
3. Visitors come to walk, climb and enjoy the views.
4. Farmers graze animals on the valley floors and hillsides.
5. Water collects in the deep valleys and can be stored and used.
6. Glaciers in other parts of the world are used by people too.
7. But glaciers are changing.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Burning fossil fuels releases gases that warm the planet.
9. This is climate change.
10. Warmer summers mean more ablation, so glaciers lose more ice than they gain.
11. Most glaciers are now retreating.
12. Old photographs show snouts that were once much further down the valley.
13. Melting land ice adds water to the sea, so sea level rises.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Using glaciated landscapes. Say it in your own words, then check understanding with a quick question: ask a pupil from the pre-teach group first, since they met these words and ideas before the lesson. Pupils try to recall before you re-explain.
The deck asks a question and hands it to you: what different ways could a glaciated valley be used by humans? Your answer is a spider diagram, and this section helps you build it. A glaciated valley has a wide, flat floor, steep sides, lakes and tarns, fast streams and dramatic views. Each of those features invites a different land use.
Think in groups. People visit: walkers, climbers and skiers come for the mountains, the lakes and the scenery, and the villages that serve them earn money from tourism. People farm: the flat valley floor and the lower slopes are grazed by sheep and cattle, because the land is too steep and wet for crops. People use the water: the deep valleys and lakes hold rain and meltwater, which can be stored behind dams for drinking water and used to turn turbines for electricity. People build: roads and railways follow the flat valley floors, and settlements sit on the dry land above the floodplain.
In the Alps and the Himalayas, where glaciers still exist, the ice itself is a resource: the meltwater feeds rivers that millions of people depend on, and the glaciers draw climbers and tourists. Add any other uses you can think of to your spider diagram, as the deck's stretch task asks.
Tip: Four headings for your spider diagram: visit, farm, water, build. Give an example under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Advance and retreat. Say it in your own words, then check understanding with a quick question: ask a pupil from the pre-teach group first, since they met these words and ideas before the lesson. Pupils try to recall before you re-explain.
Chapter 2 introduced the glacier budget. Now put it to work. As precipitation adds snow to the top of a glacier, in the zone of accumulation, the glacier gains mass. If this accumulation is greater than the melting in the zone of ablation, the glacier's total volume grows. It gets thicker and longer, and its snout pushes further down the valley than before. This is an advance.
If the glacier melts faster in the zone of ablation than snow is added in the zone of accumulation, its total volume shrinks. The glacier gets thinner and shorter, and its snout moves back up the valley. This is a retreat. Notice that the ice inside a retreating glacier is still flowing downhill; it is the snout that moves back, because the ice melts before it can get as far as it used to.
A glacier can also be in balance, with accumulation equal to ablation, so that the snout stays in the same place year after year while the ice keeps flowing through.
Worked example — model it step by step, thinking aloud: Describe the difference between glacier advance and glacier retreat. Use the key words accumulation and ablation in your answer. (4 marks) (1) Define the two key words first: accumulation is snow being added; ablation is ice being lost by melting. (2) Advance: accumulation is greater than ablation, so the glacier grows and its snout moves down the valley. (3) Retreat: ablation is greater than accumulation, so the glacier shrinks and its snout moves back up the valley. (4) Both terms used correctly and both directions of the snout given earns the four marks. Answer: Accumulation is snow being added to a glacier and ablation is ice being lost by melting. When accumulation is greater than ablation the glacier grows and its snout moves further down the valley, which is an advance. When ablation is greater than accumulation the glacier shrinks and its snout moves back up the valley, which is a retreat..
Tip: Advance: snout goes down the valley. Retreat: snout comes back up. Always say which is bigger, accumulation or ablation.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Advance and retreat. Say it in your own words, then check understanding with a quick question: ask a pupil from the pre-teach group first, since they met these words and ideas before the lesson. Pupils try to recall before you re-explain.
Chapter 2 introduced the glacier budget. Now put it to work. As precipitation adds snow to the top of a glacier, in the zone of accumulation, the glacier gains mass. If this accumulation is greater than the melting in the zone of ablation, the glacier's total volume grows. It gets thicker and longer, and its snout pushes further down the valley than before. This is an advance.
If the glacier melts faster in the zone of ablation than snow is added in the zone of accumulation, its total volume shrinks. The glacier gets thinner and shorter, and its snout moves back up the valley. This is a retreat. Notice that the ice inside a retreating glacier is still flowing downhill; it is the snout that moves back, because the ice melts before it can get as far as it used to.
A glacier can also be in balance, with accumulation equal to ablation, so that the snout stays in the same place year after year while the ice keeps flowing through.
Worked example — model it step by step, thinking aloud: Describe the difference between glacier advance and glacier retreat. Use the key words accumulation and ablation in your answer. (4 marks) (1) Define the two key words first: accumulation is snow being added; ablation is ice being lost by melting. (2) Advance: accumulation is greater than ablation, so the glacier grows and its snout moves down the valley. (3) Retreat: ablation is greater than accumulation, so the glacier shrinks and its snout moves back up the valley. (4) Both terms used correctly and both directions of the snout given earns the four marks. Answer: Accumulation is snow being added to a glacier and ablation is ice being lost by melting. When accumulation is greater than ablation the glacier grows and its snout moves further down the valley, which is an advance. When ablation is greater than accumulation the glacier shrinks and its snout moves back up the valley, which is a retreat..
Tip: Advance: snout goes down the valley. Retreat: snout comes back up. Always say which is bigger, accumulation or ablation.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Advance and retreat. Say it in your own words, then check understanding with a quick question: ask a pupil from the pre-teach group first, since they met these words and ideas before the lesson. Pupils try to recall before you re-explain.
Chapter 2 introduced the glacier budget. Now put it to work. As precipitation adds snow to the top of a glacier, in the zone of accumulation, the glacier gains mass. If this accumulation is greater than the melting in the zone of ablation, the glacier's total volume grows. It gets thicker and longer, and its snout pushes further down the valley than before. This is an advance.
If the glacier melts faster in the zone of ablation than snow is added in the zone of accumulation, its total volume shrinks. The glacier gets thinner and shorter, and its snout moves back up the valley. This is a retreat. Notice that the ice inside a retreating glacier is still flowing downhill; it is the snout that moves back, because the ice melts before it can get as far as it used to.
A glacier can also be in balance, with accumulation equal to ablation, so that the snout stays in the same place year after year while the ice keeps flowing through.
Worked example — model it step by step, thinking aloud: Describe the difference between glacier advance and glacier retreat. Use the key words accumulation and ablation in your answer. (4 marks) (1) Define the two key words first: accumulation is snow being added; ablation is ice being lost by melting. (2) Advance: accumulation is greater than ablation, so the glacier grows and its snout moves down the valley. (3) Retreat: ablation is greater than accumulation, so the glacier shrinks and its snout moves back up the valley. (4) Both terms used correctly and both directions of the snout given earns the four marks. Answer: Accumulation is snow being added to a glacier and ablation is ice being lost by melting. When accumulation is greater than ablation the glacier grows and its snout moves further down the valley, which is an advance. When ablation is greater than accumulation the glacier shrinks and its snout moves back up the valley, which is a retreat..
Tip: Advance: snout goes down the valley. Retreat: snout comes back up. Always say which is bigger, accumulation or ablation.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Climate change and the glacial budget. Say it in your own words, then check understanding with a quick question: ask a pupil from the pre-teach group first, since they met these words and ideas before the lesson. Pupils try to recall before you re-explain.
The deck's final task is a newspaper article about climate change and the glacial budget, and it gives you three questions to answer. First, what are humans doing that is causing climate change? Burning fossil fuels, coal, oil and gas, in power stations, factories, cars and planes releases carbon dioxide and other gases into the air. These gases trap heat, like a blanket round the planet, so the Earth's average temperature is rising. Cutting down forests makes it worse, because trees take carbon dioxide out of the air.
Second, what is the evidence that climate change is happening? Glaciers are some of the clearest evidence. Old photographs and maps show glacier snouts far down valleys that are now bare rock; the ice has retreated hundreds of metres or more in a lifetime. Temperature records show warmer summers, which means more ablation. With more melting and no extra snow, ablation is greater than accumulation, the budget is in deficit, and most of the world's glaciers are shrinking.
Third, why should we worry? Glaciers are land ice, so when they melt, the water runs down to the sea and sea level rises, threatening low-lying coasts and cities. Millions of people in Asia depend on rivers fed by Himalayan glacier meltwater; smaller glaciers mean less reliable water. And the landscapes, wildlife and tourism that depend on ice are changing too. Your article should answer all three questions, with evidence for each.
Tip: Three questions for the article: what humans are doing, what the evidence is, why we should worry. Use accumulation and ablation when you explain the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What will happen to this glacier?.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glacier has had several warm summers with a great deal of melting, while its winter snowfall has stayed the same. What will happen to it?
Support — work through the steps with the group: (1) Write the two sides of the budget: accumulation (snow added) and ablation (ice melted). (2) Which side has changed? Snowfall is the same, so accumulation is unchanged. Melting has increased, so ablation has gone up. (3) Ablation is now greater than accumulation. (4) More lost than gained means the glacier shrinks, and a shrinking glacier retreats.
Parallel worked example for Support (model it, do not give the task answer): A glacier has had several very snowy winters, while its summers have stayed as cool as before. What will happen to it? Accumulation has gone up; ablation is unchanged.; Accumulation is now greater than ablation.; The glacier gains more than it loses, so it grows and advances.. Answer: Accumulation is greater than ablation, so it will grow and advance..
Core — reveal the hint only on request: Only one side of the budget changed. Which one, and which way?
Stretch — no help; when finished: Explain why a glacier can keep flowing downhill while it is retreating.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What will happen to this glacier?.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glacier has had several warm summers with a great deal of melting, while its winter snowfall has stayed the same. What will happen to it?
Support — work through the steps with the group: (1) Write the two sides of the budget: accumulation (snow added) and ablation (ice melted). (2) Which side has changed? Snowfall is the same, so accumulation is unchanged. Melting has increased, so ablation has gone up. (3) Ablation is now greater than accumulation. (4) More lost than gained means the glacier shrinks, and a shrinking glacier retreats.
Parallel worked example for Support (model it, do not give the task answer): A glacier has had several very snowy winters, while its summers have stayed as cool as before. What will happen to it? Accumulation has gone up; ablation is unchanged.; Accumulation is now greater than ablation.; The glacier gains more than it loses, so it grows and advances.. Answer: Accumulation is greater than ablation, so it will grow and advance..
Core — reveal the hint only on request: Only one side of the budget changed. Which one, and which way?
Stretch — no help; when finished: Explain why a glacier can keep flowing downhill while it is retreating.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Four budget words.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glacier budget word to its meaning.
Support — work through the steps with the group: (1) Two of the words are about ice coming and going; two are about the glacier getting bigger or smaller. Sort them into those pairs first. (2) Accumulate means pile up, so accumulation is snow being added. (3) Ablation is the other one: ice being lost by melting. (4) Advance means move forward (down the valley); retreat means move back (up the valley).
Parallel worked example for Support (model it, do not give the task answer): Match: zone of accumulation, zone of ablation. Choices: the lower part of a glacier, where melting is greatest; the upper part of a glacier, where snow is added. Accumulation is adding, which happens at the top.; Ablation is melting, which happens at the bottom.. Answer: Zone of accumulation: the upper part, where snow is added. Zone of ablation: the lower part, where melting is greatest..
Core — reveal the hint only on request: Add, lose, grow, shrink. Pair each word with a season and a direction.
Stretch — no help; when finished: Explain how a glacier can be in balance, with its snout staying in the same place, even though ice is flowing through it all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Four budget words.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glacier budget word to its meaning.
Support — work through the steps with the group: (1) Two of the words are about ice coming and going; two are about the glacier getting bigger or smaller. Sort them into those pairs first. (2) Accumulate means pile up, so accumulation is snow being added. (3) Ablation is the other one: ice being lost by melting. (4) Advance means move forward (down the valley); retreat means move back (up the valley).
Parallel worked example for Support (model it, do not give the task answer): Match: zone of accumulation, zone of ablation. Choices: the lower part of a glacier, where melting is greatest; the upper part of a glacier, where snow is added. Accumulation is adding, which happens at the top.; Ablation is melting, which happens at the bottom.. Answer: Zone of accumulation: the upper part, where snow is added. Zone of ablation: the lower part, where melting is greatest..
Core — reveal the hint only on request: Add, lose, grow, shrink. Pair each word with a season and a direction.
Stretch — no help; when finished: Explain how a glacier can be in balance, with its snout staying in the same place, even though ice is flowing through it all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glacier is retreating. What does this mean?
Answer: D   Its snout is moving back up the valley because the glacier is shrinking. Retreat means the glacier is losing more ice by ablation than it gains by accumulation, so it shrinks and its snout moves back up the valley.
Source of this question: gate item 1 re-asked (options rotated) — this chapter has no third quick-check module.
The ebook also holds task 3, "Front page: the shrinking glaciers",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What will happen to this glacier?. Reveal the answer; pupils mark their own work in a different colour, then read the "why" together. Same destination for every lane, so one answer serves the whole class.
Answer: A   Ablation is greater than accumulation, so it will shrink and retreat
Why: Winter snowfall is unchanged, so accumulation is the same, but hotter summers mean more melting, so ablation has increased. Ablation is now greater than accumulation; the glacier loses more than it gains, shrinks, and its snout retreats up the valley.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Four budget words. Reveal the answer; pupils mark their own work in a different colour, then read the "why" together. Same destination for every lane, so one answer serves the whole class.
Answer: Accumulation  →  B  Snow added to the glacier, mostly near the top in winter; Ablation  →  A  Ice lost by melting, mostly near the snout in summer; Advance  →  D  The glacier grows and its snout moves further down the valley; Retreat  →  C  The glacier shrinks and its snout moves back up the valley
Why: Accumulation is snow added at the top in winter; ablation is ice melted near the snout in summer. If accumulation wins the glacier advances, its snout moving down the valley; if ablation wins it retreats, its snout moving back up.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Its snout is moving back up the valley because the glacier is shrinking
Why: Retreat means the glacier is losing more ice by ablation than it gains by accumulation, so it shrinks and its snout moves back up the valley.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Glaciers and Landforms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Glaciers and Landforms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4DE"/>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Glaciers and Landforms · AQA KS3 → 8035</a:t>
            </a:r>
            <a:endParaRPr lang="en-US" sz="1800" dirty="0"/>
          </a:p>
        </p:txBody>
      </p:sp>
      <p:sp>
        <p:nvSpPr>
          <p:cNvPr id="10" name="deck-title"/>
          <p:cNvSpPr txBox="1"/>
          <p:nvPr/>
        </p:nvSpPr>
        <p:spPr>
          <a:xfrm>
            <a:off x="548640" y="223951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Glaciers and people</a:t>
            </a:r>
            <a:endParaRPr lang="en-US" sz="4000" dirty="0"/>
          </a:p>
        </p:txBody>
      </p:sp>
      <p:sp>
        <p:nvSpPr>
          <p:cNvPr id="11" name="lessons-card"/>
          <p:cNvSpPr/>
          <p:nvPr/>
        </p:nvSpPr>
        <p:spPr>
          <a:xfrm>
            <a:off x="548640" y="3255518"/>
            <a:ext cx="5287975" cy="1948180"/>
          </a:xfrm>
          <a:prstGeom prst="roundRect">
            <a:avLst>
              <a:gd name="adj" fmla="val 3755"/>
            </a:avLst>
          </a:prstGeom>
          <a:solidFill>
            <a:srgbClr val="EFF2F0"/>
          </a:solidFill>
          <a:ln/>
        </p:spPr>
      </p:sp>
      <p:sp>
        <p:nvSpPr>
          <p:cNvPr id="12" name="lessons"/>
          <p:cNvSpPr txBox="1"/>
          <p:nvPr/>
        </p:nvSpPr>
        <p:spPr>
          <a:xfrm>
            <a:off x="685800" y="3346958"/>
            <a:ext cx="5013655" cy="17653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9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Human uses of glaciers and glacial landscapes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10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Human impacts on glaciers: climate change and the glacial budget</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F2F0"/>
          </a:solidFill>
          <a:ln w="12700">
            <a:solidFill>
              <a:srgbClr val="B5C6B9"/>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ice shape the land, and what happens to the landscape and to people when glaciers grow or shrink?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A glacier is retreating. What does this mean?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Its snout is moving back up the valley because the glacier is shrinking</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Its ice is getting thicker at the top</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It is gaining more snow than it loses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It is flowing downhill faster than before</a:t>
            </a:r>
            <a:endParaRPr lang="en-US" sz="1800" dirty="0"/>
          </a:p>
        </p:txBody>
      </p:sp>
      <p:sp>
        <p:nvSpPr>
          <p:cNvPr id="12" name="card"/>
          <p:cNvSpPr/>
          <p:nvPr/>
        </p:nvSpPr>
        <p:spPr>
          <a:xfrm>
            <a:off x="4777626" y="1389888"/>
            <a:ext cx="2636444" cy="4754880"/>
          </a:xfrm>
          <a:prstGeom prst="roundRect">
            <a:avLst>
              <a:gd name="adj" fmla="val 2081"/>
            </a:avLst>
          </a:prstGeom>
          <a:solidFill>
            <a:srgbClr val="F4F7F5"/>
          </a:solidFill>
          <a:ln w="12700">
            <a:solidFill>
              <a:srgbClr val="BFCDC2"/>
            </a:solidFill>
            <a:prstDash val="solid"/>
          </a:ln>
        </p:spPr>
      </p:sp>
      <p:sp>
        <p:nvSpPr>
          <p:cNvPr id="13" name="card-hex"/>
          <p:cNvSpPr/>
          <p:nvPr/>
        </p:nvSpPr>
        <p:spPr>
          <a:xfrm>
            <a:off x="4960506" y="1572768"/>
            <a:ext cx="640080" cy="554309"/>
          </a:xfrm>
          <a:prstGeom prst="hexagon">
            <a:avLst/>
          </a:prstGeom>
          <a:solidFill>
            <a:srgbClr val="3F6B4A"/>
          </a:solidFill>
          <a:ln/>
        </p:spPr>
      </p:sp>
      <p:sp>
        <p:nvSpPr>
          <p:cNvPr id="14"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960506"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If ablation is greater than accumulation, the glacier will ___.</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retreat  ·  advance  ·  speed up</a:t>
            </a:r>
            <a:endParaRPr lang="en-US" sz="2200" dirty="0"/>
          </a:p>
        </p:txBody>
      </p:sp>
      <p:sp>
        <p:nvSpPr>
          <p:cNvPr id="17" name="card"/>
          <p:cNvSpPr/>
          <p:nvPr/>
        </p:nvSpPr>
        <p:spPr>
          <a:xfrm>
            <a:off x="7688389" y="1389888"/>
            <a:ext cx="3954666" cy="4754880"/>
          </a:xfrm>
          <a:prstGeom prst="roundRect">
            <a:avLst>
              <a:gd name="adj" fmla="val 1387"/>
            </a:avLst>
          </a:prstGeom>
          <a:solidFill>
            <a:srgbClr val="F4F7F5"/>
          </a:solidFill>
          <a:ln w="12700">
            <a:solidFill>
              <a:srgbClr val="BFCDC2"/>
            </a:solidFill>
            <a:prstDash val="solid"/>
          </a:ln>
        </p:spPr>
      </p:sp>
      <p:sp>
        <p:nvSpPr>
          <p:cNvPr id="18" name="card-hex"/>
          <p:cNvSpPr/>
          <p:nvPr/>
        </p:nvSpPr>
        <p:spPr>
          <a:xfrm>
            <a:off x="7871269" y="1572768"/>
            <a:ext cx="640080" cy="554309"/>
          </a:xfrm>
          <a:prstGeom prst="hexagon">
            <a:avLst/>
          </a:prstGeom>
          <a:solidFill>
            <a:srgbClr val="3F6B4A"/>
          </a:solidFill>
          <a:ln/>
        </p:spPr>
      </p:sp>
      <p:sp>
        <p:nvSpPr>
          <p:cNvPr id="19"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7871269"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of these is evidence that a glacier is retreating?</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It is flowing slowly downhill under gravity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Its snout is further up the valley than in old photographs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It has a medial moraine down its middle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Its surface is covered in fresh snow after a storm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588906" cy="1295908"/>
          </a:xfrm>
          <a:prstGeom prst="roundRect">
            <a:avLst>
              <a:gd name="adj" fmla="val 8467"/>
            </a:avLst>
          </a:prstGeom>
          <a:solidFill>
            <a:srgbClr val="EEE3CD"/>
          </a:solidFill>
          <a:ln w="19050">
            <a:solidFill>
              <a:srgbClr val="B8862B"/>
            </a:solidFill>
            <a:prstDash val="solid"/>
          </a:ln>
        </p:spPr>
      </p:sp>
      <p:sp>
        <p:nvSpPr>
          <p:cNvPr id="12" name="answer"/>
          <p:cNvSpPr txBox="1"/>
          <p:nvPr/>
        </p:nvSpPr>
        <p:spPr>
          <a:xfrm>
            <a:off x="822960" y="2428829"/>
            <a:ext cx="3406026"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Its snout is moving back up the valley because the glacier is shrinking</a:t>
            </a:r>
            <a:endParaRPr lang="en-US" sz="2200" dirty="0"/>
          </a:p>
        </p:txBody>
      </p:sp>
      <p:sp>
        <p:nvSpPr>
          <p:cNvPr id="13" name="card-body"/>
          <p:cNvSpPr txBox="1"/>
          <p:nvPr/>
        </p:nvSpPr>
        <p:spPr>
          <a:xfrm>
            <a:off x="731520" y="3834465"/>
            <a:ext cx="3588906" cy="2173143"/>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glacier is retreating. What does this mean?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Retreat means the glacier is losing more ice by ablation than it gains by accumulation, so it shrinks and its snout moves back up the valley.</a:t>
            </a:r>
            <a:endParaRPr lang="en-US" sz="1800" dirty="0"/>
          </a:p>
        </p:txBody>
      </p:sp>
      <p:sp>
        <p:nvSpPr>
          <p:cNvPr id="14" name="card"/>
          <p:cNvSpPr/>
          <p:nvPr/>
        </p:nvSpPr>
        <p:spPr>
          <a:xfrm>
            <a:off x="4777626" y="1389888"/>
            <a:ext cx="2636444" cy="4754880"/>
          </a:xfrm>
          <a:prstGeom prst="roundRect">
            <a:avLst>
              <a:gd name="adj" fmla="val 2081"/>
            </a:avLst>
          </a:prstGeom>
          <a:solidFill>
            <a:srgbClr val="F4F7F5"/>
          </a:solidFill>
          <a:ln w="12700">
            <a:solidFill>
              <a:srgbClr val="BFCDC2"/>
            </a:solidFill>
            <a:prstDash val="solid"/>
          </a:ln>
        </p:spPr>
      </p:sp>
      <p:sp>
        <p:nvSpPr>
          <p:cNvPr id="15" name="card-hex"/>
          <p:cNvSpPr/>
          <p:nvPr/>
        </p:nvSpPr>
        <p:spPr>
          <a:xfrm>
            <a:off x="4960506" y="1572768"/>
            <a:ext cx="640080" cy="554309"/>
          </a:xfrm>
          <a:prstGeom prst="hexagon">
            <a:avLst/>
          </a:prstGeom>
          <a:solidFill>
            <a:srgbClr val="3F6B4A"/>
          </a:solidFill>
          <a:ln/>
        </p:spPr>
      </p:sp>
      <p:sp>
        <p:nvSpPr>
          <p:cNvPr id="16"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960506" y="2355677"/>
            <a:ext cx="2270684"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5051946"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retreat</a:t>
            </a:r>
            <a:endParaRPr lang="en-US" sz="2200" dirty="0"/>
          </a:p>
        </p:txBody>
      </p:sp>
      <p:sp>
        <p:nvSpPr>
          <p:cNvPr id="20" name="card-body"/>
          <p:cNvSpPr txBox="1"/>
          <p:nvPr/>
        </p:nvSpPr>
        <p:spPr>
          <a:xfrm>
            <a:off x="4960506"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If ablation is greater than accumulation, the glacier will ___.</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Ablation is loss by melting. When more is lost than is added, the glacier shrinks and its snout moves back: a retreat.</a:t>
            </a:r>
            <a:endParaRPr lang="en-US" sz="1800" dirty="0"/>
          </a:p>
        </p:txBody>
      </p:sp>
      <p:sp>
        <p:nvSpPr>
          <p:cNvPr id="21" name="card"/>
          <p:cNvSpPr/>
          <p:nvPr/>
        </p:nvSpPr>
        <p:spPr>
          <a:xfrm>
            <a:off x="7688389" y="1389888"/>
            <a:ext cx="3954666" cy="4754880"/>
          </a:xfrm>
          <a:prstGeom prst="roundRect">
            <a:avLst>
              <a:gd name="adj" fmla="val 1387"/>
            </a:avLst>
          </a:prstGeom>
          <a:solidFill>
            <a:srgbClr val="F4F7F5"/>
          </a:solidFill>
          <a:ln w="12700">
            <a:solidFill>
              <a:srgbClr val="BFCDC2"/>
            </a:solidFill>
            <a:prstDash val="solid"/>
          </a:ln>
        </p:spPr>
      </p:sp>
      <p:sp>
        <p:nvSpPr>
          <p:cNvPr id="22" name="card-hex"/>
          <p:cNvSpPr/>
          <p:nvPr/>
        </p:nvSpPr>
        <p:spPr>
          <a:xfrm>
            <a:off x="7871269" y="1572768"/>
            <a:ext cx="640080" cy="554309"/>
          </a:xfrm>
          <a:prstGeom prst="hexagon">
            <a:avLst/>
          </a:prstGeom>
          <a:solidFill>
            <a:srgbClr val="3F6B4A"/>
          </a:solidFill>
          <a:ln/>
        </p:spPr>
      </p:sp>
      <p:sp>
        <p:nvSpPr>
          <p:cNvPr id="23"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7871269" y="2355677"/>
            <a:ext cx="3588906" cy="1295908"/>
          </a:xfrm>
          <a:prstGeom prst="roundRect">
            <a:avLst>
              <a:gd name="adj" fmla="val 8467"/>
            </a:avLst>
          </a:prstGeom>
          <a:solidFill>
            <a:srgbClr val="EEE3CD"/>
          </a:solidFill>
          <a:ln w="19050">
            <a:solidFill>
              <a:srgbClr val="B8862B"/>
            </a:solidFill>
            <a:prstDash val="solid"/>
          </a:ln>
        </p:spPr>
      </p:sp>
      <p:sp>
        <p:nvSpPr>
          <p:cNvPr id="26" name="answer"/>
          <p:cNvSpPr txBox="1"/>
          <p:nvPr/>
        </p:nvSpPr>
        <p:spPr>
          <a:xfrm>
            <a:off x="7962709" y="2428829"/>
            <a:ext cx="3406026"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Its snout is further up the valley than in old photographs</a:t>
            </a:r>
            <a:endParaRPr lang="en-US" sz="2200" dirty="0"/>
          </a:p>
        </p:txBody>
      </p:sp>
      <p:sp>
        <p:nvSpPr>
          <p:cNvPr id="27" name="card-body"/>
          <p:cNvSpPr txBox="1"/>
          <p:nvPr/>
        </p:nvSpPr>
        <p:spPr>
          <a:xfrm>
            <a:off x="7871269" y="3834465"/>
            <a:ext cx="3588906"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Comparing the position of the snout now with old photographs or maps shows whether the glacier has shrunk. A snout further up the valley means retreat.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glaciated</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shaped by glaciers in the past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Scottish Highlands are a glaciated landscape.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land use</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what people use an area of land for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Farming and tourism are two kinds of land use in a glaciated valley.</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climate change</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long-term change in the Earth's weather patterns, now mainly warming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Climate change is making glaciers melt faster.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fossil fuels</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coal, oil and gas, which release warming gases when burned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Burning fossil fuels is the main human cause of climate change.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evidence</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facts that show something is true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Old photographs are evidence that the glacier has retreated.</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retreat</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glacier shrinking, so that its snout moves back up the valley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Most of the world's glaciers are in retreat.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Today the UK has no glaciers, but it has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glaciated</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landscapes.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People use these landscapes in many ways.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Visitors come to walk, climb and enjoy the views.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Farmers graze animals on the valley floors and hillsides.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Water collects in the deep valleys and can be stored and used.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Glaciers in other parts of the world are used by people too.</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But glaciers are changing.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Burning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fossil fuels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releases gases that warm the planet.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is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climate change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Warmer summers mean more ablation, so glaciers lose more ice than they gain.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Most glaciers are now retreating.</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Old photographs show snouts that were once much further down the valley.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Melting land ice adds water to the sea, so sea level rises.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Using glaciated landscapes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Four headings for your spider diagram: visit, farm, water, build. Give an example under each.</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deck asks a question and hands it to you: what different ways could a glaciated valley be used by humans?</a:t>
            </a:r>
            <a:endParaRPr lang="en-US" sz="20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Think in groups. People visit: walkers, climbers and skiers come for the mountains, the lakes and the scenery, and the villages that serve them earn money from tourism.</a:t>
            </a:r>
            <a:endParaRPr lang="en-US" sz="20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In the Alps and the Himalayas, where glaciers still exist, the ice itself is a resource: the meltwater feeds rivers that millions of people depend on, and the glaciers draw climbers and tourists.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Advance and retreat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Advance: snout goes down the valley. Retreat: snout comes back up. Always say which is bigger, accumulation or ablation.</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Chapter 2 introduced the glacier budget. Now put it to work.</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If the glacier melts faster in the zone of ablation than snow is added in the zone of accumulation, its total volume shrinks.</a:t>
            </a:r>
            <a:endParaRPr lang="en-US" sz="2000" dirty="0"/>
          </a:p>
        </p:txBody>
      </p:sp>
      <p:sp>
        <p:nvSpPr>
          <p:cNvPr id="19" name="point-card"/>
          <p:cNvSpPr/>
          <p:nvPr/>
        </p:nvSpPr>
        <p:spPr>
          <a:xfrm>
            <a:off x="8127797" y="1389888"/>
            <a:ext cx="3515258" cy="3686048"/>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 glacier can also be in balance, with accumulation equal to ablation, so that the snout stays in the same place year after year while the ice keeps flowing through.</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(1 of 2): Advance and retreat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FF2F0"/>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Describe the difference between glacier advance and glacier retreat. Use the key words accumulation and ablation in your answer. (4 marks)</a:t>
            </a:r>
            <a:endParaRPr lang="en-US" sz="2200" dirty="0"/>
          </a:p>
        </p:txBody>
      </p:sp>
      <p:sp>
        <p:nvSpPr>
          <p:cNvPr id="9" name="step-box"/>
          <p:cNvSpPr/>
          <p:nvPr/>
        </p:nvSpPr>
        <p:spPr>
          <a:xfrm>
            <a:off x="548640" y="2655824"/>
            <a:ext cx="5341468" cy="1695196"/>
          </a:xfrm>
          <a:prstGeom prst="roundRect">
            <a:avLst>
              <a:gd name="adj" fmla="val 4315"/>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Define the two key words first: accumulation is snow being added; ablation is ice being lost by melting.</a:t>
            </a:r>
            <a:endParaRPr lang="en-US" sz="1800" dirty="0"/>
          </a:p>
        </p:txBody>
      </p:sp>
      <p:sp>
        <p:nvSpPr>
          <p:cNvPr id="13" name="arrow"/>
          <p:cNvSpPr/>
          <p:nvPr/>
        </p:nvSpPr>
        <p:spPr>
          <a:xfrm>
            <a:off x="5963260" y="3366262"/>
            <a:ext cx="274320" cy="274320"/>
          </a:xfrm>
          <a:prstGeom prst="rightArrow">
            <a:avLst/>
          </a:prstGeom>
          <a:solidFill>
            <a:srgbClr val="B8862B"/>
          </a:solidFill>
          <a:ln/>
        </p:spPr>
      </p:sp>
      <p:sp>
        <p:nvSpPr>
          <p:cNvPr id="14" name="step-box"/>
          <p:cNvSpPr/>
          <p:nvPr/>
        </p:nvSpPr>
        <p:spPr>
          <a:xfrm>
            <a:off x="6301588" y="2655824"/>
            <a:ext cx="5341468" cy="1695196"/>
          </a:xfrm>
          <a:prstGeom prst="roundRect">
            <a:avLst>
              <a:gd name="adj" fmla="val 4315"/>
            </a:avLst>
          </a:prstGeom>
          <a:solidFill>
            <a:srgbClr val="FFFFFF"/>
          </a:solidFill>
          <a:ln w="15875">
            <a:solidFill>
              <a:srgbClr val="95AE9B"/>
            </a:solidFill>
            <a:prstDash val="solid"/>
          </a:ln>
        </p:spPr>
      </p:sp>
      <p:sp>
        <p:nvSpPr>
          <p:cNvPr id="15" name="step-hex"/>
          <p:cNvSpPr/>
          <p:nvPr/>
        </p:nvSpPr>
        <p:spPr>
          <a:xfrm>
            <a:off x="6438748" y="2765552"/>
            <a:ext cx="530352" cy="459285"/>
          </a:xfrm>
          <a:prstGeom prst="hexagon">
            <a:avLst/>
          </a:prstGeom>
          <a:solidFill>
            <a:srgbClr val="3F6B4A"/>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Advance: accumulation is greater than ablation, so the glacier grows and its snout moves down the valley.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(2 of 2): Advance and retreat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FF2F0"/>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Describe the difference between glacier advance and glacier retreat. Use the key words accumulation and ablation in your answer. (4 marks)</a:t>
            </a:r>
            <a:endParaRPr lang="en-US" sz="2200" dirty="0"/>
          </a:p>
        </p:txBody>
      </p:sp>
      <p:sp>
        <p:nvSpPr>
          <p:cNvPr id="9" name="step-box"/>
          <p:cNvSpPr/>
          <p:nvPr/>
        </p:nvSpPr>
        <p:spPr>
          <a:xfrm>
            <a:off x="548640" y="2655824"/>
            <a:ext cx="5341468" cy="1695196"/>
          </a:xfrm>
          <a:prstGeom prst="roundRect">
            <a:avLst>
              <a:gd name="adj" fmla="val 4315"/>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Retreat: ablation is greater than accumulation, so the glacier shrinks and its snout moves back up the valley.</a:t>
            </a:r>
            <a:endParaRPr lang="en-US" sz="1800" dirty="0"/>
          </a:p>
        </p:txBody>
      </p:sp>
      <p:sp>
        <p:nvSpPr>
          <p:cNvPr id="13" name="arrow"/>
          <p:cNvSpPr/>
          <p:nvPr/>
        </p:nvSpPr>
        <p:spPr>
          <a:xfrm>
            <a:off x="5963260" y="3366262"/>
            <a:ext cx="274320" cy="274320"/>
          </a:xfrm>
          <a:prstGeom prst="rightArrow">
            <a:avLst/>
          </a:prstGeom>
          <a:solidFill>
            <a:srgbClr val="B8862B"/>
          </a:solidFill>
          <a:ln/>
        </p:spPr>
      </p:sp>
      <p:sp>
        <p:nvSpPr>
          <p:cNvPr id="14" name="step-box"/>
          <p:cNvSpPr/>
          <p:nvPr/>
        </p:nvSpPr>
        <p:spPr>
          <a:xfrm>
            <a:off x="6301588" y="2655824"/>
            <a:ext cx="5341468" cy="1695196"/>
          </a:xfrm>
          <a:prstGeom prst="roundRect">
            <a:avLst>
              <a:gd name="adj" fmla="val 4315"/>
            </a:avLst>
          </a:prstGeom>
          <a:solidFill>
            <a:srgbClr val="FFFFFF"/>
          </a:solidFill>
          <a:ln w="15875">
            <a:solidFill>
              <a:srgbClr val="95AE9B"/>
            </a:solidFill>
            <a:prstDash val="solid"/>
          </a:ln>
        </p:spPr>
      </p:sp>
      <p:sp>
        <p:nvSpPr>
          <p:cNvPr id="15" name="step-hex"/>
          <p:cNvSpPr/>
          <p:nvPr/>
        </p:nvSpPr>
        <p:spPr>
          <a:xfrm>
            <a:off x="6438748" y="2765552"/>
            <a:ext cx="530352" cy="459285"/>
          </a:xfrm>
          <a:prstGeom prst="hexagon">
            <a:avLst/>
          </a:prstGeom>
          <a:solidFill>
            <a:srgbClr val="3F6B4A"/>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Both terms used correctly and both directions of the snout given earns the four marks.</a:t>
            </a:r>
            <a:endParaRPr lang="en-US" sz="1800" dirty="0"/>
          </a:p>
        </p:txBody>
      </p:sp>
      <p:sp>
        <p:nvSpPr>
          <p:cNvPr id="18" name="worked-answer"/>
          <p:cNvSpPr/>
          <p:nvPr/>
        </p:nvSpPr>
        <p:spPr>
          <a:xfrm>
            <a:off x="1463040" y="4755896"/>
            <a:ext cx="9265615" cy="1388872"/>
          </a:xfrm>
          <a:prstGeom prst="roundRect">
            <a:avLst>
              <a:gd name="adj" fmla="val 13168"/>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Accumulation is snow being added to a glacier and ablation is ice being lost by melting. When accumulation is greater than ablation the glacier grows and its snout moves further down the valley, which is an advance. When ablation is greater than accumulation the glacier shrinks and its snout moves back up the valley, which is a retreat.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Climate change and the glacial budget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Three questions for the article: what humans are doing, what the evidence is, why we should worry. Use accumulation and ablation when you explain the budget.</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deck's final task is a newspaper article about climate change and the glacial budget, and it gives you three questions to answer.</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Second, what is the evidence that climate change is happening?</a:t>
            </a:r>
            <a:endParaRPr lang="en-US" sz="2000" dirty="0"/>
          </a:p>
        </p:txBody>
      </p:sp>
      <p:sp>
        <p:nvSpPr>
          <p:cNvPr id="19" name="point-card"/>
          <p:cNvSpPr/>
          <p:nvPr/>
        </p:nvSpPr>
        <p:spPr>
          <a:xfrm>
            <a:off x="8127797" y="1389888"/>
            <a:ext cx="3515258" cy="3686048"/>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Third, why should we worry? Glaciers are land ice, so when they melt, the water runs down to the sea and sea level rises, threatening low-lying coasts and cities.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What will happen to this glacier?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glacier has had several warm summers with a great deal of melting, while its winter snowfall has stayed the same. What will happen to it?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Ablation is greater than accumulation, so it will shrink and retreat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will stop flowing until the summers get cooler again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Nothing, because glaciers only change over thousands of years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Accumulation is greater than ablation, so it will grow and advance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What will happen to this glacier?</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What will happen to this glacier?</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FF2F0"/>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two sides of the budget: accumulation (snow added) and ablation (ice melted).</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Which side has changed? Snowfall is the same, so accumulation is unchanged. Melting has increased, so ablation has gone up.</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Ablation is now greater than accumulation.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More lost than gained means the glacier shrinks, and a shrinking glacier retreats.</a:t>
            </a:r>
            <a:endParaRPr lang="en-US" sz="1800" dirty="0"/>
          </a:p>
        </p:txBody>
      </p:sp>
      <p:sp>
        <p:nvSpPr>
          <p:cNvPr id="17" name="col-Core"/>
          <p:cNvSpPr/>
          <p:nvPr/>
        </p:nvSpPr>
        <p:spPr>
          <a:xfrm>
            <a:off x="6425403" y="2395728"/>
            <a:ext cx="2471666" cy="3749040"/>
          </a:xfrm>
          <a:prstGeom prst="roundRect">
            <a:avLst>
              <a:gd name="adj" fmla="val 2220"/>
            </a:avLst>
          </a:prstGeom>
          <a:solidFill>
            <a:srgbClr val="D8E1DA"/>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Only one side of the budget changed. Which one, and which way?</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glacier can keep flowing downhill while it is retreating.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Four budget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glacier budget word to its meaning.</a:t>
            </a:r>
            <a:endParaRPr lang="en-US" sz="2400" dirty="0"/>
          </a:p>
        </p:txBody>
      </p:sp>
      <p:sp>
        <p:nvSpPr>
          <p:cNvPr id="11" name="match-card"/>
          <p:cNvSpPr/>
          <p:nvPr/>
        </p:nvSpPr>
        <p:spPr>
          <a:xfrm>
            <a:off x="777240" y="2468331"/>
            <a:ext cx="3081437" cy="549158"/>
          </a:xfrm>
          <a:prstGeom prst="roundRect">
            <a:avLst>
              <a:gd name="adj" fmla="val 13321"/>
            </a:avLst>
          </a:prstGeom>
          <a:solidFill>
            <a:srgbClr val="F3F5F3"/>
          </a:solidFill>
          <a:ln/>
        </p:spPr>
      </p:sp>
      <p:sp>
        <p:nvSpPr>
          <p:cNvPr id="12" name="match-hex"/>
          <p:cNvSpPr/>
          <p:nvPr/>
        </p:nvSpPr>
        <p:spPr>
          <a:xfrm>
            <a:off x="850392" y="2576618"/>
            <a:ext cx="384048" cy="332586"/>
          </a:xfrm>
          <a:prstGeom prst="hexagon">
            <a:avLst/>
          </a:prstGeom>
          <a:solidFill>
            <a:srgbClr val="3F6B4A"/>
          </a:solidFill>
          <a:ln/>
        </p:spPr>
      </p:sp>
      <p:sp>
        <p:nvSpPr>
          <p:cNvPr id="13" name="match-hex-label"/>
          <p:cNvSpPr txBox="1"/>
          <p:nvPr/>
        </p:nvSpPr>
        <p:spPr>
          <a:xfrm>
            <a:off x="850392" y="25766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5491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Accumulation</a:t>
            </a:r>
            <a:endParaRPr lang="en-US" sz="2200" dirty="0"/>
          </a:p>
        </p:txBody>
      </p:sp>
      <p:sp>
        <p:nvSpPr>
          <p:cNvPr id="15" name="match-card"/>
          <p:cNvSpPr/>
          <p:nvPr/>
        </p:nvSpPr>
        <p:spPr>
          <a:xfrm>
            <a:off x="4224437" y="2468331"/>
            <a:ext cx="7190019" cy="549158"/>
          </a:xfrm>
          <a:prstGeom prst="roundRect">
            <a:avLst>
              <a:gd name="adj" fmla="val 13321"/>
            </a:avLst>
          </a:prstGeom>
          <a:solidFill>
            <a:srgbClr val="F8F2E9"/>
          </a:solidFill>
          <a:ln/>
        </p:spPr>
      </p:sp>
      <p:sp>
        <p:nvSpPr>
          <p:cNvPr id="16" name="match-hex"/>
          <p:cNvSpPr/>
          <p:nvPr/>
        </p:nvSpPr>
        <p:spPr>
          <a:xfrm>
            <a:off x="4297589" y="2576618"/>
            <a:ext cx="384048" cy="332586"/>
          </a:xfrm>
          <a:prstGeom prst="hexagon">
            <a:avLst/>
          </a:prstGeom>
          <a:solidFill>
            <a:srgbClr val="B8862B"/>
          </a:solidFill>
          <a:ln/>
        </p:spPr>
      </p:sp>
      <p:sp>
        <p:nvSpPr>
          <p:cNvPr id="17" name="match-hex-label"/>
          <p:cNvSpPr txBox="1"/>
          <p:nvPr/>
        </p:nvSpPr>
        <p:spPr>
          <a:xfrm>
            <a:off x="4297589" y="25766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5491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Ice lost by melting, mostly near the snout in summer</a:t>
            </a:r>
            <a:endParaRPr lang="en-US" sz="2200" dirty="0"/>
          </a:p>
        </p:txBody>
      </p:sp>
      <p:sp>
        <p:nvSpPr>
          <p:cNvPr id="19" name="match-card"/>
          <p:cNvSpPr/>
          <p:nvPr/>
        </p:nvSpPr>
        <p:spPr>
          <a:xfrm>
            <a:off x="777240" y="3108930"/>
            <a:ext cx="3081437" cy="890026"/>
          </a:xfrm>
          <a:prstGeom prst="roundRect">
            <a:avLst>
              <a:gd name="adj" fmla="val 8219"/>
            </a:avLst>
          </a:prstGeom>
          <a:solidFill>
            <a:srgbClr val="F3F5F3"/>
          </a:solidFill>
          <a:ln/>
        </p:spPr>
      </p:sp>
      <p:sp>
        <p:nvSpPr>
          <p:cNvPr id="20" name="match-hex"/>
          <p:cNvSpPr/>
          <p:nvPr/>
        </p:nvSpPr>
        <p:spPr>
          <a:xfrm>
            <a:off x="850392" y="3387650"/>
            <a:ext cx="384048" cy="332586"/>
          </a:xfrm>
          <a:prstGeom prst="hexagon">
            <a:avLst/>
          </a:prstGeom>
          <a:solidFill>
            <a:srgbClr val="3F6B4A"/>
          </a:solidFill>
          <a:ln/>
        </p:spPr>
      </p:sp>
      <p:sp>
        <p:nvSpPr>
          <p:cNvPr id="21" name="match-hex-label"/>
          <p:cNvSpPr txBox="1"/>
          <p:nvPr/>
        </p:nvSpPr>
        <p:spPr>
          <a:xfrm>
            <a:off x="850392" y="338765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08930"/>
            <a:ext cx="2487077"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Ablation</a:t>
            </a:r>
            <a:endParaRPr lang="en-US" sz="2200" dirty="0"/>
          </a:p>
        </p:txBody>
      </p:sp>
      <p:sp>
        <p:nvSpPr>
          <p:cNvPr id="23" name="match-card"/>
          <p:cNvSpPr/>
          <p:nvPr/>
        </p:nvSpPr>
        <p:spPr>
          <a:xfrm>
            <a:off x="4224437" y="3108930"/>
            <a:ext cx="7190019" cy="890026"/>
          </a:xfrm>
          <a:prstGeom prst="roundRect">
            <a:avLst>
              <a:gd name="adj" fmla="val 8219"/>
            </a:avLst>
          </a:prstGeom>
          <a:solidFill>
            <a:srgbClr val="F8F2E9"/>
          </a:solidFill>
          <a:ln/>
        </p:spPr>
      </p:sp>
      <p:sp>
        <p:nvSpPr>
          <p:cNvPr id="24" name="match-hex"/>
          <p:cNvSpPr/>
          <p:nvPr/>
        </p:nvSpPr>
        <p:spPr>
          <a:xfrm>
            <a:off x="4297589" y="3387650"/>
            <a:ext cx="384048" cy="332586"/>
          </a:xfrm>
          <a:prstGeom prst="hexagon">
            <a:avLst/>
          </a:prstGeom>
          <a:solidFill>
            <a:srgbClr val="B8862B"/>
          </a:solidFill>
          <a:ln/>
        </p:spPr>
      </p:sp>
      <p:sp>
        <p:nvSpPr>
          <p:cNvPr id="25" name="match-hex-label"/>
          <p:cNvSpPr txBox="1"/>
          <p:nvPr/>
        </p:nvSpPr>
        <p:spPr>
          <a:xfrm>
            <a:off x="4297589" y="338765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108930"/>
            <a:ext cx="6595659"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Snow added to the glacier, mostly near the top in winter</a:t>
            </a:r>
            <a:endParaRPr lang="en-US" sz="2200" dirty="0"/>
          </a:p>
        </p:txBody>
      </p:sp>
      <p:sp>
        <p:nvSpPr>
          <p:cNvPr id="27" name="match-card"/>
          <p:cNvSpPr/>
          <p:nvPr/>
        </p:nvSpPr>
        <p:spPr>
          <a:xfrm>
            <a:off x="777240" y="4090396"/>
            <a:ext cx="3081437" cy="890026"/>
          </a:xfrm>
          <a:prstGeom prst="roundRect">
            <a:avLst>
              <a:gd name="adj" fmla="val 8219"/>
            </a:avLst>
          </a:prstGeom>
          <a:solidFill>
            <a:srgbClr val="F3F5F3"/>
          </a:solidFill>
          <a:ln/>
        </p:spPr>
      </p:sp>
      <p:sp>
        <p:nvSpPr>
          <p:cNvPr id="28" name="match-hex"/>
          <p:cNvSpPr/>
          <p:nvPr/>
        </p:nvSpPr>
        <p:spPr>
          <a:xfrm>
            <a:off x="850392" y="4369116"/>
            <a:ext cx="384048" cy="332586"/>
          </a:xfrm>
          <a:prstGeom prst="hexagon">
            <a:avLst/>
          </a:prstGeom>
          <a:solidFill>
            <a:srgbClr val="3F6B4A"/>
          </a:solidFill>
          <a:ln/>
        </p:spPr>
      </p:sp>
      <p:sp>
        <p:nvSpPr>
          <p:cNvPr id="29" name="match-hex-label"/>
          <p:cNvSpPr txBox="1"/>
          <p:nvPr/>
        </p:nvSpPr>
        <p:spPr>
          <a:xfrm>
            <a:off x="850392" y="43691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090396"/>
            <a:ext cx="2487077"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Advance</a:t>
            </a:r>
            <a:endParaRPr lang="en-US" sz="2200" dirty="0"/>
          </a:p>
        </p:txBody>
      </p:sp>
      <p:sp>
        <p:nvSpPr>
          <p:cNvPr id="31" name="match-card"/>
          <p:cNvSpPr/>
          <p:nvPr/>
        </p:nvSpPr>
        <p:spPr>
          <a:xfrm>
            <a:off x="4224437" y="4090396"/>
            <a:ext cx="7190019" cy="890026"/>
          </a:xfrm>
          <a:prstGeom prst="roundRect">
            <a:avLst>
              <a:gd name="adj" fmla="val 8219"/>
            </a:avLst>
          </a:prstGeom>
          <a:solidFill>
            <a:srgbClr val="F8F2E9"/>
          </a:solidFill>
          <a:ln/>
        </p:spPr>
      </p:sp>
      <p:sp>
        <p:nvSpPr>
          <p:cNvPr id="32" name="match-hex"/>
          <p:cNvSpPr/>
          <p:nvPr/>
        </p:nvSpPr>
        <p:spPr>
          <a:xfrm>
            <a:off x="4297589" y="4369116"/>
            <a:ext cx="384048" cy="332586"/>
          </a:xfrm>
          <a:prstGeom prst="hexagon">
            <a:avLst/>
          </a:prstGeom>
          <a:solidFill>
            <a:srgbClr val="B8862B"/>
          </a:solidFill>
          <a:ln/>
        </p:spPr>
      </p:sp>
      <p:sp>
        <p:nvSpPr>
          <p:cNvPr id="33" name="match-hex-label"/>
          <p:cNvSpPr txBox="1"/>
          <p:nvPr/>
        </p:nvSpPr>
        <p:spPr>
          <a:xfrm>
            <a:off x="4297589" y="43691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090396"/>
            <a:ext cx="6595659"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glacier shrinks and its snout moves back up the valley</a:t>
            </a:r>
            <a:endParaRPr lang="en-US" sz="2200" dirty="0"/>
          </a:p>
        </p:txBody>
      </p:sp>
      <p:sp>
        <p:nvSpPr>
          <p:cNvPr id="35" name="match-card"/>
          <p:cNvSpPr/>
          <p:nvPr/>
        </p:nvSpPr>
        <p:spPr>
          <a:xfrm>
            <a:off x="777240" y="5071862"/>
            <a:ext cx="3081437" cy="890026"/>
          </a:xfrm>
          <a:prstGeom prst="roundRect">
            <a:avLst>
              <a:gd name="adj" fmla="val 8219"/>
            </a:avLst>
          </a:prstGeom>
          <a:solidFill>
            <a:srgbClr val="F3F5F3"/>
          </a:solidFill>
          <a:ln/>
        </p:spPr>
      </p:sp>
      <p:sp>
        <p:nvSpPr>
          <p:cNvPr id="36" name="match-hex"/>
          <p:cNvSpPr/>
          <p:nvPr/>
        </p:nvSpPr>
        <p:spPr>
          <a:xfrm>
            <a:off x="850392" y="5350582"/>
            <a:ext cx="384048" cy="332586"/>
          </a:xfrm>
          <a:prstGeom prst="hexagon">
            <a:avLst/>
          </a:prstGeom>
          <a:solidFill>
            <a:srgbClr val="3F6B4A"/>
          </a:solidFill>
          <a:ln/>
        </p:spPr>
      </p:sp>
      <p:sp>
        <p:nvSpPr>
          <p:cNvPr id="37" name="match-hex-label"/>
          <p:cNvSpPr txBox="1"/>
          <p:nvPr/>
        </p:nvSpPr>
        <p:spPr>
          <a:xfrm>
            <a:off x="850392" y="535058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071862"/>
            <a:ext cx="2487077"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Retreat</a:t>
            </a:r>
            <a:endParaRPr lang="en-US" sz="2200" dirty="0"/>
          </a:p>
        </p:txBody>
      </p:sp>
      <p:sp>
        <p:nvSpPr>
          <p:cNvPr id="39" name="match-card"/>
          <p:cNvSpPr/>
          <p:nvPr/>
        </p:nvSpPr>
        <p:spPr>
          <a:xfrm>
            <a:off x="4224437" y="5071862"/>
            <a:ext cx="7190019" cy="890026"/>
          </a:xfrm>
          <a:prstGeom prst="roundRect">
            <a:avLst>
              <a:gd name="adj" fmla="val 8219"/>
            </a:avLst>
          </a:prstGeom>
          <a:solidFill>
            <a:srgbClr val="F8F2E9"/>
          </a:solidFill>
          <a:ln/>
        </p:spPr>
      </p:sp>
      <p:sp>
        <p:nvSpPr>
          <p:cNvPr id="40" name="match-hex"/>
          <p:cNvSpPr/>
          <p:nvPr/>
        </p:nvSpPr>
        <p:spPr>
          <a:xfrm>
            <a:off x="4297589" y="5350582"/>
            <a:ext cx="384048" cy="332586"/>
          </a:xfrm>
          <a:prstGeom prst="hexagon">
            <a:avLst/>
          </a:prstGeom>
          <a:solidFill>
            <a:srgbClr val="B8862B"/>
          </a:solidFill>
          <a:ln/>
        </p:spPr>
      </p:sp>
      <p:sp>
        <p:nvSpPr>
          <p:cNvPr id="41" name="match-hex-label"/>
          <p:cNvSpPr txBox="1"/>
          <p:nvPr/>
        </p:nvSpPr>
        <p:spPr>
          <a:xfrm>
            <a:off x="4297589" y="535058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071862"/>
            <a:ext cx="6595659"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glacier grows and its snout moves further down the valley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Four budget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Four budget words</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FF2F0"/>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of the words are about ice coming and going; two are about the glacier getting bigger or smaller. Sort them into those pairs first.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Accumulate means pile up, so accumulation is snow being added.</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Ablation is the other one: ice being lost by melting.</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Advance means move forward (down the valley); retreat means move back (up the valley).</a:t>
            </a:r>
            <a:endParaRPr lang="en-US" sz="1800" dirty="0"/>
          </a:p>
        </p:txBody>
      </p:sp>
      <p:sp>
        <p:nvSpPr>
          <p:cNvPr id="17" name="col-Core"/>
          <p:cNvSpPr/>
          <p:nvPr/>
        </p:nvSpPr>
        <p:spPr>
          <a:xfrm>
            <a:off x="6425403" y="2395728"/>
            <a:ext cx="2471666" cy="3749040"/>
          </a:xfrm>
          <a:prstGeom prst="roundRect">
            <a:avLst>
              <a:gd name="adj" fmla="val 2220"/>
            </a:avLst>
          </a:prstGeom>
          <a:solidFill>
            <a:srgbClr val="D8E1DA"/>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Add, lose, grow, shrink. Pair each word with a season and a direction.</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a glacier can be in balance, with its snout staying in the same place, even though ice is flowing through it all the time.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58419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glacier is retreating. What does this mean?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Its ice is getting thicker at the top</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It is gaining more snow than it loses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It is flowing downhill faster than before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Its snout is moving back up the valley because the glacier is shrinking</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F7F5"/>
          </a:solidFill>
          <a:ln w="12700">
            <a:solidFill>
              <a:srgbClr val="A2B7A7"/>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What will happen to this glacier?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glacier has had several warm summers with a great deal of melting, while its winter snowfall has stayed the same. What will happen to it?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Ablation is greater than accumulation, so it will shrink and retreat</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Winter snowfall is unchanged, so accumulation is the same, but hotter summers mean more melting, so ablation has increased. Ablation is now greater than accumulation; the glacier loses more than it gains, shrinks, and its snout retreats up the valley.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Four budget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Accumulation  →  B  Snow added to the glacier, mostly near the top in winter</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Ablation  →  A  Ice lost by melting, mostly near the snout in summer</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Advance  →  D  The glacier grows and its snout moves further down the valley</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Retreat  →  C  The glacier shrinks and its snout moves back up the valley</a:t>
            </a:r>
            <a:endParaRPr lang="en-US" sz="24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Accumulation is snow added at the top in winter; ablation is ice melted near the snout in summer. If accumulation wins the glacier advances, its snout moving down the valley; if ablation wins it retreats, its snout moving back up.</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glacier is retreating. What does this mean?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Its snout is moving back up the valley because the glacier is shrinking</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Retreat means the glacier is losing more ice by ablation than it gains by accumulation, so it shrinks and its snout moves back up the valley.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FF2F0"/>
      </a:lt2>
      <a:accent1>
        <a:srgbClr val="3F6B4A"/>
      </a:accent1>
      <a:accent2>
        <a:srgbClr val="B8862B"/>
      </a:accent2>
      <a:accent3>
        <a:srgbClr val="8CA692"/>
      </a:accent3>
      <a:accent4>
        <a:srgbClr val="815E1E"/>
      </a:accent4>
      <a:accent5>
        <a:srgbClr val="4A505C"/>
      </a:accent5>
      <a:accent6>
        <a:srgbClr val="DDC498"/>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Glaciers and Landforms · Chapter 6: Glaciers and people</dc:title>
  <dc:subject>Geography · Year 8</dc:subject>
  <dc:creator>Dr Vitor Merissi de Carvalho</dc:creator>
  <cp:lastModifiedBy>Dr Vitor Merissi de Carvalho</cp:lastModifiedBy>
  <cp:revision>1</cp:revision>
  <dcterms:created xsi:type="dcterms:W3CDTF">2026-10-19T06:07:38Z</dcterms:created>
  <dcterms:modified xsi:type="dcterms:W3CDTF">2026-10-19T06:07:38Z</dcterms:modified>
</cp:coreProperties>
</file>