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de86528-ef1f-8099-7e4a-fd8ad16fc688}">
          <p14:sldIdLst>
            <p14:sldId id="256"/>
          </p14:sldIdLst>
        </p14:section>
        <p14:section name="Gate" id="{4e513e93-2ac5-7b90-762b-5952112a3632}">
          <p14:sldIdLst>
            <p14:sldId id="257"/>
            <p14:sldId id="258"/>
          </p14:sldIdLst>
        </p14:section>
        <p14:section name="Pre-teach" id="{aa716296-c31e-385c-4d0d-2ae645dd199a}">
          <p14:sldIdLst>
            <p14:sldId id="259"/>
            <p14:sldId id="260"/>
          </p14:sldIdLst>
        </p14:section>
        <p14:section name="Read-along" id="{a4a4e24a-9ad8-aabc-3c88-959153d0770c}">
          <p14:sldIdLst>
            <p14:sldId id="261"/>
            <p14:sldId id="262"/>
          </p14:sldIdLst>
        </p14:section>
        <p14:section name="Teach" id="{77611ac5-cf16-7ee9-3d2c-6f9e4bcfdd8d}">
          <p14:sldIdLst>
            <p14:sldId id="263"/>
            <p14:sldId id="264"/>
            <p14:sldId id="265"/>
            <p14:sldId id="266"/>
            <p14:sldId id="267"/>
          </p14:sldIdLst>
        </p14:section>
        <p14:section name="Routes" id="{039f80e3-c250-bf88-be3b-cbaeef5fc81e}">
          <p14:sldIdLst>
            <p14:sldId id="268"/>
            <p14:sldId id="269"/>
            <p14:sldId id="270"/>
            <p14:sldId id="271"/>
            <p14:sldId id="272"/>
          </p14:sldIdLst>
        </p14:section>
        <p14:section name="Close" id="{040a7fbb-fbc3-4d19-82ad-5a257357dcc9}">
          <p14:sldIdLst>
            <p14:sldId id="273"/>
          </p14:sldIdLst>
        </p14:section>
        <p14:section name="Answers" id="{fa399dc7-345d-d403-b994-2a78d0a85fdc}">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Corries, arêtes and pyramidal peaks. The landforms a glacier carves high in the mountains: how a corrie forms step by step, how a tarn fills it, and how corries side by side make arêtes and pyramidal peaks.
This deck covers the department's lessons: 6 (Landforms created by glacial erosion: What are corries, arêtes, pyramidal peaks and tarns, and how are they linked?); 8 (Formation of glacial landforms: the corrie: How is a corrie formed, step by step?).
Read the big question aloud: "How does ice shape the land, and what happens to the landscape and to people when glaciers grow or shrink?"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corrie?  →  C   An armchair-shaped hollow with a steep back wall, carved high on a mountainside
2. What is the smallest number of corries that must cut back into a mountain to leave a pyramidal peak?  →  3 corries
3. A lake that forms in the bottom of a corrie is called a ___.  →  tarn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An armchair-shaped hollow with a steep back wall, carved high on a mountainside. A corrie is a rounded, armchair-shaped hollow with a steep back wall, carved into a mountainside by a glacier.
2. 3 corries. A pyramidal peak forms where three or more corries cut backwards into the same mountain, so their back walls meet in a point.
3. tarn. When the ice melts, water gathers on the scooped-out floor of the corrie, held in by the rock lip at the front. This lake is a tarn.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corrie: a rounded, armchair-shaped hollow with a steep back wall, on a mountainside. Example: "A glacier once filled the corrie on Ben Lui."
• arête: a narrow, knife-edged ridge between two corries. Example: "Walkers follow the arête with a steep drop on each side."
• pyramidal peak: a pointed mountain top left where three or more corries meet. Example: "The Matterhorn is a famous pyramidal peak."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tarn: a lake in the bottom of a corrie. Example: "A cold, round tarn fills the floor of the corrie."
• back wall: the steep cliff at the back of a corrie. Example: "Plucking makes the back wall steeper and steeper."
• rotate: to turn in a circle. Example: "The ice in a corrie rotates as it moves, scooping out the floor."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High in the mountains, glaciers carve special landforms.
2. A corrie is a rounded hollow on the side of a mountain, shaped like an armchair.
3. It has a steep back wall.
4. A corrie begins where snow gathers in a hollow and is squeezed into ice.
5. The ice becomes heavy and starts to move downhill.
6. Plucking makes the back wall steeper.
7. The ice rotates and scoops out the floor of the hollow.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When the ice melts, water may fill the floor to make a lake called a tarn.
9. When two corries form back to back, a knife-edged ridge is left between them.
10. This ridge is an arête.
11. When three or more corries cut back into one mountain, a pointed pyramidal peak is left.
12. The Matterhorn in the Alps is a pyramidal peak.
13. Ben Lui in Scotland has a corrie.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corrie. Say it in your own words, then check understanding with a quick question: ask a pupil from the pre-teach group first, since they met these words and ideas before the lesson. Pupils try to recall before you re-explain.
Walk up a mountain in Scotland and high on its side you may find a great rounded hollow, like a giant armchair cut into the slope. It has a steep cliff at the back, the back wall, and a flatter floor, and often a small round lake sits in the bottom. This hollow is a corrie. The deck's example is Ben Lui in Scotland.
A corrie is a landform of glacial erosion. It is where a mountain glacier is born. In the Ice Age, each corrie held a small glacier of its own, which spilled over the lip of the hollow and fed the much larger glacier in the valley below. When the climate warmed and the ice melted, the hollow was left behind.
The lake in the bottom of a corrie is called a tarn. It fills the deepest part of the hollow, which the ice scooped out, and is held in by the rock lip at the front.
Tip: Corrie is the Scottish word. You may also meet cwm (Welsh) and cirque (French) for the same landform.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a corrie forms. Say it in your own words, then check understanding with a quick question: ask a pupil from the pre-teach group first, since they met these words and ideas before the lesson. Pupils try to recall before you re-explain.
A corrie starts as a small hollow on a shady mountainside where snow gathers and does not melt in summer. As the snow piles up, the pressure of the layers above turns it into ice, just as in chapter 2. When the ice is thick and heavy enough, it starts to move downhill under gravity.
Now erosion begins. Meltwater seeps into cracks in the back wall and freezes onto the ice, so as the glacier moves it plucks blocks of rock away. Plucking makes the back wall steeper and steeper. At the same time, the ice in the hollow does not slide straight downhill; it rotates, turning like the ice cream in a scoop, and the rocks frozen into its base scrape out the floor of the hollow by abrasion, making it deeper. Above the glacier, frost action, freeze-thaw weathering, keeps the mountain top sharp and jagged and drops fresh rock onto the ice.
When the climate warms and the ice melts, the armchair-shaped hollow is left behind. Water may gather on its floor, held in by the rock lip at the front, and this lake is a tarn.
Worked example — model it step by step, thinking aloud: Explain how a corrie is formed. (4 marks) (1) Start: snow gathers in a mountainside hollow and is compressed into ice, which begins to move downhill. (2) Back wall: plucking tears rock from the back of the hollow and makes it steeper. (3) Floor: the ice rotates and scoops out the floor by abrasion, deepening the hollow. (4) End: when the ice melts, an armchair-shaped hollow is left, often with a tarn in the bottom. (5) Four linked steps, each naming a process, earns the four marks. Answer: Snow gathers in a hollow on a mountainside and is compressed into ice, which starts to move downhill. Plucking tears blocks from the back of the hollow and steepens the back wall. The ice rotates as it moves and scoops out the floor by abrasion, deepening the hollow. When the ice melts, an armchair-shaped hollow with a steep back wall is left, and water may fill the floor to form a tarn..
Tip: Explain means give the processes. Use plucking for the back wall and rotation with abrasion for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a corrie forms. Say it in your own words, then check understanding with a quick question: ask a pupil from the pre-teach group first, since they met these words and ideas before the lesson. Pupils try to recall before you re-explain.
A corrie starts as a small hollow on a shady mountainside where snow gathers and does not melt in summer. As the snow piles up, the pressure of the layers above turns it into ice, just as in chapter 2. When the ice is thick and heavy enough, it starts to move downhill under gravity.
Now erosion begins. Meltwater seeps into cracks in the back wall and freezes onto the ice, so as the glacier moves it plucks blocks of rock away. Plucking makes the back wall steeper and steeper. At the same time, the ice in the hollow does not slide straight downhill; it rotates, turning like the ice cream in a scoop, and the rocks frozen into its base scrape out the floor of the hollow by abrasion, making it deeper. Above the glacier, frost action, freeze-thaw weathering, keeps the mountain top sharp and jagged and drops fresh rock onto the ice.
When the climate warms and the ice melts, the armchair-shaped hollow is left behind. Water may gather on its floor, held in by the rock lip at the front, and this lake is a tarn.
Worked example — model it step by step, thinking aloud: Explain how a corrie is formed. (4 marks) (1) Start: snow gathers in a mountainside hollow and is compressed into ice, which begins to move downhill. (2) Back wall: plucking tears rock from the back of the hollow and makes it steeper. (3) Floor: the ice rotates and scoops out the floor by abrasion, deepening the hollow. (4) End: when the ice melts, an armchair-shaped hollow is left, often with a tarn in the bottom. (5) Four linked steps, each naming a process, earns the four marks. Answer: Snow gathers in a hollow on a mountainside and is compressed into ice, which starts to move downhill. Plucking tears blocks from the back of the hollow and steepens the back wall. The ice rotates as it moves and scoops out the floor by abrasion, deepening the hollow. When the ice melts, an armchair-shaped hollow with a steep back wall is left, and water may fill the floor to form a tarn..
Tip: Explain means give the processes. Use plucking for the back wall and rotation with abrasion for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a corrie forms. Say it in your own words, then check understanding with a quick question: ask a pupil from the pre-teach group first, since they met these words and ideas before the lesson. Pupils try to recall before you re-explain.
A corrie starts as a small hollow on a shady mountainside where snow gathers and does not melt in summer. As the snow piles up, the pressure of the layers above turns it into ice, just as in chapter 2. When the ice is thick and heavy enough, it starts to move downhill under gravity.
Now erosion begins. Meltwater seeps into cracks in the back wall and freezes onto the ice, so as the glacier moves it plucks blocks of rock away. Plucking makes the back wall steeper and steeper. At the same time, the ice in the hollow does not slide straight downhill; it rotates, turning like the ice cream in a scoop, and the rocks frozen into its base scrape out the floor of the hollow by abrasion, making it deeper. Above the glacier, frost action, freeze-thaw weathering, keeps the mountain top sharp and jagged and drops fresh rock onto the ice.
When the climate warms and the ice melts, the armchair-shaped hollow is left behind. Water may gather on its floor, held in by the rock lip at the front, and this lake is a tarn.
Worked example — model it step by step, thinking aloud: Explain how a corrie is formed. (4 marks) (1) Start: snow gathers in a mountainside hollow and is compressed into ice, which begins to move downhill. (2) Back wall: plucking tears rock from the back of the hollow and makes it steeper. (3) Floor: the ice rotates and scoops out the floor by abrasion, deepening the hollow. (4) End: when the ice melts, an armchair-shaped hollow is left, often with a tarn in the bottom. (5) Four linked steps, each naming a process, earns the four marks. Answer: Snow gathers in a hollow on a mountainside and is compressed into ice, which starts to move downhill. Plucking tears blocks from the back of the hollow and steepens the back wall. The ice rotates as it moves and scoops out the floor by abrasion, deepening the hollow. When the ice melts, an armchair-shaped hollow with a steep back wall is left, and water may fill the floor to form a tarn..
Tip: Explain means give the processes. Use plucking for the back wall and rotation with abrasion for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Arêtes and pyramidal peaks. Say it in your own words, then check understanding with a quick question: ask a pupil from the pre-teach group first, since they met these words and ideas before the lesson. Pupils try to recall before you re-explain.
Corries rarely form alone. Where two corries form back to back on opposite sides of a ridge, each one eats backwards into the mountain. As their back walls get steeper and closer together, the ridge between them is narrowed into a sharp, knife-edged ridge. This is an arête. Walking along one, you have a steep drop into a corrie on each side.
Where three or more corries cut backwards into the same mountain from different sides, their back walls meet at the top and leave a sharp, pointed summit with several steep faces. This is a pyramidal peak. The deck's example is the Matterhorn in the Alps, whose famous pointed shape was carved by corrie glaciers on each of its sides.
So the three landforms are linked. One corrie is a hollow. Two corries back to back make an arête between them. Three or more corries around one summit make a pyramidal peak.
Tip: Count the corries: one makes a corrie, two make an arête, three or more make a pyramidal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corrie forms.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the correct order to explain how a corrie forms.
Support — work through the steps with the group: (1) Nothing can happen without ice, so snow turning to ice comes first, and the ice must start moving before it can erode. (2) Erosion comes next: the back wall first (plucking), then the floor (rotation and abrasion). (3) The tarn can only form after the ice has melted, so it comes last. (4) Read your order back as a story: snow, ice moves, back wall steepens, floor deepens, ice melts and a lake fills the hollow.
Parallel worked example for Support (model it, do not give the task answer): Put in order: the pothole fills with rainwater; a lorry tyre keeps hitting the same weak spot; the weak spot breaks and deepens into a pothole. The repeated force comes first.; The hollow forms as a result.; Water filling it comes last.. Answer: A lorry tyre keeps hitting the same weak spot; the weak spot breaks and deepens into a pothole; the pothole fills with rainwater..
Core — reveal the hint only on request: Make the ice, move the ice, steepen the back, deepen the floor, melt and fill.
Stretch — no help; when finished: Explain why corries in the UK are usually found on the north-facing or north-east-facing sides of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corrie forms.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the correct order to explain how a corrie forms.
Support — work through the steps with the group: (1) Nothing can happen without ice, so snow turning to ice comes first, and the ice must start moving before it can erode. (2) Erosion comes next: the back wall first (plucking), then the floor (rotation and abrasion). (3) The tarn can only form after the ice has melted, so it comes last. (4) Read your order back as a story: snow, ice moves, back wall steepens, floor deepens, ice melts and a lake fills the hollow.
Parallel worked example for Support (model it, do not give the task answer): Put in order: the pothole fills with rainwater; a lorry tyre keeps hitting the same weak spot; the weak spot breaks and deepens into a pothole. The repeated force comes first.; The hollow forms as a result.; Water filling it comes last.. Answer: A lorry tyre keeps hitting the same weak spot; the weak spot breaks and deepens into a pothole; the pothole fills with rainwater..
Core — reveal the hint only on request: Make the ice, move the ice, steepen the back, deepen the floor, melt and fill.
Stretch — no help; when finished: Explain why corries in the UK are usually found on the north-facing or north-east-facing sides of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corrie forms.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the correct order to explain how a corrie forms.
Support — work through the steps with the group: (1) Nothing can happen without ice, so snow turning to ice comes first, and the ice must start moving before it can erode. (2) Erosion comes next: the back wall first (plucking), then the floor (rotation and abrasion). (3) The tarn can only form after the ice has melted, so it comes last. (4) Read your order back as a story: snow, ice moves, back wall steepens, floor deepens, ice melts and a lake fills the hollow.
Parallel worked example for Support (model it, do not give the task answer): Put in order: the pothole fills with rainwater; a lorry tyre keeps hitting the same weak spot; the weak spot breaks and deepens into a pothole. The repeated force comes first.; The hollow forms as a result.; Water filling it comes last.. Answer: A lorry tyre keeps hitting the same weak spot; the weak spot breaks and deepens into a pothole; the pothole fills with rainwater..
Core — reveal the hint only on request: Make the ice, move the ice, steepen the back, deepen the floor, melt and fill.
Stretch — no help; when finished: Explain why corries in the UK are usually found on the north-facing or north-east-facing sides of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landforms of glacial erosion.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landform to its description.
Support — work through the steps with the group: (1) One of these is water, not rock. Match the lake first. (2) One is a hollow: the armchair shape. That is the corrie. (3) Of the two left, one is a ridge (a line) and one is a peak (a point). (4) Count the corries in each description: two for the ridge, three or more for the peak.
Parallel worked example for Support (model it, do not give the task answer): Match: U-shaped valley, striations. Choices: long scratches left on rock by abrasion; a valley with a wide, flat floor and steep sides carved by a glacier. Striations are the scratches.; The U-shaped valley is the valley shape.. Answer: U-shaped valley: a valley with a wide, flat floor and steep sides carved by a glacier. Striations: long scratches left on rock by abrasion..
Core — reveal the hint only on request: Hollow, ridge, point, lake. Which word is which?
Stretch — no help; when finished: Explain why an arête and a pyramidal peak cannot form without corries forming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landforms of glacial erosion.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landform to its description.
Support — work through the steps with the group: (1) One of these is water, not rock. Match the lake first. (2) One is a hollow: the armchair shape. That is the corrie. (3) Of the two left, one is a ridge (a line) and one is a peak (a point). (4) Count the corries in each description: two for the ridge, three or more for the peak.
Parallel worked example for Support (model it, do not give the task answer): Match: U-shaped valley, striations. Choices: long scratches left on rock by abrasion; a valley with a wide, flat floor and steep sides carved by a glacier. Striations are the scratches.; The U-shaped valley is the valley shape.. Answer: U-shaped valley: a valley with a wide, flat floor and steep sides carved by a glacier. Striations: long scratches left on rock by abrasion..
Core — reveal the hint only on request: Hollow, ridge, point, lake. Which word is which?
Stretch — no help; when finished: Explain why an arête and a pyramidal peak cannot form without corries forming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corrie?
Answer: B   An armchair-shaped hollow with a steep back wall, carved high on a mountainside. A corrie is a rounded, armchair-shaped hollow with a steep back wall, carved into a mountainside by a glacier.
Source of this question: gate item 1 re-asked (options rotated) — this chapter has no third quick-check module.
The ebook also holds task 3, "From hollow to peak",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a corrie forms. Reveal the answer; pupils mark their own work in a different colour, then read the "why" together. Same destination for every lane, so one answer serves the whole class.
Answer: Snow gathers in a hollow on the mountainside and is pressed into ice  (E); The ice becomes heavy enough to start moving downhill  (D); Plucking tears rock from the back wall and makes it steeper  (C); The ice rotates and scoops out the floor of the hollow by abrasion  (A); When the ice melts, water gathers on the floor to form a tarn  (B)
Why: Snow collects in a hollow and is compressed into ice, which begins to move downhill. Plucking steepens the back wall. The rotating ice scoops out the floor by abrasion. When the ice melts, water gathers on the floor and forms a tarn.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Four landforms of glacial erosion. Reveal the answer; pupils mark their own work in a different colour, then read the "why" together. Same destination for every lane, so one answer serves the whole class.
Answer: Corrie  →  C  An armchair-shaped hollow with a steep back wall on a mountainside; Arête  →  A  A knife-edged ridge left between two corries; Pyramidal peak  →  B  A pointed summit left where three or more corries meet; Tarn  →  D  A lake in the bottom of a corrie
Why: A corrie is the hollow. An arête is the ridge between two corries. A pyramidal peak is the point where three or more corries meet. A tarn is the lake left in the bottom of a corrie.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An armchair-shaped hollow with a steep back wall, carved high on a mountainside
Why: A corrie is a rounded, armchair-shaped hollow with a steep back wall, carved into a mountainside by a glacier.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Glaciers and Landforms · AQA KS3 → 8035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Corries, arêtes and pyramidal peaks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FF2F0"/>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Landforms created by glacial erosion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Formation of glacial landforms: the corrie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ice shape the land, and what happens to the landscape and to people when glaciers grow or shrink?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a corrie?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pointed peak where three hollows meet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knife-edged ridge between two hollows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armchair-shaped hollow with a steep back wall, carved high on a mountainside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lake on the floor of a U-shaped valley</a:t>
            </a:r>
            <a:endParaRPr lang="en-US" sz="18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smallest number of corries that must cut back into a mountain to leave a pyramidal peak?</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corries</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lake that forms in the bottom of a corrie is called a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tarn  ·  arête  ·  snout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EE3CD"/>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An armchair-shaped hollow with a steep back wall, carved high on a mountainside</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is a corrie?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corrie is a rounded, armchair-shaped hollow with a steep back wall, carved into a mountainside by a glacier.</a:t>
            </a:r>
            <a:endParaRPr lang="en-US" sz="18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 corries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is the smallest number of corries that must cut back into a mountain to leave a pyramidal peak?</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pyramidal peak forms where three or more corries cut backwards into the same mountain, so their back walls meet in a point.</a:t>
            </a:r>
            <a:endParaRPr lang="en-US" sz="18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tarn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lake that forms in the bottom of a corrie is called a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When the ice melts, water gathers on the scooped-out floor of the corrie, held in by the rock lip at the front. This lake is a tarn.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corrie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rounded, armchair-shaped hollow with a steep back wall, on a mountainside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glacier once filled the corrie on Ben Lui.</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arête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narrow, knife-edged ridge between two corries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Walkers follow the arête with a steep drop on each side.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pyramidal peak</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pointed mountain top left where three or more corries meet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Matterhorn is a famous pyramidal peak.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tarn</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lake in the bottom of a corrie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cold, round tarn fills the floor of the corrie.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back wall</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steep cliff at the back of a corrie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Plucking makes the back wall steeper and steeper.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rotate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turn in a circle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ice in a corrie rotates as it moves, scooping out the floor.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High in the mountains, glaciers carve special landforms.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corrie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rounded hollow on the side of a mountain, shaped like an armchair.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has a steep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back wall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corrie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begins where snow gathers in a hollow and is squeezed into ice.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ice becomes heavy and starts to move downhill.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Plucking makes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back wall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steeper.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ice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rotates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scoops out the floor of the hollow.</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the ice melts, water may fill the floor to make a lake called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tarn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two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corries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form back to back, a knife-edged ridge is left between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ridge is an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arête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three or more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corries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cut back into one mountain, a pointed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pyramidal peak</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left.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Matterhorn in the Alps is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pyramidal peak</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Ben Lui in Scotland has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corrie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corrie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Corrie is the Scottish word. You may also meet cwm (Welsh) and cirque (French) for the same landform.</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Walk up a mountain in Scotland and high on its side you may find a great rounded hollow, like a giant armchair cut into the slope.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corrie is a landform of glacial erosion. It is where a mountain glacier is born.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lake in the bottom of a corrie is called a tarn.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How a corrie forms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Explain means give the processes. Use plucking for the back wall and rotation with abrasion for the floor.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corrie starts as a small hollow on a shady mountainside where snow gathers and does not melt in summer.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Now erosion begins. Meltwater seeps into cracks in the back wall and freezes onto the ice, so as the glacier moves it plucks blocks of rock away.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the climate warms and the ice melts, the armchair-shaped hollow is left behind.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(1 of 2): How a corrie forms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F2F0"/>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a corrie is formed. (4 marks)</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Start: snow gathers in a mountainside hollow and is compressed into ice, which begins to move downhill.</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Back wall: plucking tears rock from the back of the hollow and makes it steeper.</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Floor: the ice rotates and scoops out the floor by abrasion, deepening the hollow.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(2 of 2): How a corrie forms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F2F0"/>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a corrie is formed. (4 marks)</a:t>
            </a:r>
            <a:endParaRPr lang="en-US" sz="2200" dirty="0"/>
          </a:p>
        </p:txBody>
      </p:sp>
      <p:sp>
        <p:nvSpPr>
          <p:cNvPr id="9" name="step-box"/>
          <p:cNvSpPr/>
          <p:nvPr/>
        </p:nvSpPr>
        <p:spPr>
          <a:xfrm>
            <a:off x="548640" y="2314956"/>
            <a:ext cx="5341468"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2909316"/>
            <a:ext cx="506714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End: when the ice melts, an armchair-shaped hollow is left, often with a tarn in the bottom.</a:t>
            </a:r>
            <a:endParaRPr lang="en-US" sz="1800" dirty="0"/>
          </a:p>
        </p:txBody>
      </p:sp>
      <p:sp>
        <p:nvSpPr>
          <p:cNvPr id="13" name="arrow"/>
          <p:cNvSpPr/>
          <p:nvPr/>
        </p:nvSpPr>
        <p:spPr>
          <a:xfrm>
            <a:off x="5963260" y="2909316"/>
            <a:ext cx="274320" cy="274320"/>
          </a:xfrm>
          <a:prstGeom prst="rightArrow">
            <a:avLst/>
          </a:prstGeom>
          <a:solidFill>
            <a:srgbClr val="B8862B"/>
          </a:solidFill>
          <a:ln/>
        </p:spPr>
      </p:sp>
      <p:sp>
        <p:nvSpPr>
          <p:cNvPr id="14" name="step-box"/>
          <p:cNvSpPr/>
          <p:nvPr/>
        </p:nvSpPr>
        <p:spPr>
          <a:xfrm>
            <a:off x="6301588" y="2314956"/>
            <a:ext cx="5341468" cy="1463040"/>
          </a:xfrm>
          <a:prstGeom prst="roundRect">
            <a:avLst>
              <a:gd name="adj" fmla="val 5000"/>
            </a:avLst>
          </a:prstGeom>
          <a:solidFill>
            <a:srgbClr val="FFFFFF"/>
          </a:solidFill>
          <a:ln w="15875">
            <a:solidFill>
              <a:srgbClr val="95AE9B"/>
            </a:solidFill>
            <a:prstDash val="solid"/>
          </a:ln>
        </p:spPr>
      </p:sp>
      <p:sp>
        <p:nvSpPr>
          <p:cNvPr id="15" name="step-hex"/>
          <p:cNvSpPr/>
          <p:nvPr/>
        </p:nvSpPr>
        <p:spPr>
          <a:xfrm>
            <a:off x="6438748" y="2424684"/>
            <a:ext cx="530352" cy="459285"/>
          </a:xfrm>
          <a:prstGeom prst="hexagon">
            <a:avLst/>
          </a:prstGeom>
          <a:solidFill>
            <a:srgbClr val="3F6B4A"/>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7" name="step"/>
          <p:cNvSpPr txBox="1"/>
          <p:nvPr/>
        </p:nvSpPr>
        <p:spPr>
          <a:xfrm>
            <a:off x="6438748" y="2909316"/>
            <a:ext cx="506714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Four linked steps, each naming a process, earns the four marks.</a:t>
            </a:r>
            <a:endParaRPr lang="en-US" sz="1800" dirty="0"/>
          </a:p>
        </p:txBody>
      </p:sp>
      <p:sp>
        <p:nvSpPr>
          <p:cNvPr id="18" name="worked-answer"/>
          <p:cNvSpPr/>
          <p:nvPr/>
        </p:nvSpPr>
        <p:spPr>
          <a:xfrm>
            <a:off x="1463040" y="4477004"/>
            <a:ext cx="9265615" cy="1667764"/>
          </a:xfrm>
          <a:prstGeom prst="roundRect">
            <a:avLst>
              <a:gd name="adj" fmla="val 1096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Snow gathers in a hollow on a mountainside and is compressed into ice, which starts to move downhill. Plucking tears blocks from the back of the hollow and steepens the back wall. The ice rotates as it moves and scoops out the floor by abrasion, deepening the hollow. When the ice melts, an armchair-shaped hollow with a steep back wall is left, and water may fill the floor to form a tarn.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Arêtes and pyramidal peaks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the corries: one makes a corrie, two make an arête, three or more make a pyramidal peak.</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Corries rarely form alone. Where two corries form back to back on opposite sides of a ridge, each one eats backwards into the mountain.</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Where three or more corries cut backwards into the same mountain from different sides, their back walls meet at the top and leave a sharp, pointed summit with several steep faces.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the three landforms are linked. One corrie is a hollow.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a corrie forms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stages in the correct order to explain how a corrie forms.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ice rotates and scoops out the floor of the hollow by abrasion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When the ice melts, water gathers on the floor to form a tarn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Plucking tears rock from the back wall and makes it steeper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ice becomes heavy enough to start moving downhill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Snow gathers in a hollow on the mountainside and is pressed into ice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(1 of 2): How a corrie forms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stages in the correct order to explain how a corrie forms.</a:t>
            </a:r>
            <a:endParaRPr lang="en-US" sz="2000" dirty="0"/>
          </a:p>
        </p:txBody>
      </p:sp>
      <p:sp>
        <p:nvSpPr>
          <p:cNvPr id="12" name="col-Support"/>
          <p:cNvSpPr/>
          <p:nvPr/>
        </p:nvSpPr>
        <p:spPr>
          <a:xfrm>
            <a:off x="548640" y="2578608"/>
            <a:ext cx="11094415"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10820095"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Nothing can happen without ice, so snow turning to ice comes first, and the ice must start moving before it can erode.</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Erosion comes next: the back wall first (plucking), then the floor (rotation and abrasion).</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tarn can only form after the ice has melted, so it comes last.</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 your order back as a story: snow, ice moves, back wall steepens, floor deepens, ice melts and a lake fills the hollow.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(2 of 2): How a corrie forms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stages in the correct order to explain how a corrie forms.</a:t>
            </a:r>
            <a:endParaRPr lang="en-US" sz="2000" dirty="0"/>
          </a:p>
        </p:txBody>
      </p:sp>
      <p:sp>
        <p:nvSpPr>
          <p:cNvPr id="12" name="col-Core"/>
          <p:cNvSpPr/>
          <p:nvPr/>
        </p:nvSpPr>
        <p:spPr>
          <a:xfrm>
            <a:off x="548640" y="2578608"/>
            <a:ext cx="5410048" cy="3566160"/>
          </a:xfrm>
          <a:prstGeom prst="roundRect">
            <a:avLst>
              <a:gd name="adj" fmla="val 1538"/>
            </a:avLst>
          </a:prstGeom>
          <a:solidFill>
            <a:srgbClr val="D8E1DA"/>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32563B"/>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Make the ice, move the ice, steepen the back, deepen the floor, melt and fill.</a:t>
            </a:r>
            <a:endParaRPr lang="en-US" sz="2200" dirty="0"/>
          </a:p>
        </p:txBody>
      </p:sp>
      <p:sp>
        <p:nvSpPr>
          <p:cNvPr id="17" name="col-Stretch"/>
          <p:cNvSpPr/>
          <p:nvPr/>
        </p:nvSpPr>
        <p:spPr>
          <a:xfrm>
            <a:off x="6233008" y="2578608"/>
            <a:ext cx="5410048" cy="3566160"/>
          </a:xfrm>
          <a:prstGeom prst="roundRect">
            <a:avLst>
              <a:gd name="adj" fmla="val 1538"/>
            </a:avLst>
          </a:prstGeom>
          <a:solidFill>
            <a:srgbClr val="3F6B4A"/>
          </a:solidFill>
          <a:ln/>
        </p:spPr>
      </p:sp>
      <p:sp>
        <p:nvSpPr>
          <p:cNvPr id="18" name="col-hex"/>
          <p:cNvSpPr/>
          <p:nvPr/>
        </p:nvSpPr>
        <p:spPr>
          <a:xfrm>
            <a:off x="634273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Explain why corries in the UK are usually found on the north-facing or north-east-facing sides of mountains.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landforms of glacial erosion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landform to its description.</a:t>
            </a:r>
            <a:endParaRPr lang="en-US" sz="2400" dirty="0"/>
          </a:p>
        </p:txBody>
      </p:sp>
      <p:sp>
        <p:nvSpPr>
          <p:cNvPr id="11" name="match-card"/>
          <p:cNvSpPr/>
          <p:nvPr/>
        </p:nvSpPr>
        <p:spPr>
          <a:xfrm>
            <a:off x="777240" y="2468331"/>
            <a:ext cx="3081437" cy="634375"/>
          </a:xfrm>
          <a:prstGeom prst="roundRect">
            <a:avLst>
              <a:gd name="adj" fmla="val 11531"/>
            </a:avLst>
          </a:prstGeom>
          <a:solidFill>
            <a:srgbClr val="F3F5F3"/>
          </a:solidFill>
          <a:ln/>
        </p:spPr>
      </p:sp>
      <p:sp>
        <p:nvSpPr>
          <p:cNvPr id="12" name="match-hex"/>
          <p:cNvSpPr/>
          <p:nvPr/>
        </p:nvSpPr>
        <p:spPr>
          <a:xfrm>
            <a:off x="850392" y="2619226"/>
            <a:ext cx="384048" cy="332586"/>
          </a:xfrm>
          <a:prstGeom prst="hexagon">
            <a:avLst/>
          </a:prstGeom>
          <a:solidFill>
            <a:srgbClr val="3F6B4A"/>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Corrie</a:t>
            </a:r>
            <a:endParaRPr lang="en-US" sz="2200" dirty="0"/>
          </a:p>
        </p:txBody>
      </p:sp>
      <p:sp>
        <p:nvSpPr>
          <p:cNvPr id="15" name="match-card"/>
          <p:cNvSpPr/>
          <p:nvPr/>
        </p:nvSpPr>
        <p:spPr>
          <a:xfrm>
            <a:off x="4224437" y="2468331"/>
            <a:ext cx="7190019" cy="634375"/>
          </a:xfrm>
          <a:prstGeom prst="roundRect">
            <a:avLst>
              <a:gd name="adj" fmla="val 11531"/>
            </a:avLst>
          </a:prstGeom>
          <a:solidFill>
            <a:srgbClr val="F8F2E9"/>
          </a:solidFill>
          <a:ln/>
        </p:spPr>
      </p:sp>
      <p:sp>
        <p:nvSpPr>
          <p:cNvPr id="16" name="match-hex"/>
          <p:cNvSpPr/>
          <p:nvPr/>
        </p:nvSpPr>
        <p:spPr>
          <a:xfrm>
            <a:off x="4297589" y="2619226"/>
            <a:ext cx="384048" cy="332586"/>
          </a:xfrm>
          <a:prstGeom prst="hexagon">
            <a:avLst/>
          </a:prstGeom>
          <a:solidFill>
            <a:srgbClr val="B8862B"/>
          </a:solidFill>
          <a:ln/>
        </p:spPr>
      </p:sp>
      <p:sp>
        <p:nvSpPr>
          <p:cNvPr id="17" name="match-hex-label"/>
          <p:cNvSpPr txBox="1"/>
          <p:nvPr/>
        </p:nvSpPr>
        <p:spPr>
          <a:xfrm>
            <a:off x="4297589"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knife-edged ridge left between two corries</a:t>
            </a:r>
            <a:endParaRPr lang="en-US" sz="2200" dirty="0"/>
          </a:p>
        </p:txBody>
      </p:sp>
      <p:sp>
        <p:nvSpPr>
          <p:cNvPr id="19" name="match-card"/>
          <p:cNvSpPr/>
          <p:nvPr/>
        </p:nvSpPr>
        <p:spPr>
          <a:xfrm>
            <a:off x="777240" y="3194147"/>
            <a:ext cx="3081437" cy="975243"/>
          </a:xfrm>
          <a:prstGeom prst="roundRect">
            <a:avLst>
              <a:gd name="adj" fmla="val 7501"/>
            </a:avLst>
          </a:prstGeom>
          <a:solidFill>
            <a:srgbClr val="F3F5F3"/>
          </a:solidFill>
          <a:ln/>
        </p:spPr>
      </p:sp>
      <p:sp>
        <p:nvSpPr>
          <p:cNvPr id="20" name="match-hex"/>
          <p:cNvSpPr/>
          <p:nvPr/>
        </p:nvSpPr>
        <p:spPr>
          <a:xfrm>
            <a:off x="850392" y="3515475"/>
            <a:ext cx="384048" cy="332586"/>
          </a:xfrm>
          <a:prstGeom prst="hexagon">
            <a:avLst/>
          </a:prstGeom>
          <a:solidFill>
            <a:srgbClr val="3F6B4A"/>
          </a:solidFill>
          <a:ln/>
        </p:spPr>
      </p:sp>
      <p:sp>
        <p:nvSpPr>
          <p:cNvPr id="21" name="match-hex-label"/>
          <p:cNvSpPr txBox="1"/>
          <p:nvPr/>
        </p:nvSpPr>
        <p:spPr>
          <a:xfrm>
            <a:off x="850392"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Arête</a:t>
            </a:r>
            <a:endParaRPr lang="en-US" sz="2200" dirty="0"/>
          </a:p>
        </p:txBody>
      </p:sp>
      <p:sp>
        <p:nvSpPr>
          <p:cNvPr id="23" name="match-card"/>
          <p:cNvSpPr/>
          <p:nvPr/>
        </p:nvSpPr>
        <p:spPr>
          <a:xfrm>
            <a:off x="4224437" y="3194147"/>
            <a:ext cx="7190019" cy="975243"/>
          </a:xfrm>
          <a:prstGeom prst="roundRect">
            <a:avLst>
              <a:gd name="adj" fmla="val 7501"/>
            </a:avLst>
          </a:prstGeom>
          <a:solidFill>
            <a:srgbClr val="F8F2E9"/>
          </a:solidFill>
          <a:ln/>
        </p:spPr>
      </p:sp>
      <p:sp>
        <p:nvSpPr>
          <p:cNvPr id="24" name="match-hex"/>
          <p:cNvSpPr/>
          <p:nvPr/>
        </p:nvSpPr>
        <p:spPr>
          <a:xfrm>
            <a:off x="4297589" y="3515475"/>
            <a:ext cx="384048" cy="332586"/>
          </a:xfrm>
          <a:prstGeom prst="hexagon">
            <a:avLst/>
          </a:prstGeom>
          <a:solidFill>
            <a:srgbClr val="B8862B"/>
          </a:solidFill>
          <a:ln/>
        </p:spPr>
      </p:sp>
      <p:sp>
        <p:nvSpPr>
          <p:cNvPr id="25" name="match-hex-label"/>
          <p:cNvSpPr txBox="1"/>
          <p:nvPr/>
        </p:nvSpPr>
        <p:spPr>
          <a:xfrm>
            <a:off x="4297589"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94147"/>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pointed summit left where three or more corries meet</a:t>
            </a:r>
            <a:endParaRPr lang="en-US" sz="2200" dirty="0"/>
          </a:p>
        </p:txBody>
      </p:sp>
      <p:sp>
        <p:nvSpPr>
          <p:cNvPr id="27" name="match-card"/>
          <p:cNvSpPr/>
          <p:nvPr/>
        </p:nvSpPr>
        <p:spPr>
          <a:xfrm>
            <a:off x="777240" y="4260830"/>
            <a:ext cx="3081437" cy="975243"/>
          </a:xfrm>
          <a:prstGeom prst="roundRect">
            <a:avLst>
              <a:gd name="adj" fmla="val 7501"/>
            </a:avLst>
          </a:prstGeom>
          <a:solidFill>
            <a:srgbClr val="F3F5F3"/>
          </a:solidFill>
          <a:ln/>
        </p:spPr>
      </p:sp>
      <p:sp>
        <p:nvSpPr>
          <p:cNvPr id="28" name="match-hex"/>
          <p:cNvSpPr/>
          <p:nvPr/>
        </p:nvSpPr>
        <p:spPr>
          <a:xfrm>
            <a:off x="850392" y="4582158"/>
            <a:ext cx="384048" cy="332586"/>
          </a:xfrm>
          <a:prstGeom prst="hexagon">
            <a:avLst/>
          </a:prstGeom>
          <a:solidFill>
            <a:srgbClr val="3F6B4A"/>
          </a:solidFill>
          <a:ln/>
        </p:spPr>
      </p:sp>
      <p:sp>
        <p:nvSpPr>
          <p:cNvPr id="29" name="match-hex-label"/>
          <p:cNvSpPr txBox="1"/>
          <p:nvPr/>
        </p:nvSpPr>
        <p:spPr>
          <a:xfrm>
            <a:off x="850392" y="45821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Pyramidal peak</a:t>
            </a:r>
            <a:endParaRPr lang="en-US" sz="2200" dirty="0"/>
          </a:p>
        </p:txBody>
      </p:sp>
      <p:sp>
        <p:nvSpPr>
          <p:cNvPr id="31" name="match-card"/>
          <p:cNvSpPr/>
          <p:nvPr/>
        </p:nvSpPr>
        <p:spPr>
          <a:xfrm>
            <a:off x="4224437" y="4260830"/>
            <a:ext cx="7190019" cy="975243"/>
          </a:xfrm>
          <a:prstGeom prst="roundRect">
            <a:avLst>
              <a:gd name="adj" fmla="val 7501"/>
            </a:avLst>
          </a:prstGeom>
          <a:solidFill>
            <a:srgbClr val="F8F2E9"/>
          </a:solidFill>
          <a:ln/>
        </p:spPr>
      </p:sp>
      <p:sp>
        <p:nvSpPr>
          <p:cNvPr id="32" name="match-hex"/>
          <p:cNvSpPr/>
          <p:nvPr/>
        </p:nvSpPr>
        <p:spPr>
          <a:xfrm>
            <a:off x="4297589" y="4582158"/>
            <a:ext cx="384048" cy="332586"/>
          </a:xfrm>
          <a:prstGeom prst="hexagon">
            <a:avLst/>
          </a:prstGeom>
          <a:solidFill>
            <a:srgbClr val="B8862B"/>
          </a:solidFill>
          <a:ln/>
        </p:spPr>
      </p:sp>
      <p:sp>
        <p:nvSpPr>
          <p:cNvPr id="33" name="match-hex-label"/>
          <p:cNvSpPr txBox="1"/>
          <p:nvPr/>
        </p:nvSpPr>
        <p:spPr>
          <a:xfrm>
            <a:off x="4297589" y="45821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armchair-shaped hollow with a steep back wall on a mountainside</a:t>
            </a:r>
            <a:endParaRPr lang="en-US" sz="2200" dirty="0"/>
          </a:p>
        </p:txBody>
      </p:sp>
      <p:sp>
        <p:nvSpPr>
          <p:cNvPr id="35" name="match-card"/>
          <p:cNvSpPr/>
          <p:nvPr/>
        </p:nvSpPr>
        <p:spPr>
          <a:xfrm>
            <a:off x="777240" y="5327513"/>
            <a:ext cx="3081437" cy="634375"/>
          </a:xfrm>
          <a:prstGeom prst="roundRect">
            <a:avLst>
              <a:gd name="adj" fmla="val 11531"/>
            </a:avLst>
          </a:prstGeom>
          <a:solidFill>
            <a:srgbClr val="F3F5F3"/>
          </a:solidFill>
          <a:ln/>
        </p:spPr>
      </p:sp>
      <p:sp>
        <p:nvSpPr>
          <p:cNvPr id="36" name="match-hex"/>
          <p:cNvSpPr/>
          <p:nvPr/>
        </p:nvSpPr>
        <p:spPr>
          <a:xfrm>
            <a:off x="850392" y="5478408"/>
            <a:ext cx="384048" cy="332586"/>
          </a:xfrm>
          <a:prstGeom prst="hexagon">
            <a:avLst/>
          </a:prstGeom>
          <a:solidFill>
            <a:srgbClr val="3F6B4A"/>
          </a:solidFill>
          <a:ln/>
        </p:spPr>
      </p:sp>
      <p:sp>
        <p:nvSpPr>
          <p:cNvPr id="37" name="match-hex-label"/>
          <p:cNvSpPr txBox="1"/>
          <p:nvPr/>
        </p:nvSpPr>
        <p:spPr>
          <a:xfrm>
            <a:off x="850392"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27513"/>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Tarn</a:t>
            </a:r>
            <a:endParaRPr lang="en-US" sz="2200" dirty="0"/>
          </a:p>
        </p:txBody>
      </p:sp>
      <p:sp>
        <p:nvSpPr>
          <p:cNvPr id="39" name="match-card"/>
          <p:cNvSpPr/>
          <p:nvPr/>
        </p:nvSpPr>
        <p:spPr>
          <a:xfrm>
            <a:off x="4224437" y="5327513"/>
            <a:ext cx="7190019" cy="634375"/>
          </a:xfrm>
          <a:prstGeom prst="roundRect">
            <a:avLst>
              <a:gd name="adj" fmla="val 11531"/>
            </a:avLst>
          </a:prstGeom>
          <a:solidFill>
            <a:srgbClr val="F8F2E9"/>
          </a:solidFill>
          <a:ln/>
        </p:spPr>
      </p:sp>
      <p:sp>
        <p:nvSpPr>
          <p:cNvPr id="40" name="match-hex"/>
          <p:cNvSpPr/>
          <p:nvPr/>
        </p:nvSpPr>
        <p:spPr>
          <a:xfrm>
            <a:off x="4297589" y="5478408"/>
            <a:ext cx="384048" cy="332586"/>
          </a:xfrm>
          <a:prstGeom prst="hexagon">
            <a:avLst/>
          </a:prstGeom>
          <a:solidFill>
            <a:srgbClr val="B8862B"/>
          </a:solidFill>
          <a:ln/>
        </p:spPr>
      </p:sp>
      <p:sp>
        <p:nvSpPr>
          <p:cNvPr id="41" name="match-hex-label"/>
          <p:cNvSpPr txBox="1"/>
          <p:nvPr/>
        </p:nvSpPr>
        <p:spPr>
          <a:xfrm>
            <a:off x="4297589"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27513"/>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lake in the bottom of a corrie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Four landforms of glacial erosion</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landform to its description.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of these is water, not rock. Match the lake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is a hollow: the armchair shape. That is the corrie.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left, one is a ridge (a line) and one is a peak (a point).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corries in each description: two for the ridge, three or more for the peak.</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Hollow, ridge, point, lake. Which word is which?</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an arête and a pyramidal peak cannot form without corries forming first.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corrie?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knife-edged ridge between two hollows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armchair-shaped hollow with a steep back wall, carved high on a mountainside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lake on the floor of a U-shaped valley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pointed peak where three hollows meet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a corrie forms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Snow gathers in a hollow on the mountainside and is pressed into ice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ice becomes heavy enough to start moving downhill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Plucking tears rock from the back wall and makes it steeper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ice rotates and scoops out the floor of the hollow by abrasion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When the ice melts, water gathers on the floor to form a tarn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Snow collects in a hollow and is compressed into ice, which begins to move downhill. Plucking steepens the back wall. The rotating ice scoops out the floor by abrasion. When the ice melts, water gathers on the floor and forms a tarn.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Four landforms of glacial erosion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Corrie  →  C  An armchair-shaped hollow with a steep back wall on a mountainside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Arête  →  A  A knife-edged ridge left between two corries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Pyramidal peak  →  B  A pointed summit left where three or more corries meet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Tarn  →  D  A lake in the bottom of a corrie</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corrie is the hollow. An arête is the ridge between two corries. A pyramidal peak is the point where three or more corries meet. A tarn is the lake left in the bottom of a corrie.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corrie?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An armchair-shaped hollow with a steep back wall, carved high on a mountainside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corrie is a rounded, armchair-shaped hollow with a steep back wall, carved into a mountainside by a glacier.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Glaciers and Landforms · Chapter 4: Corries, arêtes and pyramidal peaks</dc:title>
  <dc:subject>Geography · Year 8</dc:subject>
  <dc:creator>Dr Vitor Merissi de Carvalho</dc:creator>
  <cp:lastModifiedBy>Dr Vitor Merissi de Carvalho</cp:lastModifiedBy>
  <cp:revision>1</cp:revision>
  <dcterms:created xsi:type="dcterms:W3CDTF">2026-10-19T16:22:50Z</dcterms:created>
  <dcterms:modified xsi:type="dcterms:W3CDTF">2026-10-19T16:22:50Z</dcterms:modified>
</cp:coreProperties>
</file>