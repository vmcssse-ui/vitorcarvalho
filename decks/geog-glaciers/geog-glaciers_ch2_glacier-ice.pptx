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323540e-4419-31f6-e66e-7fed66c31f9a}">
          <p14:sldIdLst>
            <p14:sldId id="256"/>
          </p14:sldIdLst>
        </p14:section>
        <p14:section name="Gate" id="{9df1ef13-f7a3-febc-7f77-c7917d3f5995}">
          <p14:sldIdLst>
            <p14:sldId id="257"/>
            <p14:sldId id="258"/>
          </p14:sldIdLst>
        </p14:section>
        <p14:section name="Pre-teach" id="{5cdd0ef9-1187-41d2-97f1-7c81b12cd1cf}">
          <p14:sldIdLst>
            <p14:sldId id="259"/>
            <p14:sldId id="260"/>
          </p14:sldIdLst>
        </p14:section>
        <p14:section name="Read-along" id="{f26c9943-fffc-5931-11c1-7080bbaf2c60}">
          <p14:sldIdLst>
            <p14:sldId id="261"/>
            <p14:sldId id="262"/>
          </p14:sldIdLst>
        </p14:section>
        <p14:section name="Teach" id="{f50fd3c0-9df0-0179-c67b-62cc73e7307a}">
          <p14:sldIdLst>
            <p14:sldId id="263"/>
            <p14:sldId id="264"/>
            <p14:sldId id="265"/>
            <p14:sldId id="266"/>
          </p14:sldIdLst>
        </p14:section>
        <p14:section name="Routes" id="{fe267faf-be3c-c9ac-b01d-ec9d567ecc41}">
          <p14:sldIdLst>
            <p14:sldId id="267"/>
            <p14:sldId id="268"/>
            <p14:sldId id="269"/>
            <p14:sldId id="270"/>
          </p14:sldIdLst>
        </p14:section>
        <p14:section name="Close" id="{43097a52-2edc-406c-d466-0b1cefdcee11}">
          <p14:sldIdLst>
            <p14:sldId id="271"/>
          </p14:sldIdLst>
        </p14:section>
        <p14:section name="Answers" id="{97c30333-0b0b-65f3-af0f-e06b8e1a82ef}">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From snow to ice: how a glacier forms and works. How layers of snow are squeezed into glacier ice, how a glacier works as a system with inputs, stores, flows and outputs, and how its budget decides whether it grows or shrinks.
This deck covers the department's lessons: 3 (How do glaciers form?: How does fresh snow turn into glacier ice, and how long does it take?); 4 (The glacier system and glacier budget: What are the inputs, stores, flows and outputs of a glacier, and when does it advance or retreat?).
Read the big question aloud: "How does ice shape the land, and what happens to the landscape and to people when glaciers grow or shrink?"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Hard, compacted snow that is on its way to becoming glacier ice is called ___.  →  névé
2. Which of these is an output of the glacier system?  →  B   Meltwater running out of the snout
3. Glacier ice may take as long as how many years to form from snow?  →  20 years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névé. Névé is the hard, packed snow you reach when most of the air has been squeezed out. When all the air has gone, it is glacier ice.
2. B   Meltwater running out of the snout. An output is what leaves the system. Meltwater leaves the glacier at the snout; a little water also leaves by evaporation.
3. 20 years. The deck says glacier ice may take as long as 20 years to form, as the weight of new snow squeezes all the air out of the layers beneath.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compaction: being squeezed tightly together by weight from above. Example: "Compaction turns loose snow into hard ice."
• névé: hard, packed snow that is on its way to becoming glacier ice. Example: "Dig down through fresh snow and you reach névé."
• accumulation: snow being added to a glacier. Example: "Accumulation is greatest near the top of the glacier in winter."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ablation: ice being lost from a glacier by melting. Example: "Ablation is greatest near the bottom of the glacier in summer."
• snout: the end of a glacier, where the ice stops. Example: "A stream of meltwater runs out from the snout."
• system: a set of parts with inputs, stores, flows and outputs. Example: "A bath with its tap and plughole is a simple system."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Glacier ice begins as snow.
2. Each year, new snow falls on top of the old snow.
3. The snow builds up in layers, with the oldest at the bottom.
4. The weight of new snow presses down on the layers underneath.
5. Air is squeezed out, and the snow becomes more like ice.
6. Hard, packed snow is called névé.
7. When all the air has gone, it is glacier ice.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This can take as long as 20 years.
9. A glacier works like a system, with inputs, stores, flows and outputs.
10. Snow is the main input, and ice is the store.
11. The glacier flows slowly downhill, and meltwater is the main output.
12. Snow added to a glacier is called accumulation.
13. Ice lost by melting is called ablation.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Snow becomes ice. Say it in your own words, then check understanding with a quick question: ask a pupil from the pre-teach group first, since they met these words and ideas before the lesson. Pupils try to recall before you re-explain.
A glacier does not start as ice. It starts as snow, falling year after year in a place so cold that the snow never fully melts. Each year's snowfall makes a new layer, so the fresh snow is at the surface and the older snow lies deeper down. The weight of each new snowfall presses on the layers beneath it. This squeezing is called compaction.
As the snow is compressed, the air trapped between the flakes is forced out, and the snow becomes more and more like ice. Hard, packed snow is called névé. It is the first sign that glacier ice is near. When all the air has been forced out by compaction, the névé has become glacier ice. The deck says this can take as long as 20 years.
Think of making a snowball. Loose snow is light and full of air. Squeeze it hard in your hands and it becomes a small, heavy, icy lump. A glacier is the same process on a giant scale, with the weight of many winters doing the squeezing.
Tip: Six stages, in order: new layer each year; fresh snow on top, old snow below; weight presses the layers; air is forced out; névé forms; glacier ice when all the air has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glacier as a system. Say it in your own words, then check understanding with a quick question: ask a pupil from the pre-teach group first, since they met these words and ideas before the lesson. Pupils try to recall before you re-explain.
Geographers describe a glacier as a system: a set of parts with inputs (what comes in), stores (what is held), flows (what moves through) and outputs (what leaves). A bath is a simple system. The tap is the input, the water in the bath is the store, water moving across the bath is the flow, and the plughole is the output.
In a glacier, the inputs are snow falling at the top of the glacier, in the zone of accumulation, and snow and ice tumbling onto it in avalanches from the slopes above. The store is the ice itself, together with the snow and névé on top of it. The flow (the deck also calls it the transfer) is the glacier moving slowly downhill under gravity. The outputs are meltwater, which runs out from the snout, and a small amount of water that evaporates straight into the air.
Thinking of a glacier as a system is useful because it lets you predict what happens when one part changes. Less snow in, or more melting out, and the store of ice must get smaller.
Worked example — model it step by step, thinking aloud: Give one input, one store, one flow and one output of a glacier system. (4 marks) (1) Input: what comes into the glacier? Snow falling at the top. (2) Store: what does the glacier hold? Ice. (3) Flow: what moves? The glacier itself, creeping downhill under gravity. (4) Output: what leaves? Meltwater from the snout. (5) One correct example for each part earns the four marks. Answer: Input: snow falling on the top of the glacier. Store: the ice. Flow: the glacier moving slowly downhill. Output: meltwater leaving the snout..
Tip: If you forget which is which, go back to the bath: tap (in), bath water (store), water moving (flow), plughole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glacier as a system. Say it in your own words, then check understanding with a quick question: ask a pupil from the pre-teach group first, since they met these words and ideas before the lesson. Pupils try to recall before you re-explain.
Geographers describe a glacier as a system: a set of parts with inputs (what comes in), stores (what is held), flows (what moves through) and outputs (what leaves). A bath is a simple system. The tap is the input, the water in the bath is the store, water moving across the bath is the flow, and the plughole is the output.
In a glacier, the inputs are snow falling at the top of the glacier, in the zone of accumulation, and snow and ice tumbling onto it in avalanches from the slopes above. The store is the ice itself, together with the snow and névé on top of it. The flow (the deck also calls it the transfer) is the glacier moving slowly downhill under gravity. The outputs are meltwater, which runs out from the snout, and a small amount of water that evaporates straight into the air.
Thinking of a glacier as a system is useful because it lets you predict what happens when one part changes. Less snow in, or more melting out, and the store of ice must get smaller.
Worked example — model it step by step, thinking aloud: Give one input, one store, one flow and one output of a glacier system. (4 marks) (1) Input: what comes into the glacier? Snow falling at the top. (2) Store: what does the glacier hold? Ice. (3) Flow: what moves? The glacier itself, creeping downhill under gravity. (4) Output: what leaves? Meltwater from the snout. (5) One correct example for each part earns the four marks. Answer: Input: snow falling on the top of the glacier. Store: the ice. Flow: the glacier moving slowly downhill. Output: meltwater leaving the snout..
Tip: If you forget which is which, go back to the bath: tap (in), bath water (store), water moving (flow), plughole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glacier budget. Say it in your own words, then check understanding with a quick question: ask a pupil from the pre-teach group first, since they met these words and ideas before the lesson. Pupils try to recall before you re-explain.
A budget balances what comes in against what goes out. A glacier's budget balances accumulation against ablation. Accumulation is snow being added. It is greatest near the top of the glacier, in winter, when it is coldest. Ablation is ice being lost by melting. It is greatest at the bottom of the mountain, around the snout, in summer, when it is warmest. The upper part of a glacier is the zone of accumulation; the lower part is the zone of ablation.
If accumulation is greater than ablation, more ice is added than is lost, so the glacier gets bigger and its snout pushes further down the valley. This is called an advance. If ablation is greater than accumulation, more ice melts than is added, so the glacier shrinks and its snout moves back up the valley. This is called a retreat. If the two are equal, the glacier stays the same size, even though the ice inside it is still flowing downhill.
Most glaciers in the world today are retreating. Chapter 6 asks why, and what it means for people.
Tip: Accumulation adds; ablation takes away. Both start with a, so link them to their place and season: accumulation at the top in winter, ablation at the bottom in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snowflake to glacier 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in the correct order to explain how glacier ice is formed.
Support — work through the steps with the group: (1) Start with the snow arriving: a new layer each year. Then say where the new and old snow are. (2) Next comes the cause of the change: the weight of new snow pressing down. (3) Then the effect: air is forced out and the snow becomes more like ice. (4) Finish with the two names: névé first, glacier ice last, when all the air has gone.
Parallel worked example for Support (model it, do not give the task answer): Put in order: the clay is fired in a kiln and becomes hard; soft clay is shaped into a pot; the pot is left to dry. First the material arrives and is shaped: soft clay into a pot.; Then the slow change: drying.; Last the final product: fired, hard pottery.. Answer: Soft clay is shaped into a pot; the pot is left to dry; the clay is fired and becomes hard..
Core — reveal the hint only on request: Arrive, pile up, squeeze, lose air, névé, ice. The two named materials come last, in that order.
Stretch — no help; when finished: Explain why glacier ice can only form in places where some of each winter's snow survives the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snowflake to glacier 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in the correct order to explain how glacier ice is formed.
Support — work through the steps with the group: (1) Start with the snow arriving: a new layer each year. Then say where the new and old snow are. (2) Next comes the cause of the change: the weight of new snow pressing down. (3) Then the effect: air is forced out and the snow becomes more like ice. (4) Finish with the two names: névé first, glacier ice last, when all the air has gone.
Parallel worked example for Support (model it, do not give the task answer): Put in order: the clay is fired in a kiln and becomes hard; soft clay is shaped into a pot; the pot is left to dry. First the material arrives and is shaped: soft clay into a pot.; Then the slow change: drying.; Last the final product: fired, hard pottery.. Answer: Soft clay is shaped into a pot; the pot is left to dry; the clay is fired and becomes hard..
Core — reveal the hint only on request: Arrive, pile up, squeeze, lose air, névé, ice. The two named materials come last, in that order.
Stretch — no help; when finished: Explain why glacier ice can only form in places where some of each winter's snow survives the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Parts of the glacier system.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the glacier system to its example.
Support — work through the steps with the group: (1) Input means coming in. What arrives at the glacier from outside? Snow. (2) Store means held. What does the glacier keep? Ice. (3) Flow means moving through. What moves? The glacier itself, creeping downhill. (4) Output means leaving. What leaves the glacier? Meltwater.
Parallel worked example for Support (model it, do not give the task answer): Match the parts of a bath system: input, store, flow, output. Choices: water running out of the plughole; water moving across the bath; water from the tap; the water held in the bath. Tap = in, so input.; Water held in the bath = store.; Water moving across the bath = flow.; Plughole = out, so output.. Answer: Input: water from the tap. Store: the water held in the bath. Flow: water moving across the bath. Output: water running out of the plughole..
Core — reveal the hint only on request: Think of the bath: tap, bath water, water moving, plughole. Which glacier part plays each role?
Stretch — no help; when finished: Explain what would happen to the store if the input increased for ten years while the output stayed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Parts of the glacier system.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the glacier system to its example.
Support — work through the steps with the group: (1) Input means coming in. What arrives at the glacier from outside? Snow. (2) Store means held. What does the glacier keep? Ice. (3) Flow means moving through. What moves? The glacier itself, creeping downhill. (4) Output means leaving. What leaves the glacier? Meltwater.
Parallel worked example for Support (model it, do not give the task answer): Match the parts of a bath system: input, store, flow, output. Choices: water running out of the plughole; water moving across the bath; water from the tap; the water held in the bath. Tap = in, so input.; Water held in the bath = store.; Water moving across the bath = flow.; Plughole = out, so output.. Answer: Input: water from the tap. Store: the water held in the bath. Flow: water moving across the bath. Output: water running out of the plughole..
Core — reveal the hint only on request: Think of the bath: tap, bath water, water moving, plughole. Which glacier part plays each role?
Stretch — no help; when finished: Explain what would happen to the store if the input increased for ten years while the output stayed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one year, a glacier gains the equivalent of 8 metres of ice in its zone of accumulation and loses 11 metres of ice in its zone of ablation. How many metres more did it lose than it gained?
Answer: 3 m. The glacier lost 11 metres and gained 8, so it lost 11 − 8 = 3 metres more than it gained. Ablation is greater than accumulation, so the glacier is shrinking: a retreat.
Source of this question: module 3 task ("Reading a glacier budget")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snowflake to glacier ice. Reveal the answer; pupils mark their own work in a different colour, then read the "why" together. Same destination for every lane, so one answer serves the whole class.
Answer: Each year snow falls and makes a new, separate layer  (C); Fresh snow lies at the surface, and the deeper you dig, the older the snow  (A); The weight of each new snowfall presses on the layers beneath  (B); As the air is forced out, the snow becomes more and more like ice  (D); Hard, packed snow called névé forms  (F); When all the air has been forced out by compaction, glacier ice has formed  (E)
Why: Snow falls in yearly layers, fresh on top and old below. The weight of new snow compresses the layers beneath, forcing out air so the snow becomes more like ice. Hard, packed snow is névé; when all the air has gone, it is glacier ice, which may take as long as 20 years.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Parts of the glacier system. Reveal the answer; pupils mark their own work in a different colour, then read the "why" together. Same destination for every lane, so one answer serves the whole class.
Answer: Input  →  B  Snow falling on the top of the glacier; Store  →  D  The ice held in the glacier; Flow  →  C  The glacier moving slowly downhill under gravity; Output  →  A  Meltwater leaving the snout
Why: Snow is the input because it arrives from outside. Ice is the store because the glacier holds it. The glacier moving downhill is the flow. Meltwater leaving the snout is the output, with a little evaporation.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3 m
Why: The glacier lost 11 metres and gained 8, so it lost 11 − 8 = 3 metres more than it gained. Ablation is greater than accumulation, so the glacier is shrinking: a retreat.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Glaciers and Landforms · AQA KS3 → 8035</a:t>
            </a:r>
            <a:endParaRPr lang="en-US" sz="1800" dirty="0"/>
          </a:p>
        </p:txBody>
      </p:sp>
      <p:sp>
        <p:nvSpPr>
          <p:cNvPr id="10" name="deck-title"/>
          <p:cNvSpPr txBox="1"/>
          <p:nvPr/>
        </p:nvSpPr>
        <p:spPr>
          <a:xfrm>
            <a:off x="548640" y="235127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From snow to ice: how a glacier forms and works</a:t>
            </a:r>
            <a:endParaRPr lang="en-US" sz="3200" dirty="0"/>
          </a:p>
        </p:txBody>
      </p:sp>
      <p:sp>
        <p:nvSpPr>
          <p:cNvPr id="11" name="lessons-card"/>
          <p:cNvSpPr/>
          <p:nvPr/>
        </p:nvSpPr>
        <p:spPr>
          <a:xfrm>
            <a:off x="548640" y="3763518"/>
            <a:ext cx="5287975" cy="1328420"/>
          </a:xfrm>
          <a:prstGeom prst="roundRect">
            <a:avLst>
              <a:gd name="adj" fmla="val 5507"/>
            </a:avLst>
          </a:prstGeom>
          <a:solidFill>
            <a:srgbClr val="EFF2F0"/>
          </a:solidFill>
          <a:ln/>
        </p:spPr>
      </p:sp>
      <p:sp>
        <p:nvSpPr>
          <p:cNvPr id="12" name="lessons"/>
          <p:cNvSpPr txBox="1"/>
          <p:nvPr/>
        </p:nvSpPr>
        <p:spPr>
          <a:xfrm>
            <a:off x="685800" y="38549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do glaciers form?</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glacier system and glacier budget</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ice shape the land, and what happens to the landscape and to people when glaciers grow or shrink?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Hard, compacted snow that is on its way to becoming glacier ice is called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névé  ·  meltwater  ·  sleet</a:t>
            </a:r>
            <a:endParaRPr lang="en-US" sz="24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of these is an output of the glacier system?</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Snow falling on the top of the glacier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Meltwater running out of the snout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ice held in the glacier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An avalanche falling onto the glacier</a:t>
            </a:r>
            <a:endParaRPr lang="en-US" sz="20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Glacier ice may take as long as how many years to form from snow?</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névé</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Hard, compacted snow that is on its way to becoming glacier ice is called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Névé is the hard, packed snow you reach when most of the air has been squeezed out. When all the air has gone, it is glacier ice.</a:t>
            </a:r>
            <a:endParaRPr lang="en-US" sz="20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EE3CD"/>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Meltwater running out of the snout</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an output of the glacier system?</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An output is what leaves the system. Meltwater leaves the glacier at the snout; a little water also leaves by evaporation.</a:t>
            </a:r>
            <a:endParaRPr lang="en-US" sz="20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20 years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Glacier ice may take as long as how many years to form from snow?</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deck says glacier ice may take as long as 20 years to form, as the weight of new snow squeezes all the air out of the layers beneath.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compaction</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being squeezed tightly together by weight from above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Compaction turns loose snow into hard ice.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névé</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hard, packed snow that is on its way to becoming glacier ice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Dig down through fresh snow and you reach névé.</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accumulation</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snow being added to a glacier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Accumulation is greatest near the top of the glacier in winter.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ablation</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ice being lost from a glacier by melting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Ablation is greatest near the bottom of the glacier in summer.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snout</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end of a glacier, where the ice stops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stream of meltwater runs out from the snout.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system</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set of parts with inputs, stores, flows and outputs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bath with its tap and plughole is a simple system.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Glacier ice begins as snow.</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year, new snow falls on top of the old snow.</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snow builds up in layers, with the oldest at the bottom.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weight of new snow presses down on the layers underneath.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Air is squeezed out, and the snow becomes more like ice.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Hard, packed snow is called névé.</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When all the air has gone, it is glacier ice.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can take as long as 20 years.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glacier works like 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system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with inputs, stores, flows and outputs.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Snow is the main input, and ice is the store.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glacier flows slowly downhill, and meltwater is the main output.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Snow added to a glacier is called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accumulation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Ice lost by melting is called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ablation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Snow becomes ice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Six stages, in order: new layer each year; fresh snow on top, old snow below; weight presses the layers; air is forced out; névé forms; glacier ice when all the air has gone.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glacier does not start as ice. It starts as snow, falling year after year in a place so cold that the snow never fully melts.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As the snow is compressed, the air trapped between the flakes is forced out, and the snow becomes more and more like ice.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Think of making a snowball. Loose snow is light and full of air.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glacier as a system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forget which is which, go back to the bath: tap (in), bath water (store), water moving (flow), plughole (out).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Geographers describe a glacier as a system: a set of parts with inputs (what comes in), stores (what is held), flows (what moves through) and outputs (what leaves).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a glacier, the inputs are snow falling at the top of the glacier, in the zone of accumulation, and snow and ice tumbling onto it in avalanches from the slopes above.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Thinking of a glacier as a system is useful because it lets you predict what happens when one part changes.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The glacier as a system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FF2F0"/>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Give one input, one store, one flow and one output of a glacier system. (4 marks)</a:t>
            </a:r>
            <a:endParaRPr lang="en-US" sz="2000" dirty="0"/>
          </a:p>
        </p:txBody>
      </p:sp>
      <p:sp>
        <p:nvSpPr>
          <p:cNvPr id="9" name="step-box"/>
          <p:cNvSpPr/>
          <p:nvPr/>
        </p:nvSpPr>
        <p:spPr>
          <a:xfrm>
            <a:off x="548640" y="2192528"/>
            <a:ext cx="11094415" cy="511048"/>
          </a:xfrm>
          <a:prstGeom prst="roundRect">
            <a:avLst>
              <a:gd name="adj" fmla="val 14314"/>
            </a:avLst>
          </a:prstGeom>
          <a:solidFill>
            <a:srgbClr val="FFFFFF"/>
          </a:solidFill>
          <a:ln w="15875">
            <a:solidFill>
              <a:srgbClr val="95AE9B"/>
            </a:solidFill>
            <a:prstDash val="solid"/>
          </a:ln>
        </p:spPr>
      </p:sp>
      <p:sp>
        <p:nvSpPr>
          <p:cNvPr id="10" name="step-hex"/>
          <p:cNvSpPr/>
          <p:nvPr/>
        </p:nvSpPr>
        <p:spPr>
          <a:xfrm>
            <a:off x="685800" y="2250084"/>
            <a:ext cx="457200" cy="395935"/>
          </a:xfrm>
          <a:prstGeom prst="hexagon">
            <a:avLst/>
          </a:prstGeom>
          <a:solidFill>
            <a:srgbClr val="3F6B4A"/>
          </a:solidFill>
          <a:ln/>
        </p:spPr>
      </p:sp>
      <p:sp>
        <p:nvSpPr>
          <p:cNvPr id="11" name="step-hex-label"/>
          <p:cNvSpPr txBox="1"/>
          <p:nvPr/>
        </p:nvSpPr>
        <p:spPr>
          <a:xfrm>
            <a:off x="685800" y="22500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Input: what comes into the glacier? Snow falling at the top.</a:t>
            </a:r>
            <a:endParaRPr lang="en-US" sz="1800" dirty="0"/>
          </a:p>
        </p:txBody>
      </p:sp>
      <p:sp>
        <p:nvSpPr>
          <p:cNvPr id="13" name="step-box"/>
          <p:cNvSpPr/>
          <p:nvPr/>
        </p:nvSpPr>
        <p:spPr>
          <a:xfrm>
            <a:off x="548640" y="2776728"/>
            <a:ext cx="11094415" cy="511048"/>
          </a:xfrm>
          <a:prstGeom prst="roundRect">
            <a:avLst>
              <a:gd name="adj" fmla="val 14314"/>
            </a:avLst>
          </a:prstGeom>
          <a:solidFill>
            <a:srgbClr val="FFFFFF"/>
          </a:solidFill>
          <a:ln w="15875">
            <a:solidFill>
              <a:srgbClr val="95AE9B"/>
            </a:solidFill>
            <a:prstDash val="solid"/>
          </a:ln>
        </p:spPr>
      </p:sp>
      <p:sp>
        <p:nvSpPr>
          <p:cNvPr id="14" name="step-hex"/>
          <p:cNvSpPr/>
          <p:nvPr/>
        </p:nvSpPr>
        <p:spPr>
          <a:xfrm>
            <a:off x="685800" y="2834284"/>
            <a:ext cx="457200" cy="395935"/>
          </a:xfrm>
          <a:prstGeom prst="hexagon">
            <a:avLst/>
          </a:prstGeom>
          <a:solidFill>
            <a:srgbClr val="3F6B4A"/>
          </a:solidFill>
          <a:ln/>
        </p:spPr>
      </p:sp>
      <p:sp>
        <p:nvSpPr>
          <p:cNvPr id="15" name="step-hex-label"/>
          <p:cNvSpPr txBox="1"/>
          <p:nvPr/>
        </p:nvSpPr>
        <p:spPr>
          <a:xfrm>
            <a:off x="685800" y="28342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767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Store: what does the glacier hold? Ice.</a:t>
            </a:r>
            <a:endParaRPr lang="en-US" sz="1800" dirty="0"/>
          </a:p>
        </p:txBody>
      </p:sp>
      <p:sp>
        <p:nvSpPr>
          <p:cNvPr id="17" name="step-box"/>
          <p:cNvSpPr/>
          <p:nvPr/>
        </p:nvSpPr>
        <p:spPr>
          <a:xfrm>
            <a:off x="548640" y="3360928"/>
            <a:ext cx="11094415" cy="511048"/>
          </a:xfrm>
          <a:prstGeom prst="roundRect">
            <a:avLst>
              <a:gd name="adj" fmla="val 14314"/>
            </a:avLst>
          </a:prstGeom>
          <a:solidFill>
            <a:srgbClr val="FFFFFF"/>
          </a:solidFill>
          <a:ln w="15875">
            <a:solidFill>
              <a:srgbClr val="95AE9B"/>
            </a:solidFill>
            <a:prstDash val="solid"/>
          </a:ln>
        </p:spPr>
      </p:sp>
      <p:sp>
        <p:nvSpPr>
          <p:cNvPr id="18" name="step-hex"/>
          <p:cNvSpPr/>
          <p:nvPr/>
        </p:nvSpPr>
        <p:spPr>
          <a:xfrm>
            <a:off x="685800" y="3418484"/>
            <a:ext cx="457200" cy="395935"/>
          </a:xfrm>
          <a:prstGeom prst="hexagon">
            <a:avLst/>
          </a:prstGeom>
          <a:solidFill>
            <a:srgbClr val="3F6B4A"/>
          </a:solidFill>
          <a:ln/>
        </p:spPr>
      </p:sp>
      <p:sp>
        <p:nvSpPr>
          <p:cNvPr id="19" name="step-hex-label"/>
          <p:cNvSpPr txBox="1"/>
          <p:nvPr/>
        </p:nvSpPr>
        <p:spPr>
          <a:xfrm>
            <a:off x="685800" y="34184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3609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Flow: what moves? The glacier itself, creeping downhill under gravity.</a:t>
            </a:r>
            <a:endParaRPr lang="en-US" sz="1800" dirty="0"/>
          </a:p>
        </p:txBody>
      </p:sp>
      <p:sp>
        <p:nvSpPr>
          <p:cNvPr id="21" name="step-box"/>
          <p:cNvSpPr/>
          <p:nvPr/>
        </p:nvSpPr>
        <p:spPr>
          <a:xfrm>
            <a:off x="548640" y="3945128"/>
            <a:ext cx="11094415" cy="511048"/>
          </a:xfrm>
          <a:prstGeom prst="roundRect">
            <a:avLst>
              <a:gd name="adj" fmla="val 14314"/>
            </a:avLst>
          </a:prstGeom>
          <a:solidFill>
            <a:srgbClr val="FFFFFF"/>
          </a:solidFill>
          <a:ln w="15875">
            <a:solidFill>
              <a:srgbClr val="95AE9B"/>
            </a:solidFill>
            <a:prstDash val="solid"/>
          </a:ln>
        </p:spPr>
      </p:sp>
      <p:sp>
        <p:nvSpPr>
          <p:cNvPr id="22" name="step-hex"/>
          <p:cNvSpPr/>
          <p:nvPr/>
        </p:nvSpPr>
        <p:spPr>
          <a:xfrm>
            <a:off x="685800" y="4002684"/>
            <a:ext cx="457200" cy="395935"/>
          </a:xfrm>
          <a:prstGeom prst="hexagon">
            <a:avLst/>
          </a:prstGeom>
          <a:solidFill>
            <a:srgbClr val="3F6B4A"/>
          </a:solidFill>
          <a:ln/>
        </p:spPr>
      </p:sp>
      <p:sp>
        <p:nvSpPr>
          <p:cNvPr id="23" name="step-hex-label"/>
          <p:cNvSpPr txBox="1"/>
          <p:nvPr/>
        </p:nvSpPr>
        <p:spPr>
          <a:xfrm>
            <a:off x="685800" y="40026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39451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Output: what leaves? Meltwater from the snout.</a:t>
            </a:r>
            <a:endParaRPr lang="en-US" sz="1800" dirty="0"/>
          </a:p>
        </p:txBody>
      </p:sp>
      <p:sp>
        <p:nvSpPr>
          <p:cNvPr id="25" name="step-box"/>
          <p:cNvSpPr/>
          <p:nvPr/>
        </p:nvSpPr>
        <p:spPr>
          <a:xfrm>
            <a:off x="548640" y="4529328"/>
            <a:ext cx="11094415" cy="511048"/>
          </a:xfrm>
          <a:prstGeom prst="roundRect">
            <a:avLst>
              <a:gd name="adj" fmla="val 14314"/>
            </a:avLst>
          </a:prstGeom>
          <a:solidFill>
            <a:srgbClr val="FFFFFF"/>
          </a:solidFill>
          <a:ln w="15875">
            <a:solidFill>
              <a:srgbClr val="95AE9B"/>
            </a:solidFill>
            <a:prstDash val="solid"/>
          </a:ln>
        </p:spPr>
      </p:sp>
      <p:sp>
        <p:nvSpPr>
          <p:cNvPr id="26" name="step-hex"/>
          <p:cNvSpPr/>
          <p:nvPr/>
        </p:nvSpPr>
        <p:spPr>
          <a:xfrm>
            <a:off x="685800" y="4586884"/>
            <a:ext cx="457200" cy="395935"/>
          </a:xfrm>
          <a:prstGeom prst="hexagon">
            <a:avLst/>
          </a:prstGeom>
          <a:solidFill>
            <a:srgbClr val="3F6B4A"/>
          </a:solidFill>
          <a:ln/>
        </p:spPr>
      </p:sp>
      <p:sp>
        <p:nvSpPr>
          <p:cNvPr id="27" name="step-hex-label"/>
          <p:cNvSpPr txBox="1"/>
          <p:nvPr/>
        </p:nvSpPr>
        <p:spPr>
          <a:xfrm>
            <a:off x="685800" y="45868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step"/>
          <p:cNvSpPr txBox="1"/>
          <p:nvPr/>
        </p:nvSpPr>
        <p:spPr>
          <a:xfrm>
            <a:off x="1280160" y="45293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correct example for each part earns the four marks.</a:t>
            </a:r>
            <a:endParaRPr lang="en-US" sz="1800" dirty="0"/>
          </a:p>
        </p:txBody>
      </p:sp>
      <p:sp>
        <p:nvSpPr>
          <p:cNvPr id="29" name="worked-answer"/>
          <p:cNvSpPr/>
          <p:nvPr/>
        </p:nvSpPr>
        <p:spPr>
          <a:xfrm>
            <a:off x="548640" y="5223256"/>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Input: snow falling on the top of the glacier. Store: the ice. Flow: the glacier moving slowly downhill. Output: meltwater leaving the snout.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glacier budget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Accumulation adds; ablation takes away. Both start with a, so link them to their place and season: accumulation at the top in winter, ablation at the bottom in summer.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budget balances what comes in against what goes out.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If accumulation is greater than ablation, more ice is added than is lost, so the glacier gets bigger and its snout pushes further down the valley.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Most glaciers in the world today are retreating. Chapter 6 asks why, and what it means for people.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From snowflake to glacier ice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these stages in the correct order to explain how glacier ice is formed.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Fresh snow lies at the surface, and the deeper you dig, the older the snow</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weight of each new snowfall presses on the layers beneath</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Each year snow falls and makes a new, separate layer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As the air is forced out, the snow becomes more and more like ice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When all the air has been forced out by compaction, glacier ice has formed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Hard, packed snow called névé forms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From snowflake to glacier ice</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From snowflake to glacier ice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snow arriving: a new layer each year. Then say where the new and old snow are.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comes the cause of the change: the weight of new snow pressing down.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effect: air is forced out and the snow becomes more like ice.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Finish with the two names: névé first, glacier ice last, when all the air has gone.</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Arrive, pile up, squeeze, lose air, névé, ice. The two named materials come last, in that order.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glacier ice can only form in places where some of each winter's snow survives the summer.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Parts of the glacier system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the glacier system to its example.</a:t>
            </a:r>
            <a:endParaRPr lang="en-US" sz="2400" dirty="0"/>
          </a:p>
        </p:txBody>
      </p:sp>
      <p:sp>
        <p:nvSpPr>
          <p:cNvPr id="11" name="match-card"/>
          <p:cNvSpPr/>
          <p:nvPr/>
        </p:nvSpPr>
        <p:spPr>
          <a:xfrm>
            <a:off x="777240" y="2468331"/>
            <a:ext cx="3081437" cy="804809"/>
          </a:xfrm>
          <a:prstGeom prst="roundRect">
            <a:avLst>
              <a:gd name="adj" fmla="val 9089"/>
            </a:avLst>
          </a:prstGeom>
          <a:solidFill>
            <a:srgbClr val="F3F5F3"/>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Input</a:t>
            </a:r>
            <a:endParaRPr lang="en-US" sz="2200" dirty="0"/>
          </a:p>
        </p:txBody>
      </p:sp>
      <p:sp>
        <p:nvSpPr>
          <p:cNvPr id="15" name="match-card"/>
          <p:cNvSpPr/>
          <p:nvPr/>
        </p:nvSpPr>
        <p:spPr>
          <a:xfrm>
            <a:off x="4224437" y="2468331"/>
            <a:ext cx="7190019" cy="804809"/>
          </a:xfrm>
          <a:prstGeom prst="roundRect">
            <a:avLst>
              <a:gd name="adj" fmla="val 9089"/>
            </a:avLst>
          </a:prstGeom>
          <a:solidFill>
            <a:srgbClr val="F8F2E9"/>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Meltwater leaving the snout</a:t>
            </a:r>
            <a:endParaRPr lang="en-US" sz="2200" dirty="0"/>
          </a:p>
        </p:txBody>
      </p:sp>
      <p:sp>
        <p:nvSpPr>
          <p:cNvPr id="19" name="match-card"/>
          <p:cNvSpPr/>
          <p:nvPr/>
        </p:nvSpPr>
        <p:spPr>
          <a:xfrm>
            <a:off x="777240" y="3364581"/>
            <a:ext cx="3081437" cy="804809"/>
          </a:xfrm>
          <a:prstGeom prst="roundRect">
            <a:avLst>
              <a:gd name="adj" fmla="val 9089"/>
            </a:avLst>
          </a:prstGeom>
          <a:solidFill>
            <a:srgbClr val="F3F5F3"/>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Store</a:t>
            </a:r>
            <a:endParaRPr lang="en-US" sz="2200" dirty="0"/>
          </a:p>
        </p:txBody>
      </p:sp>
      <p:sp>
        <p:nvSpPr>
          <p:cNvPr id="23" name="match-card"/>
          <p:cNvSpPr/>
          <p:nvPr/>
        </p:nvSpPr>
        <p:spPr>
          <a:xfrm>
            <a:off x="4224437" y="3364581"/>
            <a:ext cx="7190019" cy="804809"/>
          </a:xfrm>
          <a:prstGeom prst="roundRect">
            <a:avLst>
              <a:gd name="adj" fmla="val 9089"/>
            </a:avLst>
          </a:prstGeom>
          <a:solidFill>
            <a:srgbClr val="F8F2E9"/>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Snow falling on the top of the glacier</a:t>
            </a:r>
            <a:endParaRPr lang="en-US" sz="2200" dirty="0"/>
          </a:p>
        </p:txBody>
      </p:sp>
      <p:sp>
        <p:nvSpPr>
          <p:cNvPr id="27" name="match-card"/>
          <p:cNvSpPr/>
          <p:nvPr/>
        </p:nvSpPr>
        <p:spPr>
          <a:xfrm>
            <a:off x="777240" y="4260830"/>
            <a:ext cx="3081437" cy="804809"/>
          </a:xfrm>
          <a:prstGeom prst="roundRect">
            <a:avLst>
              <a:gd name="adj" fmla="val 9089"/>
            </a:avLst>
          </a:prstGeom>
          <a:solidFill>
            <a:srgbClr val="F3F5F3"/>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Flow</a:t>
            </a:r>
            <a:endParaRPr lang="en-US" sz="2200" dirty="0"/>
          </a:p>
        </p:txBody>
      </p:sp>
      <p:sp>
        <p:nvSpPr>
          <p:cNvPr id="31" name="match-card"/>
          <p:cNvSpPr/>
          <p:nvPr/>
        </p:nvSpPr>
        <p:spPr>
          <a:xfrm>
            <a:off x="4224437" y="4260830"/>
            <a:ext cx="7190019" cy="804809"/>
          </a:xfrm>
          <a:prstGeom prst="roundRect">
            <a:avLst>
              <a:gd name="adj" fmla="val 9089"/>
            </a:avLst>
          </a:prstGeom>
          <a:solidFill>
            <a:srgbClr val="F8F2E9"/>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glacier moving slowly downhill under gravity</a:t>
            </a:r>
            <a:endParaRPr lang="en-US" sz="2200" dirty="0"/>
          </a:p>
        </p:txBody>
      </p:sp>
      <p:sp>
        <p:nvSpPr>
          <p:cNvPr id="35" name="match-card"/>
          <p:cNvSpPr/>
          <p:nvPr/>
        </p:nvSpPr>
        <p:spPr>
          <a:xfrm>
            <a:off x="777240" y="5157079"/>
            <a:ext cx="3081437" cy="804809"/>
          </a:xfrm>
          <a:prstGeom prst="roundRect">
            <a:avLst>
              <a:gd name="adj" fmla="val 9089"/>
            </a:avLst>
          </a:prstGeom>
          <a:solidFill>
            <a:srgbClr val="F3F5F3"/>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Output</a:t>
            </a:r>
            <a:endParaRPr lang="en-US" sz="2200" dirty="0"/>
          </a:p>
        </p:txBody>
      </p:sp>
      <p:sp>
        <p:nvSpPr>
          <p:cNvPr id="39" name="match-card"/>
          <p:cNvSpPr/>
          <p:nvPr/>
        </p:nvSpPr>
        <p:spPr>
          <a:xfrm>
            <a:off x="4224437" y="5157079"/>
            <a:ext cx="7190019" cy="804809"/>
          </a:xfrm>
          <a:prstGeom prst="roundRect">
            <a:avLst>
              <a:gd name="adj" fmla="val 9089"/>
            </a:avLst>
          </a:prstGeom>
          <a:solidFill>
            <a:srgbClr val="F8F2E9"/>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ice held in the glacier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Parts of the glacier system</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Parts of the glacier system</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Input means coming in. What arrives at the glacier from outside? Snow.</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Store means held. What does the glacier keep? Ice.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Flow means moving through. What moves? The glacier itself, creeping downhill.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Output means leaving. What leaves the glacier? Meltwater.</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of the bath: tap, bath water, water moving, plughole. Which glacier part plays each role?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would happen to the store if the input increased for ten years while the output stayed the same.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61442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one year, a glacier gains the equivalent of 8 metres of ice in its zone of accumulation and loses 11 metres of ice in its zone of ablation. How many metres more did it lose than it gained?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From snowflake to glacier ice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Each year snow falls and makes a new, separate layer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Fresh snow lies at the surface, and the deeper you dig, the older the snow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weight of each new snowfall presses on the layers beneath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As the air is forced out, the snow becomes more and more like ice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Hard, packed snow called névé forms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When all the air has been forced out by compaction, glacier ice has formed  (E)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Snow falls in yearly layers, fresh on top and old below. The weight of new snow compresses the layers beneath, forcing out air so the snow becomes more like ice. Hard, packed snow is névé; when all the air has gone, it is glacier ice, which may take as long as 20 years.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Parts of the glacier system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Input  →  B  Snow falling on the top of the glacier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Store  →  D  The ice held in the glacier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Flow  →  C  The glacier moving slowly downhill under gravity</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Output  →  A  Meltwater leaving the snout</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Snow is the input because it arrives from outside. Ice is the store because the glacier holds it. The glacier moving downhill is the flow. Meltwater leaving the snout is the output, with a little evaporation.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one year, a glacier gains the equivalent of 8 metres of ice in its zone of accumulation and loses 11 metres of ice in its zone of ablation. How many metres more did it lose than it gained?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 m</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glacier lost 11 metres and gained 8, so it lost 11 − 8 = 3 metres more than it gained. Ablation is greater than accumulation, so the glacier is shrinking: a retreat.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Glaciers and Landforms · Chapter 2: From snow to ice: how a glacier forms and works</dc:title>
  <dc:subject>Geography · Year 8</dc:subject>
  <dc:creator>Dr Vitor Merissi de Carvalho</dc:creator>
  <cp:lastModifiedBy>Dr Vitor Merissi de Carvalho</cp:lastModifiedBy>
  <cp:revision>1</cp:revision>
  <dcterms:created xsi:type="dcterms:W3CDTF">2026-10-19T06:07:38Z</dcterms:created>
  <dcterms:modified xsi:type="dcterms:W3CDTF">2026-10-19T06:07:38Z</dcterms:modified>
</cp:coreProperties>
</file>