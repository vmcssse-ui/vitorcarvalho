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bbadd1-fe87-ace3-0435-4dd184e8c6c8}">
          <p14:sldIdLst>
            <p14:sldId id="256"/>
          </p14:sldIdLst>
        </p14:section>
        <p14:section name="Gate" id="{ba9b067d-a217-ff19-8dfe-c43b04afe927}">
          <p14:sldIdLst>
            <p14:sldId id="257"/>
            <p14:sldId id="258"/>
          </p14:sldIdLst>
        </p14:section>
        <p14:section name="Pre-teach" id="{ecdd2e23-794b-c0ab-bf61-7976ea01319b}">
          <p14:sldIdLst>
            <p14:sldId id="259"/>
            <p14:sldId id="260"/>
          </p14:sldIdLst>
        </p14:section>
        <p14:section name="Read-along" id="{c1ede5da-6e6f-c24e-b45d-2aed7baca7c5}">
          <p14:sldIdLst>
            <p14:sldId id="261"/>
            <p14:sldId id="262"/>
          </p14:sldIdLst>
        </p14:section>
        <p14:section name="Teach" id="{897bc69d-c230-c9c0-2f73-a8fbd43a4664}">
          <p14:sldIdLst>
            <p14:sldId id="263"/>
            <p14:sldId id="264"/>
            <p14:sldId id="265"/>
            <p14:sldId id="266"/>
          </p14:sldIdLst>
        </p14:section>
        <p14:section name="Routes" id="{e02a1c56-38b1-c616-7cc9-0061c37453b5}">
          <p14:sldIdLst>
            <p14:sldId id="267"/>
            <p14:sldId id="268"/>
            <p14:sldId id="269"/>
            <p14:sldId id="270"/>
          </p14:sldIdLst>
        </p14:section>
        <p14:section name="Close" id="{d6f3f23d-2d10-1061-cdfd-e2265c5910fe}">
          <p14:sldIdLst>
            <p14:sldId id="271"/>
          </p14:sldIdLst>
        </p14:section>
        <p14:section name="Answers" id="{8107ccdd-ef8f-0eb5-2d32-be86441c9fb0}">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Why did people think they got sick?. This chapter gives you the ideas medieval people held about the causes of disease: God, the stars, bad air and the body's own fluids, and how to tell a supernatural idea from a rational one.
This deck covers the department's lesson: 2 (Ideas about the Cause of Disease: Why did people think they got sick in medieval England?).
Read the big question aloud: "Why was there so little change in medicine in medieval England between c1250 and c1500?"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the Church teach was the cause of disease?  →  A   God sent it as a punishment for sin or as a test of faith
2. The idea that bad air and bad smells caused disease is called ___.  →  miasma
3. Which of these counts as a rational explanation of disease?  →  A   Miasma: bad smells from dirt and rotting matter carried disease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God sent it as a punishment for sin or as a test of faith. The Church taught that God sent disease to punish sin or to test faith. Nobody in medieval England knew about germs.
2. miasma. Miasma means bad or corrupted air. People believed breathing it in made you ill.
3. A   Miasma: bad smells from dirt and rotting matter carried disease. Rational explanations seem to make sense from what people could see, even though they were not scientific. Miasma pointed to real dirt and real smells.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supernatural: beyond the natural world: God, spirits and the stars. Example: "Blaming an illness on the devil is a supernatural explanation."
• sin: doing wrong in the eyes of God. Example: "People believed God punished sin with illness."
• miasma: bad air that people believed carried disease. Example: "They thought the miasma from the rubbish heap made the children ill."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astrology: the belief that the stars and planets affect life on Earth. Example: "The physician used astrology to decide when to treat her."
• Doom painting: a church painting showing souls going to hell. Example: "The Doom painting above the altar frightened the villagers."
• rational: based on reasons that seem to make sense. Example: "Miasma was a rational idea, even though it was wrong."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In medieval England, nobody knew about germs.
2. People had other ideas about why they got sick.
3. The Church taught that God sent disease.
4. People believed it was a punishment for sin, or a test of faith.
5. Some thought the devil or evil spirits could make you ill.
6. Others blamed the stars and planets.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This idea is called astrology.
8. Many believed that bad air, called miasma, caused disease.
9. Bad smells seemed to prove it.
10. Physicians also studied a patient's urine to find out what was wrong.
11. These ideas were not based on science.
12. But to people at the time, they made sense.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God, sin and the Doom painting. Say it in your own words, then check understanding with a quick question: ask a pupil from the pre-teach group first, since they met these words and ideas before the lesson. Pupils try to recall before you re-explain.
The Church taught that God controlled everything, and that included illness. People believed that God sent disease either as a punishment for sin or as a test of a person's faith. If you fell ill, the first question was not ‘what have I caught?’ but ‘what have I done?’ Illness could also be blamed on the devil, or on evil spirits, which were just as real to medieval people as God was.
Many churches carried a Doom painting on the wall facing the congregation. It showed the Day of Judgement: the saved rising to heaven on one side and the damned being dragged into hell on the other. Villagers saw it every Sunday. Historians think these paintings were meant to be frightening, and that fear kept people obedient to the Church.
This belief had a long shadow. If God had sent the disease, people reasoned, then there was no point searching for any other cause. The way to get better was to pray, confess and live a good life. This is one reason why, for 250 years, so few new ideas about the causes of disease appeared.
Tip: Always write ‘people believed that God sent disease’, never ‘God sent disease’. You are reporting an idea, not stating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Miasma, astrology and urine. Say it in your own words, then check understanding with a quick question: ask a pupil from the pre-teach group first, since they met these words and ideas before the lesson. Pupils try to recall before you re-explain.
Miasma is the idea that disease was carried by bad air. Rotting rubbish, animal dung, open drains and dead bodies all gave off foul smells, and people believed that breathing in that corrupted air made you ill. The idea seemed to make sense: filthy places really were unhealthy, even though the true reason was germs, not smell. Bad smells were also linked to sin, so miasma fitted neatly with religion.
Astrology is the belief that the positions of the stars and planets affect life on Earth. Physicians used astrological charts to help diagnose what was wrong with a patient and to choose the best moment to treat them. Astrology was not new in 1250, but its use grew during the period, especially after the Black Death.
Physicians also studied urine. They looked at its colour, smelt it and sometimes tasted it, then compared it with a urine chart in their handbook, called a vademecum. Different colours were thought to show different problems inside the body. This at least involved looking closely at the patient, which is why your lesson grouped it with the more rational ideas.
Tip: Miasma, astrology, urine, religion and the Four Humours: five ideas. Learn all five, because exam questions love to ask you to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Supernatural or rational?. Say it in your own words, then check understanding with a quick question: ask a pupil from the pre-teach group first, since they met these words and ideas before the lesson. Pupils try to recall before you re-explain.
Your lesson sorted these ideas into two groups. Supernatural explanations look beyond the natural world: God, the devil, spirits and the influence of the stars. Religion and astrology belong here. Rational explanations are ideas that seem to make sense and are backed by reasoning, even though they were not backed by science. Miasma, urine charts and the Four Humours belong here.
Be careful with the word rational. It does not mean correct. Miasma was wrong, but a medieval person could point to a stinking ditch and a sick family beside it and say, reasonably, that one caused the other. A rational idea is one you can argue for from what you can see.
Why were ideas based on logic and not on science? Because the tools of science did not exist. Nobody had a microscope, so nobody could see a germ. And because the Church approved of the old ideas, nobody was encouraged to test them. That is the subject of the next chapter.
Worked example — model it step by step, thinking aloud: A medieval physician says a merchant fell ill because Mars and Saturn were lined up on the night he was born. Is this a supernatural or a rational explanation, and why? (1) Ask: does the explanation look beyond the natural world? The planets are being given a power over a human body. (2) That power cannot be seen or reasoned from everyday experience: it belongs to the stars. (3) So it is astrology, which your lesson classed as supernatural. (4) Compare: blaming the merchant's illness on a stinking cellar would be miasma, a rational idea, because he could point to the smell. Answer: Supernatural: it is astrology, giving the planets a power that cannot be seen or reasoned from everyday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Supernatural or rational?. Say it in your own words, then check understanding with a quick question: ask a pupil from the pre-teach group first, since they met these words and ideas before the lesson. Pupils try to recall before you re-explain.
Your lesson sorted these ideas into two groups. Supernatural explanations look beyond the natural world: God, the devil, spirits and the influence of the stars. Religion and astrology belong here. Rational explanations are ideas that seem to make sense and are backed by reasoning, even though they were not backed by science. Miasma, urine charts and the Four Humours belong here.
Be careful with the word rational. It does not mean correct. Miasma was wrong, but a medieval person could point to a stinking ditch and a sick family beside it and say, reasonably, that one caused the other. A rational idea is one you can argue for from what you can see.
Why were ideas based on logic and not on science? Because the tools of science did not exist. Nobody had a microscope, so nobody could see a germ. And because the Church approved of the old ideas, nobody was encouraged to test them. That is the subject of the next chapter.
Worked example — model it step by step, thinking aloud: A medieval physician says a merchant fell ill because Mars and Saturn were lined up on the night he was born. Is this a supernatural or a rational explanation, and why? (1) Ask: does the explanation look beyond the natural world? The planets are being given a power over a human body. (2) That power cannot be seen or reasoned from everyday experience: it belongs to the stars. (3) So it is astrology, which your lesson classed as supernatural. (4) Compare: blaming the merchant's illness on a stinking cellar would be miasma, a rational idea, because he could point to the smell. Answer: Supernatural: it is astrology, giving the planets a power that cannot be seen or reasoned from everyday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ideas about disease.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idea about the cause of disease to what people believed.
Support — work through the steps with the group: (1) Start with the idea you know best and find its partner. (2) Religion is about God; astrology is about the sky. (3) Miasma is about smell; urine is about what the physician examined. (4) The Four Humours is about liquids inside the body.
Parallel worked example for Support (model it, do not give the task answer): Practice: a villager says his fever came because he walked past the tannery, where the hides stank. Which idea is he using? Find the clue word: stank, a smell.; Smell and bad air belong to miasma.. Answer: Miasma..
Core — reveal the hint only on request: Four of the five point to something outside the body: God, the sky, the air, the chamber pot. Only one points inside.
Stretch — no help; when finished: Two of these five ideas were classed as supernatural and three as rational. Sort them, then explain which rational idea came closest to the truth and why it was still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ideas about disease.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idea about the cause of disease to what people believed.
Support — work through the steps with the group: (1) Start with the idea you know best and find its partner. (2) Religion is about God; astrology is about the sky. (3) Miasma is about smell; urine is about what the physician examined. (4) The Four Humours is about liquids inside the body.
Parallel worked example for Support (model it, do not give the task answer): Practice: a villager says his fever came because he walked past the tannery, where the hides stank. Which idea is he using? Find the clue word: stank, a smell.; Smell and bad air belong to miasma.. Answer: Miasma..
Core — reveal the hint only on request: Four of the five point to something outside the body: God, the sky, the air, the chamber pot. Only one points inside.
Stretch — no help; when finished: Two of these five ideas were classed as supernatural and three as rational. Sort them, then explain which rational idea came closest to the truth and why it was still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idea.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physician in the 1340s says a villager's fever was caused by the stink from the ditch behind her house. Which idea about disease is he using?
Support — work through the steps with the group: (1) Underline the thing being blamed for the illness. (2) Ask: is it God, the sky, a smell, or the liquids inside the body? (3) A smell or bad air always points to miasma. (4) Check that none of the other three ideas fits the clue.
Parallel worked example for Support (model it, do not give the task answer): Practice: a priest tells a sick farmer that his illness is God's way of testing him. Which idea is the priest using? The thing being blamed is God.; God's punishment or test is the religious explanation.. Answer: Religion..
Core — reveal the hint only on request: What is being blamed: something you can smell, something in the sky, something you did wrong, or something inside you?
Stretch — no help; when finished: Rewrite the story so that the physician uses a different one of the four ideas, and say what he would tell the villager to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idea.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physician in the 1340s says a villager's fever was caused by the stink from the ditch behind her house. Which idea about disease is he using?
Support — work through the steps with the group: (1) Underline the thing being blamed for the illness. (2) Ask: is it God, the sky, a smell, or the liquids inside the body? (3) A smell or bad air always points to miasma. (4) Check that none of the other three ideas fits the clue.
Parallel worked example for Support (model it, do not give the task answer): Practice: a priest tells a sick farmer that his illness is God's way of testing him. Which idea is the priest using? The thing being blamed is God.; God's punishment or test is the religious explanation.. Answer: Religion..
Core — reveal the hint only on request: What is being blamed: something you can smell, something in the sky, something you did wrong, or something inside you?
Stretch — no help; when finished: Rewrite the story so that the physician uses a different one of the four ideas, and say what he would tell the villager to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did the Church teach was the cause of disease?
Answer: D   God sent it as a punishment for sin or as a test of faith. The Church taught that God sent disease to punish sin or to test faith. Nobody in medieval England knew about germs.
Source of this question: gate item 1 re-asked (options rotated) — this chapter has no third quick-check module.
The ebook also holds task 3, "Explain one effect of the Church's teaching",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Five ideas about disease. Reveal the answer; pupils mark their own work in a different colour, then read the "why" together. Same destination for every lane, so one answer serves the whole class.
Answer: Religion  →  E  God sent disease as a punishment for sin or a test of faith; Astrology  →  C  The positions of the stars and planets affected a person's health; Miasma  →  A  Bad air and foul smells from rotting matter carried disease; Urine  →  B  The colour, smell and taste of urine showed what was wrong inside the body; The Four Humours  →  D  The body's four liquids had fallen out of balance
Why: Religion: God as punisher or tester. Astrology: the stars and planets. Miasma: bad air and smells. Urine: a sign of what was wrong inside. The Four Humours: the body's liquids thought to be out of balance.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Spot the idea. Reveal the answer; pupils mark their own work in a different colour, then read the "why" together. Same destination for every lane, so one answer serves the whole class.
Answer: A   Miasma
Why: Each story blames something different. A smell, foul air or rotting rubbish is miasma; the stars are astrology; sin is religion; liquids inside the body are the Four Humours.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God sent it as a punishment for sin or as a test of faith
Why: The Church taught that God sent disease to punish sin or to test faith. Nobody in medieval England knew about germs.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Medieval Medicine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Why did people think they got sick?</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Ideas about the Cause of Disease</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was there so little change in medicine in medieval England between c1250 and c1500?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did the Church teach was the cause of disease?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God sent it as a punishment for sin or as a test of faith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Fleas living on black rats spread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Dirty water from rivers carried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Tiny living things called germs caused it</a:t>
            </a:r>
            <a:endParaRPr lang="en-US" sz="1800" dirty="0"/>
          </a:p>
        </p:txBody>
      </p:sp>
      <p:sp>
        <p:nvSpPr>
          <p:cNvPr id="12" name="card"/>
          <p:cNvSpPr/>
          <p:nvPr/>
        </p:nvSpPr>
        <p:spPr>
          <a:xfrm>
            <a:off x="4777626"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4960506" y="1572768"/>
            <a:ext cx="640080" cy="554309"/>
          </a:xfrm>
          <a:prstGeom prst="hexagon">
            <a:avLst/>
          </a:prstGeom>
          <a:solidFill>
            <a:srgbClr val="7A4A1E"/>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idea that bad air and bad smells caused disease is called ___.</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miasma  ·  astrology  ·  dissection</a:t>
            </a:r>
            <a:endParaRPr lang="en-US" sz="2200" dirty="0"/>
          </a:p>
        </p:txBody>
      </p:sp>
      <p:sp>
        <p:nvSpPr>
          <p:cNvPr id="17" name="card"/>
          <p:cNvSpPr/>
          <p:nvPr/>
        </p:nvSpPr>
        <p:spPr>
          <a:xfrm>
            <a:off x="7688389" y="1389888"/>
            <a:ext cx="3954666" cy="4754880"/>
          </a:xfrm>
          <a:prstGeom prst="roundRect">
            <a:avLst>
              <a:gd name="adj" fmla="val 1387"/>
            </a:avLst>
          </a:prstGeom>
          <a:solidFill>
            <a:srgbClr val="F6F2EF"/>
          </a:solidFill>
          <a:ln w="12700">
            <a:solidFill>
              <a:srgbClr val="D0C0B0"/>
            </a:solidFill>
            <a:prstDash val="solid"/>
          </a:ln>
        </p:spPr>
      </p:sp>
      <p:sp>
        <p:nvSpPr>
          <p:cNvPr id="18" name="card-hex"/>
          <p:cNvSpPr/>
          <p:nvPr/>
        </p:nvSpPr>
        <p:spPr>
          <a:xfrm>
            <a:off x="7871269" y="1572768"/>
            <a:ext cx="640080" cy="554309"/>
          </a:xfrm>
          <a:prstGeom prst="hexagon">
            <a:avLst/>
          </a:prstGeom>
          <a:solidFill>
            <a:srgbClr val="7A4A1E"/>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counts as a rational explanation of disease?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Miasma: bad smells from dirt and rotting matter carried disease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God sent disease as a punishment for sin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planets lined up in an unlucky way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devil put a curse on the village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God sent it as a punishment for sin or as a test of faith</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did the Church teach was the cause of disease?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Church taught that God sent disease to punish sin or to test faith. Nobody in medieval England knew about germs.</a:t>
            </a:r>
            <a:endParaRPr lang="en-US" sz="2000" dirty="0"/>
          </a:p>
        </p:txBody>
      </p:sp>
      <p:sp>
        <p:nvSpPr>
          <p:cNvPr id="14" name="card"/>
          <p:cNvSpPr/>
          <p:nvPr/>
        </p:nvSpPr>
        <p:spPr>
          <a:xfrm>
            <a:off x="4777626"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4960506" y="1572768"/>
            <a:ext cx="640080" cy="554309"/>
          </a:xfrm>
          <a:prstGeom prst="hexagon">
            <a:avLst/>
          </a:prstGeom>
          <a:solidFill>
            <a:srgbClr val="7A4A1E"/>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miasma</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idea that bad air and bad smells caused disease is called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Miasma means bad or corrupted air. People believed breathing it in made you ill.</a:t>
            </a:r>
            <a:endParaRPr lang="en-US" sz="1800" dirty="0"/>
          </a:p>
        </p:txBody>
      </p:sp>
      <p:sp>
        <p:nvSpPr>
          <p:cNvPr id="21" name="card"/>
          <p:cNvSpPr/>
          <p:nvPr/>
        </p:nvSpPr>
        <p:spPr>
          <a:xfrm>
            <a:off x="7688389" y="1389888"/>
            <a:ext cx="3954666" cy="4754880"/>
          </a:xfrm>
          <a:prstGeom prst="roundRect">
            <a:avLst>
              <a:gd name="adj" fmla="val 1387"/>
            </a:avLst>
          </a:prstGeom>
          <a:solidFill>
            <a:srgbClr val="F6F2EF"/>
          </a:solidFill>
          <a:ln w="12700">
            <a:solidFill>
              <a:srgbClr val="D0C0B0"/>
            </a:solidFill>
            <a:prstDash val="solid"/>
          </a:ln>
        </p:spPr>
      </p:sp>
      <p:sp>
        <p:nvSpPr>
          <p:cNvPr id="22" name="card-hex"/>
          <p:cNvSpPr/>
          <p:nvPr/>
        </p:nvSpPr>
        <p:spPr>
          <a:xfrm>
            <a:off x="7871269" y="1572768"/>
            <a:ext cx="640080" cy="554309"/>
          </a:xfrm>
          <a:prstGeom prst="hexagon">
            <a:avLst/>
          </a:prstGeom>
          <a:solidFill>
            <a:srgbClr val="7A4A1E"/>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7962709"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Miasma: bad smells from dirt and rotting matter carried disease</a:t>
            </a:r>
            <a:endParaRPr lang="en-US" sz="2200" dirty="0"/>
          </a:p>
        </p:txBody>
      </p:sp>
      <p:sp>
        <p:nvSpPr>
          <p:cNvPr id="27" name="card-body"/>
          <p:cNvSpPr txBox="1"/>
          <p:nvPr/>
        </p:nvSpPr>
        <p:spPr>
          <a:xfrm>
            <a:off x="7871269" y="3834465"/>
            <a:ext cx="3588906"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Rational explanations seem to make sense from what people could see, even though they were not scientific. Miasma pointed to real dirt and real smells.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supernatural</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beyond the natural world: God, spirits and the stars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Blaming an illness on the devil is a supernatural explanation.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sin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doing wrong in the eyes of God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People believed God punished sin with illness.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miasma</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bad air that people believed carried disease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They thought the miasma from the rubbish heap made the children ill.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astrology</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belief that the stars and planets affect life on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physician used astrology to decide when to treat her.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Doom painting</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church painting showing souls going to hell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Doom painting above the altar frightened the villagers.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rational</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based on reasons that seem to make sense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Miasma was a rational idea, even though it was wrong.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medieval England, nobody knew about germs.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People had other ideas about why they got sick.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Church taught that God sent disease.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People believed it was a punishment for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sin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or a test of faith.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thought the devil or evil spirits could make you ill.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Others blamed the stars and planets.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idea is called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astrology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Many believed that bad air, called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miasma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caused disease.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Bad smells seemed to prove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Physicians also studied a patient's urine to find out what was wrong.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These ideas were not based on science.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But to people at the time, they made sense.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God, sin and the Doom painting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Always write ‘people believed that God sent disease’, never ‘God sent disease’. You are reporting an idea, not stating a fact.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Church taught that God controlled everything, and that included illness.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Many churches carried a Doom painting on the wall facing the congregation.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This belief had a long shadow. If God had sent the disease, people reasoned, then there was no point searching for any other cause.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Miasma, astrology and urine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Miasma, astrology, urine, religion and the Four Humours: five ideas. Learn all five, because exam questions love to ask you to compare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Miasma is the idea that disease was carried by bad air.</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Astrology is the belief that the positions of the stars and planets affect life on Earth.</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Physicians also studied urine. They looked at its colour, smelt it and sometimes tasted it, then compared it with a urine chart in their handbook, called a vademecum.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Supernatural or rational?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sorted these ideas into two groups. Supernatural explanations look beyond the natural world: God, the devil, spirits and the influence of the stars.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 careful with the word rational. It does not mean correct.</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were ideas based on logic and not on science?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Supernatural or rational?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2EDE9"/>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medieval physician says a merchant fell ill because Mars and Saturn were lined up on the night he was born. Is this a supernatural or a rational explanation, and why?</a:t>
            </a:r>
            <a:endParaRPr lang="en-US" sz="2000" dirty="0"/>
          </a:p>
        </p:txBody>
      </p:sp>
      <p:sp>
        <p:nvSpPr>
          <p:cNvPr id="9" name="step-box"/>
          <p:cNvSpPr/>
          <p:nvPr/>
        </p:nvSpPr>
        <p:spPr>
          <a:xfrm>
            <a:off x="548640" y="2502408"/>
            <a:ext cx="11094415" cy="724408"/>
          </a:xfrm>
          <a:prstGeom prst="roundRect">
            <a:avLst>
              <a:gd name="adj" fmla="val 10098"/>
            </a:avLst>
          </a:prstGeom>
          <a:solidFill>
            <a:srgbClr val="FFFFFF"/>
          </a:solidFill>
          <a:ln w="15875">
            <a:solidFill>
              <a:srgbClr val="B69B83"/>
            </a:solidFill>
            <a:prstDash val="solid"/>
          </a:ln>
        </p:spPr>
      </p:sp>
      <p:sp>
        <p:nvSpPr>
          <p:cNvPr id="10" name="step-hex"/>
          <p:cNvSpPr/>
          <p:nvPr/>
        </p:nvSpPr>
        <p:spPr>
          <a:xfrm>
            <a:off x="685800" y="2666644"/>
            <a:ext cx="457200" cy="395935"/>
          </a:xfrm>
          <a:prstGeom prst="hexagon">
            <a:avLst/>
          </a:prstGeom>
          <a:solidFill>
            <a:srgbClr val="7A4A1E"/>
          </a:solidFill>
          <a:ln/>
        </p:spPr>
      </p:sp>
      <p:sp>
        <p:nvSpPr>
          <p:cNvPr id="11" name="step-hex-label"/>
          <p:cNvSpPr txBox="1"/>
          <p:nvPr/>
        </p:nvSpPr>
        <p:spPr>
          <a:xfrm>
            <a:off x="685800" y="26666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does the explanation look beyond the natural world? The planets are being given a power over a human body.</a:t>
            </a:r>
            <a:endParaRPr lang="en-US" sz="1800" dirty="0"/>
          </a:p>
        </p:txBody>
      </p:sp>
      <p:sp>
        <p:nvSpPr>
          <p:cNvPr id="13" name="step-box"/>
          <p:cNvSpPr/>
          <p:nvPr/>
        </p:nvSpPr>
        <p:spPr>
          <a:xfrm>
            <a:off x="548640" y="3299968"/>
            <a:ext cx="11094415" cy="460248"/>
          </a:xfrm>
          <a:prstGeom prst="roundRect">
            <a:avLst>
              <a:gd name="adj" fmla="val 15894"/>
            </a:avLst>
          </a:prstGeom>
          <a:solidFill>
            <a:srgbClr val="FFFFFF"/>
          </a:solidFill>
          <a:ln w="15875">
            <a:solidFill>
              <a:srgbClr val="B69B83"/>
            </a:solidFill>
            <a:prstDash val="solid"/>
          </a:ln>
        </p:spPr>
      </p:sp>
      <p:sp>
        <p:nvSpPr>
          <p:cNvPr id="14" name="step-hex"/>
          <p:cNvSpPr/>
          <p:nvPr/>
        </p:nvSpPr>
        <p:spPr>
          <a:xfrm>
            <a:off x="685800" y="3332124"/>
            <a:ext cx="457200" cy="395935"/>
          </a:xfrm>
          <a:prstGeom prst="hexagon">
            <a:avLst/>
          </a:prstGeom>
          <a:solidFill>
            <a:srgbClr val="7A4A1E"/>
          </a:solidFill>
          <a:ln/>
        </p:spPr>
      </p:sp>
      <p:sp>
        <p:nvSpPr>
          <p:cNvPr id="15" name="step-hex-label"/>
          <p:cNvSpPr txBox="1"/>
          <p:nvPr/>
        </p:nvSpPr>
        <p:spPr>
          <a:xfrm>
            <a:off x="685800" y="33321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29996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That power cannot be seen or reasoned from everyday experience: it belongs to the stars.</a:t>
            </a:r>
            <a:endParaRPr lang="en-US" sz="1800" dirty="0"/>
          </a:p>
        </p:txBody>
      </p:sp>
      <p:sp>
        <p:nvSpPr>
          <p:cNvPr id="17" name="step-box"/>
          <p:cNvSpPr/>
          <p:nvPr/>
        </p:nvSpPr>
        <p:spPr>
          <a:xfrm>
            <a:off x="548640" y="3833368"/>
            <a:ext cx="11094415" cy="460248"/>
          </a:xfrm>
          <a:prstGeom prst="roundRect">
            <a:avLst>
              <a:gd name="adj" fmla="val 15894"/>
            </a:avLst>
          </a:prstGeom>
          <a:solidFill>
            <a:srgbClr val="FFFFFF"/>
          </a:solidFill>
          <a:ln w="15875">
            <a:solidFill>
              <a:srgbClr val="B69B83"/>
            </a:solidFill>
            <a:prstDash val="solid"/>
          </a:ln>
        </p:spPr>
      </p:sp>
      <p:sp>
        <p:nvSpPr>
          <p:cNvPr id="18" name="step-hex"/>
          <p:cNvSpPr/>
          <p:nvPr/>
        </p:nvSpPr>
        <p:spPr>
          <a:xfrm>
            <a:off x="685800" y="3865524"/>
            <a:ext cx="457200" cy="395935"/>
          </a:xfrm>
          <a:prstGeom prst="hexagon">
            <a:avLst/>
          </a:prstGeom>
          <a:solidFill>
            <a:srgbClr val="7A4A1E"/>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3336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it is astrology, which your lesson classed as supernatural.</a:t>
            </a:r>
            <a:endParaRPr lang="en-US" sz="1800" dirty="0"/>
          </a:p>
        </p:txBody>
      </p:sp>
      <p:sp>
        <p:nvSpPr>
          <p:cNvPr id="21" name="step-box"/>
          <p:cNvSpPr/>
          <p:nvPr/>
        </p:nvSpPr>
        <p:spPr>
          <a:xfrm>
            <a:off x="548640" y="4366768"/>
            <a:ext cx="11094415" cy="724408"/>
          </a:xfrm>
          <a:prstGeom prst="roundRect">
            <a:avLst>
              <a:gd name="adj" fmla="val 10098"/>
            </a:avLst>
          </a:prstGeom>
          <a:solidFill>
            <a:srgbClr val="FFFFFF"/>
          </a:solidFill>
          <a:ln w="15875">
            <a:solidFill>
              <a:srgbClr val="B69B83"/>
            </a:solidFill>
            <a:prstDash val="solid"/>
          </a:ln>
        </p:spPr>
      </p:sp>
      <p:sp>
        <p:nvSpPr>
          <p:cNvPr id="22" name="step-hex"/>
          <p:cNvSpPr/>
          <p:nvPr/>
        </p:nvSpPr>
        <p:spPr>
          <a:xfrm>
            <a:off x="685800" y="4531004"/>
            <a:ext cx="457200" cy="395935"/>
          </a:xfrm>
          <a:prstGeom prst="hexagon">
            <a:avLst/>
          </a:prstGeom>
          <a:solidFill>
            <a:srgbClr val="7A4A1E"/>
          </a:solidFill>
          <a:ln/>
        </p:spPr>
      </p:sp>
      <p:sp>
        <p:nvSpPr>
          <p:cNvPr id="23" name="step-hex-label"/>
          <p:cNvSpPr txBox="1"/>
          <p:nvPr/>
        </p:nvSpPr>
        <p:spPr>
          <a:xfrm>
            <a:off x="685800" y="45310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6676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Compare: blaming the merchant's illness on a stinking cellar would be miasma, a rational idea, because he could point to the smell.</a:t>
            </a:r>
            <a:endParaRPr lang="en-US" sz="1800" dirty="0"/>
          </a:p>
        </p:txBody>
      </p:sp>
      <p:sp>
        <p:nvSpPr>
          <p:cNvPr id="25" name="worked-answer"/>
          <p:cNvSpPr/>
          <p:nvPr/>
        </p:nvSpPr>
        <p:spPr>
          <a:xfrm>
            <a:off x="548640" y="5274056"/>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Supernatural: it is astrology, giving the planets a power that cannot be seen or reasoned from everyday life.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Five ideas about disease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idea about the cause of disease to what people believed.</a:t>
            </a:r>
            <a:endParaRPr lang="en-US" sz="2200" dirty="0"/>
          </a:p>
        </p:txBody>
      </p:sp>
      <p:sp>
        <p:nvSpPr>
          <p:cNvPr id="11" name="match-card"/>
          <p:cNvSpPr/>
          <p:nvPr/>
        </p:nvSpPr>
        <p:spPr>
          <a:xfrm>
            <a:off x="777240" y="2468331"/>
            <a:ext cx="3081437" cy="509735"/>
          </a:xfrm>
          <a:prstGeom prst="roundRect">
            <a:avLst>
              <a:gd name="adj" fmla="val 14351"/>
            </a:avLst>
          </a:prstGeom>
          <a:solidFill>
            <a:srgbClr val="F4F1ED"/>
          </a:solidFill>
          <a:ln/>
        </p:spPr>
      </p:sp>
      <p:sp>
        <p:nvSpPr>
          <p:cNvPr id="12" name="match-hex"/>
          <p:cNvSpPr/>
          <p:nvPr/>
        </p:nvSpPr>
        <p:spPr>
          <a:xfrm>
            <a:off x="850392" y="2556906"/>
            <a:ext cx="384048" cy="332586"/>
          </a:xfrm>
          <a:prstGeom prst="hexagon">
            <a:avLst/>
          </a:prstGeom>
          <a:solidFill>
            <a:srgbClr val="7A4A1E"/>
          </a:solidFill>
          <a:ln/>
        </p:spPr>
      </p:sp>
      <p:sp>
        <p:nvSpPr>
          <p:cNvPr id="13" name="match-hex-label"/>
          <p:cNvSpPr txBox="1"/>
          <p:nvPr/>
        </p:nvSpPr>
        <p:spPr>
          <a:xfrm>
            <a:off x="850392"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Religion</a:t>
            </a:r>
            <a:endParaRPr lang="en-US" sz="2000" dirty="0"/>
          </a:p>
        </p:txBody>
      </p:sp>
      <p:sp>
        <p:nvSpPr>
          <p:cNvPr id="15" name="match-card"/>
          <p:cNvSpPr/>
          <p:nvPr/>
        </p:nvSpPr>
        <p:spPr>
          <a:xfrm>
            <a:off x="4224437" y="2468331"/>
            <a:ext cx="7190019" cy="509735"/>
          </a:xfrm>
          <a:prstGeom prst="roundRect">
            <a:avLst>
              <a:gd name="adj" fmla="val 14351"/>
            </a:avLst>
          </a:prstGeom>
          <a:solidFill>
            <a:srgbClr val="F6F0E6"/>
          </a:solidFill>
          <a:ln/>
        </p:spPr>
      </p:sp>
      <p:sp>
        <p:nvSpPr>
          <p:cNvPr id="16" name="match-hex"/>
          <p:cNvSpPr/>
          <p:nvPr/>
        </p:nvSpPr>
        <p:spPr>
          <a:xfrm>
            <a:off x="4297589" y="2556906"/>
            <a:ext cx="384048" cy="332586"/>
          </a:xfrm>
          <a:prstGeom prst="hexagon">
            <a:avLst/>
          </a:prstGeom>
          <a:solidFill>
            <a:srgbClr val="B8862B"/>
          </a:solidFill>
          <a:ln/>
        </p:spPr>
      </p:sp>
      <p:sp>
        <p:nvSpPr>
          <p:cNvPr id="17" name="match-hex-label"/>
          <p:cNvSpPr txBox="1"/>
          <p:nvPr/>
        </p:nvSpPr>
        <p:spPr>
          <a:xfrm>
            <a:off x="4297589"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Bad air and foul smells from rotting matter carried disease</a:t>
            </a:r>
            <a:endParaRPr lang="en-US" sz="2000" dirty="0"/>
          </a:p>
        </p:txBody>
      </p:sp>
      <p:sp>
        <p:nvSpPr>
          <p:cNvPr id="19" name="match-card"/>
          <p:cNvSpPr/>
          <p:nvPr/>
        </p:nvSpPr>
        <p:spPr>
          <a:xfrm>
            <a:off x="777240" y="3069507"/>
            <a:ext cx="3081437" cy="799295"/>
          </a:xfrm>
          <a:prstGeom prst="roundRect">
            <a:avLst>
              <a:gd name="adj" fmla="val 9152"/>
            </a:avLst>
          </a:prstGeom>
          <a:solidFill>
            <a:srgbClr val="F4F1ED"/>
          </a:solidFill>
          <a:ln/>
        </p:spPr>
      </p:sp>
      <p:sp>
        <p:nvSpPr>
          <p:cNvPr id="20" name="match-hex"/>
          <p:cNvSpPr/>
          <p:nvPr/>
        </p:nvSpPr>
        <p:spPr>
          <a:xfrm>
            <a:off x="850392" y="3302862"/>
            <a:ext cx="384048" cy="332586"/>
          </a:xfrm>
          <a:prstGeom prst="hexagon">
            <a:avLst/>
          </a:prstGeom>
          <a:solidFill>
            <a:srgbClr val="7A4A1E"/>
          </a:solidFill>
          <a:ln/>
        </p:spPr>
      </p:sp>
      <p:sp>
        <p:nvSpPr>
          <p:cNvPr id="21" name="match-hex-label"/>
          <p:cNvSpPr txBox="1"/>
          <p:nvPr/>
        </p:nvSpPr>
        <p:spPr>
          <a:xfrm>
            <a:off x="850392"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50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Astrology</a:t>
            </a:r>
            <a:endParaRPr lang="en-US" sz="2000" dirty="0"/>
          </a:p>
        </p:txBody>
      </p:sp>
      <p:sp>
        <p:nvSpPr>
          <p:cNvPr id="23" name="match-card"/>
          <p:cNvSpPr/>
          <p:nvPr/>
        </p:nvSpPr>
        <p:spPr>
          <a:xfrm>
            <a:off x="4224437" y="3069507"/>
            <a:ext cx="7190019" cy="799295"/>
          </a:xfrm>
          <a:prstGeom prst="roundRect">
            <a:avLst>
              <a:gd name="adj" fmla="val 9152"/>
            </a:avLst>
          </a:prstGeom>
          <a:solidFill>
            <a:srgbClr val="F6F0E6"/>
          </a:solidFill>
          <a:ln/>
        </p:spPr>
      </p:sp>
      <p:sp>
        <p:nvSpPr>
          <p:cNvPr id="24" name="match-hex"/>
          <p:cNvSpPr/>
          <p:nvPr/>
        </p:nvSpPr>
        <p:spPr>
          <a:xfrm>
            <a:off x="4297589" y="3302862"/>
            <a:ext cx="384048" cy="332586"/>
          </a:xfrm>
          <a:prstGeom prst="hexagon">
            <a:avLst/>
          </a:prstGeom>
          <a:solidFill>
            <a:srgbClr val="B8862B"/>
          </a:solidFill>
          <a:ln/>
        </p:spPr>
      </p:sp>
      <p:sp>
        <p:nvSpPr>
          <p:cNvPr id="25" name="match-hex-label"/>
          <p:cNvSpPr txBox="1"/>
          <p:nvPr/>
        </p:nvSpPr>
        <p:spPr>
          <a:xfrm>
            <a:off x="4297589"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6950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colour, smell and taste of urine showed what was wrong inside the body</a:t>
            </a:r>
            <a:endParaRPr lang="en-US" sz="2000" dirty="0"/>
          </a:p>
        </p:txBody>
      </p:sp>
      <p:sp>
        <p:nvSpPr>
          <p:cNvPr id="27" name="match-card"/>
          <p:cNvSpPr/>
          <p:nvPr/>
        </p:nvSpPr>
        <p:spPr>
          <a:xfrm>
            <a:off x="777240" y="3960242"/>
            <a:ext cx="3081437" cy="799295"/>
          </a:xfrm>
          <a:prstGeom prst="roundRect">
            <a:avLst>
              <a:gd name="adj" fmla="val 9152"/>
            </a:avLst>
          </a:prstGeom>
          <a:solidFill>
            <a:srgbClr val="F4F1ED"/>
          </a:solidFill>
          <a:ln/>
        </p:spPr>
      </p:sp>
      <p:sp>
        <p:nvSpPr>
          <p:cNvPr id="28" name="match-hex"/>
          <p:cNvSpPr/>
          <p:nvPr/>
        </p:nvSpPr>
        <p:spPr>
          <a:xfrm>
            <a:off x="850392" y="4193597"/>
            <a:ext cx="384048" cy="332586"/>
          </a:xfrm>
          <a:prstGeom prst="hexagon">
            <a:avLst/>
          </a:prstGeom>
          <a:solidFill>
            <a:srgbClr val="7A4A1E"/>
          </a:solidFill>
          <a:ln/>
        </p:spPr>
      </p:sp>
      <p:sp>
        <p:nvSpPr>
          <p:cNvPr id="29" name="match-hex-label"/>
          <p:cNvSpPr txBox="1"/>
          <p:nvPr/>
        </p:nvSpPr>
        <p:spPr>
          <a:xfrm>
            <a:off x="850392" y="41935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0242"/>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Miasma</a:t>
            </a:r>
            <a:endParaRPr lang="en-US" sz="2000" dirty="0"/>
          </a:p>
        </p:txBody>
      </p:sp>
      <p:sp>
        <p:nvSpPr>
          <p:cNvPr id="31" name="match-card"/>
          <p:cNvSpPr/>
          <p:nvPr/>
        </p:nvSpPr>
        <p:spPr>
          <a:xfrm>
            <a:off x="4224437" y="3960242"/>
            <a:ext cx="7190019" cy="799295"/>
          </a:xfrm>
          <a:prstGeom prst="roundRect">
            <a:avLst>
              <a:gd name="adj" fmla="val 9152"/>
            </a:avLst>
          </a:prstGeom>
          <a:solidFill>
            <a:srgbClr val="F6F0E6"/>
          </a:solidFill>
          <a:ln/>
        </p:spPr>
      </p:sp>
      <p:sp>
        <p:nvSpPr>
          <p:cNvPr id="32" name="match-hex"/>
          <p:cNvSpPr/>
          <p:nvPr/>
        </p:nvSpPr>
        <p:spPr>
          <a:xfrm>
            <a:off x="4297589" y="4193597"/>
            <a:ext cx="384048" cy="332586"/>
          </a:xfrm>
          <a:prstGeom prst="hexagon">
            <a:avLst/>
          </a:prstGeom>
          <a:solidFill>
            <a:srgbClr val="B8862B"/>
          </a:solidFill>
          <a:ln/>
        </p:spPr>
      </p:sp>
      <p:sp>
        <p:nvSpPr>
          <p:cNvPr id="33" name="match-hex-label"/>
          <p:cNvSpPr txBox="1"/>
          <p:nvPr/>
        </p:nvSpPr>
        <p:spPr>
          <a:xfrm>
            <a:off x="4297589" y="41935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60242"/>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positions of the stars and planets affected a person's health</a:t>
            </a:r>
            <a:endParaRPr lang="en-US" sz="2000" dirty="0"/>
          </a:p>
        </p:txBody>
      </p:sp>
      <p:sp>
        <p:nvSpPr>
          <p:cNvPr id="35" name="match-card"/>
          <p:cNvSpPr/>
          <p:nvPr/>
        </p:nvSpPr>
        <p:spPr>
          <a:xfrm>
            <a:off x="777240" y="4850977"/>
            <a:ext cx="3081437" cy="509735"/>
          </a:xfrm>
          <a:prstGeom prst="roundRect">
            <a:avLst>
              <a:gd name="adj" fmla="val 14351"/>
            </a:avLst>
          </a:prstGeom>
          <a:solidFill>
            <a:srgbClr val="F4F1ED"/>
          </a:solidFill>
          <a:ln/>
        </p:spPr>
      </p:sp>
      <p:sp>
        <p:nvSpPr>
          <p:cNvPr id="36" name="match-hex"/>
          <p:cNvSpPr/>
          <p:nvPr/>
        </p:nvSpPr>
        <p:spPr>
          <a:xfrm>
            <a:off x="850392" y="4939552"/>
            <a:ext cx="384048" cy="332586"/>
          </a:xfrm>
          <a:prstGeom prst="hexagon">
            <a:avLst/>
          </a:prstGeom>
          <a:solidFill>
            <a:srgbClr val="7A4A1E"/>
          </a:solidFill>
          <a:ln/>
        </p:spPr>
      </p:sp>
      <p:sp>
        <p:nvSpPr>
          <p:cNvPr id="37" name="match-hex-label"/>
          <p:cNvSpPr txBox="1"/>
          <p:nvPr/>
        </p:nvSpPr>
        <p:spPr>
          <a:xfrm>
            <a:off x="850392" y="49395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850977"/>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Urine</a:t>
            </a:r>
            <a:endParaRPr lang="en-US" sz="2000" dirty="0"/>
          </a:p>
        </p:txBody>
      </p:sp>
      <p:sp>
        <p:nvSpPr>
          <p:cNvPr id="39" name="match-card"/>
          <p:cNvSpPr/>
          <p:nvPr/>
        </p:nvSpPr>
        <p:spPr>
          <a:xfrm>
            <a:off x="4224437" y="4850977"/>
            <a:ext cx="7190019" cy="509735"/>
          </a:xfrm>
          <a:prstGeom prst="roundRect">
            <a:avLst>
              <a:gd name="adj" fmla="val 14351"/>
            </a:avLst>
          </a:prstGeom>
          <a:solidFill>
            <a:srgbClr val="F6F0E6"/>
          </a:solidFill>
          <a:ln/>
        </p:spPr>
      </p:sp>
      <p:sp>
        <p:nvSpPr>
          <p:cNvPr id="40" name="match-hex"/>
          <p:cNvSpPr/>
          <p:nvPr/>
        </p:nvSpPr>
        <p:spPr>
          <a:xfrm>
            <a:off x="4297589" y="4939552"/>
            <a:ext cx="384048" cy="332586"/>
          </a:xfrm>
          <a:prstGeom prst="hexagon">
            <a:avLst/>
          </a:prstGeom>
          <a:solidFill>
            <a:srgbClr val="B8862B"/>
          </a:solidFill>
          <a:ln/>
        </p:spPr>
      </p:sp>
      <p:sp>
        <p:nvSpPr>
          <p:cNvPr id="41" name="match-hex-label"/>
          <p:cNvSpPr txBox="1"/>
          <p:nvPr/>
        </p:nvSpPr>
        <p:spPr>
          <a:xfrm>
            <a:off x="4297589" y="49395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850977"/>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body's four liquids had fallen out of balance</a:t>
            </a:r>
            <a:endParaRPr lang="en-US" sz="2000" dirty="0"/>
          </a:p>
        </p:txBody>
      </p:sp>
      <p:sp>
        <p:nvSpPr>
          <p:cNvPr id="43" name="match-card"/>
          <p:cNvSpPr/>
          <p:nvPr/>
        </p:nvSpPr>
        <p:spPr>
          <a:xfrm>
            <a:off x="777240" y="5452153"/>
            <a:ext cx="3081437" cy="509735"/>
          </a:xfrm>
          <a:prstGeom prst="roundRect">
            <a:avLst>
              <a:gd name="adj" fmla="val 14351"/>
            </a:avLst>
          </a:prstGeom>
          <a:solidFill>
            <a:srgbClr val="F4F1ED"/>
          </a:solidFill>
          <a:ln/>
        </p:spPr>
      </p:sp>
      <p:sp>
        <p:nvSpPr>
          <p:cNvPr id="44" name="match-hex"/>
          <p:cNvSpPr/>
          <p:nvPr/>
        </p:nvSpPr>
        <p:spPr>
          <a:xfrm>
            <a:off x="850392" y="5540728"/>
            <a:ext cx="384048" cy="332586"/>
          </a:xfrm>
          <a:prstGeom prst="hexagon">
            <a:avLst/>
          </a:prstGeom>
          <a:solidFill>
            <a:srgbClr val="7A4A1E"/>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Four Humours</a:t>
            </a:r>
            <a:endParaRPr lang="en-US" sz="2000" dirty="0"/>
          </a:p>
        </p:txBody>
      </p:sp>
      <p:sp>
        <p:nvSpPr>
          <p:cNvPr id="47" name="match-card"/>
          <p:cNvSpPr/>
          <p:nvPr/>
        </p:nvSpPr>
        <p:spPr>
          <a:xfrm>
            <a:off x="4224437" y="5452153"/>
            <a:ext cx="7190019" cy="509735"/>
          </a:xfrm>
          <a:prstGeom prst="roundRect">
            <a:avLst>
              <a:gd name="adj" fmla="val 14351"/>
            </a:avLst>
          </a:prstGeom>
          <a:solidFill>
            <a:srgbClr val="F6F0E6"/>
          </a:solidFill>
          <a:ln/>
        </p:spPr>
      </p:sp>
      <p:sp>
        <p:nvSpPr>
          <p:cNvPr id="48" name="match-hex"/>
          <p:cNvSpPr/>
          <p:nvPr/>
        </p:nvSpPr>
        <p:spPr>
          <a:xfrm>
            <a:off x="4297589" y="5540728"/>
            <a:ext cx="384048" cy="332586"/>
          </a:xfrm>
          <a:prstGeom prst="hexagon">
            <a:avLst/>
          </a:prstGeom>
          <a:solidFill>
            <a:srgbClr val="B8862B"/>
          </a:solidFill>
          <a:ln/>
        </p:spPr>
      </p:sp>
      <p:sp>
        <p:nvSpPr>
          <p:cNvPr id="49" name="match-hex-label"/>
          <p:cNvSpPr txBox="1"/>
          <p:nvPr/>
        </p:nvSpPr>
        <p:spPr>
          <a:xfrm>
            <a:off x="4297589"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52153"/>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God sent disease as a punishment for sin or a test of faith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Five ideas about disease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idea about the cause of disease to what people believed.</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idea you know best and find its partner.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Religion is about God; astrology is about the sky.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Miasma is about smell; urine is about what the physician examined.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Four Humours is about liquids inside the body.</a:t>
            </a:r>
            <a:endParaRPr lang="en-US" sz="1800" dirty="0"/>
          </a:p>
        </p:txBody>
      </p:sp>
      <p:sp>
        <p:nvSpPr>
          <p:cNvPr id="17" name="col-Core"/>
          <p:cNvSpPr/>
          <p:nvPr/>
        </p:nvSpPr>
        <p:spPr>
          <a:xfrm>
            <a:off x="5490762" y="2578608"/>
            <a:ext cx="2938987" cy="3566160"/>
          </a:xfrm>
          <a:prstGeom prst="roundRect">
            <a:avLst>
              <a:gd name="adj" fmla="val 1867"/>
            </a:avLst>
          </a:prstGeom>
          <a:solidFill>
            <a:srgbClr val="E2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of the five point to something outside the body: God, the sky, the air, the chamber pot. Only one points inside.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Two of these five ideas were classed as supernatural and three as rational. Sort them, then explain which rational idea came closest to the truth and why it was still wrong.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Spot the idea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physician in the 1340s says a villager's fever was caused by the stink from the ditch behind her house. Which idea about disease is he using?</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Miasma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Astrology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Religion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The Four Humours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Spot the idea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physician in the 1340s says a villager's fever was caused by the stink from the ditch behind her house. Which idea about disease is he using?</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the thing being blamed for the illness.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is it God, the sky, a smell, or the liquids inside the body?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smell or bad air always points to miasma.</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that none of the other three ideas fits the clue.</a:t>
            </a:r>
            <a:endParaRPr lang="en-US" sz="1800" dirty="0"/>
          </a:p>
        </p:txBody>
      </p:sp>
      <p:sp>
        <p:nvSpPr>
          <p:cNvPr id="17" name="col-Core"/>
          <p:cNvSpPr/>
          <p:nvPr/>
        </p:nvSpPr>
        <p:spPr>
          <a:xfrm>
            <a:off x="4338218" y="2593848"/>
            <a:ext cx="3515258" cy="3550920"/>
          </a:xfrm>
          <a:prstGeom prst="roundRect">
            <a:avLst>
              <a:gd name="adj" fmla="val 1561"/>
            </a:avLst>
          </a:prstGeom>
          <a:solidFill>
            <a:srgbClr val="E2D7C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What is being blamed: something you can smell, something in the sky, something you did wrong, or something inside you?</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7A4A1E"/>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Rewrite the story so that the physician uses a different one of the four ideas, and say what he would tell the villager to do about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did the Church teach was the cause of disease?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Fleas living on black rats spread 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Dirty water from rivers carried 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Tiny living things called germs caused 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God sent it as a punishment for sin or as a test of faith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Five ideas about disease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Religion  →  E  God sent disease as a punishment for sin or a test of faith</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Astrology  →  C  The positions of the stars and planets affected a person's health</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Miasma  →  A  Bad air and foul smells from rotting matter carried disease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Urine  →  B  The colour, smell and taste of urine showed what was wrong inside the body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Four Humours  →  D  The body's four liquids had fallen out of balance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Religion: God as punisher or tester. Astrology: the stars and planets. Miasma: bad air and smells. Urine: a sign of what was wrong inside. The Four Humours: the body's liquids thought to be out of balance.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Spot the idea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physician in the 1340s says a villager's fever was caused by the stink from the ditch behind her house. Which idea about disease is he using?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Miasma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story blames something different. A smell, foul air or rotting rubbish is miasma; the stars are astrology; sin is religion; liquids inside the body are the Four Humours.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did the Church teach was the cause of disease?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God sent it as a punishment for sin or as a test of faith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Church taught that God sent disease to punish sin or to test faith. Nobody in medieval England knew about germs.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Medieval Medicine · Chapter 2: Why did people think they got sick?</dc:title>
  <dc:subject>History · Year 9</dc:subject>
  <dc:creator>Dr Vitor Merissi de Carvalho</dc:creator>
  <cp:lastModifiedBy>Dr Vitor Merissi de Carvalho</cp:lastModifiedBy>
  <cp:revision>1</cp:revision>
  <dcterms:created xsi:type="dcterms:W3CDTF">2026-10-18T21:47:55Z</dcterms:created>
  <dcterms:modified xsi:type="dcterms:W3CDTF">2026-10-18T21:47:55Z</dcterms:modified>
</cp:coreProperties>
</file>