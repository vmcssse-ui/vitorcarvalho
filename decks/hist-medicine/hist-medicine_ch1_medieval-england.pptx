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f4659d5-f615-dcf0-2572-e0c87c1b216a}">
          <p14:sldIdLst>
            <p14:sldId id="256"/>
          </p14:sldIdLst>
        </p14:section>
        <p14:section name="Gate" id="{d64b77e1-7397-1328-eb62-ac98be1c5b65}">
          <p14:sldIdLst>
            <p14:sldId id="257"/>
            <p14:sldId id="258"/>
            <p14:sldId id="259"/>
          </p14:sldIdLst>
        </p14:section>
        <p14:section name="Pre-teach" id="{775745fa-cc63-af4d-fd14-7b477df1eb3b}">
          <p14:sldIdLst>
            <p14:sldId id="260"/>
            <p14:sldId id="261"/>
          </p14:sldIdLst>
        </p14:section>
        <p14:section name="Read-along" id="{59bc389f-569a-5ee4-d55b-62773383f789}">
          <p14:sldIdLst>
            <p14:sldId id="262"/>
            <p14:sldId id="263"/>
          </p14:sldIdLst>
        </p14:section>
        <p14:section name="Teach" id="{a911f788-a34b-0a0e-ad98-bea231efa565}">
          <p14:sldIdLst>
            <p14:sldId id="264"/>
            <p14:sldId id="265"/>
            <p14:sldId id="266"/>
            <p14:sldId id="267"/>
          </p14:sldIdLst>
        </p14:section>
        <p14:section name="Routes" id="{ff5452bb-ec6d-9a30-0cdf-0df9e2b5cb3e}">
          <p14:sldIdLst>
            <p14:sldId id="268"/>
            <p14:sldId id="269"/>
            <p14:sldId id="270"/>
            <p14:sldId id="271"/>
          </p14:sldIdLst>
        </p14:section>
        <p14:section name="Close" id="{e02f7423-ab1b-1e53-68d6-62c06479be1a}">
          <p14:sldIdLst>
            <p14:sldId id="272"/>
          </p14:sldIdLst>
        </p14:section>
        <p14:section name="Answers" id="{4f7f8079-793d-e3d8-ce41-9c30f157ec4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Life in medieval England. This chapter sets the scene: when the medieval period was, what life was like in a village, and the big story of medicine you are about to follow.
This deck covers the department's lesson: 1 (Life in Medieval England: What does the village of Walsham tell us about medieval England?).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event marks the beginning of the medieval period in England?  →  A   The Norman Conquest in 1066
2. Most medieval people were ___ who worked on the land for a lord.  →  peasants
3. Why was the harvest the most important event of the year for a village such as Walsham?  →  A   A bad harvest meant hunger for the winter and, after several bad years, famine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event marks the beginning of the medieval period in England?  →  A   The Norman Conquest in 1066
2. Most medieval people were ___ who worked on the land for a lord.  →  peasants
3. Why was the harvest the most important event of the year for a village such as Walsham?  →  A   A bad harvest meant hunger for the winter and, after several bad years, famine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 Norman Conquest in 1066. The medieval period in England runs from the Norman Conquest of 1066 to the start of the Tudor dynasty in 1485.
2. peasants. Most of the population were peasants, farming land they did not own under the feudal system.
3. A   A bad harvest meant hunger for the winter and, after several bad years, famine. The village lived on what it grew. A failed harvest meant hunger, and repeated failure meant famine and death.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medieval period: the Middle Ages in England, from 1066 to 1485. Example: "The medieval period began when the Normans conquered England."
• peasant: a poor person who worked on the land for a lord. Example: "Most people in medieval England were peasants."
• harvest: gathering in the crops at the end of summer. Example: "A good harvest meant the village would eat through the winter."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feudal system: the way society was organised, with the king at the top and peasants at the bottom. Example: "Under the feudal system, peasants had few rights and freedoms."
• famine: a lack of food that leads to starvation and death. Example: "A failed harvest could bring famine to a whole region."
• tithe: a tax paid to the Church. Example: "Every family paid a tithe to the Church each year."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medieval period in England began in 1066.
2. That year the Normans conquered England.
3. It ended in 1485, when the Tudor kings and queens began.
4. Most people were peasants who worked on the land.
5. The harvest was the most important event of the year.
6. A bad harvest meant hunger, and sometimes famine.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Under the feudal system, peasants had few rights and freedoms.
8. The Church was at the centre of village life.
9. People paid a tithe, a tax, to the Church.
10. Most people could not read, so the Church told them what to believe.
11. Illness and disease were a constant worry.
12. In this unit you will ask why medicine changed so little in these years.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big story of medicine. Say it in your own words, then check understanding with a quick question: ask a pupil from the pre-teach group first, since they met these words and ideas before the lesson. Pupils try to recall before you re-explain.
Over this year you will follow the history of medicine across four periods: medieval medicine (1250–1500), Renaissance medicine (1500–1700), medicine in eighteenth- and nineteenth-century Britain, and medicine in modern Britain (1900 to the present). For each period you will ask the same three questions. What did people think caused disease? How did they treat it? How did they try to prevent it?
Asking the same three questions each time lets you spot change and continuity. A turning point is a moment when something changes for good; continuity is when things stay the same. The surprising thing about the medieval period is how much continuity there was. Ideas about disease in 1500 were nearly the same as in 1250, and nearly the same as in Ancient Greece.
Historians explain change and continuity with factors. Your department uses six: attitudes and beliefs (such as the Church, respect for tradition, or a wish to improve); individuals; war; science and technology; government; and improved communications. Keep a list. You will add to it all year.
Tip: Continuity is not the same as nothing happening. People were busy treating the sick all through the Middle Ages; what did not change were the ideas behind the treatments.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Walsham in the 1340s. Say it in your own words, then check understanding with a quick question: ask a pupil from the pre-teach group first, since they met these words and ideas before the lesson. Pupils try to recall before you re-explain.
Your lesson read a story about Walsham, a real village in Suffolk, in the 1340s. Walsham stands for thousands of villages like it. Most of its people were peasants. They did not own the land they farmed; it belonged to the lord of the manor, and they owed him work and rent. This is the feudal system: the king at the top, lords below him, and peasants at the bottom with few rights and freedoms.
The year turned on the harvest, gathered in the autumn. A good harvest meant bread and pottage, a thick vegetable stew, through the winter. A bad one meant hunger. Two or three bad years in a row meant famine, and famine killed. The Great Famine of the early fourteenth century, a generation before the Black Death, was still in living memory for the oldest villagers.
Even in a good year, health was fragile. There was no clean piped water, there were no sewers, and nobody had any idea of germs. Cuts turned bad, childbirth was dangerous, and a fever could carry off a child in days. Illness was a part of life that everyone expected to meet.
Worked example — model it step by step, thinking aloud: Put these four periods in chronological order: the Industrial Revolution, the twentieth century, the Middle Ages, the Renaissance. (1) Chronological order means earliest first. Find the oldest: the Middle Ages (the medieval period) come before all the others. (2) The Renaissance follows the Middle Ages: it is the period from about 1500 to 1700. (3) The Industrial Revolution came next, in the eighteenth and nineteenth centuries. (4) The twentieth century is the most recent of the four. Answer: The Middle Ages, the Renaissance, the Industrial Revolution, the twentieth century..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Walsham in the 1340s. Say it in your own words, then check understanding with a quick question: ask a pupil from the pre-teach group first, since they met these words and ideas before the lesson. Pupils try to recall before you re-explain.
Your lesson read a story about Walsham, a real village in Suffolk, in the 1340s. Walsham stands for thousands of villages like it. Most of its people were peasants. They did not own the land they farmed; it belonged to the lord of the manor, and they owed him work and rent. This is the feudal system: the king at the top, lords below him, and peasants at the bottom with few rights and freedoms.
The year turned on the harvest, gathered in the autumn. A good harvest meant bread and pottage, a thick vegetable stew, through the winter. A bad one meant hunger. Two or three bad years in a row meant famine, and famine killed. The Great Famine of the early fourteenth century, a generation before the Black Death, was still in living memory for the oldest villagers.
Even in a good year, health was fragile. There was no clean piped water, there were no sewers, and nobody had any idea of germs. Cuts turned bad, childbirth was dangerous, and a fever could carry off a child in days. Illness was a part of life that everyone expected to meet.
Worked example — model it step by step, thinking aloud: Put these four periods in chronological order: the Industrial Revolution, the twentieth century, the Middle Ages, the Renaissance. (1) Chronological order means earliest first. Find the oldest: the Middle Ages (the medieval period) come before all the others. (2) The Renaissance follows the Middle Ages: it is the period from about 1500 to 1700. (3) The Industrial Revolution came next, in the eighteenth and nineteenth centuries. (4) The twentieth century is the most recent of the four. Answer: The Middle Ages, the Renaissance, the Industrial Revolution, the twentieth century..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Church at the centre. Say it in your own words, then check understanding with a quick question: ask a pupil from the pre-teach group first, since they met these words and ideas before the lesson. Pupils try to recall before you re-explain.
Ask a medieval villager why the Church mattered and you would get more than one answer. First, it explained the world. The Church taught people where they came from, why bad things happened and what would happen when they died. Heaven and hell were real places to medieval people, and the Church held the keys.
Second, the Church was part of everyday life. Its bells told the time. Its feast days were the holidays. It collected a tithe, a tenth of what each family produced. Monks and priests were almost the only people who could read and write, so the Church kept the books and ran the schools and universities. Many hospitals were run by monks and nuns.
This matters for medicine. If the Church explained everything else, it would explain disease too. And if the Church taught what to believe, then the ideas it approved of would last. Hold on to this: it is the single most important factor in the whole unit.
Tip: When you write about the Church, give it a capital C: it means the Christian Church as an organisation, not a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periods of medicine.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periods of the history of medicine in chronological order, earliest first.
Support — work through the steps with the group: (1) Chronological order means earliest first. Look for the dates in each label. (2) Which label has the smallest starting date? That goes first. (3) Eighteenth century means the 1700s and nineteenth century means the 1800s. (4) The period that reaches the present day must be last.
Parallel worked example for Support (model it, do not give the task answer): Practice: put these three events in chronological order: the Black Death (1348), the Norman Conquest (1066), the start of the Tudor dynasty (1485). Find the smallest year: 1066.; Next comes 1348.; The largest year, 1485, goes last.. Answer: The Norman Conquest (1066); the Black Death (1348); the start of the Tudor dynasty (1485)..
Core — reveal the hint only on request: Each period starts where the one before it ends: 1250, 1500, 1700, 1900.
Stretch — no help; when finished: Say which period you expect to show the most change in medicine, and which the least, and give one reason for each prediction. You will test these predictions over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periods of medicine.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periods of the history of medicine in chronological order, earliest first.
Support — work through the steps with the group: (1) Chronological order means earliest first. Look for the dates in each label. (2) Which label has the smallest starting date? That goes first. (3) Eighteenth century means the 1700s and nineteenth century means the 1800s. (4) The period that reaches the present day must be last.
Parallel worked example for Support (model it, do not give the task answer): Practice: put these three events in chronological order: the Black Death (1348), the Norman Conquest (1066), the start of the Tudor dynasty (1485). Find the smallest year: 1066.; Next comes 1348.; The largest year, 1485, goes last.. Answer: The Norman Conquest (1066); the Black Death (1348); the start of the Tudor dynasty (1485)..
Core — reveal the hint only on request: Each period starts where the one before it ends: 1250, 1500, 1700, 1900.
Stretch — no help; when finished: Say which period you expect to show the most change in medicine, and which the least, and give one reason for each prediction. You will test these predictions over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that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of change to the example that fits it best.
Support — work through the steps with the group: (1) Read each example and ask: who or what is doing the changing here? (2) If it is a single person, that is Individuals. If it is a way of thinking, that is Attitudes and beliefs. (3) If it is rulers making decisions or spending money, that is Government. (4) Tools, machines and discoveries belong to Science and technology; battles and armies belong to War.
Parallel worked example for Support (model it, do not give the task answer): Practice: a new, faster way of sending letters and books across Europe spreads a medical idea. Which factor is this? Ask what is doing the changing: a way of sending information.; That is about how ideas travel.; The factor is improved communications.. Answer: Improved communications..
Core — reveal the hint only on request: Two of the factors are about people (one person; everyone's way of thinking). The others are about rulers, tools and fighting.
Stretch — no help; when finished: The sixth factor, improved communications, is missing from the list. Write an example of your own for it, and explain why there was so little of it in medieval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that factor.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factor of change to the example that fits it best.
Support — work through the steps with the group: (1) Read each example and ask: who or what is doing the changing here? (2) If it is a single person, that is Individuals. If it is a way of thinking, that is Attitudes and beliefs. (3) If it is rulers making decisions or spending money, that is Government. (4) Tools, machines and discoveries belong to Science and technology; battles and armies belong to War.
Parallel worked example for Support (model it, do not give the task answer): Practice: a new, faster way of sending letters and books across Europe spreads a medical idea. Which factor is this? Ask what is doing the changing: a way of sending information.; That is about how ideas travel.; The factor is improved communications.. Answer: Improved communications..
Core — reveal the hint only on request: Two of the factors are about people (one person; everyone's way of thinking). The others are about rulers, tools and fighting.
Stretch — no help; when finished: The sixth factor, improved communications, is missing from the list. Write an example of your own for it, and explain why there was so little of it in medieval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medieval period in England ran from the Norman Conquest in 1066 to the start of the Tudor dynasty in 1485. How many years is that?
Answer: 419 years. 1485 − 1066 = 419. The medieval period in England lasted 419 years: long enough for twenty generations to live and die with almost the same medical ideas.
Source of this question: module 3 task ("How long was the medieval period?")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four periods of medicine. Reveal the answer; pupils mark their own work in a different colour, then read the "why" together. Same destination for every lane, so one answer serves the whole class.
Answer: Medieval medicine (1250–1500)  (C); Renaissance medicine (1500–1700)  (D); Medicine in eighteenth- and nineteenth-century Britain  (A); Medicine in modern Britain (1900 to the present)  (B)
Why: The department's four periods run medieval (1250–1500), Renaissance (1500–1700), eighteenth and nineteenth centuries, then modern (1900 to the present). Each begins where the last one ends.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that factor. Reveal the answer; pupils mark their own work in a different colour, then read the "why" together. Same destination for every lane, so one answer serves the whole class.
Answer: Attitudes and beliefs  →  D  Respect for tradition and trust in what the Church taught; Individuals  →  C  One person whose ideas were followed for centuries, such as Galen; Science and technology  →  A  New tools and knowledge, such as printing books with pictures; Government  →  E  Kings and town councils choosing whether to spend money or pass laws; War  →  B  Fighting that brought injuries and a demand for surgeons
Why: Attitudes and beliefs are ways of thinking, such as respect for tradition; Individuals are single people like Galen; Science and technology covers tools such as printing; Government is rulers and councils; War is fighting and its injuries.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419 years
Why: 1485 − 1066 = 419. The medieval period in England lasted 419 years: long enough for twenty generations to live and die with almost the same medical ideas.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Life in medieval England</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Life in Medieval England</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event marks the beginning of the medieval period in England?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Norman Conquest in 1066</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Black Death in 1348</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start of the Tudor dynasty in 1485</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VIII's split from the Catholic Church in 1534</a:t>
            </a:r>
            <a:endParaRPr lang="en-US" sz="24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Most medieval people were ___ who worked on the land for a lord.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peasants  ·  physicians  ·  monks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was the harvest the most important event of the year for a village such as Walsham?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bad harvest meant hunger for the winter and, after several bad years, famine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the only time the Church collected the tithe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when the lord of the manor chose a new 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the only time physicians visited the village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Norman Conquest in 1066</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event marks the beginning of the medieval period in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medieval period in England runs from the Norman Conquest of 1066 to the start of the Tudor dynasty in 1485.</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peasants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Most medieval people were ___ who worked on the land for a lord.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Most of the population were peasants, farming land they did not own under the feudal system.</a:t>
            </a:r>
            <a:endParaRPr lang="en-US" sz="22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bad harvest meant hunger for the winter and, after several bad years, famine</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village lived on what it grew. A failed harvest meant hunger, and repeated failure meant famine and death.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medieval period</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Middle Ages in England, from 1066 to 1485</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medieval period began when the Normans conquered England.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peasant</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poor person who worked on the land for a lord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people in medieval England were peasants.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harvest</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gathering in the crops at the end of summer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good harvest meant the village would eat through the winter.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feudal system</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way society was organised, with the king at the top and peasants at the bottom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Under the feudal system, peasants had few rights and freedoms.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famine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lack of food that leads to starvation and death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failed harvest could bring famine to a whole region.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tithe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tax paid to the Church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family paid a tithe to the Church each year.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medieval period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England began in 1066.</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year the Normans conquered England.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ended in 1485, when the Tudor kings and queens began.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people were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peasants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who worked on the 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harvest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was the most important event of the year.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bad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harvest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meant hunger, and sometimes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famine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feudal system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peasants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had few rights and freedoms.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Church was at the centre of village life.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paid 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tithe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tax, to the Church.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people could not read, so the Church told them what to believe.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Illness and disease were a constant worry.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this unit you will ask why medicine changed so little in these years.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big story of medicine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Continuity is not the same as nothing happening. People were busy treating the sick all through the Middle Ages; what did not change were the ideas behind the treatments.</a:t>
            </a:r>
            <a:endParaRPr lang="en-US" sz="1800" dirty="0"/>
          </a:p>
        </p:txBody>
      </p:sp>
      <p:sp>
        <p:nvSpPr>
          <p:cNvPr id="11" name="bullet-card"/>
          <p:cNvSpPr/>
          <p:nvPr/>
        </p:nvSpPr>
        <p:spPr>
          <a:xfrm>
            <a:off x="548640" y="1389888"/>
            <a:ext cx="11094415" cy="1325372"/>
          </a:xfrm>
          <a:prstGeom prst="roundRect">
            <a:avLst>
              <a:gd name="adj" fmla="val 5519"/>
            </a:avLst>
          </a:prstGeom>
          <a:solidFill>
            <a:srgbClr val="F4F1ED"/>
          </a:solidFill>
          <a:ln/>
        </p:spPr>
      </p:sp>
      <p:sp>
        <p:nvSpPr>
          <p:cNvPr id="12" name="bullet-hex"/>
          <p:cNvSpPr/>
          <p:nvPr/>
        </p:nvSpPr>
        <p:spPr>
          <a:xfrm>
            <a:off x="676656" y="1886281"/>
            <a:ext cx="384048" cy="332586"/>
          </a:xfrm>
          <a:prstGeom prst="hexagon">
            <a:avLst/>
          </a:prstGeom>
          <a:solidFill>
            <a:srgbClr val="7A4A1E"/>
          </a:solidFill>
          <a:ln/>
        </p:spPr>
      </p:sp>
      <p:sp>
        <p:nvSpPr>
          <p:cNvPr id="13" name="bullet"/>
          <p:cNvSpPr txBox="1"/>
          <p:nvPr/>
        </p:nvSpPr>
        <p:spPr>
          <a:xfrm>
            <a:off x="1143000" y="1389888"/>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Over this year you will follow the history of medicine across four periods: medieval medicine (1250–1500), Renaissance medicine (1500–1700), medicine in eighteenth- and nineteenth-century Britain, and medicine in modern Britain (1900 to the present).</a:t>
            </a:r>
            <a:endParaRPr lang="en-US" sz="2200" dirty="0"/>
          </a:p>
        </p:txBody>
      </p:sp>
      <p:sp>
        <p:nvSpPr>
          <p:cNvPr id="14" name="bullet-card"/>
          <p:cNvSpPr/>
          <p:nvPr/>
        </p:nvSpPr>
        <p:spPr>
          <a:xfrm>
            <a:off x="548640" y="2861564"/>
            <a:ext cx="11094415" cy="742696"/>
          </a:xfrm>
          <a:prstGeom prst="roundRect">
            <a:avLst>
              <a:gd name="adj" fmla="val 9850"/>
            </a:avLst>
          </a:prstGeom>
          <a:solidFill>
            <a:srgbClr val="F4F1ED"/>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861564"/>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Asking the same three questions each time lets you spot change and continuity.</a:t>
            </a:r>
            <a:endParaRPr lang="en-US" sz="2200" dirty="0"/>
          </a:p>
        </p:txBody>
      </p:sp>
      <p:sp>
        <p:nvSpPr>
          <p:cNvPr id="17" name="bullet-card"/>
          <p:cNvSpPr/>
          <p:nvPr/>
        </p:nvSpPr>
        <p:spPr>
          <a:xfrm>
            <a:off x="548640" y="3750564"/>
            <a:ext cx="11094415" cy="1325372"/>
          </a:xfrm>
          <a:prstGeom prst="roundRect">
            <a:avLst>
              <a:gd name="adj" fmla="val 5519"/>
            </a:avLst>
          </a:prstGeom>
          <a:solidFill>
            <a:srgbClr val="F4F1ED"/>
          </a:solidFill>
          <a:ln/>
        </p:spPr>
      </p:sp>
      <p:sp>
        <p:nvSpPr>
          <p:cNvPr id="18" name="bullet-hex"/>
          <p:cNvSpPr/>
          <p:nvPr/>
        </p:nvSpPr>
        <p:spPr>
          <a:xfrm>
            <a:off x="676656" y="4246957"/>
            <a:ext cx="384048" cy="332586"/>
          </a:xfrm>
          <a:prstGeom prst="hexagon">
            <a:avLst/>
          </a:prstGeom>
          <a:solidFill>
            <a:srgbClr val="7A4A1E"/>
          </a:solidFill>
          <a:ln/>
        </p:spPr>
      </p:sp>
      <p:sp>
        <p:nvSpPr>
          <p:cNvPr id="19" name="bullet"/>
          <p:cNvSpPr txBox="1"/>
          <p:nvPr/>
        </p:nvSpPr>
        <p:spPr>
          <a:xfrm>
            <a:off x="1143000" y="3750564"/>
            <a:ext cx="10408615" cy="13253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Historians explain change and continuity with factors. Your department uses six: attitudes and beliefs (such as the Church, respect for tradition, or a wish to improve); individuals; war; science and technology; government; and improved communications.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Walsham in the 1340s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read a story about Walsham, a real village in Suffolk, in the 1340s.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year turned on the harvest, gathered in the autumn.</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Even in a good year, health was fragile. There was no clean piped water, there were no sewers, and nobody had any idea of germs.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Walsham in the 1340s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ED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Put these four periods in chronological order: the Industrial Revolution, the twentieth century, the Middle Ages, the Renaissance.</a:t>
            </a:r>
            <a:endParaRPr lang="en-US" sz="2000" dirty="0"/>
          </a:p>
        </p:txBody>
      </p:sp>
      <p:sp>
        <p:nvSpPr>
          <p:cNvPr id="9" name="step-box"/>
          <p:cNvSpPr/>
          <p:nvPr/>
        </p:nvSpPr>
        <p:spPr>
          <a:xfrm>
            <a:off x="548640" y="2502408"/>
            <a:ext cx="11094415" cy="833018"/>
          </a:xfrm>
          <a:prstGeom prst="roundRect">
            <a:avLst>
              <a:gd name="adj" fmla="val 8782"/>
            </a:avLst>
          </a:prstGeom>
          <a:solidFill>
            <a:srgbClr val="FFFFFF"/>
          </a:solidFill>
          <a:ln w="15875">
            <a:solidFill>
              <a:srgbClr val="B69B83"/>
            </a:solidFill>
            <a:prstDash val="solid"/>
          </a:ln>
        </p:spPr>
      </p:sp>
      <p:sp>
        <p:nvSpPr>
          <p:cNvPr id="10" name="step-hex"/>
          <p:cNvSpPr/>
          <p:nvPr/>
        </p:nvSpPr>
        <p:spPr>
          <a:xfrm>
            <a:off x="685800" y="2720950"/>
            <a:ext cx="457200" cy="395935"/>
          </a:xfrm>
          <a:prstGeom prst="hexagon">
            <a:avLst/>
          </a:prstGeom>
          <a:solidFill>
            <a:srgbClr val="7A4A1E"/>
          </a:solidFill>
          <a:ln/>
        </p:spPr>
      </p:sp>
      <p:sp>
        <p:nvSpPr>
          <p:cNvPr id="11" name="step-hex-label"/>
          <p:cNvSpPr txBox="1"/>
          <p:nvPr/>
        </p:nvSpPr>
        <p:spPr>
          <a:xfrm>
            <a:off x="685800" y="272095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Chronological order means earliest first. Find the oldest: the Middle Ages (the medieval period) come before all the others.</a:t>
            </a:r>
            <a:endParaRPr lang="en-US" sz="1800" dirty="0"/>
          </a:p>
        </p:txBody>
      </p:sp>
      <p:sp>
        <p:nvSpPr>
          <p:cNvPr id="13" name="step-box"/>
          <p:cNvSpPr/>
          <p:nvPr/>
        </p:nvSpPr>
        <p:spPr>
          <a:xfrm>
            <a:off x="548640" y="3408578"/>
            <a:ext cx="11094415" cy="568858"/>
          </a:xfrm>
          <a:prstGeom prst="roundRect">
            <a:avLst>
              <a:gd name="adj" fmla="val 12859"/>
            </a:avLst>
          </a:prstGeom>
          <a:solidFill>
            <a:srgbClr val="FFFFFF"/>
          </a:solidFill>
          <a:ln w="15875">
            <a:solidFill>
              <a:srgbClr val="B69B83"/>
            </a:solidFill>
            <a:prstDash val="solid"/>
          </a:ln>
        </p:spPr>
      </p:sp>
      <p:sp>
        <p:nvSpPr>
          <p:cNvPr id="14" name="step-hex"/>
          <p:cNvSpPr/>
          <p:nvPr/>
        </p:nvSpPr>
        <p:spPr>
          <a:xfrm>
            <a:off x="685800" y="3495040"/>
            <a:ext cx="457200" cy="395935"/>
          </a:xfrm>
          <a:prstGeom prst="hexagon">
            <a:avLst/>
          </a:prstGeom>
          <a:solidFill>
            <a:srgbClr val="7A4A1E"/>
          </a:solidFill>
          <a:ln/>
        </p:spPr>
      </p:sp>
      <p:sp>
        <p:nvSpPr>
          <p:cNvPr id="15" name="step-hex-label"/>
          <p:cNvSpPr txBox="1"/>
          <p:nvPr/>
        </p:nvSpPr>
        <p:spPr>
          <a:xfrm>
            <a:off x="685800" y="3495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40857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Renaissance follows the Middle Ages: it is the period from about 1500 to 1700.</a:t>
            </a:r>
            <a:endParaRPr lang="en-US" sz="1800" dirty="0"/>
          </a:p>
        </p:txBody>
      </p:sp>
      <p:sp>
        <p:nvSpPr>
          <p:cNvPr id="17" name="step-box"/>
          <p:cNvSpPr/>
          <p:nvPr/>
        </p:nvSpPr>
        <p:spPr>
          <a:xfrm>
            <a:off x="548640" y="4050589"/>
            <a:ext cx="11094415" cy="568858"/>
          </a:xfrm>
          <a:prstGeom prst="roundRect">
            <a:avLst>
              <a:gd name="adj" fmla="val 12859"/>
            </a:avLst>
          </a:prstGeom>
          <a:solidFill>
            <a:srgbClr val="FFFFFF"/>
          </a:solidFill>
          <a:ln w="15875">
            <a:solidFill>
              <a:srgbClr val="B69B83"/>
            </a:solidFill>
            <a:prstDash val="solid"/>
          </a:ln>
        </p:spPr>
      </p:sp>
      <p:sp>
        <p:nvSpPr>
          <p:cNvPr id="18" name="step-hex"/>
          <p:cNvSpPr/>
          <p:nvPr/>
        </p:nvSpPr>
        <p:spPr>
          <a:xfrm>
            <a:off x="685800" y="4137050"/>
            <a:ext cx="457200" cy="395935"/>
          </a:xfrm>
          <a:prstGeom prst="hexagon">
            <a:avLst/>
          </a:prstGeom>
          <a:solidFill>
            <a:srgbClr val="7A4A1E"/>
          </a:solidFill>
          <a:ln/>
        </p:spPr>
      </p:sp>
      <p:sp>
        <p:nvSpPr>
          <p:cNvPr id="19" name="step-hex-label"/>
          <p:cNvSpPr txBox="1"/>
          <p:nvPr/>
        </p:nvSpPr>
        <p:spPr>
          <a:xfrm>
            <a:off x="685800" y="413705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5058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Industrial Revolution came next, in the eighteenth and nineteenth centuries.</a:t>
            </a:r>
            <a:endParaRPr lang="en-US" sz="1800" dirty="0"/>
          </a:p>
        </p:txBody>
      </p:sp>
      <p:sp>
        <p:nvSpPr>
          <p:cNvPr id="21" name="step-box"/>
          <p:cNvSpPr/>
          <p:nvPr/>
        </p:nvSpPr>
        <p:spPr>
          <a:xfrm>
            <a:off x="548640" y="4692599"/>
            <a:ext cx="11094415" cy="568858"/>
          </a:xfrm>
          <a:prstGeom prst="roundRect">
            <a:avLst>
              <a:gd name="adj" fmla="val 12859"/>
            </a:avLst>
          </a:prstGeom>
          <a:solidFill>
            <a:srgbClr val="FFFFFF"/>
          </a:solidFill>
          <a:ln w="15875">
            <a:solidFill>
              <a:srgbClr val="B69B83"/>
            </a:solidFill>
            <a:prstDash val="solid"/>
          </a:ln>
        </p:spPr>
      </p:sp>
      <p:sp>
        <p:nvSpPr>
          <p:cNvPr id="22" name="step-hex"/>
          <p:cNvSpPr/>
          <p:nvPr/>
        </p:nvSpPr>
        <p:spPr>
          <a:xfrm>
            <a:off x="685800" y="4779061"/>
            <a:ext cx="457200" cy="395935"/>
          </a:xfrm>
          <a:prstGeom prst="hexagon">
            <a:avLst/>
          </a:prstGeom>
          <a:solidFill>
            <a:srgbClr val="7A4A1E"/>
          </a:solidFill>
          <a:ln/>
        </p:spPr>
      </p:sp>
      <p:sp>
        <p:nvSpPr>
          <p:cNvPr id="23" name="step-hex-label"/>
          <p:cNvSpPr txBox="1"/>
          <p:nvPr/>
        </p:nvSpPr>
        <p:spPr>
          <a:xfrm>
            <a:off x="685800" y="477906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9259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twentieth century is the most recent of the four.</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Middle Ages, the Renaissance, the Industrial Revolution, the twentieth century.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Church at the centre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the Church, give it a capital C: it means the Christian Church as an organisation, not a building.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Ask a medieval villager why the Church mattered and you would get more than one answer.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Second, the Church was part of everyday life. Its bells told the time.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matters for medicine. If the Church explained everything else, it would explain disease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four periods of medicine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periods of the history of medicine in chronological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Medicine in eighteenth- and nineteenth-century Britain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Medicine in modern Britain (1900 to the present)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Medieval medicine (1250–1500)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Renaissance medicine (1500–1700)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four periods of medicine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four periods of the history of medicine in chronological order, earliest first.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Chronological order means earliest first. Look for the dates in each label.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label has the smallest starting date? That goes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Eighteenth century means the 1700s and nineteenth century means the 1800s.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period that reaches the present day must be last.</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period starts where the one before it ends: 1250, 1500, 1700, 1900.</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Say which period you expect to show the most change in medicine, and which the least, and give one reason for each prediction. You will test these predictions over the year.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Name that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factor of change to the example that fits it best.</a:t>
            </a:r>
            <a:endParaRPr lang="en-US" sz="2400" dirty="0"/>
          </a:p>
        </p:txBody>
      </p:sp>
      <p:sp>
        <p:nvSpPr>
          <p:cNvPr id="11" name="match-card"/>
          <p:cNvSpPr/>
          <p:nvPr/>
        </p:nvSpPr>
        <p:spPr>
          <a:xfrm>
            <a:off x="777240" y="2468331"/>
            <a:ext cx="3081437" cy="534526"/>
          </a:xfrm>
          <a:prstGeom prst="roundRect">
            <a:avLst>
              <a:gd name="adj" fmla="val 13685"/>
            </a:avLst>
          </a:prstGeom>
          <a:solidFill>
            <a:srgbClr val="F4F1ED"/>
          </a:solidFill>
          <a:ln/>
        </p:spPr>
      </p:sp>
      <p:sp>
        <p:nvSpPr>
          <p:cNvPr id="12" name="match-hex"/>
          <p:cNvSpPr/>
          <p:nvPr/>
        </p:nvSpPr>
        <p:spPr>
          <a:xfrm>
            <a:off x="850392" y="2569301"/>
            <a:ext cx="384048" cy="332586"/>
          </a:xfrm>
          <a:prstGeom prst="hexagon">
            <a:avLst/>
          </a:prstGeom>
          <a:solidFill>
            <a:srgbClr val="7A4A1E"/>
          </a:solidFill>
          <a:ln/>
        </p:spPr>
      </p:sp>
      <p:sp>
        <p:nvSpPr>
          <p:cNvPr id="13" name="match-hex-label"/>
          <p:cNvSpPr txBox="1"/>
          <p:nvPr/>
        </p:nvSpPr>
        <p:spPr>
          <a:xfrm>
            <a:off x="850392"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Attitudes and beliefs</a:t>
            </a:r>
            <a:endParaRPr lang="en-US" sz="1800" dirty="0"/>
          </a:p>
        </p:txBody>
      </p:sp>
      <p:sp>
        <p:nvSpPr>
          <p:cNvPr id="15" name="match-card"/>
          <p:cNvSpPr/>
          <p:nvPr/>
        </p:nvSpPr>
        <p:spPr>
          <a:xfrm>
            <a:off x="4224437" y="2468331"/>
            <a:ext cx="7190019" cy="534526"/>
          </a:xfrm>
          <a:prstGeom prst="roundRect">
            <a:avLst>
              <a:gd name="adj" fmla="val 13685"/>
            </a:avLst>
          </a:prstGeom>
          <a:solidFill>
            <a:srgbClr val="F6F0E6"/>
          </a:solidFill>
          <a:ln/>
        </p:spPr>
      </p:sp>
      <p:sp>
        <p:nvSpPr>
          <p:cNvPr id="16" name="match-hex"/>
          <p:cNvSpPr/>
          <p:nvPr/>
        </p:nvSpPr>
        <p:spPr>
          <a:xfrm>
            <a:off x="4297589" y="2569301"/>
            <a:ext cx="384048" cy="332586"/>
          </a:xfrm>
          <a:prstGeom prst="hexagon">
            <a:avLst/>
          </a:prstGeom>
          <a:solidFill>
            <a:srgbClr val="B8862B"/>
          </a:solidFill>
          <a:ln/>
        </p:spPr>
      </p:sp>
      <p:sp>
        <p:nvSpPr>
          <p:cNvPr id="17" name="match-hex-label"/>
          <p:cNvSpPr txBox="1"/>
          <p:nvPr/>
        </p:nvSpPr>
        <p:spPr>
          <a:xfrm>
            <a:off x="4297589"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New tools and knowledge, such as printing books with pictures</a:t>
            </a:r>
            <a:endParaRPr lang="en-US" sz="1800" dirty="0"/>
          </a:p>
        </p:txBody>
      </p:sp>
      <p:sp>
        <p:nvSpPr>
          <p:cNvPr id="19" name="match-card"/>
          <p:cNvSpPr/>
          <p:nvPr/>
        </p:nvSpPr>
        <p:spPr>
          <a:xfrm>
            <a:off x="777240" y="3094297"/>
            <a:ext cx="3081437" cy="534526"/>
          </a:xfrm>
          <a:prstGeom prst="roundRect">
            <a:avLst>
              <a:gd name="adj" fmla="val 13685"/>
            </a:avLst>
          </a:prstGeom>
          <a:solidFill>
            <a:srgbClr val="F4F1ED"/>
          </a:solidFill>
          <a:ln/>
        </p:spPr>
      </p:sp>
      <p:sp>
        <p:nvSpPr>
          <p:cNvPr id="20" name="match-hex"/>
          <p:cNvSpPr/>
          <p:nvPr/>
        </p:nvSpPr>
        <p:spPr>
          <a:xfrm>
            <a:off x="850392" y="3195267"/>
            <a:ext cx="384048" cy="332586"/>
          </a:xfrm>
          <a:prstGeom prst="hexagon">
            <a:avLst/>
          </a:prstGeom>
          <a:solidFill>
            <a:srgbClr val="7A4A1E"/>
          </a:solidFill>
          <a:ln/>
        </p:spPr>
      </p:sp>
      <p:sp>
        <p:nvSpPr>
          <p:cNvPr id="21" name="match-hex-label"/>
          <p:cNvSpPr txBox="1"/>
          <p:nvPr/>
        </p:nvSpPr>
        <p:spPr>
          <a:xfrm>
            <a:off x="850392" y="3195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94297"/>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Individuals</a:t>
            </a:r>
            <a:endParaRPr lang="en-US" sz="1800" dirty="0"/>
          </a:p>
        </p:txBody>
      </p:sp>
      <p:sp>
        <p:nvSpPr>
          <p:cNvPr id="23" name="match-card"/>
          <p:cNvSpPr/>
          <p:nvPr/>
        </p:nvSpPr>
        <p:spPr>
          <a:xfrm>
            <a:off x="4224437" y="3094297"/>
            <a:ext cx="7190019" cy="534526"/>
          </a:xfrm>
          <a:prstGeom prst="roundRect">
            <a:avLst>
              <a:gd name="adj" fmla="val 13685"/>
            </a:avLst>
          </a:prstGeom>
          <a:solidFill>
            <a:srgbClr val="F6F0E6"/>
          </a:solidFill>
          <a:ln/>
        </p:spPr>
      </p:sp>
      <p:sp>
        <p:nvSpPr>
          <p:cNvPr id="24" name="match-hex"/>
          <p:cNvSpPr/>
          <p:nvPr/>
        </p:nvSpPr>
        <p:spPr>
          <a:xfrm>
            <a:off x="4297589" y="3195267"/>
            <a:ext cx="384048" cy="332586"/>
          </a:xfrm>
          <a:prstGeom prst="hexagon">
            <a:avLst/>
          </a:prstGeom>
          <a:solidFill>
            <a:srgbClr val="B8862B"/>
          </a:solidFill>
          <a:ln/>
        </p:spPr>
      </p:sp>
      <p:sp>
        <p:nvSpPr>
          <p:cNvPr id="25" name="match-hex-label"/>
          <p:cNvSpPr txBox="1"/>
          <p:nvPr/>
        </p:nvSpPr>
        <p:spPr>
          <a:xfrm>
            <a:off x="4297589" y="3195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94297"/>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Fighting that brought injuries and a demand for surgeons</a:t>
            </a:r>
            <a:endParaRPr lang="en-US" sz="1800" dirty="0"/>
          </a:p>
        </p:txBody>
      </p:sp>
      <p:sp>
        <p:nvSpPr>
          <p:cNvPr id="27" name="match-card"/>
          <p:cNvSpPr/>
          <p:nvPr/>
        </p:nvSpPr>
        <p:spPr>
          <a:xfrm>
            <a:off x="777240" y="3720263"/>
            <a:ext cx="3081437" cy="762110"/>
          </a:xfrm>
          <a:prstGeom prst="roundRect">
            <a:avLst>
              <a:gd name="adj" fmla="val 9599"/>
            </a:avLst>
          </a:prstGeom>
          <a:solidFill>
            <a:srgbClr val="F4F1ED"/>
          </a:solidFill>
          <a:ln/>
        </p:spPr>
      </p:sp>
      <p:sp>
        <p:nvSpPr>
          <p:cNvPr id="28" name="match-hex"/>
          <p:cNvSpPr/>
          <p:nvPr/>
        </p:nvSpPr>
        <p:spPr>
          <a:xfrm>
            <a:off x="850392" y="3935025"/>
            <a:ext cx="384048" cy="332586"/>
          </a:xfrm>
          <a:prstGeom prst="hexagon">
            <a:avLst/>
          </a:prstGeom>
          <a:solidFill>
            <a:srgbClr val="7A4A1E"/>
          </a:solidFill>
          <a:ln/>
        </p:spPr>
      </p:sp>
      <p:sp>
        <p:nvSpPr>
          <p:cNvPr id="29" name="match-hex-label"/>
          <p:cNvSpPr txBox="1"/>
          <p:nvPr/>
        </p:nvSpPr>
        <p:spPr>
          <a:xfrm>
            <a:off x="850392"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20263"/>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Science and technology</a:t>
            </a:r>
            <a:endParaRPr lang="en-US" sz="1800" dirty="0"/>
          </a:p>
        </p:txBody>
      </p:sp>
      <p:sp>
        <p:nvSpPr>
          <p:cNvPr id="31" name="match-card"/>
          <p:cNvSpPr/>
          <p:nvPr/>
        </p:nvSpPr>
        <p:spPr>
          <a:xfrm>
            <a:off x="4224437" y="3720263"/>
            <a:ext cx="7190019" cy="762110"/>
          </a:xfrm>
          <a:prstGeom prst="roundRect">
            <a:avLst>
              <a:gd name="adj" fmla="val 9599"/>
            </a:avLst>
          </a:prstGeom>
          <a:solidFill>
            <a:srgbClr val="F6F0E6"/>
          </a:solidFill>
          <a:ln/>
        </p:spPr>
      </p:sp>
      <p:sp>
        <p:nvSpPr>
          <p:cNvPr id="32" name="match-hex"/>
          <p:cNvSpPr/>
          <p:nvPr/>
        </p:nvSpPr>
        <p:spPr>
          <a:xfrm>
            <a:off x="4297589" y="3935025"/>
            <a:ext cx="384048" cy="332586"/>
          </a:xfrm>
          <a:prstGeom prst="hexagon">
            <a:avLst/>
          </a:prstGeom>
          <a:solidFill>
            <a:srgbClr val="B8862B"/>
          </a:solidFill>
          <a:ln/>
        </p:spPr>
      </p:sp>
      <p:sp>
        <p:nvSpPr>
          <p:cNvPr id="33" name="match-hex-label"/>
          <p:cNvSpPr txBox="1"/>
          <p:nvPr/>
        </p:nvSpPr>
        <p:spPr>
          <a:xfrm>
            <a:off x="4297589" y="39350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720263"/>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person whose ideas were followed for centuries, such as Galen</a:t>
            </a:r>
            <a:endParaRPr lang="en-US" sz="1800" dirty="0"/>
          </a:p>
        </p:txBody>
      </p:sp>
      <p:sp>
        <p:nvSpPr>
          <p:cNvPr id="35" name="match-card"/>
          <p:cNvSpPr/>
          <p:nvPr/>
        </p:nvSpPr>
        <p:spPr>
          <a:xfrm>
            <a:off x="777240" y="4573813"/>
            <a:ext cx="3081437" cy="534526"/>
          </a:xfrm>
          <a:prstGeom prst="roundRect">
            <a:avLst>
              <a:gd name="adj" fmla="val 13685"/>
            </a:avLst>
          </a:prstGeom>
          <a:solidFill>
            <a:srgbClr val="F4F1ED"/>
          </a:solidFill>
          <a:ln/>
        </p:spPr>
      </p:sp>
      <p:sp>
        <p:nvSpPr>
          <p:cNvPr id="36" name="match-hex"/>
          <p:cNvSpPr/>
          <p:nvPr/>
        </p:nvSpPr>
        <p:spPr>
          <a:xfrm>
            <a:off x="850392" y="4674783"/>
            <a:ext cx="384048" cy="332586"/>
          </a:xfrm>
          <a:prstGeom prst="hexagon">
            <a:avLst/>
          </a:prstGeom>
          <a:solidFill>
            <a:srgbClr val="7A4A1E"/>
          </a:solidFill>
          <a:ln/>
        </p:spPr>
      </p:sp>
      <p:sp>
        <p:nvSpPr>
          <p:cNvPr id="37" name="match-hex-label"/>
          <p:cNvSpPr txBox="1"/>
          <p:nvPr/>
        </p:nvSpPr>
        <p:spPr>
          <a:xfrm>
            <a:off x="850392" y="46747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73813"/>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Government</a:t>
            </a:r>
            <a:endParaRPr lang="en-US" sz="1800" dirty="0"/>
          </a:p>
        </p:txBody>
      </p:sp>
      <p:sp>
        <p:nvSpPr>
          <p:cNvPr id="39" name="match-card"/>
          <p:cNvSpPr/>
          <p:nvPr/>
        </p:nvSpPr>
        <p:spPr>
          <a:xfrm>
            <a:off x="4224437" y="4573813"/>
            <a:ext cx="7190019" cy="534526"/>
          </a:xfrm>
          <a:prstGeom prst="roundRect">
            <a:avLst>
              <a:gd name="adj" fmla="val 13685"/>
            </a:avLst>
          </a:prstGeom>
          <a:solidFill>
            <a:srgbClr val="F6F0E6"/>
          </a:solidFill>
          <a:ln/>
        </p:spPr>
      </p:sp>
      <p:sp>
        <p:nvSpPr>
          <p:cNvPr id="40" name="match-hex"/>
          <p:cNvSpPr/>
          <p:nvPr/>
        </p:nvSpPr>
        <p:spPr>
          <a:xfrm>
            <a:off x="4297589" y="4674783"/>
            <a:ext cx="384048" cy="332586"/>
          </a:xfrm>
          <a:prstGeom prst="hexagon">
            <a:avLst/>
          </a:prstGeom>
          <a:solidFill>
            <a:srgbClr val="B8862B"/>
          </a:solidFill>
          <a:ln/>
        </p:spPr>
      </p:sp>
      <p:sp>
        <p:nvSpPr>
          <p:cNvPr id="41" name="match-hex-label"/>
          <p:cNvSpPr txBox="1"/>
          <p:nvPr/>
        </p:nvSpPr>
        <p:spPr>
          <a:xfrm>
            <a:off x="4297589" y="46747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73813"/>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Respect for tradition and trust in what the Church taught</a:t>
            </a:r>
            <a:endParaRPr lang="en-US" sz="1800" dirty="0"/>
          </a:p>
        </p:txBody>
      </p:sp>
      <p:sp>
        <p:nvSpPr>
          <p:cNvPr id="43" name="match-card"/>
          <p:cNvSpPr/>
          <p:nvPr/>
        </p:nvSpPr>
        <p:spPr>
          <a:xfrm>
            <a:off x="777240" y="5199778"/>
            <a:ext cx="3081437" cy="762110"/>
          </a:xfrm>
          <a:prstGeom prst="roundRect">
            <a:avLst>
              <a:gd name="adj" fmla="val 9599"/>
            </a:avLst>
          </a:prstGeom>
          <a:solidFill>
            <a:srgbClr val="F4F1ED"/>
          </a:solidFill>
          <a:ln/>
        </p:spPr>
      </p:sp>
      <p:sp>
        <p:nvSpPr>
          <p:cNvPr id="44" name="match-hex"/>
          <p:cNvSpPr/>
          <p:nvPr/>
        </p:nvSpPr>
        <p:spPr>
          <a:xfrm>
            <a:off x="850392" y="5414540"/>
            <a:ext cx="384048" cy="332586"/>
          </a:xfrm>
          <a:prstGeom prst="hexagon">
            <a:avLst/>
          </a:prstGeom>
          <a:solidFill>
            <a:srgbClr val="7A4A1E"/>
          </a:solidFill>
          <a:ln/>
        </p:spPr>
      </p:sp>
      <p:sp>
        <p:nvSpPr>
          <p:cNvPr id="45" name="match-hex-label"/>
          <p:cNvSpPr txBox="1"/>
          <p:nvPr/>
        </p:nvSpPr>
        <p:spPr>
          <a:xfrm>
            <a:off x="850392"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99778"/>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War</a:t>
            </a:r>
            <a:endParaRPr lang="en-US" sz="1800" dirty="0"/>
          </a:p>
        </p:txBody>
      </p:sp>
      <p:sp>
        <p:nvSpPr>
          <p:cNvPr id="47" name="match-card"/>
          <p:cNvSpPr/>
          <p:nvPr/>
        </p:nvSpPr>
        <p:spPr>
          <a:xfrm>
            <a:off x="4224437" y="5199778"/>
            <a:ext cx="7190019" cy="762110"/>
          </a:xfrm>
          <a:prstGeom prst="roundRect">
            <a:avLst>
              <a:gd name="adj" fmla="val 9599"/>
            </a:avLst>
          </a:prstGeom>
          <a:solidFill>
            <a:srgbClr val="F6F0E6"/>
          </a:solidFill>
          <a:ln/>
        </p:spPr>
      </p:sp>
      <p:sp>
        <p:nvSpPr>
          <p:cNvPr id="48" name="match-hex"/>
          <p:cNvSpPr/>
          <p:nvPr/>
        </p:nvSpPr>
        <p:spPr>
          <a:xfrm>
            <a:off x="4297589" y="5414540"/>
            <a:ext cx="384048" cy="332586"/>
          </a:xfrm>
          <a:prstGeom prst="hexagon">
            <a:avLst/>
          </a:prstGeom>
          <a:solidFill>
            <a:srgbClr val="B8862B"/>
          </a:solidFill>
          <a:ln/>
        </p:spPr>
      </p:sp>
      <p:sp>
        <p:nvSpPr>
          <p:cNvPr id="49" name="match-hex-label"/>
          <p:cNvSpPr txBox="1"/>
          <p:nvPr/>
        </p:nvSpPr>
        <p:spPr>
          <a:xfrm>
            <a:off x="4297589"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99778"/>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Kings and town councils choosing whether to spend money or pass laws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Name that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that factor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example and ask: who or what is doing the changing here?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 single person, that is Individuals. If it is a way of thinking, that is Attitudes and beliefs.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rulers making decisions or spending money, that is Government.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Tools, machines and discoveries belong to Science and technology; battles and armies belong to War.</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factors are about people (one person; everyone's way of thinking). The others are about rulers, tools and fighting.</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sixth factor, improved communications, is missing from the list. Write an example of your own for it, and explain why there was so little of it in medieval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medieval period in England ran from the Norman Conquest in 1066 to the start of the Tudor dynasty in 1485. How many years is that?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four periods of medicine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Medieval medicine (1250–1500)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Renaissance medicine (1500–1700)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Medicine in eighteenth- and nineteenth-century Britain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Medicine in modern Britain (1900 to the present)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department's four periods run medieval (1250–1500), Renaissance (1500–1700), eighteenth and nineteenth centuries, then modern (1900 to the present). Each begins where the last one ends.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Name that factor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Attitudes and beliefs  →  D  Respect for tradition and trust in what the Church taught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Individuals  →  C  One person whose ideas were followed for centuries, such as Galen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Science and technology  →  A  New tools and knowledge, such as printing books with pictures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Government  →  E  Kings and town councils choosing whether to spend money or pass laws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War  →  B  Fighting that brought injuries and a demand for surgeons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Attitudes and beliefs are ways of thinking, such as respect for tradition; Individuals are single people like Galen; Science and technology covers tools such as printing; Government is rulers and councils; War is fighting and its injuries.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medieval period in England ran from the Norman Conquest in 1066 to the start of the Tudor dynasty in 1485. How many years is that?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419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1485 − 1066 = 419. The medieval period in England lasted 419 years: long enough for twenty generations to live and die with almost the same medical ideas.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1: Life in medieval England</dc:title>
  <dc:subject>History · Year 9</dc:subject>
  <dc:creator>Dr Vitor Merissi de Carvalho</dc:creator>
  <cp:lastModifiedBy>Dr Vitor Merissi de Carvalho</cp:lastModifiedBy>
  <cp:revision>1</cp:revision>
  <dcterms:created xsi:type="dcterms:W3CDTF">2026-10-18T21:47:55Z</dcterms:created>
  <dcterms:modified xsi:type="dcterms:W3CDTF">2026-10-18T21:47:55Z</dcterms:modified>
</cp:coreProperties>
</file>