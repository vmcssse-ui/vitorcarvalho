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e3b1053-8809-6f13-cb95-d0fca7a80c96}">
          <p14:sldIdLst>
            <p14:sldId id="256"/>
          </p14:sldIdLst>
        </p14:section>
        <p14:section name="Gate" id="{9df2c12d-5bca-49ab-46ca-49ebbe88bbdd}">
          <p14:sldIdLst>
            <p14:sldId id="257"/>
            <p14:sldId id="258"/>
          </p14:sldIdLst>
        </p14:section>
        <p14:section name="Pre-teach" id="{7c6c9f1e-4e7d-e38e-8312-62219ca6f433}">
          <p14:sldIdLst>
            <p14:sldId id="259"/>
            <p14:sldId id="260"/>
          </p14:sldIdLst>
        </p14:section>
        <p14:section name="Read-along" id="{f99c342b-d5c6-3da5-7e15-ce40312e1a63}">
          <p14:sldIdLst>
            <p14:sldId id="261"/>
            <p14:sldId id="262"/>
          </p14:sldIdLst>
        </p14:section>
        <p14:section name="Teach" id="{b6ad2c89-8052-9cf8-3743-3dd5487c1ce9}">
          <p14:sldIdLst>
            <p14:sldId id="263"/>
            <p14:sldId id="264"/>
            <p14:sldId id="265"/>
            <p14:sldId id="266"/>
          </p14:sldIdLst>
        </p14:section>
        <p14:section name="Routes" id="{1be688a5-505b-6618-190a-524b71f0b88a}">
          <p14:sldIdLst>
            <p14:sldId id="267"/>
            <p14:sldId id="268"/>
            <p14:sldId id="269"/>
            <p14:sldId id="270"/>
          </p14:sldIdLst>
        </p14:section>
        <p14:section name="Close" id="{0b8e5124-9522-4627-a34e-b7bad24de73e}">
          <p14:sldIdLst>
            <p14:sldId id="271"/>
          </p14:sldIdLst>
        </p14:section>
        <p14:section name="Answers" id="{9e1ae7f4-9325-fe52-706f-f29634ea3dca}">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Treatments and preventions. This chapter shows you what medieval people did when they were ill, what they did to avoid illness, and how every method followed from an idea about causes.
This deck covers the department's lesson: 5 (Medieval Treatments and Preventions: What treatments and preventions were used in medieval England?).
Read the big question aloud: "Why was there so little change in medicine in medieval England between c1250 and c1500?"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treatment, not a prevention?  →  A   Bleeding a patient who has a fever
2. ___ meant making a patient vomit or empty their bowels to remove an excess humour.  →  Purging
3. Why did medieval physicians often give several different remedies for one illness?  →  A   They believed each symptom was a separate imbalance of the humours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Bleeding a patient who has a fever. Treatment is what you do when you are already ill. Bleeding a feverish patient treats an illness; the other three are done to stay well.
2. Purging. Purging used emetics, laxatives or enemas to empty the body; bloodletting removed blood instead.
3. A   They believed each symptom was a separate imbalance of the humours. Physicians treated each symptom separately, believing each was its own imbalance, so one illness could get several, even contradictory, remedies.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treatment: what you do when you already have an illness. Example: "Bloodletting was a common medieval treatment."
• prevention: what you do to avoid getting an illness. Example: "Keeping clean was a form of prevention."
• bloodletting: removing blood from a patient. Example: "The barber surgeon carried out the bloodletting with a small knife."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purging: making a patient vomit or empty their bowels. Example: "Purging was meant to remove an excess humour."
• remedy: a medicine, usually made from herbs. Example: "The apothecary mixed a remedy of honey and herbs."
• pilgrimage: a journey to a holy place to ask for God's help. Example: "She went on a pilgrimage to pray for her sick son."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Treatment is what you do when you are already ill.
2. Prevention is what you do to avoid getting ill.
3. Medieval treatments followed the ideas about causes.
4. If the humours seemed out of balance, physicians tried to put them right.
5. Bloodletting removed blood, using a knife, leeches or cupping.
6. Purging made the patient vomit or empty their bowels.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Herbal remedies were drunk, sniffed or rubbed on the skin.
8. If God had sent the disease, people believed, prayer and pilgrimage might cure it.
9. Prevention mattered, because treatments often failed.
10. People were told to live a clean, Christian life.
11. They washed, exercised and avoided bad smells.
12. Some of these habits we still keep today, for different reasons.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Treating the humours. Say it in your own words, then check understanding with a quick question: ask a pupil from the pre-teach group first, since they met these words and ideas before the lesson. Pupils try to recall before you re-explain.
Medieval physicians believed that disease came from an imbalance of the humours, so most treatments aimed to restore the balance. Bloodletting was the most common. Blood was drained from a vein with a small knife, drawn out by leeches, or pulled to the surface by heated cups pressed on the skin. Different points on the body were bled for different illnesses. Physicians rarely did it themselves; barber surgeons, or anyone with a steady hand, did the cutting.
Purging was the other way to remove an excess humour. The patient was given an emetic to make them vomit, or a laxative or enema to empty the bowels. Apothecaries and wise women mixed these; physicians prescribed them. Remedies were mostly herbal: plants mixed with honey, wine or vinegar, drunk, sniffed, or spread on the skin as an ointment. Some foods were chosen to rebalance the humours: cucumber to cool a fever, hot peppers to dry out a cold.
Here is the problem your lesson spotted. Physicians believed each symptom was a separate imbalance and treated it on its own. A winter flu brings a fever (hot and red) and a runny nose with shivers (cold and wet). The physician would prescribe cucumber or bleeding for the fever and hot peppers for the shivers. Two opposite cures, for one illness, at the same time.
Tip: Bloodletting was the most common treatment, but it was usually done by a barber surgeon, not a physician. Examiners notice when you get the right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Religious and supernatural treatments. Say it in your own words, then check understanding with a quick question: ask a pupil from the pre-teach group first, since they met these words and ideas before the lesson. Pupils try to recall before you re-explain.
If God had sent the illness, then the cure had to come from God too. People prayed, fasted, went on pilgrimage to the shrine of a saint, or paid a priest to say a special mass for them. These were not seen as desperate measures. To someone who believed that sin caused sickness, confession was the logical medicine.
Alongside these were supernatural cures that had little to do with the Church: lucky charms, chants, and remedies for particular complaints, such as hanging a magpie's beak round your neck to cure toothache. Many people used all three kinds at once: a herbal remedy from the apothecary, a prayer in church, and a charm under the pillow.
A fourteenth-century English physician, John of Gaddesden, wrote a popular medical book called the Rosa Anglica. His cure for lethargy, extreme tiredness, included having people talk loudly round the patient, rubbing their hands and feet, and arranging to “cause pigs to squeal in their ears”. It also used two humoural treatments: an enema, which is purging, and the advice to “open the vein of the head”, which is bloodletting. A respected physician really did write this down as medicine.
Quotation: "cause pigs to squeal in their ears" (John of Gaddesden, Rosa Anglica (14th century), on curing lethargy; translation as printed in the department's deck). Read it aloud; ask what it shows.
Tip: When you use John of Gaddesden, say what his advice tells you about medieval thinking: symptoms were attacked one at a time, and bleeding and purging were the standard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Prevention: a clean body and a clean soul. Say it in your own words, then check understanding with a quick question: ask a pupil from the pre-teach group first, since they met these words and ideas before the lesson. Pupils try to recall before you re-explain.
Treatments were not guaranteed to work, so physicians put great weight on not getting ill in the first place. Prevention came in two kinds, matching the two kinds of cause. Religious prevention meant living a Christian life: praying, going to church and obeying the Commandments. Some went further, carrying charms, chanting, or whipping themselves in public so that God would not need to punish them.
Rational prevention meant keeping the body and the air clean: bathing and washing, exercising, not overeating, keeping the streets free of rubbish, and purifying the air with fires or sweet-smelling herbs. People were also bled or purged while healthy, to keep the humours balanced before anything went wrong.
Each method follows from an idea about causes. Bleeding and diet follow from the Four Humours. Clean streets and sweet herbs follow from miasma. Prayer and pilgrimage follow from God's punishment. Notice that several of these habits survive today: we wash, exercise, eat sensibly and clear away rubbish. We do them for different reasons, but medieval people were not wrong that they helped.
Worked example — model it step by step, thinking aloud: Sort these three methods into treatment or prevention, and name the idea about causes each one follows: carrying a pomander of sweet herbs; bleeding a patient with a fever; going on pilgrimage when your child is ill. (1) Ask of each: is the person already ill, or trying to stay well? Already ill means treatment. (2) Sweet herbs are carried to stay well, so prevention. Smell means the idea is miasma. (3) Bleeding a feverish patient is treatment. Draining blood means the idea is the Four Humours. (4) A pilgrimage for a sick child is treatment. Asking God for help means the idea is religion. Answer: Sweet herbs: prevention, miasma. Bleeding: treatment, Four Humours. Pilgrimage: treatment, religion..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Prevention: a clean body and a clean soul. Say it in your own words, then check understanding with a quick question: ask a pupil from the pre-teach group first, since they met these words and ideas before the lesson. Pupils try to recall before you re-explain.
Treatments were not guaranteed to work, so physicians put great weight on not getting ill in the first place. Prevention came in two kinds, matching the two kinds of cause. Religious prevention meant living a Christian life: praying, going to church and obeying the Commandments. Some went further, carrying charms, chanting, or whipping themselves in public so that God would not need to punish them.
Rational prevention meant keeping the body and the air clean: bathing and washing, exercising, not overeating, keeping the streets free of rubbish, and purifying the air with fires or sweet-smelling herbs. People were also bled or purged while healthy, to keep the humours balanced before anything went wrong.
Each method follows from an idea about causes. Bleeding and diet follow from the Four Humours. Clean streets and sweet herbs follow from miasma. Prayer and pilgrimage follow from God's punishment. Notice that several of these habits survive today: we wash, exercise, eat sensibly and clear away rubbish. We do them for different reasons, but medieval people were not wrong that they helped.
Worked example — model it step by step, thinking aloud: Sort these three methods into treatment or prevention, and name the idea about causes each one follows: carrying a pomander of sweet herbs; bleeding a patient with a fever; going on pilgrimage when your child is ill. (1) Ask of each: is the person already ill, or trying to stay well? Already ill means treatment. (2) Sweet herbs are carried to stay well, so prevention. Smell means the idea is miasma. (3) Bleeding a feverish patient is treatment. Draining blood means the idea is the Four Humours. (4) A pilgrimage for a sick child is treatment. Asking God for help means the idea is religion. Answer: Sweet herbs: prevention, miasma. Bleeding: treatment, Four Humours. Pilgrimage: treatment, religion..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cause to cure.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treatment or prevention to the idea about the cause of disease that it followed from.
Support — work through the steps with the group: (1) Ask of each method: what is it trying to get rid of, or keep away? (2) Blood or a body fluid points to the humours. (3) Smell or air points to miasma. (4) God, saints or sin points to religion. A hot cure for a cold symptom is the Theory of Opposites.
Parallel worked example for Support (model it, do not give the task answer): Practice: a town lights fires in the streets during an outbreak of disease. Which idea about causes is behind it? Ask what the fires are for: to move and clean the air.; Air and smell point to miasma.. Answer: Miasma..
Core — reveal the hint only on request: Two methods are about air, one about blood, one about God, and one about hot versus cold.
Stretch — no help; when finished: Choose the method you think did the most real good, and explain why it helped even though the idea behind it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cause to cure.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treatment or prevention to the idea about the cause of disease that it followed from.
Support — work through the steps with the group: (1) Ask of each method: what is it trying to get rid of, or keep away? (2) Blood or a body fluid points to the humours. (3) Smell or air points to miasma. (4) God, saints or sin points to religion. A hot cure for a cold symptom is the Theory of Opposites.
Parallel worked example for Support (model it, do not give the task answer): Practice: a town lights fires in the streets during an outbreak of disease. Which idea about causes is behind it? Ask what the fires are for: to move and clean the air.; Air and smell point to miasma.. Answer: Miasma..
Core — reveal the hint only on request: Two methods are about air, one about blood, one about God, and one about hot versus cold.
Stretch — no help; when finished: Choose the method you think did the most real good, and explain why it helped even though the idea behind it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treatment.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barber surgeon opens a vein in a patient's arm and lets the blood run into a bowl. Which treatment is this, and which idea is it based on?
Support — work through the steps with the group: (1) Ask: what is leaving the body? Blood, vomit, or nothing? (2) If blood is leaving, the treatment is bloodletting, whatever tool is used. (3) Bloodletting always rests on the Four Humours: too much blood must be drained. (4) Rule out the religious and miasma options: nobody is praying and nobody is cleaning the air.
Parallel worked example for Support (model it, do not give the task answer): Practice: a physician gives a patient a drink that makes him vomit. Which treatment is this, and which idea is it based on? What leaves the body? The contents of the stomach.; That is purging.; Purging rests on the humours: an excess is being removed.. Answer: Purging, based on the Four Humours..
Core — reveal the hint only on request: Knife, leeches and cups are three tools for the same job. What is the job?
Stretch — no help; when finished: Bloodletting was still used in the nineteenth century. Suggest two reasons a treatment that did not work could survive for so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treatment.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barber surgeon opens a vein in a patient's arm and lets the blood run into a bowl. Which treatment is this, and which idea is it based on?
Support — work through the steps with the group: (1) Ask: what is leaving the body? Blood, vomit, or nothing? (2) If blood is leaving, the treatment is bloodletting, whatever tool is used. (3) Bloodletting always rests on the Four Humours: too much blood must be drained. (4) Rule out the religious and miasma options: nobody is praying and nobody is cleaning the air.
Parallel worked example for Support (model it, do not give the task answer): Practice: a physician gives a patient a drink that makes him vomit. Which treatment is this, and which idea is it based on? What leaves the body? The contents of the stomach.; That is purging.; Purging rests on the humours: an excess is being removed.. Answer: Purging, based on the Four Humours..
Core — reveal the hint only on request: Knife, leeches and cups are three tools for the same job. What is the job?
Stretch — no help; when finished: Bloodletting was still used in the nineteenth century. Suggest two reasons a treatment that did not work could survive for so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 treatment, not a prevention?
Answer: D   Bleeding a patient who has a fever. Treatment is what you do when you are already ill. Bleeding a feverish patient treats an illness; the other three are done to stay well.
Source of this question: gate item 1 re-asked (options rotated) — this chapter has no third quick-check module.
The ebook also holds task 3, "Why prevention mattered",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cause to cure. Reveal the answer; pupils mark their own work in a different colour, then read the "why" together. Same destination for every lane, so one answer serves the whole class.
Answer: Bleeding a patient  →  D  Four Humours: draining an excess of blood; Clearing rubbish from the streets  →  C  Miasma: removing the source of bad smells; Going on a pilgrimage  →  B  Religion: asking God to lift a punishment; Carrying sweet-smelling herbs  →  A  Miasma: keeping corrupted air away from the nose; Eating hot peppers for a runny nose  →  E  Theory of Opposites: a hot, dry cure for a cold, wet illness
Why: Bleeding follows from the Four Humours; clearing rubbish and carrying herbs both follow from miasma; pilgrimage follows from religion; hot peppers for a cold symptom follow from the Theory of Opposites.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Name the treatment. Reveal the answer; pupils mark their own work in a different colour, then read the "why" together. Same destination for every lane, so one answer serves the whole class.
Answer: A   Bloodletting, to remove excess blood and rebalance the humours
Why: Knife, leeches and heated cups are three ways of doing the same thing: removing blood. All three are bloodletting, based on the belief that an excess humour had to be drained.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Bleeding a patient who has a fever
Why: Treatment is what you do when you are already ill. Bleeding a feverish patient treats an illness; the other three are done to stay well.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Medieval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Medieval Medicine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Treatments and preventions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Medieval Treatments and Preventions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was there so little change in medicine in medieval England between c1250 and c1500?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a treatment, not a prevention?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Bleeding a patient who has a fever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Going to church every Sunday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Keeping the streets clear of rubbish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Not overeating</a:t>
            </a:r>
            <a:endParaRPr lang="en-US" sz="1800" dirty="0"/>
          </a:p>
        </p:txBody>
      </p:sp>
      <p:sp>
        <p:nvSpPr>
          <p:cNvPr id="12"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___ meant making a patient vomit or empty their bowels to remove an excess humour.</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Purging  ·  Bloodletting  ·  Pilgrimage</a:t>
            </a:r>
            <a:endParaRPr lang="en-US" sz="2000" dirty="0"/>
          </a:p>
        </p:txBody>
      </p:sp>
      <p:sp>
        <p:nvSpPr>
          <p:cNvPr id="17"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did medieval physicians often give several different remedies for one illness?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believed each symptom was a separate imbalance of the humours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were paid for every remedy they prescribed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Church ordered them to use at least three cures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They had read about germs and wanted to be safe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2087804"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Bleeding a patient who has a fever</a:t>
            </a:r>
            <a:endParaRPr lang="en-US" sz="2200" dirty="0"/>
          </a:p>
        </p:txBody>
      </p:sp>
      <p:sp>
        <p:nvSpPr>
          <p:cNvPr id="13" name="card-body"/>
          <p:cNvSpPr txBox="1"/>
          <p:nvPr/>
        </p:nvSpPr>
        <p:spPr>
          <a:xfrm>
            <a:off x="731520" y="3834465"/>
            <a:ext cx="2270684"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Treatment is what you do when you are already ill. Bleeding a feverish patient treats an illness; the other three are done to stay well.</a:t>
            </a:r>
            <a:endParaRPr lang="en-US" sz="1800" dirty="0"/>
          </a:p>
        </p:txBody>
      </p:sp>
      <p:sp>
        <p:nvSpPr>
          <p:cNvPr id="14"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Purging</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Purging used emetics, laxatives or enemas to empty the body; bloodletting removed blood instead.</a:t>
            </a:r>
            <a:endParaRPr lang="en-US" sz="1800" dirty="0"/>
          </a:p>
        </p:txBody>
      </p:sp>
      <p:sp>
        <p:nvSpPr>
          <p:cNvPr id="21"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DE1CA"/>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They believed each symptom was a separate imbalance of the humours</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Why did medieval physicians often give several different remedies for one illness?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Physicians treated each symptom separately, believing each was its own imbalance, so one illness could get several, even contradictory, remedies.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treatment</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you do when you already have an illness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Bloodletting was a common medieval treatment.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prevention</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you do to avoid getting an illness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Keeping clean was a form of prevention.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bloodletting</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removing blood from a patient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barber surgeon carried out the bloodletting with a small knife.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purging</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making a patient vomit or empty their bowels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Purging was meant to remove an excess humour.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remedy</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medicine, usually made from herbs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apothecary mixed a remedy of honey and herbs.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pilgrimage</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journey to a holy place to ask for God's help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She went on a pilgrimage to pray for her sick son.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Treatment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what you do when you are already ill.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Prevention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what you do to avoid getting ill.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Medieval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treatments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followed the ideas about causes.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If the humours seemed out of balance, physicians tried to put them right.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Bloodletting</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removed blood, using a knife, leeches or cupping.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Purging</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made the patient vomit or empty their bowels.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Herbal remedies were drunk, sniffed or rubbed on the skin.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If God had sent the disease, people believed, prayer and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pilgrimage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might cure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Prevention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mattered, because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treatments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often failed.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People were told to live a clean, Christian life.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washed, exercised and avoided bad smells.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of these habits we still keep today, for different reasons.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Treating the humours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Bloodletting was the most common treatment, but it was usually done by a barber surgeon, not a physician. Examiners notice when you get the right person.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Medieval physicians believed that disease came from an imbalance of the humours, so most treatments aimed to restore the balance.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Purging was the other way to remove an excess humour.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Here is the problem your lesson spotted. Physicians believed each symptom was a separate imbalance and treated it on its 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Religious and supernatural treatments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513580"/>
            <a:ext cx="5074920" cy="1631188"/>
          </a:xfrm>
          <a:prstGeom prst="roundRect">
            <a:avLst>
              <a:gd name="adj" fmla="val 8409"/>
            </a:avLst>
          </a:prstGeom>
          <a:solidFill>
            <a:srgbClr val="F4EDDF"/>
          </a:solidFill>
          <a:ln w="15875">
            <a:solidFill>
              <a:srgbClr val="B8862B"/>
            </a:solidFill>
            <a:prstDash val="solid"/>
          </a:ln>
        </p:spPr>
      </p:sp>
      <p:sp>
        <p:nvSpPr>
          <p:cNvPr id="8" name="tip-hex"/>
          <p:cNvSpPr/>
          <p:nvPr/>
        </p:nvSpPr>
        <p:spPr>
          <a:xfrm>
            <a:off x="685800" y="5131206"/>
            <a:ext cx="457200" cy="395935"/>
          </a:xfrm>
          <a:prstGeom prst="hexagon">
            <a:avLst/>
          </a:prstGeom>
          <a:solidFill>
            <a:srgbClr val="B8862B"/>
          </a:solidFill>
          <a:ln/>
        </p:spPr>
      </p:sp>
      <p:sp>
        <p:nvSpPr>
          <p:cNvPr id="9" name="tip-hex-label"/>
          <p:cNvSpPr txBox="1"/>
          <p:nvPr/>
        </p:nvSpPr>
        <p:spPr>
          <a:xfrm>
            <a:off x="685800" y="5131206"/>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568444"/>
            <a:ext cx="4206240" cy="1521460"/>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use John of Gaddesden, say what his advice tells you about medieval thinking: symptoms were attacked one at a time, and bleeding and purging were the standard tools.</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2EDE9"/>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cause pigs to squeal in their ears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John of Gaddesden, Rosa Anglica (14th century), on curing lethargy; translation as printed in the department's deck</a:t>
            </a:r>
            <a:endParaRPr lang="en-US" sz="2600" dirty="0"/>
          </a:p>
        </p:txBody>
      </p:sp>
      <p:sp>
        <p:nvSpPr>
          <p:cNvPr id="14" name="bullet-card"/>
          <p:cNvSpPr/>
          <p:nvPr/>
        </p:nvSpPr>
        <p:spPr>
          <a:xfrm>
            <a:off x="548640" y="1389888"/>
            <a:ext cx="5074920" cy="933196"/>
          </a:xfrm>
          <a:prstGeom prst="roundRect">
            <a:avLst>
              <a:gd name="adj" fmla="val 7839"/>
            </a:avLst>
          </a:prstGeom>
          <a:solidFill>
            <a:srgbClr val="F4F1ED"/>
          </a:solidFill>
          <a:ln/>
        </p:spPr>
      </p:sp>
      <p:sp>
        <p:nvSpPr>
          <p:cNvPr id="15" name="bullet-hex"/>
          <p:cNvSpPr/>
          <p:nvPr/>
        </p:nvSpPr>
        <p:spPr>
          <a:xfrm>
            <a:off x="676656" y="1690193"/>
            <a:ext cx="384048" cy="332586"/>
          </a:xfrm>
          <a:prstGeom prst="hexagon">
            <a:avLst/>
          </a:prstGeom>
          <a:solidFill>
            <a:srgbClr val="7A4A1E"/>
          </a:solidFill>
          <a:ln/>
        </p:spPr>
      </p:sp>
      <p:sp>
        <p:nvSpPr>
          <p:cNvPr id="16" name="bullet"/>
          <p:cNvSpPr txBox="1"/>
          <p:nvPr/>
        </p:nvSpPr>
        <p:spPr>
          <a:xfrm>
            <a:off x="1143000" y="1389888"/>
            <a:ext cx="4389120" cy="93319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If God had sent the illness, then the cure had to come from God too.</a:t>
            </a:r>
            <a:endParaRPr lang="en-US" sz="1800" dirty="0"/>
          </a:p>
        </p:txBody>
      </p:sp>
      <p:sp>
        <p:nvSpPr>
          <p:cNvPr id="17" name="bullet-card"/>
          <p:cNvSpPr/>
          <p:nvPr/>
        </p:nvSpPr>
        <p:spPr>
          <a:xfrm>
            <a:off x="548640" y="2469388"/>
            <a:ext cx="5074920" cy="1769872"/>
          </a:xfrm>
          <a:prstGeom prst="roundRect">
            <a:avLst>
              <a:gd name="adj" fmla="val 4133"/>
            </a:avLst>
          </a:prstGeom>
          <a:solidFill>
            <a:srgbClr val="F4F1ED"/>
          </a:solidFill>
          <a:ln/>
        </p:spPr>
      </p:sp>
      <p:sp>
        <p:nvSpPr>
          <p:cNvPr id="18" name="bullet-hex"/>
          <p:cNvSpPr/>
          <p:nvPr/>
        </p:nvSpPr>
        <p:spPr>
          <a:xfrm>
            <a:off x="676656" y="3188031"/>
            <a:ext cx="384048" cy="332586"/>
          </a:xfrm>
          <a:prstGeom prst="hexagon">
            <a:avLst/>
          </a:prstGeom>
          <a:solidFill>
            <a:srgbClr val="B8862B"/>
          </a:solidFill>
          <a:ln/>
        </p:spPr>
      </p:sp>
      <p:sp>
        <p:nvSpPr>
          <p:cNvPr id="19" name="bullet"/>
          <p:cNvSpPr txBox="1"/>
          <p:nvPr/>
        </p:nvSpPr>
        <p:spPr>
          <a:xfrm>
            <a:off x="1143000" y="2469388"/>
            <a:ext cx="4389120" cy="1769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Alongside these were supernatural cures that had little to do with the Church: lucky charms, chants, and remedies for particular complaints, such as hanging a magpie's beak round your neck to cure toothache.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Prevention: a clean body and a clean soul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Treatments were not guaranteed to work, so physicians put great weight on not getting ill in the first place.</a:t>
            </a:r>
            <a:endParaRPr lang="en-US" sz="22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Rational prevention meant keeping the body and the air clean: bathing and washing, exercising, not overeating, keeping the streets free of rubbish, and purifying the air with fires or sweet-smelling herbs.</a:t>
            </a:r>
            <a:endParaRPr lang="en-US" sz="22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Each method follows from an idea about causes. Bleeding and diet follow from the Four Humours.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Prevention: a clean body and a clean soul</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239520"/>
          </a:xfrm>
          <a:prstGeom prst="roundRect">
            <a:avLst>
              <a:gd name="adj" fmla="val 7377"/>
            </a:avLst>
          </a:prstGeom>
          <a:solidFill>
            <a:srgbClr val="F2EDE9"/>
          </a:solidFill>
          <a:ln/>
        </p:spPr>
      </p:sp>
      <p:sp>
        <p:nvSpPr>
          <p:cNvPr id="8" name="worked-q"/>
          <p:cNvSpPr txBox="1"/>
          <p:nvPr/>
        </p:nvSpPr>
        <p:spPr>
          <a:xfrm>
            <a:off x="731520" y="1481328"/>
            <a:ext cx="10728655" cy="105664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Sort these three methods into treatment or prevention, and name the idea about causes each one follows: carrying a pomander of sweet herbs; bleeding a patient with a fever; going on pilgrimage when your child is ill.</a:t>
            </a:r>
            <a:endParaRPr lang="en-US" sz="2000" dirty="0"/>
          </a:p>
        </p:txBody>
      </p:sp>
      <p:sp>
        <p:nvSpPr>
          <p:cNvPr id="9" name="step-box"/>
          <p:cNvSpPr/>
          <p:nvPr/>
        </p:nvSpPr>
        <p:spPr>
          <a:xfrm>
            <a:off x="548640" y="2812288"/>
            <a:ext cx="11094415" cy="503936"/>
          </a:xfrm>
          <a:prstGeom prst="roundRect">
            <a:avLst>
              <a:gd name="adj" fmla="val 14516"/>
            </a:avLst>
          </a:prstGeom>
          <a:solidFill>
            <a:srgbClr val="FFFFFF"/>
          </a:solidFill>
          <a:ln w="15875">
            <a:solidFill>
              <a:srgbClr val="B69B83"/>
            </a:solidFill>
            <a:prstDash val="solid"/>
          </a:ln>
        </p:spPr>
      </p:sp>
      <p:sp>
        <p:nvSpPr>
          <p:cNvPr id="10" name="step-hex"/>
          <p:cNvSpPr/>
          <p:nvPr/>
        </p:nvSpPr>
        <p:spPr>
          <a:xfrm>
            <a:off x="685800" y="2866288"/>
            <a:ext cx="457200" cy="395935"/>
          </a:xfrm>
          <a:prstGeom prst="hexagon">
            <a:avLst/>
          </a:prstGeom>
          <a:solidFill>
            <a:srgbClr val="7A4A1E"/>
          </a:solidFill>
          <a:ln/>
        </p:spPr>
      </p:sp>
      <p:sp>
        <p:nvSpPr>
          <p:cNvPr id="11" name="step-hex-label"/>
          <p:cNvSpPr txBox="1"/>
          <p:nvPr/>
        </p:nvSpPr>
        <p:spPr>
          <a:xfrm>
            <a:off x="685800" y="28662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812288"/>
            <a:ext cx="10180015" cy="50393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of each: is the person already ill, or trying to stay well? Already ill means treatment.</a:t>
            </a:r>
            <a:endParaRPr lang="en-US" sz="1800" dirty="0"/>
          </a:p>
        </p:txBody>
      </p:sp>
      <p:sp>
        <p:nvSpPr>
          <p:cNvPr id="13" name="step-box"/>
          <p:cNvSpPr/>
          <p:nvPr/>
        </p:nvSpPr>
        <p:spPr>
          <a:xfrm>
            <a:off x="548640" y="3389376"/>
            <a:ext cx="11094415" cy="503936"/>
          </a:xfrm>
          <a:prstGeom prst="roundRect">
            <a:avLst>
              <a:gd name="adj" fmla="val 14516"/>
            </a:avLst>
          </a:prstGeom>
          <a:solidFill>
            <a:srgbClr val="FFFFFF"/>
          </a:solidFill>
          <a:ln w="15875">
            <a:solidFill>
              <a:srgbClr val="B69B83"/>
            </a:solidFill>
            <a:prstDash val="solid"/>
          </a:ln>
        </p:spPr>
      </p:sp>
      <p:sp>
        <p:nvSpPr>
          <p:cNvPr id="14" name="step-hex"/>
          <p:cNvSpPr/>
          <p:nvPr/>
        </p:nvSpPr>
        <p:spPr>
          <a:xfrm>
            <a:off x="685800" y="3443376"/>
            <a:ext cx="457200" cy="395935"/>
          </a:xfrm>
          <a:prstGeom prst="hexagon">
            <a:avLst/>
          </a:prstGeom>
          <a:solidFill>
            <a:srgbClr val="7A4A1E"/>
          </a:solidFill>
          <a:ln/>
        </p:spPr>
      </p:sp>
      <p:sp>
        <p:nvSpPr>
          <p:cNvPr id="15" name="step-hex-label"/>
          <p:cNvSpPr txBox="1"/>
          <p:nvPr/>
        </p:nvSpPr>
        <p:spPr>
          <a:xfrm>
            <a:off x="685800" y="344337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389376"/>
            <a:ext cx="10180015" cy="50393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Sweet herbs are carried to stay well, so prevention. Smell means the idea is miasma.</a:t>
            </a:r>
            <a:endParaRPr lang="en-US" sz="1800" dirty="0"/>
          </a:p>
        </p:txBody>
      </p:sp>
      <p:sp>
        <p:nvSpPr>
          <p:cNvPr id="17" name="step-box"/>
          <p:cNvSpPr/>
          <p:nvPr/>
        </p:nvSpPr>
        <p:spPr>
          <a:xfrm>
            <a:off x="548640" y="3966464"/>
            <a:ext cx="11094415" cy="503936"/>
          </a:xfrm>
          <a:prstGeom prst="roundRect">
            <a:avLst>
              <a:gd name="adj" fmla="val 14516"/>
            </a:avLst>
          </a:prstGeom>
          <a:solidFill>
            <a:srgbClr val="FFFFFF"/>
          </a:solidFill>
          <a:ln w="15875">
            <a:solidFill>
              <a:srgbClr val="B69B83"/>
            </a:solidFill>
            <a:prstDash val="solid"/>
          </a:ln>
        </p:spPr>
      </p:sp>
      <p:sp>
        <p:nvSpPr>
          <p:cNvPr id="18" name="step-hex"/>
          <p:cNvSpPr/>
          <p:nvPr/>
        </p:nvSpPr>
        <p:spPr>
          <a:xfrm>
            <a:off x="685800" y="4020464"/>
            <a:ext cx="457200" cy="395935"/>
          </a:xfrm>
          <a:prstGeom prst="hexagon">
            <a:avLst/>
          </a:prstGeom>
          <a:solidFill>
            <a:srgbClr val="7A4A1E"/>
          </a:solidFill>
          <a:ln/>
        </p:spPr>
      </p:sp>
      <p:sp>
        <p:nvSpPr>
          <p:cNvPr id="19" name="step-hex-label"/>
          <p:cNvSpPr txBox="1"/>
          <p:nvPr/>
        </p:nvSpPr>
        <p:spPr>
          <a:xfrm>
            <a:off x="685800" y="40204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966464"/>
            <a:ext cx="10180015" cy="50393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Bleeding a feverish patient is treatment. Draining blood means the idea is the Four Humours.</a:t>
            </a:r>
            <a:endParaRPr lang="en-US" sz="1800" dirty="0"/>
          </a:p>
        </p:txBody>
      </p:sp>
      <p:sp>
        <p:nvSpPr>
          <p:cNvPr id="21" name="step-box"/>
          <p:cNvSpPr/>
          <p:nvPr/>
        </p:nvSpPr>
        <p:spPr>
          <a:xfrm>
            <a:off x="548640" y="4543552"/>
            <a:ext cx="11094415" cy="503936"/>
          </a:xfrm>
          <a:prstGeom prst="roundRect">
            <a:avLst>
              <a:gd name="adj" fmla="val 14516"/>
            </a:avLst>
          </a:prstGeom>
          <a:solidFill>
            <a:srgbClr val="FFFFFF"/>
          </a:solidFill>
          <a:ln w="15875">
            <a:solidFill>
              <a:srgbClr val="B69B83"/>
            </a:solidFill>
            <a:prstDash val="solid"/>
          </a:ln>
        </p:spPr>
      </p:sp>
      <p:sp>
        <p:nvSpPr>
          <p:cNvPr id="22" name="step-hex"/>
          <p:cNvSpPr/>
          <p:nvPr/>
        </p:nvSpPr>
        <p:spPr>
          <a:xfrm>
            <a:off x="685800" y="4597552"/>
            <a:ext cx="457200" cy="395935"/>
          </a:xfrm>
          <a:prstGeom prst="hexagon">
            <a:avLst/>
          </a:prstGeom>
          <a:solidFill>
            <a:srgbClr val="7A4A1E"/>
          </a:solidFill>
          <a:ln/>
        </p:spPr>
      </p:sp>
      <p:sp>
        <p:nvSpPr>
          <p:cNvPr id="23" name="step-hex-label"/>
          <p:cNvSpPr txBox="1"/>
          <p:nvPr/>
        </p:nvSpPr>
        <p:spPr>
          <a:xfrm>
            <a:off x="685800" y="459755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43552"/>
            <a:ext cx="10180015" cy="50393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pilgrimage for a sick child is treatment. Asking God for help means the idea is religion.</a:t>
            </a:r>
            <a:endParaRPr lang="en-US" sz="1800" dirty="0"/>
          </a:p>
        </p:txBody>
      </p:sp>
      <p:sp>
        <p:nvSpPr>
          <p:cNvPr id="25" name="worked-answer"/>
          <p:cNvSpPr/>
          <p:nvPr/>
        </p:nvSpPr>
        <p:spPr>
          <a:xfrm>
            <a:off x="548640" y="5230368"/>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Sweet herbs: prevention, miasma. Bleeding: treatment, Four Humours. Pilgrimage: treatment, religion.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From cause to cure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treatment or prevention to the idea about the cause of disease that it followed from.</a:t>
            </a:r>
            <a:endParaRPr lang="en-US" sz="2400" dirty="0"/>
          </a:p>
        </p:txBody>
      </p:sp>
      <p:sp>
        <p:nvSpPr>
          <p:cNvPr id="11" name="match-card"/>
          <p:cNvSpPr/>
          <p:nvPr/>
        </p:nvSpPr>
        <p:spPr>
          <a:xfrm>
            <a:off x="777240" y="2672080"/>
            <a:ext cx="3979032" cy="539293"/>
          </a:xfrm>
          <a:prstGeom prst="roundRect">
            <a:avLst>
              <a:gd name="adj" fmla="val 13564"/>
            </a:avLst>
          </a:prstGeom>
          <a:solidFill>
            <a:srgbClr val="F4F1ED"/>
          </a:solidFill>
          <a:ln/>
        </p:spPr>
      </p:sp>
      <p:sp>
        <p:nvSpPr>
          <p:cNvPr id="12" name="match-hex"/>
          <p:cNvSpPr/>
          <p:nvPr/>
        </p:nvSpPr>
        <p:spPr>
          <a:xfrm>
            <a:off x="850392" y="2775434"/>
            <a:ext cx="384048" cy="332586"/>
          </a:xfrm>
          <a:prstGeom prst="hexagon">
            <a:avLst/>
          </a:prstGeom>
          <a:solidFill>
            <a:srgbClr val="7A4A1E"/>
          </a:solidFill>
          <a:ln/>
        </p:spPr>
      </p:sp>
      <p:sp>
        <p:nvSpPr>
          <p:cNvPr id="13" name="match-hex-label"/>
          <p:cNvSpPr txBox="1"/>
          <p:nvPr/>
        </p:nvSpPr>
        <p:spPr>
          <a:xfrm>
            <a:off x="850392" y="277543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384672"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Bleeding a patient</a:t>
            </a:r>
            <a:endParaRPr lang="en-US" sz="1800" dirty="0"/>
          </a:p>
        </p:txBody>
      </p:sp>
      <p:sp>
        <p:nvSpPr>
          <p:cNvPr id="15" name="match-card"/>
          <p:cNvSpPr/>
          <p:nvPr/>
        </p:nvSpPr>
        <p:spPr>
          <a:xfrm>
            <a:off x="5122032" y="2672080"/>
            <a:ext cx="6292423" cy="539293"/>
          </a:xfrm>
          <a:prstGeom prst="roundRect">
            <a:avLst>
              <a:gd name="adj" fmla="val 13564"/>
            </a:avLst>
          </a:prstGeom>
          <a:solidFill>
            <a:srgbClr val="F6F0E6"/>
          </a:solidFill>
          <a:ln/>
        </p:spPr>
      </p:sp>
      <p:sp>
        <p:nvSpPr>
          <p:cNvPr id="16" name="match-hex"/>
          <p:cNvSpPr/>
          <p:nvPr/>
        </p:nvSpPr>
        <p:spPr>
          <a:xfrm>
            <a:off x="5195184" y="2775434"/>
            <a:ext cx="384048" cy="332586"/>
          </a:xfrm>
          <a:prstGeom prst="hexagon">
            <a:avLst/>
          </a:prstGeom>
          <a:solidFill>
            <a:srgbClr val="B8862B"/>
          </a:solidFill>
          <a:ln/>
        </p:spPr>
      </p:sp>
      <p:sp>
        <p:nvSpPr>
          <p:cNvPr id="17" name="match-hex-label"/>
          <p:cNvSpPr txBox="1"/>
          <p:nvPr/>
        </p:nvSpPr>
        <p:spPr>
          <a:xfrm>
            <a:off x="5195184" y="277543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643240" y="2672080"/>
            <a:ext cx="5698063"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Miasma: keeping corrupted air away from the nose</a:t>
            </a:r>
            <a:endParaRPr lang="en-US" sz="1800" dirty="0"/>
          </a:p>
        </p:txBody>
      </p:sp>
      <p:sp>
        <p:nvSpPr>
          <p:cNvPr id="19" name="match-card"/>
          <p:cNvSpPr/>
          <p:nvPr/>
        </p:nvSpPr>
        <p:spPr>
          <a:xfrm>
            <a:off x="777240" y="3302813"/>
            <a:ext cx="3979032" cy="539293"/>
          </a:xfrm>
          <a:prstGeom prst="roundRect">
            <a:avLst>
              <a:gd name="adj" fmla="val 13564"/>
            </a:avLst>
          </a:prstGeom>
          <a:solidFill>
            <a:srgbClr val="F4F1ED"/>
          </a:solidFill>
          <a:ln/>
        </p:spPr>
      </p:sp>
      <p:sp>
        <p:nvSpPr>
          <p:cNvPr id="20" name="match-hex"/>
          <p:cNvSpPr/>
          <p:nvPr/>
        </p:nvSpPr>
        <p:spPr>
          <a:xfrm>
            <a:off x="850392" y="3406166"/>
            <a:ext cx="384048" cy="332586"/>
          </a:xfrm>
          <a:prstGeom prst="hexagon">
            <a:avLst/>
          </a:prstGeom>
          <a:solidFill>
            <a:srgbClr val="7A4A1E"/>
          </a:solidFill>
          <a:ln/>
        </p:spPr>
      </p:sp>
      <p:sp>
        <p:nvSpPr>
          <p:cNvPr id="21" name="match-hex-label"/>
          <p:cNvSpPr txBox="1"/>
          <p:nvPr/>
        </p:nvSpPr>
        <p:spPr>
          <a:xfrm>
            <a:off x="850392" y="340616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02813"/>
            <a:ext cx="3384672"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Clearing rubbish from the streets</a:t>
            </a:r>
            <a:endParaRPr lang="en-US" sz="1800" dirty="0"/>
          </a:p>
        </p:txBody>
      </p:sp>
      <p:sp>
        <p:nvSpPr>
          <p:cNvPr id="23" name="match-card"/>
          <p:cNvSpPr/>
          <p:nvPr/>
        </p:nvSpPr>
        <p:spPr>
          <a:xfrm>
            <a:off x="5122032" y="3302813"/>
            <a:ext cx="6292423" cy="539293"/>
          </a:xfrm>
          <a:prstGeom prst="roundRect">
            <a:avLst>
              <a:gd name="adj" fmla="val 13564"/>
            </a:avLst>
          </a:prstGeom>
          <a:solidFill>
            <a:srgbClr val="F6F0E6"/>
          </a:solidFill>
          <a:ln/>
        </p:spPr>
      </p:sp>
      <p:sp>
        <p:nvSpPr>
          <p:cNvPr id="24" name="match-hex"/>
          <p:cNvSpPr/>
          <p:nvPr/>
        </p:nvSpPr>
        <p:spPr>
          <a:xfrm>
            <a:off x="5195184" y="3406166"/>
            <a:ext cx="384048" cy="332586"/>
          </a:xfrm>
          <a:prstGeom prst="hexagon">
            <a:avLst/>
          </a:prstGeom>
          <a:solidFill>
            <a:srgbClr val="B8862B"/>
          </a:solidFill>
          <a:ln/>
        </p:spPr>
      </p:sp>
      <p:sp>
        <p:nvSpPr>
          <p:cNvPr id="25" name="match-hex-label"/>
          <p:cNvSpPr txBox="1"/>
          <p:nvPr/>
        </p:nvSpPr>
        <p:spPr>
          <a:xfrm>
            <a:off x="5195184" y="340616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643240" y="3302813"/>
            <a:ext cx="5698063"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Religion: asking God to lift a punishment</a:t>
            </a:r>
            <a:endParaRPr lang="en-US" sz="1800" dirty="0"/>
          </a:p>
        </p:txBody>
      </p:sp>
      <p:sp>
        <p:nvSpPr>
          <p:cNvPr id="27" name="match-card"/>
          <p:cNvSpPr/>
          <p:nvPr/>
        </p:nvSpPr>
        <p:spPr>
          <a:xfrm>
            <a:off x="777240" y="3933546"/>
            <a:ext cx="3979032" cy="539293"/>
          </a:xfrm>
          <a:prstGeom prst="roundRect">
            <a:avLst>
              <a:gd name="adj" fmla="val 13564"/>
            </a:avLst>
          </a:prstGeom>
          <a:solidFill>
            <a:srgbClr val="F4F1ED"/>
          </a:solidFill>
          <a:ln/>
        </p:spPr>
      </p:sp>
      <p:sp>
        <p:nvSpPr>
          <p:cNvPr id="28" name="match-hex"/>
          <p:cNvSpPr/>
          <p:nvPr/>
        </p:nvSpPr>
        <p:spPr>
          <a:xfrm>
            <a:off x="850392" y="4036899"/>
            <a:ext cx="384048" cy="332586"/>
          </a:xfrm>
          <a:prstGeom prst="hexagon">
            <a:avLst/>
          </a:prstGeom>
          <a:solidFill>
            <a:srgbClr val="7A4A1E"/>
          </a:solidFill>
          <a:ln/>
        </p:spPr>
      </p:sp>
      <p:sp>
        <p:nvSpPr>
          <p:cNvPr id="29" name="match-hex-label"/>
          <p:cNvSpPr txBox="1"/>
          <p:nvPr/>
        </p:nvSpPr>
        <p:spPr>
          <a:xfrm>
            <a:off x="850392" y="4036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33546"/>
            <a:ext cx="3384672"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Going on a pilgrimage</a:t>
            </a:r>
            <a:endParaRPr lang="en-US" sz="1800" dirty="0"/>
          </a:p>
        </p:txBody>
      </p:sp>
      <p:sp>
        <p:nvSpPr>
          <p:cNvPr id="31" name="match-card"/>
          <p:cNvSpPr/>
          <p:nvPr/>
        </p:nvSpPr>
        <p:spPr>
          <a:xfrm>
            <a:off x="5122032" y="3933546"/>
            <a:ext cx="6292423" cy="539293"/>
          </a:xfrm>
          <a:prstGeom prst="roundRect">
            <a:avLst>
              <a:gd name="adj" fmla="val 13564"/>
            </a:avLst>
          </a:prstGeom>
          <a:solidFill>
            <a:srgbClr val="F6F0E6"/>
          </a:solidFill>
          <a:ln/>
        </p:spPr>
      </p:sp>
      <p:sp>
        <p:nvSpPr>
          <p:cNvPr id="32" name="match-hex"/>
          <p:cNvSpPr/>
          <p:nvPr/>
        </p:nvSpPr>
        <p:spPr>
          <a:xfrm>
            <a:off x="5195184" y="4036899"/>
            <a:ext cx="384048" cy="332586"/>
          </a:xfrm>
          <a:prstGeom prst="hexagon">
            <a:avLst/>
          </a:prstGeom>
          <a:solidFill>
            <a:srgbClr val="B8862B"/>
          </a:solidFill>
          <a:ln/>
        </p:spPr>
      </p:sp>
      <p:sp>
        <p:nvSpPr>
          <p:cNvPr id="33" name="match-hex-label"/>
          <p:cNvSpPr txBox="1"/>
          <p:nvPr/>
        </p:nvSpPr>
        <p:spPr>
          <a:xfrm>
            <a:off x="5195184" y="4036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643240" y="3933546"/>
            <a:ext cx="5698063"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Miasma: removing the source of bad smells</a:t>
            </a:r>
            <a:endParaRPr lang="en-US" sz="1800" dirty="0"/>
          </a:p>
        </p:txBody>
      </p:sp>
      <p:sp>
        <p:nvSpPr>
          <p:cNvPr id="35" name="match-card"/>
          <p:cNvSpPr/>
          <p:nvPr/>
        </p:nvSpPr>
        <p:spPr>
          <a:xfrm>
            <a:off x="777240" y="4564278"/>
            <a:ext cx="3979032" cy="539293"/>
          </a:xfrm>
          <a:prstGeom prst="roundRect">
            <a:avLst>
              <a:gd name="adj" fmla="val 13564"/>
            </a:avLst>
          </a:prstGeom>
          <a:solidFill>
            <a:srgbClr val="F4F1ED"/>
          </a:solidFill>
          <a:ln/>
        </p:spPr>
      </p:sp>
      <p:sp>
        <p:nvSpPr>
          <p:cNvPr id="36" name="match-hex"/>
          <p:cNvSpPr/>
          <p:nvPr/>
        </p:nvSpPr>
        <p:spPr>
          <a:xfrm>
            <a:off x="850392" y="4667632"/>
            <a:ext cx="384048" cy="332586"/>
          </a:xfrm>
          <a:prstGeom prst="hexagon">
            <a:avLst/>
          </a:prstGeom>
          <a:solidFill>
            <a:srgbClr val="7A4A1E"/>
          </a:solidFill>
          <a:ln/>
        </p:spPr>
      </p:sp>
      <p:sp>
        <p:nvSpPr>
          <p:cNvPr id="37" name="match-hex-label"/>
          <p:cNvSpPr txBox="1"/>
          <p:nvPr/>
        </p:nvSpPr>
        <p:spPr>
          <a:xfrm>
            <a:off x="850392" y="466763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564278"/>
            <a:ext cx="3384672"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Carrying sweet-smelling herbs</a:t>
            </a:r>
            <a:endParaRPr lang="en-US" sz="1800" dirty="0"/>
          </a:p>
        </p:txBody>
      </p:sp>
      <p:sp>
        <p:nvSpPr>
          <p:cNvPr id="39" name="match-card"/>
          <p:cNvSpPr/>
          <p:nvPr/>
        </p:nvSpPr>
        <p:spPr>
          <a:xfrm>
            <a:off x="5122032" y="4564278"/>
            <a:ext cx="6292423" cy="539293"/>
          </a:xfrm>
          <a:prstGeom prst="roundRect">
            <a:avLst>
              <a:gd name="adj" fmla="val 13564"/>
            </a:avLst>
          </a:prstGeom>
          <a:solidFill>
            <a:srgbClr val="F6F0E6"/>
          </a:solidFill>
          <a:ln/>
        </p:spPr>
      </p:sp>
      <p:sp>
        <p:nvSpPr>
          <p:cNvPr id="40" name="match-hex"/>
          <p:cNvSpPr/>
          <p:nvPr/>
        </p:nvSpPr>
        <p:spPr>
          <a:xfrm>
            <a:off x="5195184" y="4667632"/>
            <a:ext cx="384048" cy="332586"/>
          </a:xfrm>
          <a:prstGeom prst="hexagon">
            <a:avLst/>
          </a:prstGeom>
          <a:solidFill>
            <a:srgbClr val="B8862B"/>
          </a:solidFill>
          <a:ln/>
        </p:spPr>
      </p:sp>
      <p:sp>
        <p:nvSpPr>
          <p:cNvPr id="41" name="match-hex-label"/>
          <p:cNvSpPr txBox="1"/>
          <p:nvPr/>
        </p:nvSpPr>
        <p:spPr>
          <a:xfrm>
            <a:off x="5195184" y="466763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643240" y="4564278"/>
            <a:ext cx="5698063"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Four Humours: draining an excess of blood</a:t>
            </a:r>
            <a:endParaRPr lang="en-US" sz="1800" dirty="0"/>
          </a:p>
        </p:txBody>
      </p:sp>
      <p:sp>
        <p:nvSpPr>
          <p:cNvPr id="43" name="match-card"/>
          <p:cNvSpPr/>
          <p:nvPr/>
        </p:nvSpPr>
        <p:spPr>
          <a:xfrm>
            <a:off x="777240" y="5195011"/>
            <a:ext cx="3979032" cy="766877"/>
          </a:xfrm>
          <a:prstGeom prst="roundRect">
            <a:avLst>
              <a:gd name="adj" fmla="val 9539"/>
            </a:avLst>
          </a:prstGeom>
          <a:solidFill>
            <a:srgbClr val="F4F1ED"/>
          </a:solidFill>
          <a:ln/>
        </p:spPr>
      </p:sp>
      <p:sp>
        <p:nvSpPr>
          <p:cNvPr id="44" name="match-hex"/>
          <p:cNvSpPr/>
          <p:nvPr/>
        </p:nvSpPr>
        <p:spPr>
          <a:xfrm>
            <a:off x="850392" y="5412157"/>
            <a:ext cx="384048" cy="332586"/>
          </a:xfrm>
          <a:prstGeom prst="hexagon">
            <a:avLst/>
          </a:prstGeom>
          <a:solidFill>
            <a:srgbClr val="7A4A1E"/>
          </a:solidFill>
          <a:ln/>
        </p:spPr>
      </p:sp>
      <p:sp>
        <p:nvSpPr>
          <p:cNvPr id="45" name="match-hex-label"/>
          <p:cNvSpPr txBox="1"/>
          <p:nvPr/>
        </p:nvSpPr>
        <p:spPr>
          <a:xfrm>
            <a:off x="850392" y="54121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195011"/>
            <a:ext cx="3384672" cy="7668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Eating hot peppers for a runny nose</a:t>
            </a:r>
            <a:endParaRPr lang="en-US" sz="1800" dirty="0"/>
          </a:p>
        </p:txBody>
      </p:sp>
      <p:sp>
        <p:nvSpPr>
          <p:cNvPr id="47" name="match-card"/>
          <p:cNvSpPr/>
          <p:nvPr/>
        </p:nvSpPr>
        <p:spPr>
          <a:xfrm>
            <a:off x="5122032" y="5195011"/>
            <a:ext cx="6292423" cy="766877"/>
          </a:xfrm>
          <a:prstGeom prst="roundRect">
            <a:avLst>
              <a:gd name="adj" fmla="val 9539"/>
            </a:avLst>
          </a:prstGeom>
          <a:solidFill>
            <a:srgbClr val="F6F0E6"/>
          </a:solidFill>
          <a:ln/>
        </p:spPr>
      </p:sp>
      <p:sp>
        <p:nvSpPr>
          <p:cNvPr id="48" name="match-hex"/>
          <p:cNvSpPr/>
          <p:nvPr/>
        </p:nvSpPr>
        <p:spPr>
          <a:xfrm>
            <a:off x="5195184" y="5412157"/>
            <a:ext cx="384048" cy="332586"/>
          </a:xfrm>
          <a:prstGeom prst="hexagon">
            <a:avLst/>
          </a:prstGeom>
          <a:solidFill>
            <a:srgbClr val="B8862B"/>
          </a:solidFill>
          <a:ln/>
        </p:spPr>
      </p:sp>
      <p:sp>
        <p:nvSpPr>
          <p:cNvPr id="49" name="match-hex-label"/>
          <p:cNvSpPr txBox="1"/>
          <p:nvPr/>
        </p:nvSpPr>
        <p:spPr>
          <a:xfrm>
            <a:off x="5195184" y="54121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5643240" y="5195011"/>
            <a:ext cx="5698063" cy="7668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Theory of Opposites: a hot, dry cure for a cold, wet illness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From cause to cure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treatment or prevention to the idea about the cause of disease that it followed from.</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ED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of each method: what is it trying to get rid of, or keep away?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Blood or a body fluid points to the humours.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Smell or air points to miasma.</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God, saints or sin points to religion. A hot cure for a cold symptom is the Theory of Opposites.</a:t>
            </a:r>
            <a:endParaRPr lang="en-US" sz="1800" dirty="0"/>
          </a:p>
        </p:txBody>
      </p:sp>
      <p:sp>
        <p:nvSpPr>
          <p:cNvPr id="17" name="col-Core"/>
          <p:cNvSpPr/>
          <p:nvPr/>
        </p:nvSpPr>
        <p:spPr>
          <a:xfrm>
            <a:off x="5490762" y="2593848"/>
            <a:ext cx="2938987" cy="3550920"/>
          </a:xfrm>
          <a:prstGeom prst="roundRect">
            <a:avLst>
              <a:gd name="adj" fmla="val 1867"/>
            </a:avLst>
          </a:prstGeom>
          <a:solidFill>
            <a:srgbClr val="E2D7CE"/>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methods are about air, one about blood, one about God, and one about hot versus cold.</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the method you think did the most real good, and explain why it helped even though the idea behind it was wrong.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Name the treatment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barber surgeon opens a vein in a patient's arm and lets the blood run into a bowl. Which treatment is this, and which idea is it based 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Bloodletting, to remove excess blood and rebalance the humours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Purging, to empty the stomach and rebalance the humours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Flagellation, to show God the patient is sorry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Purifying the air, to drive away miasma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Name the treatment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Name the treatment</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is leaving the body? Blood, vomit, or nothing?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blood is leaving, the treatment is bloodletting, whatever tool is used.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Bloodletting always rests on the Four Humours: too much blood must be drained.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the religious and miasma options: nobody is praying and nobody is cleaning the air.</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Knife, leeches and cups are three tools for the same job. What is the job?</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Bloodletting was still used in the nineteenth century. Suggest two reasons a treatment that did not work could survive for so long.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 treatment, not a prevention?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Going to church every Sunday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Keeping the streets clear of rubbish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Not overeating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Bleeding a patient who has a fever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From cause to cure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Bleeding a patient  →  D  Four Humours: draining an excess of blood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Clearing rubbish from the streets  →  C  Miasma: removing the source of bad smells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Going on a pilgrimage  →  B  Religion: asking God to lift a punishment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Carrying sweet-smelling herbs  →  A  Miasma: keeping corrupted air away from the nose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Eating hot peppers for a runny nose  →  E  Theory of Opposites: a hot, dry cure for a cold, wet illness</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Bleeding follows from the Four Humours; clearing rubbish and carrying herbs both follow from miasma; pilgrimage follows from religion; hot peppers for a cold symptom follow from the Theory of Opposites.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Name the treatment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barber surgeon opens a vein in a patient's arm and lets the blood run into a bowl. Which treatment is this, and which idea is it based 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Bloodletting, to remove excess blood and rebalance the humours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Knife, leeches and heated cups are three ways of doing the same thing: removing blood. All three are bloodletting, based on the belief that an excess humour had to be drained.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treatment, not a prevention?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Bleeding a patient who has a fever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Treatment is what you do when you are already ill. Bleeding a feverish patient treats an illness; the other three are done to stay well.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Medieval Medicine · Chapter 4: Treatments and preventions</dc:title>
  <dc:subject>History · Year 9</dc:subject>
  <dc:creator>Dr Vitor Merissi de Carvalho</dc:creator>
  <cp:lastModifiedBy>Dr Vitor Merissi de Carvalho</cp:lastModifiedBy>
  <cp:revision>1</cp:revision>
  <dcterms:created xsi:type="dcterms:W3CDTF">2026-10-18T21:47:55Z</dcterms:created>
  <dcterms:modified xsi:type="dcterms:W3CDTF">2026-10-18T21:47:55Z</dcterms:modified>
</cp:coreProperties>
</file>