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33af28a-b43a-9f12-e29a-9d2f859a0e38}">
          <p14:sldIdLst>
            <p14:sldId id="256"/>
          </p14:sldIdLst>
        </p14:section>
        <p14:section name="Gate" id="{e7e95110-57ed-6a05-2898-3b0be582b918}">
          <p14:sldIdLst>
            <p14:sldId id="257"/>
            <p14:sldId id="258"/>
          </p14:sldIdLst>
        </p14:section>
        <p14:section name="Pre-teach" id="{b12753ef-78be-c768-aa85-796cee791a61}">
          <p14:sldIdLst>
            <p14:sldId id="259"/>
            <p14:sldId id="260"/>
          </p14:sldIdLst>
        </p14:section>
        <p14:section name="Read-along" id="{b7679fea-c1f2-4cce-d624-0911f0b776f4}">
          <p14:sldIdLst>
            <p14:sldId id="261"/>
            <p14:sldId id="262"/>
          </p14:sldIdLst>
        </p14:section>
        <p14:section name="Teach" id="{ee9af4cb-707e-1ed9-8b8d-4a09422f7f7e}">
          <p14:sldIdLst>
            <p14:sldId id="263"/>
            <p14:sldId id="264"/>
            <p14:sldId id="265"/>
            <p14:sldId id="266"/>
            <p14:sldId id="267"/>
          </p14:sldIdLst>
        </p14:section>
        <p14:section name="Routes" id="{6bf674e2-a5dd-5b5c-1410-f45abb1dd274}">
          <p14:sldIdLst>
            <p14:sldId id="268"/>
            <p14:sldId id="269"/>
            <p14:sldId id="270"/>
            <p14:sldId id="271"/>
          </p14:sldIdLst>
        </p14:section>
        <p14:section name="Close" id="{23f074e3-f05a-ce15-9345-15e472205ccf}">
          <p14:sldIdLst>
            <p14:sldId id="272"/>
          </p14:sldIdLst>
        </p14:section>
        <p14:section name="Answers" id="{017dd069-c5dd-3943-b121-40a7eaf9aeee}">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Who cared for the sick?. This chapter introduces the four medieval medics, shows where most care really happened, weighs up the hospitals, and teaches you to write a conclusion that gives a judgement.
This deck covers the department's lessons: 6 (Medieval Medics: Who provided care and treatment in medieval England?); 7 (Medieval Hospitals: How important were medieval hospitals in providing care and treatment?).
Read the big question aloud: "Why was there so little change in medicine in medieval England between c1250 and c1500?"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medic trained at university and was the most expensive?  →  B   The physician
2. Most sick people in medieval England were treated at home by ___ in the family.  →  women
3. What did medieval hospitals mainly provide?  →  B   Care: rest, clean surroundings, fresh food and prayer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The physician. Physicians studied Galen at university, passed exams and charged fees only the wealthy could pay.
2. women. A mother, wife or daughter nursed the sick at home; physicians were far too expensive for most families.
3. B   Care: rest, clean surroundings, fresh food and prayer. Hospitals focused on care over cure. They gave rest, cleanliness, food and prayer, and usually turned away the infectious.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physician: a university-trained doctor. Example: "Only the rich could afford a physician."
• apothecary: someone who mixed and sold medicines. Example: "The apothecary sold her an ointment for the rash."
• barber surgeon: a medic who let blood, pulled teeth and cut hair. Example: "The barber surgeon lanced the boil on his neck."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wise woman: a village woman who treated people at home, often for free. Example: "The wise woman knew which herbs eased a cough."
• hospital: a place, usually run by the Church, that cared for the sick. Example: "The hospital gave him a clean bed and food."
• judgement: a clear decision about how important something was. Example: "A conclusion must give a judgement."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Four main kinds of medic worked in medieval England.
2. Physicians trained at university and were very expensive.
3. Apothecaries mixed medicines and ointments and cost less.
4. Barber surgeons pulled teeth, let blood and did small operations.
5. Wise women treated people in their homes, often for free.
6. Most sick people were cared for at home by women in the family.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So women were the main providers of care.
8. Hospitals were usually run by the Church.
9. They cared for the soul as much as the body.
10. Patients got rest, clean beds and fresh food.
11. People with infectious diseases were often turned away.
12. Hospitals offered care, not cure.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four medics. Say it in your own words, then check understanding with a quick question: ask a pupil from the pre-teach group first, since they met these words and ideas before the lesson. Pupils try to recall before you re-explain.
Physicians were trained at university, where they studied Galen for years and passed exams. There were very few of them, almost all men, and they were expensive, so only the wealthy used them. A physician's visit followed a routine. He observed the symptoms and checked the pulse, the colour of the skin and the urine, by colour and by taste. He compared the urine with the charts in his vademecum, his handbook. He consulted zodiac charts to help diagnose the illness and pick the best time to treat it. Then he prescribed, and usually sent the patient on to someone else to carry it out.
Apothecaries mixed and sold medicines and ointments, following the physician's instructions or their own knowledge of herbs. They had training but no university qualification, and they cost less than a physician. Barber surgeons had no formal training at all. They let blood, pulled teeth, lanced boils and did small operations such as amputations, with a very low success rate, and they cut hair. They were cheaper still.
The fourth medic was the wise woman: a village woman, often the lady of the manor, who went to people's homes and treated them with remedies, usually for free. She had no training that anyone wrote down, but she had experience, and she was there.
Tip: Learn the four in order of cost, dearest first: physician, apothecary, barber surgeon, wise woman. It also happens to be the order of how rarely ordinary people saw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Care at home. Say it in your own words, then check understanding with a quick question: ask a pupil from the pre-teach group first, since they met these words and ideas before the lesson. Pupils try to recall before you re-explain.
Medical advice was expensive, so most sick people never saw a physician at all. They were nursed at home by a female relative: a mother, a wife, a daughter. Women grew herbs, made remedies, dressed wounds, delivered babies and sat up through fevers. When the family could not cope, they sent for the wise woman.
This means something important for your enquiry. Women were the main providers of care and treatment in medieval England. Yet women were almost never physicians, and the Church-run universities did not admit them. The people who did most of the medicine were the people with the least say in what medicine was.
The Church still shaped care even in the home. Physicians were trained in its universities on Galen's books, apothecaries followed physicians, and the prayers said over the sick came from the Church. There was no path to medical training that did not run through it.
Tip: A strong answer on care always mentions women. Exam questions about medics are often really questions about who was actually doing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Hospitals: care over cure. Say it in your own words, then check understanding with a quick question: ask a pupil from the pre-teach group first, since they met these words and ideas before the lesson. Pupils try to recall before you re-explain.
The number of hospitals grew during the Middle Ages, and most were run by the Church, attached to monasteries and nunneries. Because the Church taught that Christians should follow Jesus in caring for the sick, a hospital was a religious act as much as a medical one. The emphasis was on God and on the patient's soul. Prayer filled the day.
Inside, hospitals were clean. Patients had fresh food, rest and clean surroundings, which did real good to someone worn down by hunger or cold. But hospitals were places to recover, not places to be treated. Few offered any treatment beyond prayer, and people with infectious or incurable diseases were usually turned away, although some hospitals were set up for one disease only, such as leprosy. Many beds were taken by travellers and pilgrims needing a night's rest.
So how important were hospitals? That depends on what you count. If care means a clean bed, food and kindness, hospitals mattered. If treatment means trying to cure the disease, they barely figured, and the real work happened at home. You will weigh this up in the module below.
Worked example — model it step by step, thinking aloud: Plan a conclusion to: ‘How important were hospitals in providing care and treatment in medieval England?’ Use the scale: extremely, considerably, moderately, partially, not important at all. (1) Pick a word from the scale that matches your judgement. ‘Partially’ fits: hospitals did some things well and others not at all. (2) Name your key reason: the real providers of treatment were women at home, and hospitals offered care rather than cure. (3) Acknowledge the other side in one line: hospitals did give clean beds, food and rest. (4) Say why your key reason outweighs it: a clean bed is care, but it is not a treatment, and most people never reached one. Answer: Judgement: partially important. Key reason: treatment happened at home, led by women; hospitals offered care, not cure. Counter: clean beds, food and rest. Weighing: care without cure, and out of reach for most, so only partial..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Hospitals: care over cure. Say it in your own words, then check understanding with a quick question: ask a pupil from the pre-teach group first, since they met these words and ideas before the lesson. Pupils try to recall before you re-explain.
The number of hospitals grew during the Middle Ages, and most were run by the Church, attached to monasteries and nunneries. Because the Church taught that Christians should follow Jesus in caring for the sick, a hospital was a religious act as much as a medical one. The emphasis was on God and on the patient's soul. Prayer filled the day.
Inside, hospitals were clean. Patients had fresh food, rest and clean surroundings, which did real good to someone worn down by hunger or cold. But hospitals were places to recover, not places to be treated. Few offered any treatment beyond prayer, and people with infectious or incurable diseases were usually turned away, although some hospitals were set up for one disease only, such as leprosy. Many beds were taken by travellers and pilgrims needing a night's rest.
So how important were hospitals? That depends on what you count. If care means a clean bed, food and kindness, hospitals mattered. If treatment means trying to cure the disease, they barely figured, and the real work happened at home. You will weigh this up in the module below.
Worked example — model it step by step, thinking aloud: Plan a conclusion to: ‘How important were hospitals in providing care and treatment in medieval England?’ Use the scale: extremely, considerably, moderately, partially, not important at all. (1) Pick a word from the scale that matches your judgement. ‘Partially’ fits: hospitals did some things well and others not at all. (2) Name your key reason: the real providers of treatment were women at home, and hospitals offered care rather than cure. (3) Acknowledge the other side in one line: hospitals did give clean beds, food and rest. (4) Say why your key reason outweighs it: a clean bed is care, but it is not a treatment, and most people never reached one. Answer: Judgement: partially important. Key reason: treatment happened at home, led by women; hospitals offered care, not cure. Counter: clean beds, food and rest. Weighing: care without cure, and out of reach for most, so only partial..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Hospitals: care over cure. Say it in your own words, then check understanding with a quick question: ask a pupil from the pre-teach group first, since they met these words and ideas before the lesson. Pupils try to recall before you re-explain.
The number of hospitals grew during the Middle Ages, and most were run by the Church, attached to monasteries and nunneries. Because the Church taught that Christians should follow Jesus in caring for the sick, a hospital was a religious act as much as a medical one. The emphasis was on God and on the patient's soul. Prayer filled the day.
Inside, hospitals were clean. Patients had fresh food, rest and clean surroundings, which did real good to someone worn down by hunger or cold. But hospitals were places to recover, not places to be treated. Few offered any treatment beyond prayer, and people with infectious or incurable diseases were usually turned away, although some hospitals were set up for one disease only, such as leprosy. Many beds were taken by travellers and pilgrims needing a night's rest.
So how important were hospitals? That depends on what you count. If care means a clean bed, food and kindness, hospitals mattered. If treatment means trying to cure the disease, they barely figured, and the real work happened at home. You will weigh this up in the module below.
Worked example — model it step by step, thinking aloud: Plan a conclusion to: ‘How important were hospitals in providing care and treatment in medieval England?’ Use the scale: extremely, considerably, moderately, partially, not important at all. (1) Pick a word from the scale that matches your judgement. ‘Partially’ fits: hospitals did some things well and others not at all. (2) Name your key reason: the real providers of treatment were women at home, and hospitals offered care rather than cure. (3) Acknowledge the other side in one line: hospitals did give clean beds, food and rest. (4) Say why your key reason outweighs it: a clean bed is care, but it is not a treatment, and most people never reached one. Answer: Judgement: partially important. Key reason: treatment happened at home, led by women; hospitals offered care, not cure. Counter: clean beds, food and rest. Weighing: care without cure, and out of reach for most, so only partial..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 physician's visit.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a medieval physician's visit in the order they happened.
Support — work through the steps with the group: (1) A physician has to look before he can compare anything: observing comes first. (2) He cannot compare the urine with a chart until he has examined it. (3) Diagnosis and timing come before any treatment is chosen. (4) The last stage is deciding what to do and who will do it.
Parallel worked example for Support (model it, do not give the task answer): Practice: put a modern doctor's visit in order: write a prescription; listen to the patient describe the problem; examine the patient. Listening comes first.; Then the examination.; The prescription comes last.. Answer: Listen; examine; prescribe..
Core — reveal the hint only on request: Look, compare, diagnose, act.
Stretch — no help; when finished: Say which of the four stages is still part of a doctor's visit today, which has vanished completely, and why Hippocrates would have approved of the first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 physician's visit.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a medieval physician's visit in the order they happened.
Support — work through the steps with the group: (1) A physician has to look before he can compare anything: observing comes first. (2) He cannot compare the urine with a chart until he has examined it. (3) Diagnosis and timing come before any treatment is chosen. (4) The last stage is deciding what to do and who will do it.
Parallel worked example for Support (model it, do not give the task answer): Practice: put a modern doctor's visit in order: write a prescription; listen to the patient describe the problem; examine the patient. Listening comes first.; Then the examination.; The prescription comes last.. Answer: Listen; examine; prescribe..
Core — reveal the hint only on request: Look, compare, diagnose, act.
Stretch — no help; when finished: Say which of the four stages is still part of a doctor's visit today, which has vanished completely, and why Hippocrates would have approved of the first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medic is which?.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medieval medic to the correct description.
Support — work through the steps with the group: (1) Start with the clue words: university means physician; medicines and ointments means apothecary. (2) Cutting hair as well as bleeding means barber surgeon. (3) Free, and in people's homes, means the wise woman. (4) Check that each description is used once.
Parallel worked example for Support (model it, do not give the task answer): Practice: a villager has a rotten tooth and a shilling to spare. Which medic does he visit, and why not a physician? Pulling teeth was a barber surgeon's job.; A physician would not pull teeth, and would cost far more than a shilling.. Answer: The barber surgeon; physicians did not pull teeth and were too expensive..
Core — reveal the hint only on request: Training, price and haircuts. Those three clues separate all four.
Stretch — no help; when finished: Argue which of the four medics was the most important provider of treatment to ordinary people, and whether training and qualifications made any difference to how useful a medic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medic is which?.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medieval medic to the correct description.
Support — work through the steps with the group: (1) Start with the clue words: university means physician; medicines and ointments means apothecary. (2) Cutting hair as well as bleeding means barber surgeon. (3) Free, and in people's homes, means the wise woman. (4) Check that each description is used once.
Parallel worked example for Support (model it, do not give the task answer): Practice: a villager has a rotten tooth and a shilling to spare. Which medic does he visit, and why not a physician? Pulling teeth was a barber surgeon's job.; A physician would not pull teeth, and would cost far more than a shilling.. Answer: The barber surgeon; physicians did not pull teeth and were too expensive..
Core — reveal the hint only on request: Training, price and haircuts. Those three clues separate all four.
Stretch — no help; when finished: Argue which of the four medics was the most important provider of treatment to ordinary people, and whether training and qualifications made any difference to how useful a medic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medic trained at university and was the most expensive?
Answer: A   The physician. Physicians studied Galen at university, passed exams and charged fees only the wealthy could pay.
Source of this question: gate item 1 re-asked (options rotated) — this chapter has no third quick-check module.
The ebook also holds task 3, "Your conclusion on hospitals",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A physician's visit. Reveal the answer; pupils mark their own work in a different colour, then read the "why" together. Same destination for every lane, so one answer serves the whole class.
Answer: Observe the patient's symptoms and check the pulse, skin colour and urine  (B); Compare the urine with the charts in the vademecum  (D); Consult zodiac charts to diagnose the illness and choose the best time to treat  (C); Treat the patient, or send them on to a barber surgeon or apothecary  (A)
Why: Observe (symptoms, pulse, skin, urine); compare the urine with the vademecum charts; consult the zodiac to diagnose and choose a time; then treat or refer to a barber surgeon or apothecary.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medic is which?. Reveal the answer; pupils mark their own work in a different colour, then read the "why" together. Same destination for every lane, so one answer serves the whole class.
Answer: Physician  →  B  University-trained; diagnosed and prescribed; very expensive and rare; Apothecary  →  C  Mixed and sold medicines and ointments; trained but no university qualification; Barber surgeon  →  A  No formal training; let blood, pulled teeth, lanced boils, did small operations and cut hair; Wise woman  →  D  Treated villagers in their homes with remedies, usually for free
Why: Physician: university, expensive, prescribed. Apothecary: medicines, trained, no degree. Barber surgeon: untrained, bleeding, teeth, haircuts. Wise woman: home visits, remedies, free.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The physician
Why: Physicians studied Galen at university, passed exams and charged fees only the wealthy could pay.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Medieval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Medieval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Medieval Medicine · AQA KS3 → 8145</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Who cared for the sick?</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F2EDE9"/>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Medieval Medics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Medieval Hospitals</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Why was there so little change in medicine in medieval England between c1250 and c1500?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medic trained at university and was the most expensive?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apothecary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physician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barber surgeon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wise woman</a:t>
            </a:r>
            <a:endParaRPr lang="en-US" sz="2400" dirty="0"/>
          </a:p>
        </p:txBody>
      </p:sp>
      <p:sp>
        <p:nvSpPr>
          <p:cNvPr id="12"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Most sick people in medieval England were treated at home by ___ in the family.</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women  ·  physicians  ·  priests</a:t>
            </a:r>
            <a:endParaRPr lang="en-US" sz="2400" dirty="0"/>
          </a:p>
        </p:txBody>
      </p:sp>
      <p:sp>
        <p:nvSpPr>
          <p:cNvPr id="17"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did medieval hospitals mainly provide?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Free medicines from an apothecary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Care: rest, clean surroundings, fresh food and prayer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Surgery by trained physicians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Cures for infectious diseases such as plague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The physician</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medic trained at university and was the most expensive?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Physicians studied Galen at university, passed exams and charged fees only the wealthy could pay.</a:t>
            </a:r>
            <a:endParaRPr lang="en-US" sz="20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women</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Most sick people in medieval England were treated at home by ___ in the family.</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 mother, wife or daughter nursed the sick at home; physicians were far too expensive for most families.</a:t>
            </a:r>
            <a:endParaRPr lang="en-US" sz="20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DE1CA"/>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Care: rest, clean surroundings, fresh food and prayer</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Hospitals focused on care over cure. They gave rest, cleanliness, food and prayer, and usually turned away the infectious.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physician</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university-trained doctor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Only the rich could afford a physician.</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apothecary</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someone who mixed and sold medicines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apothecary sold her an ointment for the rash.</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barber surgeon</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medic who let blood, pulled teeth and cut hair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barber surgeon lanced the boil on his neck.</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wise woman</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village woman who treated people at home, often for free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wise woman knew which herbs eased a cough.</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hospital</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place, usually run by the Church, that cared for the sick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hospital gave him a clean bed and food.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judgement</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clear decision about how important something was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conclusion must give a judgement.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Four main kinds of medic worked in medieval England.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Physicians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trained at university and were very expensive.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Apothecaries mixed medicines and ointments and cost less.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Barber surgeons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pulled teeth, let blood and did small operations.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Wise women treated people in their homes, often for free.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Most sick people were cared for at home by women in the family.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 women were the main providers of care.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Hospitals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were usually run by the Church.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cared for the soul as much as the body.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Patients got rest, clean beds and fresh food.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People with infectious diseases were often turned away.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Hospitals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offered care, not cure.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four medics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four in order of cost, dearest first: physician, apothecary, barber surgeon, wise woman. It also happens to be the order of how rarely ordinary people saw them.</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Physicians were trained at university, where they studied Galen for years and passed exams.</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Apothecaries mixed and sold medicines and ointments, following the physician's instructions or their own knowledge of herbs.</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fourth medic was the wise woman: a village woman, often the lady of the manor, who went to people's homes and treated them with remedies, usually for free.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Care at home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strong answer on care always mentions women. Exam questions about medics are often really questions about who was actually doing the work.</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Medical advice was expensive, so most sick people never saw a physician at all.</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This means something important for your enquiry. Women were the main providers of care and treatment in medieval England.</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Church still shaped care even in the home. Physicians were trained in its universities on Galen's books, apothecaries followed physicians, and the prayers said over the sick came from the Church.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Hospitals: care over cure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EDE9"/>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number of hospitals grew during the Middle Ages, and most were run by the Church, attached to monasteries and nunneries.</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6F0E6"/>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Inside, hospitals were clean. Patients had fresh food, rest and clean surroundings, which did real good to someone worn down by hunger or cold.</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2EDE9"/>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 how important were hospitals? That depends on what you count.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Worked example (1 of 2): Hospitals: care over cure</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332484"/>
          </a:xfrm>
          <a:prstGeom prst="roundRect">
            <a:avLst>
              <a:gd name="adj" fmla="val 6862"/>
            </a:avLst>
          </a:prstGeom>
          <a:solidFill>
            <a:srgbClr val="F2EDE9"/>
          </a:solidFill>
          <a:ln/>
        </p:spPr>
      </p:sp>
      <p:sp>
        <p:nvSpPr>
          <p:cNvPr id="8" name="worked-q"/>
          <p:cNvSpPr txBox="1"/>
          <p:nvPr/>
        </p:nvSpPr>
        <p:spPr>
          <a:xfrm>
            <a:off x="731520" y="1481328"/>
            <a:ext cx="10728655"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Plan a conclusion to: ‘How important were hospitals in providing care and treatment in medieval England?’ Use the scale: extremely, considerably, moderately, partially, not important at all.</a:t>
            </a:r>
            <a:endParaRPr lang="en-US" sz="2200" dirty="0"/>
          </a:p>
        </p:txBody>
      </p:sp>
      <p:sp>
        <p:nvSpPr>
          <p:cNvPr id="9" name="step-box"/>
          <p:cNvSpPr/>
          <p:nvPr/>
        </p:nvSpPr>
        <p:spPr>
          <a:xfrm>
            <a:off x="548640" y="2996692"/>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3106420"/>
            <a:ext cx="530352" cy="459285"/>
          </a:xfrm>
          <a:prstGeom prst="hexagon">
            <a:avLst/>
          </a:prstGeom>
          <a:solidFill>
            <a:srgbClr val="7A4A1E"/>
          </a:solidFill>
          <a:ln/>
        </p:spPr>
      </p:sp>
      <p:sp>
        <p:nvSpPr>
          <p:cNvPr id="11" name="step-hex-label"/>
          <p:cNvSpPr txBox="1"/>
          <p:nvPr/>
        </p:nvSpPr>
        <p:spPr>
          <a:xfrm>
            <a:off x="685800"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591052"/>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Pick a word from the scale that matches your judgement. ‘Partially’ fits: hospitals did some things well and others not at all.</a:t>
            </a:r>
            <a:endParaRPr lang="en-US" sz="1800" dirty="0"/>
          </a:p>
        </p:txBody>
      </p:sp>
      <p:sp>
        <p:nvSpPr>
          <p:cNvPr id="13" name="arrow"/>
          <p:cNvSpPr/>
          <p:nvPr/>
        </p:nvSpPr>
        <p:spPr>
          <a:xfrm>
            <a:off x="5963260" y="3707130"/>
            <a:ext cx="274320" cy="274320"/>
          </a:xfrm>
          <a:prstGeom prst="rightArrow">
            <a:avLst/>
          </a:prstGeom>
          <a:solidFill>
            <a:srgbClr val="B8862B"/>
          </a:solidFill>
          <a:ln/>
        </p:spPr>
      </p:sp>
      <p:sp>
        <p:nvSpPr>
          <p:cNvPr id="14" name="step-box"/>
          <p:cNvSpPr/>
          <p:nvPr/>
        </p:nvSpPr>
        <p:spPr>
          <a:xfrm>
            <a:off x="6301588" y="2996692"/>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3106420"/>
            <a:ext cx="530352" cy="459285"/>
          </a:xfrm>
          <a:prstGeom prst="hexagon">
            <a:avLst/>
          </a:prstGeom>
          <a:solidFill>
            <a:srgbClr val="7A4A1E"/>
          </a:solidFill>
          <a:ln/>
        </p:spPr>
      </p:sp>
      <p:sp>
        <p:nvSpPr>
          <p:cNvPr id="16" name="step-hex-label"/>
          <p:cNvSpPr txBox="1"/>
          <p:nvPr/>
        </p:nvSpPr>
        <p:spPr>
          <a:xfrm>
            <a:off x="6438748"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591052"/>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Name your key reason: the real providers of treatment were women at home, and hospitals offered care rather than cure.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Worked example (2 of 2): Hospitals: care over cure</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332484"/>
          </a:xfrm>
          <a:prstGeom prst="roundRect">
            <a:avLst>
              <a:gd name="adj" fmla="val 6862"/>
            </a:avLst>
          </a:prstGeom>
          <a:solidFill>
            <a:srgbClr val="F2EDE9"/>
          </a:solidFill>
          <a:ln/>
        </p:spPr>
      </p:sp>
      <p:sp>
        <p:nvSpPr>
          <p:cNvPr id="8" name="worked-q"/>
          <p:cNvSpPr txBox="1"/>
          <p:nvPr/>
        </p:nvSpPr>
        <p:spPr>
          <a:xfrm>
            <a:off x="731520" y="1481328"/>
            <a:ext cx="10728655"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Plan a conclusion to: ‘How important were hospitals in providing care and treatment in medieval England?’ Use the scale: extremely, considerably, moderately, partially, not important at all.</a:t>
            </a:r>
            <a:endParaRPr lang="en-US" sz="2200" dirty="0"/>
          </a:p>
        </p:txBody>
      </p:sp>
      <p:sp>
        <p:nvSpPr>
          <p:cNvPr id="9" name="step-box"/>
          <p:cNvSpPr/>
          <p:nvPr/>
        </p:nvSpPr>
        <p:spPr>
          <a:xfrm>
            <a:off x="548640" y="2996692"/>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3106420"/>
            <a:ext cx="530352" cy="459285"/>
          </a:xfrm>
          <a:prstGeom prst="hexagon">
            <a:avLst/>
          </a:prstGeom>
          <a:solidFill>
            <a:srgbClr val="7A4A1E"/>
          </a:solidFill>
          <a:ln/>
        </p:spPr>
      </p:sp>
      <p:sp>
        <p:nvSpPr>
          <p:cNvPr id="11" name="step-hex-label"/>
          <p:cNvSpPr txBox="1"/>
          <p:nvPr/>
        </p:nvSpPr>
        <p:spPr>
          <a:xfrm>
            <a:off x="685800"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591052"/>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Acknowledge the other side in one line: hospitals did give clean beds, food and rest.</a:t>
            </a:r>
            <a:endParaRPr lang="en-US" sz="1800" dirty="0"/>
          </a:p>
        </p:txBody>
      </p:sp>
      <p:sp>
        <p:nvSpPr>
          <p:cNvPr id="13" name="arrow"/>
          <p:cNvSpPr/>
          <p:nvPr/>
        </p:nvSpPr>
        <p:spPr>
          <a:xfrm>
            <a:off x="5963260" y="3707130"/>
            <a:ext cx="274320" cy="274320"/>
          </a:xfrm>
          <a:prstGeom prst="rightArrow">
            <a:avLst/>
          </a:prstGeom>
          <a:solidFill>
            <a:srgbClr val="B8862B"/>
          </a:solidFill>
          <a:ln/>
        </p:spPr>
      </p:sp>
      <p:sp>
        <p:nvSpPr>
          <p:cNvPr id="14" name="step-box"/>
          <p:cNvSpPr/>
          <p:nvPr/>
        </p:nvSpPr>
        <p:spPr>
          <a:xfrm>
            <a:off x="6301588" y="2996692"/>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3106420"/>
            <a:ext cx="530352" cy="459285"/>
          </a:xfrm>
          <a:prstGeom prst="hexagon">
            <a:avLst/>
          </a:prstGeom>
          <a:solidFill>
            <a:srgbClr val="7A4A1E"/>
          </a:solidFill>
          <a:ln/>
        </p:spPr>
      </p:sp>
      <p:sp>
        <p:nvSpPr>
          <p:cNvPr id="16" name="step-hex-label"/>
          <p:cNvSpPr txBox="1"/>
          <p:nvPr/>
        </p:nvSpPr>
        <p:spPr>
          <a:xfrm>
            <a:off x="6438748"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591052"/>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why your key reason outweighs it: a clean bed is care, but it is not a treatment, and most people never reached one.</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Judgement: partially important. Key reason: treatment happened at home, led by women; hospitals offered care, not cure. Counter: clean beds, food and rest. Weighing: care without cure, and out of reach for most, so only partial.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A physician's visit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stages of a medieval physician's visit in the order they happened.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Treat the patient, or send them on to a barber surgeon or apothecary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Observe the patient's symptoms and check the pulse, skin colour and urine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Consult zodiac charts to diagnose the illness and choose the best time to treat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Compare the urine with the charts in the vademecum</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A physician's visit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stages of a medieval physician's visit in the order they happened.</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2EDE9"/>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physician has to look before he can compare anything: observing comes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cannot compare the urine with a chart until he has examined it.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Diagnosis and timing come before any treatment is chosen.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last stage is deciding what to do and who will do it.</a:t>
            </a:r>
            <a:endParaRPr lang="en-US" sz="1800" dirty="0"/>
          </a:p>
        </p:txBody>
      </p:sp>
      <p:sp>
        <p:nvSpPr>
          <p:cNvPr id="17" name="col-Core"/>
          <p:cNvSpPr/>
          <p:nvPr/>
        </p:nvSpPr>
        <p:spPr>
          <a:xfrm>
            <a:off x="5490762" y="2578608"/>
            <a:ext cx="2938987" cy="3566160"/>
          </a:xfrm>
          <a:prstGeom prst="roundRect">
            <a:avLst>
              <a:gd name="adj" fmla="val 1867"/>
            </a:avLst>
          </a:prstGeom>
          <a:solidFill>
            <a:srgbClr val="E2D7CE"/>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Look, compare, diagnose, act.</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7A4A1E"/>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Say which of the four stages is still part of a doctor's visit today, which has vanished completely, and why Hippocrates would have approved of the first stage.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Which medic is which?</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medieval medic to the correct description.</a:t>
            </a:r>
            <a:endParaRPr lang="en-US" sz="2400" dirty="0"/>
          </a:p>
        </p:txBody>
      </p:sp>
      <p:sp>
        <p:nvSpPr>
          <p:cNvPr id="11" name="match-card"/>
          <p:cNvSpPr/>
          <p:nvPr/>
        </p:nvSpPr>
        <p:spPr>
          <a:xfrm>
            <a:off x="777240" y="2468331"/>
            <a:ext cx="3081437" cy="804809"/>
          </a:xfrm>
          <a:prstGeom prst="roundRect">
            <a:avLst>
              <a:gd name="adj" fmla="val 9089"/>
            </a:avLst>
          </a:prstGeom>
          <a:solidFill>
            <a:srgbClr val="F4F1ED"/>
          </a:solidFill>
          <a:ln/>
        </p:spPr>
      </p:sp>
      <p:sp>
        <p:nvSpPr>
          <p:cNvPr id="12" name="match-hex"/>
          <p:cNvSpPr/>
          <p:nvPr/>
        </p:nvSpPr>
        <p:spPr>
          <a:xfrm>
            <a:off x="850392" y="2704443"/>
            <a:ext cx="384048" cy="332586"/>
          </a:xfrm>
          <a:prstGeom prst="hexagon">
            <a:avLst/>
          </a:prstGeom>
          <a:solidFill>
            <a:srgbClr val="7A4A1E"/>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Physician</a:t>
            </a:r>
            <a:endParaRPr lang="en-US" sz="2000" dirty="0"/>
          </a:p>
        </p:txBody>
      </p:sp>
      <p:sp>
        <p:nvSpPr>
          <p:cNvPr id="15" name="match-card"/>
          <p:cNvSpPr/>
          <p:nvPr/>
        </p:nvSpPr>
        <p:spPr>
          <a:xfrm>
            <a:off x="4224437" y="2468331"/>
            <a:ext cx="7190019" cy="804809"/>
          </a:xfrm>
          <a:prstGeom prst="roundRect">
            <a:avLst>
              <a:gd name="adj" fmla="val 9089"/>
            </a:avLst>
          </a:prstGeom>
          <a:solidFill>
            <a:srgbClr val="F6F0E6"/>
          </a:solidFill>
          <a:ln/>
        </p:spPr>
      </p:sp>
      <p:sp>
        <p:nvSpPr>
          <p:cNvPr id="16" name="match-hex"/>
          <p:cNvSpPr/>
          <p:nvPr/>
        </p:nvSpPr>
        <p:spPr>
          <a:xfrm>
            <a:off x="4297589" y="2704443"/>
            <a:ext cx="384048" cy="332586"/>
          </a:xfrm>
          <a:prstGeom prst="hexagon">
            <a:avLst/>
          </a:prstGeom>
          <a:solidFill>
            <a:srgbClr val="B8862B"/>
          </a:solidFill>
          <a:ln/>
        </p:spPr>
      </p:sp>
      <p:sp>
        <p:nvSpPr>
          <p:cNvPr id="17" name="match-hex-label"/>
          <p:cNvSpPr txBox="1"/>
          <p:nvPr/>
        </p:nvSpPr>
        <p:spPr>
          <a:xfrm>
            <a:off x="429758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No formal training; let blood, pulled teeth, lanced boils, did small operations and cut hair</a:t>
            </a:r>
            <a:endParaRPr lang="en-US" sz="2000" dirty="0"/>
          </a:p>
        </p:txBody>
      </p:sp>
      <p:sp>
        <p:nvSpPr>
          <p:cNvPr id="19" name="match-card"/>
          <p:cNvSpPr/>
          <p:nvPr/>
        </p:nvSpPr>
        <p:spPr>
          <a:xfrm>
            <a:off x="777240" y="3364581"/>
            <a:ext cx="3081437" cy="804809"/>
          </a:xfrm>
          <a:prstGeom prst="roundRect">
            <a:avLst>
              <a:gd name="adj" fmla="val 9089"/>
            </a:avLst>
          </a:prstGeom>
          <a:solidFill>
            <a:srgbClr val="F4F1ED"/>
          </a:solidFill>
          <a:ln/>
        </p:spPr>
      </p:sp>
      <p:sp>
        <p:nvSpPr>
          <p:cNvPr id="20" name="match-hex"/>
          <p:cNvSpPr/>
          <p:nvPr/>
        </p:nvSpPr>
        <p:spPr>
          <a:xfrm>
            <a:off x="850392" y="3600692"/>
            <a:ext cx="384048" cy="332586"/>
          </a:xfrm>
          <a:prstGeom prst="hexagon">
            <a:avLst/>
          </a:prstGeom>
          <a:solidFill>
            <a:srgbClr val="7A4A1E"/>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Apothecary</a:t>
            </a:r>
            <a:endParaRPr lang="en-US" sz="2000" dirty="0"/>
          </a:p>
        </p:txBody>
      </p:sp>
      <p:sp>
        <p:nvSpPr>
          <p:cNvPr id="23" name="match-card"/>
          <p:cNvSpPr/>
          <p:nvPr/>
        </p:nvSpPr>
        <p:spPr>
          <a:xfrm>
            <a:off x="4224437" y="3364581"/>
            <a:ext cx="7190019" cy="804809"/>
          </a:xfrm>
          <a:prstGeom prst="roundRect">
            <a:avLst>
              <a:gd name="adj" fmla="val 9089"/>
            </a:avLst>
          </a:prstGeom>
          <a:solidFill>
            <a:srgbClr val="F6F0E6"/>
          </a:solidFill>
          <a:ln/>
        </p:spPr>
      </p:sp>
      <p:sp>
        <p:nvSpPr>
          <p:cNvPr id="24" name="match-hex"/>
          <p:cNvSpPr/>
          <p:nvPr/>
        </p:nvSpPr>
        <p:spPr>
          <a:xfrm>
            <a:off x="4297589" y="3600692"/>
            <a:ext cx="384048" cy="332586"/>
          </a:xfrm>
          <a:prstGeom prst="hexagon">
            <a:avLst/>
          </a:prstGeom>
          <a:solidFill>
            <a:srgbClr val="B8862B"/>
          </a:solidFill>
          <a:ln/>
        </p:spPr>
      </p:sp>
      <p:sp>
        <p:nvSpPr>
          <p:cNvPr id="25" name="match-hex-label"/>
          <p:cNvSpPr txBox="1"/>
          <p:nvPr/>
        </p:nvSpPr>
        <p:spPr>
          <a:xfrm>
            <a:off x="429758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6458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University-trained; diagnosed and prescribed; very expensive and rare</a:t>
            </a:r>
            <a:endParaRPr lang="en-US" sz="2000" dirty="0"/>
          </a:p>
        </p:txBody>
      </p:sp>
      <p:sp>
        <p:nvSpPr>
          <p:cNvPr id="27" name="match-card"/>
          <p:cNvSpPr/>
          <p:nvPr/>
        </p:nvSpPr>
        <p:spPr>
          <a:xfrm>
            <a:off x="777240" y="4260830"/>
            <a:ext cx="3081437" cy="804809"/>
          </a:xfrm>
          <a:prstGeom prst="roundRect">
            <a:avLst>
              <a:gd name="adj" fmla="val 9089"/>
            </a:avLst>
          </a:prstGeom>
          <a:solidFill>
            <a:srgbClr val="F4F1ED"/>
          </a:solidFill>
          <a:ln/>
        </p:spPr>
      </p:sp>
      <p:sp>
        <p:nvSpPr>
          <p:cNvPr id="28" name="match-hex"/>
          <p:cNvSpPr/>
          <p:nvPr/>
        </p:nvSpPr>
        <p:spPr>
          <a:xfrm>
            <a:off x="850392" y="4496941"/>
            <a:ext cx="384048" cy="332586"/>
          </a:xfrm>
          <a:prstGeom prst="hexagon">
            <a:avLst/>
          </a:prstGeom>
          <a:solidFill>
            <a:srgbClr val="7A4A1E"/>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Barber surgeon</a:t>
            </a:r>
            <a:endParaRPr lang="en-US" sz="2000" dirty="0"/>
          </a:p>
        </p:txBody>
      </p:sp>
      <p:sp>
        <p:nvSpPr>
          <p:cNvPr id="31" name="match-card"/>
          <p:cNvSpPr/>
          <p:nvPr/>
        </p:nvSpPr>
        <p:spPr>
          <a:xfrm>
            <a:off x="4224437" y="4260830"/>
            <a:ext cx="7190019" cy="804809"/>
          </a:xfrm>
          <a:prstGeom prst="roundRect">
            <a:avLst>
              <a:gd name="adj" fmla="val 9089"/>
            </a:avLst>
          </a:prstGeom>
          <a:solidFill>
            <a:srgbClr val="F6F0E6"/>
          </a:solidFill>
          <a:ln/>
        </p:spPr>
      </p:sp>
      <p:sp>
        <p:nvSpPr>
          <p:cNvPr id="32" name="match-hex"/>
          <p:cNvSpPr/>
          <p:nvPr/>
        </p:nvSpPr>
        <p:spPr>
          <a:xfrm>
            <a:off x="4297589" y="4496941"/>
            <a:ext cx="384048" cy="332586"/>
          </a:xfrm>
          <a:prstGeom prst="hexagon">
            <a:avLst/>
          </a:prstGeom>
          <a:solidFill>
            <a:srgbClr val="B8862B"/>
          </a:solidFill>
          <a:ln/>
        </p:spPr>
      </p:sp>
      <p:sp>
        <p:nvSpPr>
          <p:cNvPr id="33" name="match-hex-label"/>
          <p:cNvSpPr txBox="1"/>
          <p:nvPr/>
        </p:nvSpPr>
        <p:spPr>
          <a:xfrm>
            <a:off x="429758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Mixed and sold medicines and ointments; trained but no university qualification</a:t>
            </a:r>
            <a:endParaRPr lang="en-US" sz="2000" dirty="0"/>
          </a:p>
        </p:txBody>
      </p:sp>
      <p:sp>
        <p:nvSpPr>
          <p:cNvPr id="35" name="match-card"/>
          <p:cNvSpPr/>
          <p:nvPr/>
        </p:nvSpPr>
        <p:spPr>
          <a:xfrm>
            <a:off x="777240" y="5157079"/>
            <a:ext cx="3081437" cy="804809"/>
          </a:xfrm>
          <a:prstGeom prst="roundRect">
            <a:avLst>
              <a:gd name="adj" fmla="val 9089"/>
            </a:avLst>
          </a:prstGeom>
          <a:solidFill>
            <a:srgbClr val="F4F1ED"/>
          </a:solidFill>
          <a:ln/>
        </p:spPr>
      </p:sp>
      <p:sp>
        <p:nvSpPr>
          <p:cNvPr id="36" name="match-hex"/>
          <p:cNvSpPr/>
          <p:nvPr/>
        </p:nvSpPr>
        <p:spPr>
          <a:xfrm>
            <a:off x="850392" y="5393191"/>
            <a:ext cx="384048" cy="332586"/>
          </a:xfrm>
          <a:prstGeom prst="hexagon">
            <a:avLst/>
          </a:prstGeom>
          <a:solidFill>
            <a:srgbClr val="7A4A1E"/>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Wise woman</a:t>
            </a:r>
            <a:endParaRPr lang="en-US" sz="2000" dirty="0"/>
          </a:p>
        </p:txBody>
      </p:sp>
      <p:sp>
        <p:nvSpPr>
          <p:cNvPr id="39" name="match-card"/>
          <p:cNvSpPr/>
          <p:nvPr/>
        </p:nvSpPr>
        <p:spPr>
          <a:xfrm>
            <a:off x="4224437" y="5157079"/>
            <a:ext cx="7190019" cy="804809"/>
          </a:xfrm>
          <a:prstGeom prst="roundRect">
            <a:avLst>
              <a:gd name="adj" fmla="val 9089"/>
            </a:avLst>
          </a:prstGeom>
          <a:solidFill>
            <a:srgbClr val="F6F0E6"/>
          </a:solidFill>
          <a:ln/>
        </p:spPr>
      </p:sp>
      <p:sp>
        <p:nvSpPr>
          <p:cNvPr id="40" name="match-hex"/>
          <p:cNvSpPr/>
          <p:nvPr/>
        </p:nvSpPr>
        <p:spPr>
          <a:xfrm>
            <a:off x="4297589" y="5393191"/>
            <a:ext cx="384048" cy="332586"/>
          </a:xfrm>
          <a:prstGeom prst="hexagon">
            <a:avLst/>
          </a:prstGeom>
          <a:solidFill>
            <a:srgbClr val="B8862B"/>
          </a:solidFill>
          <a:ln/>
        </p:spPr>
      </p:sp>
      <p:sp>
        <p:nvSpPr>
          <p:cNvPr id="41" name="match-hex-label"/>
          <p:cNvSpPr txBox="1"/>
          <p:nvPr/>
        </p:nvSpPr>
        <p:spPr>
          <a:xfrm>
            <a:off x="429758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157079"/>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Treated villagers in their homes with remedies, usually for free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Which medic is which?</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medieval medic to the correct description.</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2EDE9"/>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clue words: university means physician; medicines and ointments means apothecary.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Cutting hair as well as bleeding means barber surgeon.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Free, and in people's homes, means the wise woman.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that each description is used once.</a:t>
            </a:r>
            <a:endParaRPr lang="en-US" sz="1800" dirty="0"/>
          </a:p>
        </p:txBody>
      </p:sp>
      <p:sp>
        <p:nvSpPr>
          <p:cNvPr id="17" name="col-Core"/>
          <p:cNvSpPr/>
          <p:nvPr/>
        </p:nvSpPr>
        <p:spPr>
          <a:xfrm>
            <a:off x="5490762" y="2578608"/>
            <a:ext cx="2938987" cy="3566160"/>
          </a:xfrm>
          <a:prstGeom prst="roundRect">
            <a:avLst>
              <a:gd name="adj" fmla="val 1867"/>
            </a:avLst>
          </a:prstGeom>
          <a:solidFill>
            <a:srgbClr val="E2D7CE"/>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Training, price and haircuts. Those three clues separate all four.</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7A4A1E"/>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Argue which of the four medics was the most important provider of treatment to ordinary people, and whether training and qualifications made any difference to how useful a medic was.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medic trained at university and was the most expensive?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physician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barber surgeon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wise woman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apothecary</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A physician's visit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Observe the patient's symptoms and check the pulse, skin colour and urine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Compare the urine with the charts in the vademecum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Consult zodiac charts to diagnose the illness and choose the best time to treat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Treat the patient, or send them on to a barber surgeon or apothecary  (A)</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Observe (symptoms, pulse, skin, urine); compare the urine with the vademecum charts; consult the zodiac to diagnose and choose a time; then treat or refer to a barber surgeon or apothecary.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Which medic is which?</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Physician  →  B  University-trained; diagnosed and prescribed; very expensive and rare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Apothecary  →  C  Mixed and sold medicines and ointments; trained but no university qualification</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Barber surgeon  →  A  No formal training; let blood, pulled teeth, lanced boils, did small operations and cut hair</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Wise woman  →  D  Treated villagers in their homes with remedies, usually for free</a:t>
            </a:r>
            <a:endParaRPr lang="en-US" sz="22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Physician: university, expensive, prescribed. Apothecary: medicines, trained, no degree. Barber surgeon: untrained, bleeding, teeth, haircuts. Wise woman: home visits, remedies, free.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medic trained at university and was the most expensive?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The physician</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Physicians studied Galen at university, passed exams and charged fees only the wealthy could pay.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Medieval Medicine · Chapter 5: Who cared for the sick?</dc:title>
  <dc:subject>History · Year 9</dc:subject>
  <dc:creator>Dr Vitor Merissi de Carvalho</dc:creator>
  <cp:lastModifiedBy>Dr Vitor Merissi de Carvalho</cp:lastModifiedBy>
  <cp:revision>1</cp:revision>
  <dcterms:created xsi:type="dcterms:W3CDTF">2026-10-19T06:07:55Z</dcterms:created>
  <dcterms:modified xsi:type="dcterms:W3CDTF">2026-10-19T06:07:55Z</dcterms:modified>
</cp:coreProperties>
</file>