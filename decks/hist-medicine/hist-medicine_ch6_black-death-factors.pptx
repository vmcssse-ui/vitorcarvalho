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33a8c50-2143-139c-1ea7-df677d5c2dae}">
          <p14:sldIdLst>
            <p14:sldId id="256"/>
          </p14:sldIdLst>
        </p14:section>
        <p14:section name="Gate" id="{aa61f741-7be3-6989-7415-981ed877ac72}">
          <p14:sldIdLst>
            <p14:sldId id="257"/>
            <p14:sldId id="258"/>
          </p14:sldIdLst>
        </p14:section>
        <p14:section name="Pre-teach" id="{92eadba1-19e3-15fe-fc37-0e1caae7ca4f}">
          <p14:sldIdLst>
            <p14:sldId id="259"/>
            <p14:sldId id="260"/>
          </p14:sldIdLst>
        </p14:section>
        <p14:section name="Read-along" id="{d289ffe0-f231-2c0c-80e6-bb33629feb51}">
          <p14:sldIdLst>
            <p14:sldId id="261"/>
            <p14:sldId id="262"/>
          </p14:sldIdLst>
        </p14:section>
        <p14:section name="Teach" id="{e20809a9-aaa9-a4fa-0ed5-c000fb83e2e4}">
          <p14:sldIdLst>
            <p14:sldId id="263"/>
            <p14:sldId id="264"/>
            <p14:sldId id="265"/>
            <p14:sldId id="266"/>
            <p14:sldId id="267"/>
            <p14:sldId id="268"/>
          </p14:sldIdLst>
        </p14:section>
        <p14:section name="Routes" id="{fca57895-c2ba-191e-3299-b37d1876b153}">
          <p14:sldIdLst>
            <p14:sldId id="269"/>
            <p14:sldId id="270"/>
            <p14:sldId id="271"/>
            <p14:sldId id="272"/>
            <p14:sldId id="273"/>
            <p14:sldId id="274"/>
          </p14:sldIdLst>
        </p14:section>
        <p14:section name="Close" id="{52d9f67a-6a31-1797-2117-78b5f1aeac1f}">
          <p14:sldIdLst>
            <p14:sldId id="275"/>
          </p14:sldIdLst>
        </p14:section>
        <p14:section name="Answers" id="{f82f4d93-a999-2086-5484-7e1100fef2a4}">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The Black Death, and why medicine stood still. This chapter takes the case study of 1348–49, uses it to test every idea in the unit, and then pulls the factors together for the 12-mark question.
This deck covers the department's lessons: 8 (The Black Death: How did England react to the Black Death between 1348 and 1349?); 9 (Review: factors and continuity: Why was there so little change in medicine in the Middle Ages?); 10 (End of topic assessment: What were the key features of medieval medicine, 1250–1500?).
Read the big question aloud: "Why was there so little change in medicine in medieval England between c1250 and c1500?"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the Black Death reach England?  →  1348
2. What did most people at the time believe had caused the Black Death?  →  B   God had sent it as a punishment for people's sins
3. Most historians today think the Black Death was ___ plague, spread by fleas living on black rats.  →  bubonic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1348. The disease reached Europe in 1347 and England in 1348. The English outbreak is dated 1348–49.
2. B   God had sent it as a punishment for people's sins. The most widespread belief was that the plague was God's punishment. Fleas and rats are what historians think today, not what people believed then.
3. bubonic. Bubonic plague is named after the buboes, the swellings it causes. It passes to people through the bite of an infected flea.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Black Death: the plague that reached England in 1348. Example: "The Black Death killed about a third of the population."
• bubonic plague: the disease most historians think the Black Death was. Example: "Bubonic plague is spread by fleas that live on rats."
• buboes: painful swellings filled with pus. Example: "Buboes appeared in the armpits and groin."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flagellant: a person who whipped themselves to show God they were sorry. Example: "Flagellants whipped themselves in public to show God they were sorry."
• factor: a cause of change or continuity, such as the Church or war. Example: "The Church was the most important factor in medieval medicine."
• continuity: things staying the same over time. Example: "There was great continuity in medical ideas from 1250 to 1500."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In 1347 a new disease reached Europe on trading ships.
2. In 1348 it reached England.
3. We call it the Black Death.
4. Most historians today think it was bubonic plague.
5. It was carried by fleas living on black rats.
6. Victims had painful swellings called buboes, fever and vomiting.
7. Most died within a few days.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About one third of the population died.
9. People believed God had sent the plague as a punishment.
10. Others blamed bad air, the planets or strangers.
11. They prayed, fasted and carried sweet herbs.
12. Some towns shut their gates to outsiders.
13. The old ideas were tested, and none of them worked.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new disease, 1348–49. Say it in your own words, then check understanding with a quick question: ask a pupil from the pre-teach group first, since they met these words and ideas before the lesson. Pupils try to recall before you re-explain.
In 1347 ships returning from trade with the East brought a new disease to Europe. In 1348 it reached the shores of England. Nothing like it had been seen before. Victims developed buboes, large painful swellings in the armpits and groin, along with fever, chills, headache, vomiting and stomach pain. Most who caught it were dead within about five days. By 1349 about one third of the population of Britain had died.
Most historians today think the disease was bubonic plague, carried by fleas that lived on black rats. The rats travelled on trading ships, and the plague passed to a person when an infected flea bit them. Nobody in 1348 knew any of this. What people did have were the ideas you have studied, and they reached for all of them at once.
Many believed that God had sent the plague as a punishment for the sins of the world. Others blamed the planets: Mars, Jupiter and Saturn were said to be in an unusual position. Many blamed miasma, bad air rising from rotting rubbish, or poisonous gases released by earthquakes and volcanoes. Most physicians put it down to an imbalance of the humours. And some blamed outsiders, strangers in the town, which led to fear and cruelty towards people who had done nothing.
Tip: Keep ‘what historians think’ (fleas, rats, bubonic plague) and ‘what people at the time believed’ (God, planets, bad air) in separate sentences. Mixing them is the most common error in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people tried to stay safe. Say it in your own words, then check understanding with a quick question: ask a pupil from the pre-teach group first, since they met these words and ideas before the lesson. Pupils try to recall before you re-explain.
Because so many believed the plague was God's punishment, the first response was to say sorry. People prayed and fasted. Flagellants whipped themselves in public, reasoning that if they punished themselves God would not need to. Priests led processions through the streets.
Those who feared miasma attacked the air. Town councils ordered rubbish cleared from the streets. People carried herbs and spices to their noses, lit fires in their rooms, rang bells or let birds fly round the room to keep the air moving. Some even stood over their toilets, believing that one strong smell would drive out another. And towns began to keep strangers out, refusing entry to anyone unknown, an early form of the isolation that later became quarantine.
Treatments were just as mixed. Patients prayed and held lucky charms. Buboes were cut open to drain the pus. Bread was pressed against the swellings and then buried in the ground. Patients were given cool food and cold baths, following the Theory of Opposites against a hot fever. None of it worked. Some historians see the Black Death as a turning point even so: it shook people's faith in the old answers, and the use of astrology grew as the Church became more accepting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so little change? The factors. Say it in your own words, then check understanding with a quick question: ask a pupil from the pre-teach group first, since they met these words and ideas before the lesson. Pupils try to recall before you re-explain.
Step back from the plague and ask the unit's enquiry question: why was there so much continuity in medicine between 1250 and 1500? Your review lesson gave you the factors. The Church did not want change. It controlled medical learning, chose which books were copied, and strongly discouraged anyone from criticising the Four Humours. Science and technology were weak: with no microscope and no printing until the very end of the period, there was no way to find new knowledge, and when something odd was discovered, physicians fitted it into the old theory rather than testing it.
Attitudes in society reinforced this. People believed in God and feared hell, so criticising the Church was dangerous. Most also felt that medicine had always been done this way, so there was no need to change it. Individuals mattered too, but in the wrong direction: Hippocrates and Galen were so respected, and Galen so popular with the Church, that their authority blocked new ideas instead of inspiring them. Government spent no money on medicine, so there was nothing to pay for a breakthrough.
At GCSE, in AQA 8145 Britain: Health and the People, this period is called ‘Medicine stands still’, and it will also ask you about Islamic medicine, which your lessons did not cover. While Galen was copied in Europe, scholars in the Islamic world such as Ibn Sina (980–1037), known in Europe as Avicenna, kept his work alive, organised it and added to it, and wrote the Canon of Medicine, an encyclopaedia that European universities later used. Hold that comparison ready for Year 10.
Tip: Factors work together. The Church shaped attitudes, controlled education and promoted the individuals it liked. The best answers show the links, not just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12-mark ‘explain why’ answer. Say it in your own words, then check understanding with a quick question: ask a pupil from the pre-teach group first, since they met these words and ideas before the lesson. Pupils try to recall before you re-explain.
Section D of your assessment asks: explain why there was limited progress in medieval medicine, c1250–c1500. Twelve marks, two paragraphs, one factor per paragraph. Use PEEL. Point: there was limited progress because of a named factor. Evidence: a specific, detailed example. Explanation: what this meant for medicine. Link: back to the question. Then begin paragraph two with ‘However, … was also influential because…’ and do it again with a second factor.
Section C is a smaller skill with the same muscle: proving a statement. Given ‘God was important in the Middle Ages’, you prove it with precise evidence: the Church taught that God sent disease, Doom paintings showed the fate of sinners, prayer and pilgrimage were treatments, and hospitals were run by monks and nuns. Precise means a name, a date, an object or a number, not ‘people were very religious’.
Two habits earn marks. Start your answer in the language of the question (‘There was limited progress in medieval medicine because…’) rather than copying the question out. And keep your belief words: Galen's theory was followed; people believed God sent disease; physicians thought the humours were out of balance.
Worked example — model it step by step, thinking aloud: Plan paragraph one of: ‘Explain why there was limited progress in medieval medicine, c1250–c1500.’ (12 marks) Use the Church as your factor. (1) Point: there was limited progress because of the Church, which did not want medical ideas to change. (2) Evidence: the Church ran the universities, had Galen's books copied by hand, and discouraged human dissection; the 1491 Fasciculus Medicinae dissection was held to confirm Galen, not to test him. (3) Explanation: this meant that no physician was trained in any other theory and nobody could check Galen's anatomy, so his mistakes, such as the liver pumping blood, survived. (4) Link: so the Four Humours were still the accepted explanation in 1500, exactly as they had been in 1250. Answer: Point: the Church blocked change. Evidence: universities, hand-copied books, dissection discouraged, 1491 dissection confirming Galen. Explanation: no alternative taught, no checking possible, mistakes survived. Link: same ideas in 1500 as in 1250..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12-mark ‘explain why’ answer. Say it in your own words, then check understanding with a quick question: ask a pupil from the pre-teach group first, since they met these words and ideas before the lesson. Pupils try to recall before you re-explain.
Section D of your assessment asks: explain why there was limited progress in medieval medicine, c1250–c1500. Twelve marks, two paragraphs, one factor per paragraph. Use PEEL. Point: there was limited progress because of a named factor. Evidence: a specific, detailed example. Explanation: what this meant for medicine. Link: back to the question. Then begin paragraph two with ‘However, … was also influential because…’ and do it again with a second factor.
Section C is a smaller skill with the same muscle: proving a statement. Given ‘God was important in the Middle Ages’, you prove it with precise evidence: the Church taught that God sent disease, Doom paintings showed the fate of sinners, prayer and pilgrimage were treatments, and hospitals were run by monks and nuns. Precise means a name, a date, an object or a number, not ‘people were very religious’.
Two habits earn marks. Start your answer in the language of the question (‘There was limited progress in medieval medicine because…’) rather than copying the question out. And keep your belief words: Galen's theory was followed; people believed God sent disease; physicians thought the humours were out of balance.
Worked example — model it step by step, thinking aloud: Plan paragraph one of: ‘Explain why there was limited progress in medieval medicine, c1250–c1500.’ (12 marks) Use the Church as your factor. (1) Point: there was limited progress because of the Church, which did not want medical ideas to change. (2) Evidence: the Church ran the universities, had Galen's books copied by hand, and discouraged human dissection; the 1491 Fasciculus Medicinae dissection was held to confirm Galen, not to test him. (3) Explanation: this meant that no physician was trained in any other theory and nobody could check Galen's anatomy, so his mistakes, such as the liver pumping blood, survived. (4) Link: so the Four Humours were still the accepted explanation in 1500, exactly as they had been in 1250. Answer: Point: the Church blocked change. Evidence: universities, hand-copied books, dissection discouraged, 1491 dissection confirming Galen. Explanation: no alternative taught, no checking possible, mistakes survived. Link: same ideas in 1500 as in 1250..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12-mark ‘explain why’ answer. Say it in your own words, then check understanding with a quick question: ask a pupil from the pre-teach group first, since they met these words and ideas before the lesson. Pupils try to recall before you re-explain.
Section D of your assessment asks: explain why there was limited progress in medieval medicine, c1250–c1500. Twelve marks, two paragraphs, one factor per paragraph. Use PEEL. Point: there was limited progress because of a named factor. Evidence: a specific, detailed example. Explanation: what this meant for medicine. Link: back to the question. Then begin paragraph two with ‘However, … was also influential because…’ and do it again with a second factor.
Section C is a smaller skill with the same muscle: proving a statement. Given ‘God was important in the Middle Ages’, you prove it with precise evidence: the Church taught that God sent disease, Doom paintings showed the fate of sinners, prayer and pilgrimage were treatments, and hospitals were run by monks and nuns. Precise means a name, a date, an object or a number, not ‘people were very religious’.
Two habits earn marks. Start your answer in the language of the question (‘There was limited progress in medieval medicine because…’) rather than copying the question out. And keep your belief words: Galen's theory was followed; people believed God sent disease; physicians thought the humours were out of balance.
Worked example — model it step by step, thinking aloud: Plan paragraph one of: ‘Explain why there was limited progress in medieval medicine, c1250–c1500.’ (12 marks) Use the Church as your factor. (1) Point: there was limited progress because of the Church, which did not want medical ideas to change. (2) Evidence: the Church ran the universities, had Galen's books copied by hand, and discouraged human dissection; the 1491 Fasciculus Medicinae dissection was held to confirm Galen, not to test him. (3) Explanation: this meant that no physician was trained in any other theory and nobody could check Galen's anatomy, so his mistakes, such as the liver pumping blood, survived. (4) Link: so the Four Humours were still the accepted explanation in 1500, exactly as they had been in 1250. Answer: Point: the Church blocked change. Evidence: universities, hand-copied books, dissection discouraged, 1491 dissection confirming Galen. Explanation: no alternative taught, no checking possible, mistakes survived. Link: same ideas in 1500 as in 1250..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Factors that held medicine back.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way it held back change in medieval medicine.
Support — work through the steps with the group: (1) Look for the clue in each description: who or what is doing the holding back? (2) Learning, books and criticism of the humours point to the Church. (3) Microscopes and printing are technology; money is government. (4) Named people are Individuals; everyone's fear and habit are Attitudes.
Parallel worked example for Support (model it, do not give the task answer): Practice: ‘Most people could not read, so they believed what they were told.’ Which factor is this closest to, and which second factor does it connect to? Not being able to read is about education, which the Church controlled.; Believing what you are told is an attitude.; So: the Church, connecting to attitudes in society.. Answer: The Church (through education), connecting to attitudes in society..
Core — reveal the hint only on request: One factor is about money, one about tools, one about two famous names, one about everyone's fears, and one about who ran the universities.
Stretch — no help; when finished: Rank the five factors from most to least important in explaining continuity, and justify your top choice in two sentences that show how it influenced at least two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Factors that held medicine back.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way it held back change in medieval medicine.
Support — work through the steps with the group: (1) Look for the clue in each description: who or what is doing the holding back? (2) Learning, books and criticism of the humours point to the Church. (3) Microscopes and printing are technology; money is government. (4) Named people are Individuals; everyone's fear and habit are Attitudes.
Parallel worked example for Support (model it, do not give the task answer): Practice: ‘Most people could not read, so they believed what they were told.’ Which factor is this closest to, and which second factor does it connect to? Not being able to read is about education, which the Church controlled.; Believing what you are told is an attitude.; So: the Church, connecting to attitudes in society.. Answer: The Church (through education), connecting to attitudes in society..
Core — reveal the hint only on request: One factor is about money, one about tools, one about two famous names, one about everyone's fears, and one about who ran the universities.
Stretch — no help; when finished: Rank the five factors from most to least important in explaining continuity, and justify your top choice in two sentences that show how it influenced at least two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Factors that held medicine back.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way it held back change in medieval medicine.
Support — work through the steps with the group: (1) Look for the clue in each description: who or what is doing the holding back? (2) Learning, books and criticism of the humours point to the Church. (3) Microscopes and printing are technology; money is government. (4) Named people are Individuals; everyone's fear and habit are Attitudes.
Parallel worked example for Support (model it, do not give the task answer): Practice: ‘Most people could not read, so they believed what they were told.’ Which factor is this closest to, and which second factor does it connect to? Not being able to read is about education, which the Church controlled.; Believing what you are told is an attitude.; So: the Church, connecting to attitudes in society.. Answer: The Church (through education), connecting to attitudes in society..
Core — reveal the hint only on request: One factor is about money, one about tools, one about two famous names, one about everyone's fears, and one about who ran the universities.
Stretch — no help; when finished: Rank the five factors from most to least important in explaining continuity, and justify your top choice in two sentences that show how it influenced at least two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Factors that held medicine back.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way it held back change in medieval medicine.
Support — work through the steps with the group: (1) Look for the clue in each description: who or what is doing the holding back? (2) Learning, books and criticism of the humours point to the Church. (3) Microscopes and printing are technology; money is government. (4) Named people are Individuals; everyone's fear and habit are Attitudes.
Parallel worked example for Support (model it, do not give the task answer): Practice: ‘Most people could not read, so they believed what they were told.’ Which factor is this closest to, and which second factor does it connect to? Not being able to read is about education, which the Church controlled.; Believing what you are told is an attitude.; So: the Church, connecting to attitudes in society.. Answer: The Church (through education), connecting to attitudes in society..
Core — reveal the hint only on request: One factor is about money, one about tools, one about two famous names, one about everyone's fears, and one about who ran the universities.
Stretch — no help; when finished: Rank the five factors from most to least important in explaining continuity, and justify your top choice in two sentences that show how it influenced at least two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a PEEL paragraph.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12-mark ‘explain why’ answer in the order you should write them.
Support — work through the steps with the group: (1) Every paragraph begins by answering the question: that is the Point. (2) A point needs proof straight after it: Evidence. (3) Then say what the evidence meant: Explanation. (4) Tie it back to the question: Link. Only then move to the second factor with ‘However’.
Parallel worked example for Support (model it, do not give the task answer): Practice: put these in order: ‘This meant that nobody could check Galen's anatomy.’ ‘The Church discouraged human dissection.’ ‘So the Four Humours survived unchallenged to 1500.’ The statement of what happened is the evidence: dissection discouraged.; What it meant comes next.; The link to the period comes last.. Answer: The Church discouraged human dissection; this meant that nobody could check Galen's anatomy; so the Four Humours survived unchallenged to 1500..
Core — reveal the hint only on request: P, E, E, L, then However. The explanation always contains ‘this meant that’.
Stretch — no help; when finished: Write the first sentence of each of the five parts for the factor ‘attitudes in society’, in no more than 15 words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a PEEL paragraph.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12-mark ‘explain why’ answer in the order you should write them.
Support — work through the steps with the group: (1) Every paragraph begins by answering the question: that is the Point. (2) A point needs proof straight after it: Evidence. (3) Then say what the evidence meant: Explanation. (4) Tie it back to the question: Link. Only then move to the second factor with ‘However’.
Parallel worked example for Support (model it, do not give the task answer): Practice: put these in order: ‘This meant that nobody could check Galen's anatomy.’ ‘The Church discouraged human dissection.’ ‘So the Four Humours survived unchallenged to 1500.’ The statement of what happened is the evidence: dissection discouraged.; What it meant comes next.; The link to the period comes last.. Answer: The Church discouraged human dissection; this meant that nobody could check Galen's anatomy; so the Four Humours survived unchallenged to 1500..
Core — reveal the hint only on request: P, E, E, L, then However. The explanation always contains ‘this meant that’.
Stretch — no help; when finished: Write the first sentence of each of the five parts for the factor ‘attitudes in society’, in no more than 15 words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did the Black Death reach England?
Answer: 1348. The disease reached Europe in 1347 and England in 1348. The English outbreak is dated 1348–49.
Source of this question: gate item 1 re-asked (options rotated) — this chapter has no third quick-check module.
The ebook also holds task 3, "Explain why there was limited progress (12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Factors that held medicine back. Reveal the answer; pupils mark their own work in a different colour, then read the "why" together. Same destination for every lane, so one answer serves the whole class.
Answer: The Church  →  C  Controlled medical learning and discouraged anyone from criticising the Four Humours; Science and technology  →  D  Without microscopes or printing, new discoveries were fitted into old theories instead of tested; Attitudes in society  →  A  Fear of hell and respect for tradition made people unwilling to question what had always been done; Individuals  →  B  Galen and Hippocrates were so respected that their authority blocked new ideas; Government  →  E  Spent no money on medicine, so there was nothing to fund a breakthrough
Why: The Church controlled learning and silenced criticism; weak science and technology meant no new knowledge; attitudes of fear and tradition resisted change; Galen's and Hippocrates' authority blocked rivals; government spent nothing.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Build a PEEL paragraph. Reveal the answer; pupils mark their own work in a different colour, then read the "why" together. Same destination for every lane, so one answer serves the whole class.
Answer: Point: there was limited progress because of a named factor  (B); Evidence: a specific example with a name, date or object  (A); Explanation: what this meant for medicine, using ‘this meant that’  (C); Link: back to the question and the period c1250–c1500  (E); However: a second factor was also influential, starting paragraph two  (D)
Why: Point, Evidence, Explanation, Link, then However for the second factor. The examiner is looking for a developed explanation, which lives in the E-E-L, not in the Point alone.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1348
Why: The disease reached Europe in 1347 and England in 1348. The English outbreak is dated 1348–49.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Medieval Medicine · AQA KS3 → 8145</a:t>
            </a:r>
            <a:endParaRPr lang="en-US" sz="1800" dirty="0"/>
          </a:p>
        </p:txBody>
      </p:sp>
      <p:sp>
        <p:nvSpPr>
          <p:cNvPr id="10" name="deck-title"/>
          <p:cNvSpPr txBox="1"/>
          <p:nvPr/>
        </p:nvSpPr>
        <p:spPr>
          <a:xfrm>
            <a:off x="548640" y="217728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The Black Death, and why medicine stood still</a:t>
            </a:r>
            <a:endParaRPr lang="en-US" sz="3200" dirty="0"/>
          </a:p>
        </p:txBody>
      </p:sp>
      <p:sp>
        <p:nvSpPr>
          <p:cNvPr id="11" name="lessons-card"/>
          <p:cNvSpPr/>
          <p:nvPr/>
        </p:nvSpPr>
        <p:spPr>
          <a:xfrm>
            <a:off x="548640" y="3589528"/>
            <a:ext cx="5287975" cy="1676400"/>
          </a:xfrm>
          <a:prstGeom prst="roundRect">
            <a:avLst>
              <a:gd name="adj" fmla="val 4364"/>
            </a:avLst>
          </a:prstGeom>
          <a:solidFill>
            <a:srgbClr val="F2EDE9"/>
          </a:solidFill>
          <a:ln/>
        </p:spPr>
      </p:sp>
      <p:sp>
        <p:nvSpPr>
          <p:cNvPr id="12" name="lessons"/>
          <p:cNvSpPr txBox="1"/>
          <p:nvPr/>
        </p:nvSpPr>
        <p:spPr>
          <a:xfrm>
            <a:off x="685800" y="368096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Black Death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Review: factors and continuity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End of topic assessment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was there so little change in medicine in medieval England between c1250 and c1500?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the Black Death reach England?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527288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did most people at the time believe had caused the Black Death?</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new germ had arrived from Asia</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God had sent it as a punishment for people's sins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Dirty drinking water had spread it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Fleas living on black rats had spread it</a:t>
            </a:r>
            <a:endParaRPr lang="en-US" sz="2200" dirty="0"/>
          </a:p>
        </p:txBody>
      </p:sp>
      <p:sp>
        <p:nvSpPr>
          <p:cNvPr id="17"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Most historians today think the Black Death was ___ plague, spread by fleas living on black rats.</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bubonic  ·  Roman  ·  humoural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1348</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did the Black Death reach England?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disease reached Europe in 1347 and England in 1348. The English outbreak is dated 1348–49.</a:t>
            </a:r>
            <a:endParaRPr lang="en-US" sz="1800" dirty="0"/>
          </a:p>
        </p:txBody>
      </p:sp>
      <p:sp>
        <p:nvSpPr>
          <p:cNvPr id="14" name="card"/>
          <p:cNvSpPr/>
          <p:nvPr/>
        </p:nvSpPr>
        <p:spPr>
          <a:xfrm>
            <a:off x="3459404" y="1389888"/>
            <a:ext cx="5272888" cy="4754880"/>
          </a:xfrm>
          <a:prstGeom prst="roundRect">
            <a:avLst>
              <a:gd name="adj" fmla="val 1154"/>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DE1CA"/>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God had sent it as a punishment for people's sins</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did most people at the time believe had caused the Black Death?</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most widespread belief was that the plague was God's punishment. Fleas and rats are what historians think today, not what people believed then.</a:t>
            </a:r>
            <a:endParaRPr lang="en-US" sz="2200" dirty="0"/>
          </a:p>
        </p:txBody>
      </p:sp>
      <p:sp>
        <p:nvSpPr>
          <p:cNvPr id="21"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bubonic</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Bubonic plague is named after the buboes, the swellings it causes. It passes to people through the bite of an infected flea.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Black Death</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plague that reached England in 1348</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Black Death killed about a third of the population.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bubonic plague</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disease most historians think the Black Death was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Bubonic plague is spread by fleas that live on rats.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buboes</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painful swellings filled with pus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Buboes appeared in the armpits and groin.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flagellant</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who whipped themselves to show God they were sorry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Flagellants whipped themselves in public to show God they were sorry.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factor</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cause of change or continuity, such as the Church or war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Church was the most important factor in medieval medicine.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continuity</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things staying the same over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was great continuity in medical ideas from 1250 to 1500.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1347 a new disease reached Europe on trading ships.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1348 it reached England.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call it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Black Death</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Most historians today think it was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bubonic plague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was carried by fleas living on black rats.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Victims had painful swellings called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buboes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fever and vomiting.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Most died within a few days.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About one third of the population died.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People believed God had sent the plague as a punishment.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Others blamed bad air, the planets or strangers.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prayed, fasted and carried sweet herbs.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towns shut their gates to outsiders.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old ideas were tested, and none of them worked.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new disease, 1348–49</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Keep ‘what historians think’ (fleas, rats, bubonic plague) and ‘what people at the time believed’ (God, planets, bad air) in separate sentences. Mixing them is the most common error in this topic.</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1347 ships returning from trade with the East brought a new disease to Europe.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historians today think the disease was bubonic plague, carried by fleas that lived on black rats.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Many believed that God had sent the plague as a punishment for the sins of the world.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people tried to stay safe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Because so many believed the plague was God's punishment, the first response was to say sorry.</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Those who feared miasma attacked the air. Town councils ordered rubbish cleared from the streets.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Treatments were just as mixed. Patients prayed and held lucky charms.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so little change? The factors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Factors work together. The Church shaped attitudes, controlled education and promoted the individuals it liked. The best answers show the links, not just the list.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Step back from the plague and ask the unit's enquiry question: why was there so much continuity in medicine between 1250 and 1500?</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Attitudes in society reinforced this. People believed in God and feared hell, so criticising the Church was dangerous.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At GCSE, in AQA 8145 Britain: Health and the People, this period is called ‘Medicine stands still’, and it will also ask you about Islamic medicine, which your lessons did not cover.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12-mark ‘explain why’ answer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Section D of your assessment asks: explain why there was limited progress in medieval medicine, c1250–c1500.</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Section C is a smaller skill with the same muscle: proving a statement.</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habits earn marks. Start your answer in the language of the question (‘There was limited progress in medieval medicine because…’) rather than copying the question out.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The 12-mark ‘explain why’ answer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paragraph one of: ‘Explain why there was limited progress in medieval medicine, c1250–c1500.’ (12 marks) Use the Church as your factor.</a:t>
            </a:r>
            <a:endParaRPr lang="en-US" sz="2200" dirty="0"/>
          </a:p>
        </p:txBody>
      </p:sp>
      <p:sp>
        <p:nvSpPr>
          <p:cNvPr id="9" name="step-box"/>
          <p:cNvSpPr/>
          <p:nvPr/>
        </p:nvSpPr>
        <p:spPr>
          <a:xfrm>
            <a:off x="548640" y="2655824"/>
            <a:ext cx="5341468"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there was limited progress because of the Church, which did not want medical ideas to change.</a:t>
            </a:r>
            <a:endParaRPr lang="en-US" sz="1800" dirty="0"/>
          </a:p>
        </p:txBody>
      </p:sp>
      <p:sp>
        <p:nvSpPr>
          <p:cNvPr id="13" name="arrow"/>
          <p:cNvSpPr/>
          <p:nvPr/>
        </p:nvSpPr>
        <p:spPr>
          <a:xfrm>
            <a:off x="5963260" y="3645154"/>
            <a:ext cx="274320" cy="274320"/>
          </a:xfrm>
          <a:prstGeom prst="rightArrow">
            <a:avLst/>
          </a:prstGeom>
          <a:solidFill>
            <a:srgbClr val="B8862B"/>
          </a:solidFill>
          <a:ln/>
        </p:spPr>
      </p:sp>
      <p:sp>
        <p:nvSpPr>
          <p:cNvPr id="14" name="step-box"/>
          <p:cNvSpPr/>
          <p:nvPr/>
        </p:nvSpPr>
        <p:spPr>
          <a:xfrm>
            <a:off x="6301588" y="2655824"/>
            <a:ext cx="5341468"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the Church ran the universities, had Galen's books copied by hand, and discouraged human dissection; the 1491 Fasciculus Medicinae dissection was held to confirm Galen, not to test him.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The 12-mark ‘explain why’ answer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paragraph one of: ‘Explain why there was limited progress in medieval medicine, c1250–c1500.’ (12 marks) Use the Church as your factor.</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Explanation: this meant that no physician was trained in any other theory and nobody could check Galen's anatomy, so his mistakes, such as the liver pumping blood, survived.</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so the Four Humours were still the accepted explanation in 1500, exactly as they had been in 1250.</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the Church blocked change. Evidence: universities, hand-copied books, dissection discouraged, 1491 dissection confirming Galen. Explanation: no alternative taught, no checking possible, mistakes survived. Link: same ideas in 1500 as in 1250.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Factors that held medicine back</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factor to the way it held back change in medieval medicine.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(1 of 2): Factors that held medicine back</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factor to the way it held back change in medieval medicine.</a:t>
            </a:r>
            <a:endParaRPr lang="en-US" sz="2000" dirty="0"/>
          </a:p>
        </p:txBody>
      </p:sp>
      <p:sp>
        <p:nvSpPr>
          <p:cNvPr id="11" name="match-card"/>
          <p:cNvSpPr/>
          <p:nvPr/>
        </p:nvSpPr>
        <p:spPr>
          <a:xfrm>
            <a:off x="777240" y="2468331"/>
            <a:ext cx="3081437" cy="1103559"/>
          </a:xfrm>
          <a:prstGeom prst="roundRect">
            <a:avLst>
              <a:gd name="adj" fmla="val 6629"/>
            </a:avLst>
          </a:prstGeom>
          <a:solidFill>
            <a:srgbClr val="F4F1ED"/>
          </a:solidFill>
          <a:ln/>
        </p:spPr>
      </p:sp>
      <p:sp>
        <p:nvSpPr>
          <p:cNvPr id="12" name="match-hex"/>
          <p:cNvSpPr/>
          <p:nvPr/>
        </p:nvSpPr>
        <p:spPr>
          <a:xfrm>
            <a:off x="850392" y="2853818"/>
            <a:ext cx="384048" cy="332586"/>
          </a:xfrm>
          <a:prstGeom prst="hexagon">
            <a:avLst/>
          </a:prstGeom>
          <a:solidFill>
            <a:srgbClr val="7A4A1E"/>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Church</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Fear of hell and respect for tradition made people unwilling to question what had always been done</a:t>
            </a:r>
            <a:endParaRPr lang="en-US" sz="2200" dirty="0"/>
          </a:p>
        </p:txBody>
      </p:sp>
      <p:sp>
        <p:nvSpPr>
          <p:cNvPr id="19" name="match-card"/>
          <p:cNvSpPr/>
          <p:nvPr/>
        </p:nvSpPr>
        <p:spPr>
          <a:xfrm>
            <a:off x="777240" y="3663330"/>
            <a:ext cx="3081437" cy="1103559"/>
          </a:xfrm>
          <a:prstGeom prst="roundRect">
            <a:avLst>
              <a:gd name="adj" fmla="val 6629"/>
            </a:avLst>
          </a:prstGeom>
          <a:solidFill>
            <a:srgbClr val="F4F1ED"/>
          </a:solidFill>
          <a:ln/>
        </p:spPr>
      </p:sp>
      <p:sp>
        <p:nvSpPr>
          <p:cNvPr id="20" name="match-hex"/>
          <p:cNvSpPr/>
          <p:nvPr/>
        </p:nvSpPr>
        <p:spPr>
          <a:xfrm>
            <a:off x="850392" y="4048817"/>
            <a:ext cx="384048" cy="332586"/>
          </a:xfrm>
          <a:prstGeom prst="hexagon">
            <a:avLst/>
          </a:prstGeom>
          <a:solidFill>
            <a:srgbClr val="7A4A1E"/>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Science and technology</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Without microscopes or printing, new discoveries were fitted into old theories instead of tested</a:t>
            </a:r>
            <a:endParaRPr lang="en-US" sz="2200" dirty="0"/>
          </a:p>
        </p:txBody>
      </p:sp>
      <p:sp>
        <p:nvSpPr>
          <p:cNvPr id="27" name="match-card"/>
          <p:cNvSpPr/>
          <p:nvPr/>
        </p:nvSpPr>
        <p:spPr>
          <a:xfrm>
            <a:off x="777240" y="4858329"/>
            <a:ext cx="3081437" cy="1103559"/>
          </a:xfrm>
          <a:prstGeom prst="roundRect">
            <a:avLst>
              <a:gd name="adj" fmla="val 6629"/>
            </a:avLst>
          </a:prstGeom>
          <a:solidFill>
            <a:srgbClr val="F4F1ED"/>
          </a:solidFill>
          <a:ln/>
        </p:spPr>
      </p:sp>
      <p:sp>
        <p:nvSpPr>
          <p:cNvPr id="28" name="match-hex"/>
          <p:cNvSpPr/>
          <p:nvPr/>
        </p:nvSpPr>
        <p:spPr>
          <a:xfrm>
            <a:off x="850392" y="5243816"/>
            <a:ext cx="384048" cy="332586"/>
          </a:xfrm>
          <a:prstGeom prst="hexagon">
            <a:avLst/>
          </a:prstGeom>
          <a:solidFill>
            <a:srgbClr val="7A4A1E"/>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Attitudes in society</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Controlled medical learning and discouraged anyone from criticising the Four Humours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(2 of 2): Factors that held medicine back</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factor to the way it held back change in medieval medicine.</a:t>
            </a:r>
            <a:endParaRPr lang="en-US" sz="2000" dirty="0"/>
          </a:p>
        </p:txBody>
      </p:sp>
      <p:sp>
        <p:nvSpPr>
          <p:cNvPr id="11" name="match-card"/>
          <p:cNvSpPr/>
          <p:nvPr/>
        </p:nvSpPr>
        <p:spPr>
          <a:xfrm>
            <a:off x="777240" y="2468331"/>
            <a:ext cx="3081437" cy="1165352"/>
          </a:xfrm>
          <a:prstGeom prst="roundRect">
            <a:avLst>
              <a:gd name="adj" fmla="val 6277"/>
            </a:avLst>
          </a:prstGeom>
          <a:solidFill>
            <a:srgbClr val="F4F1ED"/>
          </a:solidFill>
          <a:ln/>
        </p:spPr>
      </p:sp>
      <p:sp>
        <p:nvSpPr>
          <p:cNvPr id="12" name="match-hex"/>
          <p:cNvSpPr/>
          <p:nvPr/>
        </p:nvSpPr>
        <p:spPr>
          <a:xfrm>
            <a:off x="850392" y="2884715"/>
            <a:ext cx="384048" cy="332586"/>
          </a:xfrm>
          <a:prstGeom prst="hexagon">
            <a:avLst/>
          </a:prstGeom>
          <a:solidFill>
            <a:srgbClr val="7A4A1E"/>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Individuals</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Spent no money on medicine, so there was nothing to fund a breakthrough</a:t>
            </a:r>
            <a:endParaRPr lang="en-US" sz="2200" dirty="0"/>
          </a:p>
        </p:txBody>
      </p:sp>
      <p:sp>
        <p:nvSpPr>
          <p:cNvPr id="19" name="match-card"/>
          <p:cNvSpPr/>
          <p:nvPr/>
        </p:nvSpPr>
        <p:spPr>
          <a:xfrm>
            <a:off x="777240" y="3725123"/>
            <a:ext cx="3081437" cy="1165352"/>
          </a:xfrm>
          <a:prstGeom prst="roundRect">
            <a:avLst>
              <a:gd name="adj" fmla="val 6277"/>
            </a:avLst>
          </a:prstGeom>
          <a:solidFill>
            <a:srgbClr val="F4F1ED"/>
          </a:solidFill>
          <a:ln/>
        </p:spPr>
      </p:sp>
      <p:sp>
        <p:nvSpPr>
          <p:cNvPr id="20" name="match-hex"/>
          <p:cNvSpPr/>
          <p:nvPr/>
        </p:nvSpPr>
        <p:spPr>
          <a:xfrm>
            <a:off x="850392" y="4141507"/>
            <a:ext cx="384048" cy="332586"/>
          </a:xfrm>
          <a:prstGeom prst="hexagon">
            <a:avLst/>
          </a:prstGeom>
          <a:solidFill>
            <a:srgbClr val="7A4A1E"/>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Government</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Galen and Hippocrates were so respected that their authority blocked new ideas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Factors that held medicine back</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factor to the way it held back change in medieval medicine.</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clue in each description: who or what is doing the holding back?</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Learning, books and criticism of the humours point to the Church.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Microscopes and printing are technology; money is government.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Named people are Individuals; everyone's fear and habit are Attitudes.</a:t>
            </a:r>
            <a:endParaRPr lang="en-US" sz="1800" dirty="0"/>
          </a:p>
        </p:txBody>
      </p:sp>
      <p:sp>
        <p:nvSpPr>
          <p:cNvPr id="17" name="col-Core"/>
          <p:cNvSpPr/>
          <p:nvPr/>
        </p:nvSpPr>
        <p:spPr>
          <a:xfrm>
            <a:off x="5490762" y="2578608"/>
            <a:ext cx="2938987" cy="3566160"/>
          </a:xfrm>
          <a:prstGeom prst="roundRect">
            <a:avLst>
              <a:gd name="adj" fmla="val 1867"/>
            </a:avLst>
          </a:prstGeom>
          <a:solidFill>
            <a:srgbClr val="E2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factor is about money, one about tools, one about two famous names, one about everyone's fears, and one about who ran the universities.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 five factors from most to least important in explaining continuity, and justify your top choice in two sentences that show how it influenced at least two of the others.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Build a PEEL paragraph</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parts of a 12-mark ‘explain why’ answer in the order you should write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Evidence: a specific example with a name, date or object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Point: there was limited progress because of a named factor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Explanation: what this meant for medicine, using ‘this meant that’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However: a second factor was also influential, starting paragraph two</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Link: back to the question and the period c1250–c1500</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Build a PEEL paragraph</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parts of a 12-mark ‘explain why’ answer in the order you should write them.</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paragraph begins by answering the question: that is the Point.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point needs proof straight after it: Evidence.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say what the evidence meant: Explanation.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Tie it back to the question: Link. Only then move to the second factor with ‘However’.</a:t>
            </a:r>
            <a:endParaRPr lang="en-US" sz="1800" dirty="0"/>
          </a:p>
        </p:txBody>
      </p:sp>
      <p:sp>
        <p:nvSpPr>
          <p:cNvPr id="17" name="col-Core"/>
          <p:cNvSpPr/>
          <p:nvPr/>
        </p:nvSpPr>
        <p:spPr>
          <a:xfrm>
            <a:off x="5490762" y="2593848"/>
            <a:ext cx="2938987" cy="3550920"/>
          </a:xfrm>
          <a:prstGeom prst="roundRect">
            <a:avLst>
              <a:gd name="adj" fmla="val 1867"/>
            </a:avLst>
          </a:prstGeom>
          <a:solidFill>
            <a:srgbClr val="E2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 E, E, L, then However. The explanation always contains ‘this meant that’.</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the first sentence of each of the five parts for the factor ‘attitudes in society’, in no more than 15 words each.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did the Black Death reach England?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Factors that held medicine back</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Church  →  C  Controlled medical learning and discouraged anyone from criticising the Four Humours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Science and technology  →  D  Without microscopes or printing, new discoveries were fitted into old theories instead of tested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Attitudes in society  →  A  Fear of hell and respect for tradition made people unwilling to question what had always been done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Individuals  →  B  Galen and Hippocrates were so respected that their authority blocked new ideas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Government  →  E  Spent no money on medicine, so there was nothing to fund a breakthrough</a:t>
            </a:r>
            <a:endParaRPr lang="en-US" sz="1800" dirty="0"/>
          </a:p>
        </p:txBody>
      </p:sp>
      <p:sp>
        <p:nvSpPr>
          <p:cNvPr id="10" name="why-panel"/>
          <p:cNvSpPr/>
          <p:nvPr/>
        </p:nvSpPr>
        <p:spPr>
          <a:xfrm>
            <a:off x="7955280" y="1389888"/>
            <a:ext cx="3687775" cy="4754880"/>
          </a:xfrm>
          <a:prstGeom prst="roundRect">
            <a:avLst>
              <a:gd name="adj" fmla="val 1240"/>
            </a:avLst>
          </a:prstGeom>
          <a:solidFill>
            <a:srgbClr val="F2EDE9"/>
          </a:solidFill>
          <a:ln/>
        </p:spPr>
      </p:sp>
      <p:sp>
        <p:nvSpPr>
          <p:cNvPr id="11" name="why-hex"/>
          <p:cNvSpPr/>
          <p:nvPr/>
        </p:nvSpPr>
        <p:spPr>
          <a:xfrm>
            <a:off x="8138160" y="1572768"/>
            <a:ext cx="685800" cy="593903"/>
          </a:xfrm>
          <a:prstGeom prst="hexagon">
            <a:avLst/>
          </a:prstGeom>
          <a:solidFill>
            <a:srgbClr val="7A4A1E"/>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Church controlled learning and silenced criticism; weak science and technology meant no new knowledge; attitudes of fear and tradition resisted change; Galen's and Hippocrates' authority blocked rivals; government spent nothing.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Build a PEEL paragraph</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Point: there was limited progress because of a named factor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Evidence: a specific example with a name, date or object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Explanation: what this meant for medicine, using ‘this meant that’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Link: back to the question and the period c1250–c1500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However: a second factor was also influential, starting paragraph two  (D)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Point, Evidence, Explanation, Link, then However for the second factor. The examiner is looking for a developed explanation, which lives in the E-E-L, not in the Point alone.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did the Black Death reach England?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1348</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disease reached Europe in 1347 and England in 1348. The English outbreak is dated 1348–49.</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Medieval Medicine · Chapter 6: The Black Death, and why medicine stood still</dc:title>
  <dc:subject>History · Year 9</dc:subject>
  <dc:creator>Dr Vitor Merissi de Carvalho</dc:creator>
  <cp:lastModifiedBy>Dr Vitor Merissi de Carvalho</cp:lastModifiedBy>
  <cp:revision>1</cp:revision>
  <dcterms:created xsi:type="dcterms:W3CDTF">2026-10-19T06:07:56Z</dcterms:created>
  <dcterms:modified xsi:type="dcterms:W3CDTF">2026-10-19T06:07:56Z</dcterms:modified>
</cp:coreProperties>
</file>