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e3e7b9f-3f2a-cfea-e873-c5d2a6739e3e}">
          <p14:sldIdLst>
            <p14:sldId id="256"/>
          </p14:sldIdLst>
        </p14:section>
        <p14:section name="Gate" id="{487039ad-ea18-dbb1-68d3-354b6a32f82b}">
          <p14:sldIdLst>
            <p14:sldId id="257"/>
            <p14:sldId id="258"/>
          </p14:sldIdLst>
        </p14:section>
        <p14:section name="Pre-teach" id="{3d057ba1-516b-fae0-ba24-c7ea4e0b159c}">
          <p14:sldIdLst>
            <p14:sldId id="259"/>
            <p14:sldId id="260"/>
          </p14:sldIdLst>
        </p14:section>
        <p14:section name="Read-along" id="{5f175d00-3792-a53e-6b8d-c959cdd6a36e}">
          <p14:sldIdLst>
            <p14:sldId id="261"/>
            <p14:sldId id="262"/>
          </p14:sldIdLst>
        </p14:section>
        <p14:section name="Teach" id="{5981ec7f-c897-cc85-20d2-4982028ae82d}">
          <p14:sldIdLst>
            <p14:sldId id="263"/>
            <p14:sldId id="264"/>
            <p14:sldId id="265"/>
            <p14:sldId id="266"/>
            <p14:sldId id="267"/>
          </p14:sldIdLst>
        </p14:section>
        <p14:section name="Routes" id="{469fd77d-0631-174a-b16b-3dc187e54461}">
          <p14:sldIdLst>
            <p14:sldId id="268"/>
            <p14:sldId id="269"/>
            <p14:sldId id="270"/>
            <p14:sldId id="271"/>
          </p14:sldIdLst>
        </p14:section>
        <p14:section name="Close" id="{6924a6cf-f6fa-a753-903d-c71ef4c0f868}">
          <p14:sldIdLst>
            <p14:sldId id="272"/>
          </p14:sldIdLst>
        </p14:section>
        <p14:section name="Answers" id="{d27ff5ff-7866-68ce-982e-268e7e71cf1f}">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The rise of Hitler and the Nazi Party. Germany after defeat in 1918, what the Nazi Party was and believed, and the mixture of Nazi effort and world events that carried Hitler to the Chancellorship.
This deck covers the department's lesson: 2 (The Rise of Hitler and Nazism in Germany: What did the Nazi Party offer, and why did so many Germans vote for it?).
Read the big question aloud: "To what extent were the dictatorships in Hitler's Germany and Stalin's Russia similar?"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did the Treaty of Versailles force Germany to do?  →  B   Accept the blame for the war, reduce its army and pay the Allies for the damage
2. The Nazis' full name was the National ___ German Workers' Party.  →  Socialist
3. In which year did the Wall Street Crash take place? Give the year as four digits.  →  1929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Accept the blame for the war, reduce its army and pay the Allies for the damage. The treaty's three demands in your lesson were blame, a smaller army, and £6.6 billion in payments to the Allies.
2. Socialist. Hitler added the word Socialist to the party's name to attract working people, even though the party sat on the far right.
3. 1929. The American stock market collapsed in 1929, four years before Hitler became Chancellor, and the Great Depression followed.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Treaty of Versailles: the peace treaty Germany had to accept after losing the First World War. Example: "The Treaty of Versailles made Germany accept blame for the war and pay for the damage."
• nationalism: the idea that your own nation should be made stronger and more independent. Example: "Nazi nationalism promised to tear up the treaty and make Germany strong again."
• socialism: the idea that a country's land, businesses and wealth should belong to its workers. Example: "Hitler added socialism to the party's name to attract working people."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unemployed: out of work. Example: "By January 1933 more than six million Germans were unemployed."
• Chancellor: the leader of the German government, rather like a Prime Minister. Example: "Hitler was appointed Chancellor, not elected dictator."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Germany lost the First World War in 1918.
2. Many Germans could not accept that they had been defeated.
3. They believed their own politicians had betrayed them.
4. The Treaty of Versailles forced Germany to take the blame.
5. It cut the German army and demanded huge payments.
6. The German Workers' Party was founded in 1919.
7. Hitler became its leader in 1921 and renamed it the Nazi Party.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Nazis promised to make Germany strong again.
9. In 1929 a crash on the American stock market wrecked the German economy.
10. Millions lost their jobs and grew desperate for change.
11. More and more Germans voted for the Nazi Party.
12. In January 1933 Hitler became Chancellor of Germany.
13. He began at once to take German democracy apart.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Germany after the First World War. Say it in your own words, then check understanding with a quick question: ask a pupil from the pre-teach group first, since they met these words and ideas before the lesson. Pupils try to recall before you re-explain.
Germany lost the First World War in 1918, after four years of fighting against the Allies: Britain, France and America. The German people had not expected to lose. Many of them could not accept that they had lost at all, and believed instead that their politicians and leaders had given up and betrayed them.
Defeat caused enormous problems. The German economy was wrecked, and the Allies made Germany pay them back for the damage the war had caused. The Treaty of Versailles forced Germany to accept the blame for the war, to reduce the size of its army, and to pay the Allies £6.6 billion.
Hold on to the feeling as well as the facts. A country that believes it has been humiliated, and that its own leaders are to blame, is a country where a party promising national revival will get a hearing. That is the ground the Nazi Party grew in.
Tip: When you explain why the Nazis rose, start with 1918 and the treaty. Almost every later reason connects back to the anger it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Hitler and the Nazi Party. Say it in your own words, then check understanding with a quick question: ask a pupil from the pre-teach group first, since they met these words and ideas before the lesson. Pupils try to recall before you re-explain.
Adolf Hitler was born in Austria in 1889. He was unhappy at school, left with no qualifications, failed to win a place at art school and struggled to make a living in Vienna. He joined the German army in 1914, fought in the First World War and won a medal for bravery. After the war the army sent him to spy on a meeting of the German Workers' Party; he found he agreed with many of its ideas and joined it instead.
The German Workers' Party was founded in 1919. Hitler became its leader in 1921 and quickly renamed it the National Socialist German Workers' Party, or Nazi Party for short. He was energetic and a powerful public speaker, with a sense of timing that held his audiences; he was also single-minded, suspicious of everyone, devious and ruthless. By the end of 1922 the party had 20,000 members.
In 1923 the Nazis tried to seize power by force in the Munich Putsch. The attempt failed and Hitler was sent to prison, though his sentence was short and he was soon back as leader. The failure taught him something that matters for chapter 3: force had not worked, so the next attempt would go through the ballot box.
Tip: Note the two routes to power in one paragraph: force in 1923, votes afterwards. Examiners reward pupils who notice that Hitler changed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did the Nazis believe?. Say it in your own words, then check understanding with a quick question: ask a pupil from the pre-teach group first, since they met these words and ideas before the lesson. Pupils try to recall before you re-explain.
Your lesson placed the German parties on a political spectrum. On the far left was communism, the belief that everyone should be equal and that everything should be done for the state rather than the individual. In the centre was liberalism, where most German parties sat. On the far right was fascism, the belief that some people and races are more important than others. The Nazi Party belonged on the far right.
To show what the party stood for, the Nazis published the 25-Point Programme. Some points were nationalist: tear up the Treaty of Versailles because it was making Germany weak, build a large and powerful army, win more land for the German population, unite all Germans in one country. Other points were socialist, and were there to win over working people: a job and a decent standard of living for every citizen, land for small farmers, higher pensions, education and health care, and large companies made to share their profits with their workers.
One of the twenty-five points was openly racist. It said that only people with German blood could be German citizens, and that Jewish Germans could not be citizens at all. The party's antisemitism was written into its programme from the beginning, and it is important to say so plainly: this was not something the Nazis added later. You studied where it led in Year 8, when you looked at the Holocaust.
Tip: Nationalist points are about the nation's strength; socialist points are about ordinary people's money and work. Sorting them is a favourite exam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did so many Germans vote for the Nazis?. Say it in your own words, then check understanding with a quick question: ask a pupil from the pre-teach group first, since they met these words and ideas before the lesson. Pupils try to recall before you re-explain.
Your lesson divided the reasons into two kinds, and the division is the key to a good answer. Some reasons were the Nazis' own actions and appeal: Hitler's speaking, the rallies, the promises of the 25-Point Programme, the decision to fight elections rather than use force. Other reasons were outside the Nazis' control altogether.
The biggest of those was the Wall Street Crash of 1929. Germany had borrowed heavily from America during the 1920s to help it recover from the war. When the American stock market collapsed, American banks demanded their loans back, and Germany had to repay. Without American money the German economy ran out of cash and stopped working. This became the Great Depression: millions of German workers lost their jobs and businesses closed. By January 1933, 6.1 million people were out of work.
Desperate people went looking for a party that would change Germany, and the Nazis were waiting with an answer. That is why historians say the crash did not create Nazi support out of nothing; it turned a small party with a loud message into a mass movement.
Worked example — model it step by step, thinking aloud: Explain one reason why the Nazi Party became more popular after 1929. (1) Point: One reason the Nazi Party became more popular after 1929 was the Great Depression. (2) Evidence: the Wall Street Crash of 1929 forced American banks to call in their loans, and by January 1933 6.1 million Germans were out of work. (3) Explain: because people had lost their jobs and their savings, they stopped trusting the parties that had governed through the crisis and listened to a party promising work and national revival. (4) Link: therefore the Depression turned the Nazis from a small party into the largest in the Reichstag, even though it was an event outside Hitler's control. Answer: Point, evidence, explain, link: the Depression; the crash and 6.1 million unemployed; desperate voters abandoned the old parties; so Nazi support grew, for a reason Hitler did not create..
Tip: Use the words inside and outside Hitler's control. A top answer weighs one against the other instead of listing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did so many Germans vote for the Nazis?. Say it in your own words, then check understanding with a quick question: ask a pupil from the pre-teach group first, since they met these words and ideas before the lesson. Pupils try to recall before you re-explain.
Your lesson divided the reasons into two kinds, and the division is the key to a good answer. Some reasons were the Nazis' own actions and appeal: Hitler's speaking, the rallies, the promises of the 25-Point Programme, the decision to fight elections rather than use force. Other reasons were outside the Nazis' control altogether.
The biggest of those was the Wall Street Crash of 1929. Germany had borrowed heavily from America during the 1920s to help it recover from the war. When the American stock market collapsed, American banks demanded their loans back, and Germany had to repay. Without American money the German economy ran out of cash and stopped working. This became the Great Depression: millions of German workers lost their jobs and businesses closed. By January 1933, 6.1 million people were out of work.
Desperate people went looking for a party that would change Germany, and the Nazis were waiting with an answer. That is why historians say the crash did not create Nazi support out of nothing; it turned a small party with a loud message into a mass movement.
Worked example — model it step by step, thinking aloud: Explain one reason why the Nazi Party became more popular after 1929. (1) Point: One reason the Nazi Party became more popular after 1929 was the Great Depression. (2) Evidence: the Wall Street Crash of 1929 forced American banks to call in their loans, and by January 1933 6.1 million Germans were out of work. (3) Explain: because people had lost their jobs and their savings, they stopped trusting the parties that had governed through the crisis and listened to a party promising work and national revival. (4) Link: therefore the Depression turned the Nazis from a small party into the largest in the Reichstag, even though it was an event outside Hitler's control. Answer: Point, evidence, explain, link: the Depression; the crash and 6.1 million unemployed; desperate voters abandoned the old parties; so Nazi support grew, for a reason Hitler did not create..
Tip: Use the words inside and outside Hitler's control. A top answer weighs one against the other instead of listing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Hitler's road to power.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five steps on Hitler's road to power in the order they happened.
Support — work through the steps with the group: (1) Each step carries its year, so start by reading the years only. (2) Put the smallest year first and the largest year last. (3) Check the story makes sense: a party has to exist before anyone can lead it. (4) Check the last step: being appointed Chancellor is the end of this road, not the beginning.
Parallel worked example for Support (model it, do not give the task answer): Put these steps of the Norman Conquest in order: William is crowned king; the Battle of Hastings (1066); the Domesday survey is made (1086). The battle comes first, because it is how William won.; The coronation follows the victory in the same year.; The Domesday survey is twenty years later, in 1086.. Answer: Battle of Hastings (1066); William is crowned king; the Domesday survey (1086)..
Core — reveal the hint only on request: Read the years first, then check the story: party founded, leader takes over, force fails, crisis arrives, power is handed over.
Stretch — no help; when finished: Choose the step you think was most important in bringing Hitler to power, and explain why the road would have stalled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Hitler's road to power.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five steps on Hitler's road to power in the order they happened.
Support — work through the steps with the group: (1) Each step carries its year, so start by reading the years only. (2) Put the smallest year first and the largest year last. (3) Check the story makes sense: a party has to exist before anyone can lead it. (4) Check the last step: being appointed Chancellor is the end of this road, not the beginning.
Parallel worked example for Support (model it, do not give the task answer): Put these steps of the Norman Conquest in order: William is crowned king; the Battle of Hastings (1066); the Domesday survey is made (1086). The battle comes first, because it is how William won.; The coronation follows the victory in the same year.; The Domesday survey is twenty years later, in 1086.. Answer: Battle of Hastings (1066); William is crowned king; the Domesday survey (1086)..
Core — reveal the hint only on request: Read the years first, then check the story: party founded, leader takes over, force fails, crisis arrives, power is handed over.
Stretch — no help; when finished: Choose the step you think was most important in bringing Hitler to power, and explain why the road would have stalled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Inside or outside Hitler's control?.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Historians separate the reasons for Nazi popularity into the party's own actions and events it could not control. Which of these reasons was outside Hitler's own control?
Support — work through the steps with the group: (1) Ask of each option: did the Nazi Party decide to do this? (2) Speeches, programmes and strategies are all party decisions. (3) Look for the one thing that happened to Germany rather than being done by Germans. (4) An American stock market crash is not something a German party can arrange.
Parallel worked example for Support (model it, do not give the task answer): Which of these is outside a school's control: the timetable it sets, or a snowstorm that closes the roads? The timetable is written by the school, so it is inside its control.; A snowstorm happens to the school, whatever it planned.. Answer: The snowstorm is outside the school's control..
Core — reveal the hint only on request: Three options are things the Nazi Party chose to do. One is something that happened to Germany from outside.
Stretch — no help; when finished: Argue for or against this claim: without the Great Depression, the Nazis would never have taken power. Use at least one reason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Inside or outside Hitler's control?.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Historians separate the reasons for Nazi popularity into the party's own actions and events it could not control. Which of these reasons was outside Hitler's own control?
Support — work through the steps with the group: (1) Ask of each option: did the Nazi Party decide to do this? (2) Speeches, programmes and strategies are all party decisions. (3) Look for the one thing that happened to Germany rather than being done by Germans. (4) An American stock market crash is not something a German party can arrange.
Parallel worked example for Support (model it, do not give the task answer): Which of these is outside a school's control: the timetable it sets, or a snowstorm that closes the roads? The timetable is written by the school, so it is inside its control.; A snowstorm happens to the school, whatever it planned.. Answer: The snowstorm is outside the school's control..
Core — reveal the hint only on request: Three options are things the Nazi Party chose to do. One is something that happened to Germany from outside.
Stretch — no help; when finished: Argue for or against this claim: without the Great Depression, the Nazis would never have taken power. Use at least one reason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did the Treaty of Versailles force Germany to do?
Answer: A   Accept the blame for the war, reduce its army and pay the Allies for the damage. The treaty's three demands in your lesson were blame, a smaller army, and £6.6 billion in payments to the Allies.
Source of this question: gate item 1 re-asked (options rotated) — this chapter has no third quick-check module.
The ebook also holds task 3, "Why people voted Nazi",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Hitler's road to power. Reveal the answer; pupils mark their own work in a different colour, then read the "why" together. Same destination for every lane, so one answer serves the whole class.
Answer: The German Workers' Party is founded (1919)  (D); Hitler becomes leader and renames it the Nazi Party (1921)  (E); The Munich Putsch fails and Hitler is imprisoned (1923)  (A); The Wall Street Crash begins the Great Depression (1929)  (C); Hitler becomes Chancellor of Germany (1933)  (B)
Why: The party was founded in 1919; Hitler took it over in 1921; force failed in 1923; the Wall Street Crash of 1929 created the crisis that won the Nazis votes; and in January 1933 Hitler was appointed Chancellor.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Inside or outside Hitler's control?. Reveal the answer; pupils mark their own work in a different colour, then read the "why" together. Same destination for every lane, so one answer serves the whole class.
Answer: D   The Wall Street Crash of 1929 and the Great Depression that followed
Why: Speeches, programmes and strategy were the Nazis' own work. The Wall Street Crash of 1929 came from the American stock market, and the Depression followed from it. The Nazis did not cause the crisis; they made themselves the answer to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Accept the blame for the war, reduce its army and pay the Allies for the damage
Why: The treaty's three demands in your lesson were blame, a smaller army, and £6.6 billion in payments to the Allies.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Dictatorship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Dictatorship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Dictatorship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rise of Hitler and the Nazi Party</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2ED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Rise of Hitler and Nazism in Germany</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To what extent were the dictatorships in Hitler's Germany and Stalin's Russia similar?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did the Treaty of Versailles force Germany to do?</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Join with Austria to form one larger German nation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Accept the blame for the war, reduce its army and pay the Allies for the damage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Hand its government over to the Allies and hold no further elections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Give up the German language in its schools and courts</a:t>
            </a:r>
            <a:endParaRPr lang="en-US" sz="1800" dirty="0"/>
          </a:p>
        </p:txBody>
      </p:sp>
      <p:sp>
        <p:nvSpPr>
          <p:cNvPr id="12" name="card"/>
          <p:cNvSpPr/>
          <p:nvPr/>
        </p:nvSpPr>
        <p:spPr>
          <a:xfrm>
            <a:off x="6095848" y="1389888"/>
            <a:ext cx="2636444" cy="4754880"/>
          </a:xfrm>
          <a:prstGeom prst="roundRect">
            <a:avLst>
              <a:gd name="adj" fmla="val 2081"/>
            </a:avLst>
          </a:prstGeom>
          <a:solidFill>
            <a:srgbClr val="F6F2EF"/>
          </a:solidFill>
          <a:ln w="12700">
            <a:solidFill>
              <a:srgbClr val="D0C0B0"/>
            </a:solidFill>
            <a:prstDash val="solid"/>
          </a:ln>
        </p:spPr>
      </p:sp>
      <p:sp>
        <p:nvSpPr>
          <p:cNvPr id="13" name="card-hex"/>
          <p:cNvSpPr/>
          <p:nvPr/>
        </p:nvSpPr>
        <p:spPr>
          <a:xfrm>
            <a:off x="6278728" y="1572768"/>
            <a:ext cx="640080" cy="554309"/>
          </a:xfrm>
          <a:prstGeom prst="hexagon">
            <a:avLst/>
          </a:prstGeom>
          <a:solidFill>
            <a:srgbClr val="7A4A1E"/>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Nazis' full name was the National ___ German Workers' Party.</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Socialist  ·  Nationalist  ·  Communist</a:t>
            </a:r>
            <a:endParaRPr lang="en-US" sz="2200" dirty="0"/>
          </a:p>
        </p:txBody>
      </p:sp>
      <p:sp>
        <p:nvSpPr>
          <p:cNvPr id="17" name="card"/>
          <p:cNvSpPr/>
          <p:nvPr/>
        </p:nvSpPr>
        <p:spPr>
          <a:xfrm>
            <a:off x="9006611" y="1389888"/>
            <a:ext cx="2636444" cy="4754880"/>
          </a:xfrm>
          <a:prstGeom prst="roundRect">
            <a:avLst>
              <a:gd name="adj" fmla="val 2081"/>
            </a:avLst>
          </a:prstGeom>
          <a:solidFill>
            <a:srgbClr val="F6F2EF"/>
          </a:solidFill>
          <a:ln w="12700">
            <a:solidFill>
              <a:srgbClr val="D0C0B0"/>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the Wall Street Crash take place? Give the year as four digits.</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Accept the blame for the war, reduce its army and pay the Allies for the damage</a:t>
            </a:r>
            <a:endParaRPr lang="en-US" sz="2200" dirty="0"/>
          </a:p>
        </p:txBody>
      </p:sp>
      <p:sp>
        <p:nvSpPr>
          <p:cNvPr id="13" name="card-body"/>
          <p:cNvSpPr txBox="1"/>
          <p:nvPr/>
        </p:nvSpPr>
        <p:spPr>
          <a:xfrm>
            <a:off x="731520"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did the Treaty of Versailles force Germany to do?</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treaty's three demands in your lesson were blame, a smaller army, and £6.6 billion in payments to the Allies.</a:t>
            </a:r>
            <a:endParaRPr lang="en-US" sz="2200" dirty="0"/>
          </a:p>
        </p:txBody>
      </p:sp>
      <p:sp>
        <p:nvSpPr>
          <p:cNvPr id="14" name="card"/>
          <p:cNvSpPr/>
          <p:nvPr/>
        </p:nvSpPr>
        <p:spPr>
          <a:xfrm>
            <a:off x="6095848" y="1389888"/>
            <a:ext cx="2636444" cy="4754880"/>
          </a:xfrm>
          <a:prstGeom prst="roundRect">
            <a:avLst>
              <a:gd name="adj" fmla="val 2081"/>
            </a:avLst>
          </a:prstGeom>
          <a:solidFill>
            <a:srgbClr val="F6F2EF"/>
          </a:solidFill>
          <a:ln w="12700">
            <a:solidFill>
              <a:srgbClr val="D0C0B0"/>
            </a:solidFill>
            <a:prstDash val="solid"/>
          </a:ln>
        </p:spPr>
      </p:sp>
      <p:sp>
        <p:nvSpPr>
          <p:cNvPr id="15" name="card-hex"/>
          <p:cNvSpPr/>
          <p:nvPr/>
        </p:nvSpPr>
        <p:spPr>
          <a:xfrm>
            <a:off x="6278728" y="1572768"/>
            <a:ext cx="640080" cy="554309"/>
          </a:xfrm>
          <a:prstGeom prst="hexagon">
            <a:avLst/>
          </a:prstGeom>
          <a:solidFill>
            <a:srgbClr val="7A4A1E"/>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Socialist</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Hitler added the word Socialist to the party's name to attract working people, even though the party sat on the far right.</a:t>
            </a:r>
            <a:endParaRPr lang="en-US" sz="1800" dirty="0"/>
          </a:p>
        </p:txBody>
      </p:sp>
      <p:sp>
        <p:nvSpPr>
          <p:cNvPr id="21" name="card"/>
          <p:cNvSpPr/>
          <p:nvPr/>
        </p:nvSpPr>
        <p:spPr>
          <a:xfrm>
            <a:off x="9006611" y="1389888"/>
            <a:ext cx="2636444" cy="4754880"/>
          </a:xfrm>
          <a:prstGeom prst="roundRect">
            <a:avLst>
              <a:gd name="adj" fmla="val 2081"/>
            </a:avLst>
          </a:prstGeom>
          <a:solidFill>
            <a:srgbClr val="F6F2EF"/>
          </a:solidFill>
          <a:ln w="12700">
            <a:solidFill>
              <a:srgbClr val="D0C0B0"/>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1929</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American stock market collapsed in 1929, four years before Hitler became Chancellor, and the Great Depression followed.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Treaty of Versailles</a:t>
            </a:r>
            <a:endParaRPr lang="en-US" sz="2600" dirty="0"/>
          </a:p>
        </p:txBody>
      </p:sp>
      <p:sp>
        <p:nvSpPr>
          <p:cNvPr id="11" name="word-rule"/>
          <p:cNvSpPr/>
          <p:nvPr/>
        </p:nvSpPr>
        <p:spPr>
          <a:xfrm>
            <a:off x="731520" y="2558288"/>
            <a:ext cx="3149498" cy="0"/>
          </a:xfrm>
          <a:prstGeom prst="line">
            <a:avLst/>
          </a:prstGeom>
          <a:ln w="12700">
            <a:solidFill>
              <a:srgbClr val="CAB7A5"/>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peace treaty Germany had to accept after losing the First World War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Treaty of Versailles made Germany accept blame for the war and pay for the damage.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nationalism</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idea that your own nation should be made stronger and more independent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Nazi nationalism promised to tear up the treaty and make Germany strong again.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socialism</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idea that a country's land, businesses and wealth should belong to its workers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Hitler added socialism to the party's name to attract working people.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unemployed</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out of work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By January 1933 more than six million Germans were unemployed.</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Chancellor</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leader of the German government, rather like a Prime Minister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Hitler was appointed Chancellor, not elected dictator.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Germany lost the First World War in 1918.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Germans could not accept that they had been defeated.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believed their own politicians had betrayed them.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Treaty of Versailles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forced Germany to take the blame.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cut the German army and demanded huge payments.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German Workers' Party was founded in 1919.</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Hitler became its leader in 1921 and renamed it the Nazi Party.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Nazis promised to make Germany strong again.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1929 a crash on the American stock market wrecked the German economy.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Millions lost their jobs and grew desperate for change.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More and more Germans voted for the Nazi Party.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January 1933 Hitler became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Chancellor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Germany.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began at once to take German democracy apart.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Germany after the First World War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explain why the Nazis rose, start with 1918 and the treaty. Almost every later reason connects back to the anger it created.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Germany lost the First World War in 1918, after four years of fighting against the Allies: Britain, France and America.</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Defeat caused enormous problems. The German economy was wrecked, and the Allies made Germany pay them back for the damage the war had caused.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Hold on to the feeling as well as the facts.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Hitler and the Nazi Party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Note the two routes to power in one paragraph: force in 1923, votes afterwards. Examiners reward pupils who notice that Hitler changed method.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Adolf Hitler was born in Austria in 1889. He was unhappy at school, left with no qualifications, failed to win a place at art school and struggled to make a living in Vienna.</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German Workers' Party was founded in 1919. Hitler became its leader in 1921 and quickly renamed it the National Socialist German Workers' Party, or Nazi Party for short.</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1923 the Nazis tried to seize power by force in the Munich Putsch.</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did the Nazis believe?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Nationalist points are about the nation's strength; socialist points are about ordinary people's money and work. Sorting them is a favourite exam task.</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lesson placed the German parties on a political spectrum.</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To show what the party stood for, the Nazis published the 25-Point Programme.</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One of the twenty-five points was openly racist. It said that only people with German blood could be German citizens, and that Jewish Germans could not be citizens at all.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did so many Germans vote for the Nazis?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Use the words inside and outside Hitler's control. A top answer weighs one against the other instead of listing both.</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divided the reasons into two kinds, and the division is the key to a good answer.</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biggest of those was the Wall Street Crash of 1929.</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Desperate people went looking for a party that would change Germany, and the Nazis were waiting with an answer.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Why did so many Germans vote for the Nazis?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EDE9"/>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one reason why the Nazi Party became more popular after 1929.</a:t>
            </a:r>
            <a:endParaRPr lang="en-US" sz="2000" dirty="0"/>
          </a:p>
        </p:txBody>
      </p:sp>
      <p:sp>
        <p:nvSpPr>
          <p:cNvPr id="9" name="step-box"/>
          <p:cNvSpPr/>
          <p:nvPr/>
        </p:nvSpPr>
        <p:spPr>
          <a:xfrm>
            <a:off x="548640" y="2192528"/>
            <a:ext cx="11094415" cy="469392"/>
          </a:xfrm>
          <a:prstGeom prst="roundRect">
            <a:avLst>
              <a:gd name="adj" fmla="val 15584"/>
            </a:avLst>
          </a:prstGeom>
          <a:solidFill>
            <a:srgbClr val="FFFFFF"/>
          </a:solidFill>
          <a:ln w="15875">
            <a:solidFill>
              <a:srgbClr val="B69B83"/>
            </a:solidFill>
            <a:prstDash val="solid"/>
          </a:ln>
        </p:spPr>
      </p:sp>
      <p:sp>
        <p:nvSpPr>
          <p:cNvPr id="10" name="step-hex"/>
          <p:cNvSpPr/>
          <p:nvPr/>
        </p:nvSpPr>
        <p:spPr>
          <a:xfrm>
            <a:off x="685800" y="2229256"/>
            <a:ext cx="457200" cy="395935"/>
          </a:xfrm>
          <a:prstGeom prst="hexagon">
            <a:avLst/>
          </a:prstGeom>
          <a:solidFill>
            <a:srgbClr val="7A4A1E"/>
          </a:solidFill>
          <a:ln/>
        </p:spPr>
      </p:sp>
      <p:sp>
        <p:nvSpPr>
          <p:cNvPr id="11" name="step-hex-label"/>
          <p:cNvSpPr txBox="1"/>
          <p:nvPr/>
        </p:nvSpPr>
        <p:spPr>
          <a:xfrm>
            <a:off x="685800" y="222925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46939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Point: One reason the Nazi Party became more popular after 1929 was the Great Depression.</a:t>
            </a:r>
            <a:endParaRPr lang="en-US" sz="1800" dirty="0"/>
          </a:p>
        </p:txBody>
      </p:sp>
      <p:sp>
        <p:nvSpPr>
          <p:cNvPr id="13" name="step-box"/>
          <p:cNvSpPr/>
          <p:nvPr/>
        </p:nvSpPr>
        <p:spPr>
          <a:xfrm>
            <a:off x="548640" y="2735072"/>
            <a:ext cx="11094415" cy="733552"/>
          </a:xfrm>
          <a:prstGeom prst="roundRect">
            <a:avLst>
              <a:gd name="adj" fmla="val 9972"/>
            </a:avLst>
          </a:prstGeom>
          <a:solidFill>
            <a:srgbClr val="FFFFFF"/>
          </a:solidFill>
          <a:ln w="15875">
            <a:solidFill>
              <a:srgbClr val="B69B83"/>
            </a:solidFill>
            <a:prstDash val="solid"/>
          </a:ln>
        </p:spPr>
      </p:sp>
      <p:sp>
        <p:nvSpPr>
          <p:cNvPr id="14" name="step-hex"/>
          <p:cNvSpPr/>
          <p:nvPr/>
        </p:nvSpPr>
        <p:spPr>
          <a:xfrm>
            <a:off x="685800" y="2903880"/>
            <a:ext cx="457200" cy="395935"/>
          </a:xfrm>
          <a:prstGeom prst="hexagon">
            <a:avLst/>
          </a:prstGeom>
          <a:solidFill>
            <a:srgbClr val="7A4A1E"/>
          </a:solidFill>
          <a:ln/>
        </p:spPr>
      </p:sp>
      <p:sp>
        <p:nvSpPr>
          <p:cNvPr id="15" name="step-hex-label"/>
          <p:cNvSpPr txBox="1"/>
          <p:nvPr/>
        </p:nvSpPr>
        <p:spPr>
          <a:xfrm>
            <a:off x="685800" y="2903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35072"/>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Evidence: the Wall Street Crash of 1929 forced American banks to call in their loans, and by January 1933 6.1 million Germans were out of work.</a:t>
            </a:r>
            <a:endParaRPr lang="en-US" sz="1800" dirty="0"/>
          </a:p>
        </p:txBody>
      </p:sp>
      <p:sp>
        <p:nvSpPr>
          <p:cNvPr id="17" name="step-box"/>
          <p:cNvSpPr/>
          <p:nvPr/>
        </p:nvSpPr>
        <p:spPr>
          <a:xfrm>
            <a:off x="548640" y="3541776"/>
            <a:ext cx="11094415" cy="733552"/>
          </a:xfrm>
          <a:prstGeom prst="roundRect">
            <a:avLst>
              <a:gd name="adj" fmla="val 9972"/>
            </a:avLst>
          </a:prstGeom>
          <a:solidFill>
            <a:srgbClr val="FFFFFF"/>
          </a:solidFill>
          <a:ln w="15875">
            <a:solidFill>
              <a:srgbClr val="B69B83"/>
            </a:solidFill>
            <a:prstDash val="solid"/>
          </a:ln>
        </p:spPr>
      </p:sp>
      <p:sp>
        <p:nvSpPr>
          <p:cNvPr id="18" name="step-hex"/>
          <p:cNvSpPr/>
          <p:nvPr/>
        </p:nvSpPr>
        <p:spPr>
          <a:xfrm>
            <a:off x="685800" y="3710584"/>
            <a:ext cx="457200" cy="395935"/>
          </a:xfrm>
          <a:prstGeom prst="hexagon">
            <a:avLst/>
          </a:prstGeom>
          <a:solidFill>
            <a:srgbClr val="7A4A1E"/>
          </a:solidFill>
          <a:ln/>
        </p:spPr>
      </p:sp>
      <p:sp>
        <p:nvSpPr>
          <p:cNvPr id="19" name="step-hex-label"/>
          <p:cNvSpPr txBox="1"/>
          <p:nvPr/>
        </p:nvSpPr>
        <p:spPr>
          <a:xfrm>
            <a:off x="685800" y="37105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41776"/>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because people had lost their jobs and their savings, they stopped trusting the parties that had governed through the crisis and listened to a party promising work and national revival.</a:t>
            </a:r>
            <a:endParaRPr lang="en-US" sz="1800" dirty="0"/>
          </a:p>
        </p:txBody>
      </p:sp>
      <p:sp>
        <p:nvSpPr>
          <p:cNvPr id="21" name="step-box"/>
          <p:cNvSpPr/>
          <p:nvPr/>
        </p:nvSpPr>
        <p:spPr>
          <a:xfrm>
            <a:off x="548640" y="4348480"/>
            <a:ext cx="11094415" cy="733552"/>
          </a:xfrm>
          <a:prstGeom prst="roundRect">
            <a:avLst>
              <a:gd name="adj" fmla="val 9972"/>
            </a:avLst>
          </a:prstGeom>
          <a:solidFill>
            <a:srgbClr val="FFFFFF"/>
          </a:solidFill>
          <a:ln w="15875">
            <a:solidFill>
              <a:srgbClr val="B69B83"/>
            </a:solidFill>
            <a:prstDash val="solid"/>
          </a:ln>
        </p:spPr>
      </p:sp>
      <p:sp>
        <p:nvSpPr>
          <p:cNvPr id="22" name="step-hex"/>
          <p:cNvSpPr/>
          <p:nvPr/>
        </p:nvSpPr>
        <p:spPr>
          <a:xfrm>
            <a:off x="685800" y="4517288"/>
            <a:ext cx="457200" cy="395935"/>
          </a:xfrm>
          <a:prstGeom prst="hexagon">
            <a:avLst/>
          </a:prstGeom>
          <a:solidFill>
            <a:srgbClr val="7A4A1E"/>
          </a:solidFill>
          <a:ln/>
        </p:spPr>
      </p:sp>
      <p:sp>
        <p:nvSpPr>
          <p:cNvPr id="23" name="step-hex-label"/>
          <p:cNvSpPr txBox="1"/>
          <p:nvPr/>
        </p:nvSpPr>
        <p:spPr>
          <a:xfrm>
            <a:off x="685800" y="45172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48480"/>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Link: therefore the Depression turned the Nazis from a small party into the largest in the Reichstag, even though it was an event outside Hitler's control.</a:t>
            </a:r>
            <a:endParaRPr lang="en-US" sz="1800" dirty="0"/>
          </a:p>
        </p:txBody>
      </p:sp>
      <p:sp>
        <p:nvSpPr>
          <p:cNvPr id="25" name="worked-answer"/>
          <p:cNvSpPr/>
          <p:nvPr/>
        </p:nvSpPr>
        <p:spPr>
          <a:xfrm>
            <a:off x="548640" y="5264912"/>
            <a:ext cx="11094415" cy="831088"/>
          </a:xfrm>
          <a:prstGeom prst="roundRect">
            <a:avLst>
              <a:gd name="adj" fmla="val 16504"/>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Point, evidence, explain, link: the Depression; the crash and 6.1 million unemployed; desperate voters abandoned the old parties; so Nazi support grew, for a reason Hitler did not create.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Hitler's road to power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five steps on Hitler's road to power in the order they happened.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Munich Putsch fails and Hitler is imprisoned (1923)</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Hitler becomes Chancellor of Germany (1933)</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Wall Street Crash begins the Great Depression (1929)</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German Workers' Party is founded (1919)</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Hitler becomes leader and renames it the Nazi Party (1921)</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Hitler's road to power</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Hitler's road to power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step carries its year, so start by reading the years only.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Put the smallest year first and the largest year last.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story makes sense: a party has to exist before anyone can lead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last step: being appointed Chancellor is the end of this road, not the beginning.</a:t>
            </a:r>
            <a:endParaRPr lang="en-US" sz="1800" dirty="0"/>
          </a:p>
        </p:txBody>
      </p:sp>
      <p:sp>
        <p:nvSpPr>
          <p:cNvPr id="17" name="col-Core"/>
          <p:cNvSpPr/>
          <p:nvPr/>
        </p:nvSpPr>
        <p:spPr>
          <a:xfrm>
            <a:off x="5490762" y="2395728"/>
            <a:ext cx="2938987" cy="3749040"/>
          </a:xfrm>
          <a:prstGeom prst="roundRect">
            <a:avLst>
              <a:gd name="adj" fmla="val 1867"/>
            </a:avLst>
          </a:prstGeom>
          <a:solidFill>
            <a:srgbClr val="E2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Read the years first, then check the story: party founded, leader takes over, force fails, crisis arrives, power is handed over.</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the step you think was most important in bringing Hitler to power, and explain why the road would have stalled without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Inside or outside Hitler's control?</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Historians separate the reasons for Nazi popularity into the party's own actions and events it could not control. Which of these reasons was outside Hitler's own control?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promises the Nazis made in their 25-Point Programme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decision to fight elections instead of trying to seize power by force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Hitler's skill as a public speaker at Nazi rallies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Wall Street Crash of 1929 and the Great Depression that followed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Inside or outside Hitler's control?</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Inside or outside Hitler's control?</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of each option: did the Nazi Party decide to do this?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Speeches, programmes and strategies are all party decisions.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the one thing that happened to Germany rather than being done by Germans.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American stock market crash is not something a German party can arrange.</a:t>
            </a:r>
            <a:endParaRPr lang="en-US" sz="1800" dirty="0"/>
          </a:p>
        </p:txBody>
      </p:sp>
      <p:sp>
        <p:nvSpPr>
          <p:cNvPr id="17" name="col-Core"/>
          <p:cNvSpPr/>
          <p:nvPr/>
        </p:nvSpPr>
        <p:spPr>
          <a:xfrm>
            <a:off x="5490762" y="2395728"/>
            <a:ext cx="2938987" cy="3749040"/>
          </a:xfrm>
          <a:prstGeom prst="roundRect">
            <a:avLst>
              <a:gd name="adj" fmla="val 1867"/>
            </a:avLst>
          </a:prstGeom>
          <a:solidFill>
            <a:srgbClr val="E2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options are things the Nazi Party chose to do. One is something that happened to Germany from outside.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Argue for or against this claim: without the Great Depression, the Nazis would never have taken power. Use at least one reason from each column.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2506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did the Treaty of Versailles force Germany to do?</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Accept the blame for the war, reduce its army and pay the Allies for the damage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Hand its government over to the Allies and hold no further elections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Give up the German language in its schools and courts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Join with Austria to form one larger German nation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Hitler's road to power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German Workers' Party is founded (1919)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Hitler becomes leader and renames it the Nazi Party (1921)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Munich Putsch fails and Hitler is imprisoned (1923)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Wall Street Crash begins the Great Depression (1929)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Hitler becomes Chancellor of Germany (1933)  (B)</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party was founded in 1919; Hitler took it over in 1921; force failed in 1923; the Wall Street Crash of 1929 created the crisis that won the Nazis votes; and in January 1933 Hitler was appointed Chancellor.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Inside or outside Hitler's control?</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Historians separate the reasons for Nazi popularity into the party's own actions and events it could not control. Which of these reasons was outside Hitler's own control?</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The Wall Street Crash of 1929 and the Great Depression that followed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Speeches, programmes and strategy were the Nazis' own work. The Wall Street Crash of 1929 came from the American stock market, and the Depression followed from it. The Nazis did not cause the crisis; they made themselves the answer to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did the Treaty of Versailles force Germany to do?</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Accept the blame for the war, reduce its army and pay the Allies for the damage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treaty's three demands in your lesson were blame, a smaller army, and £6.6 billion in payments to the Allies.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Dictatorship · Chapter 2: The rise of Hitler and the Nazi Party</dc:title>
  <dc:subject>History · Year 9</dc:subject>
  <dc:creator>Dr Vitor Merissi de Carvalho</dc:creator>
  <cp:lastModifiedBy>Dr Vitor Merissi de Carvalho</cp:lastModifiedBy>
  <cp:revision>1</cp:revision>
  <dcterms:created xsi:type="dcterms:W3CDTF">2026-10-19T06:07:52Z</dcterms:created>
  <dcterms:modified xsi:type="dcterms:W3CDTF">2026-10-19T06:07:52Z</dcterms:modified>
</cp:coreProperties>
</file>