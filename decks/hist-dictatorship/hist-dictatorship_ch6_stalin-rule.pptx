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116e32-820f-e389-edf1-ae01b3ae01c0}">
          <p14:sldIdLst>
            <p14:sldId id="256"/>
          </p14:sldIdLst>
        </p14:section>
        <p14:section name="Gate" id="{2f72800b-6196-a136-a600-5526a4799e2e}">
          <p14:sldIdLst>
            <p14:sldId id="257"/>
            <p14:sldId id="258"/>
          </p14:sldIdLst>
        </p14:section>
        <p14:section name="Pre-teach" id="{1b96e5b6-1ec1-79c2-6114-7817611237bd}">
          <p14:sldIdLst>
            <p14:sldId id="259"/>
            <p14:sldId id="260"/>
          </p14:sldIdLst>
        </p14:section>
        <p14:section name="Read-along" id="{92475dd7-ba2a-1cb8-99f6-fb0089858357}">
          <p14:sldIdLst>
            <p14:sldId id="261"/>
            <p14:sldId id="262"/>
          </p14:sldIdLst>
        </p14:section>
        <p14:section name="Teach" id="{75e107d9-ebca-22ba-2df7-418d55e915a5}">
          <p14:sldIdLst>
            <p14:sldId id="263"/>
            <p14:sldId id="264"/>
            <p14:sldId id="265"/>
            <p14:sldId id="266"/>
            <p14:sldId id="267"/>
            <p14:sldId id="268"/>
          </p14:sldIdLst>
        </p14:section>
        <p14:section name="Routes" id="{eb9fa27b-412c-ff3a-152c-394b08f31e1e}">
          <p14:sldIdLst>
            <p14:sldId id="269"/>
            <p14:sldId id="270"/>
            <p14:sldId id="271"/>
            <p14:sldId id="272"/>
          </p14:sldIdLst>
        </p14:section>
        <p14:section name="Close" id="{ffe0a3eb-c48d-0525-3b6b-c5515ea03eb2}">
          <p14:sldIdLst>
            <p14:sldId id="273"/>
          </p14:sldIdLst>
        </p14:section>
        <p14:section name="Answers" id="{2b409061-2278-97e9-5faa-487a71fb2ec4}">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How Stalin ruled, and how the two dictatorships compare. The NKVD, the Purges, the cult of personality, the control of culture, schools and religion, the Five-Year Plans, and how to build a comparison between Hitler's Germany and Stalin's USSR.
This deck covers the department's lessons: 5 (How did Stalin rule the USSR?: What were the key features of Stalin's rule, and how did they keep him in power?); 6 (Dictators Review &amp; Assessment: To what extent were the dictatorships in Hitler's Germany and Stalin's Russia similar?).
Read the big question aloud: "To what extent were the dictatorships in Hitler's Germany and Stalin's Russia similar?"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NKVD?  →  B   Stalin's secret police, who could arrest people on an informer's word alone
2. A ___ is something that is the same, or very alike, when we compare two people, events or periods.  →  similarity
3. In which year did the Purges reach their height, in what is called the Great Purge? Give the year as four digits.  →  1937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Stalin's secret police, who could arrest people on an informer's word alone. The NKVD was the secret police. It needed no hard evidence, and by 1934 it was no longer restricted by law.
2. similarity. Your progress check gives the definition exactly: a similarity is something that is the same or very alike across two things being compared.
3. 1937. The Purges mostly ran between 1936 and 1938, and 1937 is the year your lesson names as their height.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NKVD: Stalin's secret police, who could arrest people without evidence. Example: "An anonymous tip-off was enough for the NKVD to make an arrest."
• the Purges: the period when Stalin removed everyone he thought might threaten him. Example: "The Purges reached from the party leadership down to ordinary people."
• show trial: a public trial whose verdict has already been decided. Example: "At a show trial the accused confessed to crimes they could not have committed."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cult of personality: the building up of one leader through images, statues and praise. Example: "Stalin's cult of personality made criticism of him unthinkable."
• Five-Year Plan: a government plan to modernise the economy over five years. Example: "The first Five-Year Plan turned villages into industrial cities."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Stalin ruled the USSR ruthlessly to keep his own power.
2. His secret police were called the NKVD.
3. They could arrest anybody on an informer's word alone.
4. The Purges removed everyone Stalin thought might threaten him.
5. Many were tried in public and forced to confess.
6. Statues, songs and paintings praised Stalin everywhere.
7. This is called a cult of personality.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Writers, artists and teachers had to follow the party line.
9. Churches were closed, and so were mosques and religious schools.
10. Stalin's Five-Year Plans set out to modernise the economy.
11. Industry grew quickly, but the people suffered for it.
12. In this chapter you also compare the two dictatorships.
13. Look for similarities and differences, with evidence from both.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NKVD and the Purges. Say it in your own words, then check understanding with a quick question: ask a pupil from the pre-teach group first, since they met these words and ideas before the lesson. Pupils try to recall before you re-explain.
The USSR's first secret police force, the Cheka, was set up in December 1917, and to begin with it was only allowed to investigate crimes against the government's political power. It soon acquired huge powers and began a campaign of terror against anyone who disliked communism. The force kept growing, and by 1934 it was no longer restricted by law at all. Under its later name, the NKVD, Stalin used it against anyone he thought might be a threat. He was extremely suspicious, and many innocent people suffered.
The NKVD did not need hard evidence to act. A tip-off from an anonymous informer was considered enough reason for an arrest, and the use of torture was authorised by a special decree of the state. Compare that with the Gestapo in chapter 4 and you have one of the clearest similarities in the whole unit.
Stalin's use of terror led to the Purges: a period in which he removed anyone who opposed his rule, and anyone he believed might become a threat. The Purges mostly ran between 1936 and 1938, and reached their height with the Great Purge of 1937. The deck gives the figures plainly, and so will we: 750,000 people were executed, and a million were sent to the Gulags, the forced labour camps. Many of Stalin's political enemies were put on show trials, where they confessed, after torture, to crimes they could not possibly have committed. Earlier, in 1934, Kirov, the popular leader of the Leningrad party and an old friend of Stalin's, was murdered, probably on Stalin's own orders.
Tip: Terror in the USSR reached inside the ruling party, not only outside it. That is the detail that makes the comparison with the Night of the Long Knives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cult of personality and the control of culture. Say it in your own words, then check understanding with a quick question: ask a pupil from the pre-teach group first, since they met these words and ideas before the lesson. Pupils try to recall before you re-explain.
Your lesson opens with two photographs. The first shows Lenin speaking to a large crowd, with Trotsky standing in support beside him; it was a photograph taken in 1920. The second shows the same scene with Trotsky removed. Nothing was added: somebody simply deleted a man from the record. History was rewritten to glorify Stalin's part in the revolution, photographs were faked to place him at Lenin's side, and images of Trotsky and other earlier leaders were taken out.
Alongside the deletions came the tributes. Images of Stalin, statues, songs, poems and books about his greatness were everywhere, and nobody would have dared show him in a bad light. Towns, villages and cities were renamed after him, and prizes were named in his honour. He awarded himself a string of grand titles, which historians quote only to show how far the flattery went; we will describe them rather than repeat them. Sculptors made his statues taller and broader than he was. During the Second World War his name was written into the national anthem, and he was credited with almost god-like qualities, including the suggestion that he had won the war single-handed. This is what historians mean by a cult of personality.
Culture was controlled to match. Writers had to belong to the party-controlled Union of Soviet Writers, and books that did not follow the party line were changed or destroyed. Writers, artists, film-makers and composers had to follow the policy of Socialist Realism: their work had to deal with the lives of ordinary working people, show communism developing, and give simple, clear, optimistic messages.
Tip: A cult of personality is propaganda pointed at one person. If you can name the statues, the renamed cities and the rewritten history, you can explain it in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Schools, religion and the Five-Year Plans. Say it in your own words, then check understanding with a quick question: ask a pupil from the pre-teach group first, since they met these words and ideas before the lesson. Pupils try to recall before you re-explain.
Children were taught Stalin's version of history, and Stalin chose the subjects and the information they would learn. The regime also made real gains in literacy: by 1933 the majority of Soviet people could read. Both of those facts are true at once, and a good historian holds them together rather than choosing the convenient one. Religion was attacked from every side: Christian leaders were imprisoned and churches closed, and Muslim mosques and schools were closed and the pilgrimage to Mecca banned.
Stalin believed all economic and social activity should be controlled by the Communist Party, and he wanted to modernise an economy that was still mostly agricultural with very little industry. The first Five-Year Plan was proposed in 1928 and began in 1929. Its aims were to modernise the economy, raise industrial output and centralise control. The plans did achieve those aims, and they have also been criticised ever since for the widespread suffering they caused.
Magnitogorsk is your lesson's case study of both sides at once. The town sat on an enormous deposit of iron ore, and in 1928 it was declared a one-industry city: everything there would serve iron production. Former peasants arrived with no industrial skills and were retrained by foreign experts, and housing was built close to the factories to cut travelling time. A city appeared where there had been almost nothing, and the conditions the people lived and worked in were harsh.
Tip: For the Five-Year Plans, always write both halves: output rose, and people suffered. An answer with only one half is only half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the two dictatorships. Say it in your own words, then check understanding with a quick question: ask a pupil from the pre-teach group first, since they met these words and ideas before the lesson. Pupils try to recall before you re-explain.
Your unit now returns to its enquiry question: to what extent were the dictatorships in Hitler's Germany and Stalin's Russia similar? Begin with the two words the skill depends on. A similarity is something that is the same, or very alike, when we compare two people, events or periods. A difference is something that is not the same: something that sets two things apart when we compare them.
Work through the three themes the assessment uses. On beliefs, the two were opposites on the political spectrum from chapter 2: Nazi fascism on the far right, Soviet communism on the far left. On their rise to power, Hitler was appointed Chancellor inside a democracy and then destroyed it, while Stalin climbed the ladder of a one-party state that was already a dictatorship, winning a struggle inside the party rather than an election. On their rule, the similarities crowd in: a secret police force, terror used against their own supporters as well as their enemies, censorship and propaganda, control of schools and of young people, and a leader built up until criticism became unthinkable.
The skill, then, is not to list. It is to make a claim about where the two line up and where they part, and to prove each claim with evidence from both countries. Use the connecting word Similarly for a similarity and a contrast phrase such as whereas for a difference, and finish every paragraph by saying what your evidence shows.
Worked example — model it step by step, thinking aloud: Write a paragraph explaining one similarity between how Hitler and Stalin kept control of their countries. (1) Point: name the similarity. One similarity in how Hitler and Stalin kept control is that both relied on a secret police force. (2) Evidence for Germany: the Gestapo used informers, surveillance and house searches and did not need hard evidence to act. (3) Evidence for the USSR, introduced with Similarly: similarly, the NKVD could arrest a person on an anonymous tip-off, and by 1934 it was no longer restricted by law. (4) Explain and link: this meant that in both countries people policed their own conversations, so opposition could not organise. Therefore the two dictatorships were strongly similar in this respect. Answer: Point, evidence from Germany, Similarly plus evidence from the USSR, then explain and link: both used a secret police that needed no proof, so fear prevented opposition from forming in either country..
Tip: Every comparison paragraph needs evidence from both countries. One country's evidence on its own is a description, not 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the two dictatorships. Say it in your own words, then check understanding with a quick question: ask a pupil from the pre-teach group first, since they met these words and ideas before the lesson. Pupils try to recall before you re-explain.
Your unit now returns to its enquiry question: to what extent were the dictatorships in Hitler's Germany and Stalin's Russia similar? Begin with the two words the skill depends on. A similarity is something that is the same, or very alike, when we compare two people, events or periods. A difference is something that is not the same: something that sets two things apart when we compare them.
Work through the three themes the assessment uses. On beliefs, the two were opposites on the political spectrum from chapter 2: Nazi fascism on the far right, Soviet communism on the far left. On their rise to power, Hitler was appointed Chancellor inside a democracy and then destroyed it, while Stalin climbed the ladder of a one-party state that was already a dictatorship, winning a struggle inside the party rather than an election. On their rule, the similarities crowd in: a secret police force, terror used against their own supporters as well as their enemies, censorship and propaganda, control of schools and of young people, and a leader built up until criticism became unthinkable.
The skill, then, is not to list. It is to make a claim about where the two line up and where they part, and to prove each claim with evidence from both countries. Use the connecting word Similarly for a similarity and a contrast phrase such as whereas for a difference, and finish every paragraph by saying what your evidence shows.
Worked example — model it step by step, thinking aloud: Write a paragraph explaining one similarity between how Hitler and Stalin kept control of their countries. (1) Point: name the similarity. One similarity in how Hitler and Stalin kept control is that both relied on a secret police force. (2) Evidence for Germany: the Gestapo used informers, surveillance and house searches and did not need hard evidence to act. (3) Evidence for the USSR, introduced with Similarly: similarly, the NKVD could arrest a person on an anonymous tip-off, and by 1934 it was no longer restricted by law. (4) Explain and link: this meant that in both countries people policed their own conversations, so opposition could not organise. Therefore the two dictatorships were strongly similar in this respect. Answer: Point, evidence from Germany, Similarly plus evidence from the USSR, then explain and link: both used a secret police that needed no proof, so fear prevented opposition from forming in either country..
Tip: Every comparison paragraph needs evidence from both countries. One country's evidence on its own is a description, not 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Comparing the two dictatorships. Say it in your own words, then check understanding with a quick question: ask a pupil from the pre-teach group first, since they met these words and ideas before the lesson. Pupils try to recall before you re-explain.
Your unit now returns to its enquiry question: to what extent were the dictatorships in Hitler's Germany and Stalin's Russia similar? Begin with the two words the skill depends on. A similarity is something that is the same, or very alike, when we compare two people, events or periods. A difference is something that is not the same: something that sets two things apart when we compare them.
Work through the three themes the assessment uses. On beliefs, the two were opposites on the political spectrum from chapter 2: Nazi fascism on the far right, Soviet communism on the far left. On their rise to power, Hitler was appointed Chancellor inside a democracy and then destroyed it, while Stalin climbed the ladder of a one-party state that was already a dictatorship, winning a struggle inside the party rather than an election. On their rule, the similarities crowd in: a secret police force, terror used against their own supporters as well as their enemies, censorship and propaganda, control of schools and of young people, and a leader built up until criticism became unthinkable.
The skill, then, is not to list. It is to make a claim about where the two line up and where they part, and to prove each claim with evidence from both countries. Use the connecting word Similarly for a similarity and a contrast phrase such as whereas for a difference, and finish every paragraph by saying what your evidence shows.
Worked example — model it step by step, thinking aloud: Write a paragraph explaining one similarity between how Hitler and Stalin kept control of their countries. (1) Point: name the similarity. One similarity in how Hitler and Stalin kept control is that both relied on a secret police force. (2) Evidence for Germany: the Gestapo used informers, surveillance and house searches and did not need hard evidence to act. (3) Evidence for the USSR, introduced with Similarly: similarly, the NKVD could arrest a person on an anonymous tip-off, and by 1934 it was no longer restricted by law. (4) Explain and link: this meant that in both countries people policed their own conversations, so opposition could not organise. Therefore the two dictatorships were strongly similar in this respect. Answer: Point, evidence from Germany, Similarly plus evidence from the USSR, then explain and link: both used a secret police that needed no proof, so fear prevented opposition from forming in either country..
Tip: Every comparison paragraph needs evidence from both countries. One country's evidence on its own is a description, not 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One similarity, proved from both countries.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similarity between Hitler's Germany and Stalin's USSR. Use evidence from both countries, and finish by saying what your evidence shows. Write one paragraph of five to seven sentences.
Support — work through the steps with the group: (1) Choose ONE similarity: secret police, terror inside the party, censorship and propaganda, control of young people, or a leader built up beyond criticism. (2) Sentence 1: One similarity between Hitler's Germany and Stalin's USSR is… (3) Sentences 2 and 3: evidence from Germany, then evidence from the USSR beginning with Similarly. (4) Sentences 4 and 5: This meant that… and Therefore the two dictatorships were…
Parallel worked example for Support (model it, do not give the task answer): Explain one similarity between two football clubs' youth academies, using evidence from both. Name the similarity: both promote players from the academy into the first team.; Give evidence from the first club, then evidence from the second, introduced with Similarly.; Finish with what the evidence shows about how both clubs are run.. Answer: Point, evidence from club one, Similarly plus evidence from club two, then a sentence on what this shows about both..
Core — reveal the hint only on request: A comparison needs two pieces of evidence, one from each country, joined by Similarly. Then say what they show together.
Stretch — no help; when finished: Add a second paragraph on a difference within the same theme, and end with a judgement on whether the theme shows more similarity or more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One similarity, proved from both countries.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one similarity between Hitler's Germany and Stalin's USSR. Use evidence from both countries, and finish by saying what your evidence shows. Write one paragraph of five to seven sentences.
Support — work through the steps with the group: (1) Choose ONE similarity: secret police, terror inside the party, censorship and propaganda, control of young people, or a leader built up beyond criticism. (2) Sentence 1: One similarity between Hitler's Germany and Stalin's USSR is… (3) Sentences 2 and 3: evidence from Germany, then evidence from the USSR beginning with Similarly. (4) Sentences 4 and 5: This meant that… and Therefore the two dictatorships were…
Parallel worked example for Support (model it, do not give the task answer): Explain one similarity between two football clubs' youth academies, using evidence from both. Name the similarity: both promote players from the academy into the first team.; Give evidence from the first club, then evidence from the second, introduced with Similarly.; Finish with what the evidence shows about how both clubs are run.. Answer: Point, evidence from club one, Similarly plus evidence from club two, then a sentence on what this shows about both..
Core — reveal the hint only on request: A comparison needs two pieces of evidence, one from each country, joined by Similarly. Then say what they show together.
Stretch — no help; when finished: Add a second paragraph on a difference within the same theme, and end with a judgement on whether the theme shows more similarity or more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Hitler's method, Stalin's equivalent.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Hitler's dictatorship to the feature of Stalin's that most closely matches it.
Support — work through the steps with the group: (1) Start with the two secret police forces: one in Germany, one in the USSR. (2) Then find the pair about killing members of the leader's own party. (3) Then the pair about beliefs, which sat at opposite ends of the political spectrum. (4) The pair left over is about building the leader himself up beyond criticism.
Parallel worked example for Support (model it, do not give the task answer): Match each part of one school's system to the matching part of another's: form tutor, house system, end-of-year prize. A form tutor matches the other school's mentor.; A house system matches the other school's team structure.; An end-of-year prize matches the other school's awards evening.. Answer: Form tutor to mentor; house system to team structure; end-of-year prize to awards evening..
Core — reveal the hint only on request: Two secret police forces, two attacks on the leader's own party, two opposed beliefs, two ways of placing the leader above criticism.
Stretch — no help; when finished: Pick the pairing you think is the weakest match, and explain what makes the two sides less alike than they first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Hitler's method, Stalin's equivalent.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Hitler's dictatorship to the feature of Stalin's that most closely matches it.
Support — work through the steps with the group: (1) Start with the two secret police forces: one in Germany, one in the USSR. (2) Then find the pair about killing members of the leader's own party. (3) Then the pair about beliefs, which sat at opposite ends of the political spectrum. (4) The pair left over is about building the leader himself up beyond criticism.
Parallel worked example for Support (model it, do not give the task answer): Match each part of one school's system to the matching part of another's: form tutor, house system, end-of-year prize. A form tutor matches the other school's mentor.; A house system matches the other school's team structure.; An end-of-year prize matches the other school's awards evening.. Answer: Form tutor to mentor; house system to team structure; end-of-year prize to awards evening..
Core — reveal the hint only on request: Two secret police forces, two attacks on the leader's own party, two opposed beliefs, two ways of placing the leader above criticism.
Stretch — no help; when finished: Pick the pairing you think is the weakest match, and explain what makes the two sides less alike than they first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the NKVD?
Answer: A   Stalin's secret police, who could arrest people on an informer's word alone. The NKVD was the secret police. It needed no hard evidence, and by 1934 it was no longer restricted by law.
Source of this question: gate item 1 re-asked (options rotated) — this chapter has no third quick-check module.
The ebook also holds task 3, "Similarity or difference?",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One similarity, proved from both countries. Reveal the answer; pupils mark their own work in a different colour, then read the "why" together. Same destination for every lane, so one answer serves the whole class.
Answer: I name one clear similarity in a single opening sentence.; I give specific evidence from Germany for that similarity.; I give specific evidence from the USSR, introduced with the word Similarly.; I explain the link and finish with what the evidence shows about the two dictatorships.
Why: A strong comparison paragraph has a claim, evidence from both countries, and a closing sentence that says what the evidence shows. An answer with evidence from only one country describes rather than compares.
Model answer: One similarity between Hitler's Germany and Stalin's USSR is that both leaders used terror against their own supporters, not only against their enemies. In Germany, on the Night of the Long Knives in June 1934, the SS murdered around 400 members of the Nazi Party who were pressing Hitler to carry out the party's socialist promises and to take over the army. Similarly, in the USSR the Purges reached deep inside the Communist Party, and leading communists were put on show trials where they confessed, after torture, to crimes they could not have committed. In both cases the victims were people who had helped build the regime. This meant that nobody anywhere was safe, because loyalty and service were no protection, and so no faction could form around a rival. Therefore the two dictatorships were strikingly similar in this respect, even though their beliefs sat at opposite ends of the political spectrum.
Success criteria: I name one clear similarity in a single opening sentence.; I give specific evidence from Germany for that similarity.; I give specific evidence from the USSR, introduced with the word Similarly.; I explain the link and finish with what the evidence shows about the two dictatorships.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One similarity, proved from both countries. Reveal the answer; pupils mark their own work in a different colour, then read the "why" together. Same destination for every lane, so one answer serves the whole class.
Answer: I name one clear similarity in a single opening sentence.; I give specific evidence from Germany for that similarity.; I give specific evidence from the USSR, introduced with the word Similarly.; I explain the link and finish with what the evidence shows about the two dictatorships.
Why: A strong comparison paragraph has a claim, evidence from both countries, and a closing sentence that says what the evidence shows. An answer with evidence from only one country describes rather than compares.
Model answer: One similarity between Hitler's Germany and Stalin's USSR is that both leaders used terror against their own supporters, not only against their enemies. In Germany, on the Night of the Long Knives in June 1934, the SS murdered around 400 members of the Nazi Party who were pressing Hitler to carry out the party's socialist promises and to take over the army. Similarly, in the USSR the Purges reached deep inside the Communist Party, and leading communists were put on show trials where they confessed, after torture, to crimes they could not have committed. In both cases the victims were people who had helped build the regime. This meant that nobody anywhere was safe, because loyalty and service were no protection, and so no faction could form around a rival. Therefore the two dictatorships were strikingly similar in this respect, even though their beliefs sat at opposite ends of the political spectrum.
Success criteria: I name one clear similarity in a single opening sentence.; I give specific evidence from Germany for that similarity.; I give specific evidence from the USSR, introduced with the word Similarly.; I explain the link and finish with what the evidence shows about the two dictatorships.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Hitler's method, Stalin's equivalent. Reveal the answer; pupils mark their own work in a different colour, then read the "why" together. Same destination for every lane, so one answer serves the whole class.
Answer: The Gestapo, Hitler's secret police  →  D  The NKVD, Stalin's secret police; The Night of the Long Knives, June 1934  →  C  The Purges, 1936 to 1938; Fascism, the Nazis' belief  →  A  Communism, Stalin's belief; Hitler as Führer, with a personal oath of loyalty sworn to him  →  B  Stalin's cult of personality, with statues and songs in his honour
Why: The Gestapo and the NKVD are the closest match of all: secret police who acted on informers' reports without needing proof. The Night of the Long Knives and the Purges match as terror turned inwards; fascism and communism match only in being each regime's official belief, since they were opposites; and the title of Führer matches the cult of personality as two ways of placing one man beyond criticism.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Stalin's secret police, who could arrest people on an informer's word alone
Why: The NKVD was the secret police. It needed no hard evidence, and by 1934 it was no longer restricted by law.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Dictatorship · AQA KS3 → 8145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How Stalin ruled, and how the two dictatorships compare</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2EDE9"/>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did Stalin rule the USSR?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Dictators Review &amp; Assessment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were the dictatorships in Hitler's Germany and Stalin's Russia similar?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was the NKVD?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small group of leading politicians who ran the Communist Party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Stalin's secret police, who could arrest people on an informer's word alone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system of forced labour camps, most of them in Siberia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plan to modernise Soviet industry in stages of five years</a:t>
            </a:r>
            <a:endParaRPr lang="en-US" sz="2200" dirty="0"/>
          </a:p>
        </p:txBody>
      </p:sp>
      <p:sp>
        <p:nvSpPr>
          <p:cNvPr id="12" name="card"/>
          <p:cNvSpPr/>
          <p:nvPr/>
        </p:nvSpPr>
        <p:spPr>
          <a:xfrm>
            <a:off x="6095848"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___ is something that is the same, or very alike, when we compare two people, events or periods.</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similarity  ·  difference  ·  judgement</a:t>
            </a:r>
            <a:endParaRPr lang="en-US" sz="2000" dirty="0"/>
          </a:p>
        </p:txBody>
      </p:sp>
      <p:sp>
        <p:nvSpPr>
          <p:cNvPr id="17"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which year did the Purges reach their height, in what is called the Great Purge? Give the year as four digits.</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Stalin's secret police, who could arrest people on an informer's word alone</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was the NKVD?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NKVD was the secret police. It needed no hard evidence, and by 1934 it was no longer restricted by law.</a:t>
            </a:r>
            <a:endParaRPr lang="en-US" sz="2200" dirty="0"/>
          </a:p>
        </p:txBody>
      </p:sp>
      <p:sp>
        <p:nvSpPr>
          <p:cNvPr id="14" name="card"/>
          <p:cNvSpPr/>
          <p:nvPr/>
        </p:nvSpPr>
        <p:spPr>
          <a:xfrm>
            <a:off x="6095848"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similarity</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progress check gives the definition exactly: a similarity is something that is the same or very alike across two things being compared.</a:t>
            </a:r>
            <a:endParaRPr lang="en-US" sz="1800" dirty="0"/>
          </a:p>
        </p:txBody>
      </p:sp>
      <p:sp>
        <p:nvSpPr>
          <p:cNvPr id="21" name="card"/>
          <p:cNvSpPr/>
          <p:nvPr/>
        </p:nvSpPr>
        <p:spPr>
          <a:xfrm>
            <a:off x="9006611" y="1389888"/>
            <a:ext cx="2636444" cy="4754880"/>
          </a:xfrm>
          <a:prstGeom prst="roundRect">
            <a:avLst>
              <a:gd name="adj" fmla="val 2081"/>
            </a:avLst>
          </a:prstGeom>
          <a:solidFill>
            <a:srgbClr val="F6F2EF"/>
          </a:solidFill>
          <a:ln w="12700">
            <a:solidFill>
              <a:srgbClr val="D0C0B0"/>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1937</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Purges mostly ran between 1936 and 1938, and 1937 is the year your lesson names as their height.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NKVD</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Stalin's secret police, who could arrest people without evidence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anonymous tip-off was enough for the NKVD to make an arrest.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Purges</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period when Stalin removed everyone he thought might threaten him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Purges reached from the party leadership down to ordinary people.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show trial</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public trial whose verdict has already been decided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a show trial the accused confessed to crimes they could not have committed.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cult of personality</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building up of one leader through images, statues and praise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Stalin's cult of personality made criticism of him unthinkable.</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Five-Year Plan</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government plan to modernise the economy over five years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first Five-Year Plan turned villages into industrial cities.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Stalin ruled the USSR ruthlessly to keep his own power.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secret police were called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NKVD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could arrest anybody on an informer's word alone.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The Purges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removed everyone Stalin thought might threaten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were tried in public and forced to confess.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Statues, songs and paintings praised Stalin everywhere.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is called 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cult of personality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Writers, artists and teachers had to follow the party line.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Churches were closed, and so were mosques and religious schools.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Stalin's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Five-Year Plans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set out to modernise the economy.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Industry grew quickly, but the people suffered for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this chapter you also compare the two dictatorships.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Look for similarities and differences, with evidence from both.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NKVD and the Purges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Terror in the USSR reached inside the ruling party, not only outside it. That is the detail that makes the comparison with the Night of the Long Knives work.</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USSR's first secret police force, the Cheka, was set up in December 1917, and to begin with it was only allowed to investigate crimes against the government's political power.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NKVD did not need hard evidence to act. A tip-off from an anonymous informer was considered enough reason for an arrest, and the use of torture was authorised by a special decree of the state.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Stalin's use of terror led to the Purges: a period in which he removed anyone who opposed his rule, and anyone he believed might become a threat.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cult of personality and the control of culture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cult of personality is propaganda pointed at one person. If you can name the statues, the renamed cities and the rewritten history, you can explain it in a sentence.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opens with two photographs. The first shows Lenin speaking to a large crowd, with Trotsky standing in support beside him; it was a photograph taken in 1920.</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Alongside the deletions came the tributes. Images of Stalin, statues, songs, poems and books about his greatness were everywhere, and nobody would have dared show him in a bad light.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Culture was controlled to match. Writers had to belong to the party-controlled Union of Soviet Writers, and books that did not follow the party line were changed or destroyed.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Schools, religion and the Five-Year Plans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the Five-Year Plans, always write both halves: output rose, and people suffered. An answer with only one half is only half an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Children were taught Stalin's version of history, and Stalin chose the subjects and the information they would learn.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Stalin believed all economic and social activity should be controlled by the Communist Party, and he wanted to modernise an economy that was still mostly agricultural with very little industry.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Magnitogorsk is your lesson's case study of both sides at once.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Comparing the two dictatorships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comparison paragraph needs evidence from both countries. One country's evidence on its own is a description, not a comparison.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unit now returns to its enquiry question: to what extent were the dictatorships in Hitler's Germany and Stalin's Russia similar?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Work through the three themes the assessment uses. On beliefs, the two were opposites on the political spectrum from chapter 2: Nazi fascism on the far right, Soviet communism on the far left.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skill, then, is not to list. It is to make a claim about where the two line up and where they part, and to prove each claim with evidence from both countries.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Comparing the two dictatorships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a paragraph explaining one similarity between how Hitler and Stalin kept control of their countries.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name the similarity. One similarity in how Hitler and Stalin kept control is that both relied on a secret police force.</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for Germany: the Gestapo used informers, surveillance and house searches and did not need hard evidence to act.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Comparing the two dictatorships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a paragraph explaining one similarity between how Hitler and Stalin kept control of their countries.</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for the USSR, introduced with Similarly: similarly, the NKVD could arrest a person on an anonymous tip-off, and by 1934 it was no longer restricted by law.</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and link: this meant that in both countries people policed their own conversations, so opposition could not organise. Therefore the two dictatorships were strongly similar in this respect.</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from Germany, Similarly plus evidence from the USSR, then explain and link: both used a secret police that needed no proof, so fear prevented opposition from forming in either country.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One similarity, proved from both countries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one similarity between Hitler's Germany and Stalin's USSR. Use evidence from both countries, and finish by saying what your evidence shows.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One similarity, proved from both countries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One similarity, proved from both countries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ONE similarity: secret police, terror inside the party, censorship and propaganda, control of young people, or a leader built up beyond criticism.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One similarity between Hitler's Germany and Stalin's USSR is…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evidence from Germany, then evidence from the USSR beginning with Similarly.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4 and 5: This meant that… and Therefore the two dictatorships were…</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comparison needs two pieces of evidence, one from each country, joined by Similarly. Then say what they show together.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second paragraph on a difference within the same theme, and end with a judgement on whether the theme shows more similarity or more difference.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Hitler's method, Stalin's equivalent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feature of Hitler's dictatorship to the feature of Stalin's that most closely matches it.</a:t>
            </a:r>
            <a:endParaRPr lang="en-US" sz="2400" dirty="0"/>
          </a:p>
        </p:txBody>
      </p:sp>
      <p:sp>
        <p:nvSpPr>
          <p:cNvPr id="11" name="match-card"/>
          <p:cNvSpPr/>
          <p:nvPr/>
        </p:nvSpPr>
        <p:spPr>
          <a:xfrm>
            <a:off x="777240" y="2672080"/>
            <a:ext cx="4993069" cy="583438"/>
          </a:xfrm>
          <a:prstGeom prst="roundRect">
            <a:avLst>
              <a:gd name="adj" fmla="val 12538"/>
            </a:avLst>
          </a:prstGeom>
          <a:solidFill>
            <a:srgbClr val="F4F1ED"/>
          </a:solidFill>
          <a:ln/>
        </p:spPr>
      </p:sp>
      <p:sp>
        <p:nvSpPr>
          <p:cNvPr id="12" name="match-hex"/>
          <p:cNvSpPr/>
          <p:nvPr/>
        </p:nvSpPr>
        <p:spPr>
          <a:xfrm>
            <a:off x="850392" y="2797506"/>
            <a:ext cx="384048" cy="332586"/>
          </a:xfrm>
          <a:prstGeom prst="hexagon">
            <a:avLst/>
          </a:prstGeom>
          <a:solidFill>
            <a:srgbClr val="7A4A1E"/>
          </a:solidFill>
          <a:ln/>
        </p:spPr>
      </p:sp>
      <p:sp>
        <p:nvSpPr>
          <p:cNvPr id="13" name="match-hex-label"/>
          <p:cNvSpPr txBox="1"/>
          <p:nvPr/>
        </p:nvSpPr>
        <p:spPr>
          <a:xfrm>
            <a:off x="850392" y="27975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398708" cy="583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Gestapo, Hitler's secret police</a:t>
            </a:r>
            <a:endParaRPr lang="en-US" sz="2200" dirty="0"/>
          </a:p>
        </p:txBody>
      </p:sp>
      <p:sp>
        <p:nvSpPr>
          <p:cNvPr id="15" name="match-card"/>
          <p:cNvSpPr/>
          <p:nvPr/>
        </p:nvSpPr>
        <p:spPr>
          <a:xfrm>
            <a:off x="6136069" y="2672080"/>
            <a:ext cx="5278387" cy="583438"/>
          </a:xfrm>
          <a:prstGeom prst="roundRect">
            <a:avLst>
              <a:gd name="adj" fmla="val 12538"/>
            </a:avLst>
          </a:prstGeom>
          <a:solidFill>
            <a:srgbClr val="F6F0E6"/>
          </a:solidFill>
          <a:ln/>
        </p:spPr>
      </p:sp>
      <p:sp>
        <p:nvSpPr>
          <p:cNvPr id="16" name="match-hex"/>
          <p:cNvSpPr/>
          <p:nvPr/>
        </p:nvSpPr>
        <p:spPr>
          <a:xfrm>
            <a:off x="6209221" y="2797506"/>
            <a:ext cx="384048" cy="332586"/>
          </a:xfrm>
          <a:prstGeom prst="hexagon">
            <a:avLst/>
          </a:prstGeom>
          <a:solidFill>
            <a:srgbClr val="B8862B"/>
          </a:solidFill>
          <a:ln/>
        </p:spPr>
      </p:sp>
      <p:sp>
        <p:nvSpPr>
          <p:cNvPr id="17" name="match-hex-label"/>
          <p:cNvSpPr txBox="1"/>
          <p:nvPr/>
        </p:nvSpPr>
        <p:spPr>
          <a:xfrm>
            <a:off x="6209221" y="27975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657277" y="2672080"/>
            <a:ext cx="4684027" cy="583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Communism, Stalin's belief</a:t>
            </a:r>
            <a:endParaRPr lang="en-US" sz="2200" dirty="0"/>
          </a:p>
        </p:txBody>
      </p:sp>
      <p:sp>
        <p:nvSpPr>
          <p:cNvPr id="19" name="match-card"/>
          <p:cNvSpPr/>
          <p:nvPr/>
        </p:nvSpPr>
        <p:spPr>
          <a:xfrm>
            <a:off x="777240" y="3346958"/>
            <a:ext cx="4993069" cy="924306"/>
          </a:xfrm>
          <a:prstGeom prst="roundRect">
            <a:avLst>
              <a:gd name="adj" fmla="val 7914"/>
            </a:avLst>
          </a:prstGeom>
          <a:solidFill>
            <a:srgbClr val="F4F1ED"/>
          </a:solidFill>
          <a:ln/>
        </p:spPr>
      </p:sp>
      <p:sp>
        <p:nvSpPr>
          <p:cNvPr id="20" name="match-hex"/>
          <p:cNvSpPr/>
          <p:nvPr/>
        </p:nvSpPr>
        <p:spPr>
          <a:xfrm>
            <a:off x="850392" y="3642818"/>
            <a:ext cx="384048" cy="332586"/>
          </a:xfrm>
          <a:prstGeom prst="hexagon">
            <a:avLst/>
          </a:prstGeom>
          <a:solidFill>
            <a:srgbClr val="7A4A1E"/>
          </a:solidFill>
          <a:ln/>
        </p:spPr>
      </p:sp>
      <p:sp>
        <p:nvSpPr>
          <p:cNvPr id="21" name="match-hex-label"/>
          <p:cNvSpPr txBox="1"/>
          <p:nvPr/>
        </p:nvSpPr>
        <p:spPr>
          <a:xfrm>
            <a:off x="850392" y="3642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46958"/>
            <a:ext cx="4398708" cy="924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Night of the Long Knives, June 1934</a:t>
            </a:r>
            <a:endParaRPr lang="en-US" sz="2200" dirty="0"/>
          </a:p>
        </p:txBody>
      </p:sp>
      <p:sp>
        <p:nvSpPr>
          <p:cNvPr id="23" name="match-card"/>
          <p:cNvSpPr/>
          <p:nvPr/>
        </p:nvSpPr>
        <p:spPr>
          <a:xfrm>
            <a:off x="6136069" y="3346958"/>
            <a:ext cx="5278387" cy="924306"/>
          </a:xfrm>
          <a:prstGeom prst="roundRect">
            <a:avLst>
              <a:gd name="adj" fmla="val 7914"/>
            </a:avLst>
          </a:prstGeom>
          <a:solidFill>
            <a:srgbClr val="F6F0E6"/>
          </a:solidFill>
          <a:ln/>
        </p:spPr>
      </p:sp>
      <p:sp>
        <p:nvSpPr>
          <p:cNvPr id="24" name="match-hex"/>
          <p:cNvSpPr/>
          <p:nvPr/>
        </p:nvSpPr>
        <p:spPr>
          <a:xfrm>
            <a:off x="6209221" y="3642818"/>
            <a:ext cx="384048" cy="332586"/>
          </a:xfrm>
          <a:prstGeom prst="hexagon">
            <a:avLst/>
          </a:prstGeom>
          <a:solidFill>
            <a:srgbClr val="B8862B"/>
          </a:solidFill>
          <a:ln/>
        </p:spPr>
      </p:sp>
      <p:sp>
        <p:nvSpPr>
          <p:cNvPr id="25" name="match-hex-label"/>
          <p:cNvSpPr txBox="1"/>
          <p:nvPr/>
        </p:nvSpPr>
        <p:spPr>
          <a:xfrm>
            <a:off x="6209221" y="3642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657277" y="3346958"/>
            <a:ext cx="4684027" cy="924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Stalin's cult of personality, with statues and songs in his honour</a:t>
            </a:r>
            <a:endParaRPr lang="en-US" sz="2200" dirty="0"/>
          </a:p>
        </p:txBody>
      </p:sp>
      <p:sp>
        <p:nvSpPr>
          <p:cNvPr id="27" name="match-card"/>
          <p:cNvSpPr/>
          <p:nvPr/>
        </p:nvSpPr>
        <p:spPr>
          <a:xfrm>
            <a:off x="777240" y="4362704"/>
            <a:ext cx="4993069" cy="583438"/>
          </a:xfrm>
          <a:prstGeom prst="roundRect">
            <a:avLst>
              <a:gd name="adj" fmla="val 12538"/>
            </a:avLst>
          </a:prstGeom>
          <a:solidFill>
            <a:srgbClr val="F4F1ED"/>
          </a:solidFill>
          <a:ln/>
        </p:spPr>
      </p:sp>
      <p:sp>
        <p:nvSpPr>
          <p:cNvPr id="28" name="match-hex"/>
          <p:cNvSpPr/>
          <p:nvPr/>
        </p:nvSpPr>
        <p:spPr>
          <a:xfrm>
            <a:off x="850392" y="4488130"/>
            <a:ext cx="384048" cy="332586"/>
          </a:xfrm>
          <a:prstGeom prst="hexagon">
            <a:avLst/>
          </a:prstGeom>
          <a:solidFill>
            <a:srgbClr val="7A4A1E"/>
          </a:solidFill>
          <a:ln/>
        </p:spPr>
      </p:sp>
      <p:sp>
        <p:nvSpPr>
          <p:cNvPr id="29" name="match-hex-label"/>
          <p:cNvSpPr txBox="1"/>
          <p:nvPr/>
        </p:nvSpPr>
        <p:spPr>
          <a:xfrm>
            <a:off x="850392" y="448813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4398708" cy="583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Fascism, the Nazis' belief</a:t>
            </a:r>
            <a:endParaRPr lang="en-US" sz="2200" dirty="0"/>
          </a:p>
        </p:txBody>
      </p:sp>
      <p:sp>
        <p:nvSpPr>
          <p:cNvPr id="31" name="match-card"/>
          <p:cNvSpPr/>
          <p:nvPr/>
        </p:nvSpPr>
        <p:spPr>
          <a:xfrm>
            <a:off x="6136069" y="4362704"/>
            <a:ext cx="5278387" cy="583438"/>
          </a:xfrm>
          <a:prstGeom prst="roundRect">
            <a:avLst>
              <a:gd name="adj" fmla="val 12538"/>
            </a:avLst>
          </a:prstGeom>
          <a:solidFill>
            <a:srgbClr val="F6F0E6"/>
          </a:solidFill>
          <a:ln/>
        </p:spPr>
      </p:sp>
      <p:sp>
        <p:nvSpPr>
          <p:cNvPr id="32" name="match-hex"/>
          <p:cNvSpPr/>
          <p:nvPr/>
        </p:nvSpPr>
        <p:spPr>
          <a:xfrm>
            <a:off x="6209221" y="4488130"/>
            <a:ext cx="384048" cy="332586"/>
          </a:xfrm>
          <a:prstGeom prst="hexagon">
            <a:avLst/>
          </a:prstGeom>
          <a:solidFill>
            <a:srgbClr val="B8862B"/>
          </a:solidFill>
          <a:ln/>
        </p:spPr>
      </p:sp>
      <p:sp>
        <p:nvSpPr>
          <p:cNvPr id="33" name="match-hex-label"/>
          <p:cNvSpPr txBox="1"/>
          <p:nvPr/>
        </p:nvSpPr>
        <p:spPr>
          <a:xfrm>
            <a:off x="6209221" y="448813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657277" y="4362704"/>
            <a:ext cx="4684027" cy="583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Purges, 1936 to 1938</a:t>
            </a:r>
            <a:endParaRPr lang="en-US" sz="2200" dirty="0"/>
          </a:p>
        </p:txBody>
      </p:sp>
      <p:sp>
        <p:nvSpPr>
          <p:cNvPr id="35" name="match-card"/>
          <p:cNvSpPr/>
          <p:nvPr/>
        </p:nvSpPr>
        <p:spPr>
          <a:xfrm>
            <a:off x="777240" y="5037582"/>
            <a:ext cx="4993069" cy="924306"/>
          </a:xfrm>
          <a:prstGeom prst="roundRect">
            <a:avLst>
              <a:gd name="adj" fmla="val 7914"/>
            </a:avLst>
          </a:prstGeom>
          <a:solidFill>
            <a:srgbClr val="F4F1ED"/>
          </a:solidFill>
          <a:ln/>
        </p:spPr>
      </p:sp>
      <p:sp>
        <p:nvSpPr>
          <p:cNvPr id="36" name="match-hex"/>
          <p:cNvSpPr/>
          <p:nvPr/>
        </p:nvSpPr>
        <p:spPr>
          <a:xfrm>
            <a:off x="850392" y="5333442"/>
            <a:ext cx="384048" cy="332586"/>
          </a:xfrm>
          <a:prstGeom prst="hexagon">
            <a:avLst/>
          </a:prstGeom>
          <a:solidFill>
            <a:srgbClr val="7A4A1E"/>
          </a:solidFill>
          <a:ln/>
        </p:spPr>
      </p:sp>
      <p:sp>
        <p:nvSpPr>
          <p:cNvPr id="37" name="match-hex-label"/>
          <p:cNvSpPr txBox="1"/>
          <p:nvPr/>
        </p:nvSpPr>
        <p:spPr>
          <a:xfrm>
            <a:off x="850392" y="53334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37582"/>
            <a:ext cx="4398708" cy="924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Hitler as Führer, with a personal oath of loyalty sworn to him</a:t>
            </a:r>
            <a:endParaRPr lang="en-US" sz="2200" dirty="0"/>
          </a:p>
        </p:txBody>
      </p:sp>
      <p:sp>
        <p:nvSpPr>
          <p:cNvPr id="39" name="match-card"/>
          <p:cNvSpPr/>
          <p:nvPr/>
        </p:nvSpPr>
        <p:spPr>
          <a:xfrm>
            <a:off x="6136069" y="5037582"/>
            <a:ext cx="5278387" cy="924306"/>
          </a:xfrm>
          <a:prstGeom prst="roundRect">
            <a:avLst>
              <a:gd name="adj" fmla="val 7914"/>
            </a:avLst>
          </a:prstGeom>
          <a:solidFill>
            <a:srgbClr val="F6F0E6"/>
          </a:solidFill>
          <a:ln/>
        </p:spPr>
      </p:sp>
      <p:sp>
        <p:nvSpPr>
          <p:cNvPr id="40" name="match-hex"/>
          <p:cNvSpPr/>
          <p:nvPr/>
        </p:nvSpPr>
        <p:spPr>
          <a:xfrm>
            <a:off x="6209221" y="5333442"/>
            <a:ext cx="384048" cy="332586"/>
          </a:xfrm>
          <a:prstGeom prst="hexagon">
            <a:avLst/>
          </a:prstGeom>
          <a:solidFill>
            <a:srgbClr val="B8862B"/>
          </a:solidFill>
          <a:ln/>
        </p:spPr>
      </p:sp>
      <p:sp>
        <p:nvSpPr>
          <p:cNvPr id="41" name="match-hex-label"/>
          <p:cNvSpPr txBox="1"/>
          <p:nvPr/>
        </p:nvSpPr>
        <p:spPr>
          <a:xfrm>
            <a:off x="6209221" y="53334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657277" y="5037582"/>
            <a:ext cx="4684027" cy="924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NKVD, Stalin's secret police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Hitler's method, Stalin's equivalent</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feature of Hitler's dictatorship to the feature of Stalin's that most closely matches it.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two secret police forces: one in Germany, one in the USSR.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find the pair about killing members of the leader's own party.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pair about beliefs, which sat at opposite ends of the political spectrum.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pair left over is about building the leader himself up beyond criticism.</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secret police forces, two attacks on the leader's own party, two opposed beliefs, two ways of placing the leader above criticism.</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the pairing you think is the weakest match, and explain what makes the two sides less alike than they first appear.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2506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was the NKVD?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Stalin's secret police, who could arrest people on an informer's word alone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system of forced labour camps, most of them in Siberia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plan to modernise Soviet industry in stages of five years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small group of leading politicians who ran the Communist Party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One similarity, proved from both countries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F4F1ED"/>
          </a:solidFill>
          <a:ln/>
        </p:spPr>
      </p:sp>
      <p:sp>
        <p:nvSpPr>
          <p:cNvPr id="9" name="tickbox"/>
          <p:cNvSpPr/>
          <p:nvPr/>
        </p:nvSpPr>
        <p:spPr>
          <a:xfrm>
            <a:off x="713232" y="2209038"/>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one clear similarity in a single opening sentence.</a:t>
            </a:r>
            <a:endParaRPr lang="en-US" sz="2200" dirty="0"/>
          </a:p>
        </p:txBody>
      </p:sp>
      <p:sp>
        <p:nvSpPr>
          <p:cNvPr id="11" name="crit-box"/>
          <p:cNvSpPr/>
          <p:nvPr/>
        </p:nvSpPr>
        <p:spPr>
          <a:xfrm>
            <a:off x="548640" y="2817876"/>
            <a:ext cx="11094415" cy="742188"/>
          </a:xfrm>
          <a:prstGeom prst="roundRect">
            <a:avLst>
              <a:gd name="adj" fmla="val 12320"/>
            </a:avLst>
          </a:prstGeom>
          <a:solidFill>
            <a:srgbClr val="F4F1ED"/>
          </a:solidFill>
          <a:ln/>
        </p:spPr>
      </p:sp>
      <p:sp>
        <p:nvSpPr>
          <p:cNvPr id="12" name="tickbox"/>
          <p:cNvSpPr/>
          <p:nvPr/>
        </p:nvSpPr>
        <p:spPr>
          <a:xfrm>
            <a:off x="713232" y="3042666"/>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7876"/>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specific evidence from Germany for that similarity.</a:t>
            </a:r>
            <a:endParaRPr lang="en-US" sz="2200" dirty="0"/>
          </a:p>
        </p:txBody>
      </p:sp>
      <p:sp>
        <p:nvSpPr>
          <p:cNvPr id="14" name="crit-box"/>
          <p:cNvSpPr/>
          <p:nvPr/>
        </p:nvSpPr>
        <p:spPr>
          <a:xfrm>
            <a:off x="548640" y="3651504"/>
            <a:ext cx="11094415" cy="742188"/>
          </a:xfrm>
          <a:prstGeom prst="roundRect">
            <a:avLst>
              <a:gd name="adj" fmla="val 12320"/>
            </a:avLst>
          </a:prstGeom>
          <a:solidFill>
            <a:srgbClr val="F4F1ED"/>
          </a:solidFill>
          <a:ln/>
        </p:spPr>
      </p:sp>
      <p:sp>
        <p:nvSpPr>
          <p:cNvPr id="15" name="tickbox"/>
          <p:cNvSpPr/>
          <p:nvPr/>
        </p:nvSpPr>
        <p:spPr>
          <a:xfrm>
            <a:off x="713232" y="387629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65150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specific evidence from the USSR, introduced with the word Similarly.</a:t>
            </a:r>
            <a:endParaRPr lang="en-US" sz="2200" dirty="0"/>
          </a:p>
        </p:txBody>
      </p:sp>
      <p:sp>
        <p:nvSpPr>
          <p:cNvPr id="17" name="crit-box"/>
          <p:cNvSpPr/>
          <p:nvPr/>
        </p:nvSpPr>
        <p:spPr>
          <a:xfrm>
            <a:off x="548640" y="4485132"/>
            <a:ext cx="11094415" cy="1083056"/>
          </a:xfrm>
          <a:prstGeom prst="roundRect">
            <a:avLst>
              <a:gd name="adj" fmla="val 8443"/>
            </a:avLst>
          </a:prstGeom>
          <a:solidFill>
            <a:srgbClr val="F4F1ED"/>
          </a:solidFill>
          <a:ln/>
        </p:spPr>
      </p:sp>
      <p:sp>
        <p:nvSpPr>
          <p:cNvPr id="18" name="tickbox"/>
          <p:cNvSpPr/>
          <p:nvPr/>
        </p:nvSpPr>
        <p:spPr>
          <a:xfrm>
            <a:off x="713232" y="4880356"/>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85132"/>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the link and finish with what the evidence shows about the two dictatorships.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Model answer: One similarity, proved from both countries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similarity between Hitler's Germany and Stalin's USSR is that both leaders used terror against their own supporters, not only against their enemies. In Germany, on the Night of the Long Knives in June 1934, the SS murdered around 400 members of the Nazi Party who were pressing Hitler to carry out the party's socialist promises and to take over the army. Similarly, in the USSR the Purges reached deep inside the Communist Party, and leading communists were put on show trials where they confessed, after torture, to crimes they could not have committed. In both cases the victims were people who had helped build the regime. This meant that nobody anywhere was safe, because loyalty and service were no protection, and so no faction could form around a rival. Therefore the two dictatorships were strikingly similar in this respect, even though their beliefs sat at opposite ends of the political spectrum.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Hitler's method, Stalin's equivalent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Gestapo, Hitler's secret police  →  D  The NKVD, Stalin's secret police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Night of the Long Knives, June 1934  →  C  The Purges, 1936 to 1938</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Fascism, the Nazis' belief  →  A  Communism, Stalin's belief</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Hitler as Führer, with a personal oath of loyalty sworn to him  →  B  Stalin's cult of personality, with statues and songs in his honour</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Gestapo and the NKVD are the closest match of all: secret police who acted on informers' reports without needing proof. The Night of the Long Knives and the Purges match as terror turned inwards; fascism and communism match only in being each regime's official belief, since they were opposites; and the title of Führer matches the cult of personality as two ways of placing one man beyond criticism.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the NKVD?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Stalin's secret police, who could arrest people on an informer's word alone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NKVD was the secret police. It needed no hard evidence, and by 1934 it was no longer restricted by law.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Dictatorship · Chapter 6: How Stalin ruled, and how the two dictatorships compare</dc:title>
  <dc:subject>History · Year 9</dc:subject>
  <dc:creator>Dr Vitor Merissi de Carvalho</dc:creator>
  <cp:lastModifiedBy>Dr Vitor Merissi de Carvalho</cp:lastModifiedBy>
  <cp:revision>1</cp:revision>
  <dcterms:created xsi:type="dcterms:W3CDTF">2026-10-19T06:07:53Z</dcterms:created>
  <dcterms:modified xsi:type="dcterms:W3CDTF">2026-10-19T06:07:53Z</dcterms:modified>
</cp:coreProperties>
</file>