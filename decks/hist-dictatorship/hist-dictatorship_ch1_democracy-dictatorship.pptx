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f21871c-0814-586d-ac9a-8b876b966d68}">
          <p14:sldIdLst>
            <p14:sldId id="256"/>
          </p14:sldIdLst>
        </p14:section>
        <p14:section name="Gate" id="{0e117ca2-6cb2-ac4a-c561-f80c50798683}">
          <p14:sldIdLst>
            <p14:sldId id="257"/>
            <p14:sldId id="258"/>
            <p14:sldId id="259"/>
          </p14:sldIdLst>
        </p14:section>
        <p14:section name="Pre-teach" id="{a5350c68-910a-5788-0f3b-94eeaf62ba88}">
          <p14:sldIdLst>
            <p14:sldId id="260"/>
            <p14:sldId id="261"/>
          </p14:sldIdLst>
        </p14:section>
        <p14:section name="Read-along" id="{1f0287e1-2bc3-4bad-4804-b5f326743b85}">
          <p14:sldIdLst>
            <p14:sldId id="262"/>
            <p14:sldId id="263"/>
          </p14:sldIdLst>
        </p14:section>
        <p14:section name="Teach" id="{6ca8cbe2-fe9a-c230-56b2-ebf737e5a478}">
          <p14:sldIdLst>
            <p14:sldId id="264"/>
            <p14:sldId id="265"/>
            <p14:sldId id="266"/>
            <p14:sldId id="267"/>
            <p14:sldId id="268"/>
          </p14:sldIdLst>
        </p14:section>
        <p14:section name="Routes" id="{f2b60f52-2d36-c2c5-8230-a5ba49a323a3}">
          <p14:sldIdLst>
            <p14:sldId id="269"/>
            <p14:sldId id="270"/>
            <p14:sldId id="271"/>
            <p14:sldId id="272"/>
            <p14:sldId id="273"/>
          </p14:sldIdLst>
        </p14:section>
        <p14:section name="Close" id="{87718767-1c71-d9f5-57a7-2b180ad4496d}">
          <p14:sldIdLst>
            <p14:sldId id="274"/>
          </p14:sldIdLst>
        </p14:section>
        <p14:section name="Answers" id="{9dc76a79-8495-8cb3-7ef6-5ce6ea8a5ea8}">
          <p14:sldIdLst>
            <p14:sldId id="275"/>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 of 6: Democracy, dictatorship and totalitarianism. The four pillars that hold a democracy up, what a dictatorship puts in their place, and what historians mean by totalitarianism.
This deck covers the department's lesson: 1 (Introduction to 20th Century Dictators – Hitler &amp; Stalin: What is the difference between a democracy and a dictatorship?).
Read the big question aloud: "To what extent were the dictatorships in Hitler's Germany and Stalin's Russia similar?"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does the word democracy mean?  →  C   A system of government where the people vote and choose their leaders
2. In a dictatorship, one person has ___ power, and the rights of the people are ignored.  →  total
3. What does totalitarianism mean?  →  A   A government with complete control over the people and society, so that nobody can oppose the dictator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What does the word democracy mean?  →  C   A system of government where the people vote and choose their leaders
2. In a dictatorship, one person has ___ power, and the rights of the people are ignored.  →  total
3. What does totalitarianism mean?  →  A   A government with complete control over the people and society, so that nobody can oppose the dictator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C   A system of government where the people vote and choose their leaders. A democracy is government by choice: the people vote for their leaders, and they keep rights such as freedom of speech.
2. total. The department's definition is exact: a dictatorship is a system of government where one person has total power.
3. A   A government with complete control over the people and society, so that nobody can oppose the dictator. Totalitarianism is about the reach of the control: over the people and over society, so that no opposition is left.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democracy: a system of government where the people vote and choose their leaders. Example: "In a democracy the people choose who governs them, and can change their minds at the next election."
• dictatorship: a system of government where one person has total power. Example: "In a dictatorship the leader cannot be voted out, because there is no real vote."
• totalitarianism: a government with complete control over the people and society. Example: "Totalitarianism reaches past the law courts and into schools, newspapers and homes."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opposition: people and parties who disagree with the government and are allowed to say so. Example: "A democracy needs an opposition; a dictatorship removes it."
• separation of powers: power divided between parts of government so that each can check the others. Example: "The separation of powers means a court can tell a government it has broken the law."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In a democracy, the people vote and choose their leaders.
2. Elections happen regularly, and the vote is secret.
3. More than one party can stand, so people have a real choice.
4. People have rights, including the right to say what they think.
5. Power is shared out, so the courts can check the government.
6. In a dictatorship, one person has total power.
7. There are no free elections and no real choice.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The wishes and the rights of the people are ignored.
9. The dictator decides every law and every important decision.
10. When that control reaches into every part of life, we call it totalitarianism.
11. A totalitarian state leaves no room for opposition.
12. This unit looks at two dictatorships of the 20th century.
13. You will compare Hitler's Germany with Stalin's Russia.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makes a country a democracy?. Say it in your own words, then check understanding with a quick question: ask a pupil from the pre-teach group first, since they met these words and ideas before the lesson. Pupils try to recall before you re-explain.
A democracy is a system of government where the people vote and choose their leaders. Your lesson set out four pillars that hold a democracy up, and it is worth learning them as a set, because the rest of this unit is about what happens when they are knocked down one by one.
The first pillar is free and fair elections. They reflect the will and the opinions of the people, they happen regularly, the ballot is secret, and the majority opinion decides what happens. The second is a multi-party system: because more than one party can stand, people have a real choice, and parties have to compete by offering the best policies and ideas.
The third pillar is human and civil rights. A strong democracy protects people's interests and beliefs and the way they are allowed to express them, and freedom of speech is a major part of this. The fourth is the separation of powers: power and responsibilities are divided between different parts of government, and each part makes sure the others are not abusing their power. For example, the courts make sure the government does not break the law.
Worked example — model it step by step, thinking aloud: Explain one feature of democracy, and say whether the UK has it. (1) Name the feature in one sentence: One feature of democracy is the separation of powers. (2) Explain what it means: power is divided between different parts of government, so each can check the others. (3) Give an example of the check in action: a court can rule that the government has broken the law. (4) Judge the UK: the UK does have this feature, because its courts can and do rule against the government, even though Parliament makes the laws. Answer: Name it, explain it, give an example of the check working, then judge the UK against it: the separation of powers, courts ruling against ministers, so yes, the UK meets this feature..
Tip: Learn the four pillars as a list you can count on your fingers: elections, parties, rights, separated powers. Every dictatorship in this unit attacks all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makes a country a democracy?. Say it in your own words, then check understanding with a quick question: ask a pupil from the pre-teach group first, since they met these words and ideas before the lesson. Pupils try to recall before you re-explain.
A democracy is a system of government where the people vote and choose their leaders. Your lesson set out four pillars that hold a democracy up, and it is worth learning them as a set, because the rest of this unit is about what happens when they are knocked down one by one.
The first pillar is free and fair elections. They reflect the will and the opinions of the people, they happen regularly, the ballot is secret, and the majority opinion decides what happens. The second is a multi-party system: because more than one party can stand, people have a real choice, and parties have to compete by offering the best policies and ideas.
The third pillar is human and civil rights. A strong democracy protects people's interests and beliefs and the way they are allowed to express them, and freedom of speech is a major part of this. The fourth is the separation of powers: power and responsibilities are divided between different parts of government, and each part makes sure the others are not abusing their power. For example, the courts make sure the government does not break the law.
Worked example — model it step by step, thinking aloud: Explain one feature of democracy, and say whether the UK has it. (1) Name the feature in one sentence: One feature of democracy is the separation of powers. (2) Explain what it means: power is divided between different parts of government, so each can check the others. (3) Give an example of the check in action: a court can rule that the government has broken the law. (4) Judge the UK: the UK does have this feature, because its courts can and do rule against the government, even though Parliament makes the laws. Answer: Name it, explain it, give an example of the check working, then judge the UK against it: the separation of powers, courts ruling against ministers, so yes, the UK meets this feature..
Tip: Learn the four pillars as a list you can count on your fingers: elections, parties, rights, separated powers. Every dictatorship in this unit attacks all four.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What makes a country a dictatorship?. Say it in your own words, then check understanding with a quick question: ask a pupil from the pre-teach group first, since they met these words and ideas before the lesson. Pupils try to recall before you re-explain.
A dictatorship is a system of government where one person has total power. The people are oppressed and ignored. Your lesson put the two definitions side by side on purpose: a democracy shares power out, and a dictatorship gathers it into one pair of hands.
Compare the two against the four pillars. Elections either disappear or become a show with only one possible winner. Other parties are banned, so there is no opposition left to argue back. Rights, including freedom of speech, are removed, so criticism becomes dangerous. And the separation of powers collapses, because the courts, the police and the army all end up answering to the leader.
That is why historians do not judge a dictatorship simply by how harsh its leader sounds. They ask a sharper question: who, if anyone, is left who could say no? In a democracy the answer is a long list, including voters, rival parties, judges and journalists. In a dictatorship the list is empty.
Tip: A useful test for any country: name one person or group who could legally stop the leader. If you cannot, you are looking at a dictatorship.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Totalitarianism: control over everything. Say it in your own words, then check understanding with a quick question: ask a pupil from the pre-teach group first, since they met these words and ideas before the lesson. Pupils try to recall before you re-explain.
A dictator rules a country outright. Every law and every important decision is his to make, and what the people want, or are entitled to, counts for nothing beside what he wants. Holding on to that position takes more than controlling the government, so a dictatorship reaches into the whole of people's lives: their work, their schooling, their newspapers and their free time. Your lesson gives that reach a name: totalitarianism.
Totalitarianism, as your lesson defines it, is government that controls people and society so completely that the dictator's power can never be challenged. Nobody keeps any rights or personal freedoms, and no opposition is allowed to exist at all. The word matters because it points at the reach of the control, not just its harshness.
Your lesson listed the levers a totalitarian state pulls: elections, the police and the army, opposition parties, and the media and the press. Keep that list beside you. In chapters 3, 4 and 6 you will see Hitler and Stalin pulling exactly these levers, and you will be asked how similar their methods were.
Tip: Dictatorship describes who holds power. Totalitarianism describes how far that power reaches. A question about control of schools or newspapers is a question about totalitarianism.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The two dictatorships you will compare. Say it in your own words, then check understanding with a quick question: ask a pupil from the pre-teach group first, since they met these words and ideas before the lesson. Pupils try to recall before you re-explain.
The enquiry question for this unit is the one your department set: to what extent were the dictatorships in Hitler's Germany and Stalin's Russia similar? You will answer it under three headings, which are the ones the assessment uses: their beliefs, their rise to power, and their rule over their countries.
Keep the headings in mind as you read, because a good comparison is not a list of facts about two men. It is an argument about where the two dictatorships line up and where they part company, with evidence from both sides for each point you make.
Tip: Start a two-column page now, one column for Germany and one for the USSR, with rows for beliefs, rise to power and rule. Fill it in as you work through the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The four pillars of democracy.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pillar of democracy to the explanation of what it does.
Support — work through the steps with the group: (1) Find the explanation that mentions voting. That one belongs to elections. (2) Find the explanation that mentions choice and competition between parties. That one belongs to the multi-party system. (3) Find the explanation that mentions freedom of speech. Rights are about what people are allowed to say and believe. (4) The explanation left over mentions the courts checking the government, which is the separation of powers.
Parallel worked example for Support (model it, do not give the task answer): Match each part of a school council to what it does: the student vote, the council meeting, the head teacher's veto. The student vote is how representatives are chosen.; The council meeting is where ideas are argued over and decided.; The head teacher's veto is the check on the council's decisions.. Answer: Student vote to choosing representatives; council meeting to debating and deciding; head teacher's veto to checking the decision..
Core — reveal the hint only on request: One explanation mentions ballots, one mentions competing parties, one mentions freedom of speech, and one mentions the courts.
Stretch — no help; when finished: Pick two of the four pillars and explain whether you think the UK meets them, giving one piece of evidence for each judgement.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The four pillars of democracy.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pillar of democracy to the explanation of what it does.
Support — work through the steps with the group: (1) Find the explanation that mentions voting. That one belongs to elections. (2) Find the explanation that mentions choice and competition between parties. That one belongs to the multi-party system. (3) Find the explanation that mentions freedom of speech. Rights are about what people are allowed to say and believe. (4) The explanation left over mentions the courts checking the government, which is the separation of powers.
Parallel worked example for Support (model it, do not give the task answer): Match each part of a school council to what it does: the student vote, the council meeting, the head teacher's veto. The student vote is how representatives are chosen.; The council meeting is where ideas are argued over and decided.; The head teacher's veto is the check on the council's decisions.. Answer: Student vote to choosing representatives; council meeting to debating and deciding; head teacher's veto to checking the decision..
Core — reveal the hint only on request: One explanation mentions ballots, one mentions competing parties, one mentions freedom of speech, and one mentions the courts.
Stretch — no help; when finished: Pick two of the four pillars and explain whether you think the UK meets them, giving one piece of evidence for each judgement.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The four pillars of democracy.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pillar of democracy to the explanation of what it does.
Support — work through the steps with the group: (1) Find the explanation that mentions voting. That one belongs to elections. (2) Find the explanation that mentions choice and competition between parties. That one belongs to the multi-party system. (3) Find the explanation that mentions freedom of speech. Rights are about what people are allowed to say and believe. (4) The explanation left over mentions the courts checking the government, which is the separation of powers.
Parallel worked example for Support (model it, do not give the task answer): Match each part of a school council to what it does: the student vote, the council meeting, the head teacher's veto. The student vote is how representatives are chosen.; The council meeting is where ideas are argued over and decided.; The head teacher's veto is the check on the council's decisions.. Answer: Student vote to choosing representatives; council meeting to debating and deciding; head teacher's veto to checking the decision..
Core — reveal the hint only on request: One explanation mentions ballots, one mentions competing parties, one mentions freedom of speech, and one mentions the courts.
Stretch — no help; when finished: Pick two of the four pillars and explain whether you think the UK meets them, giving one piece of evidence for each judgement.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Democracy against dictatorship.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Explain the main difference between a democracy and a dictatorship. Use at least two features of each. Write one paragraph of four to six sentences.
Support — work through the steps with the group: (1) Sentence 1: The main difference between a democracy and a dictatorship is… (2) Sentences 2 and 3: name two features of a democracy and say what each one does for the people. (3) Sentence 4: say what a dictatorship does instead, using because. (4) Sentence 5: finish with the word totalitarianism and what it adds to the picture.
Parallel worked example for Support (model it, do not give the task answer): Explain the main difference between a school with a student council and a school with none. Name the difference: whether students have any say in decisions.; Give a feature of the council school: elected representatives who can raise problems.; Say what happens without it: decisions are made about students without asking them.. Answer: The difference is whether students have a voice: elected representatives can raise problems, and without a council decisions are simply announced..
Core — reveal the hint only on request: Write about power: who has it, who chose them, and who is allowed to argue back. Two features of each system, then the word totalitarianism.
Stretch — no help; when finished: Some people argue a dictatorship can act faster than a democracy in a crisis. Explain why historians are still not persuaded that this is an advantage.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Democracy against dictatorship.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Explain the main difference between a democracy and a dictatorship. Use at least two features of each. Write one paragraph of four to six sentences.
Support — work through the steps with the group: (1) Sentence 1: The main difference between a democracy and a dictatorship is… (2) Sentences 2 and 3: name two features of a democracy and say what each one does for the people. (3) Sentence 4: say what a dictatorship does instead, using because. (4) Sentence 5: finish with the word totalitarianism and what it adds to the picture.
Parallel worked example for Support (model it, do not give the task answer): Explain the main difference between a school with a student council and a school with none. Name the difference: whether students have any say in decisions.; Give a feature of the council school: elected representatives who can raise problems.; Say what happens without it: decisions are made about students without asking them.. Answer: The difference is whether students have a voice: elected representatives can raise problems, and without a council decisions are simply announced..
Core — reveal the hint only on request: Write about power: who has it, who chose them, and who is allowed to argue back. Two features of each system, then the word totalitarianism.
Stretch — no help; when finished: Some people argue a dictatorship can act faster than a democracy in a crisis. Explain why historians are still not persuaded that this is an advantage.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What does the word democracy mean?
Answer: B   A system of government where the people vote and choose their leaders. A democracy is government by choice: the people vote for their leaders, and they keep rights such as freedom of speech.
Source of this question: gate item 1 re-asked (options rotated) — this chapter has no third quick-check module.
The ebook also holds task 3, "Spotting a dictatorship",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The four pillars of democracy. Reveal the answer; pupils mark their own work in a different colour, then read the "why" together. Same destination for every lane, so one answer serves the whole class.
Answer: Free and fair elections  →  B  Regular, secret ballots in which the majority opinion decides what happens; A multi-party system  →  A  A wide range of ideas and a real choice, because parties compete to offer the best policies; Human and civil rights  →  D  Protection for people's interests and beliefs, with freedom of speech a major part of it; Separation of powers  →  C  Power divided between parts of government, so the courts can stop the government breaking the law
Why: Elections are about how leaders are chosen; a multi-party system is about choice; rights are about what people may say and believe; the separation of powers is about who can check the government. A dictatorship attacks all four.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Democracy against dictatorship. Reveal the answer; pupils mark their own work in a different colour, then read the "why" together. Same destination for every lane, so one answer serves the whole class.
Answer: I state the main difference in one clear sentence.; I name at least two features of a democracy and explain what each one does.; I name at least two things a dictatorship does instead, and use the word because.; I use at least two key words from this chapter correctly, such as totalitarianism, opposition or separation of powers.
Why: A strong answer makes the difference about power and accountability, not about how unpleasant a leader is. The best answers end on totalitarianism, because that word names how far the control reaches.
Model answer: The main difference between a democracy and a dictatorship is who holds power and who is able to take it away. In a democracy the people vote and choose their leaders in regular, secret elections, and more than one party can stand, so voters have a real choice and can remove a government they dislike. A democracy also protects rights such as freedom of speech, and it separates powers, so that the courts can rule that the government has broken the law. A dictatorship removes all of this, because one person has total power: elections stop being real, opposition parties are banned, and criticism becomes dangerous. When that control spreads into schools, newspapers and private life as well, historians call it totalitarianism.
Success criteria: I state the main difference in one clear sentence.; I name at least two features of a democracy and explain what each one does.; I name at least two things a dictatorship does instead, and use the word because.; I use at least two key words from this chapter correctly, such as totalitarianism, opposition or separation of powers.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Democracy against dictatorship. Reveal the answer; pupils mark their own work in a different colour, then read the "why" together. Same destination for every lane, so one answer serves the whole class.
Answer: I state the main difference in one clear sentence.; I name at least two features of a democracy and explain what each one does.; I name at least two things a dictatorship does instead, and use the word because.; I use at least two key words from this chapter correctly, such as totalitarianism, opposition or separation of powers.
Why: A strong answer makes the difference about power and accountability, not about how unpleasant a leader is. The best answers end on totalitarianism, because that word names how far the control reaches.
Model answer: The main difference between a democracy and a dictatorship is who holds power and who is able to take it away. In a democracy the people vote and choose their leaders in regular, secret elections, and more than one party can stand, so voters have a real choice and can remove a government they dislike. A democracy also protects rights such as freedom of speech, and it separates powers, so that the courts can rule that the government has broken the law. A dictatorship removes all of this, because one person has total power: elections stop being real, opposition parties are banned, and criticism becomes dangerous. When that control spreads into schools, newspapers and private life as well, historians call it totalitarianism.
Success criteria: I state the main difference in one clear sentence.; I name at least two features of a democracy and explain what each one does.; I name at least two things a dictatorship does instead, and use the word because.; I use at least two key words from this chapter correctly, such as totalitarianism, opposition or separation of powers.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B   A system of government where the people vote and choose their leaders
Why: A democracy is government by choice: the people vote for their leaders, and they keep rights such as freedom of speech.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DED7"/>
          </a:solidFill>
          <a:ln w="12700">
            <a:solidFill>
              <a:srgbClr val="E7DED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9 · Dictatorship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8F7F4"/>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E7DED7"/>
          </a:solidFill>
          <a:ln w="12700">
            <a:solidFill>
              <a:srgbClr val="E7DED7"/>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History · Year 9 · Dictatorship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7A4A1E"/>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E4DBD2"/>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7A4A1E"/>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1</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7A4A1E"/>
                </a:solidFill>
                <a:latin typeface="Calibri" pitchFamily="34" charset="0"/>
                <a:ea typeface="Calibri" pitchFamily="34" charset="-122"/>
                <a:cs typeface="Calibri" pitchFamily="34" charset="-120"/>
              </a:rPr>
              <a:t>History · Year 9</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1/6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Dictatorship · AQA KS3 → 8145</a:t>
            </a:r>
            <a:endParaRPr lang="en-US" sz="1800" dirty="0"/>
          </a:p>
        </p:txBody>
      </p:sp>
      <p:sp>
        <p:nvSpPr>
          <p:cNvPr id="10" name="deck-title"/>
          <p:cNvSpPr txBox="1"/>
          <p:nvPr/>
        </p:nvSpPr>
        <p:spPr>
          <a:xfrm>
            <a:off x="548640" y="2370328"/>
            <a:ext cx="5287975" cy="1183640"/>
          </a:xfrm>
          <a:prstGeom prst="rect">
            <a:avLst/>
          </a:prstGeom>
          <a:noFill/>
          <a:ln/>
        </p:spPr>
        <p:txBody>
          <a:bodyPr wrap="square" lIns="63500" tIns="63500" rIns="63500" bIns="63500" rtlCol="0" anchor="t"/>
          <a:lstStyle/>
          <a:p>
            <a:pPr algn="l" indent="0" marL="0">
              <a:buNone/>
            </a:pPr>
            <a:r>
              <a:rPr lang="en-US" sz="3200" b="1" dirty="0">
                <a:solidFill>
                  <a:srgbClr val="1E2229"/>
                </a:solidFill>
                <a:latin typeface="Cambria" pitchFamily="34" charset="0"/>
                <a:ea typeface="Cambria" pitchFamily="34" charset="-122"/>
                <a:cs typeface="Cambria" pitchFamily="34" charset="-120"/>
              </a:rPr>
              <a:t>Democracy, dictatorship and totalitarianism</a:t>
            </a:r>
            <a:endParaRPr lang="en-US" sz="3200" dirty="0"/>
          </a:p>
        </p:txBody>
      </p:sp>
      <p:sp>
        <p:nvSpPr>
          <p:cNvPr id="11" name="lessons-card"/>
          <p:cNvSpPr/>
          <p:nvPr/>
        </p:nvSpPr>
        <p:spPr>
          <a:xfrm>
            <a:off x="548640" y="3782568"/>
            <a:ext cx="5287975" cy="1290320"/>
          </a:xfrm>
          <a:prstGeom prst="roundRect">
            <a:avLst>
              <a:gd name="adj" fmla="val 5669"/>
            </a:avLst>
          </a:prstGeom>
          <a:solidFill>
            <a:srgbClr val="F2EDE9"/>
          </a:solidFill>
          <a:ln/>
        </p:spPr>
      </p:sp>
      <p:sp>
        <p:nvSpPr>
          <p:cNvPr id="12" name="lessons"/>
          <p:cNvSpPr txBox="1"/>
          <p:nvPr/>
        </p:nvSpPr>
        <p:spPr>
          <a:xfrm>
            <a:off x="685800" y="3874008"/>
            <a:ext cx="5013655" cy="110744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7A4A1E"/>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Introduction to 20th Century Dictators – Hitler &amp; Stalin</a:t>
            </a:r>
            <a:endParaRPr lang="en-US" sz="2000" dirty="0"/>
          </a:p>
        </p:txBody>
      </p:sp>
      <p:sp>
        <p:nvSpPr>
          <p:cNvPr id="13" name="plate-frame"/>
          <p:cNvSpPr/>
          <p:nvPr/>
        </p:nvSpPr>
        <p:spPr>
          <a:xfrm>
            <a:off x="6248095" y="411480"/>
            <a:ext cx="5394960" cy="3130677"/>
          </a:xfrm>
          <a:prstGeom prst="rect">
            <a:avLst/>
          </a:prstGeom>
          <a:solidFill>
            <a:srgbClr val="F2E9D9"/>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History, Year 9">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F2EDE9"/>
          </a:solidFill>
          <a:ln w="12700">
            <a:solidFill>
              <a:srgbClr val="CAB7A5"/>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7A4A1E"/>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To what extent were the dictatorships in Hitler's Germany and Stalin's Russia similar?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5410048" cy="4754880"/>
          </a:xfrm>
          <a:prstGeom prst="roundRect">
            <a:avLst>
              <a:gd name="adj" fmla="val 1154"/>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440420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504428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What does the word democracy mean?</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A system of government in which the richest people make the laws</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A system of government where one person has total power</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A system of government where the people vote and choose their leaders</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A system of government in which the army chooses the leader</a:t>
            </a:r>
            <a:endParaRPr lang="en-US" sz="2200" dirty="0"/>
          </a:p>
        </p:txBody>
      </p:sp>
      <p:sp>
        <p:nvSpPr>
          <p:cNvPr id="12" name="card"/>
          <p:cNvSpPr/>
          <p:nvPr/>
        </p:nvSpPr>
        <p:spPr>
          <a:xfrm>
            <a:off x="6233008" y="1389888"/>
            <a:ext cx="5410048" cy="4754880"/>
          </a:xfrm>
          <a:prstGeom prst="roundRect">
            <a:avLst>
              <a:gd name="adj" fmla="val 1154"/>
            </a:avLst>
          </a:prstGeom>
          <a:solidFill>
            <a:srgbClr val="F6F2EF"/>
          </a:solidFill>
          <a:ln w="12700">
            <a:solidFill>
              <a:srgbClr val="D0C0B0"/>
            </a:solidFill>
            <a:prstDash val="solid"/>
          </a:ln>
        </p:spPr>
      </p:sp>
      <p:sp>
        <p:nvSpPr>
          <p:cNvPr id="13" name="card-hex"/>
          <p:cNvSpPr/>
          <p:nvPr/>
        </p:nvSpPr>
        <p:spPr>
          <a:xfrm>
            <a:off x="6415888" y="1572768"/>
            <a:ext cx="640080" cy="554309"/>
          </a:xfrm>
          <a:prstGeom prst="hexagon">
            <a:avLst/>
          </a:prstGeom>
          <a:solidFill>
            <a:srgbClr val="7A4A1E"/>
          </a:solidFill>
          <a:ln/>
        </p:spPr>
      </p:sp>
      <p:sp>
        <p:nvSpPr>
          <p:cNvPr id="14" name="card-hex-label"/>
          <p:cNvSpPr txBox="1"/>
          <p:nvPr/>
        </p:nvSpPr>
        <p:spPr>
          <a:xfrm>
            <a:off x="641588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7147408" y="1572768"/>
            <a:ext cx="440420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Fill the gap</a:t>
            </a:r>
            <a:endParaRPr lang="en-US" sz="1800" dirty="0"/>
          </a:p>
        </p:txBody>
      </p:sp>
      <p:sp>
        <p:nvSpPr>
          <p:cNvPr id="16" name="card-body"/>
          <p:cNvSpPr txBox="1"/>
          <p:nvPr/>
        </p:nvSpPr>
        <p:spPr>
          <a:xfrm>
            <a:off x="6415888" y="2355677"/>
            <a:ext cx="504428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In a dictatorship, one person has ___ power, and the rights of the people are ignored.</a:t>
            </a:r>
            <a:endParaRPr lang="en-US" sz="2400" dirty="0"/>
          </a:p>
          <a:p>
            <a:pPr algn="l" indent="0" marL="0">
              <a:buNone/>
            </a:pPr>
            <a:r>
              <a:rPr lang="en-US" sz="2400" b="1" dirty="0">
                <a:solidFill>
                  <a:srgbClr val="7A4A1E"/>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total  ·  shared  ·  limited</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Do now: three from memory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11094415" cy="4754880"/>
          </a:xfrm>
          <a:prstGeom prst="roundRect">
            <a:avLst>
              <a:gd name="adj" fmla="val 1154"/>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0" name="card-label"/>
          <p:cNvSpPr txBox="1"/>
          <p:nvPr/>
        </p:nvSpPr>
        <p:spPr>
          <a:xfrm>
            <a:off x="1463040" y="1572768"/>
            <a:ext cx="10088575"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10728655"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What does totalitarianism mean?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government with complete control over the people and society, so that nobody can oppose the dictator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government in which every citizen is required by law to vote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government that has won a very large majority in a free and fair election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government that rules more than one country at the same time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F6F2EF"/>
          </a:solidFill>
          <a:ln w="12700">
            <a:solidFill>
              <a:srgbClr val="D0C0B0"/>
            </a:solidFill>
            <a:prstDash val="solid"/>
          </a:ln>
        </p:spPr>
      </p:sp>
      <p:sp>
        <p:nvSpPr>
          <p:cNvPr id="8" name="card-hex"/>
          <p:cNvSpPr/>
          <p:nvPr/>
        </p:nvSpPr>
        <p:spPr>
          <a:xfrm>
            <a:off x="731520" y="1572768"/>
            <a:ext cx="640080" cy="554309"/>
          </a:xfrm>
          <a:prstGeom prst="hexagon">
            <a:avLst/>
          </a:prstGeom>
          <a:solidFill>
            <a:srgbClr val="7A4A1E"/>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1636776"/>
          </a:xfrm>
          <a:prstGeom prst="roundRect">
            <a:avLst>
              <a:gd name="adj" fmla="val 6704"/>
            </a:avLst>
          </a:prstGeom>
          <a:solidFill>
            <a:srgbClr val="EDE1CA"/>
          </a:solidFill>
          <a:ln w="19050">
            <a:solidFill>
              <a:srgbClr val="B8862B"/>
            </a:solidFill>
            <a:prstDash val="solid"/>
          </a:ln>
        </p:spPr>
      </p:sp>
      <p:sp>
        <p:nvSpPr>
          <p:cNvPr id="12" name="answer"/>
          <p:cNvSpPr txBox="1"/>
          <p:nvPr/>
        </p:nvSpPr>
        <p:spPr>
          <a:xfrm>
            <a:off x="822960" y="2428829"/>
            <a:ext cx="2966618" cy="1490472"/>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C   A system of government where the people vote and choose their leaders</a:t>
            </a:r>
            <a:endParaRPr lang="en-US" sz="2200" dirty="0"/>
          </a:p>
        </p:txBody>
      </p:sp>
      <p:sp>
        <p:nvSpPr>
          <p:cNvPr id="13" name="card-body"/>
          <p:cNvSpPr txBox="1"/>
          <p:nvPr/>
        </p:nvSpPr>
        <p:spPr>
          <a:xfrm>
            <a:off x="731520" y="4175333"/>
            <a:ext cx="3149498" cy="1832275"/>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A democracy is government by choice: the people vote for their leaders, and they keep rights such as freedom of speech.</a:t>
            </a:r>
            <a:endParaRPr lang="en-US" sz="1800" dirty="0"/>
          </a:p>
        </p:txBody>
      </p:sp>
      <p:sp>
        <p:nvSpPr>
          <p:cNvPr id="14" name="card"/>
          <p:cNvSpPr/>
          <p:nvPr/>
        </p:nvSpPr>
        <p:spPr>
          <a:xfrm>
            <a:off x="4338218" y="1389888"/>
            <a:ext cx="3515258" cy="4754880"/>
          </a:xfrm>
          <a:prstGeom prst="roundRect">
            <a:avLst>
              <a:gd name="adj" fmla="val 1561"/>
            </a:avLst>
          </a:prstGeom>
          <a:solidFill>
            <a:srgbClr val="F6F2EF"/>
          </a:solidFill>
          <a:ln w="12700">
            <a:solidFill>
              <a:srgbClr val="D0C0B0"/>
            </a:solidFill>
            <a:prstDash val="solid"/>
          </a:ln>
        </p:spPr>
      </p:sp>
      <p:sp>
        <p:nvSpPr>
          <p:cNvPr id="15" name="card-hex"/>
          <p:cNvSpPr/>
          <p:nvPr/>
        </p:nvSpPr>
        <p:spPr>
          <a:xfrm>
            <a:off x="4521098" y="1572768"/>
            <a:ext cx="640080" cy="554309"/>
          </a:xfrm>
          <a:prstGeom prst="hexagon">
            <a:avLst/>
          </a:prstGeom>
          <a:solidFill>
            <a:srgbClr val="7A4A1E"/>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DE1CA"/>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total</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In a dictatorship, one person has ___ power, and the rights of the people are ignored.</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The department's definition is exact: a dictatorship is a system of government where one person has total power.</a:t>
            </a:r>
            <a:endParaRPr lang="en-US" sz="1800" dirty="0"/>
          </a:p>
        </p:txBody>
      </p:sp>
      <p:sp>
        <p:nvSpPr>
          <p:cNvPr id="21" name="card"/>
          <p:cNvSpPr/>
          <p:nvPr/>
        </p:nvSpPr>
        <p:spPr>
          <a:xfrm>
            <a:off x="8127797" y="1389888"/>
            <a:ext cx="3515258" cy="4754880"/>
          </a:xfrm>
          <a:prstGeom prst="roundRect">
            <a:avLst>
              <a:gd name="adj" fmla="val 1561"/>
            </a:avLst>
          </a:prstGeom>
          <a:solidFill>
            <a:srgbClr val="F6F2EF"/>
          </a:solidFill>
          <a:ln w="12700">
            <a:solidFill>
              <a:srgbClr val="D0C0B0"/>
            </a:solidFill>
            <a:prstDash val="solid"/>
          </a:ln>
        </p:spPr>
      </p:sp>
      <p:sp>
        <p:nvSpPr>
          <p:cNvPr id="22" name="card-hex"/>
          <p:cNvSpPr/>
          <p:nvPr/>
        </p:nvSpPr>
        <p:spPr>
          <a:xfrm>
            <a:off x="8310677" y="1572768"/>
            <a:ext cx="640080" cy="554309"/>
          </a:xfrm>
          <a:prstGeom prst="hexagon">
            <a:avLst/>
          </a:prstGeom>
          <a:solidFill>
            <a:srgbClr val="7A4A1E"/>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1977644"/>
          </a:xfrm>
          <a:prstGeom prst="roundRect">
            <a:avLst>
              <a:gd name="adj" fmla="val 5548"/>
            </a:avLst>
          </a:prstGeom>
          <a:solidFill>
            <a:srgbClr val="EDE1CA"/>
          </a:solidFill>
          <a:ln w="19050">
            <a:solidFill>
              <a:srgbClr val="B8862B"/>
            </a:solidFill>
            <a:prstDash val="solid"/>
          </a:ln>
        </p:spPr>
      </p:sp>
      <p:sp>
        <p:nvSpPr>
          <p:cNvPr id="26" name="answer"/>
          <p:cNvSpPr txBox="1"/>
          <p:nvPr/>
        </p:nvSpPr>
        <p:spPr>
          <a:xfrm>
            <a:off x="8402117" y="2428829"/>
            <a:ext cx="2966618" cy="1831340"/>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A government with complete control over the people and society, so that nobody can oppose the dictator</a:t>
            </a:r>
            <a:endParaRPr lang="en-US" sz="2200" dirty="0"/>
          </a:p>
        </p:txBody>
      </p:sp>
      <p:sp>
        <p:nvSpPr>
          <p:cNvPr id="27" name="card-body"/>
          <p:cNvSpPr txBox="1"/>
          <p:nvPr/>
        </p:nvSpPr>
        <p:spPr>
          <a:xfrm>
            <a:off x="8310677" y="4516201"/>
            <a:ext cx="3149498" cy="1491407"/>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Totalitarianism is about the reach of the control: over the people and over society, so that no opposition is left.</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F4F1ED"/>
          </a:solidFill>
          <a:ln w="12700">
            <a:solidFill>
              <a:srgbClr val="CAB7A5"/>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democracy</a:t>
            </a:r>
            <a:endParaRPr lang="en-US" sz="2600" dirty="0"/>
          </a:p>
        </p:txBody>
      </p:sp>
      <p:sp>
        <p:nvSpPr>
          <p:cNvPr id="11" name="word-rule"/>
          <p:cNvSpPr/>
          <p:nvPr/>
        </p:nvSpPr>
        <p:spPr>
          <a:xfrm>
            <a:off x="731520" y="2129028"/>
            <a:ext cx="3149498" cy="0"/>
          </a:xfrm>
          <a:prstGeom prst="line">
            <a:avLst/>
          </a:prstGeom>
          <a:ln w="12700">
            <a:solidFill>
              <a:srgbClr val="CAB7A5"/>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system of government where the people vote and choose their leaders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In a democracy the people choose who governs them, and can change their minds at the next election.</a:t>
            </a:r>
            <a:endParaRPr lang="en-US" sz="2200" dirty="0"/>
          </a:p>
        </p:txBody>
      </p:sp>
      <p:sp>
        <p:nvSpPr>
          <p:cNvPr id="13" name="word-card"/>
          <p:cNvSpPr/>
          <p:nvPr/>
        </p:nvSpPr>
        <p:spPr>
          <a:xfrm>
            <a:off x="4338218" y="1389888"/>
            <a:ext cx="3515258" cy="4754880"/>
          </a:xfrm>
          <a:prstGeom prst="roundRect">
            <a:avLst>
              <a:gd name="adj" fmla="val 1561"/>
            </a:avLst>
          </a:prstGeom>
          <a:solidFill>
            <a:srgbClr val="F4F1ED"/>
          </a:solidFill>
          <a:ln w="12700">
            <a:solidFill>
              <a:srgbClr val="CAB7A5"/>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dictatorship</a:t>
            </a:r>
            <a:endParaRPr lang="en-US" sz="2600" dirty="0"/>
          </a:p>
        </p:txBody>
      </p:sp>
      <p:sp>
        <p:nvSpPr>
          <p:cNvPr id="17" name="word-rule"/>
          <p:cNvSpPr/>
          <p:nvPr/>
        </p:nvSpPr>
        <p:spPr>
          <a:xfrm>
            <a:off x="4521098" y="2129028"/>
            <a:ext cx="3149498" cy="0"/>
          </a:xfrm>
          <a:prstGeom prst="line">
            <a:avLst/>
          </a:prstGeom>
          <a:ln w="12700">
            <a:solidFill>
              <a:srgbClr val="CAB7A5"/>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system of government where one person has total power</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In a dictatorship the leader cannot be voted out, because there is no real vote.</a:t>
            </a:r>
            <a:endParaRPr lang="en-US" sz="2200" dirty="0"/>
          </a:p>
        </p:txBody>
      </p:sp>
      <p:sp>
        <p:nvSpPr>
          <p:cNvPr id="19" name="word-card"/>
          <p:cNvSpPr/>
          <p:nvPr/>
        </p:nvSpPr>
        <p:spPr>
          <a:xfrm>
            <a:off x="8127797" y="1389888"/>
            <a:ext cx="3515258" cy="4754880"/>
          </a:xfrm>
          <a:prstGeom prst="roundRect">
            <a:avLst>
              <a:gd name="adj" fmla="val 1561"/>
            </a:avLst>
          </a:prstGeom>
          <a:solidFill>
            <a:srgbClr val="F4F1ED"/>
          </a:solidFill>
          <a:ln w="12700">
            <a:solidFill>
              <a:srgbClr val="CAB7A5"/>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totalitarianism</a:t>
            </a:r>
            <a:endParaRPr lang="en-US" sz="2600" dirty="0"/>
          </a:p>
        </p:txBody>
      </p:sp>
      <p:sp>
        <p:nvSpPr>
          <p:cNvPr id="23" name="word-rule"/>
          <p:cNvSpPr/>
          <p:nvPr/>
        </p:nvSpPr>
        <p:spPr>
          <a:xfrm>
            <a:off x="8310677" y="2129028"/>
            <a:ext cx="3149498" cy="0"/>
          </a:xfrm>
          <a:prstGeom prst="line">
            <a:avLst/>
          </a:prstGeom>
          <a:ln w="12700">
            <a:solidFill>
              <a:srgbClr val="CAB7A5"/>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government with complete control over the people and society</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Totalitarianism reaches past the law courts and into schools, newspapers and homes.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5410048" cy="4754880"/>
          </a:xfrm>
          <a:prstGeom prst="roundRect">
            <a:avLst>
              <a:gd name="adj" fmla="val 1154"/>
            </a:avLst>
          </a:prstGeom>
          <a:solidFill>
            <a:srgbClr val="F4F1ED"/>
          </a:solidFill>
          <a:ln w="12700">
            <a:solidFill>
              <a:srgbClr val="CAB7A5"/>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opposition</a:t>
            </a:r>
            <a:endParaRPr lang="en-US" sz="2600" dirty="0"/>
          </a:p>
        </p:txBody>
      </p:sp>
      <p:sp>
        <p:nvSpPr>
          <p:cNvPr id="11" name="word-rule"/>
          <p:cNvSpPr/>
          <p:nvPr/>
        </p:nvSpPr>
        <p:spPr>
          <a:xfrm>
            <a:off x="731520" y="2129028"/>
            <a:ext cx="5044288" cy="0"/>
          </a:xfrm>
          <a:prstGeom prst="line">
            <a:avLst/>
          </a:prstGeom>
          <a:ln w="12700">
            <a:solidFill>
              <a:srgbClr val="CAB7A5"/>
            </a:solidFill>
            <a:prstDash val="solid"/>
          </a:ln>
        </p:spPr>
      </p:sp>
      <p:sp>
        <p:nvSpPr>
          <p:cNvPr id="12" name="word-body"/>
          <p:cNvSpPr txBox="1"/>
          <p:nvPr/>
        </p:nvSpPr>
        <p:spPr>
          <a:xfrm>
            <a:off x="731520"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people and parties who disagree with the government and are allowed to say so</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democracy needs an opposition; a dictatorship removes it.</a:t>
            </a:r>
            <a:endParaRPr lang="en-US" sz="2200" dirty="0"/>
          </a:p>
        </p:txBody>
      </p:sp>
      <p:sp>
        <p:nvSpPr>
          <p:cNvPr id="13" name="word-card"/>
          <p:cNvSpPr/>
          <p:nvPr/>
        </p:nvSpPr>
        <p:spPr>
          <a:xfrm>
            <a:off x="6233008" y="1389888"/>
            <a:ext cx="5410048" cy="4754880"/>
          </a:xfrm>
          <a:prstGeom prst="roundRect">
            <a:avLst>
              <a:gd name="adj" fmla="val 1154"/>
            </a:avLst>
          </a:prstGeom>
          <a:solidFill>
            <a:srgbClr val="F4F1ED"/>
          </a:solidFill>
          <a:ln w="12700">
            <a:solidFill>
              <a:srgbClr val="CAB7A5"/>
            </a:solidFill>
            <a:prstDash val="solid"/>
          </a:ln>
        </p:spPr>
      </p:sp>
      <p:sp>
        <p:nvSpPr>
          <p:cNvPr id="14" name="word-hex"/>
          <p:cNvSpPr/>
          <p:nvPr/>
        </p:nvSpPr>
        <p:spPr>
          <a:xfrm>
            <a:off x="6370168" y="1587414"/>
            <a:ext cx="502920" cy="435529"/>
          </a:xfrm>
          <a:prstGeom prst="hexagon">
            <a:avLst/>
          </a:prstGeom>
          <a:solidFill>
            <a:srgbClr val="B8862B"/>
          </a:solidFill>
          <a:ln/>
        </p:spPr>
      </p:sp>
      <p:sp>
        <p:nvSpPr>
          <p:cNvPr id="15" name="word-hex-label"/>
          <p:cNvSpPr txBox="1"/>
          <p:nvPr/>
        </p:nvSpPr>
        <p:spPr>
          <a:xfrm>
            <a:off x="637016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6964528" y="1527048"/>
            <a:ext cx="4541368" cy="556260"/>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separation of powers</a:t>
            </a:r>
            <a:endParaRPr lang="en-US" sz="2600" dirty="0"/>
          </a:p>
        </p:txBody>
      </p:sp>
      <p:sp>
        <p:nvSpPr>
          <p:cNvPr id="17" name="word-rule"/>
          <p:cNvSpPr/>
          <p:nvPr/>
        </p:nvSpPr>
        <p:spPr>
          <a:xfrm>
            <a:off x="6415888" y="2129028"/>
            <a:ext cx="5044288" cy="0"/>
          </a:xfrm>
          <a:prstGeom prst="line">
            <a:avLst/>
          </a:prstGeom>
          <a:ln w="12700">
            <a:solidFill>
              <a:srgbClr val="CAB7A5"/>
            </a:solidFill>
            <a:prstDash val="solid"/>
          </a:ln>
        </p:spPr>
      </p:sp>
      <p:sp>
        <p:nvSpPr>
          <p:cNvPr id="18" name="word-body"/>
          <p:cNvSpPr txBox="1"/>
          <p:nvPr/>
        </p:nvSpPr>
        <p:spPr>
          <a:xfrm>
            <a:off x="6415888" y="2174748"/>
            <a:ext cx="504428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power divided between parts of government so that each can check the others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separation of powers means a court can tell a government it has broken the law.</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6F2EF"/>
          </a:solidFill>
          <a:ln w="12700">
            <a:solidFill>
              <a:srgbClr val="D7C9BC"/>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a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democracy</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the people vote and choose their leaders.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Elections happen regularly, and the vote is secret.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More than one party can stand, so people have a real choice.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People have rights, including the right to say what they think.</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Power is shared out, so the courts can check the government.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a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dictatorship</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one person has total power.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There are no free elections and no real choice.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7A4A1E"/>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F6F2EF"/>
          </a:solidFill>
          <a:ln w="12700">
            <a:solidFill>
              <a:srgbClr val="D7C9BC"/>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wishes and the rights of the people are ignored.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dictator decides every law and every important decision.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When that control reaches into every part of life, we call it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totalitarianism</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totalitarian state leaves no room for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opposition</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This unit looks at two </a:t>
            </a:r>
            <a:pPr algn="l" indent="0" marL="0">
              <a:spcAft>
                <a:spcPts val="600"/>
              </a:spcAft>
              <a:buNone/>
            </a:pPr>
            <a:r>
              <a:rPr lang="en-US" sz="2400" b="1" dirty="0">
                <a:solidFill>
                  <a:srgbClr val="7A4A1E"/>
                </a:solidFill>
                <a:latin typeface="Calibri" pitchFamily="34" charset="0"/>
                <a:ea typeface="Calibri" pitchFamily="34" charset="-122"/>
                <a:cs typeface="Calibri" pitchFamily="34" charset="-120"/>
              </a:rPr>
              <a:t>dictatorships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of the 20th century.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You will compare Hitler's Germany with Stalin's Russia.</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What makes a country a democracy?</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Learn the four pillars as a list you can count on your fingers: elections, parties, rights, separated powers. Every dictatorship in this unit attacks all four.</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A democracy is a system of government where the people vote and choose their leaders.</a:t>
            </a:r>
            <a:endParaRPr lang="en-US" sz="18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first pillar is free and fair elections. They reflect the will and the opinions of the people, they happen regularly, the ballot is secret, and the majority opinion decides what happens.</a:t>
            </a:r>
            <a:endParaRPr lang="en-US" sz="18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The third pillar is human and civil rights. A strong democracy protects people's interests and beliefs and the way they are allowed to express them, and freedom of speech is a major part of this.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Worked example: What makes a country a democracy?</a:t>
            </a:r>
            <a:endParaRPr lang="en-US" sz="26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619760"/>
          </a:xfrm>
          <a:prstGeom prst="roundRect">
            <a:avLst>
              <a:gd name="adj" fmla="val 14754"/>
            </a:avLst>
          </a:prstGeom>
          <a:solidFill>
            <a:srgbClr val="F2EDE9"/>
          </a:solidFill>
          <a:ln/>
        </p:spPr>
      </p:sp>
      <p:sp>
        <p:nvSpPr>
          <p:cNvPr id="8" name="worked-q"/>
          <p:cNvSpPr txBox="1"/>
          <p:nvPr/>
        </p:nvSpPr>
        <p:spPr>
          <a:xfrm>
            <a:off x="731520" y="1481328"/>
            <a:ext cx="10728655" cy="436880"/>
          </a:xfrm>
          <a:prstGeom prst="rect">
            <a:avLst/>
          </a:prstGeom>
          <a:noFill/>
          <a:ln/>
        </p:spPr>
        <p:txBody>
          <a:bodyPr wrap="square" lIns="63500" tIns="63500" rIns="63500" bIns="63500" rtlCol="0" anchor="ctr"/>
          <a:lstStyle/>
          <a:p>
            <a:pPr algn="l" indent="0" marL="0">
              <a:buNone/>
            </a:pPr>
            <a:r>
              <a:rPr lang="en-US" sz="2000" b="1" dirty="0">
                <a:solidFill>
                  <a:srgbClr val="1E2229"/>
                </a:solidFill>
                <a:latin typeface="Calibri" pitchFamily="34" charset="0"/>
                <a:ea typeface="Calibri" pitchFamily="34" charset="-122"/>
                <a:cs typeface="Calibri" pitchFamily="34" charset="-120"/>
              </a:rPr>
              <a:t>Explain one feature of democracy, and say whether the UK has it.</a:t>
            </a:r>
            <a:endParaRPr lang="en-US" sz="2000" dirty="0"/>
          </a:p>
        </p:txBody>
      </p:sp>
      <p:sp>
        <p:nvSpPr>
          <p:cNvPr id="9" name="step-box"/>
          <p:cNvSpPr/>
          <p:nvPr/>
        </p:nvSpPr>
        <p:spPr>
          <a:xfrm>
            <a:off x="548640" y="2192528"/>
            <a:ext cx="11094415" cy="522224"/>
          </a:xfrm>
          <a:prstGeom prst="roundRect">
            <a:avLst>
              <a:gd name="adj" fmla="val 14008"/>
            </a:avLst>
          </a:prstGeom>
          <a:solidFill>
            <a:srgbClr val="FFFFFF"/>
          </a:solidFill>
          <a:ln w="15875">
            <a:solidFill>
              <a:srgbClr val="B69B83"/>
            </a:solidFill>
            <a:prstDash val="solid"/>
          </a:ln>
        </p:spPr>
      </p:sp>
      <p:sp>
        <p:nvSpPr>
          <p:cNvPr id="10" name="step-hex"/>
          <p:cNvSpPr/>
          <p:nvPr/>
        </p:nvSpPr>
        <p:spPr>
          <a:xfrm>
            <a:off x="685800" y="2255672"/>
            <a:ext cx="457200" cy="395935"/>
          </a:xfrm>
          <a:prstGeom prst="hexagon">
            <a:avLst/>
          </a:prstGeom>
          <a:solidFill>
            <a:srgbClr val="7A4A1E"/>
          </a:solidFill>
          <a:ln/>
        </p:spPr>
      </p:sp>
      <p:sp>
        <p:nvSpPr>
          <p:cNvPr id="11" name="step-hex-label"/>
          <p:cNvSpPr txBox="1"/>
          <p:nvPr/>
        </p:nvSpPr>
        <p:spPr>
          <a:xfrm>
            <a:off x="685800" y="2255672"/>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2" name="step"/>
          <p:cNvSpPr txBox="1"/>
          <p:nvPr/>
        </p:nvSpPr>
        <p:spPr>
          <a:xfrm>
            <a:off x="1280160" y="2192528"/>
            <a:ext cx="10180015" cy="52222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Name the feature in one sentence: One feature of democracy is the separation of powers.</a:t>
            </a:r>
            <a:endParaRPr lang="en-US" sz="1800" dirty="0"/>
          </a:p>
        </p:txBody>
      </p:sp>
      <p:sp>
        <p:nvSpPr>
          <p:cNvPr id="13" name="step-box"/>
          <p:cNvSpPr/>
          <p:nvPr/>
        </p:nvSpPr>
        <p:spPr>
          <a:xfrm>
            <a:off x="548640" y="2787904"/>
            <a:ext cx="11094415" cy="786384"/>
          </a:xfrm>
          <a:prstGeom prst="roundRect">
            <a:avLst>
              <a:gd name="adj" fmla="val 9302"/>
            </a:avLst>
          </a:prstGeom>
          <a:solidFill>
            <a:srgbClr val="FFFFFF"/>
          </a:solidFill>
          <a:ln w="15875">
            <a:solidFill>
              <a:srgbClr val="B69B83"/>
            </a:solidFill>
            <a:prstDash val="solid"/>
          </a:ln>
        </p:spPr>
      </p:sp>
      <p:sp>
        <p:nvSpPr>
          <p:cNvPr id="14" name="step-hex"/>
          <p:cNvSpPr/>
          <p:nvPr/>
        </p:nvSpPr>
        <p:spPr>
          <a:xfrm>
            <a:off x="685800" y="2983128"/>
            <a:ext cx="457200" cy="395935"/>
          </a:xfrm>
          <a:prstGeom prst="hexagon">
            <a:avLst/>
          </a:prstGeom>
          <a:solidFill>
            <a:srgbClr val="7A4A1E"/>
          </a:solidFill>
          <a:ln/>
        </p:spPr>
      </p:sp>
      <p:sp>
        <p:nvSpPr>
          <p:cNvPr id="15" name="step-hex-label"/>
          <p:cNvSpPr txBox="1"/>
          <p:nvPr/>
        </p:nvSpPr>
        <p:spPr>
          <a:xfrm>
            <a:off x="685800" y="2983128"/>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step"/>
          <p:cNvSpPr txBox="1"/>
          <p:nvPr/>
        </p:nvSpPr>
        <p:spPr>
          <a:xfrm>
            <a:off x="1280160" y="2787904"/>
            <a:ext cx="10180015"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Explain what it means: power is divided between different parts of government, so each can check the others.</a:t>
            </a:r>
            <a:endParaRPr lang="en-US" sz="1800" dirty="0"/>
          </a:p>
        </p:txBody>
      </p:sp>
      <p:sp>
        <p:nvSpPr>
          <p:cNvPr id="17" name="step-box"/>
          <p:cNvSpPr/>
          <p:nvPr/>
        </p:nvSpPr>
        <p:spPr>
          <a:xfrm>
            <a:off x="548640" y="3647440"/>
            <a:ext cx="11094415" cy="522224"/>
          </a:xfrm>
          <a:prstGeom prst="roundRect">
            <a:avLst>
              <a:gd name="adj" fmla="val 14008"/>
            </a:avLst>
          </a:prstGeom>
          <a:solidFill>
            <a:srgbClr val="FFFFFF"/>
          </a:solidFill>
          <a:ln w="15875">
            <a:solidFill>
              <a:srgbClr val="B69B83"/>
            </a:solidFill>
            <a:prstDash val="solid"/>
          </a:ln>
        </p:spPr>
      </p:sp>
      <p:sp>
        <p:nvSpPr>
          <p:cNvPr id="18" name="step-hex"/>
          <p:cNvSpPr/>
          <p:nvPr/>
        </p:nvSpPr>
        <p:spPr>
          <a:xfrm>
            <a:off x="685800" y="3710584"/>
            <a:ext cx="457200" cy="395935"/>
          </a:xfrm>
          <a:prstGeom prst="hexagon">
            <a:avLst/>
          </a:prstGeom>
          <a:solidFill>
            <a:srgbClr val="7A4A1E"/>
          </a:solidFill>
          <a:ln/>
        </p:spPr>
      </p:sp>
      <p:sp>
        <p:nvSpPr>
          <p:cNvPr id="19" name="step-hex-label"/>
          <p:cNvSpPr txBox="1"/>
          <p:nvPr/>
        </p:nvSpPr>
        <p:spPr>
          <a:xfrm>
            <a:off x="685800" y="3710584"/>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step"/>
          <p:cNvSpPr txBox="1"/>
          <p:nvPr/>
        </p:nvSpPr>
        <p:spPr>
          <a:xfrm>
            <a:off x="1280160" y="3647440"/>
            <a:ext cx="10180015" cy="52222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Give an example of the check in action: a court can rule that the government has broken the law.</a:t>
            </a:r>
            <a:endParaRPr lang="en-US" sz="1800" dirty="0"/>
          </a:p>
        </p:txBody>
      </p:sp>
      <p:sp>
        <p:nvSpPr>
          <p:cNvPr id="21" name="step-box"/>
          <p:cNvSpPr/>
          <p:nvPr/>
        </p:nvSpPr>
        <p:spPr>
          <a:xfrm>
            <a:off x="548640" y="4242816"/>
            <a:ext cx="11094415" cy="786384"/>
          </a:xfrm>
          <a:prstGeom prst="roundRect">
            <a:avLst>
              <a:gd name="adj" fmla="val 9302"/>
            </a:avLst>
          </a:prstGeom>
          <a:solidFill>
            <a:srgbClr val="FFFFFF"/>
          </a:solidFill>
          <a:ln w="15875">
            <a:solidFill>
              <a:srgbClr val="B69B83"/>
            </a:solidFill>
            <a:prstDash val="solid"/>
          </a:ln>
        </p:spPr>
      </p:sp>
      <p:sp>
        <p:nvSpPr>
          <p:cNvPr id="22" name="step-hex"/>
          <p:cNvSpPr/>
          <p:nvPr/>
        </p:nvSpPr>
        <p:spPr>
          <a:xfrm>
            <a:off x="685800" y="4438040"/>
            <a:ext cx="457200" cy="395935"/>
          </a:xfrm>
          <a:prstGeom prst="hexagon">
            <a:avLst/>
          </a:prstGeom>
          <a:solidFill>
            <a:srgbClr val="7A4A1E"/>
          </a:solidFill>
          <a:ln/>
        </p:spPr>
      </p:sp>
      <p:sp>
        <p:nvSpPr>
          <p:cNvPr id="23" name="step-hex-label"/>
          <p:cNvSpPr txBox="1"/>
          <p:nvPr/>
        </p:nvSpPr>
        <p:spPr>
          <a:xfrm>
            <a:off x="685800" y="4438040"/>
            <a:ext cx="457200" cy="395935"/>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4" name="step"/>
          <p:cNvSpPr txBox="1"/>
          <p:nvPr/>
        </p:nvSpPr>
        <p:spPr>
          <a:xfrm>
            <a:off x="1280160" y="4242816"/>
            <a:ext cx="10180015" cy="786384"/>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Judge the UK: the UK does have this feature, because its courts can and do rule against the government, even though Parliament makes the laws.</a:t>
            </a:r>
            <a:endParaRPr lang="en-US" sz="1800" dirty="0"/>
          </a:p>
        </p:txBody>
      </p:sp>
      <p:sp>
        <p:nvSpPr>
          <p:cNvPr id="25" name="worked-answer"/>
          <p:cNvSpPr/>
          <p:nvPr/>
        </p:nvSpPr>
        <p:spPr>
          <a:xfrm>
            <a:off x="548640" y="5212080"/>
            <a:ext cx="11094415" cy="831088"/>
          </a:xfrm>
          <a:prstGeom prst="roundRect">
            <a:avLst>
              <a:gd name="adj" fmla="val 16504"/>
            </a:avLst>
          </a:prstGeom>
          <a:solidFill>
            <a:srgbClr val="EDE1CA"/>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Name it, explain it, give an example of the check working, then judge the UK against it: the separation of powers, courts ruling against ministers, so yes, the UK meets this feature.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What makes a country a dictatorship?</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 useful test for any country: name one person or group who could legally stop the leader. If you cannot, you are looking at a dictatorship.</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dictatorship is a system of government where one person has total power.</a:t>
            </a:r>
            <a:endParaRPr lang="en-US" sz="24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Compare the two against the four pillars. Elections either disappear or become a show with only one possible winner.</a:t>
            </a:r>
            <a:endParaRPr lang="en-US" sz="24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That is why historians do not judge a dictatorship simply by how harsh its leader sounds.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Totalitarianism: control over everything</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Dictatorship describes who holds power. Totalitarianism describes how far that power reaches. A question about control of schools or newspapers is a question about totalitarianism.</a:t>
            </a:r>
            <a:endParaRPr lang="en-US" sz="1800" dirty="0"/>
          </a:p>
        </p:txBody>
      </p:sp>
      <p:sp>
        <p:nvSpPr>
          <p:cNvPr id="11" name="point-card"/>
          <p:cNvSpPr/>
          <p:nvPr/>
        </p:nvSpPr>
        <p:spPr>
          <a:xfrm>
            <a:off x="548640" y="1389888"/>
            <a:ext cx="3515258" cy="3686048"/>
          </a:xfrm>
          <a:prstGeom prst="roundRect">
            <a:avLst>
              <a:gd name="adj" fmla="val 1561"/>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A dictator rules a country outright. Every law and every important decision is his to make, and what the people want, or are entitled to, counts for nothing beside what he wants.</a:t>
            </a:r>
            <a:endParaRPr lang="en-US" sz="2000" dirty="0"/>
          </a:p>
        </p:txBody>
      </p:sp>
      <p:sp>
        <p:nvSpPr>
          <p:cNvPr id="15" name="point-card"/>
          <p:cNvSpPr/>
          <p:nvPr/>
        </p:nvSpPr>
        <p:spPr>
          <a:xfrm>
            <a:off x="4338218" y="1389888"/>
            <a:ext cx="3515258" cy="3686048"/>
          </a:xfrm>
          <a:prstGeom prst="roundRect">
            <a:avLst>
              <a:gd name="adj" fmla="val 1561"/>
            </a:avLst>
          </a:prstGeom>
          <a:solidFill>
            <a:srgbClr val="F6F0E6"/>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Totalitarianism, as your lesson defines it, is government that controls people and society so completely that the dictator's power can never be challenged.</a:t>
            </a:r>
            <a:endParaRPr lang="en-US" sz="2000" dirty="0"/>
          </a:p>
        </p:txBody>
      </p:sp>
      <p:sp>
        <p:nvSpPr>
          <p:cNvPr id="19" name="point-card"/>
          <p:cNvSpPr/>
          <p:nvPr/>
        </p:nvSpPr>
        <p:spPr>
          <a:xfrm>
            <a:off x="8127797" y="1389888"/>
            <a:ext cx="3515258" cy="3686048"/>
          </a:xfrm>
          <a:prstGeom prst="roundRect">
            <a:avLst>
              <a:gd name="adj" fmla="val 1561"/>
            </a:avLst>
          </a:prstGeom>
          <a:solidFill>
            <a:srgbClr val="F2EDE9"/>
          </a:solidFill>
          <a:ln/>
        </p:spPr>
      </p:sp>
      <p:sp>
        <p:nvSpPr>
          <p:cNvPr id="20" name="point-hex"/>
          <p:cNvSpPr/>
          <p:nvPr/>
        </p:nvSpPr>
        <p:spPr>
          <a:xfrm>
            <a:off x="8310677" y="1572768"/>
            <a:ext cx="685800" cy="593903"/>
          </a:xfrm>
          <a:prstGeom prst="hexagon">
            <a:avLst/>
          </a:prstGeom>
          <a:solidFill>
            <a:srgbClr val="7A4A1E"/>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Your lesson listed the levers a totalitarian state pulls: elections, the police and the army, opposition parties, and the media and the press.</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two dictatorships you will compare</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4EDDF"/>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Start a two-column page now, one column for Germany and one for the USSR, with rows for beliefs, rise to power and rule. Fill it in as you work through the unit.</a:t>
            </a:r>
            <a:endParaRPr lang="en-US" sz="1800" dirty="0"/>
          </a:p>
        </p:txBody>
      </p:sp>
      <p:sp>
        <p:nvSpPr>
          <p:cNvPr id="11" name="point-card"/>
          <p:cNvSpPr/>
          <p:nvPr/>
        </p:nvSpPr>
        <p:spPr>
          <a:xfrm>
            <a:off x="548640" y="1389888"/>
            <a:ext cx="5410048" cy="3686048"/>
          </a:xfrm>
          <a:prstGeom prst="roundRect">
            <a:avLst>
              <a:gd name="adj" fmla="val 1488"/>
            </a:avLst>
          </a:prstGeom>
          <a:solidFill>
            <a:srgbClr val="F2EDE9"/>
          </a:solidFill>
          <a:ln/>
        </p:spPr>
      </p:sp>
      <p:sp>
        <p:nvSpPr>
          <p:cNvPr id="12" name="point-hex"/>
          <p:cNvSpPr/>
          <p:nvPr/>
        </p:nvSpPr>
        <p:spPr>
          <a:xfrm>
            <a:off x="731520" y="1572768"/>
            <a:ext cx="685800" cy="593903"/>
          </a:xfrm>
          <a:prstGeom prst="hexagon">
            <a:avLst/>
          </a:prstGeom>
          <a:solidFill>
            <a:srgbClr val="7A4A1E"/>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enquiry question for this unit is the one your department set: to what extent were the dictatorships in Hitler's Germany and Stalin's Russia similar?</a:t>
            </a:r>
            <a:endParaRPr lang="en-US" sz="2400" dirty="0"/>
          </a:p>
        </p:txBody>
      </p:sp>
      <p:sp>
        <p:nvSpPr>
          <p:cNvPr id="15" name="point-card"/>
          <p:cNvSpPr/>
          <p:nvPr/>
        </p:nvSpPr>
        <p:spPr>
          <a:xfrm>
            <a:off x="6233008" y="1389888"/>
            <a:ext cx="5410048" cy="3686048"/>
          </a:xfrm>
          <a:prstGeom prst="roundRect">
            <a:avLst>
              <a:gd name="adj" fmla="val 1488"/>
            </a:avLst>
          </a:prstGeom>
          <a:solidFill>
            <a:srgbClr val="F6F0E6"/>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588768"/>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Keep the headings in mind as you read, because a good comparison is not a list of facts about two men.</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The four pillars of democracy</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67868"/>
          </a:xfrm>
          <a:prstGeom prst="rect">
            <a:avLst/>
          </a:prstGeom>
          <a:noFill/>
          <a:ln/>
        </p:spPr>
        <p:txBody>
          <a:bodyPr wrap="square" lIns="63500" tIns="63500" rIns="63500" bIns="63500" rtlCol="0" anchor="t"/>
          <a:lstStyle/>
          <a:p>
            <a:pPr algn="ctr" indent="0" marL="0">
              <a:buNone/>
            </a:pPr>
            <a:r>
              <a:rPr lang="en-US" sz="2200" b="1" dirty="0">
                <a:solidFill>
                  <a:srgbClr val="1E2229"/>
                </a:solidFill>
                <a:latin typeface="Calibri" pitchFamily="34" charset="0"/>
                <a:ea typeface="Calibri" pitchFamily="34" charset="-122"/>
                <a:cs typeface="Calibri" pitchFamily="34" charset="-120"/>
              </a:rPr>
              <a:t>Match each pillar of democracy to the explanation of what it does.</a:t>
            </a:r>
            <a:endParaRPr lang="en-US" sz="2200" dirty="0"/>
          </a:p>
        </p:txBody>
      </p:sp>
      <p:sp>
        <p:nvSpPr>
          <p:cNvPr id="11" name="match-card"/>
          <p:cNvSpPr/>
          <p:nvPr/>
        </p:nvSpPr>
        <p:spPr>
          <a:xfrm>
            <a:off x="777240" y="2468331"/>
            <a:ext cx="3081437" cy="804809"/>
          </a:xfrm>
          <a:prstGeom prst="roundRect">
            <a:avLst>
              <a:gd name="adj" fmla="val 9089"/>
            </a:avLst>
          </a:prstGeom>
          <a:solidFill>
            <a:srgbClr val="F4F1ED"/>
          </a:solidFill>
          <a:ln/>
        </p:spPr>
      </p:sp>
      <p:sp>
        <p:nvSpPr>
          <p:cNvPr id="12" name="match-hex"/>
          <p:cNvSpPr/>
          <p:nvPr/>
        </p:nvSpPr>
        <p:spPr>
          <a:xfrm>
            <a:off x="850392" y="2704443"/>
            <a:ext cx="384048" cy="332586"/>
          </a:xfrm>
          <a:prstGeom prst="hexagon">
            <a:avLst/>
          </a:prstGeom>
          <a:solidFill>
            <a:srgbClr val="7A4A1E"/>
          </a:solidFill>
          <a:ln/>
        </p:spPr>
      </p:sp>
      <p:sp>
        <p:nvSpPr>
          <p:cNvPr id="13" name="match-hex-label"/>
          <p:cNvSpPr txBox="1"/>
          <p:nvPr/>
        </p:nvSpPr>
        <p:spPr>
          <a:xfrm>
            <a:off x="850392" y="270444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Free and fair elections</a:t>
            </a:r>
            <a:endParaRPr lang="en-US" sz="2000" dirty="0"/>
          </a:p>
        </p:txBody>
      </p:sp>
      <p:sp>
        <p:nvSpPr>
          <p:cNvPr id="15" name="match-card"/>
          <p:cNvSpPr/>
          <p:nvPr/>
        </p:nvSpPr>
        <p:spPr>
          <a:xfrm>
            <a:off x="4224437" y="2468331"/>
            <a:ext cx="7190019" cy="804809"/>
          </a:xfrm>
          <a:prstGeom prst="roundRect">
            <a:avLst>
              <a:gd name="adj" fmla="val 9089"/>
            </a:avLst>
          </a:prstGeom>
          <a:solidFill>
            <a:srgbClr val="F6F0E6"/>
          </a:solidFill>
          <a:ln/>
        </p:spPr>
      </p:sp>
      <p:sp>
        <p:nvSpPr>
          <p:cNvPr id="16" name="match-hex"/>
          <p:cNvSpPr/>
          <p:nvPr/>
        </p:nvSpPr>
        <p:spPr>
          <a:xfrm>
            <a:off x="4297589" y="2704443"/>
            <a:ext cx="384048" cy="332586"/>
          </a:xfrm>
          <a:prstGeom prst="hexagon">
            <a:avLst/>
          </a:prstGeom>
          <a:solidFill>
            <a:srgbClr val="B8862B"/>
          </a:solidFill>
          <a:ln/>
        </p:spPr>
      </p:sp>
      <p:sp>
        <p:nvSpPr>
          <p:cNvPr id="17" name="match-hex-label"/>
          <p:cNvSpPr txBox="1"/>
          <p:nvPr/>
        </p:nvSpPr>
        <p:spPr>
          <a:xfrm>
            <a:off x="4297589" y="270444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 wide range of ideas and a real choice, because parties compete to offer the best policies</a:t>
            </a:r>
            <a:endParaRPr lang="en-US" sz="2000" dirty="0"/>
          </a:p>
        </p:txBody>
      </p:sp>
      <p:sp>
        <p:nvSpPr>
          <p:cNvPr id="19" name="match-card"/>
          <p:cNvSpPr/>
          <p:nvPr/>
        </p:nvSpPr>
        <p:spPr>
          <a:xfrm>
            <a:off x="777240" y="3364581"/>
            <a:ext cx="3081437" cy="804809"/>
          </a:xfrm>
          <a:prstGeom prst="roundRect">
            <a:avLst>
              <a:gd name="adj" fmla="val 9089"/>
            </a:avLst>
          </a:prstGeom>
          <a:solidFill>
            <a:srgbClr val="F4F1ED"/>
          </a:solidFill>
          <a:ln/>
        </p:spPr>
      </p:sp>
      <p:sp>
        <p:nvSpPr>
          <p:cNvPr id="20" name="match-hex"/>
          <p:cNvSpPr/>
          <p:nvPr/>
        </p:nvSpPr>
        <p:spPr>
          <a:xfrm>
            <a:off x="850392" y="3600692"/>
            <a:ext cx="384048" cy="332586"/>
          </a:xfrm>
          <a:prstGeom prst="hexagon">
            <a:avLst/>
          </a:prstGeom>
          <a:solidFill>
            <a:srgbClr val="7A4A1E"/>
          </a:solidFill>
          <a:ln/>
        </p:spPr>
      </p:sp>
      <p:sp>
        <p:nvSpPr>
          <p:cNvPr id="21" name="match-hex-label"/>
          <p:cNvSpPr txBox="1"/>
          <p:nvPr/>
        </p:nvSpPr>
        <p:spPr>
          <a:xfrm>
            <a:off x="850392" y="36006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364581"/>
            <a:ext cx="2487077"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 multi-party system</a:t>
            </a:r>
            <a:endParaRPr lang="en-US" sz="2000" dirty="0"/>
          </a:p>
        </p:txBody>
      </p:sp>
      <p:sp>
        <p:nvSpPr>
          <p:cNvPr id="23" name="match-card"/>
          <p:cNvSpPr/>
          <p:nvPr/>
        </p:nvSpPr>
        <p:spPr>
          <a:xfrm>
            <a:off x="4224437" y="3364581"/>
            <a:ext cx="7190019" cy="804809"/>
          </a:xfrm>
          <a:prstGeom prst="roundRect">
            <a:avLst>
              <a:gd name="adj" fmla="val 9089"/>
            </a:avLst>
          </a:prstGeom>
          <a:solidFill>
            <a:srgbClr val="F6F0E6"/>
          </a:solidFill>
          <a:ln/>
        </p:spPr>
      </p:sp>
      <p:sp>
        <p:nvSpPr>
          <p:cNvPr id="24" name="match-hex"/>
          <p:cNvSpPr/>
          <p:nvPr/>
        </p:nvSpPr>
        <p:spPr>
          <a:xfrm>
            <a:off x="4297589" y="3600692"/>
            <a:ext cx="384048" cy="332586"/>
          </a:xfrm>
          <a:prstGeom prst="hexagon">
            <a:avLst/>
          </a:prstGeom>
          <a:solidFill>
            <a:srgbClr val="B8862B"/>
          </a:solidFill>
          <a:ln/>
        </p:spPr>
      </p:sp>
      <p:sp>
        <p:nvSpPr>
          <p:cNvPr id="25" name="match-hex-label"/>
          <p:cNvSpPr txBox="1"/>
          <p:nvPr/>
        </p:nvSpPr>
        <p:spPr>
          <a:xfrm>
            <a:off x="4297589" y="36006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364581"/>
            <a:ext cx="6595659"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Regular, secret ballots in which the majority opinion decides what happens</a:t>
            </a:r>
            <a:endParaRPr lang="en-US" sz="2000" dirty="0"/>
          </a:p>
        </p:txBody>
      </p:sp>
      <p:sp>
        <p:nvSpPr>
          <p:cNvPr id="27" name="match-card"/>
          <p:cNvSpPr/>
          <p:nvPr/>
        </p:nvSpPr>
        <p:spPr>
          <a:xfrm>
            <a:off x="777240" y="4260830"/>
            <a:ext cx="3081437" cy="804809"/>
          </a:xfrm>
          <a:prstGeom prst="roundRect">
            <a:avLst>
              <a:gd name="adj" fmla="val 9089"/>
            </a:avLst>
          </a:prstGeom>
          <a:solidFill>
            <a:srgbClr val="F4F1ED"/>
          </a:solidFill>
          <a:ln/>
        </p:spPr>
      </p:sp>
      <p:sp>
        <p:nvSpPr>
          <p:cNvPr id="28" name="match-hex"/>
          <p:cNvSpPr/>
          <p:nvPr/>
        </p:nvSpPr>
        <p:spPr>
          <a:xfrm>
            <a:off x="850392" y="4496941"/>
            <a:ext cx="384048" cy="332586"/>
          </a:xfrm>
          <a:prstGeom prst="hexagon">
            <a:avLst/>
          </a:prstGeom>
          <a:solidFill>
            <a:srgbClr val="7A4A1E"/>
          </a:solidFill>
          <a:ln/>
        </p:spPr>
      </p:sp>
      <p:sp>
        <p:nvSpPr>
          <p:cNvPr id="29" name="match-hex-label"/>
          <p:cNvSpPr txBox="1"/>
          <p:nvPr/>
        </p:nvSpPr>
        <p:spPr>
          <a:xfrm>
            <a:off x="850392" y="44969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260830"/>
            <a:ext cx="2487077"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Human and civil rights</a:t>
            </a:r>
            <a:endParaRPr lang="en-US" sz="2000" dirty="0"/>
          </a:p>
        </p:txBody>
      </p:sp>
      <p:sp>
        <p:nvSpPr>
          <p:cNvPr id="31" name="match-card"/>
          <p:cNvSpPr/>
          <p:nvPr/>
        </p:nvSpPr>
        <p:spPr>
          <a:xfrm>
            <a:off x="4224437" y="4260830"/>
            <a:ext cx="7190019" cy="804809"/>
          </a:xfrm>
          <a:prstGeom prst="roundRect">
            <a:avLst>
              <a:gd name="adj" fmla="val 9089"/>
            </a:avLst>
          </a:prstGeom>
          <a:solidFill>
            <a:srgbClr val="F6F0E6"/>
          </a:solidFill>
          <a:ln/>
        </p:spPr>
      </p:sp>
      <p:sp>
        <p:nvSpPr>
          <p:cNvPr id="32" name="match-hex"/>
          <p:cNvSpPr/>
          <p:nvPr/>
        </p:nvSpPr>
        <p:spPr>
          <a:xfrm>
            <a:off x="4297589" y="4496941"/>
            <a:ext cx="384048" cy="332586"/>
          </a:xfrm>
          <a:prstGeom prst="hexagon">
            <a:avLst/>
          </a:prstGeom>
          <a:solidFill>
            <a:srgbClr val="B8862B"/>
          </a:solidFill>
          <a:ln/>
        </p:spPr>
      </p:sp>
      <p:sp>
        <p:nvSpPr>
          <p:cNvPr id="33" name="match-hex-label"/>
          <p:cNvSpPr txBox="1"/>
          <p:nvPr/>
        </p:nvSpPr>
        <p:spPr>
          <a:xfrm>
            <a:off x="4297589" y="449694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4260830"/>
            <a:ext cx="6595659"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Power divided between parts of government, so the courts can stop the government breaking the law</a:t>
            </a:r>
            <a:endParaRPr lang="en-US" sz="2000" dirty="0"/>
          </a:p>
        </p:txBody>
      </p:sp>
      <p:sp>
        <p:nvSpPr>
          <p:cNvPr id="35" name="match-card"/>
          <p:cNvSpPr/>
          <p:nvPr/>
        </p:nvSpPr>
        <p:spPr>
          <a:xfrm>
            <a:off x="777240" y="5157079"/>
            <a:ext cx="3081437" cy="804809"/>
          </a:xfrm>
          <a:prstGeom prst="roundRect">
            <a:avLst>
              <a:gd name="adj" fmla="val 9089"/>
            </a:avLst>
          </a:prstGeom>
          <a:solidFill>
            <a:srgbClr val="F4F1ED"/>
          </a:solidFill>
          <a:ln/>
        </p:spPr>
      </p:sp>
      <p:sp>
        <p:nvSpPr>
          <p:cNvPr id="36" name="match-hex"/>
          <p:cNvSpPr/>
          <p:nvPr/>
        </p:nvSpPr>
        <p:spPr>
          <a:xfrm>
            <a:off x="850392" y="5393191"/>
            <a:ext cx="384048" cy="332586"/>
          </a:xfrm>
          <a:prstGeom prst="hexagon">
            <a:avLst/>
          </a:prstGeom>
          <a:solidFill>
            <a:srgbClr val="7A4A1E"/>
          </a:solidFill>
          <a:ln/>
        </p:spPr>
      </p:sp>
      <p:sp>
        <p:nvSpPr>
          <p:cNvPr id="37" name="match-hex-label"/>
          <p:cNvSpPr txBox="1"/>
          <p:nvPr/>
        </p:nvSpPr>
        <p:spPr>
          <a:xfrm>
            <a:off x="850392" y="53931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5157079"/>
            <a:ext cx="2487077"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Separation of powers</a:t>
            </a:r>
            <a:endParaRPr lang="en-US" sz="2000" dirty="0"/>
          </a:p>
        </p:txBody>
      </p:sp>
      <p:sp>
        <p:nvSpPr>
          <p:cNvPr id="39" name="match-card"/>
          <p:cNvSpPr/>
          <p:nvPr/>
        </p:nvSpPr>
        <p:spPr>
          <a:xfrm>
            <a:off x="4224437" y="5157079"/>
            <a:ext cx="7190019" cy="804809"/>
          </a:xfrm>
          <a:prstGeom prst="roundRect">
            <a:avLst>
              <a:gd name="adj" fmla="val 9089"/>
            </a:avLst>
          </a:prstGeom>
          <a:solidFill>
            <a:srgbClr val="F6F0E6"/>
          </a:solidFill>
          <a:ln/>
        </p:spPr>
      </p:sp>
      <p:sp>
        <p:nvSpPr>
          <p:cNvPr id="40" name="match-hex"/>
          <p:cNvSpPr/>
          <p:nvPr/>
        </p:nvSpPr>
        <p:spPr>
          <a:xfrm>
            <a:off x="4297589" y="5393191"/>
            <a:ext cx="384048" cy="332586"/>
          </a:xfrm>
          <a:prstGeom prst="hexagon">
            <a:avLst/>
          </a:prstGeom>
          <a:solidFill>
            <a:srgbClr val="B8862B"/>
          </a:solidFill>
          <a:ln/>
        </p:spPr>
      </p:sp>
      <p:sp>
        <p:nvSpPr>
          <p:cNvPr id="41" name="match-hex-label"/>
          <p:cNvSpPr txBox="1"/>
          <p:nvPr/>
        </p:nvSpPr>
        <p:spPr>
          <a:xfrm>
            <a:off x="4297589" y="5393191"/>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4745645" y="5157079"/>
            <a:ext cx="6595659" cy="80480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Protection for people's interests and beliefs, with freedom of speech a major part of it</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Same task, three ways in (1 of 2): The four pillars of democracy</a:t>
            </a:r>
            <a:endParaRPr lang="en-US" sz="24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pillar of democracy to the explanation of what it does.</a:t>
            </a:r>
            <a:endParaRPr lang="en-US" sz="2000" dirty="0"/>
          </a:p>
        </p:txBody>
      </p:sp>
      <p:sp>
        <p:nvSpPr>
          <p:cNvPr id="12" name="col-Support"/>
          <p:cNvSpPr/>
          <p:nvPr/>
        </p:nvSpPr>
        <p:spPr>
          <a:xfrm>
            <a:off x="548640" y="2578608"/>
            <a:ext cx="11094415" cy="3566160"/>
          </a:xfrm>
          <a:prstGeom prst="roundRect">
            <a:avLst>
              <a:gd name="adj" fmla="val 1538"/>
            </a:avLst>
          </a:prstGeom>
          <a:solidFill>
            <a:srgbClr val="F2EDE9"/>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10362895"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10820095" cy="2816352"/>
          </a:xfrm>
          <a:prstGeom prst="rect">
            <a:avLst/>
          </a:prstGeom>
          <a:noFill/>
          <a:ln/>
        </p:spPr>
        <p:txBody>
          <a:bodyPr wrap="square" lIns="63500" tIns="63500" rIns="63500" bIns="63500" rtlCol="0" anchor="t"/>
          <a:lstStyle/>
          <a:p>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Find the explanation that mentions voting. That one belongs to elections.</a:t>
            </a:r>
            <a:endParaRPr lang="en-US" sz="2200" dirty="0"/>
          </a:p>
          <a:p>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Find the explanation that mentions choice and competition between parties. That one belongs to the multi-party system.</a:t>
            </a:r>
            <a:endParaRPr lang="en-US" sz="2200" dirty="0"/>
          </a:p>
          <a:p>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Find the explanation that mentions freedom of speech. Rights are about what people are allowed to say and believe.</a:t>
            </a:r>
            <a:endParaRPr lang="en-US" sz="2200" dirty="0"/>
          </a:p>
          <a:p>
            <a:pPr algn="l" indent="0" marL="0">
              <a:spcAft>
                <a:spcPts val="600"/>
              </a:spcAft>
              <a:buNone/>
            </a:pPr>
            <a:r>
              <a:rPr lang="en-US" sz="22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 explanation left over mentions the courts checking the government, which is the separation of powers.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7A4A1E"/>
                </a:solidFill>
                <a:latin typeface="Cambria" pitchFamily="34" charset="0"/>
                <a:ea typeface="Cambria" pitchFamily="34" charset="-122"/>
                <a:cs typeface="Cambria" pitchFamily="34" charset="-120"/>
              </a:rPr>
              <a:t>Same task, three ways in (2 of 2): The four pillars of democracy</a:t>
            </a:r>
            <a:endParaRPr lang="en-US" sz="24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pillar of democracy to the explanation of what it does.</a:t>
            </a:r>
            <a:endParaRPr lang="en-US" sz="2000" dirty="0"/>
          </a:p>
        </p:txBody>
      </p:sp>
      <p:sp>
        <p:nvSpPr>
          <p:cNvPr id="12" name="col-Core"/>
          <p:cNvSpPr/>
          <p:nvPr/>
        </p:nvSpPr>
        <p:spPr>
          <a:xfrm>
            <a:off x="548640" y="2578608"/>
            <a:ext cx="5410048" cy="3566160"/>
          </a:xfrm>
          <a:prstGeom prst="roundRect">
            <a:avLst>
              <a:gd name="adj" fmla="val 1538"/>
            </a:avLst>
          </a:prstGeom>
          <a:solidFill>
            <a:srgbClr val="E2D7CE"/>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5" name="col-head"/>
          <p:cNvSpPr txBox="1"/>
          <p:nvPr/>
        </p:nvSpPr>
        <p:spPr>
          <a:xfrm>
            <a:off x="1188720" y="2615184"/>
            <a:ext cx="4678528"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16" name="col-body"/>
          <p:cNvSpPr txBox="1"/>
          <p:nvPr/>
        </p:nvSpPr>
        <p:spPr>
          <a:xfrm>
            <a:off x="685800" y="3218688"/>
            <a:ext cx="5135728" cy="2816352"/>
          </a:xfrm>
          <a:prstGeom prst="rect">
            <a:avLst/>
          </a:prstGeom>
          <a:noFill/>
          <a:ln/>
        </p:spPr>
        <p:txBody>
          <a:bodyPr wrap="square" lIns="63500" tIns="63500" rIns="63500" bIns="63500" rtlCol="0" anchor="t"/>
          <a:lstStyle/>
          <a:p>
            <a:pPr algn="l" indent="0" marL="0">
              <a:buNone/>
            </a:pPr>
            <a:r>
              <a:rPr lang="en-US" sz="2200" b="1" dirty="0">
                <a:solidFill>
                  <a:srgbClr val="623B18"/>
                </a:solidFill>
                <a:latin typeface="Calibri" pitchFamily="34" charset="0"/>
                <a:ea typeface="Calibri" pitchFamily="34" charset="-122"/>
                <a:cs typeface="Calibri" pitchFamily="34" charset="-120"/>
              </a:rPr>
              <a:t>Hint:  </a:t>
            </a:r>
            <a:pPr algn="l" indent="0" marL="0">
              <a:buNone/>
            </a:pPr>
            <a:r>
              <a:rPr lang="en-US" sz="2200" dirty="0">
                <a:solidFill>
                  <a:srgbClr val="1E2229"/>
                </a:solidFill>
                <a:latin typeface="Calibri" pitchFamily="34" charset="0"/>
                <a:ea typeface="Calibri" pitchFamily="34" charset="-122"/>
                <a:cs typeface="Calibri" pitchFamily="34" charset="-120"/>
              </a:rPr>
              <a:t>One explanation mentions ballots, one mentions competing parties, one mentions freedom of speech, and one mentions the courts.</a:t>
            </a:r>
            <a:endParaRPr lang="en-US" sz="2200" dirty="0"/>
          </a:p>
        </p:txBody>
      </p:sp>
      <p:sp>
        <p:nvSpPr>
          <p:cNvPr id="17" name="col-Stretch"/>
          <p:cNvSpPr/>
          <p:nvPr/>
        </p:nvSpPr>
        <p:spPr>
          <a:xfrm>
            <a:off x="6233008" y="2578608"/>
            <a:ext cx="5410048" cy="3566160"/>
          </a:xfrm>
          <a:prstGeom prst="roundRect">
            <a:avLst>
              <a:gd name="adj" fmla="val 1538"/>
            </a:avLst>
          </a:prstGeom>
          <a:solidFill>
            <a:srgbClr val="7A4A1E"/>
          </a:solidFill>
          <a:ln/>
        </p:spPr>
      </p:sp>
      <p:sp>
        <p:nvSpPr>
          <p:cNvPr id="18" name="col-hex"/>
          <p:cNvSpPr/>
          <p:nvPr/>
        </p:nvSpPr>
        <p:spPr>
          <a:xfrm>
            <a:off x="6342736"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342736"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0" name="col-head"/>
          <p:cNvSpPr txBox="1"/>
          <p:nvPr/>
        </p:nvSpPr>
        <p:spPr>
          <a:xfrm>
            <a:off x="6873088" y="2615184"/>
            <a:ext cx="467852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1" name="col-body"/>
          <p:cNvSpPr txBox="1"/>
          <p:nvPr/>
        </p:nvSpPr>
        <p:spPr>
          <a:xfrm>
            <a:off x="6370168" y="3218688"/>
            <a:ext cx="5135728" cy="2816352"/>
          </a:xfrm>
          <a:prstGeom prst="rect">
            <a:avLst/>
          </a:prstGeom>
          <a:noFill/>
          <a:ln/>
        </p:spPr>
        <p:txBody>
          <a:bodyPr wrap="square" lIns="63500" tIns="63500" rIns="63500" bIns="63500" rtlCol="0" anchor="t"/>
          <a:lstStyle/>
          <a:p>
            <a:pPr algn="l" indent="0" marL="0">
              <a:buNone/>
            </a:pPr>
            <a:r>
              <a:rPr lang="en-US" sz="2200" b="1" dirty="0">
                <a:solidFill>
                  <a:srgbClr val="D4B680"/>
                </a:solidFill>
                <a:latin typeface="Calibri" pitchFamily="34" charset="0"/>
                <a:ea typeface="Calibri" pitchFamily="34" charset="-122"/>
                <a:cs typeface="Calibri" pitchFamily="34" charset="-120"/>
              </a:rPr>
              <a:t>Then:  </a:t>
            </a:r>
            <a:pPr algn="l" indent="0" marL="0">
              <a:buNone/>
            </a:pPr>
            <a:r>
              <a:rPr lang="en-US" sz="2200" dirty="0">
                <a:solidFill>
                  <a:srgbClr val="FFFFFF"/>
                </a:solidFill>
                <a:latin typeface="Calibri" pitchFamily="34" charset="0"/>
                <a:ea typeface="Calibri" pitchFamily="34" charset="-122"/>
                <a:cs typeface="Calibri" pitchFamily="34" charset="-120"/>
              </a:rPr>
              <a:t>Pick two of the four pillars and explain whether you think the UK meets them, giving one piece of evidence for each judgement.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The task: Democracy against dictatorship</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2</a:t>
            </a:r>
            <a:endParaRPr lang="en-US" sz="2800" dirty="0"/>
          </a:p>
        </p:txBody>
      </p:sp>
      <p:sp>
        <p:nvSpPr>
          <p:cNvPr id="10" name="task"/>
          <p:cNvSpPr txBox="1"/>
          <p:nvPr/>
        </p:nvSpPr>
        <p:spPr>
          <a:xfrm>
            <a:off x="1828800" y="1572768"/>
            <a:ext cx="8534095" cy="4389120"/>
          </a:xfrm>
          <a:prstGeom prst="rect">
            <a:avLst/>
          </a:prstGeom>
          <a:noFill/>
          <a:ln/>
        </p:spPr>
        <p:txBody>
          <a:bodyPr wrap="square" lIns="63500" tIns="63500" rIns="63500" bIns="63500" rtlCol="0" anchor="ctr"/>
          <a:lstStyle/>
          <a:p>
            <a:pPr algn="ctr" indent="0" marL="0">
              <a:spcAft>
                <a:spcPts val="600"/>
              </a:spcAft>
              <a:buNone/>
            </a:pPr>
            <a:r>
              <a:rPr lang="en-US" sz="2600" b="1" dirty="0">
                <a:solidFill>
                  <a:srgbClr val="1E2229"/>
                </a:solidFill>
                <a:latin typeface="Calibri" pitchFamily="34" charset="0"/>
                <a:ea typeface="Calibri" pitchFamily="34" charset="-122"/>
                <a:cs typeface="Calibri" pitchFamily="34" charset="-120"/>
              </a:rPr>
              <a:t>Explain the main difference between a democracy and a dictatorship. Use at least two features of each. Write one paragraph of four to six sentences.</a:t>
            </a:r>
            <a:endParaRPr lang="en-US" sz="2600" dirty="0"/>
          </a:p>
          <a:p>
            <a:pPr algn="ctr" indent="0" marL="0">
              <a:buNone/>
            </a:pPr>
            <a:r>
              <a:rPr lang="en-US" sz="2400" dirty="0">
                <a:solidFill>
                  <a:srgbClr val="4A505C"/>
                </a:solidFill>
                <a:latin typeface="Calibri" pitchFamily="34" charset="0"/>
                <a:ea typeface="Calibri" pitchFamily="34" charset="-122"/>
                <a:cs typeface="Calibri" pitchFamily="34" charset="-120"/>
              </a:rPr>
              <a:t>Write in full sentences</a:t>
            </a:r>
            <a:endParaRPr lang="en-US" sz="26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7A4A1E"/>
                </a:solidFill>
                <a:latin typeface="Cambria" pitchFamily="34" charset="0"/>
                <a:ea typeface="Cambria" pitchFamily="34" charset="-122"/>
                <a:cs typeface="Cambria" pitchFamily="34" charset="-120"/>
              </a:rPr>
              <a:t>Same task, three ways in: Democracy against dictatorship</a:t>
            </a:r>
            <a:endParaRPr lang="en-US" sz="26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731520"/>
          </a:xfrm>
          <a:prstGeom prst="roundRect">
            <a:avLst>
              <a:gd name="adj" fmla="val 12500"/>
            </a:avLst>
          </a:prstGeom>
          <a:solidFill>
            <a:srgbClr val="FFFFFF"/>
          </a:solidFill>
          <a:ln w="31750">
            <a:solidFill>
              <a:srgbClr val="B8862B"/>
            </a:solidFill>
            <a:prstDash val="solid"/>
          </a:ln>
        </p:spPr>
      </p:sp>
      <p:sp>
        <p:nvSpPr>
          <p:cNvPr id="8" name="task-hex"/>
          <p:cNvSpPr/>
          <p:nvPr/>
        </p:nvSpPr>
        <p:spPr>
          <a:xfrm>
            <a:off x="777240" y="1438900"/>
            <a:ext cx="731520" cy="633496"/>
          </a:xfrm>
          <a:prstGeom prst="hexagon">
            <a:avLst/>
          </a:prstGeom>
          <a:solidFill>
            <a:srgbClr val="B8862B"/>
          </a:solidFill>
          <a:ln/>
        </p:spPr>
      </p:sp>
      <p:sp>
        <p:nvSpPr>
          <p:cNvPr id="9" name="task-hex-label"/>
          <p:cNvSpPr txBox="1"/>
          <p:nvPr/>
        </p:nvSpPr>
        <p:spPr>
          <a:xfrm>
            <a:off x="777240" y="143890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48132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548640"/>
          </a:xfrm>
          <a:prstGeom prst="rect">
            <a:avLst/>
          </a:prstGeom>
          <a:noFill/>
          <a:ln/>
        </p:spPr>
        <p:txBody>
          <a:bodyPr wrap="square" lIns="63500" tIns="63500" rIns="63500" bIns="63500" rtlCol="0" anchor="ctr"/>
          <a:lstStyle/>
          <a:p>
            <a:pPr algn="ctr" indent="0" marL="0">
              <a:buNone/>
            </a:pPr>
            <a:r>
              <a:rPr lang="en-US" sz="2000" b="1" dirty="0">
                <a:solidFill>
                  <a:srgbClr val="1E2229"/>
                </a:solidFill>
                <a:latin typeface="Calibri" pitchFamily="34" charset="0"/>
                <a:ea typeface="Calibri" pitchFamily="34" charset="-122"/>
                <a:cs typeface="Calibri" pitchFamily="34" charset="-120"/>
              </a:rPr>
              <a:t>Task 2 (on the last slide): Democracy against dictatorship</a:t>
            </a:r>
            <a:endParaRPr lang="en-US" sz="2000" dirty="0"/>
          </a:p>
        </p:txBody>
      </p:sp>
      <p:sp>
        <p:nvSpPr>
          <p:cNvPr id="12" name="col-Support"/>
          <p:cNvSpPr/>
          <p:nvPr/>
        </p:nvSpPr>
        <p:spPr>
          <a:xfrm>
            <a:off x="548640" y="2395728"/>
            <a:ext cx="5602443" cy="3749040"/>
          </a:xfrm>
          <a:prstGeom prst="roundRect">
            <a:avLst>
              <a:gd name="adj" fmla="val 1463"/>
            </a:avLst>
          </a:prstGeom>
          <a:solidFill>
            <a:srgbClr val="F2EDE9"/>
          </a:solidFill>
          <a:ln/>
        </p:spPr>
      </p:sp>
      <p:sp>
        <p:nvSpPr>
          <p:cNvPr id="13" name="col-hex"/>
          <p:cNvSpPr/>
          <p:nvPr/>
        </p:nvSpPr>
        <p:spPr>
          <a:xfrm>
            <a:off x="658368" y="246888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432304"/>
            <a:ext cx="4870923"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035808"/>
            <a:ext cx="5328123" cy="299923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 1: The main difference between a democracy and a dictatorship is…</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Sentences 2 and 3: name two features of a democracy and say what each one does for the people.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 4: say what a dictatorship does instead, using because.</a:t>
            </a:r>
            <a:endParaRPr lang="en-US" sz="1800" dirty="0"/>
          </a:p>
          <a:p>
            <a:pPr algn="l" indent="0" marL="0">
              <a:spcAft>
                <a:spcPts val="600"/>
              </a:spcAft>
              <a:buNone/>
            </a:pPr>
            <a:r>
              <a:rPr lang="en-US" sz="1800" b="1" dirty="0">
                <a:solidFill>
                  <a:srgbClr val="7A4A1E"/>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Sentence 5: finish with the word totalitarianism and what it adds to the picture.</a:t>
            </a:r>
            <a:endParaRPr lang="en-US" sz="1800" dirty="0"/>
          </a:p>
        </p:txBody>
      </p:sp>
      <p:sp>
        <p:nvSpPr>
          <p:cNvPr id="17" name="col-Core"/>
          <p:cNvSpPr/>
          <p:nvPr/>
        </p:nvSpPr>
        <p:spPr>
          <a:xfrm>
            <a:off x="6425403" y="2395728"/>
            <a:ext cx="2471666" cy="3749040"/>
          </a:xfrm>
          <a:prstGeom prst="roundRect">
            <a:avLst>
              <a:gd name="adj" fmla="val 2220"/>
            </a:avLst>
          </a:prstGeom>
          <a:solidFill>
            <a:srgbClr val="E2D7CE"/>
          </a:solidFill>
          <a:ln/>
        </p:spPr>
      </p:sp>
      <p:sp>
        <p:nvSpPr>
          <p:cNvPr id="18" name="col-hex"/>
          <p:cNvSpPr/>
          <p:nvPr/>
        </p:nvSpPr>
        <p:spPr>
          <a:xfrm>
            <a:off x="6535131" y="246888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6535131"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7065483"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553415"/>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6562563"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623B18"/>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Write about power: who has it, who chose them, and who is allowed to argue back. Two features of each system, then the word totalitarianism.</a:t>
            </a:r>
            <a:endParaRPr lang="en-US" sz="1800" dirty="0"/>
          </a:p>
        </p:txBody>
      </p:sp>
      <p:sp>
        <p:nvSpPr>
          <p:cNvPr id="22" name="col-Stretch"/>
          <p:cNvSpPr/>
          <p:nvPr/>
        </p:nvSpPr>
        <p:spPr>
          <a:xfrm>
            <a:off x="9171389" y="2395728"/>
            <a:ext cx="2471666" cy="3749040"/>
          </a:xfrm>
          <a:prstGeom prst="roundRect">
            <a:avLst>
              <a:gd name="adj" fmla="val 2220"/>
            </a:avLst>
          </a:prstGeom>
          <a:solidFill>
            <a:srgbClr val="7A4A1E"/>
          </a:solidFill>
          <a:ln/>
        </p:spPr>
      </p:sp>
      <p:sp>
        <p:nvSpPr>
          <p:cNvPr id="23" name="col-hex"/>
          <p:cNvSpPr/>
          <p:nvPr/>
        </p:nvSpPr>
        <p:spPr>
          <a:xfrm>
            <a:off x="9281117" y="246888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9281117" y="246888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811469" y="2432304"/>
            <a:ext cx="1740146"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9308549" y="3035808"/>
            <a:ext cx="2197346" cy="299923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Some people argue a dictatorship can act faster than a democracy in a crisis. Explain why historians are still not persuaded that this is an advantage.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7A4A1E"/>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7A4A1E"/>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925064"/>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What does the word democracy mean?</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system of government where one person has total power</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system of government where the people vote and choose their leaders</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system of government in which the army chooses the leader</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system of government in which the richest people make the laws</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F6F2EF"/>
          </a:solidFill>
          <a:ln w="12700">
            <a:solidFill>
              <a:srgbClr val="BDA58F"/>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The four pillars of democracy</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Free and fair elections  →  B  Regular, secret ballots in which the majority opinion decides what happens</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A multi-party system  →  A  A wide range of ideas and a real choice, because parties compete to offer the best policies</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Human and civil rights  →  D  Protection for people's interests and beliefs, with freedom of speech a major part of it</a:t>
            </a:r>
            <a:endParaRPr lang="en-US" sz="1800" dirty="0"/>
          </a:p>
          <a:p>
            <a:pPr algn="l" indent="0" marL="0">
              <a:spcAft>
                <a:spcPts val="1000"/>
              </a:spcAft>
              <a:buNone/>
            </a:pPr>
            <a:r>
              <a:rPr lang="en-US" sz="18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1800" dirty="0">
                <a:solidFill>
                  <a:srgbClr val="1E2229"/>
                </a:solidFill>
                <a:latin typeface="Calibri" pitchFamily="34" charset="0"/>
                <a:ea typeface="Calibri" pitchFamily="34" charset="-122"/>
                <a:cs typeface="Calibri" pitchFamily="34" charset="-120"/>
              </a:rPr>
              <a:t>Separation of powers  →  C  Power divided between parts of government, so the courts can stop the government breaking the law</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Elections are about how leaders are chosen; a multi-party system is about choice; rights are about what people may say and believe; the separation of powers is about who can check the government. A dictatorship attacks all four.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Democracy against dictatorship</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crit-head"/>
          <p:cNvSpPr txBox="1"/>
          <p:nvPr/>
        </p:nvSpPr>
        <p:spPr>
          <a:xfrm>
            <a:off x="548640" y="1389888"/>
            <a:ext cx="11094415" cy="502920"/>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Success criteria: tick what you did</a:t>
            </a:r>
            <a:endParaRPr lang="en-US" sz="1800" dirty="0"/>
          </a:p>
        </p:txBody>
      </p:sp>
      <p:sp>
        <p:nvSpPr>
          <p:cNvPr id="8" name="crit-box"/>
          <p:cNvSpPr/>
          <p:nvPr/>
        </p:nvSpPr>
        <p:spPr>
          <a:xfrm>
            <a:off x="548640" y="1984248"/>
            <a:ext cx="11094415" cy="742188"/>
          </a:xfrm>
          <a:prstGeom prst="roundRect">
            <a:avLst>
              <a:gd name="adj" fmla="val 12320"/>
            </a:avLst>
          </a:prstGeom>
          <a:solidFill>
            <a:srgbClr val="F4F1ED"/>
          </a:solidFill>
          <a:ln/>
        </p:spPr>
      </p:sp>
      <p:sp>
        <p:nvSpPr>
          <p:cNvPr id="9" name="tickbox"/>
          <p:cNvSpPr/>
          <p:nvPr/>
        </p:nvSpPr>
        <p:spPr>
          <a:xfrm>
            <a:off x="713232" y="2209038"/>
            <a:ext cx="292608" cy="292608"/>
          </a:xfrm>
          <a:prstGeom prst="rect">
            <a:avLst/>
          </a:prstGeom>
          <a:solidFill>
            <a:srgbClr val="FFFFFF"/>
          </a:solidFill>
          <a:ln w="19050">
            <a:solidFill>
              <a:srgbClr val="7A4A1E"/>
            </a:solidFill>
            <a:prstDash val="solid"/>
          </a:ln>
        </p:spPr>
      </p:sp>
      <p:sp>
        <p:nvSpPr>
          <p:cNvPr id="10" name="crit"/>
          <p:cNvSpPr txBox="1"/>
          <p:nvPr/>
        </p:nvSpPr>
        <p:spPr>
          <a:xfrm>
            <a:off x="1143000" y="1984248"/>
            <a:ext cx="10317175" cy="74218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state the main difference in one clear sentence.</a:t>
            </a:r>
            <a:endParaRPr lang="en-US" sz="2200" dirty="0"/>
          </a:p>
        </p:txBody>
      </p:sp>
      <p:sp>
        <p:nvSpPr>
          <p:cNvPr id="11" name="crit-box"/>
          <p:cNvSpPr/>
          <p:nvPr/>
        </p:nvSpPr>
        <p:spPr>
          <a:xfrm>
            <a:off x="548640" y="2817876"/>
            <a:ext cx="11094415" cy="742188"/>
          </a:xfrm>
          <a:prstGeom prst="roundRect">
            <a:avLst>
              <a:gd name="adj" fmla="val 12320"/>
            </a:avLst>
          </a:prstGeom>
          <a:solidFill>
            <a:srgbClr val="F4F1ED"/>
          </a:solidFill>
          <a:ln/>
        </p:spPr>
      </p:sp>
      <p:sp>
        <p:nvSpPr>
          <p:cNvPr id="12" name="tickbox"/>
          <p:cNvSpPr/>
          <p:nvPr/>
        </p:nvSpPr>
        <p:spPr>
          <a:xfrm>
            <a:off x="713232" y="3042666"/>
            <a:ext cx="292608" cy="292608"/>
          </a:xfrm>
          <a:prstGeom prst="rect">
            <a:avLst/>
          </a:prstGeom>
          <a:solidFill>
            <a:srgbClr val="FFFFFF"/>
          </a:solidFill>
          <a:ln w="19050">
            <a:solidFill>
              <a:srgbClr val="7A4A1E"/>
            </a:solidFill>
            <a:prstDash val="solid"/>
          </a:ln>
        </p:spPr>
      </p:sp>
      <p:sp>
        <p:nvSpPr>
          <p:cNvPr id="13" name="crit"/>
          <p:cNvSpPr txBox="1"/>
          <p:nvPr/>
        </p:nvSpPr>
        <p:spPr>
          <a:xfrm>
            <a:off x="1143000" y="2817876"/>
            <a:ext cx="10317175" cy="74218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name at least two features of a democracy and explain what each one does.</a:t>
            </a:r>
            <a:endParaRPr lang="en-US" sz="2200" dirty="0"/>
          </a:p>
        </p:txBody>
      </p:sp>
      <p:sp>
        <p:nvSpPr>
          <p:cNvPr id="14" name="crit-box"/>
          <p:cNvSpPr/>
          <p:nvPr/>
        </p:nvSpPr>
        <p:spPr>
          <a:xfrm>
            <a:off x="548640" y="3651504"/>
            <a:ext cx="11094415" cy="742188"/>
          </a:xfrm>
          <a:prstGeom prst="roundRect">
            <a:avLst>
              <a:gd name="adj" fmla="val 12320"/>
            </a:avLst>
          </a:prstGeom>
          <a:solidFill>
            <a:srgbClr val="F4F1ED"/>
          </a:solidFill>
          <a:ln/>
        </p:spPr>
      </p:sp>
      <p:sp>
        <p:nvSpPr>
          <p:cNvPr id="15" name="tickbox"/>
          <p:cNvSpPr/>
          <p:nvPr/>
        </p:nvSpPr>
        <p:spPr>
          <a:xfrm>
            <a:off x="713232" y="3876294"/>
            <a:ext cx="292608" cy="292608"/>
          </a:xfrm>
          <a:prstGeom prst="rect">
            <a:avLst/>
          </a:prstGeom>
          <a:solidFill>
            <a:srgbClr val="FFFFFF"/>
          </a:solidFill>
          <a:ln w="19050">
            <a:solidFill>
              <a:srgbClr val="7A4A1E"/>
            </a:solidFill>
            <a:prstDash val="solid"/>
          </a:ln>
        </p:spPr>
      </p:sp>
      <p:sp>
        <p:nvSpPr>
          <p:cNvPr id="16" name="crit"/>
          <p:cNvSpPr txBox="1"/>
          <p:nvPr/>
        </p:nvSpPr>
        <p:spPr>
          <a:xfrm>
            <a:off x="1143000" y="3651504"/>
            <a:ext cx="10317175" cy="742188"/>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name at least two things a dictatorship does instead, and use the word because.</a:t>
            </a:r>
            <a:endParaRPr lang="en-US" sz="2200" dirty="0"/>
          </a:p>
        </p:txBody>
      </p:sp>
      <p:sp>
        <p:nvSpPr>
          <p:cNvPr id="17" name="crit-box"/>
          <p:cNvSpPr/>
          <p:nvPr/>
        </p:nvSpPr>
        <p:spPr>
          <a:xfrm>
            <a:off x="548640" y="4485132"/>
            <a:ext cx="11094415" cy="1083056"/>
          </a:xfrm>
          <a:prstGeom prst="roundRect">
            <a:avLst>
              <a:gd name="adj" fmla="val 8443"/>
            </a:avLst>
          </a:prstGeom>
          <a:solidFill>
            <a:srgbClr val="F4F1ED"/>
          </a:solidFill>
          <a:ln/>
        </p:spPr>
      </p:sp>
      <p:sp>
        <p:nvSpPr>
          <p:cNvPr id="18" name="tickbox"/>
          <p:cNvSpPr/>
          <p:nvPr/>
        </p:nvSpPr>
        <p:spPr>
          <a:xfrm>
            <a:off x="713232" y="4880356"/>
            <a:ext cx="292608" cy="292608"/>
          </a:xfrm>
          <a:prstGeom prst="rect">
            <a:avLst/>
          </a:prstGeom>
          <a:solidFill>
            <a:srgbClr val="FFFFFF"/>
          </a:solidFill>
          <a:ln w="19050">
            <a:solidFill>
              <a:srgbClr val="7A4A1E"/>
            </a:solidFill>
            <a:prstDash val="solid"/>
          </a:ln>
        </p:spPr>
      </p:sp>
      <p:sp>
        <p:nvSpPr>
          <p:cNvPr id="19" name="crit"/>
          <p:cNvSpPr txBox="1"/>
          <p:nvPr/>
        </p:nvSpPr>
        <p:spPr>
          <a:xfrm>
            <a:off x="1143000" y="4485132"/>
            <a:ext cx="10317175" cy="1083056"/>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I use at least two key words from this chapter correctly, such as totalitarianism, opposition or separation of powers.</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Model answer: Democracy against dictatorship</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model-panel"/>
          <p:cNvSpPr/>
          <p:nvPr/>
        </p:nvSpPr>
        <p:spPr>
          <a:xfrm>
            <a:off x="1463040" y="1389888"/>
            <a:ext cx="9265615" cy="4754880"/>
          </a:xfrm>
          <a:prstGeom prst="roundRect">
            <a:avLst>
              <a:gd name="adj" fmla="val 962"/>
            </a:avLst>
          </a:prstGeom>
          <a:solidFill>
            <a:srgbClr val="F6F0E6"/>
          </a:solidFill>
          <a:ln w="19050">
            <a:solidFill>
              <a:srgbClr val="B8862B"/>
            </a:solidFill>
            <a:prstDash val="solid"/>
          </a:ln>
        </p:spPr>
      </p:sp>
      <p:sp>
        <p:nvSpPr>
          <p:cNvPr id="8" name="model-tab"/>
          <p:cNvSpPr/>
          <p:nvPr/>
        </p:nvSpPr>
        <p:spPr>
          <a:xfrm>
            <a:off x="1645920" y="1554480"/>
            <a:ext cx="201168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Model answer</a:t>
            </a:r>
            <a:endParaRPr lang="en-US" sz="1800" dirty="0"/>
          </a:p>
        </p:txBody>
      </p:sp>
      <p:sp>
        <p:nvSpPr>
          <p:cNvPr id="9" name="model"/>
          <p:cNvSpPr txBox="1"/>
          <p:nvPr/>
        </p:nvSpPr>
        <p:spPr>
          <a:xfrm>
            <a:off x="1691640" y="2167128"/>
            <a:ext cx="8808415" cy="384048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The main difference between a democracy and a dictatorship is who holds power and who is able to take it away. In a democracy the people vote and choose their leaders in regular, secret elections, and more than one party can stand, so voters have a real choice and can remove a government they dislike. A democracy also protects rights such as freedom of speech, and it separates powers, so that the courts can rule that the government has broken the law. A dictatorship removes all of this, because one person has total power: elections stop being real, opposition parties are banned, and criticism becomes dangerous. When that control spreads into schools, newspapers and private life as well, historians call it totalitarianism.</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7A4A1E"/>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7A4A1E"/>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7A4A1E"/>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6F0E6"/>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What does the word democracy mean?</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B   A system of government where the people vote and choose their leaders</a:t>
            </a:r>
            <a:endParaRPr lang="en-US" sz="1800" dirty="0"/>
          </a:p>
        </p:txBody>
      </p:sp>
      <p:sp>
        <p:nvSpPr>
          <p:cNvPr id="10" name="why-panel"/>
          <p:cNvSpPr/>
          <p:nvPr/>
        </p:nvSpPr>
        <p:spPr>
          <a:xfrm>
            <a:off x="7223760" y="1389888"/>
            <a:ext cx="4419295" cy="4754880"/>
          </a:xfrm>
          <a:prstGeom prst="roundRect">
            <a:avLst>
              <a:gd name="adj" fmla="val 1035"/>
            </a:avLst>
          </a:prstGeom>
          <a:solidFill>
            <a:srgbClr val="F2EDE9"/>
          </a:solidFill>
          <a:ln/>
        </p:spPr>
      </p:sp>
      <p:sp>
        <p:nvSpPr>
          <p:cNvPr id="11" name="why-hex"/>
          <p:cNvSpPr/>
          <p:nvPr/>
        </p:nvSpPr>
        <p:spPr>
          <a:xfrm>
            <a:off x="7406640" y="1572768"/>
            <a:ext cx="685800" cy="593903"/>
          </a:xfrm>
          <a:prstGeom prst="hexagon">
            <a:avLst/>
          </a:prstGeom>
          <a:solidFill>
            <a:srgbClr val="7A4A1E"/>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democracy is government by choice: the people vote for their leaders, and they keep rights such as freedom of speech.</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6E431B"/>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theme/theme1.xml><?xml version="1.0" encoding="utf-8"?>
<a:theme xmlns:a="http://schemas.openxmlformats.org/drawingml/2006/main" name="Ad Astra history">
  <a:themeElements>
    <a:clrScheme name="Ad Astra history">
      <a:dk1>
        <a:srgbClr val="1E2229"/>
      </a:dk1>
      <a:lt1>
        <a:srgbClr val="FFFFFF"/>
      </a:lt1>
      <a:dk2>
        <a:srgbClr val="623B18"/>
      </a:dk2>
      <a:lt2>
        <a:srgbClr val="F2EDE9"/>
      </a:lt2>
      <a:accent1>
        <a:srgbClr val="7A4A1E"/>
      </a:accent1>
      <a:accent2>
        <a:srgbClr val="B8862B"/>
      </a:accent2>
      <a:accent3>
        <a:srgbClr val="AF9278"/>
      </a:accent3>
      <a:accent4>
        <a:srgbClr val="815E1E"/>
      </a:accent4>
      <a:accent5>
        <a:srgbClr val="4A505C"/>
      </a:accent5>
      <a:accent6>
        <a:srgbClr val="DCC395"/>
      </a:accent6>
      <a:hlink>
        <a:srgbClr val="7A4A1E"/>
      </a:hlink>
      <a:folHlink>
        <a:srgbClr val="553415"/>
      </a:folHlink>
    </a:clrScheme>
    <a:fontScheme name="Ad Astra histo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Dictatorship · Chapter 1: Democracy, dictatorship and totalitarianism</dc:title>
  <dc:subject>History · Year 9</dc:subject>
  <dc:creator>Dr Vitor Merissi de Carvalho</dc:creator>
  <cp:lastModifiedBy>Dr Vitor Merissi de Carvalho</cp:lastModifiedBy>
  <cp:revision>1</cp:revision>
  <dcterms:created xsi:type="dcterms:W3CDTF">2026-10-19T16:23:04Z</dcterms:created>
  <dcterms:modified xsi:type="dcterms:W3CDTF">2026-10-19T16:23:04Z</dcterms:modified>
</cp:coreProperties>
</file>