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ed55ab7-1cba-001e-5eba-777dba44eddc}">
          <p14:sldIdLst>
            <p14:sldId id="256"/>
          </p14:sldIdLst>
        </p14:section>
        <p14:section name="Gate" id="{8c4aaa3b-46be-1843-16a2-03cd8ac4d8d1}">
          <p14:sldIdLst>
            <p14:sldId id="257"/>
            <p14:sldId id="258"/>
            <p14:sldId id="259"/>
          </p14:sldIdLst>
        </p14:section>
        <p14:section name="Pre-teach" id="{59db1c83-6dfe-348a-2927-e587d54f02ca}">
          <p14:sldIdLst>
            <p14:sldId id="260"/>
            <p14:sldId id="261"/>
          </p14:sldIdLst>
        </p14:section>
        <p14:section name="Read-along" id="{c18eea4e-a1d6-af50-f92b-1fc1c7ad43bb}">
          <p14:sldIdLst>
            <p14:sldId id="262"/>
            <p14:sldId id="263"/>
          </p14:sldIdLst>
        </p14:section>
        <p14:section name="Teach" id="{a311e0a0-3940-6e98-f3f2-4f6dac2ab6c0}">
          <p14:sldIdLst>
            <p14:sldId id="264"/>
            <p14:sldId id="265"/>
            <p14:sldId id="266"/>
            <p14:sldId id="267"/>
            <p14:sldId id="268"/>
          </p14:sldIdLst>
        </p14:section>
        <p14:section name="Routes" id="{d1824028-d919-6c45-4d33-4088b73d2fe8}">
          <p14:sldIdLst>
            <p14:sldId id="269"/>
            <p14:sldId id="270"/>
            <p14:sldId id="271"/>
            <p14:sldId id="272"/>
          </p14:sldIdLst>
        </p14:section>
        <p14:section name="Close" id="{fbfcc060-bf2b-b127-ff68-0feaee4f2c14}">
          <p14:sldIdLst>
            <p14:sldId id="273"/>
          </p14:sldIdLst>
        </p14:section>
        <p14:section name="Answers" id="{4f271404-7c16-f10c-92dc-7c3ba47a9291}">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How Hitler destroyed German democracy. The twenty months between Hitler being appointed Chancellor and declaring himself Führer, and the four moments in them that turned a democracy into a dictatorship.
This deck covers the department's lesson: 3 (How did Hitler rule Germany?: How did Hitler destroy German democracy and then keep control of the country?).
Read the big question aloud: "To what extent were the dictatorships in Hitler's Germany and Stalin's Russia similar?"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happened on 27 February 1933?  →  A   The Reichstag building, where the German parliament met, was set on fire
2. The Enabling Act let Hitler make ___ without the Reichstag's approval.  →  laws
3. Why do historians call the Enabling Act the critical moment in the destruction of German democracy?  →  A   It gave Hitler the power to make laws alone, so he could remove every source of opposition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happened on 27 February 1933?  →  A   The Reichstag building, where the German parliament met, was set on fire
2. The Enabling Act let Hitler make ___ without the Reichstag's approval.  →  laws
3. Why do historians call the Enabling Act the critical moment in the destruction of German democracy?  →  A   It gave Hitler the power to make laws alone, so he could remove every source of opposition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The Reichstag building, where the German parliament met, was set on fire. The Reichstag Fire was the crisis Hitler used to demand emergency powers and arrest his communist opponents.
2. laws. The Act transferred lawmaking from parliament to Hitler, which is why historians call it the critical moment.
3. A   It gave Hitler the power to make laws alone, so he could remove every source of opposition. Once Hitler could make laws without the Reichstag, every other check on him could be removed by law, including the other parties.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Reichstag: the German parliament, and also the building it met in. Example: "The Reichstag had to approve a law before it could be passed."
• emergency powers: special powers a government takes in a crisis, which set normal rules aside. Example: "Hitler used emergency powers to restrict rights after the fire."
• Enabling Act: the law that let Hitler make laws without the Reichstag's approval. Example: "After the Enabling Act, Hitler could make laws alone."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one-party state: a country where only one political party is allowed to exist. Example: "Once the other parties were banned, Germany was a one-party state."
• Führer: leader: the title Hitler gave himself when his power became absolute. Example: "As Führer, Hitler was head of the government and of the army."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Hitler was now Chancellor, but his power was not yet secure.
2. On 27 February 1933 the Reichstag building was set on fire.
3. Hitler used the fire to demand emergency powers.
4. A new law restricted people's rights and freedoms.
5. Communist leaders were arrested and could not campaign.
6. In the election that followed, the Nazis won 288 seats.
7. That was still not a majority, so Hitler joined with the nationalists.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In March 1933 the Reichstag passed the Enabling Act.
9. It let Hitler make laws without the Reichstag's approval.
10. He banned the other parties, and Germany became a one-party state.
11. In June 1934 the SS murdered around 400 Nazis who opposed him.
12. In August 1934 President Hindenburg died.
13. Hitler declared himself Führer, and his power was now absolute.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Using democracy to destroy democracy. Say it in your own words, then check understanding with a quick question: ask a pupil from the pre-teach group first, since they met these words and ideas before the lesson. Pupils try to recall before you re-explain.
Hitler and the Nazis hated democracy and the free, open society it had created in Germany. Their first plan had been to take power by force, but that plan collapsed with the Munich Putsch of 1923 and sent Hitler to prison. After 1923 he changed strategy and set about turning the Nazi Party into an electable party instead.
The plan from then on was the one your lesson puts in a single sentence: win power by election, and then pull German democracy down from within. That is why the Nazis fought elections they privately despised, and why Hitler accepted an appointment rather than seizing the government.
By the start of 1933 the Nazis had become so popular, and the other parties so unpopular, that Germany's political leaders felt they had no choice but to let Hitler in. The President did not want him as Chancellor and had no other options left after years of failure since 1929. Hitler took the post, and began dismantling German democracy almost at once.
Tip: The phrase to remember is from the inside. Hitler did not overthrow German democracy; he was invited into it and then took it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Reichstag Fire, February 1933. Say it in your own words, then check understanding with a quick question: ask a pupil from the pre-teach group first, since they met these words and ideas before the lesson. Pupils try to recall before you re-explain.
On 27 February 1933 the Reichstag building was set on fire. A Dutch communist named van der Lubbe was caught in the burning building. Hitler used the fire to argue that the country faced a communist plot, and persuaded the parliament to pass an emergency law restricting personal rights and freedoms.
That law let him arrest many communist leaders, which stopped them campaigning in the election days later. The results of the Reichstag Fire of February 1933 show up immediately in the voting: 44 per cent of voters chose the Nazis, who won 288 seats. Even so, that was still not an overall majority, so Hitler had to join with the nationalists to make one.
Notice how the method works. Hitler did not need to break the law to attack his opponents; he used a crisis to have the law changed, and then used the new law. The SA, the Nazis' own uniformed force, intimidated the remaining parties. The pillars of democracy were being removed one at a time, by legal means.
Tip: An exam favourite: the fire did not make Hitler a dictator. It removed his strongest opponents from the election campaign, which made the next step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Enabling Act, March 1933. Say it in your own words, then check understanding with a quick question: ask a pupil from the pre-teach group first, since they met these words and ideas before the lesson. Pupils try to recall before you re-explain.
With the communist deputies banned and the other parties intimidated, the Reichstag voted to give Hitler the right to make laws without its approval for four years. The Enabling Act of March 1933 was, as your lesson says, arguably the critical event of the whole period.
Think about what it actually did. It gave Hitler absolute power to make laws, which let him destroy all opposition to his rule, and it removed the Reichstag itself as a source of opposition, because its approval was no longer needed. He used that power to ban all the other political parties, and Germany became a one-party state.
Compare this with chapter 1. Elections no longer mattered, because only one party could stand. There was no opposition left to argue back. Rights had already been restricted by the emergency law. And the separation of powers had gone, because the man who led the government now also made the laws.
Worked example — model it step by step, thinking aloud: The Enabling Act was passed in March 1933 and gave Hitler the power to make laws for four years. In which year was that power due to run out? (1) Write down the starting year: 1933. (2) Write down the number of years the Act granted: four. (3) Add them: 1933 + 4. (4) The power was due to run out in 1937. Note that it did not simply end then: a dictator who makes the laws can renew his own powers. Answer: 1937.
Tip: If you can only remember one date from this chapter, remember March 1933. It is the moment lawmaking left parliament and moved into one man's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Enabling Act, March 1933. Say it in your own words, then check understanding with a quick question: ask a pupil from the pre-teach group first, since they met these words and ideas before the lesson. Pupils try to recall before you re-explain.
With the communist deputies banned and the other parties intimidated, the Reichstag voted to give Hitler the right to make laws without its approval for four years. The Enabling Act of March 1933 was, as your lesson says, arguably the critical event of the whole period.
Think about what it actually did. It gave Hitler absolute power to make laws, which let him destroy all opposition to his rule, and it removed the Reichstag itself as a source of opposition, because its approval was no longer needed. He used that power to ban all the other political parties, and Germany became a one-party state.
Compare this with chapter 1. Elections no longer mattered, because only one party could stand. There was no opposition left to argue back. Rights had already been restricted by the emergency law. And the separation of powers had gone, because the man who led the government now also made the laws.
Worked example — model it step by step, thinking aloud: The Enabling Act was passed in March 1933 and gave Hitler the power to make laws for four years. In which year was that power due to run out? (1) Write down the starting year: 1933. (2) Write down the number of years the Act granted: four. (3) Add them: 1933 + 4. (4) The power was due to run out in 1937. Note that it did not simply end then: a dictator who makes the laws can renew his own powers. Answer: 1937.
Tip: If you can only remember one date from this chapter, remember March 1933. It is the moment lawmaking left parliament and moved into one man's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Night of the Long Knives, and the title of Führer. Say it in your own words, then check understanding with a quick question: ask a pupil from the pre-teach group first, since they met these words and ideas before the lesson. Pupils try to recall before you re-explain.
Hitler's last two rivals were inside his own party and inside the army. Many Nazis were demanding that the party carry out its socialist promises and take over the armed forces. Hitler could not afford to annoy either the businessmen who funded him or the generals he needed, so he destroyed the demand instead of meeting it.
On the Night of the Long Knives in June 1934, the SS, Hitler's personal bodyguard, murdered around 400 members of the Nazi Party. This destroyed all opposition to Hitler within the party and handed enormous power to the SS. It also showed the rest of the world what sort of ruler Germany now had.
Then, on 19 August 1934, President Hindenburg died. Hitler declared himself Führer in August 1934, taking the roles of president, chancellor and head of the army together. Every soldier, sailor and airman was then made to swear loyalty to Hitler in person rather than to the country. From that point his power was unlimited and absolute, and there was no one left who could challenge it.
Tip: Learn the sequence as a removal of rivals: communists in February, parliament in March, the party in June, the army in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creation of a dictatorship, 1933 to 1934.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five steps in the creation of the Nazi dictatorship in the order they happened.
Support — work through the steps with the group: (1) Each step carries its month and year, so sort by year first. (2) Within 1933, put the months in calendar order: January, February, March. (3) Within 1934, June comes before August. (4) Check the logic: Hitler has to be in office before he can use a crisis, and the crisis has to come before the law it justifies.
Parallel worked example for Support (model it, do not give the task answer): Put these steps in order: the match is struck (step two); the kindling catches (step three); the fire is laid (step one). Nothing can burn until the fire is laid.; The match is struck next.; The kindling catches last.. Answer: The fire is laid; the match is struck; the kindling catches..
Core — reveal the hint only on request: Three steps are in 1933 and two in 1934. Sort by year, then by month, then check the story makes sense.
Stretch — no help; when finished: Choose the step you think was the pivotal moment in the destruction of German democracy, and explain why you chose it rather than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creation of a dictatorship, 1933 to 1934.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five steps in the creation of the Nazi dictatorship in the order they happened.
Support — work through the steps with the group: (1) Each step carries its month and year, so sort by year first. (2) Within 1933, put the months in calendar order: January, February, March. (3) Within 1934, June comes before August. (4) Check the logic: Hitler has to be in office before he can use a crisis, and the crisis has to come before the law it justifies.
Parallel worked example for Support (model it, do not give the task answer): Put these steps in order: the match is struck (step two); the kindling catches (step three); the fire is laid (step one). Nothing can burn until the fire is laid.; The match is struck next.; The kindling catches last.. Answer: The fire is laid; the match is struck; the kindling catches..
Core — reveal the hint only on request: Three steps are in 1933 and two in 1934. Sort by year, then by month, then check the story makes sense.
Stretch — no help; when finished: Choose the step you think was the pivotal moment in the destruction of German democracy, and explain why you chose it rather than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long did the Enabling Act grant?.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Enabling Act of March 1933 let Hitler make laws without the Reichstag's approval for a set period. For how many years did it grant him that power?
Support — work through the steps with the group: (1) Find the sentence in section 3 that describes what the Reichstag voted for. (2) It names a number of years, written as a word, not a figure. (3) Write that number as a figure. (4) Check it against the worked example: starting in 1933, the power would run out in 1937.
Parallel worked example for Support (model it, do not give the task answer): A law was passed in 1707 and was due to run until 1719. For how many years did it run? Write down the two years: 1707 and 1719.; Subtract the earlier from the later: 1719 − 1707.; The law ran for 12 years.. Answer: 12.
Core — reveal the hint only on request: The answer is a small whole number of years, and the worked example in section 3 uses it to reach 1937.
Stretch — no help; when finished: Explain why the time limit in the Act turned out to mean very little once Hitler could make laws on his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long did the Enabling Act grant?.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Enabling Act of March 1933 let Hitler make laws without the Reichstag's approval for a set period. For how many years did it grant him that power?
Support — work through the steps with the group: (1) Find the sentence in section 3 that describes what the Reichstag voted for. (2) It names a number of years, written as a word, not a figure. (3) Write that number as a figure. (4) Check it against the worked example: starting in 1933, the power would run out in 1937.
Parallel worked example for Support (model it, do not give the task answer): A law was passed in 1707 and was due to run until 1719. For how many years did it run? Write down the two years: 1707 and 1719.; Subtract the earlier from the later: 1719 − 1707.; The law ran for 12 years.. Answer: 12.
Core — reveal the hint only on request: The answer is a small whole number of years, and the worked example in section 3 uses it to reach 1937.
Stretch — no help; when finished: Explain why the time limit in the Act turned out to mean very little once Hitler could make laws on his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happened on 27 February 1933?
Answer: D   The Reichstag building, where the German parliament met, was set on fire. The Reichstag Fire was the crisis Hitler used to demand emergency powers and arrest his communist opponents.
Source of this question: gate item 1 re-asked (options rotated) — this chapter has no third quick-check module.
The ebook also holds task 3, "Turning a fire into power",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creation of a dictatorship, 1933 to 1934. Reveal the answer; pupils mark their own work in a different colour, then read the "why" together. Same destination for every lane, so one answer serves the whole class.
Answer: Hitler is appointed Chancellor of Germany (January 1933)  (C); The Reichstag Fire, and the election that follows (February 1933)  (E); The Enabling Act lets Hitler make laws alone (March 1933)  (B); The Night of the Long Knives destroys opposition inside the party (June 1934)  (D); Hindenburg dies and Hitler declares himself Führer (August 1934)  (A)
Why: Hitler was appointed Chancellor in January 1933; the Reichstag Fire in February gave him the emergency powers to arrest communist deputies; the Enabling Act in March moved lawmaking to him; the Night of the Long Knives in June 1934 removed opposition inside the party; and in August 1934 Hindenburg's death let him take the title of Führer.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long did the Enabling Act grant?. Reveal the answer; pupils mark their own work in a different colour, then read the "why" together. Same destination for every lane, so one answer serves the whole class.
Answer: 4 years
Why: The Reichstag voted the power for four years, so it was due to lapse in 1937. In practice the limit meant nothing, because the man who could now make laws without parliament could also renew his own authority.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The Reichstag building, where the German parliament met, was set on fire
Why: The Reichstag Fire was the crisis Hitler used to demand emergency powers and arrest his communist opponents.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Dictatorship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Dictatorship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Dictatorship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How Hitler destroyed German democracy</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ED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did Hitler rule Germany?</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To what extent were the dictatorships in Hitler's Germany and Stalin's Russia similar?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happened on 27 February 1933?</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Reichstag building, where the German parliament met, was set on fire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Hitler was appointed Chancellor of Germany by the President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SS murdered the Nazis who had turned against Hitler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Reichstag voted to let Hitler make laws on his own</a:t>
            </a:r>
            <a:endParaRPr lang="en-US" sz="22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Enabling Act let Hitler make ___ without the Reichstag's approval.</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laws  ·  speeches  ·  arrests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Why do historians call the Enabling Act the critical moment in the destruction of German democracy?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gave Hitler the power to make laws alone, so he could remove every source of opposition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was the first Nazi law to restrict people's rights and freedoms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made Hitler head of the German army as well as head of the government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finally gave the Nazis an overall majority of the seats in the Reichstag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DE1CA"/>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 Reichstag building, where the German parliament met, was set on fire</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Reichstag Fire was the crisis Hitler used to demand emergency powers and arrest his communist opponents.</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laws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Enabling Act let Hitler make ___ without the Reichstag's approval.</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Act transferred lawmaking from parliament to Hitler, which is why historians call it the critical moment.</a:t>
            </a:r>
            <a:endParaRPr lang="en-US" sz="20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DE1CA"/>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It gave Hitler the power to make laws alone, so he could remove every source of opposition</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Once Hitler could make laws without the Reichstag, every other check on him could be removed by law, including…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Reichstag</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German parliament, and also the building it met 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Reichstag had to approve a law before it could be passed.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emergency powers</a:t>
            </a:r>
            <a:endParaRPr lang="en-US" sz="2600" dirty="0"/>
          </a:p>
        </p:txBody>
      </p:sp>
      <p:sp>
        <p:nvSpPr>
          <p:cNvPr id="17" name="word-rule"/>
          <p:cNvSpPr/>
          <p:nvPr/>
        </p:nvSpPr>
        <p:spPr>
          <a:xfrm>
            <a:off x="4521098" y="2558288"/>
            <a:ext cx="3149498" cy="0"/>
          </a:xfrm>
          <a:prstGeom prst="line">
            <a:avLst/>
          </a:prstGeom>
          <a:ln w="12700">
            <a:solidFill>
              <a:srgbClr val="CAB7A5"/>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special powers a government takes in a crisis, which set normal rules aside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Hitler used emergency powers to restrict rights after the fire.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Enabling Act</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law that let Hitler make laws without the Reichstag's approval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After the Enabling Act, Hitler could make laws alone.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one-party state</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country where only one political party is allowed to exist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Once the other parties were banned, Germany was a one-party state.</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Führer</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leader: the title Hitler gave himself when his power became absolute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As Führer, Hitler was head of the government and of the army.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Hitler was now Chancellor, but his power was not yet secure.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 27 February 1933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Reichstag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building was set on fire.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Hitler used the fire to demand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emergency powers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new law restricted people's rights and freedoms.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Communist leaders were arrested and could not campaign.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election that followed, the Nazis won 288 seats.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was still not a majority, so Hitler joined with the nationalists.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March 1933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Reichstag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passed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Enabling Act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let Hitler make laws without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Reichstag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 approval.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banned the other parties, and Germany became 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one-party state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June 1934 the SS murdered around 400 Nazis who opposed him.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August 1934 President Hindenburg died.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Hitler declared himself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Führer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his power was now absolute.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Using democracy to destroy democracy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phrase to remember is from the inside. Hitler did not overthrow German democracy; he was invited into it and then took it apart.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Hitler and the Nazis hated democracy and the free, open society it had created in Germany.</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plan from then on was the one your lesson puts in a single sentence: win power by election, and then pull German democracy down from within.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By the start of 1933 the Nazis had become so popular, and the other parties so unpopular, that Germany's political leaders felt they had no choice but to let Hitler 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Reichstag Fire, February 1933</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 exam favourite: the fire did not make Hitler a dictator. It removed his strongest opponents from the election campaign, which made the next step possible.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 27 February 1933 the Reichstag building was set on fire.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That law let him arrest many communist leaders, which stopped them campaigning in the election days later.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Notice how the method works. Hitler did not need to break the law to attack his opponents; he used a crisis to have the law changed, and then used the new law.</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Enabling Act, March 1933</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 can only remember one date from this chapter, remember March 1933. It is the moment lawmaking left parliament and moved into one man's hands.</a:t>
            </a:r>
            <a:endParaRPr lang="en-US" sz="1800" dirty="0"/>
          </a:p>
        </p:txBody>
      </p:sp>
      <p:sp>
        <p:nvSpPr>
          <p:cNvPr id="11" name="bullet-card"/>
          <p:cNvSpPr/>
          <p:nvPr/>
        </p:nvSpPr>
        <p:spPr>
          <a:xfrm>
            <a:off x="548640" y="1389888"/>
            <a:ext cx="11094415" cy="1017524"/>
          </a:xfrm>
          <a:prstGeom prst="roundRect">
            <a:avLst>
              <a:gd name="adj" fmla="val 7189"/>
            </a:avLst>
          </a:prstGeom>
          <a:solidFill>
            <a:srgbClr val="F4F1ED"/>
          </a:solidFill>
          <a:ln/>
        </p:spPr>
      </p:sp>
      <p:sp>
        <p:nvSpPr>
          <p:cNvPr id="12" name="bullet-hex"/>
          <p:cNvSpPr/>
          <p:nvPr/>
        </p:nvSpPr>
        <p:spPr>
          <a:xfrm>
            <a:off x="676656" y="1732357"/>
            <a:ext cx="384048" cy="332586"/>
          </a:xfrm>
          <a:prstGeom prst="hexagon">
            <a:avLst/>
          </a:prstGeom>
          <a:solidFill>
            <a:srgbClr val="7A4A1E"/>
          </a:solidFill>
          <a:ln/>
        </p:spPr>
      </p:sp>
      <p:sp>
        <p:nvSpPr>
          <p:cNvPr id="13" name="bullet"/>
          <p:cNvSpPr txBox="1"/>
          <p:nvPr/>
        </p:nvSpPr>
        <p:spPr>
          <a:xfrm>
            <a:off x="1143000" y="1389888"/>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With the communist deputies banned and the other parties intimidated, the Reichstag voted to give Hitler the right to make laws without its approval for four years.</a:t>
            </a:r>
            <a:endParaRPr lang="en-US" sz="2200" dirty="0"/>
          </a:p>
        </p:txBody>
      </p:sp>
      <p:sp>
        <p:nvSpPr>
          <p:cNvPr id="14" name="bullet-card"/>
          <p:cNvSpPr/>
          <p:nvPr/>
        </p:nvSpPr>
        <p:spPr>
          <a:xfrm>
            <a:off x="548640" y="2553716"/>
            <a:ext cx="11094415" cy="1358392"/>
          </a:xfrm>
          <a:prstGeom prst="roundRect">
            <a:avLst>
              <a:gd name="adj" fmla="val 5385"/>
            </a:avLst>
          </a:prstGeom>
          <a:solidFill>
            <a:srgbClr val="F4F1ED"/>
          </a:solidFill>
          <a:ln/>
        </p:spPr>
      </p:sp>
      <p:sp>
        <p:nvSpPr>
          <p:cNvPr id="15" name="bullet-hex"/>
          <p:cNvSpPr/>
          <p:nvPr/>
        </p:nvSpPr>
        <p:spPr>
          <a:xfrm>
            <a:off x="676656" y="3066619"/>
            <a:ext cx="384048" cy="332586"/>
          </a:xfrm>
          <a:prstGeom prst="hexagon">
            <a:avLst/>
          </a:prstGeom>
          <a:solidFill>
            <a:srgbClr val="B8862B"/>
          </a:solidFill>
          <a:ln/>
        </p:spPr>
      </p:sp>
      <p:sp>
        <p:nvSpPr>
          <p:cNvPr id="16" name="bullet"/>
          <p:cNvSpPr txBox="1"/>
          <p:nvPr/>
        </p:nvSpPr>
        <p:spPr>
          <a:xfrm>
            <a:off x="1143000" y="2553716"/>
            <a:ext cx="10408615"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Think about what it actually did. It gave Hitler absolute power to make laws, which let him destroy all opposition to his rule, and it removed the Reichstag itself as a source of opposition, because its approval was no longer needed.</a:t>
            </a:r>
            <a:endParaRPr lang="en-US" sz="2200" dirty="0"/>
          </a:p>
        </p:txBody>
      </p:sp>
      <p:sp>
        <p:nvSpPr>
          <p:cNvPr id="17" name="bullet-card"/>
          <p:cNvSpPr/>
          <p:nvPr/>
        </p:nvSpPr>
        <p:spPr>
          <a:xfrm>
            <a:off x="548640" y="4058412"/>
            <a:ext cx="11094415" cy="1017524"/>
          </a:xfrm>
          <a:prstGeom prst="roundRect">
            <a:avLst>
              <a:gd name="adj" fmla="val 7189"/>
            </a:avLst>
          </a:prstGeom>
          <a:solidFill>
            <a:srgbClr val="F4F1ED"/>
          </a:solidFill>
          <a:ln/>
        </p:spPr>
      </p:sp>
      <p:sp>
        <p:nvSpPr>
          <p:cNvPr id="18" name="bullet-hex"/>
          <p:cNvSpPr/>
          <p:nvPr/>
        </p:nvSpPr>
        <p:spPr>
          <a:xfrm>
            <a:off x="676656" y="4400881"/>
            <a:ext cx="384048" cy="332586"/>
          </a:xfrm>
          <a:prstGeom prst="hexagon">
            <a:avLst/>
          </a:prstGeom>
          <a:solidFill>
            <a:srgbClr val="7A4A1E"/>
          </a:solidFill>
          <a:ln/>
        </p:spPr>
      </p:sp>
      <p:sp>
        <p:nvSpPr>
          <p:cNvPr id="19" name="bullet"/>
          <p:cNvSpPr txBox="1"/>
          <p:nvPr/>
        </p:nvSpPr>
        <p:spPr>
          <a:xfrm>
            <a:off x="1143000" y="4058412"/>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Compare this with chapter 1. Elections no longer mattered, because only one party could stand.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Worked example: The Enabling Act, March 1933</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2EDE9"/>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The Enabling Act was passed in March 1933 and gave Hitler the power to make laws for four years. In which year was that power due to run out?</a:t>
            </a:r>
            <a:endParaRPr lang="en-US" sz="2000" dirty="0"/>
          </a:p>
        </p:txBody>
      </p:sp>
      <p:sp>
        <p:nvSpPr>
          <p:cNvPr id="9" name="step-box"/>
          <p:cNvSpPr/>
          <p:nvPr/>
        </p:nvSpPr>
        <p:spPr>
          <a:xfrm>
            <a:off x="548640" y="2502408"/>
            <a:ext cx="11094415" cy="568858"/>
          </a:xfrm>
          <a:prstGeom prst="roundRect">
            <a:avLst>
              <a:gd name="adj" fmla="val 12859"/>
            </a:avLst>
          </a:prstGeom>
          <a:solidFill>
            <a:srgbClr val="FFFFFF"/>
          </a:solidFill>
          <a:ln w="15875">
            <a:solidFill>
              <a:srgbClr val="B69B83"/>
            </a:solidFill>
            <a:prstDash val="solid"/>
          </a:ln>
        </p:spPr>
      </p:sp>
      <p:sp>
        <p:nvSpPr>
          <p:cNvPr id="10" name="step-hex"/>
          <p:cNvSpPr/>
          <p:nvPr/>
        </p:nvSpPr>
        <p:spPr>
          <a:xfrm>
            <a:off x="685800" y="2588870"/>
            <a:ext cx="457200" cy="395935"/>
          </a:xfrm>
          <a:prstGeom prst="hexagon">
            <a:avLst/>
          </a:prstGeom>
          <a:solidFill>
            <a:srgbClr val="7A4A1E"/>
          </a:solidFill>
          <a:ln/>
        </p:spPr>
      </p:sp>
      <p:sp>
        <p:nvSpPr>
          <p:cNvPr id="11" name="step-hex-label"/>
          <p:cNvSpPr txBox="1"/>
          <p:nvPr/>
        </p:nvSpPr>
        <p:spPr>
          <a:xfrm>
            <a:off x="685800" y="25888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down the starting year: 1933.</a:t>
            </a:r>
            <a:endParaRPr lang="en-US" sz="1800" dirty="0"/>
          </a:p>
        </p:txBody>
      </p:sp>
      <p:sp>
        <p:nvSpPr>
          <p:cNvPr id="13" name="step-box"/>
          <p:cNvSpPr/>
          <p:nvPr/>
        </p:nvSpPr>
        <p:spPr>
          <a:xfrm>
            <a:off x="548640" y="3144418"/>
            <a:ext cx="11094415" cy="568858"/>
          </a:xfrm>
          <a:prstGeom prst="roundRect">
            <a:avLst>
              <a:gd name="adj" fmla="val 12859"/>
            </a:avLst>
          </a:prstGeom>
          <a:solidFill>
            <a:srgbClr val="FFFFFF"/>
          </a:solidFill>
          <a:ln w="15875">
            <a:solidFill>
              <a:srgbClr val="B69B83"/>
            </a:solidFill>
            <a:prstDash val="solid"/>
          </a:ln>
        </p:spPr>
      </p:sp>
      <p:sp>
        <p:nvSpPr>
          <p:cNvPr id="14" name="step-hex"/>
          <p:cNvSpPr/>
          <p:nvPr/>
        </p:nvSpPr>
        <p:spPr>
          <a:xfrm>
            <a:off x="685800" y="3230880"/>
            <a:ext cx="457200" cy="395935"/>
          </a:xfrm>
          <a:prstGeom prst="hexagon">
            <a:avLst/>
          </a:prstGeom>
          <a:solidFill>
            <a:srgbClr val="7A4A1E"/>
          </a:solidFill>
          <a:ln/>
        </p:spPr>
      </p:sp>
      <p:sp>
        <p:nvSpPr>
          <p:cNvPr id="15" name="step-hex-label"/>
          <p:cNvSpPr txBox="1"/>
          <p:nvPr/>
        </p:nvSpPr>
        <p:spPr>
          <a:xfrm>
            <a:off x="685800" y="3230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441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down the number of years the Act granted: four.</a:t>
            </a:r>
            <a:endParaRPr lang="en-US" sz="1800" dirty="0"/>
          </a:p>
        </p:txBody>
      </p:sp>
      <p:sp>
        <p:nvSpPr>
          <p:cNvPr id="17" name="step-box"/>
          <p:cNvSpPr/>
          <p:nvPr/>
        </p:nvSpPr>
        <p:spPr>
          <a:xfrm>
            <a:off x="548640" y="3786429"/>
            <a:ext cx="11094415" cy="568858"/>
          </a:xfrm>
          <a:prstGeom prst="roundRect">
            <a:avLst>
              <a:gd name="adj" fmla="val 12859"/>
            </a:avLst>
          </a:prstGeom>
          <a:solidFill>
            <a:srgbClr val="FFFFFF"/>
          </a:solidFill>
          <a:ln w="15875">
            <a:solidFill>
              <a:srgbClr val="B69B83"/>
            </a:solidFill>
            <a:prstDash val="solid"/>
          </a:ln>
        </p:spPr>
      </p:sp>
      <p:sp>
        <p:nvSpPr>
          <p:cNvPr id="18" name="step-hex"/>
          <p:cNvSpPr/>
          <p:nvPr/>
        </p:nvSpPr>
        <p:spPr>
          <a:xfrm>
            <a:off x="685800" y="3872890"/>
            <a:ext cx="457200" cy="395935"/>
          </a:xfrm>
          <a:prstGeom prst="hexagon">
            <a:avLst/>
          </a:prstGeom>
          <a:solidFill>
            <a:srgbClr val="7A4A1E"/>
          </a:solidFill>
          <a:ln/>
        </p:spPr>
      </p:sp>
      <p:sp>
        <p:nvSpPr>
          <p:cNvPr id="19" name="step-hex-label"/>
          <p:cNvSpPr txBox="1"/>
          <p:nvPr/>
        </p:nvSpPr>
        <p:spPr>
          <a:xfrm>
            <a:off x="685800" y="3872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642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them: 1933 + 4.</a:t>
            </a:r>
            <a:endParaRPr lang="en-US" sz="1800" dirty="0"/>
          </a:p>
        </p:txBody>
      </p:sp>
      <p:sp>
        <p:nvSpPr>
          <p:cNvPr id="21" name="step-box"/>
          <p:cNvSpPr/>
          <p:nvPr/>
        </p:nvSpPr>
        <p:spPr>
          <a:xfrm>
            <a:off x="548640" y="4428439"/>
            <a:ext cx="11094415" cy="833018"/>
          </a:xfrm>
          <a:prstGeom prst="roundRect">
            <a:avLst>
              <a:gd name="adj" fmla="val 8782"/>
            </a:avLst>
          </a:prstGeom>
          <a:solidFill>
            <a:srgbClr val="FFFFFF"/>
          </a:solidFill>
          <a:ln w="15875">
            <a:solidFill>
              <a:srgbClr val="B69B83"/>
            </a:solidFill>
            <a:prstDash val="solid"/>
          </a:ln>
        </p:spPr>
      </p:sp>
      <p:sp>
        <p:nvSpPr>
          <p:cNvPr id="22" name="step-hex"/>
          <p:cNvSpPr/>
          <p:nvPr/>
        </p:nvSpPr>
        <p:spPr>
          <a:xfrm>
            <a:off x="685800" y="4646981"/>
            <a:ext cx="457200" cy="395935"/>
          </a:xfrm>
          <a:prstGeom prst="hexagon">
            <a:avLst/>
          </a:prstGeom>
          <a:solidFill>
            <a:srgbClr val="7A4A1E"/>
          </a:solidFill>
          <a:ln/>
        </p:spPr>
      </p:sp>
      <p:sp>
        <p:nvSpPr>
          <p:cNvPr id="23" name="step-hex-label"/>
          <p:cNvSpPr txBox="1"/>
          <p:nvPr/>
        </p:nvSpPr>
        <p:spPr>
          <a:xfrm>
            <a:off x="685800" y="46469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28439"/>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power was due to run out in 1937. Note that it did not simply end then: a dictator who makes the laws can renew his own powers.</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1937</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Night of the Long Knives, and the title of Führer</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sequence as a removal of rivals: communists in February, parliament in March, the party in June, the army in August.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Hitler's last two rivals were inside his own party and inside the army.</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On the Night of the Long Knives in June 1934, the SS, Hitler's personal bodyguard, murdered around 400 members of the Nazi Party.</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Then, on 19 August 1934, President Hindenburg died. Hitler declared himself Führer in August 1934, taking the roles of president, chancellor and head of the army together.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task: The creation of a dictatorship, 1933 to 1934</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five steps in the creation of the Nazi dictatorship in the order they happened.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Hindenburg dies and Hitler declares himself Führer (August 1934)</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Enabling Act lets Hitler make laws alone (March 1933)</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Hitler is appointed Chancellor of Germany (January 1933)</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Night of the Long Knives destroys opposition inside the party (June 1934)</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Reichstag Fire, and the election that follows (February 1933)</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The creation of a dictatorship, 1933 to 1934</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five steps in the creation of the Nazi dictatorship in the order they happened.</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ED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step carries its month and year, so sort by year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Within 1933, put the months in calendar order: January, February, March.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Within 1934, June comes before August.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logic: Hitler has to be in office before he can use a crisis, and the crisis has to come before the law it justifies.</a:t>
            </a:r>
            <a:endParaRPr lang="en-US" sz="1800" dirty="0"/>
          </a:p>
        </p:txBody>
      </p:sp>
      <p:sp>
        <p:nvSpPr>
          <p:cNvPr id="17" name="col-Core"/>
          <p:cNvSpPr/>
          <p:nvPr/>
        </p:nvSpPr>
        <p:spPr>
          <a:xfrm>
            <a:off x="5490762" y="2593848"/>
            <a:ext cx="2938987" cy="3550920"/>
          </a:xfrm>
          <a:prstGeom prst="roundRect">
            <a:avLst>
              <a:gd name="adj" fmla="val 1867"/>
            </a:avLst>
          </a:prstGeom>
          <a:solidFill>
            <a:srgbClr val="E2D7C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steps are in 1933 and two in 1934. Sort by year, then by month, then check the story makes sense.</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the step you think was the pivotal moment in the destruction of German democracy, and explain why you chose it rather than the others.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How long did the Enabling Act grant?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Enabling Act of March 1933 let Hitler make laws without the Reichstag's approval for a set period. For how many years did it grant him that power?</a:t>
            </a:r>
            <a:endParaRPr lang="en-US" sz="2600" dirty="0"/>
          </a:p>
          <a:p>
            <a:pPr algn="ctr" indent="0" marL="0">
              <a:buNone/>
            </a:pPr>
            <a:r>
              <a:rPr lang="en-US" sz="2400" b="1" dirty="0">
                <a:solidFill>
                  <a:srgbClr val="7A4A1E"/>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years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How long did the Enabling Act grant?</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Enabling Act of March 1933 let Hitler make laws without the Reichstag's approval for a set period. For how many years did it grant him that power?</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ED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sentence in section 3 that describes what the Reichstag voted for.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names a number of years, written as a word, not a figure.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that number as a figure.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it against the worked example: starting in 1933, the power would run out in 1937.</a:t>
            </a:r>
            <a:endParaRPr lang="en-US" sz="1800" dirty="0"/>
          </a:p>
        </p:txBody>
      </p:sp>
      <p:sp>
        <p:nvSpPr>
          <p:cNvPr id="17" name="col-Core"/>
          <p:cNvSpPr/>
          <p:nvPr/>
        </p:nvSpPr>
        <p:spPr>
          <a:xfrm>
            <a:off x="5490762" y="2593848"/>
            <a:ext cx="2938987" cy="3550920"/>
          </a:xfrm>
          <a:prstGeom prst="roundRect">
            <a:avLst>
              <a:gd name="adj" fmla="val 1867"/>
            </a:avLst>
          </a:prstGeom>
          <a:solidFill>
            <a:srgbClr val="E2D7C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answer is a small whole number of years, and the worked example in section 3 uses it to reach 1937.</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time limit in the Act turned out to mean very little once Hitler could make laws on his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happened on 27 February 1933?</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Hitler was appointed Chancellor of Germany by the President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SS murdered the Nazis who had turned against Hitler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Reichstag voted to let Hitler make laws on his own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Reichstag building, where the German parliament met, was set on fire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Answers: The creation of a dictatorship, 1933 to 1934</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Hitler is appointed Chancellor of Germany (January 1933)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Reichstag Fire, and the election that follows (February 1933)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Enabling Act lets Hitler make laws alone (March 1933)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Night of the Long Knives destroys opposition inside the party (June 1934)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Hindenburg dies and Hitler declares himself Führer (August 1934)  (A)</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Hitler was appointed Chancellor in January 1933; the Reichstag Fire in February gave him the emergency powers to arrest communist deputies; the Enabling Act in March moved lawmaking to him; the Night of the Long Knives in June 1934 removed opposition inside the party; and in August 1934 Hindenburg's death let him take the title of Führer.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long did the Enabling Act grant?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Enabling Act of March 1933 let Hitler make laws without the Reichstag's approval for a set period. For how many years did it grant him that power?</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Reichstag voted the power for four years, so it was due to lapse in 1937. In practice the limit meant nothing, because the man who could now make laws without parliament could also renew his own authority.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happened on 27 February 1933?</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The Reichstag building, where the German parliament met, was set on fire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Reichstag Fire was the crisis Hitler used to demand emergency powers and arrest his communist opponents.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Dictatorship · Chapter 3: How Hitler destroyed German democracy</dc:title>
  <dc:subject>History · Year 9</dc:subject>
  <dc:creator>Dr Vitor Merissi de Carvalho</dc:creator>
  <cp:lastModifiedBy>Dr Vitor Merissi de Carvalho</cp:lastModifiedBy>
  <cp:revision>1</cp:revision>
  <dcterms:created xsi:type="dcterms:W3CDTF">2026-10-19T16:23:05Z</dcterms:created>
  <dcterms:modified xsi:type="dcterms:W3CDTF">2026-10-19T16:23:05Z</dcterms:modified>
</cp:coreProperties>
</file>