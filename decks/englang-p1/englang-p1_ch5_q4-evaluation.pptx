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967d3a-6fd4-0165-92a0-f3c05b9ca96c}">
          <p14:sldIdLst>
            <p14:sldId id="256"/>
          </p14:sldIdLst>
        </p14:section>
        <p14:section name="Gate" id="{9f8db252-d5b9-854d-3de2-c3758acf7bf5}">
          <p14:sldIdLst>
            <p14:sldId id="257"/>
            <p14:sldId id="258"/>
          </p14:sldIdLst>
        </p14:section>
        <p14:section name="Pre-teach" id="{1a7896be-73d4-dda8-9dde-d4a0b4d03c4f}">
          <p14:sldIdLst>
            <p14:sldId id="259"/>
          </p14:sldIdLst>
        </p14:section>
        <p14:section name="Read-along" id="{2f6c2dd2-d044-30a3-cd13-95f181159491}">
          <p14:sldIdLst>
            <p14:sldId id="260"/>
          </p14:sldIdLst>
        </p14:section>
        <p14:section name="Teach" id="{41ffe8b6-af2b-2759-da7d-af5ba3c213f9}">
          <p14:sldIdLst>
            <p14:sldId id="261"/>
            <p14:sldId id="262"/>
            <p14:sldId id="263"/>
          </p14:sldIdLst>
        </p14:section>
        <p14:section name="Routes" id="{025ef0bf-850a-db41-4b3a-6366f1124fe4}">
          <p14:sldIdLst>
            <p14:sldId id="264"/>
            <p14:sldId id="265"/>
            <p14:sldId id="266"/>
          </p14:sldIdLst>
        </p14:section>
        <p14:section name="Close" id="{b860787b-3608-287c-56a1-65ea946521ab}">
          <p14:sldIdLst>
            <p14:sldId id="267"/>
          </p14:sldIdLst>
        </p14:section>
        <p14:section name="Answers" id="{a1141fc1-9ddd-caa5-fda4-0729329967f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Question 4: how far do you agree?. You will weigh a statement against the text, find evidence for and against it, and reach a clear judgement.
This deck covers the department's lessons: 3 (Language Paper 1: Question 4: What do we mean by evaluate, and how do I find evidence for and against a statement?); 8 (Language Paper 1 – 2026: Question 4: To what extent do I agree with a statement about the text, and how do I argue my judgement?).
Read the big question aloud: "What does Paper 1 involve, and how do I read and prepare a text so I know the story being told?"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marks is Question 4 worth?  →  B   20
2. To argue against a statement, using evidence, is to ___ it.  →  refute
3. Which sentence shows a weighed final judgement?  →  C   To a large extent I agree, although Nell’s final glance shows some doubt.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20. Question 4 is worth 20 marks, half of Section A.
2. refute. To refute is to argue against with evidence.
3. C   To a large extent I agree, although Nell’s final glance shows some doubt.. A weighed judgement states how far you agree and recognises the other side.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evaluate: judge how far something is true, using evidence. Example: "In Question 4 you evaluate a student’s statement."
• statement: an opinion about the text that you test. Example: "Read the statement twice and underline its key words."
• stance: your overall position on the statement. Example: "Make your stance clear in your first paragraph."
• refute: argue against, with evidence. Example: "You can refute part of the statement and agree with the rest."
• judgement: your final decision about how far you agree. Example: "End with a judgement such as ‘to a large extent’."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Question 4 is worth twenty marks.
2. It is the biggest reading question on the paper.
3. You are given a statement about part of the source.
4. A student might say what they think a character feels.
5. You decide how far you agree.
6. You can agree, partly agree or disagree.
7. Find evidence for the statement.
8. Then find evidence against it.
9. To argue against a statement is to refute it.
10. Use short quotations and comment on the writer’s methods.
11. End with a clear judgement about how far you agree.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Question 4 asks. Say it in your own words, then check understanding with a quick question: ask a pupil from the pre-teach group first, since they met these words and ideas before the lesson. Pupils try to recall before you re-explain.
Question 4 is worth 20 marks, half of Section A. It points you to a later part of the source and gives you a statement, often what a student thinks about a character or a moment. You are asked how far you agree.
This question tests whether you can evaluate the text critically and back up your view with references. It is your opinion, but an opinion built on evidence. It needs your Question 2 skills (language) and your Question 3 skills (structure) together. From the 2026 exams, one bullet point asks you to comment on the writer’s methods.
Tip: Spend about twenty minutes: a minute a mark. This is the question to protect your time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Support and refute. Say it in your own words, then check understanding with a quick question: ask a pupil from the pre-teach group first, since they met these words and ideas before the lesson. Pupils try to recall before you re-explain.
Underline the key words in the statement. Then re-read the named lines and make two lists: evidence that supports the statement, and evidence that refutes it. Statements often contain strong words such as ‘completely’ or ‘only’. These are the words to test.
Try it on this statement about Part 3 of ‘The Last Ferry’: ‘In this part of the story, the writer shows that Nell is completely certain she has made the right choice.’
Support: she boards without hesitating; Nell “took” the man’s hand. Refute: “she turned” to look back; she watches the lamp “until the rain finally came and swallowed it whole”. The word ‘completely’ is where the statement is weakest.
Quotation: "As the engines roared and the island began to slide away, she turned. Every window in the village was dark except one. High on the hill, in her grandmother’s kitchen, a single lamp was burning." (‘The Last Ferry’, Part 3 — original passage written for Ad Astra). Read it aloud; ask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Building a 20-mark answer. Say it in your own words, then check understanding with a quick question: ask a pupil from the pre-teach group first, since they met these words and ideas before the lesson. Pupils try to recall before you re-explain.
Decide your stance: mostly agree, partly agree or mostly disagree. State it in your first paragraph. Then write two points that support your argument, with short, precise quotations and comments on the methods the writer uses, not just on what happens.
Next, offer the other view: ‘Some may argue…’, with its own evidence, and respond to it. Finish with a weighed final judgement that returns to the statement, for example ‘to a large extent’ or ‘to a limited extent’. Aim for about four paragraphs: perhaps two for and two against, or three for and one against, depending on your evidence.
Tip: If a paragraph only retells the story, ask: how does the writer present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counter-evidence.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Statement: ‘In Part 3, the writer shows that Nell is completely certain she has made the right choice.’ Which piece of evidence best refutes (argues against) it?
Support — work through the steps with the group: (1) Underline the strongest word in the statement: ‘completely’. (2) Ask which quotation shows doubt or looking back. (3) Rule out quotations that only describe the boat.
Parallel worked example for Support (model it, do not give the task answer): Statement: ‘Tom is completely relaxed at the party.’ Which detail refutes it? “Tom laughed loudly at the joke, but his hands stayed clenched in his pockets.” ‘Completely relaxed’ is the claim to test.; Laughing supports it; clenched hands do not.. Answer: “his hands stayed clenched in his pockets” refutes it: clenched hands suggest hidden tension..
Core — reveal the hint only on request: Which action shows Nell looking back at what she is leaving?
Stretch — no help; when finished: Explain how the word “turned” could support a partly-agree stance rather than complete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the counter-evidence.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Statement: ‘In Part 3, the writer shows that Nell is completely certain she has made the right choice.’ Which piece of evidence best refutes (argues against) it?
Support — work through the steps with the group: (1) Underline the strongest word in the statement: ‘completely’. (2) Ask which quotation shows doubt or looking back. (3) Rule out quotations that only describe the boat.
Parallel worked example for Support (model it, do not give the task answer): Statement: ‘Tom is completely relaxed at the party.’ Which detail refutes it? “Tom laughed loudly at the joke, but his hands stayed clenched in his pockets.” ‘Completely relaxed’ is the claim to test.; Laughing supports it; clenched hands do not.. Answer: “his hands stayed clenched in his pockets” refutes it: clenched hands suggest hidden tension..
Core — reveal the hint only on request: Which action shows Nell looking back at what she is leaving?
Stretch — no help; when finished: Explain how the word “turned” could support a partly-agree stance rather than complete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the answer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Question 4 answer in the best order.
Support — work through the steps with the group: (1) Your stance always comes first. (2) Your own points come before the other view. (3) The judgement is always last.
Parallel worked example for Support (model it, do not give the task answer): Order these parts of a debate speech: the other side’s view, my opening position, my conclusion, my reasons. Open with your position.; Give your reasons.; Answer the other side.; Conclude.. Answer: Opening position, my reasons, the other side’s view, conclusion..
Core — reveal the hint only on request: Start and finish with your own view. The counter-argument sits just before the end.
Stretch — no help; when finished: Explain why a counter-argument makes your final judgement more convincing,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marks is Question 4 worth?
Answer: A   20. Question 4 is worth 20 marks, half of Section A.
Source of this question: gate item 1 re-asked (options rotated) — this chapter has no third quick-check module.
The ebook also holds task 3, "Question 4 practice answer",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Find the counter-evidence. Reveal the answer; pupils mark their own work in a different colour, then read the "why" together. Same destination for every lane, so one answer serves the whole class.
Answer: C   “As the engines roared and the island began to slide away, she turned.”
Why: Turning back as the island slides away suggests Nell is not completely certain. Taking the man’s hand supports the statement; the boat details are neutral.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Build the answer in order. Reveal the answer; pupils mark their own work in a different colour, then read the "why" together. Same destination for every lane, so one answer serves the whole class.
Answer: State your overall stance on the statement  (B); Make your first point in support, with a short quotation  (D); Make a second point, commenting on the writer’s method  (A); Offer the other view: ‘Some may argue…’, with evidence  (C); Give your final judgement: ‘to a large extent’ or ‘to a limited extent’  (E)
Why: Stance, two supported points, the other view, then a weighed judgement: this shape keeps you answering ‘to what extent’.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20
Why: Question 4 is worth 20 marks, half of Section 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1 · AQA 8700</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Question 4: how far do you agree?</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0E4E5"/>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Question 4</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 2026: Question 4</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does Paper 1 involve, and how do I read and prepare a text so I know the story being told?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Question 4 worth?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To argue against a statement, using evidence, is to ___ it.</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refute  ·  retrieve  ·  repeat</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sentence shows a weighed final judgement?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 am not sure what I think.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story is about a ferry.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a large extent I agree, although Nell’s final glance shows some doubt.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 agree with everything the student says.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20</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marks is Question 4 worth?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4 is worth 20 marks, half of Section A.</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refute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To argue against a statement, using evidence, is to ___ it.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To refute is to argue against with evidence.</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BDDC4"/>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To a large extent I agree, although Nell’s final glance shows some doubt.</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sentence shows a weighed final judgement?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weighed judgement states how far you agree and recognises the other side.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8E9"/>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evaluate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 how far something is true, using evidence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Question 4 you evaluate a student’s statement.</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statement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opinion about the text that you test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Read the statement twice and underline its key words.</a:t>
            </a:r>
            <a:endParaRPr lang="en-US" sz="1800" dirty="0"/>
          </a:p>
        </p:txBody>
      </p:sp>
      <p:sp>
        <p:nvSpPr>
          <p:cNvPr id="21" name="kw-row"/>
          <p:cNvSpPr/>
          <p:nvPr/>
        </p:nvSpPr>
        <p:spPr>
          <a:xfrm>
            <a:off x="548640" y="3639312"/>
            <a:ext cx="11094415" cy="786384"/>
          </a:xfrm>
          <a:prstGeom prst="roundRect">
            <a:avLst>
              <a:gd name="adj" fmla="val 6977"/>
            </a:avLst>
          </a:prstGeom>
          <a:solidFill>
            <a:srgbClr val="F2E8E9"/>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stance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overall position on the statement</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Make your stance clear in your first paragraph.</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refute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argue against, with evidence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 can refute part of the statement and agree with the rest.</a:t>
            </a:r>
            <a:endParaRPr lang="en-US" sz="1800" dirty="0"/>
          </a:p>
        </p:txBody>
      </p:sp>
      <p:sp>
        <p:nvSpPr>
          <p:cNvPr id="31" name="kw-row"/>
          <p:cNvSpPr/>
          <p:nvPr/>
        </p:nvSpPr>
        <p:spPr>
          <a:xfrm>
            <a:off x="548640" y="5358384"/>
            <a:ext cx="11094415" cy="786384"/>
          </a:xfrm>
          <a:prstGeom prst="roundRect">
            <a:avLst>
              <a:gd name="adj" fmla="val 6977"/>
            </a:avLst>
          </a:prstGeom>
          <a:solidFill>
            <a:srgbClr val="F2E8E9"/>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judgement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final decision about how far you agree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End with a judgement such as ‘to a large extent’.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Question 4 is worth twenty marks.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is the biggest reading question on the paper.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are given a </a:t>
            </a:r>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statement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about part of the source.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student might say what they think a character feels.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decide how far you agree.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can agree, partly agree or disagree.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evidence for the </a:t>
            </a:r>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statement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find evidence against it.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argue against a </a:t>
            </a:r>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statement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to </a:t>
            </a:r>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refute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Use short quotations and comment on the writer’s methods.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End with a clear </a:t>
            </a:r>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judgement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about how far you agree.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Question 4 asks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Spend about twenty minutes: a minute a mark. This is the question to protect your time for.</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4 is worth 20 marks, half of Section A.</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question tests whether you can evaluate the text critically and back up your view with references.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Support and refute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989320" y="1389888"/>
            <a:ext cx="5653735" cy="4754880"/>
          </a:xfrm>
          <a:prstGeom prst="roundRect">
            <a:avLst>
              <a:gd name="adj" fmla="val 1154"/>
            </a:avLst>
          </a:prstGeom>
          <a:solidFill>
            <a:srgbClr val="F0E4E5"/>
          </a:solidFill>
          <a:ln/>
        </p:spPr>
      </p:sp>
      <p:sp>
        <p:nvSpPr>
          <p:cNvPr id="8"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As the engines roared and the island began to slide away, she turned. Every window in the village was dark except one. High on the hill, in her grandmother’s kitchen, a single lamp was burning.</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‘The Last Ferry’, Part 3 — original passage written for Ad Astra</a:t>
            </a:r>
            <a:endParaRPr lang="en-US" sz="2600" dirty="0"/>
          </a:p>
        </p:txBody>
      </p:sp>
      <p:sp>
        <p:nvSpPr>
          <p:cNvPr id="10" name="bullet-card"/>
          <p:cNvSpPr/>
          <p:nvPr/>
        </p:nvSpPr>
        <p:spPr>
          <a:xfrm>
            <a:off x="548640" y="1389888"/>
            <a:ext cx="5074920" cy="1797304"/>
          </a:xfrm>
          <a:prstGeom prst="roundRect">
            <a:avLst>
              <a:gd name="adj" fmla="val 4070"/>
            </a:avLst>
          </a:prstGeom>
          <a:solidFill>
            <a:srgbClr val="F2E8E9"/>
          </a:solidFill>
          <a:ln/>
        </p:spPr>
      </p:sp>
      <p:sp>
        <p:nvSpPr>
          <p:cNvPr id="11" name="bullet-hex"/>
          <p:cNvSpPr/>
          <p:nvPr/>
        </p:nvSpPr>
        <p:spPr>
          <a:xfrm>
            <a:off x="676656" y="2122247"/>
            <a:ext cx="384048" cy="332586"/>
          </a:xfrm>
          <a:prstGeom prst="hexagon">
            <a:avLst/>
          </a:prstGeom>
          <a:solidFill>
            <a:srgbClr val="8C2F39"/>
          </a:solidFill>
          <a:ln/>
        </p:spPr>
      </p:sp>
      <p:sp>
        <p:nvSpPr>
          <p:cNvPr id="12" name="bullet"/>
          <p:cNvSpPr txBox="1"/>
          <p:nvPr/>
        </p:nvSpPr>
        <p:spPr>
          <a:xfrm>
            <a:off x="1143000" y="1389888"/>
            <a:ext cx="4389120" cy="179730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Underline the key words in the statement. Then re-read the named lines and make two lists: evidence that supports the statement, and evidence that refutes it.</a:t>
            </a:r>
            <a:endParaRPr lang="en-US" sz="2000" dirty="0"/>
          </a:p>
        </p:txBody>
      </p:sp>
      <p:sp>
        <p:nvSpPr>
          <p:cNvPr id="13" name="bullet-card"/>
          <p:cNvSpPr/>
          <p:nvPr/>
        </p:nvSpPr>
        <p:spPr>
          <a:xfrm>
            <a:off x="548640" y="3333496"/>
            <a:ext cx="5074920" cy="1797304"/>
          </a:xfrm>
          <a:prstGeom prst="roundRect">
            <a:avLst>
              <a:gd name="adj" fmla="val 4070"/>
            </a:avLst>
          </a:prstGeom>
          <a:solidFill>
            <a:srgbClr val="F2E8E9"/>
          </a:solidFill>
          <a:ln/>
        </p:spPr>
      </p:sp>
      <p:sp>
        <p:nvSpPr>
          <p:cNvPr id="14" name="bullet-hex"/>
          <p:cNvSpPr/>
          <p:nvPr/>
        </p:nvSpPr>
        <p:spPr>
          <a:xfrm>
            <a:off x="676656" y="4065855"/>
            <a:ext cx="384048" cy="332586"/>
          </a:xfrm>
          <a:prstGeom prst="hexagon">
            <a:avLst/>
          </a:prstGeom>
          <a:solidFill>
            <a:srgbClr val="B8862B"/>
          </a:solidFill>
          <a:ln/>
        </p:spPr>
      </p:sp>
      <p:sp>
        <p:nvSpPr>
          <p:cNvPr id="15" name="bullet"/>
          <p:cNvSpPr txBox="1"/>
          <p:nvPr/>
        </p:nvSpPr>
        <p:spPr>
          <a:xfrm>
            <a:off x="1143000" y="3333496"/>
            <a:ext cx="4389120" cy="179730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Try it on this statement about Part 3 of ‘The Last Ferry’: ‘In this part of the story, the writer shows that Nell is completely certain she has made the right choice.’</a:t>
            </a:r>
            <a:endParaRPr lang="en-US" sz="2000" dirty="0"/>
          </a:p>
        </p:txBody>
      </p:sp>
      <p:sp>
        <p:nvSpPr>
          <p:cNvPr id="16" name="bullet-card"/>
          <p:cNvSpPr/>
          <p:nvPr/>
        </p:nvSpPr>
        <p:spPr>
          <a:xfrm>
            <a:off x="548640" y="5277104"/>
            <a:ext cx="5074920" cy="867664"/>
          </a:xfrm>
          <a:prstGeom prst="roundRect">
            <a:avLst>
              <a:gd name="adj" fmla="val 8431"/>
            </a:avLst>
          </a:prstGeom>
          <a:solidFill>
            <a:srgbClr val="F2E8E9"/>
          </a:solidFill>
          <a:ln/>
        </p:spPr>
      </p:sp>
      <p:sp>
        <p:nvSpPr>
          <p:cNvPr id="17" name="bullet-hex"/>
          <p:cNvSpPr/>
          <p:nvPr/>
        </p:nvSpPr>
        <p:spPr>
          <a:xfrm>
            <a:off x="676656" y="5544643"/>
            <a:ext cx="384048" cy="332586"/>
          </a:xfrm>
          <a:prstGeom prst="hexagon">
            <a:avLst/>
          </a:prstGeom>
          <a:solidFill>
            <a:srgbClr val="8C2F39"/>
          </a:solidFill>
          <a:ln/>
        </p:spPr>
      </p:sp>
      <p:sp>
        <p:nvSpPr>
          <p:cNvPr id="18" name="bullet"/>
          <p:cNvSpPr txBox="1"/>
          <p:nvPr/>
        </p:nvSpPr>
        <p:spPr>
          <a:xfrm>
            <a:off x="1143000" y="5277104"/>
            <a:ext cx="4389120" cy="86766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Support: she boards without hesitating; Nell “took” the man’s hand.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Building a 20-mark answer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paragraph only retells the story, ask: how does the writer present this?</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Decide your stance: mostly agree, partly agree or mostly disagree.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Next, offer the other view: ‘Some may argue…’, with its own evidence, and respond to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Find the counter-evidence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Statement: ‘In Part 3, the writer shows that Nell is completely certain she has made the right choice.’ Which piece of evidence best refutes (argues against)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boat bumped against the jetty.”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“Ropes were thrown.”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“As the engines roared and the island began to slide away, she turned.”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man in an orange jacket held out his hand, and Nell took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Same task, three ways in: Find the counter-evidence</a:t>
            </a:r>
            <a:endParaRPr lang="en-US" sz="28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Statement: ‘In Part 3, the writer shows that Nell is completely certain she has made the right choice.’ Which piece of evidence best refutes (argues against) it?</a:t>
            </a:r>
            <a:endParaRPr lang="en-US" sz="2000" dirty="0"/>
          </a:p>
        </p:txBody>
      </p:sp>
      <p:sp>
        <p:nvSpPr>
          <p:cNvPr id="12" name="col-Support"/>
          <p:cNvSpPr/>
          <p:nvPr/>
        </p:nvSpPr>
        <p:spPr>
          <a:xfrm>
            <a:off x="548640" y="2903728"/>
            <a:ext cx="3515258" cy="3241040"/>
          </a:xfrm>
          <a:prstGeom prst="roundRect">
            <a:avLst>
              <a:gd name="adj" fmla="val 1693"/>
            </a:avLst>
          </a:prstGeom>
          <a:solidFill>
            <a:srgbClr val="F0E4E5"/>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3240938"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the strongest word in the statement: ‘completely’.</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quotation shows doubt or looking back.</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quotations that only describe the boat.</a:t>
            </a:r>
            <a:endParaRPr lang="en-US" sz="1800" dirty="0"/>
          </a:p>
        </p:txBody>
      </p:sp>
      <p:sp>
        <p:nvSpPr>
          <p:cNvPr id="17" name="col-Core"/>
          <p:cNvSpPr/>
          <p:nvPr/>
        </p:nvSpPr>
        <p:spPr>
          <a:xfrm>
            <a:off x="4338218" y="2903728"/>
            <a:ext cx="3515258" cy="3241040"/>
          </a:xfrm>
          <a:prstGeom prst="roundRect">
            <a:avLst>
              <a:gd name="adj" fmla="val 1693"/>
            </a:avLst>
          </a:prstGeom>
          <a:solidFill>
            <a:srgbClr val="E2CBCE"/>
          </a:solidFill>
          <a:ln/>
        </p:spPr>
      </p:sp>
      <p:sp>
        <p:nvSpPr>
          <p:cNvPr id="18" name="col-hex"/>
          <p:cNvSpPr/>
          <p:nvPr/>
        </p:nvSpPr>
        <p:spPr>
          <a:xfrm>
            <a:off x="444794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action shows Nell looking back at what she is leaving?</a:t>
            </a:r>
            <a:endParaRPr lang="en-US" sz="1800" dirty="0"/>
          </a:p>
        </p:txBody>
      </p:sp>
      <p:sp>
        <p:nvSpPr>
          <p:cNvPr id="22" name="col-Stretch"/>
          <p:cNvSpPr/>
          <p:nvPr/>
        </p:nvSpPr>
        <p:spPr>
          <a:xfrm>
            <a:off x="8127797" y="2903728"/>
            <a:ext cx="3515258" cy="3241040"/>
          </a:xfrm>
          <a:prstGeom prst="roundRect">
            <a:avLst>
              <a:gd name="adj" fmla="val 1693"/>
            </a:avLst>
          </a:prstGeom>
          <a:solidFill>
            <a:srgbClr val="8C2F39"/>
          </a:solidFill>
          <a:ln/>
        </p:spPr>
      </p:sp>
      <p:sp>
        <p:nvSpPr>
          <p:cNvPr id="23" name="col-hex"/>
          <p:cNvSpPr/>
          <p:nvPr/>
        </p:nvSpPr>
        <p:spPr>
          <a:xfrm>
            <a:off x="8237525"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word “turned” could support a partly-agree stance rather than complete disagreement.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Same task, three ways in: Build the answer in order</a:t>
            </a:r>
            <a:endParaRPr lang="en-US" sz="28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2192020"/>
          </a:xfrm>
          <a:prstGeom prst="roundRect">
            <a:avLst>
              <a:gd name="adj" fmla="val 4171"/>
            </a:avLst>
          </a:prstGeom>
          <a:solidFill>
            <a:srgbClr val="FFFFFF"/>
          </a:solidFill>
          <a:ln w="31750">
            <a:solidFill>
              <a:srgbClr val="B8862B"/>
            </a:solidFill>
            <a:prstDash val="solid"/>
          </a:ln>
        </p:spPr>
      </p:sp>
      <p:sp>
        <p:nvSpPr>
          <p:cNvPr id="8" name="task-hex"/>
          <p:cNvSpPr/>
          <p:nvPr/>
        </p:nvSpPr>
        <p:spPr>
          <a:xfrm>
            <a:off x="777240" y="2169150"/>
            <a:ext cx="731520" cy="633496"/>
          </a:xfrm>
          <a:prstGeom prst="hexagon">
            <a:avLst/>
          </a:prstGeom>
          <a:solidFill>
            <a:srgbClr val="B8862B"/>
          </a:solidFill>
          <a:ln/>
        </p:spPr>
      </p:sp>
      <p:sp>
        <p:nvSpPr>
          <p:cNvPr id="9" name="task-hex-label"/>
          <p:cNvSpPr txBox="1"/>
          <p:nvPr/>
        </p:nvSpPr>
        <p:spPr>
          <a:xfrm>
            <a:off x="777240" y="216915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221157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20091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parts of a Question 4 answer in the best order.</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Make a second point, commenting on the writer’s method</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State your overall stance on the statement</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Offer the other view: ‘Some may argue…’, with evidence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Make your first point in support, with a short quotation</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Give your final judgement: ‘to a large extent’ or ‘to a limited extent’</a:t>
            </a:r>
            <a:endParaRPr lang="en-US" sz="2000" dirty="0"/>
          </a:p>
        </p:txBody>
      </p:sp>
      <p:sp>
        <p:nvSpPr>
          <p:cNvPr id="12" name="col-Support"/>
          <p:cNvSpPr/>
          <p:nvPr/>
        </p:nvSpPr>
        <p:spPr>
          <a:xfrm>
            <a:off x="548640" y="3856228"/>
            <a:ext cx="4667802" cy="2288540"/>
          </a:xfrm>
          <a:prstGeom prst="roundRect">
            <a:avLst>
              <a:gd name="adj" fmla="val 2397"/>
            </a:avLst>
          </a:prstGeom>
          <a:solidFill>
            <a:srgbClr val="F0E4E5"/>
          </a:solidFill>
          <a:ln/>
        </p:spPr>
      </p:sp>
      <p:sp>
        <p:nvSpPr>
          <p:cNvPr id="13" name="col-hex"/>
          <p:cNvSpPr/>
          <p:nvPr/>
        </p:nvSpPr>
        <p:spPr>
          <a:xfrm>
            <a:off x="658368" y="39293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9293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8928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496308"/>
            <a:ext cx="4393482" cy="15387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Your stance always comes first.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Your own points come before the other view.</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judgement is always last.</a:t>
            </a:r>
            <a:endParaRPr lang="en-US" sz="1800" dirty="0"/>
          </a:p>
        </p:txBody>
      </p:sp>
      <p:sp>
        <p:nvSpPr>
          <p:cNvPr id="17" name="col-Core"/>
          <p:cNvSpPr/>
          <p:nvPr/>
        </p:nvSpPr>
        <p:spPr>
          <a:xfrm>
            <a:off x="5490762" y="3856228"/>
            <a:ext cx="2938987" cy="2288540"/>
          </a:xfrm>
          <a:prstGeom prst="roundRect">
            <a:avLst>
              <a:gd name="adj" fmla="val 2397"/>
            </a:avLst>
          </a:prstGeom>
          <a:solidFill>
            <a:srgbClr val="E2CBCE"/>
          </a:solidFill>
          <a:ln/>
        </p:spPr>
      </p:sp>
      <p:sp>
        <p:nvSpPr>
          <p:cNvPr id="18" name="col-hex"/>
          <p:cNvSpPr/>
          <p:nvPr/>
        </p:nvSpPr>
        <p:spPr>
          <a:xfrm>
            <a:off x="5600490" y="39293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9293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8928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4496308"/>
            <a:ext cx="2664667" cy="15387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Start and finish with your own view. The counter-argument sits just before the end.</a:t>
            </a:r>
            <a:endParaRPr lang="en-US" sz="1800" dirty="0"/>
          </a:p>
        </p:txBody>
      </p:sp>
      <p:sp>
        <p:nvSpPr>
          <p:cNvPr id="22" name="col-Stretch"/>
          <p:cNvSpPr/>
          <p:nvPr/>
        </p:nvSpPr>
        <p:spPr>
          <a:xfrm>
            <a:off x="8704069" y="3856228"/>
            <a:ext cx="2938987" cy="2288540"/>
          </a:xfrm>
          <a:prstGeom prst="roundRect">
            <a:avLst>
              <a:gd name="adj" fmla="val 2397"/>
            </a:avLst>
          </a:prstGeom>
          <a:solidFill>
            <a:srgbClr val="8C2F39"/>
          </a:solidFill>
          <a:ln/>
        </p:spPr>
      </p:sp>
      <p:sp>
        <p:nvSpPr>
          <p:cNvPr id="23" name="col-hex"/>
          <p:cNvSpPr/>
          <p:nvPr/>
        </p:nvSpPr>
        <p:spPr>
          <a:xfrm>
            <a:off x="8813797" y="39293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9293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8928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4496308"/>
            <a:ext cx="2664667" cy="15387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counter-argument makes your final judgement more convincing, not less.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marks is Question 4 worth?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12</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Find the counter-evidence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Statement: ‘In Part 3, the writer shows that Nell is completely certain she has made the right choice.’ Which piece of evidence best refutes (argues against)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“As the engines roared and the island began to slide away, she turned.”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Turning back as the island slides away suggests Nell is not completely certain. Taking the man’s hand supports the statement; the boat details are neutral.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Build the answer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State your overall stance on the statement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Make your first point in support, with a short quotation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Make a second point, commenting on the writer’s method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Offer the other view: ‘Some may argue…’, with evidence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Give your final judgement: ‘to a large extent’ or ‘to a limited extent’  (E)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Stance, two supported points, the other view, then a weighed judgement: this shape keeps you answering ‘to what extent’.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marks is Question 4 worth?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20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4 is worth 20 marks, half of Section 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1 · Chapter 5: Question 4: how far do you agree?</dc:title>
  <dc:subject>English Language · Year 10</dc:subject>
  <dc:creator>Dr Vitor Merissi de Carvalho</dc:creator>
  <cp:lastModifiedBy>Dr Vitor Merissi de Carvalho</cp:lastModifiedBy>
  <cp:revision>1</cp:revision>
  <dcterms:created xsi:type="dcterms:W3CDTF">2026-10-19T16:22:34Z</dcterms:created>
  <dcterms:modified xsi:type="dcterms:W3CDTF">2026-10-19T16:22:34Z</dcterms:modified>
</cp:coreProperties>
</file>