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660a91-1526-4040-33fa-9970a29fafa6}">
          <p14:sldIdLst>
            <p14:sldId id="256"/>
          </p14:sldIdLst>
        </p14:section>
        <p14:section name="Gate" id="{ad6df7a7-b47d-a194-da60-62ef1384e877}">
          <p14:sldIdLst>
            <p14:sldId id="257"/>
            <p14:sldId id="258"/>
          </p14:sldIdLst>
        </p14:section>
        <p14:section name="Pre-teach" id="{a7bbad51-b672-283f-6295-1f42584cd9c7}">
          <p14:sldIdLst>
            <p14:sldId id="259"/>
          </p14:sldIdLst>
        </p14:section>
        <p14:section name="Read-along" id="{cf904297-7a3f-218c-4e0b-e81ae5e86fbe}">
          <p14:sldIdLst>
            <p14:sldId id="260"/>
            <p14:sldId id="261"/>
          </p14:sldIdLst>
        </p14:section>
        <p14:section name="Teach" id="{7db37341-0acf-e24b-5f8a-dba0bc460d63}">
          <p14:sldIdLst>
            <p14:sldId id="262"/>
            <p14:sldId id="263"/>
            <p14:sldId id="264"/>
            <p14:sldId id="265"/>
          </p14:sldIdLst>
        </p14:section>
        <p14:section name="Routes" id="{4644b4ee-e004-9761-a5d3-b56cb94d392f}">
          <p14:sldIdLst>
            <p14:sldId id="266"/>
            <p14:sldId id="267"/>
            <p14:sldId id="268"/>
            <p14:sldId id="269"/>
          </p14:sldIdLst>
        </p14:section>
        <p14:section name="Close" id="{b11a6b7b-0869-b574-6400-483e926ca4f2}">
          <p14:sldIdLst>
            <p14:sldId id="270"/>
          </p14:sldIdLst>
        </p14:section>
        <p14:section name="Answers" id="{0624029d-cac7-d104-c892-3b7296f5eae5}">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Question 2: how the writer uses language. You will analyse a writer’s word choices, techniques and sentences, and explain their effect in clear What, How, Why paragraphs.
This deck covers the department's lessons: 1 (Language Paper 1: introduction, Question 1 and Question 2: What does Paper 1 involve, and how do I analyse a writer’s language?); 6 (Language Paper 1 – 2026: reading strategy, Question 1 and Question 2: How do I read and prepare a text to make sure I know the story being told?).
Read the big question aloud: "What does Paper 1 involve, and how do I read and prepare a text so I know the story being told?"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phrases from Part 1 is a simile?  →  A   “like scraps of torn paper”
2. Giving human actions or feelings to something that is not human is called ___.  →  personification
3. How many marks is Question 2 worth?  →  C   8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“like scraps of torn paper”. A simile compares using ‘like’ or ‘as’: the gulls are compared to scraps of paper.
2. personification. The lamps being “too tired” is personification.
3. C   8. Question 2 is worth 8 marks.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technique: a method a writer uses on purpose. Example: "A simile is one technique a writer can use."
• simile: a comparison using ‘like’ or ‘as’. Example: "The gulls are lifted ‘like scraps of torn paper’: that is a simile."
• personification: giving human actions to something not human. Example: "Tired lamps are an example of personification."
• effect: what the words make the reader think or feel. Example: "Always explain the effect of the words you quote."
• terminology: the correct names for techniques. Example: "Use terminology such as ‘verb’ or ‘metaphor’ when it helps your point."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Question 2 is about language.
2. Language means the words the writer chooses.
3. It is worth eight marks.
4. The paper points you to one part of the source.
5. Read that part closely, with a pen in your hand.
6. Underline words that create a strong picture or feeling.
7. Name the technique if you can, such as a simile.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Then explain what the words make the reader think or feel.
9. Use short quotations inside your own sentences.
10. Write about what, how and why.
11. What impression is created?
12. How does the writer create it?
13. Why does it work on the reader?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Question 2 asks. Say it in your own words, then check understanding with a quick question: ask a pupil from the pre-teach group first, since they met these words and ideas before the lesson. Pupils try to recall before you re-explain.
Question 2 is worth 8 marks. It points you to one section of the source and asks how the writer uses language to describe something: a place, a person or a feeling. It tests your ability to analyse the writer’s choices and their effects, using the right terminology.
Think of three layers. Words and phrases: which single words carry the most meaning? Techniques: similes, metaphors, personification, sibilance, onomatopoeia. Sentences: is there a very short sentence, a long list or a question? Pick the richest examples; you do not need to cover everything.
Tip: Spend about eight minutes: a minute a mark. Aim for two or three strong paragraphs.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Your language toolkit. Say it in your own words, then check understanding with a quick question: ask a pupil from the pre-teach group first, since they met these words and ideas before the lesson. Pupils try to recall before you re-explain.
A verb shows action, and strong verbs carry feeling. In Part 1, the wind is “rattling the chains of the fishing boats”: the verb makes the harbour sound restless and noisy. An abstract noun names an idea or a feeling, such as ‘hope’ or ‘fear’.
Figurative language makes comparisons. The gulls are lifted “like scraps of torn paper” (a simile). The lamps seem “too tired to keep fighting the dark” (personification). Sound techniques matter too: sibilance repeats ‘s’ sounds, and onomatopoeia imitates a sound.
Sentence forms are choices as well. After a long sentence about the weather, the writer gives us “She did not move.” Its shortness makes Nell seem fixed and determined.
Quotation: "Rain had not yet arrived, but the sky was already bruised purple at its edges. Along the quay, the café shutters were down and the lamps flickered weakly, as though they were too tired to keep fighting the dark." (‘The Last Ferry’, Part 1 — original passage written for Ad Astra). Read it aloud; ask what it shows.
Tip: Name a technique only when you can explain its effect. A label without an effect earns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What, How, Why. Say it in your own words, then check understanding with a quick question: ask a pupil from the pre-teach group first, since they met these words and ideas before the lesson. Pupils try to recall before you re-explain.
What: make a clear point about the impression the writer creates. How: give a short, embedded quotation and name the technique. Why: explain the effect of particular words on the reader, then link back to the question.
Zoom in on single words. Do not stop at ‘this is a metaphor’; ask why this word and not another. Why is the sky “bruised” rather than just dark? A bruise is a mark of injury, so the weather seems to be hurting the island already.
Worked example — model it step by step, thinking aloud: Turn this weak sentence into a What, How, Why paragraph: ‘The writer uses a simile about gulls, which is effective.’ (1) What: say the impression. The harbour feels wild and out of control. (2) How: embed the quotation and name it. The gulls are lifted “like scraps of torn paper”, a simile. (3) Why: zoom in on a word. The word “torn” suggests damage, and paper is light and helpless. (4) Link: so the storm already seems powerful enough to rip things apart. Answer: The writer makes the harbour feel wild and out of control. The gulls are lifted “like scraps of torn paper”, a simile that makes even living birds seem light and helpless. The word “torn” suggests damage, so the storm already seems strong enough to rip things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What, How, Why. Say it in your own words, then check understanding with a quick question: ask a pupil from the pre-teach group first, since they met these words and ideas before the lesson. Pupils try to recall before you re-explain.
What: make a clear point about the impression the writer creates. How: give a short, embedded quotation and name the technique. Why: explain the effect of particular words on the reader, then link back to the question.
Zoom in on single words. Do not stop at ‘this is a metaphor’; ask why this word and not another. Why is the sky “bruised” rather than just dark? A bruise is a mark of injury, so the weather seems to be hurting the island already.
Worked example — model it step by step, thinking aloud: Turn this weak sentence into a What, How, Why paragraph: ‘The writer uses a simile about gulls, which is effective.’ (1) What: say the impression. The harbour feels wild and out of control. (2) How: embed the quotation and name it. The gulls are lifted “like scraps of torn paper”, a simile. (3) Why: zoom in on a word. The word “torn” suggests damage, and paper is light and helpless. (4) Link: so the storm already seems powerful enough to rip things apart. Answer: The writer makes the harbour feel wild and out of control. The gulls are lifted “like scraps of torn paper”, a simile that makes even living birds seem light and helpless. The word “torn” suggests damage, so the storm already seems strong enough to rip things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Part 1 to the technique it shows.
Support — work through the steps with the group: (1) Look for ‘like’ or ‘as’: that is a simile. (2) Look for something non-human acting like a person: that is personification. (3) Count the words: a very short sentence is a sentence form. (4) A single action word is a verb.
Parallel worked example for Support (model it, do not give the task answer): Name the technique in “the smell of bread drifted between the stalls like a rumour”. It contains ‘like’.; It compares a smell to a rumour.. Answer: A simile..
Core — reveal the hint only on request: Only one quotation contains ‘like’. Only one is a whole sentence.
Stretch — no help; when finished: Choose one quotation and explain its effect in a single sentence, zooming in on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technique.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Part 1 to the technique it shows.
Support — work through the steps with the group: (1) Look for ‘like’ or ‘as’: that is a simile. (2) Look for something non-human acting like a person: that is personification. (3) Count the words: a very short sentence is a sentence form. (4) A single action word is a verb.
Parallel worked example for Support (model it, do not give the task answer): Name the technique in “the smell of bread drifted between the stalls like a rumour”. It contains ‘like’.; It compares a smell to a rumour.. Answer: A simile..
Core — reveal the hint only on request: Only one quotation contains ‘like’. Only one is a whole sentence.
Stretch — no help; when finished: Choose one quotation and explain its effect in a single sentence, zooming in on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effect of a short sentence.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Part 1 describes the storm in long sentences, then says “She did not move.” What is the most likely effect of this short sentence?
Support — work through the steps with the group: (1) Notice the contrast: long, busy sentences, then a short one. (2) Think about what the sentence says about Nell. (3) Ask how the shortness matches the meaning.
Parallel worked example for Support (model it, do not give the task answer): Read: “The classroom was silent. Thirty heads bent over thirty papers. Then the fire alarm screamed.” What is the effect of the short sentence “The classroom was silent.”? It is short and simple.; It sets up calm before something happens.. Answer: It creates a sense of stillness, so the alarm that follows feels more sudden..
Core — reveal the hint only on request: Everything around Nell is moving. What is she doing?
Stretch — no help; when finished: Explain how this sentence prepares the reader for the last line of Part 1, “she meant to be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effect of a short sentence.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Part 1 describes the storm in long sentences, then says “She did not move.” What is the most likely effect of this short sentence?
Support — work through the steps with the group: (1) Notice the contrast: long, busy sentences, then a short one. (2) Think about what the sentence says about Nell. (3) Ask how the shortness matches the meaning.
Parallel worked example for Support (model it, do not give the task answer): Read: “The classroom was silent. Thirty heads bent over thirty papers. Then the fire alarm screamed.” What is the effect of the short sentence “The classroom was silent.”? It is short and simple.; It sets up calm before something happens.. Answer: It creates a sense of stillness, so the alarm that follows feels more sudden..
Core — reveal the hint only on request: Everything around Nell is moving. What is she doing?
Stretch — no help; when finished: Explain how this sentence prepares the reader for the last line of Part 1, “she meant to be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phrases from Part 1 is a simile?
Answer: D   “like scraps of torn paper”. A simile compares using ‘like’ or ‘as’: the gulls are compared to scraps of paper.
Source of this question: gate item 1 re-asked (options rotated) — this chapter has no third quick-check module.
The ebook also holds task 3, "Question 2 practice paragraph",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technique. Reveal the answer; pupils mark their own work in a different colour, then read the "why" together. Same destination for every lane, so one answer serves the whole class.
Answer: “like scraps of torn paper”  →  C  simile; “too tired to keep fighting the dark”  →  D  personification; “She did not move.”  →  A  short simple sentence; “rattling”  →  B  verb
Why: ‘Like’ marks the simile; tired lamps are personified; “She did not move.” is a short simple sentence; “rattling” is a verb.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effect of a short sentence. Reveal the answer; pupils mark their own work in a different colour, then read the "why" together. Same destination for every lane, so one answer serves the whole class.
Answer: C   It shows how still and determined Nell is, even in the storm.
Why: The storm moves, rattles and whips, but Nell stays fixed. The short sentence mirrors her stillness and suggests strong determination.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“like scraps of torn paper”
Why: A simile compares using ‘like’ or ‘as’: the gulls are compared to scraps of paper.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1 · AQA 8700</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Question 2: how the writer uses language</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F0E4E5"/>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introduction, Question 1 and Question 2</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 2026: reading strategy, Question 1 and Question 2</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does Paper 1 involve, and how do I read and prepare a text so I know the story being told?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phrases from Part 1 is a simile?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“like scraps of torn paper”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“Her fingers were numb.”</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harbour was empty except for the wind.”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“She did not move.”</a:t>
            </a:r>
            <a:endParaRPr lang="en-US" sz="20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Giving human actions or feelings to something that is not human is called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personification  ·  alliteration  ·  onomatopoeia</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marks is Question 2 worth?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“like scraps of torn paper”</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phrases from Part 1 is a simile?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simile compares using ‘like’ or ‘as’: the gulls are compared to scraps of paper.</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personification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Giving human actions or feelings to something that is not human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lamps being “too tired” is personification.</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8</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marks is Question 2 worth?</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2 is worth 8 marks.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8E9"/>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technique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method a writer uses on purpose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simile is one technique a writer can use.</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simile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comparison using ‘like’ or ‘as’</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gulls are lifted ‘like scraps of torn paper’: that is a simile.</a:t>
            </a:r>
            <a:endParaRPr lang="en-US" sz="1800" dirty="0"/>
          </a:p>
        </p:txBody>
      </p:sp>
      <p:sp>
        <p:nvSpPr>
          <p:cNvPr id="21" name="kw-row"/>
          <p:cNvSpPr/>
          <p:nvPr/>
        </p:nvSpPr>
        <p:spPr>
          <a:xfrm>
            <a:off x="548640" y="3639312"/>
            <a:ext cx="11094415" cy="786384"/>
          </a:xfrm>
          <a:prstGeom prst="roundRect">
            <a:avLst>
              <a:gd name="adj" fmla="val 6977"/>
            </a:avLst>
          </a:prstGeom>
          <a:solidFill>
            <a:srgbClr val="F2E8E9"/>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personification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giving human actions to something not human</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Tired lamps are an example of personification.</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effect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the words make the reader think or feel</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Always explain the effect of the words you quote.</a:t>
            </a:r>
            <a:endParaRPr lang="en-US" sz="1800" dirty="0"/>
          </a:p>
        </p:txBody>
      </p:sp>
      <p:sp>
        <p:nvSpPr>
          <p:cNvPr id="31" name="kw-row"/>
          <p:cNvSpPr/>
          <p:nvPr/>
        </p:nvSpPr>
        <p:spPr>
          <a:xfrm>
            <a:off x="548640" y="5358384"/>
            <a:ext cx="11094415" cy="786384"/>
          </a:xfrm>
          <a:prstGeom prst="roundRect">
            <a:avLst>
              <a:gd name="adj" fmla="val 6977"/>
            </a:avLst>
          </a:prstGeom>
          <a:solidFill>
            <a:srgbClr val="F2E8E9"/>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terminology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correct names for techniques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Use terminology such as ‘verb’ or ‘metaphor’ when it helps your point.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2 is about language.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Language means the words the writer chooses.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worth eight marks.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paper points you to one part of the source.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Read that part closely, with a pen in your hand.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Underline words that create a strong picture or feeling.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Name 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technique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if you can, such as 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simile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explain what the words make the reader think or feel.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Use short quotations inside your own sentences.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Write about what, how and why.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What impression is created?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How does the writer create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Why does it work on the reader?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Question 2 asks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Spend about eight minutes: a minute a mark. Aim for two or three strong paragraphs.</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Question 2 is worth 8 marks. It points you to one section of the source and asks how the writer uses language to describe something: a place, a person or a feeling.</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of three layers. Words and phrases: which single words carry the most meaning?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Your language toolkit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Name a technique only when you can explain its effect. A label without an effect earns little.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0E4E5"/>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400" i="1" dirty="0">
                <a:solidFill>
                  <a:srgbClr val="1E2229"/>
                </a:solidFill>
                <a:latin typeface="Cambria" pitchFamily="34" charset="0"/>
                <a:ea typeface="Cambria" pitchFamily="34" charset="-122"/>
                <a:cs typeface="Cambria" pitchFamily="34" charset="-120"/>
              </a:rPr>
              <a:t>Rain had not yet arrived, but the sky was already bruised purple at its edges. Along the quay, the café shutters were down and the lamps flickered weakly, as though they were too tired to keep fighting the dark.</a:t>
            </a:r>
            <a:endParaRPr lang="en-US" sz="24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1 — original passage written for Ad Astra</a:t>
            </a:r>
            <a:endParaRPr lang="en-US" sz="2400" dirty="0"/>
          </a:p>
        </p:txBody>
      </p:sp>
      <p:sp>
        <p:nvSpPr>
          <p:cNvPr id="14" name="bullet-card"/>
          <p:cNvSpPr/>
          <p:nvPr/>
        </p:nvSpPr>
        <p:spPr>
          <a:xfrm>
            <a:off x="548640" y="1389888"/>
            <a:ext cx="5074920" cy="1940306"/>
          </a:xfrm>
          <a:prstGeom prst="roundRect">
            <a:avLst>
              <a:gd name="adj" fmla="val 3770"/>
            </a:avLst>
          </a:prstGeom>
          <a:solidFill>
            <a:srgbClr val="F2E8E9"/>
          </a:solidFill>
          <a:ln/>
        </p:spPr>
      </p:sp>
      <p:sp>
        <p:nvSpPr>
          <p:cNvPr id="15" name="bullet-hex"/>
          <p:cNvSpPr/>
          <p:nvPr/>
        </p:nvSpPr>
        <p:spPr>
          <a:xfrm>
            <a:off x="676656" y="2193748"/>
            <a:ext cx="384048" cy="332586"/>
          </a:xfrm>
          <a:prstGeom prst="hexagon">
            <a:avLst/>
          </a:prstGeom>
          <a:solidFill>
            <a:srgbClr val="8C2F39"/>
          </a:solidFill>
          <a:ln/>
        </p:spPr>
      </p:sp>
      <p:sp>
        <p:nvSpPr>
          <p:cNvPr id="16" name="bullet"/>
          <p:cNvSpPr txBox="1"/>
          <p:nvPr/>
        </p:nvSpPr>
        <p:spPr>
          <a:xfrm>
            <a:off x="1143000" y="1389888"/>
            <a:ext cx="4389120" cy="19403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verb shows action, and strong verbs carry feeling. In Part 1, the wind is “rattling the chains of the fishing boats”: the verb makes the harbour sound restless and noisy.</a:t>
            </a:r>
            <a:endParaRPr lang="en-US" sz="2000" dirty="0"/>
          </a:p>
        </p:txBody>
      </p:sp>
      <p:sp>
        <p:nvSpPr>
          <p:cNvPr id="17" name="bullet-card"/>
          <p:cNvSpPr/>
          <p:nvPr/>
        </p:nvSpPr>
        <p:spPr>
          <a:xfrm>
            <a:off x="548640" y="3476498"/>
            <a:ext cx="5074920" cy="1320546"/>
          </a:xfrm>
          <a:prstGeom prst="roundRect">
            <a:avLst>
              <a:gd name="adj" fmla="val 5540"/>
            </a:avLst>
          </a:prstGeom>
          <a:solidFill>
            <a:srgbClr val="F2E8E9"/>
          </a:solidFill>
          <a:ln/>
        </p:spPr>
      </p:sp>
      <p:sp>
        <p:nvSpPr>
          <p:cNvPr id="18" name="bullet-hex"/>
          <p:cNvSpPr/>
          <p:nvPr/>
        </p:nvSpPr>
        <p:spPr>
          <a:xfrm>
            <a:off x="676656" y="3970478"/>
            <a:ext cx="384048" cy="332586"/>
          </a:xfrm>
          <a:prstGeom prst="hexagon">
            <a:avLst/>
          </a:prstGeom>
          <a:solidFill>
            <a:srgbClr val="B8862B"/>
          </a:solidFill>
          <a:ln/>
        </p:spPr>
      </p:sp>
      <p:sp>
        <p:nvSpPr>
          <p:cNvPr id="19" name="bullet"/>
          <p:cNvSpPr txBox="1"/>
          <p:nvPr/>
        </p:nvSpPr>
        <p:spPr>
          <a:xfrm>
            <a:off x="1143000" y="3476498"/>
            <a:ext cx="4389120" cy="13205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Figurative language makes comparisons. The gulls are lifted “like scraps of torn paper” (a simile).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Writing What, How,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5410048" cy="4754880"/>
          </a:xfrm>
          <a:prstGeom prst="roundRect">
            <a:avLst>
              <a:gd name="adj" fmla="val 1154"/>
            </a:avLst>
          </a:prstGeom>
          <a:solidFill>
            <a:srgbClr val="F0E4E5"/>
          </a:solidFill>
          <a:ln/>
        </p:spPr>
      </p:sp>
      <p:sp>
        <p:nvSpPr>
          <p:cNvPr id="8" name="point-hex"/>
          <p:cNvSpPr/>
          <p:nvPr/>
        </p:nvSpPr>
        <p:spPr>
          <a:xfrm>
            <a:off x="731520" y="1572768"/>
            <a:ext cx="685800" cy="593903"/>
          </a:xfrm>
          <a:prstGeom prst="hexagon">
            <a:avLst/>
          </a:prstGeom>
          <a:solidFill>
            <a:srgbClr val="8C2F39"/>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make a clear point about the impression the writer creates.</a:t>
            </a:r>
            <a:endParaRPr lang="en-US" sz="2400" dirty="0"/>
          </a:p>
        </p:txBody>
      </p:sp>
      <p:sp>
        <p:nvSpPr>
          <p:cNvPr id="11" name="point-card"/>
          <p:cNvSpPr/>
          <p:nvPr/>
        </p:nvSpPr>
        <p:spPr>
          <a:xfrm>
            <a:off x="6233008" y="1389888"/>
            <a:ext cx="5410048" cy="4754880"/>
          </a:xfrm>
          <a:prstGeom prst="roundRect">
            <a:avLst>
              <a:gd name="adj" fmla="val 1154"/>
            </a:avLst>
          </a:prstGeom>
          <a:solidFill>
            <a:srgbClr val="F4EDDF"/>
          </a:solidFill>
          <a:ln/>
        </p:spPr>
      </p:sp>
      <p:sp>
        <p:nvSpPr>
          <p:cNvPr id="12" name="point-hex"/>
          <p:cNvSpPr/>
          <p:nvPr/>
        </p:nvSpPr>
        <p:spPr>
          <a:xfrm>
            <a:off x="6415888" y="1572768"/>
            <a:ext cx="685800" cy="593903"/>
          </a:xfrm>
          <a:prstGeom prst="hexagon">
            <a:avLst/>
          </a:prstGeom>
          <a:solidFill>
            <a:srgbClr val="B8862B"/>
          </a:solidFill>
          <a:ln/>
        </p:spPr>
      </p:sp>
      <p:sp>
        <p:nvSpPr>
          <p:cNvPr id="13"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6415888" y="2350008"/>
            <a:ext cx="504428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Zoom in on single words. Do not stop at ‘this is a metaphor’; ask why this word and not another.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Writing What, How,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0E4E5"/>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Turn this weak sentence into a What, How, Why paragraph: ‘The writer uses a simile about gulls, which is effective.’</a:t>
            </a:r>
            <a:endParaRPr lang="en-US" sz="2000" dirty="0"/>
          </a:p>
        </p:txBody>
      </p:sp>
      <p:sp>
        <p:nvSpPr>
          <p:cNvPr id="9" name="step-box"/>
          <p:cNvSpPr/>
          <p:nvPr/>
        </p:nvSpPr>
        <p:spPr>
          <a:xfrm>
            <a:off x="548640" y="2502408"/>
            <a:ext cx="11094415" cy="510134"/>
          </a:xfrm>
          <a:prstGeom prst="roundRect">
            <a:avLst>
              <a:gd name="adj" fmla="val 14340"/>
            </a:avLst>
          </a:prstGeom>
          <a:solidFill>
            <a:srgbClr val="FFFFFF"/>
          </a:solidFill>
          <a:ln w="15875">
            <a:solidFill>
              <a:srgbClr val="C08D92"/>
            </a:solidFill>
            <a:prstDash val="solid"/>
          </a:ln>
        </p:spPr>
      </p:sp>
      <p:sp>
        <p:nvSpPr>
          <p:cNvPr id="10" name="step-hex"/>
          <p:cNvSpPr/>
          <p:nvPr/>
        </p:nvSpPr>
        <p:spPr>
          <a:xfrm>
            <a:off x="685800" y="2559507"/>
            <a:ext cx="457200" cy="395935"/>
          </a:xfrm>
          <a:prstGeom prst="hexagon">
            <a:avLst/>
          </a:prstGeom>
          <a:solidFill>
            <a:srgbClr val="8C2F39"/>
          </a:solidFill>
          <a:ln/>
        </p:spPr>
      </p:sp>
      <p:sp>
        <p:nvSpPr>
          <p:cNvPr id="11" name="step-hex-label"/>
          <p:cNvSpPr txBox="1"/>
          <p:nvPr/>
        </p:nvSpPr>
        <p:spPr>
          <a:xfrm>
            <a:off x="685800" y="2559507"/>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01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say the impression. The harbour feels wild and out of control.</a:t>
            </a:r>
            <a:endParaRPr lang="en-US" sz="1800" dirty="0"/>
          </a:p>
        </p:txBody>
      </p:sp>
      <p:sp>
        <p:nvSpPr>
          <p:cNvPr id="13" name="step-box"/>
          <p:cNvSpPr/>
          <p:nvPr/>
        </p:nvSpPr>
        <p:spPr>
          <a:xfrm>
            <a:off x="548640" y="3085694"/>
            <a:ext cx="11094415" cy="510134"/>
          </a:xfrm>
          <a:prstGeom prst="roundRect">
            <a:avLst>
              <a:gd name="adj" fmla="val 14340"/>
            </a:avLst>
          </a:prstGeom>
          <a:solidFill>
            <a:srgbClr val="FFFFFF"/>
          </a:solidFill>
          <a:ln w="15875">
            <a:solidFill>
              <a:srgbClr val="C08D92"/>
            </a:solidFill>
            <a:prstDash val="solid"/>
          </a:ln>
        </p:spPr>
      </p:sp>
      <p:sp>
        <p:nvSpPr>
          <p:cNvPr id="14" name="step-hex"/>
          <p:cNvSpPr/>
          <p:nvPr/>
        </p:nvSpPr>
        <p:spPr>
          <a:xfrm>
            <a:off x="685800" y="3142793"/>
            <a:ext cx="457200" cy="395935"/>
          </a:xfrm>
          <a:prstGeom prst="hexagon">
            <a:avLst/>
          </a:prstGeom>
          <a:solidFill>
            <a:srgbClr val="8C2F39"/>
          </a:solidFill>
          <a:ln/>
        </p:spPr>
      </p:sp>
      <p:sp>
        <p:nvSpPr>
          <p:cNvPr id="15" name="step-hex-label"/>
          <p:cNvSpPr txBox="1"/>
          <p:nvPr/>
        </p:nvSpPr>
        <p:spPr>
          <a:xfrm>
            <a:off x="685800" y="314279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5694"/>
            <a:ext cx="10180015" cy="5101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embed the quotation and name it. The gulls are lifted “like scraps of torn paper”, a simile.</a:t>
            </a:r>
            <a:endParaRPr lang="en-US" sz="1800" dirty="0"/>
          </a:p>
        </p:txBody>
      </p:sp>
      <p:sp>
        <p:nvSpPr>
          <p:cNvPr id="17" name="step-box"/>
          <p:cNvSpPr/>
          <p:nvPr/>
        </p:nvSpPr>
        <p:spPr>
          <a:xfrm>
            <a:off x="548640" y="3668979"/>
            <a:ext cx="11094415" cy="510134"/>
          </a:xfrm>
          <a:prstGeom prst="roundRect">
            <a:avLst>
              <a:gd name="adj" fmla="val 14340"/>
            </a:avLst>
          </a:prstGeom>
          <a:solidFill>
            <a:srgbClr val="FFFFFF"/>
          </a:solidFill>
          <a:ln w="15875">
            <a:solidFill>
              <a:srgbClr val="C08D92"/>
            </a:solidFill>
            <a:prstDash val="solid"/>
          </a:ln>
        </p:spPr>
      </p:sp>
      <p:sp>
        <p:nvSpPr>
          <p:cNvPr id="18" name="step-hex"/>
          <p:cNvSpPr/>
          <p:nvPr/>
        </p:nvSpPr>
        <p:spPr>
          <a:xfrm>
            <a:off x="685800" y="3726078"/>
            <a:ext cx="457200" cy="395935"/>
          </a:xfrm>
          <a:prstGeom prst="hexagon">
            <a:avLst/>
          </a:prstGeom>
          <a:solidFill>
            <a:srgbClr val="8C2F39"/>
          </a:solidFill>
          <a:ln/>
        </p:spPr>
      </p:sp>
      <p:sp>
        <p:nvSpPr>
          <p:cNvPr id="19" name="step-hex-label"/>
          <p:cNvSpPr txBox="1"/>
          <p:nvPr/>
        </p:nvSpPr>
        <p:spPr>
          <a:xfrm>
            <a:off x="685800" y="372607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68979"/>
            <a:ext cx="10180015" cy="5101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zoom in on a word. The word “torn” suggests damage, and paper is light and helpless.</a:t>
            </a:r>
            <a:endParaRPr lang="en-US" sz="1800" dirty="0"/>
          </a:p>
        </p:txBody>
      </p:sp>
      <p:sp>
        <p:nvSpPr>
          <p:cNvPr id="21" name="step-box"/>
          <p:cNvSpPr/>
          <p:nvPr/>
        </p:nvSpPr>
        <p:spPr>
          <a:xfrm>
            <a:off x="548640" y="4252265"/>
            <a:ext cx="11094415" cy="510134"/>
          </a:xfrm>
          <a:prstGeom prst="roundRect">
            <a:avLst>
              <a:gd name="adj" fmla="val 14340"/>
            </a:avLst>
          </a:prstGeom>
          <a:solidFill>
            <a:srgbClr val="FFFFFF"/>
          </a:solidFill>
          <a:ln w="15875">
            <a:solidFill>
              <a:srgbClr val="C08D92"/>
            </a:solidFill>
            <a:prstDash val="solid"/>
          </a:ln>
        </p:spPr>
      </p:sp>
      <p:sp>
        <p:nvSpPr>
          <p:cNvPr id="22" name="step-hex"/>
          <p:cNvSpPr/>
          <p:nvPr/>
        </p:nvSpPr>
        <p:spPr>
          <a:xfrm>
            <a:off x="685800" y="4309364"/>
            <a:ext cx="457200" cy="395935"/>
          </a:xfrm>
          <a:prstGeom prst="hexagon">
            <a:avLst/>
          </a:prstGeom>
          <a:solidFill>
            <a:srgbClr val="8C2F39"/>
          </a:solidFill>
          <a:ln/>
        </p:spPr>
      </p:sp>
      <p:sp>
        <p:nvSpPr>
          <p:cNvPr id="23" name="step-hex-label"/>
          <p:cNvSpPr txBox="1"/>
          <p:nvPr/>
        </p:nvSpPr>
        <p:spPr>
          <a:xfrm>
            <a:off x="685800" y="43093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52265"/>
            <a:ext cx="10180015" cy="5101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so the storm already seems powerful enough to rip things apart.</a:t>
            </a:r>
            <a:endParaRPr lang="en-US" sz="1800" dirty="0"/>
          </a:p>
        </p:txBody>
      </p:sp>
      <p:sp>
        <p:nvSpPr>
          <p:cNvPr id="25" name="worked-answer"/>
          <p:cNvSpPr/>
          <p:nvPr/>
        </p:nvSpPr>
        <p:spPr>
          <a:xfrm>
            <a:off x="548640" y="4945278"/>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writer makes the harbour feel wild and out of control. The gulls are lifted “like scraps of torn paper”, a simile that makes even living birds seem light and helpless. The word “torn” suggests damage, so the storm already seems strong enough to rip things apart.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Part 1 to the technique it shows.</a:t>
            </a:r>
            <a:endParaRPr lang="en-US" sz="2400" dirty="0"/>
          </a:p>
        </p:txBody>
      </p:sp>
      <p:sp>
        <p:nvSpPr>
          <p:cNvPr id="11" name="match-card"/>
          <p:cNvSpPr/>
          <p:nvPr/>
        </p:nvSpPr>
        <p:spPr>
          <a:xfrm>
            <a:off x="777240" y="2468331"/>
            <a:ext cx="5135728" cy="804809"/>
          </a:xfrm>
          <a:prstGeom prst="roundRect">
            <a:avLst>
              <a:gd name="adj" fmla="val 9089"/>
            </a:avLst>
          </a:prstGeom>
          <a:solidFill>
            <a:srgbClr val="F2E8E9"/>
          </a:solidFill>
          <a:ln/>
        </p:spPr>
      </p:sp>
      <p:sp>
        <p:nvSpPr>
          <p:cNvPr id="12" name="match-hex"/>
          <p:cNvSpPr/>
          <p:nvPr/>
        </p:nvSpPr>
        <p:spPr>
          <a:xfrm>
            <a:off x="850392" y="2704443"/>
            <a:ext cx="384048" cy="332586"/>
          </a:xfrm>
          <a:prstGeom prst="hexagon">
            <a:avLst/>
          </a:prstGeom>
          <a:solidFill>
            <a:srgbClr val="8C2F39"/>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“like scraps of torn paper”</a:t>
            </a:r>
            <a:endParaRPr lang="en-US" sz="2200" dirty="0"/>
          </a:p>
        </p:txBody>
      </p:sp>
      <p:sp>
        <p:nvSpPr>
          <p:cNvPr id="15" name="match-card"/>
          <p:cNvSpPr/>
          <p:nvPr/>
        </p:nvSpPr>
        <p:spPr>
          <a:xfrm>
            <a:off x="6278728" y="2468331"/>
            <a:ext cx="5135728" cy="804809"/>
          </a:xfrm>
          <a:prstGeom prst="roundRect">
            <a:avLst>
              <a:gd name="adj" fmla="val 9089"/>
            </a:avLst>
          </a:prstGeom>
          <a:solidFill>
            <a:srgbClr val="F4EDDF"/>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short simple sentence</a:t>
            </a:r>
            <a:endParaRPr lang="en-US" sz="2200" dirty="0"/>
          </a:p>
        </p:txBody>
      </p:sp>
      <p:sp>
        <p:nvSpPr>
          <p:cNvPr id="19" name="match-card"/>
          <p:cNvSpPr/>
          <p:nvPr/>
        </p:nvSpPr>
        <p:spPr>
          <a:xfrm>
            <a:off x="777240" y="3364581"/>
            <a:ext cx="5135728" cy="804809"/>
          </a:xfrm>
          <a:prstGeom prst="roundRect">
            <a:avLst>
              <a:gd name="adj" fmla="val 9089"/>
            </a:avLst>
          </a:prstGeom>
          <a:solidFill>
            <a:srgbClr val="F2E8E9"/>
          </a:solidFill>
          <a:ln/>
        </p:spPr>
      </p:sp>
      <p:sp>
        <p:nvSpPr>
          <p:cNvPr id="20" name="match-hex"/>
          <p:cNvSpPr/>
          <p:nvPr/>
        </p:nvSpPr>
        <p:spPr>
          <a:xfrm>
            <a:off x="850392" y="3600692"/>
            <a:ext cx="384048" cy="332586"/>
          </a:xfrm>
          <a:prstGeom prst="hexagon">
            <a:avLst/>
          </a:prstGeom>
          <a:solidFill>
            <a:srgbClr val="8C2F39"/>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“too tired to keep fighting the dark”</a:t>
            </a:r>
            <a:endParaRPr lang="en-US" sz="2200" dirty="0"/>
          </a:p>
        </p:txBody>
      </p:sp>
      <p:sp>
        <p:nvSpPr>
          <p:cNvPr id="23" name="match-card"/>
          <p:cNvSpPr/>
          <p:nvPr/>
        </p:nvSpPr>
        <p:spPr>
          <a:xfrm>
            <a:off x="6278728" y="3364581"/>
            <a:ext cx="5135728" cy="804809"/>
          </a:xfrm>
          <a:prstGeom prst="roundRect">
            <a:avLst>
              <a:gd name="adj" fmla="val 9089"/>
            </a:avLst>
          </a:prstGeom>
          <a:solidFill>
            <a:srgbClr val="F4EDDF"/>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verb</a:t>
            </a:r>
            <a:endParaRPr lang="en-US" sz="2200" dirty="0"/>
          </a:p>
        </p:txBody>
      </p:sp>
      <p:sp>
        <p:nvSpPr>
          <p:cNvPr id="27" name="match-card"/>
          <p:cNvSpPr/>
          <p:nvPr/>
        </p:nvSpPr>
        <p:spPr>
          <a:xfrm>
            <a:off x="777240" y="4260830"/>
            <a:ext cx="5135728" cy="804809"/>
          </a:xfrm>
          <a:prstGeom prst="roundRect">
            <a:avLst>
              <a:gd name="adj" fmla="val 9089"/>
            </a:avLst>
          </a:prstGeom>
          <a:solidFill>
            <a:srgbClr val="F2E8E9"/>
          </a:solidFill>
          <a:ln/>
        </p:spPr>
      </p:sp>
      <p:sp>
        <p:nvSpPr>
          <p:cNvPr id="28" name="match-hex"/>
          <p:cNvSpPr/>
          <p:nvPr/>
        </p:nvSpPr>
        <p:spPr>
          <a:xfrm>
            <a:off x="850392" y="4496941"/>
            <a:ext cx="384048" cy="332586"/>
          </a:xfrm>
          <a:prstGeom prst="hexagon">
            <a:avLst/>
          </a:prstGeom>
          <a:solidFill>
            <a:srgbClr val="8C2F39"/>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 did not move.”</a:t>
            </a:r>
            <a:endParaRPr lang="en-US" sz="2200" dirty="0"/>
          </a:p>
        </p:txBody>
      </p:sp>
      <p:sp>
        <p:nvSpPr>
          <p:cNvPr id="31" name="match-card"/>
          <p:cNvSpPr/>
          <p:nvPr/>
        </p:nvSpPr>
        <p:spPr>
          <a:xfrm>
            <a:off x="6278728" y="4260830"/>
            <a:ext cx="5135728" cy="804809"/>
          </a:xfrm>
          <a:prstGeom prst="roundRect">
            <a:avLst>
              <a:gd name="adj" fmla="val 9089"/>
            </a:avLst>
          </a:prstGeom>
          <a:solidFill>
            <a:srgbClr val="F4EDDF"/>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simile</a:t>
            </a:r>
            <a:endParaRPr lang="en-US" sz="2200" dirty="0"/>
          </a:p>
        </p:txBody>
      </p:sp>
      <p:sp>
        <p:nvSpPr>
          <p:cNvPr id="35" name="match-card"/>
          <p:cNvSpPr/>
          <p:nvPr/>
        </p:nvSpPr>
        <p:spPr>
          <a:xfrm>
            <a:off x="777240" y="5157079"/>
            <a:ext cx="5135728" cy="804809"/>
          </a:xfrm>
          <a:prstGeom prst="roundRect">
            <a:avLst>
              <a:gd name="adj" fmla="val 9089"/>
            </a:avLst>
          </a:prstGeom>
          <a:solidFill>
            <a:srgbClr val="F2E8E9"/>
          </a:solidFill>
          <a:ln/>
        </p:spPr>
      </p:sp>
      <p:sp>
        <p:nvSpPr>
          <p:cNvPr id="36" name="match-hex"/>
          <p:cNvSpPr/>
          <p:nvPr/>
        </p:nvSpPr>
        <p:spPr>
          <a:xfrm>
            <a:off x="850392" y="5393191"/>
            <a:ext cx="384048" cy="332586"/>
          </a:xfrm>
          <a:prstGeom prst="hexagon">
            <a:avLst/>
          </a:prstGeom>
          <a:solidFill>
            <a:srgbClr val="8C2F39"/>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“rattling”</a:t>
            </a:r>
            <a:endParaRPr lang="en-US" sz="2200" dirty="0"/>
          </a:p>
        </p:txBody>
      </p:sp>
      <p:sp>
        <p:nvSpPr>
          <p:cNvPr id="39" name="match-card"/>
          <p:cNvSpPr/>
          <p:nvPr/>
        </p:nvSpPr>
        <p:spPr>
          <a:xfrm>
            <a:off x="6278728" y="5157079"/>
            <a:ext cx="5135728" cy="804809"/>
          </a:xfrm>
          <a:prstGeom prst="roundRect">
            <a:avLst>
              <a:gd name="adj" fmla="val 9089"/>
            </a:avLst>
          </a:prstGeom>
          <a:solidFill>
            <a:srgbClr val="F4EDDF"/>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personification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quotation from Part 1 to the technique it shows.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‘like’ or ‘as’: that is a simile.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something non-human acting like a person: that is personification.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words: a very short sentence is a sentence form.</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single action word is a verb.</a:t>
            </a:r>
            <a:endParaRPr lang="en-US" sz="1800" dirty="0"/>
          </a:p>
        </p:txBody>
      </p:sp>
      <p:sp>
        <p:nvSpPr>
          <p:cNvPr id="17" name="col-Core"/>
          <p:cNvSpPr/>
          <p:nvPr/>
        </p:nvSpPr>
        <p:spPr>
          <a:xfrm>
            <a:off x="4338218" y="2578608"/>
            <a:ext cx="3515258" cy="3566160"/>
          </a:xfrm>
          <a:prstGeom prst="roundRect">
            <a:avLst>
              <a:gd name="adj" fmla="val 1561"/>
            </a:avLst>
          </a:prstGeom>
          <a:solidFill>
            <a:srgbClr val="E2CBC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one quotation contains ‘like’. Only one is a whole sentence.</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one quotation and explain its effect in a single sentence, zooming in on one word.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The effect of a short sentence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Part 1 describes the storm in long sentences, then says “She did not move.” What is the most likely effect of this short sentence?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makes the paragraph longer and slower.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suggests that Nell has fallen asleep.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shows how still and determined Nell is, even in the storm.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tells the reader that the ferry has arrived.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The effect of a short sentence</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Part 1 describes the storm in long sentences, then says “She did not move.” What is the most likely effect of this short sentence?</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Notice the contrast: long, busy sentences, then a short one.</a:t>
            </a:r>
            <a:endParaRPr lang="en-US" sz="2200" dirty="0"/>
          </a:p>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Think about what the sentence says about Nell.</a:t>
            </a:r>
            <a:endParaRPr lang="en-US" sz="2200" dirty="0"/>
          </a:p>
          <a:p>
            <a:pPr algn="l" indent="0" marL="0">
              <a:spcAft>
                <a:spcPts val="600"/>
              </a:spcAft>
              <a:buNone/>
            </a:pPr>
            <a:r>
              <a:rPr lang="en-US" sz="22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Ask how the shortness matches the meaning.</a:t>
            </a:r>
            <a:endParaRPr lang="en-US" sz="2200" dirty="0"/>
          </a:p>
        </p:txBody>
      </p:sp>
      <p:sp>
        <p:nvSpPr>
          <p:cNvPr id="17" name="col-Core"/>
          <p:cNvSpPr/>
          <p:nvPr/>
        </p:nvSpPr>
        <p:spPr>
          <a:xfrm>
            <a:off x="4338218" y="2593848"/>
            <a:ext cx="3515258" cy="3550920"/>
          </a:xfrm>
          <a:prstGeom prst="roundRect">
            <a:avLst>
              <a:gd name="adj" fmla="val 1561"/>
            </a:avLst>
          </a:prstGeom>
          <a:solidFill>
            <a:srgbClr val="E2CBC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200" b="1" dirty="0">
                <a:solidFill>
                  <a:srgbClr val="70262E"/>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Everything around Nell is moving. What is she doing?</a:t>
            </a:r>
            <a:endParaRPr lang="en-US" sz="22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how this sentence prepares the reader for the last line of Part 1, “she meant to be on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phrases from Part 1 is a simile?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“Her fingers were numb.”</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harbour was empty except for the wind.”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“She did not move.”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“like scraps of torn paper”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technique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“like scraps of torn paper”  →  C  simile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“too tired to keep fighting the dark”  →  D  personification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“She did not move.”  →  A  short simple sentence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“rattling”  →  B  verb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‘Like’ marks the simile; tired lamps are personified; “She did not move.” is a short simple sentence; “rattling” is a verb.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The effect of a short sentence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Part 1 describes the storm in long sentences, then says “She did not move.” What is the most likely effect of this short sentence?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It shows how still and determined Nell is, even in the storm.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storm moves, rattles and whips, but Nell stays fixed. The short sentence mirrors her stillness and suggests strong determination.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phrases from Part 1 is a simile?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“like scraps of torn paper”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simile compares using ‘like’ or ‘as’: the gulls are compared to scraps of paper.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1 · Chapter 3: Question 2: how the writer uses language</dc:title>
  <dc:subject>English Language · Year 10</dc:subject>
  <dc:creator>Dr Vitor Merissi de Carvalho</dc:creator>
  <cp:lastModifiedBy>Dr Vitor Merissi de Carvalho</cp:lastModifiedBy>
  <cp:revision>1</cp:revision>
  <dcterms:created xsi:type="dcterms:W3CDTF">2026-10-19T16:22:34Z</dcterms:created>
  <dcterms:modified xsi:type="dcterms:W3CDTF">2026-10-19T16:22:34Z</dcterms:modified>
</cp:coreProperties>
</file>