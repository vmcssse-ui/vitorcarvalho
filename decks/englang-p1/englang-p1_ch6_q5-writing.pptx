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5080207-5293-5729-a667-b10db4f66367}">
          <p14:sldIdLst>
            <p14:sldId id="256"/>
          </p14:sldIdLst>
        </p14:section>
        <p14:section name="Gate" id="{bcc75b28-67fa-6508-0299-8fcc9374f2e2}">
          <p14:sldIdLst>
            <p14:sldId id="257"/>
            <p14:sldId id="258"/>
          </p14:sldIdLst>
        </p14:section>
        <p14:section name="Pre-teach" id="{c7816925-5b99-a76b-4fd1-383ce7b2369d}">
          <p14:sldIdLst>
            <p14:sldId id="259"/>
            <p14:sldId id="260"/>
          </p14:sldIdLst>
        </p14:section>
        <p14:section name="Read-along" id="{a8247fda-7016-6b96-6f9f-10c64f473008}">
          <p14:sldIdLst>
            <p14:sldId id="261"/>
            <p14:sldId id="262"/>
          </p14:sldIdLst>
        </p14:section>
        <p14:section name="Teach" id="{056a79ff-39be-808e-b58d-2f7b44ade858}">
          <p14:sldIdLst>
            <p14:sldId id="263"/>
            <p14:sldId id="264"/>
            <p14:sldId id="265"/>
          </p14:sldIdLst>
        </p14:section>
        <p14:section name="Routes" id="{3b49e4fe-a53f-c3e1-4e49-8f43e89eb82e}">
          <p14:sldIdLst>
            <p14:sldId id="266"/>
            <p14:sldId id="267"/>
            <p14:sldId id="268"/>
            <p14:sldId id="269"/>
          </p14:sldIdLst>
        </p14:section>
        <p14:section name="Close" id="{75345b53-602a-1c4f-6e60-614cdcf99043}">
          <p14:sldIdLst>
            <p14:sldId id="270"/>
          </p14:sldIdLst>
        </p14:section>
        <p14:section name="Answers" id="{6c6be2f5-adb1-01aa-da73-756c159d4043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6 of 6: Question 5: your own description or story. You will plan and craft a description or a story opening that hooks the reader, with a clear shift and accurate, varied sentences.
This deck covers the department's lessons: 4 (Creative Writing: Structuring Our Writing: How can I use structural features to build my own creative writing?); 5 (Creative writing: planning and crafting: How do I plan a story and craft sentences that hook the reader?).
Read the big question aloud: "What does Paper 1 involve, and how do I read and prepare a text so I know the story being told?"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How many marks is Question 5 worth?  →  C   40
2. Weather that reflects a character’s mood is called ___ fallacy.  →  pathetic
3. Which sentence begins with a fronted adverbial?  →  B   Silently, the fox slipped under the gate.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C   40. Question 5 is worth 40 marks: 24 for content and organisation, 16 for technical accuracy.
2. pathetic. Pathetic fallacy uses the setting to reflect feelings.
3. B   Silently, the fox slipped under the gate.. ‘Silently,’ comes at the front and tells us how the fox moves.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description: writing that paints a picture of a place or moment. Example: "A description uses the senses to bring a scene to life."
• narrative: writing that tells a story. Example: "A narrative needs characters and a problem."
• pathetic fallacy: weather or setting that reflects a mood. Example: "A grey, heavy sky is pathetic fallacy for a sad scene."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shift: a change of focus, time or mood. Example: "A shift from day to night gives your writing a clear structure."
• fronted adverbial: words at the start of a sentence saying how, when or where. Example: "‘Slowly, she opened the gate’ begins with a fronted adverbial."
• semicolon: punctuation that joins two linked sentences. Example: "The bus was late; nobody was surprised."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Question 5 is the writing question.
2. It is worth forty marks.
3. You choose one of two tasks.
4. One task is usually a description, often of a picture.
5. The other is often the opening of a story.
6. Spend five minutes planning before you write.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Drop the reader straight into the scene.
8. Use your senses: what can you see, hear, smell and feel?
9. Show feelings through details, instead of just naming them.
10. Change the focus, the time or the mood to create a shift.
11. Use different sentence openers and careful punctuation.
12. Leave time to check your spelling at the end.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What Question 5 asks. Say it in your own words, then check understanding with a quick question: ask a pupil from the pre-teach group first, since they met these words and ideas before the lesson. Pupils try to recall before you re-explain.
Question 5 is worth 40 marks, half of the whole paper. You choose one of two tasks: usually a description, often linked to a picture, or a story, often its opening. Choose the one you can plan most clearly in five minutes.
24 marks are for content and organisation: ideas that engage the reader, vocabulary chosen for effect, and a structure that is clear and deliberate. 16 marks are for technical accuracy: spelling, punctuation and a range of sentence types. Leave five minutes to proofread.
Tip: Remember MASOAPS: Metaphor, Adjectives and adverbs, Simile, Onomatopoeia, Alliteration, Personification, Sensory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Description: drop in, describe, shift. Say it in your own words, then check understanding with a quick question: ask a pupil from the pre-teach group first, since they met these words and ideas before the lesson. Pupils try to recall before you re-explain.
Drop in and describe: begin in the middle of the scene, not with ‘One day’. Show, do not tell: instead of ‘it was sad’, give details that make the reader feel the sadness. Use your senses, and try pathetic fallacy to set the mood.
Then build in a shift: change the focus (from wide to close), the time (‘A year ago… Today…’), the mood or the setting. A shift gives your description a clear structure. You can even end by echoing your opening, a cyclical structure.
Read this original model opening. Notice the drop-in start, the senses and the shift in time.
Quotation: "Low tide. The beach is a sheet of wet silver, and the wind drags its fingers through the sand. Gulls argue over a crust. Beach huts stand shoulder to shoulder, their paint peeling like old sunburn; their doors are bolted against the cold. Last August, this place was loud with children. Today, there is only the hiss of the sea and the creak of a single swing." (Original model description written for Ad Astra). Read it aloud; ask what it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Story openings and crafted sentences. Say it in your own words, then check understanding with a quick question: ask a pupil from the pre-teach group first, since they met these words and ideas before the lesson. Pupils try to recall before you re-explain.
Plan a story with the story mountain (Freytag’s pyramid): opening, rising action, climax, falling action, resolution. In an exam you may only write the opening, but knowing where the story goes lets you foreshadow it. Keep it simple: two characters are plenty.
Hook the reader with your first sentence. Then vary your sentence openers: a prepositional phrase (‘Beneath the broken streetlight…’), a fronted adverbial (‘Silently, …’), a subordinating conjunction (‘Although…’), a participle phrase (‘Shivering in the doorway…’), an inversion (‘Not once did…’), or a conditional (‘Had she listened…’).
Use punctuation for effect. A semicolon joins two closely linked sentences, where the second explains the first: ‘The storm was coming; the birds had already gone.’
Tip: Every sentence you write is a choice. Craft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sentence opener.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type of sentence opener to its example.
Support — work through the steps with the group: (1) A prepositional phrase starts with a place word such as ‘beneath’ or ‘under’. (2) A subordinating conjunction starts with ‘although’, ‘because’ or ‘when’. (3) A participle phrase starts with an ‘-ing’ or ‘-ed’ verb. (4) An inversion swaps the usual order: ‘Not once did…’. (5) A conditional begins with ‘If…’ or ‘Had…’.
Parallel worked example for Support (model it, do not give the task answer): Which opener is ‘Under the bridge, the river ran black.’? ‘Under’ is a preposition.; ‘Under the bridge’ tells us where.. Answer: A prepositional phrase..
Core — reveal the hint only on request: Look at the very first word of each example.
Stretch — no help; when finished: Write your own sentence for each opener, all about the same setting: a harbour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Match the sentence opener.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type of sentence opener to its example.
Support — work through the steps with the group: (1) A prepositional phrase starts with a place word such as ‘beneath’ or ‘under’. (2) A subordinating conjunction starts with ‘although’, ‘because’ or ‘when’. (3) A participle phrase starts with an ‘-ing’ or ‘-ed’ verb. (4) An inversion swaps the usual order: ‘Not once did…’. (5) A conditional begins with ‘If…’ or ‘Had…’.
Parallel worked example for Support (model it, do not give the task answer): Which opener is ‘Under the bridge, the river ran black.’? ‘Under’ is a preposition.; ‘Under the bridge’ tells us where.. Answer: A prepositional phrase..
Core — reveal the hint only on request: Look at the very first word of each example.
Stretch — no help; when finished: Write your own sentence for each opener, all about the same setting: a harbour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Question 5 practice: description.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Question 5 practice (description). Write a description of a railway station late at night, as the last train is about to leave. For practice, write your opening two paragraphs; a full exam answer is worth 40 marks.
Support — work through the steps with the group: (1) Plan for five minutes: list three things you see, two you hear, one you smell. (2) Paragraph 1: drop in with a short sentence (for example, the platform number), then describe close details. (3) Paragraph 2: begin with a shift word such as ‘Suddenly’ or ‘Then’ and change the mood. (4) Check: one simile, one semicolon, three different sentence openers.
Parallel worked example for Support (model it, do not give the task answer): Write a short description of an empty playground at dusk. Drop in: begin with a time or place in two words.; Senses: the swing’s creak, the cold metal, the orange sky.; Shift: from the empty present to a memory of noise.. Answer: Dusk. The playground holds its breath. A single swing creaks back and forth, pushed by no one, and the slide glows orange in the last of the light; its metal is already cold. Earlier, this was a storm of shouting and running feet. Now there is only the wind, turning a crisp packet over and over in the sandpit..
Core — reveal the hint only on request: Start with two or three words, not a whole sentence about the weather.
Stretch — no help; when finished: Plan a third paragraph that returns to an image from your opening, creating a cyclical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Question 5 practice: description.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Question 5 practice (description). Write a description of a railway station late at night, as the last train is about to leave. For practice, write your opening two paragraphs; a full exam answer is worth 40 marks.
Support — work through the steps with the group: (1) Plan for five minutes: list three things you see, two you hear, one you smell. (2) Paragraph 1: drop in with a short sentence (for example, the platform number), then describe close details. (3) Paragraph 2: begin with a shift word such as ‘Suddenly’ or ‘Then’ and change the mood. (4) Check: one simile, one semicolon, three different sentence openers.
Parallel worked example for Support (model it, do not give the task answer): Write a short description of an empty playground at dusk. Drop in: begin with a time or place in two words.; Senses: the swing’s creak, the cold metal, the orange sky.; Shift: from the empty present to a memory of noise.. Answer: Dusk. The playground holds its breath. A single swing creaks back and forth, pushed by no one, and the slide glows orange in the last of the light; its metal is already cold. Earlier, this was a storm of shouting and running feet. Now there is only the wind, turning a crisp packet over and over in the sandpit..
Core — reveal the hint only on request: Start with two or three words, not a whole sentence about the weather.
Stretch — no help; when finished: Plan a third paragraph that returns to an image from your opening, creating a cyclical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How many marks is Question 5 worth?
Answer: B   40. Question 5 is worth 40 marks: 24 for content and organisation, 16 for technical accuracy.
Source of this question: gate item 1 re-asked (options rotated) — this chapter has no third quick-check module.
The ebook also holds task 3, "Question 5 practice: story opening", for homework or the next lesson's do now.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Match the sentence opener. Reveal the answer; pupils mark their own work in a different colour, then read the "why" together. Same destination for every lane, so one answer serves the whole class.
Answer: Prepositional phrase  →  C  Beneath the broken streetlight, a cat waited.; Subordinating conjunction  →  B  Although the door was locked, she tried the handle again.; Participle phrase  →  E  Shivering in the doorway, he counted his last coins.; Sentence inversion  →  A  Not once did the wind stop howling.; Conditional  →  D  Had she listened to the warning, she would have stayed at home.
Why: Varying openers is one of the clearest ways to show a range of sentences, which earns technical accuracy marks.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Question 5 practice: description. Reveal the answer; pupils mark their own work in a different colour, then read the "why" together. Same destination for every lane, so one answer serves the whole class.
Answer: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Why: Strong descriptions drop in, use the senses, shift deliberately and show control of sentences and punctuation.
Model answer: Platform four. Rain drums on the glass roof, and the departure board flickers green, then dies, then flickers again. A cleaner pushes a mop in slow circles; the smell of bleach hangs in the cold air. Under the clock, a man in a grey suit grips a paper cup as if it were the last warm thing in the city.
Suddenly, the whistle shrieks. Doors slam along the train like a row of falling dominoes. The man drops his cup, runs, and is swallowed by the carriage. Then the platform is empty again: just the mop, the rain, and one paper cup rolling gently towards the edge.
Success criteria: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Question 5 practice: description. Reveal the answer; pupils mark their own work in a different colour, then read the "why" together. Same destination for every lane, so one answer serves the whole class.
Answer: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Why: Strong descriptions drop in, use the senses, shift deliberately and show control of sentences and punctuation.
Model answer: Platform four. Rain drums on the glass roof, and the departure board flickers green, then dies, then flickers again. A cleaner pushes a mop in slow circles; the smell of bleach hangs in the cold air. Under the clock, a man in a grey suit grips a paper cup as if it were the last warm thing in the city.
Suddenly, the whistle shrieks. Doors slam along the train like a row of falling dominoes. The man drops his cup, runs, and is swallowed by the carriage. Then the platform is empty again: just the mop, the rain, and one paper cup rolling gently towards the edge.
Success criteria: I drop the reader straight into the scene.; I show, not tell, using details from at least three senses.; I include a clear shift in focus, time or mood.; I use a range of sentence openers and lengths.; I use accurate punctuation, including at least one semicolon.; I choose ambitious, precise vocabulary.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B   40
Why: Question 5 is worth 40 marks: 24 for content and organisation, 16 for technical accuracy.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2CBCE"/>
          </a:solidFill>
          <a:ln w="12700">
            <a:solidFill>
              <a:srgbClr val="E2CBCE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Language · Year 10 · Language Paper 1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2CBCE"/>
          </a:solidFill>
          <a:ln w="12700">
            <a:solidFill>
              <a:srgbClr val="E2CBCE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Language · Year 10 · Language Paper 1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8C2F39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E5CFD1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Language · Year 10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Paper 1 · AQA 8700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21919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5: your own description or story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3895598"/>
            <a:ext cx="5287975" cy="1328420"/>
          </a:xfrm>
          <a:prstGeom prst="roundRect">
            <a:avLst>
              <a:gd name="adj" fmla="val 5507"/>
            </a:avLst>
          </a:prstGeom>
          <a:solidFill>
            <a:srgbClr val="F0E4E5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3987038"/>
            <a:ext cx="5013655" cy="11455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Writing: Structuring Our Writing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writing: planning and crafting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0E6D2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English Language, Year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E4E5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Paper 1 involve, and how do I read and prepare a text so I know the story being told?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gap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that reflects a character’s mood is called ___ fallacy.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pathetic  ·  perfect  ·  plural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sentence begins with a fronted adverbial?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fox, which was hungry, slipped under the gate.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Silently, the fox slipped under the gate.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fox slipped under the gate.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fox slipped silently under the gate.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BDDC4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40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worth 40 marks: 24 for content and organisation, 16 for technical accuracy.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BDDC4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pathetic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that reflects a character’s mood is called ___ fallacy.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Pathetic fallacy uses the setting to reflect feelings.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4EAEB"/>
          </a:solidFill>
          <a:ln w="12700">
            <a:solidFill>
              <a:srgbClr val="D3B0B4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955040"/>
          </a:xfrm>
          <a:prstGeom prst="roundRect">
            <a:avLst>
              <a:gd name="adj" fmla="val 11489"/>
            </a:avLst>
          </a:prstGeom>
          <a:solidFill>
            <a:srgbClr val="EBDDC4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8087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Silently, the fox slipped under the gate.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493597"/>
            <a:ext cx="3149498" cy="251401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sentence begins with a fronted adverbial?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‘Silently,’ comes at the front and tells us how the fox moves.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that paints a picture of a place or moment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description uses the senses to bring a scene to life.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4475378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4475378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5069738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4521098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4521098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that tells a story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narrative needs characters and a problem.</a:t>
            </a:r>
            <a:endParaRPr lang="en-US" sz="2200" dirty="0"/>
          </a:p>
        </p:txBody>
      </p:sp>
      <p:sp>
        <p:nvSpPr>
          <p:cNvPr id="19" name="word-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20" name="word-hex"/>
          <p:cNvSpPr/>
          <p:nvPr/>
        </p:nvSpPr>
        <p:spPr>
          <a:xfrm>
            <a:off x="8264957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1" name="word-hex-label"/>
          <p:cNvSpPr txBox="1"/>
          <p:nvPr/>
        </p:nvSpPr>
        <p:spPr>
          <a:xfrm>
            <a:off x="8264957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word"/>
          <p:cNvSpPr txBox="1"/>
          <p:nvPr/>
        </p:nvSpPr>
        <p:spPr>
          <a:xfrm>
            <a:off x="8859317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pathetic fallacy</a:t>
            </a:r>
            <a:endParaRPr lang="en-US" sz="2600" dirty="0"/>
          </a:p>
        </p:txBody>
      </p:sp>
      <p:sp>
        <p:nvSpPr>
          <p:cNvPr id="23" name="word-rule"/>
          <p:cNvSpPr/>
          <p:nvPr/>
        </p:nvSpPr>
        <p:spPr>
          <a:xfrm>
            <a:off x="8310677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24" name="word-body"/>
          <p:cNvSpPr txBox="1"/>
          <p:nvPr/>
        </p:nvSpPr>
        <p:spPr>
          <a:xfrm>
            <a:off x="8310677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or setting that reflects a mood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grey, heavy sky is pathetic fallacy for a sad scene.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word-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8" name="word-hex"/>
          <p:cNvSpPr/>
          <p:nvPr/>
        </p:nvSpPr>
        <p:spPr>
          <a:xfrm>
            <a:off x="685800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word-hex-label"/>
          <p:cNvSpPr txBox="1"/>
          <p:nvPr/>
        </p:nvSpPr>
        <p:spPr>
          <a:xfrm>
            <a:off x="685800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word"/>
          <p:cNvSpPr txBox="1"/>
          <p:nvPr/>
        </p:nvSpPr>
        <p:spPr>
          <a:xfrm>
            <a:off x="1280160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</a:t>
            </a:r>
            <a:endParaRPr lang="en-US" sz="2600" dirty="0"/>
          </a:p>
        </p:txBody>
      </p:sp>
      <p:sp>
        <p:nvSpPr>
          <p:cNvPr id="11" name="word-rule"/>
          <p:cNvSpPr/>
          <p:nvPr/>
        </p:nvSpPr>
        <p:spPr>
          <a:xfrm>
            <a:off x="731520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2" name="word-body"/>
          <p:cNvSpPr txBox="1"/>
          <p:nvPr/>
        </p:nvSpPr>
        <p:spPr>
          <a:xfrm>
            <a:off x="731520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of focus, time or mood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shift from day to night gives your writing a clear structure.</a:t>
            </a:r>
            <a:endParaRPr lang="en-US" sz="2200" dirty="0"/>
          </a:p>
        </p:txBody>
      </p:sp>
      <p:sp>
        <p:nvSpPr>
          <p:cNvPr id="13" name="word-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14" name="word-hex"/>
          <p:cNvSpPr/>
          <p:nvPr/>
        </p:nvSpPr>
        <p:spPr>
          <a:xfrm>
            <a:off x="4475378" y="180204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word-hex-label"/>
          <p:cNvSpPr txBox="1"/>
          <p:nvPr/>
        </p:nvSpPr>
        <p:spPr>
          <a:xfrm>
            <a:off x="4475378" y="180204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word"/>
          <p:cNvSpPr txBox="1"/>
          <p:nvPr/>
        </p:nvSpPr>
        <p:spPr>
          <a:xfrm>
            <a:off x="5069738" y="1527048"/>
            <a:ext cx="2646578" cy="985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fronted adverbial</a:t>
            </a:r>
            <a:endParaRPr lang="en-US" sz="2600" dirty="0"/>
          </a:p>
        </p:txBody>
      </p:sp>
      <p:sp>
        <p:nvSpPr>
          <p:cNvPr id="17" name="word-rule"/>
          <p:cNvSpPr/>
          <p:nvPr/>
        </p:nvSpPr>
        <p:spPr>
          <a:xfrm>
            <a:off x="4521098" y="255828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18" name="word-body"/>
          <p:cNvSpPr txBox="1"/>
          <p:nvPr/>
        </p:nvSpPr>
        <p:spPr>
          <a:xfrm>
            <a:off x="4521098" y="2604008"/>
            <a:ext cx="3149498" cy="3403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at the start of a sentence saying how, when or where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‘Slowly, she opened the gate’ begins with a fronted adverbial.</a:t>
            </a:r>
            <a:endParaRPr lang="en-US" sz="2200" dirty="0"/>
          </a:p>
        </p:txBody>
      </p:sp>
      <p:sp>
        <p:nvSpPr>
          <p:cNvPr id="19" name="word-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2E8E9"/>
          </a:solidFill>
          <a:ln w="12700">
            <a:solidFill>
              <a:srgbClr val="CEA6AA"/>
            </a:solidFill>
            <a:prstDash val="solid"/>
          </a:ln>
        </p:spPr>
      </p:sp>
      <p:sp>
        <p:nvSpPr>
          <p:cNvPr id="20" name="word-hex"/>
          <p:cNvSpPr/>
          <p:nvPr/>
        </p:nvSpPr>
        <p:spPr>
          <a:xfrm>
            <a:off x="8264957" y="1587414"/>
            <a:ext cx="502920" cy="435529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1" name="word-hex-label"/>
          <p:cNvSpPr txBox="1"/>
          <p:nvPr/>
        </p:nvSpPr>
        <p:spPr>
          <a:xfrm>
            <a:off x="8264957" y="1587414"/>
            <a:ext cx="502920" cy="435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word"/>
          <p:cNvSpPr txBox="1"/>
          <p:nvPr/>
        </p:nvSpPr>
        <p:spPr>
          <a:xfrm>
            <a:off x="8859317" y="1527048"/>
            <a:ext cx="2646578" cy="5562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600" dirty="0"/>
          </a:p>
        </p:txBody>
      </p:sp>
      <p:sp>
        <p:nvSpPr>
          <p:cNvPr id="23" name="word-rule"/>
          <p:cNvSpPr/>
          <p:nvPr/>
        </p:nvSpPr>
        <p:spPr>
          <a:xfrm>
            <a:off x="8310677" y="2129028"/>
            <a:ext cx="3149498" cy="0"/>
          </a:xfrm>
          <a:prstGeom prst="line">
            <a:avLst/>
          </a:prstGeom>
          <a:ln w="12700">
            <a:solidFill>
              <a:srgbClr val="CEA6AA"/>
            </a:solidFill>
            <a:prstDash val="solid"/>
          </a:ln>
        </p:spPr>
      </p:sp>
      <p:sp>
        <p:nvSpPr>
          <p:cNvPr id="24" name="word-body"/>
          <p:cNvSpPr txBox="1"/>
          <p:nvPr/>
        </p:nvSpPr>
        <p:spPr>
          <a:xfrm>
            <a:off x="8310677" y="2174748"/>
            <a:ext cx="3149498" cy="38328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that joins two linked sentences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 was late; nobody was surprised.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8C2F39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4EAEB"/>
          </a:solidFill>
          <a:ln w="12700">
            <a:solidFill>
              <a:srgbClr val="D9BABE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the writing question.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worth forty marks.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one of two tasks.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 is usually a </a:t>
            </a:r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often of a picture.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is often the opening of a story.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five minutes planning before you write.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8C2F39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4EAEB"/>
          </a:solidFill>
          <a:ln w="12700">
            <a:solidFill>
              <a:srgbClr val="D9BABE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reader straight into the scene.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senses: what can you see, hear, smell and feel?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feelings through details, instead of just naming them.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focus, the time or the mood to create a </a:t>
            </a:r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different sentence openers and careful punctuation.</a:t>
            </a:r>
            <a:endParaRPr lang="en-US" sz="2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time to check your spelling at the end.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Question 5 asks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11094415" cy="794512"/>
          </a:xfrm>
          <a:prstGeom prst="roundRect">
            <a:avLst>
              <a:gd name="adj" fmla="val 17263"/>
            </a:avLst>
          </a:prstGeom>
          <a:solidFill>
            <a:srgbClr val="F2E9D9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10225735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MASOAPS: Metaphor, Adjectives and adverbs, Simile, Onomatopoeia, Alliteration, Personification, Sensory language.</a:t>
            </a:r>
            <a:endParaRPr lang="en-US" sz="1800" dirty="0"/>
          </a:p>
        </p:txBody>
      </p:sp>
      <p:sp>
        <p:nvSpPr>
          <p:cNvPr id="11" name="point-card"/>
          <p:cNvSpPr/>
          <p:nvPr/>
        </p:nvSpPr>
        <p:spPr>
          <a:xfrm>
            <a:off x="548640" y="1389888"/>
            <a:ext cx="5410048" cy="3686048"/>
          </a:xfrm>
          <a:prstGeom prst="roundRect">
            <a:avLst>
              <a:gd name="adj" fmla="val 1488"/>
            </a:avLst>
          </a:prstGeom>
          <a:solidFill>
            <a:srgbClr val="F0E4E5"/>
          </a:solidFill>
          <a:ln/>
        </p:spPr>
      </p:sp>
      <p:sp>
        <p:nvSpPr>
          <p:cNvPr id="12" name="point-hex"/>
          <p:cNvSpPr/>
          <p:nvPr/>
        </p:nvSpPr>
        <p:spPr>
          <a:xfrm>
            <a:off x="731520" y="1572768"/>
            <a:ext cx="685800" cy="593903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3" name="point-hex-label"/>
          <p:cNvSpPr txBox="1"/>
          <p:nvPr/>
        </p:nvSpPr>
        <p:spPr>
          <a:xfrm>
            <a:off x="73152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point"/>
          <p:cNvSpPr txBox="1"/>
          <p:nvPr/>
        </p:nvSpPr>
        <p:spPr>
          <a:xfrm>
            <a:off x="731520" y="2350008"/>
            <a:ext cx="5044288" cy="2588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worth 40 marks, half of the whole paper.</a:t>
            </a:r>
            <a:endParaRPr lang="en-US" sz="2400" dirty="0"/>
          </a:p>
        </p:txBody>
      </p:sp>
      <p:sp>
        <p:nvSpPr>
          <p:cNvPr id="15" name="point-card"/>
          <p:cNvSpPr/>
          <p:nvPr/>
        </p:nvSpPr>
        <p:spPr>
          <a:xfrm>
            <a:off x="6233008" y="1389888"/>
            <a:ext cx="5410048" cy="3686048"/>
          </a:xfrm>
          <a:prstGeom prst="roundRect">
            <a:avLst>
              <a:gd name="adj" fmla="val 1488"/>
            </a:avLst>
          </a:prstGeom>
          <a:solidFill>
            <a:srgbClr val="F4EDDF"/>
          </a:solidFill>
          <a:ln/>
        </p:spPr>
      </p:sp>
      <p:sp>
        <p:nvSpPr>
          <p:cNvPr id="16" name="point-hex"/>
          <p:cNvSpPr/>
          <p:nvPr/>
        </p:nvSpPr>
        <p:spPr>
          <a:xfrm>
            <a:off x="6415888" y="1572768"/>
            <a:ext cx="685800" cy="59390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point-hex-label"/>
          <p:cNvSpPr txBox="1"/>
          <p:nvPr/>
        </p:nvSpPr>
        <p:spPr>
          <a:xfrm>
            <a:off x="6415888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point"/>
          <p:cNvSpPr txBox="1"/>
          <p:nvPr/>
        </p:nvSpPr>
        <p:spPr>
          <a:xfrm>
            <a:off x="6415888" y="2350008"/>
            <a:ext cx="5044288" cy="25887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marks are for content and organisation: ideas that engage the reader, vocabulary chosen for effect, and a structure that is clear and deliberate.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Description: drop in, describe, shift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quote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1154"/>
            </a:avLst>
          </a:prstGeom>
          <a:solidFill>
            <a:srgbClr val="F0E4E5"/>
          </a:solidFill>
          <a:ln/>
        </p:spPr>
      </p:sp>
      <p:sp>
        <p:nvSpPr>
          <p:cNvPr id="8" name="quote-mark"/>
          <p:cNvSpPr txBox="1"/>
          <p:nvPr/>
        </p:nvSpPr>
        <p:spPr>
          <a:xfrm>
            <a:off x="6126480" y="1572768"/>
            <a:ext cx="868680" cy="12801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8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9" name="quote"/>
          <p:cNvSpPr txBox="1"/>
          <p:nvPr/>
        </p:nvSpPr>
        <p:spPr>
          <a:xfrm>
            <a:off x="7040880" y="1664208"/>
            <a:ext cx="4327855" cy="42062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tide. The beach is a sheet of wet silver, and the wind drags its fingers through the sand. Gulls argue over a crust. Beach huts stand shoulder to shoulder, their paint peeling like old sunburn; their doors are bolted against the cold. Last August, this place was loud with children. Today, there is only the hiss of the sea and the creak of a single swing.</a:t>
            </a:r>
            <a:endParaRPr lang="en-US" sz="20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Original model description written for Ad Astra</a:t>
            </a:r>
            <a:endParaRPr lang="en-US" sz="2000" dirty="0"/>
          </a:p>
        </p:txBody>
      </p:sp>
      <p:sp>
        <p:nvSpPr>
          <p:cNvPr id="10" name="bullet-card"/>
          <p:cNvSpPr/>
          <p:nvPr/>
        </p:nvSpPr>
        <p:spPr>
          <a:xfrm>
            <a:off x="548640" y="1389888"/>
            <a:ext cx="5074920" cy="1373801"/>
          </a:xfrm>
          <a:prstGeom prst="roundRect">
            <a:avLst>
              <a:gd name="adj" fmla="val 5325"/>
            </a:avLst>
          </a:prstGeom>
          <a:solidFill>
            <a:srgbClr val="F2E8E9"/>
          </a:solidFill>
          <a:ln/>
        </p:spPr>
      </p:sp>
      <p:sp>
        <p:nvSpPr>
          <p:cNvPr id="11" name="bullet-hex"/>
          <p:cNvSpPr/>
          <p:nvPr/>
        </p:nvSpPr>
        <p:spPr>
          <a:xfrm>
            <a:off x="676656" y="1910496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2" name="bullet"/>
          <p:cNvSpPr txBox="1"/>
          <p:nvPr/>
        </p:nvSpPr>
        <p:spPr>
          <a:xfrm>
            <a:off x="1143000" y="1389888"/>
            <a:ext cx="4389120" cy="13738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and describe: begin in the middle of the scene, not with ‘One day’.</a:t>
            </a:r>
            <a:endParaRPr lang="en-US" sz="2200" dirty="0"/>
          </a:p>
        </p:txBody>
      </p:sp>
      <p:sp>
        <p:nvSpPr>
          <p:cNvPr id="13" name="bullet-card"/>
          <p:cNvSpPr/>
          <p:nvPr/>
        </p:nvSpPr>
        <p:spPr>
          <a:xfrm>
            <a:off x="548640" y="2909993"/>
            <a:ext cx="5074920" cy="1714669"/>
          </a:xfrm>
          <a:prstGeom prst="roundRect">
            <a:avLst>
              <a:gd name="adj" fmla="val 4266"/>
            </a:avLst>
          </a:prstGeom>
          <a:solidFill>
            <a:srgbClr val="F2E8E9"/>
          </a:solidFill>
          <a:ln/>
        </p:spPr>
      </p:sp>
      <p:sp>
        <p:nvSpPr>
          <p:cNvPr id="14" name="bullet-hex"/>
          <p:cNvSpPr/>
          <p:nvPr/>
        </p:nvSpPr>
        <p:spPr>
          <a:xfrm>
            <a:off x="676656" y="360103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5" name="bullet"/>
          <p:cNvSpPr txBox="1"/>
          <p:nvPr/>
        </p:nvSpPr>
        <p:spPr>
          <a:xfrm>
            <a:off x="1143000" y="2909993"/>
            <a:ext cx="4389120" cy="171466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build in a shift: change the focus (from wide to close), the time (‘A year ago… Today…’), the mood or the setting.</a:t>
            </a:r>
            <a:endParaRPr lang="en-US" sz="2200" dirty="0"/>
          </a:p>
        </p:txBody>
      </p:sp>
      <p:sp>
        <p:nvSpPr>
          <p:cNvPr id="16" name="bullet-card"/>
          <p:cNvSpPr/>
          <p:nvPr/>
        </p:nvSpPr>
        <p:spPr>
          <a:xfrm>
            <a:off x="548640" y="4770967"/>
            <a:ext cx="5074920" cy="1373801"/>
          </a:xfrm>
          <a:prstGeom prst="roundRect">
            <a:avLst>
              <a:gd name="adj" fmla="val 5325"/>
            </a:avLst>
          </a:prstGeom>
          <a:solidFill>
            <a:srgbClr val="F2E8E9"/>
          </a:solidFill>
          <a:ln/>
        </p:spPr>
      </p:sp>
      <p:sp>
        <p:nvSpPr>
          <p:cNvPr id="17" name="bullet-hex"/>
          <p:cNvSpPr/>
          <p:nvPr/>
        </p:nvSpPr>
        <p:spPr>
          <a:xfrm>
            <a:off x="676656" y="5291575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8" name="bullet"/>
          <p:cNvSpPr txBox="1"/>
          <p:nvPr/>
        </p:nvSpPr>
        <p:spPr>
          <a:xfrm>
            <a:off x="1143000" y="4770967"/>
            <a:ext cx="4389120" cy="13738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original model opening. Notice the drop-in start, the senses and the shift in time.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openings and crafted sentences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629148"/>
            <a:ext cx="11094415" cy="515620"/>
          </a:xfrm>
          <a:prstGeom prst="roundRect">
            <a:avLst>
              <a:gd name="adj" fmla="val 26601"/>
            </a:avLst>
          </a:prstGeom>
          <a:solidFill>
            <a:srgbClr val="F2E9D9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688990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688990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684012"/>
            <a:ext cx="1022573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sentence you write is a choice. Craft it.</a:t>
            </a:r>
            <a:endParaRPr lang="en-US" sz="1800" dirty="0"/>
          </a:p>
        </p:txBody>
      </p:sp>
      <p:sp>
        <p:nvSpPr>
          <p:cNvPr id="11" name="bullet-card"/>
          <p:cNvSpPr/>
          <p:nvPr/>
        </p:nvSpPr>
        <p:spPr>
          <a:xfrm>
            <a:off x="548640" y="1389888"/>
            <a:ext cx="11094415" cy="996865"/>
          </a:xfrm>
          <a:prstGeom prst="roundRect">
            <a:avLst>
              <a:gd name="adj" fmla="val 7338"/>
            </a:avLst>
          </a:prstGeom>
          <a:solidFill>
            <a:srgbClr val="F2E8E9"/>
          </a:solidFill>
          <a:ln/>
        </p:spPr>
      </p:sp>
      <p:sp>
        <p:nvSpPr>
          <p:cNvPr id="12" name="bullet-hex"/>
          <p:cNvSpPr/>
          <p:nvPr/>
        </p:nvSpPr>
        <p:spPr>
          <a:xfrm>
            <a:off x="676656" y="1722028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3" name="bullet"/>
          <p:cNvSpPr txBox="1"/>
          <p:nvPr/>
        </p:nvSpPr>
        <p:spPr>
          <a:xfrm>
            <a:off x="1143000" y="1389888"/>
            <a:ext cx="10408615" cy="99686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story with the story mountain (Freytag’s pyramid): opening, rising action, climax, falling action, resolution.</a:t>
            </a:r>
            <a:endParaRPr lang="en-US" sz="2200" dirty="0"/>
          </a:p>
        </p:txBody>
      </p:sp>
      <p:sp>
        <p:nvSpPr>
          <p:cNvPr id="14" name="bullet-card"/>
          <p:cNvSpPr/>
          <p:nvPr/>
        </p:nvSpPr>
        <p:spPr>
          <a:xfrm>
            <a:off x="548640" y="2533057"/>
            <a:ext cx="11094415" cy="1678601"/>
          </a:xfrm>
          <a:prstGeom prst="roundRect">
            <a:avLst>
              <a:gd name="adj" fmla="val 4358"/>
            </a:avLst>
          </a:prstGeom>
          <a:solidFill>
            <a:srgbClr val="F2E8E9"/>
          </a:solidFill>
          <a:ln/>
        </p:spPr>
      </p:sp>
      <p:sp>
        <p:nvSpPr>
          <p:cNvPr id="15" name="bullet-hex"/>
          <p:cNvSpPr/>
          <p:nvPr/>
        </p:nvSpPr>
        <p:spPr>
          <a:xfrm>
            <a:off x="676656" y="320606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6" name="bullet"/>
          <p:cNvSpPr txBox="1"/>
          <p:nvPr/>
        </p:nvSpPr>
        <p:spPr>
          <a:xfrm>
            <a:off x="1143000" y="2533057"/>
            <a:ext cx="10408615" cy="16786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the reader with your first sentence. Then vary your sentence openers: a prepositional phrase (‘Beneath the broken streetlight…’), a fronted adverbial (‘Silently, …’), a subordinating conjunction (‘Although…’), a participle phrase (‘Shivering in the doorway…’), an inversion (‘Not once did…’), or a conditional (‘Had she listened…’).</a:t>
            </a:r>
            <a:endParaRPr lang="en-US" sz="2200" dirty="0"/>
          </a:p>
        </p:txBody>
      </p:sp>
      <p:sp>
        <p:nvSpPr>
          <p:cNvPr id="17" name="bullet-card"/>
          <p:cNvSpPr/>
          <p:nvPr/>
        </p:nvSpPr>
        <p:spPr>
          <a:xfrm>
            <a:off x="548640" y="4357963"/>
            <a:ext cx="11094415" cy="996865"/>
          </a:xfrm>
          <a:prstGeom prst="roundRect">
            <a:avLst>
              <a:gd name="adj" fmla="val 7338"/>
            </a:avLst>
          </a:prstGeom>
          <a:solidFill>
            <a:srgbClr val="F2E8E9"/>
          </a:solidFill>
          <a:ln/>
        </p:spPr>
      </p:sp>
      <p:sp>
        <p:nvSpPr>
          <p:cNvPr id="18" name="bullet-hex"/>
          <p:cNvSpPr/>
          <p:nvPr/>
        </p:nvSpPr>
        <p:spPr>
          <a:xfrm>
            <a:off x="676656" y="4690103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9" name="bullet"/>
          <p:cNvSpPr txBox="1"/>
          <p:nvPr/>
        </p:nvSpPr>
        <p:spPr>
          <a:xfrm>
            <a:off x="1143000" y="4357963"/>
            <a:ext cx="10408615" cy="99686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punctuation for effect. A semicolon joins two closely linked sentences, where the second explains the first: ‘The storm was coming; the birds had already gone.’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Match the sentence opener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618488"/>
            <a:ext cx="853409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type of sentence opener to its example.</a:t>
            </a:r>
            <a:endParaRPr lang="en-US" sz="2400" dirty="0"/>
          </a:p>
        </p:txBody>
      </p:sp>
      <p:sp>
        <p:nvSpPr>
          <p:cNvPr id="11" name="match-card"/>
          <p:cNvSpPr/>
          <p:nvPr/>
        </p:nvSpPr>
        <p:spPr>
          <a:xfrm>
            <a:off x="777240" y="2468331"/>
            <a:ext cx="3259212" cy="509735"/>
          </a:xfrm>
          <a:prstGeom prst="roundRect">
            <a:avLst>
              <a:gd name="adj" fmla="val 14351"/>
            </a:avLst>
          </a:prstGeom>
          <a:solidFill>
            <a:srgbClr val="F2E8E9"/>
          </a:solidFill>
          <a:ln/>
        </p:spPr>
      </p:sp>
      <p:sp>
        <p:nvSpPr>
          <p:cNvPr id="12" name="match-hex"/>
          <p:cNvSpPr/>
          <p:nvPr/>
        </p:nvSpPr>
        <p:spPr>
          <a:xfrm>
            <a:off x="850392" y="2556906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3" name="match-hex-label"/>
          <p:cNvSpPr txBox="1"/>
          <p:nvPr/>
        </p:nvSpPr>
        <p:spPr>
          <a:xfrm>
            <a:off x="850392" y="2556906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match-text"/>
          <p:cNvSpPr txBox="1"/>
          <p:nvPr/>
        </p:nvSpPr>
        <p:spPr>
          <a:xfrm>
            <a:off x="1298448" y="2468331"/>
            <a:ext cx="2664852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</a:t>
            </a:r>
            <a:endParaRPr lang="en-US" sz="2000" dirty="0"/>
          </a:p>
        </p:txBody>
      </p:sp>
      <p:sp>
        <p:nvSpPr>
          <p:cNvPr id="15" name="match-card"/>
          <p:cNvSpPr/>
          <p:nvPr/>
        </p:nvSpPr>
        <p:spPr>
          <a:xfrm>
            <a:off x="4402212" y="2468331"/>
            <a:ext cx="7012243" cy="509735"/>
          </a:xfrm>
          <a:prstGeom prst="roundRect">
            <a:avLst>
              <a:gd name="adj" fmla="val 14351"/>
            </a:avLst>
          </a:prstGeom>
          <a:solidFill>
            <a:srgbClr val="F4EDDF"/>
          </a:solidFill>
          <a:ln/>
        </p:spPr>
      </p:sp>
      <p:sp>
        <p:nvSpPr>
          <p:cNvPr id="16" name="match-hex"/>
          <p:cNvSpPr/>
          <p:nvPr/>
        </p:nvSpPr>
        <p:spPr>
          <a:xfrm>
            <a:off x="4475364" y="2556906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match-hex-label"/>
          <p:cNvSpPr txBox="1"/>
          <p:nvPr/>
        </p:nvSpPr>
        <p:spPr>
          <a:xfrm>
            <a:off x="4475364" y="2556906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match-text"/>
          <p:cNvSpPr txBox="1"/>
          <p:nvPr/>
        </p:nvSpPr>
        <p:spPr>
          <a:xfrm>
            <a:off x="4923420" y="2468331"/>
            <a:ext cx="6417883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once did the wind stop howling.</a:t>
            </a:r>
            <a:endParaRPr lang="en-US" sz="2000" dirty="0"/>
          </a:p>
        </p:txBody>
      </p:sp>
      <p:sp>
        <p:nvSpPr>
          <p:cNvPr id="19" name="match-card"/>
          <p:cNvSpPr/>
          <p:nvPr/>
        </p:nvSpPr>
        <p:spPr>
          <a:xfrm>
            <a:off x="777240" y="3069507"/>
            <a:ext cx="3259212" cy="799295"/>
          </a:xfrm>
          <a:prstGeom prst="roundRect">
            <a:avLst>
              <a:gd name="adj" fmla="val 9152"/>
            </a:avLst>
          </a:prstGeom>
          <a:solidFill>
            <a:srgbClr val="F2E8E9"/>
          </a:solidFill>
          <a:ln/>
        </p:spPr>
      </p:sp>
      <p:sp>
        <p:nvSpPr>
          <p:cNvPr id="20" name="match-hex"/>
          <p:cNvSpPr/>
          <p:nvPr/>
        </p:nvSpPr>
        <p:spPr>
          <a:xfrm>
            <a:off x="850392" y="3302862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21" name="match-hex-label"/>
          <p:cNvSpPr txBox="1"/>
          <p:nvPr/>
        </p:nvSpPr>
        <p:spPr>
          <a:xfrm>
            <a:off x="850392" y="330286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match-text"/>
          <p:cNvSpPr txBox="1"/>
          <p:nvPr/>
        </p:nvSpPr>
        <p:spPr>
          <a:xfrm>
            <a:off x="1298448" y="3069507"/>
            <a:ext cx="2664852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Subordinating conjunction</a:t>
            </a:r>
            <a:endParaRPr lang="en-US" sz="2000" dirty="0"/>
          </a:p>
        </p:txBody>
      </p:sp>
      <p:sp>
        <p:nvSpPr>
          <p:cNvPr id="23" name="match-card"/>
          <p:cNvSpPr/>
          <p:nvPr/>
        </p:nvSpPr>
        <p:spPr>
          <a:xfrm>
            <a:off x="4402212" y="3069507"/>
            <a:ext cx="7012243" cy="799295"/>
          </a:xfrm>
          <a:prstGeom prst="roundRect">
            <a:avLst>
              <a:gd name="adj" fmla="val 9152"/>
            </a:avLst>
          </a:prstGeom>
          <a:solidFill>
            <a:srgbClr val="F4EDDF"/>
          </a:solidFill>
          <a:ln/>
        </p:spPr>
      </p:sp>
      <p:sp>
        <p:nvSpPr>
          <p:cNvPr id="24" name="match-hex"/>
          <p:cNvSpPr/>
          <p:nvPr/>
        </p:nvSpPr>
        <p:spPr>
          <a:xfrm>
            <a:off x="4475364" y="330286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5" name="match-hex-label"/>
          <p:cNvSpPr txBox="1"/>
          <p:nvPr/>
        </p:nvSpPr>
        <p:spPr>
          <a:xfrm>
            <a:off x="4475364" y="330286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6" name="match-text"/>
          <p:cNvSpPr txBox="1"/>
          <p:nvPr/>
        </p:nvSpPr>
        <p:spPr>
          <a:xfrm>
            <a:off x="4923420" y="3069507"/>
            <a:ext cx="6417883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door was locked, she tried the handle again.</a:t>
            </a:r>
            <a:endParaRPr lang="en-US" sz="2000" dirty="0"/>
          </a:p>
        </p:txBody>
      </p:sp>
      <p:sp>
        <p:nvSpPr>
          <p:cNvPr id="27" name="match-card"/>
          <p:cNvSpPr/>
          <p:nvPr/>
        </p:nvSpPr>
        <p:spPr>
          <a:xfrm>
            <a:off x="777240" y="3960242"/>
            <a:ext cx="3259212" cy="509735"/>
          </a:xfrm>
          <a:prstGeom prst="roundRect">
            <a:avLst>
              <a:gd name="adj" fmla="val 14351"/>
            </a:avLst>
          </a:prstGeom>
          <a:solidFill>
            <a:srgbClr val="F2E8E9"/>
          </a:solidFill>
          <a:ln/>
        </p:spPr>
      </p:sp>
      <p:sp>
        <p:nvSpPr>
          <p:cNvPr id="28" name="match-hex"/>
          <p:cNvSpPr/>
          <p:nvPr/>
        </p:nvSpPr>
        <p:spPr>
          <a:xfrm>
            <a:off x="850392" y="4048817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29" name="match-hex-label"/>
          <p:cNvSpPr txBox="1"/>
          <p:nvPr/>
        </p:nvSpPr>
        <p:spPr>
          <a:xfrm>
            <a:off x="850392" y="4048817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match-text"/>
          <p:cNvSpPr txBox="1"/>
          <p:nvPr/>
        </p:nvSpPr>
        <p:spPr>
          <a:xfrm>
            <a:off x="1298448" y="3960242"/>
            <a:ext cx="2664852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Participle phrase</a:t>
            </a:r>
            <a:endParaRPr lang="en-US" sz="2000" dirty="0"/>
          </a:p>
        </p:txBody>
      </p:sp>
      <p:sp>
        <p:nvSpPr>
          <p:cNvPr id="31" name="match-card"/>
          <p:cNvSpPr/>
          <p:nvPr/>
        </p:nvSpPr>
        <p:spPr>
          <a:xfrm>
            <a:off x="4402212" y="3960242"/>
            <a:ext cx="7012243" cy="509735"/>
          </a:xfrm>
          <a:prstGeom prst="roundRect">
            <a:avLst>
              <a:gd name="adj" fmla="val 14351"/>
            </a:avLst>
          </a:prstGeom>
          <a:solidFill>
            <a:srgbClr val="F4EDDF"/>
          </a:solidFill>
          <a:ln/>
        </p:spPr>
      </p:sp>
      <p:sp>
        <p:nvSpPr>
          <p:cNvPr id="32" name="match-hex"/>
          <p:cNvSpPr/>
          <p:nvPr/>
        </p:nvSpPr>
        <p:spPr>
          <a:xfrm>
            <a:off x="4475364" y="4048817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3" name="match-hex-label"/>
          <p:cNvSpPr txBox="1"/>
          <p:nvPr/>
        </p:nvSpPr>
        <p:spPr>
          <a:xfrm>
            <a:off x="4475364" y="4048817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34" name="match-text"/>
          <p:cNvSpPr txBox="1"/>
          <p:nvPr/>
        </p:nvSpPr>
        <p:spPr>
          <a:xfrm>
            <a:off x="4923420" y="3960242"/>
            <a:ext cx="6417883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the broken streetlight, a cat waited.</a:t>
            </a:r>
            <a:endParaRPr lang="en-US" sz="2000" dirty="0"/>
          </a:p>
        </p:txBody>
      </p:sp>
      <p:sp>
        <p:nvSpPr>
          <p:cNvPr id="35" name="match-card"/>
          <p:cNvSpPr/>
          <p:nvPr/>
        </p:nvSpPr>
        <p:spPr>
          <a:xfrm>
            <a:off x="777240" y="4561417"/>
            <a:ext cx="3259212" cy="799295"/>
          </a:xfrm>
          <a:prstGeom prst="roundRect">
            <a:avLst>
              <a:gd name="adj" fmla="val 9152"/>
            </a:avLst>
          </a:prstGeom>
          <a:solidFill>
            <a:srgbClr val="F2E8E9"/>
          </a:solidFill>
          <a:ln/>
        </p:spPr>
      </p:sp>
      <p:sp>
        <p:nvSpPr>
          <p:cNvPr id="36" name="match-hex"/>
          <p:cNvSpPr/>
          <p:nvPr/>
        </p:nvSpPr>
        <p:spPr>
          <a:xfrm>
            <a:off x="850392" y="4794772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37" name="match-hex-label"/>
          <p:cNvSpPr txBox="1"/>
          <p:nvPr/>
        </p:nvSpPr>
        <p:spPr>
          <a:xfrm>
            <a:off x="850392" y="479477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match-text"/>
          <p:cNvSpPr txBox="1"/>
          <p:nvPr/>
        </p:nvSpPr>
        <p:spPr>
          <a:xfrm>
            <a:off x="1298448" y="4561417"/>
            <a:ext cx="2664852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inversion</a:t>
            </a:r>
            <a:endParaRPr lang="en-US" sz="2000" dirty="0"/>
          </a:p>
        </p:txBody>
      </p:sp>
      <p:sp>
        <p:nvSpPr>
          <p:cNvPr id="39" name="match-card"/>
          <p:cNvSpPr/>
          <p:nvPr/>
        </p:nvSpPr>
        <p:spPr>
          <a:xfrm>
            <a:off x="4402212" y="4561417"/>
            <a:ext cx="7012243" cy="799295"/>
          </a:xfrm>
          <a:prstGeom prst="roundRect">
            <a:avLst>
              <a:gd name="adj" fmla="val 9152"/>
            </a:avLst>
          </a:prstGeom>
          <a:solidFill>
            <a:srgbClr val="F4EDDF"/>
          </a:solidFill>
          <a:ln/>
        </p:spPr>
      </p:sp>
      <p:sp>
        <p:nvSpPr>
          <p:cNvPr id="40" name="match-hex"/>
          <p:cNvSpPr/>
          <p:nvPr/>
        </p:nvSpPr>
        <p:spPr>
          <a:xfrm>
            <a:off x="4475364" y="479477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1" name="match-hex-label"/>
          <p:cNvSpPr txBox="1"/>
          <p:nvPr/>
        </p:nvSpPr>
        <p:spPr>
          <a:xfrm>
            <a:off x="4475364" y="479477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2" name="match-text"/>
          <p:cNvSpPr txBox="1"/>
          <p:nvPr/>
        </p:nvSpPr>
        <p:spPr>
          <a:xfrm>
            <a:off x="4923420" y="4561417"/>
            <a:ext cx="6417883" cy="79929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she listened to the warning, she would have stayed at home.</a:t>
            </a:r>
            <a:endParaRPr lang="en-US" sz="2000" dirty="0"/>
          </a:p>
        </p:txBody>
      </p:sp>
      <p:sp>
        <p:nvSpPr>
          <p:cNvPr id="43" name="match-card"/>
          <p:cNvSpPr/>
          <p:nvPr/>
        </p:nvSpPr>
        <p:spPr>
          <a:xfrm>
            <a:off x="777240" y="5452153"/>
            <a:ext cx="3259212" cy="509735"/>
          </a:xfrm>
          <a:prstGeom prst="roundRect">
            <a:avLst>
              <a:gd name="adj" fmla="val 14351"/>
            </a:avLst>
          </a:prstGeom>
          <a:solidFill>
            <a:srgbClr val="F2E8E9"/>
          </a:solidFill>
          <a:ln/>
        </p:spPr>
      </p:sp>
      <p:sp>
        <p:nvSpPr>
          <p:cNvPr id="44" name="match-hex"/>
          <p:cNvSpPr/>
          <p:nvPr/>
        </p:nvSpPr>
        <p:spPr>
          <a:xfrm>
            <a:off x="850392" y="5540728"/>
            <a:ext cx="384048" cy="332586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45" name="match-hex-label"/>
          <p:cNvSpPr txBox="1"/>
          <p:nvPr/>
        </p:nvSpPr>
        <p:spPr>
          <a:xfrm>
            <a:off x="850392" y="5540728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6" name="match-text"/>
          <p:cNvSpPr txBox="1"/>
          <p:nvPr/>
        </p:nvSpPr>
        <p:spPr>
          <a:xfrm>
            <a:off x="1298448" y="5452153"/>
            <a:ext cx="2664852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</a:t>
            </a:r>
            <a:endParaRPr lang="en-US" sz="2000" dirty="0"/>
          </a:p>
        </p:txBody>
      </p:sp>
      <p:sp>
        <p:nvSpPr>
          <p:cNvPr id="47" name="match-card"/>
          <p:cNvSpPr/>
          <p:nvPr/>
        </p:nvSpPr>
        <p:spPr>
          <a:xfrm>
            <a:off x="4402212" y="5452153"/>
            <a:ext cx="7012243" cy="509735"/>
          </a:xfrm>
          <a:prstGeom prst="roundRect">
            <a:avLst>
              <a:gd name="adj" fmla="val 14351"/>
            </a:avLst>
          </a:prstGeom>
          <a:solidFill>
            <a:srgbClr val="F4EDDF"/>
          </a:solidFill>
          <a:ln/>
        </p:spPr>
      </p:sp>
      <p:sp>
        <p:nvSpPr>
          <p:cNvPr id="48" name="match-hex"/>
          <p:cNvSpPr/>
          <p:nvPr/>
        </p:nvSpPr>
        <p:spPr>
          <a:xfrm>
            <a:off x="4475364" y="5540728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9" name="match-hex-label"/>
          <p:cNvSpPr txBox="1"/>
          <p:nvPr/>
        </p:nvSpPr>
        <p:spPr>
          <a:xfrm>
            <a:off x="4475364" y="5540728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800" dirty="0"/>
          </a:p>
        </p:txBody>
      </p:sp>
      <p:sp>
        <p:nvSpPr>
          <p:cNvPr id="50" name="match-text"/>
          <p:cNvSpPr txBox="1"/>
          <p:nvPr/>
        </p:nvSpPr>
        <p:spPr>
          <a:xfrm>
            <a:off x="4923420" y="5452153"/>
            <a:ext cx="6417883" cy="509735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Shivering in the doorway, he counted his last coins.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Match the sentence opener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43890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43890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48132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(on the last slide): Match the sentence opener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395728"/>
            <a:ext cx="4667802" cy="3749040"/>
          </a:xfrm>
          <a:prstGeom prst="roundRect">
            <a:avLst>
              <a:gd name="adj" fmla="val 1463"/>
            </a:avLst>
          </a:prstGeom>
          <a:solidFill>
            <a:srgbClr val="F0E4E5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432304"/>
            <a:ext cx="3936282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035808"/>
            <a:ext cx="4393482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prepositional phrase starts with a place word such as ‘beneath’ or ‘under’.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subordinating conjunction starts with ‘although’, ‘because’ or ‘when’.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participle phrase starts with an ‘-ing’ or ‘-ed’ verb.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inversion swaps the usual order: ‘Not once did…’.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conditional begins with ‘If…’ or ‘Had…’.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5490762" y="2395728"/>
            <a:ext cx="2938987" cy="3749040"/>
          </a:xfrm>
          <a:prstGeom prst="roundRect">
            <a:avLst>
              <a:gd name="adj" fmla="val 1867"/>
            </a:avLst>
          </a:prstGeom>
          <a:solidFill>
            <a:srgbClr val="E2CBCE"/>
          </a:solidFill>
          <a:ln/>
        </p:spPr>
      </p:sp>
      <p:sp>
        <p:nvSpPr>
          <p:cNvPr id="18" name="col-hex"/>
          <p:cNvSpPr/>
          <p:nvPr/>
        </p:nvSpPr>
        <p:spPr>
          <a:xfrm>
            <a:off x="5600490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5600490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6130842" y="243230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5627922" y="3035808"/>
            <a:ext cx="2664667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0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very first word of each example.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704069" y="2395728"/>
            <a:ext cx="2938987" cy="3749040"/>
          </a:xfrm>
          <a:prstGeom prst="roundRect">
            <a:avLst>
              <a:gd name="adj" fmla="val 1867"/>
            </a:avLst>
          </a:prstGeom>
          <a:solidFill>
            <a:srgbClr val="8C2F39"/>
          </a:solidFill>
          <a:ln/>
        </p:spPr>
      </p:sp>
      <p:sp>
        <p:nvSpPr>
          <p:cNvPr id="23" name="col-hex"/>
          <p:cNvSpPr/>
          <p:nvPr/>
        </p:nvSpPr>
        <p:spPr>
          <a:xfrm>
            <a:off x="8813797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813797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344149" y="2432304"/>
            <a:ext cx="2207467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841229" y="3035808"/>
            <a:ext cx="2664667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for each opener, all about the same setting: a harbour at night.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Question 5 practice: description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572768"/>
            <a:ext cx="8534095" cy="43891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practice (description). Write a description of a railway station late at night, as the last train is about to leave. For practice, write your opening two paragraphs; a full exam answer is worth 40 marks.</a:t>
            </a:r>
            <a:endParaRPr lang="en-US" sz="26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marks · Write in full sentences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Question 5 practice: description</a:t>
            </a:r>
            <a:endParaRPr lang="en-US" sz="26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43890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43890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48132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(on the last slide): Question 5 practice: description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395728"/>
            <a:ext cx="5602443" cy="3749040"/>
          </a:xfrm>
          <a:prstGeom prst="roundRect">
            <a:avLst>
              <a:gd name="adj" fmla="val 1463"/>
            </a:avLst>
          </a:prstGeom>
          <a:solidFill>
            <a:srgbClr val="F0E4E5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432304"/>
            <a:ext cx="4870923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035808"/>
            <a:ext cx="5328123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five minutes: list three things you see, two you hear, one you smell.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 1: drop in with a short sentence (for example, the platform number), then describe close details.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 2: begin with a shift word such as ‘Suddenly’ or ‘Then’ and change the mood.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one simile, one semicolon, three different sentence openers.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6425403" y="2395728"/>
            <a:ext cx="2471666" cy="3749040"/>
          </a:xfrm>
          <a:prstGeom prst="roundRect">
            <a:avLst>
              <a:gd name="adj" fmla="val 2220"/>
            </a:avLst>
          </a:prstGeom>
          <a:solidFill>
            <a:srgbClr val="E2CBCE"/>
          </a:solidFill>
          <a:ln/>
        </p:spPr>
      </p:sp>
      <p:sp>
        <p:nvSpPr>
          <p:cNvPr id="18" name="col-hex"/>
          <p:cNvSpPr/>
          <p:nvPr/>
        </p:nvSpPr>
        <p:spPr>
          <a:xfrm>
            <a:off x="6535131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6535131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7065483" y="2432304"/>
            <a:ext cx="1740146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221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6562563" y="3035808"/>
            <a:ext cx="2197346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0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two or three words, not a whole sentence about the weather.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9171389" y="2395728"/>
            <a:ext cx="2471666" cy="3749040"/>
          </a:xfrm>
          <a:prstGeom prst="roundRect">
            <a:avLst>
              <a:gd name="adj" fmla="val 2220"/>
            </a:avLst>
          </a:prstGeom>
          <a:solidFill>
            <a:srgbClr val="8C2F39"/>
          </a:solidFill>
          <a:ln/>
        </p:spPr>
      </p:sp>
      <p:sp>
        <p:nvSpPr>
          <p:cNvPr id="23" name="col-hex"/>
          <p:cNvSpPr/>
          <p:nvPr/>
        </p:nvSpPr>
        <p:spPr>
          <a:xfrm>
            <a:off x="9281117" y="246888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9281117" y="246888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9811469" y="2432304"/>
            <a:ext cx="1740146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9308549" y="3035808"/>
            <a:ext cx="2197346" cy="299923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third paragraph that returns to an image from your opening, creating a cyclical structure.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8C2F3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8C2F39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2433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4EAEB"/>
          </a:solidFill>
          <a:ln w="12700">
            <a:solidFill>
              <a:srgbClr val="C29196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Match the sentence opener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  →  C  Beneath the broken streetlight, a cat waited.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Subordinating conjunction  →  B  Although the door was locked, she tried the handle again.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Participle phrase  →  E  Shivering in the doorway, he counted his last coins.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inversion  →  A  Not once did the wind stop howling.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 →  D  Had she listened to the warning, she would have stayed at home.</a:t>
            </a:r>
            <a:endParaRPr lang="en-US" sz="20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E4E5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openers is one of the clearest ways to show a range of sentences, which earns technical accuracy marks.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Question 5 practice: description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crit-head"/>
          <p:cNvSpPr txBox="1"/>
          <p:nvPr/>
        </p:nvSpPr>
        <p:spPr>
          <a:xfrm>
            <a:off x="548640" y="1389888"/>
            <a:ext cx="11094415" cy="5029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criteria: tick what you did</a:t>
            </a:r>
            <a:endParaRPr lang="en-US" sz="1800" dirty="0"/>
          </a:p>
        </p:txBody>
      </p:sp>
      <p:sp>
        <p:nvSpPr>
          <p:cNvPr id="8" name="crit-box"/>
          <p:cNvSpPr/>
          <p:nvPr/>
        </p:nvSpPr>
        <p:spPr>
          <a:xfrm>
            <a:off x="548640" y="198424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9" name="tickbox"/>
          <p:cNvSpPr/>
          <p:nvPr/>
        </p:nvSpPr>
        <p:spPr>
          <a:xfrm>
            <a:off x="713232" y="213893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0" name="crit"/>
          <p:cNvSpPr txBox="1"/>
          <p:nvPr/>
        </p:nvSpPr>
        <p:spPr>
          <a:xfrm>
            <a:off x="1143000" y="198424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drop the reader straight into the scene.</a:t>
            </a:r>
            <a:endParaRPr lang="en-US" sz="2200" dirty="0"/>
          </a:p>
        </p:txBody>
      </p:sp>
      <p:sp>
        <p:nvSpPr>
          <p:cNvPr id="11" name="crit-box"/>
          <p:cNvSpPr/>
          <p:nvPr/>
        </p:nvSpPr>
        <p:spPr>
          <a:xfrm>
            <a:off x="548640" y="267766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12" name="tickbox"/>
          <p:cNvSpPr/>
          <p:nvPr/>
        </p:nvSpPr>
        <p:spPr>
          <a:xfrm>
            <a:off x="713232" y="283235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3" name="crit"/>
          <p:cNvSpPr txBox="1"/>
          <p:nvPr/>
        </p:nvSpPr>
        <p:spPr>
          <a:xfrm>
            <a:off x="1143000" y="267766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show, not tell, using details from at least three senses.</a:t>
            </a:r>
            <a:endParaRPr lang="en-US" sz="2200" dirty="0"/>
          </a:p>
        </p:txBody>
      </p:sp>
      <p:sp>
        <p:nvSpPr>
          <p:cNvPr id="14" name="crit-box"/>
          <p:cNvSpPr/>
          <p:nvPr/>
        </p:nvSpPr>
        <p:spPr>
          <a:xfrm>
            <a:off x="548640" y="337108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15" name="tickbox"/>
          <p:cNvSpPr/>
          <p:nvPr/>
        </p:nvSpPr>
        <p:spPr>
          <a:xfrm>
            <a:off x="713232" y="352577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6" name="crit"/>
          <p:cNvSpPr txBox="1"/>
          <p:nvPr/>
        </p:nvSpPr>
        <p:spPr>
          <a:xfrm>
            <a:off x="1143000" y="337108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include a clear shift in focus, time or mood.</a:t>
            </a:r>
            <a:endParaRPr lang="en-US" sz="2200" dirty="0"/>
          </a:p>
        </p:txBody>
      </p:sp>
      <p:sp>
        <p:nvSpPr>
          <p:cNvPr id="17" name="crit-box"/>
          <p:cNvSpPr/>
          <p:nvPr/>
        </p:nvSpPr>
        <p:spPr>
          <a:xfrm>
            <a:off x="548640" y="406450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18" name="tickbox"/>
          <p:cNvSpPr/>
          <p:nvPr/>
        </p:nvSpPr>
        <p:spPr>
          <a:xfrm>
            <a:off x="713232" y="421919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19" name="crit"/>
          <p:cNvSpPr txBox="1"/>
          <p:nvPr/>
        </p:nvSpPr>
        <p:spPr>
          <a:xfrm>
            <a:off x="1143000" y="406450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 a range of sentence openers and lengths.</a:t>
            </a:r>
            <a:endParaRPr lang="en-US" sz="2200" dirty="0"/>
          </a:p>
        </p:txBody>
      </p:sp>
      <p:sp>
        <p:nvSpPr>
          <p:cNvPr id="20" name="crit-box"/>
          <p:cNvSpPr/>
          <p:nvPr/>
        </p:nvSpPr>
        <p:spPr>
          <a:xfrm>
            <a:off x="548640" y="475792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21" name="tickbox"/>
          <p:cNvSpPr/>
          <p:nvPr/>
        </p:nvSpPr>
        <p:spPr>
          <a:xfrm>
            <a:off x="713232" y="491261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22" name="crit"/>
          <p:cNvSpPr txBox="1"/>
          <p:nvPr/>
        </p:nvSpPr>
        <p:spPr>
          <a:xfrm>
            <a:off x="1143000" y="475792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 accurate punctuation, including at least one semicolon.</a:t>
            </a:r>
            <a:endParaRPr lang="en-US" sz="2200" dirty="0"/>
          </a:p>
        </p:txBody>
      </p:sp>
      <p:sp>
        <p:nvSpPr>
          <p:cNvPr id="23" name="crit-box"/>
          <p:cNvSpPr/>
          <p:nvPr/>
        </p:nvSpPr>
        <p:spPr>
          <a:xfrm>
            <a:off x="548640" y="5451348"/>
            <a:ext cx="11094415" cy="601980"/>
          </a:xfrm>
          <a:prstGeom prst="roundRect">
            <a:avLst>
              <a:gd name="adj" fmla="val 15190"/>
            </a:avLst>
          </a:prstGeom>
          <a:solidFill>
            <a:srgbClr val="F2E8E9"/>
          </a:solidFill>
          <a:ln/>
        </p:spPr>
      </p:sp>
      <p:sp>
        <p:nvSpPr>
          <p:cNvPr id="24" name="tickbox"/>
          <p:cNvSpPr/>
          <p:nvPr/>
        </p:nvSpPr>
        <p:spPr>
          <a:xfrm>
            <a:off x="713232" y="5606034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8C2F39"/>
            </a:solidFill>
            <a:prstDash val="solid"/>
          </a:ln>
        </p:spPr>
      </p:sp>
      <p:sp>
        <p:nvSpPr>
          <p:cNvPr id="25" name="crit"/>
          <p:cNvSpPr txBox="1"/>
          <p:nvPr/>
        </p:nvSpPr>
        <p:spPr>
          <a:xfrm>
            <a:off x="1143000" y="5451348"/>
            <a:ext cx="10317175" cy="6019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choose ambitious, precise vocabulary.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answer: Question 5 practice: description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model-panel"/>
          <p:cNvSpPr/>
          <p:nvPr/>
        </p:nvSpPr>
        <p:spPr>
          <a:xfrm>
            <a:off x="1463040" y="1389888"/>
            <a:ext cx="9265615" cy="4754880"/>
          </a:xfrm>
          <a:prstGeom prst="roundRect">
            <a:avLst>
              <a:gd name="adj" fmla="val 962"/>
            </a:avLst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model-tab"/>
          <p:cNvSpPr/>
          <p:nvPr/>
        </p:nvSpPr>
        <p:spPr>
          <a:xfrm>
            <a:off x="1645920" y="1554480"/>
            <a:ext cx="201168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answer</a:t>
            </a:r>
            <a:endParaRPr lang="en-US" sz="1800" dirty="0"/>
          </a:p>
        </p:txBody>
      </p:sp>
      <p:sp>
        <p:nvSpPr>
          <p:cNvPr id="9" name="model"/>
          <p:cNvSpPr txBox="1"/>
          <p:nvPr/>
        </p:nvSpPr>
        <p:spPr>
          <a:xfrm>
            <a:off x="1691640" y="2167128"/>
            <a:ext cx="8808415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four. Rain drums on the glass roof, and the departure board flickers green, then dies, then flickers again. A cleaner pushes a mop in slow circles; the smell of bleach hangs in the cold air. Under the clock, a man in a grey suit grips a paper cup as if it were the last warm thing in the city.</a:t>
            </a:r>
            <a:endParaRPr lang="en-US" sz="2200" dirty="0"/>
          </a:p>
          <a:p>
            <a:pPr algn="l" indent="0" marL="0">
              <a:buNone/>
            </a:pP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Suddenly, the whistle shrieks. Doors slam along the train like a row of falling dominoes. The man drops his cup, runs, and is swallowed by the carriage. Then the platform is empty again: just the mop, the rain, and one paper cup rolling gently towards the edge.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marks is Question 5 worth?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 40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E4E5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8C2F39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 is worth 40 marks: 24 for content and organisation, 16 for technical accuracy.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7E2A3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english">
  <a:themeElements>
    <a:clrScheme name="Ad Astra english">
      <a:dk1>
        <a:srgbClr val="1E2229"/>
      </a:dk1>
      <a:lt1>
        <a:srgbClr val="FFFFFF"/>
      </a:lt1>
      <a:dk2>
        <a:srgbClr val="70262E"/>
      </a:dk2>
      <a:lt2>
        <a:srgbClr val="F0E4E5"/>
      </a:lt2>
      <a:accent1>
        <a:srgbClr val="8C2F39"/>
      </a:accent1>
      <a:accent2>
        <a:srgbClr val="B8862B"/>
      </a:accent2>
      <a:accent3>
        <a:srgbClr val="BA8288"/>
      </a:accent3>
      <a:accent4>
        <a:srgbClr val="815E1E"/>
      </a:accent4>
      <a:accent5>
        <a:srgbClr val="4A505C"/>
      </a:accent5>
      <a:accent6>
        <a:srgbClr val="D9BF8F"/>
      </a:accent6>
      <a:hlink>
        <a:srgbClr val="8C2F39"/>
      </a:hlink>
      <a:folHlink>
        <a:srgbClr val="622128"/>
      </a:folHlink>
    </a:clrScheme>
    <a:fontScheme name="Ad Astra englis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Language Paper 1 · Chapter 6: Question 5: your own description or story</dc:title>
  <dc:subject>English Language · Year 10</dc:subject>
  <dc:creator>Dr Vitor Merissi de Carvalho</dc:creator>
  <cp:lastModifiedBy>Dr Vitor Merissi de Carvalho</cp:lastModifiedBy>
  <cp:revision>1</cp:revision>
  <dcterms:created xsi:type="dcterms:W3CDTF">2026-10-19T06:07:25Z</dcterms:created>
  <dcterms:modified xsi:type="dcterms:W3CDTF">2026-10-19T06:07:25Z</dcterms:modified>
</cp:coreProperties>
</file>