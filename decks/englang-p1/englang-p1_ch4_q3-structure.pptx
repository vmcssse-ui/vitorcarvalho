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68c2c6-22f3-166e-df97-e38299cb535f}">
          <p14:sldIdLst>
            <p14:sldId id="256"/>
          </p14:sldIdLst>
        </p14:section>
        <p14:section name="Gate" id="{3e7c8e14-7f28-2004-f906-96db0f3e3135}">
          <p14:sldIdLst>
            <p14:sldId id="257"/>
            <p14:sldId id="258"/>
          </p14:sldIdLst>
        </p14:section>
        <p14:section name="Pre-teach" id="{67445928-b255-92e4-04a0-94c6f62ab9f5}">
          <p14:sldIdLst>
            <p14:sldId id="259"/>
            <p14:sldId id="260"/>
          </p14:sldIdLst>
        </p14:section>
        <p14:section name="Read-along" id="{0b8d75ec-24b5-37c0-b5e8-91df329e8e9b}">
          <p14:sldIdLst>
            <p14:sldId id="261"/>
            <p14:sldId id="262"/>
          </p14:sldIdLst>
        </p14:section>
        <p14:section name="Teach" id="{b9396f42-5cc8-d110-c22f-5ba62952f333}">
          <p14:sldIdLst>
            <p14:sldId id="263"/>
            <p14:sldId id="264"/>
            <p14:sldId id="265"/>
            <p14:sldId id="266"/>
            <p14:sldId id="267"/>
            <p14:sldId id="268"/>
          </p14:sldIdLst>
        </p14:section>
        <p14:section name="Routes" id="{8cc11c32-d6b3-b3b8-8bc1-fb9523932ca2}">
          <p14:sldIdLst>
            <p14:sldId id="269"/>
            <p14:sldId id="270"/>
            <p14:sldId id="271"/>
            <p14:sldId id="272"/>
          </p14:sldIdLst>
        </p14:section>
        <p14:section name="Close" id="{c8665641-1254-9d7c-6bad-b5f6812e3599}">
          <p14:sldIdLst>
            <p14:sldId id="273"/>
          </p14:sldIdLst>
        </p14:section>
        <p14:section name="Answers" id="{742a06bc-94b6-18d7-a335-73fe9096cfcb}">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Question 3: how the writer structures the whole source. You will track how the focus moves from beginning to end, and explain how the writer’s structural choices create one effect.
This deck covers the department's lessons: 2 (Language Paper 1: Question 3: What do we mean by structure, and how do structural devices create effects?); 7 (Language Paper 1 – 2026: Question 3: How has the writer structured the whole text to create one particular effect?).
Read the big question aloud: "What does Paper 1 involve, and how do I read and prepare a text so I know the story being told?"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structural feature?  →  D   Flashback
2. Moving from a wide view of a setting to one small detail is called zooming ___.  →  in
3. Question 3 asks you to write about…  →  D   the structure of the whole source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Flashback. A flashback changes the order of time, so it is about structure. The others are language features.
2. in. Zooming in narrows the focus from the wide setting to a detail.
3. D   the structure of the whole source. Question 3 covers the whole source: beginning, middle and end.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structure: how a writer orders and organises a text. Example: "Question 3 is about the structure of the whole source."
• focus: what the reader is looking at in that moment. Example: "At the start, the focus is on the empty harbour."
• shift: a change in focus, time, place or mood. Example: "There is a shift when a voice suddenly speaks behind Nell."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flashback: a jump back to an earlier time. Example: "Nell’s memory of the kitchen is a flashback."
• foreshadowing: a hint about what will happen later. Example: "The bruised sky is foreshadowing of the storm to come."
• tension: a feeling of worry or suspense. Example: "Waiting for the ferry builds tension."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Question 3 is about structure.
2. Structure is how a writer orders a text.
3. It is worth eight marks.
4. This time, you think about the whole source.
5. Ask what we see at the beginning.
6. Ask where the focus changes, and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writer might zoom in from a wide place to one small detail.
8. A writer might jump back in time with a flashback.
9. Dialogue can slow things down or raise the tension.
10. The question names one effect, such as building tension.
11. Every point you make should link back to that effect.
12. Write about the opening, then the middle, then the end.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structure means. Say it in your own words, then check understanding with a quick question: ask a pupil from the pre-teach group first, since they met these words and ideas before the lesson. Pupils try to recall before you re-explain.
Language is about words; structure is about order. Question 3 (8 marks) asks how the writer has structured the whole source. From the 2026 exams, the question names one effect to write about, for example how the writer builds tension or creates a contrast.
Start simple. What is happening at the beginning? Where does that change, and how? Repeat for the middle and the end. Then put names to what you notice: a shift in focus, zooming in or out, a flashback, dialogue, a turning point, a change in pace, an ending that echoes the opening.
Here is the middle of ‘The Last Ferry’. Notice how the focus changes from the harbour, to a conversation, to a memory.
Quotation: "‘You’ll not get across tonight,’ said a voice behind her. Mr Pryce, the harbour master, stood with his hands deep in his pockets, his face creased like an old map. ‘Sea’s too high. The captain will turn back.’ ‘He won’t,’ said Nell. ‘And how would you know that?’ She did not answer. Instead, she thought of that morning: her grandmother’s kitchen, warm and yellow, the kettle muttering on the stove. Gran had pressed a paper bag of scones into her hands and said nothing at all. She had simply held Nell’s face for a long moment, the way you might hold a cup to stop it spilling. Nell had wanted to say sorry. She had wanted to promise that the city would not change her. The words had stuck in her throat like stones. Now the wind snatched at the memory and carried it away." (‘The Last Ferry’, Part 2 — original passage written for Ad Astra). Read it aloud; ask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structure means. Say it in your own words, then check understanding with a quick question: ask a pupil from the pre-teach group first, since they met these words and ideas before the lesson. Pupils try to recall before you re-explain.
Language is about words; structure is about order. Question 3 (8 marks) asks how the writer has structured the whole source. From the 2026 exams, the question names one effect to write about, for example how the writer builds tension or creates a contrast.
Start simple. What is happening at the beginning? Where does that change, and how? Repeat for the middle and the end. Then put names to what you notice: a shift in focus, zooming in or out, a flashback, dialogue, a turning point, a change in pace, an ending that echoes the opening.
Here is the middle of ‘The Last Ferry’. Notice how the focus changes from the harbour, to a conversation, to a memory.
Quotation: "‘You’ll not get across tonight,’ said a voice behind her. Mr Pryce, the harbour master, stood with his hands deep in his pockets, his face creased like an old map. ‘Sea’s too high. The captain will turn back.’ ‘He won’t,’ said Nell. ‘And how would you know that?’ She did not answer. Instead, she thought of that morning: her grandmother’s kitchen, warm and yellow, the kettle muttering on the stove. Gran had pressed a paper bag of scones into her hands and said nothing at all. She had simply held Nell’s face for a long moment, the way you might hold a cup to stop it spilling. Nell had wanted to say sorry. She had wanted to promise that the city would not change her. The words had stuck in her throat like stones. Now the wind snatched at the memory and carried it away." (‘The Last Ferry’, Part 2 — original passage written for Ad Astra). Read it aloud; ask what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Follow the focus: beginning, middle, end. Say it in your own words, then check understanding with a quick question: ask a pupil from the pre-teach group first, since they met these words and ideas before the lesson. Pupils try to recall before you re-explain.
Beginning: the story opens wide, on “The harbour was empty except for the wind”, then zooms in to one girl and one suitcase “At the very end of the jetty”. The last sentence of Part 1 tells us what she is waiting for, so we start waiting with her.
Middle: a voice interrupts. The dialogue with Mr Pryce raises a doubt (will the ferry come?). Then a flashback takes us into the warm kitchen, which contrasts with the cold harbour and tells us what Nell is leaving behind.
End: the horn is a turning point. The pace quickens with short actions, then slows on one final image. Here is the ending.
Quotation: "Then, out of the darkness, came a low groan. The ferry’s horn. Its lights swung round the headland, small and yellow and stubborn, rising and falling with every wave. Mr Pryce let out a long whistle. ‘Well,’ he said quietly. ‘I never.’ The boat bumped against the jetty. Ropes were thrown. A man in an orange jacket held out his hand, and Nell took it. As the engines roared and the island began to slide away, she turned. Every window in the village was dark except one. High on the hill, in her grandmother’s kitchen, a single lamp was burning. It did not flicker. It did not fade. Nell watched it until the rain finally came and swallowed it whole. Only then did she open the paper bag." (‘The Last Ferry’, Part 3 — original passage written for Ad Astra). Read it aloud; ask what it shows.
Tip: Divide the source into beginning, middle and end on your first read. You will need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Follow the focus: beginning, middle, end. Say it in your own words, then check understanding with a quick question: ask a pupil from the pre-teach group first, since they met these words and ideas before the lesson. Pupils try to recall before you re-explain.
Beginning: the story opens wide, on “The harbour was empty except for the wind”, then zooms in to one girl and one suitcase “At the very end of the jetty”. The last sentence of Part 1 tells us what she is waiting for, so we start waiting with her.
Middle: a voice interrupts. The dialogue with Mr Pryce raises a doubt (will the ferry come?). Then a flashback takes us into the warm kitchen, which contrasts with the cold harbour and tells us what Nell is leaving behind.
End: the horn is a turning point. The pace quickens with short actions, then slows on one final image. Here is the ending.
Quotation: "Then, out of the darkness, came a low groan. The ferry’s horn. Its lights swung round the headland, small and yellow and stubborn, rising and falling with every wave. Mr Pryce let out a long whistle. ‘Well,’ he said quietly. ‘I never.’ The boat bumped against the jetty. Ropes were thrown. A man in an orange jacket held out his hand, and Nell took it. As the engines roared and the island began to slide away, she turned. Every window in the village was dark except one. High on the hill, in her grandmother’s kitchen, a single lamp was burning. It did not flicker. It did not fade. Nell watched it until the rain finally came and swallowed it whole. Only then did she open the paper bag." (‘The Last Ferry’, Part 3 — original passage written for Ad Astra). Read it aloud; ask what it shows.
Tip: Divide the source into beginning, middle and end on your first read. You will need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about structure: What, How, Why. Say it in your own words, then check understanding with a quick question: ask a pupil from the pre-teach group first, since they met these words and ideas before the lesson. Pupils try to recall before you re-explain.
Use the same What, How, Why pattern as Question 2, but point to where and when things happen. What: make a point about how the structure creates the named effect. How: identify the shift or feature, with a reference or short quotation. Why: explain how that choice creates the effect for the reader.
Aim for two or three paragraphs, and make your first one about the opening. Avoid simply retelling the story: every sentence should say what the writer does with the order, not just what happens.
Worked example — model it step by step, thinking aloud: Turn a retelling into a structural point: ‘At the start, Nell is waiting at the harbour.’ (1) What: the opening builds tension by making us wait. (2) How: the focus zooms in from the whole harbour to one girl “At the very end of the jetty”. (3) Why: the last line, “she meant to be on it”, gives us her goal but withholds whether she will reach it. Answer: The opening builds tension by making the reader wait alongside Nell. The focus zooms in from the empty harbour to one girl “At the very end of the jetty”, and the final line of Part 1, “she meant to be on it”, tells us her goal while withholding whether she will reach it..
Tip: Structure answers say where: ‘at the start’, ‘then’,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about structure: What, How, Why. Say it in your own words, then check understanding with a quick question: ask a pupil from the pre-teach group first, since they met these words and ideas before the lesson. Pupils try to recall before you re-explain.
Use the same What, How, Why pattern as Question 2, but point to where and when things happen. What: make a point about how the structure creates the named effect. How: identify the shift or feature, with a reference or short quotation. Why: explain how that choice creates the effect for the reader.
Aim for two or three paragraphs, and make your first one about the opening. Avoid simply retelling the story: every sentence should say what the writer does with the order, not just what happens.
Worked example — model it step by step, thinking aloud: Turn a retelling into a structural point: ‘At the start, Nell is waiting at the harbour.’ (1) What: the opening builds tension by making us wait. (2) How: the focus zooms in from the whole harbour to one girl “At the very end of the jetty”. (3) Why: the last line, “she meant to be on it”, gives us her goal but withholds whether she will reach it. Answer: The opening builds tension by making the reader wait alongside Nell. The focus zooms in from the empty harbour to one girl “At the very end of the jetty”, and the final line of Part 1, “she meant to be on it”, tells us her goal while withholding whether she will reach it..
Tip: Structure answers say where: ‘at the start’, ‘then’,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Track the focus.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focus of ‘The Last Ferry’ in the order it appears.
Support — work through the steps with the group: (1) Part 1 is the beginning: setting first, then Nell. (2) Part 2 is the middle: the conversation comes before the memory. (3) Part 3 is the end: the ferry comes before the final image.
Parallel worked example for Support (model it, do not give the task answer): Order the focus of: “The classroom was silent. Thirty heads bent over thirty papers. Then the fire alarm screamed.” The whole room comes first.; Then the pupils.; Then the interruption.. Answer: The silent room, the pupils working, then the alarm..
Core — reveal the hint only on request: The story begins wide and ends on one small, bright detail.
Stretch — no help; when finished: Find the moment where the focus moves from outside to inside a character’s mind, and explain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Track the focus.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focus of ‘The Last Ferry’ in the order it appears.
Support — work through the steps with the group: (1) Part 1 is the beginning: setting first, then Nell. (2) Part 2 is the middle: the conversation comes before the memory. (3) Part 3 is the end: the ferry comes before the final image.
Parallel worked example for Support (model it, do not give the task answer): Order the focus of: “The classroom was silent. Thirty heads bent over thirty papers. Then the fire alarm screamed.” The whole room comes first.; Then the pupils.; Then the interruption.. Answer: The silent room, the pupils working, then the alarm..
Core — reveal the hint only on request: The story begins wide and ends on one small, bright detail.
Stretch — no help; when finished: Find the moment where the focus moves from outside to inside a character’s mind, and explain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structural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structural feature to the moment in ‘The Last Ferry’ where it is used.
Support — work through the steps with the group: (1) Zooming in narrows from wide to small. (2) Dialogue is people speaking. (3) A flashback goes back in time. (4) A turning point changes the direction of the story. (5) A cyclical echo makes the ending mirror the opening.
Parallel worked example for Support (model it, do not give the task answer): In “The classroom was silent. Thirty heads bent over thirty papers. Then the fire alarm screamed.”, which feature is the alarm? Everything before it is calm.; The alarm changes the direction suddenly.. Answer: A turning point (a sudden shift)..
Core — reveal the hint only on request: Compare “the lamps flickered weakly” in Part 1 with “It did not flicker.” in Part 3.
Stretch — no help; when finished: Choose two features and explain how they work together to build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Name the structural feature.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structural feature to the moment in ‘The Last Ferry’ where it is used.
Support — work through the steps with the group: (1) Zooming in narrows from wide to small. (2) Dialogue is people speaking. (3) A flashback goes back in time. (4) A turning point changes the direction of the story. (5) A cyclical echo makes the ending mirror the opening.
Parallel worked example for Support (model it, do not give the task answer): In “The classroom was silent. Thirty heads bent over thirty papers. Then the fire alarm screamed.”, which feature is the alarm? Everything before it is calm.; The alarm changes the direction suddenly.. Answer: A turning point (a sudden shift)..
Core — reveal the hint only on request: Compare “the lamps flickered weakly” in Part 1 with “It did not flicker.” in Part 3.
Stretch — no help; when finished: Choose two features and explain how they work together to build 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structural feature?
Answer: C   Flashback. A flashback changes the order of time, so it is about structure. The others are language features.
Source of this question: gate item 1 re-asked (options rotated) — this chapter has no third quick-check module.
The ebook also holds task 3, "Question 3 practice answer",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Track the focus. Reveal the answer; pupils mark their own work in a different colour, then read the "why" together. Same destination for every lane, so one answer serves the whole class.
Answer: The empty harbour and the wind  (E); Nell waiting alone at the end of the jetty  (D); Mr Pryce warning that the ferry may not sail  (A); Nell’s memory of her grandmother’s kitchen  (C); The ferry arriving and Nell boarding  (B); The single lamp in her grandmother’s window  (F)
Why: Wide setting, then Nell; dialogue, then flashback; the ferry, then the lamp. Knowing this order is the backbone of a Question 3 answer.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Name the structural feature. Reveal the answer; pupils mark their own work in a different colour, then read the "why" together. Same destination for every lane, so one answer serves the whole class.
Answer: Zooming in  →  C  From the whole harbour down to one girl beside a suitcase; Dialogue  →  A  Mr Pryce and Nell disagree about whether the ferry will come; Flashback  →  B  Nell remembers that morning in her grandmother’s kitchen; Turning point  →  E  The ferry’s horn sounds out of the darkness; Cyclical echo  →  D  The lamps that flickered at the start become a lamp that does not flicker
Why: Each structural feature is a choice about order: where to look, when to speak, when to go back in time, and how to end.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Flashback
Why: A flashback changes the order of time, so it is about structure. The others are language features.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2CBCE"/>
          </a:solidFill>
          <a:ln w="12700">
            <a:solidFill>
              <a:srgbClr val="E2CBC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10 · Language Paper 1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5CFD1"/>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Language Paper 1 · AQA 8700</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Question 3: how the writer structures the whole source</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0E4E5"/>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Question 3</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Language Paper 1 – 2026: Question 3</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E4E5"/>
          </a:solidFill>
          <a:ln w="12700">
            <a:solidFill>
              <a:srgbClr val="CEA6A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does Paper 1 involve, and how do I read and prepare a text so I know the story being told?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structural feature?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Alliteration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Adjective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Simile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Flashback</a:t>
            </a:r>
            <a:endParaRPr lang="en-US" sz="2400" dirty="0"/>
          </a:p>
        </p:txBody>
      </p:sp>
      <p:sp>
        <p:nvSpPr>
          <p:cNvPr id="12"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Moving from a wide view of a setting to one small detail is called zooming ___.</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  ·  out  ·  round</a:t>
            </a:r>
            <a:endParaRPr lang="en-US" sz="2400" dirty="0"/>
          </a:p>
        </p:txBody>
      </p:sp>
      <p:sp>
        <p:nvSpPr>
          <p:cNvPr id="17"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Question 3 asks you to write about…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 sentence only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own story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writer’s life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structure of the whole source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EAEB"/>
          </a:solidFill>
          <a:ln w="12700">
            <a:solidFill>
              <a:srgbClr val="D3B0B4"/>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Flashback</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is a structural feature?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flashback changes the order of time, so it is about structure. The others are language features.</a:t>
            </a:r>
            <a:endParaRPr lang="en-US" sz="2200" dirty="0"/>
          </a:p>
        </p:txBody>
      </p:sp>
      <p:sp>
        <p:nvSpPr>
          <p:cNvPr id="14" name="card"/>
          <p:cNvSpPr/>
          <p:nvPr/>
        </p:nvSpPr>
        <p:spPr>
          <a:xfrm>
            <a:off x="4338218" y="1389888"/>
            <a:ext cx="3515258" cy="4754880"/>
          </a:xfrm>
          <a:prstGeom prst="roundRect">
            <a:avLst>
              <a:gd name="adj" fmla="val 1561"/>
            </a:avLst>
          </a:prstGeom>
          <a:solidFill>
            <a:srgbClr val="F4EAEB"/>
          </a:solidFill>
          <a:ln w="12700">
            <a:solidFill>
              <a:srgbClr val="D3B0B4"/>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Moving from a wide view of a setting to one small detail is called zooming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Zooming in narrows the focus from the wide setting to a detail.</a:t>
            </a:r>
            <a:endParaRPr lang="en-US" sz="2200" dirty="0"/>
          </a:p>
        </p:txBody>
      </p:sp>
      <p:sp>
        <p:nvSpPr>
          <p:cNvPr id="21" name="card"/>
          <p:cNvSpPr/>
          <p:nvPr/>
        </p:nvSpPr>
        <p:spPr>
          <a:xfrm>
            <a:off x="8127797" y="1389888"/>
            <a:ext cx="3515258" cy="4754880"/>
          </a:xfrm>
          <a:prstGeom prst="roundRect">
            <a:avLst>
              <a:gd name="adj" fmla="val 1561"/>
            </a:avLst>
          </a:prstGeom>
          <a:solidFill>
            <a:srgbClr val="F4EAEB"/>
          </a:solidFill>
          <a:ln w="12700">
            <a:solidFill>
              <a:srgbClr val="D3B0B4"/>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955040"/>
          </a:xfrm>
          <a:prstGeom prst="roundRect">
            <a:avLst>
              <a:gd name="adj" fmla="val 11489"/>
            </a:avLst>
          </a:prstGeom>
          <a:solidFill>
            <a:srgbClr val="EBDDC4"/>
          </a:solidFill>
          <a:ln w="19050">
            <a:solidFill>
              <a:srgbClr val="B8862B"/>
            </a:solidFill>
            <a:prstDash val="solid"/>
          </a:ln>
        </p:spPr>
      </p:sp>
      <p:sp>
        <p:nvSpPr>
          <p:cNvPr id="26" name="answer"/>
          <p:cNvSpPr txBox="1"/>
          <p:nvPr/>
        </p:nvSpPr>
        <p:spPr>
          <a:xfrm>
            <a:off x="8402117"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structure of the whole source</a:t>
            </a:r>
            <a:endParaRPr lang="en-US" sz="2200" dirty="0"/>
          </a:p>
        </p:txBody>
      </p:sp>
      <p:sp>
        <p:nvSpPr>
          <p:cNvPr id="27" name="card-body"/>
          <p:cNvSpPr txBox="1"/>
          <p:nvPr/>
        </p:nvSpPr>
        <p:spPr>
          <a:xfrm>
            <a:off x="8310677"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Question 3 asks you to write about…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Question 3 covers the whole source: beginning, middle and 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structure</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a writer orders and organises a text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Question 3 is about the structure of the whole source.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focus</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the reader is looking at in that moment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the start, the focus is on the empty harbour.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shift</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change in focus, time, place or mood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is a shift when a voice suddenly speaks behind Nell.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2E8E9"/>
          </a:solidFill>
          <a:ln w="12700">
            <a:solidFill>
              <a:srgbClr val="CEA6AA"/>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flashback</a:t>
            </a:r>
            <a:endParaRPr lang="en-US" sz="2600" dirty="0"/>
          </a:p>
        </p:txBody>
      </p:sp>
      <p:sp>
        <p:nvSpPr>
          <p:cNvPr id="11" name="word-rule"/>
          <p:cNvSpPr/>
          <p:nvPr/>
        </p:nvSpPr>
        <p:spPr>
          <a:xfrm>
            <a:off x="731520" y="2129028"/>
            <a:ext cx="3149498" cy="0"/>
          </a:xfrm>
          <a:prstGeom prst="line">
            <a:avLst/>
          </a:prstGeom>
          <a:ln w="12700">
            <a:solidFill>
              <a:srgbClr val="CEA6AA"/>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jump back to an earlier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Nell’s memory of the kitchen is a flashback.</a:t>
            </a:r>
            <a:endParaRPr lang="en-US" sz="2200" dirty="0"/>
          </a:p>
        </p:txBody>
      </p:sp>
      <p:sp>
        <p:nvSpPr>
          <p:cNvPr id="13" name="word-card"/>
          <p:cNvSpPr/>
          <p:nvPr/>
        </p:nvSpPr>
        <p:spPr>
          <a:xfrm>
            <a:off x="4338218" y="1389888"/>
            <a:ext cx="3515258" cy="4754880"/>
          </a:xfrm>
          <a:prstGeom prst="roundRect">
            <a:avLst>
              <a:gd name="adj" fmla="val 1561"/>
            </a:avLst>
          </a:prstGeom>
          <a:solidFill>
            <a:srgbClr val="F2E8E9"/>
          </a:solidFill>
          <a:ln w="12700">
            <a:solidFill>
              <a:srgbClr val="CEA6AA"/>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foreshadowing</a:t>
            </a:r>
            <a:endParaRPr lang="en-US" sz="2600" dirty="0"/>
          </a:p>
        </p:txBody>
      </p:sp>
      <p:sp>
        <p:nvSpPr>
          <p:cNvPr id="17" name="word-rule"/>
          <p:cNvSpPr/>
          <p:nvPr/>
        </p:nvSpPr>
        <p:spPr>
          <a:xfrm>
            <a:off x="4521098" y="2129028"/>
            <a:ext cx="3149498" cy="0"/>
          </a:xfrm>
          <a:prstGeom prst="line">
            <a:avLst/>
          </a:prstGeom>
          <a:ln w="12700">
            <a:solidFill>
              <a:srgbClr val="CEA6AA"/>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hint about what will happen later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bruised sky is foreshadowing of the storm to come.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2E8E9"/>
          </a:solidFill>
          <a:ln w="12700">
            <a:solidFill>
              <a:srgbClr val="CEA6AA"/>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tension</a:t>
            </a:r>
            <a:endParaRPr lang="en-US" sz="2600" dirty="0"/>
          </a:p>
        </p:txBody>
      </p:sp>
      <p:sp>
        <p:nvSpPr>
          <p:cNvPr id="23" name="word-rule"/>
          <p:cNvSpPr/>
          <p:nvPr/>
        </p:nvSpPr>
        <p:spPr>
          <a:xfrm>
            <a:off x="8310677" y="2129028"/>
            <a:ext cx="3149498" cy="0"/>
          </a:xfrm>
          <a:prstGeom prst="line">
            <a:avLst/>
          </a:prstGeom>
          <a:ln w="12700">
            <a:solidFill>
              <a:srgbClr val="CEA6AA"/>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feeling of worry or suspense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Waiting for the ferry builds tension.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Question 3 is about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structure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Structure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how a writer orders a text.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is worth eight marks.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time, you think about the whole source.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Ask what we see at the beginning.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Ask where 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focus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changes, and why.</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EAEB"/>
          </a:solidFill>
          <a:ln w="12700">
            <a:solidFill>
              <a:srgbClr val="D9BAB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writer might zoom in from a wide place to one small detail.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writer might jump back in time with a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flashback</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Dialogue can slow things down or raise the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tension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question names one effect, such as building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tension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 point you make should link back to that effect.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Write about the opening, then the middle, then the end.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structure means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0E4E5"/>
          </a:solidFill>
          <a:ln/>
        </p:spPr>
      </p:sp>
      <p:sp>
        <p:nvSpPr>
          <p:cNvPr id="8" name="point-hex"/>
          <p:cNvSpPr/>
          <p:nvPr/>
        </p:nvSpPr>
        <p:spPr>
          <a:xfrm>
            <a:off x="731520" y="1572768"/>
            <a:ext cx="685800" cy="593903"/>
          </a:xfrm>
          <a:prstGeom prst="hexagon">
            <a:avLst/>
          </a:prstGeom>
          <a:solidFill>
            <a:srgbClr val="8C2F39"/>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Language is about words; structure is about order. Question 3 (8 marks) asks how the writer has structured the whole source.</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4EDDF"/>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Start simple. What is happening at the beginning?</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0E4E5"/>
          </a:solidFill>
          <a:ln/>
        </p:spPr>
      </p:sp>
      <p:sp>
        <p:nvSpPr>
          <p:cNvPr id="16" name="point-hex"/>
          <p:cNvSpPr/>
          <p:nvPr/>
        </p:nvSpPr>
        <p:spPr>
          <a:xfrm>
            <a:off x="8310677" y="1572768"/>
            <a:ext cx="685800" cy="593903"/>
          </a:xfrm>
          <a:prstGeom prst="hexagon">
            <a:avLst/>
          </a:prstGeom>
          <a:solidFill>
            <a:srgbClr val="8C2F39"/>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middle of ‘The Last Ferry’. Notice how the focus changes from the harbour, to a conversation, to a memory.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structure means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‘You’ll not get across tonight,’ said a voice behind her. Mr Pryce, the harbour master, stood with his hands deep in his pockets, his face creased like an old map. ‘Sea’s too high. The captain will turn back.’ ‘He won’t,’ said Nell. ‘And how would you know that?’ She did not answer. Instead, she thought of that morning: her grandmother’s kitchen, warm and yellow, the kettle muttering on the stove. Gran had pressed a paper bag of scones into her hands and said nothing at all. She had simply held Nell’s face for a long moment, the way you might hold a cup to stop it spilling. Nell had wanted to say sorry. She had wanted to promise that the city would not change her. The words had stuck in her throat like stones. Now the wind snatched at the memory and carried it away.</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2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Follow the focus: beginning, middle, end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Divide the source into beginning, middle and end on your first read. You will need it here.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Beginning: the story opens wide, on “The harbour was empty except for the wind”, then zooms in to one girl and one suitcase “At the very end of the jetty”.</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Middle: a voice interrupts. The dialogue with Mr Pryce raises a doubt (will the ferry come?).</a:t>
            </a:r>
            <a:endParaRPr lang="en-US" sz="2200" dirty="0"/>
          </a:p>
        </p:txBody>
      </p:sp>
      <p:sp>
        <p:nvSpPr>
          <p:cNvPr id="19" name="point-card"/>
          <p:cNvSpPr/>
          <p:nvPr/>
        </p:nvSpPr>
        <p:spPr>
          <a:xfrm>
            <a:off x="8127797" y="1389888"/>
            <a:ext cx="3515258" cy="3964940"/>
          </a:xfrm>
          <a:prstGeom prst="roundRect">
            <a:avLst>
              <a:gd name="adj" fmla="val 1561"/>
            </a:avLst>
          </a:prstGeom>
          <a:solidFill>
            <a:srgbClr val="F0E4E5"/>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End: the horn is a turning point. The pace quickens with short actions, then slows on one final image.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Follow the focus: beginning, middle, end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0E4E5"/>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200" i="1" dirty="0">
                <a:solidFill>
                  <a:srgbClr val="1E2229"/>
                </a:solidFill>
                <a:latin typeface="Cambria" pitchFamily="34" charset="0"/>
                <a:ea typeface="Cambria" pitchFamily="34" charset="-122"/>
                <a:cs typeface="Cambria" pitchFamily="34" charset="-120"/>
              </a:rPr>
              <a:t>Then, out of the darkness, came a low groan. The ferry’s horn. Its lights swung round the headland, small and yellow and stubborn, rising and falling with every wave. Mr Pryce let out a long whistle. ‘Well,’ he said quietly. ‘I never.’ The boat bumped against the jetty. Ropes were thrown. A man in an orange jacket held out his hand, and Nell took it. As the engines roared and the island began to slide away, she turned. Every window in the village was dark except one. High on the hill, in her grandmother’s kitchen, a single lamp was burning. It did not flicker. It did not fade. Nell watched it until the rain finally came and swallowed it whole. Only then did she open the paper bag.</a:t>
            </a:r>
            <a:endParaRPr lang="en-US" sz="2200" dirty="0"/>
          </a:p>
          <a:p>
            <a:pPr algn="l" indent="0" marL="0">
              <a:buNone/>
            </a:pPr>
            <a:r>
              <a:rPr lang="en-US" sz="1800" dirty="0">
                <a:solidFill>
                  <a:srgbClr val="4A505C"/>
                </a:solidFill>
                <a:latin typeface="Calibri" pitchFamily="34" charset="0"/>
                <a:ea typeface="Calibri" pitchFamily="34" charset="-122"/>
                <a:cs typeface="Calibri" pitchFamily="34" charset="-120"/>
              </a:rPr>
              <a:t>— ‘The Last Ferry’, Part 3 — original passage written for Ad Astra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Writing about structure: What, How,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Structure answers say where: ‘at the start’, ‘then’, ‘by the end’.</a:t>
            </a:r>
            <a:endParaRPr lang="en-US" sz="1800" dirty="0"/>
          </a:p>
        </p:txBody>
      </p:sp>
      <p:sp>
        <p:nvSpPr>
          <p:cNvPr id="11" name="point-card"/>
          <p:cNvSpPr/>
          <p:nvPr/>
        </p:nvSpPr>
        <p:spPr>
          <a:xfrm>
            <a:off x="548640" y="1389888"/>
            <a:ext cx="5410048" cy="3964940"/>
          </a:xfrm>
          <a:prstGeom prst="roundRect">
            <a:avLst>
              <a:gd name="adj" fmla="val 1384"/>
            </a:avLst>
          </a:prstGeom>
          <a:solidFill>
            <a:srgbClr val="F0E4E5"/>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Use the same What, How, Why pattern as Question 2, but point to where and when things happen.</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Aim for two or three paragraphs, and make your first one about the opening.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8C2F39"/>
                </a:solidFill>
                <a:latin typeface="Cambria" pitchFamily="34" charset="0"/>
                <a:ea typeface="Cambria" pitchFamily="34" charset="-122"/>
                <a:cs typeface="Cambria" pitchFamily="34" charset="-120"/>
              </a:rPr>
              <a:t>Worked example: Writing about structure: What, How, Why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0E4E5"/>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Turn a retelling into a structural point: ‘At the start, Nell is waiting at the harbour.’</a:t>
            </a:r>
            <a:endParaRPr lang="en-US" sz="2200" dirty="0"/>
          </a:p>
        </p:txBody>
      </p:sp>
      <p:sp>
        <p:nvSpPr>
          <p:cNvPr id="9" name="step-box"/>
          <p:cNvSpPr/>
          <p:nvPr/>
        </p:nvSpPr>
        <p:spPr>
          <a:xfrm>
            <a:off x="548640" y="2314956"/>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424684"/>
            <a:ext cx="530352" cy="459285"/>
          </a:xfrm>
          <a:prstGeom prst="hexagon">
            <a:avLst/>
          </a:prstGeom>
          <a:solidFill>
            <a:srgbClr val="8C2F39"/>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What: the opening builds tension by making us wait.</a:t>
            </a:r>
            <a:endParaRPr lang="en-US" sz="1800" dirty="0"/>
          </a:p>
        </p:txBody>
      </p:sp>
      <p:sp>
        <p:nvSpPr>
          <p:cNvPr id="13" name="arrow"/>
          <p:cNvSpPr/>
          <p:nvPr/>
        </p:nvSpPr>
        <p:spPr>
          <a:xfrm>
            <a:off x="4045610" y="3164840"/>
            <a:ext cx="274320" cy="274320"/>
          </a:xfrm>
          <a:prstGeom prst="rightArrow">
            <a:avLst/>
          </a:prstGeom>
          <a:solidFill>
            <a:srgbClr val="B8862B"/>
          </a:solidFill>
          <a:ln/>
        </p:spPr>
      </p:sp>
      <p:sp>
        <p:nvSpPr>
          <p:cNvPr id="14" name="step-box"/>
          <p:cNvSpPr/>
          <p:nvPr/>
        </p:nvSpPr>
        <p:spPr>
          <a:xfrm>
            <a:off x="4383938" y="2314956"/>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2424684"/>
            <a:ext cx="530352" cy="459285"/>
          </a:xfrm>
          <a:prstGeom prst="hexagon">
            <a:avLst/>
          </a:prstGeom>
          <a:solidFill>
            <a:srgbClr val="8C2F39"/>
          </a:solidFill>
          <a:ln/>
        </p:spPr>
      </p:sp>
      <p:sp>
        <p:nvSpPr>
          <p:cNvPr id="16" name="step-hex-label"/>
          <p:cNvSpPr txBox="1"/>
          <p:nvPr/>
        </p:nvSpPr>
        <p:spPr>
          <a:xfrm>
            <a:off x="452109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How: the focus zooms in from the whole harbour to one girl “At the very end of the jetty”.</a:t>
            </a:r>
            <a:endParaRPr lang="en-US" sz="1800" dirty="0"/>
          </a:p>
        </p:txBody>
      </p:sp>
      <p:sp>
        <p:nvSpPr>
          <p:cNvPr id="18" name="arrow"/>
          <p:cNvSpPr/>
          <p:nvPr/>
        </p:nvSpPr>
        <p:spPr>
          <a:xfrm>
            <a:off x="7880909" y="3164840"/>
            <a:ext cx="274320" cy="274320"/>
          </a:xfrm>
          <a:prstGeom prst="rightArrow">
            <a:avLst/>
          </a:prstGeom>
          <a:solidFill>
            <a:srgbClr val="B8862B"/>
          </a:solidFill>
          <a:ln/>
        </p:spPr>
      </p:sp>
      <p:sp>
        <p:nvSpPr>
          <p:cNvPr id="19" name="step-box"/>
          <p:cNvSpPr/>
          <p:nvPr/>
        </p:nvSpPr>
        <p:spPr>
          <a:xfrm>
            <a:off x="8219237" y="2314956"/>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2424684"/>
            <a:ext cx="530352" cy="459285"/>
          </a:xfrm>
          <a:prstGeom prst="hexagon">
            <a:avLst/>
          </a:prstGeom>
          <a:solidFill>
            <a:srgbClr val="8C2F39"/>
          </a:solidFill>
          <a:ln/>
        </p:spPr>
      </p:sp>
      <p:sp>
        <p:nvSpPr>
          <p:cNvPr id="21" name="step-hex-label"/>
          <p:cNvSpPr txBox="1"/>
          <p:nvPr/>
        </p:nvSpPr>
        <p:spPr>
          <a:xfrm>
            <a:off x="8356397"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2909316"/>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Why: the last line, “she meant to be on it”, gives us her goal but withholds whether she will reach it.</a:t>
            </a:r>
            <a:endParaRPr lang="en-US" sz="1800" dirty="0"/>
          </a:p>
        </p:txBody>
      </p:sp>
      <p:sp>
        <p:nvSpPr>
          <p:cNvPr id="23" name="worked-answer"/>
          <p:cNvSpPr/>
          <p:nvPr/>
        </p:nvSpPr>
        <p:spPr>
          <a:xfrm>
            <a:off x="1463040" y="4755896"/>
            <a:ext cx="9265615" cy="1388872"/>
          </a:xfrm>
          <a:prstGeom prst="roundRect">
            <a:avLst>
              <a:gd name="adj" fmla="val 13168"/>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opening builds tension by making the reader wait alongside Nell. The focus zooms in from the empty harbour to one girl “At the very end of the jetty”, and the final line of Part 1, “she meant to be on it”, tells us her goal while withholding whether she will reach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Track the focus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focus of ‘The Last Ferry’ in the order it appears.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Mr Pryce warning that the ferry may not sail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ferry arriving and Nell boarding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Nell’s memory of her grandmother’s kitchen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Nell waiting alone at the end of the jetty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empty harbour and the wind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single lamp in her grandmother’s window</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Track the focus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focus of ‘The Last Ferry’ in the order it appears.</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E4E5"/>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Part 1 is the beginning: setting first, then Nell.</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Part 2 is the middle: the conversation comes before the memory.</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Part 3 is the end: the ferry comes before the final image.</a:t>
            </a:r>
            <a:endParaRPr lang="en-US" sz="2000" dirty="0"/>
          </a:p>
        </p:txBody>
      </p:sp>
      <p:sp>
        <p:nvSpPr>
          <p:cNvPr id="17" name="col-Core"/>
          <p:cNvSpPr/>
          <p:nvPr/>
        </p:nvSpPr>
        <p:spPr>
          <a:xfrm>
            <a:off x="4338218" y="2578608"/>
            <a:ext cx="3515258" cy="3566160"/>
          </a:xfrm>
          <a:prstGeom prst="roundRect">
            <a:avLst>
              <a:gd name="adj" fmla="val 1561"/>
            </a:avLst>
          </a:prstGeom>
          <a:solidFill>
            <a:srgbClr val="E2CBCE"/>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The story begins wide and ends on one small, bright detail.</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Find the moment where the focus moves from outside to inside a character’s mind, and explain why it matters.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structural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structural feature to the moment in ‘The Last Ferry’ where it is used.</a:t>
            </a:r>
            <a:endParaRPr lang="en-US" sz="2400" dirty="0"/>
          </a:p>
        </p:txBody>
      </p:sp>
      <p:sp>
        <p:nvSpPr>
          <p:cNvPr id="11" name="match-card"/>
          <p:cNvSpPr/>
          <p:nvPr/>
        </p:nvSpPr>
        <p:spPr>
          <a:xfrm>
            <a:off x="777240" y="2672080"/>
            <a:ext cx="3081437" cy="539293"/>
          </a:xfrm>
          <a:prstGeom prst="roundRect">
            <a:avLst>
              <a:gd name="adj" fmla="val 13564"/>
            </a:avLst>
          </a:prstGeom>
          <a:solidFill>
            <a:srgbClr val="F2E8E9"/>
          </a:solidFill>
          <a:ln/>
        </p:spPr>
      </p:sp>
      <p:sp>
        <p:nvSpPr>
          <p:cNvPr id="12" name="match-hex"/>
          <p:cNvSpPr/>
          <p:nvPr/>
        </p:nvSpPr>
        <p:spPr>
          <a:xfrm>
            <a:off x="850392" y="2775434"/>
            <a:ext cx="384048" cy="332586"/>
          </a:xfrm>
          <a:prstGeom prst="hexagon">
            <a:avLst/>
          </a:prstGeom>
          <a:solidFill>
            <a:srgbClr val="8C2F39"/>
          </a:solidFill>
          <a:ln/>
        </p:spPr>
      </p:sp>
      <p:sp>
        <p:nvSpPr>
          <p:cNvPr id="13" name="match-hex-label"/>
          <p:cNvSpPr txBox="1"/>
          <p:nvPr/>
        </p:nvSpPr>
        <p:spPr>
          <a:xfrm>
            <a:off x="850392"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Zooming in</a:t>
            </a:r>
            <a:endParaRPr lang="en-US" sz="1800" dirty="0"/>
          </a:p>
        </p:txBody>
      </p:sp>
      <p:sp>
        <p:nvSpPr>
          <p:cNvPr id="15" name="match-card"/>
          <p:cNvSpPr/>
          <p:nvPr/>
        </p:nvSpPr>
        <p:spPr>
          <a:xfrm>
            <a:off x="4224437" y="2672080"/>
            <a:ext cx="7190019" cy="539293"/>
          </a:xfrm>
          <a:prstGeom prst="roundRect">
            <a:avLst>
              <a:gd name="adj" fmla="val 13564"/>
            </a:avLst>
          </a:prstGeom>
          <a:solidFill>
            <a:srgbClr val="F4EDDF"/>
          </a:solidFill>
          <a:ln/>
        </p:spPr>
      </p:sp>
      <p:sp>
        <p:nvSpPr>
          <p:cNvPr id="16" name="match-hex"/>
          <p:cNvSpPr/>
          <p:nvPr/>
        </p:nvSpPr>
        <p:spPr>
          <a:xfrm>
            <a:off x="4297589" y="2775434"/>
            <a:ext cx="384048" cy="332586"/>
          </a:xfrm>
          <a:prstGeom prst="hexagon">
            <a:avLst/>
          </a:prstGeom>
          <a:solidFill>
            <a:srgbClr val="B8862B"/>
          </a:solidFill>
          <a:ln/>
        </p:spPr>
      </p:sp>
      <p:sp>
        <p:nvSpPr>
          <p:cNvPr id="17" name="match-hex-label"/>
          <p:cNvSpPr txBox="1"/>
          <p:nvPr/>
        </p:nvSpPr>
        <p:spPr>
          <a:xfrm>
            <a:off x="4297589" y="277543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Mr Pryce and Nell disagree about whether the ferry will come</a:t>
            </a:r>
            <a:endParaRPr lang="en-US" sz="1800" dirty="0"/>
          </a:p>
        </p:txBody>
      </p:sp>
      <p:sp>
        <p:nvSpPr>
          <p:cNvPr id="19" name="match-card"/>
          <p:cNvSpPr/>
          <p:nvPr/>
        </p:nvSpPr>
        <p:spPr>
          <a:xfrm>
            <a:off x="777240" y="3302813"/>
            <a:ext cx="3081437" cy="539293"/>
          </a:xfrm>
          <a:prstGeom prst="roundRect">
            <a:avLst>
              <a:gd name="adj" fmla="val 13564"/>
            </a:avLst>
          </a:prstGeom>
          <a:solidFill>
            <a:srgbClr val="F2E8E9"/>
          </a:solidFill>
          <a:ln/>
        </p:spPr>
      </p:sp>
      <p:sp>
        <p:nvSpPr>
          <p:cNvPr id="20" name="match-hex"/>
          <p:cNvSpPr/>
          <p:nvPr/>
        </p:nvSpPr>
        <p:spPr>
          <a:xfrm>
            <a:off x="850392" y="3406166"/>
            <a:ext cx="384048" cy="332586"/>
          </a:xfrm>
          <a:prstGeom prst="hexagon">
            <a:avLst/>
          </a:prstGeom>
          <a:solidFill>
            <a:srgbClr val="8C2F39"/>
          </a:solidFill>
          <a:ln/>
        </p:spPr>
      </p:sp>
      <p:sp>
        <p:nvSpPr>
          <p:cNvPr id="21" name="match-hex-label"/>
          <p:cNvSpPr txBox="1"/>
          <p:nvPr/>
        </p:nvSpPr>
        <p:spPr>
          <a:xfrm>
            <a:off x="850392"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02813"/>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Dialogue</a:t>
            </a:r>
            <a:endParaRPr lang="en-US" sz="1800" dirty="0"/>
          </a:p>
        </p:txBody>
      </p:sp>
      <p:sp>
        <p:nvSpPr>
          <p:cNvPr id="23" name="match-card"/>
          <p:cNvSpPr/>
          <p:nvPr/>
        </p:nvSpPr>
        <p:spPr>
          <a:xfrm>
            <a:off x="4224437" y="3302813"/>
            <a:ext cx="7190019" cy="539293"/>
          </a:xfrm>
          <a:prstGeom prst="roundRect">
            <a:avLst>
              <a:gd name="adj" fmla="val 13564"/>
            </a:avLst>
          </a:prstGeom>
          <a:solidFill>
            <a:srgbClr val="F4EDDF"/>
          </a:solidFill>
          <a:ln/>
        </p:spPr>
      </p:sp>
      <p:sp>
        <p:nvSpPr>
          <p:cNvPr id="24" name="match-hex"/>
          <p:cNvSpPr/>
          <p:nvPr/>
        </p:nvSpPr>
        <p:spPr>
          <a:xfrm>
            <a:off x="4297589" y="3406166"/>
            <a:ext cx="384048" cy="332586"/>
          </a:xfrm>
          <a:prstGeom prst="hexagon">
            <a:avLst/>
          </a:prstGeom>
          <a:solidFill>
            <a:srgbClr val="B8862B"/>
          </a:solidFill>
          <a:ln/>
        </p:spPr>
      </p:sp>
      <p:sp>
        <p:nvSpPr>
          <p:cNvPr id="25" name="match-hex-label"/>
          <p:cNvSpPr txBox="1"/>
          <p:nvPr/>
        </p:nvSpPr>
        <p:spPr>
          <a:xfrm>
            <a:off x="4297589" y="340616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02813"/>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Nell remembers that morning in her grandmother’s kitchen</a:t>
            </a:r>
            <a:endParaRPr lang="en-US" sz="1800" dirty="0"/>
          </a:p>
        </p:txBody>
      </p:sp>
      <p:sp>
        <p:nvSpPr>
          <p:cNvPr id="27" name="match-card"/>
          <p:cNvSpPr/>
          <p:nvPr/>
        </p:nvSpPr>
        <p:spPr>
          <a:xfrm>
            <a:off x="777240" y="3933546"/>
            <a:ext cx="3081437" cy="539293"/>
          </a:xfrm>
          <a:prstGeom prst="roundRect">
            <a:avLst>
              <a:gd name="adj" fmla="val 13564"/>
            </a:avLst>
          </a:prstGeom>
          <a:solidFill>
            <a:srgbClr val="F2E8E9"/>
          </a:solidFill>
          <a:ln/>
        </p:spPr>
      </p:sp>
      <p:sp>
        <p:nvSpPr>
          <p:cNvPr id="28" name="match-hex"/>
          <p:cNvSpPr/>
          <p:nvPr/>
        </p:nvSpPr>
        <p:spPr>
          <a:xfrm>
            <a:off x="850392" y="4036899"/>
            <a:ext cx="384048" cy="332586"/>
          </a:xfrm>
          <a:prstGeom prst="hexagon">
            <a:avLst/>
          </a:prstGeom>
          <a:solidFill>
            <a:srgbClr val="8C2F39"/>
          </a:solidFill>
          <a:ln/>
        </p:spPr>
      </p:sp>
      <p:sp>
        <p:nvSpPr>
          <p:cNvPr id="29" name="match-hex-label"/>
          <p:cNvSpPr txBox="1"/>
          <p:nvPr/>
        </p:nvSpPr>
        <p:spPr>
          <a:xfrm>
            <a:off x="850392"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33546"/>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Flashback</a:t>
            </a:r>
            <a:endParaRPr lang="en-US" sz="1800" dirty="0"/>
          </a:p>
        </p:txBody>
      </p:sp>
      <p:sp>
        <p:nvSpPr>
          <p:cNvPr id="31" name="match-card"/>
          <p:cNvSpPr/>
          <p:nvPr/>
        </p:nvSpPr>
        <p:spPr>
          <a:xfrm>
            <a:off x="4224437" y="3933546"/>
            <a:ext cx="7190019" cy="539293"/>
          </a:xfrm>
          <a:prstGeom prst="roundRect">
            <a:avLst>
              <a:gd name="adj" fmla="val 13564"/>
            </a:avLst>
          </a:prstGeom>
          <a:solidFill>
            <a:srgbClr val="F4EDDF"/>
          </a:solidFill>
          <a:ln/>
        </p:spPr>
      </p:sp>
      <p:sp>
        <p:nvSpPr>
          <p:cNvPr id="32" name="match-hex"/>
          <p:cNvSpPr/>
          <p:nvPr/>
        </p:nvSpPr>
        <p:spPr>
          <a:xfrm>
            <a:off x="4297589" y="4036899"/>
            <a:ext cx="384048" cy="332586"/>
          </a:xfrm>
          <a:prstGeom prst="hexagon">
            <a:avLst/>
          </a:prstGeom>
          <a:solidFill>
            <a:srgbClr val="B8862B"/>
          </a:solidFill>
          <a:ln/>
        </p:spPr>
      </p:sp>
      <p:sp>
        <p:nvSpPr>
          <p:cNvPr id="33" name="match-hex-label"/>
          <p:cNvSpPr txBox="1"/>
          <p:nvPr/>
        </p:nvSpPr>
        <p:spPr>
          <a:xfrm>
            <a:off x="4297589" y="4036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33546"/>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From the whole harbour down to one girl beside a suitcase</a:t>
            </a:r>
            <a:endParaRPr lang="en-US" sz="1800" dirty="0"/>
          </a:p>
        </p:txBody>
      </p:sp>
      <p:sp>
        <p:nvSpPr>
          <p:cNvPr id="35" name="match-card"/>
          <p:cNvSpPr/>
          <p:nvPr/>
        </p:nvSpPr>
        <p:spPr>
          <a:xfrm>
            <a:off x="777240" y="4564278"/>
            <a:ext cx="3081437" cy="766877"/>
          </a:xfrm>
          <a:prstGeom prst="roundRect">
            <a:avLst>
              <a:gd name="adj" fmla="val 9539"/>
            </a:avLst>
          </a:prstGeom>
          <a:solidFill>
            <a:srgbClr val="F2E8E9"/>
          </a:solidFill>
          <a:ln/>
        </p:spPr>
      </p:sp>
      <p:sp>
        <p:nvSpPr>
          <p:cNvPr id="36" name="match-hex"/>
          <p:cNvSpPr/>
          <p:nvPr/>
        </p:nvSpPr>
        <p:spPr>
          <a:xfrm>
            <a:off x="850392" y="4781424"/>
            <a:ext cx="384048" cy="332586"/>
          </a:xfrm>
          <a:prstGeom prst="hexagon">
            <a:avLst/>
          </a:prstGeom>
          <a:solidFill>
            <a:srgbClr val="8C2F39"/>
          </a:solidFill>
          <a:ln/>
        </p:spPr>
      </p:sp>
      <p:sp>
        <p:nvSpPr>
          <p:cNvPr id="37" name="match-hex-label"/>
          <p:cNvSpPr txBox="1"/>
          <p:nvPr/>
        </p:nvSpPr>
        <p:spPr>
          <a:xfrm>
            <a:off x="850392" y="47814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4278"/>
            <a:ext cx="2487077"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Turning point</a:t>
            </a:r>
            <a:endParaRPr lang="en-US" sz="1800" dirty="0"/>
          </a:p>
        </p:txBody>
      </p:sp>
      <p:sp>
        <p:nvSpPr>
          <p:cNvPr id="39" name="match-card"/>
          <p:cNvSpPr/>
          <p:nvPr/>
        </p:nvSpPr>
        <p:spPr>
          <a:xfrm>
            <a:off x="4224437" y="4564278"/>
            <a:ext cx="7190019" cy="766877"/>
          </a:xfrm>
          <a:prstGeom prst="roundRect">
            <a:avLst>
              <a:gd name="adj" fmla="val 9539"/>
            </a:avLst>
          </a:prstGeom>
          <a:solidFill>
            <a:srgbClr val="F4EDDF"/>
          </a:solidFill>
          <a:ln/>
        </p:spPr>
      </p:sp>
      <p:sp>
        <p:nvSpPr>
          <p:cNvPr id="40" name="match-hex"/>
          <p:cNvSpPr/>
          <p:nvPr/>
        </p:nvSpPr>
        <p:spPr>
          <a:xfrm>
            <a:off x="4297589" y="4781424"/>
            <a:ext cx="384048" cy="332586"/>
          </a:xfrm>
          <a:prstGeom prst="hexagon">
            <a:avLst/>
          </a:prstGeom>
          <a:solidFill>
            <a:srgbClr val="B8862B"/>
          </a:solidFill>
          <a:ln/>
        </p:spPr>
      </p:sp>
      <p:sp>
        <p:nvSpPr>
          <p:cNvPr id="41" name="match-hex-label"/>
          <p:cNvSpPr txBox="1"/>
          <p:nvPr/>
        </p:nvSpPr>
        <p:spPr>
          <a:xfrm>
            <a:off x="4297589" y="478142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4278"/>
            <a:ext cx="6595659" cy="7668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lamps that flickered at the start become a lamp that does not flicker</a:t>
            </a:r>
            <a:endParaRPr lang="en-US" sz="1800" dirty="0"/>
          </a:p>
        </p:txBody>
      </p:sp>
      <p:sp>
        <p:nvSpPr>
          <p:cNvPr id="43" name="match-card"/>
          <p:cNvSpPr/>
          <p:nvPr/>
        </p:nvSpPr>
        <p:spPr>
          <a:xfrm>
            <a:off x="777240" y="5422595"/>
            <a:ext cx="3081437" cy="539293"/>
          </a:xfrm>
          <a:prstGeom prst="roundRect">
            <a:avLst>
              <a:gd name="adj" fmla="val 13564"/>
            </a:avLst>
          </a:prstGeom>
          <a:solidFill>
            <a:srgbClr val="F2E8E9"/>
          </a:solidFill>
          <a:ln/>
        </p:spPr>
      </p:sp>
      <p:sp>
        <p:nvSpPr>
          <p:cNvPr id="44" name="match-hex"/>
          <p:cNvSpPr/>
          <p:nvPr/>
        </p:nvSpPr>
        <p:spPr>
          <a:xfrm>
            <a:off x="850392" y="5525949"/>
            <a:ext cx="384048" cy="332586"/>
          </a:xfrm>
          <a:prstGeom prst="hexagon">
            <a:avLst/>
          </a:prstGeom>
          <a:solidFill>
            <a:srgbClr val="8C2F39"/>
          </a:solidFill>
          <a:ln/>
        </p:spPr>
      </p:sp>
      <p:sp>
        <p:nvSpPr>
          <p:cNvPr id="45" name="match-hex-label"/>
          <p:cNvSpPr txBox="1"/>
          <p:nvPr/>
        </p:nvSpPr>
        <p:spPr>
          <a:xfrm>
            <a:off x="850392" y="55259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22595"/>
            <a:ext cx="2487077"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Cyclical echo</a:t>
            </a:r>
            <a:endParaRPr lang="en-US" sz="1800" dirty="0"/>
          </a:p>
        </p:txBody>
      </p:sp>
      <p:sp>
        <p:nvSpPr>
          <p:cNvPr id="47" name="match-card"/>
          <p:cNvSpPr/>
          <p:nvPr/>
        </p:nvSpPr>
        <p:spPr>
          <a:xfrm>
            <a:off x="4224437" y="5422595"/>
            <a:ext cx="7190019" cy="539293"/>
          </a:xfrm>
          <a:prstGeom prst="roundRect">
            <a:avLst>
              <a:gd name="adj" fmla="val 13564"/>
            </a:avLst>
          </a:prstGeom>
          <a:solidFill>
            <a:srgbClr val="F4EDDF"/>
          </a:solidFill>
          <a:ln/>
        </p:spPr>
      </p:sp>
      <p:sp>
        <p:nvSpPr>
          <p:cNvPr id="48" name="match-hex"/>
          <p:cNvSpPr/>
          <p:nvPr/>
        </p:nvSpPr>
        <p:spPr>
          <a:xfrm>
            <a:off x="4297589" y="5525949"/>
            <a:ext cx="384048" cy="332586"/>
          </a:xfrm>
          <a:prstGeom prst="hexagon">
            <a:avLst/>
          </a:prstGeom>
          <a:solidFill>
            <a:srgbClr val="B8862B"/>
          </a:solidFill>
          <a:ln/>
        </p:spPr>
      </p:sp>
      <p:sp>
        <p:nvSpPr>
          <p:cNvPr id="49" name="match-hex-label"/>
          <p:cNvSpPr txBox="1"/>
          <p:nvPr/>
        </p:nvSpPr>
        <p:spPr>
          <a:xfrm>
            <a:off x="4297589" y="552594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22595"/>
            <a:ext cx="6595659" cy="53929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ferry’s horn sounds out of the darkness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Same task, three ways in: Name the structural feature</a:t>
            </a:r>
            <a:endParaRPr lang="en-US" sz="26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structural feature to the moment in ‘The Last Ferry’ where it is used.</a:t>
            </a:r>
            <a:endParaRPr lang="en-US" sz="2000" dirty="0"/>
          </a:p>
        </p:txBody>
      </p:sp>
      <p:sp>
        <p:nvSpPr>
          <p:cNvPr id="12" name="col-Support"/>
          <p:cNvSpPr/>
          <p:nvPr/>
        </p:nvSpPr>
        <p:spPr>
          <a:xfrm>
            <a:off x="548640" y="2593848"/>
            <a:ext cx="3515258" cy="3550920"/>
          </a:xfrm>
          <a:prstGeom prst="roundRect">
            <a:avLst>
              <a:gd name="adj" fmla="val 1561"/>
            </a:avLst>
          </a:prstGeom>
          <a:solidFill>
            <a:srgbClr val="F0E4E5"/>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Zooming in narrows from wide to small.</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Dialogue is people speaking.</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flashback goes back in time.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turning point changes the direction of the story.</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cyclical echo makes the ending mirror the opening.</a:t>
            </a:r>
            <a:endParaRPr lang="en-US" sz="1800" dirty="0"/>
          </a:p>
        </p:txBody>
      </p:sp>
      <p:sp>
        <p:nvSpPr>
          <p:cNvPr id="17" name="col-Core"/>
          <p:cNvSpPr/>
          <p:nvPr/>
        </p:nvSpPr>
        <p:spPr>
          <a:xfrm>
            <a:off x="4338218" y="2593848"/>
            <a:ext cx="3515258" cy="3550920"/>
          </a:xfrm>
          <a:prstGeom prst="roundRect">
            <a:avLst>
              <a:gd name="adj" fmla="val 1561"/>
            </a:avLst>
          </a:prstGeom>
          <a:solidFill>
            <a:srgbClr val="E2CBCE"/>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Compare “the lamps flickered weakly” in Part 1 with “It did not flicker.” in Part 3.</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8C2F39"/>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two features and explain how they work together to build tension.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structural feature?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Adjective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Simile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Flashback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Alliteration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EAEB"/>
          </a:solidFill>
          <a:ln w="12700">
            <a:solidFill>
              <a:srgbClr val="C29196"/>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Track the focus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empty harbour and the wind  (E)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Nell waiting alone at the end of the jetty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Mr Pryce warning that the ferry may not sail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Nell’s memory of her grandmother’s kitchen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ferry arriving and Nell boarding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single lamp in her grandmother’s window  (F)</a:t>
            </a:r>
            <a:endParaRPr lang="en-US" sz="22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Wide setting, then Nell; dialogue, then flashback; the ferry, then the lamp. Knowing this order is the backbone of a Question 3 answer.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structural feature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Zooming in  →  C  From the whole harbour down to one girl beside a suitcase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Dialogue  →  A  Mr Pryce and Nell disagree about whether the ferry will come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Flashback  →  B  Nell remembers that morning in her grandmother’s kitchen</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Turning point  →  E  The ferry’s horn sounds out of the darkness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Cyclical echo  →  D  The lamps that flickered at the start become a lamp that does not flicker</a:t>
            </a:r>
            <a:endParaRPr lang="en-US" sz="20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Each structural feature is a choice about order: where to look, when to speak, when to go back in time, and how to end.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structural feature?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Flashback</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E4E5"/>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flashback changes the order of time, so it is about structure. The others are language features.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0E4E5"/>
      </a:lt2>
      <a:accent1>
        <a:srgbClr val="8C2F39"/>
      </a:accent1>
      <a:accent2>
        <a:srgbClr val="B8862B"/>
      </a:accent2>
      <a:accent3>
        <a:srgbClr val="BA8288"/>
      </a:accent3>
      <a:accent4>
        <a:srgbClr val="815E1E"/>
      </a:accent4>
      <a:accent5>
        <a:srgbClr val="4A505C"/>
      </a:accent5>
      <a:accent6>
        <a:srgbClr val="D9BF8F"/>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 Paper 1 · Chapter 4: Question 3: how the writer structures the whole source</dc:title>
  <dc:subject>English Language · Year 10</dc:subject>
  <dc:creator>Dr Vitor Merissi de Carvalho</dc:creator>
  <cp:lastModifiedBy>Dr Vitor Merissi de Carvalho</cp:lastModifiedBy>
  <cp:revision>1</cp:revision>
  <dcterms:created xsi:type="dcterms:W3CDTF">2026-10-19T06:07:24Z</dcterms:created>
  <dcterms:modified xsi:type="dcterms:W3CDTF">2026-10-19T06:07:24Z</dcterms:modified>
</cp:coreProperties>
</file>