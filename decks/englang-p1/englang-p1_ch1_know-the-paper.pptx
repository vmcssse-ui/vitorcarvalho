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579085-b598-cf56-3260-4a56f2191a74}">
          <p14:sldIdLst>
            <p14:sldId id="256"/>
          </p14:sldIdLst>
        </p14:section>
        <p14:section name="Gate" id="{4ee18cba-c73d-d08f-9843-15b40cb54e65}">
          <p14:sldIdLst>
            <p14:sldId id="257"/>
            <p14:sldId id="258"/>
          </p14:sldIdLst>
        </p14:section>
        <p14:section name="Pre-teach" id="{c1c9fa4d-8330-7fa8-834b-3167592a7ff0}">
          <p14:sldIdLst>
            <p14:sldId id="259"/>
          </p14:sldIdLst>
        </p14:section>
        <p14:section name="Read-along" id="{6c7ce30d-40ed-9487-3e94-7878118417e6}">
          <p14:sldIdLst>
            <p14:sldId id="260"/>
            <p14:sldId id="261"/>
          </p14:sldIdLst>
        </p14:section>
        <p14:section name="Teach" id="{de7793e6-16f0-5985-7eab-83d96a726c27}">
          <p14:sldIdLst>
            <p14:sldId id="262"/>
            <p14:sldId id="263"/>
            <p14:sldId id="264"/>
            <p14:sldId id="265"/>
            <p14:sldId id="266"/>
          </p14:sldIdLst>
        </p14:section>
        <p14:section name="Routes" id="{5d252c07-ed90-5dbf-65f9-0666a1a2b91c}">
          <p14:sldIdLst>
            <p14:sldId id="267"/>
            <p14:sldId id="268"/>
            <p14:sldId id="269"/>
          </p14:sldIdLst>
        </p14:section>
        <p14:section name="Close" id="{1490dbae-49fb-65e5-927e-411b4de01504}">
          <p14:sldIdLst>
            <p14:sldId id="270"/>
          </p14:sldIdLst>
        </p14:section>
        <p14:section name="Answers" id="{cefa3f28-04c0-7977-ea41-043bf1a03b8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Know the paper: map, timings and first read. You will know exactly what Paper 1 asks, how long to spend on each part, and how to read the source before you answer.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long is Paper 1?  →  C   1 hour 45 minutes
2. Which question is worth the most marks in Section A?  →  B   Question 4
3. In Section B you have 45 minutes: about ___ minutes to plan and 40 minutes to write.  →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1 hour 45 minutes. Paper 1 lasts 1 hour 45 minutes: 15 reading, 40 on Section A, 45 on Section B and 5 checking.
2. B   Question 4. Question 4 is worth 20 marks, more than Questions 1, 2 and 3 added together.
3. 5. Five minutes of planning leaves 40 minutes for writing.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source: the piece of writing printed in the exam. Example: "Read the source twice before you write anything."
• fiction: writing about made-up people and events. Example: "Paper 1 uses fiction, so the source is part of a story."
• summarise: say the main idea in a few words. Example: "Summarise the beginning of the story in one line."
• infer: work out something the writer suggests but does not say. Example: "From her numb fingers, you can infer that Nell is cold."
• proofread: check your writing carefully for mistakes. Example: "Keep five minutes at the end to proofread your answers."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Paper 1 is one exam that lasts one hour and forty-five minutes.
2. It is worth half of your English Language GCSE.
3. Section A is reading, and Section B is writing.
4. In Section A, you read one source from a story.
5. You answer four questions about it.
6. In Section B, you write your own description or story.
7. First, spend about fifteen minutes reading the source and the questions.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Read the source once to understand the story.
9. Then read it again with the questions in mind.
10. Split it into a beginning, a middle and an end.
11. Spend about forty minutes on Section A, roughly a minute for each mark.
12. Spend forty-five minutes on Section B, with five minutes to plan.
13. Keep five minutes at the end to check your work.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the paper. Say it in your own words, then check understanding with a quick question: ask a pupil from the pre-teach group first, since they met these words and ideas before the lesson. Pupils try to recall before you re-explain.
Paper 1 is called ‘Explorations in creative reading and writing’. It is half of your English Language GCSE. Section A gives you one source: an extract from a novel or short story. You answer four questions on it, worth 40 marks together.
Question 1 (4 marks) is a set of four multiple-choice questions that check you have found the right information. Question 2 (8 marks) asks how the writer uses language. Question 3 (8 marks) asks how the writer has structured the whole source. Question 4 (20 marks) gives you a statement about the source and asks how far you agree.
Section B is Question 5 (40 marks). You choose one of two writing tasks: one is usually a description linked to a picture, the other is usually the opening of a story. Of the 40 marks, 24 are for what you write and how you organise it, and 16 are for accurate spelling, punctuation, vocabulary and a range of sentences.
Tip: Paper 1 is 80 marks in total: 40 for reading, 40 for writing. Use black pen, and write only inside the answer spaces, because the paper is scanned.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Good timing is a skill you can practise. Your teachers suggest spending 15 minutes reading the source and the questions, about 40 minutes on Section A, and 45 minutes on Section B. That leaves 5 minutes at the end to proofread.
In Section A, a useful rule is a minute for each mark. Question 4 is worth 20 marks, so it deserves far more time than Question 1, which is worth 4. In Section B, plan for 5 minutes before you write for 40. A planned piece is almost always a better piece.
Worked example — model it step by step, thinking aloud: Check that the suggested timings fit the exam exactly. (1) Reading the source and questions: 15 minutes. (2) Section A, Questions 1 to 4: 40 minutes (40 marks, about a minute a mark). (3) Section B, Question 5: 45 minutes (5 planning, 40 writing). (4) Proofreading at the end: 5 minutes. Answer: 15 + 40 + 45 + 5 = 105 minutes, which is exactly 1 hour 45 minutes..
Tip: Write your finish time for each question at the top of the paper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Good timing is a skill you can practise. Your teachers suggest spending 15 minutes reading the source and the questions, about 40 minutes on Section A, and 45 minutes on Section B. That leaves 5 minutes at the end to proofread.
In Section A, a useful rule is a minute for each mark. Question 4 is worth 20 marks, so it deserves far more time than Question 1, which is worth 4. In Section B, plan for 5 minutes before you write for 40. A planned piece is almost always a better piece.
Worked example — model it step by step, thinking aloud: Check that the suggested timings fit the exam exactly. (1) Reading the source and questions: 15 minutes. (2) Section A, Questions 1 to 4: 40 minutes (40 marks, about a minute a mark). (3) Section B, Question 5: 45 minutes (5 planning, 40 writing). (4) Proofreading at the end: 5 minutes. Answer: 15 + 40 + 45 + 5 = 105 minutes, which is exactly 1 hour 45 minutes..
Tip: Write your finish time for each question at the top of the paper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source like a detective. Say it in your own words, then check understanding with a quick question: ask a pupil from the pre-teach group first, since they met these words and ideas before the lesson. Pupils try to recall before you re-explain.
Before you answer anything, read the source to understand the story. Start with the title or introduction: what can you infer the text will be about? Then work through it asking the 5Ws: Who? What? Where? When? Why?
Next, summarise the beginning, the middle and the end in a line each. You will use these three parts again for Question 3. Finally, read with the questions in mind and underline language and structural techniques, but only the ones that help you answer the question.
Here is the opening of the source you will use throughout this unit, an original story called ‘The Last Ferry’. Try the 5Ws on it now.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
Tip: Only underline what helps you answer the question. Underlining everything helps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source like a detective. Say it in your own words, then check understanding with a quick question: ask a pupil from the pre-teach group first, since they met these words and ideas before the lesson. Pupils try to recall before you re-explain.
Before you answer anything, read the source to understand the story. Start with the title or introduction: what can you infer the text will be about? Then work through it asking the 5Ws: Who? What? Where? When? Why?
Next, summarise the beginning, the middle and the end in a line each. You will use these three parts again for Question 3. Finally, read with the questions in mind and underline language and structural techniques, but only the ones that help you answer the question.
Here is the opening of the source you will use throughout this unit, an original story called ‘The Last Ferry’. Try the 5Ws on it now.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
Tip: Only underline what helps you answer the question. Underlining everything helps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1 question to what it asks you to do.
Support — work through the steps with the group: (1) Remember that Questions 1 to 4 are reading and Question 5 is writing. (2) Question 1 is the quickest: it is about finding information. (3) Questions 2 and 3 are the analysis pair: language first, then structure. (4) Question 4 is the one with a statement to agree or disagree with.
Parallel worked example for Support (model it, do not give the task answer): Which section is reading and which is writing? Section A has one source and four questions about it.; Section B asks you to produce your own writing.. Answer: Section A (Questions 1 to 4) is reading; Section B (Question 5) is writing..
Core — reveal the hint only on request: Language is words; structure is order. Which number comes first?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1 question to what it asks you to do.
Support — work through the steps with the group: (1) Remember that Questions 1 to 4 are reading and Question 5 is writing. (2) Question 1 is the quickest: it is about finding information. (3) Questions 2 and 3 are the analysis pair: language first, then structure. (4) Question 4 is the one with a statement to agree or disagree with.
Parallel worked example for Support (model it, do not give the task answer): Which section is reading and which is writing? Section A has one source and four questions about it.; Section B asks you to produce your own writing.. Answer: Section A (Questions 1 to 4) is reading; Section B (Question 5) is writing..
Core — reveal the hint only on request: Language is words; structure is order. Which number comes first?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Section A comes before Section B. (3) Planning comes before writing. (4) Checking comes last.
Parallel worked example for Support (model it, do not give the task answer): Order these steps for a short homework essay: write it, plan it, read the task, check it. You must know the task first.; Then plan, then write.; Checking is always last.. Answer: Read the task, plan it, write it, check it..
Core — reveal the hint only on request: Section A is reading, Section B is writing, and checking is the very last thing you do.
Stretch — no help; when finished: Some pupils run out of time on Question 4. Explain how the minute-a-mark rule helps you avoid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After a first read of Part 1 of ‘The Last Ferry’, which summary is most accurate?
Answer: B   A girl waits alone on a windy harbour for the last ferry.. Nell sits alone at the end of the jetty in the wind, waiting for the last ferry of the year. The other summaries invent events that do not happen in Part 1.
Source of this question: module 3 task ("First read: the 5Ws")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each question to its job. Reveal the answer; pupils mark their own work in a different colour, then read the "why" together. Same destination for every lane, so one answer serves the whole class.
Answer: Question 1  →  A  Find the right information (multiple choice); Question 2  →  C  Analyse how the writer uses language; Question 3  →  D  Analyse how the whole source is structured; Question 4  →  B  Evaluate a statement about the source; Question 5  →  E  Write your own description or story
Why: Q1 finds information, Q2 analyses language, Q3 analyses structure, Q4 evaluates a statement, and Q5 is your own writing.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your time. Reveal the answer; pupils mark their own work in a different colour, then read the "why" together. Same destination for every lane, so one answer serves the whole class.
Answer: Read the source and the questions (15 minutes)  (E); Answer Questions 1 to 4 (about 40 minutes)  (C); Plan your writing (5 minutes)  (A); Write your Question 5 response (40 minutes)  (D); Proofread your answers (5 minutes)  (B)
Why: Read (15), Section A (40), plan (5), write (40), proofread (5): 105 minutes, which is 1 hour 45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girl waits alone on a windy harbour for the last ferry.
Why: Nell sits alone at the end of the jetty in the wind, waiting for the last ferry of the year. The other summaries invent events that do not happen in Part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7535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Know the paper: map, timings and first read</a:t>
            </a:r>
            <a:endParaRPr lang="en-US" sz="3600" dirty="0"/>
          </a:p>
        </p:txBody>
      </p:sp>
      <p:sp>
        <p:nvSpPr>
          <p:cNvPr id="11" name="lessons-card"/>
          <p:cNvSpPr/>
          <p:nvPr/>
        </p:nvSpPr>
        <p:spPr>
          <a:xfrm>
            <a:off x="548640" y="3519678"/>
            <a:ext cx="5287975" cy="1948180"/>
          </a:xfrm>
          <a:prstGeom prst="roundRect">
            <a:avLst>
              <a:gd name="adj" fmla="val 3755"/>
            </a:avLst>
          </a:prstGeom>
          <a:solidFill>
            <a:srgbClr val="F0E4E5"/>
          </a:solidFill>
          <a:ln/>
        </p:spPr>
      </p:sp>
      <p:sp>
        <p:nvSpPr>
          <p:cNvPr id="12" name="lessons"/>
          <p:cNvSpPr txBox="1"/>
          <p:nvPr/>
        </p:nvSpPr>
        <p:spPr>
          <a:xfrm>
            <a:off x="685800" y="361111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long is Paper 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 30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 45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question is worth the most marks in Section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3</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Section B you have 45 minutes: about ___ minutes to plan and 40 minutes to write.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5  ·  15  ·  25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 hour 45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long is Paper 1?</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Paper 1 lasts 1 hour 45 minutes: 15 reading, 40 on Section A, 45 on Section B and 5 checking.</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Question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question is worth the most marks in Section 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20 marks, more than Questions 1, 2 and 3 added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Section B you have 45 minutes: about ___ minutes to plan and 40 minutes to write.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Five minutes of planning leaves 40 minutes for writing.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source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piece of writing printed in the exam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the source twice before you write anything.</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fiction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writing about made-up people and events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Paper 1 uses fiction, so the source is part of a story.</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summarise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the main idea in a few words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Summarise the beginning of the story in one line.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infer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something the writer suggests but does not say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From her numb fingers, you can infer that Nell is cold.</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proofread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your writing carefully for mistakes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Keep five minutes at the end to proofread your answers.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Paper 1 is one exam that lasts one hour and forty-five minutes.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worth half of your English Language GCSE.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Section A is reading, and Section B is writing.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Section A, you read one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from a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answer four questions about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Section B, you write your own description or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spend about fifteen minutes reading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questions.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Read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once to understand the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read it again with the questions in mind.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Split it into a beginning, a middle and an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about forty minutes on Section A, roughly a minute for each mark.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forty-five minutes on Section B, with five minutes to plan.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five minutes at the end to check your work.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is in the paper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Paper 1 is 80 marks in total: 40 for reading, 40 for writing. Use black pen, and write only inside the answer spaces, because the paper is scanned.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Paper 1 is called ‘Explorations in creative reading and writing’.</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Question 1 (4 marks) is a set of four multiple-choice questions that check you have found the right information.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Section B is Question 5 (40 marks). You choose one of two writing tasks: one is usually a description linked to a picture, the other is usually the opening of a story.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Timing your 1 hour 45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finish time for each question at the top of the paper before you start.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Good timing is a skill you can practise. Your teachers suggest spending 15 minutes reading the source and the questions, about 40 minutes on Section A, and 45 minutes on Section B.</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Section A, a useful rule is a minute for each mark.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Timing your 1 hour 45 minutes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Check that the suggested timings fit the exam exactly.</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Reading the source and questions: 15 minutes.</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3562274" y="2424684"/>
            <a:ext cx="530352" cy="459285"/>
          </a:xfrm>
          <a:prstGeom prst="hexagon">
            <a:avLst/>
          </a:prstGeom>
          <a:solidFill>
            <a:srgbClr val="8C2F39"/>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Section A, Questions 1 to 4: 40 minutes (40 marks, about a minute a mark).</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6438748" y="2424684"/>
            <a:ext cx="530352" cy="459285"/>
          </a:xfrm>
          <a:prstGeom prst="hexagon">
            <a:avLst/>
          </a:prstGeom>
          <a:solidFill>
            <a:srgbClr val="8C2F39"/>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Section B, Question 5: 45 minutes (5 planning, 40 writing).</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C08D92"/>
            </a:solidFill>
            <a:prstDash val="solid"/>
          </a:ln>
        </p:spPr>
      </p:sp>
      <p:sp>
        <p:nvSpPr>
          <p:cNvPr id="25" name="step-hex"/>
          <p:cNvSpPr/>
          <p:nvPr/>
        </p:nvSpPr>
        <p:spPr>
          <a:xfrm>
            <a:off x="9315221" y="2424684"/>
            <a:ext cx="530352" cy="459285"/>
          </a:xfrm>
          <a:prstGeom prst="hexagon">
            <a:avLst/>
          </a:prstGeom>
          <a:solidFill>
            <a:srgbClr val="8C2F39"/>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Proofreading at the end: 5 minutes.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15 + 40 + 45 + 5 = 105 minutes, which is exactly 1 hour 45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source like a detective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Only underline what helps you answer the question. Underlining everything helps nothing.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you answer anything, read the source to understand the story.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Next, summarise the beginning, the middle and the end in a line each.</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opening of the source you will use throughout this unit, an original story called ‘The Last Ferry’.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source like a detective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Paper 1 question to what it asks you to do.</a:t>
            </a:r>
            <a:endParaRPr lang="en-US" sz="2400" dirty="0"/>
          </a:p>
        </p:txBody>
      </p:sp>
      <p:sp>
        <p:nvSpPr>
          <p:cNvPr id="11" name="match-card"/>
          <p:cNvSpPr/>
          <p:nvPr/>
        </p:nvSpPr>
        <p:spPr>
          <a:xfrm>
            <a:off x="777240" y="2468331"/>
            <a:ext cx="3081437" cy="625559"/>
          </a:xfrm>
          <a:prstGeom prst="roundRect">
            <a:avLst>
              <a:gd name="adj" fmla="val 11694"/>
            </a:avLst>
          </a:prstGeom>
          <a:solidFill>
            <a:srgbClr val="F2E8E9"/>
          </a:solidFill>
          <a:ln/>
        </p:spPr>
      </p:sp>
      <p:sp>
        <p:nvSpPr>
          <p:cNvPr id="12" name="match-hex"/>
          <p:cNvSpPr/>
          <p:nvPr/>
        </p:nvSpPr>
        <p:spPr>
          <a:xfrm>
            <a:off x="850392" y="2614818"/>
            <a:ext cx="384048" cy="332586"/>
          </a:xfrm>
          <a:prstGeom prst="hexagon">
            <a:avLst/>
          </a:prstGeom>
          <a:solidFill>
            <a:srgbClr val="8C2F39"/>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1</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4EDDF"/>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Find the right information (multiple choice)</a:t>
            </a:r>
            <a:endParaRPr lang="en-US" sz="2200" dirty="0"/>
          </a:p>
        </p:txBody>
      </p:sp>
      <p:sp>
        <p:nvSpPr>
          <p:cNvPr id="19" name="match-card"/>
          <p:cNvSpPr/>
          <p:nvPr/>
        </p:nvSpPr>
        <p:spPr>
          <a:xfrm>
            <a:off x="777240" y="3185331"/>
            <a:ext cx="3081437" cy="625559"/>
          </a:xfrm>
          <a:prstGeom prst="roundRect">
            <a:avLst>
              <a:gd name="adj" fmla="val 11694"/>
            </a:avLst>
          </a:prstGeom>
          <a:solidFill>
            <a:srgbClr val="F2E8E9"/>
          </a:solidFill>
          <a:ln/>
        </p:spPr>
      </p:sp>
      <p:sp>
        <p:nvSpPr>
          <p:cNvPr id="20" name="match-hex"/>
          <p:cNvSpPr/>
          <p:nvPr/>
        </p:nvSpPr>
        <p:spPr>
          <a:xfrm>
            <a:off x="850392" y="3331818"/>
            <a:ext cx="384048" cy="332586"/>
          </a:xfrm>
          <a:prstGeom prst="hexagon">
            <a:avLst/>
          </a:prstGeom>
          <a:solidFill>
            <a:srgbClr val="8C2F39"/>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2</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4EDDF"/>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Evaluate a statement about the source</a:t>
            </a:r>
            <a:endParaRPr lang="en-US" sz="2200" dirty="0"/>
          </a:p>
        </p:txBody>
      </p:sp>
      <p:sp>
        <p:nvSpPr>
          <p:cNvPr id="27" name="match-card"/>
          <p:cNvSpPr/>
          <p:nvPr/>
        </p:nvSpPr>
        <p:spPr>
          <a:xfrm>
            <a:off x="777240" y="3902330"/>
            <a:ext cx="3081437" cy="625559"/>
          </a:xfrm>
          <a:prstGeom prst="roundRect">
            <a:avLst>
              <a:gd name="adj" fmla="val 11694"/>
            </a:avLst>
          </a:prstGeom>
          <a:solidFill>
            <a:srgbClr val="F2E8E9"/>
          </a:solidFill>
          <a:ln/>
        </p:spPr>
      </p:sp>
      <p:sp>
        <p:nvSpPr>
          <p:cNvPr id="28" name="match-hex"/>
          <p:cNvSpPr/>
          <p:nvPr/>
        </p:nvSpPr>
        <p:spPr>
          <a:xfrm>
            <a:off x="850392" y="4048817"/>
            <a:ext cx="384048" cy="332586"/>
          </a:xfrm>
          <a:prstGeom prst="hexagon">
            <a:avLst/>
          </a:prstGeom>
          <a:solidFill>
            <a:srgbClr val="8C2F39"/>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3</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Analyse how the writer uses language</a:t>
            </a:r>
            <a:endParaRPr lang="en-US" sz="2200" dirty="0"/>
          </a:p>
        </p:txBody>
      </p:sp>
      <p:sp>
        <p:nvSpPr>
          <p:cNvPr id="35" name="match-card"/>
          <p:cNvSpPr/>
          <p:nvPr/>
        </p:nvSpPr>
        <p:spPr>
          <a:xfrm>
            <a:off x="777240" y="4619329"/>
            <a:ext cx="3081437" cy="625559"/>
          </a:xfrm>
          <a:prstGeom prst="roundRect">
            <a:avLst>
              <a:gd name="adj" fmla="val 11694"/>
            </a:avLst>
          </a:prstGeom>
          <a:solidFill>
            <a:srgbClr val="F2E8E9"/>
          </a:solidFill>
          <a:ln/>
        </p:spPr>
      </p:sp>
      <p:sp>
        <p:nvSpPr>
          <p:cNvPr id="36" name="match-hex"/>
          <p:cNvSpPr/>
          <p:nvPr/>
        </p:nvSpPr>
        <p:spPr>
          <a:xfrm>
            <a:off x="850392" y="4765816"/>
            <a:ext cx="384048" cy="332586"/>
          </a:xfrm>
          <a:prstGeom prst="hexagon">
            <a:avLst/>
          </a:prstGeom>
          <a:solidFill>
            <a:srgbClr val="8C2F39"/>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4</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4EDDF"/>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Analyse how the whole source is structured</a:t>
            </a:r>
            <a:endParaRPr lang="en-US" sz="2200" dirty="0"/>
          </a:p>
        </p:txBody>
      </p:sp>
      <p:sp>
        <p:nvSpPr>
          <p:cNvPr id="43" name="match-card"/>
          <p:cNvSpPr/>
          <p:nvPr/>
        </p:nvSpPr>
        <p:spPr>
          <a:xfrm>
            <a:off x="777240" y="5336329"/>
            <a:ext cx="3081437" cy="625559"/>
          </a:xfrm>
          <a:prstGeom prst="roundRect">
            <a:avLst>
              <a:gd name="adj" fmla="val 11694"/>
            </a:avLst>
          </a:prstGeom>
          <a:solidFill>
            <a:srgbClr val="F2E8E9"/>
          </a:solidFill>
          <a:ln/>
        </p:spPr>
      </p:sp>
      <p:sp>
        <p:nvSpPr>
          <p:cNvPr id="44" name="match-hex"/>
          <p:cNvSpPr/>
          <p:nvPr/>
        </p:nvSpPr>
        <p:spPr>
          <a:xfrm>
            <a:off x="850392" y="5482816"/>
            <a:ext cx="384048" cy="332586"/>
          </a:xfrm>
          <a:prstGeom prst="hexagon">
            <a:avLst/>
          </a:prstGeom>
          <a:solidFill>
            <a:srgbClr val="8C2F39"/>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5</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4EDDF"/>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Write your own description or 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each question to its job</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Paper 1 question to what it asks you to do.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that Questions 1 to 4 are reading and Question 5 is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1 is the quickest: it is about finding information.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Questions 2 and 3 are the analysis pair: language first, then structure.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4 is the one with a statement to agree or disagree with.</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Language is words; structure is order. Which number comes first?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Question 4 needs the skills from both Question 2 and Question 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2192020"/>
          </a:xfrm>
          <a:prstGeom prst="roundRect">
            <a:avLst>
              <a:gd name="adj" fmla="val 4171"/>
            </a:avLst>
          </a:prstGeom>
          <a:solidFill>
            <a:srgbClr val="FFFFFF"/>
          </a:solidFill>
          <a:ln w="31750">
            <a:solidFill>
              <a:srgbClr val="B8862B"/>
            </a:solidFill>
            <a:prstDash val="solid"/>
          </a:ln>
        </p:spPr>
      </p:sp>
      <p:sp>
        <p:nvSpPr>
          <p:cNvPr id="8" name="task-hex"/>
          <p:cNvSpPr/>
          <p:nvPr/>
        </p:nvSpPr>
        <p:spPr>
          <a:xfrm>
            <a:off x="777240" y="2169150"/>
            <a:ext cx="731520" cy="633496"/>
          </a:xfrm>
          <a:prstGeom prst="hexagon">
            <a:avLst/>
          </a:prstGeom>
          <a:solidFill>
            <a:srgbClr val="B8862B"/>
          </a:solidFill>
          <a:ln/>
        </p:spPr>
      </p:sp>
      <p:sp>
        <p:nvSpPr>
          <p:cNvPr id="9" name="task-hex-label"/>
          <p:cNvSpPr txBox="1"/>
          <p:nvPr/>
        </p:nvSpPr>
        <p:spPr>
          <a:xfrm>
            <a:off x="777240" y="216915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21157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20091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Plan your writing (5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Proofread your answers (5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Answer Questions 1 to 4 (about 40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Write your Question 5 response (40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Read the source and the questions (15 minutes)</a:t>
            </a:r>
            <a:endParaRPr lang="en-US" sz="2000" dirty="0"/>
          </a:p>
        </p:txBody>
      </p:sp>
      <p:sp>
        <p:nvSpPr>
          <p:cNvPr id="12" name="col-Support"/>
          <p:cNvSpPr/>
          <p:nvPr/>
        </p:nvSpPr>
        <p:spPr>
          <a:xfrm>
            <a:off x="548640" y="3856228"/>
            <a:ext cx="4667802" cy="2288540"/>
          </a:xfrm>
          <a:prstGeom prst="roundRect">
            <a:avLst>
              <a:gd name="adj" fmla="val 2397"/>
            </a:avLst>
          </a:prstGeom>
          <a:solidFill>
            <a:srgbClr val="F0E4E5"/>
          </a:solidFill>
          <a:ln/>
        </p:spPr>
      </p:sp>
      <p:sp>
        <p:nvSpPr>
          <p:cNvPr id="13" name="col-hex"/>
          <p:cNvSpPr/>
          <p:nvPr/>
        </p:nvSpPr>
        <p:spPr>
          <a:xfrm>
            <a:off x="658368" y="39293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8928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496308"/>
            <a:ext cx="4393482" cy="15387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Reading always comes before answering.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Section A comes before Section B.</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Planning comes before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Checking comes last.</a:t>
            </a:r>
            <a:endParaRPr lang="en-US" sz="1800" dirty="0"/>
          </a:p>
        </p:txBody>
      </p:sp>
      <p:sp>
        <p:nvSpPr>
          <p:cNvPr id="17" name="col-Core"/>
          <p:cNvSpPr/>
          <p:nvPr/>
        </p:nvSpPr>
        <p:spPr>
          <a:xfrm>
            <a:off x="5490762" y="3856228"/>
            <a:ext cx="2938987" cy="2288540"/>
          </a:xfrm>
          <a:prstGeom prst="roundRect">
            <a:avLst>
              <a:gd name="adj" fmla="val 2397"/>
            </a:avLst>
          </a:prstGeom>
          <a:solidFill>
            <a:srgbClr val="E2CBCE"/>
          </a:solidFill>
          <a:ln/>
        </p:spPr>
      </p:sp>
      <p:sp>
        <p:nvSpPr>
          <p:cNvPr id="18" name="col-hex"/>
          <p:cNvSpPr/>
          <p:nvPr/>
        </p:nvSpPr>
        <p:spPr>
          <a:xfrm>
            <a:off x="5600490" y="39293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Section A is reading, Section B is writing, and checking is the very last thing you do.</a:t>
            </a:r>
            <a:endParaRPr lang="en-US" sz="1800" dirty="0"/>
          </a:p>
        </p:txBody>
      </p:sp>
      <p:sp>
        <p:nvSpPr>
          <p:cNvPr id="22" name="col-Stretch"/>
          <p:cNvSpPr/>
          <p:nvPr/>
        </p:nvSpPr>
        <p:spPr>
          <a:xfrm>
            <a:off x="8704069" y="3856228"/>
            <a:ext cx="2938987" cy="2288540"/>
          </a:xfrm>
          <a:prstGeom prst="roundRect">
            <a:avLst>
              <a:gd name="adj" fmla="val 2397"/>
            </a:avLst>
          </a:prstGeom>
          <a:solidFill>
            <a:srgbClr val="8C2F39"/>
          </a:solidFill>
          <a:ln/>
        </p:spPr>
      </p:sp>
      <p:sp>
        <p:nvSpPr>
          <p:cNvPr id="23" name="col-hex"/>
          <p:cNvSpPr/>
          <p:nvPr/>
        </p:nvSpPr>
        <p:spPr>
          <a:xfrm>
            <a:off x="8813797" y="39293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pupils run out of time on Question 4. Explain how the minute-a-mark rule helps you avoid this.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After a first read of Part 1 of ‘The Last Ferry’, which summary is most accurate?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argues with her grandmother in a warm kitchen.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waits alone on a windy harbour for the last ferry.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sails a fishing boat through a storm.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harbour master closes the café for the winter.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1  →  A  Find the right information (multiple choice)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2  →  C  Analyse how the writer uses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3  →  D  Analyse how the whole source is structured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4  →  B  Evaluate a statement about the source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5  →  E  Write your own description or story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Q1 finds information, Q2 analyses language, Q3 analyses structure, Q4 evaluates a statement, and Q5 is your own writing.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Read the source and the questions (15 minutes)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Answer Questions 1 to 4 (about 40 minutes)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Plan your writing (5 minutes)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Write your Question 5 response (40 minutes)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Proofread your answers (5 minutes)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(15), Section A (40), plan (5), write (40), proofread (5): 105 minutes, which is 1 hour 45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After a first read of Part 1 of ‘The Last Ferry’, which summary is most accurate?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girl waits alone on a windy harbour for the last ferry.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Nell sits alone at the end of the jetty in the wind, waiting for the last ferry of the year. The other summaries invent events that do not happen in Part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1: Know the paper: map, timings and first read</dc:title>
  <dc:subject>English Language · Year 10</dc:subject>
  <dc:creator>Dr Vitor Merissi de Carvalho</dc:creator>
  <cp:lastModifiedBy>Dr Vitor Merissi de Carvalho</cp:lastModifiedBy>
  <cp:revision>1</cp:revision>
  <dcterms:created xsi:type="dcterms:W3CDTF">2026-10-19T16:22:33Z</dcterms:created>
  <dcterms:modified xsi:type="dcterms:W3CDTF">2026-10-19T16:22:33Z</dcterms:modified>
</cp:coreProperties>
</file>