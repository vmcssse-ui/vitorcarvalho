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e55a02d7-4f4c-1d7a-d5bf-47448288b67e}">
          <p14:sldIdLst>
            <p14:sldId id="256"/>
          </p14:sldIdLst>
        </p14:section>
        <p14:section name="Gate" id="{644294ed-6001-2fa1-1715-d18148cce595}">
          <p14:sldIdLst>
            <p14:sldId id="257"/>
            <p14:sldId id="258"/>
          </p14:sldIdLst>
        </p14:section>
        <p14:section name="Pre-teach" id="{11f05f5a-7df8-f369-6386-c4a5a28c1608}">
          <p14:sldIdLst>
            <p14:sldId id="259"/>
          </p14:sldIdLst>
        </p14:section>
        <p14:section name="Read-along" id="{c6a50ace-6e10-e423-0249-595154fe1681}">
          <p14:sldIdLst>
            <p14:sldId id="260"/>
            <p14:sldId id="261"/>
          </p14:sldIdLst>
        </p14:section>
        <p14:section name="Teach" id="{31889777-3e92-66b7-2877-e173a9513da9}">
          <p14:sldIdLst>
            <p14:sldId id="262"/>
            <p14:sldId id="263"/>
            <p14:sldId id="264"/>
            <p14:sldId id="265"/>
            <p14:sldId id="266"/>
          </p14:sldIdLst>
        </p14:section>
        <p14:section name="Routes" id="{02f3fbe8-3d76-564f-3e2c-8a40324d6d49}">
          <p14:sldIdLst>
            <p14:sldId id="267"/>
            <p14:sldId id="268"/>
            <p14:sldId id="269"/>
          </p14:sldIdLst>
        </p14:section>
        <p14:section name="Close" id="{e8490549-d95a-60d2-f475-8cdb7e540992}">
          <p14:sldIdLst>
            <p14:sldId id="270"/>
          </p14:sldIdLst>
        </p14:section>
        <p14:section name="Answers" id="{045bc0c1-881a-b4b0-e22f-32048a789c1e}">
          <p14:sldIdLst>
            <p14:sldId id="271"/>
            <p14:sldId id="272"/>
            <p14:sldId id="27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1 of 6: Know the paper: map, timings and first read. You will know exactly what Paper 1 asks, how long to spend on each part, and how to read the source before you answer.
This deck covers the department's lessons: 1 (Language Paper 1: introduction, Question 1 and Question 2: What does Paper 1 involve, and how do I analyse a writer’s language?); 6 (Language Paper 1 – 2026: reading strategy, Question 1 and Question 2: How do I read and prepare a text to make sure I know the story being told?).
Read the big question aloud: "What does Paper 1 involve, and how do I read and prepare a text so I know the story being told?" We come back to it at the exit ticket.
Before this lesson the pre-teach group has heard the read-along and met the key words; today they lead the reading. Lesson shape: do now (recall before any help), key words, read-along, teach, then the same task three ways in (Support, Core, Stretch), exit ticket, answers. Every pupil works towards the same destination.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retrieval. Silent, no notes, no help: recall comes before any support. Give about four minutes.
1. How long is Paper 1?  →  C   1 hour 45 minutes
2. Which question is worth the most marks in Section A?  →  B   Question 4
3. In Section B you have 45 minutes: about ___ minutes to plan and 40 minutes to write.  →  5
Circulate: who gets 3/3 (Stretch route), 2/3 (Core), 0–1 (Support)? Use this to route pupils later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pupils mark their own in a different colour, then hands up for 3/3, 2/3, 1/3.
1. C   1 hour 45 minutes. Paper 1 lasts 1 hour 45 minutes: 15 reading, 40 on Section A, 45 on Section B and 5 checking.
2. B   Question 4. Question 4 is worth 20 marks, more than Questions 1, 2 and 3 added together.
3. 5. Five minutes of planning leaves 40 minutes for writing.
Say the route each score points to: 3/3 Stretch, 2/3 Core, 0–1 Support. Pupils may choose to move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source: the piece of writing printed in the exam. Example: "Read the source twice before you write anything."
• fiction: writing about made-up people and events. Example: "Paper 1 uses fiction, so the source is part of a story."
• summarise: say the main idea in a few words. Example: "Summarise the beginning of the story in one line."
• infer: work out something the writer suggests but does not say. Example: "From her numb fingers, you can infer that Nell is cold."
• proofread: check your writing carefully for mistakes. Example: "Keep five minutes at the end to proofread your answers."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1–7 of 13:
1. Paper 1 is one exam that lasts one hour and forty-five minutes.
2. It is worth half of your English Language GCSE.
3. Section A is reading, and Section B is writing.
4. In Section A, you read one source from a story.
5. You answer four questions about it.
6. In Section B, you write your own description or story.
7. First, spend about fifteen minutes reading the source and the questions.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8–13 of 13:
8. Read the source once to understand the story.
9. Then read it again with the questions in mind.
10. Split it into a beginning, a middle and an end.
11. Spend about forty minutes on Section A, roughly a minute for each mark.
12. Spend forty-five minutes on Section B, with five minutes to plan.
13. Keep five minutes at the end to check your work.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What is in the paper. Say it in your own words, then check understanding with a quick question: ask a pupil from the pre-teach group first, since they met these words and ideas before the lesson. Pupils try to recall before you re-explain.
Paper 1 is called ‘Explorations in creative reading and writing’. It is half of your English Language GCSE. Section A gives you one source: an extract from a novel or short story. You answer four questions on it, worth 40 marks together.
Question 1 (4 marks) is a set of four multiple-choice questions that check you have found the right information. Question 2 (8 marks) asks how the writer uses language. Question 3 (8 marks) asks how the writer has structured the whole source. Question 4 (20 marks) gives you a statement about the source and asks how far you agree.
Section B is Question 5 (40 marks). You choose one of two writing tasks: one is usually a description linked to a picture, the other is usually the opening of a story. Of the 40 marks, 24 are for what you write and how you organise it, and 16 are for accurate spelling, punctuation, vocabulary and a range of sentences.
Tip: Paper 1 is 80 marks in total: 40 for reading, 40 for writing. Use black pen, and write only inside the answer spaces, because the paper is scanned.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Timing your 1 hour 45 minutes. Say it in your own words, then check understanding with a quick question: ask a pupil from the pre-teach group first, since they met these words and ideas before the lesson. Pupils try to recall before you re-explain.
Good timing is a skill you can practise. Your teachers suggest spending 15 minutes reading the source and the questions, about 40 minutes on Section A, and 45 minutes on Section B. That leaves 5 minutes at the end to proofread.
In Section A, a useful rule is a minute for each mark. Question 4 is worth 20 marks, so it deserves far more time than Question 1, which is worth 4. In Section B, plan for 5 minutes before you write for 40. A planned piece is almost always a better piece.
Worked example — model it step by step, thinking aloud: Check that the suggested timings fit the exam exactly. (1) Reading the source and questions: 15 minutes. (2) Section A, Questions 1 to 4: 40 minutes (40 marks, about a minute a mark). (3) Section B, Question 5: 45 minutes (5 planning, 40 writing). (4) Proofreading at the end: 5 minutes. Answer: 15 + 40 + 45 + 5 = 105 minutes, which is exactly 1 hour 45 minutes..
Tip: Write your finish time for each question at the top of the paper before you start.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Timing your 1 hour 45 minutes. Say it in your own words, then check understanding with a quick question: ask a pupil from the pre-teach group first, since they met these words and ideas before the lesson. Pupils try to recall before you re-explain.
Good timing is a skill you can practise. Your teachers suggest spending 15 minutes reading the source and the questions, about 40 minutes on Section A, and 45 minutes on Section B. That leaves 5 minutes at the end to proofread.
In Section A, a useful rule is a minute for each mark. Question 4 is worth 20 marks, so it deserves far more time than Question 1, which is worth 4. In Section B, plan for 5 minutes before you write for 40. A planned piece is almost always a better piece.
Worked example — model it step by step, thinking aloud: Check that the suggested timings fit the exam exactly. (1) Reading the source and questions: 15 minutes. (2) Section A, Questions 1 to 4: 40 minutes (40 marks, about a minute a mark). (3) Section B, Question 5: 45 minutes (5 planning, 40 writing). (4) Proofreading at the end: 5 minutes. Answer: 15 + 40 + 45 + 5 = 105 minutes, which is exactly 1 hour 45 minutes..
Tip: Write your finish time for each question at the top of the paper before you start.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Reading the source like a detective. Say it in your own words, then check understanding with a quick question: ask a pupil from the pre-teach group first, since they met these words and ideas before the lesson. Pupils try to recall before you re-explain.
Before you answer anything, read the source to understand the story. Start with the title or introduction: what can you infer the text will be about? Then work through it asking the 5Ws: Who? What? Where? When? Why?
Next, summarise the beginning, the middle and the end in a line each. You will use these three parts again for Question 3. Finally, read with the questions in mind and underline language and structural techniques, but only the ones that help you answer the question.
Here is the opening of the source you will use throughout this unit, an original story called ‘The Last Ferry’. Try the 5Ws on it now.
Quotation: "The harbour was empty except for the wind. It came in off the grey water in long, cold breaths, rattling the chains of the fishing boats and lifting the gulls high above the sea wall like scraps of torn paper. Rain had not yet arrived, but the sky was already bruised purple at its edges. Along the quay, the café shutters were down and the lamps flickered weakly, as though they were too tired to keep fighting the dark. At the very end of the jetty, beside a battered blue suitcase, sat a girl in a coat that was two sizes too big. Nell had been waiting for an hour. Her fingers were numb. Her hair whipped across her face and stung her eyes. She did not move. Somewhere beyond the headland, the last ferry of the year was crossing the sound, and she meant to be on it." (‘The Last Ferry’, Part 1 — original passage written for Ad Astra). Read it aloud; ask what it shows.
Tip: Only underline what helps you answer the question. Underlining everything helps nothing.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Reading the source like a detective. Say it in your own words, then check understanding with a quick question: ask a pupil from the pre-teach group first, since they met these words and ideas before the lesson. Pupils try to recall before you re-explain.
Before you answer anything, read the source to understand the story. Start with the title or introduction: what can you infer the text will be about? Then work through it asking the 5Ws: Who? What? Where? When? Why?
Next, summarise the beginning, the middle and the end in a line each. You will use these three parts again for Question 3. Finally, read with the questions in mind and underline language and structural techniques, but only the ones that help you answer the question.
Here is the opening of the source you will use throughout this unit, an original story called ‘The Last Ferry’. Try the 5Ws on it now.
Quotation: "The harbour was empty except for the wind. It came in off the grey water in long, cold breaths, rattling the chains of the fishing boats and lifting the gulls high above the sea wall like scraps of torn paper. Rain had not yet arrived, but the sky was already bruised purple at its edges. Along the quay, the café shutters were down and the lamps flickered weakly, as though they were too tired to keep fighting the dark. At the very end of the jetty, beside a battered blue suitcase, sat a girl in a coat that was two sizes too big. Nell had been waiting for an hour. Her fingers were numb. Her hair whipped across her face and stung her eyes. She did not move. Somewhere beyond the headland, the last ferry of the year was crossing the sound, and she meant to be on it." (‘The Last Ferry’, Part 1 — original passage written for Ad Astra). Read it aloud; ask what it shows.
Tip: Only underline what helps you answer the question. Underlining everything helps nothing.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Match each question to its job.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Paper 1 question to what it asks you to do.
Support — work through the steps with the group: (1) Remember that Questions 1 to 4 are reading and Question 5 is writing. (2) Question 1 is the quickest: it is about finding information. (3) Questions 2 and 3 are the analysis pair: language first, then structure. (4) Question 4 is the one with a statement to agree or disagree with.
Parallel worked example for Support (model it, do not give the task answer): Which section is reading and which is writing? Section A has one source and four questions about it.; Section B asks you to produce your own writing.. Answer: Section A (Questions 1 to 4) is reading; Section B (Question 5) is writing..
Core — reveal the hint only on request: Language is words; structure is order. Which number comes first?
Stretch — no help; when finished: Explain why Question 4 needs the skills from both Question 2 and Question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Match each question to its job.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Paper 1 question to what it asks you to do.
Support — work through the steps with the group: (1) Remember that Questions 1 to 4 are reading and Question 5 is writing. (2) Question 1 is the quickest: it is about finding information. (3) Questions 2 and 3 are the analysis pair: language first, then structure. (4) Question 4 is the one with a statement to agree or disagree with.
Parallel worked example for Support (model it, do not give the task answer): Which section is reading and which is writing? Section A has one source and four questions about it.; Section B asks you to produce your own writing.. Answer: Section A (Questions 1 to 4) is reading; Section B (Question 5) is writing..
Core — reveal the hint only on request: Language is words; structure is order. Which number comes first?
Stretch — no help; when finished: Explain why Question 4 needs the skills from both Question 2 and Question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Plan your time.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Put the stages of the exam in the order you should do them.
Support — work through the steps with the group: (1) Reading always comes before answering. (2) Section A comes before Section B. (3) Planning comes before writing. (4) Checking comes last.
Parallel worked example for Support (model it, do not give the task answer): Order these steps for a short homework essay: write it, plan it, read the task, check it. You must know the task first.; Then plan, then write.; Checking is always last.. Answer: Read the task, plan it, write it, check it..
Core — reveal the hint only on request: Section A is reading, Section B is writing, and checking is the very last thing you do.
Stretch — no help; when finished: Some pupils run out of time on Question 4. Explain how the minute-a-mark rule helps you avoid this.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 individual, silent, on a slip or mini-whiteboard. Recall before help: no notes, no lanes, no hints. Collect before pupils leave.
Question: After a first read of Part 1 of ‘The Last Ferry’, which summary is most accurate?
Answer: B   A girl waits alone on a windy harbour for the last ferry.. Nell sits alone at the end of the jetty in the wind, waiting for the last ferry of the year. The other summaries invent events that do not happen in Part 1.
Source of this question: module 3 task ("First read: the 5Ws") from the manifest.
Sort the slips: correct → ready to move on; incorrect → start next lesson in the pre-teach group, with the read-along and the Support lane. Same destination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1: Match each question to its job. Reveal the answer; pupils mark their own work in a different colour, then read the "why" together. Same destination for every lane, so one answer serves the whole class.
Answer: Question 1  →  A  Find the right information (multiple choice); Question 2  →  C  Analyse how the writer uses language; Question 3  →  D  Analyse how the whole source is structured; Question 4  →  B  Evaluate a statement about the source; Question 5  →  E  Write your own description or story
Why: Q1 finds information, Q2 analyses language, Q3 analyses structure, Q4 evaluates a statement, and Q5 is your own writing.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2: Plan your time. Reveal the answer; pupils mark their own work in a different colour, then read the "why" together. Same destination for every lane, so one answer serves the whole class.
Answer: Read the source and the questions (15 minutes)  (E); Answer Questions 1 to 4 (about 40 minutes)  (C); Plan your writing (5 minutes)  (A); Write your Question 5 response (40 minutes)  (D); Proofread your answers (5 minutes)  (B)
Why: Read (15), Section A (40), plan (5), write (40), proofread (5): 105 minutes, which is 1 hour 45 minutes.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exit ticket: Exit ticket. Reveal the answer; pupils mark their own work in a different colour, then read the "why" together. Same destination for every lane, so one answer serves the whole class.
Answer: B   A girl waits alone on a windy harbour for the last ferry.
Why: Nell sits alone at the end of the jetty in the wind, waiting for the last ferry of the year. The other summaries invent events that do not happen in Part 1.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STRA_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E2CBCE"/>
          </a:solidFill>
          <a:ln w="12700">
            <a:solidFill>
              <a:srgbClr val="E2CBCE"/>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English Language · Year 10 · Language Paper 1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STRA_CONTENT">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E2CBCE"/>
          </a:solidFill>
          <a:ln w="12700">
            <a:solidFill>
              <a:srgbClr val="E2CBCE"/>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English Language · Year 10 · Language Paper 1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band-hue"/>
          <p:cNvSpPr/>
          <p:nvPr/>
        </p:nvSpPr>
        <p:spPr>
          <a:xfrm>
            <a:off x="0" y="5989320"/>
            <a:ext cx="12191695" cy="164592"/>
          </a:xfrm>
          <a:prstGeom prst="rect">
            <a:avLst/>
          </a:prstGeom>
          <a:solidFill>
            <a:srgbClr val="8C2F39"/>
          </a:solidFill>
          <a:ln/>
        </p:spPr>
      </p:sp>
      <p:sp>
        <p:nvSpPr>
          <p:cNvPr id="4" name="band-gold"/>
          <p:cNvSpPr/>
          <p:nvPr/>
        </p:nvSpPr>
        <p:spPr>
          <a:xfrm>
            <a:off x="0" y="6208776"/>
            <a:ext cx="12191695" cy="64008"/>
          </a:xfrm>
          <a:prstGeom prst="rect">
            <a:avLst/>
          </a:prstGeom>
          <a:solidFill>
            <a:srgbClr val="B8862B"/>
          </a:solidFill>
          <a:ln/>
        </p:spPr>
      </p:sp>
      <p:sp>
        <p:nvSpPr>
          <p:cNvPr id="5" name="hex-deco1"/>
          <p:cNvSpPr/>
          <p:nvPr/>
        </p:nvSpPr>
        <p:spPr>
          <a:xfrm>
            <a:off x="1373886" y="276195"/>
            <a:ext cx="525780" cy="455325"/>
          </a:xfrm>
          <a:prstGeom prst="hexagon">
            <a:avLst/>
          </a:prstGeom>
          <a:solidFill>
            <a:srgbClr val="E5CFD1"/>
          </a:solidFill>
          <a:ln/>
        </p:spPr>
      </p:sp>
      <p:sp>
        <p:nvSpPr>
          <p:cNvPr id="6" name="hex-deco2"/>
          <p:cNvSpPr/>
          <p:nvPr/>
        </p:nvSpPr>
        <p:spPr>
          <a:xfrm>
            <a:off x="1373886" y="1168557"/>
            <a:ext cx="525780" cy="455325"/>
          </a:xfrm>
          <a:prstGeom prst="hexagon">
            <a:avLst/>
          </a:prstGeom>
          <a:ln w="19050">
            <a:solidFill>
              <a:srgbClr val="B8862B"/>
            </a:solidFill>
            <a:prstDash val="solid"/>
          </a:ln>
        </p:spPr>
      </p:sp>
      <p:sp>
        <p:nvSpPr>
          <p:cNvPr id="7" name="hex-chapter"/>
          <p:cNvSpPr/>
          <p:nvPr/>
        </p:nvSpPr>
        <p:spPr>
          <a:xfrm>
            <a:off x="548640" y="457200"/>
            <a:ext cx="1051560" cy="910651"/>
          </a:xfrm>
          <a:prstGeom prst="hexagon">
            <a:avLst/>
          </a:prstGeom>
          <a:solidFill>
            <a:srgbClr val="8C2F39"/>
          </a:solidFill>
          <a:ln/>
        </p:spPr>
      </p:sp>
      <p:sp>
        <p:nvSpPr>
          <p:cNvPr id="8" name="hex-chapter-label"/>
          <p:cNvSpPr txBox="1"/>
          <p:nvPr/>
        </p:nvSpPr>
        <p:spPr>
          <a:xfrm>
            <a:off x="548640" y="457200"/>
            <a:ext cx="1051560" cy="910651"/>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1</a:t>
            </a:r>
            <a:endParaRPr lang="en-US" sz="4000" dirty="0"/>
          </a:p>
        </p:txBody>
      </p:sp>
      <p:sp>
        <p:nvSpPr>
          <p:cNvPr id="9" name="kicker"/>
          <p:cNvSpPr txBox="1"/>
          <p:nvPr/>
        </p:nvSpPr>
        <p:spPr>
          <a:xfrm>
            <a:off x="2331720" y="256032"/>
            <a:ext cx="3504895" cy="1298448"/>
          </a:xfrm>
          <a:prstGeom prst="rect">
            <a:avLst/>
          </a:prstGeom>
          <a:noFill/>
          <a:ln/>
        </p:spPr>
        <p:txBody>
          <a:bodyPr wrap="square" lIns="63500" tIns="63500" rIns="63500" bIns="63500" rtlCol="0" anchor="ctr"/>
          <a:lstStyle/>
          <a:p>
            <a:pPr algn="l" indent="0" marL="0">
              <a:spcAft>
                <a:spcPts val="200"/>
              </a:spcAft>
              <a:buNone/>
            </a:pPr>
            <a:r>
              <a:rPr lang="en-US" sz="1800" b="1" dirty="0">
                <a:solidFill>
                  <a:srgbClr val="8C2F39"/>
                </a:solidFill>
                <a:latin typeface="Calibri" pitchFamily="34" charset="0"/>
                <a:ea typeface="Calibri" pitchFamily="34" charset="-122"/>
                <a:cs typeface="Calibri" pitchFamily="34" charset="-120"/>
              </a:rPr>
              <a:t>English Language · Year 10</a:t>
            </a:r>
            <a:endParaRPr lang="en-US" sz="1800" dirty="0"/>
          </a:p>
          <a:p>
            <a:pPr algn="l" indent="0" marL="0">
              <a:spcAft>
                <a:spcPts val="200"/>
              </a:spcAft>
              <a:buNone/>
            </a:pPr>
            <a:r>
              <a:rPr lang="en-US" sz="1800" b="1" dirty="0">
                <a:solidFill>
                  <a:srgbClr val="936B22"/>
                </a:solidFill>
                <a:latin typeface="Calibri" pitchFamily="34" charset="0"/>
                <a:ea typeface="Calibri" pitchFamily="34" charset="-122"/>
                <a:cs typeface="Calibri" pitchFamily="34" charset="-120"/>
              </a:rPr>
              <a:t>Chapter 1/6</a:t>
            </a:r>
            <a:endParaRPr lang="en-US" sz="1800" dirty="0"/>
          </a:p>
          <a:p>
            <a:pPr algn="l" indent="0" marL="0">
              <a:buNone/>
            </a:pPr>
            <a:r>
              <a:rPr lang="en-US" sz="1800" dirty="0">
                <a:solidFill>
                  <a:srgbClr val="4A505C"/>
                </a:solidFill>
                <a:latin typeface="Calibri" pitchFamily="34" charset="0"/>
                <a:ea typeface="Calibri" pitchFamily="34" charset="-122"/>
                <a:cs typeface="Calibri" pitchFamily="34" charset="-120"/>
              </a:rPr>
              <a:t>Language Paper 1 · AQA 8700</a:t>
            </a:r>
            <a:endParaRPr lang="en-US" sz="1800" dirty="0"/>
          </a:p>
        </p:txBody>
      </p:sp>
      <p:sp>
        <p:nvSpPr>
          <p:cNvPr id="10" name="deck-title"/>
          <p:cNvSpPr txBox="1"/>
          <p:nvPr/>
        </p:nvSpPr>
        <p:spPr>
          <a:xfrm>
            <a:off x="548640" y="1975358"/>
            <a:ext cx="5287975" cy="1315720"/>
          </a:xfrm>
          <a:prstGeom prst="rect">
            <a:avLst/>
          </a:prstGeom>
          <a:noFill/>
          <a:ln/>
        </p:spPr>
        <p:txBody>
          <a:bodyPr wrap="square" lIns="63500" tIns="63500" rIns="63500" bIns="63500" rtlCol="0" anchor="t"/>
          <a:lstStyle/>
          <a:p>
            <a:pPr algn="l" indent="0" marL="0">
              <a:buNone/>
            </a:pPr>
            <a:r>
              <a:rPr lang="en-US" sz="3600" b="1" dirty="0">
                <a:solidFill>
                  <a:srgbClr val="1E2229"/>
                </a:solidFill>
                <a:latin typeface="Cambria" pitchFamily="34" charset="0"/>
                <a:ea typeface="Cambria" pitchFamily="34" charset="-122"/>
                <a:cs typeface="Cambria" pitchFamily="34" charset="-120"/>
              </a:rPr>
              <a:t>Know the paper: map, timings and first read</a:t>
            </a:r>
            <a:endParaRPr lang="en-US" sz="3600" dirty="0"/>
          </a:p>
        </p:txBody>
      </p:sp>
      <p:sp>
        <p:nvSpPr>
          <p:cNvPr id="11" name="lessons-card"/>
          <p:cNvSpPr/>
          <p:nvPr/>
        </p:nvSpPr>
        <p:spPr>
          <a:xfrm>
            <a:off x="548640" y="3519678"/>
            <a:ext cx="5287975" cy="1948180"/>
          </a:xfrm>
          <a:prstGeom prst="roundRect">
            <a:avLst>
              <a:gd name="adj" fmla="val 3755"/>
            </a:avLst>
          </a:prstGeom>
          <a:solidFill>
            <a:srgbClr val="F0E4E5"/>
          </a:solidFill>
          <a:ln/>
        </p:spPr>
      </p:sp>
      <p:sp>
        <p:nvSpPr>
          <p:cNvPr id="12" name="lessons"/>
          <p:cNvSpPr txBox="1"/>
          <p:nvPr/>
        </p:nvSpPr>
        <p:spPr>
          <a:xfrm>
            <a:off x="685800" y="3611118"/>
            <a:ext cx="5013655" cy="1765300"/>
          </a:xfrm>
          <a:prstGeom prst="rect">
            <a:avLst/>
          </a:prstGeom>
          <a:noFill/>
          <a:ln/>
        </p:spPr>
        <p:txBody>
          <a:bodyPr wrap="square" lIns="63500" tIns="63500" rIns="63500" bIns="63500" rtlCol="0" anchor="t"/>
          <a:lstStyle/>
          <a:p>
            <a:pPr algn="l" indent="0" marL="0">
              <a:spcAft>
                <a:spcPts val="400"/>
              </a:spcAft>
              <a:buNone/>
            </a:pPr>
            <a:r>
              <a:rPr lang="en-US" sz="2000" b="1" dirty="0">
                <a:solidFill>
                  <a:srgbClr val="8C2F39"/>
                </a:solidFill>
                <a:latin typeface="Calibri" pitchFamily="34" charset="0"/>
                <a:ea typeface="Calibri" pitchFamily="34" charset="-122"/>
                <a:cs typeface="Calibri" pitchFamily="34" charset="-120"/>
              </a:rPr>
              <a:t>Lessons covered</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1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Language Paper 1: introduction, Question 1 and Question 2</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6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Language Paper 1 – 2026: reading strategy, Question 1 and Question 2</a:t>
            </a:r>
            <a:endParaRPr lang="en-US" sz="2000" dirty="0"/>
          </a:p>
        </p:txBody>
      </p:sp>
      <p:sp>
        <p:nvSpPr>
          <p:cNvPr id="13" name="plate-frame"/>
          <p:cNvSpPr/>
          <p:nvPr/>
        </p:nvSpPr>
        <p:spPr>
          <a:xfrm>
            <a:off x="6248095" y="411480"/>
            <a:ext cx="5394960" cy="3130677"/>
          </a:xfrm>
          <a:prstGeom prst="rect">
            <a:avLst/>
          </a:prstGeom>
          <a:solidFill>
            <a:srgbClr val="F0E6D2"/>
          </a:solidFill>
          <a:ln w="19050">
            <a:solidFill>
              <a:srgbClr val="B8862B"/>
            </a:solidFill>
            <a:prstDash val="solid"/>
          </a:ln>
          <a:effectLst>
            <a:outerShdw sx="100000" sy="100000" kx="0" ky="0" algn="bl" rotWithShape="0" blurRad="76200" dist="25400" dir="5400000">
              <a:srgbClr val="000000">
                <a:alpha val="12000"/>
              </a:srgbClr>
            </a:outerShdw>
          </a:effectLst>
        </p:spPr>
      </p:sp>
      <p:pic>
        <p:nvPicPr>
          <p:cNvPr id="14" name="plate" descr="Ad Astra engraved plate for English Language, Year 10">    </p:cNvPr>
          <p:cNvPicPr>
            <a:picLocks noChangeAspect="1"/>
          </p:cNvPicPr>
          <p:nvPr/>
        </p:nvPicPr>
        <p:blipFill>
          <a:blip r:embed="rId1"/>
          <a:stretch>
            <a:fillRect/>
          </a:stretch>
        </p:blipFill>
        <p:spPr>
          <a:xfrm>
            <a:off x="6357823" y="521208"/>
            <a:ext cx="5175504" cy="2911221"/>
          </a:xfrm>
          <a:prstGeom prst="rect">
            <a:avLst/>
          </a:prstGeom>
        </p:spPr>
      </p:pic>
      <p:sp>
        <p:nvSpPr>
          <p:cNvPr id="15" name="plate-inner"/>
          <p:cNvSpPr/>
          <p:nvPr/>
        </p:nvSpPr>
        <p:spPr>
          <a:xfrm>
            <a:off x="6357823" y="521208"/>
            <a:ext cx="5175504" cy="2911221"/>
          </a:xfrm>
          <a:prstGeom prst="rect">
            <a:avLst/>
          </a:prstGeom>
          <a:ln w="9525">
            <a:solidFill>
              <a:srgbClr val="B8862B"/>
            </a:solidFill>
            <a:prstDash val="solid"/>
          </a:ln>
        </p:spPr>
      </p:sp>
      <p:sp>
        <p:nvSpPr>
          <p:cNvPr id="16" name="stud0"/>
          <p:cNvSpPr/>
          <p:nvPr/>
        </p:nvSpPr>
        <p:spPr>
          <a:xfrm>
            <a:off x="6138367" y="316456"/>
            <a:ext cx="219456" cy="190049"/>
          </a:xfrm>
          <a:prstGeom prst="hexagon">
            <a:avLst/>
          </a:prstGeom>
          <a:solidFill>
            <a:srgbClr val="B8862B"/>
          </a:solidFill>
          <a:ln w="12700">
            <a:solidFill>
              <a:srgbClr val="FFFFFF"/>
            </a:solidFill>
            <a:prstDash val="solid"/>
          </a:ln>
        </p:spPr>
      </p:sp>
      <p:sp>
        <p:nvSpPr>
          <p:cNvPr id="17" name="stud1"/>
          <p:cNvSpPr/>
          <p:nvPr/>
        </p:nvSpPr>
        <p:spPr>
          <a:xfrm>
            <a:off x="11533327" y="316456"/>
            <a:ext cx="219456" cy="190049"/>
          </a:xfrm>
          <a:prstGeom prst="hexagon">
            <a:avLst/>
          </a:prstGeom>
          <a:solidFill>
            <a:srgbClr val="B8862B"/>
          </a:solidFill>
          <a:ln w="12700">
            <a:solidFill>
              <a:srgbClr val="FFFFFF"/>
            </a:solidFill>
            <a:prstDash val="solid"/>
          </a:ln>
        </p:spPr>
      </p:sp>
      <p:sp>
        <p:nvSpPr>
          <p:cNvPr id="18" name="stud2"/>
          <p:cNvSpPr/>
          <p:nvPr/>
        </p:nvSpPr>
        <p:spPr>
          <a:xfrm>
            <a:off x="6138367" y="3447133"/>
            <a:ext cx="219456" cy="190049"/>
          </a:xfrm>
          <a:prstGeom prst="hexagon">
            <a:avLst/>
          </a:prstGeom>
          <a:solidFill>
            <a:srgbClr val="B8862B"/>
          </a:solidFill>
          <a:ln w="12700">
            <a:solidFill>
              <a:srgbClr val="FFFFFF"/>
            </a:solidFill>
            <a:prstDash val="solid"/>
          </a:ln>
        </p:spPr>
      </p:sp>
      <p:sp>
        <p:nvSpPr>
          <p:cNvPr id="19" name="stud3"/>
          <p:cNvSpPr/>
          <p:nvPr/>
        </p:nvSpPr>
        <p:spPr>
          <a:xfrm>
            <a:off x="11533327" y="3447133"/>
            <a:ext cx="219456" cy="190049"/>
          </a:xfrm>
          <a:prstGeom prst="hexagon">
            <a:avLst/>
          </a:prstGeom>
          <a:solidFill>
            <a:srgbClr val="B8862B"/>
          </a:solidFill>
          <a:ln w="12700">
            <a:solidFill>
              <a:srgbClr val="FFFFFF"/>
            </a:solidFill>
            <a:prstDash val="solid"/>
          </a:ln>
        </p:spPr>
      </p:sp>
      <p:sp>
        <p:nvSpPr>
          <p:cNvPr id="20" name="bq-card"/>
          <p:cNvSpPr/>
          <p:nvPr/>
        </p:nvSpPr>
        <p:spPr>
          <a:xfrm>
            <a:off x="6248095" y="3816477"/>
            <a:ext cx="5394960" cy="2053971"/>
          </a:xfrm>
          <a:prstGeom prst="roundRect">
            <a:avLst>
              <a:gd name="adj" fmla="val 3561"/>
            </a:avLst>
          </a:prstGeom>
          <a:solidFill>
            <a:srgbClr val="F0E4E5"/>
          </a:solidFill>
          <a:ln w="12700">
            <a:solidFill>
              <a:srgbClr val="CEA6AA"/>
            </a:solidFill>
            <a:prstDash val="solid"/>
          </a:ln>
        </p:spPr>
      </p:sp>
      <p:sp>
        <p:nvSpPr>
          <p:cNvPr id="21" name="bq-hex"/>
          <p:cNvSpPr/>
          <p:nvPr/>
        </p:nvSpPr>
        <p:spPr>
          <a:xfrm>
            <a:off x="6412687" y="3999357"/>
            <a:ext cx="621792" cy="538472"/>
          </a:xfrm>
          <a:prstGeom prst="hexagon">
            <a:avLst/>
          </a:prstGeom>
          <a:solidFill>
            <a:srgbClr val="B8862B"/>
          </a:solidFill>
          <a:ln/>
        </p:spPr>
      </p:sp>
      <p:sp>
        <p:nvSpPr>
          <p:cNvPr id="22" name="bq-hex-label"/>
          <p:cNvSpPr txBox="1"/>
          <p:nvPr/>
        </p:nvSpPr>
        <p:spPr>
          <a:xfrm>
            <a:off x="6412687" y="3999357"/>
            <a:ext cx="621792" cy="538472"/>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a:t>
            </a:r>
            <a:endParaRPr lang="en-US" sz="2600" dirty="0"/>
          </a:p>
        </p:txBody>
      </p:sp>
      <p:sp>
        <p:nvSpPr>
          <p:cNvPr id="23" name="bq"/>
          <p:cNvSpPr txBox="1"/>
          <p:nvPr/>
        </p:nvSpPr>
        <p:spPr>
          <a:xfrm>
            <a:off x="7144207" y="3907917"/>
            <a:ext cx="4389120" cy="1871091"/>
          </a:xfrm>
          <a:prstGeom prst="rect">
            <a:avLst/>
          </a:prstGeom>
          <a:noFill/>
          <a:ln/>
        </p:spPr>
        <p:txBody>
          <a:bodyPr wrap="square" lIns="63500" tIns="63500" rIns="63500" bIns="63500" rtlCol="0" anchor="ctr"/>
          <a:lstStyle/>
          <a:p>
            <a:pPr algn="l" indent="0" marL="0">
              <a:spcAft>
                <a:spcPts val="400"/>
              </a:spcAft>
              <a:buNone/>
            </a:pPr>
            <a:r>
              <a:rPr lang="en-US" sz="1800" b="1" dirty="0">
                <a:solidFill>
                  <a:srgbClr val="8C2F39"/>
                </a:solidFill>
                <a:latin typeface="Calibri" pitchFamily="34" charset="0"/>
                <a:ea typeface="Calibri" pitchFamily="34" charset="-122"/>
                <a:cs typeface="Calibri" pitchFamily="34" charset="-120"/>
              </a:rPr>
              <a:t>Big question</a:t>
            </a:r>
            <a:endParaRPr lang="en-US" sz="1800" dirty="0"/>
          </a:p>
          <a:p>
            <a:pPr algn="l" indent="0" marL="0">
              <a:buNone/>
            </a:pPr>
            <a:r>
              <a:rPr lang="en-US" sz="2400" i="1" dirty="0">
                <a:solidFill>
                  <a:srgbClr val="1E2229"/>
                </a:solidFill>
                <a:latin typeface="Cambria" pitchFamily="34" charset="0"/>
                <a:ea typeface="Cambria" pitchFamily="34" charset="-122"/>
                <a:cs typeface="Cambria" pitchFamily="34" charset="-120"/>
              </a:rPr>
              <a:t>What does Paper 1 involve, and how do I read and prepare a text so I know the story being told?</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Do now: three from memory</a:t>
            </a:r>
            <a:endParaRPr lang="en-US" sz="3200" dirty="0"/>
          </a:p>
        </p:txBody>
      </p:sp>
      <p:sp>
        <p:nvSpPr>
          <p:cNvPr id="4" name="chip-hex"/>
          <p:cNvSpPr/>
          <p:nvPr/>
        </p:nvSpPr>
        <p:spPr>
          <a:xfrm>
            <a:off x="9677095" y="531760"/>
            <a:ext cx="566928" cy="490960"/>
          </a:xfrm>
          <a:prstGeom prst="hexagon">
            <a:avLst/>
          </a:prstGeom>
          <a:solidFill>
            <a:srgbClr val="8C2F39"/>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F4EAEB"/>
          </a:solidFill>
          <a:ln w="12700">
            <a:solidFill>
              <a:srgbClr val="D3B0B4"/>
            </a:solidFill>
            <a:prstDash val="solid"/>
          </a:ln>
        </p:spPr>
      </p:sp>
      <p:sp>
        <p:nvSpPr>
          <p:cNvPr id="8" name="card-hex"/>
          <p:cNvSpPr/>
          <p:nvPr/>
        </p:nvSpPr>
        <p:spPr>
          <a:xfrm>
            <a:off x="731520" y="1572768"/>
            <a:ext cx="640080" cy="554309"/>
          </a:xfrm>
          <a:prstGeom prst="hexagon">
            <a:avLst/>
          </a:prstGeom>
          <a:solidFill>
            <a:srgbClr val="8C2F39"/>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Choose one</a:t>
            </a:r>
            <a:endParaRPr lang="en-US" sz="1800" dirty="0"/>
          </a:p>
        </p:txBody>
      </p:sp>
      <p:sp>
        <p:nvSpPr>
          <p:cNvPr id="11" name="card-body"/>
          <p:cNvSpPr txBox="1"/>
          <p:nvPr/>
        </p:nvSpPr>
        <p:spPr>
          <a:xfrm>
            <a:off x="731520"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How long is Paper 1?</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2 hours</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1 hour 30 minutes</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1 hour 45 minutes</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1 hour</a:t>
            </a:r>
            <a:endParaRPr lang="en-US" sz="2400" dirty="0"/>
          </a:p>
        </p:txBody>
      </p:sp>
      <p:sp>
        <p:nvSpPr>
          <p:cNvPr id="12" name="card"/>
          <p:cNvSpPr/>
          <p:nvPr/>
        </p:nvSpPr>
        <p:spPr>
          <a:xfrm>
            <a:off x="4338218" y="1389888"/>
            <a:ext cx="3515258" cy="4754880"/>
          </a:xfrm>
          <a:prstGeom prst="roundRect">
            <a:avLst>
              <a:gd name="adj" fmla="val 1561"/>
            </a:avLst>
          </a:prstGeom>
          <a:solidFill>
            <a:srgbClr val="F4EAEB"/>
          </a:solidFill>
          <a:ln w="12700">
            <a:solidFill>
              <a:srgbClr val="D3B0B4"/>
            </a:solidFill>
            <a:prstDash val="solid"/>
          </a:ln>
        </p:spPr>
      </p:sp>
      <p:sp>
        <p:nvSpPr>
          <p:cNvPr id="13" name="card-hex"/>
          <p:cNvSpPr/>
          <p:nvPr/>
        </p:nvSpPr>
        <p:spPr>
          <a:xfrm>
            <a:off x="4521098" y="1572768"/>
            <a:ext cx="640080" cy="554309"/>
          </a:xfrm>
          <a:prstGeom prst="hexagon">
            <a:avLst/>
          </a:prstGeom>
          <a:solidFill>
            <a:srgbClr val="8C2F39"/>
          </a:solidFill>
          <a:ln/>
        </p:spPr>
      </p:sp>
      <p:sp>
        <p:nvSpPr>
          <p:cNvPr id="14"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5"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Choose one</a:t>
            </a:r>
            <a:endParaRPr lang="en-US" sz="1800" dirty="0"/>
          </a:p>
        </p:txBody>
      </p:sp>
      <p:sp>
        <p:nvSpPr>
          <p:cNvPr id="16" name="card-body"/>
          <p:cNvSpPr txBox="1"/>
          <p:nvPr/>
        </p:nvSpPr>
        <p:spPr>
          <a:xfrm>
            <a:off x="4521098"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Which question is worth the most marks in Section A?</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Question 2</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Question 4</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Question 1</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Question 3</a:t>
            </a:r>
            <a:endParaRPr lang="en-US" sz="2400" dirty="0"/>
          </a:p>
        </p:txBody>
      </p:sp>
      <p:sp>
        <p:nvSpPr>
          <p:cNvPr id="17" name="card"/>
          <p:cNvSpPr/>
          <p:nvPr/>
        </p:nvSpPr>
        <p:spPr>
          <a:xfrm>
            <a:off x="8127797" y="1389888"/>
            <a:ext cx="3515258" cy="4754880"/>
          </a:xfrm>
          <a:prstGeom prst="roundRect">
            <a:avLst>
              <a:gd name="adj" fmla="val 1561"/>
            </a:avLst>
          </a:prstGeom>
          <a:solidFill>
            <a:srgbClr val="F4EAEB"/>
          </a:solidFill>
          <a:ln w="12700">
            <a:solidFill>
              <a:srgbClr val="D3B0B4"/>
            </a:solidFill>
            <a:prstDash val="solid"/>
          </a:ln>
        </p:spPr>
      </p:sp>
      <p:sp>
        <p:nvSpPr>
          <p:cNvPr id="18" name="card-hex"/>
          <p:cNvSpPr/>
          <p:nvPr/>
        </p:nvSpPr>
        <p:spPr>
          <a:xfrm>
            <a:off x="8310677" y="1572768"/>
            <a:ext cx="640080" cy="554309"/>
          </a:xfrm>
          <a:prstGeom prst="hexagon">
            <a:avLst/>
          </a:prstGeom>
          <a:solidFill>
            <a:srgbClr val="8C2F39"/>
          </a:solidFill>
          <a:ln/>
        </p:spPr>
      </p:sp>
      <p:sp>
        <p:nvSpPr>
          <p:cNvPr id="19"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0"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Fill the gap</a:t>
            </a:r>
            <a:endParaRPr lang="en-US" sz="1800" dirty="0"/>
          </a:p>
        </p:txBody>
      </p:sp>
      <p:sp>
        <p:nvSpPr>
          <p:cNvPr id="21" name="card-body"/>
          <p:cNvSpPr txBox="1"/>
          <p:nvPr/>
        </p:nvSpPr>
        <p:spPr>
          <a:xfrm>
            <a:off x="8310677"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In Section B you have 45 minutes: about ___ minutes to plan and 40 minutes to write.</a:t>
            </a:r>
            <a:endParaRPr lang="en-US" sz="2400" dirty="0"/>
          </a:p>
          <a:p>
            <a:pPr algn="l" indent="0" marL="0">
              <a:buNone/>
            </a:pPr>
            <a:r>
              <a:rPr lang="en-US" sz="2400" b="1" dirty="0">
                <a:solidFill>
                  <a:srgbClr val="8C2F39"/>
                </a:solidFill>
                <a:latin typeface="Calibri" pitchFamily="34" charset="0"/>
                <a:ea typeface="Calibri" pitchFamily="34" charset="-122"/>
                <a:cs typeface="Calibri" pitchFamily="34" charset="-120"/>
              </a:rPr>
              <a:t>Word bank:  </a:t>
            </a:r>
            <a:pPr algn="l" indent="0" marL="0">
              <a:buNone/>
            </a:pPr>
            <a:r>
              <a:rPr lang="en-US" sz="2400" dirty="0">
                <a:solidFill>
                  <a:srgbClr val="1E2229"/>
                </a:solidFill>
                <a:latin typeface="Calibri" pitchFamily="34" charset="0"/>
                <a:ea typeface="Calibri" pitchFamily="34" charset="-122"/>
                <a:cs typeface="Calibri" pitchFamily="34" charset="-120"/>
              </a:rPr>
              <a:t>5  ·  15  ·  25</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Answers</a:t>
            </a:r>
            <a:endParaRPr lang="en-US" sz="3200" dirty="0"/>
          </a:p>
        </p:txBody>
      </p:sp>
      <p:sp>
        <p:nvSpPr>
          <p:cNvPr id="4" name="chip-hex"/>
          <p:cNvSpPr/>
          <p:nvPr/>
        </p:nvSpPr>
        <p:spPr>
          <a:xfrm>
            <a:off x="9677095" y="531760"/>
            <a:ext cx="566928" cy="490960"/>
          </a:xfrm>
          <a:prstGeom prst="hexagon">
            <a:avLst/>
          </a:prstGeom>
          <a:solidFill>
            <a:srgbClr val="8C2F39"/>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F4EAEB"/>
          </a:solidFill>
          <a:ln w="12700">
            <a:solidFill>
              <a:srgbClr val="D3B0B4"/>
            </a:solidFill>
            <a:prstDash val="solid"/>
          </a:ln>
        </p:spPr>
      </p:sp>
      <p:sp>
        <p:nvSpPr>
          <p:cNvPr id="8" name="card-hex"/>
          <p:cNvSpPr/>
          <p:nvPr/>
        </p:nvSpPr>
        <p:spPr>
          <a:xfrm>
            <a:off x="731520" y="1572768"/>
            <a:ext cx="640080" cy="554309"/>
          </a:xfrm>
          <a:prstGeom prst="hexagon">
            <a:avLst/>
          </a:prstGeom>
          <a:solidFill>
            <a:srgbClr val="8C2F39"/>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Answer</a:t>
            </a:r>
            <a:endParaRPr lang="en-US" sz="1800" dirty="0"/>
          </a:p>
        </p:txBody>
      </p:sp>
      <p:sp>
        <p:nvSpPr>
          <p:cNvPr id="11" name="answer-chip"/>
          <p:cNvSpPr/>
          <p:nvPr/>
        </p:nvSpPr>
        <p:spPr>
          <a:xfrm>
            <a:off x="731520" y="2355677"/>
            <a:ext cx="3149498" cy="614172"/>
          </a:xfrm>
          <a:prstGeom prst="roundRect">
            <a:avLst>
              <a:gd name="adj" fmla="val 17866"/>
            </a:avLst>
          </a:prstGeom>
          <a:solidFill>
            <a:srgbClr val="EBDDC4"/>
          </a:solidFill>
          <a:ln w="19050">
            <a:solidFill>
              <a:srgbClr val="B8862B"/>
            </a:solidFill>
            <a:prstDash val="solid"/>
          </a:ln>
        </p:spPr>
      </p:sp>
      <p:sp>
        <p:nvSpPr>
          <p:cNvPr id="12" name="answer"/>
          <p:cNvSpPr txBox="1"/>
          <p:nvPr/>
        </p:nvSpPr>
        <p:spPr>
          <a:xfrm>
            <a:off x="822960"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C   1 hour 45 minutes</a:t>
            </a:r>
            <a:endParaRPr lang="en-US" sz="2200" dirty="0"/>
          </a:p>
        </p:txBody>
      </p:sp>
      <p:sp>
        <p:nvSpPr>
          <p:cNvPr id="13" name="card-body"/>
          <p:cNvSpPr txBox="1"/>
          <p:nvPr/>
        </p:nvSpPr>
        <p:spPr>
          <a:xfrm>
            <a:off x="731520"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2200" dirty="0">
                <a:solidFill>
                  <a:srgbClr val="4A505C"/>
                </a:solidFill>
                <a:latin typeface="Calibri" pitchFamily="34" charset="0"/>
                <a:ea typeface="Calibri" pitchFamily="34" charset="-122"/>
                <a:cs typeface="Calibri" pitchFamily="34" charset="-120"/>
              </a:rPr>
              <a:t>How long is Paper 1?</a:t>
            </a:r>
            <a:endParaRPr lang="en-US" sz="2200" dirty="0"/>
          </a:p>
          <a:p>
            <a:pPr algn="l" indent="0" marL="0">
              <a:buNone/>
            </a:pPr>
            <a:r>
              <a:rPr lang="en-US" sz="2200" i="1" dirty="0">
                <a:solidFill>
                  <a:srgbClr val="1E2229"/>
                </a:solidFill>
                <a:latin typeface="Calibri" pitchFamily="34" charset="0"/>
                <a:ea typeface="Calibri" pitchFamily="34" charset="-122"/>
                <a:cs typeface="Calibri" pitchFamily="34" charset="-120"/>
              </a:rPr>
              <a:t>Paper 1 lasts 1 hour 45 minutes: 15 reading, 40 on Section A, 45 on Section B and 5 checking.</a:t>
            </a:r>
            <a:endParaRPr lang="en-US" sz="2200" dirty="0"/>
          </a:p>
        </p:txBody>
      </p:sp>
      <p:sp>
        <p:nvSpPr>
          <p:cNvPr id="14" name="card"/>
          <p:cNvSpPr/>
          <p:nvPr/>
        </p:nvSpPr>
        <p:spPr>
          <a:xfrm>
            <a:off x="4338218" y="1389888"/>
            <a:ext cx="3515258" cy="4754880"/>
          </a:xfrm>
          <a:prstGeom prst="roundRect">
            <a:avLst>
              <a:gd name="adj" fmla="val 1561"/>
            </a:avLst>
          </a:prstGeom>
          <a:solidFill>
            <a:srgbClr val="F4EAEB"/>
          </a:solidFill>
          <a:ln w="12700">
            <a:solidFill>
              <a:srgbClr val="D3B0B4"/>
            </a:solidFill>
            <a:prstDash val="solid"/>
          </a:ln>
        </p:spPr>
      </p:sp>
      <p:sp>
        <p:nvSpPr>
          <p:cNvPr id="15" name="card-hex"/>
          <p:cNvSpPr/>
          <p:nvPr/>
        </p:nvSpPr>
        <p:spPr>
          <a:xfrm>
            <a:off x="4521098" y="1572768"/>
            <a:ext cx="640080" cy="554309"/>
          </a:xfrm>
          <a:prstGeom prst="hexagon">
            <a:avLst/>
          </a:prstGeom>
          <a:solidFill>
            <a:srgbClr val="8C2F39"/>
          </a:solidFill>
          <a:ln/>
        </p:spPr>
      </p:sp>
      <p:sp>
        <p:nvSpPr>
          <p:cNvPr id="16"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7"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Answer</a:t>
            </a:r>
            <a:endParaRPr lang="en-US" sz="1800" dirty="0"/>
          </a:p>
        </p:txBody>
      </p:sp>
      <p:sp>
        <p:nvSpPr>
          <p:cNvPr id="18" name="answer-chip"/>
          <p:cNvSpPr/>
          <p:nvPr/>
        </p:nvSpPr>
        <p:spPr>
          <a:xfrm>
            <a:off x="4521098" y="2355677"/>
            <a:ext cx="3149498" cy="614172"/>
          </a:xfrm>
          <a:prstGeom prst="roundRect">
            <a:avLst>
              <a:gd name="adj" fmla="val 17866"/>
            </a:avLst>
          </a:prstGeom>
          <a:solidFill>
            <a:srgbClr val="EBDDC4"/>
          </a:solidFill>
          <a:ln w="19050">
            <a:solidFill>
              <a:srgbClr val="B8862B"/>
            </a:solidFill>
            <a:prstDash val="solid"/>
          </a:ln>
        </p:spPr>
      </p:sp>
      <p:sp>
        <p:nvSpPr>
          <p:cNvPr id="19" name="answer"/>
          <p:cNvSpPr txBox="1"/>
          <p:nvPr/>
        </p:nvSpPr>
        <p:spPr>
          <a:xfrm>
            <a:off x="4612538"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B   Question 4</a:t>
            </a:r>
            <a:endParaRPr lang="en-US" sz="2200" dirty="0"/>
          </a:p>
        </p:txBody>
      </p:sp>
      <p:sp>
        <p:nvSpPr>
          <p:cNvPr id="20" name="card-body"/>
          <p:cNvSpPr txBox="1"/>
          <p:nvPr/>
        </p:nvSpPr>
        <p:spPr>
          <a:xfrm>
            <a:off x="4521098"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2200" dirty="0">
                <a:solidFill>
                  <a:srgbClr val="4A505C"/>
                </a:solidFill>
                <a:latin typeface="Calibri" pitchFamily="34" charset="0"/>
                <a:ea typeface="Calibri" pitchFamily="34" charset="-122"/>
                <a:cs typeface="Calibri" pitchFamily="34" charset="-120"/>
              </a:rPr>
              <a:t>Which question is worth the most marks in Section A?</a:t>
            </a:r>
            <a:endParaRPr lang="en-US" sz="2200" dirty="0"/>
          </a:p>
          <a:p>
            <a:pPr algn="l" indent="0" marL="0">
              <a:buNone/>
            </a:pPr>
            <a:r>
              <a:rPr lang="en-US" sz="2200" i="1" dirty="0">
                <a:solidFill>
                  <a:srgbClr val="1E2229"/>
                </a:solidFill>
                <a:latin typeface="Calibri" pitchFamily="34" charset="0"/>
                <a:ea typeface="Calibri" pitchFamily="34" charset="-122"/>
                <a:cs typeface="Calibri" pitchFamily="34" charset="-120"/>
              </a:rPr>
              <a:t>Question 4 is worth 20 marks, more than Questions 1, 2 and 3 added together.</a:t>
            </a:r>
            <a:endParaRPr lang="en-US" sz="2200" dirty="0"/>
          </a:p>
        </p:txBody>
      </p:sp>
      <p:sp>
        <p:nvSpPr>
          <p:cNvPr id="21" name="card"/>
          <p:cNvSpPr/>
          <p:nvPr/>
        </p:nvSpPr>
        <p:spPr>
          <a:xfrm>
            <a:off x="8127797" y="1389888"/>
            <a:ext cx="3515258" cy="4754880"/>
          </a:xfrm>
          <a:prstGeom prst="roundRect">
            <a:avLst>
              <a:gd name="adj" fmla="val 1561"/>
            </a:avLst>
          </a:prstGeom>
          <a:solidFill>
            <a:srgbClr val="F4EAEB"/>
          </a:solidFill>
          <a:ln w="12700">
            <a:solidFill>
              <a:srgbClr val="D3B0B4"/>
            </a:solidFill>
            <a:prstDash val="solid"/>
          </a:ln>
        </p:spPr>
      </p:sp>
      <p:sp>
        <p:nvSpPr>
          <p:cNvPr id="22" name="card-hex"/>
          <p:cNvSpPr/>
          <p:nvPr/>
        </p:nvSpPr>
        <p:spPr>
          <a:xfrm>
            <a:off x="8310677" y="1572768"/>
            <a:ext cx="640080" cy="554309"/>
          </a:xfrm>
          <a:prstGeom prst="hexagon">
            <a:avLst/>
          </a:prstGeom>
          <a:solidFill>
            <a:srgbClr val="8C2F39"/>
          </a:solidFill>
          <a:ln/>
        </p:spPr>
      </p:sp>
      <p:sp>
        <p:nvSpPr>
          <p:cNvPr id="23"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4"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Answer</a:t>
            </a:r>
            <a:endParaRPr lang="en-US" sz="1800" dirty="0"/>
          </a:p>
        </p:txBody>
      </p:sp>
      <p:sp>
        <p:nvSpPr>
          <p:cNvPr id="25" name="answer-chip"/>
          <p:cNvSpPr/>
          <p:nvPr/>
        </p:nvSpPr>
        <p:spPr>
          <a:xfrm>
            <a:off x="8310677" y="2355677"/>
            <a:ext cx="3149498" cy="614172"/>
          </a:xfrm>
          <a:prstGeom prst="roundRect">
            <a:avLst>
              <a:gd name="adj" fmla="val 17866"/>
            </a:avLst>
          </a:prstGeom>
          <a:solidFill>
            <a:srgbClr val="EBDDC4"/>
          </a:solidFill>
          <a:ln w="19050">
            <a:solidFill>
              <a:srgbClr val="B8862B"/>
            </a:solidFill>
            <a:prstDash val="solid"/>
          </a:ln>
        </p:spPr>
      </p:sp>
      <p:sp>
        <p:nvSpPr>
          <p:cNvPr id="26" name="answer"/>
          <p:cNvSpPr txBox="1"/>
          <p:nvPr/>
        </p:nvSpPr>
        <p:spPr>
          <a:xfrm>
            <a:off x="8402117"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5</a:t>
            </a:r>
            <a:endParaRPr lang="en-US" sz="2200" dirty="0"/>
          </a:p>
        </p:txBody>
      </p:sp>
      <p:sp>
        <p:nvSpPr>
          <p:cNvPr id="27" name="card-body"/>
          <p:cNvSpPr txBox="1"/>
          <p:nvPr/>
        </p:nvSpPr>
        <p:spPr>
          <a:xfrm>
            <a:off x="8310677"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2200" dirty="0">
                <a:solidFill>
                  <a:srgbClr val="4A505C"/>
                </a:solidFill>
                <a:latin typeface="Calibri" pitchFamily="34" charset="0"/>
                <a:ea typeface="Calibri" pitchFamily="34" charset="-122"/>
                <a:cs typeface="Calibri" pitchFamily="34" charset="-120"/>
              </a:rPr>
              <a:t>In Section B you have 45 minutes: about ___ minutes to plan and 40 minutes to write.</a:t>
            </a:r>
            <a:endParaRPr lang="en-US" sz="2200" dirty="0"/>
          </a:p>
          <a:p>
            <a:pPr algn="l" indent="0" marL="0">
              <a:buNone/>
            </a:pPr>
            <a:r>
              <a:rPr lang="en-US" sz="2200" i="1" dirty="0">
                <a:solidFill>
                  <a:srgbClr val="1E2229"/>
                </a:solidFill>
                <a:latin typeface="Calibri" pitchFamily="34" charset="0"/>
                <a:ea typeface="Calibri" pitchFamily="34" charset="-122"/>
                <a:cs typeface="Calibri" pitchFamily="34" charset="-120"/>
              </a:rPr>
              <a:t>Five minutes of planning leaves 40 minutes for writing.</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Key words</a:t>
            </a:r>
            <a:endParaRPr lang="en-US" sz="3200" dirty="0"/>
          </a:p>
        </p:txBody>
      </p:sp>
      <p:sp>
        <p:nvSpPr>
          <p:cNvPr id="4" name="chip-hex"/>
          <p:cNvSpPr/>
          <p:nvPr/>
        </p:nvSpPr>
        <p:spPr>
          <a:xfrm>
            <a:off x="9677095" y="531760"/>
            <a:ext cx="566928" cy="490960"/>
          </a:xfrm>
          <a:prstGeom prst="hexagon">
            <a:avLst/>
          </a:prstGeom>
          <a:solidFill>
            <a:srgbClr val="8C2F39"/>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Pre-teach</a:t>
            </a:r>
            <a:endParaRPr lang="en-US" sz="1800" dirty="0"/>
          </a:p>
        </p:txBody>
      </p:sp>
      <p:sp>
        <p:nvSpPr>
          <p:cNvPr id="7" name="kw-head"/>
          <p:cNvSpPr/>
          <p:nvPr/>
        </p:nvSpPr>
        <p:spPr>
          <a:xfrm>
            <a:off x="548640" y="1389888"/>
            <a:ext cx="11094415" cy="457200"/>
          </a:xfrm>
          <a:prstGeom prst="roundRect">
            <a:avLst>
              <a:gd name="adj" fmla="val 16000"/>
            </a:avLst>
          </a:prstGeom>
          <a:solidFill>
            <a:srgbClr val="8C2F39"/>
          </a:solidFill>
          <a:ln/>
        </p:spPr>
      </p:sp>
      <p:sp>
        <p:nvSpPr>
          <p:cNvPr id="8" name="kw-headtext"/>
          <p:cNvSpPr txBox="1"/>
          <p:nvPr/>
        </p:nvSpPr>
        <p:spPr>
          <a:xfrm>
            <a:off x="1143000" y="1389888"/>
            <a:ext cx="2331720" cy="457200"/>
          </a:xfrm>
          <a:prstGeom prst="rect">
            <a:avLst/>
          </a:prstGeom>
          <a:no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Word</a:t>
            </a:r>
            <a:endParaRPr lang="en-US" sz="1800" dirty="0"/>
          </a:p>
        </p:txBody>
      </p:sp>
      <p:sp>
        <p:nvSpPr>
          <p:cNvPr id="9" name="kw-headtext"/>
          <p:cNvSpPr txBox="1"/>
          <p:nvPr/>
        </p:nvSpPr>
        <p:spPr>
          <a:xfrm>
            <a:off x="3657600" y="1389888"/>
            <a:ext cx="3474720" cy="457200"/>
          </a:xfrm>
          <a:prstGeom prst="rect">
            <a:avLst/>
          </a:prstGeom>
          <a:no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What it means</a:t>
            </a:r>
            <a:endParaRPr lang="en-US" sz="1800" dirty="0"/>
          </a:p>
        </p:txBody>
      </p:sp>
      <p:sp>
        <p:nvSpPr>
          <p:cNvPr id="10" name="kw-headtext"/>
          <p:cNvSpPr txBox="1"/>
          <p:nvPr/>
        </p:nvSpPr>
        <p:spPr>
          <a:xfrm>
            <a:off x="7315200" y="1389888"/>
            <a:ext cx="4236415" cy="457200"/>
          </a:xfrm>
          <a:prstGeom prst="rect">
            <a:avLst/>
          </a:prstGeom>
          <a:no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In a sentence</a:t>
            </a:r>
            <a:endParaRPr lang="en-US" sz="1800" dirty="0"/>
          </a:p>
        </p:txBody>
      </p:sp>
      <p:sp>
        <p:nvSpPr>
          <p:cNvPr id="11" name="kw-row"/>
          <p:cNvSpPr/>
          <p:nvPr/>
        </p:nvSpPr>
        <p:spPr>
          <a:xfrm>
            <a:off x="548640" y="1920240"/>
            <a:ext cx="11094415" cy="786384"/>
          </a:xfrm>
          <a:prstGeom prst="roundRect">
            <a:avLst>
              <a:gd name="adj" fmla="val 6977"/>
            </a:avLst>
          </a:prstGeom>
          <a:solidFill>
            <a:srgbClr val="F2E8E9"/>
          </a:solidFill>
          <a:ln/>
        </p:spPr>
      </p:sp>
      <p:sp>
        <p:nvSpPr>
          <p:cNvPr id="12" name="kw-hex"/>
          <p:cNvSpPr/>
          <p:nvPr/>
        </p:nvSpPr>
        <p:spPr>
          <a:xfrm>
            <a:off x="658368" y="2135261"/>
            <a:ext cx="411480" cy="356342"/>
          </a:xfrm>
          <a:prstGeom prst="hexagon">
            <a:avLst/>
          </a:prstGeom>
          <a:solidFill>
            <a:srgbClr val="8C2F39"/>
          </a:solidFill>
          <a:ln/>
        </p:spPr>
      </p:sp>
      <p:sp>
        <p:nvSpPr>
          <p:cNvPr id="13" name="kw-cell"/>
          <p:cNvSpPr txBox="1"/>
          <p:nvPr/>
        </p:nvSpPr>
        <p:spPr>
          <a:xfrm>
            <a:off x="1143000" y="1920240"/>
            <a:ext cx="2331720" cy="786384"/>
          </a:xfrm>
          <a:prstGeom prst="rect">
            <a:avLst/>
          </a:prstGeom>
          <a:noFill/>
          <a:ln/>
        </p:spPr>
        <p:txBody>
          <a:bodyPr wrap="square" lIns="63500" tIns="63500" rIns="63500" bIns="63500" rtlCol="0" anchor="ctr"/>
          <a:lstStyle/>
          <a:p>
            <a:pPr algn="l" indent="0" marL="0">
              <a:buNone/>
            </a:pPr>
            <a:r>
              <a:rPr lang="en-US" sz="2000" b="1" dirty="0">
                <a:solidFill>
                  <a:srgbClr val="8C2F39"/>
                </a:solidFill>
                <a:latin typeface="Cambria" pitchFamily="34" charset="0"/>
                <a:ea typeface="Cambria" pitchFamily="34" charset="-122"/>
                <a:cs typeface="Cambria" pitchFamily="34" charset="-120"/>
              </a:rPr>
              <a:t>source</a:t>
            </a:r>
            <a:endParaRPr lang="en-US" sz="2000" dirty="0"/>
          </a:p>
        </p:txBody>
      </p:sp>
      <p:sp>
        <p:nvSpPr>
          <p:cNvPr id="14" name="kw-cell"/>
          <p:cNvSpPr txBox="1"/>
          <p:nvPr/>
        </p:nvSpPr>
        <p:spPr>
          <a:xfrm>
            <a:off x="3657600" y="1920240"/>
            <a:ext cx="3474720" cy="78638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the piece of writing printed in the exam</a:t>
            </a:r>
            <a:endParaRPr lang="en-US" sz="1800" dirty="0"/>
          </a:p>
        </p:txBody>
      </p:sp>
      <p:sp>
        <p:nvSpPr>
          <p:cNvPr id="15" name="kw-cell"/>
          <p:cNvSpPr txBox="1"/>
          <p:nvPr/>
        </p:nvSpPr>
        <p:spPr>
          <a:xfrm>
            <a:off x="7315200" y="1920240"/>
            <a:ext cx="4236415" cy="786384"/>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Read the source twice before you write anything.</a:t>
            </a:r>
            <a:endParaRPr lang="en-US" sz="1800" dirty="0"/>
          </a:p>
        </p:txBody>
      </p:sp>
      <p:sp>
        <p:nvSpPr>
          <p:cNvPr id="16" name="kw-row"/>
          <p:cNvSpPr/>
          <p:nvPr/>
        </p:nvSpPr>
        <p:spPr>
          <a:xfrm>
            <a:off x="548640" y="2779776"/>
            <a:ext cx="11094415" cy="786384"/>
          </a:xfrm>
          <a:prstGeom prst="roundRect">
            <a:avLst>
              <a:gd name="adj" fmla="val 6977"/>
            </a:avLst>
          </a:prstGeom>
          <a:solidFill>
            <a:srgbClr val="F4EDDF"/>
          </a:solidFill>
          <a:ln/>
        </p:spPr>
      </p:sp>
      <p:sp>
        <p:nvSpPr>
          <p:cNvPr id="17" name="kw-hex"/>
          <p:cNvSpPr/>
          <p:nvPr/>
        </p:nvSpPr>
        <p:spPr>
          <a:xfrm>
            <a:off x="658368" y="2994797"/>
            <a:ext cx="411480" cy="356342"/>
          </a:xfrm>
          <a:prstGeom prst="hexagon">
            <a:avLst/>
          </a:prstGeom>
          <a:solidFill>
            <a:srgbClr val="B8862B"/>
          </a:solidFill>
          <a:ln/>
        </p:spPr>
      </p:sp>
      <p:sp>
        <p:nvSpPr>
          <p:cNvPr id="18" name="kw-cell"/>
          <p:cNvSpPr txBox="1"/>
          <p:nvPr/>
        </p:nvSpPr>
        <p:spPr>
          <a:xfrm>
            <a:off x="1143000" y="2779776"/>
            <a:ext cx="2331720" cy="786384"/>
          </a:xfrm>
          <a:prstGeom prst="rect">
            <a:avLst/>
          </a:prstGeom>
          <a:noFill/>
          <a:ln/>
        </p:spPr>
        <p:txBody>
          <a:bodyPr wrap="square" lIns="63500" tIns="63500" rIns="63500" bIns="63500" rtlCol="0" anchor="ctr"/>
          <a:lstStyle/>
          <a:p>
            <a:pPr algn="l" indent="0" marL="0">
              <a:buNone/>
            </a:pPr>
            <a:r>
              <a:rPr lang="en-US" sz="2000" b="1" dirty="0">
                <a:solidFill>
                  <a:srgbClr val="8C2F39"/>
                </a:solidFill>
                <a:latin typeface="Cambria" pitchFamily="34" charset="0"/>
                <a:ea typeface="Cambria" pitchFamily="34" charset="-122"/>
                <a:cs typeface="Cambria" pitchFamily="34" charset="-120"/>
              </a:rPr>
              <a:t>fiction</a:t>
            </a:r>
            <a:endParaRPr lang="en-US" sz="2000" dirty="0"/>
          </a:p>
        </p:txBody>
      </p:sp>
      <p:sp>
        <p:nvSpPr>
          <p:cNvPr id="19" name="kw-cell"/>
          <p:cNvSpPr txBox="1"/>
          <p:nvPr/>
        </p:nvSpPr>
        <p:spPr>
          <a:xfrm>
            <a:off x="3657600" y="2779776"/>
            <a:ext cx="3474720" cy="78638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writing about made-up people and events</a:t>
            </a:r>
            <a:endParaRPr lang="en-US" sz="1800" dirty="0"/>
          </a:p>
        </p:txBody>
      </p:sp>
      <p:sp>
        <p:nvSpPr>
          <p:cNvPr id="20" name="kw-cell"/>
          <p:cNvSpPr txBox="1"/>
          <p:nvPr/>
        </p:nvSpPr>
        <p:spPr>
          <a:xfrm>
            <a:off x="7315200" y="2779776"/>
            <a:ext cx="4236415" cy="786384"/>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Paper 1 uses fiction, so the source is part of a story.</a:t>
            </a:r>
            <a:endParaRPr lang="en-US" sz="1800" dirty="0"/>
          </a:p>
        </p:txBody>
      </p:sp>
      <p:sp>
        <p:nvSpPr>
          <p:cNvPr id="21" name="kw-row"/>
          <p:cNvSpPr/>
          <p:nvPr/>
        </p:nvSpPr>
        <p:spPr>
          <a:xfrm>
            <a:off x="548640" y="3639312"/>
            <a:ext cx="11094415" cy="786384"/>
          </a:xfrm>
          <a:prstGeom prst="roundRect">
            <a:avLst>
              <a:gd name="adj" fmla="val 6977"/>
            </a:avLst>
          </a:prstGeom>
          <a:solidFill>
            <a:srgbClr val="F2E8E9"/>
          </a:solidFill>
          <a:ln/>
        </p:spPr>
      </p:sp>
      <p:sp>
        <p:nvSpPr>
          <p:cNvPr id="22" name="kw-hex"/>
          <p:cNvSpPr/>
          <p:nvPr/>
        </p:nvSpPr>
        <p:spPr>
          <a:xfrm>
            <a:off x="658368" y="3854333"/>
            <a:ext cx="411480" cy="356342"/>
          </a:xfrm>
          <a:prstGeom prst="hexagon">
            <a:avLst/>
          </a:prstGeom>
          <a:solidFill>
            <a:srgbClr val="8C2F39"/>
          </a:solidFill>
          <a:ln/>
        </p:spPr>
      </p:sp>
      <p:sp>
        <p:nvSpPr>
          <p:cNvPr id="23" name="kw-cell"/>
          <p:cNvSpPr txBox="1"/>
          <p:nvPr/>
        </p:nvSpPr>
        <p:spPr>
          <a:xfrm>
            <a:off x="1143000" y="3639312"/>
            <a:ext cx="2331720" cy="786384"/>
          </a:xfrm>
          <a:prstGeom prst="rect">
            <a:avLst/>
          </a:prstGeom>
          <a:noFill/>
          <a:ln/>
        </p:spPr>
        <p:txBody>
          <a:bodyPr wrap="square" lIns="63500" tIns="63500" rIns="63500" bIns="63500" rtlCol="0" anchor="ctr"/>
          <a:lstStyle/>
          <a:p>
            <a:pPr algn="l" indent="0" marL="0">
              <a:buNone/>
            </a:pPr>
            <a:r>
              <a:rPr lang="en-US" sz="2000" b="1" dirty="0">
                <a:solidFill>
                  <a:srgbClr val="8C2F39"/>
                </a:solidFill>
                <a:latin typeface="Cambria" pitchFamily="34" charset="0"/>
                <a:ea typeface="Cambria" pitchFamily="34" charset="-122"/>
                <a:cs typeface="Cambria" pitchFamily="34" charset="-120"/>
              </a:rPr>
              <a:t>summarise</a:t>
            </a:r>
            <a:endParaRPr lang="en-US" sz="2000" dirty="0"/>
          </a:p>
        </p:txBody>
      </p:sp>
      <p:sp>
        <p:nvSpPr>
          <p:cNvPr id="24" name="kw-cell"/>
          <p:cNvSpPr txBox="1"/>
          <p:nvPr/>
        </p:nvSpPr>
        <p:spPr>
          <a:xfrm>
            <a:off x="3657600" y="3639312"/>
            <a:ext cx="3474720" cy="78638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say the main idea in a few words</a:t>
            </a:r>
            <a:endParaRPr lang="en-US" sz="1800" dirty="0"/>
          </a:p>
        </p:txBody>
      </p:sp>
      <p:sp>
        <p:nvSpPr>
          <p:cNvPr id="25" name="kw-cell"/>
          <p:cNvSpPr txBox="1"/>
          <p:nvPr/>
        </p:nvSpPr>
        <p:spPr>
          <a:xfrm>
            <a:off x="7315200" y="3639312"/>
            <a:ext cx="4236415" cy="786384"/>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Summarise the beginning of the story in one line.</a:t>
            </a:r>
            <a:endParaRPr lang="en-US" sz="1800" dirty="0"/>
          </a:p>
        </p:txBody>
      </p:sp>
      <p:sp>
        <p:nvSpPr>
          <p:cNvPr id="26" name="kw-row"/>
          <p:cNvSpPr/>
          <p:nvPr/>
        </p:nvSpPr>
        <p:spPr>
          <a:xfrm>
            <a:off x="548640" y="4498848"/>
            <a:ext cx="11094415" cy="786384"/>
          </a:xfrm>
          <a:prstGeom prst="roundRect">
            <a:avLst>
              <a:gd name="adj" fmla="val 6977"/>
            </a:avLst>
          </a:prstGeom>
          <a:solidFill>
            <a:srgbClr val="F4EDDF"/>
          </a:solidFill>
          <a:ln/>
        </p:spPr>
      </p:sp>
      <p:sp>
        <p:nvSpPr>
          <p:cNvPr id="27" name="kw-hex"/>
          <p:cNvSpPr/>
          <p:nvPr/>
        </p:nvSpPr>
        <p:spPr>
          <a:xfrm>
            <a:off x="658368" y="4713869"/>
            <a:ext cx="411480" cy="356342"/>
          </a:xfrm>
          <a:prstGeom prst="hexagon">
            <a:avLst/>
          </a:prstGeom>
          <a:solidFill>
            <a:srgbClr val="B8862B"/>
          </a:solidFill>
          <a:ln/>
        </p:spPr>
      </p:sp>
      <p:sp>
        <p:nvSpPr>
          <p:cNvPr id="28" name="kw-cell"/>
          <p:cNvSpPr txBox="1"/>
          <p:nvPr/>
        </p:nvSpPr>
        <p:spPr>
          <a:xfrm>
            <a:off x="1143000" y="4498848"/>
            <a:ext cx="2331720" cy="786384"/>
          </a:xfrm>
          <a:prstGeom prst="rect">
            <a:avLst/>
          </a:prstGeom>
          <a:noFill/>
          <a:ln/>
        </p:spPr>
        <p:txBody>
          <a:bodyPr wrap="square" lIns="63500" tIns="63500" rIns="63500" bIns="63500" rtlCol="0" anchor="ctr"/>
          <a:lstStyle/>
          <a:p>
            <a:pPr algn="l" indent="0" marL="0">
              <a:buNone/>
            </a:pPr>
            <a:r>
              <a:rPr lang="en-US" sz="2000" b="1" dirty="0">
                <a:solidFill>
                  <a:srgbClr val="8C2F39"/>
                </a:solidFill>
                <a:latin typeface="Cambria" pitchFamily="34" charset="0"/>
                <a:ea typeface="Cambria" pitchFamily="34" charset="-122"/>
                <a:cs typeface="Cambria" pitchFamily="34" charset="-120"/>
              </a:rPr>
              <a:t>infer</a:t>
            </a:r>
            <a:endParaRPr lang="en-US" sz="2000" dirty="0"/>
          </a:p>
        </p:txBody>
      </p:sp>
      <p:sp>
        <p:nvSpPr>
          <p:cNvPr id="29" name="kw-cell"/>
          <p:cNvSpPr txBox="1"/>
          <p:nvPr/>
        </p:nvSpPr>
        <p:spPr>
          <a:xfrm>
            <a:off x="3657600" y="4498848"/>
            <a:ext cx="3474720" cy="78638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work out something the writer suggests but does not say</a:t>
            </a:r>
            <a:endParaRPr lang="en-US" sz="1800" dirty="0"/>
          </a:p>
        </p:txBody>
      </p:sp>
      <p:sp>
        <p:nvSpPr>
          <p:cNvPr id="30" name="kw-cell"/>
          <p:cNvSpPr txBox="1"/>
          <p:nvPr/>
        </p:nvSpPr>
        <p:spPr>
          <a:xfrm>
            <a:off x="7315200" y="4498848"/>
            <a:ext cx="4236415" cy="786384"/>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From her numb fingers, you can infer that Nell is cold.</a:t>
            </a:r>
            <a:endParaRPr lang="en-US" sz="1800" dirty="0"/>
          </a:p>
        </p:txBody>
      </p:sp>
      <p:sp>
        <p:nvSpPr>
          <p:cNvPr id="31" name="kw-row"/>
          <p:cNvSpPr/>
          <p:nvPr/>
        </p:nvSpPr>
        <p:spPr>
          <a:xfrm>
            <a:off x="548640" y="5358384"/>
            <a:ext cx="11094415" cy="786384"/>
          </a:xfrm>
          <a:prstGeom prst="roundRect">
            <a:avLst>
              <a:gd name="adj" fmla="val 6977"/>
            </a:avLst>
          </a:prstGeom>
          <a:solidFill>
            <a:srgbClr val="F2E8E9"/>
          </a:solidFill>
          <a:ln/>
        </p:spPr>
      </p:sp>
      <p:sp>
        <p:nvSpPr>
          <p:cNvPr id="32" name="kw-hex"/>
          <p:cNvSpPr/>
          <p:nvPr/>
        </p:nvSpPr>
        <p:spPr>
          <a:xfrm>
            <a:off x="658368" y="5573405"/>
            <a:ext cx="411480" cy="356342"/>
          </a:xfrm>
          <a:prstGeom prst="hexagon">
            <a:avLst/>
          </a:prstGeom>
          <a:solidFill>
            <a:srgbClr val="8C2F39"/>
          </a:solidFill>
          <a:ln/>
        </p:spPr>
      </p:sp>
      <p:sp>
        <p:nvSpPr>
          <p:cNvPr id="33" name="kw-cell"/>
          <p:cNvSpPr txBox="1"/>
          <p:nvPr/>
        </p:nvSpPr>
        <p:spPr>
          <a:xfrm>
            <a:off x="1143000" y="5358384"/>
            <a:ext cx="2331720" cy="786384"/>
          </a:xfrm>
          <a:prstGeom prst="rect">
            <a:avLst/>
          </a:prstGeom>
          <a:noFill/>
          <a:ln/>
        </p:spPr>
        <p:txBody>
          <a:bodyPr wrap="square" lIns="63500" tIns="63500" rIns="63500" bIns="63500" rtlCol="0" anchor="ctr"/>
          <a:lstStyle/>
          <a:p>
            <a:pPr algn="l" indent="0" marL="0">
              <a:buNone/>
            </a:pPr>
            <a:r>
              <a:rPr lang="en-US" sz="2000" b="1" dirty="0">
                <a:solidFill>
                  <a:srgbClr val="8C2F39"/>
                </a:solidFill>
                <a:latin typeface="Cambria" pitchFamily="34" charset="0"/>
                <a:ea typeface="Cambria" pitchFamily="34" charset="-122"/>
                <a:cs typeface="Cambria" pitchFamily="34" charset="-120"/>
              </a:rPr>
              <a:t>proofread</a:t>
            </a:r>
            <a:endParaRPr lang="en-US" sz="2000" dirty="0"/>
          </a:p>
        </p:txBody>
      </p:sp>
      <p:sp>
        <p:nvSpPr>
          <p:cNvPr id="34" name="kw-cell"/>
          <p:cNvSpPr txBox="1"/>
          <p:nvPr/>
        </p:nvSpPr>
        <p:spPr>
          <a:xfrm>
            <a:off x="3657600" y="5358384"/>
            <a:ext cx="3474720" cy="78638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check your writing carefully for mistakes</a:t>
            </a:r>
            <a:endParaRPr lang="en-US" sz="1800" dirty="0"/>
          </a:p>
        </p:txBody>
      </p:sp>
      <p:sp>
        <p:nvSpPr>
          <p:cNvPr id="35" name="kw-cell"/>
          <p:cNvSpPr txBox="1"/>
          <p:nvPr/>
        </p:nvSpPr>
        <p:spPr>
          <a:xfrm>
            <a:off x="7315200" y="5358384"/>
            <a:ext cx="4236415" cy="786384"/>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Keep five minutes at the end to proofread your answers.</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Read-along (1 of 2)</a:t>
            </a:r>
            <a:endParaRPr lang="en-US" sz="3200" dirty="0"/>
          </a:p>
        </p:txBody>
      </p:sp>
      <p:sp>
        <p:nvSpPr>
          <p:cNvPr id="4" name="chip-hex"/>
          <p:cNvSpPr/>
          <p:nvPr/>
        </p:nvSpPr>
        <p:spPr>
          <a:xfrm>
            <a:off x="9677095" y="531760"/>
            <a:ext cx="566928" cy="490960"/>
          </a:xfrm>
          <a:prstGeom prst="hexagon">
            <a:avLst/>
          </a:prstGeom>
          <a:solidFill>
            <a:srgbClr val="8C2F39"/>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8C2F39"/>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4EAEB"/>
          </a:solidFill>
          <a:ln w="12700">
            <a:solidFill>
              <a:srgbClr val="D9BABE"/>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Paper 1 is one exam that lasts one hour and forty-five minutes.</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2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It is worth half of your English Language GCSE.</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3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Section A is reading, and Section B is writing.</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4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In Section A, you read one </a:t>
            </a:r>
            <a:pPr algn="l" indent="0" marL="0">
              <a:spcAft>
                <a:spcPts val="600"/>
              </a:spcAft>
              <a:buNone/>
            </a:pPr>
            <a:r>
              <a:rPr lang="en-US" sz="2600" b="1" dirty="0">
                <a:solidFill>
                  <a:srgbClr val="8C2F39"/>
                </a:solidFill>
                <a:latin typeface="Calibri" pitchFamily="34" charset="0"/>
                <a:ea typeface="Calibri" pitchFamily="34" charset="-122"/>
                <a:cs typeface="Calibri" pitchFamily="34" charset="-120"/>
              </a:rPr>
              <a:t>source</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 from a story.</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5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You answer four questions about it.</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6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In Section B, you write your own description or story.</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7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First, spend about fifteen minutes reading the </a:t>
            </a:r>
            <a:pPr algn="l" indent="0" marL="0">
              <a:spcAft>
                <a:spcPts val="600"/>
              </a:spcAft>
              <a:buNone/>
            </a:pPr>
            <a:r>
              <a:rPr lang="en-US" sz="2600" b="1" dirty="0">
                <a:solidFill>
                  <a:srgbClr val="8C2F39"/>
                </a:solidFill>
                <a:latin typeface="Calibri" pitchFamily="34" charset="0"/>
                <a:ea typeface="Calibri" pitchFamily="34" charset="-122"/>
                <a:cs typeface="Calibri" pitchFamily="34" charset="-120"/>
              </a:rPr>
              <a:t>source</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 and the questions.</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Read-along (2 of 2)</a:t>
            </a:r>
            <a:endParaRPr lang="en-US" sz="3200" dirty="0"/>
          </a:p>
        </p:txBody>
      </p:sp>
      <p:sp>
        <p:nvSpPr>
          <p:cNvPr id="4" name="chip-hex"/>
          <p:cNvSpPr/>
          <p:nvPr/>
        </p:nvSpPr>
        <p:spPr>
          <a:xfrm>
            <a:off x="9677095" y="531760"/>
            <a:ext cx="566928" cy="490960"/>
          </a:xfrm>
          <a:prstGeom prst="hexagon">
            <a:avLst/>
          </a:prstGeom>
          <a:solidFill>
            <a:srgbClr val="8C2F39"/>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8C2F39"/>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4EAEB"/>
          </a:solidFill>
          <a:ln w="12700">
            <a:solidFill>
              <a:srgbClr val="D9BABE"/>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8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Read the </a:t>
            </a:r>
            <a:pPr algn="l" indent="0" marL="0">
              <a:spcAft>
                <a:spcPts val="600"/>
              </a:spcAft>
              <a:buNone/>
            </a:pPr>
            <a:r>
              <a:rPr lang="en-US" sz="2600" b="1" dirty="0">
                <a:solidFill>
                  <a:srgbClr val="8C2F39"/>
                </a:solidFill>
                <a:latin typeface="Calibri" pitchFamily="34" charset="0"/>
                <a:ea typeface="Calibri" pitchFamily="34" charset="-122"/>
                <a:cs typeface="Calibri" pitchFamily="34" charset="-120"/>
              </a:rPr>
              <a:t>source</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 once to understand the story.</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9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Then read it again with the questions in mind.</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10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Split it into a beginning, a middle and an end.</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11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Spend about forty minutes on Section A, roughly a minute for each mark.</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12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Spend forty-five minutes on Section B, with five minutes to plan.</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13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Keep five minutes at the end to check your work.</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What is in the paper</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2E9D9"/>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Paper 1 is 80 marks in total: 40 for reading, 40 for writing. Use black pen, and write only inside the answer spaces, because the paper is scanned.</a:t>
            </a:r>
            <a:endParaRPr lang="en-US" sz="1800" dirty="0"/>
          </a:p>
        </p:txBody>
      </p:sp>
      <p:sp>
        <p:nvSpPr>
          <p:cNvPr id="11" name="point-card"/>
          <p:cNvSpPr/>
          <p:nvPr/>
        </p:nvSpPr>
        <p:spPr>
          <a:xfrm>
            <a:off x="548640" y="1389888"/>
            <a:ext cx="3515258" cy="3686048"/>
          </a:xfrm>
          <a:prstGeom prst="roundRect">
            <a:avLst>
              <a:gd name="adj" fmla="val 1561"/>
            </a:avLst>
          </a:prstGeom>
          <a:solidFill>
            <a:srgbClr val="F0E4E5"/>
          </a:solidFill>
          <a:ln/>
        </p:spPr>
      </p:sp>
      <p:sp>
        <p:nvSpPr>
          <p:cNvPr id="12" name="point-hex"/>
          <p:cNvSpPr/>
          <p:nvPr/>
        </p:nvSpPr>
        <p:spPr>
          <a:xfrm>
            <a:off x="731520" y="1572768"/>
            <a:ext cx="685800" cy="593903"/>
          </a:xfrm>
          <a:prstGeom prst="hexagon">
            <a:avLst/>
          </a:prstGeom>
          <a:solidFill>
            <a:srgbClr val="8C2F39"/>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2000" dirty="0">
                <a:solidFill>
                  <a:srgbClr val="1E2229"/>
                </a:solidFill>
                <a:latin typeface="Calibri" pitchFamily="34" charset="0"/>
                <a:ea typeface="Calibri" pitchFamily="34" charset="-122"/>
                <a:cs typeface="Calibri" pitchFamily="34" charset="-120"/>
              </a:rPr>
              <a:t>Paper 1 is called ‘Explorations in creative reading and writing’.</a:t>
            </a:r>
            <a:endParaRPr lang="en-US" sz="2000" dirty="0"/>
          </a:p>
        </p:txBody>
      </p:sp>
      <p:sp>
        <p:nvSpPr>
          <p:cNvPr id="15" name="point-card"/>
          <p:cNvSpPr/>
          <p:nvPr/>
        </p:nvSpPr>
        <p:spPr>
          <a:xfrm>
            <a:off x="4338218" y="1389888"/>
            <a:ext cx="3515258" cy="3686048"/>
          </a:xfrm>
          <a:prstGeom prst="roundRect">
            <a:avLst>
              <a:gd name="adj" fmla="val 1561"/>
            </a:avLst>
          </a:prstGeom>
          <a:solidFill>
            <a:srgbClr val="F4EDDF"/>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2000" dirty="0">
                <a:solidFill>
                  <a:srgbClr val="1E2229"/>
                </a:solidFill>
                <a:latin typeface="Calibri" pitchFamily="34" charset="0"/>
                <a:ea typeface="Calibri" pitchFamily="34" charset="-122"/>
                <a:cs typeface="Calibri" pitchFamily="34" charset="-120"/>
              </a:rPr>
              <a:t>Question 1 (4 marks) is a set of four multiple-choice questions that check you have found the right information.</a:t>
            </a:r>
            <a:endParaRPr lang="en-US" sz="2000" dirty="0"/>
          </a:p>
        </p:txBody>
      </p:sp>
      <p:sp>
        <p:nvSpPr>
          <p:cNvPr id="19" name="point-card"/>
          <p:cNvSpPr/>
          <p:nvPr/>
        </p:nvSpPr>
        <p:spPr>
          <a:xfrm>
            <a:off x="8127797" y="1389888"/>
            <a:ext cx="3515258" cy="3686048"/>
          </a:xfrm>
          <a:prstGeom prst="roundRect">
            <a:avLst>
              <a:gd name="adj" fmla="val 1561"/>
            </a:avLst>
          </a:prstGeom>
          <a:solidFill>
            <a:srgbClr val="F0E4E5"/>
          </a:solidFill>
          <a:ln/>
        </p:spPr>
      </p:sp>
      <p:sp>
        <p:nvSpPr>
          <p:cNvPr id="20" name="point-hex"/>
          <p:cNvSpPr/>
          <p:nvPr/>
        </p:nvSpPr>
        <p:spPr>
          <a:xfrm>
            <a:off x="8310677" y="1572768"/>
            <a:ext cx="685800" cy="593903"/>
          </a:xfrm>
          <a:prstGeom prst="hexagon">
            <a:avLst/>
          </a:prstGeom>
          <a:solidFill>
            <a:srgbClr val="8C2F39"/>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2000" dirty="0">
                <a:solidFill>
                  <a:srgbClr val="1E2229"/>
                </a:solidFill>
                <a:latin typeface="Calibri" pitchFamily="34" charset="0"/>
                <a:ea typeface="Calibri" pitchFamily="34" charset="-122"/>
                <a:cs typeface="Calibri" pitchFamily="34" charset="-120"/>
              </a:rPr>
              <a:t>Section B is Question 5 (40 marks). You choose one of two writing tasks: one is usually a description linked to a picture, the other is usually the opening of a story.</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Timing your 1 hour 45 minutes</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629148"/>
            <a:ext cx="11094415" cy="515620"/>
          </a:xfrm>
          <a:prstGeom prst="roundRect">
            <a:avLst>
              <a:gd name="adj" fmla="val 26601"/>
            </a:avLst>
          </a:prstGeom>
          <a:solidFill>
            <a:srgbClr val="F2E9D9"/>
          </a:solidFill>
          <a:ln w="15875">
            <a:solidFill>
              <a:srgbClr val="B8862B"/>
            </a:solidFill>
            <a:prstDash val="solid"/>
          </a:ln>
        </p:spPr>
      </p:sp>
      <p:sp>
        <p:nvSpPr>
          <p:cNvPr id="8" name="tip-hex"/>
          <p:cNvSpPr/>
          <p:nvPr/>
        </p:nvSpPr>
        <p:spPr>
          <a:xfrm>
            <a:off x="685800" y="5688990"/>
            <a:ext cx="457200" cy="395935"/>
          </a:xfrm>
          <a:prstGeom prst="hexagon">
            <a:avLst/>
          </a:prstGeom>
          <a:solidFill>
            <a:srgbClr val="B8862B"/>
          </a:solidFill>
          <a:ln/>
        </p:spPr>
      </p:sp>
      <p:sp>
        <p:nvSpPr>
          <p:cNvPr id="9" name="tip-hex-label"/>
          <p:cNvSpPr txBox="1"/>
          <p:nvPr/>
        </p:nvSpPr>
        <p:spPr>
          <a:xfrm>
            <a:off x="685800" y="5688990"/>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684012"/>
            <a:ext cx="10225735" cy="405892"/>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Write your finish time for each question at the top of the paper before you start.</a:t>
            </a:r>
            <a:endParaRPr lang="en-US" sz="1800" dirty="0"/>
          </a:p>
        </p:txBody>
      </p:sp>
      <p:sp>
        <p:nvSpPr>
          <p:cNvPr id="11" name="point-card"/>
          <p:cNvSpPr/>
          <p:nvPr/>
        </p:nvSpPr>
        <p:spPr>
          <a:xfrm>
            <a:off x="548640" y="1389888"/>
            <a:ext cx="5410048" cy="3964940"/>
          </a:xfrm>
          <a:prstGeom prst="roundRect">
            <a:avLst>
              <a:gd name="adj" fmla="val 1384"/>
            </a:avLst>
          </a:prstGeom>
          <a:solidFill>
            <a:srgbClr val="F0E4E5"/>
          </a:solidFill>
          <a:ln/>
        </p:spPr>
      </p:sp>
      <p:sp>
        <p:nvSpPr>
          <p:cNvPr id="12" name="point-hex"/>
          <p:cNvSpPr/>
          <p:nvPr/>
        </p:nvSpPr>
        <p:spPr>
          <a:xfrm>
            <a:off x="731520" y="1572768"/>
            <a:ext cx="685800" cy="593903"/>
          </a:xfrm>
          <a:prstGeom prst="hexagon">
            <a:avLst/>
          </a:prstGeom>
          <a:solidFill>
            <a:srgbClr val="8C2F39"/>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5044288" cy="286766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Good timing is a skill you can practise. Your teachers suggest spending 15 minutes reading the source and the questions, about 40 minutes on Section A, and 45 minutes on Section B.</a:t>
            </a:r>
            <a:endParaRPr lang="en-US" sz="2400" dirty="0"/>
          </a:p>
        </p:txBody>
      </p:sp>
      <p:sp>
        <p:nvSpPr>
          <p:cNvPr id="15" name="point-card"/>
          <p:cNvSpPr/>
          <p:nvPr/>
        </p:nvSpPr>
        <p:spPr>
          <a:xfrm>
            <a:off x="6233008" y="1389888"/>
            <a:ext cx="5410048" cy="3964940"/>
          </a:xfrm>
          <a:prstGeom prst="roundRect">
            <a:avLst>
              <a:gd name="adj" fmla="val 1384"/>
            </a:avLst>
          </a:prstGeom>
          <a:solidFill>
            <a:srgbClr val="F4EDDF"/>
          </a:solidFill>
          <a:ln/>
        </p:spPr>
      </p:sp>
      <p:sp>
        <p:nvSpPr>
          <p:cNvPr id="16" name="point-hex"/>
          <p:cNvSpPr/>
          <p:nvPr/>
        </p:nvSpPr>
        <p:spPr>
          <a:xfrm>
            <a:off x="6415888" y="1572768"/>
            <a:ext cx="685800" cy="593903"/>
          </a:xfrm>
          <a:prstGeom prst="hexagon">
            <a:avLst/>
          </a:prstGeom>
          <a:solidFill>
            <a:srgbClr val="B8862B"/>
          </a:solidFill>
          <a:ln/>
        </p:spPr>
      </p:sp>
      <p:sp>
        <p:nvSpPr>
          <p:cNvPr id="17" name="point-hex-label"/>
          <p:cNvSpPr txBox="1"/>
          <p:nvPr/>
        </p:nvSpPr>
        <p:spPr>
          <a:xfrm>
            <a:off x="641588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6415888" y="2350008"/>
            <a:ext cx="5044288" cy="286766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In Section A, a useful rule is a minute for each mark.</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000" b="1" dirty="0">
                <a:solidFill>
                  <a:srgbClr val="8C2F39"/>
                </a:solidFill>
                <a:latin typeface="Cambria" pitchFamily="34" charset="0"/>
                <a:ea typeface="Cambria" pitchFamily="34" charset="-122"/>
                <a:cs typeface="Cambria" pitchFamily="34" charset="-120"/>
              </a:rPr>
              <a:t>Worked example: Timing your 1 hour 45 minutes</a:t>
            </a:r>
            <a:endParaRPr lang="en-US" sz="30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wq-band"/>
          <p:cNvSpPr/>
          <p:nvPr/>
        </p:nvSpPr>
        <p:spPr>
          <a:xfrm>
            <a:off x="548640" y="1389888"/>
            <a:ext cx="11094415" cy="650748"/>
          </a:xfrm>
          <a:prstGeom prst="roundRect">
            <a:avLst>
              <a:gd name="adj" fmla="val 14052"/>
            </a:avLst>
          </a:prstGeom>
          <a:solidFill>
            <a:srgbClr val="F0E4E5"/>
          </a:solidFill>
          <a:ln/>
        </p:spPr>
      </p:sp>
      <p:sp>
        <p:nvSpPr>
          <p:cNvPr id="8" name="worked-q"/>
          <p:cNvSpPr txBox="1"/>
          <p:nvPr/>
        </p:nvSpPr>
        <p:spPr>
          <a:xfrm>
            <a:off x="731520" y="1481328"/>
            <a:ext cx="10728655"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Check that the suggested timings fit the exam exactly.</a:t>
            </a:r>
            <a:endParaRPr lang="en-US" sz="2200" dirty="0"/>
          </a:p>
        </p:txBody>
      </p:sp>
      <p:sp>
        <p:nvSpPr>
          <p:cNvPr id="9" name="step-box"/>
          <p:cNvSpPr/>
          <p:nvPr/>
        </p:nvSpPr>
        <p:spPr>
          <a:xfrm>
            <a:off x="548640" y="2314956"/>
            <a:ext cx="2464994" cy="1974088"/>
          </a:xfrm>
          <a:prstGeom prst="roundRect">
            <a:avLst>
              <a:gd name="adj" fmla="val 3706"/>
            </a:avLst>
          </a:prstGeom>
          <a:solidFill>
            <a:srgbClr val="FFFFFF"/>
          </a:solidFill>
          <a:ln w="15875">
            <a:solidFill>
              <a:srgbClr val="C08D92"/>
            </a:solidFill>
            <a:prstDash val="solid"/>
          </a:ln>
        </p:spPr>
      </p:sp>
      <p:sp>
        <p:nvSpPr>
          <p:cNvPr id="10" name="step-hex"/>
          <p:cNvSpPr/>
          <p:nvPr/>
        </p:nvSpPr>
        <p:spPr>
          <a:xfrm>
            <a:off x="685800" y="2424684"/>
            <a:ext cx="530352" cy="459285"/>
          </a:xfrm>
          <a:prstGeom prst="hexagon">
            <a:avLst/>
          </a:prstGeom>
          <a:solidFill>
            <a:srgbClr val="8C2F39"/>
          </a:solidFill>
          <a:ln/>
        </p:spPr>
      </p:sp>
      <p:sp>
        <p:nvSpPr>
          <p:cNvPr id="11" name="step-hex-label"/>
          <p:cNvSpPr txBox="1"/>
          <p:nvPr/>
        </p:nvSpPr>
        <p:spPr>
          <a:xfrm>
            <a:off x="685800" y="2424684"/>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12" name="step"/>
          <p:cNvSpPr txBox="1"/>
          <p:nvPr/>
        </p:nvSpPr>
        <p:spPr>
          <a:xfrm>
            <a:off x="685800" y="2909316"/>
            <a:ext cx="2190674" cy="128828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Reading the source and questions: 15 minutes.</a:t>
            </a:r>
            <a:endParaRPr lang="en-US" sz="1800" dirty="0"/>
          </a:p>
        </p:txBody>
      </p:sp>
      <p:sp>
        <p:nvSpPr>
          <p:cNvPr id="13" name="arrow"/>
          <p:cNvSpPr/>
          <p:nvPr/>
        </p:nvSpPr>
        <p:spPr>
          <a:xfrm>
            <a:off x="3086786" y="3164840"/>
            <a:ext cx="274320" cy="274320"/>
          </a:xfrm>
          <a:prstGeom prst="rightArrow">
            <a:avLst/>
          </a:prstGeom>
          <a:solidFill>
            <a:srgbClr val="B8862B"/>
          </a:solidFill>
          <a:ln/>
        </p:spPr>
      </p:sp>
      <p:sp>
        <p:nvSpPr>
          <p:cNvPr id="14" name="step-box"/>
          <p:cNvSpPr/>
          <p:nvPr/>
        </p:nvSpPr>
        <p:spPr>
          <a:xfrm>
            <a:off x="3425114" y="2314956"/>
            <a:ext cx="2464994" cy="1974088"/>
          </a:xfrm>
          <a:prstGeom prst="roundRect">
            <a:avLst>
              <a:gd name="adj" fmla="val 3706"/>
            </a:avLst>
          </a:prstGeom>
          <a:solidFill>
            <a:srgbClr val="FFFFFF"/>
          </a:solidFill>
          <a:ln w="15875">
            <a:solidFill>
              <a:srgbClr val="C08D92"/>
            </a:solidFill>
            <a:prstDash val="solid"/>
          </a:ln>
        </p:spPr>
      </p:sp>
      <p:sp>
        <p:nvSpPr>
          <p:cNvPr id="15" name="step-hex"/>
          <p:cNvSpPr/>
          <p:nvPr/>
        </p:nvSpPr>
        <p:spPr>
          <a:xfrm>
            <a:off x="3562274" y="2424684"/>
            <a:ext cx="530352" cy="459285"/>
          </a:xfrm>
          <a:prstGeom prst="hexagon">
            <a:avLst/>
          </a:prstGeom>
          <a:solidFill>
            <a:srgbClr val="8C2F39"/>
          </a:solidFill>
          <a:ln/>
        </p:spPr>
      </p:sp>
      <p:sp>
        <p:nvSpPr>
          <p:cNvPr id="16" name="step-hex-label"/>
          <p:cNvSpPr txBox="1"/>
          <p:nvPr/>
        </p:nvSpPr>
        <p:spPr>
          <a:xfrm>
            <a:off x="3562274" y="2424684"/>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7" name="step"/>
          <p:cNvSpPr txBox="1"/>
          <p:nvPr/>
        </p:nvSpPr>
        <p:spPr>
          <a:xfrm>
            <a:off x="3562274" y="2909316"/>
            <a:ext cx="2190674" cy="128828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Section A, Questions 1 to 4: 40 minutes (40 marks, about a minute a mark).</a:t>
            </a:r>
            <a:endParaRPr lang="en-US" sz="1800" dirty="0"/>
          </a:p>
        </p:txBody>
      </p:sp>
      <p:sp>
        <p:nvSpPr>
          <p:cNvPr id="18" name="arrow"/>
          <p:cNvSpPr/>
          <p:nvPr/>
        </p:nvSpPr>
        <p:spPr>
          <a:xfrm>
            <a:off x="5963260" y="3164840"/>
            <a:ext cx="274320" cy="274320"/>
          </a:xfrm>
          <a:prstGeom prst="rightArrow">
            <a:avLst/>
          </a:prstGeom>
          <a:solidFill>
            <a:srgbClr val="B8862B"/>
          </a:solidFill>
          <a:ln/>
        </p:spPr>
      </p:sp>
      <p:sp>
        <p:nvSpPr>
          <p:cNvPr id="19" name="step-box"/>
          <p:cNvSpPr/>
          <p:nvPr/>
        </p:nvSpPr>
        <p:spPr>
          <a:xfrm>
            <a:off x="6301588" y="2314956"/>
            <a:ext cx="2464994" cy="1974088"/>
          </a:xfrm>
          <a:prstGeom prst="roundRect">
            <a:avLst>
              <a:gd name="adj" fmla="val 3706"/>
            </a:avLst>
          </a:prstGeom>
          <a:solidFill>
            <a:srgbClr val="FFFFFF"/>
          </a:solidFill>
          <a:ln w="15875">
            <a:solidFill>
              <a:srgbClr val="C08D92"/>
            </a:solidFill>
            <a:prstDash val="solid"/>
          </a:ln>
        </p:spPr>
      </p:sp>
      <p:sp>
        <p:nvSpPr>
          <p:cNvPr id="20" name="step-hex"/>
          <p:cNvSpPr/>
          <p:nvPr/>
        </p:nvSpPr>
        <p:spPr>
          <a:xfrm>
            <a:off x="6438748" y="2424684"/>
            <a:ext cx="530352" cy="459285"/>
          </a:xfrm>
          <a:prstGeom prst="hexagon">
            <a:avLst/>
          </a:prstGeom>
          <a:solidFill>
            <a:srgbClr val="8C2F39"/>
          </a:solidFill>
          <a:ln/>
        </p:spPr>
      </p:sp>
      <p:sp>
        <p:nvSpPr>
          <p:cNvPr id="21" name="step-hex-label"/>
          <p:cNvSpPr txBox="1"/>
          <p:nvPr/>
        </p:nvSpPr>
        <p:spPr>
          <a:xfrm>
            <a:off x="6438748" y="2424684"/>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22" name="step"/>
          <p:cNvSpPr txBox="1"/>
          <p:nvPr/>
        </p:nvSpPr>
        <p:spPr>
          <a:xfrm>
            <a:off x="6438748" y="2909316"/>
            <a:ext cx="2190674" cy="128828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Section B, Question 5: 45 minutes (5 planning, 40 writing).</a:t>
            </a:r>
            <a:endParaRPr lang="en-US" sz="1800" dirty="0"/>
          </a:p>
        </p:txBody>
      </p:sp>
      <p:sp>
        <p:nvSpPr>
          <p:cNvPr id="23" name="arrow"/>
          <p:cNvSpPr/>
          <p:nvPr/>
        </p:nvSpPr>
        <p:spPr>
          <a:xfrm>
            <a:off x="8839733" y="3164840"/>
            <a:ext cx="274320" cy="274320"/>
          </a:xfrm>
          <a:prstGeom prst="rightArrow">
            <a:avLst/>
          </a:prstGeom>
          <a:solidFill>
            <a:srgbClr val="B8862B"/>
          </a:solidFill>
          <a:ln/>
        </p:spPr>
      </p:sp>
      <p:sp>
        <p:nvSpPr>
          <p:cNvPr id="24" name="step-box"/>
          <p:cNvSpPr/>
          <p:nvPr/>
        </p:nvSpPr>
        <p:spPr>
          <a:xfrm>
            <a:off x="9178061" y="2314956"/>
            <a:ext cx="2464994" cy="1974088"/>
          </a:xfrm>
          <a:prstGeom prst="roundRect">
            <a:avLst>
              <a:gd name="adj" fmla="val 3706"/>
            </a:avLst>
          </a:prstGeom>
          <a:solidFill>
            <a:srgbClr val="FFFFFF"/>
          </a:solidFill>
          <a:ln w="15875">
            <a:solidFill>
              <a:srgbClr val="C08D92"/>
            </a:solidFill>
            <a:prstDash val="solid"/>
          </a:ln>
        </p:spPr>
      </p:sp>
      <p:sp>
        <p:nvSpPr>
          <p:cNvPr id="25" name="step-hex"/>
          <p:cNvSpPr/>
          <p:nvPr/>
        </p:nvSpPr>
        <p:spPr>
          <a:xfrm>
            <a:off x="9315221" y="2424684"/>
            <a:ext cx="530352" cy="459285"/>
          </a:xfrm>
          <a:prstGeom prst="hexagon">
            <a:avLst/>
          </a:prstGeom>
          <a:solidFill>
            <a:srgbClr val="8C2F39"/>
          </a:solidFill>
          <a:ln/>
        </p:spPr>
      </p:sp>
      <p:sp>
        <p:nvSpPr>
          <p:cNvPr id="26" name="step-hex-label"/>
          <p:cNvSpPr txBox="1"/>
          <p:nvPr/>
        </p:nvSpPr>
        <p:spPr>
          <a:xfrm>
            <a:off x="9315221" y="2424684"/>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27" name="step"/>
          <p:cNvSpPr txBox="1"/>
          <p:nvPr/>
        </p:nvSpPr>
        <p:spPr>
          <a:xfrm>
            <a:off x="9315221" y="2909316"/>
            <a:ext cx="2190674" cy="128828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Proofreading at the end: 5 minutes.</a:t>
            </a:r>
            <a:endParaRPr lang="en-US" sz="1800" dirty="0"/>
          </a:p>
        </p:txBody>
      </p:sp>
      <p:sp>
        <p:nvSpPr>
          <p:cNvPr id="28" name="worked-answer"/>
          <p:cNvSpPr/>
          <p:nvPr/>
        </p:nvSpPr>
        <p:spPr>
          <a:xfrm>
            <a:off x="1463040" y="5592572"/>
            <a:ext cx="9265615" cy="552196"/>
          </a:xfrm>
          <a:prstGeom prst="roundRect">
            <a:avLst>
              <a:gd name="adj" fmla="val 33119"/>
            </a:avLst>
          </a:prstGeom>
          <a:solidFill>
            <a:srgbClr val="EBDDC4"/>
          </a:solidFill>
          <a:ln w="19050">
            <a:solidFill>
              <a:srgbClr val="B8862B"/>
            </a:solid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Answer  </a:t>
            </a:r>
            <a:pPr algn="ctr" indent="0" marL="0">
              <a:buNone/>
            </a:pPr>
            <a:r>
              <a:rPr lang="en-US" sz="1800" b="1" dirty="0">
                <a:solidFill>
                  <a:srgbClr val="1E2229"/>
                </a:solidFill>
                <a:latin typeface="Calibri" pitchFamily="34" charset="0"/>
                <a:ea typeface="Calibri" pitchFamily="34" charset="-122"/>
                <a:cs typeface="Calibri" pitchFamily="34" charset="-120"/>
              </a:rPr>
              <a:t>15 + 40 + 45 + 5 = 105 minutes, which is exactly 1 hour 45 minutes.</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Reading the source like a detective</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629148"/>
            <a:ext cx="11094415" cy="515620"/>
          </a:xfrm>
          <a:prstGeom prst="roundRect">
            <a:avLst>
              <a:gd name="adj" fmla="val 26601"/>
            </a:avLst>
          </a:prstGeom>
          <a:solidFill>
            <a:srgbClr val="F2E9D9"/>
          </a:solidFill>
          <a:ln w="15875">
            <a:solidFill>
              <a:srgbClr val="B8862B"/>
            </a:solidFill>
            <a:prstDash val="solid"/>
          </a:ln>
        </p:spPr>
      </p:sp>
      <p:sp>
        <p:nvSpPr>
          <p:cNvPr id="8" name="tip-hex"/>
          <p:cNvSpPr/>
          <p:nvPr/>
        </p:nvSpPr>
        <p:spPr>
          <a:xfrm>
            <a:off x="685800" y="5688990"/>
            <a:ext cx="457200" cy="395935"/>
          </a:xfrm>
          <a:prstGeom prst="hexagon">
            <a:avLst/>
          </a:prstGeom>
          <a:solidFill>
            <a:srgbClr val="B8862B"/>
          </a:solidFill>
          <a:ln/>
        </p:spPr>
      </p:sp>
      <p:sp>
        <p:nvSpPr>
          <p:cNvPr id="9" name="tip-hex-label"/>
          <p:cNvSpPr txBox="1"/>
          <p:nvPr/>
        </p:nvSpPr>
        <p:spPr>
          <a:xfrm>
            <a:off x="685800" y="5688990"/>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684012"/>
            <a:ext cx="10225735" cy="405892"/>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Only underline what helps you answer the question. Underlining everything helps nothing.</a:t>
            </a:r>
            <a:endParaRPr lang="en-US" sz="1800" dirty="0"/>
          </a:p>
        </p:txBody>
      </p:sp>
      <p:sp>
        <p:nvSpPr>
          <p:cNvPr id="11" name="point-card"/>
          <p:cNvSpPr/>
          <p:nvPr/>
        </p:nvSpPr>
        <p:spPr>
          <a:xfrm>
            <a:off x="548640" y="1389888"/>
            <a:ext cx="3515258" cy="3964940"/>
          </a:xfrm>
          <a:prstGeom prst="roundRect">
            <a:avLst>
              <a:gd name="adj" fmla="val 1561"/>
            </a:avLst>
          </a:prstGeom>
          <a:solidFill>
            <a:srgbClr val="F0E4E5"/>
          </a:solidFill>
          <a:ln/>
        </p:spPr>
      </p:sp>
      <p:sp>
        <p:nvSpPr>
          <p:cNvPr id="12" name="point-hex"/>
          <p:cNvSpPr/>
          <p:nvPr/>
        </p:nvSpPr>
        <p:spPr>
          <a:xfrm>
            <a:off x="731520" y="1572768"/>
            <a:ext cx="685800" cy="593903"/>
          </a:xfrm>
          <a:prstGeom prst="hexagon">
            <a:avLst/>
          </a:prstGeom>
          <a:solidFill>
            <a:srgbClr val="8C2F39"/>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86766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Before you answer anything, read the source to understand the story.</a:t>
            </a:r>
            <a:endParaRPr lang="en-US" sz="2400" dirty="0"/>
          </a:p>
        </p:txBody>
      </p:sp>
      <p:sp>
        <p:nvSpPr>
          <p:cNvPr id="15" name="point-card"/>
          <p:cNvSpPr/>
          <p:nvPr/>
        </p:nvSpPr>
        <p:spPr>
          <a:xfrm>
            <a:off x="4338218" y="1389888"/>
            <a:ext cx="3515258" cy="3964940"/>
          </a:xfrm>
          <a:prstGeom prst="roundRect">
            <a:avLst>
              <a:gd name="adj" fmla="val 1561"/>
            </a:avLst>
          </a:prstGeom>
          <a:solidFill>
            <a:srgbClr val="F4EDDF"/>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86766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Next, summarise the beginning, the middle and the end in a line each.</a:t>
            </a:r>
            <a:endParaRPr lang="en-US" sz="2400" dirty="0"/>
          </a:p>
        </p:txBody>
      </p:sp>
      <p:sp>
        <p:nvSpPr>
          <p:cNvPr id="19" name="point-card"/>
          <p:cNvSpPr/>
          <p:nvPr/>
        </p:nvSpPr>
        <p:spPr>
          <a:xfrm>
            <a:off x="8127797" y="1389888"/>
            <a:ext cx="3515258" cy="3964940"/>
          </a:xfrm>
          <a:prstGeom prst="roundRect">
            <a:avLst>
              <a:gd name="adj" fmla="val 1561"/>
            </a:avLst>
          </a:prstGeom>
          <a:solidFill>
            <a:srgbClr val="F0E4E5"/>
          </a:solidFill>
          <a:ln/>
        </p:spPr>
      </p:sp>
      <p:sp>
        <p:nvSpPr>
          <p:cNvPr id="20" name="point-hex"/>
          <p:cNvSpPr/>
          <p:nvPr/>
        </p:nvSpPr>
        <p:spPr>
          <a:xfrm>
            <a:off x="8310677" y="1572768"/>
            <a:ext cx="685800" cy="593903"/>
          </a:xfrm>
          <a:prstGeom prst="hexagon">
            <a:avLst/>
          </a:prstGeom>
          <a:solidFill>
            <a:srgbClr val="8C2F39"/>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86766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Here is the opening of the source you will use throughout this unit, an original story called ‘The Last Ferry’.</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Reading the source like a detective</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quote-panel"/>
          <p:cNvSpPr/>
          <p:nvPr/>
        </p:nvSpPr>
        <p:spPr>
          <a:xfrm>
            <a:off x="548640" y="1389888"/>
            <a:ext cx="11094415" cy="4754880"/>
          </a:xfrm>
          <a:prstGeom prst="roundRect">
            <a:avLst>
              <a:gd name="adj" fmla="val 1154"/>
            </a:avLst>
          </a:prstGeom>
          <a:solidFill>
            <a:srgbClr val="F0E4E5"/>
          </a:solidFill>
          <a:ln/>
        </p:spPr>
      </p:sp>
      <p:sp>
        <p:nvSpPr>
          <p:cNvPr id="8" name="quote-mark"/>
          <p:cNvSpPr txBox="1"/>
          <p:nvPr/>
        </p:nvSpPr>
        <p:spPr>
          <a:xfrm>
            <a:off x="685800" y="1572768"/>
            <a:ext cx="868680" cy="1280160"/>
          </a:xfrm>
          <a:prstGeom prst="rect">
            <a:avLst/>
          </a:prstGeom>
          <a:noFill/>
          <a:ln/>
        </p:spPr>
        <p:txBody>
          <a:bodyPr wrap="square" lIns="63500" tIns="63500" rIns="63500" bIns="63500" rtlCol="0" anchor="t"/>
          <a:lstStyle/>
          <a:p>
            <a:pPr algn="l" indent="0" marL="0">
              <a:buNone/>
            </a:pPr>
            <a:r>
              <a:rPr lang="en-US" sz="7200" b="1" dirty="0">
                <a:solidFill>
                  <a:srgbClr val="B8862B"/>
                </a:solidFill>
                <a:latin typeface="Cambria" pitchFamily="34" charset="0"/>
                <a:ea typeface="Cambria" pitchFamily="34" charset="-122"/>
                <a:cs typeface="Cambria" pitchFamily="34" charset="-120"/>
              </a:rPr>
              <a:t>“</a:t>
            </a:r>
            <a:endParaRPr lang="en-US" sz="7200" dirty="0"/>
          </a:p>
        </p:txBody>
      </p:sp>
      <p:sp>
        <p:nvSpPr>
          <p:cNvPr id="9" name="quote"/>
          <p:cNvSpPr txBox="1"/>
          <p:nvPr/>
        </p:nvSpPr>
        <p:spPr>
          <a:xfrm>
            <a:off x="1600200" y="1664208"/>
            <a:ext cx="9768535" cy="4206240"/>
          </a:xfrm>
          <a:prstGeom prst="rect">
            <a:avLst/>
          </a:prstGeom>
          <a:noFill/>
          <a:ln/>
        </p:spPr>
        <p:txBody>
          <a:bodyPr wrap="square" lIns="63500" tIns="63500" rIns="63500" bIns="63500" rtlCol="0" anchor="ctr"/>
          <a:lstStyle/>
          <a:p>
            <a:pPr algn="l" indent="0" marL="0">
              <a:spcAft>
                <a:spcPts val="1000"/>
              </a:spcAft>
              <a:buNone/>
            </a:pPr>
            <a:r>
              <a:rPr lang="en-US" sz="2200" i="1" dirty="0">
                <a:solidFill>
                  <a:srgbClr val="1E2229"/>
                </a:solidFill>
                <a:latin typeface="Cambria" pitchFamily="34" charset="0"/>
                <a:ea typeface="Cambria" pitchFamily="34" charset="-122"/>
                <a:cs typeface="Cambria" pitchFamily="34" charset="-120"/>
              </a:rPr>
              <a:t>The harbour was empty except for the wind. It came in off the grey water in long, cold breaths, rattling the chains of the fishing boats and lifting the gulls high above the sea wall like scraps of torn paper. Rain had not yet arrived, but the sky was already bruised purple at its edges. Along the quay, the café shutters were down and the lamps flickered weakly, as though they were too tired to keep fighting the dark. At the very end of the jetty, beside a battered blue suitcase, sat a girl in a coat that was two sizes too big. Nell had been waiting for an hour. Her fingers were numb. Her hair whipped across her face and stung her eyes. She did not move. Somewhere beyond the headland, the last ferry of the year was crossing the sound, and she meant to be on it.</a:t>
            </a:r>
            <a:endParaRPr lang="en-US" sz="2200" dirty="0"/>
          </a:p>
          <a:p>
            <a:pPr algn="l" indent="0" marL="0">
              <a:buNone/>
            </a:pPr>
            <a:r>
              <a:rPr lang="en-US" sz="1800" dirty="0">
                <a:solidFill>
                  <a:srgbClr val="4A505C"/>
                </a:solidFill>
                <a:latin typeface="Calibri" pitchFamily="34" charset="0"/>
                <a:ea typeface="Calibri" pitchFamily="34" charset="-122"/>
                <a:cs typeface="Calibri" pitchFamily="34" charset="-120"/>
              </a:rPr>
              <a:t>— ‘The Last Ferry’, Part 1 — original passage written for Ad Astra</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The task: Match each question to its job</a:t>
            </a:r>
            <a:endParaRPr lang="en-US" sz="3200" dirty="0"/>
          </a:p>
        </p:txBody>
      </p:sp>
      <p:sp>
        <p:nvSpPr>
          <p:cNvPr id="4" name="chip-hex"/>
          <p:cNvSpPr/>
          <p:nvPr/>
        </p:nvSpPr>
        <p:spPr>
          <a:xfrm>
            <a:off x="9677095" y="531760"/>
            <a:ext cx="566928" cy="490960"/>
          </a:xfrm>
          <a:prstGeom prst="hexagon">
            <a:avLst/>
          </a:prstGeom>
          <a:solidFill>
            <a:srgbClr val="8C2F39"/>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1</a:t>
            </a:r>
            <a:endParaRPr lang="en-US" sz="2800" dirty="0"/>
          </a:p>
        </p:txBody>
      </p:sp>
      <p:sp>
        <p:nvSpPr>
          <p:cNvPr id="10" name="task"/>
          <p:cNvSpPr txBox="1"/>
          <p:nvPr/>
        </p:nvSpPr>
        <p:spPr>
          <a:xfrm>
            <a:off x="1828800" y="1618488"/>
            <a:ext cx="8534095" cy="498856"/>
          </a:xfrm>
          <a:prstGeom prst="rect">
            <a:avLst/>
          </a:prstGeom>
          <a:noFill/>
          <a:ln/>
        </p:spPr>
        <p:txBody>
          <a:bodyPr wrap="square" lIns="63500" tIns="63500" rIns="63500" bIns="63500" rtlCol="0" anchor="t"/>
          <a:lstStyle/>
          <a:p>
            <a:pPr algn="ctr" indent="0" marL="0">
              <a:buNone/>
            </a:pPr>
            <a:r>
              <a:rPr lang="en-US" sz="2400" b="1" dirty="0">
                <a:solidFill>
                  <a:srgbClr val="1E2229"/>
                </a:solidFill>
                <a:latin typeface="Calibri" pitchFamily="34" charset="0"/>
                <a:ea typeface="Calibri" pitchFamily="34" charset="-122"/>
                <a:cs typeface="Calibri" pitchFamily="34" charset="-120"/>
              </a:rPr>
              <a:t>Match each Paper 1 question to what it asks you to do.</a:t>
            </a:r>
            <a:endParaRPr lang="en-US" sz="2400" dirty="0"/>
          </a:p>
        </p:txBody>
      </p:sp>
      <p:sp>
        <p:nvSpPr>
          <p:cNvPr id="11" name="match-card"/>
          <p:cNvSpPr/>
          <p:nvPr/>
        </p:nvSpPr>
        <p:spPr>
          <a:xfrm>
            <a:off x="777240" y="2468331"/>
            <a:ext cx="3081437" cy="625559"/>
          </a:xfrm>
          <a:prstGeom prst="roundRect">
            <a:avLst>
              <a:gd name="adj" fmla="val 11694"/>
            </a:avLst>
          </a:prstGeom>
          <a:solidFill>
            <a:srgbClr val="F2E8E9"/>
          </a:solidFill>
          <a:ln/>
        </p:spPr>
      </p:sp>
      <p:sp>
        <p:nvSpPr>
          <p:cNvPr id="12" name="match-hex"/>
          <p:cNvSpPr/>
          <p:nvPr/>
        </p:nvSpPr>
        <p:spPr>
          <a:xfrm>
            <a:off x="850392" y="2614818"/>
            <a:ext cx="384048" cy="332586"/>
          </a:xfrm>
          <a:prstGeom prst="hexagon">
            <a:avLst/>
          </a:prstGeom>
          <a:solidFill>
            <a:srgbClr val="8C2F39"/>
          </a:solidFill>
          <a:ln/>
        </p:spPr>
      </p:sp>
      <p:sp>
        <p:nvSpPr>
          <p:cNvPr id="13" name="match-hex-label"/>
          <p:cNvSpPr txBox="1"/>
          <p:nvPr/>
        </p:nvSpPr>
        <p:spPr>
          <a:xfrm>
            <a:off x="850392" y="2614818"/>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4" name="match-text"/>
          <p:cNvSpPr txBox="1"/>
          <p:nvPr/>
        </p:nvSpPr>
        <p:spPr>
          <a:xfrm>
            <a:off x="1298448" y="2468331"/>
            <a:ext cx="2487077" cy="625559"/>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Question 1</a:t>
            </a:r>
            <a:endParaRPr lang="en-US" sz="2200" dirty="0"/>
          </a:p>
        </p:txBody>
      </p:sp>
      <p:sp>
        <p:nvSpPr>
          <p:cNvPr id="15" name="match-card"/>
          <p:cNvSpPr/>
          <p:nvPr/>
        </p:nvSpPr>
        <p:spPr>
          <a:xfrm>
            <a:off x="4224437" y="2468331"/>
            <a:ext cx="7190019" cy="625559"/>
          </a:xfrm>
          <a:prstGeom prst="roundRect">
            <a:avLst>
              <a:gd name="adj" fmla="val 11694"/>
            </a:avLst>
          </a:prstGeom>
          <a:solidFill>
            <a:srgbClr val="F4EDDF"/>
          </a:solidFill>
          <a:ln/>
        </p:spPr>
      </p:sp>
      <p:sp>
        <p:nvSpPr>
          <p:cNvPr id="16" name="match-hex"/>
          <p:cNvSpPr/>
          <p:nvPr/>
        </p:nvSpPr>
        <p:spPr>
          <a:xfrm>
            <a:off x="4297589" y="2614818"/>
            <a:ext cx="384048" cy="332586"/>
          </a:xfrm>
          <a:prstGeom prst="hexagon">
            <a:avLst/>
          </a:prstGeom>
          <a:solidFill>
            <a:srgbClr val="B8862B"/>
          </a:solidFill>
          <a:ln/>
        </p:spPr>
      </p:sp>
      <p:sp>
        <p:nvSpPr>
          <p:cNvPr id="17" name="match-hex-label"/>
          <p:cNvSpPr txBox="1"/>
          <p:nvPr/>
        </p:nvSpPr>
        <p:spPr>
          <a:xfrm>
            <a:off x="4297589" y="2614818"/>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8" name="match-text"/>
          <p:cNvSpPr txBox="1"/>
          <p:nvPr/>
        </p:nvSpPr>
        <p:spPr>
          <a:xfrm>
            <a:off x="4745645" y="2468331"/>
            <a:ext cx="6595659" cy="625559"/>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Find the right information (multiple choice)</a:t>
            </a:r>
            <a:endParaRPr lang="en-US" sz="2200" dirty="0"/>
          </a:p>
        </p:txBody>
      </p:sp>
      <p:sp>
        <p:nvSpPr>
          <p:cNvPr id="19" name="match-card"/>
          <p:cNvSpPr/>
          <p:nvPr/>
        </p:nvSpPr>
        <p:spPr>
          <a:xfrm>
            <a:off x="777240" y="3185331"/>
            <a:ext cx="3081437" cy="625559"/>
          </a:xfrm>
          <a:prstGeom prst="roundRect">
            <a:avLst>
              <a:gd name="adj" fmla="val 11694"/>
            </a:avLst>
          </a:prstGeom>
          <a:solidFill>
            <a:srgbClr val="F2E8E9"/>
          </a:solidFill>
          <a:ln/>
        </p:spPr>
      </p:sp>
      <p:sp>
        <p:nvSpPr>
          <p:cNvPr id="20" name="match-hex"/>
          <p:cNvSpPr/>
          <p:nvPr/>
        </p:nvSpPr>
        <p:spPr>
          <a:xfrm>
            <a:off x="850392" y="3331818"/>
            <a:ext cx="384048" cy="332586"/>
          </a:xfrm>
          <a:prstGeom prst="hexagon">
            <a:avLst/>
          </a:prstGeom>
          <a:solidFill>
            <a:srgbClr val="8C2F39"/>
          </a:solidFill>
          <a:ln/>
        </p:spPr>
      </p:sp>
      <p:sp>
        <p:nvSpPr>
          <p:cNvPr id="21" name="match-hex-label"/>
          <p:cNvSpPr txBox="1"/>
          <p:nvPr/>
        </p:nvSpPr>
        <p:spPr>
          <a:xfrm>
            <a:off x="850392" y="3331818"/>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2" name="match-text"/>
          <p:cNvSpPr txBox="1"/>
          <p:nvPr/>
        </p:nvSpPr>
        <p:spPr>
          <a:xfrm>
            <a:off x="1298448" y="3185331"/>
            <a:ext cx="2487077" cy="625559"/>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Question 2</a:t>
            </a:r>
            <a:endParaRPr lang="en-US" sz="2200" dirty="0"/>
          </a:p>
        </p:txBody>
      </p:sp>
      <p:sp>
        <p:nvSpPr>
          <p:cNvPr id="23" name="match-card"/>
          <p:cNvSpPr/>
          <p:nvPr/>
        </p:nvSpPr>
        <p:spPr>
          <a:xfrm>
            <a:off x="4224437" y="3185331"/>
            <a:ext cx="7190019" cy="625559"/>
          </a:xfrm>
          <a:prstGeom prst="roundRect">
            <a:avLst>
              <a:gd name="adj" fmla="val 11694"/>
            </a:avLst>
          </a:prstGeom>
          <a:solidFill>
            <a:srgbClr val="F4EDDF"/>
          </a:solidFill>
          <a:ln/>
        </p:spPr>
      </p:sp>
      <p:sp>
        <p:nvSpPr>
          <p:cNvPr id="24" name="match-hex"/>
          <p:cNvSpPr/>
          <p:nvPr/>
        </p:nvSpPr>
        <p:spPr>
          <a:xfrm>
            <a:off x="4297589" y="3331818"/>
            <a:ext cx="384048" cy="332586"/>
          </a:xfrm>
          <a:prstGeom prst="hexagon">
            <a:avLst/>
          </a:prstGeom>
          <a:solidFill>
            <a:srgbClr val="B8862B"/>
          </a:solidFill>
          <a:ln/>
        </p:spPr>
      </p:sp>
      <p:sp>
        <p:nvSpPr>
          <p:cNvPr id="25" name="match-hex-label"/>
          <p:cNvSpPr txBox="1"/>
          <p:nvPr/>
        </p:nvSpPr>
        <p:spPr>
          <a:xfrm>
            <a:off x="4297589" y="3331818"/>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26" name="match-text"/>
          <p:cNvSpPr txBox="1"/>
          <p:nvPr/>
        </p:nvSpPr>
        <p:spPr>
          <a:xfrm>
            <a:off x="4745645" y="3185331"/>
            <a:ext cx="6595659" cy="625559"/>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Evaluate a statement about the source</a:t>
            </a:r>
            <a:endParaRPr lang="en-US" sz="2200" dirty="0"/>
          </a:p>
        </p:txBody>
      </p:sp>
      <p:sp>
        <p:nvSpPr>
          <p:cNvPr id="27" name="match-card"/>
          <p:cNvSpPr/>
          <p:nvPr/>
        </p:nvSpPr>
        <p:spPr>
          <a:xfrm>
            <a:off x="777240" y="3902330"/>
            <a:ext cx="3081437" cy="625559"/>
          </a:xfrm>
          <a:prstGeom prst="roundRect">
            <a:avLst>
              <a:gd name="adj" fmla="val 11694"/>
            </a:avLst>
          </a:prstGeom>
          <a:solidFill>
            <a:srgbClr val="F2E8E9"/>
          </a:solidFill>
          <a:ln/>
        </p:spPr>
      </p:sp>
      <p:sp>
        <p:nvSpPr>
          <p:cNvPr id="28" name="match-hex"/>
          <p:cNvSpPr/>
          <p:nvPr/>
        </p:nvSpPr>
        <p:spPr>
          <a:xfrm>
            <a:off x="850392" y="4048817"/>
            <a:ext cx="384048" cy="332586"/>
          </a:xfrm>
          <a:prstGeom prst="hexagon">
            <a:avLst/>
          </a:prstGeom>
          <a:solidFill>
            <a:srgbClr val="8C2F39"/>
          </a:solidFill>
          <a:ln/>
        </p:spPr>
      </p:sp>
      <p:sp>
        <p:nvSpPr>
          <p:cNvPr id="29" name="match-hex-label"/>
          <p:cNvSpPr txBox="1"/>
          <p:nvPr/>
        </p:nvSpPr>
        <p:spPr>
          <a:xfrm>
            <a:off x="850392" y="4048817"/>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30" name="match-text"/>
          <p:cNvSpPr txBox="1"/>
          <p:nvPr/>
        </p:nvSpPr>
        <p:spPr>
          <a:xfrm>
            <a:off x="1298448" y="3902330"/>
            <a:ext cx="2487077" cy="625559"/>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Question 3</a:t>
            </a:r>
            <a:endParaRPr lang="en-US" sz="2200" dirty="0"/>
          </a:p>
        </p:txBody>
      </p:sp>
      <p:sp>
        <p:nvSpPr>
          <p:cNvPr id="31" name="match-card"/>
          <p:cNvSpPr/>
          <p:nvPr/>
        </p:nvSpPr>
        <p:spPr>
          <a:xfrm>
            <a:off x="4224437" y="3902330"/>
            <a:ext cx="7190019" cy="625559"/>
          </a:xfrm>
          <a:prstGeom prst="roundRect">
            <a:avLst>
              <a:gd name="adj" fmla="val 11694"/>
            </a:avLst>
          </a:prstGeom>
          <a:solidFill>
            <a:srgbClr val="F4EDDF"/>
          </a:solidFill>
          <a:ln/>
        </p:spPr>
      </p:sp>
      <p:sp>
        <p:nvSpPr>
          <p:cNvPr id="32" name="match-hex"/>
          <p:cNvSpPr/>
          <p:nvPr/>
        </p:nvSpPr>
        <p:spPr>
          <a:xfrm>
            <a:off x="4297589" y="4048817"/>
            <a:ext cx="384048" cy="332586"/>
          </a:xfrm>
          <a:prstGeom prst="hexagon">
            <a:avLst/>
          </a:prstGeom>
          <a:solidFill>
            <a:srgbClr val="B8862B"/>
          </a:solidFill>
          <a:ln/>
        </p:spPr>
      </p:sp>
      <p:sp>
        <p:nvSpPr>
          <p:cNvPr id="33" name="match-hex-label"/>
          <p:cNvSpPr txBox="1"/>
          <p:nvPr/>
        </p:nvSpPr>
        <p:spPr>
          <a:xfrm>
            <a:off x="4297589" y="4048817"/>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34" name="match-text"/>
          <p:cNvSpPr txBox="1"/>
          <p:nvPr/>
        </p:nvSpPr>
        <p:spPr>
          <a:xfrm>
            <a:off x="4745645" y="3902330"/>
            <a:ext cx="6595659" cy="625559"/>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Analyse how the writer uses language</a:t>
            </a:r>
            <a:endParaRPr lang="en-US" sz="2200" dirty="0"/>
          </a:p>
        </p:txBody>
      </p:sp>
      <p:sp>
        <p:nvSpPr>
          <p:cNvPr id="35" name="match-card"/>
          <p:cNvSpPr/>
          <p:nvPr/>
        </p:nvSpPr>
        <p:spPr>
          <a:xfrm>
            <a:off x="777240" y="4619329"/>
            <a:ext cx="3081437" cy="625559"/>
          </a:xfrm>
          <a:prstGeom prst="roundRect">
            <a:avLst>
              <a:gd name="adj" fmla="val 11694"/>
            </a:avLst>
          </a:prstGeom>
          <a:solidFill>
            <a:srgbClr val="F2E8E9"/>
          </a:solidFill>
          <a:ln/>
        </p:spPr>
      </p:sp>
      <p:sp>
        <p:nvSpPr>
          <p:cNvPr id="36" name="match-hex"/>
          <p:cNvSpPr/>
          <p:nvPr/>
        </p:nvSpPr>
        <p:spPr>
          <a:xfrm>
            <a:off x="850392" y="4765816"/>
            <a:ext cx="384048" cy="332586"/>
          </a:xfrm>
          <a:prstGeom prst="hexagon">
            <a:avLst/>
          </a:prstGeom>
          <a:solidFill>
            <a:srgbClr val="8C2F39"/>
          </a:solidFill>
          <a:ln/>
        </p:spPr>
      </p:sp>
      <p:sp>
        <p:nvSpPr>
          <p:cNvPr id="37" name="match-hex-label"/>
          <p:cNvSpPr txBox="1"/>
          <p:nvPr/>
        </p:nvSpPr>
        <p:spPr>
          <a:xfrm>
            <a:off x="850392" y="4765816"/>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38" name="match-text"/>
          <p:cNvSpPr txBox="1"/>
          <p:nvPr/>
        </p:nvSpPr>
        <p:spPr>
          <a:xfrm>
            <a:off x="1298448" y="4619329"/>
            <a:ext cx="2487077" cy="625559"/>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Question 4</a:t>
            </a:r>
            <a:endParaRPr lang="en-US" sz="2200" dirty="0"/>
          </a:p>
        </p:txBody>
      </p:sp>
      <p:sp>
        <p:nvSpPr>
          <p:cNvPr id="39" name="match-card"/>
          <p:cNvSpPr/>
          <p:nvPr/>
        </p:nvSpPr>
        <p:spPr>
          <a:xfrm>
            <a:off x="4224437" y="4619329"/>
            <a:ext cx="7190019" cy="625559"/>
          </a:xfrm>
          <a:prstGeom prst="roundRect">
            <a:avLst>
              <a:gd name="adj" fmla="val 11694"/>
            </a:avLst>
          </a:prstGeom>
          <a:solidFill>
            <a:srgbClr val="F4EDDF"/>
          </a:solidFill>
          <a:ln/>
        </p:spPr>
      </p:sp>
      <p:sp>
        <p:nvSpPr>
          <p:cNvPr id="40" name="match-hex"/>
          <p:cNvSpPr/>
          <p:nvPr/>
        </p:nvSpPr>
        <p:spPr>
          <a:xfrm>
            <a:off x="4297589" y="4765816"/>
            <a:ext cx="384048" cy="332586"/>
          </a:xfrm>
          <a:prstGeom prst="hexagon">
            <a:avLst/>
          </a:prstGeom>
          <a:solidFill>
            <a:srgbClr val="B8862B"/>
          </a:solidFill>
          <a:ln/>
        </p:spPr>
      </p:sp>
      <p:sp>
        <p:nvSpPr>
          <p:cNvPr id="41" name="match-hex-label"/>
          <p:cNvSpPr txBox="1"/>
          <p:nvPr/>
        </p:nvSpPr>
        <p:spPr>
          <a:xfrm>
            <a:off x="4297589" y="4765816"/>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42" name="match-text"/>
          <p:cNvSpPr txBox="1"/>
          <p:nvPr/>
        </p:nvSpPr>
        <p:spPr>
          <a:xfrm>
            <a:off x="4745645" y="4619329"/>
            <a:ext cx="6595659" cy="625559"/>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Analyse how the whole source is structured</a:t>
            </a:r>
            <a:endParaRPr lang="en-US" sz="2200" dirty="0"/>
          </a:p>
        </p:txBody>
      </p:sp>
      <p:sp>
        <p:nvSpPr>
          <p:cNvPr id="43" name="match-card"/>
          <p:cNvSpPr/>
          <p:nvPr/>
        </p:nvSpPr>
        <p:spPr>
          <a:xfrm>
            <a:off x="777240" y="5336329"/>
            <a:ext cx="3081437" cy="625559"/>
          </a:xfrm>
          <a:prstGeom prst="roundRect">
            <a:avLst>
              <a:gd name="adj" fmla="val 11694"/>
            </a:avLst>
          </a:prstGeom>
          <a:solidFill>
            <a:srgbClr val="F2E8E9"/>
          </a:solidFill>
          <a:ln/>
        </p:spPr>
      </p:sp>
      <p:sp>
        <p:nvSpPr>
          <p:cNvPr id="44" name="match-hex"/>
          <p:cNvSpPr/>
          <p:nvPr/>
        </p:nvSpPr>
        <p:spPr>
          <a:xfrm>
            <a:off x="850392" y="5482816"/>
            <a:ext cx="384048" cy="332586"/>
          </a:xfrm>
          <a:prstGeom prst="hexagon">
            <a:avLst/>
          </a:prstGeom>
          <a:solidFill>
            <a:srgbClr val="8C2F39"/>
          </a:solidFill>
          <a:ln/>
        </p:spPr>
      </p:sp>
      <p:sp>
        <p:nvSpPr>
          <p:cNvPr id="45" name="match-hex-label"/>
          <p:cNvSpPr txBox="1"/>
          <p:nvPr/>
        </p:nvSpPr>
        <p:spPr>
          <a:xfrm>
            <a:off x="850392" y="5482816"/>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46" name="match-text"/>
          <p:cNvSpPr txBox="1"/>
          <p:nvPr/>
        </p:nvSpPr>
        <p:spPr>
          <a:xfrm>
            <a:off x="1298448" y="5336329"/>
            <a:ext cx="2487077" cy="625559"/>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Question 5</a:t>
            </a:r>
            <a:endParaRPr lang="en-US" sz="2200" dirty="0"/>
          </a:p>
        </p:txBody>
      </p:sp>
      <p:sp>
        <p:nvSpPr>
          <p:cNvPr id="47" name="match-card"/>
          <p:cNvSpPr/>
          <p:nvPr/>
        </p:nvSpPr>
        <p:spPr>
          <a:xfrm>
            <a:off x="4224437" y="5336329"/>
            <a:ext cx="7190019" cy="625559"/>
          </a:xfrm>
          <a:prstGeom prst="roundRect">
            <a:avLst>
              <a:gd name="adj" fmla="val 11694"/>
            </a:avLst>
          </a:prstGeom>
          <a:solidFill>
            <a:srgbClr val="F4EDDF"/>
          </a:solidFill>
          <a:ln/>
        </p:spPr>
      </p:sp>
      <p:sp>
        <p:nvSpPr>
          <p:cNvPr id="48" name="match-hex"/>
          <p:cNvSpPr/>
          <p:nvPr/>
        </p:nvSpPr>
        <p:spPr>
          <a:xfrm>
            <a:off x="4297589" y="5482816"/>
            <a:ext cx="384048" cy="332586"/>
          </a:xfrm>
          <a:prstGeom prst="hexagon">
            <a:avLst/>
          </a:prstGeom>
          <a:solidFill>
            <a:srgbClr val="B8862B"/>
          </a:solidFill>
          <a:ln/>
        </p:spPr>
      </p:sp>
      <p:sp>
        <p:nvSpPr>
          <p:cNvPr id="49" name="match-hex-label"/>
          <p:cNvSpPr txBox="1"/>
          <p:nvPr/>
        </p:nvSpPr>
        <p:spPr>
          <a:xfrm>
            <a:off x="4297589" y="5482816"/>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E</a:t>
            </a:r>
            <a:endParaRPr lang="en-US" sz="1800" dirty="0"/>
          </a:p>
        </p:txBody>
      </p:sp>
      <p:sp>
        <p:nvSpPr>
          <p:cNvPr id="50" name="match-text"/>
          <p:cNvSpPr txBox="1"/>
          <p:nvPr/>
        </p:nvSpPr>
        <p:spPr>
          <a:xfrm>
            <a:off x="4745645" y="5336329"/>
            <a:ext cx="6595659" cy="625559"/>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Write your own description or story</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600" b="1" dirty="0">
                <a:solidFill>
                  <a:srgbClr val="8C2F39"/>
                </a:solidFill>
                <a:latin typeface="Cambria" pitchFamily="34" charset="0"/>
                <a:ea typeface="Cambria" pitchFamily="34" charset="-122"/>
                <a:cs typeface="Cambria" pitchFamily="34" charset="-120"/>
              </a:rPr>
              <a:t>Same task, three ways in: Match each question to its job</a:t>
            </a:r>
            <a:endParaRPr lang="en-US" sz="2600" dirty="0"/>
          </a:p>
        </p:txBody>
      </p:sp>
      <p:sp>
        <p:nvSpPr>
          <p:cNvPr id="4" name="chip-hex"/>
          <p:cNvSpPr/>
          <p:nvPr/>
        </p:nvSpPr>
        <p:spPr>
          <a:xfrm>
            <a:off x="9677095" y="531760"/>
            <a:ext cx="566928" cy="490960"/>
          </a:xfrm>
          <a:prstGeom prst="hexagon">
            <a:avLst/>
          </a:prstGeom>
          <a:solidFill>
            <a:srgbClr val="8C2F39"/>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914400"/>
          </a:xfrm>
          <a:prstGeom prst="roundRect">
            <a:avLst>
              <a:gd name="adj" fmla="val 10000"/>
            </a:avLst>
          </a:prstGeom>
          <a:solidFill>
            <a:srgbClr val="FFFFFF"/>
          </a:solidFill>
          <a:ln w="31750">
            <a:solidFill>
              <a:srgbClr val="B8862B"/>
            </a:solidFill>
            <a:prstDash val="solid"/>
          </a:ln>
        </p:spPr>
      </p:sp>
      <p:sp>
        <p:nvSpPr>
          <p:cNvPr id="8" name="task-hex"/>
          <p:cNvSpPr/>
          <p:nvPr/>
        </p:nvSpPr>
        <p:spPr>
          <a:xfrm>
            <a:off x="777240" y="1530340"/>
            <a:ext cx="731520" cy="633496"/>
          </a:xfrm>
          <a:prstGeom prst="hexagon">
            <a:avLst/>
          </a:prstGeom>
          <a:solidFill>
            <a:srgbClr val="B8862B"/>
          </a:solidFill>
          <a:ln/>
        </p:spPr>
      </p:sp>
      <p:sp>
        <p:nvSpPr>
          <p:cNvPr id="9" name="task-hex-label"/>
          <p:cNvSpPr txBox="1"/>
          <p:nvPr/>
        </p:nvSpPr>
        <p:spPr>
          <a:xfrm>
            <a:off x="777240" y="153034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task-everyone"/>
          <p:cNvSpPr txBox="1"/>
          <p:nvPr/>
        </p:nvSpPr>
        <p:spPr>
          <a:xfrm>
            <a:off x="10362895" y="157276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731520"/>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Match each Paper 1 question to what it asks you to do.</a:t>
            </a:r>
            <a:endParaRPr lang="en-US" sz="2000" dirty="0"/>
          </a:p>
        </p:txBody>
      </p:sp>
      <p:sp>
        <p:nvSpPr>
          <p:cNvPr id="12" name="col-Support"/>
          <p:cNvSpPr/>
          <p:nvPr/>
        </p:nvSpPr>
        <p:spPr>
          <a:xfrm>
            <a:off x="548640" y="2578608"/>
            <a:ext cx="4667802" cy="3566160"/>
          </a:xfrm>
          <a:prstGeom prst="roundRect">
            <a:avLst>
              <a:gd name="adj" fmla="val 1538"/>
            </a:avLst>
          </a:prstGeom>
          <a:solidFill>
            <a:srgbClr val="F0E4E5"/>
          </a:solidFill>
          <a:ln/>
        </p:spPr>
      </p:sp>
      <p:sp>
        <p:nvSpPr>
          <p:cNvPr id="13" name="col-hex"/>
          <p:cNvSpPr/>
          <p:nvPr/>
        </p:nvSpPr>
        <p:spPr>
          <a:xfrm>
            <a:off x="658368" y="265176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615184"/>
            <a:ext cx="3936282" cy="566928"/>
          </a:xfrm>
          <a:prstGeom prst="rect">
            <a:avLst/>
          </a:prstGeom>
          <a:noFill/>
          <a:ln/>
        </p:spPr>
        <p:txBody>
          <a:bodyPr wrap="square" lIns="63500" tIns="63500" rIns="63500" bIns="63500" rtlCol="0" anchor="ctr"/>
          <a:lstStyle/>
          <a:p>
            <a:pPr algn="l" indent="0" marL="0">
              <a:buNone/>
            </a:pPr>
            <a:r>
              <a:rPr lang="en-US" sz="2000" b="1" dirty="0">
                <a:solidFill>
                  <a:srgbClr val="622128"/>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218688"/>
            <a:ext cx="4393482" cy="281635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8C2F39"/>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Remember that Questions 1 to 4 are reading and Question 5 is writing.</a:t>
            </a:r>
            <a:endParaRPr lang="en-US" sz="1800" dirty="0"/>
          </a:p>
          <a:p>
            <a:pPr algn="l" indent="0" marL="0">
              <a:spcAft>
                <a:spcPts val="600"/>
              </a:spcAft>
              <a:buNone/>
            </a:pPr>
            <a:r>
              <a:rPr lang="en-US" sz="1800" b="1" dirty="0">
                <a:solidFill>
                  <a:srgbClr val="8C2F39"/>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Question 1 is the quickest: it is about finding information.</a:t>
            </a:r>
            <a:endParaRPr lang="en-US" sz="1800" dirty="0"/>
          </a:p>
          <a:p>
            <a:pPr algn="l" indent="0" marL="0">
              <a:spcAft>
                <a:spcPts val="600"/>
              </a:spcAft>
              <a:buNone/>
            </a:pPr>
            <a:r>
              <a:rPr lang="en-US" sz="1800" b="1" dirty="0">
                <a:solidFill>
                  <a:srgbClr val="8C2F39"/>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Questions 2 and 3 are the analysis pair: language first, then structure.</a:t>
            </a:r>
            <a:endParaRPr lang="en-US" sz="1800" dirty="0"/>
          </a:p>
          <a:p>
            <a:pPr algn="l" indent="0" marL="0">
              <a:spcAft>
                <a:spcPts val="600"/>
              </a:spcAft>
              <a:buNone/>
            </a:pPr>
            <a:r>
              <a:rPr lang="en-US" sz="1800" b="1" dirty="0">
                <a:solidFill>
                  <a:srgbClr val="8C2F39"/>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Question 4 is the one with a statement to agree or disagree with.</a:t>
            </a:r>
            <a:endParaRPr lang="en-US" sz="1800" dirty="0"/>
          </a:p>
        </p:txBody>
      </p:sp>
      <p:sp>
        <p:nvSpPr>
          <p:cNvPr id="17" name="col-Core"/>
          <p:cNvSpPr/>
          <p:nvPr/>
        </p:nvSpPr>
        <p:spPr>
          <a:xfrm>
            <a:off x="5490762" y="2578608"/>
            <a:ext cx="2938987" cy="3566160"/>
          </a:xfrm>
          <a:prstGeom prst="roundRect">
            <a:avLst>
              <a:gd name="adj" fmla="val 1867"/>
            </a:avLst>
          </a:prstGeom>
          <a:solidFill>
            <a:srgbClr val="E2CBCE"/>
          </a:solidFill>
          <a:ln/>
        </p:spPr>
      </p:sp>
      <p:sp>
        <p:nvSpPr>
          <p:cNvPr id="18" name="col-hex"/>
          <p:cNvSpPr/>
          <p:nvPr/>
        </p:nvSpPr>
        <p:spPr>
          <a:xfrm>
            <a:off x="5600490" y="265176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5600490"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6130842" y="2615184"/>
            <a:ext cx="2207467" cy="566928"/>
          </a:xfrm>
          <a:prstGeom prst="rect">
            <a:avLst/>
          </a:prstGeom>
          <a:noFill/>
          <a:ln/>
        </p:spPr>
        <p:txBody>
          <a:bodyPr wrap="square" lIns="63500" tIns="63500" rIns="63500" bIns="63500" rtlCol="0" anchor="ctr"/>
          <a:lstStyle/>
          <a:p>
            <a:pPr algn="l" indent="0" marL="0">
              <a:buNone/>
            </a:pPr>
            <a:r>
              <a:rPr lang="en-US" sz="2000" b="1" dirty="0">
                <a:solidFill>
                  <a:srgbClr val="622128"/>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5627922" y="3218688"/>
            <a:ext cx="2664667" cy="2816352"/>
          </a:xfrm>
          <a:prstGeom prst="rect">
            <a:avLst/>
          </a:prstGeom>
          <a:noFill/>
          <a:ln/>
        </p:spPr>
        <p:txBody>
          <a:bodyPr wrap="square" lIns="63500" tIns="63500" rIns="63500" bIns="63500" rtlCol="0" anchor="t"/>
          <a:lstStyle/>
          <a:p>
            <a:pPr algn="l" indent="0" marL="0">
              <a:buNone/>
            </a:pPr>
            <a:r>
              <a:rPr lang="en-US" sz="1800" b="1" dirty="0">
                <a:solidFill>
                  <a:srgbClr val="70262E"/>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Language is words; structure is order. Which number comes first?</a:t>
            </a:r>
            <a:endParaRPr lang="en-US" sz="1800" dirty="0"/>
          </a:p>
        </p:txBody>
      </p:sp>
      <p:sp>
        <p:nvSpPr>
          <p:cNvPr id="22" name="col-Stretch"/>
          <p:cNvSpPr/>
          <p:nvPr/>
        </p:nvSpPr>
        <p:spPr>
          <a:xfrm>
            <a:off x="8704069" y="2578608"/>
            <a:ext cx="2938987" cy="3566160"/>
          </a:xfrm>
          <a:prstGeom prst="roundRect">
            <a:avLst>
              <a:gd name="adj" fmla="val 1867"/>
            </a:avLst>
          </a:prstGeom>
          <a:solidFill>
            <a:srgbClr val="8C2F39"/>
          </a:solidFill>
          <a:ln/>
        </p:spPr>
      </p:sp>
      <p:sp>
        <p:nvSpPr>
          <p:cNvPr id="23" name="col-hex"/>
          <p:cNvSpPr/>
          <p:nvPr/>
        </p:nvSpPr>
        <p:spPr>
          <a:xfrm>
            <a:off x="8813797" y="265176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813797"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344149" y="2615184"/>
            <a:ext cx="2207467"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841229" y="3218688"/>
            <a:ext cx="2664667" cy="281635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Explain why Question 4 needs the skills from both Question 2 and Question 3.</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Same task, three ways in: Plan your time</a:t>
            </a:r>
            <a:endParaRPr lang="en-US" sz="3200" dirty="0"/>
          </a:p>
        </p:txBody>
      </p:sp>
      <p:sp>
        <p:nvSpPr>
          <p:cNvPr id="4" name="chip-hex"/>
          <p:cNvSpPr/>
          <p:nvPr/>
        </p:nvSpPr>
        <p:spPr>
          <a:xfrm>
            <a:off x="9677095" y="531760"/>
            <a:ext cx="566928" cy="490960"/>
          </a:xfrm>
          <a:prstGeom prst="hexagon">
            <a:avLst/>
          </a:prstGeom>
          <a:solidFill>
            <a:srgbClr val="8C2F39"/>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2192020"/>
          </a:xfrm>
          <a:prstGeom prst="roundRect">
            <a:avLst>
              <a:gd name="adj" fmla="val 4171"/>
            </a:avLst>
          </a:prstGeom>
          <a:solidFill>
            <a:srgbClr val="FFFFFF"/>
          </a:solidFill>
          <a:ln w="31750">
            <a:solidFill>
              <a:srgbClr val="B8862B"/>
            </a:solidFill>
            <a:prstDash val="solid"/>
          </a:ln>
        </p:spPr>
      </p:sp>
      <p:sp>
        <p:nvSpPr>
          <p:cNvPr id="8" name="task-hex"/>
          <p:cNvSpPr/>
          <p:nvPr/>
        </p:nvSpPr>
        <p:spPr>
          <a:xfrm>
            <a:off x="777240" y="2169150"/>
            <a:ext cx="731520" cy="633496"/>
          </a:xfrm>
          <a:prstGeom prst="hexagon">
            <a:avLst/>
          </a:prstGeom>
          <a:solidFill>
            <a:srgbClr val="B8862B"/>
          </a:solidFill>
          <a:ln/>
        </p:spPr>
      </p:sp>
      <p:sp>
        <p:nvSpPr>
          <p:cNvPr id="9" name="task-hex-label"/>
          <p:cNvSpPr txBox="1"/>
          <p:nvPr/>
        </p:nvSpPr>
        <p:spPr>
          <a:xfrm>
            <a:off x="777240" y="216915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0" name="task-everyone"/>
          <p:cNvSpPr txBox="1"/>
          <p:nvPr/>
        </p:nvSpPr>
        <p:spPr>
          <a:xfrm>
            <a:off x="10362895" y="221157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2009140"/>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Put the stages of the exam in the order you should do them.</a:t>
            </a:r>
            <a:endParaRPr lang="en-US" sz="2000" dirty="0"/>
          </a:p>
          <a:p>
            <a:pPr algn="l" indent="0" marL="0">
              <a:spcAft>
                <a:spcPts val="200"/>
              </a:spcAft>
              <a:buNone/>
            </a:pPr>
            <a:r>
              <a:rPr lang="en-US" sz="1800" b="1" dirty="0">
                <a:solidFill>
                  <a:srgbClr val="B8862B"/>
                </a:solidFill>
                <a:latin typeface="Calibri" pitchFamily="34" charset="0"/>
                <a:ea typeface="Calibri" pitchFamily="34" charset="-122"/>
                <a:cs typeface="Calibri" pitchFamily="34" charset="-120"/>
              </a:rPr>
              <a:t>A   </a:t>
            </a:r>
            <a:pPr algn="l" indent="0" marL="0">
              <a:spcAft>
                <a:spcPts val="200"/>
              </a:spcAft>
              <a:buNone/>
            </a:pPr>
            <a:r>
              <a:rPr lang="en-US" sz="1800" dirty="0">
                <a:solidFill>
                  <a:srgbClr val="1E2229"/>
                </a:solidFill>
                <a:latin typeface="Calibri" pitchFamily="34" charset="0"/>
                <a:ea typeface="Calibri" pitchFamily="34" charset="-122"/>
                <a:cs typeface="Calibri" pitchFamily="34" charset="-120"/>
              </a:rPr>
              <a:t>Plan your writing (5 minutes)</a:t>
            </a:r>
            <a:endParaRPr lang="en-US" sz="2000" dirty="0"/>
          </a:p>
          <a:p>
            <a:pPr algn="l" indent="0" marL="0">
              <a:spcAft>
                <a:spcPts val="200"/>
              </a:spcAft>
              <a:buNone/>
            </a:pPr>
            <a:r>
              <a:rPr lang="en-US" sz="1800" b="1" dirty="0">
                <a:solidFill>
                  <a:srgbClr val="B8862B"/>
                </a:solidFill>
                <a:latin typeface="Calibri" pitchFamily="34" charset="0"/>
                <a:ea typeface="Calibri" pitchFamily="34" charset="-122"/>
                <a:cs typeface="Calibri" pitchFamily="34" charset="-120"/>
              </a:rPr>
              <a:t>B   </a:t>
            </a:r>
            <a:pPr algn="l" indent="0" marL="0">
              <a:spcAft>
                <a:spcPts val="200"/>
              </a:spcAft>
              <a:buNone/>
            </a:pPr>
            <a:r>
              <a:rPr lang="en-US" sz="1800" dirty="0">
                <a:solidFill>
                  <a:srgbClr val="1E2229"/>
                </a:solidFill>
                <a:latin typeface="Calibri" pitchFamily="34" charset="0"/>
                <a:ea typeface="Calibri" pitchFamily="34" charset="-122"/>
                <a:cs typeface="Calibri" pitchFamily="34" charset="-120"/>
              </a:rPr>
              <a:t>Proofread your answers (5 minutes)</a:t>
            </a:r>
            <a:endParaRPr lang="en-US" sz="2000" dirty="0"/>
          </a:p>
          <a:p>
            <a:pPr algn="l" indent="0" marL="0">
              <a:spcAft>
                <a:spcPts val="200"/>
              </a:spcAft>
              <a:buNone/>
            </a:pPr>
            <a:r>
              <a:rPr lang="en-US" sz="1800" b="1" dirty="0">
                <a:solidFill>
                  <a:srgbClr val="B8862B"/>
                </a:solidFill>
                <a:latin typeface="Calibri" pitchFamily="34" charset="0"/>
                <a:ea typeface="Calibri" pitchFamily="34" charset="-122"/>
                <a:cs typeface="Calibri" pitchFamily="34" charset="-120"/>
              </a:rPr>
              <a:t>C   </a:t>
            </a:r>
            <a:pPr algn="l" indent="0" marL="0">
              <a:spcAft>
                <a:spcPts val="200"/>
              </a:spcAft>
              <a:buNone/>
            </a:pPr>
            <a:r>
              <a:rPr lang="en-US" sz="1800" dirty="0">
                <a:solidFill>
                  <a:srgbClr val="1E2229"/>
                </a:solidFill>
                <a:latin typeface="Calibri" pitchFamily="34" charset="0"/>
                <a:ea typeface="Calibri" pitchFamily="34" charset="-122"/>
                <a:cs typeface="Calibri" pitchFamily="34" charset="-120"/>
              </a:rPr>
              <a:t>Answer Questions 1 to 4 (about 40 minutes)</a:t>
            </a:r>
            <a:endParaRPr lang="en-US" sz="2000" dirty="0"/>
          </a:p>
          <a:p>
            <a:pPr algn="l" indent="0" marL="0">
              <a:spcAft>
                <a:spcPts val="200"/>
              </a:spcAft>
              <a:buNone/>
            </a:pPr>
            <a:r>
              <a:rPr lang="en-US" sz="1800" b="1" dirty="0">
                <a:solidFill>
                  <a:srgbClr val="B8862B"/>
                </a:solidFill>
                <a:latin typeface="Calibri" pitchFamily="34" charset="0"/>
                <a:ea typeface="Calibri" pitchFamily="34" charset="-122"/>
                <a:cs typeface="Calibri" pitchFamily="34" charset="-120"/>
              </a:rPr>
              <a:t>D   </a:t>
            </a:r>
            <a:pPr algn="l" indent="0" marL="0">
              <a:spcAft>
                <a:spcPts val="200"/>
              </a:spcAft>
              <a:buNone/>
            </a:pPr>
            <a:r>
              <a:rPr lang="en-US" sz="1800" dirty="0">
                <a:solidFill>
                  <a:srgbClr val="1E2229"/>
                </a:solidFill>
                <a:latin typeface="Calibri" pitchFamily="34" charset="0"/>
                <a:ea typeface="Calibri" pitchFamily="34" charset="-122"/>
                <a:cs typeface="Calibri" pitchFamily="34" charset="-120"/>
              </a:rPr>
              <a:t>Write your Question 5 response (40 minutes)</a:t>
            </a:r>
            <a:endParaRPr lang="en-US" sz="2000" dirty="0"/>
          </a:p>
          <a:p>
            <a:pPr algn="l" indent="0" marL="0">
              <a:spcAft>
                <a:spcPts val="200"/>
              </a:spcAft>
              <a:buNone/>
            </a:pPr>
            <a:r>
              <a:rPr lang="en-US" sz="1800" b="1" dirty="0">
                <a:solidFill>
                  <a:srgbClr val="B8862B"/>
                </a:solidFill>
                <a:latin typeface="Calibri" pitchFamily="34" charset="0"/>
                <a:ea typeface="Calibri" pitchFamily="34" charset="-122"/>
                <a:cs typeface="Calibri" pitchFamily="34" charset="-120"/>
              </a:rPr>
              <a:t>E   </a:t>
            </a:r>
            <a:pPr algn="l" indent="0" marL="0">
              <a:spcAft>
                <a:spcPts val="200"/>
              </a:spcAft>
              <a:buNone/>
            </a:pPr>
            <a:r>
              <a:rPr lang="en-US" sz="1800" dirty="0">
                <a:solidFill>
                  <a:srgbClr val="1E2229"/>
                </a:solidFill>
                <a:latin typeface="Calibri" pitchFamily="34" charset="0"/>
                <a:ea typeface="Calibri" pitchFamily="34" charset="-122"/>
                <a:cs typeface="Calibri" pitchFamily="34" charset="-120"/>
              </a:rPr>
              <a:t>Read the source and the questions (15 minutes)</a:t>
            </a:r>
            <a:endParaRPr lang="en-US" sz="2000" dirty="0"/>
          </a:p>
        </p:txBody>
      </p:sp>
      <p:sp>
        <p:nvSpPr>
          <p:cNvPr id="12" name="col-Support"/>
          <p:cNvSpPr/>
          <p:nvPr/>
        </p:nvSpPr>
        <p:spPr>
          <a:xfrm>
            <a:off x="548640" y="3856228"/>
            <a:ext cx="4667802" cy="2288540"/>
          </a:xfrm>
          <a:prstGeom prst="roundRect">
            <a:avLst>
              <a:gd name="adj" fmla="val 2397"/>
            </a:avLst>
          </a:prstGeom>
          <a:solidFill>
            <a:srgbClr val="F0E4E5"/>
          </a:solidFill>
          <a:ln/>
        </p:spPr>
      </p:sp>
      <p:sp>
        <p:nvSpPr>
          <p:cNvPr id="13" name="col-hex"/>
          <p:cNvSpPr/>
          <p:nvPr/>
        </p:nvSpPr>
        <p:spPr>
          <a:xfrm>
            <a:off x="658368" y="392938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39293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3892804"/>
            <a:ext cx="3936282" cy="566928"/>
          </a:xfrm>
          <a:prstGeom prst="rect">
            <a:avLst/>
          </a:prstGeom>
          <a:noFill/>
          <a:ln/>
        </p:spPr>
        <p:txBody>
          <a:bodyPr wrap="square" lIns="63500" tIns="63500" rIns="63500" bIns="63500" rtlCol="0" anchor="ctr"/>
          <a:lstStyle/>
          <a:p>
            <a:pPr algn="l" indent="0" marL="0">
              <a:buNone/>
            </a:pPr>
            <a:r>
              <a:rPr lang="en-US" sz="2000" b="1" dirty="0">
                <a:solidFill>
                  <a:srgbClr val="622128"/>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4496308"/>
            <a:ext cx="4393482" cy="153873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8C2F39"/>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Reading always comes before answering.</a:t>
            </a:r>
            <a:endParaRPr lang="en-US" sz="1800" dirty="0"/>
          </a:p>
          <a:p>
            <a:pPr algn="l" indent="0" marL="0">
              <a:spcAft>
                <a:spcPts val="600"/>
              </a:spcAft>
              <a:buNone/>
            </a:pPr>
            <a:r>
              <a:rPr lang="en-US" sz="1800" b="1" dirty="0">
                <a:solidFill>
                  <a:srgbClr val="8C2F39"/>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Section A comes before Section B.</a:t>
            </a:r>
            <a:endParaRPr lang="en-US" sz="1800" dirty="0"/>
          </a:p>
          <a:p>
            <a:pPr algn="l" indent="0" marL="0">
              <a:spcAft>
                <a:spcPts val="600"/>
              </a:spcAft>
              <a:buNone/>
            </a:pPr>
            <a:r>
              <a:rPr lang="en-US" sz="1800" b="1" dirty="0">
                <a:solidFill>
                  <a:srgbClr val="8C2F39"/>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Planning comes before writing.</a:t>
            </a:r>
            <a:endParaRPr lang="en-US" sz="1800" dirty="0"/>
          </a:p>
          <a:p>
            <a:pPr algn="l" indent="0" marL="0">
              <a:spcAft>
                <a:spcPts val="600"/>
              </a:spcAft>
              <a:buNone/>
            </a:pPr>
            <a:r>
              <a:rPr lang="en-US" sz="1800" b="1" dirty="0">
                <a:solidFill>
                  <a:srgbClr val="8C2F39"/>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Checking comes last.</a:t>
            </a:r>
            <a:endParaRPr lang="en-US" sz="1800" dirty="0"/>
          </a:p>
        </p:txBody>
      </p:sp>
      <p:sp>
        <p:nvSpPr>
          <p:cNvPr id="17" name="col-Core"/>
          <p:cNvSpPr/>
          <p:nvPr/>
        </p:nvSpPr>
        <p:spPr>
          <a:xfrm>
            <a:off x="5490762" y="3856228"/>
            <a:ext cx="2938987" cy="2288540"/>
          </a:xfrm>
          <a:prstGeom prst="roundRect">
            <a:avLst>
              <a:gd name="adj" fmla="val 2397"/>
            </a:avLst>
          </a:prstGeom>
          <a:solidFill>
            <a:srgbClr val="E2CBCE"/>
          </a:solidFill>
          <a:ln/>
        </p:spPr>
      </p:sp>
      <p:sp>
        <p:nvSpPr>
          <p:cNvPr id="18" name="col-hex"/>
          <p:cNvSpPr/>
          <p:nvPr/>
        </p:nvSpPr>
        <p:spPr>
          <a:xfrm>
            <a:off x="5600490" y="392938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5600490" y="39293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6130842" y="3892804"/>
            <a:ext cx="2207467" cy="566928"/>
          </a:xfrm>
          <a:prstGeom prst="rect">
            <a:avLst/>
          </a:prstGeom>
          <a:noFill/>
          <a:ln/>
        </p:spPr>
        <p:txBody>
          <a:bodyPr wrap="square" lIns="63500" tIns="63500" rIns="63500" bIns="63500" rtlCol="0" anchor="ctr"/>
          <a:lstStyle/>
          <a:p>
            <a:pPr algn="l" indent="0" marL="0">
              <a:buNone/>
            </a:pPr>
            <a:r>
              <a:rPr lang="en-US" sz="2000" b="1" dirty="0">
                <a:solidFill>
                  <a:srgbClr val="622128"/>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5627922" y="4496308"/>
            <a:ext cx="2664667" cy="1538732"/>
          </a:xfrm>
          <a:prstGeom prst="rect">
            <a:avLst/>
          </a:prstGeom>
          <a:noFill/>
          <a:ln/>
        </p:spPr>
        <p:txBody>
          <a:bodyPr wrap="square" lIns="63500" tIns="63500" rIns="63500" bIns="63500" rtlCol="0" anchor="t"/>
          <a:lstStyle/>
          <a:p>
            <a:pPr algn="l" indent="0" marL="0">
              <a:buNone/>
            </a:pPr>
            <a:r>
              <a:rPr lang="en-US" sz="1800" b="1" dirty="0">
                <a:solidFill>
                  <a:srgbClr val="70262E"/>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Section A is reading, Section B is writing, and checking is the very last thing you do.</a:t>
            </a:r>
            <a:endParaRPr lang="en-US" sz="1800" dirty="0"/>
          </a:p>
        </p:txBody>
      </p:sp>
      <p:sp>
        <p:nvSpPr>
          <p:cNvPr id="22" name="col-Stretch"/>
          <p:cNvSpPr/>
          <p:nvPr/>
        </p:nvSpPr>
        <p:spPr>
          <a:xfrm>
            <a:off x="8704069" y="3856228"/>
            <a:ext cx="2938987" cy="2288540"/>
          </a:xfrm>
          <a:prstGeom prst="roundRect">
            <a:avLst>
              <a:gd name="adj" fmla="val 2397"/>
            </a:avLst>
          </a:prstGeom>
          <a:solidFill>
            <a:srgbClr val="8C2F39"/>
          </a:solidFill>
          <a:ln/>
        </p:spPr>
      </p:sp>
      <p:sp>
        <p:nvSpPr>
          <p:cNvPr id="23" name="col-hex"/>
          <p:cNvSpPr/>
          <p:nvPr/>
        </p:nvSpPr>
        <p:spPr>
          <a:xfrm>
            <a:off x="8813797" y="392938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813797" y="39293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344149" y="3892804"/>
            <a:ext cx="2207467"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841229" y="4496308"/>
            <a:ext cx="2664667" cy="153873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Some pupils run out of time on Question 4. Explain how the minute-a-mark rule helps you avoid this.</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Exit ticket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Exit</a:t>
            </a:r>
            <a:endParaRPr lang="en-US" sz="1800" dirty="0"/>
          </a:p>
        </p:txBody>
      </p:sp>
      <p:sp>
        <p:nvSpPr>
          <p:cNvPr id="7" name="exit-card"/>
          <p:cNvSpPr/>
          <p:nvPr/>
        </p:nvSpPr>
        <p:spPr>
          <a:xfrm>
            <a:off x="1645920" y="1389888"/>
            <a:ext cx="8899855" cy="4754880"/>
          </a:xfrm>
          <a:prstGeom prst="roundRect">
            <a:avLst>
              <a:gd name="adj" fmla="val 962"/>
            </a:avLst>
          </a:prstGeom>
          <a:solidFill>
            <a:srgbClr val="FFFFFF"/>
          </a:solidFill>
          <a:ln w="31750">
            <a:solidFill>
              <a:srgbClr val="8C2F39"/>
            </a:solidFill>
            <a:prstDash val="solid"/>
          </a:ln>
          <a:effectLst>
            <a:outerShdw sx="100000" sy="100000" kx="0" ky="0" algn="bl" rotWithShape="0" blurRad="76200" dist="25400" dir="5400000">
              <a:srgbClr val="000000">
                <a:alpha val="12000"/>
              </a:srgbClr>
            </a:outerShdw>
          </a:effectLst>
        </p:spPr>
      </p:sp>
      <p:sp>
        <p:nvSpPr>
          <p:cNvPr id="8" name="exit-hex"/>
          <p:cNvSpPr/>
          <p:nvPr/>
        </p:nvSpPr>
        <p:spPr>
          <a:xfrm>
            <a:off x="1143000" y="1618488"/>
            <a:ext cx="1005840" cy="871057"/>
          </a:xfrm>
          <a:prstGeom prst="hexagon">
            <a:avLst/>
          </a:prstGeom>
          <a:solidFill>
            <a:srgbClr val="8C2F39"/>
          </a:solidFill>
          <a:ln w="25400">
            <a:solidFill>
              <a:srgbClr val="B8862B"/>
            </a:solidFill>
            <a:prstDash val="solid"/>
          </a:ln>
        </p:spPr>
      </p:sp>
      <p:sp>
        <p:nvSpPr>
          <p:cNvPr id="9" name="exit-hex-label"/>
          <p:cNvSpPr txBox="1"/>
          <p:nvPr/>
        </p:nvSpPr>
        <p:spPr>
          <a:xfrm>
            <a:off x="1143000" y="1618488"/>
            <a:ext cx="1005840" cy="871057"/>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Exit</a:t>
            </a:r>
            <a:endParaRPr lang="en-US" sz="2000" dirty="0"/>
          </a:p>
        </p:txBody>
      </p:sp>
      <p:sp>
        <p:nvSpPr>
          <p:cNvPr id="10" name="exit-q"/>
          <p:cNvSpPr txBox="1"/>
          <p:nvPr/>
        </p:nvSpPr>
        <p:spPr>
          <a:xfrm>
            <a:off x="2286000" y="1664208"/>
            <a:ext cx="7802575" cy="2615184"/>
          </a:xfrm>
          <a:prstGeom prst="rect">
            <a:avLst/>
          </a:prstGeom>
          <a:noFill/>
          <a:ln/>
        </p:spPr>
        <p:txBody>
          <a:bodyPr wrap="square" lIns="63500" tIns="63500" rIns="63500" bIns="63500" rtlCol="0" anchor="t"/>
          <a:lstStyle/>
          <a:p>
            <a:pPr algn="l" indent="0" marL="0">
              <a:spcAft>
                <a:spcPts val="1200"/>
              </a:spcAft>
              <a:buNone/>
            </a:pPr>
            <a:r>
              <a:rPr lang="en-US" sz="2400" b="1" dirty="0">
                <a:solidFill>
                  <a:srgbClr val="1E2229"/>
                </a:solidFill>
                <a:latin typeface="Calibri" pitchFamily="34" charset="0"/>
                <a:ea typeface="Calibri" pitchFamily="34" charset="-122"/>
                <a:cs typeface="Calibri" pitchFamily="34" charset="-120"/>
              </a:rPr>
              <a:t>After a first read of Part 1 of ‘The Last Ferry’, which summary is most accurate?</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A girl argues with her grandmother in a warm kitchen.</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A girl waits alone on a windy harbour for the last ferry.</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A girl sails a fishing boat through a storm.</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A harbour master closes the café for the winter.</a:t>
            </a:r>
            <a:endParaRPr lang="en-US" sz="2400" dirty="0"/>
          </a:p>
        </p:txBody>
      </p:sp>
      <p:sp>
        <p:nvSpPr>
          <p:cNvPr id="11" name="exit-answer-box"/>
          <p:cNvSpPr/>
          <p:nvPr/>
        </p:nvSpPr>
        <p:spPr>
          <a:xfrm>
            <a:off x="2286000" y="5047488"/>
            <a:ext cx="7619695" cy="822960"/>
          </a:xfrm>
          <a:prstGeom prst="roundRect">
            <a:avLst>
              <a:gd name="adj" fmla="val 11111"/>
            </a:avLst>
          </a:prstGeom>
          <a:solidFill>
            <a:srgbClr val="F4EAEB"/>
          </a:solidFill>
          <a:ln w="12700">
            <a:solidFill>
              <a:srgbClr val="C29196"/>
            </a:solidFill>
            <a:prstDash val="solid"/>
          </a:ln>
        </p:spPr>
      </p:sp>
      <p:sp>
        <p:nvSpPr>
          <p:cNvPr id="12" name="exit-answer-label"/>
          <p:cNvSpPr txBox="1"/>
          <p:nvPr/>
        </p:nvSpPr>
        <p:spPr>
          <a:xfrm>
            <a:off x="2423160" y="5047488"/>
            <a:ext cx="2926080" cy="822960"/>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My answer: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Answers: Match each question to its job</a:t>
            </a:r>
            <a:endParaRPr lang="en-US" sz="3200" dirty="0"/>
          </a:p>
        </p:txBody>
      </p:sp>
      <p:sp>
        <p:nvSpPr>
          <p:cNvPr id="4" name="chip-hex"/>
          <p:cNvSpPr/>
          <p:nvPr/>
        </p:nvSpPr>
        <p:spPr>
          <a:xfrm>
            <a:off x="9677095" y="531760"/>
            <a:ext cx="566928" cy="490960"/>
          </a:xfrm>
          <a:prstGeom prst="hexagon">
            <a:avLst/>
          </a:prstGeom>
          <a:solidFill>
            <a:srgbClr val="8C2F39"/>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4EDDF"/>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t"/>
          <a:lstStyle/>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1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Question 1  →  A  Find the right information (multiple choice)</a:t>
            </a:r>
            <a:endParaRPr lang="en-US" sz="2000" dirty="0"/>
          </a:p>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2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Question 2  →  C  Analyse how the writer uses language</a:t>
            </a:r>
            <a:endParaRPr lang="en-US" sz="2000" dirty="0"/>
          </a:p>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3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Question 3  →  D  Analyse how the whole source is structured</a:t>
            </a:r>
            <a:endParaRPr lang="en-US" sz="2000" dirty="0"/>
          </a:p>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4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Question 4  →  B  Evaluate a statement about the source</a:t>
            </a:r>
            <a:endParaRPr lang="en-US" sz="2000" dirty="0"/>
          </a:p>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5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Question 5  →  E  Write your own description or story</a:t>
            </a:r>
            <a:endParaRPr lang="en-US" sz="2000" dirty="0"/>
          </a:p>
        </p:txBody>
      </p:sp>
      <p:sp>
        <p:nvSpPr>
          <p:cNvPr id="10" name="why-panel"/>
          <p:cNvSpPr/>
          <p:nvPr/>
        </p:nvSpPr>
        <p:spPr>
          <a:xfrm>
            <a:off x="7223760" y="1389888"/>
            <a:ext cx="4419295" cy="4754880"/>
          </a:xfrm>
          <a:prstGeom prst="roundRect">
            <a:avLst>
              <a:gd name="adj" fmla="val 1035"/>
            </a:avLst>
          </a:prstGeom>
          <a:solidFill>
            <a:srgbClr val="F0E4E5"/>
          </a:solidFill>
          <a:ln/>
        </p:spPr>
      </p:sp>
      <p:sp>
        <p:nvSpPr>
          <p:cNvPr id="11" name="why-hex"/>
          <p:cNvSpPr/>
          <p:nvPr/>
        </p:nvSpPr>
        <p:spPr>
          <a:xfrm>
            <a:off x="7406640" y="1572768"/>
            <a:ext cx="685800" cy="593903"/>
          </a:xfrm>
          <a:prstGeom prst="hexagon">
            <a:avLst/>
          </a:prstGeom>
          <a:solidFill>
            <a:srgbClr val="8C2F39"/>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Q1 finds information, Q2 analyses language, Q3 analyses structure, Q4 evaluates a statement, and Q5 is your own writing.</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Answers: Plan your time</a:t>
            </a:r>
            <a:endParaRPr lang="en-US" sz="3200" dirty="0"/>
          </a:p>
        </p:txBody>
      </p:sp>
      <p:sp>
        <p:nvSpPr>
          <p:cNvPr id="4" name="chip-hex"/>
          <p:cNvSpPr/>
          <p:nvPr/>
        </p:nvSpPr>
        <p:spPr>
          <a:xfrm>
            <a:off x="9677095" y="531760"/>
            <a:ext cx="566928" cy="490960"/>
          </a:xfrm>
          <a:prstGeom prst="hexagon">
            <a:avLst/>
          </a:prstGeom>
          <a:solidFill>
            <a:srgbClr val="8C2F39"/>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4EDDF"/>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815E1E"/>
                </a:solidFill>
                <a:latin typeface="Calibri" pitchFamily="34" charset="0"/>
                <a:ea typeface="Calibri" pitchFamily="34" charset="-122"/>
                <a:cs typeface="Calibri" pitchFamily="34" charset="-120"/>
              </a:rPr>
              <a:t>1  </a:t>
            </a:r>
            <a:pPr algn="l" indent="0" marL="0">
              <a:spcAft>
                <a:spcPts val="1000"/>
              </a:spcAft>
              <a:buNone/>
            </a:pPr>
            <a:r>
              <a:rPr lang="en-US" sz="2400" dirty="0">
                <a:solidFill>
                  <a:srgbClr val="1E2229"/>
                </a:solidFill>
                <a:latin typeface="Calibri" pitchFamily="34" charset="0"/>
                <a:ea typeface="Calibri" pitchFamily="34" charset="-122"/>
                <a:cs typeface="Calibri" pitchFamily="34" charset="-120"/>
              </a:rPr>
              <a:t>Read the source and the questions (15 minutes)  (E)</a:t>
            </a:r>
            <a:endParaRPr lang="en-US" sz="2400" dirty="0"/>
          </a:p>
          <a:p>
            <a:pPr algn="l" indent="0" marL="0">
              <a:spcAft>
                <a:spcPts val="1000"/>
              </a:spcAft>
              <a:buNone/>
            </a:pPr>
            <a:r>
              <a:rPr lang="en-US" sz="2400" b="1" dirty="0">
                <a:solidFill>
                  <a:srgbClr val="815E1E"/>
                </a:solidFill>
                <a:latin typeface="Calibri" pitchFamily="34" charset="0"/>
                <a:ea typeface="Calibri" pitchFamily="34" charset="-122"/>
                <a:cs typeface="Calibri" pitchFamily="34" charset="-120"/>
              </a:rPr>
              <a:t>2  </a:t>
            </a:r>
            <a:pPr algn="l" indent="0" marL="0">
              <a:spcAft>
                <a:spcPts val="1000"/>
              </a:spcAft>
              <a:buNone/>
            </a:pPr>
            <a:r>
              <a:rPr lang="en-US" sz="2400" dirty="0">
                <a:solidFill>
                  <a:srgbClr val="1E2229"/>
                </a:solidFill>
                <a:latin typeface="Calibri" pitchFamily="34" charset="0"/>
                <a:ea typeface="Calibri" pitchFamily="34" charset="-122"/>
                <a:cs typeface="Calibri" pitchFamily="34" charset="-120"/>
              </a:rPr>
              <a:t>Answer Questions 1 to 4 (about 40 minutes)  (C)</a:t>
            </a:r>
            <a:endParaRPr lang="en-US" sz="2400" dirty="0"/>
          </a:p>
          <a:p>
            <a:pPr algn="l" indent="0" marL="0">
              <a:spcAft>
                <a:spcPts val="1000"/>
              </a:spcAft>
              <a:buNone/>
            </a:pPr>
            <a:r>
              <a:rPr lang="en-US" sz="2400" b="1" dirty="0">
                <a:solidFill>
                  <a:srgbClr val="815E1E"/>
                </a:solidFill>
                <a:latin typeface="Calibri" pitchFamily="34" charset="0"/>
                <a:ea typeface="Calibri" pitchFamily="34" charset="-122"/>
                <a:cs typeface="Calibri" pitchFamily="34" charset="-120"/>
              </a:rPr>
              <a:t>3  </a:t>
            </a:r>
            <a:pPr algn="l" indent="0" marL="0">
              <a:spcAft>
                <a:spcPts val="1000"/>
              </a:spcAft>
              <a:buNone/>
            </a:pPr>
            <a:r>
              <a:rPr lang="en-US" sz="2400" dirty="0">
                <a:solidFill>
                  <a:srgbClr val="1E2229"/>
                </a:solidFill>
                <a:latin typeface="Calibri" pitchFamily="34" charset="0"/>
                <a:ea typeface="Calibri" pitchFamily="34" charset="-122"/>
                <a:cs typeface="Calibri" pitchFamily="34" charset="-120"/>
              </a:rPr>
              <a:t>Plan your writing (5 minutes)  (A)</a:t>
            </a:r>
            <a:endParaRPr lang="en-US" sz="2400" dirty="0"/>
          </a:p>
          <a:p>
            <a:pPr algn="l" indent="0" marL="0">
              <a:spcAft>
                <a:spcPts val="1000"/>
              </a:spcAft>
              <a:buNone/>
            </a:pPr>
            <a:r>
              <a:rPr lang="en-US" sz="2400" b="1" dirty="0">
                <a:solidFill>
                  <a:srgbClr val="815E1E"/>
                </a:solidFill>
                <a:latin typeface="Calibri" pitchFamily="34" charset="0"/>
                <a:ea typeface="Calibri" pitchFamily="34" charset="-122"/>
                <a:cs typeface="Calibri" pitchFamily="34" charset="-120"/>
              </a:rPr>
              <a:t>4  </a:t>
            </a:r>
            <a:pPr algn="l" indent="0" marL="0">
              <a:spcAft>
                <a:spcPts val="1000"/>
              </a:spcAft>
              <a:buNone/>
            </a:pPr>
            <a:r>
              <a:rPr lang="en-US" sz="2400" dirty="0">
                <a:solidFill>
                  <a:srgbClr val="1E2229"/>
                </a:solidFill>
                <a:latin typeface="Calibri" pitchFamily="34" charset="0"/>
                <a:ea typeface="Calibri" pitchFamily="34" charset="-122"/>
                <a:cs typeface="Calibri" pitchFamily="34" charset="-120"/>
              </a:rPr>
              <a:t>Write your Question 5 response (40 minutes)  (D)</a:t>
            </a:r>
            <a:endParaRPr lang="en-US" sz="2400" dirty="0"/>
          </a:p>
          <a:p>
            <a:pPr algn="l" indent="0" marL="0">
              <a:spcAft>
                <a:spcPts val="1000"/>
              </a:spcAft>
              <a:buNone/>
            </a:pPr>
            <a:r>
              <a:rPr lang="en-US" sz="2400" b="1" dirty="0">
                <a:solidFill>
                  <a:srgbClr val="815E1E"/>
                </a:solidFill>
                <a:latin typeface="Calibri" pitchFamily="34" charset="0"/>
                <a:ea typeface="Calibri" pitchFamily="34" charset="-122"/>
                <a:cs typeface="Calibri" pitchFamily="34" charset="-120"/>
              </a:rPr>
              <a:t>5  </a:t>
            </a:r>
            <a:pPr algn="l" indent="0" marL="0">
              <a:spcAft>
                <a:spcPts val="1000"/>
              </a:spcAft>
              <a:buNone/>
            </a:pPr>
            <a:r>
              <a:rPr lang="en-US" sz="2400" dirty="0">
                <a:solidFill>
                  <a:srgbClr val="1E2229"/>
                </a:solidFill>
                <a:latin typeface="Calibri" pitchFamily="34" charset="0"/>
                <a:ea typeface="Calibri" pitchFamily="34" charset="-122"/>
                <a:cs typeface="Calibri" pitchFamily="34" charset="-120"/>
              </a:rPr>
              <a:t>Proofread your answers (5 minutes)  (B)</a:t>
            </a:r>
            <a:endParaRPr lang="en-US" sz="2400" dirty="0"/>
          </a:p>
        </p:txBody>
      </p:sp>
      <p:sp>
        <p:nvSpPr>
          <p:cNvPr id="10" name="why-panel"/>
          <p:cNvSpPr/>
          <p:nvPr/>
        </p:nvSpPr>
        <p:spPr>
          <a:xfrm>
            <a:off x="7223760" y="1389888"/>
            <a:ext cx="4419295" cy="4754880"/>
          </a:xfrm>
          <a:prstGeom prst="roundRect">
            <a:avLst>
              <a:gd name="adj" fmla="val 1035"/>
            </a:avLst>
          </a:prstGeom>
          <a:solidFill>
            <a:srgbClr val="F0E4E5"/>
          </a:solidFill>
          <a:ln/>
        </p:spPr>
      </p:sp>
      <p:sp>
        <p:nvSpPr>
          <p:cNvPr id="11" name="why-hex"/>
          <p:cNvSpPr/>
          <p:nvPr/>
        </p:nvSpPr>
        <p:spPr>
          <a:xfrm>
            <a:off x="7406640" y="1572768"/>
            <a:ext cx="685800" cy="593903"/>
          </a:xfrm>
          <a:prstGeom prst="hexagon">
            <a:avLst/>
          </a:prstGeom>
          <a:solidFill>
            <a:srgbClr val="8C2F39"/>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Read (15), Section A (40), plan (5), write (40), proofread (5): 105 minutes, which is 1 hour 45 minutes.</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Answers: Exit ticket</a:t>
            </a:r>
            <a:endParaRPr lang="en-US" sz="3200" dirty="0"/>
          </a:p>
        </p:txBody>
      </p:sp>
      <p:sp>
        <p:nvSpPr>
          <p:cNvPr id="4" name="chip-hex"/>
          <p:cNvSpPr/>
          <p:nvPr/>
        </p:nvSpPr>
        <p:spPr>
          <a:xfrm>
            <a:off x="9677095" y="531760"/>
            <a:ext cx="566928" cy="490960"/>
          </a:xfrm>
          <a:prstGeom prst="hexagon">
            <a:avLst/>
          </a:prstGeom>
          <a:solidFill>
            <a:srgbClr val="8C2F39"/>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4EDDF"/>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After a first read of Part 1 of ‘The Last Ferry’, which summary is most accurate?</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B   A girl waits alone on a windy harbour for the last ferry.</a:t>
            </a:r>
            <a:endParaRPr lang="en-US" sz="1800" dirty="0"/>
          </a:p>
        </p:txBody>
      </p:sp>
      <p:sp>
        <p:nvSpPr>
          <p:cNvPr id="10" name="why-panel"/>
          <p:cNvSpPr/>
          <p:nvPr/>
        </p:nvSpPr>
        <p:spPr>
          <a:xfrm>
            <a:off x="7223760" y="1389888"/>
            <a:ext cx="4419295" cy="4754880"/>
          </a:xfrm>
          <a:prstGeom prst="roundRect">
            <a:avLst>
              <a:gd name="adj" fmla="val 1035"/>
            </a:avLst>
          </a:prstGeom>
          <a:solidFill>
            <a:srgbClr val="F0E4E5"/>
          </a:solidFill>
          <a:ln/>
        </p:spPr>
      </p:sp>
      <p:sp>
        <p:nvSpPr>
          <p:cNvPr id="11" name="why-hex"/>
          <p:cNvSpPr/>
          <p:nvPr/>
        </p:nvSpPr>
        <p:spPr>
          <a:xfrm>
            <a:off x="7406640" y="1572768"/>
            <a:ext cx="685800" cy="593903"/>
          </a:xfrm>
          <a:prstGeom prst="hexagon">
            <a:avLst/>
          </a:prstGeom>
          <a:solidFill>
            <a:srgbClr val="8C2F39"/>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Nell sits alone at the end of the jetty in the wind, waiting for the last ferry of the year. The other summaries invent events that do not happen in Part 1.</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theme/theme1.xml><?xml version="1.0" encoding="utf-8"?>
<a:theme xmlns:a="http://schemas.openxmlformats.org/drawingml/2006/main" name="Ad Astra english">
  <a:themeElements>
    <a:clrScheme name="Ad Astra english">
      <a:dk1>
        <a:srgbClr val="1E2229"/>
      </a:dk1>
      <a:lt1>
        <a:srgbClr val="FFFFFF"/>
      </a:lt1>
      <a:dk2>
        <a:srgbClr val="70262E"/>
      </a:dk2>
      <a:lt2>
        <a:srgbClr val="F0E4E5"/>
      </a:lt2>
      <a:accent1>
        <a:srgbClr val="8C2F39"/>
      </a:accent1>
      <a:accent2>
        <a:srgbClr val="B8862B"/>
      </a:accent2>
      <a:accent3>
        <a:srgbClr val="BA8288"/>
      </a:accent3>
      <a:accent4>
        <a:srgbClr val="815E1E"/>
      </a:accent4>
      <a:accent5>
        <a:srgbClr val="4A505C"/>
      </a:accent5>
      <a:accent6>
        <a:srgbClr val="D9BF8F"/>
      </a:accent6>
      <a:hlink>
        <a:srgbClr val="8C2F39"/>
      </a:hlink>
      <a:folHlink>
        <a:srgbClr val="622128"/>
      </a:folHlink>
    </a:clrScheme>
    <a:fontScheme name="Ad Astra english">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Edu.Ai SV Digital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Language Paper 1 · Chapter 1: Know the paper: map, timings and first read</dc:title>
  <dc:subject>English Language · Year 10</dc:subject>
  <dc:creator>Dr Vitor Merissi de Carvalho</dc:creator>
  <cp:lastModifiedBy>Dr Vitor Merissi de Carvalho</cp:lastModifiedBy>
  <cp:revision>1</cp:revision>
  <dcterms:created xsi:type="dcterms:W3CDTF">2026-10-19T06:07:24Z</dcterms:created>
  <dcterms:modified xsi:type="dcterms:W3CDTF">2026-10-19T06:07:24Z</dcterms:modified>
</cp:coreProperties>
</file>