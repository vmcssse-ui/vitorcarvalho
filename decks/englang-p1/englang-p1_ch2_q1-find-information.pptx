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da2dec8-9da4-775d-52d9-c80122f03443}">
          <p14:sldIdLst>
            <p14:sldId id="256"/>
          </p14:sldIdLst>
        </p14:section>
        <p14:section name="Gate" id="{8a282029-b641-5090-9f2a-a2e135914418}">
          <p14:sldIdLst>
            <p14:sldId id="257"/>
            <p14:sldId id="258"/>
          </p14:sldIdLst>
        </p14:section>
        <p14:section name="Pre-teach" id="{fab32326-cedb-22fc-0658-eb727224cf75}">
          <p14:sldIdLst>
            <p14:sldId id="259"/>
          </p14:sldIdLst>
        </p14:section>
        <p14:section name="Read-along" id="{0ae9bc9a-cf9d-58cf-d88e-6eff5ef1531a}">
          <p14:sldIdLst>
            <p14:sldId id="260"/>
            <p14:sldId id="261"/>
          </p14:sldIdLst>
        </p14:section>
        <p14:section name="Teach" id="{65300e03-7cde-dcc4-8b67-e80fbb087a02}">
          <p14:sldIdLst>
            <p14:sldId id="262"/>
            <p14:sldId id="263"/>
            <p14:sldId id="264"/>
            <p14:sldId id="265"/>
            <p14:sldId id="266"/>
          </p14:sldIdLst>
        </p14:section>
        <p14:section name="Routes" id="{577ca04c-61a9-816d-27d0-25d8964f867e}">
          <p14:sldIdLst>
            <p14:sldId id="267"/>
            <p14:sldId id="268"/>
            <p14:sldId id="269"/>
          </p14:sldIdLst>
        </p14:section>
        <p14:section name="Close" id="{f6302821-0868-edd6-fe2c-d013084f99b5}">
          <p14:sldIdLst>
            <p14:sldId id="270"/>
          </p14:sldIdLst>
        </p14:section>
        <p14:section name="Answers" id="{9a071e77-60c8-368d-ee9c-aee64679f34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Question 1: find the right information. You will answer Question 1’s four multiple-choice parts quickly and accurately, using only the lines you are given.
This deck covers the department's lessons: 1 (Language Paper 1: introduction, Question 1 and Question 2: What does Paper 1 involve, and how do I analyse a writer’s language?); 6 (Language Paper 1 – 2026: reading strategy, Question 1 and Question 2: How do I read and prepare a text to make sure I know the story being told?).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1 worth?  →  C   4
2. Question 1 checks information that is ___ in the source.  →  explicit
3. In what order do the Question 1 parts follow the source?  →  A   The order of the source, from beginning to end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4. Question 1 has four parts, each worth 1 mark: 4 marks in total.
2. explicit. Question 1 is retrieval: the information is clearly stated in the lines.
3. A   The order of the source, from beginning to end. The parts are chronological: they follow the source in order.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retrieve: find information that is in the text. Example: "Question 1 asks you to retrieve facts from the source."
• explicit: clearly stated, in the words on the page. Example: "The answer to Question 1 is explicit in the lines."
• statement: a sentence that says something is true. Example: "Read each statement slowly before you choose."
• distractor: a wrong choice that looks nearly right. Example: "A distractor might use words from the text but change one detail."
• chronological: in time order, from first to last. Example: "The Question 1 parts are chronological: they follow the source in order."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1 is the first question on the paper.
2. It is worth four marks.
3. It has four short multiple-choice parts.
4. Each part is worth one mark.
5. The paper tells you which lines to read.
6. Only use those lines to find your answer.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For each part, read every statement slowly.
8. Choose the statement that is true for those lines.
9. Some wrong statements are nearly right, so check every word.
10. The parts follow the story in order, from start to end.
11. Do not spend long here: about four minutes is enough.
12. Then move on to Question 2.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Question 1 works. Say it in your own words, then check understanding with a quick question: ask a pupil from the pre-teach group first, since they met these words and ideas before the lesson. Pupils try to recall before you re-explain.
Question 1 is worth 4 marks. From the 2026 exams, it is multiple choice: four short parts, each worth 1 mark. Each part asks about a detail in the lines you are told to read, and you choose the statement that is true.
The parts follow the source in order, so the first part is about the earliest lines and the last part is about the latest. This is a retrieval question. You are finding what is explicit (clearly stated), not working out hidden meanings. Mark your choice exactly as the instructions on the paper tell you.
Tip: About a minute a mark: give Question 1 around four minutes,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lines, not your memory. Say it in your own words, then check understanding with a quick question: ask a pupil from the pre-teach group first, since they met these words and ideas before the lesson. Pupils try to recall before you re-explain.
The commonest mistake in Question 1 is answering from memory. Always go back to the lines. Put your finger on the sentence that proves your choice. If you cannot point to it, it is probably a distractor.
Read Part 1 of ‘The Last Ferry’ again. Every Question 1 practice item in this chapter can be proved from a sentence in it.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lines, not your memory. Say it in your own words, then check understanding with a quick question: ask a pupil from the pre-teach group first, since they met these words and ideas before the lesson. Pupils try to recall before you re-explain.
The commonest mistake in Question 1 is answering from memory. Always go back to the lines. Put your finger on the sentence that proves your choice. If you cannot point to it, it is probably a distractor.
Read Part 1 of ‘The Last Ferry’ again. Every Question 1 practice item in this chapter can be proved from a sentence in it.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Beat the distractors. Say it in your own words, then check understanding with a quick question: ask a pupil from the pre-teach group first, since they met these words and ideas before the lesson. Pupils try to recall before you re-explain.
Wrong statements are written to look right. Watch for three tricks: a statement that changes one small detail (a number, a colour, a place); a statement that is true somewhere else in the story but not in your lines; and a statement that is a guess or an opinion the text never gives.
Check every word of a statement against the text. If one word is wrong, the whole statement is wrong.
Worked example — model it step by step, thinking aloud: Which statement about Nell is true, according to Part 1? A: She has been waiting for ten minutes. B: Her fingers are numb. C: Her coat fits her perfectly. (1) A changes a detail: the text says “Nell had been waiting for an hour”. (2) B matches the sentence “Her fingers were numb.” exactly. (3) C contradicts the text: her coat “was two sizes too big”. Answer: B is true. A and C are distractors that change a detail..
Tip: One wrong word makes the whole statement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Beat the distractors. Say it in your own words, then check understanding with a quick question: ask a pupil from the pre-teach group first, since they met these words and ideas before the lesson. Pupils try to recall before you re-explain.
Wrong statements are written to look right. Watch for three tricks: a statement that changes one small detail (a number, a colour, a place); a statement that is true somewhere else in the story but not in your lines; and a statement that is a guess or an opinion the text never gives.
Check every word of a statement against the text. If one word is wrong, the whole statement is wrong.
Worked example — model it step by step, thinking aloud: Which statement about Nell is true, according to Part 1? A: She has been waiting for ten minutes. B: Her fingers are numb. C: Her coat fits her perfectly. (1) A changes a detail: the text says “Nell had been waiting for an hour”. (2) B matches the sentence “Her fingers were numb.” exactly. (3) C contradicts the text: her coat “was two sizes too big”. Answer: B is true. A and C are distractors that change a detail..
Tip: One wrong word makes the whole statement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Weather check.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Part 1. What is the weather like at the harbour?
Support — work through the steps with the group: (1) Find every weather word in Part 1: wind, rain, sky. (2) Read the sentence about rain very carefully. (3) Rule out any statement that the text contradicts.
Parallel worked example for Support (model it, do not give the task answer): Read: “Mrs Okafor’s garden was small but crowded. Tomatoes climbed a bamboo frame by the back door, and a rusty bicycle leaned against the shed.” Which is true? A: The garden is large. B: Tomatoes grow by the back door. C: The bicycle is new. The garden is “small”, so A is wrong.; “Tomatoes climbed a bamboo frame by the back door” matches B.; The bicycle is “rusty”, so C is wrong.. Answer: B: Tomatoes grow by the back door..
Core — reveal the hint only on request: Look closely at the sentence that begins ‘Rain had not yet…’.
Stretch — no help; when finished: Find a phrase that suggests the rain is coming soon, and explain how it prepares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Weather check.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Part 1. What is the weather like at the harbour?
Support — work through the steps with the group: (1) Find every weather word in Part 1: wind, rain, sky. (2) Read the sentence about rain very carefully. (3) Rule out any statement that the text contradicts.
Parallel worked example for Support (model it, do not give the task answer): Read: “Mrs Okafor’s garden was small but crowded. Tomatoes climbed a bamboo frame by the back door, and a rusty bicycle leaned against the shed.” Which is true? A: The garden is large. B: Tomatoes grow by the back door. C: The bicycle is new. The garden is “small”, so A is wrong.; “Tomatoes climbed a bamboo frame by the back door” matches B.; The bicycle is “rusty”, so C is wrong.. Answer: B: Tomatoes grow by the back door..
Core — reveal the hint only on request: Look closely at the sentence that begins ‘Rain had not yet…’.
Stretch — no help; when finished: Find a phrase that suggests the rain is coming soon, and explain how it prepares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Where is Nell?.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Part 1. Where exactly is Nell sitting?
Support — work through the steps with the group: (1) Find Nell’s first appearance in Part 1. (2) Look for a place word just before ‘sat a girl’. (3) Check that the other places are only mentioned, not where she sits.
Parallel worked example for Support (model it, do not give the task answer): Read: “a rusty bicycle leaned against the shed.” Where is the bicycle? Find the bicycle in the sentence.; Read the words that follow it.. Answer: Against the shed..
Core — reveal the hint only on request: The café, the boats and the sea wall are all in Part 1, but only one is where Nell sits.
Stretch — no help; when finished: Explain why the writer might place Nell at the very end of the jetty rather than in the café.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Question 1 practice. Read Part 1. Which statement about Nell is true?
Answer: D   She has been waiting for an hour.. “Nell had been waiting for an hour.” Her suitcase is blue, not a red rucksack; she talks to no one; and it is “the last ferry of the year”, not the first.
Source of this question: module 3 task ("True about Nell")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Weather check. Reveal the answer; pupils mark their own work in a different colour, then read the "why" together. Same destination for every lane, so one answer serves the whole class.
Answer: A   It is windy, but the rain has not arrived yet.
Why: The wind comes in “long, cold breaths”, and “Rain had not yet arrived”. So it is windy, and the rain has not started.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Where is Nell?. Reveal the answer; pupils mark their own work in a different colour, then read the "why" together. Same destination for every lane, so one answer serves the whole class.
Answer: C   At the very end of the jetty
Why: The text says “At the very end of the jetty, beside a battered blue suitcase, sat a girl”. The café shutters are down, and the boats and sea wall are only part of the setting.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She has been waiting for an hour.
Why: “Nell had been waiting for an hour.” Her suitcase is blue, not a red rucksack; she talks to no one; and it is “the last ferry of the year”, not the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1: find the right information</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F0E4E5"/>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introduction,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reading strategy, Question 1 and Question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1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Question 1 checks information that is ___ in the source.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explicit  ·  hidden  ·  invented</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In what order do the Question 1 parts follow the source?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order of the source, from beginning to end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From the end back to the beginning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random order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Hardest first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4</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1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1 has four parts, each worth 1 mark: 4 marks in total.</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explicit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Question 1 checks information that is ___ in the source.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1 is retrieval: the information is clearly stated in the lines.</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order of the source, from beginning to end</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what order do the Question 1 parts follow the source?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parts are chronological: they follow the source in order.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retrieve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information that is in the text</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Question 1 asks you to retrieve facts from the source.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explicit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clearly stated, in the words on the page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answer to Question 1 is explicit in the lines.</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statement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sentence that says something is true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each statement slowly before you choose.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distractor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wrong choice that looks nearly right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distractor might use words from the text but change one detail.</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chronological</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time order, from first to last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Question 1 parts are chronological: they follow the source in order.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1 is the first question on the paper.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worth four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four short multiple-choice parts.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part is worth one mark.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paper tells you which lines to read.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Only use those lines to find your answer.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For each part, read every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slowly.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Choose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that is true for those lines.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wrong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nearly right, so check every word.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parts follow the story in order, from start to end.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Do not spend long here: about four minutes is enough.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move on to Question 2.</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How Question 1 works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About a minute a mark: give Question 1 around four minutes, then move on.</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1 is worth 4 marks. From the 2026 exams, it is multiple choice: four short parts, each worth 1 mark.</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parts follow the source in order, so the first part is about the earliest lines and the last part is about the latest.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 the lines, not your memory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F0E4E5"/>
          </a:solidFill>
          <a:ln/>
        </p:spPr>
      </p:sp>
      <p:sp>
        <p:nvSpPr>
          <p:cNvPr id="8" name="point-hex"/>
          <p:cNvSpPr/>
          <p:nvPr/>
        </p:nvSpPr>
        <p:spPr>
          <a:xfrm>
            <a:off x="731520" y="1572768"/>
            <a:ext cx="685800" cy="593903"/>
          </a:xfrm>
          <a:prstGeom prst="hexagon">
            <a:avLst/>
          </a:prstGeom>
          <a:solidFill>
            <a:srgbClr val="8C2F39"/>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commonest mistake in Question 1 is answering from memory.</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4EDDF"/>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Part 1 of ‘The Last Ferry’ again. Every Question 1 practice item in this chapter can be proved from a sentence in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 the lines, not your memory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1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Beat the distractors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wrong word makes the whole statement wrong.</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Wrong statements are written to look right. Watch for three tricks: a statement that changes one small detail (a number, a colour, a place); a statement that is true somewhere else in the story but not in your lines; and a statement that is a guess or an opinion the text never gives.</a:t>
            </a:r>
            <a:endParaRPr lang="en-US" sz="22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Check every word of a statement against the text. If one word is wrong, the whole statement is wrong.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Beat the distractors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statement about Nell is true, according to Part 1? A: She has been waiting for ten minutes. B: Her fingers are numb. C: Her coat fits her perfectly.</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changes a detail: the text says “Nell had been waiting for an hour”.</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 matches the sentence “Her fingers were numb.” exactly.</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 contradicts the text: her coat “was two sizes too big”.</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 is true. A and C are distractors that change a detail.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Weather check</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Question 1 practice. Read Part 1. What is the weather like at the harbour?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windy, but the rain has not arrived yet.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raining heavily.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snowing.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calm and sunny.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Weather check</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Question 1 practice. Read Part 1. What is the weather like at the harbour?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every weather word in Part 1: wind, rain, sky.</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 the sentence about rain very carefully.</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Rule out any statement that the text contradicts.</a:t>
            </a:r>
            <a:endParaRPr lang="en-US" sz="22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200" b="1" dirty="0">
                <a:solidFill>
                  <a:srgbClr val="70262E"/>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Look closely at the sentence that begins ‘Rain had not yet…’.</a:t>
            </a:r>
            <a:endParaRPr lang="en-US" sz="22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Find a phrase that suggests the rain is coming soon, and explain how it prepares the reader.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Where is Nell?</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87728"/>
          </a:xfrm>
          <a:prstGeom prst="roundRect">
            <a:avLst>
              <a:gd name="adj" fmla="val 4844"/>
            </a:avLst>
          </a:prstGeom>
          <a:solidFill>
            <a:srgbClr val="FFFFFF"/>
          </a:solidFill>
          <a:ln w="31750">
            <a:solidFill>
              <a:srgbClr val="B8862B"/>
            </a:solidFill>
            <a:prstDash val="solid"/>
          </a:ln>
        </p:spPr>
      </p:sp>
      <p:sp>
        <p:nvSpPr>
          <p:cNvPr id="8" name="task-hex"/>
          <p:cNvSpPr/>
          <p:nvPr/>
        </p:nvSpPr>
        <p:spPr>
          <a:xfrm>
            <a:off x="777240" y="2017004"/>
            <a:ext cx="731520" cy="633496"/>
          </a:xfrm>
          <a:prstGeom prst="hexagon">
            <a:avLst/>
          </a:prstGeom>
          <a:solidFill>
            <a:srgbClr val="B8862B"/>
          </a:solidFill>
          <a:ln/>
        </p:spPr>
      </p:sp>
      <p:sp>
        <p:nvSpPr>
          <p:cNvPr id="9" name="task-hex-label"/>
          <p:cNvSpPr txBox="1"/>
          <p:nvPr/>
        </p:nvSpPr>
        <p:spPr>
          <a:xfrm>
            <a:off x="777240" y="2017004"/>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59432"/>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704848"/>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Question 1 practice. Read Part 1. Where exactly is Nell sitting?</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On one of the fishing boats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On top of the sea wall</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At the very end of the jetty</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In the café on the quay</a:t>
            </a:r>
            <a:endParaRPr lang="en-US" sz="2000" dirty="0"/>
          </a:p>
        </p:txBody>
      </p:sp>
      <p:sp>
        <p:nvSpPr>
          <p:cNvPr id="12" name="col-Support"/>
          <p:cNvSpPr/>
          <p:nvPr/>
        </p:nvSpPr>
        <p:spPr>
          <a:xfrm>
            <a:off x="548640" y="3551936"/>
            <a:ext cx="4667802" cy="2592832"/>
          </a:xfrm>
          <a:prstGeom prst="roundRect">
            <a:avLst>
              <a:gd name="adj" fmla="val 2116"/>
            </a:avLst>
          </a:prstGeom>
          <a:solidFill>
            <a:srgbClr val="F0E4E5"/>
          </a:solidFill>
          <a:ln/>
        </p:spPr>
      </p:sp>
      <p:sp>
        <p:nvSpPr>
          <p:cNvPr id="13" name="col-hex"/>
          <p:cNvSpPr/>
          <p:nvPr/>
        </p:nvSpPr>
        <p:spPr>
          <a:xfrm>
            <a:off x="658368" y="3625088"/>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88512"/>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92016"/>
            <a:ext cx="4393482" cy="1843024"/>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Nell’s first appearance in Part 1.</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Look for a place word just before ‘sat a girl’.</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that the other places are only mentioned, not where she sits.</a:t>
            </a:r>
            <a:endParaRPr lang="en-US" sz="2000" dirty="0"/>
          </a:p>
        </p:txBody>
      </p:sp>
      <p:sp>
        <p:nvSpPr>
          <p:cNvPr id="17" name="col-Core"/>
          <p:cNvSpPr/>
          <p:nvPr/>
        </p:nvSpPr>
        <p:spPr>
          <a:xfrm>
            <a:off x="5490762" y="3551936"/>
            <a:ext cx="2938987" cy="2592832"/>
          </a:xfrm>
          <a:prstGeom prst="roundRect">
            <a:avLst>
              <a:gd name="adj" fmla="val 2116"/>
            </a:avLst>
          </a:prstGeom>
          <a:solidFill>
            <a:srgbClr val="E2CBCE"/>
          </a:solidFill>
          <a:ln/>
        </p:spPr>
      </p:sp>
      <p:sp>
        <p:nvSpPr>
          <p:cNvPr id="18" name="col-hex"/>
          <p:cNvSpPr/>
          <p:nvPr/>
        </p:nvSpPr>
        <p:spPr>
          <a:xfrm>
            <a:off x="5600490" y="3625088"/>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192016"/>
            <a:ext cx="2664667" cy="1843024"/>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café, the boats and the sea wall are all in Part 1, but only one is where Nell sits.</a:t>
            </a:r>
            <a:endParaRPr lang="en-US" sz="2000" dirty="0"/>
          </a:p>
        </p:txBody>
      </p:sp>
      <p:sp>
        <p:nvSpPr>
          <p:cNvPr id="22" name="col-Stretch"/>
          <p:cNvSpPr/>
          <p:nvPr/>
        </p:nvSpPr>
        <p:spPr>
          <a:xfrm>
            <a:off x="8704069" y="3551936"/>
            <a:ext cx="2938987" cy="2592832"/>
          </a:xfrm>
          <a:prstGeom prst="roundRect">
            <a:avLst>
              <a:gd name="adj" fmla="val 2116"/>
            </a:avLst>
          </a:prstGeom>
          <a:solidFill>
            <a:srgbClr val="8C2F39"/>
          </a:solidFill>
          <a:ln/>
        </p:spPr>
      </p:sp>
      <p:sp>
        <p:nvSpPr>
          <p:cNvPr id="23" name="col-hex"/>
          <p:cNvSpPr/>
          <p:nvPr/>
        </p:nvSpPr>
        <p:spPr>
          <a:xfrm>
            <a:off x="8813797" y="3625088"/>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192016"/>
            <a:ext cx="2664667" cy="1843024"/>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writer might place Nell at the very end of the jetty rather than in the café.</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Question 1 practice. Read Part 1. Which statement about Nell is true?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is talking to the gulls.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is carrying a red rucksack.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plans to catch the first ferry of the year.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has been waiting for an hour.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Weather check</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Part 1. What is the weather like at the harbour?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is windy, but the rain has not arrived yet.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wind comes in “long, cold breaths”, and “Rain had not yet arrived”. So it is windy, and the rain has not started.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Where is Nell?</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Part 1. Where exactly is Nell sitting?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At the very end of the jetty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text says “At the very end of the jetty, beside a battered blue suitcase, sat a girl”. The café shutters are down, and the boats and sea wall are only part of the setting.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Part 1. Which statement about Nell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She has been waiting for an hour.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“Nell had been waiting for an hour.” Her suitcase is blue, not a red rucksack; she talks to no one; and it is “the last ferry of the year”, not the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2: Question 1: find the right information</dc:title>
  <dc:subject>English Language · Year 10</dc:subject>
  <dc:creator>Dr Vitor Merissi de Carvalho</dc:creator>
  <cp:lastModifiedBy>Dr Vitor Merissi de Carvalho</cp:lastModifiedBy>
  <cp:revision>1</cp:revision>
  <dcterms:created xsi:type="dcterms:W3CDTF">2026-10-19T16:22:34Z</dcterms:created>
  <dcterms:modified xsi:type="dcterms:W3CDTF">2026-10-19T16:22:34Z</dcterms:modified>
</cp:coreProperties>
</file>