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abd8bd3-6115-40da-c24a-64755b0ecec6}">
          <p14:sldIdLst>
            <p14:sldId id="256"/>
          </p14:sldIdLst>
        </p14:section>
        <p14:section name="Gate" id="{588ba9ee-8221-6f0c-e480-8ae7001ee58e}">
          <p14:sldIdLst>
            <p14:sldId id="257"/>
            <p14:sldId id="258"/>
          </p14:sldIdLst>
        </p14:section>
        <p14:section name="Pre-teach" id="{ccc57581-6f1f-5863-764c-15d36208e202}">
          <p14:sldIdLst>
            <p14:sldId id="259"/>
          </p14:sldIdLst>
        </p14:section>
        <p14:section name="Read-along" id="{5144b642-4864-78ab-031e-a69f2f97fdbb}">
          <p14:sldIdLst>
            <p14:sldId id="260"/>
            <p14:sldId id="261"/>
          </p14:sldIdLst>
        </p14:section>
        <p14:section name="Teach" id="{ed0cb5c9-3c5e-ba7d-8d13-69c65424e85c}">
          <p14:sldIdLst>
            <p14:sldId id="262"/>
            <p14:sldId id="263"/>
            <p14:sldId id="264"/>
          </p14:sldIdLst>
        </p14:section>
        <p14:section name="Routes" id="{bf09f667-3d45-5af0-faae-399778c2aeea}">
          <p14:sldIdLst>
            <p14:sldId id="265"/>
            <p14:sldId id="266"/>
          </p14:sldIdLst>
        </p14:section>
        <p14:section name="Close" id="{6df8ddaf-453e-00c2-2624-89fc14169f4e}">
          <p14:sldIdLst>
            <p14:sldId id="267"/>
          </p14:sldIdLst>
        </p14:section>
        <p14:section name="Answers" id="{761475f1-69ae-61d1-59cf-47e3452a09ab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 of 6: Substitution: one step. Swap the letter for its number and work out the value of a one-step expression.
This deck covers the department's lesson: 4 (Substitution (one step): How do we find the value of an expression when we know the value of the letter?).
Read the big question aloud: "How can a function machine help us write, read and use algebra?"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If x = 8, work out 7x.  →  56
2. If g = 3, what does 4g mean?  →  D   4 × 3
3. If d = 40, work out d ÷ 8.  →  5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56. 7x means 7 × x. Swap x for 8: 7 × 8 = 56.
2. D   4 × 3. 4g means 4 × g. When g is 3, that is 4 × 3 = 12.
3. 5. Swap d for 40: 40 ÷ 8 = 5.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substitute: swap a letter for the number it stands for. Example: "Substitute x = 4 into 3x to get 12."
• value: the number an expression is worth once you know the letter. Example: "When x is 4, the value of 3x is 12."
• cube: a block that stands for the letter in a picture. Example: "One cube is worth 4 counters."
• counter: a small disc worth 1. Example: "Three cubes are worth 12 counters."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A letter in maths stands for a number.
2. To substitute means to swap the letter for its number.
3. If x is 4, then 3x means 3 × 4.
4. So the value of 3x is 12.
5. Picture a cube that is worth 4 counters.
6. Three cubes are worth 12 counters.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Take care with 6g when g is 5.
8. It does not mean 65.
9. It means 6 × 5, which is 30.
10. A fraction like c over 6 means c ÷ 6.
11. If c is 12, the value of c over 6 is 2.
12. Write the × or ÷ sign back in before you work it out.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Swap the letter for its number. Say it in your own words, then check understanding with a quick question: ask a pupil from the pre-teach group first, since they met these words and ideas before the lesson. Pupils try to recall before you re-explain.
An expression like 3x has a hidden multiplication sign: 3x means 3 × x. When you are told the value of x, you can substitute. Swap x for its number and work out the answer. If x is 4, then 3x becomes 3 × 4, which is 12.
Picture a cube that stands for x. If one cube is worth 4 counters, then three cubes are worth 3 × 4 = 12 counters. Substituting is counting up what the cubes are worth.
The same letter always takes the same value in one question. If c is 12, then 4c is 48, c − 7 is 5 and 15 + c is 27. Write the × back in first: 4 × 12 = 48.
Worked example — model it step by step, thinking aloud: If c = 12, work out 4c. (1) 4c means 4 × c. (2) Swap c for 12: 4 × 12. (3) 4 × 12 = 48. Answer: 48.
Tip: Write the hidden × sign back in before you substitute.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Adding, subtracting and dividing. Say it in your own words, then check understanding with a quick question: ask a pupil from the pre-teach group first, since they met these words and ideas before the lesson. Pupils try to recall before you re-explain.
Substitution works with every operation. If w is 36, then w + 7 is 36 + 7 = 43 and w − 14 is 36 − 14 = 22.
A fraction means divide. w/9 means w ÷ 9, so when w is 36 its value is 36 ÷ 9 = 4. The letter can also come second: 50 − w means 50 take away w, so its value is 50 − 36 = 14.
Order matters with subtraction and division. 5 − z and z − 5 are different expressions. When z is 8, 5 − z is −3 but z − 5 is 3. Only when z is 5 are they both worth 0.
Worked example — model it step by step, thinking aloud: If w = 36, work out 50 − w. (1) 50 − w means 50 take away w. (2) Swap w for 36: 50 − 36. (3) 50 − 36 = 14. Answer: 14.
Tip: Keep the numbers in the order the expression gives them: 50 − w is 50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The 65 mistake. Say it in your own words, then check understanding with a quick question: ask a pupil from the pre-teach group first, since they met these words and ideas before the lesson. Pupils try to recall before you re-explain.
Mo is working out 6g when g is 5. He writes the 5 next to the 6 and gets 65. But 6g does not mean 'a 6 and then a g'. It means 6 × g. When g is 5, the value is 6 × 5 = 30.
This mistake is easy to make because 65 looks like a number. Stop it by writing the × sign back in before you substitute: 6g, then 6 × g, then 6 × 5.
Some expressions are equivalent for every value of the letter. z + 7 and 7 + z are always equal, because the order of adding does not matter. z × 2 and 2z are always equal too. But z/9 and 9z are only equal when z is 0, so they are not equivalent.
Worked example — model it step by step, thinking aloud: If t = 4, work out 18 ÷ t. (1) Swap t for 4: 18 ÷ 4. (2) 18 ÷ 4 = 4.5. (3) The value is 4.5, not 184. Answer: 4.5.
Tip: A digit written next to a letter means multiply. Never glue the numbers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Substitute into 9m.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If m = 7, work out 9m.
Support — work through the steps with the group: (1) Write the hidden × sign back in: 9m means 9 × m. (2) Swap m for 7: 9 × 7. (3) Work it out. (4) Check it looks sensible: 9 lots of 7 is more than 60.
Parallel worked example for Support (model it, do not give the task answer): If k = 6, work out 8k. 8k means 8 × k.; Swap k for 6: 8 × 6.; 8 × 6 = 48.. Answer: 48.
Core — reveal the hint only on request: 9m means 9 × m.
Stretch — no help; when finished: Mo says 9m when m = 7 is 97. Write him a two-sentence explanation that uses cubes and counters, and give an expression that really is worth 97 when m =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Subtract from a number.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If p = 15, work out 40 − p.
Support — work through the steps with the group: (1) Read the expression in words: 40 take away p. (2) Swap p for 15: 40 − 15. (3) Keep 40 first. Work out 40 − 15. (4) Check: the answer should be less than 40.
Parallel worked example for Support (model it, do not give the task answer): If q = 9, work out 20 − q. 20 − q means 20 take away q.; Swap q for 9: 20 − 9.; 20 − 9 = 11.. Answer: 11.
Core — reveal the hint only on request: Which number comes first in 40 − p?
Stretch — no help; when finished: For which value of p is 40 − p equal to p − 40? Explain how you found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Which pair of expressions has the same value for every value of z?
Answer: D   z + 7 and 7 + z. Adding in either order gives the same total, so z + 7 and 7 + z are always equal. The other pairs agree for only one value of z.
Source of this question: module 3 task ("Always equal?")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Substitute into 9m. Reveal the answer; pupils mark their own work in a different colour, then read the "why" together. Same destination for every lane, so one answer serves the whole class.
Answer: 63
Why: 9m means 9 × m. Swap m for 7: 9 × 7 = 63.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Subtract from a number. Reveal the answer; pupils mark their own work in a different colour, then read the "why" together. Same destination for every lane, so one answer serves the whole class.
Answer: 25
Why: 40 − p means 40 take away p. Swap p for 15: 40 − 15 = 25.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D   z + 7 and 7 + z
Why: Adding in either order gives the same total, so z + 7 and 7 + z are always equal. The other pairs agree for only one value of z.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Notation and Substitution · AQA KS3 → 8300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Substitution: one step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(one step)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a function machine help us write, read and use algebra?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= 8, work out 7x.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 = 3, what does 4g mean?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4 − 3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3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 = 40, work out d ÷ 8.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= 8, work out 7x.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7x means 7 × x. Swap x for 8: 7 × 8 = 56.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4 × 3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 = 3, what does 4g mean?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4g means 4 × g. When g is 3, that is 4 × 3 = 12.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 = 40, work out d ÷ 8.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d for 40: 40 ÷ 8 = 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kw-head"/>
          <p:cNvSpPr/>
          <p:nvPr/>
        </p:nvSpPr>
        <p:spPr>
          <a:xfrm>
            <a:off x="548640" y="138988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2E4A8C"/>
          </a:solidFill>
          <a:ln/>
        </p:spPr>
      </p:sp>
      <p:sp>
        <p:nvSpPr>
          <p:cNvPr id="8" name="kw-headtext"/>
          <p:cNvSpPr txBox="1"/>
          <p:nvPr/>
        </p:nvSpPr>
        <p:spPr>
          <a:xfrm>
            <a:off x="1143000" y="1389888"/>
            <a:ext cx="2331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800" dirty="0"/>
          </a:p>
        </p:txBody>
      </p:sp>
      <p:sp>
        <p:nvSpPr>
          <p:cNvPr id="9" name="kw-headtext"/>
          <p:cNvSpPr txBox="1"/>
          <p:nvPr/>
        </p:nvSpPr>
        <p:spPr>
          <a:xfrm>
            <a:off x="3657600" y="1389888"/>
            <a:ext cx="3474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800" dirty="0"/>
          </a:p>
        </p:txBody>
      </p:sp>
      <p:sp>
        <p:nvSpPr>
          <p:cNvPr id="10" name="kw-headtext"/>
          <p:cNvSpPr txBox="1"/>
          <p:nvPr/>
        </p:nvSpPr>
        <p:spPr>
          <a:xfrm>
            <a:off x="7315200" y="1389888"/>
            <a:ext cx="4236415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sentence</a:t>
            </a:r>
            <a:endParaRPr lang="en-US" sz="1800" dirty="0"/>
          </a:p>
        </p:txBody>
      </p:sp>
      <p:sp>
        <p:nvSpPr>
          <p:cNvPr id="11" name="kw-row"/>
          <p:cNvSpPr/>
          <p:nvPr/>
        </p:nvSpPr>
        <p:spPr>
          <a:xfrm>
            <a:off x="548640" y="1920240"/>
            <a:ext cx="11094415" cy="916051"/>
          </a:xfrm>
          <a:prstGeom prst="roundRect">
            <a:avLst>
              <a:gd name="adj" fmla="val 5989"/>
            </a:avLst>
          </a:prstGeom>
          <a:solidFill>
            <a:srgbClr val="F5F6F9"/>
          </a:solidFill>
          <a:ln/>
        </p:spPr>
      </p:sp>
      <p:sp>
        <p:nvSpPr>
          <p:cNvPr id="12" name="kw-hex"/>
          <p:cNvSpPr/>
          <p:nvPr/>
        </p:nvSpPr>
        <p:spPr>
          <a:xfrm>
            <a:off x="658368" y="2200095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kw-cell"/>
          <p:cNvSpPr txBox="1"/>
          <p:nvPr/>
        </p:nvSpPr>
        <p:spPr>
          <a:xfrm>
            <a:off x="1143000" y="1920240"/>
            <a:ext cx="2331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</a:t>
            </a:r>
            <a:endParaRPr lang="en-US" sz="2400" dirty="0"/>
          </a:p>
        </p:txBody>
      </p:sp>
      <p:sp>
        <p:nvSpPr>
          <p:cNvPr id="14" name="kw-cell"/>
          <p:cNvSpPr txBox="1"/>
          <p:nvPr/>
        </p:nvSpPr>
        <p:spPr>
          <a:xfrm>
            <a:off x="3657600" y="1920240"/>
            <a:ext cx="3474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 letter for the number it stands for</a:t>
            </a:r>
            <a:endParaRPr lang="en-US" sz="2200" dirty="0"/>
          </a:p>
        </p:txBody>
      </p:sp>
      <p:sp>
        <p:nvSpPr>
          <p:cNvPr id="15" name="kw-cell"/>
          <p:cNvSpPr txBox="1"/>
          <p:nvPr/>
        </p:nvSpPr>
        <p:spPr>
          <a:xfrm>
            <a:off x="7315200" y="1920240"/>
            <a:ext cx="4236415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x = 4 into 3x to get 12.</a:t>
            </a:r>
            <a:endParaRPr lang="en-US" sz="2200" dirty="0"/>
          </a:p>
        </p:txBody>
      </p:sp>
      <p:sp>
        <p:nvSpPr>
          <p:cNvPr id="16" name="kw-row"/>
          <p:cNvSpPr/>
          <p:nvPr/>
        </p:nvSpPr>
        <p:spPr>
          <a:xfrm>
            <a:off x="548640" y="2909443"/>
            <a:ext cx="11094415" cy="1256919"/>
          </a:xfrm>
          <a:prstGeom prst="roundRect">
            <a:avLst>
              <a:gd name="adj" fmla="val 4365"/>
            </a:avLst>
          </a:prstGeom>
          <a:solidFill>
            <a:srgbClr val="F9F4EC"/>
          </a:solidFill>
          <a:ln/>
        </p:spPr>
      </p:sp>
      <p:sp>
        <p:nvSpPr>
          <p:cNvPr id="17" name="kw-hex"/>
          <p:cNvSpPr/>
          <p:nvPr/>
        </p:nvSpPr>
        <p:spPr>
          <a:xfrm>
            <a:off x="658368" y="3359732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8" name="kw-cell"/>
          <p:cNvSpPr txBox="1"/>
          <p:nvPr/>
        </p:nvSpPr>
        <p:spPr>
          <a:xfrm>
            <a:off x="1143000" y="2909443"/>
            <a:ext cx="2331720" cy="125691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</a:t>
            </a:r>
            <a:endParaRPr lang="en-US" sz="2400" dirty="0"/>
          </a:p>
        </p:txBody>
      </p:sp>
      <p:sp>
        <p:nvSpPr>
          <p:cNvPr id="19" name="kw-cell"/>
          <p:cNvSpPr txBox="1"/>
          <p:nvPr/>
        </p:nvSpPr>
        <p:spPr>
          <a:xfrm>
            <a:off x="3657600" y="2909443"/>
            <a:ext cx="3474720" cy="125691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 expression is worth once you know the letter</a:t>
            </a:r>
            <a:endParaRPr lang="en-US" sz="2200" dirty="0"/>
          </a:p>
        </p:txBody>
      </p:sp>
      <p:sp>
        <p:nvSpPr>
          <p:cNvPr id="20" name="kw-cell"/>
          <p:cNvSpPr txBox="1"/>
          <p:nvPr/>
        </p:nvSpPr>
        <p:spPr>
          <a:xfrm>
            <a:off x="7315200" y="2909443"/>
            <a:ext cx="4236415" cy="125691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x is 4, the value of 3x is 12.</a:t>
            </a:r>
            <a:endParaRPr lang="en-US" sz="2200" dirty="0"/>
          </a:p>
        </p:txBody>
      </p:sp>
      <p:sp>
        <p:nvSpPr>
          <p:cNvPr id="21" name="kw-row"/>
          <p:cNvSpPr/>
          <p:nvPr/>
        </p:nvSpPr>
        <p:spPr>
          <a:xfrm>
            <a:off x="548640" y="4239514"/>
            <a:ext cx="11094415" cy="916051"/>
          </a:xfrm>
          <a:prstGeom prst="roundRect">
            <a:avLst>
              <a:gd name="adj" fmla="val 5989"/>
            </a:avLst>
          </a:prstGeom>
          <a:solidFill>
            <a:srgbClr val="F5F6F9"/>
          </a:solidFill>
          <a:ln/>
        </p:spPr>
      </p:sp>
      <p:sp>
        <p:nvSpPr>
          <p:cNvPr id="22" name="kw-hex"/>
          <p:cNvSpPr/>
          <p:nvPr/>
        </p:nvSpPr>
        <p:spPr>
          <a:xfrm>
            <a:off x="658368" y="4519369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kw-cell"/>
          <p:cNvSpPr txBox="1"/>
          <p:nvPr/>
        </p:nvSpPr>
        <p:spPr>
          <a:xfrm>
            <a:off x="1143000" y="4239514"/>
            <a:ext cx="2331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cube</a:t>
            </a:r>
            <a:endParaRPr lang="en-US" sz="2400" dirty="0"/>
          </a:p>
        </p:txBody>
      </p:sp>
      <p:sp>
        <p:nvSpPr>
          <p:cNvPr id="24" name="kw-cell"/>
          <p:cNvSpPr txBox="1"/>
          <p:nvPr/>
        </p:nvSpPr>
        <p:spPr>
          <a:xfrm>
            <a:off x="3657600" y="4239514"/>
            <a:ext cx="3474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block that stands for the letter in a picture</a:t>
            </a:r>
            <a:endParaRPr lang="en-US" sz="2200" dirty="0"/>
          </a:p>
        </p:txBody>
      </p:sp>
      <p:sp>
        <p:nvSpPr>
          <p:cNvPr id="25" name="kw-cell"/>
          <p:cNvSpPr txBox="1"/>
          <p:nvPr/>
        </p:nvSpPr>
        <p:spPr>
          <a:xfrm>
            <a:off x="7315200" y="4239514"/>
            <a:ext cx="4236415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cube is worth 4 counters.</a:t>
            </a:r>
            <a:endParaRPr lang="en-US" sz="2200" dirty="0"/>
          </a:p>
        </p:txBody>
      </p:sp>
      <p:sp>
        <p:nvSpPr>
          <p:cNvPr id="26" name="kw-row"/>
          <p:cNvSpPr/>
          <p:nvPr/>
        </p:nvSpPr>
        <p:spPr>
          <a:xfrm>
            <a:off x="548640" y="5228717"/>
            <a:ext cx="11094415" cy="916051"/>
          </a:xfrm>
          <a:prstGeom prst="roundRect">
            <a:avLst>
              <a:gd name="adj" fmla="val 5989"/>
            </a:avLst>
          </a:prstGeom>
          <a:solidFill>
            <a:srgbClr val="F9F4EC"/>
          </a:solidFill>
          <a:ln/>
        </p:spPr>
      </p:sp>
      <p:sp>
        <p:nvSpPr>
          <p:cNvPr id="27" name="kw-hex"/>
          <p:cNvSpPr/>
          <p:nvPr/>
        </p:nvSpPr>
        <p:spPr>
          <a:xfrm>
            <a:off x="658368" y="5508572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kw-cell"/>
          <p:cNvSpPr txBox="1"/>
          <p:nvPr/>
        </p:nvSpPr>
        <p:spPr>
          <a:xfrm>
            <a:off x="1143000" y="5228717"/>
            <a:ext cx="2331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</a:t>
            </a:r>
            <a:endParaRPr lang="en-US" sz="2400" dirty="0"/>
          </a:p>
        </p:txBody>
      </p:sp>
      <p:sp>
        <p:nvSpPr>
          <p:cNvPr id="29" name="kw-cell"/>
          <p:cNvSpPr txBox="1"/>
          <p:nvPr/>
        </p:nvSpPr>
        <p:spPr>
          <a:xfrm>
            <a:off x="3657600" y="5228717"/>
            <a:ext cx="3474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disc worth 1</a:t>
            </a:r>
            <a:endParaRPr lang="en-US" sz="2200" dirty="0"/>
          </a:p>
        </p:txBody>
      </p:sp>
      <p:sp>
        <p:nvSpPr>
          <p:cNvPr id="30" name="kw-cell"/>
          <p:cNvSpPr txBox="1"/>
          <p:nvPr/>
        </p:nvSpPr>
        <p:spPr>
          <a:xfrm>
            <a:off x="7315200" y="5228717"/>
            <a:ext cx="4236415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cubes are worth 12 counters.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in maths stands for a number.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to swap the letter for its number.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is 4, then 3x means 3 × 4.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3x is 12.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a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is worth 4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worth 12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care with 6g when g is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mean 65.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6 × 5, which is 30.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like c over 6 means c ÷ 6.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 is 12, the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 over 6 is 2.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× or ÷ sign back in before you work it out.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 the letter for its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hidden × sign back in before you substitute.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 = 12, work out 4c.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means 4 × c.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 for 12: 4 × 12.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12 = 48.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903901"/>
          </a:xfrm>
          <a:prstGeom prst="roundRect">
            <a:avLst>
              <a:gd name="adj" fmla="val 8093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675546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9039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like 3x has a hidden multiplication sign: 3x means 3 × x.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440093"/>
            <a:ext cx="5074920" cy="1585637"/>
          </a:xfrm>
          <a:prstGeom prst="roundRect">
            <a:avLst>
              <a:gd name="adj" fmla="val 4613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440093"/>
            <a:ext cx="4389120" cy="158563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a cube that stands for x. If one cube is worth 4 counters, then three cubes are worth 3 × 4 = 12 counters.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172035"/>
            <a:ext cx="5074920" cy="903901"/>
          </a:xfrm>
          <a:prstGeom prst="roundRect">
            <a:avLst>
              <a:gd name="adj" fmla="val 8093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457693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172035"/>
            <a:ext cx="4389120" cy="9039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letter always takes the same value in one question.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Adding, subtracting and dividing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numbers in the order the expression gives them: 50 − w is 50 first.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 = 36, work out 50 − w.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50 − w means 50 take away w.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w for 36: 50 − 36.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50 − 36 = 14.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8916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works with every operation. If w is 36, then w + 7 is 36 + 7 = 43 and w − 14 is 36 − 14 = 22.</a:t>
            </a:r>
            <a:endParaRPr lang="en-US" sz="20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66733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66733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means divide. w/9 means w ÷ 9, so when w is 36 its value is 36 ÷ 9 = 4.</a:t>
            </a:r>
            <a:endParaRPr lang="en-US" sz="20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94478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4407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94478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with subtraction and division. 5 − z and z − 5 are different expressions.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65 mistake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071364"/>
            <a:ext cx="5074920" cy="1073404"/>
          </a:xfrm>
          <a:prstGeom prst="roundRect">
            <a:avLst>
              <a:gd name="adj" fmla="val 12778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410098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410098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126228"/>
            <a:ext cx="4206240" cy="96367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 written next to a letter means multiply. Never glue the numbers together.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 = 4, work out 18 ÷ t.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 for 4: 18 ÷ 4.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÷ 4 = 4.5.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is 4.5, not 184.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759291"/>
          </a:xfrm>
          <a:prstGeom prst="roundRect">
            <a:avLst>
              <a:gd name="adj" fmla="val 9634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60324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7592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is working out 6g when g is 5. He writes the 5 next to the 6 and gets 65.</a:t>
            </a:r>
            <a:endParaRPr lang="en-US" sz="18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295483"/>
            <a:ext cx="5074920" cy="759291"/>
          </a:xfrm>
          <a:prstGeom prst="roundRect">
            <a:avLst>
              <a:gd name="adj" fmla="val 9634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2508835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295483"/>
            <a:ext cx="4389120" cy="7592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mistake is easy to make because 65 looks like a number.</a:t>
            </a:r>
            <a:endParaRPr lang="en-US" sz="18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201077"/>
            <a:ext cx="5074920" cy="1595967"/>
          </a:xfrm>
          <a:prstGeom prst="roundRect">
            <a:avLst>
              <a:gd name="adj" fmla="val 4584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3832768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201077"/>
            <a:ext cx="4389120" cy="159596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expressions are equivalent for every value of the letter. z + 7 and 7 + z are always equal, because the order of adding does not matter. z × 2 and 2z are always equal too.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Substitute into 9m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 = 7, work out 9m.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hidden × sign back in: 9m means 9 × m.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 for 7: 9 × 7.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looks sensible: 9 lots of 7 is more than 60.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9m means 9 × m.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says 9m when m = 7 is 97. Write him a two-sentence explanation that uses cubes and counters, and give an expression that really is worth 97 when m = 7.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Subtract from a number</a:t>
            </a:r>
            <a:endParaRPr lang="en-US" sz="30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= 15, work out 40 − p.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expression in words: 40 take away p.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p for 15: 40 − 15.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40 first. Work out 40 − 15.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the answer should be less than 40.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number comes first in 40 − p?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which value of p is 40 − p equal to p − 40? Explain how you found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6151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expressions has the same value for every value of z?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z/9 and 9z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− 5 and 5 − z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× 2 and z + 2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+ 7 and 7 + z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047488"/>
            <a:ext cx="7619695" cy="82296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047488"/>
            <a:ext cx="2926080" cy="8229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Substitute into 9m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 = 7, work out 9m.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9m means 9 × m. Swap m for 7: 9 × 7 = 63.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Subtract from a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= 15, work out 40 − p.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40 − p means 40 take away p. Swap p for 15: 40 − 15 = 25.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expressions has the same value for every value of z?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  z + 7 and 7 + z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in either order gives the same total, so z + 7 and 7 + z are always equal. The other pairs agree for only one value of z.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Algebraic Notation and Substitution · Chapter 3: Substitution: one step</dc:title>
  <dc:subject>Mathematics · Year 7</dc:subject>
  <dc:creator>Dr Vitor Merissi de Carvalho</dc:creator>
  <cp:lastModifiedBy>Dr Vitor Merissi de Carvalho</cp:lastModifiedBy>
  <cp:revision>1</cp:revision>
  <dcterms:created xsi:type="dcterms:W3CDTF">2026-10-19T06:08:09Z</dcterms:created>
  <dcterms:modified xsi:type="dcterms:W3CDTF">2026-10-19T06:08:09Z</dcterms:modified>
</cp:coreProperties>
</file>