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d025855-9ef6-9583-b419-d1c115deb721}">
          <p14:sldIdLst>
            <p14:sldId id="256"/>
          </p14:sldIdLst>
        </p14:section>
        <p14:section name="Gate" id="{e1a89373-c842-3ed4-d976-29984099a8c2}">
          <p14:sldIdLst>
            <p14:sldId id="257"/>
            <p14:sldId id="258"/>
          </p14:sldIdLst>
        </p14:section>
        <p14:section name="Pre-teach" id="{ffbc55ee-22a1-a186-38f3-d641ee8afd59}">
          <p14:sldIdLst>
            <p14:sldId id="259"/>
          </p14:sldIdLst>
        </p14:section>
        <p14:section name="Read-along" id="{adeb6fc4-d5cc-e535-dc02-ca694a2b3c31}">
          <p14:sldIdLst>
            <p14:sldId id="260"/>
            <p14:sldId id="261"/>
          </p14:sldIdLst>
        </p14:section>
        <p14:section name="Teach" id="{198a28d5-c1f7-4297-40fc-195378be120f}">
          <p14:sldIdLst>
            <p14:sldId id="262"/>
            <p14:sldId id="263"/>
            <p14:sldId id="264"/>
          </p14:sldIdLst>
        </p14:section>
        <p14:section name="Routes" id="{8dc44924-e0f1-a4a7-eec5-c45ec6ce3715}">
          <p14:sldIdLst>
            <p14:sldId id="265"/>
            <p14:sldId id="266"/>
          </p14:sldIdLst>
        </p14:section>
        <p14:section name="Close" id="{2f5e259f-e522-0199-2495-f2bcb9df8a19}">
          <p14:sldIdLst>
            <p14:sldId id="267"/>
          </p14:sldIdLst>
        </p14:section>
        <p14:section name="Answers" id="{d547fcc6-e990-a10d-d4ed-c7ac1fefd33a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6: Substitution: one step. Swap the letter for its number and work out the value of a one-step expression.
This deck covers the department's lesson: 4 (Substitution (one step): How do we find the value of an expression when we know the value of the letter?).
Read the big question aloud: "How can a function machine help us write, read and use algebra?" We come back to it at the exit ticket.
Before this lesson the pre-teach group has heard the read-along and met the key words; today they lead the reading. Lesson shape: do now (recall before any help), key words, read-along, teach, then the same task three ways in (Support, Core, Stretch), exit ticket, answers. Every pupil works towards the same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now — retrieval. Silent, no notes, no help: recall comes before any support. Give about four minutes.
1. If x = 8, work out 7x.  →  56
2. If g = 3, what does 4g mean?  →  D   4 × 3
3. If d = 40, work out d ÷ 8.  →  5
Circulate: who gets 3/3 (Stretch route), 2/3 (Core), 0–1 (Support)? Use this to route pupils later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pupils mark their own in a different colour, then hands up for 3/3, 2/3, 1/3.
1. 56. 7x means 7 × x. Swap x for 8: 7 × 8 = 56.
2. D   4 × 3. 4g means 4 × g. When g is 3, that is 4 × 3 = 12.
3. 5. Swap d for 40: 40 ÷ 8 = 5.
Say the route each score points to: 3/3 Stretch, 2/3 Core, 0–1 Support. Pupils may choose to move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substitute: swap a letter for the number it stands for. Example: "Substitute x = 4 into 3x to get 12."
• value: the number an expression is worth once you know the letter. Example: "When x is 4, the value of 3x is 12."
• cube: a block that stands for the letter in a picture. Example: "One cube is worth 4 counters."
• counter: a small disc worth 1. Example: "Three cubes are worth 12 counters."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1–6 of 12:
1. A letter in maths stands for a number.
2. To substitute means to swap the letter for its number.
3. If x is 4, then 3x means 3 × 4.
4. So the value of 3x is 12.
5. Picture a cube that is worth 4 counters.
6. Three cubes are worth 12 counters.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7–12 of 12:
7. Take care with 6g when g is 5.
8. It does not mean 65.
9. It means 6 × 5, which is 30.
10. A fraction like c over 6 means c ÷ 6.
11. If c is 12, the value of c over 6 is 2.
12. Write the × or ÷ sign back in before you work it out.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Swap the letter for its number. Say it in your own words, then check understanding with a quick question: ask a pupil from the pre-teach group first, since they met these words and ideas before the lesson. Pupils try to recall before you re-explain.
An expression like 3x has a hidden multiplication sign: 3x means 3 × x. When you are told the value of x, you can substitute. Swap x for its number and work out the answer. If x is 4, then 3x becomes 3 × 4, which is 12.
Picture a cube that stands for x. If one cube is worth 4 counters, then three cubes are worth 3 × 4 = 12 counters. Substituting is counting up what the cubes are worth.
The same letter always takes the same value in one question. If c is 12, then 4c is 48, c − 7 is 5 and 15 + c is 27. Write the × back in first: 4 × 12 = 48.
Worked example — model it step by step, thinking aloud: If c = 12, work out 4c. (1) 4c means 4 × c. (2) Swap c for 12: 4 × 12. (3) 4 × 12 = 48. Answer: 48.
Tip: Write the hidden × sign back in before you substitute.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Adding, subtracting and dividing. Say it in your own words, then check understanding with a quick question: ask a pupil from the pre-teach group first, since they met these words and ideas before the lesson. Pupils try to recall before you re-explain.
Substitution works with every operation. If w is 36, then w + 7 is 36 + 7 = 43 and w − 14 is 36 − 14 = 22.
A fraction means divide. w/9 means w ÷ 9, so when w is 36 its value is 36 ÷ 9 = 4. The letter can also come second: 50 − w means 50 take away w, so its value is 50 − 36 = 14.
Order matters with subtraction and division. 5 − z and z − 5 are different expressions. When z is 8, 5 − z is −3 but z − 5 is 3. Only when z is 5 are they both worth 0.
Worked example — model it step by step, thinking aloud: If w = 36, work out 50 − w. (1) 50 − w means 50 take away w. (2) Swap w for 36: 50 − 36. (3) 50 − 36 = 14. Answer: 14.
Tip: Keep the numbers in the order the expression gives them: 50 − w is 50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The 65 mistake. Say it in your own words, then check understanding with a quick question: ask a pupil from the pre-teach group first, since they met these words and ideas before the lesson. Pupils try to recall before you re-explain.
Mo is working out 6g when g is 5. He writes the 5 next to the 6 and gets 65. But 6g does not mean 'a 6 and then a g'. It means 6 × g. When g is 5, the value is 6 × 5 = 30.
This mistake is easy to make because 65 looks like a number. Stop it by writing the × sign back in before you substitute: 6g, then 6 × g, then 6 × 5.
Some expressions are equivalent for every value of the letter. z + 7 and 7 + z are always equal, because the order of adding does not matter. z × 2 and 2z are always equal too. But z/9 and 9z are only equal when z is 0, so they are not equivalent.
Worked example — model it step by step, thinking aloud: If t = 4, work out 18 ÷ t. (1) Swap t for 4: 18 ÷ 4. (2) 18 ÷ 4 = 4.5. (3) The value is 4.5, not 184. Answer: 4.5.
Tip: A digit written next to a letter means multiply. Never glue the numbers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Substitute into 9m.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If m = 7, work out 9m.
Support — work through the steps with the group: (1) Write the hidden × sign back in: 9m means 9 × m. (2) Swap m for 7: 9 × 7. (3) Work it out. (4) Check it looks sensible: 9 lots of 7 is more than 60.
Parallel worked example for Support (model it, do not give the task answer): If k = 6, work out 8k. 8k means 8 × k.; Swap k for 6: 8 × 6.; 8 × 6 = 48.. Answer: 48.
Core — reveal the hint only on request: 9m means 9 × m.
Stretch — no help; when finished: Mo says 9m when m = 7 is 97. Write him a two-sentence explanation that uses cubes and counters, and give an expression that really is worth 97 when m =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Subtract from a number.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If p = 15, work out 40 − p.
Support — work through the steps with the group: (1) Read the expression in words: 40 take away p. (2) Swap p for 15: 40 − 15. (3) Keep 40 first. Work out 40 − 15. (4) Check: the answer should be less than 40.
Parallel worked example for Support (model it, do not give the task answer): If q = 9, work out 20 − q. 20 − q means 20 take away q.; Swap q for 9: 20 − 9.; 20 − 9 = 11.. Answer: 11.
Core — reveal the hint only on request: Which number comes first in 40 − p?
Stretch — no help; when finished: For which value of p is 40 − p equal to p − 40? Explain how you found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— individual, silent, on a slip or mini-whiteboard. Recall before help: no notes, no lanes, no hints. Collect before pupils leave.
Question: Which pair of expressions has the same value for every value of z?
Answer: D   z + 7 and 7 + z. Adding in either order gives the same total, so z + 7 and 7 + z are always equal. The other pairs agree for only one value of z.
Source of this question: module 3 task ("Always equal?") from the manifest.
Sort the slips: correct → ready to move on; incorrect → start next lesson in the pre-teach group, with the read-along and the Support lane. Same destination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1: Substitute into 9m. Reveal the answer; pupils mark their own work in a different colour, then read the "why" together. Same destination for every lane, so one answer serves the whole class.
Answer: 63
Why: 9m means 9 × m. Swap m for 7: 9 × 7 = 63.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2: Subtract from a number. Reveal the answer; pupils mark their own work in a different colour, then read the "why" together. Same destination for every lane, so one answer serves the whole class.
Answer: 25
Why: 40 − p means 40 take away p. Swap p for 15: 40 − 15 = 25.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exit ticket: Exit ticket. Reveal the answer; pupils mark their own work in a different colour, then read the "why" together. Same destination for every lane, so one answer serves the whole class.
Answer: D   z + 7 and 7 + z
Why: Adding in either order gives the same total, so z + 7 and 7 + z are always equal. The other pairs agree for only one value of z.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Algebraic Notation and Substitution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CONTEN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Algebraic Notation and Substitution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-hue"/>
          <p:cNvSpPr/>
          <p:nvPr/>
        </p:nvSpPr>
        <p:spPr>
          <a:xfrm>
            <a:off x="0" y="5989320"/>
            <a:ext cx="12191695" cy="164592"/>
          </a:xfrm>
          <a:prstGeom prst="rect">
            <a:avLst/>
          </a:prstGeom>
          <a:solidFill>
            <a:srgbClr val="2E4A8C"/>
          </a:solidFill>
          <a:ln/>
        </p:spPr>
      </p:sp>
      <p:sp>
        <p:nvSpPr>
          <p:cNvPr id="4" name="band-gold"/>
          <p:cNvSpPr/>
          <p:nvPr/>
        </p:nvSpPr>
        <p:spPr>
          <a:xfrm>
            <a:off x="0" y="6208776"/>
            <a:ext cx="12191695" cy="64008"/>
          </a:xfrm>
          <a:prstGeom prst="rect">
            <a:avLst/>
          </a:prstGeom>
          <a:solidFill>
            <a:srgbClr val="B8862B"/>
          </a:solidFill>
          <a:ln/>
        </p:spPr>
      </p:sp>
      <p:sp>
        <p:nvSpPr>
          <p:cNvPr id="5" name="hex-deco1"/>
          <p:cNvSpPr/>
          <p:nvPr/>
        </p:nvSpPr>
        <p:spPr>
          <a:xfrm>
            <a:off x="1373886" y="276195"/>
            <a:ext cx="525780" cy="455325"/>
          </a:xfrm>
          <a:prstGeom prst="hexagon">
            <a:avLst/>
          </a:prstGeom>
          <a:solidFill>
            <a:srgbClr val="DBE0EB"/>
          </a:solidFill>
          <a:ln/>
        </p:spPr>
      </p:sp>
      <p:sp>
        <p:nvSpPr>
          <p:cNvPr id="6" name="hex-deco2"/>
          <p:cNvSpPr/>
          <p:nvPr/>
        </p:nvSpPr>
        <p:spPr>
          <a:xfrm>
            <a:off x="1373886" y="1168557"/>
            <a:ext cx="525780" cy="455325"/>
          </a:xfrm>
          <a:prstGeom prst="hexagon">
            <a:avLst/>
          </a:prstGeom>
          <a:ln w="19050">
            <a:solidFill>
              <a:srgbClr val="B8862B"/>
            </a:solidFill>
            <a:prstDash val="solid"/>
          </a:ln>
        </p:spPr>
      </p:sp>
      <p:sp>
        <p:nvSpPr>
          <p:cNvPr id="7" name="hex-chapter"/>
          <p:cNvSpPr/>
          <p:nvPr/>
        </p:nvSpPr>
        <p:spPr>
          <a:xfrm>
            <a:off x="548640" y="457200"/>
            <a:ext cx="1051560" cy="910651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8" name="hex-chapter-label"/>
          <p:cNvSpPr txBox="1"/>
          <p:nvPr/>
        </p:nvSpPr>
        <p:spPr>
          <a:xfrm>
            <a:off x="548640" y="457200"/>
            <a:ext cx="1051560" cy="91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kicker"/>
          <p:cNvSpPr txBox="1"/>
          <p:nvPr/>
        </p:nvSpPr>
        <p:spPr>
          <a:xfrm>
            <a:off x="2331720" y="256032"/>
            <a:ext cx="3504895" cy="12984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93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3/6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Notation and Substitution · AQA KS3 → 8300</a:t>
            </a:r>
            <a:endParaRPr lang="en-US" sz="1800" dirty="0"/>
          </a:p>
        </p:txBody>
      </p:sp>
      <p:sp>
        <p:nvSpPr>
          <p:cNvPr id="10" name="deck-title"/>
          <p:cNvSpPr txBox="1"/>
          <p:nvPr/>
        </p:nvSpPr>
        <p:spPr>
          <a:xfrm>
            <a:off x="548640" y="2393188"/>
            <a:ext cx="5287975" cy="1447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Substitution: one step</a:t>
            </a:r>
            <a:endParaRPr lang="en-US" sz="4000" dirty="0"/>
          </a:p>
        </p:txBody>
      </p:sp>
      <p:sp>
        <p:nvSpPr>
          <p:cNvPr id="11" name="lessons-card"/>
          <p:cNvSpPr/>
          <p:nvPr/>
        </p:nvSpPr>
        <p:spPr>
          <a:xfrm>
            <a:off x="548640" y="4069588"/>
            <a:ext cx="5287975" cy="980440"/>
          </a:xfrm>
          <a:prstGeom prst="roundRect">
            <a:avLst>
              <a:gd name="adj" fmla="val 7461"/>
            </a:avLst>
          </a:prstGeom>
          <a:solidFill>
            <a:srgbClr val="F0F2F7"/>
          </a:solidFill>
          <a:ln/>
        </p:spPr>
      </p:sp>
      <p:sp>
        <p:nvSpPr>
          <p:cNvPr id="12" name="lessons"/>
          <p:cNvSpPr txBox="1"/>
          <p:nvPr/>
        </p:nvSpPr>
        <p:spPr>
          <a:xfrm>
            <a:off x="685800" y="4161028"/>
            <a:ext cx="5013655" cy="797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covered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C7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(one step)</a:t>
            </a:r>
            <a:endParaRPr lang="en-US" sz="2000" dirty="0"/>
          </a:p>
        </p:txBody>
      </p:sp>
      <p:sp>
        <p:nvSpPr>
          <p:cNvPr id="13" name="plate-frame"/>
          <p:cNvSpPr/>
          <p:nvPr/>
        </p:nvSpPr>
        <p:spPr>
          <a:xfrm>
            <a:off x="6248095" y="411480"/>
            <a:ext cx="5394960" cy="3130677"/>
          </a:xfrm>
          <a:prstGeom prst="rect">
            <a:avLst/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plate" descr="Ad Astra engraved plate for Mathematics, Year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823" y="521208"/>
            <a:ext cx="5175504" cy="2911221"/>
          </a:xfrm>
          <a:prstGeom prst="rect">
            <a:avLst/>
          </a:prstGeom>
        </p:spPr>
      </p:pic>
      <p:sp>
        <p:nvSpPr>
          <p:cNvPr id="15" name="plate-inner"/>
          <p:cNvSpPr/>
          <p:nvPr/>
        </p:nvSpPr>
        <p:spPr>
          <a:xfrm>
            <a:off x="6357823" y="521208"/>
            <a:ext cx="5175504" cy="2911221"/>
          </a:xfrm>
          <a:prstGeom prst="rect">
            <a:avLst/>
          </a:prstGeom>
          <a:ln w="9525">
            <a:solidFill>
              <a:srgbClr val="B8862B"/>
            </a:solidFill>
            <a:prstDash val="solid"/>
          </a:ln>
        </p:spPr>
      </p:sp>
      <p:sp>
        <p:nvSpPr>
          <p:cNvPr id="16" name="stud0"/>
          <p:cNvSpPr/>
          <p:nvPr/>
        </p:nvSpPr>
        <p:spPr>
          <a:xfrm>
            <a:off x="613836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ud1"/>
          <p:cNvSpPr/>
          <p:nvPr/>
        </p:nvSpPr>
        <p:spPr>
          <a:xfrm>
            <a:off x="1153332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ud2"/>
          <p:cNvSpPr/>
          <p:nvPr/>
        </p:nvSpPr>
        <p:spPr>
          <a:xfrm>
            <a:off x="613836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ud3"/>
          <p:cNvSpPr/>
          <p:nvPr/>
        </p:nvSpPr>
        <p:spPr>
          <a:xfrm>
            <a:off x="1153332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q-card"/>
          <p:cNvSpPr/>
          <p:nvPr/>
        </p:nvSpPr>
        <p:spPr>
          <a:xfrm>
            <a:off x="6248095" y="3816477"/>
            <a:ext cx="5394960" cy="2053971"/>
          </a:xfrm>
          <a:prstGeom prst="roundRect">
            <a:avLst>
              <a:gd name="adj" fmla="val 3561"/>
            </a:avLst>
          </a:prstGeom>
          <a:solidFill>
            <a:srgbClr val="F0F2F7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21" name="bq-hex"/>
          <p:cNvSpPr/>
          <p:nvPr/>
        </p:nvSpPr>
        <p:spPr>
          <a:xfrm>
            <a:off x="6412687" y="3999357"/>
            <a:ext cx="621792" cy="53847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2" name="bq-hex-label"/>
          <p:cNvSpPr txBox="1"/>
          <p:nvPr/>
        </p:nvSpPr>
        <p:spPr>
          <a:xfrm>
            <a:off x="6412687" y="3999357"/>
            <a:ext cx="621792" cy="5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3" name="bq"/>
          <p:cNvSpPr txBox="1"/>
          <p:nvPr/>
        </p:nvSpPr>
        <p:spPr>
          <a:xfrm>
            <a:off x="7144207" y="3907917"/>
            <a:ext cx="4389120" cy="18710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8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function machine help us write, read and use algebra?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now: three from memory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800" dirty="0"/>
          </a:p>
        </p:txBody>
      </p:sp>
      <p:sp>
        <p:nvSpPr>
          <p:cNvPr id="11" name="card-body"/>
          <p:cNvSpPr txBox="1"/>
          <p:nvPr/>
        </p:nvSpPr>
        <p:spPr>
          <a:xfrm>
            <a:off x="731520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= 8, work out 7x.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3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4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16" name="card-body"/>
          <p:cNvSpPr txBox="1"/>
          <p:nvPr/>
        </p:nvSpPr>
        <p:spPr>
          <a:xfrm>
            <a:off x="4521098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 = 3, what does 4g mean?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4 − 3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3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8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9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800" dirty="0"/>
          </a:p>
        </p:txBody>
      </p:sp>
      <p:sp>
        <p:nvSpPr>
          <p:cNvPr id="21" name="card-body"/>
          <p:cNvSpPr txBox="1"/>
          <p:nvPr/>
        </p:nvSpPr>
        <p:spPr>
          <a:xfrm>
            <a:off x="8310677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 = 40, work out d ÷ 8.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1" name="answer-chip"/>
          <p:cNvSpPr/>
          <p:nvPr/>
        </p:nvSpPr>
        <p:spPr>
          <a:xfrm>
            <a:off x="731520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2" name="answer"/>
          <p:cNvSpPr txBox="1"/>
          <p:nvPr/>
        </p:nvSpPr>
        <p:spPr>
          <a:xfrm>
            <a:off x="822960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200" dirty="0"/>
          </a:p>
        </p:txBody>
      </p:sp>
      <p:sp>
        <p:nvSpPr>
          <p:cNvPr id="13" name="card-body"/>
          <p:cNvSpPr txBox="1"/>
          <p:nvPr/>
        </p:nvSpPr>
        <p:spPr>
          <a:xfrm>
            <a:off x="731520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= 8, work out 7x.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 means 7 × x. Swap x for 8: 7 × 8 = 56.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5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8" name="answer-chip"/>
          <p:cNvSpPr/>
          <p:nvPr/>
        </p:nvSpPr>
        <p:spPr>
          <a:xfrm>
            <a:off x="4521098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9" name="answer"/>
          <p:cNvSpPr txBox="1"/>
          <p:nvPr/>
        </p:nvSpPr>
        <p:spPr>
          <a:xfrm>
            <a:off x="4612538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4 × 3</a:t>
            </a:r>
            <a:endParaRPr lang="en-US" sz="2200" dirty="0"/>
          </a:p>
        </p:txBody>
      </p:sp>
      <p:sp>
        <p:nvSpPr>
          <p:cNvPr id="20" name="card-body"/>
          <p:cNvSpPr txBox="1"/>
          <p:nvPr/>
        </p:nvSpPr>
        <p:spPr>
          <a:xfrm>
            <a:off x="4521098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 = 3, what does 4g mean?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means 4 × g. When g is 3, that is 4 × 3 = 12.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22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25" name="answer-chip"/>
          <p:cNvSpPr/>
          <p:nvPr/>
        </p:nvSpPr>
        <p:spPr>
          <a:xfrm>
            <a:off x="8310677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26" name="answer"/>
          <p:cNvSpPr txBox="1"/>
          <p:nvPr/>
        </p:nvSpPr>
        <p:spPr>
          <a:xfrm>
            <a:off x="8402117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card-body"/>
          <p:cNvSpPr txBox="1"/>
          <p:nvPr/>
        </p:nvSpPr>
        <p:spPr>
          <a:xfrm>
            <a:off x="8310677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 = 40, work out d ÷ 8.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 for 40: 40 ÷ 8 = 5.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kw-head"/>
          <p:cNvSpPr/>
          <p:nvPr/>
        </p:nvSpPr>
        <p:spPr>
          <a:xfrm>
            <a:off x="548640" y="1389888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E4A8C"/>
          </a:solidFill>
          <a:ln/>
        </p:spPr>
      </p:sp>
      <p:sp>
        <p:nvSpPr>
          <p:cNvPr id="8" name="kw-headtext"/>
          <p:cNvSpPr txBox="1"/>
          <p:nvPr/>
        </p:nvSpPr>
        <p:spPr>
          <a:xfrm>
            <a:off x="1143000" y="1389888"/>
            <a:ext cx="2331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800" dirty="0"/>
          </a:p>
        </p:txBody>
      </p:sp>
      <p:sp>
        <p:nvSpPr>
          <p:cNvPr id="9" name="kw-headtext"/>
          <p:cNvSpPr txBox="1"/>
          <p:nvPr/>
        </p:nvSpPr>
        <p:spPr>
          <a:xfrm>
            <a:off x="3657600" y="1389888"/>
            <a:ext cx="3474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10" name="kw-headtext"/>
          <p:cNvSpPr txBox="1"/>
          <p:nvPr/>
        </p:nvSpPr>
        <p:spPr>
          <a:xfrm>
            <a:off x="7315200" y="1389888"/>
            <a:ext cx="4236415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sentence</a:t>
            </a:r>
            <a:endParaRPr lang="en-US" sz="1800" dirty="0"/>
          </a:p>
        </p:txBody>
      </p:sp>
      <p:sp>
        <p:nvSpPr>
          <p:cNvPr id="11" name="kw-row"/>
          <p:cNvSpPr/>
          <p:nvPr/>
        </p:nvSpPr>
        <p:spPr>
          <a:xfrm>
            <a:off x="548640" y="1920240"/>
            <a:ext cx="11094415" cy="916051"/>
          </a:xfrm>
          <a:prstGeom prst="roundRect">
            <a:avLst>
              <a:gd name="adj" fmla="val 5989"/>
            </a:avLst>
          </a:prstGeom>
          <a:solidFill>
            <a:srgbClr val="F5F6F9"/>
          </a:solidFill>
          <a:ln/>
        </p:spPr>
      </p:sp>
      <p:sp>
        <p:nvSpPr>
          <p:cNvPr id="12" name="kw-hex"/>
          <p:cNvSpPr/>
          <p:nvPr/>
        </p:nvSpPr>
        <p:spPr>
          <a:xfrm>
            <a:off x="658368" y="2200095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3" name="kw-cell"/>
          <p:cNvSpPr txBox="1"/>
          <p:nvPr/>
        </p:nvSpPr>
        <p:spPr>
          <a:xfrm>
            <a:off x="1143000" y="1920240"/>
            <a:ext cx="2331720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</a:t>
            </a:r>
            <a:endParaRPr lang="en-US" sz="2400" dirty="0"/>
          </a:p>
        </p:txBody>
      </p:sp>
      <p:sp>
        <p:nvSpPr>
          <p:cNvPr id="14" name="kw-cell"/>
          <p:cNvSpPr txBox="1"/>
          <p:nvPr/>
        </p:nvSpPr>
        <p:spPr>
          <a:xfrm>
            <a:off x="3657600" y="1920240"/>
            <a:ext cx="3474720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letter for the number it stands for</a:t>
            </a:r>
            <a:endParaRPr lang="en-US" sz="2200" dirty="0"/>
          </a:p>
        </p:txBody>
      </p:sp>
      <p:sp>
        <p:nvSpPr>
          <p:cNvPr id="15" name="kw-cell"/>
          <p:cNvSpPr txBox="1"/>
          <p:nvPr/>
        </p:nvSpPr>
        <p:spPr>
          <a:xfrm>
            <a:off x="7315200" y="1920240"/>
            <a:ext cx="4236415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x = 4 into 3x to get 12.</a:t>
            </a:r>
            <a:endParaRPr lang="en-US" sz="2200" dirty="0"/>
          </a:p>
        </p:txBody>
      </p:sp>
      <p:sp>
        <p:nvSpPr>
          <p:cNvPr id="16" name="kw-row"/>
          <p:cNvSpPr/>
          <p:nvPr/>
        </p:nvSpPr>
        <p:spPr>
          <a:xfrm>
            <a:off x="548640" y="2909443"/>
            <a:ext cx="11094415" cy="1256919"/>
          </a:xfrm>
          <a:prstGeom prst="roundRect">
            <a:avLst>
              <a:gd name="adj" fmla="val 4365"/>
            </a:avLst>
          </a:prstGeom>
          <a:solidFill>
            <a:srgbClr val="F9F4EC"/>
          </a:solidFill>
          <a:ln/>
        </p:spPr>
      </p:sp>
      <p:sp>
        <p:nvSpPr>
          <p:cNvPr id="17" name="kw-hex"/>
          <p:cNvSpPr/>
          <p:nvPr/>
        </p:nvSpPr>
        <p:spPr>
          <a:xfrm>
            <a:off x="658368" y="3359732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8" name="kw-cell"/>
          <p:cNvSpPr txBox="1"/>
          <p:nvPr/>
        </p:nvSpPr>
        <p:spPr>
          <a:xfrm>
            <a:off x="1143000" y="2909443"/>
            <a:ext cx="2331720" cy="125691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2400" dirty="0"/>
          </a:p>
        </p:txBody>
      </p:sp>
      <p:sp>
        <p:nvSpPr>
          <p:cNvPr id="19" name="kw-cell"/>
          <p:cNvSpPr txBox="1"/>
          <p:nvPr/>
        </p:nvSpPr>
        <p:spPr>
          <a:xfrm>
            <a:off x="3657600" y="2909443"/>
            <a:ext cx="3474720" cy="125691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an expression is worth once you know the letter</a:t>
            </a:r>
            <a:endParaRPr lang="en-US" sz="2200" dirty="0"/>
          </a:p>
        </p:txBody>
      </p:sp>
      <p:sp>
        <p:nvSpPr>
          <p:cNvPr id="20" name="kw-cell"/>
          <p:cNvSpPr txBox="1"/>
          <p:nvPr/>
        </p:nvSpPr>
        <p:spPr>
          <a:xfrm>
            <a:off x="7315200" y="2909443"/>
            <a:ext cx="4236415" cy="125691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is 4, the value of 3x is 12.</a:t>
            </a:r>
            <a:endParaRPr lang="en-US" sz="2200" dirty="0"/>
          </a:p>
        </p:txBody>
      </p:sp>
      <p:sp>
        <p:nvSpPr>
          <p:cNvPr id="21" name="kw-row"/>
          <p:cNvSpPr/>
          <p:nvPr/>
        </p:nvSpPr>
        <p:spPr>
          <a:xfrm>
            <a:off x="548640" y="4239514"/>
            <a:ext cx="11094415" cy="916051"/>
          </a:xfrm>
          <a:prstGeom prst="roundRect">
            <a:avLst>
              <a:gd name="adj" fmla="val 5989"/>
            </a:avLst>
          </a:prstGeom>
          <a:solidFill>
            <a:srgbClr val="F5F6F9"/>
          </a:solidFill>
          <a:ln/>
        </p:spPr>
      </p:sp>
      <p:sp>
        <p:nvSpPr>
          <p:cNvPr id="22" name="kw-hex"/>
          <p:cNvSpPr/>
          <p:nvPr/>
        </p:nvSpPr>
        <p:spPr>
          <a:xfrm>
            <a:off x="658368" y="4519369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kw-cell"/>
          <p:cNvSpPr txBox="1"/>
          <p:nvPr/>
        </p:nvSpPr>
        <p:spPr>
          <a:xfrm>
            <a:off x="1143000" y="4239514"/>
            <a:ext cx="2331720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</a:t>
            </a:r>
            <a:endParaRPr lang="en-US" sz="2400" dirty="0"/>
          </a:p>
        </p:txBody>
      </p:sp>
      <p:sp>
        <p:nvSpPr>
          <p:cNvPr id="24" name="kw-cell"/>
          <p:cNvSpPr txBox="1"/>
          <p:nvPr/>
        </p:nvSpPr>
        <p:spPr>
          <a:xfrm>
            <a:off x="3657600" y="4239514"/>
            <a:ext cx="3474720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that stands for the letter in a picture</a:t>
            </a:r>
            <a:endParaRPr lang="en-US" sz="2200" dirty="0"/>
          </a:p>
        </p:txBody>
      </p:sp>
      <p:sp>
        <p:nvSpPr>
          <p:cNvPr id="25" name="kw-cell"/>
          <p:cNvSpPr txBox="1"/>
          <p:nvPr/>
        </p:nvSpPr>
        <p:spPr>
          <a:xfrm>
            <a:off x="7315200" y="4239514"/>
            <a:ext cx="4236415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cube is worth 4 counters.</a:t>
            </a:r>
            <a:endParaRPr lang="en-US" sz="2200" dirty="0"/>
          </a:p>
        </p:txBody>
      </p:sp>
      <p:sp>
        <p:nvSpPr>
          <p:cNvPr id="26" name="kw-row"/>
          <p:cNvSpPr/>
          <p:nvPr/>
        </p:nvSpPr>
        <p:spPr>
          <a:xfrm>
            <a:off x="548640" y="5228717"/>
            <a:ext cx="11094415" cy="916051"/>
          </a:xfrm>
          <a:prstGeom prst="roundRect">
            <a:avLst>
              <a:gd name="adj" fmla="val 5989"/>
            </a:avLst>
          </a:prstGeom>
          <a:solidFill>
            <a:srgbClr val="F9F4EC"/>
          </a:solidFill>
          <a:ln/>
        </p:spPr>
      </p:sp>
      <p:sp>
        <p:nvSpPr>
          <p:cNvPr id="27" name="kw-hex"/>
          <p:cNvSpPr/>
          <p:nvPr/>
        </p:nvSpPr>
        <p:spPr>
          <a:xfrm>
            <a:off x="658368" y="5508572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8" name="kw-cell"/>
          <p:cNvSpPr txBox="1"/>
          <p:nvPr/>
        </p:nvSpPr>
        <p:spPr>
          <a:xfrm>
            <a:off x="1143000" y="5228717"/>
            <a:ext cx="2331720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2400" dirty="0"/>
          </a:p>
        </p:txBody>
      </p:sp>
      <p:sp>
        <p:nvSpPr>
          <p:cNvPr id="29" name="kw-cell"/>
          <p:cNvSpPr txBox="1"/>
          <p:nvPr/>
        </p:nvSpPr>
        <p:spPr>
          <a:xfrm>
            <a:off x="3657600" y="5228717"/>
            <a:ext cx="3474720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disc worth 1</a:t>
            </a:r>
            <a:endParaRPr lang="en-US" sz="2200" dirty="0"/>
          </a:p>
        </p:txBody>
      </p:sp>
      <p:sp>
        <p:nvSpPr>
          <p:cNvPr id="30" name="kw-cell"/>
          <p:cNvSpPr txBox="1"/>
          <p:nvPr/>
        </p:nvSpPr>
        <p:spPr>
          <a:xfrm>
            <a:off x="7315200" y="5228717"/>
            <a:ext cx="4236415" cy="91605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cubes are worth 12 counters.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 in maths stands for a number.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to swap the letter for its number.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is 4, then 3x means 3 × 4.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3x is 12.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is worth 4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worth 12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care with 6g when g is 5.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mean 65.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6 × 5, which is 30.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like c over 6 means c ÷ 6.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 is 12, the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 over 6 is 2.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× or ÷ sign back in before you work it out.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the letter for its number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hidden × sign back in before you substitute.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 = 12, work out 4c.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means 4 × c.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 for 12: 4 × 12.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12 = 48.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903901"/>
          </a:xfrm>
          <a:prstGeom prst="roundRect">
            <a:avLst>
              <a:gd name="adj" fmla="val 8093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675546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90390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like 3x has a hidden multiplication sign: 3x means 3 × x.</a:t>
            </a:r>
            <a:endParaRPr lang="en-US" sz="22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440093"/>
            <a:ext cx="5074920" cy="1585637"/>
          </a:xfrm>
          <a:prstGeom prst="roundRect">
            <a:avLst>
              <a:gd name="adj" fmla="val 4613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06661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440093"/>
            <a:ext cx="4389120" cy="158563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cube that stands for x. If one cube is worth 4 counters, then three cubes are worth 3 × 4 = 12 counters.</a:t>
            </a:r>
            <a:endParaRPr lang="en-US" sz="2200" dirty="0"/>
          </a:p>
        </p:txBody>
      </p:sp>
      <p:sp>
        <p:nvSpPr>
          <p:cNvPr id="33" name="bullet-card"/>
          <p:cNvSpPr/>
          <p:nvPr/>
        </p:nvSpPr>
        <p:spPr>
          <a:xfrm>
            <a:off x="548640" y="4172035"/>
            <a:ext cx="5074920" cy="903901"/>
          </a:xfrm>
          <a:prstGeom prst="roundRect">
            <a:avLst>
              <a:gd name="adj" fmla="val 8093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457693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4172035"/>
            <a:ext cx="4389120" cy="90390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letter always takes the same value in one question.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Adding, subtracting and dividing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numbers in the order the expression gives them: 50 − w is 50 first.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 = 36, work out 50 − w.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50 − w means 50 take away w.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 for 36: 50 − 36.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50 − 36 = 14.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789169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works with every operation. If w is 36, then w + 7 is 36 + 7 = 43 and w − 14 is 36 − 14 = 22.</a:t>
            </a:r>
            <a:endParaRPr lang="en-US" sz="20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66733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06661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66733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means divide. w/9 means w ÷ 9, so when w is 36 its value is 36 ÷ 9 = 4.</a:t>
            </a:r>
            <a:endParaRPr lang="en-US" sz="2000" dirty="0"/>
          </a:p>
        </p:txBody>
      </p:sp>
      <p:sp>
        <p:nvSpPr>
          <p:cNvPr id="33" name="bullet-card"/>
          <p:cNvSpPr/>
          <p:nvPr/>
        </p:nvSpPr>
        <p:spPr>
          <a:xfrm>
            <a:off x="548640" y="394478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344070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394478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with subtraction and division. 5 − z and z − 5 are different expressions.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65 mistake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071364"/>
            <a:ext cx="5074920" cy="1073404"/>
          </a:xfrm>
          <a:prstGeom prst="roundRect">
            <a:avLst>
              <a:gd name="adj" fmla="val 12778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410098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410098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126228"/>
            <a:ext cx="4206240" cy="9636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written next to a letter means multiply. Never glue the numbers together.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 = 4, work out 18 ÷ t.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 for 4: 18 ÷ 4.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÷ 4 = 4.5.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4.5, not 184.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759291"/>
          </a:xfrm>
          <a:prstGeom prst="roundRect">
            <a:avLst>
              <a:gd name="adj" fmla="val 9634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60324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7592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is working out 6g when g is 5. He writes the 5 next to the 6 and gets 65.</a:t>
            </a:r>
            <a:endParaRPr lang="en-US" sz="18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295483"/>
            <a:ext cx="5074920" cy="759291"/>
          </a:xfrm>
          <a:prstGeom prst="roundRect">
            <a:avLst>
              <a:gd name="adj" fmla="val 9634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2508835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295483"/>
            <a:ext cx="4389120" cy="7592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mistake is easy to make because 65 looks like a number.</a:t>
            </a:r>
            <a:endParaRPr lang="en-US" sz="1800" dirty="0"/>
          </a:p>
        </p:txBody>
      </p:sp>
      <p:sp>
        <p:nvSpPr>
          <p:cNvPr id="33" name="bullet-card"/>
          <p:cNvSpPr/>
          <p:nvPr/>
        </p:nvSpPr>
        <p:spPr>
          <a:xfrm>
            <a:off x="548640" y="3201077"/>
            <a:ext cx="5074920" cy="1595967"/>
          </a:xfrm>
          <a:prstGeom prst="roundRect">
            <a:avLst>
              <a:gd name="adj" fmla="val 4584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3832768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3201077"/>
            <a:ext cx="4389120" cy="159596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expressions are equivalent for every value of the letter. z + 7 and 7 + z are always equal, because the order of adding does not matter. z × 2 and 2z are always equal too.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Substitute into 9m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74852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6056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6056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60299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91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 = 7, work out 9m.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hidden × sign back in: 9m means 9 × m.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 for 7: 9 × 7.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looks sensible: 9 lots of 7 is more than 60.</a:t>
            </a:r>
            <a:endParaRPr lang="en-US" sz="2200" dirty="0"/>
          </a:p>
        </p:txBody>
      </p:sp>
      <p:sp>
        <p:nvSpPr>
          <p:cNvPr id="17" name="col-Core"/>
          <p:cNvSpPr/>
          <p:nvPr/>
        </p:nvSpPr>
        <p:spPr>
          <a:xfrm>
            <a:off x="4338218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 means 9 × m.</a:t>
            </a:r>
            <a:endParaRPr lang="en-US" sz="22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says 9m when m = 7 is 97. Write him a two-sentence explanation that uses cubes and counters, and give an expression that really is worth 97 when m = 7.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Subtract from a number</a:t>
            </a:r>
            <a:endParaRPr lang="en-US" sz="30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74852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6056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6056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60299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91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= 15, work out 40 − p.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expression in words: 40 take away p.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 for 15: 40 − 15.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40 first. Work out 40 − 15.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the answer should be less than 40.</a:t>
            </a:r>
            <a:endParaRPr lang="en-US" sz="2200" dirty="0"/>
          </a:p>
        </p:txBody>
      </p:sp>
      <p:sp>
        <p:nvSpPr>
          <p:cNvPr id="17" name="col-Core"/>
          <p:cNvSpPr/>
          <p:nvPr/>
        </p:nvSpPr>
        <p:spPr>
          <a:xfrm>
            <a:off x="4338218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number comes first in 40 − p?</a:t>
            </a:r>
            <a:endParaRPr lang="en-US" sz="22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which value of p is 40 − p equal to p − 40? Explain how you found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800" dirty="0"/>
          </a:p>
        </p:txBody>
      </p:sp>
      <p:sp>
        <p:nvSpPr>
          <p:cNvPr id="7" name="exit-card"/>
          <p:cNvSpPr/>
          <p:nvPr/>
        </p:nvSpPr>
        <p:spPr>
          <a:xfrm>
            <a:off x="1645920" y="1389888"/>
            <a:ext cx="889985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2E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xit-hex"/>
          <p:cNvSpPr/>
          <p:nvPr/>
        </p:nvSpPr>
        <p:spPr>
          <a:xfrm>
            <a:off x="1143000" y="1618488"/>
            <a:ext cx="1005840" cy="871057"/>
          </a:xfrm>
          <a:prstGeom prst="hexagon">
            <a:avLst/>
          </a:prstGeom>
          <a:solidFill>
            <a:srgbClr val="2E4A8C"/>
          </a:solidFill>
          <a:ln w="25400">
            <a:solidFill>
              <a:srgbClr val="B8862B"/>
            </a:solidFill>
            <a:prstDash val="solid"/>
          </a:ln>
        </p:spPr>
      </p:sp>
      <p:sp>
        <p:nvSpPr>
          <p:cNvPr id="9" name="exit-hex-label"/>
          <p:cNvSpPr txBox="1"/>
          <p:nvPr/>
        </p:nvSpPr>
        <p:spPr>
          <a:xfrm>
            <a:off x="1143000" y="1618488"/>
            <a:ext cx="1005840" cy="87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2000" dirty="0"/>
          </a:p>
        </p:txBody>
      </p:sp>
      <p:sp>
        <p:nvSpPr>
          <p:cNvPr id="10" name="exit-q"/>
          <p:cNvSpPr txBox="1"/>
          <p:nvPr/>
        </p:nvSpPr>
        <p:spPr>
          <a:xfrm>
            <a:off x="2286000" y="1664208"/>
            <a:ext cx="7802575" cy="2615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expressions has the same value for every value of z?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z/9 and 9z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− 5 and 5 − z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× 2 and z + 2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+ 7 and 7 + z</a:t>
            </a:r>
            <a:endParaRPr lang="en-US" sz="2400" dirty="0"/>
          </a:p>
        </p:txBody>
      </p:sp>
      <p:sp>
        <p:nvSpPr>
          <p:cNvPr id="11" name="exit-answer-box"/>
          <p:cNvSpPr/>
          <p:nvPr/>
        </p:nvSpPr>
        <p:spPr>
          <a:xfrm>
            <a:off x="2286000" y="5047488"/>
            <a:ext cx="7619695" cy="822960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9DAAC9"/>
            </a:solidFill>
            <a:prstDash val="solid"/>
          </a:ln>
        </p:spPr>
      </p:sp>
      <p:sp>
        <p:nvSpPr>
          <p:cNvPr id="12" name="exit-answer-label"/>
          <p:cNvSpPr txBox="1"/>
          <p:nvPr/>
        </p:nvSpPr>
        <p:spPr>
          <a:xfrm>
            <a:off x="2423160" y="5047488"/>
            <a:ext cx="292608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Substitute into 9m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 = 7, work out 9m.</a:t>
            </a:r>
            <a:endParaRPr lang="en-US" sz="18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 means 9 × m. Swap m for 7: 9 × 7 = 63.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Subtract from a number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= 15, work out 40 − p.</a:t>
            </a:r>
            <a:endParaRPr lang="en-US" sz="18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40 − p means 40 take away p. Swap p for 15: 40 − 15 = 25.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expressions has the same value for every value of z?</a:t>
            </a:r>
            <a:endParaRPr lang="en-US" sz="18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 z + 7 and 7 + z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in either order gives the same total, so z + 7 and 7 + z are always equal. The other pairs agree for only one value of z.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Astra maths">
  <a:themeElements>
    <a:clrScheme name="Ad Astra maths">
      <a:dk1>
        <a:srgbClr val="1E2229"/>
      </a:dk1>
      <a:lt1>
        <a:srgbClr val="FFFFFF"/>
      </a:lt1>
      <a:dk2>
        <a:srgbClr val="253B70"/>
      </a:dk2>
      <a:lt2>
        <a:srgbClr val="F0F2F7"/>
      </a:lt2>
      <a:accent1>
        <a:srgbClr val="2E4A8C"/>
      </a:accent1>
      <a:accent2>
        <a:srgbClr val="B8862B"/>
      </a:accent2>
      <a:accent3>
        <a:srgbClr val="8292BA"/>
      </a:accent3>
      <a:accent4>
        <a:srgbClr val="815E1E"/>
      </a:accent4>
      <a:accent5>
        <a:srgbClr val="4A505C"/>
      </a:accent5>
      <a:accent6>
        <a:srgbClr val="DEC69B"/>
      </a:accent6>
      <a:hlink>
        <a:srgbClr val="2E4A8C"/>
      </a:hlink>
      <a:folHlink>
        <a:srgbClr val="203462"/>
      </a:folHlink>
    </a:clrScheme>
    <a:fontScheme name="Ad Astra math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Notation and Substitution · Chapter 3: Substitution: one step</dc:title>
  <dc:subject>Mathematics · Year 7</dc:subject>
  <dc:creator>Dr Vitor Merissi de Carvalho</dc:creator>
  <cp:lastModifiedBy>Dr Vitor Merissi de Carvalho</cp:lastModifiedBy>
  <cp:revision>1</cp:revision>
  <dcterms:created xsi:type="dcterms:W3CDTF">2026-10-19T16:23:20Z</dcterms:created>
  <dcterms:modified xsi:type="dcterms:W3CDTF">2026-10-19T16:23:20Z</dcterms:modified>
</cp:coreProperties>
</file>