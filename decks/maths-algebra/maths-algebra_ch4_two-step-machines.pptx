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4f8546be-23df-6894-de1a-e05f56416d87}">
          <p14:sldIdLst>
            <p14:sldId id="256"/>
          </p14:sldIdLst>
        </p14:section>
        <p14:section name="Gate" id="{27842f73-b3be-8a8a-7118-774c108aae82}">
          <p14:sldIdLst>
            <p14:sldId id="257"/>
            <p14:sldId id="258"/>
          </p14:sldIdLst>
        </p14:section>
        <p14:section name="Pre-teach" id="{4d28acf6-83d7-1bd9-05f4-17dd5a4ed90a}">
          <p14:sldIdLst>
            <p14:sldId id="259"/>
          </p14:sldIdLst>
        </p14:section>
        <p14:section name="Read-along" id="{a0f09abc-8048-7296-7fca-ec282c26da04}">
          <p14:sldIdLst>
            <p14:sldId id="260"/>
            <p14:sldId id="261"/>
          </p14:sldIdLst>
        </p14:section>
        <p14:section name="Teach" id="{7d712a63-5e3b-d792-e63e-f8683d6fd10e}">
          <p14:sldIdLst>
            <p14:sldId id="262"/>
            <p14:sldId id="263"/>
            <p14:sldId id="264"/>
          </p14:sldIdLst>
        </p14:section>
        <p14:section name="Routes" id="{2c620f9e-da72-8aae-14c8-f9bbd45a17d8}">
          <p14:sldIdLst>
            <p14:sldId id="265"/>
            <p14:sldId id="266"/>
          </p14:sldIdLst>
        </p14:section>
        <p14:section name="Close" id="{c2a3c247-ca9a-b8a2-ed11-bc07d9f1e62f}">
          <p14:sldIdLst>
            <p14:sldId id="267"/>
          </p14:sldIdLst>
        </p14:section>
        <p14:section name="Answers" id="{5d30cac5-cc7d-7e8a-6004-91ac3e5333be}">
          <p14:sldIdLst>
            <p14:sldId id="268"/>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4 of 6: Two-step function machines. Run two functions in a row, write the output as an expression, and work backwards to find the input.
This deck covers the department's lessons: 5 (2-step function machines (number): How do two functions work together, and does the order matter?); 6 (2-step function machines (algebra): How do we write the output of a two-step machine as an expression, and when do we need brackets?).
Read the big question aloud: "How can a function machine help us write, read and use algebra?"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A machine divides by 5, then adds 7. The input is 30. What is the output?  →  13
2. A machine subtracts 4, then multiplies by 3. The input is c. What is the output?  →  A   3(c − 4)
3. To find the input of a two-step machine, undo the ___ function first.  →  second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13. 30 ÷ 5 = 6, then 6 + 7 = 13.
2. A   3(c − 4). After the first step you have c − 4. The second step multiplies all of it by 3, so brackets are needed: 3(c − 4).
3. second. Work backwards from the output: undo the second function first, then the first.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two-step machine: a machine with two functions, one after the other. Example: "In a two-step machine the first output becomes the second input."
• order: which function comes first. Example: "Change the order and the output usually changes."
• brackets: the marks ( ) that group a whole expression together. Example: "4(f + 5) means the whole of f + 5 is multiplied by 4."
• inverse: the operation that undoes another. Example: "Use the inverse of each function to work backwards."
• undo: to reverse a step. Example: "Undo the last function first."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1–6 of 12:
1. Some machines have two functions.
2. The output of the first function becomes the input of the second.
3. Start with 3. Multiply by 4 to get 12. Then add 5 to get 17.
4. The order matters.
5. Add 5 first, then multiply by 4, and you get 32 instead.
6. With a letter it works the same way.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7–12 of 12:
7. Put f in. Add 5 to get f + 5. Then multiply by 4 to get 4(f + 5).
8. The brackets show that the whole of f + 5 is multiplied.
9. Multiply by 4 first and then add 5, and you get 4f + 5.
10. To find a missing input, work backwards.
11. Undo the second function first, then undo the first.
12. Use the inverse of each function as you go.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Two functions in a row. Say it in your own words, then check understanding with a quick question: ask a pupil from the pre-teach group first, since they met these words and ideas before the lesson. Pupils try to recall before you re-explain.
A two-step machine has two functions, one after the other. Put the input through the first function. Take that output and put it through the second function. The number that comes out at the end is the output of the whole machine.
Annie thinks of 5, multiplies by 2 and then adds 8. First 5 × 2 = 10. Then 10 + 8 = 18. Her new number is 18. Writing the middle number down keeps you safe.
The order of the two functions matters. Put 40 into a machine that divides by 4 and then adds 8: 40 ÷ 4 = 10, then 10 + 8 = 18. Swap the functions round so the machine adds 8 and then divides by 4: 40 + 8 = 48, then 48 ÷ 4 = 12. Different order, different output.
Worked example — model it step by step, thinking aloud: A machine multiplies by 4, then subtracts 9. The input is 6. What is the output? (1) First function: 6 × 4 = 24. (2) The 24 goes into the second function. (3) Second function: 24 − 9 = 15. (4) The output is 15. Answer: 15.
Tip: Always write the middle number down. It is the output of step 1 and the input of step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Two-step machines with letters. Say it in your own words, then check understanding with a quick question: ask a pupil from the pre-teach group first, since they met these words and ideas before the lesson. Pupils try to recall before you re-explain.
Put a through a machine that multiplies by 3 and then adds 4. After the first step you have 3a. After the second step you have 3a + 4. The expression records both steps in order.
Now put f through a machine that adds 5 and then multiplies by 4. After the first step you have f + 5. The second step multiplies the whole of f + 5, so you need brackets: 4(f + 5). Writing 4f + 5 would mean multiply first and add 5 after, which is a different machine.
Dividing works the same way. j divided by 4 and then minus 2 is j/4 − 2. But j minus 2 and then divided by 4 is (j − 2)/4: the whole of j − 2 sits on top of the fraction.
Worked example — model it step by step, thinking aloud: A machine adds 6, then multiplies by 5. The input is k. What is the output? (1) First step: k becomes k + 6. (2) The second step multiplies the whole of k + 6 by 5. (3) Use brackets to keep k + 6 together: 5(k + 6). Answer: 5(k + 6).
Tip: Multiplying or dividing after adding or subtracting? You need brackets, or the whole expression on top of the fraction.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Working backwards. Say it in your own words, then check understanding with a quick question: ask a pupil from the pre-teach group first, since they met these words and ideas before the lesson. Pupils try to recall before you re-explain.
To find the input of a two-step machine, start from the output and work backwards. Undo the last function first, using its inverse. Then undo the first function.
A machine multiplies by 3 and then adds 8. The output is 35. Undo the add 8: 35 − 8 = 27. Then undo the multiply by 3: 27 ÷ 3 = 9. The input was 9. Check forwards: 9 × 3 = 27, then 27 + 8 = 35.
Dora says the input of a machine that multiplies by 4 and then adds 8 must be 9 when the output is 36, because 36 ÷ 4 = 9. She has undone the first function first. Undo the add 8 first: 36 − 8 = 28. Then 28 ÷ 4 = 7. The input was 7.
Worked example — model it step by step, thinking aloud: A machine multiplies by 3, then adds 7. The output is 25. What was the input? (1) Undo the last function first: 25 − 7 = 18. (2) Undo the first function: 18 ÷ 3 = 6. (3) Check forwards: 6 × 3 = 18, then 18 + 7 = 25. The input was 6. Answer: 6.
Tip: Backwards means last step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Output of a two-step machine.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machine multiplies by 6, then subtracts 14. The input is 9. What is the output?
Support — work through the steps with the group: (1) Do function 1 only: 9 × 6. Write the answer in the middle. (2) That middle number is the input for function 2. (3) Do function 2: take 14 away from the middle number. (4) The answer from function 2 is the output.
Parallel worked example for Support (model it, do not give the task answer): A machine multiplies by 7, then subtracts 5. The input is 4. What is the output? Function 1: 4 × 7 = 28. Write 28 in the middle.; Function 2: 28 − 5 = 23.; The output is 23.. Answer: 23.
Core — reveal the hint only on request: Work out 9 × 6 first and write it down.
Stretch — no help; when finished: Swap the two functions round so the machine subtracts 14 first and then multiplies by 6. Work out the output for an input of 9, and explain why it is different.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Write the expression.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machine multiplies by 5, then adds 8. The input is d. What is the output?
Support — work through the steps with the group: (1) Try it with a number first: 2 × 5 = 10, then 10 + 8 = 18. (2) Now use the letter. Function 1: d × 5 gives 5d. (3) Function 2: add 8 to 5d, giving 5d + 8. (4) No brackets are needed, because the adding came last.
Parallel worked example for Support (model it, do not give the task answer): A machine multiplies by 4, then subtracts 3. The input is p. What is the output? Function 1: p becomes 4p.; Function 2: take 3 away, giving 4p − 3.. Answer: 4p − 3.
Core — reveal the hint only on request: What is d after the first function? Then add 8 to that.
Stretch — no help; when finished: Whitney and Ron put d through a machine that adds 8 first and then multiplies by 5. Whitney writes 5d + 8 and Ron writes 5(d + 8). Who is right? Explain using d =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A machine adds 5, then multiplies by 3. The output is 27. What was the input?
Answer: 4. Undo the × 3: 27 ÷ 3 = 9. Undo the + 5: 9 − 5 = 4. Check: 4 + 5 = 9, then 9 × 3 = 27.
Source of this question: module 3 task ("Find the input") from the manifest.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Output of a two-step machine. Reveal the answer; pupils mark their own work in a different colour, then read the "why" together. Same destination for every lane, so one answer serves the whole class.
Answer: 40
Why: Function 1: 9 × 6 = 54. Function 2: 54 − 14 = 40.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Write the expression. Reveal the answer; pupils mark their own work in a different colour, then read the "why" together. Same destination for every lane, so one answer serves the whole class.
Answer: D   5d + 8
Why: The first function turns d into 5d. The second adds 8 on the end: 5d + 8.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4
Why: Undo the × 3: 27 ÷ 3 = 9. Undo the + 5: 9 − 5 = 4. Check: 4 + 5 = 9, then 9 × 3 = 27.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0F2F7"/>
          </a:solidFill>
          <a:ln w="12700">
            <a:solidFill>
              <a:srgbClr val="F0F2F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Mathematics · Year 7 · Algebraic Notation and Substitution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BF7EE"/>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0F2F7"/>
          </a:solidFill>
          <a:ln w="12700">
            <a:solidFill>
              <a:srgbClr val="F0F2F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Mathematics · Year 7 · Algebraic Notation and Substitution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2E4A8C"/>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DBE0EB"/>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2E4A8C"/>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4</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2E4A8C"/>
                </a:solidFill>
                <a:latin typeface="Calibri" pitchFamily="34" charset="0"/>
                <a:ea typeface="Calibri" pitchFamily="34" charset="-122"/>
                <a:cs typeface="Calibri" pitchFamily="34" charset="-120"/>
              </a:rPr>
              <a:t>Mathematics · Year 7</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4/6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Algebraic Notation and Substitution · AQA KS3 → 8300</a:t>
            </a:r>
            <a:endParaRPr lang="en-US" sz="1800" dirty="0"/>
          </a:p>
        </p:txBody>
      </p:sp>
      <p:sp>
        <p:nvSpPr>
          <p:cNvPr id="10" name="deck-title"/>
          <p:cNvSpPr txBox="1"/>
          <p:nvPr/>
        </p:nvSpPr>
        <p:spPr>
          <a:xfrm>
            <a:off x="548640" y="2219198"/>
            <a:ext cx="5287975" cy="14478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Two-step function machines</a:t>
            </a:r>
            <a:endParaRPr lang="en-US" sz="4000" dirty="0"/>
          </a:p>
        </p:txBody>
      </p:sp>
      <p:sp>
        <p:nvSpPr>
          <p:cNvPr id="11" name="lessons-card"/>
          <p:cNvSpPr/>
          <p:nvPr/>
        </p:nvSpPr>
        <p:spPr>
          <a:xfrm>
            <a:off x="548640" y="3895598"/>
            <a:ext cx="5287975" cy="1328420"/>
          </a:xfrm>
          <a:prstGeom prst="roundRect">
            <a:avLst>
              <a:gd name="adj" fmla="val 5507"/>
            </a:avLst>
          </a:prstGeom>
          <a:solidFill>
            <a:srgbClr val="F0F2F7"/>
          </a:solidFill>
          <a:ln/>
        </p:spPr>
      </p:sp>
      <p:sp>
        <p:nvSpPr>
          <p:cNvPr id="12" name="lessons"/>
          <p:cNvSpPr txBox="1"/>
          <p:nvPr/>
        </p:nvSpPr>
        <p:spPr>
          <a:xfrm>
            <a:off x="685800" y="3987038"/>
            <a:ext cx="5013655" cy="114554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2E4A8C"/>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5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2-step function machines (number)</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6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2-step function machines (algebra)</a:t>
            </a:r>
            <a:endParaRPr lang="en-US" sz="2000" dirty="0"/>
          </a:p>
        </p:txBody>
      </p:sp>
      <p:sp>
        <p:nvSpPr>
          <p:cNvPr id="13" name="plate-frame"/>
          <p:cNvSpPr/>
          <p:nvPr/>
        </p:nvSpPr>
        <p:spPr>
          <a:xfrm>
            <a:off x="6248095" y="411480"/>
            <a:ext cx="5394960" cy="3130677"/>
          </a:xfrm>
          <a:prstGeom prst="rect">
            <a:avLst/>
          </a:prstGeom>
          <a:solidFill>
            <a:srgbClr val="F4EDDF"/>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Mathematics, Year 7">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0F2F7"/>
          </a:solidFill>
          <a:ln w="12700">
            <a:solidFill>
              <a:srgbClr val="B2BCD4"/>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2E4A8C"/>
                </a:solidFill>
                <a:latin typeface="Calibri" pitchFamily="34" charset="0"/>
                <a:ea typeface="Calibri" pitchFamily="34" charset="-122"/>
                <a:cs typeface="Calibri" pitchFamily="34" charset="-120"/>
              </a:rPr>
              <a:t>Big question</a:t>
            </a:r>
            <a:endParaRPr lang="en-US" sz="1800" dirty="0"/>
          </a:p>
          <a:p>
            <a:pPr algn="l" indent="0" marL="0">
              <a:buNone/>
            </a:pPr>
            <a:r>
              <a:rPr lang="en-US" sz="2400" i="1" dirty="0">
                <a:solidFill>
                  <a:srgbClr val="1E2229"/>
                </a:solidFill>
                <a:latin typeface="Cambria" pitchFamily="34" charset="0"/>
                <a:ea typeface="Cambria" pitchFamily="34" charset="-122"/>
                <a:cs typeface="Cambria" pitchFamily="34" charset="-120"/>
              </a:rPr>
              <a:t>How can a function machine help us write, read and use algebra?</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7F8FA"/>
          </a:solidFill>
          <a:ln w="12700">
            <a:solidFill>
              <a:srgbClr val="BCC5DA"/>
            </a:solidFill>
            <a:prstDash val="solid"/>
          </a:ln>
        </p:spPr>
      </p:sp>
      <p:sp>
        <p:nvSpPr>
          <p:cNvPr id="8" name="card-hex"/>
          <p:cNvSpPr/>
          <p:nvPr/>
        </p:nvSpPr>
        <p:spPr>
          <a:xfrm>
            <a:off x="731520" y="1572768"/>
            <a:ext cx="640080" cy="554309"/>
          </a:xfrm>
          <a:prstGeom prst="hexagon">
            <a:avLst/>
          </a:prstGeom>
          <a:solidFill>
            <a:srgbClr val="2E4A8C"/>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Work it out</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A machine divides by 5, then adds 7. The input is 30. What is the output?</a:t>
            </a:r>
            <a:endParaRPr lang="en-US" sz="2400" dirty="0"/>
          </a:p>
          <a:p>
            <a:pPr algn="l" indent="0" marL="0">
              <a:buNone/>
            </a:pPr>
            <a:r>
              <a:rPr lang="en-US" sz="2400" b="1" dirty="0">
                <a:solidFill>
                  <a:srgbClr val="2E4A8C"/>
                </a:solidFill>
                <a:latin typeface="Calibri" pitchFamily="34" charset="0"/>
                <a:ea typeface="Calibri" pitchFamily="34" charset="-122"/>
                <a:cs typeface="Calibri" pitchFamily="34" charset="-120"/>
              </a:rPr>
              <a:t>Answer:  </a:t>
            </a:r>
            <a:pPr algn="l" indent="0" marL="0">
              <a:buNone/>
            </a:pPr>
            <a:r>
              <a:rPr lang="en-US" sz="2400" dirty="0">
                <a:solidFill>
                  <a:srgbClr val="1E2229"/>
                </a:solidFill>
                <a:latin typeface="Calibri" pitchFamily="34" charset="0"/>
                <a:ea typeface="Calibri" pitchFamily="34" charset="-122"/>
                <a:cs typeface="Calibri" pitchFamily="34" charset="-120"/>
              </a:rPr>
              <a:t>________</a:t>
            </a:r>
            <a:endParaRPr lang="en-US" sz="2400" dirty="0"/>
          </a:p>
        </p:txBody>
      </p:sp>
      <p:sp>
        <p:nvSpPr>
          <p:cNvPr id="12" name="card"/>
          <p:cNvSpPr/>
          <p:nvPr/>
        </p:nvSpPr>
        <p:spPr>
          <a:xfrm>
            <a:off x="4338218" y="1389888"/>
            <a:ext cx="3515258" cy="4754880"/>
          </a:xfrm>
          <a:prstGeom prst="roundRect">
            <a:avLst>
              <a:gd name="adj" fmla="val 1561"/>
            </a:avLst>
          </a:prstGeom>
          <a:solidFill>
            <a:srgbClr val="F7F8FA"/>
          </a:solidFill>
          <a:ln w="12700">
            <a:solidFill>
              <a:srgbClr val="BCC5DA"/>
            </a:solidFill>
            <a:prstDash val="solid"/>
          </a:ln>
        </p:spPr>
      </p:sp>
      <p:sp>
        <p:nvSpPr>
          <p:cNvPr id="13" name="card-hex"/>
          <p:cNvSpPr/>
          <p:nvPr/>
        </p:nvSpPr>
        <p:spPr>
          <a:xfrm>
            <a:off x="4521098" y="1572768"/>
            <a:ext cx="640080" cy="554309"/>
          </a:xfrm>
          <a:prstGeom prst="hexagon">
            <a:avLst/>
          </a:prstGeom>
          <a:solidFill>
            <a:srgbClr val="2E4A8C"/>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Choose one</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A machine subtracts 4, then multiplies by 3. The input is c. What is the output?</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3(c − 4)</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3c − 4</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c − 12</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3c + 12</a:t>
            </a:r>
            <a:endParaRPr lang="en-US" sz="2400" dirty="0"/>
          </a:p>
        </p:txBody>
      </p:sp>
      <p:sp>
        <p:nvSpPr>
          <p:cNvPr id="17" name="card"/>
          <p:cNvSpPr/>
          <p:nvPr/>
        </p:nvSpPr>
        <p:spPr>
          <a:xfrm>
            <a:off x="8127797" y="1389888"/>
            <a:ext cx="3515258" cy="4754880"/>
          </a:xfrm>
          <a:prstGeom prst="roundRect">
            <a:avLst>
              <a:gd name="adj" fmla="val 1561"/>
            </a:avLst>
          </a:prstGeom>
          <a:solidFill>
            <a:srgbClr val="F7F8FA"/>
          </a:solidFill>
          <a:ln w="12700">
            <a:solidFill>
              <a:srgbClr val="BCC5DA"/>
            </a:solidFill>
            <a:prstDash val="solid"/>
          </a:ln>
        </p:spPr>
      </p:sp>
      <p:sp>
        <p:nvSpPr>
          <p:cNvPr id="18" name="card-hex"/>
          <p:cNvSpPr/>
          <p:nvPr/>
        </p:nvSpPr>
        <p:spPr>
          <a:xfrm>
            <a:off x="8310677" y="1572768"/>
            <a:ext cx="640080" cy="554309"/>
          </a:xfrm>
          <a:prstGeom prst="hexagon">
            <a:avLst/>
          </a:prstGeom>
          <a:solidFill>
            <a:srgbClr val="2E4A8C"/>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Fill the gap</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To find the input of a two-step machine, undo the ___ function first.</a:t>
            </a:r>
            <a:endParaRPr lang="en-US" sz="2400" dirty="0"/>
          </a:p>
          <a:p>
            <a:pPr algn="l" indent="0" marL="0">
              <a:buNone/>
            </a:pPr>
            <a:r>
              <a:rPr lang="en-US" sz="2400" b="1" dirty="0">
                <a:solidFill>
                  <a:srgbClr val="2E4A8C"/>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first  ·  second  ·  middle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7F8FA"/>
          </a:solidFill>
          <a:ln w="12700">
            <a:solidFill>
              <a:srgbClr val="BCC5DA"/>
            </a:solidFill>
            <a:prstDash val="solid"/>
          </a:ln>
        </p:spPr>
      </p:sp>
      <p:sp>
        <p:nvSpPr>
          <p:cNvPr id="8" name="card-hex"/>
          <p:cNvSpPr/>
          <p:nvPr/>
        </p:nvSpPr>
        <p:spPr>
          <a:xfrm>
            <a:off x="731520" y="1572768"/>
            <a:ext cx="640080" cy="554309"/>
          </a:xfrm>
          <a:prstGeom prst="hexagon">
            <a:avLst/>
          </a:prstGeom>
          <a:solidFill>
            <a:srgbClr val="2E4A8C"/>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614172"/>
          </a:xfrm>
          <a:prstGeom prst="roundRect">
            <a:avLst>
              <a:gd name="adj" fmla="val 17866"/>
            </a:avLst>
          </a:prstGeom>
          <a:solidFill>
            <a:srgbClr val="EFE4D0"/>
          </a:solidFill>
          <a:ln w="19050">
            <a:solidFill>
              <a:srgbClr val="B8862B"/>
            </a:solidFill>
            <a:prstDash val="solid"/>
          </a:ln>
        </p:spPr>
      </p:sp>
      <p:sp>
        <p:nvSpPr>
          <p:cNvPr id="12" name="answer"/>
          <p:cNvSpPr txBox="1"/>
          <p:nvPr/>
        </p:nvSpPr>
        <p:spPr>
          <a:xfrm>
            <a:off x="822960"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13</a:t>
            </a:r>
            <a:endParaRPr lang="en-US" sz="2200" dirty="0"/>
          </a:p>
        </p:txBody>
      </p:sp>
      <p:sp>
        <p:nvSpPr>
          <p:cNvPr id="13" name="card-body"/>
          <p:cNvSpPr txBox="1"/>
          <p:nvPr/>
        </p:nvSpPr>
        <p:spPr>
          <a:xfrm>
            <a:off x="731520"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A machine divides by 5, then adds 7. The input is 30. What is the output?</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30 ÷ 5 = 6, then 6 + 7 = 13.</a:t>
            </a:r>
            <a:endParaRPr lang="en-US" sz="2200" dirty="0"/>
          </a:p>
        </p:txBody>
      </p:sp>
      <p:sp>
        <p:nvSpPr>
          <p:cNvPr id="14" name="card"/>
          <p:cNvSpPr/>
          <p:nvPr/>
        </p:nvSpPr>
        <p:spPr>
          <a:xfrm>
            <a:off x="4338218" y="1389888"/>
            <a:ext cx="3515258" cy="4754880"/>
          </a:xfrm>
          <a:prstGeom prst="roundRect">
            <a:avLst>
              <a:gd name="adj" fmla="val 1561"/>
            </a:avLst>
          </a:prstGeom>
          <a:solidFill>
            <a:srgbClr val="F7F8FA"/>
          </a:solidFill>
          <a:ln w="12700">
            <a:solidFill>
              <a:srgbClr val="BCC5DA"/>
            </a:solidFill>
            <a:prstDash val="solid"/>
          </a:ln>
        </p:spPr>
      </p:sp>
      <p:sp>
        <p:nvSpPr>
          <p:cNvPr id="15" name="card-hex"/>
          <p:cNvSpPr/>
          <p:nvPr/>
        </p:nvSpPr>
        <p:spPr>
          <a:xfrm>
            <a:off x="4521098" y="1572768"/>
            <a:ext cx="640080" cy="554309"/>
          </a:xfrm>
          <a:prstGeom prst="hexagon">
            <a:avLst/>
          </a:prstGeom>
          <a:solidFill>
            <a:srgbClr val="2E4A8C"/>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FE4D0"/>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3(c − 4)</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A machine subtracts 4, then multiplies by 3. The input is c. What is the output?</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After the first step you have c − 4. The second step multiplies all of it by 3, so brackets are needed: 3(c − 4).</a:t>
            </a:r>
            <a:endParaRPr lang="en-US" sz="2000" dirty="0"/>
          </a:p>
        </p:txBody>
      </p:sp>
      <p:sp>
        <p:nvSpPr>
          <p:cNvPr id="21" name="card"/>
          <p:cNvSpPr/>
          <p:nvPr/>
        </p:nvSpPr>
        <p:spPr>
          <a:xfrm>
            <a:off x="8127797" y="1389888"/>
            <a:ext cx="3515258" cy="4754880"/>
          </a:xfrm>
          <a:prstGeom prst="roundRect">
            <a:avLst>
              <a:gd name="adj" fmla="val 1561"/>
            </a:avLst>
          </a:prstGeom>
          <a:solidFill>
            <a:srgbClr val="F7F8FA"/>
          </a:solidFill>
          <a:ln w="12700">
            <a:solidFill>
              <a:srgbClr val="BCC5DA"/>
            </a:solidFill>
            <a:prstDash val="solid"/>
          </a:ln>
        </p:spPr>
      </p:sp>
      <p:sp>
        <p:nvSpPr>
          <p:cNvPr id="22" name="card-hex"/>
          <p:cNvSpPr/>
          <p:nvPr/>
        </p:nvSpPr>
        <p:spPr>
          <a:xfrm>
            <a:off x="8310677" y="1572768"/>
            <a:ext cx="640080" cy="554309"/>
          </a:xfrm>
          <a:prstGeom prst="hexagon">
            <a:avLst/>
          </a:prstGeom>
          <a:solidFill>
            <a:srgbClr val="2E4A8C"/>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FE4D0"/>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second</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To find the input of a two-step machine, undo the ___ function first.</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Work backwards from the output: undo the second function first, then the first.</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Key words</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Pre-teach</a:t>
            </a:r>
            <a:endParaRPr lang="en-US" sz="1800" dirty="0"/>
          </a:p>
        </p:txBody>
      </p:sp>
      <p:sp>
        <p:nvSpPr>
          <p:cNvPr id="7" name="kw-head"/>
          <p:cNvSpPr/>
          <p:nvPr/>
        </p:nvSpPr>
        <p:spPr>
          <a:xfrm>
            <a:off x="548640" y="1389888"/>
            <a:ext cx="11094415" cy="457200"/>
          </a:xfrm>
          <a:prstGeom prst="roundRect">
            <a:avLst>
              <a:gd name="adj" fmla="val 16000"/>
            </a:avLst>
          </a:prstGeom>
          <a:solidFill>
            <a:srgbClr val="2E4A8C"/>
          </a:solidFill>
          <a:ln/>
        </p:spPr>
      </p:sp>
      <p:sp>
        <p:nvSpPr>
          <p:cNvPr id="8" name="kw-headtext"/>
          <p:cNvSpPr txBox="1"/>
          <p:nvPr/>
        </p:nvSpPr>
        <p:spPr>
          <a:xfrm>
            <a:off x="1143000" y="1389888"/>
            <a:ext cx="2331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Word</a:t>
            </a:r>
            <a:endParaRPr lang="en-US" sz="1800" dirty="0"/>
          </a:p>
        </p:txBody>
      </p:sp>
      <p:sp>
        <p:nvSpPr>
          <p:cNvPr id="9" name="kw-headtext"/>
          <p:cNvSpPr txBox="1"/>
          <p:nvPr/>
        </p:nvSpPr>
        <p:spPr>
          <a:xfrm>
            <a:off x="3657600" y="1389888"/>
            <a:ext cx="3474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What it means</a:t>
            </a:r>
            <a:endParaRPr lang="en-US" sz="1800" dirty="0"/>
          </a:p>
        </p:txBody>
      </p:sp>
      <p:sp>
        <p:nvSpPr>
          <p:cNvPr id="10" name="kw-headtext"/>
          <p:cNvSpPr txBox="1"/>
          <p:nvPr/>
        </p:nvSpPr>
        <p:spPr>
          <a:xfrm>
            <a:off x="7315200" y="1389888"/>
            <a:ext cx="4236415"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In a sentence</a:t>
            </a:r>
            <a:endParaRPr lang="en-US" sz="1800" dirty="0"/>
          </a:p>
        </p:txBody>
      </p:sp>
      <p:sp>
        <p:nvSpPr>
          <p:cNvPr id="11" name="kw-row"/>
          <p:cNvSpPr/>
          <p:nvPr/>
        </p:nvSpPr>
        <p:spPr>
          <a:xfrm>
            <a:off x="548640" y="1920240"/>
            <a:ext cx="11094415" cy="923036"/>
          </a:xfrm>
          <a:prstGeom prst="roundRect">
            <a:avLst>
              <a:gd name="adj" fmla="val 5944"/>
            </a:avLst>
          </a:prstGeom>
          <a:solidFill>
            <a:srgbClr val="F5F6F9"/>
          </a:solidFill>
          <a:ln/>
        </p:spPr>
      </p:sp>
      <p:sp>
        <p:nvSpPr>
          <p:cNvPr id="12" name="kw-hex"/>
          <p:cNvSpPr/>
          <p:nvPr/>
        </p:nvSpPr>
        <p:spPr>
          <a:xfrm>
            <a:off x="658368" y="2203587"/>
            <a:ext cx="411480" cy="356342"/>
          </a:xfrm>
          <a:prstGeom prst="hexagon">
            <a:avLst/>
          </a:prstGeom>
          <a:solidFill>
            <a:srgbClr val="2E4A8C"/>
          </a:solidFill>
          <a:ln/>
        </p:spPr>
      </p:sp>
      <p:sp>
        <p:nvSpPr>
          <p:cNvPr id="13" name="kw-cell"/>
          <p:cNvSpPr txBox="1"/>
          <p:nvPr/>
        </p:nvSpPr>
        <p:spPr>
          <a:xfrm>
            <a:off x="1143000" y="1920240"/>
            <a:ext cx="2331720" cy="923036"/>
          </a:xfrm>
          <a:prstGeom prst="rect">
            <a:avLst/>
          </a:prstGeom>
          <a:noFill/>
          <a:ln/>
        </p:spPr>
        <p:txBody>
          <a:bodyPr wrap="square" lIns="63500" tIns="63500" rIns="63500" bIns="63500" rtlCol="0" anchor="ctr"/>
          <a:lstStyle/>
          <a:p>
            <a:pPr algn="l" indent="0" marL="0">
              <a:buNone/>
            </a:pPr>
            <a:r>
              <a:rPr lang="en-US" sz="2200" b="1" dirty="0">
                <a:solidFill>
                  <a:srgbClr val="2E4A8C"/>
                </a:solidFill>
                <a:latin typeface="Cambria" pitchFamily="34" charset="0"/>
                <a:ea typeface="Cambria" pitchFamily="34" charset="-122"/>
                <a:cs typeface="Cambria" pitchFamily="34" charset="-120"/>
              </a:rPr>
              <a:t>two-step machine</a:t>
            </a:r>
            <a:endParaRPr lang="en-US" sz="2200" dirty="0"/>
          </a:p>
        </p:txBody>
      </p:sp>
      <p:sp>
        <p:nvSpPr>
          <p:cNvPr id="14" name="kw-cell"/>
          <p:cNvSpPr txBox="1"/>
          <p:nvPr/>
        </p:nvSpPr>
        <p:spPr>
          <a:xfrm>
            <a:off x="3657600" y="1920240"/>
            <a:ext cx="3474720" cy="923036"/>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a machine with two functions, one after the other</a:t>
            </a:r>
            <a:endParaRPr lang="en-US" sz="2000" dirty="0"/>
          </a:p>
        </p:txBody>
      </p:sp>
      <p:sp>
        <p:nvSpPr>
          <p:cNvPr id="15" name="kw-cell"/>
          <p:cNvSpPr txBox="1"/>
          <p:nvPr/>
        </p:nvSpPr>
        <p:spPr>
          <a:xfrm>
            <a:off x="7315200" y="1920240"/>
            <a:ext cx="4236415" cy="923036"/>
          </a:xfrm>
          <a:prstGeom prst="rect">
            <a:avLst/>
          </a:prstGeom>
          <a:noFill/>
          <a:ln/>
        </p:spPr>
        <p:txBody>
          <a:bodyPr wrap="square" lIns="63500" tIns="63500" rIns="63500" bIns="63500" rtlCol="0" anchor="ctr"/>
          <a:lstStyle/>
          <a:p>
            <a:pPr algn="l" indent="0" marL="0">
              <a:buNone/>
            </a:pPr>
            <a:r>
              <a:rPr lang="en-US" sz="2000" i="1" dirty="0">
                <a:solidFill>
                  <a:srgbClr val="4A505C"/>
                </a:solidFill>
                <a:latin typeface="Calibri" pitchFamily="34" charset="0"/>
                <a:ea typeface="Calibri" pitchFamily="34" charset="-122"/>
                <a:cs typeface="Calibri" pitchFamily="34" charset="-120"/>
              </a:rPr>
              <a:t>In a two-step machine the first output becomes the second input.</a:t>
            </a:r>
            <a:endParaRPr lang="en-US" sz="2000" dirty="0"/>
          </a:p>
        </p:txBody>
      </p:sp>
      <p:sp>
        <p:nvSpPr>
          <p:cNvPr id="16" name="kw-row"/>
          <p:cNvSpPr/>
          <p:nvPr/>
        </p:nvSpPr>
        <p:spPr>
          <a:xfrm>
            <a:off x="548640" y="2916428"/>
            <a:ext cx="11094415" cy="816356"/>
          </a:xfrm>
          <a:prstGeom prst="roundRect">
            <a:avLst>
              <a:gd name="adj" fmla="val 6721"/>
            </a:avLst>
          </a:prstGeom>
          <a:solidFill>
            <a:srgbClr val="F9F4EC"/>
          </a:solidFill>
          <a:ln/>
        </p:spPr>
      </p:sp>
      <p:sp>
        <p:nvSpPr>
          <p:cNvPr id="17" name="kw-hex"/>
          <p:cNvSpPr/>
          <p:nvPr/>
        </p:nvSpPr>
        <p:spPr>
          <a:xfrm>
            <a:off x="658368" y="3146435"/>
            <a:ext cx="411480" cy="356342"/>
          </a:xfrm>
          <a:prstGeom prst="hexagon">
            <a:avLst/>
          </a:prstGeom>
          <a:solidFill>
            <a:srgbClr val="B8862B"/>
          </a:solidFill>
          <a:ln/>
        </p:spPr>
      </p:sp>
      <p:sp>
        <p:nvSpPr>
          <p:cNvPr id="18" name="kw-cell"/>
          <p:cNvSpPr txBox="1"/>
          <p:nvPr/>
        </p:nvSpPr>
        <p:spPr>
          <a:xfrm>
            <a:off x="1143000" y="2916428"/>
            <a:ext cx="2331720" cy="816356"/>
          </a:xfrm>
          <a:prstGeom prst="rect">
            <a:avLst/>
          </a:prstGeom>
          <a:noFill/>
          <a:ln/>
        </p:spPr>
        <p:txBody>
          <a:bodyPr wrap="square" lIns="63500" tIns="63500" rIns="63500" bIns="63500" rtlCol="0" anchor="ctr"/>
          <a:lstStyle/>
          <a:p>
            <a:pPr algn="l" indent="0" marL="0">
              <a:buNone/>
            </a:pPr>
            <a:r>
              <a:rPr lang="en-US" sz="2200" b="1" dirty="0">
                <a:solidFill>
                  <a:srgbClr val="2E4A8C"/>
                </a:solidFill>
                <a:latin typeface="Cambria" pitchFamily="34" charset="0"/>
                <a:ea typeface="Cambria" pitchFamily="34" charset="-122"/>
                <a:cs typeface="Cambria" pitchFamily="34" charset="-120"/>
              </a:rPr>
              <a:t>order</a:t>
            </a:r>
            <a:endParaRPr lang="en-US" sz="2200" dirty="0"/>
          </a:p>
        </p:txBody>
      </p:sp>
      <p:sp>
        <p:nvSpPr>
          <p:cNvPr id="19" name="kw-cell"/>
          <p:cNvSpPr txBox="1"/>
          <p:nvPr/>
        </p:nvSpPr>
        <p:spPr>
          <a:xfrm>
            <a:off x="3657600" y="2916428"/>
            <a:ext cx="3474720" cy="816356"/>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which function comes first</a:t>
            </a:r>
            <a:endParaRPr lang="en-US" sz="2000" dirty="0"/>
          </a:p>
        </p:txBody>
      </p:sp>
      <p:sp>
        <p:nvSpPr>
          <p:cNvPr id="20" name="kw-cell"/>
          <p:cNvSpPr txBox="1"/>
          <p:nvPr/>
        </p:nvSpPr>
        <p:spPr>
          <a:xfrm>
            <a:off x="7315200" y="2916428"/>
            <a:ext cx="4236415" cy="816356"/>
          </a:xfrm>
          <a:prstGeom prst="rect">
            <a:avLst/>
          </a:prstGeom>
          <a:noFill/>
          <a:ln/>
        </p:spPr>
        <p:txBody>
          <a:bodyPr wrap="square" lIns="63500" tIns="63500" rIns="63500" bIns="63500" rtlCol="0" anchor="ctr"/>
          <a:lstStyle/>
          <a:p>
            <a:pPr algn="l" indent="0" marL="0">
              <a:buNone/>
            </a:pPr>
            <a:r>
              <a:rPr lang="en-US" sz="2000" i="1" dirty="0">
                <a:solidFill>
                  <a:srgbClr val="4A505C"/>
                </a:solidFill>
                <a:latin typeface="Calibri" pitchFamily="34" charset="0"/>
                <a:ea typeface="Calibri" pitchFamily="34" charset="-122"/>
                <a:cs typeface="Calibri" pitchFamily="34" charset="-120"/>
              </a:rPr>
              <a:t>Change the order and the output usually changes.</a:t>
            </a:r>
            <a:endParaRPr lang="en-US" sz="2000" dirty="0"/>
          </a:p>
        </p:txBody>
      </p:sp>
      <p:sp>
        <p:nvSpPr>
          <p:cNvPr id="21" name="kw-row"/>
          <p:cNvSpPr/>
          <p:nvPr/>
        </p:nvSpPr>
        <p:spPr>
          <a:xfrm>
            <a:off x="548640" y="3805936"/>
            <a:ext cx="11094415" cy="816356"/>
          </a:xfrm>
          <a:prstGeom prst="roundRect">
            <a:avLst>
              <a:gd name="adj" fmla="val 6721"/>
            </a:avLst>
          </a:prstGeom>
          <a:solidFill>
            <a:srgbClr val="F5F6F9"/>
          </a:solidFill>
          <a:ln/>
        </p:spPr>
      </p:sp>
      <p:sp>
        <p:nvSpPr>
          <p:cNvPr id="22" name="kw-hex"/>
          <p:cNvSpPr/>
          <p:nvPr/>
        </p:nvSpPr>
        <p:spPr>
          <a:xfrm>
            <a:off x="658368" y="4035943"/>
            <a:ext cx="411480" cy="356342"/>
          </a:xfrm>
          <a:prstGeom prst="hexagon">
            <a:avLst/>
          </a:prstGeom>
          <a:solidFill>
            <a:srgbClr val="2E4A8C"/>
          </a:solidFill>
          <a:ln/>
        </p:spPr>
      </p:sp>
      <p:sp>
        <p:nvSpPr>
          <p:cNvPr id="23" name="kw-cell"/>
          <p:cNvSpPr txBox="1"/>
          <p:nvPr/>
        </p:nvSpPr>
        <p:spPr>
          <a:xfrm>
            <a:off x="1143000" y="3805936"/>
            <a:ext cx="2331720" cy="816356"/>
          </a:xfrm>
          <a:prstGeom prst="rect">
            <a:avLst/>
          </a:prstGeom>
          <a:noFill/>
          <a:ln/>
        </p:spPr>
        <p:txBody>
          <a:bodyPr wrap="square" lIns="63500" tIns="63500" rIns="63500" bIns="63500" rtlCol="0" anchor="ctr"/>
          <a:lstStyle/>
          <a:p>
            <a:pPr algn="l" indent="0" marL="0">
              <a:buNone/>
            </a:pPr>
            <a:r>
              <a:rPr lang="en-US" sz="2200" b="1" dirty="0">
                <a:solidFill>
                  <a:srgbClr val="2E4A8C"/>
                </a:solidFill>
                <a:latin typeface="Cambria" pitchFamily="34" charset="0"/>
                <a:ea typeface="Cambria" pitchFamily="34" charset="-122"/>
                <a:cs typeface="Cambria" pitchFamily="34" charset="-120"/>
              </a:rPr>
              <a:t>brackets</a:t>
            </a:r>
            <a:endParaRPr lang="en-US" sz="2200" dirty="0"/>
          </a:p>
        </p:txBody>
      </p:sp>
      <p:sp>
        <p:nvSpPr>
          <p:cNvPr id="24" name="kw-cell"/>
          <p:cNvSpPr txBox="1"/>
          <p:nvPr/>
        </p:nvSpPr>
        <p:spPr>
          <a:xfrm>
            <a:off x="3657600" y="3805936"/>
            <a:ext cx="3474720" cy="816356"/>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the marks ( ) that group a whole expression together</a:t>
            </a:r>
            <a:endParaRPr lang="en-US" sz="2000" dirty="0"/>
          </a:p>
        </p:txBody>
      </p:sp>
      <p:sp>
        <p:nvSpPr>
          <p:cNvPr id="25" name="kw-cell"/>
          <p:cNvSpPr txBox="1"/>
          <p:nvPr/>
        </p:nvSpPr>
        <p:spPr>
          <a:xfrm>
            <a:off x="7315200" y="3805936"/>
            <a:ext cx="4236415" cy="816356"/>
          </a:xfrm>
          <a:prstGeom prst="rect">
            <a:avLst/>
          </a:prstGeom>
          <a:noFill/>
          <a:ln/>
        </p:spPr>
        <p:txBody>
          <a:bodyPr wrap="square" lIns="63500" tIns="63500" rIns="63500" bIns="63500" rtlCol="0" anchor="ctr"/>
          <a:lstStyle/>
          <a:p>
            <a:pPr algn="l" indent="0" marL="0">
              <a:buNone/>
            </a:pPr>
            <a:r>
              <a:rPr lang="en-US" sz="2000" i="1" dirty="0">
                <a:solidFill>
                  <a:srgbClr val="4A505C"/>
                </a:solidFill>
                <a:latin typeface="Calibri" pitchFamily="34" charset="0"/>
                <a:ea typeface="Calibri" pitchFamily="34" charset="-122"/>
                <a:cs typeface="Calibri" pitchFamily="34" charset="-120"/>
              </a:rPr>
              <a:t>4(f + 5) means the whole of f + 5 is multiplied by 4.</a:t>
            </a:r>
            <a:endParaRPr lang="en-US" sz="2000" dirty="0"/>
          </a:p>
        </p:txBody>
      </p:sp>
      <p:sp>
        <p:nvSpPr>
          <p:cNvPr id="26" name="kw-row"/>
          <p:cNvSpPr/>
          <p:nvPr/>
        </p:nvSpPr>
        <p:spPr>
          <a:xfrm>
            <a:off x="548640" y="4695444"/>
            <a:ext cx="11094415" cy="816356"/>
          </a:xfrm>
          <a:prstGeom prst="roundRect">
            <a:avLst>
              <a:gd name="adj" fmla="val 6721"/>
            </a:avLst>
          </a:prstGeom>
          <a:solidFill>
            <a:srgbClr val="F9F4EC"/>
          </a:solidFill>
          <a:ln/>
        </p:spPr>
      </p:sp>
      <p:sp>
        <p:nvSpPr>
          <p:cNvPr id="27" name="kw-hex"/>
          <p:cNvSpPr/>
          <p:nvPr/>
        </p:nvSpPr>
        <p:spPr>
          <a:xfrm>
            <a:off x="658368" y="4925451"/>
            <a:ext cx="411480" cy="356342"/>
          </a:xfrm>
          <a:prstGeom prst="hexagon">
            <a:avLst/>
          </a:prstGeom>
          <a:solidFill>
            <a:srgbClr val="B8862B"/>
          </a:solidFill>
          <a:ln/>
        </p:spPr>
      </p:sp>
      <p:sp>
        <p:nvSpPr>
          <p:cNvPr id="28" name="kw-cell"/>
          <p:cNvSpPr txBox="1"/>
          <p:nvPr/>
        </p:nvSpPr>
        <p:spPr>
          <a:xfrm>
            <a:off x="1143000" y="4695444"/>
            <a:ext cx="2331720" cy="816356"/>
          </a:xfrm>
          <a:prstGeom prst="rect">
            <a:avLst/>
          </a:prstGeom>
          <a:noFill/>
          <a:ln/>
        </p:spPr>
        <p:txBody>
          <a:bodyPr wrap="square" lIns="63500" tIns="63500" rIns="63500" bIns="63500" rtlCol="0" anchor="ctr"/>
          <a:lstStyle/>
          <a:p>
            <a:pPr algn="l" indent="0" marL="0">
              <a:buNone/>
            </a:pPr>
            <a:r>
              <a:rPr lang="en-US" sz="2200" b="1" dirty="0">
                <a:solidFill>
                  <a:srgbClr val="2E4A8C"/>
                </a:solidFill>
                <a:latin typeface="Cambria" pitchFamily="34" charset="0"/>
                <a:ea typeface="Cambria" pitchFamily="34" charset="-122"/>
                <a:cs typeface="Cambria" pitchFamily="34" charset="-120"/>
              </a:rPr>
              <a:t>inverse</a:t>
            </a:r>
            <a:endParaRPr lang="en-US" sz="2200" dirty="0"/>
          </a:p>
        </p:txBody>
      </p:sp>
      <p:sp>
        <p:nvSpPr>
          <p:cNvPr id="29" name="kw-cell"/>
          <p:cNvSpPr txBox="1"/>
          <p:nvPr/>
        </p:nvSpPr>
        <p:spPr>
          <a:xfrm>
            <a:off x="3657600" y="4695444"/>
            <a:ext cx="3474720" cy="816356"/>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the operation that undoes another</a:t>
            </a:r>
            <a:endParaRPr lang="en-US" sz="2000" dirty="0"/>
          </a:p>
        </p:txBody>
      </p:sp>
      <p:sp>
        <p:nvSpPr>
          <p:cNvPr id="30" name="kw-cell"/>
          <p:cNvSpPr txBox="1"/>
          <p:nvPr/>
        </p:nvSpPr>
        <p:spPr>
          <a:xfrm>
            <a:off x="7315200" y="4695444"/>
            <a:ext cx="4236415" cy="816356"/>
          </a:xfrm>
          <a:prstGeom prst="rect">
            <a:avLst/>
          </a:prstGeom>
          <a:noFill/>
          <a:ln/>
        </p:spPr>
        <p:txBody>
          <a:bodyPr wrap="square" lIns="63500" tIns="63500" rIns="63500" bIns="63500" rtlCol="0" anchor="ctr"/>
          <a:lstStyle/>
          <a:p>
            <a:pPr algn="l" indent="0" marL="0">
              <a:buNone/>
            </a:pPr>
            <a:r>
              <a:rPr lang="en-US" sz="2000" i="1" dirty="0">
                <a:solidFill>
                  <a:srgbClr val="4A505C"/>
                </a:solidFill>
                <a:latin typeface="Calibri" pitchFamily="34" charset="0"/>
                <a:ea typeface="Calibri" pitchFamily="34" charset="-122"/>
                <a:cs typeface="Calibri" pitchFamily="34" charset="-120"/>
              </a:rPr>
              <a:t>Use the inverse of each function to work backwards.</a:t>
            </a:r>
            <a:endParaRPr lang="en-US" sz="2000" dirty="0"/>
          </a:p>
        </p:txBody>
      </p:sp>
      <p:sp>
        <p:nvSpPr>
          <p:cNvPr id="31" name="kw-row"/>
          <p:cNvSpPr/>
          <p:nvPr/>
        </p:nvSpPr>
        <p:spPr>
          <a:xfrm>
            <a:off x="548640" y="5584952"/>
            <a:ext cx="11094415" cy="559816"/>
          </a:xfrm>
          <a:prstGeom prst="roundRect">
            <a:avLst>
              <a:gd name="adj" fmla="val 9800"/>
            </a:avLst>
          </a:prstGeom>
          <a:solidFill>
            <a:srgbClr val="F5F6F9"/>
          </a:solidFill>
          <a:ln/>
        </p:spPr>
      </p:sp>
      <p:sp>
        <p:nvSpPr>
          <p:cNvPr id="32" name="kw-hex"/>
          <p:cNvSpPr/>
          <p:nvPr/>
        </p:nvSpPr>
        <p:spPr>
          <a:xfrm>
            <a:off x="658368" y="5686689"/>
            <a:ext cx="411480" cy="356342"/>
          </a:xfrm>
          <a:prstGeom prst="hexagon">
            <a:avLst/>
          </a:prstGeom>
          <a:solidFill>
            <a:srgbClr val="2E4A8C"/>
          </a:solidFill>
          <a:ln/>
        </p:spPr>
      </p:sp>
      <p:sp>
        <p:nvSpPr>
          <p:cNvPr id="33" name="kw-cell"/>
          <p:cNvSpPr txBox="1"/>
          <p:nvPr/>
        </p:nvSpPr>
        <p:spPr>
          <a:xfrm>
            <a:off x="1143000" y="5584952"/>
            <a:ext cx="2331720" cy="559816"/>
          </a:xfrm>
          <a:prstGeom prst="rect">
            <a:avLst/>
          </a:prstGeom>
          <a:noFill/>
          <a:ln/>
        </p:spPr>
        <p:txBody>
          <a:bodyPr wrap="square" lIns="63500" tIns="63500" rIns="63500" bIns="63500" rtlCol="0" anchor="ctr"/>
          <a:lstStyle/>
          <a:p>
            <a:pPr algn="l" indent="0" marL="0">
              <a:buNone/>
            </a:pPr>
            <a:r>
              <a:rPr lang="en-US" sz="2200" b="1" dirty="0">
                <a:solidFill>
                  <a:srgbClr val="2E4A8C"/>
                </a:solidFill>
                <a:latin typeface="Cambria" pitchFamily="34" charset="0"/>
                <a:ea typeface="Cambria" pitchFamily="34" charset="-122"/>
                <a:cs typeface="Cambria" pitchFamily="34" charset="-120"/>
              </a:rPr>
              <a:t>undo</a:t>
            </a:r>
            <a:endParaRPr lang="en-US" sz="2200" dirty="0"/>
          </a:p>
        </p:txBody>
      </p:sp>
      <p:sp>
        <p:nvSpPr>
          <p:cNvPr id="34" name="kw-cell"/>
          <p:cNvSpPr txBox="1"/>
          <p:nvPr/>
        </p:nvSpPr>
        <p:spPr>
          <a:xfrm>
            <a:off x="3657600" y="5584952"/>
            <a:ext cx="3474720" cy="559816"/>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to reverse a step</a:t>
            </a:r>
            <a:endParaRPr lang="en-US" sz="2000" dirty="0"/>
          </a:p>
        </p:txBody>
      </p:sp>
      <p:sp>
        <p:nvSpPr>
          <p:cNvPr id="35" name="kw-cell"/>
          <p:cNvSpPr txBox="1"/>
          <p:nvPr/>
        </p:nvSpPr>
        <p:spPr>
          <a:xfrm>
            <a:off x="7315200" y="5584952"/>
            <a:ext cx="4236415" cy="559816"/>
          </a:xfrm>
          <a:prstGeom prst="rect">
            <a:avLst/>
          </a:prstGeom>
          <a:noFill/>
          <a:ln/>
        </p:spPr>
        <p:txBody>
          <a:bodyPr wrap="square" lIns="63500" tIns="63500" rIns="63500" bIns="63500" rtlCol="0" anchor="ctr"/>
          <a:lstStyle/>
          <a:p>
            <a:pPr algn="l" indent="0" marL="0">
              <a:buNone/>
            </a:pPr>
            <a:r>
              <a:rPr lang="en-US" sz="2000" i="1" dirty="0">
                <a:solidFill>
                  <a:srgbClr val="4A505C"/>
                </a:solidFill>
                <a:latin typeface="Calibri" pitchFamily="34" charset="0"/>
                <a:ea typeface="Calibri" pitchFamily="34" charset="-122"/>
                <a:cs typeface="Calibri" pitchFamily="34" charset="-120"/>
              </a:rPr>
              <a:t>Undo the last function first.</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2E4A8C"/>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7F8FA"/>
          </a:solidFill>
          <a:ln w="12700">
            <a:solidFill>
              <a:srgbClr val="C7CEE0"/>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Some machines have two functions.</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 output of the first function becomes the input of the second.</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Start with 3. Multiply by 4 to get 12. Then add 5 to get 17.</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 </a:t>
            </a:r>
            <a:pPr algn="l" indent="0" marL="0">
              <a:spcAft>
                <a:spcPts val="600"/>
              </a:spcAft>
              <a:buNone/>
            </a:pPr>
            <a:r>
              <a:rPr lang="en-US" sz="2800" b="1" dirty="0">
                <a:solidFill>
                  <a:srgbClr val="2E4A8C"/>
                </a:solidFill>
                <a:latin typeface="Calibri" pitchFamily="34" charset="0"/>
                <a:ea typeface="Calibri" pitchFamily="34" charset="-122"/>
                <a:cs typeface="Calibri" pitchFamily="34" charset="-120"/>
              </a:rPr>
              <a:t>order</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matters.</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Add 5 first, then multiply by 4, and you get 32 instead.</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With a letter it works the same way.</a:t>
            </a:r>
            <a:endParaRPr lang="en-US" sz="2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2E4A8C"/>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7F8FA"/>
          </a:solidFill>
          <a:ln w="12700">
            <a:solidFill>
              <a:srgbClr val="C7CEE0"/>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Put f in. Add 5 to get f + 5. Then multiply by 4 to get 4(f + 5).</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 </a:t>
            </a:r>
            <a:pPr algn="l" indent="0" marL="0">
              <a:spcAft>
                <a:spcPts val="600"/>
              </a:spcAft>
              <a:buNone/>
            </a:pPr>
            <a:r>
              <a:rPr lang="en-US" sz="2800" b="1" dirty="0">
                <a:solidFill>
                  <a:srgbClr val="2E4A8C"/>
                </a:solidFill>
                <a:latin typeface="Calibri" pitchFamily="34" charset="0"/>
                <a:ea typeface="Calibri" pitchFamily="34" charset="-122"/>
                <a:cs typeface="Calibri" pitchFamily="34" charset="-120"/>
              </a:rPr>
              <a:t>brackets</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show that the whole of f + 5 is multiplied.</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Multiply by 4 first and then add 5, and you get 4f + 5.</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To find a missing input, work backwards.</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800" b="1" dirty="0">
                <a:solidFill>
                  <a:srgbClr val="2E4A8C"/>
                </a:solidFill>
                <a:latin typeface="Calibri" pitchFamily="34" charset="0"/>
                <a:ea typeface="Calibri" pitchFamily="34" charset="-122"/>
                <a:cs typeface="Calibri" pitchFamily="34" charset="-120"/>
              </a:rPr>
              <a:t>Undo</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the second function first, then </a:t>
            </a:r>
            <a:pPr algn="l" indent="0" marL="0">
              <a:spcAft>
                <a:spcPts val="600"/>
              </a:spcAft>
              <a:buNone/>
            </a:pPr>
            <a:r>
              <a:rPr lang="en-US" sz="2800" b="1" dirty="0">
                <a:solidFill>
                  <a:srgbClr val="2E4A8C"/>
                </a:solidFill>
                <a:latin typeface="Calibri" pitchFamily="34" charset="0"/>
                <a:ea typeface="Calibri" pitchFamily="34" charset="-122"/>
                <a:cs typeface="Calibri" pitchFamily="34" charset="-120"/>
              </a:rPr>
              <a:t>undo</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the first.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Use the </a:t>
            </a:r>
            <a:pPr algn="l" indent="0" marL="0">
              <a:spcAft>
                <a:spcPts val="600"/>
              </a:spcAft>
              <a:buNone/>
            </a:pPr>
            <a:r>
              <a:rPr lang="en-US" sz="2800" b="1" dirty="0">
                <a:solidFill>
                  <a:srgbClr val="2E4A8C"/>
                </a:solidFill>
                <a:latin typeface="Calibri" pitchFamily="34" charset="0"/>
                <a:ea typeface="Calibri" pitchFamily="34" charset="-122"/>
                <a:cs typeface="Calibri" pitchFamily="34" charset="-120"/>
              </a:rPr>
              <a:t>inverse</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of each function as you go.</a:t>
            </a:r>
            <a:endParaRPr lang="en-US" sz="2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Two functions in a row</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071364"/>
            <a:ext cx="5074920" cy="1073404"/>
          </a:xfrm>
          <a:prstGeom prst="roundRect">
            <a:avLst>
              <a:gd name="adj" fmla="val 12778"/>
            </a:avLst>
          </a:prstGeom>
          <a:solidFill>
            <a:srgbClr val="F6F0E6"/>
          </a:solidFill>
          <a:ln w="15875">
            <a:solidFill>
              <a:srgbClr val="B8862B"/>
            </a:solidFill>
            <a:prstDash val="solid"/>
          </a:ln>
        </p:spPr>
      </p:sp>
      <p:sp>
        <p:nvSpPr>
          <p:cNvPr id="8" name="tip-hex"/>
          <p:cNvSpPr/>
          <p:nvPr/>
        </p:nvSpPr>
        <p:spPr>
          <a:xfrm>
            <a:off x="685800" y="5410098"/>
            <a:ext cx="457200" cy="395935"/>
          </a:xfrm>
          <a:prstGeom prst="hexagon">
            <a:avLst/>
          </a:prstGeom>
          <a:solidFill>
            <a:srgbClr val="B8862B"/>
          </a:solidFill>
          <a:ln/>
        </p:spPr>
      </p:sp>
      <p:sp>
        <p:nvSpPr>
          <p:cNvPr id="9" name="tip-hex-label"/>
          <p:cNvSpPr txBox="1"/>
          <p:nvPr/>
        </p:nvSpPr>
        <p:spPr>
          <a:xfrm>
            <a:off x="685800" y="5410098"/>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126228"/>
            <a:ext cx="4206240" cy="963676"/>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Always write the middle number down. It is the output of step 1 and the input of step 2.</a:t>
            </a:r>
            <a:endParaRPr lang="en-US" sz="1800" dirty="0"/>
          </a:p>
        </p:txBody>
      </p:sp>
      <p:sp>
        <p:nvSpPr>
          <p:cNvPr id="11" name="worked-panel"/>
          <p:cNvSpPr/>
          <p:nvPr/>
        </p:nvSpPr>
        <p:spPr>
          <a:xfrm>
            <a:off x="5989320" y="1389888"/>
            <a:ext cx="5653735" cy="4754880"/>
          </a:xfrm>
          <a:prstGeom prst="roundRect">
            <a:avLst>
              <a:gd name="adj" fmla="val 962"/>
            </a:avLst>
          </a:prstGeom>
          <a:solidFill>
            <a:srgbClr val="FFFFFF"/>
          </a:solidFill>
          <a:ln w="15875">
            <a:solidFill>
              <a:srgbClr val="9DAAC9"/>
            </a:solidFill>
            <a:prstDash val="solid"/>
          </a:ln>
        </p:spPr>
      </p:sp>
      <p:sp>
        <p:nvSpPr>
          <p:cNvPr id="12" name="worked-tab"/>
          <p:cNvSpPr/>
          <p:nvPr/>
        </p:nvSpPr>
        <p:spPr>
          <a:xfrm>
            <a:off x="6126480" y="1499616"/>
            <a:ext cx="2377440" cy="457200"/>
          </a:xfrm>
          <a:prstGeom prst="roundRect">
            <a:avLst>
              <a:gd name="adj" fmla="val 40000"/>
            </a:avLst>
          </a:prstGeom>
          <a:solidFill>
            <a:srgbClr val="2E4A8C"/>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Worked example</a:t>
            </a:r>
            <a:endParaRPr lang="en-US" sz="1800" dirty="0"/>
          </a:p>
        </p:txBody>
      </p:sp>
      <p:sp>
        <p:nvSpPr>
          <p:cNvPr id="13" name="worked-q"/>
          <p:cNvSpPr txBox="1"/>
          <p:nvPr/>
        </p:nvSpPr>
        <p:spPr>
          <a:xfrm>
            <a:off x="6126480" y="2066544"/>
            <a:ext cx="5379415" cy="684784"/>
          </a:xfrm>
          <a:prstGeom prst="rect">
            <a:avLst/>
          </a:prstGeom>
          <a:noFill/>
          <a:ln/>
        </p:spPr>
        <p:txBody>
          <a:bodyPr wrap="square" lIns="63500" tIns="63500" rIns="63500" bIns="63500" rtlCol="0" anchor="t"/>
          <a:lstStyle/>
          <a:p>
            <a:pPr algn="l" indent="0" marL="0">
              <a:buNone/>
            </a:pPr>
            <a:r>
              <a:rPr lang="en-US" sz="1800" b="1" dirty="0">
                <a:solidFill>
                  <a:srgbClr val="1E2229"/>
                </a:solidFill>
                <a:latin typeface="Calibri" pitchFamily="34" charset="0"/>
                <a:ea typeface="Calibri" pitchFamily="34" charset="-122"/>
                <a:cs typeface="Calibri" pitchFamily="34" charset="-120"/>
              </a:rPr>
              <a:t>A machine multiplies by 4, then subtracts 9. The input is 6. What is the output?</a:t>
            </a:r>
            <a:endParaRPr lang="en-US" sz="1800" dirty="0"/>
          </a:p>
        </p:txBody>
      </p:sp>
      <p:sp>
        <p:nvSpPr>
          <p:cNvPr id="14" name="step-box"/>
          <p:cNvSpPr/>
          <p:nvPr/>
        </p:nvSpPr>
        <p:spPr>
          <a:xfrm>
            <a:off x="6126480" y="2888488"/>
            <a:ext cx="5379415" cy="566293"/>
          </a:xfrm>
          <a:prstGeom prst="roundRect">
            <a:avLst>
              <a:gd name="adj" fmla="val 16147"/>
            </a:avLst>
          </a:prstGeom>
          <a:solidFill>
            <a:srgbClr val="F0F2F7"/>
          </a:solidFill>
          <a:ln/>
        </p:spPr>
      </p:sp>
      <p:sp>
        <p:nvSpPr>
          <p:cNvPr id="15" name="step-hex"/>
          <p:cNvSpPr/>
          <p:nvPr/>
        </p:nvSpPr>
        <p:spPr>
          <a:xfrm>
            <a:off x="6217920" y="2989504"/>
            <a:ext cx="420624" cy="364260"/>
          </a:xfrm>
          <a:prstGeom prst="hexagon">
            <a:avLst/>
          </a:prstGeom>
          <a:solidFill>
            <a:srgbClr val="2E4A8C"/>
          </a:solidFill>
          <a:ln/>
        </p:spPr>
      </p:sp>
      <p:sp>
        <p:nvSpPr>
          <p:cNvPr id="16" name="step-hex-label"/>
          <p:cNvSpPr txBox="1"/>
          <p:nvPr/>
        </p:nvSpPr>
        <p:spPr>
          <a:xfrm>
            <a:off x="6217920" y="2989504"/>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7" name="step"/>
          <p:cNvSpPr txBox="1"/>
          <p:nvPr/>
        </p:nvSpPr>
        <p:spPr>
          <a:xfrm>
            <a:off x="6766560" y="2888488"/>
            <a:ext cx="4739335" cy="566293"/>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First function: 6 × 4 = 24.</a:t>
            </a:r>
            <a:endParaRPr lang="en-US" sz="1800" dirty="0"/>
          </a:p>
        </p:txBody>
      </p:sp>
      <p:sp>
        <p:nvSpPr>
          <p:cNvPr id="18" name="step-box"/>
          <p:cNvSpPr/>
          <p:nvPr/>
        </p:nvSpPr>
        <p:spPr>
          <a:xfrm>
            <a:off x="6126480" y="3546221"/>
            <a:ext cx="5379415" cy="566293"/>
          </a:xfrm>
          <a:prstGeom prst="roundRect">
            <a:avLst>
              <a:gd name="adj" fmla="val 16147"/>
            </a:avLst>
          </a:prstGeom>
          <a:solidFill>
            <a:srgbClr val="F0F2F7"/>
          </a:solidFill>
          <a:ln/>
        </p:spPr>
      </p:sp>
      <p:sp>
        <p:nvSpPr>
          <p:cNvPr id="19" name="step-hex"/>
          <p:cNvSpPr/>
          <p:nvPr/>
        </p:nvSpPr>
        <p:spPr>
          <a:xfrm>
            <a:off x="6217920" y="3647237"/>
            <a:ext cx="420624" cy="364260"/>
          </a:xfrm>
          <a:prstGeom prst="hexagon">
            <a:avLst/>
          </a:prstGeom>
          <a:solidFill>
            <a:srgbClr val="2E4A8C"/>
          </a:solidFill>
          <a:ln/>
        </p:spPr>
      </p:sp>
      <p:sp>
        <p:nvSpPr>
          <p:cNvPr id="20" name="step-hex-label"/>
          <p:cNvSpPr txBox="1"/>
          <p:nvPr/>
        </p:nvSpPr>
        <p:spPr>
          <a:xfrm>
            <a:off x="6217920" y="3647237"/>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1" name="step"/>
          <p:cNvSpPr txBox="1"/>
          <p:nvPr/>
        </p:nvSpPr>
        <p:spPr>
          <a:xfrm>
            <a:off x="6766560" y="3546221"/>
            <a:ext cx="4739335" cy="566293"/>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24 goes into the second function.</a:t>
            </a:r>
            <a:endParaRPr lang="en-US" sz="1800" dirty="0"/>
          </a:p>
        </p:txBody>
      </p:sp>
      <p:sp>
        <p:nvSpPr>
          <p:cNvPr id="22" name="step-box"/>
          <p:cNvSpPr/>
          <p:nvPr/>
        </p:nvSpPr>
        <p:spPr>
          <a:xfrm>
            <a:off x="6126480" y="4203954"/>
            <a:ext cx="5379415" cy="566293"/>
          </a:xfrm>
          <a:prstGeom prst="roundRect">
            <a:avLst>
              <a:gd name="adj" fmla="val 16147"/>
            </a:avLst>
          </a:prstGeom>
          <a:solidFill>
            <a:srgbClr val="F0F2F7"/>
          </a:solidFill>
          <a:ln/>
        </p:spPr>
      </p:sp>
      <p:sp>
        <p:nvSpPr>
          <p:cNvPr id="23" name="step-hex"/>
          <p:cNvSpPr/>
          <p:nvPr/>
        </p:nvSpPr>
        <p:spPr>
          <a:xfrm>
            <a:off x="6217920" y="4304970"/>
            <a:ext cx="420624" cy="364260"/>
          </a:xfrm>
          <a:prstGeom prst="hexagon">
            <a:avLst/>
          </a:prstGeom>
          <a:solidFill>
            <a:srgbClr val="2E4A8C"/>
          </a:solidFill>
          <a:ln/>
        </p:spPr>
      </p:sp>
      <p:sp>
        <p:nvSpPr>
          <p:cNvPr id="24" name="step-hex-label"/>
          <p:cNvSpPr txBox="1"/>
          <p:nvPr/>
        </p:nvSpPr>
        <p:spPr>
          <a:xfrm>
            <a:off x="6217920" y="4304970"/>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step"/>
          <p:cNvSpPr txBox="1"/>
          <p:nvPr/>
        </p:nvSpPr>
        <p:spPr>
          <a:xfrm>
            <a:off x="6766560" y="4203954"/>
            <a:ext cx="4739335" cy="566293"/>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Second function: 24 − 9 = 15.</a:t>
            </a:r>
            <a:endParaRPr lang="en-US" sz="1800" dirty="0"/>
          </a:p>
        </p:txBody>
      </p:sp>
      <p:sp>
        <p:nvSpPr>
          <p:cNvPr id="26" name="step-box"/>
          <p:cNvSpPr/>
          <p:nvPr/>
        </p:nvSpPr>
        <p:spPr>
          <a:xfrm>
            <a:off x="6126480" y="4861687"/>
            <a:ext cx="5379415" cy="566293"/>
          </a:xfrm>
          <a:prstGeom prst="roundRect">
            <a:avLst>
              <a:gd name="adj" fmla="val 16147"/>
            </a:avLst>
          </a:prstGeom>
          <a:solidFill>
            <a:srgbClr val="F0F2F7"/>
          </a:solidFill>
          <a:ln/>
        </p:spPr>
      </p:sp>
      <p:sp>
        <p:nvSpPr>
          <p:cNvPr id="27" name="step-hex"/>
          <p:cNvSpPr/>
          <p:nvPr/>
        </p:nvSpPr>
        <p:spPr>
          <a:xfrm>
            <a:off x="6217920" y="4962703"/>
            <a:ext cx="420624" cy="364260"/>
          </a:xfrm>
          <a:prstGeom prst="hexagon">
            <a:avLst/>
          </a:prstGeom>
          <a:solidFill>
            <a:srgbClr val="2E4A8C"/>
          </a:solidFill>
          <a:ln/>
        </p:spPr>
      </p:sp>
      <p:sp>
        <p:nvSpPr>
          <p:cNvPr id="28" name="step-hex-label"/>
          <p:cNvSpPr txBox="1"/>
          <p:nvPr/>
        </p:nvSpPr>
        <p:spPr>
          <a:xfrm>
            <a:off x="6217920" y="4962703"/>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9" name="step"/>
          <p:cNvSpPr txBox="1"/>
          <p:nvPr/>
        </p:nvSpPr>
        <p:spPr>
          <a:xfrm>
            <a:off x="6766560" y="4861687"/>
            <a:ext cx="4739335" cy="566293"/>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output is 15.</a:t>
            </a:r>
            <a:endParaRPr lang="en-US" sz="1800" dirty="0"/>
          </a:p>
        </p:txBody>
      </p:sp>
      <p:sp>
        <p:nvSpPr>
          <p:cNvPr id="30" name="worked-answer"/>
          <p:cNvSpPr/>
          <p:nvPr/>
        </p:nvSpPr>
        <p:spPr>
          <a:xfrm>
            <a:off x="6126480" y="5565140"/>
            <a:ext cx="5379415" cy="552196"/>
          </a:xfrm>
          <a:prstGeom prst="roundRect">
            <a:avLst>
              <a:gd name="adj" fmla="val 33119"/>
            </a:avLst>
          </a:prstGeom>
          <a:solidFill>
            <a:srgbClr val="EFE4D0"/>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15</a:t>
            </a:r>
            <a:endParaRPr lang="en-US" sz="1800" dirty="0"/>
          </a:p>
        </p:txBody>
      </p:sp>
      <p:sp>
        <p:nvSpPr>
          <p:cNvPr id="31" name="bullet-card"/>
          <p:cNvSpPr/>
          <p:nvPr/>
        </p:nvSpPr>
        <p:spPr>
          <a:xfrm>
            <a:off x="548640" y="1389888"/>
            <a:ext cx="5074920" cy="810937"/>
          </a:xfrm>
          <a:prstGeom prst="roundRect">
            <a:avLst>
              <a:gd name="adj" fmla="val 9021"/>
            </a:avLst>
          </a:prstGeom>
          <a:solidFill>
            <a:srgbClr val="F5F6F9"/>
          </a:solidFill>
          <a:ln/>
        </p:spPr>
      </p:sp>
      <p:sp>
        <p:nvSpPr>
          <p:cNvPr id="32" name="bullet-hex"/>
          <p:cNvSpPr/>
          <p:nvPr/>
        </p:nvSpPr>
        <p:spPr>
          <a:xfrm>
            <a:off x="676656" y="1629064"/>
            <a:ext cx="384048" cy="332586"/>
          </a:xfrm>
          <a:prstGeom prst="hexagon">
            <a:avLst/>
          </a:prstGeom>
          <a:solidFill>
            <a:srgbClr val="2E4A8C"/>
          </a:solidFill>
          <a:ln/>
        </p:spPr>
      </p:sp>
      <p:sp>
        <p:nvSpPr>
          <p:cNvPr id="33" name="bullet"/>
          <p:cNvSpPr txBox="1"/>
          <p:nvPr/>
        </p:nvSpPr>
        <p:spPr>
          <a:xfrm>
            <a:off x="1143000" y="1389888"/>
            <a:ext cx="4389120" cy="810937"/>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 two-step machine has two functions, one after the other.</a:t>
            </a:r>
            <a:endParaRPr lang="en-US" sz="2200" dirty="0"/>
          </a:p>
        </p:txBody>
      </p:sp>
      <p:sp>
        <p:nvSpPr>
          <p:cNvPr id="34" name="bullet-card"/>
          <p:cNvSpPr/>
          <p:nvPr/>
        </p:nvSpPr>
        <p:spPr>
          <a:xfrm>
            <a:off x="548640" y="2347129"/>
            <a:ext cx="5074920" cy="810937"/>
          </a:xfrm>
          <a:prstGeom prst="roundRect">
            <a:avLst>
              <a:gd name="adj" fmla="val 9021"/>
            </a:avLst>
          </a:prstGeom>
          <a:solidFill>
            <a:srgbClr val="F5F6F9"/>
          </a:solidFill>
          <a:ln/>
        </p:spPr>
      </p:sp>
      <p:sp>
        <p:nvSpPr>
          <p:cNvPr id="35" name="bullet-hex"/>
          <p:cNvSpPr/>
          <p:nvPr/>
        </p:nvSpPr>
        <p:spPr>
          <a:xfrm>
            <a:off x="676656" y="2586305"/>
            <a:ext cx="384048" cy="332586"/>
          </a:xfrm>
          <a:prstGeom prst="hexagon">
            <a:avLst/>
          </a:prstGeom>
          <a:solidFill>
            <a:srgbClr val="B8862B"/>
          </a:solidFill>
          <a:ln/>
        </p:spPr>
      </p:sp>
      <p:sp>
        <p:nvSpPr>
          <p:cNvPr id="36" name="bullet"/>
          <p:cNvSpPr txBox="1"/>
          <p:nvPr/>
        </p:nvSpPr>
        <p:spPr>
          <a:xfrm>
            <a:off x="1143000" y="2347129"/>
            <a:ext cx="4389120" cy="810937"/>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Annie thinks of 5, multiplies by 2 and then adds 8.</a:t>
            </a:r>
            <a:endParaRPr lang="en-US" sz="2200" dirty="0"/>
          </a:p>
        </p:txBody>
      </p:sp>
      <p:sp>
        <p:nvSpPr>
          <p:cNvPr id="37" name="bullet-card"/>
          <p:cNvSpPr/>
          <p:nvPr/>
        </p:nvSpPr>
        <p:spPr>
          <a:xfrm>
            <a:off x="548640" y="3304371"/>
            <a:ext cx="5074920" cy="1492673"/>
          </a:xfrm>
          <a:prstGeom prst="roundRect">
            <a:avLst>
              <a:gd name="adj" fmla="val 4901"/>
            </a:avLst>
          </a:prstGeom>
          <a:solidFill>
            <a:srgbClr val="F5F6F9"/>
          </a:solidFill>
          <a:ln/>
        </p:spPr>
      </p:sp>
      <p:sp>
        <p:nvSpPr>
          <p:cNvPr id="38" name="bullet-hex"/>
          <p:cNvSpPr/>
          <p:nvPr/>
        </p:nvSpPr>
        <p:spPr>
          <a:xfrm>
            <a:off x="676656" y="3884415"/>
            <a:ext cx="384048" cy="332586"/>
          </a:xfrm>
          <a:prstGeom prst="hexagon">
            <a:avLst/>
          </a:prstGeom>
          <a:solidFill>
            <a:srgbClr val="2E4A8C"/>
          </a:solidFill>
          <a:ln/>
        </p:spPr>
      </p:sp>
      <p:sp>
        <p:nvSpPr>
          <p:cNvPr id="39" name="bullet"/>
          <p:cNvSpPr txBox="1"/>
          <p:nvPr/>
        </p:nvSpPr>
        <p:spPr>
          <a:xfrm>
            <a:off x="1143000" y="3304371"/>
            <a:ext cx="4389120" cy="1492673"/>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order of the two functions matters. Put 40 into a machine that divides by 4 and then adds 8: 40 ÷ 4 = 10, then 10 + 8 = 18.</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Two-step machines with letters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071364"/>
            <a:ext cx="5074920" cy="1073404"/>
          </a:xfrm>
          <a:prstGeom prst="roundRect">
            <a:avLst>
              <a:gd name="adj" fmla="val 12778"/>
            </a:avLst>
          </a:prstGeom>
          <a:solidFill>
            <a:srgbClr val="F6F0E6"/>
          </a:solidFill>
          <a:ln w="15875">
            <a:solidFill>
              <a:srgbClr val="B8862B"/>
            </a:solidFill>
            <a:prstDash val="solid"/>
          </a:ln>
        </p:spPr>
      </p:sp>
      <p:sp>
        <p:nvSpPr>
          <p:cNvPr id="8" name="tip-hex"/>
          <p:cNvSpPr/>
          <p:nvPr/>
        </p:nvSpPr>
        <p:spPr>
          <a:xfrm>
            <a:off x="685800" y="5410098"/>
            <a:ext cx="457200" cy="395935"/>
          </a:xfrm>
          <a:prstGeom prst="hexagon">
            <a:avLst/>
          </a:prstGeom>
          <a:solidFill>
            <a:srgbClr val="B8862B"/>
          </a:solidFill>
          <a:ln/>
        </p:spPr>
      </p:sp>
      <p:sp>
        <p:nvSpPr>
          <p:cNvPr id="9" name="tip-hex-label"/>
          <p:cNvSpPr txBox="1"/>
          <p:nvPr/>
        </p:nvSpPr>
        <p:spPr>
          <a:xfrm>
            <a:off x="685800" y="5410098"/>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126228"/>
            <a:ext cx="4206240" cy="963676"/>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Multiplying or dividing after adding or subtracting? You need brackets, or the whole expression on top of the fraction.</a:t>
            </a:r>
            <a:endParaRPr lang="en-US" sz="1800" dirty="0"/>
          </a:p>
        </p:txBody>
      </p:sp>
      <p:sp>
        <p:nvSpPr>
          <p:cNvPr id="11" name="worked-panel"/>
          <p:cNvSpPr/>
          <p:nvPr/>
        </p:nvSpPr>
        <p:spPr>
          <a:xfrm>
            <a:off x="5989320" y="1389888"/>
            <a:ext cx="5653735" cy="4754880"/>
          </a:xfrm>
          <a:prstGeom prst="roundRect">
            <a:avLst>
              <a:gd name="adj" fmla="val 962"/>
            </a:avLst>
          </a:prstGeom>
          <a:solidFill>
            <a:srgbClr val="FFFFFF"/>
          </a:solidFill>
          <a:ln w="15875">
            <a:solidFill>
              <a:srgbClr val="9DAAC9"/>
            </a:solidFill>
            <a:prstDash val="solid"/>
          </a:ln>
        </p:spPr>
      </p:sp>
      <p:sp>
        <p:nvSpPr>
          <p:cNvPr id="12" name="worked-tab"/>
          <p:cNvSpPr/>
          <p:nvPr/>
        </p:nvSpPr>
        <p:spPr>
          <a:xfrm>
            <a:off x="6126480" y="1499616"/>
            <a:ext cx="2377440" cy="457200"/>
          </a:xfrm>
          <a:prstGeom prst="roundRect">
            <a:avLst>
              <a:gd name="adj" fmla="val 40000"/>
            </a:avLst>
          </a:prstGeom>
          <a:solidFill>
            <a:srgbClr val="2E4A8C"/>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Worked example</a:t>
            </a:r>
            <a:endParaRPr lang="en-US" sz="1800" dirty="0"/>
          </a:p>
        </p:txBody>
      </p:sp>
      <p:sp>
        <p:nvSpPr>
          <p:cNvPr id="13" name="worked-q"/>
          <p:cNvSpPr txBox="1"/>
          <p:nvPr/>
        </p:nvSpPr>
        <p:spPr>
          <a:xfrm>
            <a:off x="6126480" y="2066544"/>
            <a:ext cx="5379415" cy="684784"/>
          </a:xfrm>
          <a:prstGeom prst="rect">
            <a:avLst/>
          </a:prstGeom>
          <a:noFill/>
          <a:ln/>
        </p:spPr>
        <p:txBody>
          <a:bodyPr wrap="square" lIns="63500" tIns="63500" rIns="63500" bIns="63500" rtlCol="0" anchor="t"/>
          <a:lstStyle/>
          <a:p>
            <a:pPr algn="l" indent="0" marL="0">
              <a:buNone/>
            </a:pPr>
            <a:r>
              <a:rPr lang="en-US" sz="1800" b="1" dirty="0">
                <a:solidFill>
                  <a:srgbClr val="1E2229"/>
                </a:solidFill>
                <a:latin typeface="Calibri" pitchFamily="34" charset="0"/>
                <a:ea typeface="Calibri" pitchFamily="34" charset="-122"/>
                <a:cs typeface="Calibri" pitchFamily="34" charset="-120"/>
              </a:rPr>
              <a:t>A machine adds 6, then multiplies by 5. The input is k. What is the output?</a:t>
            </a:r>
            <a:endParaRPr lang="en-US" sz="1800" dirty="0"/>
          </a:p>
        </p:txBody>
      </p:sp>
      <p:sp>
        <p:nvSpPr>
          <p:cNvPr id="14" name="step-box"/>
          <p:cNvSpPr/>
          <p:nvPr/>
        </p:nvSpPr>
        <p:spPr>
          <a:xfrm>
            <a:off x="6126480" y="2888488"/>
            <a:ext cx="5379415" cy="566928"/>
          </a:xfrm>
          <a:prstGeom prst="roundRect">
            <a:avLst>
              <a:gd name="adj" fmla="val 16129"/>
            </a:avLst>
          </a:prstGeom>
          <a:solidFill>
            <a:srgbClr val="F0F2F7"/>
          </a:solidFill>
          <a:ln/>
        </p:spPr>
      </p:sp>
      <p:sp>
        <p:nvSpPr>
          <p:cNvPr id="15" name="step-hex"/>
          <p:cNvSpPr/>
          <p:nvPr/>
        </p:nvSpPr>
        <p:spPr>
          <a:xfrm>
            <a:off x="6217920" y="2989822"/>
            <a:ext cx="420624" cy="364260"/>
          </a:xfrm>
          <a:prstGeom prst="hexagon">
            <a:avLst/>
          </a:prstGeom>
          <a:solidFill>
            <a:srgbClr val="2E4A8C"/>
          </a:solidFill>
          <a:ln/>
        </p:spPr>
      </p:sp>
      <p:sp>
        <p:nvSpPr>
          <p:cNvPr id="16" name="step-hex-label"/>
          <p:cNvSpPr txBox="1"/>
          <p:nvPr/>
        </p:nvSpPr>
        <p:spPr>
          <a:xfrm>
            <a:off x="6217920" y="2989822"/>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7" name="step"/>
          <p:cNvSpPr txBox="1"/>
          <p:nvPr/>
        </p:nvSpPr>
        <p:spPr>
          <a:xfrm>
            <a:off x="6766560" y="2888488"/>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First step: k becomes k + 6.</a:t>
            </a:r>
            <a:endParaRPr lang="en-US" sz="1800" dirty="0"/>
          </a:p>
        </p:txBody>
      </p:sp>
      <p:sp>
        <p:nvSpPr>
          <p:cNvPr id="18" name="step-box"/>
          <p:cNvSpPr/>
          <p:nvPr/>
        </p:nvSpPr>
        <p:spPr>
          <a:xfrm>
            <a:off x="6126480" y="3546856"/>
            <a:ext cx="5379415" cy="794512"/>
          </a:xfrm>
          <a:prstGeom prst="roundRect">
            <a:avLst>
              <a:gd name="adj" fmla="val 11509"/>
            </a:avLst>
          </a:prstGeom>
          <a:solidFill>
            <a:srgbClr val="F0F2F7"/>
          </a:solidFill>
          <a:ln/>
        </p:spPr>
      </p:sp>
      <p:sp>
        <p:nvSpPr>
          <p:cNvPr id="19" name="step-hex"/>
          <p:cNvSpPr/>
          <p:nvPr/>
        </p:nvSpPr>
        <p:spPr>
          <a:xfrm>
            <a:off x="6217920" y="3761982"/>
            <a:ext cx="420624" cy="364260"/>
          </a:xfrm>
          <a:prstGeom prst="hexagon">
            <a:avLst/>
          </a:prstGeom>
          <a:solidFill>
            <a:srgbClr val="2E4A8C"/>
          </a:solidFill>
          <a:ln/>
        </p:spPr>
      </p:sp>
      <p:sp>
        <p:nvSpPr>
          <p:cNvPr id="20" name="step-hex-label"/>
          <p:cNvSpPr txBox="1"/>
          <p:nvPr/>
        </p:nvSpPr>
        <p:spPr>
          <a:xfrm>
            <a:off x="6217920" y="3761982"/>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1" name="step"/>
          <p:cNvSpPr txBox="1"/>
          <p:nvPr/>
        </p:nvSpPr>
        <p:spPr>
          <a:xfrm>
            <a:off x="6766560" y="3546856"/>
            <a:ext cx="4739335" cy="79451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second step multiplies the whole of k + 6 by 5.</a:t>
            </a:r>
            <a:endParaRPr lang="en-US" sz="1800" dirty="0"/>
          </a:p>
        </p:txBody>
      </p:sp>
      <p:sp>
        <p:nvSpPr>
          <p:cNvPr id="22" name="step-box"/>
          <p:cNvSpPr/>
          <p:nvPr/>
        </p:nvSpPr>
        <p:spPr>
          <a:xfrm>
            <a:off x="6126480" y="4432808"/>
            <a:ext cx="5379415" cy="566928"/>
          </a:xfrm>
          <a:prstGeom prst="roundRect">
            <a:avLst>
              <a:gd name="adj" fmla="val 16129"/>
            </a:avLst>
          </a:prstGeom>
          <a:solidFill>
            <a:srgbClr val="F0F2F7"/>
          </a:solidFill>
          <a:ln/>
        </p:spPr>
      </p:sp>
      <p:sp>
        <p:nvSpPr>
          <p:cNvPr id="23" name="step-hex"/>
          <p:cNvSpPr/>
          <p:nvPr/>
        </p:nvSpPr>
        <p:spPr>
          <a:xfrm>
            <a:off x="6217920" y="4534142"/>
            <a:ext cx="420624" cy="364260"/>
          </a:xfrm>
          <a:prstGeom prst="hexagon">
            <a:avLst/>
          </a:prstGeom>
          <a:solidFill>
            <a:srgbClr val="2E4A8C"/>
          </a:solidFill>
          <a:ln/>
        </p:spPr>
      </p:sp>
      <p:sp>
        <p:nvSpPr>
          <p:cNvPr id="24" name="step-hex-label"/>
          <p:cNvSpPr txBox="1"/>
          <p:nvPr/>
        </p:nvSpPr>
        <p:spPr>
          <a:xfrm>
            <a:off x="6217920" y="4534142"/>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step"/>
          <p:cNvSpPr txBox="1"/>
          <p:nvPr/>
        </p:nvSpPr>
        <p:spPr>
          <a:xfrm>
            <a:off x="6766560" y="4432808"/>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Use brackets to keep k + 6 together: 5(k + 6).</a:t>
            </a:r>
            <a:endParaRPr lang="en-US" sz="1800" dirty="0"/>
          </a:p>
        </p:txBody>
      </p:sp>
      <p:sp>
        <p:nvSpPr>
          <p:cNvPr id="26" name="worked-answer"/>
          <p:cNvSpPr/>
          <p:nvPr/>
        </p:nvSpPr>
        <p:spPr>
          <a:xfrm>
            <a:off x="6126480" y="5136896"/>
            <a:ext cx="5379415" cy="552196"/>
          </a:xfrm>
          <a:prstGeom prst="roundRect">
            <a:avLst>
              <a:gd name="adj" fmla="val 33119"/>
            </a:avLst>
          </a:prstGeom>
          <a:solidFill>
            <a:srgbClr val="EFE4D0"/>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5(k + 6)</a:t>
            </a:r>
            <a:endParaRPr lang="en-US" sz="1800" dirty="0"/>
          </a:p>
        </p:txBody>
      </p:sp>
      <p:sp>
        <p:nvSpPr>
          <p:cNvPr id="27" name="bullet-card"/>
          <p:cNvSpPr/>
          <p:nvPr/>
        </p:nvSpPr>
        <p:spPr>
          <a:xfrm>
            <a:off x="548640" y="1389888"/>
            <a:ext cx="5074920" cy="924560"/>
          </a:xfrm>
          <a:prstGeom prst="roundRect">
            <a:avLst>
              <a:gd name="adj" fmla="val 7912"/>
            </a:avLst>
          </a:prstGeom>
          <a:solidFill>
            <a:srgbClr val="F5F6F9"/>
          </a:solidFill>
          <a:ln/>
        </p:spPr>
      </p:sp>
      <p:sp>
        <p:nvSpPr>
          <p:cNvPr id="28" name="bullet-hex"/>
          <p:cNvSpPr/>
          <p:nvPr/>
        </p:nvSpPr>
        <p:spPr>
          <a:xfrm>
            <a:off x="676656" y="1685875"/>
            <a:ext cx="384048" cy="332586"/>
          </a:xfrm>
          <a:prstGeom prst="hexagon">
            <a:avLst/>
          </a:prstGeom>
          <a:solidFill>
            <a:srgbClr val="2E4A8C"/>
          </a:solidFill>
          <a:ln/>
        </p:spPr>
      </p:sp>
      <p:sp>
        <p:nvSpPr>
          <p:cNvPr id="29" name="bullet"/>
          <p:cNvSpPr txBox="1"/>
          <p:nvPr/>
        </p:nvSpPr>
        <p:spPr>
          <a:xfrm>
            <a:off x="1143000" y="1389888"/>
            <a:ext cx="4389120" cy="924560"/>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Put a through a machine that multiplies by 3 and then adds 4.</a:t>
            </a:r>
            <a:endParaRPr lang="en-US" sz="2200" dirty="0"/>
          </a:p>
        </p:txBody>
      </p:sp>
      <p:sp>
        <p:nvSpPr>
          <p:cNvPr id="30" name="bullet-card"/>
          <p:cNvSpPr/>
          <p:nvPr/>
        </p:nvSpPr>
        <p:spPr>
          <a:xfrm>
            <a:off x="548640" y="2460752"/>
            <a:ext cx="5074920" cy="924560"/>
          </a:xfrm>
          <a:prstGeom prst="roundRect">
            <a:avLst>
              <a:gd name="adj" fmla="val 7912"/>
            </a:avLst>
          </a:prstGeom>
          <a:solidFill>
            <a:srgbClr val="F5F6F9"/>
          </a:solidFill>
          <a:ln/>
        </p:spPr>
      </p:sp>
      <p:sp>
        <p:nvSpPr>
          <p:cNvPr id="31" name="bullet-hex"/>
          <p:cNvSpPr/>
          <p:nvPr/>
        </p:nvSpPr>
        <p:spPr>
          <a:xfrm>
            <a:off x="676656" y="2756739"/>
            <a:ext cx="384048" cy="332586"/>
          </a:xfrm>
          <a:prstGeom prst="hexagon">
            <a:avLst/>
          </a:prstGeom>
          <a:solidFill>
            <a:srgbClr val="B8862B"/>
          </a:solidFill>
          <a:ln/>
        </p:spPr>
      </p:sp>
      <p:sp>
        <p:nvSpPr>
          <p:cNvPr id="32" name="bullet"/>
          <p:cNvSpPr txBox="1"/>
          <p:nvPr/>
        </p:nvSpPr>
        <p:spPr>
          <a:xfrm>
            <a:off x="1143000" y="2460752"/>
            <a:ext cx="4389120" cy="924560"/>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Now put f through a machine that adds 5 and then multiplies by 4.</a:t>
            </a:r>
            <a:endParaRPr lang="en-US" sz="2200" dirty="0"/>
          </a:p>
        </p:txBody>
      </p:sp>
      <p:sp>
        <p:nvSpPr>
          <p:cNvPr id="33" name="bullet-card"/>
          <p:cNvSpPr/>
          <p:nvPr/>
        </p:nvSpPr>
        <p:spPr>
          <a:xfrm>
            <a:off x="548640" y="3531616"/>
            <a:ext cx="5074920" cy="1265428"/>
          </a:xfrm>
          <a:prstGeom prst="roundRect">
            <a:avLst>
              <a:gd name="adj" fmla="val 5781"/>
            </a:avLst>
          </a:prstGeom>
          <a:solidFill>
            <a:srgbClr val="F5F6F9"/>
          </a:solidFill>
          <a:ln/>
        </p:spPr>
      </p:sp>
      <p:sp>
        <p:nvSpPr>
          <p:cNvPr id="34" name="bullet-hex"/>
          <p:cNvSpPr/>
          <p:nvPr/>
        </p:nvSpPr>
        <p:spPr>
          <a:xfrm>
            <a:off x="676656" y="3998037"/>
            <a:ext cx="384048" cy="332586"/>
          </a:xfrm>
          <a:prstGeom prst="hexagon">
            <a:avLst/>
          </a:prstGeom>
          <a:solidFill>
            <a:srgbClr val="2E4A8C"/>
          </a:solidFill>
          <a:ln/>
        </p:spPr>
      </p:sp>
      <p:sp>
        <p:nvSpPr>
          <p:cNvPr id="35" name="bullet"/>
          <p:cNvSpPr txBox="1"/>
          <p:nvPr/>
        </p:nvSpPr>
        <p:spPr>
          <a:xfrm>
            <a:off x="1143000" y="3531616"/>
            <a:ext cx="4389120" cy="1265428"/>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Dividing works the same way. j divided by 4 and then minus 2 is j/4 − 2.</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Working backwards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5074920" cy="515620"/>
          </a:xfrm>
          <a:prstGeom prst="roundRect">
            <a:avLst>
              <a:gd name="adj" fmla="val 26601"/>
            </a:avLst>
          </a:prstGeom>
          <a:solidFill>
            <a:srgbClr val="F6F0E6"/>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4206240"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Backwards means last step first.</a:t>
            </a:r>
            <a:endParaRPr lang="en-US" sz="1800" dirty="0"/>
          </a:p>
        </p:txBody>
      </p:sp>
      <p:sp>
        <p:nvSpPr>
          <p:cNvPr id="11" name="worked-panel"/>
          <p:cNvSpPr/>
          <p:nvPr/>
        </p:nvSpPr>
        <p:spPr>
          <a:xfrm>
            <a:off x="5989320" y="1389888"/>
            <a:ext cx="5653735" cy="4754880"/>
          </a:xfrm>
          <a:prstGeom prst="roundRect">
            <a:avLst>
              <a:gd name="adj" fmla="val 962"/>
            </a:avLst>
          </a:prstGeom>
          <a:solidFill>
            <a:srgbClr val="FFFFFF"/>
          </a:solidFill>
          <a:ln w="15875">
            <a:solidFill>
              <a:srgbClr val="9DAAC9"/>
            </a:solidFill>
            <a:prstDash val="solid"/>
          </a:ln>
        </p:spPr>
      </p:sp>
      <p:sp>
        <p:nvSpPr>
          <p:cNvPr id="12" name="worked-tab"/>
          <p:cNvSpPr/>
          <p:nvPr/>
        </p:nvSpPr>
        <p:spPr>
          <a:xfrm>
            <a:off x="6126480" y="1499616"/>
            <a:ext cx="2377440" cy="457200"/>
          </a:xfrm>
          <a:prstGeom prst="roundRect">
            <a:avLst>
              <a:gd name="adj" fmla="val 40000"/>
            </a:avLst>
          </a:prstGeom>
          <a:solidFill>
            <a:srgbClr val="2E4A8C"/>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Worked example</a:t>
            </a:r>
            <a:endParaRPr lang="en-US" sz="1800" dirty="0"/>
          </a:p>
        </p:txBody>
      </p:sp>
      <p:sp>
        <p:nvSpPr>
          <p:cNvPr id="13" name="worked-q"/>
          <p:cNvSpPr txBox="1"/>
          <p:nvPr/>
        </p:nvSpPr>
        <p:spPr>
          <a:xfrm>
            <a:off x="6126480" y="2066544"/>
            <a:ext cx="5379415" cy="684784"/>
          </a:xfrm>
          <a:prstGeom prst="rect">
            <a:avLst/>
          </a:prstGeom>
          <a:noFill/>
          <a:ln/>
        </p:spPr>
        <p:txBody>
          <a:bodyPr wrap="square" lIns="63500" tIns="63500" rIns="63500" bIns="63500" rtlCol="0" anchor="t"/>
          <a:lstStyle/>
          <a:p>
            <a:pPr algn="l" indent="0" marL="0">
              <a:buNone/>
            </a:pPr>
            <a:r>
              <a:rPr lang="en-US" sz="1800" b="1" dirty="0">
                <a:solidFill>
                  <a:srgbClr val="1E2229"/>
                </a:solidFill>
                <a:latin typeface="Calibri" pitchFamily="34" charset="0"/>
                <a:ea typeface="Calibri" pitchFamily="34" charset="-122"/>
                <a:cs typeface="Calibri" pitchFamily="34" charset="-120"/>
              </a:rPr>
              <a:t>A machine multiplies by 3, then adds 7. The output is 25. What was the input?</a:t>
            </a:r>
            <a:endParaRPr lang="en-US" sz="1800" dirty="0"/>
          </a:p>
        </p:txBody>
      </p:sp>
      <p:sp>
        <p:nvSpPr>
          <p:cNvPr id="14" name="step-box"/>
          <p:cNvSpPr/>
          <p:nvPr/>
        </p:nvSpPr>
        <p:spPr>
          <a:xfrm>
            <a:off x="6126480" y="2888488"/>
            <a:ext cx="5379415" cy="566928"/>
          </a:xfrm>
          <a:prstGeom prst="roundRect">
            <a:avLst>
              <a:gd name="adj" fmla="val 16129"/>
            </a:avLst>
          </a:prstGeom>
          <a:solidFill>
            <a:srgbClr val="F0F2F7"/>
          </a:solidFill>
          <a:ln/>
        </p:spPr>
      </p:sp>
      <p:sp>
        <p:nvSpPr>
          <p:cNvPr id="15" name="step-hex"/>
          <p:cNvSpPr/>
          <p:nvPr/>
        </p:nvSpPr>
        <p:spPr>
          <a:xfrm>
            <a:off x="6217920" y="2989822"/>
            <a:ext cx="420624" cy="364260"/>
          </a:xfrm>
          <a:prstGeom prst="hexagon">
            <a:avLst/>
          </a:prstGeom>
          <a:solidFill>
            <a:srgbClr val="2E4A8C"/>
          </a:solidFill>
          <a:ln/>
        </p:spPr>
      </p:sp>
      <p:sp>
        <p:nvSpPr>
          <p:cNvPr id="16" name="step-hex-label"/>
          <p:cNvSpPr txBox="1"/>
          <p:nvPr/>
        </p:nvSpPr>
        <p:spPr>
          <a:xfrm>
            <a:off x="6217920" y="2989822"/>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7" name="step"/>
          <p:cNvSpPr txBox="1"/>
          <p:nvPr/>
        </p:nvSpPr>
        <p:spPr>
          <a:xfrm>
            <a:off x="6766560" y="2888488"/>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Undo the last function first: 25 − 7 = 18.</a:t>
            </a:r>
            <a:endParaRPr lang="en-US" sz="1800" dirty="0"/>
          </a:p>
        </p:txBody>
      </p:sp>
      <p:sp>
        <p:nvSpPr>
          <p:cNvPr id="18" name="step-box"/>
          <p:cNvSpPr/>
          <p:nvPr/>
        </p:nvSpPr>
        <p:spPr>
          <a:xfrm>
            <a:off x="6126480" y="3546856"/>
            <a:ext cx="5379415" cy="566928"/>
          </a:xfrm>
          <a:prstGeom prst="roundRect">
            <a:avLst>
              <a:gd name="adj" fmla="val 16129"/>
            </a:avLst>
          </a:prstGeom>
          <a:solidFill>
            <a:srgbClr val="F0F2F7"/>
          </a:solidFill>
          <a:ln/>
        </p:spPr>
      </p:sp>
      <p:sp>
        <p:nvSpPr>
          <p:cNvPr id="19" name="step-hex"/>
          <p:cNvSpPr/>
          <p:nvPr/>
        </p:nvSpPr>
        <p:spPr>
          <a:xfrm>
            <a:off x="6217920" y="3648190"/>
            <a:ext cx="420624" cy="364260"/>
          </a:xfrm>
          <a:prstGeom prst="hexagon">
            <a:avLst/>
          </a:prstGeom>
          <a:solidFill>
            <a:srgbClr val="2E4A8C"/>
          </a:solidFill>
          <a:ln/>
        </p:spPr>
      </p:sp>
      <p:sp>
        <p:nvSpPr>
          <p:cNvPr id="20" name="step-hex-label"/>
          <p:cNvSpPr txBox="1"/>
          <p:nvPr/>
        </p:nvSpPr>
        <p:spPr>
          <a:xfrm>
            <a:off x="6217920" y="3648190"/>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1" name="step"/>
          <p:cNvSpPr txBox="1"/>
          <p:nvPr/>
        </p:nvSpPr>
        <p:spPr>
          <a:xfrm>
            <a:off x="6766560" y="3546856"/>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Undo the first function: 18 ÷ 3 = 6.</a:t>
            </a:r>
            <a:endParaRPr lang="en-US" sz="1800" dirty="0"/>
          </a:p>
        </p:txBody>
      </p:sp>
      <p:sp>
        <p:nvSpPr>
          <p:cNvPr id="22" name="step-box"/>
          <p:cNvSpPr/>
          <p:nvPr/>
        </p:nvSpPr>
        <p:spPr>
          <a:xfrm>
            <a:off x="6126480" y="4205224"/>
            <a:ext cx="5379415" cy="794512"/>
          </a:xfrm>
          <a:prstGeom prst="roundRect">
            <a:avLst>
              <a:gd name="adj" fmla="val 11509"/>
            </a:avLst>
          </a:prstGeom>
          <a:solidFill>
            <a:srgbClr val="F0F2F7"/>
          </a:solidFill>
          <a:ln/>
        </p:spPr>
      </p:sp>
      <p:sp>
        <p:nvSpPr>
          <p:cNvPr id="23" name="step-hex"/>
          <p:cNvSpPr/>
          <p:nvPr/>
        </p:nvSpPr>
        <p:spPr>
          <a:xfrm>
            <a:off x="6217920" y="4420350"/>
            <a:ext cx="420624" cy="364260"/>
          </a:xfrm>
          <a:prstGeom prst="hexagon">
            <a:avLst/>
          </a:prstGeom>
          <a:solidFill>
            <a:srgbClr val="2E4A8C"/>
          </a:solidFill>
          <a:ln/>
        </p:spPr>
      </p:sp>
      <p:sp>
        <p:nvSpPr>
          <p:cNvPr id="24" name="step-hex-label"/>
          <p:cNvSpPr txBox="1"/>
          <p:nvPr/>
        </p:nvSpPr>
        <p:spPr>
          <a:xfrm>
            <a:off x="6217920" y="4420350"/>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step"/>
          <p:cNvSpPr txBox="1"/>
          <p:nvPr/>
        </p:nvSpPr>
        <p:spPr>
          <a:xfrm>
            <a:off x="6766560" y="4205224"/>
            <a:ext cx="4739335" cy="79451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Check forwards: 6 × 3 = 18, then 18 + 7 = 25. The input was 6.</a:t>
            </a:r>
            <a:endParaRPr lang="en-US" sz="1800" dirty="0"/>
          </a:p>
        </p:txBody>
      </p:sp>
      <p:sp>
        <p:nvSpPr>
          <p:cNvPr id="26" name="worked-answer"/>
          <p:cNvSpPr/>
          <p:nvPr/>
        </p:nvSpPr>
        <p:spPr>
          <a:xfrm>
            <a:off x="6126480" y="5136896"/>
            <a:ext cx="5379415" cy="552196"/>
          </a:xfrm>
          <a:prstGeom prst="roundRect">
            <a:avLst>
              <a:gd name="adj" fmla="val 33119"/>
            </a:avLst>
          </a:prstGeom>
          <a:solidFill>
            <a:srgbClr val="EFE4D0"/>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6</a:t>
            </a:r>
            <a:endParaRPr lang="en-US" sz="1800" dirty="0"/>
          </a:p>
        </p:txBody>
      </p:sp>
      <p:sp>
        <p:nvSpPr>
          <p:cNvPr id="27" name="bullet-card"/>
          <p:cNvSpPr/>
          <p:nvPr/>
        </p:nvSpPr>
        <p:spPr>
          <a:xfrm>
            <a:off x="548640" y="1389888"/>
            <a:ext cx="5074920" cy="1224111"/>
          </a:xfrm>
          <a:prstGeom prst="roundRect">
            <a:avLst>
              <a:gd name="adj" fmla="val 5976"/>
            </a:avLst>
          </a:prstGeom>
          <a:solidFill>
            <a:srgbClr val="F5F6F9"/>
          </a:solidFill>
          <a:ln/>
        </p:spPr>
      </p:sp>
      <p:sp>
        <p:nvSpPr>
          <p:cNvPr id="28" name="bullet-hex"/>
          <p:cNvSpPr/>
          <p:nvPr/>
        </p:nvSpPr>
        <p:spPr>
          <a:xfrm>
            <a:off x="676656" y="1835651"/>
            <a:ext cx="384048" cy="332586"/>
          </a:xfrm>
          <a:prstGeom prst="hexagon">
            <a:avLst/>
          </a:prstGeom>
          <a:solidFill>
            <a:srgbClr val="2E4A8C"/>
          </a:solidFill>
          <a:ln/>
        </p:spPr>
      </p:sp>
      <p:sp>
        <p:nvSpPr>
          <p:cNvPr id="29" name="bullet"/>
          <p:cNvSpPr txBox="1"/>
          <p:nvPr/>
        </p:nvSpPr>
        <p:spPr>
          <a:xfrm>
            <a:off x="1143000" y="1389888"/>
            <a:ext cx="4389120" cy="1224111"/>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To find the input of a two-step machine, start from the output and work backwards.</a:t>
            </a:r>
            <a:endParaRPr lang="en-US" sz="2200" dirty="0"/>
          </a:p>
        </p:txBody>
      </p:sp>
      <p:sp>
        <p:nvSpPr>
          <p:cNvPr id="30" name="bullet-card"/>
          <p:cNvSpPr/>
          <p:nvPr/>
        </p:nvSpPr>
        <p:spPr>
          <a:xfrm>
            <a:off x="548640" y="2760303"/>
            <a:ext cx="5074920" cy="883243"/>
          </a:xfrm>
          <a:prstGeom prst="roundRect">
            <a:avLst>
              <a:gd name="adj" fmla="val 8282"/>
            </a:avLst>
          </a:prstGeom>
          <a:solidFill>
            <a:srgbClr val="F5F6F9"/>
          </a:solidFill>
          <a:ln/>
        </p:spPr>
      </p:sp>
      <p:sp>
        <p:nvSpPr>
          <p:cNvPr id="31" name="bullet-hex"/>
          <p:cNvSpPr/>
          <p:nvPr/>
        </p:nvSpPr>
        <p:spPr>
          <a:xfrm>
            <a:off x="676656" y="3035631"/>
            <a:ext cx="384048" cy="332586"/>
          </a:xfrm>
          <a:prstGeom prst="hexagon">
            <a:avLst/>
          </a:prstGeom>
          <a:solidFill>
            <a:srgbClr val="B8862B"/>
          </a:solidFill>
          <a:ln/>
        </p:spPr>
      </p:sp>
      <p:sp>
        <p:nvSpPr>
          <p:cNvPr id="32" name="bullet"/>
          <p:cNvSpPr txBox="1"/>
          <p:nvPr/>
        </p:nvSpPr>
        <p:spPr>
          <a:xfrm>
            <a:off x="1143000" y="2760303"/>
            <a:ext cx="4389120" cy="883243"/>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 machine multiplies by 3 and then adds 8. The output is 35.</a:t>
            </a:r>
            <a:endParaRPr lang="en-US" sz="2200" dirty="0"/>
          </a:p>
        </p:txBody>
      </p:sp>
      <p:sp>
        <p:nvSpPr>
          <p:cNvPr id="33" name="bullet-card"/>
          <p:cNvSpPr/>
          <p:nvPr/>
        </p:nvSpPr>
        <p:spPr>
          <a:xfrm>
            <a:off x="548640" y="3789849"/>
            <a:ext cx="5074920" cy="1564979"/>
          </a:xfrm>
          <a:prstGeom prst="roundRect">
            <a:avLst>
              <a:gd name="adj" fmla="val 4674"/>
            </a:avLst>
          </a:prstGeom>
          <a:solidFill>
            <a:srgbClr val="F5F6F9"/>
          </a:solidFill>
          <a:ln/>
        </p:spPr>
      </p:sp>
      <p:sp>
        <p:nvSpPr>
          <p:cNvPr id="34" name="bullet-hex"/>
          <p:cNvSpPr/>
          <p:nvPr/>
        </p:nvSpPr>
        <p:spPr>
          <a:xfrm>
            <a:off x="676656" y="4406046"/>
            <a:ext cx="384048" cy="332586"/>
          </a:xfrm>
          <a:prstGeom prst="hexagon">
            <a:avLst/>
          </a:prstGeom>
          <a:solidFill>
            <a:srgbClr val="2E4A8C"/>
          </a:solidFill>
          <a:ln/>
        </p:spPr>
      </p:sp>
      <p:sp>
        <p:nvSpPr>
          <p:cNvPr id="35" name="bullet"/>
          <p:cNvSpPr txBox="1"/>
          <p:nvPr/>
        </p:nvSpPr>
        <p:spPr>
          <a:xfrm>
            <a:off x="1143000" y="3789849"/>
            <a:ext cx="4389120" cy="156497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Dora says the input of a machine that multiplies by 4 and then adds 8 must be 9 when the output is 36, because 36 ÷ 4 = 9.</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2E4A8C"/>
                </a:solidFill>
                <a:latin typeface="Cambria" pitchFamily="34" charset="0"/>
                <a:ea typeface="Cambria" pitchFamily="34" charset="-122"/>
                <a:cs typeface="Cambria" pitchFamily="34" charset="-120"/>
              </a:rPr>
              <a:t>Same task, three ways in: Output of a two-step machine</a:t>
            </a:r>
            <a:endParaRPr lang="en-US" sz="26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1284732"/>
          </a:xfrm>
          <a:prstGeom prst="roundRect">
            <a:avLst>
              <a:gd name="adj" fmla="val 7117"/>
            </a:avLst>
          </a:prstGeom>
          <a:solidFill>
            <a:srgbClr val="FFFFFF"/>
          </a:solidFill>
          <a:ln w="31750">
            <a:solidFill>
              <a:srgbClr val="B8862B"/>
            </a:solidFill>
            <a:prstDash val="solid"/>
          </a:ln>
        </p:spPr>
      </p:sp>
      <p:sp>
        <p:nvSpPr>
          <p:cNvPr id="8" name="task-hex"/>
          <p:cNvSpPr/>
          <p:nvPr/>
        </p:nvSpPr>
        <p:spPr>
          <a:xfrm>
            <a:off x="777240" y="1715506"/>
            <a:ext cx="731520" cy="633496"/>
          </a:xfrm>
          <a:prstGeom prst="hexagon">
            <a:avLst/>
          </a:prstGeom>
          <a:solidFill>
            <a:srgbClr val="B8862B"/>
          </a:solidFill>
          <a:ln/>
        </p:spPr>
      </p:sp>
      <p:sp>
        <p:nvSpPr>
          <p:cNvPr id="9" name="task-hex-label"/>
          <p:cNvSpPr txBox="1"/>
          <p:nvPr/>
        </p:nvSpPr>
        <p:spPr>
          <a:xfrm>
            <a:off x="777240" y="1715506"/>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757934"/>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1101852"/>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A machine multiplies by 6, then subtracts 14. The input is 9. What is the output?</a:t>
            </a:r>
            <a:endParaRPr lang="en-US" sz="2000" dirty="0"/>
          </a:p>
          <a:p>
            <a:pPr algn="ctr" indent="0" marL="0">
              <a:buNone/>
            </a:pPr>
            <a:r>
              <a:rPr lang="en-US" sz="1800" b="1" dirty="0">
                <a:solidFill>
                  <a:srgbClr val="2E4A8C"/>
                </a:solidFill>
                <a:latin typeface="Calibri" pitchFamily="34" charset="0"/>
                <a:ea typeface="Calibri" pitchFamily="34" charset="-122"/>
                <a:cs typeface="Calibri" pitchFamily="34" charset="-120"/>
              </a:rPr>
              <a:t>Answer:  </a:t>
            </a:r>
            <a:pPr algn="ctr" indent="0" marL="0">
              <a:buNone/>
            </a:pPr>
            <a:r>
              <a:rPr lang="en-US" sz="1800" dirty="0">
                <a:solidFill>
                  <a:srgbClr val="1E2229"/>
                </a:solidFill>
                <a:latin typeface="Calibri" pitchFamily="34" charset="0"/>
                <a:ea typeface="Calibri" pitchFamily="34" charset="-122"/>
                <a:cs typeface="Calibri" pitchFamily="34" charset="-120"/>
              </a:rPr>
              <a:t>__________</a:t>
            </a:r>
            <a:endParaRPr lang="en-US" sz="2000" dirty="0"/>
          </a:p>
        </p:txBody>
      </p:sp>
      <p:sp>
        <p:nvSpPr>
          <p:cNvPr id="12" name="col-Support"/>
          <p:cNvSpPr/>
          <p:nvPr/>
        </p:nvSpPr>
        <p:spPr>
          <a:xfrm>
            <a:off x="548640" y="2948940"/>
            <a:ext cx="4667802" cy="3195828"/>
          </a:xfrm>
          <a:prstGeom prst="roundRect">
            <a:avLst>
              <a:gd name="adj" fmla="val 1717"/>
            </a:avLst>
          </a:prstGeom>
          <a:solidFill>
            <a:srgbClr val="F0F2F7"/>
          </a:solidFill>
          <a:ln/>
        </p:spPr>
      </p:sp>
      <p:sp>
        <p:nvSpPr>
          <p:cNvPr id="13" name="col-hex"/>
          <p:cNvSpPr/>
          <p:nvPr/>
        </p:nvSpPr>
        <p:spPr>
          <a:xfrm>
            <a:off x="658368" y="3022092"/>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985516"/>
            <a:ext cx="3936282" cy="566928"/>
          </a:xfrm>
          <a:prstGeom prst="rect">
            <a:avLst/>
          </a:prstGeom>
          <a:noFill/>
          <a:ln/>
        </p:spPr>
        <p:txBody>
          <a:bodyPr wrap="square" lIns="63500" tIns="63500" rIns="63500" bIns="63500" rtlCol="0" anchor="ctr"/>
          <a:lstStyle/>
          <a:p>
            <a:pPr algn="l" indent="0" marL="0">
              <a:buNone/>
            </a:pPr>
            <a:r>
              <a:rPr lang="en-US" sz="2000" b="1" dirty="0">
                <a:solidFill>
                  <a:srgbClr val="203462"/>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589020"/>
            <a:ext cx="4393482" cy="2446020"/>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2E4A8C"/>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Do function 1 only: 9 × 6. Write the answer in the middle.</a:t>
            </a:r>
            <a:endParaRPr lang="en-US" sz="1800" dirty="0"/>
          </a:p>
          <a:p>
            <a:pPr algn="l" indent="0" marL="0">
              <a:spcAft>
                <a:spcPts val="600"/>
              </a:spcAft>
              <a:buNone/>
            </a:pPr>
            <a:r>
              <a:rPr lang="en-US" sz="1800" b="1" dirty="0">
                <a:solidFill>
                  <a:srgbClr val="2E4A8C"/>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That middle number is the input for function 2.</a:t>
            </a:r>
            <a:endParaRPr lang="en-US" sz="1800" dirty="0"/>
          </a:p>
          <a:p>
            <a:pPr algn="l" indent="0" marL="0">
              <a:spcAft>
                <a:spcPts val="600"/>
              </a:spcAft>
              <a:buNone/>
            </a:pPr>
            <a:r>
              <a:rPr lang="en-US" sz="1800" b="1" dirty="0">
                <a:solidFill>
                  <a:srgbClr val="2E4A8C"/>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Do function 2: take 14 away from the middle number.</a:t>
            </a:r>
            <a:endParaRPr lang="en-US" sz="1800" dirty="0"/>
          </a:p>
          <a:p>
            <a:pPr algn="l" indent="0" marL="0">
              <a:spcAft>
                <a:spcPts val="600"/>
              </a:spcAft>
              <a:buNone/>
            </a:pPr>
            <a:r>
              <a:rPr lang="en-US" sz="1800" b="1" dirty="0">
                <a:solidFill>
                  <a:srgbClr val="2E4A8C"/>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answer from function 2 is the output.</a:t>
            </a:r>
            <a:endParaRPr lang="en-US" sz="1800" dirty="0"/>
          </a:p>
        </p:txBody>
      </p:sp>
      <p:sp>
        <p:nvSpPr>
          <p:cNvPr id="17" name="col-Core"/>
          <p:cNvSpPr/>
          <p:nvPr/>
        </p:nvSpPr>
        <p:spPr>
          <a:xfrm>
            <a:off x="5490762" y="2948940"/>
            <a:ext cx="2938987" cy="3195828"/>
          </a:xfrm>
          <a:prstGeom prst="roundRect">
            <a:avLst>
              <a:gd name="adj" fmla="val 1867"/>
            </a:avLst>
          </a:prstGeom>
          <a:solidFill>
            <a:srgbClr val="D7DDE9"/>
          </a:solidFill>
          <a:ln/>
        </p:spPr>
      </p:sp>
      <p:sp>
        <p:nvSpPr>
          <p:cNvPr id="18" name="col-hex"/>
          <p:cNvSpPr/>
          <p:nvPr/>
        </p:nvSpPr>
        <p:spPr>
          <a:xfrm>
            <a:off x="5600490" y="3022092"/>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985516"/>
            <a:ext cx="2207467" cy="566928"/>
          </a:xfrm>
          <a:prstGeom prst="rect">
            <a:avLst/>
          </a:prstGeom>
          <a:noFill/>
          <a:ln/>
        </p:spPr>
        <p:txBody>
          <a:bodyPr wrap="square" lIns="63500" tIns="63500" rIns="63500" bIns="63500" rtlCol="0" anchor="ctr"/>
          <a:lstStyle/>
          <a:p>
            <a:pPr algn="l" indent="0" marL="0">
              <a:buNone/>
            </a:pPr>
            <a:r>
              <a:rPr lang="en-US" sz="2000" b="1" dirty="0">
                <a:solidFill>
                  <a:srgbClr val="203462"/>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589020"/>
            <a:ext cx="2664667" cy="2446020"/>
          </a:xfrm>
          <a:prstGeom prst="rect">
            <a:avLst/>
          </a:prstGeom>
          <a:noFill/>
          <a:ln/>
        </p:spPr>
        <p:txBody>
          <a:bodyPr wrap="square" lIns="63500" tIns="63500" rIns="63500" bIns="63500" rtlCol="0" anchor="t"/>
          <a:lstStyle/>
          <a:p>
            <a:pPr algn="l" indent="0" marL="0">
              <a:buNone/>
            </a:pPr>
            <a:r>
              <a:rPr lang="en-US" sz="1800" b="1" dirty="0">
                <a:solidFill>
                  <a:srgbClr val="253B70"/>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Work out 9 × 6 first and write it down.</a:t>
            </a:r>
            <a:endParaRPr lang="en-US" sz="1800" dirty="0"/>
          </a:p>
        </p:txBody>
      </p:sp>
      <p:sp>
        <p:nvSpPr>
          <p:cNvPr id="22" name="col-Stretch"/>
          <p:cNvSpPr/>
          <p:nvPr/>
        </p:nvSpPr>
        <p:spPr>
          <a:xfrm>
            <a:off x="8704069" y="2948940"/>
            <a:ext cx="2938987" cy="3195828"/>
          </a:xfrm>
          <a:prstGeom prst="roundRect">
            <a:avLst>
              <a:gd name="adj" fmla="val 1867"/>
            </a:avLst>
          </a:prstGeom>
          <a:solidFill>
            <a:srgbClr val="2E4A8C"/>
          </a:solidFill>
          <a:ln/>
        </p:spPr>
      </p:sp>
      <p:sp>
        <p:nvSpPr>
          <p:cNvPr id="23" name="col-hex"/>
          <p:cNvSpPr/>
          <p:nvPr/>
        </p:nvSpPr>
        <p:spPr>
          <a:xfrm>
            <a:off x="8813797" y="3022092"/>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985516"/>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589020"/>
            <a:ext cx="2664667" cy="2446020"/>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Swap the two functions round so the machine subtracts 14 first and then multiplies by 6. Work out the output for an input of 9, and explain why it is different.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Same task, three ways in: Write the expression</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74852"/>
          </a:xfrm>
          <a:prstGeom prst="roundRect">
            <a:avLst>
              <a:gd name="adj" fmla="val 9380"/>
            </a:avLst>
          </a:prstGeom>
          <a:solidFill>
            <a:srgbClr val="FFFFFF"/>
          </a:solidFill>
          <a:ln w="31750">
            <a:solidFill>
              <a:srgbClr val="B8862B"/>
            </a:solidFill>
            <a:prstDash val="solid"/>
          </a:ln>
        </p:spPr>
      </p:sp>
      <p:sp>
        <p:nvSpPr>
          <p:cNvPr id="8" name="task-hex"/>
          <p:cNvSpPr/>
          <p:nvPr/>
        </p:nvSpPr>
        <p:spPr>
          <a:xfrm>
            <a:off x="777240" y="1560566"/>
            <a:ext cx="731520" cy="633496"/>
          </a:xfrm>
          <a:prstGeom prst="hexagon">
            <a:avLst/>
          </a:prstGeom>
          <a:solidFill>
            <a:srgbClr val="B8862B"/>
          </a:solidFill>
          <a:ln/>
        </p:spPr>
      </p:sp>
      <p:sp>
        <p:nvSpPr>
          <p:cNvPr id="9" name="task-hex-label"/>
          <p:cNvSpPr txBox="1"/>
          <p:nvPr/>
        </p:nvSpPr>
        <p:spPr>
          <a:xfrm>
            <a:off x="777240" y="1560566"/>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602994"/>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91972"/>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A machine multiplies by 5, then adds 8. The input is d. What is the output?</a:t>
            </a:r>
            <a:endParaRPr lang="en-US" sz="2000" dirty="0"/>
          </a:p>
          <a:p>
            <a:pPr algn="ctr" indent="0" marL="0">
              <a:buNone/>
            </a:pPr>
            <a:r>
              <a:rPr lang="en-US" sz="1800" b="1" dirty="0">
                <a:solidFill>
                  <a:srgbClr val="B8862B"/>
                </a:solidFill>
                <a:latin typeface="Calibri" pitchFamily="34" charset="0"/>
                <a:ea typeface="Calibri" pitchFamily="34" charset="-122"/>
                <a:cs typeface="Calibri" pitchFamily="34" charset="-120"/>
              </a:rPr>
              <a:t>A  </a:t>
            </a:r>
            <a:pPr algn="ctr" indent="0" marL="0">
              <a:buNone/>
            </a:pPr>
            <a:r>
              <a:rPr lang="en-US" sz="1800" dirty="0">
                <a:solidFill>
                  <a:srgbClr val="1E2229"/>
                </a:solidFill>
                <a:latin typeface="Calibri" pitchFamily="34" charset="0"/>
                <a:ea typeface="Calibri" pitchFamily="34" charset="-122"/>
                <a:cs typeface="Calibri" pitchFamily="34" charset="-120"/>
              </a:rPr>
              <a:t>13d      </a:t>
            </a:r>
            <a:pPr algn="ctr" indent="0" marL="0">
              <a:buNone/>
            </a:pPr>
            <a:r>
              <a:rPr lang="en-US" sz="1800" b="1" dirty="0">
                <a:solidFill>
                  <a:srgbClr val="B8862B"/>
                </a:solidFill>
                <a:latin typeface="Calibri" pitchFamily="34" charset="0"/>
                <a:ea typeface="Calibri" pitchFamily="34" charset="-122"/>
                <a:cs typeface="Calibri" pitchFamily="34" charset="-120"/>
              </a:rPr>
              <a:t>B  </a:t>
            </a:r>
            <a:pPr algn="ctr" indent="0" marL="0">
              <a:buNone/>
            </a:pPr>
            <a:r>
              <a:rPr lang="en-US" sz="1800" dirty="0">
                <a:solidFill>
                  <a:srgbClr val="1E2229"/>
                </a:solidFill>
                <a:latin typeface="Calibri" pitchFamily="34" charset="0"/>
                <a:ea typeface="Calibri" pitchFamily="34" charset="-122"/>
                <a:cs typeface="Calibri" pitchFamily="34" charset="-120"/>
              </a:rPr>
              <a:t>5(d + 8)      </a:t>
            </a:r>
            <a:pPr algn="ctr" indent="0" marL="0">
              <a:buNone/>
            </a:pPr>
            <a:r>
              <a:rPr lang="en-US" sz="1800" b="1" dirty="0">
                <a:solidFill>
                  <a:srgbClr val="B8862B"/>
                </a:solidFill>
                <a:latin typeface="Calibri" pitchFamily="34" charset="0"/>
                <a:ea typeface="Calibri" pitchFamily="34" charset="-122"/>
                <a:cs typeface="Calibri" pitchFamily="34" charset="-120"/>
              </a:rPr>
              <a:t>C  </a:t>
            </a:r>
            <a:pPr algn="ctr" indent="0" marL="0">
              <a:buNone/>
            </a:pPr>
            <a:r>
              <a:rPr lang="en-US" sz="1800" dirty="0">
                <a:solidFill>
                  <a:srgbClr val="1E2229"/>
                </a:solidFill>
                <a:latin typeface="Calibri" pitchFamily="34" charset="0"/>
                <a:ea typeface="Calibri" pitchFamily="34" charset="-122"/>
                <a:cs typeface="Calibri" pitchFamily="34" charset="-120"/>
              </a:rPr>
              <a:t>d + 40      </a:t>
            </a:r>
            <a:pPr algn="ctr" indent="0" marL="0">
              <a:buNone/>
            </a:pPr>
            <a:r>
              <a:rPr lang="en-US" sz="1800" b="1" dirty="0">
                <a:solidFill>
                  <a:srgbClr val="B8862B"/>
                </a:solidFill>
                <a:latin typeface="Calibri" pitchFamily="34" charset="0"/>
                <a:ea typeface="Calibri" pitchFamily="34" charset="-122"/>
                <a:cs typeface="Calibri" pitchFamily="34" charset="-120"/>
              </a:rPr>
              <a:t>D  </a:t>
            </a:r>
            <a:pPr algn="ctr" indent="0" marL="0">
              <a:buNone/>
            </a:pPr>
            <a:r>
              <a:rPr lang="en-US" sz="1800" dirty="0">
                <a:solidFill>
                  <a:srgbClr val="1E2229"/>
                </a:solidFill>
                <a:latin typeface="Calibri" pitchFamily="34" charset="0"/>
                <a:ea typeface="Calibri" pitchFamily="34" charset="-122"/>
                <a:cs typeface="Calibri" pitchFamily="34" charset="-120"/>
              </a:rPr>
              <a:t>5d + 8</a:t>
            </a:r>
            <a:endParaRPr lang="en-US" sz="2000" dirty="0"/>
          </a:p>
        </p:txBody>
      </p:sp>
      <p:sp>
        <p:nvSpPr>
          <p:cNvPr id="12" name="col-Support"/>
          <p:cNvSpPr/>
          <p:nvPr/>
        </p:nvSpPr>
        <p:spPr>
          <a:xfrm>
            <a:off x="548640" y="2639060"/>
            <a:ext cx="3515258" cy="3505708"/>
          </a:xfrm>
          <a:prstGeom prst="roundRect">
            <a:avLst>
              <a:gd name="adj" fmla="val 1565"/>
            </a:avLst>
          </a:prstGeom>
          <a:solidFill>
            <a:srgbClr val="F0F2F7"/>
          </a:solidFill>
          <a:ln/>
        </p:spPr>
      </p:sp>
      <p:sp>
        <p:nvSpPr>
          <p:cNvPr id="13" name="col-hex"/>
          <p:cNvSpPr/>
          <p:nvPr/>
        </p:nvSpPr>
        <p:spPr>
          <a:xfrm>
            <a:off x="658368" y="2712212"/>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71221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75636"/>
            <a:ext cx="2783738" cy="566928"/>
          </a:xfrm>
          <a:prstGeom prst="rect">
            <a:avLst/>
          </a:prstGeom>
          <a:noFill/>
          <a:ln/>
        </p:spPr>
        <p:txBody>
          <a:bodyPr wrap="square" lIns="63500" tIns="63500" rIns="63500" bIns="63500" rtlCol="0" anchor="ctr"/>
          <a:lstStyle/>
          <a:p>
            <a:pPr algn="l" indent="0" marL="0">
              <a:buNone/>
            </a:pPr>
            <a:r>
              <a:rPr lang="en-US" sz="2000" b="1" dirty="0">
                <a:solidFill>
                  <a:srgbClr val="203462"/>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79140"/>
            <a:ext cx="3240938" cy="2755900"/>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2E4A8C"/>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Try it with a number first: 2 × 5 = 10, then 10 + 8 = 18.</a:t>
            </a:r>
            <a:endParaRPr lang="en-US" sz="1800" dirty="0"/>
          </a:p>
          <a:p>
            <a:pPr algn="l" indent="0" marL="0">
              <a:spcAft>
                <a:spcPts val="600"/>
              </a:spcAft>
              <a:buNone/>
            </a:pPr>
            <a:r>
              <a:rPr lang="en-US" sz="1800" b="1" dirty="0">
                <a:solidFill>
                  <a:srgbClr val="2E4A8C"/>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Now use the letter. Function 1: d × 5 gives 5d.</a:t>
            </a:r>
            <a:endParaRPr lang="en-US" sz="1800" dirty="0"/>
          </a:p>
          <a:p>
            <a:pPr algn="l" indent="0" marL="0">
              <a:spcAft>
                <a:spcPts val="600"/>
              </a:spcAft>
              <a:buNone/>
            </a:pPr>
            <a:r>
              <a:rPr lang="en-US" sz="1800" b="1" dirty="0">
                <a:solidFill>
                  <a:srgbClr val="2E4A8C"/>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Function 2: add 8 to 5d, giving 5d + 8.</a:t>
            </a:r>
            <a:endParaRPr lang="en-US" sz="1800" dirty="0"/>
          </a:p>
          <a:p>
            <a:pPr algn="l" indent="0" marL="0">
              <a:spcAft>
                <a:spcPts val="600"/>
              </a:spcAft>
              <a:buNone/>
            </a:pPr>
            <a:r>
              <a:rPr lang="en-US" sz="1800" b="1" dirty="0">
                <a:solidFill>
                  <a:srgbClr val="2E4A8C"/>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No brackets are needed, because the adding came last.</a:t>
            </a:r>
            <a:endParaRPr lang="en-US" sz="1800" dirty="0"/>
          </a:p>
        </p:txBody>
      </p:sp>
      <p:sp>
        <p:nvSpPr>
          <p:cNvPr id="17" name="col-Core"/>
          <p:cNvSpPr/>
          <p:nvPr/>
        </p:nvSpPr>
        <p:spPr>
          <a:xfrm>
            <a:off x="4338218" y="2639060"/>
            <a:ext cx="3515258" cy="3505708"/>
          </a:xfrm>
          <a:prstGeom prst="roundRect">
            <a:avLst>
              <a:gd name="adj" fmla="val 1565"/>
            </a:avLst>
          </a:prstGeom>
          <a:solidFill>
            <a:srgbClr val="D7DDE9"/>
          </a:solidFill>
          <a:ln/>
        </p:spPr>
      </p:sp>
      <p:sp>
        <p:nvSpPr>
          <p:cNvPr id="18" name="col-hex"/>
          <p:cNvSpPr/>
          <p:nvPr/>
        </p:nvSpPr>
        <p:spPr>
          <a:xfrm>
            <a:off x="4447946" y="2712212"/>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4447946" y="271221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4978298" y="2675636"/>
            <a:ext cx="2783738" cy="566928"/>
          </a:xfrm>
          <a:prstGeom prst="rect">
            <a:avLst/>
          </a:prstGeom>
          <a:noFill/>
          <a:ln/>
        </p:spPr>
        <p:txBody>
          <a:bodyPr wrap="square" lIns="63500" tIns="63500" rIns="63500" bIns="63500" rtlCol="0" anchor="ctr"/>
          <a:lstStyle/>
          <a:p>
            <a:pPr algn="l" indent="0" marL="0">
              <a:buNone/>
            </a:pPr>
            <a:r>
              <a:rPr lang="en-US" sz="2000" b="1" dirty="0">
                <a:solidFill>
                  <a:srgbClr val="203462"/>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4475378" y="3279140"/>
            <a:ext cx="3240938" cy="2755900"/>
          </a:xfrm>
          <a:prstGeom prst="rect">
            <a:avLst/>
          </a:prstGeom>
          <a:noFill/>
          <a:ln/>
        </p:spPr>
        <p:txBody>
          <a:bodyPr wrap="square" lIns="63500" tIns="63500" rIns="63500" bIns="63500" rtlCol="0" anchor="t"/>
          <a:lstStyle/>
          <a:p>
            <a:pPr algn="l" indent="0" marL="0">
              <a:buNone/>
            </a:pPr>
            <a:r>
              <a:rPr lang="en-US" sz="1800" b="1" dirty="0">
                <a:solidFill>
                  <a:srgbClr val="253B70"/>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What is d after the first function? Then add 8 to that.</a:t>
            </a:r>
            <a:endParaRPr lang="en-US" sz="1800" dirty="0"/>
          </a:p>
        </p:txBody>
      </p:sp>
      <p:sp>
        <p:nvSpPr>
          <p:cNvPr id="22" name="col-Stretch"/>
          <p:cNvSpPr/>
          <p:nvPr/>
        </p:nvSpPr>
        <p:spPr>
          <a:xfrm>
            <a:off x="8127797" y="2639060"/>
            <a:ext cx="3515258" cy="3505708"/>
          </a:xfrm>
          <a:prstGeom prst="roundRect">
            <a:avLst>
              <a:gd name="adj" fmla="val 1565"/>
            </a:avLst>
          </a:prstGeom>
          <a:solidFill>
            <a:srgbClr val="2E4A8C"/>
          </a:solidFill>
          <a:ln/>
        </p:spPr>
      </p:sp>
      <p:sp>
        <p:nvSpPr>
          <p:cNvPr id="23" name="col-hex"/>
          <p:cNvSpPr/>
          <p:nvPr/>
        </p:nvSpPr>
        <p:spPr>
          <a:xfrm>
            <a:off x="8237525" y="2712212"/>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237525" y="271221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8767877" y="2675636"/>
            <a:ext cx="278373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264957" y="3279140"/>
            <a:ext cx="3240938" cy="2755900"/>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Whitney and Ron put d through a machine that adds 8 first and then multiplies by 5. Whitney writes 5d + 8 and Ron writes 5(d + 8). Who is right? Explain using d = 1.</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2E4A8C"/>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2E4A8C"/>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870712"/>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A machine adds 5, then multiplies by 3. The output is 27. What was the input?</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7F8FA"/>
          </a:solidFill>
          <a:ln w="12700">
            <a:solidFill>
              <a:srgbClr val="9DAAC9"/>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Answers: Output of a two-step machine</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 machine multiplies by 6, then subtracts 14. The input is 9. What is the output?</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40</a:t>
            </a:r>
            <a:endParaRPr lang="en-US" sz="1800" dirty="0"/>
          </a:p>
        </p:txBody>
      </p:sp>
      <p:sp>
        <p:nvSpPr>
          <p:cNvPr id="10" name="why-panel"/>
          <p:cNvSpPr/>
          <p:nvPr/>
        </p:nvSpPr>
        <p:spPr>
          <a:xfrm>
            <a:off x="7223760" y="1389888"/>
            <a:ext cx="4419295" cy="4754880"/>
          </a:xfrm>
          <a:prstGeom prst="roundRect">
            <a:avLst>
              <a:gd name="adj" fmla="val 1035"/>
            </a:avLst>
          </a:prstGeom>
          <a:solidFill>
            <a:srgbClr val="F0F2F7"/>
          </a:solidFill>
          <a:ln/>
        </p:spPr>
      </p:sp>
      <p:sp>
        <p:nvSpPr>
          <p:cNvPr id="11" name="why-hex"/>
          <p:cNvSpPr/>
          <p:nvPr/>
        </p:nvSpPr>
        <p:spPr>
          <a:xfrm>
            <a:off x="7406640" y="1572768"/>
            <a:ext cx="685800" cy="593903"/>
          </a:xfrm>
          <a:prstGeom prst="hexagon">
            <a:avLst/>
          </a:prstGeom>
          <a:solidFill>
            <a:srgbClr val="2E4A8C"/>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Function 1: 9 × 6 = 54. Function 2: 54 − 14 = 40.</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Answers: Write the expression</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 machine multiplies by 5, then adds 8. The input is d. What is the output?</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D   5d + 8</a:t>
            </a:r>
            <a:endParaRPr lang="en-US" sz="1800" dirty="0"/>
          </a:p>
        </p:txBody>
      </p:sp>
      <p:sp>
        <p:nvSpPr>
          <p:cNvPr id="10" name="why-panel"/>
          <p:cNvSpPr/>
          <p:nvPr/>
        </p:nvSpPr>
        <p:spPr>
          <a:xfrm>
            <a:off x="7223760" y="1389888"/>
            <a:ext cx="4419295" cy="4754880"/>
          </a:xfrm>
          <a:prstGeom prst="roundRect">
            <a:avLst>
              <a:gd name="adj" fmla="val 1035"/>
            </a:avLst>
          </a:prstGeom>
          <a:solidFill>
            <a:srgbClr val="F0F2F7"/>
          </a:solidFill>
          <a:ln/>
        </p:spPr>
      </p:sp>
      <p:sp>
        <p:nvSpPr>
          <p:cNvPr id="11" name="why-hex"/>
          <p:cNvSpPr/>
          <p:nvPr/>
        </p:nvSpPr>
        <p:spPr>
          <a:xfrm>
            <a:off x="7406640" y="1572768"/>
            <a:ext cx="685800" cy="593903"/>
          </a:xfrm>
          <a:prstGeom prst="hexagon">
            <a:avLst/>
          </a:prstGeom>
          <a:solidFill>
            <a:srgbClr val="2E4A8C"/>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first function turns d into 5d. The second adds 8 on the end: 5d + 8.</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 machine adds 5, then multiplies by 3. The output is 27. What was the input?</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4</a:t>
            </a:r>
            <a:endParaRPr lang="en-US" sz="1800" dirty="0"/>
          </a:p>
        </p:txBody>
      </p:sp>
      <p:sp>
        <p:nvSpPr>
          <p:cNvPr id="10" name="why-panel"/>
          <p:cNvSpPr/>
          <p:nvPr/>
        </p:nvSpPr>
        <p:spPr>
          <a:xfrm>
            <a:off x="7223760" y="1389888"/>
            <a:ext cx="4419295" cy="4754880"/>
          </a:xfrm>
          <a:prstGeom prst="roundRect">
            <a:avLst>
              <a:gd name="adj" fmla="val 1035"/>
            </a:avLst>
          </a:prstGeom>
          <a:solidFill>
            <a:srgbClr val="F0F2F7"/>
          </a:solidFill>
          <a:ln/>
        </p:spPr>
      </p:sp>
      <p:sp>
        <p:nvSpPr>
          <p:cNvPr id="11" name="why-hex"/>
          <p:cNvSpPr/>
          <p:nvPr/>
        </p:nvSpPr>
        <p:spPr>
          <a:xfrm>
            <a:off x="7406640" y="1572768"/>
            <a:ext cx="685800" cy="593903"/>
          </a:xfrm>
          <a:prstGeom prst="hexagon">
            <a:avLst/>
          </a:prstGeom>
          <a:solidFill>
            <a:srgbClr val="2E4A8C"/>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Undo the × 3: 27 ÷ 3 = 9. Undo the + 5: 9 − 5 = 4. Check: 4 + 5 = 9, then 9 × 3 = 27.</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Ad Astra maths">
  <a:themeElements>
    <a:clrScheme name="Ad Astra maths">
      <a:dk1>
        <a:srgbClr val="1E2229"/>
      </a:dk1>
      <a:lt1>
        <a:srgbClr val="FFFFFF"/>
      </a:lt1>
      <a:dk2>
        <a:srgbClr val="253B70"/>
      </a:dk2>
      <a:lt2>
        <a:srgbClr val="F0F2F7"/>
      </a:lt2>
      <a:accent1>
        <a:srgbClr val="2E4A8C"/>
      </a:accent1>
      <a:accent2>
        <a:srgbClr val="B8862B"/>
      </a:accent2>
      <a:accent3>
        <a:srgbClr val="8292BA"/>
      </a:accent3>
      <a:accent4>
        <a:srgbClr val="815E1E"/>
      </a:accent4>
      <a:accent5>
        <a:srgbClr val="4A505C"/>
      </a:accent5>
      <a:accent6>
        <a:srgbClr val="DEC69B"/>
      </a:accent6>
      <a:hlink>
        <a:srgbClr val="2E4A8C"/>
      </a:hlink>
      <a:folHlink>
        <a:srgbClr val="203462"/>
      </a:folHlink>
    </a:clrScheme>
    <a:fontScheme name="Ad Astra math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Algebraic Notation and Substitution · Chapter 4: Two-step function machines</dc:title>
  <dc:subject>Mathematics · Year 7</dc:subject>
  <dc:creator>Dr Vitor Merissi de Carvalho</dc:creator>
  <cp:lastModifiedBy>Dr Vitor Merissi de Carvalho</cp:lastModifiedBy>
  <cp:revision>1</cp:revision>
  <dcterms:created xsi:type="dcterms:W3CDTF">2026-10-19T06:08:09Z</dcterms:created>
  <dcterms:modified xsi:type="dcterms:W3CDTF">2026-10-19T06:08:09Z</dcterms:modified>
</cp:coreProperties>
</file>