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b86477a-9c00-fb80-91a5-c9c432ef6eab}">
          <p14:sldIdLst>
            <p14:sldId id="256"/>
          </p14:sldIdLst>
        </p14:section>
        <p14:section name="Gate" id="{3e05229f-d679-1e8c-e73a-2a889d537916}">
          <p14:sldIdLst>
            <p14:sldId id="257"/>
            <p14:sldId id="258"/>
          </p14:sldIdLst>
        </p14:section>
        <p14:section name="Pre-teach" id="{be6ffd97-1e2a-1579-dcf4-fc8a02f223f8}">
          <p14:sldIdLst>
            <p14:sldId id="259"/>
            <p14:sldId id="260"/>
          </p14:sldIdLst>
        </p14:section>
        <p14:section name="Read-along" id="{4cf1854d-13e3-6180-e5e7-035fe9d4a009}">
          <p14:sldIdLst>
            <p14:sldId id="261"/>
            <p14:sldId id="262"/>
          </p14:sldIdLst>
        </p14:section>
        <p14:section name="Teach" id="{9b167b9b-5066-92bf-1d98-473682014fbc}">
          <p14:sldIdLst>
            <p14:sldId id="263"/>
            <p14:sldId id="264"/>
            <p14:sldId id="265"/>
          </p14:sldIdLst>
        </p14:section>
        <p14:section name="Routes" id="{4319a289-0508-96bf-a6ce-83f1acd41a95}">
          <p14:sldIdLst>
            <p14:sldId id="266"/>
            <p14:sldId id="267"/>
            <p14:sldId id="268"/>
          </p14:sldIdLst>
        </p14:section>
        <p14:section name="Close" id="{d3cd647e-2401-7a14-90a1-80e47456f3a6}">
          <p14:sldIdLst>
            <p14:sldId id="269"/>
          </p14:sldIdLst>
        </p14:section>
        <p14:section name="Answers" id="{7eb3ffa9-36fc-045a-18aa-0724d0220c03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5 of 6: Finding a two-step function. Read an expression as a pair of instructions, and work out which function a machine is missing.
This deck covers the department's lesson: 7 (Find a function (two step): How do we read an expression as a pair of instructions and find a missing function?).
Read the big question aloud: "How can a function machine help us write, read and use algebra?" We come back to it at the exit ticket.
Before this lesson the pre-teach group has heard the read-along and met the key words; today they lead the reading. Lesson shape: do now (recall before any help), key words, read-along, teach, then the same task three ways in (Support, Core, Stretch), exit ticket, answers. Every pupil works towards the same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now — retrieval. Silent, no notes, no help: recall comes before any support. Give about four minutes.
1. Which pair of functions turns m into 4m + 9?  →  C   Multiply by 4, then add 9
2. Which expression means: add 3, then divide by 8?  →  C   (x + 3)/8
3. Work out 6 × (4 + 5).  →  54
Circulate: who gets 3/3 (Stretch route), 2/3 (Core), 0–1 (Support)? Use this to route pupils later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pupils mark their own in a different colour, then hands up for 3/3, 2/3, 1/3.
1. C   Multiply by 4, then add 9. 4m shows that m was multiplied by 4. The + 9 shows that 9 was added afterwards.
2. C   (x + 3)/8. Add 3 to get x + 3. Divide the whole of it by 8: (x + 3)/8.
3. 54. Brackets first: 4 + 5 = 9. Then 6 × 9 = 54.
Say the route each score points to: 3/3 Stretch, 2/3 Core, 0–1 Support. Pupils may choose to move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words. Ask the pre-teach group first: they met these words before the lesson, so they give the meaning before anyone else.
For each word: say it, pupils repeat it, read the meaning, then read the example sentence together.
• order of operations: brackets first, then × and ÷, then + and −. Example: "By the order of operations, 4 × 5 + 3 is 23, not 32."
• instruction: one step a machine does, such as add 2. Example: "7m + 4 gives two instructions: multiply by 7, then add 4."
• missing function: a function you have to work out from the input and the output. Example: "The missing function turns 7x into 7x − 3."
Recall before help: cover the meanings and ask pupils to define one word from memory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words. Ask the pre-teach group first: they met these words before the lesson, so they give the meaning before anyone else.
For each word: say it, pupils repeat it, read the meaning, then read the example sentence together.
• equivalent: worth the same for every value of the letter. Example: "2(x + 4) and 2x + 8 are equivalent."
• one-step machine: a machine with a single function. Example: "Multiply by 2 then multiply by 6 is the same as a one-step machine that multiplies by 12."
Recall before help: cover the meanings and ask pupils to define one word from memory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1–6 of 12:
1. Sometimes a machine is missing a function.
2. You know the input and the output.
3. You have to work out what the machine does.
4. If p goes in and 5p + 7 comes out, look at the output.
5. The 5p tells you p was multiplied by 5.
6. The + 7 tells you 7 was added after that.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7–12 of 12:
7. Brackets change the story.
8. 7(m + 5) means add 5 first, then multiply by 7.
9. 7m + 5 means multiply by 7 first, then add 5.
10. A fraction means divide.
11. The expression with p + 6 on top and 3 underneath means add 6, then divide by 3.
12. Read every expression like a list of instructions.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Reading an expression as instructions. Say it in your own words, then check understanding with a quick question: ask a pupil from the pre-teach group first, since they met these words and ideas before the lesson. Pupils try to recall before you re-explain.
An expression is a record of what a machine did. 7m + 4 says: multiply m by 7, then add 4. 7(m + 4) says: add 4 to m, then multiply the whole thing by 7. The brackets tell you the adding came first.
Fractions work the same way. m/7 + 4 says divide by 7, then add 4. (m + 4)/7 says add 4, then divide by 7, because the whole of m + 4 is on top.
This is the order of operations at work. Without brackets, multiplying and dividing happen before adding and subtracting: 4 × 5 + 3 = 23. With brackets, the bracket comes first: 4 × (5 + 3) = 32.
Worked example — model it step by step, thinking aloud: Work out 3 × 7 + 2 and 3 × (7 + 2). (1) Without brackets, multiply first: 3 × 7 = 21, then 21 + 2 = 23. (2) With brackets, do the bracket first: 7 + 2 = 9, then 3 × 9 = 27. Answer: 23, 27.
Tip: Read the expression from the letter outwards: what happened to m first?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Which function is missing?. Say it in your own words, then check understanding with a quick question: ask a pupil from the pre-teach group first, since they met these words and ideas before the lesson. Pupils try to recall before you re-explain.
Suppose x goes in, the first function is multiply by 5, and the output is 5x + 7. After the first function you have 5x. To get from 5x to 5x + 7 you add 7. The missing second function is add 7.
Suppose p goes in, the output is (p + 6)/3, and the second function is missing. The first function must be add 6, because p + 6 is on top of the fraction. The whole of p + 6 was then divided by 3. The missing function is divide by 3.
Max sees h go in, come out as 5h + 9, and writes the functions as ÷ 5 and − 9. He has written the inverses, the steps you would use to go backwards. The functions themselves are × 5 and + 9.
Worked example — model it step by step, thinking aloud: The input is k. The first function is multiply by 6 and the output is 6k − 5. What is the second function? (1) After multiply by 6, k has become 6k. (2) Compare 6k with the output 6k − 5. (3) A 5 has been taken away, so the second function is subtract 5. Answer: − 5.
Tip: Write the functions, not the inverses. The inverses are for going backwards.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Same machine, different look. Say it in your own words, then check understanding with a quick question: ask a pupil from the pre-teach group first, since they met these words and ideas before the lesson. Pupils try to recall before you re-explain.
Two different-looking machines can always give the same output. Add 4 and then multiply by 2 gives 2(x + 4). Multiply by 2 and then add 8 gives 2x + 8. Try x = 1: both give 10. Try x = 5: both give 18. The two expressions are equivalent.
Two multiplications can be squashed into one. Multiply by 2 and then multiply by 6 is the same as multiply by 12, because 2 × 6 = 12. Amir is right that this two-step machine can be written as a one-step machine.
Watch the wording. Nijah puts x through × 5 and then 'subtracted from 20' and gets 20 − 5x. Mo says the second function is − 20, which would give 5x − 20. Those are different, so Nijah is right. 'Subtracted from 20' means 20 take away your number.
Worked example — model it step by step, thinking aloud: A machine multiplies by 2, then multiplies by 6. The input is x. Write the output as a single term. (1) After the first step: 2x. (2) Multiply 2x by 6: 2 × 6 = 12, so you have 12x. (3) The same output comes from a one-step machine that multiplies by 12. Answer: 12x.
Tip: To test whether two machines match, put the same number through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1: Match the instructions.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Match each expression to the instructions it gives.
Support — work through the steps with the group: (1) Start with the letter n and ask what happened to it first. (2) A number in front of n, or n alone on top of a fraction, means × or ÷ came first. (3) Brackets, or n + 2 on top of a fraction, mean the adding came first. (4) Check each pair by following the instructions from n.
Parallel worked example for Support (model it, do not give the task answer): Which instructions does 3(n − 4) give? The brackets hold n − 4, so subtract 4 came first.; The 3 outside multiplies the whole bracket.; Instructions: subtract 4, then multiply by 3.. Answer: subtract 4, then multiply by 3.
Core — reveal the hint only on request: Brackets or a fraction line that covers n + 2 mean add 2 came first.
Stretch — no help; when finished: Write the instructions for 2(n − 7) and for 2n − 7, then explain to Max why they are different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1: Match the instructions.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Match each expression to the instructions it gives.
Support — work through the steps with the group: (1) Start with the letter n and ask what happened to it first. (2) A number in front of n, or n alone on top of a fraction, means × or ÷ came first. (3) Brackets, or n + 2 on top of a fraction, mean the adding came first. (4) Check each pair by following the instructions from n.
Parallel worked example for Support (model it, do not give the task answer): Which instructions does 3(n − 4) give? The brackets hold n − 4, so subtract 4 came first.; The 3 outside multiplies the whole bracket.; Instructions: subtract 4, then multiply by 3.. Answer: subtract 4, then multiply by 3.
Core — reveal the hint only on request: Brackets or a fraction line that covers n + 2 mean add 2 came first.
Stretch — no help; when finished: Write the instructions for 2(n − 7) and for 2n − 7, then explain to Max why they are different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2: Find the missing function.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The input is x. The first function is multiply by 7. The output is 7x − 3. What is the second function?
Support — work through the steps with the group: (1) After multiply by 7, the x has become 7x. (2) Write 7x next to the output 7x − 3. (3) What has changed? A 3 has been taken away. (4) So the second function is subtract 3.
Parallel worked example for Support (model it, do not give the task answer): The input is y. The first function is multiply by 4. The output is 4y + 9. What is the second function? After multiply by 4: 4y.; Compare 4y with 4y + 9: a 9 has been added.; The second function is add 9.. Answer: + 9.
Core — reveal the hint only on request: After × 7 you have 7x. What turns 7x into 7x − 3?
Stretch — no help; when finished: Max says the two functions are ÷ 7 and + 3. Explain what Max has written down instead of the functions, and when his pair would be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— individual, silent, on a slip or mini-whiteboard. Recall before help: no notes, no lanes, no hints. Collect before pupils leave.
Question: Which machine always gives the same output as: add 4, then multiply by 2?
Answer: A   Multiply by 2, then add 8. Add 4 then multiply by 2 gives 2(x + 4). Multiplying each term by 2 gives 2x + 8, which is multiply by 2 then add 8.
Source of this question: module 3 task ("Same machine or not?") from the manifest.
Sort the slips: correct → ready to move on; incorrect → start next lesson in the pre-teach group, with the read-along and the Support lane. Same destination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1: Match the instructions. Reveal the answer; pupils mark their own work in a different colour, then read the "why" together. Same destination for every lane, so one answer serves the whole class.
Answer: 5n + 2  →  D  multiply by 5, then add 2; 5(n + 2)  →  A  add 2, then multiply by 5; n/5 + 2  →  C  divide by 5, then add 2; (n + 2)/5  →  B  add 2, then divide by 5
Why: In 5n + 2 and n/5 + 2 the adding comes last. In 5(n + 2) and (n + 2)/5 the brackets or the fraction line show that add 2 came first.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2: Find the missing function. Reveal the answer; pupils mark their own work in a different colour, then read the "why" together. Same destination for every lane, so one answer serves the whole class.
Answer: C   Subtract 3
Why: After multiply by 7 the input has become 7x. Taking 3 away gives 7x − 3, so the second function is subtract 3.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exit ticket: Exit ticket. Reveal the answer; pupils mark their own work in a different colour, then read the "why" together. Same destination for every lane, so one answer serves the whole class.
Answer: A   Multiply by 2, then add 8
Why: Add 4 then multiply by 2 gives 2(x + 4). Multiplying each term by 2 gives 2x + 8, which is multiply by 2 then add 8.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Algebraic Notation and Substitution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CONTEN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Algebraic Notation and Substitution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d-hue"/>
          <p:cNvSpPr/>
          <p:nvPr/>
        </p:nvSpPr>
        <p:spPr>
          <a:xfrm>
            <a:off x="0" y="5989320"/>
            <a:ext cx="12191695" cy="164592"/>
          </a:xfrm>
          <a:prstGeom prst="rect">
            <a:avLst/>
          </a:prstGeom>
          <a:solidFill>
            <a:srgbClr val="2E4A8C"/>
          </a:solidFill>
          <a:ln/>
        </p:spPr>
      </p:sp>
      <p:sp>
        <p:nvSpPr>
          <p:cNvPr id="4" name="band-gold"/>
          <p:cNvSpPr/>
          <p:nvPr/>
        </p:nvSpPr>
        <p:spPr>
          <a:xfrm>
            <a:off x="0" y="6208776"/>
            <a:ext cx="12191695" cy="64008"/>
          </a:xfrm>
          <a:prstGeom prst="rect">
            <a:avLst/>
          </a:prstGeom>
          <a:solidFill>
            <a:srgbClr val="B8862B"/>
          </a:solidFill>
          <a:ln/>
        </p:spPr>
      </p:sp>
      <p:sp>
        <p:nvSpPr>
          <p:cNvPr id="5" name="hex-deco1"/>
          <p:cNvSpPr/>
          <p:nvPr/>
        </p:nvSpPr>
        <p:spPr>
          <a:xfrm>
            <a:off x="1373886" y="276195"/>
            <a:ext cx="525780" cy="455325"/>
          </a:xfrm>
          <a:prstGeom prst="hexagon">
            <a:avLst/>
          </a:prstGeom>
          <a:solidFill>
            <a:srgbClr val="DBE0EB"/>
          </a:solidFill>
          <a:ln/>
        </p:spPr>
      </p:sp>
      <p:sp>
        <p:nvSpPr>
          <p:cNvPr id="6" name="hex-deco2"/>
          <p:cNvSpPr/>
          <p:nvPr/>
        </p:nvSpPr>
        <p:spPr>
          <a:xfrm>
            <a:off x="1373886" y="1168557"/>
            <a:ext cx="525780" cy="455325"/>
          </a:xfrm>
          <a:prstGeom prst="hexagon">
            <a:avLst/>
          </a:prstGeom>
          <a:ln w="19050">
            <a:solidFill>
              <a:srgbClr val="B8862B"/>
            </a:solidFill>
            <a:prstDash val="solid"/>
          </a:ln>
        </p:spPr>
      </p:sp>
      <p:sp>
        <p:nvSpPr>
          <p:cNvPr id="7" name="hex-chapter"/>
          <p:cNvSpPr/>
          <p:nvPr/>
        </p:nvSpPr>
        <p:spPr>
          <a:xfrm>
            <a:off x="548640" y="457200"/>
            <a:ext cx="1051560" cy="910651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8" name="hex-chapter-label"/>
          <p:cNvSpPr txBox="1"/>
          <p:nvPr/>
        </p:nvSpPr>
        <p:spPr>
          <a:xfrm>
            <a:off x="548640" y="457200"/>
            <a:ext cx="1051560" cy="91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kicker"/>
          <p:cNvSpPr txBox="1"/>
          <p:nvPr/>
        </p:nvSpPr>
        <p:spPr>
          <a:xfrm>
            <a:off x="2331720" y="256032"/>
            <a:ext cx="3504895" cy="12984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93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5/6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Notation and Substitution · AQA KS3 → 8300</a:t>
            </a:r>
            <a:endParaRPr lang="en-US" sz="1800" dirty="0"/>
          </a:p>
        </p:txBody>
      </p:sp>
      <p:sp>
        <p:nvSpPr>
          <p:cNvPr id="10" name="deck-title"/>
          <p:cNvSpPr txBox="1"/>
          <p:nvPr/>
        </p:nvSpPr>
        <p:spPr>
          <a:xfrm>
            <a:off x="548640" y="2393188"/>
            <a:ext cx="5287975" cy="1447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two-step function</a:t>
            </a:r>
            <a:endParaRPr lang="en-US" sz="4000" dirty="0"/>
          </a:p>
        </p:txBody>
      </p:sp>
      <p:sp>
        <p:nvSpPr>
          <p:cNvPr id="11" name="lessons-card"/>
          <p:cNvSpPr/>
          <p:nvPr/>
        </p:nvSpPr>
        <p:spPr>
          <a:xfrm>
            <a:off x="548640" y="4069588"/>
            <a:ext cx="5287975" cy="980440"/>
          </a:xfrm>
          <a:prstGeom prst="roundRect">
            <a:avLst>
              <a:gd name="adj" fmla="val 7461"/>
            </a:avLst>
          </a:prstGeom>
          <a:solidFill>
            <a:srgbClr val="F0F2F7"/>
          </a:solidFill>
          <a:ln/>
        </p:spPr>
      </p:sp>
      <p:sp>
        <p:nvSpPr>
          <p:cNvPr id="12" name="lessons"/>
          <p:cNvSpPr txBox="1"/>
          <p:nvPr/>
        </p:nvSpPr>
        <p:spPr>
          <a:xfrm>
            <a:off x="685800" y="4161028"/>
            <a:ext cx="5013655" cy="797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covered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C7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l"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function (two step)</a:t>
            </a:r>
            <a:endParaRPr lang="en-US" sz="2000" dirty="0"/>
          </a:p>
        </p:txBody>
      </p:sp>
      <p:sp>
        <p:nvSpPr>
          <p:cNvPr id="13" name="plate-frame"/>
          <p:cNvSpPr/>
          <p:nvPr/>
        </p:nvSpPr>
        <p:spPr>
          <a:xfrm>
            <a:off x="6248095" y="411480"/>
            <a:ext cx="5394960" cy="3130677"/>
          </a:xfrm>
          <a:prstGeom prst="rect">
            <a:avLst/>
          </a:prstGeom>
          <a:solidFill>
            <a:srgbClr val="F4EDDF"/>
          </a:solidFill>
          <a:ln w="19050">
            <a:solidFill>
              <a:srgbClr val="B886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plate" descr="Ad Astra engraved plate for Mathematics, Year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823" y="521208"/>
            <a:ext cx="5175504" cy="2911221"/>
          </a:xfrm>
          <a:prstGeom prst="rect">
            <a:avLst/>
          </a:prstGeom>
        </p:spPr>
      </p:pic>
      <p:sp>
        <p:nvSpPr>
          <p:cNvPr id="15" name="plate-inner"/>
          <p:cNvSpPr/>
          <p:nvPr/>
        </p:nvSpPr>
        <p:spPr>
          <a:xfrm>
            <a:off x="6357823" y="521208"/>
            <a:ext cx="5175504" cy="2911221"/>
          </a:xfrm>
          <a:prstGeom prst="rect">
            <a:avLst/>
          </a:prstGeom>
          <a:ln w="9525">
            <a:solidFill>
              <a:srgbClr val="B8862B"/>
            </a:solidFill>
            <a:prstDash val="solid"/>
          </a:ln>
        </p:spPr>
      </p:sp>
      <p:sp>
        <p:nvSpPr>
          <p:cNvPr id="16" name="stud0"/>
          <p:cNvSpPr/>
          <p:nvPr/>
        </p:nvSpPr>
        <p:spPr>
          <a:xfrm>
            <a:off x="613836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tud1"/>
          <p:cNvSpPr/>
          <p:nvPr/>
        </p:nvSpPr>
        <p:spPr>
          <a:xfrm>
            <a:off x="1153332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tud2"/>
          <p:cNvSpPr/>
          <p:nvPr/>
        </p:nvSpPr>
        <p:spPr>
          <a:xfrm>
            <a:off x="613836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ud3"/>
          <p:cNvSpPr/>
          <p:nvPr/>
        </p:nvSpPr>
        <p:spPr>
          <a:xfrm>
            <a:off x="1153332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q-card"/>
          <p:cNvSpPr/>
          <p:nvPr/>
        </p:nvSpPr>
        <p:spPr>
          <a:xfrm>
            <a:off x="6248095" y="3816477"/>
            <a:ext cx="5394960" cy="2053971"/>
          </a:xfrm>
          <a:prstGeom prst="roundRect">
            <a:avLst>
              <a:gd name="adj" fmla="val 3561"/>
            </a:avLst>
          </a:prstGeom>
          <a:solidFill>
            <a:srgbClr val="F0F2F7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21" name="bq-hex"/>
          <p:cNvSpPr/>
          <p:nvPr/>
        </p:nvSpPr>
        <p:spPr>
          <a:xfrm>
            <a:off x="6412687" y="3999357"/>
            <a:ext cx="621792" cy="53847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2" name="bq-hex-label"/>
          <p:cNvSpPr txBox="1"/>
          <p:nvPr/>
        </p:nvSpPr>
        <p:spPr>
          <a:xfrm>
            <a:off x="6412687" y="3999357"/>
            <a:ext cx="621792" cy="5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23" name="bq"/>
          <p:cNvSpPr txBox="1"/>
          <p:nvPr/>
        </p:nvSpPr>
        <p:spPr>
          <a:xfrm>
            <a:off x="7144207" y="3907917"/>
            <a:ext cx="4389120" cy="187109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800" dirty="0"/>
          </a:p>
          <a:p>
            <a:pPr algn="l" indent="0" marL="0">
              <a:buNone/>
            </a:pPr>
            <a:r>
              <a:rPr lang="en-US" sz="2400" i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function machine help us write, read and use algebra?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now: three from memory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11" name="card-body"/>
          <p:cNvSpPr txBox="1"/>
          <p:nvPr/>
        </p:nvSpPr>
        <p:spPr>
          <a:xfrm>
            <a:off x="731520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 of functions turns m into 4m + 9?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4, then multiply by 9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9, then add 4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4, then add 9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9, then multiply by 4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3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4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16" name="card-body"/>
          <p:cNvSpPr txBox="1"/>
          <p:nvPr/>
        </p:nvSpPr>
        <p:spPr>
          <a:xfrm>
            <a:off x="4521098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expression means: add 3, then divide by 8?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x/8 + 3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+ 3/8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+ 3)/8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8(x + 3)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8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9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800" dirty="0"/>
          </a:p>
        </p:txBody>
      </p:sp>
      <p:sp>
        <p:nvSpPr>
          <p:cNvPr id="21" name="card-body"/>
          <p:cNvSpPr txBox="1"/>
          <p:nvPr/>
        </p:nvSpPr>
        <p:spPr>
          <a:xfrm>
            <a:off x="8310677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6 × (4 + 5).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1" name="answer-chip"/>
          <p:cNvSpPr/>
          <p:nvPr/>
        </p:nvSpPr>
        <p:spPr>
          <a:xfrm>
            <a:off x="731520" y="2355677"/>
            <a:ext cx="3149498" cy="955040"/>
          </a:xfrm>
          <a:prstGeom prst="roundRect">
            <a:avLst>
              <a:gd name="adj" fmla="val 11489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2" name="answer"/>
          <p:cNvSpPr txBox="1"/>
          <p:nvPr/>
        </p:nvSpPr>
        <p:spPr>
          <a:xfrm>
            <a:off x="822960" y="2428829"/>
            <a:ext cx="2966618" cy="8087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Multiply by 4, then add 9</a:t>
            </a:r>
            <a:endParaRPr lang="en-US" sz="2200" dirty="0"/>
          </a:p>
        </p:txBody>
      </p:sp>
      <p:sp>
        <p:nvSpPr>
          <p:cNvPr id="13" name="card-body"/>
          <p:cNvSpPr txBox="1"/>
          <p:nvPr/>
        </p:nvSpPr>
        <p:spPr>
          <a:xfrm>
            <a:off x="731520" y="3493597"/>
            <a:ext cx="3149498" cy="251401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 of functions turns m into 4m + 9?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 shows that m was multiplied by 4. The + 9 shows that 9 was added afterwards.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5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8" name="answer-chip"/>
          <p:cNvSpPr/>
          <p:nvPr/>
        </p:nvSpPr>
        <p:spPr>
          <a:xfrm>
            <a:off x="4521098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9" name="answer"/>
          <p:cNvSpPr txBox="1"/>
          <p:nvPr/>
        </p:nvSpPr>
        <p:spPr>
          <a:xfrm>
            <a:off x="4612538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(x + 3)/8</a:t>
            </a:r>
            <a:endParaRPr lang="en-US" sz="2200" dirty="0"/>
          </a:p>
        </p:txBody>
      </p:sp>
      <p:sp>
        <p:nvSpPr>
          <p:cNvPr id="20" name="card-body"/>
          <p:cNvSpPr txBox="1"/>
          <p:nvPr/>
        </p:nvSpPr>
        <p:spPr>
          <a:xfrm>
            <a:off x="4521098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expression means: add 3, then divide by 8?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 to get x + 3. Divide the whole of it by 8: (x + 3)/8.</a:t>
            </a:r>
            <a:endParaRPr lang="en-US" sz="2200" dirty="0"/>
          </a:p>
        </p:txBody>
      </p:sp>
      <p:sp>
        <p:nvSpPr>
          <p:cNvPr id="21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22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25" name="answer-chip"/>
          <p:cNvSpPr/>
          <p:nvPr/>
        </p:nvSpPr>
        <p:spPr>
          <a:xfrm>
            <a:off x="8310677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26" name="answer"/>
          <p:cNvSpPr txBox="1"/>
          <p:nvPr/>
        </p:nvSpPr>
        <p:spPr>
          <a:xfrm>
            <a:off x="8402117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200" dirty="0"/>
          </a:p>
        </p:txBody>
      </p:sp>
      <p:sp>
        <p:nvSpPr>
          <p:cNvPr id="27" name="card-body"/>
          <p:cNvSpPr txBox="1"/>
          <p:nvPr/>
        </p:nvSpPr>
        <p:spPr>
          <a:xfrm>
            <a:off x="8310677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6 × (4 + 5).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first: 4 + 5 = 9. Then 6 × 9 = 54.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(1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word-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5F6F9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8" name="word-hex"/>
          <p:cNvSpPr/>
          <p:nvPr/>
        </p:nvSpPr>
        <p:spPr>
          <a:xfrm>
            <a:off x="685800" y="180204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word-hex-label"/>
          <p:cNvSpPr txBox="1"/>
          <p:nvPr/>
        </p:nvSpPr>
        <p:spPr>
          <a:xfrm>
            <a:off x="685800" y="180204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word"/>
          <p:cNvSpPr txBox="1"/>
          <p:nvPr/>
        </p:nvSpPr>
        <p:spPr>
          <a:xfrm>
            <a:off x="1280160" y="1527048"/>
            <a:ext cx="2646578" cy="985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of operations</a:t>
            </a:r>
            <a:endParaRPr lang="en-US" sz="2600" dirty="0"/>
          </a:p>
        </p:txBody>
      </p:sp>
      <p:sp>
        <p:nvSpPr>
          <p:cNvPr id="11" name="word-rule"/>
          <p:cNvSpPr/>
          <p:nvPr/>
        </p:nvSpPr>
        <p:spPr>
          <a:xfrm>
            <a:off x="731520" y="2558288"/>
            <a:ext cx="3149498" cy="0"/>
          </a:xfrm>
          <a:prstGeom prst="line">
            <a:avLst/>
          </a:prstGeom>
          <a:ln w="12700">
            <a:solidFill>
              <a:srgbClr val="B2BCD4"/>
            </a:solidFill>
            <a:prstDash val="solid"/>
          </a:ln>
        </p:spPr>
      </p:sp>
      <p:sp>
        <p:nvSpPr>
          <p:cNvPr id="12" name="word-body"/>
          <p:cNvSpPr txBox="1"/>
          <p:nvPr/>
        </p:nvSpPr>
        <p:spPr>
          <a:xfrm>
            <a:off x="731520" y="2604008"/>
            <a:ext cx="3149498" cy="340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first, then × and ÷, then + and −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order of operations, 4 × 5 + 3 is 23, not 32.</a:t>
            </a:r>
            <a:endParaRPr lang="en-US" sz="2200" dirty="0"/>
          </a:p>
        </p:txBody>
      </p:sp>
      <p:sp>
        <p:nvSpPr>
          <p:cNvPr id="13" name="word-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5F6F9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14" name="word-hex"/>
          <p:cNvSpPr/>
          <p:nvPr/>
        </p:nvSpPr>
        <p:spPr>
          <a:xfrm>
            <a:off x="4475378" y="158741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5" name="word-hex-label"/>
          <p:cNvSpPr txBox="1"/>
          <p:nvPr/>
        </p:nvSpPr>
        <p:spPr>
          <a:xfrm>
            <a:off x="4475378" y="158741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word"/>
          <p:cNvSpPr txBox="1"/>
          <p:nvPr/>
        </p:nvSpPr>
        <p:spPr>
          <a:xfrm>
            <a:off x="5069738" y="1527048"/>
            <a:ext cx="2646578" cy="5562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</a:t>
            </a:r>
            <a:endParaRPr lang="en-US" sz="2600" dirty="0"/>
          </a:p>
        </p:txBody>
      </p:sp>
      <p:sp>
        <p:nvSpPr>
          <p:cNvPr id="17" name="word-rule"/>
          <p:cNvSpPr/>
          <p:nvPr/>
        </p:nvSpPr>
        <p:spPr>
          <a:xfrm>
            <a:off x="4521098" y="2129028"/>
            <a:ext cx="3149498" cy="0"/>
          </a:xfrm>
          <a:prstGeom prst="line">
            <a:avLst/>
          </a:prstGeom>
          <a:ln w="12700">
            <a:solidFill>
              <a:srgbClr val="B2BCD4"/>
            </a:solidFill>
            <a:prstDash val="solid"/>
          </a:ln>
        </p:spPr>
      </p:sp>
      <p:sp>
        <p:nvSpPr>
          <p:cNvPr id="18" name="word-body"/>
          <p:cNvSpPr txBox="1"/>
          <p:nvPr/>
        </p:nvSpPr>
        <p:spPr>
          <a:xfrm>
            <a:off x="4521098" y="2174748"/>
            <a:ext cx="3149498" cy="38328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 machine does, such as add 2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 + 4 gives two instructions: multiply by 7, then add 4.</a:t>
            </a:r>
            <a:endParaRPr lang="en-US" sz="2200" dirty="0"/>
          </a:p>
        </p:txBody>
      </p:sp>
      <p:sp>
        <p:nvSpPr>
          <p:cNvPr id="19" name="word-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5F6F9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20" name="word-hex"/>
          <p:cNvSpPr/>
          <p:nvPr/>
        </p:nvSpPr>
        <p:spPr>
          <a:xfrm>
            <a:off x="8264957" y="180204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1" name="word-hex-label"/>
          <p:cNvSpPr txBox="1"/>
          <p:nvPr/>
        </p:nvSpPr>
        <p:spPr>
          <a:xfrm>
            <a:off x="8264957" y="180204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word"/>
          <p:cNvSpPr txBox="1"/>
          <p:nvPr/>
        </p:nvSpPr>
        <p:spPr>
          <a:xfrm>
            <a:off x="8859317" y="1527048"/>
            <a:ext cx="2646578" cy="985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function</a:t>
            </a:r>
            <a:endParaRPr lang="en-US" sz="2600" dirty="0"/>
          </a:p>
        </p:txBody>
      </p:sp>
      <p:sp>
        <p:nvSpPr>
          <p:cNvPr id="23" name="word-rule"/>
          <p:cNvSpPr/>
          <p:nvPr/>
        </p:nvSpPr>
        <p:spPr>
          <a:xfrm>
            <a:off x="8310677" y="2558288"/>
            <a:ext cx="3149498" cy="0"/>
          </a:xfrm>
          <a:prstGeom prst="line">
            <a:avLst/>
          </a:prstGeom>
          <a:ln w="12700">
            <a:solidFill>
              <a:srgbClr val="B2BCD4"/>
            </a:solidFill>
            <a:prstDash val="solid"/>
          </a:ln>
        </p:spPr>
      </p:sp>
      <p:sp>
        <p:nvSpPr>
          <p:cNvPr id="24" name="word-body"/>
          <p:cNvSpPr txBox="1"/>
          <p:nvPr/>
        </p:nvSpPr>
        <p:spPr>
          <a:xfrm>
            <a:off x="8310677" y="2604008"/>
            <a:ext cx="3149498" cy="340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you have to work out from the input and the output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function turns 7x into 7x − 3.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(2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word-card"/>
          <p:cNvSpPr/>
          <p:nvPr/>
        </p:nvSpPr>
        <p:spPr>
          <a:xfrm>
            <a:off x="548640" y="1389888"/>
            <a:ext cx="5410048" cy="4754880"/>
          </a:xfrm>
          <a:prstGeom prst="roundRect">
            <a:avLst>
              <a:gd name="adj" fmla="val 1154"/>
            </a:avLst>
          </a:prstGeom>
          <a:solidFill>
            <a:srgbClr val="F5F6F9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8" name="word-hex"/>
          <p:cNvSpPr/>
          <p:nvPr/>
        </p:nvSpPr>
        <p:spPr>
          <a:xfrm>
            <a:off x="685800" y="158741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word-hex-label"/>
          <p:cNvSpPr txBox="1"/>
          <p:nvPr/>
        </p:nvSpPr>
        <p:spPr>
          <a:xfrm>
            <a:off x="685800" y="158741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word"/>
          <p:cNvSpPr txBox="1"/>
          <p:nvPr/>
        </p:nvSpPr>
        <p:spPr>
          <a:xfrm>
            <a:off x="1280160" y="1527048"/>
            <a:ext cx="4541368" cy="5562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</a:t>
            </a:r>
            <a:endParaRPr lang="en-US" sz="2600" dirty="0"/>
          </a:p>
        </p:txBody>
      </p:sp>
      <p:sp>
        <p:nvSpPr>
          <p:cNvPr id="11" name="word-rule"/>
          <p:cNvSpPr/>
          <p:nvPr/>
        </p:nvSpPr>
        <p:spPr>
          <a:xfrm>
            <a:off x="731520" y="2129028"/>
            <a:ext cx="5044288" cy="0"/>
          </a:xfrm>
          <a:prstGeom prst="line">
            <a:avLst/>
          </a:prstGeom>
          <a:ln w="12700">
            <a:solidFill>
              <a:srgbClr val="B2BCD4"/>
            </a:solidFill>
            <a:prstDash val="solid"/>
          </a:ln>
        </p:spPr>
      </p:sp>
      <p:sp>
        <p:nvSpPr>
          <p:cNvPr id="12" name="word-body"/>
          <p:cNvSpPr txBox="1"/>
          <p:nvPr/>
        </p:nvSpPr>
        <p:spPr>
          <a:xfrm>
            <a:off x="731520" y="2174748"/>
            <a:ext cx="5044288" cy="38328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the same for every value of the letter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2(x + 4) and 2x + 8 are equivalent.</a:t>
            </a:r>
            <a:endParaRPr lang="en-US" sz="2200" dirty="0"/>
          </a:p>
        </p:txBody>
      </p:sp>
      <p:sp>
        <p:nvSpPr>
          <p:cNvPr id="13" name="word-card"/>
          <p:cNvSpPr/>
          <p:nvPr/>
        </p:nvSpPr>
        <p:spPr>
          <a:xfrm>
            <a:off x="6233008" y="1389888"/>
            <a:ext cx="5410048" cy="4754880"/>
          </a:xfrm>
          <a:prstGeom prst="roundRect">
            <a:avLst>
              <a:gd name="adj" fmla="val 1154"/>
            </a:avLst>
          </a:prstGeom>
          <a:solidFill>
            <a:srgbClr val="F5F6F9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14" name="word-hex"/>
          <p:cNvSpPr/>
          <p:nvPr/>
        </p:nvSpPr>
        <p:spPr>
          <a:xfrm>
            <a:off x="6370168" y="1587414"/>
            <a:ext cx="502920" cy="435529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5" name="word-hex-label"/>
          <p:cNvSpPr txBox="1"/>
          <p:nvPr/>
        </p:nvSpPr>
        <p:spPr>
          <a:xfrm>
            <a:off x="6370168" y="1587414"/>
            <a:ext cx="502920" cy="43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word"/>
          <p:cNvSpPr txBox="1"/>
          <p:nvPr/>
        </p:nvSpPr>
        <p:spPr>
          <a:xfrm>
            <a:off x="6964528" y="1527048"/>
            <a:ext cx="4541368" cy="5562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one-step machine</a:t>
            </a:r>
            <a:endParaRPr lang="en-US" sz="2600" dirty="0"/>
          </a:p>
        </p:txBody>
      </p:sp>
      <p:sp>
        <p:nvSpPr>
          <p:cNvPr id="17" name="word-rule"/>
          <p:cNvSpPr/>
          <p:nvPr/>
        </p:nvSpPr>
        <p:spPr>
          <a:xfrm>
            <a:off x="6415888" y="2129028"/>
            <a:ext cx="5044288" cy="0"/>
          </a:xfrm>
          <a:prstGeom prst="line">
            <a:avLst/>
          </a:prstGeom>
          <a:ln w="12700">
            <a:solidFill>
              <a:srgbClr val="B2BCD4"/>
            </a:solidFill>
            <a:prstDash val="solid"/>
          </a:ln>
        </p:spPr>
      </p:sp>
      <p:sp>
        <p:nvSpPr>
          <p:cNvPr id="18" name="word-body"/>
          <p:cNvSpPr txBox="1"/>
          <p:nvPr/>
        </p:nvSpPr>
        <p:spPr>
          <a:xfrm>
            <a:off x="6415888" y="2174748"/>
            <a:ext cx="5044288" cy="38328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with a single function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2 then multiply by 6 is the same as a one-step machine that multiplies by 12.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(1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machine is missing a function.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input and the output.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to work out what the machine does.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goes in and 5p + 7 comes out, look at the output.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5p tells you p was multiplied by 5.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+ 7 tells you 7 was added after that.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(2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change the story.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7(m + 5) means add 5 first, then multiply by 7.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 + 5 means multiply by 7 first, then add 5.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means divide.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with p + 6 on top and 3 underneath means add 6, then divide by 3.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expression like a list of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 expression as instructions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expression from the letter outwards: what happened to m first?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3 × 7 + 2 and 3 × (7 + 2).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794512"/>
          </a:xfrm>
          <a:prstGeom prst="roundRect">
            <a:avLst>
              <a:gd name="adj" fmla="val 1150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824722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824722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7945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brackets, multiply first: 3 × 7 = 21, then 21 + 2 = 23.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495548"/>
            <a:ext cx="5379415" cy="794512"/>
          </a:xfrm>
          <a:prstGeom prst="roundRect">
            <a:avLst>
              <a:gd name="adj" fmla="val 1150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710674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710674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495548"/>
            <a:ext cx="4739335" cy="7945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brackets, do the bracket first: 7 + 2 = 9, then 3 × 9 = 27.</a:t>
            </a:r>
            <a:endParaRPr lang="en-US" sz="1800" dirty="0"/>
          </a:p>
        </p:txBody>
      </p:sp>
      <p:sp>
        <p:nvSpPr>
          <p:cNvPr id="22" name="worked-answer"/>
          <p:cNvSpPr/>
          <p:nvPr/>
        </p:nvSpPr>
        <p:spPr>
          <a:xfrm>
            <a:off x="6126480" y="44272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23, 27</a:t>
            </a:r>
            <a:endParaRPr lang="en-US" sz="1800" dirty="0"/>
          </a:p>
        </p:txBody>
      </p:sp>
      <p:sp>
        <p:nvSpPr>
          <p:cNvPr id="23" name="bullet-card"/>
          <p:cNvSpPr/>
          <p:nvPr/>
        </p:nvSpPr>
        <p:spPr>
          <a:xfrm>
            <a:off x="548640" y="1389888"/>
            <a:ext cx="5074920" cy="903901"/>
          </a:xfrm>
          <a:prstGeom prst="roundRect">
            <a:avLst>
              <a:gd name="adj" fmla="val 8093"/>
            </a:avLst>
          </a:prstGeom>
          <a:solidFill>
            <a:srgbClr val="F5F6F9"/>
          </a:solidFill>
          <a:ln/>
        </p:spPr>
      </p:sp>
      <p:sp>
        <p:nvSpPr>
          <p:cNvPr id="24" name="bullet-hex"/>
          <p:cNvSpPr/>
          <p:nvPr/>
        </p:nvSpPr>
        <p:spPr>
          <a:xfrm>
            <a:off x="676656" y="1675546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5" name="bullet"/>
          <p:cNvSpPr txBox="1"/>
          <p:nvPr/>
        </p:nvSpPr>
        <p:spPr>
          <a:xfrm>
            <a:off x="1143000" y="1389888"/>
            <a:ext cx="4389120" cy="90390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is a record of what a machine did.</a:t>
            </a:r>
            <a:endParaRPr lang="en-US" sz="2200" dirty="0"/>
          </a:p>
        </p:txBody>
      </p:sp>
      <p:sp>
        <p:nvSpPr>
          <p:cNvPr id="26" name="bullet-card"/>
          <p:cNvSpPr/>
          <p:nvPr/>
        </p:nvSpPr>
        <p:spPr>
          <a:xfrm>
            <a:off x="548640" y="2440093"/>
            <a:ext cx="5074920" cy="903901"/>
          </a:xfrm>
          <a:prstGeom prst="roundRect">
            <a:avLst>
              <a:gd name="adj" fmla="val 8093"/>
            </a:avLst>
          </a:prstGeom>
          <a:solidFill>
            <a:srgbClr val="F5F6F9"/>
          </a:solidFill>
          <a:ln/>
        </p:spPr>
      </p:sp>
      <p:sp>
        <p:nvSpPr>
          <p:cNvPr id="27" name="bullet-hex"/>
          <p:cNvSpPr/>
          <p:nvPr/>
        </p:nvSpPr>
        <p:spPr>
          <a:xfrm>
            <a:off x="676656" y="2725751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8" name="bullet"/>
          <p:cNvSpPr txBox="1"/>
          <p:nvPr/>
        </p:nvSpPr>
        <p:spPr>
          <a:xfrm>
            <a:off x="1143000" y="2440093"/>
            <a:ext cx="4389120" cy="90390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work the same way. m/7 + 4 says divide by 7, then add 4.</a:t>
            </a:r>
            <a:endParaRPr lang="en-US" sz="2200" dirty="0"/>
          </a:p>
        </p:txBody>
      </p:sp>
      <p:sp>
        <p:nvSpPr>
          <p:cNvPr id="29" name="bullet-card"/>
          <p:cNvSpPr/>
          <p:nvPr/>
        </p:nvSpPr>
        <p:spPr>
          <a:xfrm>
            <a:off x="548640" y="3490299"/>
            <a:ext cx="5074920" cy="1585637"/>
          </a:xfrm>
          <a:prstGeom prst="roundRect">
            <a:avLst>
              <a:gd name="adj" fmla="val 4613"/>
            </a:avLst>
          </a:prstGeom>
          <a:solidFill>
            <a:srgbClr val="F5F6F9"/>
          </a:solidFill>
          <a:ln/>
        </p:spPr>
      </p:sp>
      <p:sp>
        <p:nvSpPr>
          <p:cNvPr id="30" name="bullet-hex"/>
          <p:cNvSpPr/>
          <p:nvPr/>
        </p:nvSpPr>
        <p:spPr>
          <a:xfrm>
            <a:off x="676656" y="4116825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1" name="bullet"/>
          <p:cNvSpPr txBox="1"/>
          <p:nvPr/>
        </p:nvSpPr>
        <p:spPr>
          <a:xfrm>
            <a:off x="1143000" y="3490299"/>
            <a:ext cx="4389120" cy="158563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order of operations at work. Without brackets, multiplying and dividing happen before adding and subtracting: 4 × 5 + 3 = 23.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function is missing?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functions, not the inverses. The inverses are for going backwards.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is k. The first function is multiply by 6 and the output is 6k − 5. What is the second function?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888488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989822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989822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888488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multiply by 6, k has become 6k.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54685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64819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64819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54685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6k with the output 6k − 5.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4205224"/>
            <a:ext cx="5379415" cy="794512"/>
          </a:xfrm>
          <a:prstGeom prst="roundRect">
            <a:avLst>
              <a:gd name="adj" fmla="val 1150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42035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42035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4205224"/>
            <a:ext cx="4739335" cy="7945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 has been taken away, so the second function is subtract 5.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5136896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− 5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027853"/>
          </a:xfrm>
          <a:prstGeom prst="roundRect">
            <a:avLst>
              <a:gd name="adj" fmla="val 7117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737522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027853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x goes in, the first function is multiply by 5, and the output is 5x + 7.</a:t>
            </a:r>
            <a:endParaRPr lang="en-US" sz="20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564045"/>
            <a:ext cx="5074920" cy="1337733"/>
          </a:xfrm>
          <a:prstGeom prst="roundRect">
            <a:avLst>
              <a:gd name="adj" fmla="val 5468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06661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564045"/>
            <a:ext cx="4389120" cy="1337733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p goes in, the output is (p + 6)/3, and the second function is missing.</a:t>
            </a:r>
            <a:endParaRPr lang="en-US" sz="2000" dirty="0"/>
          </a:p>
        </p:txBody>
      </p:sp>
      <p:sp>
        <p:nvSpPr>
          <p:cNvPr id="33" name="bullet-card"/>
          <p:cNvSpPr/>
          <p:nvPr/>
        </p:nvSpPr>
        <p:spPr>
          <a:xfrm>
            <a:off x="548640" y="4048083"/>
            <a:ext cx="5074920" cy="1027853"/>
          </a:xfrm>
          <a:prstGeom prst="roundRect">
            <a:avLst>
              <a:gd name="adj" fmla="val 7117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395717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4048083"/>
            <a:ext cx="4389120" cy="1027853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sees h go in, come out as 5h + 9, and writes the functions as ÷ 5 and − 9.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machine, different look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whether two machines match, put the same number through both.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multiplies by 2, then multiplies by 6. The input is x. Write the output as a single term.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888488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989822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989822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888488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step: 2x.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54685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64819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64819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54685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2x by 6: 2 × 6 = 12, so you have 12x.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4205224"/>
            <a:ext cx="5379415" cy="794512"/>
          </a:xfrm>
          <a:prstGeom prst="roundRect">
            <a:avLst>
              <a:gd name="adj" fmla="val 1150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42035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42035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4205224"/>
            <a:ext cx="4739335" cy="7945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output comes from a one-step machine that multiplies by 12.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5136896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038183"/>
          </a:xfrm>
          <a:prstGeom prst="roundRect">
            <a:avLst>
              <a:gd name="adj" fmla="val 7046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742687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038183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different-looking machines can always give the same output. Add 4 and then multiply by 2 gives 2(x + 4).</a:t>
            </a:r>
            <a:endParaRPr lang="en-US" sz="18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574375"/>
            <a:ext cx="5074920" cy="1317075"/>
          </a:xfrm>
          <a:prstGeom prst="roundRect">
            <a:avLst>
              <a:gd name="adj" fmla="val 5554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06661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574375"/>
            <a:ext cx="4389120" cy="1317075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multiplications can be squashed into one. Multiply by 2 and then multiply by 6 is the same as multiply by 12, because 2 × 6 = 12.</a:t>
            </a:r>
            <a:endParaRPr lang="en-US" sz="1800" dirty="0"/>
          </a:p>
        </p:txBody>
      </p:sp>
      <p:sp>
        <p:nvSpPr>
          <p:cNvPr id="33" name="bullet-card"/>
          <p:cNvSpPr/>
          <p:nvPr/>
        </p:nvSpPr>
        <p:spPr>
          <a:xfrm>
            <a:off x="548640" y="4037753"/>
            <a:ext cx="5074920" cy="1038183"/>
          </a:xfrm>
          <a:prstGeom prst="roundRect">
            <a:avLst>
              <a:gd name="adj" fmla="val 7046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390552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4037753"/>
            <a:ext cx="4389120" cy="1038183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wording. Nijah puts x through × 5 and then 'subtracted from 20' and gets 20 − 5x.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task: Match the instructions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822960" y="1664208"/>
            <a:ext cx="822960" cy="712683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822960" y="1664208"/>
            <a:ext cx="822960" cy="712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ask"/>
          <p:cNvSpPr txBox="1"/>
          <p:nvPr/>
        </p:nvSpPr>
        <p:spPr>
          <a:xfrm>
            <a:off x="1828800" y="1618488"/>
            <a:ext cx="8534095" cy="4988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expression to the instructions it gives.</a:t>
            </a:r>
            <a:endParaRPr lang="en-US" sz="2400" dirty="0"/>
          </a:p>
        </p:txBody>
      </p:sp>
      <p:sp>
        <p:nvSpPr>
          <p:cNvPr id="11" name="match-card"/>
          <p:cNvSpPr/>
          <p:nvPr/>
        </p:nvSpPr>
        <p:spPr>
          <a:xfrm>
            <a:off x="777240" y="2468331"/>
            <a:ext cx="3492295" cy="804809"/>
          </a:xfrm>
          <a:prstGeom prst="roundRect">
            <a:avLst>
              <a:gd name="adj" fmla="val 9089"/>
            </a:avLst>
          </a:prstGeom>
          <a:solidFill>
            <a:srgbClr val="F5F6F9"/>
          </a:solidFill>
          <a:ln/>
        </p:spPr>
      </p:sp>
      <p:sp>
        <p:nvSpPr>
          <p:cNvPr id="12" name="match-hex"/>
          <p:cNvSpPr/>
          <p:nvPr/>
        </p:nvSpPr>
        <p:spPr>
          <a:xfrm>
            <a:off x="850392" y="2704443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3" name="match-hex-label"/>
          <p:cNvSpPr txBox="1"/>
          <p:nvPr/>
        </p:nvSpPr>
        <p:spPr>
          <a:xfrm>
            <a:off x="850392" y="2704443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match-text"/>
          <p:cNvSpPr txBox="1"/>
          <p:nvPr/>
        </p:nvSpPr>
        <p:spPr>
          <a:xfrm>
            <a:off x="1298448" y="2468331"/>
            <a:ext cx="2897935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5n + 2</a:t>
            </a:r>
            <a:endParaRPr lang="en-US" sz="2200" dirty="0"/>
          </a:p>
        </p:txBody>
      </p:sp>
      <p:sp>
        <p:nvSpPr>
          <p:cNvPr id="15" name="match-card"/>
          <p:cNvSpPr/>
          <p:nvPr/>
        </p:nvSpPr>
        <p:spPr>
          <a:xfrm>
            <a:off x="4635295" y="2468331"/>
            <a:ext cx="6779160" cy="804809"/>
          </a:xfrm>
          <a:prstGeom prst="roundRect">
            <a:avLst>
              <a:gd name="adj" fmla="val 9089"/>
            </a:avLst>
          </a:prstGeom>
          <a:solidFill>
            <a:srgbClr val="F9F4EC"/>
          </a:solidFill>
          <a:ln/>
        </p:spPr>
      </p:sp>
      <p:sp>
        <p:nvSpPr>
          <p:cNvPr id="16" name="match-hex"/>
          <p:cNvSpPr/>
          <p:nvPr/>
        </p:nvSpPr>
        <p:spPr>
          <a:xfrm>
            <a:off x="4708447" y="2704443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7" name="match-hex-label"/>
          <p:cNvSpPr txBox="1"/>
          <p:nvPr/>
        </p:nvSpPr>
        <p:spPr>
          <a:xfrm>
            <a:off x="4708447" y="2704443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match-text"/>
          <p:cNvSpPr txBox="1"/>
          <p:nvPr/>
        </p:nvSpPr>
        <p:spPr>
          <a:xfrm>
            <a:off x="5156503" y="2468331"/>
            <a:ext cx="6184800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2, then multiply by 5</a:t>
            </a:r>
            <a:endParaRPr lang="en-US" sz="2200" dirty="0"/>
          </a:p>
        </p:txBody>
      </p:sp>
      <p:sp>
        <p:nvSpPr>
          <p:cNvPr id="19" name="match-card"/>
          <p:cNvSpPr/>
          <p:nvPr/>
        </p:nvSpPr>
        <p:spPr>
          <a:xfrm>
            <a:off x="777240" y="3364581"/>
            <a:ext cx="3492295" cy="804809"/>
          </a:xfrm>
          <a:prstGeom prst="roundRect">
            <a:avLst>
              <a:gd name="adj" fmla="val 9089"/>
            </a:avLst>
          </a:prstGeom>
          <a:solidFill>
            <a:srgbClr val="F5F6F9"/>
          </a:solidFill>
          <a:ln/>
        </p:spPr>
      </p:sp>
      <p:sp>
        <p:nvSpPr>
          <p:cNvPr id="20" name="match-hex"/>
          <p:cNvSpPr/>
          <p:nvPr/>
        </p:nvSpPr>
        <p:spPr>
          <a:xfrm>
            <a:off x="850392" y="3600692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1" name="match-hex-label"/>
          <p:cNvSpPr txBox="1"/>
          <p:nvPr/>
        </p:nvSpPr>
        <p:spPr>
          <a:xfrm>
            <a:off x="850392" y="3600692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match-text"/>
          <p:cNvSpPr txBox="1"/>
          <p:nvPr/>
        </p:nvSpPr>
        <p:spPr>
          <a:xfrm>
            <a:off x="1298448" y="3364581"/>
            <a:ext cx="2897935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5(n + 2)</a:t>
            </a:r>
            <a:endParaRPr lang="en-US" sz="2200" dirty="0"/>
          </a:p>
        </p:txBody>
      </p:sp>
      <p:sp>
        <p:nvSpPr>
          <p:cNvPr id="23" name="match-card"/>
          <p:cNvSpPr/>
          <p:nvPr/>
        </p:nvSpPr>
        <p:spPr>
          <a:xfrm>
            <a:off x="4635295" y="3364581"/>
            <a:ext cx="6779160" cy="804809"/>
          </a:xfrm>
          <a:prstGeom prst="roundRect">
            <a:avLst>
              <a:gd name="adj" fmla="val 9089"/>
            </a:avLst>
          </a:prstGeom>
          <a:solidFill>
            <a:srgbClr val="F9F4EC"/>
          </a:solidFill>
          <a:ln/>
        </p:spPr>
      </p:sp>
      <p:sp>
        <p:nvSpPr>
          <p:cNvPr id="24" name="match-hex"/>
          <p:cNvSpPr/>
          <p:nvPr/>
        </p:nvSpPr>
        <p:spPr>
          <a:xfrm>
            <a:off x="4708447" y="3600692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5" name="match-hex-label"/>
          <p:cNvSpPr txBox="1"/>
          <p:nvPr/>
        </p:nvSpPr>
        <p:spPr>
          <a:xfrm>
            <a:off x="4708447" y="3600692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6" name="match-text"/>
          <p:cNvSpPr txBox="1"/>
          <p:nvPr/>
        </p:nvSpPr>
        <p:spPr>
          <a:xfrm>
            <a:off x="5156503" y="3364581"/>
            <a:ext cx="6184800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2, then divide by 5</a:t>
            </a:r>
            <a:endParaRPr lang="en-US" sz="2200" dirty="0"/>
          </a:p>
        </p:txBody>
      </p:sp>
      <p:sp>
        <p:nvSpPr>
          <p:cNvPr id="27" name="match-card"/>
          <p:cNvSpPr/>
          <p:nvPr/>
        </p:nvSpPr>
        <p:spPr>
          <a:xfrm>
            <a:off x="777240" y="4260830"/>
            <a:ext cx="3492295" cy="804809"/>
          </a:xfrm>
          <a:prstGeom prst="roundRect">
            <a:avLst>
              <a:gd name="adj" fmla="val 9089"/>
            </a:avLst>
          </a:prstGeom>
          <a:solidFill>
            <a:srgbClr val="F5F6F9"/>
          </a:solidFill>
          <a:ln/>
        </p:spPr>
      </p:sp>
      <p:sp>
        <p:nvSpPr>
          <p:cNvPr id="28" name="match-hex"/>
          <p:cNvSpPr/>
          <p:nvPr/>
        </p:nvSpPr>
        <p:spPr>
          <a:xfrm>
            <a:off x="850392" y="449694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match-hex-label"/>
          <p:cNvSpPr txBox="1"/>
          <p:nvPr/>
        </p:nvSpPr>
        <p:spPr>
          <a:xfrm>
            <a:off x="850392" y="4496941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match-text"/>
          <p:cNvSpPr txBox="1"/>
          <p:nvPr/>
        </p:nvSpPr>
        <p:spPr>
          <a:xfrm>
            <a:off x="1298448" y="4260830"/>
            <a:ext cx="2897935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n/5 + 2</a:t>
            </a:r>
            <a:endParaRPr lang="en-US" sz="2200" dirty="0"/>
          </a:p>
        </p:txBody>
      </p:sp>
      <p:sp>
        <p:nvSpPr>
          <p:cNvPr id="31" name="match-card"/>
          <p:cNvSpPr/>
          <p:nvPr/>
        </p:nvSpPr>
        <p:spPr>
          <a:xfrm>
            <a:off x="4635295" y="4260830"/>
            <a:ext cx="6779160" cy="804809"/>
          </a:xfrm>
          <a:prstGeom prst="roundRect">
            <a:avLst>
              <a:gd name="adj" fmla="val 9089"/>
            </a:avLst>
          </a:prstGeom>
          <a:solidFill>
            <a:srgbClr val="F9F4EC"/>
          </a:solidFill>
          <a:ln/>
        </p:spPr>
      </p:sp>
      <p:sp>
        <p:nvSpPr>
          <p:cNvPr id="32" name="match-hex"/>
          <p:cNvSpPr/>
          <p:nvPr/>
        </p:nvSpPr>
        <p:spPr>
          <a:xfrm>
            <a:off x="4708447" y="4496941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3" name="match-hex-label"/>
          <p:cNvSpPr txBox="1"/>
          <p:nvPr/>
        </p:nvSpPr>
        <p:spPr>
          <a:xfrm>
            <a:off x="4708447" y="4496941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4" name="match-text"/>
          <p:cNvSpPr txBox="1"/>
          <p:nvPr/>
        </p:nvSpPr>
        <p:spPr>
          <a:xfrm>
            <a:off x="5156503" y="4260830"/>
            <a:ext cx="6184800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5, then add 2</a:t>
            </a:r>
            <a:endParaRPr lang="en-US" sz="2200" dirty="0"/>
          </a:p>
        </p:txBody>
      </p:sp>
      <p:sp>
        <p:nvSpPr>
          <p:cNvPr id="35" name="match-card"/>
          <p:cNvSpPr/>
          <p:nvPr/>
        </p:nvSpPr>
        <p:spPr>
          <a:xfrm>
            <a:off x="777240" y="5157079"/>
            <a:ext cx="3492295" cy="804809"/>
          </a:xfrm>
          <a:prstGeom prst="roundRect">
            <a:avLst>
              <a:gd name="adj" fmla="val 9089"/>
            </a:avLst>
          </a:prstGeom>
          <a:solidFill>
            <a:srgbClr val="F5F6F9"/>
          </a:solidFill>
          <a:ln/>
        </p:spPr>
      </p:sp>
      <p:sp>
        <p:nvSpPr>
          <p:cNvPr id="36" name="match-hex"/>
          <p:cNvSpPr/>
          <p:nvPr/>
        </p:nvSpPr>
        <p:spPr>
          <a:xfrm>
            <a:off x="850392" y="539319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7" name="match-hex-label"/>
          <p:cNvSpPr txBox="1"/>
          <p:nvPr/>
        </p:nvSpPr>
        <p:spPr>
          <a:xfrm>
            <a:off x="850392" y="5393191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match-text"/>
          <p:cNvSpPr txBox="1"/>
          <p:nvPr/>
        </p:nvSpPr>
        <p:spPr>
          <a:xfrm>
            <a:off x="1298448" y="5157079"/>
            <a:ext cx="2897935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+ 2)/5</a:t>
            </a:r>
            <a:endParaRPr lang="en-US" sz="2200" dirty="0"/>
          </a:p>
        </p:txBody>
      </p:sp>
      <p:sp>
        <p:nvSpPr>
          <p:cNvPr id="39" name="match-card"/>
          <p:cNvSpPr/>
          <p:nvPr/>
        </p:nvSpPr>
        <p:spPr>
          <a:xfrm>
            <a:off x="4635295" y="5157079"/>
            <a:ext cx="6779160" cy="804809"/>
          </a:xfrm>
          <a:prstGeom prst="roundRect">
            <a:avLst>
              <a:gd name="adj" fmla="val 9089"/>
            </a:avLst>
          </a:prstGeom>
          <a:solidFill>
            <a:srgbClr val="F9F4EC"/>
          </a:solidFill>
          <a:ln/>
        </p:spPr>
      </p:sp>
      <p:sp>
        <p:nvSpPr>
          <p:cNvPr id="40" name="match-hex"/>
          <p:cNvSpPr/>
          <p:nvPr/>
        </p:nvSpPr>
        <p:spPr>
          <a:xfrm>
            <a:off x="4708447" y="5393191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41" name="match-hex-label"/>
          <p:cNvSpPr txBox="1"/>
          <p:nvPr/>
        </p:nvSpPr>
        <p:spPr>
          <a:xfrm>
            <a:off x="4708447" y="5393191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42" name="match-text"/>
          <p:cNvSpPr txBox="1"/>
          <p:nvPr/>
        </p:nvSpPr>
        <p:spPr>
          <a:xfrm>
            <a:off x="5156503" y="5157079"/>
            <a:ext cx="6184800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5, then add 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Match the instructions</a:t>
            </a:r>
            <a:endParaRPr lang="en-US" sz="30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30340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30340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572768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31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expression to the instructions it gives.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578608"/>
            <a:ext cx="4667802" cy="3566160"/>
          </a:xfrm>
          <a:prstGeom prst="roundRect">
            <a:avLst>
              <a:gd name="adj" fmla="val 1538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65176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65176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15184"/>
            <a:ext cx="3936282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18688"/>
            <a:ext cx="4393482" cy="2816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letter n and ask what happened to it first.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in front of n, or n alone on top of a fraction, means × or ÷ came first.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Brackets, or n + 2 on top of a fraction, mean the adding came first.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pair by following the instructions from n.</a:t>
            </a:r>
            <a:endParaRPr lang="en-US" sz="1800" dirty="0"/>
          </a:p>
        </p:txBody>
      </p:sp>
      <p:sp>
        <p:nvSpPr>
          <p:cNvPr id="17" name="col-Core"/>
          <p:cNvSpPr/>
          <p:nvPr/>
        </p:nvSpPr>
        <p:spPr>
          <a:xfrm>
            <a:off x="5490762" y="2578608"/>
            <a:ext cx="2938987" cy="3566160"/>
          </a:xfrm>
          <a:prstGeom prst="roundRect">
            <a:avLst>
              <a:gd name="adj" fmla="val 1867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5600490" y="265176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5600490" y="265176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6130842" y="2615184"/>
            <a:ext cx="2207467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5627922" y="3218688"/>
            <a:ext cx="2664667" cy="2816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or a fraction line that covers n + 2 mean add 2 came first.</a:t>
            </a:r>
            <a:endParaRPr lang="en-US" sz="1800" dirty="0"/>
          </a:p>
        </p:txBody>
      </p:sp>
      <p:sp>
        <p:nvSpPr>
          <p:cNvPr id="22" name="col-Stretch"/>
          <p:cNvSpPr/>
          <p:nvPr/>
        </p:nvSpPr>
        <p:spPr>
          <a:xfrm>
            <a:off x="8704069" y="2578608"/>
            <a:ext cx="2938987" cy="3566160"/>
          </a:xfrm>
          <a:prstGeom prst="roundRect">
            <a:avLst>
              <a:gd name="adj" fmla="val 1867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813797" y="265176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813797" y="265176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9344149" y="2615184"/>
            <a:ext cx="2207467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841229" y="3218688"/>
            <a:ext cx="2664667" cy="2816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instructions for 2(n − 7) and for 2n − 7, then explain to Max why they are different machines.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Find the missing function</a:t>
            </a:r>
            <a:endParaRPr lang="en-US" sz="28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1284732"/>
          </a:xfrm>
          <a:prstGeom prst="roundRect">
            <a:avLst>
              <a:gd name="adj" fmla="val 7117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715506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715506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757934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11018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is x. The first function is multiply by 7. The output is 7x − 3. What is the second function?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7      </a:t>
            </a:r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3      </a:t>
            </a:r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3      </a:t>
            </a:r>
            <a:pPr algn="ctr" indent="0" marL="0">
              <a:buNone/>
            </a:pPr>
            <a:r>
              <a:rPr lang="en-US" sz="1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948940"/>
            <a:ext cx="4667802" cy="3195828"/>
          </a:xfrm>
          <a:prstGeom prst="roundRect">
            <a:avLst>
              <a:gd name="adj" fmla="val 1717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302209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302209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985516"/>
            <a:ext cx="3936282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589020"/>
            <a:ext cx="4393482" cy="24460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multiply by 7, the x has become 7x.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7x next to the output 7x − 3.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changed? A 3 has been taken away.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second function is subtract 3.</a:t>
            </a:r>
            <a:endParaRPr lang="en-US" sz="1800" dirty="0"/>
          </a:p>
        </p:txBody>
      </p:sp>
      <p:sp>
        <p:nvSpPr>
          <p:cNvPr id="17" name="col-Core"/>
          <p:cNvSpPr/>
          <p:nvPr/>
        </p:nvSpPr>
        <p:spPr>
          <a:xfrm>
            <a:off x="5490762" y="2948940"/>
            <a:ext cx="2938987" cy="3195828"/>
          </a:xfrm>
          <a:prstGeom prst="roundRect">
            <a:avLst>
              <a:gd name="adj" fmla="val 1867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5600490" y="302209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5600490" y="302209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6130842" y="2985516"/>
            <a:ext cx="2207467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5627922" y="3589020"/>
            <a:ext cx="2664667" cy="24460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× 7 you have 7x. What turns 7x into 7x − 3?</a:t>
            </a:r>
            <a:endParaRPr lang="en-US" sz="1800" dirty="0"/>
          </a:p>
        </p:txBody>
      </p:sp>
      <p:sp>
        <p:nvSpPr>
          <p:cNvPr id="22" name="col-Stretch"/>
          <p:cNvSpPr/>
          <p:nvPr/>
        </p:nvSpPr>
        <p:spPr>
          <a:xfrm>
            <a:off x="8704069" y="2948940"/>
            <a:ext cx="2938987" cy="3195828"/>
          </a:xfrm>
          <a:prstGeom prst="roundRect">
            <a:avLst>
              <a:gd name="adj" fmla="val 1867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813797" y="302209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813797" y="302209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9344149" y="2985516"/>
            <a:ext cx="2207467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841229" y="3589020"/>
            <a:ext cx="2664667" cy="24460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says the two functions are ÷ 7 and + 3. Explain what Max has written down instead of the functions, and when his pair would be useful.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800" dirty="0"/>
          </a:p>
        </p:txBody>
      </p:sp>
      <p:sp>
        <p:nvSpPr>
          <p:cNvPr id="7" name="exit-card"/>
          <p:cNvSpPr/>
          <p:nvPr/>
        </p:nvSpPr>
        <p:spPr>
          <a:xfrm>
            <a:off x="1645920" y="1389888"/>
            <a:ext cx="889985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2E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xit-hex"/>
          <p:cNvSpPr/>
          <p:nvPr/>
        </p:nvSpPr>
        <p:spPr>
          <a:xfrm>
            <a:off x="1143000" y="1618488"/>
            <a:ext cx="1005840" cy="871057"/>
          </a:xfrm>
          <a:prstGeom prst="hexagon">
            <a:avLst/>
          </a:prstGeom>
          <a:solidFill>
            <a:srgbClr val="2E4A8C"/>
          </a:solidFill>
          <a:ln w="25400">
            <a:solidFill>
              <a:srgbClr val="B8862B"/>
            </a:solidFill>
            <a:prstDash val="solid"/>
          </a:ln>
        </p:spPr>
      </p:sp>
      <p:sp>
        <p:nvSpPr>
          <p:cNvPr id="9" name="exit-hex-label"/>
          <p:cNvSpPr txBox="1"/>
          <p:nvPr/>
        </p:nvSpPr>
        <p:spPr>
          <a:xfrm>
            <a:off x="1143000" y="1618488"/>
            <a:ext cx="1005840" cy="87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2000" dirty="0"/>
          </a:p>
        </p:txBody>
      </p:sp>
      <p:sp>
        <p:nvSpPr>
          <p:cNvPr id="10" name="exit-q"/>
          <p:cNvSpPr txBox="1"/>
          <p:nvPr/>
        </p:nvSpPr>
        <p:spPr>
          <a:xfrm>
            <a:off x="2286000" y="1664208"/>
            <a:ext cx="7802575" cy="2615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 always gives the same output as: add 4, then multiply by 2?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2, then add 8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2, then multiply by 4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2, then add 4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8, then multiply by 2</a:t>
            </a:r>
            <a:endParaRPr lang="en-US" sz="2400" dirty="0"/>
          </a:p>
        </p:txBody>
      </p:sp>
      <p:sp>
        <p:nvSpPr>
          <p:cNvPr id="11" name="exit-answer-box"/>
          <p:cNvSpPr/>
          <p:nvPr/>
        </p:nvSpPr>
        <p:spPr>
          <a:xfrm>
            <a:off x="2286000" y="5047488"/>
            <a:ext cx="7619695" cy="822960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9DAAC9"/>
            </a:solidFill>
            <a:prstDash val="solid"/>
          </a:ln>
        </p:spPr>
      </p:sp>
      <p:sp>
        <p:nvSpPr>
          <p:cNvPr id="12" name="exit-answer-label"/>
          <p:cNvSpPr txBox="1"/>
          <p:nvPr/>
        </p:nvSpPr>
        <p:spPr>
          <a:xfrm>
            <a:off x="2423160" y="5047488"/>
            <a:ext cx="292608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answer: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Match the instructions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5n + 2  →  D  multiply by 5, then add 2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5(n + 2)  →  A  add 2, then multiply by 5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n/5 + 2  →  C  divide by 5, then add 2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+ 2)/5  →  B  add 2, then divide by 5</a:t>
            </a:r>
            <a:endParaRPr lang="en-US" sz="24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5n + 2 and n/5 + 2 the adding comes last. In 5(n + 2) and (n + 2)/5 the brackets or the fraction line show that add 2 came first.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Find the missing function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is x. The first function is multiply by 7. The output is 7x − 3. What is the second function?</a:t>
            </a:r>
            <a:endParaRPr lang="en-US" sz="18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 Subtract 3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multiply by 7 the input has become 7x. Taking 3 away gives 7x − 3, so the second function is subtract 3.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 always gives the same output as: add 4, then multiply by 2?</a:t>
            </a:r>
            <a:endParaRPr lang="en-US" sz="18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 Multiply by 2, then add 8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 then multiply by 2 gives 2(x + 4). Multiplying each term by 2 gives 2x + 8, which is multiply by 2 then add 8.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Astra maths">
  <a:themeElements>
    <a:clrScheme name="Ad Astra maths">
      <a:dk1>
        <a:srgbClr val="1E2229"/>
      </a:dk1>
      <a:lt1>
        <a:srgbClr val="FFFFFF"/>
      </a:lt1>
      <a:dk2>
        <a:srgbClr val="253B70"/>
      </a:dk2>
      <a:lt2>
        <a:srgbClr val="F0F2F7"/>
      </a:lt2>
      <a:accent1>
        <a:srgbClr val="2E4A8C"/>
      </a:accent1>
      <a:accent2>
        <a:srgbClr val="B8862B"/>
      </a:accent2>
      <a:accent3>
        <a:srgbClr val="8292BA"/>
      </a:accent3>
      <a:accent4>
        <a:srgbClr val="815E1E"/>
      </a:accent4>
      <a:accent5>
        <a:srgbClr val="4A505C"/>
      </a:accent5>
      <a:accent6>
        <a:srgbClr val="DEC69B"/>
      </a:accent6>
      <a:hlink>
        <a:srgbClr val="2E4A8C"/>
      </a:hlink>
      <a:folHlink>
        <a:srgbClr val="203462"/>
      </a:folHlink>
    </a:clrScheme>
    <a:fontScheme name="Ad Astra math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Notation and Substitution · Chapter 5: Finding a two-step function</dc:title>
  <dc:subject>Mathematics · Year 7</dc:subject>
  <dc:creator>Dr Vitor Merissi de Carvalho</dc:creator>
  <cp:lastModifiedBy>Dr Vitor Merissi de Carvalho</cp:lastModifiedBy>
  <cp:revision>1</cp:revision>
  <dcterms:created xsi:type="dcterms:W3CDTF">2026-10-19T16:23:20Z</dcterms:created>
  <dcterms:modified xsi:type="dcterms:W3CDTF">2026-10-19T16:23:20Z</dcterms:modified>
</cp:coreProperties>
</file>