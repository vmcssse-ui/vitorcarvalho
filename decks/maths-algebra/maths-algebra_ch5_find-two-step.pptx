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9e5e22e-ee71-5448-6563-d393fc25f479}">
          <p14:sldIdLst>
            <p14:sldId id="256"/>
          </p14:sldIdLst>
        </p14:section>
        <p14:section name="Gate" id="{85b78cd2-7e96-52c0-aa56-3bf8ec583f85}">
          <p14:sldIdLst>
            <p14:sldId id="257"/>
            <p14:sldId id="258"/>
          </p14:sldIdLst>
        </p14:section>
        <p14:section name="Pre-teach" id="{c8e7ac31-b950-6ba6-cca2-b41bcb7f873f}">
          <p14:sldIdLst>
            <p14:sldId id="259"/>
            <p14:sldId id="260"/>
          </p14:sldIdLst>
        </p14:section>
        <p14:section name="Read-along" id="{21a3931d-99a6-56b3-b59b-580952e8c87b}">
          <p14:sldIdLst>
            <p14:sldId id="261"/>
            <p14:sldId id="262"/>
          </p14:sldIdLst>
        </p14:section>
        <p14:section name="Teach" id="{4ae9eaee-7b5f-450d-20f2-82d927fdf731}">
          <p14:sldIdLst>
            <p14:sldId id="263"/>
            <p14:sldId id="264"/>
            <p14:sldId id="265"/>
          </p14:sldIdLst>
        </p14:section>
        <p14:section name="Routes" id="{f1b3eef2-064f-8b2a-a3fd-0c46db2b112e}">
          <p14:sldIdLst>
            <p14:sldId id="266"/>
            <p14:sldId id="267"/>
            <p14:sldId id="268"/>
          </p14:sldIdLst>
        </p14:section>
        <p14:section name="Close" id="{94143642-3e94-68cf-02ce-6645020a771d}">
          <p14:sldIdLst>
            <p14:sldId id="269"/>
          </p14:sldIdLst>
        </p14:section>
        <p14:section name="Answers" id="{126d25ee-e9fc-2587-4394-d875096a5f02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5 of 6: Finding a two-step function. Read an expression as a pair of instructions, and work out which function a machine is missing.
This deck covers the department's lesson: 7 (Find a function (two step): How do we read an expression as a pair of instructions and find a missing function?).
Read the big question aloud: "How can a function machine help us write, read and use algebra?"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Which pair of functions turns m into 4m + 9?  →  C   Multiply by 4, then add 9
2. Which expression means: add 3, then divide by 8?  →  C   (x + 3)/8
3. Work out 6 × (4 + 5).  →  54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C   Multiply by 4, then add 9. 4m shows that m was multiplied by 4. The + 9 shows that 9 was added afterwards.
2. C   (x + 3)/8. Add 3 to get x + 3. Divide the whole of it by 8: (x + 3)/8.
3. 54. Brackets first: 4 + 5 = 9. Then 6 × 9 = 54.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order of operations: brackets first, then × and ÷, then + and −. Example: "By the order of operations, 4 × 5 + 3 is 23, not 32."
• instruction: one step a machine does, such as add 2. Example: "7m + 4 gives two instructions: multiply by 7, then add 4."
• missing function: a function you have to work out from the input and the output. Example: "The missing function turns 7x into 7x − 3."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equivalent: worth the same for every value of the letter. Example: "2(x + 4) and 2x + 8 are equivalent."
• one-step machine: a machine with a single function. Example: "Multiply by 2 then multiply by 6 is the same as a one-step machine that multiplies by 12."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Sometimes a machine is missing a function.
2. You know the input and the output.
3. You have to work out what the machine does.
4. If p goes in and 5p + 7 comes out, look at the output.
5. The 5p tells you p was multiplied by 5.
6. The + 7 tells you 7 was added after that.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Brackets change the story.
8. 7(m + 5) means add 5 first, then multiply by 7.
9. 7m + 5 means multiply by 7 first, then add 5.
10. A fraction means divide.
11. The expression with p + 6 on top and 3 underneath means add 6, then divide by 3.
12. Read every expression like a list of instructions.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Reading an expression as instructions. Say it in your own words, then check understanding with a quick question: ask a pupil from the pre-teach group first, since they met these words and ideas before the lesson. Pupils try to recall before you re-explain.
An expression is a record of what a machine did. 7m + 4 says: multiply m by 7, then add 4. 7(m + 4) says: add 4 to m, then multiply the whole thing by 7. The brackets tell you the adding came first.
Fractions work the same way. m/7 + 4 says divide by 7, then add 4. (m + 4)/7 says add 4, then divide by 7, because the whole of m + 4 is on top.
This is the order of operations at work. Without brackets, multiplying and dividing happen before adding and subtracting: 4 × 5 + 3 = 23. With brackets, the bracket comes first: 4 × (5 + 3) = 32.
Worked example — model it step by step, thinking aloud: Work out 3 × 7 + 2 and 3 × (7 + 2). (1) Without brackets, multiply first: 3 × 7 = 21, then 21 + 2 = 23. (2) With brackets, do the bracket first: 7 + 2 = 9, then 3 × 9 = 27. Answer: 23, 27.
Tip: Read the expression from the letter outwards: what happened to m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Which function is missing?. Say it in your own words, then check understanding with a quick question: ask a pupil from the pre-teach group first, since they met these words and ideas before the lesson. Pupils try to recall before you re-explain.
Suppose x goes in, the first function is multiply by 5, and the output is 5x + 7. After the first function you have 5x. To get from 5x to 5x + 7 you add 7. The missing second function is add 7.
Suppose p goes in, the output is (p + 6)/3, and the second function is missing. The first function must be add 6, because p + 6 is on top of the fraction. The whole of p + 6 was then divided by 3. The missing function is divide by 3.
Max sees h go in, come out as 5h + 9, and writes the functions as ÷ 5 and − 9. He has written the inverses, the steps you would use to go backwards. The functions themselves are × 5 and + 9.
Worked example — model it step by step, thinking aloud: The input is k. The first function is multiply by 6 and the output is 6k − 5. What is the second function? (1) After multiply by 6, k has become 6k. (2) Compare 6k with the output 6k − 5. (3) A 5 has been taken away, so the second function is subtract 5. Answer: − 5.
Tip: Write the functions, not the inverses. The inverses are for going backwards.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Same machine, different look. Say it in your own words, then check understanding with a quick question: ask a pupil from the pre-teach group first, since they met these words and ideas before the lesson. Pupils try to recall before you re-explain.
Two different-looking machines can always give the same output. Add 4 and then multiply by 2 gives 2(x + 4). Multiply by 2 and then add 8 gives 2x + 8. Try x = 1: both give 10. Try x = 5: both give 18. The two expressions are equivalent.
Two multiplications can be squashed into one. Multiply by 2 and then multiply by 6 is the same as multiply by 12, because 2 × 6 = 12. Amir is right that this two-step machine can be written as a one-step machine.
Watch the wording. Nijah puts x through × 5 and then 'subtracted from 20' and gets 20 − 5x. Mo says the second function is − 20, which would give 5x − 20. Those are different, so Nijah is right. 'Subtracted from 20' means 20 take away your number.
Worked example — model it step by step, thinking aloud: A machine multiplies by 2, then multiplies by 6. The input is x. Write the output as a single term. (1) After the first step: 2x. (2) Multiply 2x by 6: 2 × 6 = 12, so you have 12x. (3) The same output comes from a one-step machine that multiplies by 12. Answer: 12x.
Tip: To test whether two machines match, put the same number through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Match the instructions.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expression to the instructions it gives.
Support — work through the steps with the group: (1) Start with the letter n and ask what happened to it first. (2) A number in front of n, or n alone on top of a fraction, means × or ÷ came first. (3) Brackets, or n + 2 on top of a fraction, mean the adding came first. (4) Check each pair by following the instructions from n.
Parallel worked example for Support (model it, do not give the task answer): Which instructions does 3(n − 4) give? The brackets hold n − 4, so subtract 4 came first.; The 3 outside multiplies the whole bracket.; Instructions: subtract 4, then multiply by 3.. Answer: subtract 4, then multiply by 3.
Core — reveal the hint only on request: Brackets or a fraction line that covers n + 2 mean add 2 came first.
Stretch — no help; when finished: Write the instructions for 2(n − 7) and for 2n − 7, then explain to Max why they are different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Match the instructions.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expression to the instructions it gives.
Support — work through the steps with the group: (1) Start with the letter n and ask what happened to it first. (2) A number in front of n, or n alone on top of a fraction, means × or ÷ came first. (3) Brackets, or n + 2 on top of a fraction, mean the adding came first. (4) Check each pair by following the instructions from n.
Parallel worked example for Support (model it, do not give the task answer): Which instructions does 3(n − 4) give? The brackets hold n − 4, so subtract 4 came first.; The 3 outside multiplies the whole bracket.; Instructions: subtract 4, then multiply by 3.. Answer: subtract 4, then multiply by 3.
Core — reveal the hint only on request: Brackets or a fraction line that covers n + 2 mean add 2 came first.
Stretch — no help; when finished: Write the instructions for 2(n − 7) and for 2n − 7, then explain to Max why they are different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Find the missing function.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The input is x. The first function is multiply by 7. The output is 7x − 3. What is the second function?
Support — work through the steps with the group: (1) After multiply by 7, the x has become 7x. (2) Write 7x next to the output 7x − 3. (3) What has changed? A 3 has been taken away. (4) So the second function is subtract 3.
Parallel worked example for Support (model it, do not give the task answer): The input is y. The first function is multiply by 4. The output is 4y + 9. What is the second function? After multiply by 4: 4y.; Compare 4y with 4y + 9: a 9 has been added.; The second function is add 9.. Answer: + 9.
Core — reveal the hint only on request: After × 7 you have 7x. What turns 7x into 7x − 3?
Stretch — no help; when finished: Max says the two functions are ÷ 7 and + 3. Explain what Max has written down instead of the functions, and when his pair would be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Which machine always gives the same output as: add 4, then multiply by 2?
Answer: A   Multiply by 2, then add 8. Add 4 then multiply by 2 gives 2(x + 4). Multiplying each term by 2 gives 2x + 8, which is multiply by 2 then add 8.
Source of this question: module 3 task ("Same machine or not?")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Match the instructions. Reveal the answer; pupils mark their own work in a different colour, then read the "why" together. Same destination for every lane, so one answer serves the whole class.
Answer: 5n + 2  →  D  multiply by 5, then add 2; 5(n + 2)  →  A  add 2, then multiply by 5; n/5 + 2  →  C  divide by 5, then add 2; (n + 2)/5  →  B  add 2, then divide by 5
Why: In 5n + 2 and n/5 + 2 the adding comes last. In 5(n + 2) and (n + 2)/5 the brackets or the fraction line show that add 2 came first.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Find the missing function. Reveal the answer; pupils mark their own work in a different colour, then read the "why" together. Same destination for every lane, so one answer serves the whole class.
Answer: C   Subtract 3
Why: After multiply by 7 the input has become 7x. Taking 3 away gives 7x − 3, so the second function is subtract 3.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A   Multiply by 2, then add 8
Why: Add 4 then multiply by 2 gives 2(x + 4). Multiplying each term by 2 gives 2x + 8, which is multiply by 2 then add 8.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Notation and Substitution · AQA KS3 → 8300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two-step function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function (two step)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a function machine help us write, read and use algebra?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functions turns m into 4m + 9?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4, then multiply by 9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9, then add 4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4, then add 9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9, then multiply by 4</a:t>
            </a:r>
            <a:endParaRPr lang="en-US" sz="20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expression means: add 3, then divide by 8?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x/8 + 3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+ 3/8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+ 3)/8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8(x + 3)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 × (4 + 5).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955040"/>
          </a:xfrm>
          <a:prstGeom prst="roundRect">
            <a:avLst>
              <a:gd name="adj" fmla="val 11489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8087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Multiply by 4, then add 9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493597"/>
            <a:ext cx="3149498" cy="251401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functions turns m into 4m + 9?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 shows that m was multiplied by 4. The + 9 shows that 9 was added afterwards.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(x + 3)/8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expression means: add 3, then divide by 8?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3 to get x + 3. Divide the whole of it by 8: (x + 3)/8.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 × (4 + 5).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first: 4 + 5 = 9. Then 6 × 9 = 54.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word-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8" name="word-hex"/>
          <p:cNvSpPr/>
          <p:nvPr/>
        </p:nvSpPr>
        <p:spPr>
          <a:xfrm>
            <a:off x="685800" y="180204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word-hex-label"/>
          <p:cNvSpPr txBox="1"/>
          <p:nvPr/>
        </p:nvSpPr>
        <p:spPr>
          <a:xfrm>
            <a:off x="685800" y="180204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word"/>
          <p:cNvSpPr txBox="1"/>
          <p:nvPr/>
        </p:nvSpPr>
        <p:spPr>
          <a:xfrm>
            <a:off x="1280160" y="1527048"/>
            <a:ext cx="2646578" cy="985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of operations</a:t>
            </a:r>
            <a:endParaRPr lang="en-US" sz="2600" dirty="0"/>
          </a:p>
        </p:txBody>
      </p:sp>
      <p:sp>
        <p:nvSpPr>
          <p:cNvPr id="11" name="word-rule"/>
          <p:cNvSpPr/>
          <p:nvPr/>
        </p:nvSpPr>
        <p:spPr>
          <a:xfrm>
            <a:off x="731520" y="2558288"/>
            <a:ext cx="314949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12" name="word-body"/>
          <p:cNvSpPr txBox="1"/>
          <p:nvPr/>
        </p:nvSpPr>
        <p:spPr>
          <a:xfrm>
            <a:off x="731520" y="2604008"/>
            <a:ext cx="3149498" cy="3403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first, then × and ÷, then + and −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order of operations, 4 × 5 + 3 is 23, not 32.</a:t>
            </a:r>
            <a:endParaRPr lang="en-US" sz="2200" dirty="0"/>
          </a:p>
        </p:txBody>
      </p:sp>
      <p:sp>
        <p:nvSpPr>
          <p:cNvPr id="13" name="word-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14" name="word-hex"/>
          <p:cNvSpPr/>
          <p:nvPr/>
        </p:nvSpPr>
        <p:spPr>
          <a:xfrm>
            <a:off x="4475378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word-hex-label"/>
          <p:cNvSpPr txBox="1"/>
          <p:nvPr/>
        </p:nvSpPr>
        <p:spPr>
          <a:xfrm>
            <a:off x="4475378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word"/>
          <p:cNvSpPr txBox="1"/>
          <p:nvPr/>
        </p:nvSpPr>
        <p:spPr>
          <a:xfrm>
            <a:off x="5069738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</a:t>
            </a:r>
            <a:endParaRPr lang="en-US" sz="2600" dirty="0"/>
          </a:p>
        </p:txBody>
      </p:sp>
      <p:sp>
        <p:nvSpPr>
          <p:cNvPr id="17" name="word-rule"/>
          <p:cNvSpPr/>
          <p:nvPr/>
        </p:nvSpPr>
        <p:spPr>
          <a:xfrm>
            <a:off x="4521098" y="2129028"/>
            <a:ext cx="314949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18" name="word-body"/>
          <p:cNvSpPr txBox="1"/>
          <p:nvPr/>
        </p:nvSpPr>
        <p:spPr>
          <a:xfrm>
            <a:off x="4521098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a machine does, such as add 2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 + 4 gives two instructions: multiply by 7, then add 4.</a:t>
            </a:r>
            <a:endParaRPr lang="en-US" sz="2200" dirty="0"/>
          </a:p>
        </p:txBody>
      </p:sp>
      <p:sp>
        <p:nvSpPr>
          <p:cNvPr id="19" name="word-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0" name="word-hex"/>
          <p:cNvSpPr/>
          <p:nvPr/>
        </p:nvSpPr>
        <p:spPr>
          <a:xfrm>
            <a:off x="8264957" y="180204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1" name="word-hex-label"/>
          <p:cNvSpPr txBox="1"/>
          <p:nvPr/>
        </p:nvSpPr>
        <p:spPr>
          <a:xfrm>
            <a:off x="8264957" y="180204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word"/>
          <p:cNvSpPr txBox="1"/>
          <p:nvPr/>
        </p:nvSpPr>
        <p:spPr>
          <a:xfrm>
            <a:off x="8859317" y="1527048"/>
            <a:ext cx="2646578" cy="985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function</a:t>
            </a:r>
            <a:endParaRPr lang="en-US" sz="2600" dirty="0"/>
          </a:p>
        </p:txBody>
      </p:sp>
      <p:sp>
        <p:nvSpPr>
          <p:cNvPr id="23" name="word-rule"/>
          <p:cNvSpPr/>
          <p:nvPr/>
        </p:nvSpPr>
        <p:spPr>
          <a:xfrm>
            <a:off x="8310677" y="2558288"/>
            <a:ext cx="314949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24" name="word-body"/>
          <p:cNvSpPr txBox="1"/>
          <p:nvPr/>
        </p:nvSpPr>
        <p:spPr>
          <a:xfrm>
            <a:off x="8310677" y="2604008"/>
            <a:ext cx="3149498" cy="3403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you have to work out from the input and the output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function turns 7x into 7x − 3.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word-card"/>
          <p:cNvSpPr/>
          <p:nvPr/>
        </p:nvSpPr>
        <p:spPr>
          <a:xfrm>
            <a:off x="548640" y="1389888"/>
            <a:ext cx="5410048" cy="4754880"/>
          </a:xfrm>
          <a:prstGeom prst="roundRect">
            <a:avLst>
              <a:gd name="adj" fmla="val 1154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8" name="word-hex"/>
          <p:cNvSpPr/>
          <p:nvPr/>
        </p:nvSpPr>
        <p:spPr>
          <a:xfrm>
            <a:off x="685800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word-hex-label"/>
          <p:cNvSpPr txBox="1"/>
          <p:nvPr/>
        </p:nvSpPr>
        <p:spPr>
          <a:xfrm>
            <a:off x="685800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0" name="word"/>
          <p:cNvSpPr txBox="1"/>
          <p:nvPr/>
        </p:nvSpPr>
        <p:spPr>
          <a:xfrm>
            <a:off x="1280160" y="1527048"/>
            <a:ext cx="454136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equivalent</a:t>
            </a:r>
            <a:endParaRPr lang="en-US" sz="2600" dirty="0"/>
          </a:p>
        </p:txBody>
      </p:sp>
      <p:sp>
        <p:nvSpPr>
          <p:cNvPr id="11" name="word-rule"/>
          <p:cNvSpPr/>
          <p:nvPr/>
        </p:nvSpPr>
        <p:spPr>
          <a:xfrm>
            <a:off x="731520" y="2129028"/>
            <a:ext cx="504428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12" name="word-body"/>
          <p:cNvSpPr txBox="1"/>
          <p:nvPr/>
        </p:nvSpPr>
        <p:spPr>
          <a:xfrm>
            <a:off x="731520" y="2174748"/>
            <a:ext cx="504428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the same for every value of the letter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2(x + 4) and 2x + 8 are equivalent.</a:t>
            </a:r>
            <a:endParaRPr lang="en-US" sz="2200" dirty="0"/>
          </a:p>
        </p:txBody>
      </p:sp>
      <p:sp>
        <p:nvSpPr>
          <p:cNvPr id="13" name="word-card"/>
          <p:cNvSpPr/>
          <p:nvPr/>
        </p:nvSpPr>
        <p:spPr>
          <a:xfrm>
            <a:off x="6233008" y="1389888"/>
            <a:ext cx="5410048" cy="4754880"/>
          </a:xfrm>
          <a:prstGeom prst="roundRect">
            <a:avLst>
              <a:gd name="adj" fmla="val 1154"/>
            </a:avLst>
          </a:prstGeom>
          <a:solidFill>
            <a:srgbClr val="F5F6F9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14" name="word-hex"/>
          <p:cNvSpPr/>
          <p:nvPr/>
        </p:nvSpPr>
        <p:spPr>
          <a:xfrm>
            <a:off x="6370168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word-hex-label"/>
          <p:cNvSpPr txBox="1"/>
          <p:nvPr/>
        </p:nvSpPr>
        <p:spPr>
          <a:xfrm>
            <a:off x="6370168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word"/>
          <p:cNvSpPr txBox="1"/>
          <p:nvPr/>
        </p:nvSpPr>
        <p:spPr>
          <a:xfrm>
            <a:off x="6964528" y="1527048"/>
            <a:ext cx="454136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one-step machine</a:t>
            </a:r>
            <a:endParaRPr lang="en-US" sz="2600" dirty="0"/>
          </a:p>
        </p:txBody>
      </p:sp>
      <p:sp>
        <p:nvSpPr>
          <p:cNvPr id="17" name="word-rule"/>
          <p:cNvSpPr/>
          <p:nvPr/>
        </p:nvSpPr>
        <p:spPr>
          <a:xfrm>
            <a:off x="6415888" y="2129028"/>
            <a:ext cx="5044288" cy="0"/>
          </a:xfrm>
          <a:prstGeom prst="line">
            <a:avLst/>
          </a:prstGeom>
          <a:ln w="12700">
            <a:solidFill>
              <a:srgbClr val="B2BCD4"/>
            </a:solidFill>
            <a:prstDash val="solid"/>
          </a:ln>
        </p:spPr>
      </p:sp>
      <p:sp>
        <p:nvSpPr>
          <p:cNvPr id="18" name="word-body"/>
          <p:cNvSpPr txBox="1"/>
          <p:nvPr/>
        </p:nvSpPr>
        <p:spPr>
          <a:xfrm>
            <a:off x="6415888" y="2174748"/>
            <a:ext cx="504428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with a single function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2 then multiply by 6 is the same as a one-step machine that multiplies by 12.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machine is missing a function.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the input and the output.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to work out what the machine does.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goes in and 5p + 7 comes out, look at the output.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5p tells you p was multiplied by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+ 7 tells you 7 was added after that.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change the story.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7(m + 5) means add 5 first, then multiply by 7.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 + 5 means multiply by 7 first, then add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means divide.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expression with p + 6 on top and 3 underneath means add 6, then divide by 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expression like a list of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an expression as instructions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expression from the letter outwards: what happened to m first?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3 × 7 + 2 and 3 × (7 + 2).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824722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824722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brackets, multiply first: 3 × 7 = 21, then 21 + 2 = 23.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495548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710674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710674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495548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brackets, do the bracket first: 7 + 2 = 9, then 3 × 9 = 27.</a:t>
            </a:r>
            <a:endParaRPr lang="en-US" sz="1800" dirty="0"/>
          </a:p>
        </p:txBody>
      </p:sp>
      <p:sp>
        <p:nvSpPr>
          <p:cNvPr id="22" name="worked-answer"/>
          <p:cNvSpPr/>
          <p:nvPr/>
        </p:nvSpPr>
        <p:spPr>
          <a:xfrm>
            <a:off x="6126480" y="44272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23, 27</a:t>
            </a:r>
            <a:endParaRPr lang="en-US" sz="1800" dirty="0"/>
          </a:p>
        </p:txBody>
      </p:sp>
      <p:sp>
        <p:nvSpPr>
          <p:cNvPr id="23" name="bullet-card"/>
          <p:cNvSpPr/>
          <p:nvPr/>
        </p:nvSpPr>
        <p:spPr>
          <a:xfrm>
            <a:off x="548640" y="1389888"/>
            <a:ext cx="5074920" cy="903901"/>
          </a:xfrm>
          <a:prstGeom prst="roundRect">
            <a:avLst>
              <a:gd name="adj" fmla="val 8093"/>
            </a:avLst>
          </a:prstGeom>
          <a:solidFill>
            <a:srgbClr val="F5F6F9"/>
          </a:solidFill>
          <a:ln/>
        </p:spPr>
      </p:sp>
      <p:sp>
        <p:nvSpPr>
          <p:cNvPr id="24" name="bullet-hex"/>
          <p:cNvSpPr/>
          <p:nvPr/>
        </p:nvSpPr>
        <p:spPr>
          <a:xfrm>
            <a:off x="676656" y="1675546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5" name="bullet"/>
          <p:cNvSpPr txBox="1"/>
          <p:nvPr/>
        </p:nvSpPr>
        <p:spPr>
          <a:xfrm>
            <a:off x="1143000" y="1389888"/>
            <a:ext cx="4389120" cy="9039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is a record of what a machine did.</a:t>
            </a:r>
            <a:endParaRPr lang="en-US" sz="2200" dirty="0"/>
          </a:p>
        </p:txBody>
      </p:sp>
      <p:sp>
        <p:nvSpPr>
          <p:cNvPr id="26" name="bullet-card"/>
          <p:cNvSpPr/>
          <p:nvPr/>
        </p:nvSpPr>
        <p:spPr>
          <a:xfrm>
            <a:off x="548640" y="2440093"/>
            <a:ext cx="5074920" cy="903901"/>
          </a:xfrm>
          <a:prstGeom prst="roundRect">
            <a:avLst>
              <a:gd name="adj" fmla="val 8093"/>
            </a:avLst>
          </a:prstGeom>
          <a:solidFill>
            <a:srgbClr val="F5F6F9"/>
          </a:solidFill>
          <a:ln/>
        </p:spPr>
      </p:sp>
      <p:sp>
        <p:nvSpPr>
          <p:cNvPr id="27" name="bullet-hex"/>
          <p:cNvSpPr/>
          <p:nvPr/>
        </p:nvSpPr>
        <p:spPr>
          <a:xfrm>
            <a:off x="676656" y="272575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bullet"/>
          <p:cNvSpPr txBox="1"/>
          <p:nvPr/>
        </p:nvSpPr>
        <p:spPr>
          <a:xfrm>
            <a:off x="1143000" y="2440093"/>
            <a:ext cx="4389120" cy="9039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work the same way. m/7 + 4 says divide by 7, then add 4.</a:t>
            </a:r>
            <a:endParaRPr lang="en-US" sz="2200" dirty="0"/>
          </a:p>
        </p:txBody>
      </p:sp>
      <p:sp>
        <p:nvSpPr>
          <p:cNvPr id="29" name="bullet-card"/>
          <p:cNvSpPr/>
          <p:nvPr/>
        </p:nvSpPr>
        <p:spPr>
          <a:xfrm>
            <a:off x="548640" y="3490299"/>
            <a:ext cx="5074920" cy="1585637"/>
          </a:xfrm>
          <a:prstGeom prst="roundRect">
            <a:avLst>
              <a:gd name="adj" fmla="val 4613"/>
            </a:avLst>
          </a:prstGeom>
          <a:solidFill>
            <a:srgbClr val="F5F6F9"/>
          </a:solidFill>
          <a:ln/>
        </p:spPr>
      </p:sp>
      <p:sp>
        <p:nvSpPr>
          <p:cNvPr id="30" name="bullet-hex"/>
          <p:cNvSpPr/>
          <p:nvPr/>
        </p:nvSpPr>
        <p:spPr>
          <a:xfrm>
            <a:off x="676656" y="4116825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1" name="bullet"/>
          <p:cNvSpPr txBox="1"/>
          <p:nvPr/>
        </p:nvSpPr>
        <p:spPr>
          <a:xfrm>
            <a:off x="1143000" y="3490299"/>
            <a:ext cx="4389120" cy="158563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order of operations at work. Without brackets, multiplying and dividing happen before adding and subtracting: 4 × 5 + 3 = 23.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function is missing?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functions, not the inverses. The inverses are for going backwards.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is k. The first function is multiply by 6 and the output is 6k − 5. What is the second function?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888488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989822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989822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888488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multiply by 6, k has become 6k.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54685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64819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64819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54685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6k with the output 6k − 5.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4205224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42035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42035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4205224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 has been taken away, so the second function is subtract 5.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5136896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− 5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027853"/>
          </a:xfrm>
          <a:prstGeom prst="roundRect">
            <a:avLst>
              <a:gd name="adj" fmla="val 711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37522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02785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x goes in, the first function is multiply by 5, and the output is 5x + 7.</a:t>
            </a:r>
            <a:endParaRPr lang="en-US" sz="20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564045"/>
            <a:ext cx="5074920" cy="1337733"/>
          </a:xfrm>
          <a:prstGeom prst="roundRect">
            <a:avLst>
              <a:gd name="adj" fmla="val 5468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564045"/>
            <a:ext cx="4389120" cy="133773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p goes in, the output is (p + 6)/3, and the second function is missing.</a:t>
            </a:r>
            <a:endParaRPr lang="en-US" sz="20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048083"/>
            <a:ext cx="5074920" cy="1027853"/>
          </a:xfrm>
          <a:prstGeom prst="roundRect">
            <a:avLst>
              <a:gd name="adj" fmla="val 711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95717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048083"/>
            <a:ext cx="4389120" cy="102785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sees h go in, come out as 5h + 9, and writes the functions as ÷ 5 and − 9.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machine, different look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test whether two machines match, put the same number through both.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multiplies by 2, then multiplies by 6. The input is x. Write the output as a single term.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888488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989822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989822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888488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first step: 2x.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54685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64819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64819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54685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2x by 6: 2 × 6 = 12, so you have 12x.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4205224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42035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42035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4205224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output comes from a one-step machine that multiplies by 12.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5136896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12x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038183"/>
          </a:xfrm>
          <a:prstGeom prst="roundRect">
            <a:avLst>
              <a:gd name="adj" fmla="val 7046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42687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03818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different-looking machines can always give the same output. Add 4 and then multiply by 2 gives 2(x + 4).</a:t>
            </a:r>
            <a:endParaRPr lang="en-US" sz="18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574375"/>
            <a:ext cx="5074920" cy="1317075"/>
          </a:xfrm>
          <a:prstGeom prst="roundRect">
            <a:avLst>
              <a:gd name="adj" fmla="val 5554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574375"/>
            <a:ext cx="4389120" cy="131707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multiplications can be squashed into one. Multiply by 2 and then multiply by 6 is the same as multiply by 12, because 2 × 6 = 12.</a:t>
            </a:r>
            <a:endParaRPr lang="en-US" sz="18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037753"/>
            <a:ext cx="5074920" cy="1038183"/>
          </a:xfrm>
          <a:prstGeom prst="roundRect">
            <a:avLst>
              <a:gd name="adj" fmla="val 7046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90552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037753"/>
            <a:ext cx="4389120" cy="103818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wording. Nijah puts x through × 5 and then 'subtracted from 20' and gets 20 − 5x.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task: Match the instructions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822960" y="1664208"/>
            <a:ext cx="822960" cy="71268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822960" y="1664208"/>
            <a:ext cx="822960" cy="712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ask"/>
          <p:cNvSpPr txBox="1"/>
          <p:nvPr/>
        </p:nvSpPr>
        <p:spPr>
          <a:xfrm>
            <a:off x="1828800" y="1618488"/>
            <a:ext cx="8534095" cy="4988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expression to the instructions it gives.</a:t>
            </a:r>
            <a:endParaRPr lang="en-US" sz="2400" dirty="0"/>
          </a:p>
        </p:txBody>
      </p:sp>
      <p:sp>
        <p:nvSpPr>
          <p:cNvPr id="11" name="match-card"/>
          <p:cNvSpPr/>
          <p:nvPr/>
        </p:nvSpPr>
        <p:spPr>
          <a:xfrm>
            <a:off x="777240" y="2468331"/>
            <a:ext cx="3492295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12" name="match-hex"/>
          <p:cNvSpPr/>
          <p:nvPr/>
        </p:nvSpPr>
        <p:spPr>
          <a:xfrm>
            <a:off x="850392" y="2704443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match-hex-label"/>
          <p:cNvSpPr txBox="1"/>
          <p:nvPr/>
        </p:nvSpPr>
        <p:spPr>
          <a:xfrm>
            <a:off x="850392" y="2704443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match-text"/>
          <p:cNvSpPr txBox="1"/>
          <p:nvPr/>
        </p:nvSpPr>
        <p:spPr>
          <a:xfrm>
            <a:off x="1298448" y="2468331"/>
            <a:ext cx="2897935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5n + 2</a:t>
            </a:r>
            <a:endParaRPr lang="en-US" sz="2200" dirty="0"/>
          </a:p>
        </p:txBody>
      </p:sp>
      <p:sp>
        <p:nvSpPr>
          <p:cNvPr id="15" name="match-card"/>
          <p:cNvSpPr/>
          <p:nvPr/>
        </p:nvSpPr>
        <p:spPr>
          <a:xfrm>
            <a:off x="4635295" y="2468331"/>
            <a:ext cx="6779160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16" name="match-hex"/>
          <p:cNvSpPr/>
          <p:nvPr/>
        </p:nvSpPr>
        <p:spPr>
          <a:xfrm>
            <a:off x="4708447" y="2704443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7" name="match-hex-label"/>
          <p:cNvSpPr txBox="1"/>
          <p:nvPr/>
        </p:nvSpPr>
        <p:spPr>
          <a:xfrm>
            <a:off x="4708447" y="2704443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match-text"/>
          <p:cNvSpPr txBox="1"/>
          <p:nvPr/>
        </p:nvSpPr>
        <p:spPr>
          <a:xfrm>
            <a:off x="5156503" y="2468331"/>
            <a:ext cx="6184800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2, then multiply by 5</a:t>
            </a:r>
            <a:endParaRPr lang="en-US" sz="2200" dirty="0"/>
          </a:p>
        </p:txBody>
      </p:sp>
      <p:sp>
        <p:nvSpPr>
          <p:cNvPr id="19" name="match-card"/>
          <p:cNvSpPr/>
          <p:nvPr/>
        </p:nvSpPr>
        <p:spPr>
          <a:xfrm>
            <a:off x="777240" y="3364581"/>
            <a:ext cx="3492295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20" name="match-hex"/>
          <p:cNvSpPr/>
          <p:nvPr/>
        </p:nvSpPr>
        <p:spPr>
          <a:xfrm>
            <a:off x="850392" y="3600692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1" name="match-hex-label"/>
          <p:cNvSpPr txBox="1"/>
          <p:nvPr/>
        </p:nvSpPr>
        <p:spPr>
          <a:xfrm>
            <a:off x="850392" y="360069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match-text"/>
          <p:cNvSpPr txBox="1"/>
          <p:nvPr/>
        </p:nvSpPr>
        <p:spPr>
          <a:xfrm>
            <a:off x="1298448" y="3364581"/>
            <a:ext cx="2897935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5(n + 2)</a:t>
            </a:r>
            <a:endParaRPr lang="en-US" sz="2200" dirty="0"/>
          </a:p>
        </p:txBody>
      </p:sp>
      <p:sp>
        <p:nvSpPr>
          <p:cNvPr id="23" name="match-card"/>
          <p:cNvSpPr/>
          <p:nvPr/>
        </p:nvSpPr>
        <p:spPr>
          <a:xfrm>
            <a:off x="4635295" y="3364581"/>
            <a:ext cx="6779160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24" name="match-hex"/>
          <p:cNvSpPr/>
          <p:nvPr/>
        </p:nvSpPr>
        <p:spPr>
          <a:xfrm>
            <a:off x="4708447" y="3600692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5" name="match-hex-label"/>
          <p:cNvSpPr txBox="1"/>
          <p:nvPr/>
        </p:nvSpPr>
        <p:spPr>
          <a:xfrm>
            <a:off x="4708447" y="360069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26" name="match-text"/>
          <p:cNvSpPr txBox="1"/>
          <p:nvPr/>
        </p:nvSpPr>
        <p:spPr>
          <a:xfrm>
            <a:off x="5156503" y="3364581"/>
            <a:ext cx="6184800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2, then divide by 5</a:t>
            </a:r>
            <a:endParaRPr lang="en-US" sz="2200" dirty="0"/>
          </a:p>
        </p:txBody>
      </p:sp>
      <p:sp>
        <p:nvSpPr>
          <p:cNvPr id="27" name="match-card"/>
          <p:cNvSpPr/>
          <p:nvPr/>
        </p:nvSpPr>
        <p:spPr>
          <a:xfrm>
            <a:off x="777240" y="4260830"/>
            <a:ext cx="3492295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28" name="match-hex"/>
          <p:cNvSpPr/>
          <p:nvPr/>
        </p:nvSpPr>
        <p:spPr>
          <a:xfrm>
            <a:off x="850392" y="449694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match-hex-label"/>
          <p:cNvSpPr txBox="1"/>
          <p:nvPr/>
        </p:nvSpPr>
        <p:spPr>
          <a:xfrm>
            <a:off x="850392" y="449694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match-text"/>
          <p:cNvSpPr txBox="1"/>
          <p:nvPr/>
        </p:nvSpPr>
        <p:spPr>
          <a:xfrm>
            <a:off x="1298448" y="4260830"/>
            <a:ext cx="2897935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n/5 + 2</a:t>
            </a:r>
            <a:endParaRPr lang="en-US" sz="2200" dirty="0"/>
          </a:p>
        </p:txBody>
      </p:sp>
      <p:sp>
        <p:nvSpPr>
          <p:cNvPr id="31" name="match-card"/>
          <p:cNvSpPr/>
          <p:nvPr/>
        </p:nvSpPr>
        <p:spPr>
          <a:xfrm>
            <a:off x="4635295" y="4260830"/>
            <a:ext cx="6779160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32" name="match-hex"/>
          <p:cNvSpPr/>
          <p:nvPr/>
        </p:nvSpPr>
        <p:spPr>
          <a:xfrm>
            <a:off x="4708447" y="449694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3" name="match-hex-label"/>
          <p:cNvSpPr txBox="1"/>
          <p:nvPr/>
        </p:nvSpPr>
        <p:spPr>
          <a:xfrm>
            <a:off x="4708447" y="449694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34" name="match-text"/>
          <p:cNvSpPr txBox="1"/>
          <p:nvPr/>
        </p:nvSpPr>
        <p:spPr>
          <a:xfrm>
            <a:off x="5156503" y="4260830"/>
            <a:ext cx="6184800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5, then add 2</a:t>
            </a:r>
            <a:endParaRPr lang="en-US" sz="2200" dirty="0"/>
          </a:p>
        </p:txBody>
      </p:sp>
      <p:sp>
        <p:nvSpPr>
          <p:cNvPr id="35" name="match-card"/>
          <p:cNvSpPr/>
          <p:nvPr/>
        </p:nvSpPr>
        <p:spPr>
          <a:xfrm>
            <a:off x="777240" y="5157079"/>
            <a:ext cx="3492295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36" name="match-hex"/>
          <p:cNvSpPr/>
          <p:nvPr/>
        </p:nvSpPr>
        <p:spPr>
          <a:xfrm>
            <a:off x="850392" y="539319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7" name="match-hex-label"/>
          <p:cNvSpPr txBox="1"/>
          <p:nvPr/>
        </p:nvSpPr>
        <p:spPr>
          <a:xfrm>
            <a:off x="850392" y="539319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8" name="match-text"/>
          <p:cNvSpPr txBox="1"/>
          <p:nvPr/>
        </p:nvSpPr>
        <p:spPr>
          <a:xfrm>
            <a:off x="1298448" y="5157079"/>
            <a:ext cx="2897935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 + 2)/5</a:t>
            </a:r>
            <a:endParaRPr lang="en-US" sz="2200" dirty="0"/>
          </a:p>
        </p:txBody>
      </p:sp>
      <p:sp>
        <p:nvSpPr>
          <p:cNvPr id="39" name="match-card"/>
          <p:cNvSpPr/>
          <p:nvPr/>
        </p:nvSpPr>
        <p:spPr>
          <a:xfrm>
            <a:off x="4635295" y="5157079"/>
            <a:ext cx="6779160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40" name="match-hex"/>
          <p:cNvSpPr/>
          <p:nvPr/>
        </p:nvSpPr>
        <p:spPr>
          <a:xfrm>
            <a:off x="4708447" y="539319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41" name="match-hex-label"/>
          <p:cNvSpPr txBox="1"/>
          <p:nvPr/>
        </p:nvSpPr>
        <p:spPr>
          <a:xfrm>
            <a:off x="4708447" y="539319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42" name="match-text"/>
          <p:cNvSpPr txBox="1"/>
          <p:nvPr/>
        </p:nvSpPr>
        <p:spPr>
          <a:xfrm>
            <a:off x="5156503" y="5157079"/>
            <a:ext cx="6184800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5, then add 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Match the instructions</a:t>
            </a:r>
            <a:endParaRPr lang="en-US" sz="30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30340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30340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572768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31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expression to the instructions it gives.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578608"/>
            <a:ext cx="4667802" cy="3566160"/>
          </a:xfrm>
          <a:prstGeom prst="roundRect">
            <a:avLst>
              <a:gd name="adj" fmla="val 1538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15184"/>
            <a:ext cx="3936282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18688"/>
            <a:ext cx="4393482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letter n and ask what happened to it first.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front of n, or n alone on top of a fraction, means × or ÷ came first.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or n + 2 on top of a fraction, mean the adding came first.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 pair by following the instructions from n.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5490762" y="2578608"/>
            <a:ext cx="2938987" cy="3566160"/>
          </a:xfrm>
          <a:prstGeom prst="roundRect">
            <a:avLst>
              <a:gd name="adj" fmla="val 1867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5600490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5600490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6130842" y="2615184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5627922" y="3218688"/>
            <a:ext cx="2664667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or a fraction line that covers n + 2 mean add 2 came first.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8704069" y="2578608"/>
            <a:ext cx="2938987" cy="3566160"/>
          </a:xfrm>
          <a:prstGeom prst="roundRect">
            <a:avLst>
              <a:gd name="adj" fmla="val 1867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813797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813797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9344149" y="2615184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841229" y="3218688"/>
            <a:ext cx="2664667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instructions for 2(n − 7) and for 2n − 7, then explain to Max why they are different machines.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Find the missing function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1284732"/>
          </a:xfrm>
          <a:prstGeom prst="roundRect">
            <a:avLst>
              <a:gd name="adj" fmla="val 7117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71550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71550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75793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11018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is x. The first function is multiply by 7. The output is 7x − 3. What is the second function?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7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3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3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3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948940"/>
            <a:ext cx="4667802" cy="3195828"/>
          </a:xfrm>
          <a:prstGeom prst="roundRect">
            <a:avLst>
              <a:gd name="adj" fmla="val 1717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302209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302209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985516"/>
            <a:ext cx="3936282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589020"/>
            <a:ext cx="4393482" cy="24460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multiply by 7, the x has become 7x.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7x next to the output 7x − 3.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changed? A 3 has been taken away.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second function is subtract 3.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5490762" y="2948940"/>
            <a:ext cx="2938987" cy="3195828"/>
          </a:xfrm>
          <a:prstGeom prst="roundRect">
            <a:avLst>
              <a:gd name="adj" fmla="val 1867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5600490" y="302209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5600490" y="302209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6130842" y="2985516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5627922" y="3589020"/>
            <a:ext cx="2664667" cy="24460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× 7 you have 7x. What turns 7x into 7x − 3?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8704069" y="2948940"/>
            <a:ext cx="2938987" cy="3195828"/>
          </a:xfrm>
          <a:prstGeom prst="roundRect">
            <a:avLst>
              <a:gd name="adj" fmla="val 1867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813797" y="302209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813797" y="302209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9344149" y="2985516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841229" y="3589020"/>
            <a:ext cx="2664667" cy="24460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says the two functions are ÷ 7 and + 3. Explain what Max has written down instead of the functions, and when his pair would be useful.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6151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machine always gives the same output as: add 4, then multiply by 2?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2, then add 8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2, then multiply by 4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2, then add 4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8, then multiply by 2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047488"/>
            <a:ext cx="7619695" cy="82296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047488"/>
            <a:ext cx="2926080" cy="8229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Match the instructions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5n + 2  →  D  multiply by 5, then add 2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5(n + 2)  →  A  add 2, then multiply by 5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n/5 + 2  →  C  divide by 5, then add 2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 + 2)/5  →  B  add 2, then divide by 5</a:t>
            </a:r>
            <a:endParaRPr lang="en-US" sz="24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5n + 2 and n/5 + 2 the adding comes last. In 5(n + 2) and (n + 2)/5 the brackets or the fraction line show that add 2 came first.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Find the missing function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 is x. The first function is multiply by 7. The output is 7x − 3. What is the second function?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  Subtract 3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multiply by 7 the input has become 7x. Taking 3 away gives 7x − 3, so the second function is subtract 3.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machine always gives the same output as: add 4, then multiply by 2?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 Multiply by 2, then add 8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4 then multiply by 2 gives 2(x + 4). Multiplying each term by 2 gives 2x + 8, which is multiply by 2 then add 8.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Algebraic Notation and Substitution · Chapter 5: Finding a two-step function</dc:title>
  <dc:subject>Mathematics · Year 7</dc:subject>
  <dc:creator>Dr Vitor Merissi de Carvalho</dc:creator>
  <cp:lastModifiedBy>Dr Vitor Merissi de Carvalho</cp:lastModifiedBy>
  <cp:revision>1</cp:revision>
  <dcterms:created xsi:type="dcterms:W3CDTF">2026-10-19T06:08:09Z</dcterms:created>
  <dcterms:modified xsi:type="dcterms:W3CDTF">2026-10-19T06:08:09Z</dcterms:modified>
</cp:coreProperties>
</file>