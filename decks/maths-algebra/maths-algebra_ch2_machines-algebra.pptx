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d450816-1355-969e-cf46-67daad3f0d97}">
          <p14:sldIdLst>
            <p14:sldId id="256"/>
          </p14:sldIdLst>
        </p14:section>
        <p14:section name="Gate" id="{738fdc03-9d9a-8ecf-87c7-279fc8bd4ec2}">
          <p14:sldIdLst>
            <p14:sldId id="257"/>
            <p14:sldId id="258"/>
          </p14:sldIdLst>
        </p14:section>
        <p14:section name="Pre-teach" id="{bc0ba0c7-cf9a-c479-f4c2-fff20c1e9f8f}">
          <p14:sldIdLst>
            <p14:sldId id="259"/>
          </p14:sldIdLst>
        </p14:section>
        <p14:section name="Read-along" id="{635d7de6-fbb3-2162-adde-c5abcd52f084}">
          <p14:sldIdLst>
            <p14:sldId id="260"/>
            <p14:sldId id="261"/>
          </p14:sldIdLst>
        </p14:section>
        <p14:section name="Teach" id="{360e5483-be15-6401-1770-cec9e272b8bc}">
          <p14:sldIdLst>
            <p14:sldId id="262"/>
            <p14:sldId id="263"/>
            <p14:sldId id="264"/>
          </p14:sldIdLst>
        </p14:section>
        <p14:section name="Routes" id="{381a5888-882b-6283-fd29-54a0ac0c4123}">
          <p14:sldIdLst>
            <p14:sldId id="265"/>
            <p14:sldId id="266"/>
          </p14:sldIdLst>
        </p14:section>
        <p14:section name="Close" id="{cbdc5fab-1ca7-96ee-6076-984c4bcbc189}">
          <p14:sldIdLst>
            <p14:sldId id="267"/>
          </p14:sldIdLst>
        </p14:section>
        <p14:section name="Answers" id="{240562cf-a14d-297d-01df-208e005df95d}">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Function machines with algebra. Put a letter through a machine, write the output as an expression, and work out what a machine does.
This deck covers the department's lessons: 2 (1-step function machines (algebra): What happens when the input of a machine is a letter?); 3 (Find a function (one step): How can we work out what a machine does from its input and output?).
Read the big question aloud: "How can a function machine help us write, read and use algebra?"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machine multiplies by 3. The input is 2a. What is the output?  →  B   6a
2. A machine subtracts 4. The input is 4y. What is the output?  →  B   4y − 4
3. The input is 9 and the output is 27. The function could be multiply by ___.  →  3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6a. Multiply the numbers: 2 × 3 = 6. The output is 6a.
2. B   4y − 4. Taking 4 away from 4y gives 4y − 4. The y term does not change.
3. 3. 9 × 3 = 27, so the function could be multiply by 3. It could also be add 18.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variable: a letter that stands for any number. Example: "In 3a, the letter a is the variable."
• expression: letters and numbers joined by + − × or ÷, with no equals sign. Example: "6a + 15 is an expression."
• term: one part of an expression. Example: "The expression 6a + 15 has two terms."
• equivalent: worth the same for every value of the letter. Example: "a × 5 and 5a are equivalent."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function machine can take a letter as its input.
2. The letter stands for any number. We call it a variable.
3. Put a into a machine that adds 8. The output is a + 8.
4. Put a into a machine that multiplies by 3. The output is 3a.
5. We write 3a, with the number first. The × sign is hidden.
6. Put a into a machine that divides by 5. The output is a over 5, written as a fraction.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 output is an expression. It has no equals sign.
8. Sometimes you know the input and the output but not the function.
9. Ask yourself what was done to the input.
10. If 7 goes in and 21 comes out, the function could be multiply by 3.
11. If 6 goes in and 12 comes out, it could be multiply by 2 or add 6.
12. Both work, so check with a second pair if you can.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letter goes in. Say it in your own words, then check understanding with a quick question: ask a pupil from the pre-teach group first, since they met these words and ideas before the lesson. Pupils try to recall before you re-explain.
When the input is a letter, you cannot work out a number. Instead you write down what the machine did. Put g into a machine that adds 8 and the output is g + 8. Put k into a machine that multiplies by 11 and the output is 11k.
11k means 11 × k. In algebra we leave out the × sign and write the number before the letter. We never write k11. If the input already has a number in front, multiply the numbers: 2a goes into a machine that multiplies by 3 and comes out as 6a, because 2 × 3 = 6.
The letter does not disappear when you subtract. Annie puts 5y into a machine that subtracts 5 and says the output is y. That is a mistake: subtracting 5 takes away a number, not the y terms. The output is 5y − 5.
Worked example — model it step by step, thinking aloud: A machine multiplies by 4. The input is 2e + 5. What is the output? (1) The input has two terms: 2e and 5. Multiply each one by 4. (2) Multiply 2e by 4 to get 8e, because 2 × 4 = 8. (3) 5 × 4 = 20. (4) Put the two new terms back together: 8e + 20. Answer: 8e + 20.
Tip: A number written next to a letter means multiply, and the number always goes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Dividing gives a fraction. Say it in your own words, then check understanding with a quick question: ask a pupil from the pre-teach group first, since they met these words and ideas before the lesson. Pupils try to recall before you re-explain.
Put p into a machine that divides by 5. Mo writes p ÷ 5. Dora writes p/5, a fraction with p on top and 5 underneath. Both are right, and p/5 is the way we usually write it in algebra.
If the input has a number in front, divide the numbers when you can. 8w ÷ 4 is 2w, because 8 ÷ 4 = 2. If the numbers do not divide exactly, leave the fraction: 3x ÷ 4 is written 3x/4.
An expression with two terms is divided term by term. 6f + 4 divided by 2 gives 3f + 2, because 6 ÷ 2 = 3 and 4 ÷ 2 = 2.
Worked example — model it step by step, thinking aloud: A machine divides by 4. The input is 12m − 20. What is the output? (1) Divide each term by 4. (2) 12m ÷ 4 is 3m, because 12 ÷ 4 = 3. (3) 20 ÷ 4 = 5. (4) The output is 3m − 5. Answer: 3m − 5.
Tip: p/5 and p ÷ 5 mean the same thing. Read the fraction line as 'divided 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Finding the function. Say it in your own words, then check understanding with a quick question: ask a pupil from the pre-teach group first, since they met these words and ideas before the lesson. Pupils try to recall before you re-explain.
Now the machine is hiding its function. You see the input and the output and must work out what happened. Compare them. Has a number been added or taken away? Has the number in front of the letter changed?
If 4a goes in and 4a − 2 comes out, a number was taken away: the function is subtract 2. If 10a goes in and 5a comes out, the number in front was halved: the function is divide by 2. If 4a goes in and 8a comes out, it could be multiply by 2 or add 4a.
Eva sees 6f go in and 6fg come out. She says the function is add g. But adding g would give 6f + g. Writing g next to 6f means multiplying, so the function is multiply by g. In the same way, 2x going in and 2x² coming out is multiply by x, not squaring, because squaring 2x would give 4x².
Worked example — model it step by step, thinking aloud: The input is 3w and the output is 3w − 1. What is the function? (1) Compare 3w with 3w − 1. (2) The 3w has not changed, so nothing was multiplied or divided. (3) A 1 has been taken away. (4) The function is subtract 1. Answer: − 1.
Tip: If the number in front of the letter changes, think × or ÷. If a number is added on the end, think + 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Multiply an expression.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machine multiplies by 4. The input is 2b + 7. What is the output?
Support — work through the steps with the group: (1) Write the input as two parts: 2b and 7. (2) Multiply the first part by 4: 2 × 4 = 8, so 2b becomes 8b. (3) Multiply the second part by 4: 7 × 4 = 28. (4) Join the parts with the + sign.
Parallel worked example for Support (model it, do not give the task answer): A machine multiplies by 3. The input is 4c + 2. What is the output? Two parts: 4c and 2.; 4 × 3 = 12, so 4c becomes 12c.; 2 × 3 = 6.; The output is 12c + 6.. Answer: 12c + 6.
Core — reveal the hint only on request: Picture 2 cubes and 7 counters. What do you have after you make 4 copies?
Stretch — no help; when finished: Whitney gets 8b + 7. Use the cubes-and-counters picture to explain why her 7 is wrong, then write a one-step machine that really would turn 2b + 7 into 8b + 7.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Divide an expression.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machine divides by 6. The input is 12h − 18. What is the output?
Support — work through the steps with the group: (1) Write the input as two parts: 12h and 18. (2) Divide the first part by 6: 12 ÷ 6 = 2, so 12h becomes 2h. (3) Divide the second part by 6: 18 ÷ 6 = 3. (4) Keep the − sign between the parts.
Parallel worked example for Support (model it, do not give the task answer): A machine divides by 2. The input is 8k + 6. What is the output? Two parts: 8k and 6.; 8 ÷ 2 = 4, so 8k becomes 4k.; 6 ÷ 2 = 3.; The output is 4k + 3.. Answer: 4k + 3.
Core — reveal the hint only on request: Divide 12 by 6 and 18 by 6 separately.
Stretch — no help; when finished: Now put 12h − 18 through a machine that divides by 5. Write the output, and explain why it looks different from the divide-by-6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machine multiplies by 3. The input is 2a. What is the output?
Answer: A   6a. Multiply the numbers: 2 × 3 = 6. The output is 6a.
Source of this question: gate item 1 re-asked (options rotated) — this chapter has no third quick-check module.
The ebook also holds task 3, "Find the function",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Multiply an expression. Reveal the answer; pupils mark their own work in a different colour, then read the "why" together. Same destination for every lane, so one answer serves the whole class.
Answer: C   8b + 28
Why: Both terms are multiplied by 4: 2 × 4 = 8 and 7 × 4 = 28, so the output is 8b + 28.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Divide an expression. Reveal the answer; pupils mark their own work in a different colour, then read the "why" together. Same destination for every lane, so one answer serves the whole class.
Answer: B   2h − 3
Why: Each term is divided by 6: 12 ÷ 6 = 2 and 18 ÷ 6 = 3, so the output is 2h − 3.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6a
Why: Multiply the numbers: 2 × 3 = 6. The output is 6a.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Algebraic Notation and Substitution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Algebraic Notation and Substitution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Algebraic Notation and Substitution · AQA KS3 → 8300</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Function machines with algebra</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F0F2F7"/>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1-step function machines (algebra)</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Find a function (one step)</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can a function machine help us write, read and use algebra?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machine multiplies by 3. The input is 2a. What is the output?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5a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6a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2a + 3</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23a</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machine subtracts 4. The input is 4y. What is the output?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4y − 4</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4 − 4y</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input is 9 and the output is 27. The function could be multiply by ___.</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3  ·  18  ·  9</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6a</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machine multiplies by 3. The input is 2a. What is the output?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Multiply the numbers: 2 × 3 = 6. The output is 6a.</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4y − 4</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machine subtracts 4. The input is 4y. What is the output?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Taking 4 away from 4y gives 4y − 4. The y term does not change.</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input is 9 and the output is 27. The function could be multiply by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9 × 3 = 27, so the function could be multiply by 3. It could also be add 18.</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916051"/>
          </a:xfrm>
          <a:prstGeom prst="roundRect">
            <a:avLst>
              <a:gd name="adj" fmla="val 5989"/>
            </a:avLst>
          </a:prstGeom>
          <a:solidFill>
            <a:srgbClr val="F5F6F9"/>
          </a:solidFill>
          <a:ln/>
        </p:spPr>
      </p:sp>
      <p:sp>
        <p:nvSpPr>
          <p:cNvPr id="12" name="kw-hex"/>
          <p:cNvSpPr/>
          <p:nvPr/>
        </p:nvSpPr>
        <p:spPr>
          <a:xfrm>
            <a:off x="658368" y="2200095"/>
            <a:ext cx="411480" cy="356342"/>
          </a:xfrm>
          <a:prstGeom prst="hexagon">
            <a:avLst/>
          </a:prstGeom>
          <a:solidFill>
            <a:srgbClr val="2E4A8C"/>
          </a:solidFill>
          <a:ln/>
        </p:spPr>
      </p:sp>
      <p:sp>
        <p:nvSpPr>
          <p:cNvPr id="13" name="kw-cell"/>
          <p:cNvSpPr txBox="1"/>
          <p:nvPr/>
        </p:nvSpPr>
        <p:spPr>
          <a:xfrm>
            <a:off x="1143000" y="1920240"/>
            <a:ext cx="2331720" cy="916051"/>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variable</a:t>
            </a:r>
            <a:endParaRPr lang="en-US" sz="2400" dirty="0"/>
          </a:p>
        </p:txBody>
      </p:sp>
      <p:sp>
        <p:nvSpPr>
          <p:cNvPr id="14" name="kw-cell"/>
          <p:cNvSpPr txBox="1"/>
          <p:nvPr/>
        </p:nvSpPr>
        <p:spPr>
          <a:xfrm>
            <a:off x="3657600" y="1920240"/>
            <a:ext cx="3474720" cy="91605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letter that stands for any number</a:t>
            </a:r>
            <a:endParaRPr lang="en-US" sz="2200" dirty="0"/>
          </a:p>
        </p:txBody>
      </p:sp>
      <p:sp>
        <p:nvSpPr>
          <p:cNvPr id="15" name="kw-cell"/>
          <p:cNvSpPr txBox="1"/>
          <p:nvPr/>
        </p:nvSpPr>
        <p:spPr>
          <a:xfrm>
            <a:off x="7315200" y="1920240"/>
            <a:ext cx="4236415" cy="916051"/>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In 3a, the letter a is the variable.</a:t>
            </a:r>
            <a:endParaRPr lang="en-US" sz="2200" dirty="0"/>
          </a:p>
        </p:txBody>
      </p:sp>
      <p:sp>
        <p:nvSpPr>
          <p:cNvPr id="16" name="kw-row"/>
          <p:cNvSpPr/>
          <p:nvPr/>
        </p:nvSpPr>
        <p:spPr>
          <a:xfrm>
            <a:off x="548640" y="2909443"/>
            <a:ext cx="11094415" cy="1256919"/>
          </a:xfrm>
          <a:prstGeom prst="roundRect">
            <a:avLst>
              <a:gd name="adj" fmla="val 4365"/>
            </a:avLst>
          </a:prstGeom>
          <a:solidFill>
            <a:srgbClr val="F9F4EC"/>
          </a:solidFill>
          <a:ln/>
        </p:spPr>
      </p:sp>
      <p:sp>
        <p:nvSpPr>
          <p:cNvPr id="17" name="kw-hex"/>
          <p:cNvSpPr/>
          <p:nvPr/>
        </p:nvSpPr>
        <p:spPr>
          <a:xfrm>
            <a:off x="658368" y="3359732"/>
            <a:ext cx="411480" cy="356342"/>
          </a:xfrm>
          <a:prstGeom prst="hexagon">
            <a:avLst/>
          </a:prstGeom>
          <a:solidFill>
            <a:srgbClr val="B8862B"/>
          </a:solidFill>
          <a:ln/>
        </p:spPr>
      </p:sp>
      <p:sp>
        <p:nvSpPr>
          <p:cNvPr id="18" name="kw-cell"/>
          <p:cNvSpPr txBox="1"/>
          <p:nvPr/>
        </p:nvSpPr>
        <p:spPr>
          <a:xfrm>
            <a:off x="1143000" y="2909443"/>
            <a:ext cx="2331720" cy="1256919"/>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expression</a:t>
            </a:r>
            <a:endParaRPr lang="en-US" sz="2400" dirty="0"/>
          </a:p>
        </p:txBody>
      </p:sp>
      <p:sp>
        <p:nvSpPr>
          <p:cNvPr id="19" name="kw-cell"/>
          <p:cNvSpPr txBox="1"/>
          <p:nvPr/>
        </p:nvSpPr>
        <p:spPr>
          <a:xfrm>
            <a:off x="3657600" y="2909443"/>
            <a:ext cx="3474720" cy="125691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letters and numbers joined by + − × or ÷, with no equals sign</a:t>
            </a:r>
            <a:endParaRPr lang="en-US" sz="2200" dirty="0"/>
          </a:p>
        </p:txBody>
      </p:sp>
      <p:sp>
        <p:nvSpPr>
          <p:cNvPr id="20" name="kw-cell"/>
          <p:cNvSpPr txBox="1"/>
          <p:nvPr/>
        </p:nvSpPr>
        <p:spPr>
          <a:xfrm>
            <a:off x="7315200" y="2909443"/>
            <a:ext cx="4236415" cy="1256919"/>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6a + 15 is an expression.</a:t>
            </a:r>
            <a:endParaRPr lang="en-US" sz="2200" dirty="0"/>
          </a:p>
        </p:txBody>
      </p:sp>
      <p:sp>
        <p:nvSpPr>
          <p:cNvPr id="21" name="kw-row"/>
          <p:cNvSpPr/>
          <p:nvPr/>
        </p:nvSpPr>
        <p:spPr>
          <a:xfrm>
            <a:off x="548640" y="4239514"/>
            <a:ext cx="11094415" cy="916051"/>
          </a:xfrm>
          <a:prstGeom prst="roundRect">
            <a:avLst>
              <a:gd name="adj" fmla="val 5989"/>
            </a:avLst>
          </a:prstGeom>
          <a:solidFill>
            <a:srgbClr val="F5F6F9"/>
          </a:solidFill>
          <a:ln/>
        </p:spPr>
      </p:sp>
      <p:sp>
        <p:nvSpPr>
          <p:cNvPr id="22" name="kw-hex"/>
          <p:cNvSpPr/>
          <p:nvPr/>
        </p:nvSpPr>
        <p:spPr>
          <a:xfrm>
            <a:off x="658368" y="4519369"/>
            <a:ext cx="411480" cy="356342"/>
          </a:xfrm>
          <a:prstGeom prst="hexagon">
            <a:avLst/>
          </a:prstGeom>
          <a:solidFill>
            <a:srgbClr val="2E4A8C"/>
          </a:solidFill>
          <a:ln/>
        </p:spPr>
      </p:sp>
      <p:sp>
        <p:nvSpPr>
          <p:cNvPr id="23" name="kw-cell"/>
          <p:cNvSpPr txBox="1"/>
          <p:nvPr/>
        </p:nvSpPr>
        <p:spPr>
          <a:xfrm>
            <a:off x="1143000" y="4239514"/>
            <a:ext cx="2331720" cy="916051"/>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term</a:t>
            </a:r>
            <a:endParaRPr lang="en-US" sz="2400" dirty="0"/>
          </a:p>
        </p:txBody>
      </p:sp>
      <p:sp>
        <p:nvSpPr>
          <p:cNvPr id="24" name="kw-cell"/>
          <p:cNvSpPr txBox="1"/>
          <p:nvPr/>
        </p:nvSpPr>
        <p:spPr>
          <a:xfrm>
            <a:off x="3657600" y="4239514"/>
            <a:ext cx="3474720" cy="91605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one part of an expression</a:t>
            </a:r>
            <a:endParaRPr lang="en-US" sz="2200" dirty="0"/>
          </a:p>
        </p:txBody>
      </p:sp>
      <p:sp>
        <p:nvSpPr>
          <p:cNvPr id="25" name="kw-cell"/>
          <p:cNvSpPr txBox="1"/>
          <p:nvPr/>
        </p:nvSpPr>
        <p:spPr>
          <a:xfrm>
            <a:off x="7315200" y="4239514"/>
            <a:ext cx="4236415" cy="916051"/>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The expression 6a + 15 has two terms.</a:t>
            </a:r>
            <a:endParaRPr lang="en-US" sz="2200" dirty="0"/>
          </a:p>
        </p:txBody>
      </p:sp>
      <p:sp>
        <p:nvSpPr>
          <p:cNvPr id="26" name="kw-row"/>
          <p:cNvSpPr/>
          <p:nvPr/>
        </p:nvSpPr>
        <p:spPr>
          <a:xfrm>
            <a:off x="548640" y="5228717"/>
            <a:ext cx="11094415" cy="916051"/>
          </a:xfrm>
          <a:prstGeom prst="roundRect">
            <a:avLst>
              <a:gd name="adj" fmla="val 5989"/>
            </a:avLst>
          </a:prstGeom>
          <a:solidFill>
            <a:srgbClr val="F9F4EC"/>
          </a:solidFill>
          <a:ln/>
        </p:spPr>
      </p:sp>
      <p:sp>
        <p:nvSpPr>
          <p:cNvPr id="27" name="kw-hex"/>
          <p:cNvSpPr/>
          <p:nvPr/>
        </p:nvSpPr>
        <p:spPr>
          <a:xfrm>
            <a:off x="658368" y="5508572"/>
            <a:ext cx="411480" cy="356342"/>
          </a:xfrm>
          <a:prstGeom prst="hexagon">
            <a:avLst/>
          </a:prstGeom>
          <a:solidFill>
            <a:srgbClr val="B8862B"/>
          </a:solidFill>
          <a:ln/>
        </p:spPr>
      </p:sp>
      <p:sp>
        <p:nvSpPr>
          <p:cNvPr id="28" name="kw-cell"/>
          <p:cNvSpPr txBox="1"/>
          <p:nvPr/>
        </p:nvSpPr>
        <p:spPr>
          <a:xfrm>
            <a:off x="1143000" y="5228717"/>
            <a:ext cx="2331720" cy="916051"/>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equivalent</a:t>
            </a:r>
            <a:endParaRPr lang="en-US" sz="2400" dirty="0"/>
          </a:p>
        </p:txBody>
      </p:sp>
      <p:sp>
        <p:nvSpPr>
          <p:cNvPr id="29" name="kw-cell"/>
          <p:cNvSpPr txBox="1"/>
          <p:nvPr/>
        </p:nvSpPr>
        <p:spPr>
          <a:xfrm>
            <a:off x="3657600" y="5228717"/>
            <a:ext cx="3474720" cy="91605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worth the same for every value of the letter</a:t>
            </a:r>
            <a:endParaRPr lang="en-US" sz="2200" dirty="0"/>
          </a:p>
        </p:txBody>
      </p:sp>
      <p:sp>
        <p:nvSpPr>
          <p:cNvPr id="30" name="kw-cell"/>
          <p:cNvSpPr txBox="1"/>
          <p:nvPr/>
        </p:nvSpPr>
        <p:spPr>
          <a:xfrm>
            <a:off x="7315200" y="5228717"/>
            <a:ext cx="4236415" cy="916051"/>
          </a:xfrm>
          <a:prstGeom prst="rect">
            <a:avLst/>
          </a:prstGeom>
          <a:noFill/>
          <a:ln/>
        </p:spPr>
        <p:txBody>
          <a:bodyPr wrap="square" lIns="63500" tIns="63500" rIns="63500" bIns="63500" rtlCol="0" anchor="ctr"/>
          <a:lstStyle/>
          <a:p>
            <a:pPr algn="l" indent="0" marL="0">
              <a:buNone/>
            </a:pPr>
            <a:r>
              <a:rPr lang="en-US" sz="2200" i="1" dirty="0">
                <a:solidFill>
                  <a:srgbClr val="4A505C"/>
                </a:solidFill>
                <a:latin typeface="Calibri" pitchFamily="34" charset="0"/>
                <a:ea typeface="Calibri" pitchFamily="34" charset="-122"/>
                <a:cs typeface="Calibri" pitchFamily="34" charset="-120"/>
              </a:rPr>
              <a:t>a × 5 and 5a are equivalent.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function machine can take a letter as its input.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letter stands for any number. We call it a </a:t>
            </a:r>
            <a:pPr algn="l" indent="0" marL="0">
              <a:spcAft>
                <a:spcPts val="600"/>
              </a:spcAft>
              <a:buNone/>
            </a:pPr>
            <a:r>
              <a:rPr lang="en-US" sz="2600" b="1" dirty="0">
                <a:solidFill>
                  <a:srgbClr val="2E4A8C"/>
                </a:solidFill>
                <a:latin typeface="Calibri" pitchFamily="34" charset="0"/>
                <a:ea typeface="Calibri" pitchFamily="34" charset="-122"/>
                <a:cs typeface="Calibri" pitchFamily="34" charset="-120"/>
              </a:rPr>
              <a:t>variable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Put a into a machine that adds 8. The output is a + 8.</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Put a into a machine that multiplies by 3. The output is 3a.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 write 3a, with the number first. The × sign is hidden.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Put a into a machine that divides by 5. The output is a over 5, written as a fraction.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output is an </a:t>
            </a:r>
            <a:pPr algn="l" indent="0" marL="0">
              <a:spcAft>
                <a:spcPts val="600"/>
              </a:spcAft>
              <a:buNone/>
            </a:pPr>
            <a:r>
              <a:rPr lang="en-US" sz="2600" b="1" dirty="0">
                <a:solidFill>
                  <a:srgbClr val="2E4A8C"/>
                </a:solidFill>
                <a:latin typeface="Calibri" pitchFamily="34" charset="0"/>
                <a:ea typeface="Calibri" pitchFamily="34" charset="-122"/>
                <a:cs typeface="Calibri" pitchFamily="34" charset="-120"/>
              </a:rPr>
              <a:t>expression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It has no equals sign.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Sometimes you know the input and the output but not the function.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Ask yourself what was done to the input.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If 7 goes in and 21 comes out, the function could be multiply by 3.</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If 6 goes in and 12 comes out, it could be multiply by 2 or add 6.</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Both work, so check with a second pair if you can.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 letter goes in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number written next to a letter means multiply, and the number always goes first.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machine multiplies by 4. The input is 2e + 5. What is the output?</a:t>
            </a:r>
            <a:endParaRPr lang="en-US" sz="1800" dirty="0"/>
          </a:p>
        </p:txBody>
      </p:sp>
      <p:sp>
        <p:nvSpPr>
          <p:cNvPr id="14" name="step-box"/>
          <p:cNvSpPr/>
          <p:nvPr/>
        </p:nvSpPr>
        <p:spPr>
          <a:xfrm>
            <a:off x="6126480" y="2888488"/>
            <a:ext cx="5379415" cy="736981"/>
          </a:xfrm>
          <a:prstGeom prst="roundRect">
            <a:avLst>
              <a:gd name="adj" fmla="val 12407"/>
            </a:avLst>
          </a:prstGeom>
          <a:solidFill>
            <a:srgbClr val="F0F2F7"/>
          </a:solidFill>
          <a:ln/>
        </p:spPr>
      </p:sp>
      <p:sp>
        <p:nvSpPr>
          <p:cNvPr id="15" name="step-hex"/>
          <p:cNvSpPr/>
          <p:nvPr/>
        </p:nvSpPr>
        <p:spPr>
          <a:xfrm>
            <a:off x="6217920" y="3074848"/>
            <a:ext cx="420624" cy="364260"/>
          </a:xfrm>
          <a:prstGeom prst="hexagon">
            <a:avLst/>
          </a:prstGeom>
          <a:solidFill>
            <a:srgbClr val="2E4A8C"/>
          </a:solidFill>
          <a:ln/>
        </p:spPr>
      </p:sp>
      <p:sp>
        <p:nvSpPr>
          <p:cNvPr id="16" name="step-hex-label"/>
          <p:cNvSpPr txBox="1"/>
          <p:nvPr/>
        </p:nvSpPr>
        <p:spPr>
          <a:xfrm>
            <a:off x="6217920" y="307484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3698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input has two terms: 2e and 5. Multiply each one by 4.</a:t>
            </a:r>
            <a:endParaRPr lang="en-US" sz="1800" dirty="0"/>
          </a:p>
        </p:txBody>
      </p:sp>
      <p:sp>
        <p:nvSpPr>
          <p:cNvPr id="18" name="step-box"/>
          <p:cNvSpPr/>
          <p:nvPr/>
        </p:nvSpPr>
        <p:spPr>
          <a:xfrm>
            <a:off x="6126480" y="3716909"/>
            <a:ext cx="5379415" cy="509397"/>
          </a:xfrm>
          <a:prstGeom prst="roundRect">
            <a:avLst>
              <a:gd name="adj" fmla="val 17951"/>
            </a:avLst>
          </a:prstGeom>
          <a:solidFill>
            <a:srgbClr val="F0F2F7"/>
          </a:solidFill>
          <a:ln/>
        </p:spPr>
      </p:sp>
      <p:sp>
        <p:nvSpPr>
          <p:cNvPr id="19" name="step-hex"/>
          <p:cNvSpPr/>
          <p:nvPr/>
        </p:nvSpPr>
        <p:spPr>
          <a:xfrm>
            <a:off x="6217920" y="3789477"/>
            <a:ext cx="420624" cy="364260"/>
          </a:xfrm>
          <a:prstGeom prst="hexagon">
            <a:avLst/>
          </a:prstGeom>
          <a:solidFill>
            <a:srgbClr val="2E4A8C"/>
          </a:solidFill>
          <a:ln/>
        </p:spPr>
      </p:sp>
      <p:sp>
        <p:nvSpPr>
          <p:cNvPr id="20" name="step-hex-label"/>
          <p:cNvSpPr txBox="1"/>
          <p:nvPr/>
        </p:nvSpPr>
        <p:spPr>
          <a:xfrm>
            <a:off x="6217920" y="3789477"/>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16909"/>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Multiply 2e by 4 to get 8e, because 2 × 4 = 8.</a:t>
            </a:r>
            <a:endParaRPr lang="en-US" sz="1800" dirty="0"/>
          </a:p>
        </p:txBody>
      </p:sp>
      <p:sp>
        <p:nvSpPr>
          <p:cNvPr id="22" name="step-box"/>
          <p:cNvSpPr/>
          <p:nvPr/>
        </p:nvSpPr>
        <p:spPr>
          <a:xfrm>
            <a:off x="6126480" y="4317746"/>
            <a:ext cx="5379415" cy="509397"/>
          </a:xfrm>
          <a:prstGeom prst="roundRect">
            <a:avLst>
              <a:gd name="adj" fmla="val 17951"/>
            </a:avLst>
          </a:prstGeom>
          <a:solidFill>
            <a:srgbClr val="F0F2F7"/>
          </a:solidFill>
          <a:ln/>
        </p:spPr>
      </p:sp>
      <p:sp>
        <p:nvSpPr>
          <p:cNvPr id="23" name="step-hex"/>
          <p:cNvSpPr/>
          <p:nvPr/>
        </p:nvSpPr>
        <p:spPr>
          <a:xfrm>
            <a:off x="6217920" y="4390314"/>
            <a:ext cx="420624" cy="364260"/>
          </a:xfrm>
          <a:prstGeom prst="hexagon">
            <a:avLst/>
          </a:prstGeom>
          <a:solidFill>
            <a:srgbClr val="2E4A8C"/>
          </a:solidFill>
          <a:ln/>
        </p:spPr>
      </p:sp>
      <p:sp>
        <p:nvSpPr>
          <p:cNvPr id="24" name="step-hex-label"/>
          <p:cNvSpPr txBox="1"/>
          <p:nvPr/>
        </p:nvSpPr>
        <p:spPr>
          <a:xfrm>
            <a:off x="6217920" y="43903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17746"/>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5 × 4 = 20.</a:t>
            </a:r>
            <a:endParaRPr lang="en-US" sz="1800" dirty="0"/>
          </a:p>
        </p:txBody>
      </p:sp>
      <p:sp>
        <p:nvSpPr>
          <p:cNvPr id="26" name="step-box"/>
          <p:cNvSpPr/>
          <p:nvPr/>
        </p:nvSpPr>
        <p:spPr>
          <a:xfrm>
            <a:off x="6126480" y="4918583"/>
            <a:ext cx="5379415" cy="509397"/>
          </a:xfrm>
          <a:prstGeom prst="roundRect">
            <a:avLst>
              <a:gd name="adj" fmla="val 17951"/>
            </a:avLst>
          </a:prstGeom>
          <a:solidFill>
            <a:srgbClr val="F0F2F7"/>
          </a:solidFill>
          <a:ln/>
        </p:spPr>
      </p:sp>
      <p:sp>
        <p:nvSpPr>
          <p:cNvPr id="27" name="step-hex"/>
          <p:cNvSpPr/>
          <p:nvPr/>
        </p:nvSpPr>
        <p:spPr>
          <a:xfrm>
            <a:off x="6217920" y="4991151"/>
            <a:ext cx="420624" cy="364260"/>
          </a:xfrm>
          <a:prstGeom prst="hexagon">
            <a:avLst/>
          </a:prstGeom>
          <a:solidFill>
            <a:srgbClr val="2E4A8C"/>
          </a:solidFill>
          <a:ln/>
        </p:spPr>
      </p:sp>
      <p:sp>
        <p:nvSpPr>
          <p:cNvPr id="28" name="step-hex-label"/>
          <p:cNvSpPr txBox="1"/>
          <p:nvPr/>
        </p:nvSpPr>
        <p:spPr>
          <a:xfrm>
            <a:off x="6217920" y="4991151"/>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918583"/>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Put the two new terms back together: 8e + 20.</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8e + 20</a:t>
            </a:r>
            <a:endParaRPr lang="en-US" sz="1800" dirty="0"/>
          </a:p>
        </p:txBody>
      </p:sp>
      <p:sp>
        <p:nvSpPr>
          <p:cNvPr id="31" name="bullet-card"/>
          <p:cNvSpPr/>
          <p:nvPr/>
        </p:nvSpPr>
        <p:spPr>
          <a:xfrm>
            <a:off x="548640" y="1389888"/>
            <a:ext cx="5074920" cy="852255"/>
          </a:xfrm>
          <a:prstGeom prst="roundRect">
            <a:avLst>
              <a:gd name="adj" fmla="val 8583"/>
            </a:avLst>
          </a:prstGeom>
          <a:solidFill>
            <a:srgbClr val="F5F6F9"/>
          </a:solidFill>
          <a:ln/>
        </p:spPr>
      </p:sp>
      <p:sp>
        <p:nvSpPr>
          <p:cNvPr id="32" name="bullet-hex"/>
          <p:cNvSpPr/>
          <p:nvPr/>
        </p:nvSpPr>
        <p:spPr>
          <a:xfrm>
            <a:off x="676656" y="1649723"/>
            <a:ext cx="384048" cy="332586"/>
          </a:xfrm>
          <a:prstGeom prst="hexagon">
            <a:avLst/>
          </a:prstGeom>
          <a:solidFill>
            <a:srgbClr val="2E4A8C"/>
          </a:solidFill>
          <a:ln/>
        </p:spPr>
      </p:sp>
      <p:sp>
        <p:nvSpPr>
          <p:cNvPr id="33" name="bullet"/>
          <p:cNvSpPr txBox="1"/>
          <p:nvPr/>
        </p:nvSpPr>
        <p:spPr>
          <a:xfrm>
            <a:off x="1143000" y="1389888"/>
            <a:ext cx="4389120"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the input is a letter, you cannot work out a number.</a:t>
            </a:r>
            <a:endParaRPr lang="en-US" sz="1800" dirty="0"/>
          </a:p>
        </p:txBody>
      </p:sp>
      <p:sp>
        <p:nvSpPr>
          <p:cNvPr id="34" name="bullet-card"/>
          <p:cNvSpPr/>
          <p:nvPr/>
        </p:nvSpPr>
        <p:spPr>
          <a:xfrm>
            <a:off x="548640" y="2388447"/>
            <a:ext cx="5074920" cy="1131147"/>
          </a:xfrm>
          <a:prstGeom prst="roundRect">
            <a:avLst>
              <a:gd name="adj" fmla="val 6467"/>
            </a:avLst>
          </a:prstGeom>
          <a:solidFill>
            <a:srgbClr val="F5F6F9"/>
          </a:solidFill>
          <a:ln/>
        </p:spPr>
      </p:sp>
      <p:sp>
        <p:nvSpPr>
          <p:cNvPr id="35" name="bullet-hex"/>
          <p:cNvSpPr/>
          <p:nvPr/>
        </p:nvSpPr>
        <p:spPr>
          <a:xfrm>
            <a:off x="676656" y="2787727"/>
            <a:ext cx="384048" cy="332586"/>
          </a:xfrm>
          <a:prstGeom prst="hexagon">
            <a:avLst/>
          </a:prstGeom>
          <a:solidFill>
            <a:srgbClr val="B8862B"/>
          </a:solidFill>
          <a:ln/>
        </p:spPr>
      </p:sp>
      <p:sp>
        <p:nvSpPr>
          <p:cNvPr id="36" name="bullet"/>
          <p:cNvSpPr txBox="1"/>
          <p:nvPr/>
        </p:nvSpPr>
        <p:spPr>
          <a:xfrm>
            <a:off x="1143000" y="2388447"/>
            <a:ext cx="4389120" cy="113114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11k means 11 × k. In algebra we leave out the × sign and write the number before the letter.</a:t>
            </a:r>
            <a:endParaRPr lang="en-US" sz="1800" dirty="0"/>
          </a:p>
        </p:txBody>
      </p:sp>
      <p:sp>
        <p:nvSpPr>
          <p:cNvPr id="37" name="bullet-card"/>
          <p:cNvSpPr/>
          <p:nvPr/>
        </p:nvSpPr>
        <p:spPr>
          <a:xfrm>
            <a:off x="548640" y="3665897"/>
            <a:ext cx="5074920" cy="1131147"/>
          </a:xfrm>
          <a:prstGeom prst="roundRect">
            <a:avLst>
              <a:gd name="adj" fmla="val 6467"/>
            </a:avLst>
          </a:prstGeom>
          <a:solidFill>
            <a:srgbClr val="F5F6F9"/>
          </a:solidFill>
          <a:ln/>
        </p:spPr>
      </p:sp>
      <p:sp>
        <p:nvSpPr>
          <p:cNvPr id="38" name="bullet-hex"/>
          <p:cNvSpPr/>
          <p:nvPr/>
        </p:nvSpPr>
        <p:spPr>
          <a:xfrm>
            <a:off x="676656" y="4065178"/>
            <a:ext cx="384048" cy="332586"/>
          </a:xfrm>
          <a:prstGeom prst="hexagon">
            <a:avLst/>
          </a:prstGeom>
          <a:solidFill>
            <a:srgbClr val="2E4A8C"/>
          </a:solidFill>
          <a:ln/>
        </p:spPr>
      </p:sp>
      <p:sp>
        <p:nvSpPr>
          <p:cNvPr id="39" name="bullet"/>
          <p:cNvSpPr txBox="1"/>
          <p:nvPr/>
        </p:nvSpPr>
        <p:spPr>
          <a:xfrm>
            <a:off x="1143000" y="3665897"/>
            <a:ext cx="4389120" cy="113114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letter does not disappear when you subtract. Annie puts 5y into a machine that subtracts 5 and says the output is 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Dividing gives a fraction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p/5 and p ÷ 5 mean the same thing. Read the fraction line as 'divided by'.</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machine divides by 4. The input is 12m − 20. What is the output?</a:t>
            </a:r>
            <a:endParaRPr lang="en-US" sz="1800" dirty="0"/>
          </a:p>
        </p:txBody>
      </p:sp>
      <p:sp>
        <p:nvSpPr>
          <p:cNvPr id="14" name="step-box"/>
          <p:cNvSpPr/>
          <p:nvPr/>
        </p:nvSpPr>
        <p:spPr>
          <a:xfrm>
            <a:off x="6126480" y="2888488"/>
            <a:ext cx="5379415" cy="566293"/>
          </a:xfrm>
          <a:prstGeom prst="roundRect">
            <a:avLst>
              <a:gd name="adj" fmla="val 16147"/>
            </a:avLst>
          </a:prstGeom>
          <a:solidFill>
            <a:srgbClr val="F0F2F7"/>
          </a:solidFill>
          <a:ln/>
        </p:spPr>
      </p:sp>
      <p:sp>
        <p:nvSpPr>
          <p:cNvPr id="15" name="step-hex"/>
          <p:cNvSpPr/>
          <p:nvPr/>
        </p:nvSpPr>
        <p:spPr>
          <a:xfrm>
            <a:off x="6217920" y="2989504"/>
            <a:ext cx="420624" cy="364260"/>
          </a:xfrm>
          <a:prstGeom prst="hexagon">
            <a:avLst/>
          </a:prstGeom>
          <a:solidFill>
            <a:srgbClr val="2E4A8C"/>
          </a:solidFill>
          <a:ln/>
        </p:spPr>
      </p:sp>
      <p:sp>
        <p:nvSpPr>
          <p:cNvPr id="16" name="step-hex-label"/>
          <p:cNvSpPr txBox="1"/>
          <p:nvPr/>
        </p:nvSpPr>
        <p:spPr>
          <a:xfrm>
            <a:off x="6217920" y="298950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Divide each term by 4.</a:t>
            </a:r>
            <a:endParaRPr lang="en-US" sz="1800" dirty="0"/>
          </a:p>
        </p:txBody>
      </p:sp>
      <p:sp>
        <p:nvSpPr>
          <p:cNvPr id="18" name="step-box"/>
          <p:cNvSpPr/>
          <p:nvPr/>
        </p:nvSpPr>
        <p:spPr>
          <a:xfrm>
            <a:off x="6126480" y="3546221"/>
            <a:ext cx="5379415" cy="566293"/>
          </a:xfrm>
          <a:prstGeom prst="roundRect">
            <a:avLst>
              <a:gd name="adj" fmla="val 16147"/>
            </a:avLst>
          </a:prstGeom>
          <a:solidFill>
            <a:srgbClr val="F0F2F7"/>
          </a:solidFill>
          <a:ln/>
        </p:spPr>
      </p:sp>
      <p:sp>
        <p:nvSpPr>
          <p:cNvPr id="19" name="step-hex"/>
          <p:cNvSpPr/>
          <p:nvPr/>
        </p:nvSpPr>
        <p:spPr>
          <a:xfrm>
            <a:off x="6217920" y="3647237"/>
            <a:ext cx="420624" cy="364260"/>
          </a:xfrm>
          <a:prstGeom prst="hexagon">
            <a:avLst/>
          </a:prstGeom>
          <a:solidFill>
            <a:srgbClr val="2E4A8C"/>
          </a:solidFill>
          <a:ln/>
        </p:spPr>
      </p:sp>
      <p:sp>
        <p:nvSpPr>
          <p:cNvPr id="20" name="step-hex-label"/>
          <p:cNvSpPr txBox="1"/>
          <p:nvPr/>
        </p:nvSpPr>
        <p:spPr>
          <a:xfrm>
            <a:off x="6217920" y="3647237"/>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221"/>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12m ÷ 4 is 3m, because 12 ÷ 4 = 3.</a:t>
            </a:r>
            <a:endParaRPr lang="en-US" sz="1800" dirty="0"/>
          </a:p>
        </p:txBody>
      </p:sp>
      <p:sp>
        <p:nvSpPr>
          <p:cNvPr id="22" name="step-box"/>
          <p:cNvSpPr/>
          <p:nvPr/>
        </p:nvSpPr>
        <p:spPr>
          <a:xfrm>
            <a:off x="6126480" y="4203954"/>
            <a:ext cx="5379415" cy="566293"/>
          </a:xfrm>
          <a:prstGeom prst="roundRect">
            <a:avLst>
              <a:gd name="adj" fmla="val 16147"/>
            </a:avLst>
          </a:prstGeom>
          <a:solidFill>
            <a:srgbClr val="F0F2F7"/>
          </a:solidFill>
          <a:ln/>
        </p:spPr>
      </p:sp>
      <p:sp>
        <p:nvSpPr>
          <p:cNvPr id="23" name="step-hex"/>
          <p:cNvSpPr/>
          <p:nvPr/>
        </p:nvSpPr>
        <p:spPr>
          <a:xfrm>
            <a:off x="6217920" y="4304970"/>
            <a:ext cx="420624" cy="364260"/>
          </a:xfrm>
          <a:prstGeom prst="hexagon">
            <a:avLst/>
          </a:prstGeom>
          <a:solidFill>
            <a:srgbClr val="2E4A8C"/>
          </a:solidFill>
          <a:ln/>
        </p:spPr>
      </p:sp>
      <p:sp>
        <p:nvSpPr>
          <p:cNvPr id="24" name="step-hex-label"/>
          <p:cNvSpPr txBox="1"/>
          <p:nvPr/>
        </p:nvSpPr>
        <p:spPr>
          <a:xfrm>
            <a:off x="6217920" y="430497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3954"/>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20 ÷ 4 = 5.</a:t>
            </a:r>
            <a:endParaRPr lang="en-US" sz="1800" dirty="0"/>
          </a:p>
        </p:txBody>
      </p:sp>
      <p:sp>
        <p:nvSpPr>
          <p:cNvPr id="26" name="step-box"/>
          <p:cNvSpPr/>
          <p:nvPr/>
        </p:nvSpPr>
        <p:spPr>
          <a:xfrm>
            <a:off x="6126480" y="4861687"/>
            <a:ext cx="5379415" cy="566293"/>
          </a:xfrm>
          <a:prstGeom prst="roundRect">
            <a:avLst>
              <a:gd name="adj" fmla="val 16147"/>
            </a:avLst>
          </a:prstGeom>
          <a:solidFill>
            <a:srgbClr val="F0F2F7"/>
          </a:solidFill>
          <a:ln/>
        </p:spPr>
      </p:sp>
      <p:sp>
        <p:nvSpPr>
          <p:cNvPr id="27" name="step-hex"/>
          <p:cNvSpPr/>
          <p:nvPr/>
        </p:nvSpPr>
        <p:spPr>
          <a:xfrm>
            <a:off x="6217920" y="4962703"/>
            <a:ext cx="420624" cy="364260"/>
          </a:xfrm>
          <a:prstGeom prst="hexagon">
            <a:avLst/>
          </a:prstGeom>
          <a:solidFill>
            <a:srgbClr val="2E4A8C"/>
          </a:solidFill>
          <a:ln/>
        </p:spPr>
      </p:sp>
      <p:sp>
        <p:nvSpPr>
          <p:cNvPr id="28" name="step-hex-label"/>
          <p:cNvSpPr txBox="1"/>
          <p:nvPr/>
        </p:nvSpPr>
        <p:spPr>
          <a:xfrm>
            <a:off x="6217920" y="4962703"/>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861687"/>
            <a:ext cx="4739335" cy="566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output is 3m − 5.</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3m − 5</a:t>
            </a:r>
            <a:endParaRPr lang="en-US" sz="1800" dirty="0"/>
          </a:p>
        </p:txBody>
      </p:sp>
      <p:sp>
        <p:nvSpPr>
          <p:cNvPr id="31" name="bullet-card"/>
          <p:cNvSpPr/>
          <p:nvPr/>
        </p:nvSpPr>
        <p:spPr>
          <a:xfrm>
            <a:off x="548640" y="1389888"/>
            <a:ext cx="5074920" cy="1131147"/>
          </a:xfrm>
          <a:prstGeom prst="roundRect">
            <a:avLst>
              <a:gd name="adj" fmla="val 6467"/>
            </a:avLst>
          </a:prstGeom>
          <a:solidFill>
            <a:srgbClr val="F5F6F9"/>
          </a:solidFill>
          <a:ln/>
        </p:spPr>
      </p:sp>
      <p:sp>
        <p:nvSpPr>
          <p:cNvPr id="32" name="bullet-hex"/>
          <p:cNvSpPr/>
          <p:nvPr/>
        </p:nvSpPr>
        <p:spPr>
          <a:xfrm>
            <a:off x="676656" y="1789169"/>
            <a:ext cx="384048" cy="332586"/>
          </a:xfrm>
          <a:prstGeom prst="hexagon">
            <a:avLst/>
          </a:prstGeom>
          <a:solidFill>
            <a:srgbClr val="2E4A8C"/>
          </a:solidFill>
          <a:ln/>
        </p:spPr>
      </p:sp>
      <p:sp>
        <p:nvSpPr>
          <p:cNvPr id="33" name="bullet"/>
          <p:cNvSpPr txBox="1"/>
          <p:nvPr/>
        </p:nvSpPr>
        <p:spPr>
          <a:xfrm>
            <a:off x="1143000" y="1389888"/>
            <a:ext cx="4389120" cy="113114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Put p into a machine that divides by 5. Mo writes p ÷ 5.</a:t>
            </a:r>
            <a:endParaRPr lang="en-US" sz="2200" dirty="0"/>
          </a:p>
        </p:txBody>
      </p:sp>
      <p:sp>
        <p:nvSpPr>
          <p:cNvPr id="34" name="bullet-card"/>
          <p:cNvSpPr/>
          <p:nvPr/>
        </p:nvSpPr>
        <p:spPr>
          <a:xfrm>
            <a:off x="548640" y="2667339"/>
            <a:ext cx="5074920" cy="1131147"/>
          </a:xfrm>
          <a:prstGeom prst="roundRect">
            <a:avLst>
              <a:gd name="adj" fmla="val 6467"/>
            </a:avLst>
          </a:prstGeom>
          <a:solidFill>
            <a:srgbClr val="F5F6F9"/>
          </a:solidFill>
          <a:ln/>
        </p:spPr>
      </p:sp>
      <p:sp>
        <p:nvSpPr>
          <p:cNvPr id="35" name="bullet-hex"/>
          <p:cNvSpPr/>
          <p:nvPr/>
        </p:nvSpPr>
        <p:spPr>
          <a:xfrm>
            <a:off x="676656" y="3066619"/>
            <a:ext cx="384048" cy="332586"/>
          </a:xfrm>
          <a:prstGeom prst="hexagon">
            <a:avLst/>
          </a:prstGeom>
          <a:solidFill>
            <a:srgbClr val="B8862B"/>
          </a:solidFill>
          <a:ln/>
        </p:spPr>
      </p:sp>
      <p:sp>
        <p:nvSpPr>
          <p:cNvPr id="36" name="bullet"/>
          <p:cNvSpPr txBox="1"/>
          <p:nvPr/>
        </p:nvSpPr>
        <p:spPr>
          <a:xfrm>
            <a:off x="1143000" y="2667339"/>
            <a:ext cx="4389120" cy="113114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If the input has a number in front, divide the numbers when you can.</a:t>
            </a:r>
            <a:endParaRPr lang="en-US" sz="2200" dirty="0"/>
          </a:p>
        </p:txBody>
      </p:sp>
      <p:sp>
        <p:nvSpPr>
          <p:cNvPr id="37" name="bullet-card"/>
          <p:cNvSpPr/>
          <p:nvPr/>
        </p:nvSpPr>
        <p:spPr>
          <a:xfrm>
            <a:off x="548640" y="3944789"/>
            <a:ext cx="5074920" cy="1131147"/>
          </a:xfrm>
          <a:prstGeom prst="roundRect">
            <a:avLst>
              <a:gd name="adj" fmla="val 6467"/>
            </a:avLst>
          </a:prstGeom>
          <a:solidFill>
            <a:srgbClr val="F5F6F9"/>
          </a:solidFill>
          <a:ln/>
        </p:spPr>
      </p:sp>
      <p:sp>
        <p:nvSpPr>
          <p:cNvPr id="38" name="bullet-hex"/>
          <p:cNvSpPr/>
          <p:nvPr/>
        </p:nvSpPr>
        <p:spPr>
          <a:xfrm>
            <a:off x="676656" y="4344070"/>
            <a:ext cx="384048" cy="332586"/>
          </a:xfrm>
          <a:prstGeom prst="hexagon">
            <a:avLst/>
          </a:prstGeom>
          <a:solidFill>
            <a:srgbClr val="2E4A8C"/>
          </a:solidFill>
          <a:ln/>
        </p:spPr>
      </p:sp>
      <p:sp>
        <p:nvSpPr>
          <p:cNvPr id="39" name="bullet"/>
          <p:cNvSpPr txBox="1"/>
          <p:nvPr/>
        </p:nvSpPr>
        <p:spPr>
          <a:xfrm>
            <a:off x="1143000" y="3944789"/>
            <a:ext cx="4389120" cy="113114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 expression with two terms is divided term by term.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Finding the function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the number in front of the letter changes, think × or ÷. If a number is added on the end, think + or −.</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The input is 3w and the output is 3w − 1. What is the function?</a:t>
            </a:r>
            <a:endParaRPr lang="en-US" sz="1800" dirty="0"/>
          </a:p>
        </p:txBody>
      </p:sp>
      <p:sp>
        <p:nvSpPr>
          <p:cNvPr id="14" name="step-box"/>
          <p:cNvSpPr/>
          <p:nvPr/>
        </p:nvSpPr>
        <p:spPr>
          <a:xfrm>
            <a:off x="6126480" y="2888488"/>
            <a:ext cx="5379415" cy="509397"/>
          </a:xfrm>
          <a:prstGeom prst="roundRect">
            <a:avLst>
              <a:gd name="adj" fmla="val 17951"/>
            </a:avLst>
          </a:prstGeom>
          <a:solidFill>
            <a:srgbClr val="F0F2F7"/>
          </a:solidFill>
          <a:ln/>
        </p:spPr>
      </p:sp>
      <p:sp>
        <p:nvSpPr>
          <p:cNvPr id="15" name="step-hex"/>
          <p:cNvSpPr/>
          <p:nvPr/>
        </p:nvSpPr>
        <p:spPr>
          <a:xfrm>
            <a:off x="6217920" y="2961056"/>
            <a:ext cx="420624" cy="364260"/>
          </a:xfrm>
          <a:prstGeom prst="hexagon">
            <a:avLst/>
          </a:prstGeom>
          <a:solidFill>
            <a:srgbClr val="2E4A8C"/>
          </a:solidFill>
          <a:ln/>
        </p:spPr>
      </p:sp>
      <p:sp>
        <p:nvSpPr>
          <p:cNvPr id="16" name="step-hex-label"/>
          <p:cNvSpPr txBox="1"/>
          <p:nvPr/>
        </p:nvSpPr>
        <p:spPr>
          <a:xfrm>
            <a:off x="6217920" y="296105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Compare 3w with 3w − 1.</a:t>
            </a:r>
            <a:endParaRPr lang="en-US" sz="1800" dirty="0"/>
          </a:p>
        </p:txBody>
      </p:sp>
      <p:sp>
        <p:nvSpPr>
          <p:cNvPr id="18" name="step-box"/>
          <p:cNvSpPr/>
          <p:nvPr/>
        </p:nvSpPr>
        <p:spPr>
          <a:xfrm>
            <a:off x="6126480" y="3489325"/>
            <a:ext cx="5379415" cy="736981"/>
          </a:xfrm>
          <a:prstGeom prst="roundRect">
            <a:avLst>
              <a:gd name="adj" fmla="val 12407"/>
            </a:avLst>
          </a:prstGeom>
          <a:solidFill>
            <a:srgbClr val="F0F2F7"/>
          </a:solidFill>
          <a:ln/>
        </p:spPr>
      </p:sp>
      <p:sp>
        <p:nvSpPr>
          <p:cNvPr id="19" name="step-hex"/>
          <p:cNvSpPr/>
          <p:nvPr/>
        </p:nvSpPr>
        <p:spPr>
          <a:xfrm>
            <a:off x="6217920" y="3675685"/>
            <a:ext cx="420624" cy="364260"/>
          </a:xfrm>
          <a:prstGeom prst="hexagon">
            <a:avLst/>
          </a:prstGeom>
          <a:solidFill>
            <a:srgbClr val="2E4A8C"/>
          </a:solidFill>
          <a:ln/>
        </p:spPr>
      </p:sp>
      <p:sp>
        <p:nvSpPr>
          <p:cNvPr id="20" name="step-hex-label"/>
          <p:cNvSpPr txBox="1"/>
          <p:nvPr/>
        </p:nvSpPr>
        <p:spPr>
          <a:xfrm>
            <a:off x="6217920" y="367568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89325"/>
            <a:ext cx="4739335" cy="73698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3w has not changed, so nothing was multiplied or divided.</a:t>
            </a:r>
            <a:endParaRPr lang="en-US" sz="1800" dirty="0"/>
          </a:p>
        </p:txBody>
      </p:sp>
      <p:sp>
        <p:nvSpPr>
          <p:cNvPr id="22" name="step-box"/>
          <p:cNvSpPr/>
          <p:nvPr/>
        </p:nvSpPr>
        <p:spPr>
          <a:xfrm>
            <a:off x="6126480" y="4317746"/>
            <a:ext cx="5379415" cy="509397"/>
          </a:xfrm>
          <a:prstGeom prst="roundRect">
            <a:avLst>
              <a:gd name="adj" fmla="val 17951"/>
            </a:avLst>
          </a:prstGeom>
          <a:solidFill>
            <a:srgbClr val="F0F2F7"/>
          </a:solidFill>
          <a:ln/>
        </p:spPr>
      </p:sp>
      <p:sp>
        <p:nvSpPr>
          <p:cNvPr id="23" name="step-hex"/>
          <p:cNvSpPr/>
          <p:nvPr/>
        </p:nvSpPr>
        <p:spPr>
          <a:xfrm>
            <a:off x="6217920" y="4390314"/>
            <a:ext cx="420624" cy="364260"/>
          </a:xfrm>
          <a:prstGeom prst="hexagon">
            <a:avLst/>
          </a:prstGeom>
          <a:solidFill>
            <a:srgbClr val="2E4A8C"/>
          </a:solidFill>
          <a:ln/>
        </p:spPr>
      </p:sp>
      <p:sp>
        <p:nvSpPr>
          <p:cNvPr id="24" name="step-hex-label"/>
          <p:cNvSpPr txBox="1"/>
          <p:nvPr/>
        </p:nvSpPr>
        <p:spPr>
          <a:xfrm>
            <a:off x="6217920" y="43903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17746"/>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1 has been taken away.</a:t>
            </a:r>
            <a:endParaRPr lang="en-US" sz="1800" dirty="0"/>
          </a:p>
        </p:txBody>
      </p:sp>
      <p:sp>
        <p:nvSpPr>
          <p:cNvPr id="26" name="step-box"/>
          <p:cNvSpPr/>
          <p:nvPr/>
        </p:nvSpPr>
        <p:spPr>
          <a:xfrm>
            <a:off x="6126480" y="4918583"/>
            <a:ext cx="5379415" cy="509397"/>
          </a:xfrm>
          <a:prstGeom prst="roundRect">
            <a:avLst>
              <a:gd name="adj" fmla="val 17951"/>
            </a:avLst>
          </a:prstGeom>
          <a:solidFill>
            <a:srgbClr val="F0F2F7"/>
          </a:solidFill>
          <a:ln/>
        </p:spPr>
      </p:sp>
      <p:sp>
        <p:nvSpPr>
          <p:cNvPr id="27" name="step-hex"/>
          <p:cNvSpPr/>
          <p:nvPr/>
        </p:nvSpPr>
        <p:spPr>
          <a:xfrm>
            <a:off x="6217920" y="4991151"/>
            <a:ext cx="420624" cy="364260"/>
          </a:xfrm>
          <a:prstGeom prst="hexagon">
            <a:avLst/>
          </a:prstGeom>
          <a:solidFill>
            <a:srgbClr val="2E4A8C"/>
          </a:solidFill>
          <a:ln/>
        </p:spPr>
      </p:sp>
      <p:sp>
        <p:nvSpPr>
          <p:cNvPr id="28" name="step-hex-label"/>
          <p:cNvSpPr txBox="1"/>
          <p:nvPr/>
        </p:nvSpPr>
        <p:spPr>
          <a:xfrm>
            <a:off x="6217920" y="4991151"/>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918583"/>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function is subtract 1.</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− 1</a:t>
            </a:r>
            <a:endParaRPr lang="en-US" sz="1800" dirty="0"/>
          </a:p>
        </p:txBody>
      </p:sp>
      <p:sp>
        <p:nvSpPr>
          <p:cNvPr id="31" name="bullet-card"/>
          <p:cNvSpPr/>
          <p:nvPr/>
        </p:nvSpPr>
        <p:spPr>
          <a:xfrm>
            <a:off x="548640" y="1389888"/>
            <a:ext cx="5074920" cy="1141476"/>
          </a:xfrm>
          <a:prstGeom prst="roundRect">
            <a:avLst>
              <a:gd name="adj" fmla="val 6409"/>
            </a:avLst>
          </a:prstGeom>
          <a:solidFill>
            <a:srgbClr val="F5F6F9"/>
          </a:solidFill>
          <a:ln/>
        </p:spPr>
      </p:sp>
      <p:sp>
        <p:nvSpPr>
          <p:cNvPr id="32" name="bullet-hex"/>
          <p:cNvSpPr/>
          <p:nvPr/>
        </p:nvSpPr>
        <p:spPr>
          <a:xfrm>
            <a:off x="676656" y="1794333"/>
            <a:ext cx="384048" cy="332586"/>
          </a:xfrm>
          <a:prstGeom prst="hexagon">
            <a:avLst/>
          </a:prstGeom>
          <a:solidFill>
            <a:srgbClr val="2E4A8C"/>
          </a:solidFill>
          <a:ln/>
        </p:spPr>
      </p:sp>
      <p:sp>
        <p:nvSpPr>
          <p:cNvPr id="33" name="bullet"/>
          <p:cNvSpPr txBox="1"/>
          <p:nvPr/>
        </p:nvSpPr>
        <p:spPr>
          <a:xfrm>
            <a:off x="1143000" y="1389888"/>
            <a:ext cx="4389120" cy="11414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Now the machine is hiding its function. You see the input and the output and must work out what happened.</a:t>
            </a:r>
            <a:endParaRPr lang="en-US" sz="2000" dirty="0"/>
          </a:p>
        </p:txBody>
      </p:sp>
      <p:sp>
        <p:nvSpPr>
          <p:cNvPr id="34" name="bullet-card"/>
          <p:cNvSpPr/>
          <p:nvPr/>
        </p:nvSpPr>
        <p:spPr>
          <a:xfrm>
            <a:off x="548640" y="2677668"/>
            <a:ext cx="5074920" cy="1141476"/>
          </a:xfrm>
          <a:prstGeom prst="roundRect">
            <a:avLst>
              <a:gd name="adj" fmla="val 6409"/>
            </a:avLst>
          </a:prstGeom>
          <a:solidFill>
            <a:srgbClr val="F5F6F9"/>
          </a:solidFill>
          <a:ln/>
        </p:spPr>
      </p:sp>
      <p:sp>
        <p:nvSpPr>
          <p:cNvPr id="35" name="bullet-hex"/>
          <p:cNvSpPr/>
          <p:nvPr/>
        </p:nvSpPr>
        <p:spPr>
          <a:xfrm>
            <a:off x="676656" y="3082113"/>
            <a:ext cx="384048" cy="332586"/>
          </a:xfrm>
          <a:prstGeom prst="hexagon">
            <a:avLst/>
          </a:prstGeom>
          <a:solidFill>
            <a:srgbClr val="B8862B"/>
          </a:solidFill>
          <a:ln/>
        </p:spPr>
      </p:sp>
      <p:sp>
        <p:nvSpPr>
          <p:cNvPr id="36" name="bullet"/>
          <p:cNvSpPr txBox="1"/>
          <p:nvPr/>
        </p:nvSpPr>
        <p:spPr>
          <a:xfrm>
            <a:off x="1143000" y="2677668"/>
            <a:ext cx="4389120" cy="11414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If 4a goes in and 4a − 2 comes out, a number was taken away: the function is subtract 2.</a:t>
            </a:r>
            <a:endParaRPr lang="en-US" sz="2000" dirty="0"/>
          </a:p>
        </p:txBody>
      </p:sp>
      <p:sp>
        <p:nvSpPr>
          <p:cNvPr id="37" name="bullet-card"/>
          <p:cNvSpPr/>
          <p:nvPr/>
        </p:nvSpPr>
        <p:spPr>
          <a:xfrm>
            <a:off x="548640" y="3965448"/>
            <a:ext cx="5074920" cy="831596"/>
          </a:xfrm>
          <a:prstGeom prst="roundRect">
            <a:avLst>
              <a:gd name="adj" fmla="val 8797"/>
            </a:avLst>
          </a:prstGeom>
          <a:solidFill>
            <a:srgbClr val="F5F6F9"/>
          </a:solidFill>
          <a:ln/>
        </p:spPr>
      </p:sp>
      <p:sp>
        <p:nvSpPr>
          <p:cNvPr id="38" name="bullet-hex"/>
          <p:cNvSpPr/>
          <p:nvPr/>
        </p:nvSpPr>
        <p:spPr>
          <a:xfrm>
            <a:off x="676656" y="4214953"/>
            <a:ext cx="384048" cy="332586"/>
          </a:xfrm>
          <a:prstGeom prst="hexagon">
            <a:avLst/>
          </a:prstGeom>
          <a:solidFill>
            <a:srgbClr val="2E4A8C"/>
          </a:solidFill>
          <a:ln/>
        </p:spPr>
      </p:sp>
      <p:sp>
        <p:nvSpPr>
          <p:cNvPr id="39" name="bullet"/>
          <p:cNvSpPr txBox="1"/>
          <p:nvPr/>
        </p:nvSpPr>
        <p:spPr>
          <a:xfrm>
            <a:off x="1143000" y="3965448"/>
            <a:ext cx="4389120" cy="83159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Eva sees 6f go in and 6fg come out. She says the function is add 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E4A8C"/>
                </a:solidFill>
                <a:latin typeface="Cambria" pitchFamily="34" charset="0"/>
                <a:ea typeface="Cambria" pitchFamily="34" charset="-122"/>
                <a:cs typeface="Cambria" pitchFamily="34" charset="-120"/>
              </a:rPr>
              <a:t>Same task, three ways in: Multiply an expression</a:t>
            </a:r>
            <a:endParaRPr lang="en-US" sz="30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machine multiplies by 4. The input is 2b + 7. What is the output?</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8b + 7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2b + 28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8b + 28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2b + 11</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input as two parts: 2b and 7.</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the first part by 4: 2 × 4 = 8, so 2b becomes 8b.</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the second part by 4: 7 × 4 = 28.</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Join the parts with the + sign.</a:t>
            </a:r>
            <a:endParaRPr lang="en-US" sz="18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Picture 2 cubes and 7 counters. What do you have after you make 4 copies?</a:t>
            </a:r>
            <a:endParaRPr lang="en-US" sz="18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Whitney gets 8b + 7. Use the cubes-and-counters picture to explain why her 7 is wrong, then write a one-step machine that really would turn 2b + 7 into 8b + 7.</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Divide an expression</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machine divides by 6. The input is 12h − 18. What is the output?</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2h − 18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2h − 3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12h − 3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6h − 12</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input as two parts: 12h and 18.</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Divide the first part by 6: 12 ÷ 6 = 2, so 12h becomes 2h.</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Divide the second part by 6: 18 ÷ 6 = 3.</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Keep the − sign between the parts.</a:t>
            </a:r>
            <a:endParaRPr lang="en-US" sz="18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Divide 12 by 6 and 18 by 6 separately.</a:t>
            </a:r>
            <a:endParaRPr lang="en-US" sz="18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Now put 12h − 18 through a machine that divides by 5. Write the output, and explain why it looks different from the divide-by-6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machine multiplies by 3. The input is 2a. What is the output?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6a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2a + 3</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23a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5a</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Multiply an expression</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machine multiplies by 4. The input is 2b + 7. What is the output?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8b + 28</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Both terms are multiplied by 4: 2 × 4 = 8 and 7 × 4 = 28, so the output is 8b + 28.</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Divide an expression</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machine divides by 6. The input is 12h − 18. What is the output?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2h − 3</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Each term is divided by 6: 12 ÷ 6 = 2 and 18 ÷ 6 = 3, so the output is 2h − 3.</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machine multiplies by 3. The input is 2a. What is the output?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6a</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Multiply the numbers: 2 × 3 = 6. The output is 6a.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Algebraic Notation and Substitution · Chapter 2: Function machines with algebra</dc:title>
  <dc:subject>Mathematics · Year 7</dc:subject>
  <dc:creator>Dr Vitor Merissi de Carvalho</dc:creator>
  <cp:lastModifiedBy>Dr Vitor Merissi de Carvalho</cp:lastModifiedBy>
  <cp:revision>1</cp:revision>
  <dcterms:created xsi:type="dcterms:W3CDTF">2026-10-18T17:47:11Z</dcterms:created>
  <dcterms:modified xsi:type="dcterms:W3CDTF">2026-10-18T17:47:11Z</dcterms:modified>
</cp:coreProperties>
</file>