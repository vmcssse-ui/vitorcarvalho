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c6d180e-e6da-2442-d01b-c5384941d741}">
          <p14:sldIdLst>
            <p14:sldId id="256"/>
          </p14:sldIdLst>
        </p14:section>
        <p14:section name="Gate" id="{c4831709-5493-40b4-9e6a-ebc20eec29a4}">
          <p14:sldIdLst>
            <p14:sldId id="257"/>
            <p14:sldId id="258"/>
          </p14:sldIdLst>
        </p14:section>
        <p14:section name="Pre-teach" id="{b5732b47-8504-2a1d-69c0-bd9711968123}">
          <p14:sldIdLst>
            <p14:sldId id="259"/>
            <p14:sldId id="260"/>
          </p14:sldIdLst>
        </p14:section>
        <p14:section name="Read-along" id="{77d6bbb9-27b3-36e8-0c98-801a6d766788}">
          <p14:sldIdLst>
            <p14:sldId id="261"/>
            <p14:sldId id="262"/>
          </p14:sldIdLst>
        </p14:section>
        <p14:section name="Teach" id="{c74463d6-372d-b97d-518a-db1282a71513}">
          <p14:sldIdLst>
            <p14:sldId id="263"/>
            <p14:sldId id="264"/>
            <p14:sldId id="265"/>
          </p14:sldIdLst>
        </p14:section>
        <p14:section name="Routes" id="{cd2d79b9-e749-38fe-5a68-790557b4322a}">
          <p14:sldIdLst>
            <p14:sldId id="266"/>
            <p14:sldId id="267"/>
          </p14:sldIdLst>
        </p14:section>
        <p14:section name="Close" id="{e8f74017-6178-8eb9-0d93-c6146a00b644}">
          <p14:sldIdLst>
            <p14:sldId id="268"/>
          </p14:sldIdLst>
        </p14:section>
        <p14:section name="Answers" id="{05518c49-0942-6370-1374-da5f3cd614bc}">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Function machines with numbers. Meet the input, the function and the output, and learn to run a machine forwards and backwards.
This deck covers the department's lesson: 1 (1-step function machines (numbers): What do the input, the function and the output of a machine tell us, and how do we run a machine backwards?).
Read the big question aloud: "How can a function machine help us write, read and use algebra?"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machine adds 9. The input is 17. What is the output?  →  26
2. Which operation is the inverse of multiplying by 4?  →  C   Dividing by 4
3. A machine divides by 3. The output is 12. What was the input?  →  36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26. Do the function to the input: 17 + 9 = 26.
2. C   Dividing by 4. Dividing by 4 undoes multiplying by 4: 3 × 4 = 12 and 12 ÷ 4 = 3.
3. 36. The inverse of divide by 3 is multiply by 3: 12 × 3 = 36. Check: 36 ÷ 3 = 12.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function machine: a picture of a rule: a number goes in, something is done to it, a number comes out. Example: "This function machine adds 2 to every number."
• input: the number that goes into the machine. Example: "The input is 3."
• output: the number that comes out of the machine. Example: "If the input is 3 and the machine adds 2, the output is 5."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function: the operation the machine does to the input. Example: "The function is multiply by 5."
• inverse: the operation that undoes another. Example: "The inverse of adding 2 is subtracting 2."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function machine is a picture of a rule.
2. A number goes in. We call it the input.
3. The machine does something to that number.
4. This is the function. It might be add 2 or multiply by 5.
5. A number comes out. We call it the output.
6. Put 3 into a machine that adds 2. The output is 5.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Put 4 into a machine that multiplies by 5. The output is 20.
8. Sometimes you know the output but not the input.
9. Then you work backwards.
10. You undo the function with its inverse.
11. The inverse of adding is subtracting.
12. The inverse of multiplying is dividing.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Input, function, output. Say it in your own words, then check understanding with a quick question: ask a pupil from the pre-teach group first, since they met these words and ideas before the lesson. Pupils try to recall before you re-explain.
Think of a machine with a slot at each end. You drop a number in at one side. That number is the input. Inside, the machine follows one rule, such as add 6 or divide by 2. That rule is the function. The number that drops out of the other side is the output.
The function is an operation: adding, subtracting, multiplying or dividing. It tells you what to do to the input. If the input is 8 and the function is multiply by 2, you work out 8 × 2 = 16. The output is 16.
The same input gives different outputs in different machines. Put 8 into a machine that adds 2 and you get 10. Put 8 into a machine that subtracts 2 and you get 6. Always read the function before you start.
Worked example — model it step by step, thinking aloud: A machine multiplies by 6. The input is 7. What is the output? (1) Find the input: 7. (2) Read the function: multiply by 6. (3) Do the function to the input: 7 × 6 = 42. (4) The output is 42. Answer: 42.
Tip: Say the three parts out loud: input, function,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Working backwards. Say it in your own words, then check understanding with a quick question: ask a pupil from the pre-teach group first, since they met these words and ideas before the lesson. Pupils try to recall before you re-explain.
Sometimes you are told the output and asked for the input. You cannot run the machine forwards, so you run it backwards. To go backwards you use the inverse of the function. The inverse undoes what the function did.
The inverse of adding 3 is subtracting 3. The inverse of subtracting 7 is adding 7. The inverse of multiplying by 4 is dividing by 4. The inverse of dividing by 2 is multiplying by 2. Squaring and square rooting are inverses too.
A machine adds 3 and the output is 4. Eva says the input must be 7, because 4 + 3 = 7. She has run the machine forwards again. Going backwards means subtracting 3, so the input is 1. Check: 1 + 3 = 4.
Worked example — model it step by step, thinking aloud: A machine subtracts 8. The output is 15. What was the input? (1) The function is subtract 8. (2) Its inverse is add 8. (3) Do the inverse to the output: 15 + 8 = 23. (4) Check forwards: 23 − 8 = 15. The input was 23. Answer: 23.
Tip: Finished a backwards question? Run the machine forwards with your answer to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Spotting mistakes. Say it in your own words, then check understanding with a quick question: ask a pupil from the pre-teach group first, since they met these words and ideas before the lesson. Pupils try to recall before you re-explain.
Some functions are easy to mix up. Doubling means multiplying by 2. Squaring means multiplying a number by itself. Mo puts 8 into a machine that squares, and writes 16. He has doubled instead of squaring. 8 × 8 = 64, so the output should be 64.
Decimal inputs follow the same rules as whole numbers. Put 0.6 into a machine that multiplies by 4 and you get 2.4, not 0.24. If you are not sure, think about the whole-number version first: 6 × 4 = 24.
Two different functions can turn the same input into the same output. 6 turns into 12 if the machine multiplies by 2, and also if it adds 6. When a question gives only one pair of numbers, more than one answer can be right. A second pair of numbers settles it.
Worked example — model it step by step, thinking aloud: A machine squares the input. The input is 9. What is the output? (1) Squaring means multiplying the number by itself. (2) 9 × 9 = 81. (3) The output is 81, not 18. Answer: 81.
Tip: Squaring is not doubling. 5 squared is 25, but 5 doubled is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Find the output.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machine subtracts 14. The input is 50. What is the output?
Support — work through the steps with the group: (1) Say the input: 50. (2) Say the function: subtract 14. (3) Do the function to the input: 50 − 14. (4) Write the answer as the output.
Parallel worked example for Support (model it, do not give the task answer): A machine subtracts 9. The input is 30. What is the output? The input is 30 and the function is subtract 9.; 30 − 9 = 21.; The output is 21.. Answer: 21.
Core — reveal the hint only on request: Start at 50 and take away 14.
Stretch — no help; when finished: Can the same machine give the output 36 from a different input? Explain why or why not, then find the input that gives the output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Work backwards to find the input.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machine multiplies by 7. The output is 84. What was the input?
Support — work through the steps with the group: (1) Write the function: multiply by 7. (2) Write its inverse: divide by 7. (3) Do the inverse to the output: 84 ÷ 7. (4) Check by running the machine forwards with your answer.
Parallel worked example for Support (model it, do not give the task answer): A machine multiplies by 4. The output is 36. What was the input? The inverse of multiply by 4 is divide by 4.; 36 ÷ 4 = 9.; Check forwards: 9 × 4 = 36. The input was 9.. Answer: 9.
Core — reveal the hint only on request: What is the inverse of multiplying by 7?
Stretch — no help; when finished: Annie says the input must be 91 because 84 + 7 = 91. Explain her mistake, then describe how running the machine forwards would show her she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machine adds 9. The input is 17. What is the output?
Answer: 26. Do the function to the input: 17 + 9 = 26.
Source of this question: gate item 1 re-asked (options rotated) — this chapter has no third quick-check module.
The ebook also holds task 3, "Which function is it?",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Find the output. Reveal the answer; pupils mark their own work in a different colour, then read the "why" together. Same destination for every lane, so one answer serves the whole class.
Answer: 36
Why: Do the function to the input: 50 − 14 = 36.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Work backwards to find the input. Reveal the answer; pupils mark their own work in a different colour, then read the "why" together. Same destination for every lane, so one answer serves the whole class.
Answer: 12
Why: The inverse of multiply by 7 is divide by 7: 84 ÷ 7 = 12. Check: 12 × 7 = 84.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26
Why: Do the function to the input: 17 + 9 = 26.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Algebraic Notation and Substitution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Algebraic Notation and Substitution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Algebraic Notation and Substitution · AQA KS3 → 8300</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Function machines with numbers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0F2F7"/>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1-step function machines (numbers)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can a function machine help us write, read and use algebra?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machine adds 9. The input is 17. What is the output?</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operation is the inverse of multiplying by 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Multiplying by 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Subtracting 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Dividing by 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Adding 4</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machine divides by 3. The output is 12. What was the input?</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26</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machine adds 9. The input is 17. What is the output?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Do the function to the input: 17 + 9 = 26.</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Dividing by 4</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operation is the inverse of multiplying by 4?</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Dividing by 4 undoes multiplying by 4: 3 × 4 = 12 and 12 ÷ 4 = 3.</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36</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machine divides by 3. The output is 12. What was the input?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inverse of divide by 3 is multiply by 3: 12 × 3 = 36. Check: 36 ÷ 3 = 12.</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6F9"/>
          </a:solidFill>
          <a:ln w="12700">
            <a:solidFill>
              <a:srgbClr val="B2BCD4"/>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function machine</a:t>
            </a:r>
            <a:endParaRPr lang="en-US" sz="2600" dirty="0"/>
          </a:p>
        </p:txBody>
      </p:sp>
      <p:sp>
        <p:nvSpPr>
          <p:cNvPr id="11" name="word-rule"/>
          <p:cNvSpPr/>
          <p:nvPr/>
        </p:nvSpPr>
        <p:spPr>
          <a:xfrm>
            <a:off x="731520" y="2558288"/>
            <a:ext cx="3149498" cy="0"/>
          </a:xfrm>
          <a:prstGeom prst="line">
            <a:avLst/>
          </a:prstGeom>
          <a:ln w="12700">
            <a:solidFill>
              <a:srgbClr val="B2BCD4"/>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picture of a rule: a number goes in, something is done to it, a number comes out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This function machine adds 2 to every number.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6F9"/>
          </a:solidFill>
          <a:ln w="12700">
            <a:solidFill>
              <a:srgbClr val="B2BCD4"/>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input</a:t>
            </a:r>
            <a:endParaRPr lang="en-US" sz="2600" dirty="0"/>
          </a:p>
        </p:txBody>
      </p:sp>
      <p:sp>
        <p:nvSpPr>
          <p:cNvPr id="17" name="word-rule"/>
          <p:cNvSpPr/>
          <p:nvPr/>
        </p:nvSpPr>
        <p:spPr>
          <a:xfrm>
            <a:off x="4521098" y="2129028"/>
            <a:ext cx="3149498" cy="0"/>
          </a:xfrm>
          <a:prstGeom prst="line">
            <a:avLst/>
          </a:prstGeom>
          <a:ln w="12700">
            <a:solidFill>
              <a:srgbClr val="B2BCD4"/>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number that goes into the machine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input is 3.</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6F9"/>
          </a:solidFill>
          <a:ln w="12700">
            <a:solidFill>
              <a:srgbClr val="B2BCD4"/>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output</a:t>
            </a:r>
            <a:endParaRPr lang="en-US" sz="2600" dirty="0"/>
          </a:p>
        </p:txBody>
      </p:sp>
      <p:sp>
        <p:nvSpPr>
          <p:cNvPr id="23" name="word-rule"/>
          <p:cNvSpPr/>
          <p:nvPr/>
        </p:nvSpPr>
        <p:spPr>
          <a:xfrm>
            <a:off x="8310677" y="2129028"/>
            <a:ext cx="3149498" cy="0"/>
          </a:xfrm>
          <a:prstGeom prst="line">
            <a:avLst/>
          </a:prstGeom>
          <a:ln w="12700">
            <a:solidFill>
              <a:srgbClr val="B2BCD4"/>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number that comes out of the machine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If the input is 3 and the machine adds 2, the output is 5.</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5F6F9"/>
          </a:solidFill>
          <a:ln w="12700">
            <a:solidFill>
              <a:srgbClr val="B2BCD4"/>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function</a:t>
            </a:r>
            <a:endParaRPr lang="en-US" sz="2600" dirty="0"/>
          </a:p>
        </p:txBody>
      </p:sp>
      <p:sp>
        <p:nvSpPr>
          <p:cNvPr id="11" name="word-rule"/>
          <p:cNvSpPr/>
          <p:nvPr/>
        </p:nvSpPr>
        <p:spPr>
          <a:xfrm>
            <a:off x="731520" y="2129028"/>
            <a:ext cx="5044288" cy="0"/>
          </a:xfrm>
          <a:prstGeom prst="line">
            <a:avLst/>
          </a:prstGeom>
          <a:ln w="12700">
            <a:solidFill>
              <a:srgbClr val="B2BCD4"/>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operation the machine does to the input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function is multiply by 5.</a:t>
            </a:r>
            <a:endParaRPr lang="en-US" sz="2200" dirty="0"/>
          </a:p>
        </p:txBody>
      </p:sp>
      <p:sp>
        <p:nvSpPr>
          <p:cNvPr id="13" name="word-card"/>
          <p:cNvSpPr/>
          <p:nvPr/>
        </p:nvSpPr>
        <p:spPr>
          <a:xfrm>
            <a:off x="6233008" y="1389888"/>
            <a:ext cx="5410048" cy="4754880"/>
          </a:xfrm>
          <a:prstGeom prst="roundRect">
            <a:avLst>
              <a:gd name="adj" fmla="val 1154"/>
            </a:avLst>
          </a:prstGeom>
          <a:solidFill>
            <a:srgbClr val="F5F6F9"/>
          </a:solidFill>
          <a:ln w="12700">
            <a:solidFill>
              <a:srgbClr val="B2BCD4"/>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inverse</a:t>
            </a:r>
            <a:endParaRPr lang="en-US" sz="2600" dirty="0"/>
          </a:p>
        </p:txBody>
      </p:sp>
      <p:sp>
        <p:nvSpPr>
          <p:cNvPr id="17" name="word-rule"/>
          <p:cNvSpPr/>
          <p:nvPr/>
        </p:nvSpPr>
        <p:spPr>
          <a:xfrm>
            <a:off x="6415888" y="2129028"/>
            <a:ext cx="5044288" cy="0"/>
          </a:xfrm>
          <a:prstGeom prst="line">
            <a:avLst/>
          </a:prstGeom>
          <a:ln w="12700">
            <a:solidFill>
              <a:srgbClr val="B2BCD4"/>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operation that undoes another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inverse of adding 2 is subtracting 2.</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function machine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 picture of a rule.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number goes in. We call it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input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machine does something to that number.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is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function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It might be add 2 or multiply by 5.</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number comes out. We call it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output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Put 3 into a machine that adds 2.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output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5.</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Put 4 into a machine that multiplies by 5.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output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20.</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Sometimes you know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output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but not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input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you work backwards.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undo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function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with its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inverse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inverse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 adding is subtracting.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inverse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 multiplying is dividing.</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Input, function, output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Say the three parts out loud: input, function, output.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machine multiplies by 6. The input is 7. What is the output?</a:t>
            </a:r>
            <a:endParaRPr lang="en-US" sz="1800" dirty="0"/>
          </a:p>
        </p:txBody>
      </p:sp>
      <p:sp>
        <p:nvSpPr>
          <p:cNvPr id="14" name="step-box"/>
          <p:cNvSpPr/>
          <p:nvPr/>
        </p:nvSpPr>
        <p:spPr>
          <a:xfrm>
            <a:off x="6126480" y="2888488"/>
            <a:ext cx="5379415" cy="566293"/>
          </a:xfrm>
          <a:prstGeom prst="roundRect">
            <a:avLst>
              <a:gd name="adj" fmla="val 16147"/>
            </a:avLst>
          </a:prstGeom>
          <a:solidFill>
            <a:srgbClr val="F0F2F7"/>
          </a:solidFill>
          <a:ln/>
        </p:spPr>
      </p:sp>
      <p:sp>
        <p:nvSpPr>
          <p:cNvPr id="15" name="step-hex"/>
          <p:cNvSpPr/>
          <p:nvPr/>
        </p:nvSpPr>
        <p:spPr>
          <a:xfrm>
            <a:off x="6217920" y="2989504"/>
            <a:ext cx="420624" cy="364260"/>
          </a:xfrm>
          <a:prstGeom prst="hexagon">
            <a:avLst/>
          </a:prstGeom>
          <a:solidFill>
            <a:srgbClr val="2E4A8C"/>
          </a:solidFill>
          <a:ln/>
        </p:spPr>
      </p:sp>
      <p:sp>
        <p:nvSpPr>
          <p:cNvPr id="16" name="step-hex-label"/>
          <p:cNvSpPr txBox="1"/>
          <p:nvPr/>
        </p:nvSpPr>
        <p:spPr>
          <a:xfrm>
            <a:off x="6217920" y="298950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input: 7.</a:t>
            </a:r>
            <a:endParaRPr lang="en-US" sz="1800" dirty="0"/>
          </a:p>
        </p:txBody>
      </p:sp>
      <p:sp>
        <p:nvSpPr>
          <p:cNvPr id="18" name="step-box"/>
          <p:cNvSpPr/>
          <p:nvPr/>
        </p:nvSpPr>
        <p:spPr>
          <a:xfrm>
            <a:off x="6126480" y="3546221"/>
            <a:ext cx="5379415" cy="566293"/>
          </a:xfrm>
          <a:prstGeom prst="roundRect">
            <a:avLst>
              <a:gd name="adj" fmla="val 16147"/>
            </a:avLst>
          </a:prstGeom>
          <a:solidFill>
            <a:srgbClr val="F0F2F7"/>
          </a:solidFill>
          <a:ln/>
        </p:spPr>
      </p:sp>
      <p:sp>
        <p:nvSpPr>
          <p:cNvPr id="19" name="step-hex"/>
          <p:cNvSpPr/>
          <p:nvPr/>
        </p:nvSpPr>
        <p:spPr>
          <a:xfrm>
            <a:off x="6217920" y="3647237"/>
            <a:ext cx="420624" cy="364260"/>
          </a:xfrm>
          <a:prstGeom prst="hexagon">
            <a:avLst/>
          </a:prstGeom>
          <a:solidFill>
            <a:srgbClr val="2E4A8C"/>
          </a:solidFill>
          <a:ln/>
        </p:spPr>
      </p:sp>
      <p:sp>
        <p:nvSpPr>
          <p:cNvPr id="20" name="step-hex-label"/>
          <p:cNvSpPr txBox="1"/>
          <p:nvPr/>
        </p:nvSpPr>
        <p:spPr>
          <a:xfrm>
            <a:off x="6217920" y="364723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221"/>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Read the function: multiply by 6.</a:t>
            </a:r>
            <a:endParaRPr lang="en-US" sz="1800" dirty="0"/>
          </a:p>
        </p:txBody>
      </p:sp>
      <p:sp>
        <p:nvSpPr>
          <p:cNvPr id="22" name="step-box"/>
          <p:cNvSpPr/>
          <p:nvPr/>
        </p:nvSpPr>
        <p:spPr>
          <a:xfrm>
            <a:off x="6126480" y="4203954"/>
            <a:ext cx="5379415" cy="566293"/>
          </a:xfrm>
          <a:prstGeom prst="roundRect">
            <a:avLst>
              <a:gd name="adj" fmla="val 16147"/>
            </a:avLst>
          </a:prstGeom>
          <a:solidFill>
            <a:srgbClr val="F0F2F7"/>
          </a:solidFill>
          <a:ln/>
        </p:spPr>
      </p:sp>
      <p:sp>
        <p:nvSpPr>
          <p:cNvPr id="23" name="step-hex"/>
          <p:cNvSpPr/>
          <p:nvPr/>
        </p:nvSpPr>
        <p:spPr>
          <a:xfrm>
            <a:off x="6217920" y="4304970"/>
            <a:ext cx="420624" cy="364260"/>
          </a:xfrm>
          <a:prstGeom prst="hexagon">
            <a:avLst/>
          </a:prstGeom>
          <a:solidFill>
            <a:srgbClr val="2E4A8C"/>
          </a:solidFill>
          <a:ln/>
        </p:spPr>
      </p:sp>
      <p:sp>
        <p:nvSpPr>
          <p:cNvPr id="24" name="step-hex-label"/>
          <p:cNvSpPr txBox="1"/>
          <p:nvPr/>
        </p:nvSpPr>
        <p:spPr>
          <a:xfrm>
            <a:off x="6217920" y="430497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3954"/>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Do the function to the input: 7 × 6 = 42.</a:t>
            </a:r>
            <a:endParaRPr lang="en-US" sz="1800" dirty="0"/>
          </a:p>
        </p:txBody>
      </p:sp>
      <p:sp>
        <p:nvSpPr>
          <p:cNvPr id="26" name="step-box"/>
          <p:cNvSpPr/>
          <p:nvPr/>
        </p:nvSpPr>
        <p:spPr>
          <a:xfrm>
            <a:off x="6126480" y="4861687"/>
            <a:ext cx="5379415" cy="566293"/>
          </a:xfrm>
          <a:prstGeom prst="roundRect">
            <a:avLst>
              <a:gd name="adj" fmla="val 16147"/>
            </a:avLst>
          </a:prstGeom>
          <a:solidFill>
            <a:srgbClr val="F0F2F7"/>
          </a:solidFill>
          <a:ln/>
        </p:spPr>
      </p:sp>
      <p:sp>
        <p:nvSpPr>
          <p:cNvPr id="27" name="step-hex"/>
          <p:cNvSpPr/>
          <p:nvPr/>
        </p:nvSpPr>
        <p:spPr>
          <a:xfrm>
            <a:off x="6217920" y="4962703"/>
            <a:ext cx="420624" cy="364260"/>
          </a:xfrm>
          <a:prstGeom prst="hexagon">
            <a:avLst/>
          </a:prstGeom>
          <a:solidFill>
            <a:srgbClr val="2E4A8C"/>
          </a:solidFill>
          <a:ln/>
        </p:spPr>
      </p:sp>
      <p:sp>
        <p:nvSpPr>
          <p:cNvPr id="28" name="step-hex-label"/>
          <p:cNvSpPr txBox="1"/>
          <p:nvPr/>
        </p:nvSpPr>
        <p:spPr>
          <a:xfrm>
            <a:off x="6217920" y="496270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861687"/>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output is 42.</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42</a:t>
            </a:r>
            <a:endParaRPr lang="en-US" sz="1800" dirty="0"/>
          </a:p>
        </p:txBody>
      </p:sp>
      <p:sp>
        <p:nvSpPr>
          <p:cNvPr id="31" name="bullet-card"/>
          <p:cNvSpPr/>
          <p:nvPr/>
        </p:nvSpPr>
        <p:spPr>
          <a:xfrm>
            <a:off x="548640" y="1389888"/>
            <a:ext cx="5074920" cy="1027853"/>
          </a:xfrm>
          <a:prstGeom prst="roundRect">
            <a:avLst>
              <a:gd name="adj" fmla="val 7117"/>
            </a:avLst>
          </a:prstGeom>
          <a:solidFill>
            <a:srgbClr val="F5F6F9"/>
          </a:solidFill>
          <a:ln/>
        </p:spPr>
      </p:sp>
      <p:sp>
        <p:nvSpPr>
          <p:cNvPr id="32" name="bullet-hex"/>
          <p:cNvSpPr/>
          <p:nvPr/>
        </p:nvSpPr>
        <p:spPr>
          <a:xfrm>
            <a:off x="676656" y="1737522"/>
            <a:ext cx="384048" cy="332586"/>
          </a:xfrm>
          <a:prstGeom prst="hexagon">
            <a:avLst/>
          </a:prstGeom>
          <a:solidFill>
            <a:srgbClr val="2E4A8C"/>
          </a:solidFill>
          <a:ln/>
        </p:spPr>
      </p:sp>
      <p:sp>
        <p:nvSpPr>
          <p:cNvPr id="33" name="bullet"/>
          <p:cNvSpPr txBox="1"/>
          <p:nvPr/>
        </p:nvSpPr>
        <p:spPr>
          <a:xfrm>
            <a:off x="1143000" y="1389888"/>
            <a:ext cx="4389120"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Think of a machine with a slot at each end.</a:t>
            </a:r>
            <a:endParaRPr lang="en-US" sz="2000" dirty="0"/>
          </a:p>
        </p:txBody>
      </p:sp>
      <p:sp>
        <p:nvSpPr>
          <p:cNvPr id="34" name="bullet-card"/>
          <p:cNvSpPr/>
          <p:nvPr/>
        </p:nvSpPr>
        <p:spPr>
          <a:xfrm>
            <a:off x="548640" y="2564045"/>
            <a:ext cx="5074920" cy="1027853"/>
          </a:xfrm>
          <a:prstGeom prst="roundRect">
            <a:avLst>
              <a:gd name="adj" fmla="val 7117"/>
            </a:avLst>
          </a:prstGeom>
          <a:solidFill>
            <a:srgbClr val="F5F6F9"/>
          </a:solidFill>
          <a:ln/>
        </p:spPr>
      </p:sp>
      <p:sp>
        <p:nvSpPr>
          <p:cNvPr id="35" name="bullet-hex"/>
          <p:cNvSpPr/>
          <p:nvPr/>
        </p:nvSpPr>
        <p:spPr>
          <a:xfrm>
            <a:off x="676656" y="2911679"/>
            <a:ext cx="384048" cy="332586"/>
          </a:xfrm>
          <a:prstGeom prst="hexagon">
            <a:avLst/>
          </a:prstGeom>
          <a:solidFill>
            <a:srgbClr val="B8862B"/>
          </a:solidFill>
          <a:ln/>
        </p:spPr>
      </p:sp>
      <p:sp>
        <p:nvSpPr>
          <p:cNvPr id="36" name="bullet"/>
          <p:cNvSpPr txBox="1"/>
          <p:nvPr/>
        </p:nvSpPr>
        <p:spPr>
          <a:xfrm>
            <a:off x="1143000" y="2564045"/>
            <a:ext cx="4389120"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function is an operation: adding, subtracting, multiplying or dividing.</a:t>
            </a:r>
            <a:endParaRPr lang="en-US" sz="2000" dirty="0"/>
          </a:p>
        </p:txBody>
      </p:sp>
      <p:sp>
        <p:nvSpPr>
          <p:cNvPr id="37" name="bullet-card"/>
          <p:cNvSpPr/>
          <p:nvPr/>
        </p:nvSpPr>
        <p:spPr>
          <a:xfrm>
            <a:off x="548640" y="3738203"/>
            <a:ext cx="5074920" cy="1337733"/>
          </a:xfrm>
          <a:prstGeom prst="roundRect">
            <a:avLst>
              <a:gd name="adj" fmla="val 5468"/>
            </a:avLst>
          </a:prstGeom>
          <a:solidFill>
            <a:srgbClr val="F5F6F9"/>
          </a:solidFill>
          <a:ln/>
        </p:spPr>
      </p:sp>
      <p:sp>
        <p:nvSpPr>
          <p:cNvPr id="38" name="bullet-hex"/>
          <p:cNvSpPr/>
          <p:nvPr/>
        </p:nvSpPr>
        <p:spPr>
          <a:xfrm>
            <a:off x="676656" y="4240777"/>
            <a:ext cx="384048" cy="332586"/>
          </a:xfrm>
          <a:prstGeom prst="hexagon">
            <a:avLst/>
          </a:prstGeom>
          <a:solidFill>
            <a:srgbClr val="2E4A8C"/>
          </a:solidFill>
          <a:ln/>
        </p:spPr>
      </p:sp>
      <p:sp>
        <p:nvSpPr>
          <p:cNvPr id="39" name="bullet"/>
          <p:cNvSpPr txBox="1"/>
          <p:nvPr/>
        </p:nvSpPr>
        <p:spPr>
          <a:xfrm>
            <a:off x="1143000" y="3738203"/>
            <a:ext cx="4389120" cy="133773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same input gives different outputs in different machines. Put 8 into a machine that adds 2 and you get 10.</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Working backwards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Finished a backwards question? Run the machine forwards with your answer to check it.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machine subtracts 8. The output is 15. What was the input?</a:t>
            </a:r>
            <a:endParaRPr lang="en-US" sz="1800" dirty="0"/>
          </a:p>
        </p:txBody>
      </p:sp>
      <p:sp>
        <p:nvSpPr>
          <p:cNvPr id="14" name="step-box"/>
          <p:cNvSpPr/>
          <p:nvPr/>
        </p:nvSpPr>
        <p:spPr>
          <a:xfrm>
            <a:off x="6126480" y="2888488"/>
            <a:ext cx="5379415" cy="566293"/>
          </a:xfrm>
          <a:prstGeom prst="roundRect">
            <a:avLst>
              <a:gd name="adj" fmla="val 16147"/>
            </a:avLst>
          </a:prstGeom>
          <a:solidFill>
            <a:srgbClr val="F0F2F7"/>
          </a:solidFill>
          <a:ln/>
        </p:spPr>
      </p:sp>
      <p:sp>
        <p:nvSpPr>
          <p:cNvPr id="15" name="step-hex"/>
          <p:cNvSpPr/>
          <p:nvPr/>
        </p:nvSpPr>
        <p:spPr>
          <a:xfrm>
            <a:off x="6217920" y="2989504"/>
            <a:ext cx="420624" cy="364260"/>
          </a:xfrm>
          <a:prstGeom prst="hexagon">
            <a:avLst/>
          </a:prstGeom>
          <a:solidFill>
            <a:srgbClr val="2E4A8C"/>
          </a:solidFill>
          <a:ln/>
        </p:spPr>
      </p:sp>
      <p:sp>
        <p:nvSpPr>
          <p:cNvPr id="16" name="step-hex-label"/>
          <p:cNvSpPr txBox="1"/>
          <p:nvPr/>
        </p:nvSpPr>
        <p:spPr>
          <a:xfrm>
            <a:off x="6217920" y="298950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function is subtract 8.</a:t>
            </a:r>
            <a:endParaRPr lang="en-US" sz="1800" dirty="0"/>
          </a:p>
        </p:txBody>
      </p:sp>
      <p:sp>
        <p:nvSpPr>
          <p:cNvPr id="18" name="step-box"/>
          <p:cNvSpPr/>
          <p:nvPr/>
        </p:nvSpPr>
        <p:spPr>
          <a:xfrm>
            <a:off x="6126480" y="3546221"/>
            <a:ext cx="5379415" cy="566293"/>
          </a:xfrm>
          <a:prstGeom prst="roundRect">
            <a:avLst>
              <a:gd name="adj" fmla="val 16147"/>
            </a:avLst>
          </a:prstGeom>
          <a:solidFill>
            <a:srgbClr val="F0F2F7"/>
          </a:solidFill>
          <a:ln/>
        </p:spPr>
      </p:sp>
      <p:sp>
        <p:nvSpPr>
          <p:cNvPr id="19" name="step-hex"/>
          <p:cNvSpPr/>
          <p:nvPr/>
        </p:nvSpPr>
        <p:spPr>
          <a:xfrm>
            <a:off x="6217920" y="3647237"/>
            <a:ext cx="420624" cy="364260"/>
          </a:xfrm>
          <a:prstGeom prst="hexagon">
            <a:avLst/>
          </a:prstGeom>
          <a:solidFill>
            <a:srgbClr val="2E4A8C"/>
          </a:solidFill>
          <a:ln/>
        </p:spPr>
      </p:sp>
      <p:sp>
        <p:nvSpPr>
          <p:cNvPr id="20" name="step-hex-label"/>
          <p:cNvSpPr txBox="1"/>
          <p:nvPr/>
        </p:nvSpPr>
        <p:spPr>
          <a:xfrm>
            <a:off x="6217920" y="364723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221"/>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Its inverse is add 8.</a:t>
            </a:r>
            <a:endParaRPr lang="en-US" sz="1800" dirty="0"/>
          </a:p>
        </p:txBody>
      </p:sp>
      <p:sp>
        <p:nvSpPr>
          <p:cNvPr id="22" name="step-box"/>
          <p:cNvSpPr/>
          <p:nvPr/>
        </p:nvSpPr>
        <p:spPr>
          <a:xfrm>
            <a:off x="6126480" y="4203954"/>
            <a:ext cx="5379415" cy="566293"/>
          </a:xfrm>
          <a:prstGeom prst="roundRect">
            <a:avLst>
              <a:gd name="adj" fmla="val 16147"/>
            </a:avLst>
          </a:prstGeom>
          <a:solidFill>
            <a:srgbClr val="F0F2F7"/>
          </a:solidFill>
          <a:ln/>
        </p:spPr>
      </p:sp>
      <p:sp>
        <p:nvSpPr>
          <p:cNvPr id="23" name="step-hex"/>
          <p:cNvSpPr/>
          <p:nvPr/>
        </p:nvSpPr>
        <p:spPr>
          <a:xfrm>
            <a:off x="6217920" y="4304970"/>
            <a:ext cx="420624" cy="364260"/>
          </a:xfrm>
          <a:prstGeom prst="hexagon">
            <a:avLst/>
          </a:prstGeom>
          <a:solidFill>
            <a:srgbClr val="2E4A8C"/>
          </a:solidFill>
          <a:ln/>
        </p:spPr>
      </p:sp>
      <p:sp>
        <p:nvSpPr>
          <p:cNvPr id="24" name="step-hex-label"/>
          <p:cNvSpPr txBox="1"/>
          <p:nvPr/>
        </p:nvSpPr>
        <p:spPr>
          <a:xfrm>
            <a:off x="6217920" y="430497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3954"/>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Do the inverse to the output: 15 + 8 = 23.</a:t>
            </a:r>
            <a:endParaRPr lang="en-US" sz="1800" dirty="0"/>
          </a:p>
        </p:txBody>
      </p:sp>
      <p:sp>
        <p:nvSpPr>
          <p:cNvPr id="26" name="step-box"/>
          <p:cNvSpPr/>
          <p:nvPr/>
        </p:nvSpPr>
        <p:spPr>
          <a:xfrm>
            <a:off x="6126480" y="4861687"/>
            <a:ext cx="5379415" cy="566293"/>
          </a:xfrm>
          <a:prstGeom prst="roundRect">
            <a:avLst>
              <a:gd name="adj" fmla="val 16147"/>
            </a:avLst>
          </a:prstGeom>
          <a:solidFill>
            <a:srgbClr val="F0F2F7"/>
          </a:solidFill>
          <a:ln/>
        </p:spPr>
      </p:sp>
      <p:sp>
        <p:nvSpPr>
          <p:cNvPr id="27" name="step-hex"/>
          <p:cNvSpPr/>
          <p:nvPr/>
        </p:nvSpPr>
        <p:spPr>
          <a:xfrm>
            <a:off x="6217920" y="4962703"/>
            <a:ext cx="420624" cy="364260"/>
          </a:xfrm>
          <a:prstGeom prst="hexagon">
            <a:avLst/>
          </a:prstGeom>
          <a:solidFill>
            <a:srgbClr val="2E4A8C"/>
          </a:solidFill>
          <a:ln/>
        </p:spPr>
      </p:sp>
      <p:sp>
        <p:nvSpPr>
          <p:cNvPr id="28" name="step-hex-label"/>
          <p:cNvSpPr txBox="1"/>
          <p:nvPr/>
        </p:nvSpPr>
        <p:spPr>
          <a:xfrm>
            <a:off x="6217920" y="496270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861687"/>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forwards: 23 − 8 = 15. The input was 23.</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23</a:t>
            </a:r>
            <a:endParaRPr lang="en-US" sz="1800" dirty="0"/>
          </a:p>
        </p:txBody>
      </p:sp>
      <p:sp>
        <p:nvSpPr>
          <p:cNvPr id="31" name="bullet-card"/>
          <p:cNvSpPr/>
          <p:nvPr/>
        </p:nvSpPr>
        <p:spPr>
          <a:xfrm>
            <a:off x="548640" y="1389888"/>
            <a:ext cx="5074920" cy="810937"/>
          </a:xfrm>
          <a:prstGeom prst="roundRect">
            <a:avLst>
              <a:gd name="adj" fmla="val 9021"/>
            </a:avLst>
          </a:prstGeom>
          <a:solidFill>
            <a:srgbClr val="F5F6F9"/>
          </a:solidFill>
          <a:ln/>
        </p:spPr>
      </p:sp>
      <p:sp>
        <p:nvSpPr>
          <p:cNvPr id="32" name="bullet-hex"/>
          <p:cNvSpPr/>
          <p:nvPr/>
        </p:nvSpPr>
        <p:spPr>
          <a:xfrm>
            <a:off x="676656" y="1629064"/>
            <a:ext cx="384048" cy="332586"/>
          </a:xfrm>
          <a:prstGeom prst="hexagon">
            <a:avLst/>
          </a:prstGeom>
          <a:solidFill>
            <a:srgbClr val="2E4A8C"/>
          </a:solidFill>
          <a:ln/>
        </p:spPr>
      </p:sp>
      <p:sp>
        <p:nvSpPr>
          <p:cNvPr id="33" name="bullet"/>
          <p:cNvSpPr txBox="1"/>
          <p:nvPr/>
        </p:nvSpPr>
        <p:spPr>
          <a:xfrm>
            <a:off x="1143000" y="1389888"/>
            <a:ext cx="4389120"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Sometimes you are told the output and asked for the input.</a:t>
            </a:r>
            <a:endParaRPr lang="en-US" sz="2200" dirty="0"/>
          </a:p>
        </p:txBody>
      </p:sp>
      <p:sp>
        <p:nvSpPr>
          <p:cNvPr id="34" name="bullet-card"/>
          <p:cNvSpPr/>
          <p:nvPr/>
        </p:nvSpPr>
        <p:spPr>
          <a:xfrm>
            <a:off x="548640" y="2347129"/>
            <a:ext cx="5074920" cy="1151805"/>
          </a:xfrm>
          <a:prstGeom prst="roundRect">
            <a:avLst>
              <a:gd name="adj" fmla="val 6351"/>
            </a:avLst>
          </a:prstGeom>
          <a:solidFill>
            <a:srgbClr val="F5F6F9"/>
          </a:solidFill>
          <a:ln/>
        </p:spPr>
      </p:sp>
      <p:sp>
        <p:nvSpPr>
          <p:cNvPr id="35" name="bullet-hex"/>
          <p:cNvSpPr/>
          <p:nvPr/>
        </p:nvSpPr>
        <p:spPr>
          <a:xfrm>
            <a:off x="676656" y="2756739"/>
            <a:ext cx="384048" cy="332586"/>
          </a:xfrm>
          <a:prstGeom prst="hexagon">
            <a:avLst/>
          </a:prstGeom>
          <a:solidFill>
            <a:srgbClr val="B8862B"/>
          </a:solidFill>
          <a:ln/>
        </p:spPr>
      </p:sp>
      <p:sp>
        <p:nvSpPr>
          <p:cNvPr id="36" name="bullet"/>
          <p:cNvSpPr txBox="1"/>
          <p:nvPr/>
        </p:nvSpPr>
        <p:spPr>
          <a:xfrm>
            <a:off x="1143000" y="2347129"/>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inverse of adding 3 is subtracting 3. The inverse of subtracting 7 is adding 7.</a:t>
            </a:r>
            <a:endParaRPr lang="en-US" sz="2200" dirty="0"/>
          </a:p>
        </p:txBody>
      </p:sp>
      <p:sp>
        <p:nvSpPr>
          <p:cNvPr id="37" name="bullet-card"/>
          <p:cNvSpPr/>
          <p:nvPr/>
        </p:nvSpPr>
        <p:spPr>
          <a:xfrm>
            <a:off x="548640" y="3645239"/>
            <a:ext cx="5074920" cy="1151805"/>
          </a:xfrm>
          <a:prstGeom prst="roundRect">
            <a:avLst>
              <a:gd name="adj" fmla="val 6351"/>
            </a:avLst>
          </a:prstGeom>
          <a:solidFill>
            <a:srgbClr val="F5F6F9"/>
          </a:solidFill>
          <a:ln/>
        </p:spPr>
      </p:sp>
      <p:sp>
        <p:nvSpPr>
          <p:cNvPr id="38" name="bullet-hex"/>
          <p:cNvSpPr/>
          <p:nvPr/>
        </p:nvSpPr>
        <p:spPr>
          <a:xfrm>
            <a:off x="676656" y="4054849"/>
            <a:ext cx="384048" cy="332586"/>
          </a:xfrm>
          <a:prstGeom prst="hexagon">
            <a:avLst/>
          </a:prstGeom>
          <a:solidFill>
            <a:srgbClr val="2E4A8C"/>
          </a:solidFill>
          <a:ln/>
        </p:spPr>
      </p:sp>
      <p:sp>
        <p:nvSpPr>
          <p:cNvPr id="39" name="bullet"/>
          <p:cNvSpPr txBox="1"/>
          <p:nvPr/>
        </p:nvSpPr>
        <p:spPr>
          <a:xfrm>
            <a:off x="1143000" y="3645239"/>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machine adds 3 and the output is 4. Eva says the input must be 7, because 4 + 3 = 7.</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Spotting mistakes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Squaring is not doubling. 5 squared is 25, but 5 doubled is 10.</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machine squares the input. The input is 9. What is the output?</a:t>
            </a:r>
            <a:endParaRPr lang="en-US" sz="1800" dirty="0"/>
          </a:p>
        </p:txBody>
      </p:sp>
      <p:sp>
        <p:nvSpPr>
          <p:cNvPr id="14" name="step-box"/>
          <p:cNvSpPr/>
          <p:nvPr/>
        </p:nvSpPr>
        <p:spPr>
          <a:xfrm>
            <a:off x="6126480" y="2888488"/>
            <a:ext cx="5379415" cy="794512"/>
          </a:xfrm>
          <a:prstGeom prst="roundRect">
            <a:avLst>
              <a:gd name="adj" fmla="val 11509"/>
            </a:avLst>
          </a:prstGeom>
          <a:solidFill>
            <a:srgbClr val="F0F2F7"/>
          </a:solidFill>
          <a:ln/>
        </p:spPr>
      </p:sp>
      <p:sp>
        <p:nvSpPr>
          <p:cNvPr id="15" name="step-hex"/>
          <p:cNvSpPr/>
          <p:nvPr/>
        </p:nvSpPr>
        <p:spPr>
          <a:xfrm>
            <a:off x="6217920" y="3103614"/>
            <a:ext cx="420624" cy="364260"/>
          </a:xfrm>
          <a:prstGeom prst="hexagon">
            <a:avLst/>
          </a:prstGeom>
          <a:solidFill>
            <a:srgbClr val="2E4A8C"/>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Squaring means multiplying the number by itself.</a:t>
            </a:r>
            <a:endParaRPr lang="en-US" sz="1800" dirty="0"/>
          </a:p>
        </p:txBody>
      </p:sp>
      <p:sp>
        <p:nvSpPr>
          <p:cNvPr id="18" name="step-box"/>
          <p:cNvSpPr/>
          <p:nvPr/>
        </p:nvSpPr>
        <p:spPr>
          <a:xfrm>
            <a:off x="6126480" y="3774440"/>
            <a:ext cx="5379415" cy="566928"/>
          </a:xfrm>
          <a:prstGeom prst="roundRect">
            <a:avLst>
              <a:gd name="adj" fmla="val 16129"/>
            </a:avLst>
          </a:prstGeom>
          <a:solidFill>
            <a:srgbClr val="F0F2F7"/>
          </a:solidFill>
          <a:ln/>
        </p:spPr>
      </p:sp>
      <p:sp>
        <p:nvSpPr>
          <p:cNvPr id="19" name="step-hex"/>
          <p:cNvSpPr/>
          <p:nvPr/>
        </p:nvSpPr>
        <p:spPr>
          <a:xfrm>
            <a:off x="6217920" y="3875774"/>
            <a:ext cx="420624" cy="364260"/>
          </a:xfrm>
          <a:prstGeom prst="hexagon">
            <a:avLst/>
          </a:prstGeom>
          <a:solidFill>
            <a:srgbClr val="2E4A8C"/>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9 × 9 = 81.</a:t>
            </a:r>
            <a:endParaRPr lang="en-US" sz="1800" dirty="0"/>
          </a:p>
        </p:txBody>
      </p:sp>
      <p:sp>
        <p:nvSpPr>
          <p:cNvPr id="22" name="step-box"/>
          <p:cNvSpPr/>
          <p:nvPr/>
        </p:nvSpPr>
        <p:spPr>
          <a:xfrm>
            <a:off x="6126480" y="4432808"/>
            <a:ext cx="5379415" cy="566928"/>
          </a:xfrm>
          <a:prstGeom prst="roundRect">
            <a:avLst>
              <a:gd name="adj" fmla="val 16129"/>
            </a:avLst>
          </a:prstGeom>
          <a:solidFill>
            <a:srgbClr val="F0F2F7"/>
          </a:solidFill>
          <a:ln/>
        </p:spPr>
      </p:sp>
      <p:sp>
        <p:nvSpPr>
          <p:cNvPr id="23" name="step-hex"/>
          <p:cNvSpPr/>
          <p:nvPr/>
        </p:nvSpPr>
        <p:spPr>
          <a:xfrm>
            <a:off x="6217920" y="4534142"/>
            <a:ext cx="420624" cy="364260"/>
          </a:xfrm>
          <a:prstGeom prst="hexagon">
            <a:avLst/>
          </a:prstGeom>
          <a:solidFill>
            <a:srgbClr val="2E4A8C"/>
          </a:solidFill>
          <a:ln/>
        </p:spPr>
      </p:sp>
      <p:sp>
        <p:nvSpPr>
          <p:cNvPr id="24" name="step-hex-label"/>
          <p:cNvSpPr txBox="1"/>
          <p:nvPr/>
        </p:nvSpPr>
        <p:spPr>
          <a:xfrm>
            <a:off x="6217920" y="45341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output is 81, not 18.</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81</a:t>
            </a:r>
            <a:endParaRPr lang="en-US" sz="1800" dirty="0"/>
          </a:p>
        </p:txBody>
      </p:sp>
      <p:sp>
        <p:nvSpPr>
          <p:cNvPr id="27" name="bullet-card"/>
          <p:cNvSpPr/>
          <p:nvPr/>
        </p:nvSpPr>
        <p:spPr>
          <a:xfrm>
            <a:off x="548640" y="1389888"/>
            <a:ext cx="5074920" cy="924560"/>
          </a:xfrm>
          <a:prstGeom prst="roundRect">
            <a:avLst>
              <a:gd name="adj" fmla="val 7912"/>
            </a:avLst>
          </a:prstGeom>
          <a:solidFill>
            <a:srgbClr val="F5F6F9"/>
          </a:solidFill>
          <a:ln/>
        </p:spPr>
      </p:sp>
      <p:sp>
        <p:nvSpPr>
          <p:cNvPr id="28" name="bullet-hex"/>
          <p:cNvSpPr/>
          <p:nvPr/>
        </p:nvSpPr>
        <p:spPr>
          <a:xfrm>
            <a:off x="676656" y="1685875"/>
            <a:ext cx="384048" cy="332586"/>
          </a:xfrm>
          <a:prstGeom prst="hexagon">
            <a:avLst/>
          </a:prstGeom>
          <a:solidFill>
            <a:srgbClr val="2E4A8C"/>
          </a:solidFill>
          <a:ln/>
        </p:spPr>
      </p:sp>
      <p:sp>
        <p:nvSpPr>
          <p:cNvPr id="29" name="bullet"/>
          <p:cNvSpPr txBox="1"/>
          <p:nvPr/>
        </p:nvSpPr>
        <p:spPr>
          <a:xfrm>
            <a:off x="1143000" y="1389888"/>
            <a:ext cx="4389120"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Some functions are easy to mix up. Doubling means multiplying by 2.</a:t>
            </a:r>
            <a:endParaRPr lang="en-US" sz="2000" dirty="0"/>
          </a:p>
        </p:txBody>
      </p:sp>
      <p:sp>
        <p:nvSpPr>
          <p:cNvPr id="30" name="bullet-card"/>
          <p:cNvSpPr/>
          <p:nvPr/>
        </p:nvSpPr>
        <p:spPr>
          <a:xfrm>
            <a:off x="548640" y="2460752"/>
            <a:ext cx="5074920" cy="1544320"/>
          </a:xfrm>
          <a:prstGeom prst="roundRect">
            <a:avLst>
              <a:gd name="adj" fmla="val 4737"/>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460752"/>
            <a:ext cx="4389120" cy="154432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Decimal inputs follow the same rules as whole numbers. Put 0.6 into a machine that multiplies by 4 and you get 2.4, not 0.24.</a:t>
            </a:r>
            <a:endParaRPr lang="en-US" sz="2000" dirty="0"/>
          </a:p>
        </p:txBody>
      </p:sp>
      <p:sp>
        <p:nvSpPr>
          <p:cNvPr id="33" name="bullet-card"/>
          <p:cNvSpPr/>
          <p:nvPr/>
        </p:nvSpPr>
        <p:spPr>
          <a:xfrm>
            <a:off x="548640" y="4151376"/>
            <a:ext cx="5074920" cy="924560"/>
          </a:xfrm>
          <a:prstGeom prst="roundRect">
            <a:avLst>
              <a:gd name="adj" fmla="val 7912"/>
            </a:avLst>
          </a:prstGeom>
          <a:solidFill>
            <a:srgbClr val="F5F6F9"/>
          </a:solidFill>
          <a:ln/>
        </p:spPr>
      </p:sp>
      <p:sp>
        <p:nvSpPr>
          <p:cNvPr id="34" name="bullet-hex"/>
          <p:cNvSpPr/>
          <p:nvPr/>
        </p:nvSpPr>
        <p:spPr>
          <a:xfrm>
            <a:off x="676656" y="4447363"/>
            <a:ext cx="384048" cy="332586"/>
          </a:xfrm>
          <a:prstGeom prst="hexagon">
            <a:avLst/>
          </a:prstGeom>
          <a:solidFill>
            <a:srgbClr val="2E4A8C"/>
          </a:solidFill>
          <a:ln/>
        </p:spPr>
      </p:sp>
      <p:sp>
        <p:nvSpPr>
          <p:cNvPr id="35" name="bullet"/>
          <p:cNvSpPr txBox="1"/>
          <p:nvPr/>
        </p:nvSpPr>
        <p:spPr>
          <a:xfrm>
            <a:off x="1143000" y="4151376"/>
            <a:ext cx="4389120"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Two different functions can turn the same input into the same output.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Find the output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machine subtracts 14. The input is 50. What is the output?</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Say the input: 50.</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Say the function: subtract 14.</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Do the function to the input: 50 − 14.</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the answer as the output.</a:t>
            </a:r>
            <a:endParaRPr lang="en-US" sz="22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Start at 50 and take away 14.</a:t>
            </a:r>
            <a:endParaRPr lang="en-US" sz="22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Can the same machine give the output 36 from a different input? Explain why or why not, then find the input that gives the output 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Same task, three ways in: Work backwards to find the input</a:t>
            </a:r>
            <a:endParaRPr lang="en-US" sz="24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machine multiplies by 7. The output is 84. What was the input?</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function: multiply by 7.</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its inverse: divide by 7.</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Do the inverse to the output: 84 ÷ 7.</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by running the machine forwards with your answer.</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What is the inverse of multiplying by 7?</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Annie says the input must be 91 because 84 + 7 = 91. Explain her mistake, then describe how running the machine forwards would show her she is wrong.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machine adds 9. The input is 17. What is the output?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Find the output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machine subtracts 14. The input is 50. What is the output?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36</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Do the function to the input: 50 − 14 = 36.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Work backwards to find the input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machine multiplies by 7. The output is 84. What was the input?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12</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inverse of multiply by 7 is divide by 7: 84 ÷ 7 = 12. Check: 12 × 7 = 84.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machine adds 9. The input is 17. What is the output?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26</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Do the function to the input: 17 + 9 = 26.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Algebraic Notation and Substitution · Chapter 1: Function machines with numbers</dc:title>
  <dc:subject>Mathematics · Year 7</dc:subject>
  <dc:creator>Dr Vitor Merissi de Carvalho</dc:creator>
  <cp:lastModifiedBy>Dr Vitor Merissi de Carvalho</cp:lastModifiedBy>
  <cp:revision>1</cp:revision>
  <dcterms:created xsi:type="dcterms:W3CDTF">2026-10-19T16:23:20Z</dcterms:created>
  <dcterms:modified xsi:type="dcterms:W3CDTF">2026-10-19T16:23:20Z</dcterms:modified>
</cp:coreProperties>
</file>