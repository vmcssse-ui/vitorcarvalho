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d2dff05-3733-3d00-46c5-71f2f77ff934}">
          <p14:sldIdLst>
            <p14:sldId id="256"/>
          </p14:sldIdLst>
        </p14:section>
        <p14:section name="Gate" id="{30f81ca2-7bb8-6509-11f5-f7f991fc5247}">
          <p14:sldIdLst>
            <p14:sldId id="257"/>
            <p14:sldId id="258"/>
          </p14:sldIdLst>
        </p14:section>
        <p14:section name="Pre-teach" id="{250c9255-1142-d60e-93f9-a6bf7b00c449}">
          <p14:sldIdLst>
            <p14:sldId id="259"/>
          </p14:sldIdLst>
        </p14:section>
        <p14:section name="Read-along" id="{2288a5bd-e303-93ef-e096-c5c9aba345f3}">
          <p14:sldIdLst>
            <p14:sldId id="260"/>
            <p14:sldId id="261"/>
          </p14:sldIdLst>
        </p14:section>
        <p14:section name="Teach" id="{5f2a54b5-35a5-3cd5-5f36-e739f63f48b8}">
          <p14:sldIdLst>
            <p14:sldId id="262"/>
            <p14:sldId id="263"/>
            <p14:sldId id="264"/>
          </p14:sldIdLst>
        </p14:section>
        <p14:section name="Routes" id="{7ab39d2c-9a93-adf8-5980-b94545e16772}">
          <p14:sldIdLst>
            <p14:sldId id="265"/>
            <p14:sldId id="266"/>
          </p14:sldIdLst>
        </p14:section>
        <p14:section name="Close" id="{2762fcb9-73d2-4881-c2c7-0cdbcb86164e}">
          <p14:sldIdLst>
            <p14:sldId id="267"/>
          </p14:sldIdLst>
        </p14:section>
        <p14:section name="Answers" id="{67cda5cb-84de-3b6e-abc0-5f9b44501f10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6 of 6: Substitution: two steps. Substitute into expressions with two steps, keep the order of operations, and handle brackets, fractions and squares.
This deck covers the department's lesson: 8 (Substitution (two step): How do we substitute into a two-step expression and keep the order of operations?).
Read the big question aloud: "How can a function machine help us write, read and use algebra?"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Work out 6n − 5 when n = 7.  →  37
2. Work out 3(k + 5) when k = 6.  →  B   33
3. Work out 5a² when a = 3.  →  45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37. 6 × 7 = 42, then 42 − 5 = 37.
2. B   33. Brackets first: 6 + 5 = 11. Then 3 × 11 = 33.
3. 45. Square first: 3² = 9. Then 5 × 9 = 45.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constant: a term with no letter in it. Example: "In 3y − 4 the constant is the 4."
• order of operations: brackets first, then squares, then × and ÷, then + and −. Example: "By the order of operations, 3 × 8 − 4 is 24 − 4."
• brackets: the marks ( ) round the part you work out first. Example: "In 4(h + 2), work out the brackets first."
• square: a number multiplied by itself, written with a small 2. Example: "3 squared is 9, written 3²."
• substitute: swap a letter for the number it stands for. Example: "Substitute y = 8 into 3y − 4."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Now the expression has two steps.
2. Take 3y − 4 when y is 8.
3. Swap y for 8 first: 3 × 8 − 4.
4. Multiply before you subtract.
5. 3 × 8 is 24, and 24 − 4 is 20.
6. Brackets come first of all.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Take 4(h + 2) when h is 5.
8. Add inside the brackets: 5 + 2 is 7.
9. Then multiply: 4 × 7 is 28.
10. Take care with squares.
11. 4x² means 4 × x², so square first.
12. When x is 5, that is 4 × 25, which is 100.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Substitute, then follow the order of operations. Say it in your own words, then check understanding with a quick question: ask a pupil from the pre-teach group first, since they met these words and ideas before the lesson. Pupils try to recall before you re-explain.
A two-step expression needs two steps when you substitute. In 3y − 4, the y is multiplied by 3 and then 4 is taken away. Swap y for its value first. If y is 8, write 3 × 8 − 4. Multiply before you subtract: 3 × 8 = 24, then 24 − 4 = 20.
A function machine helps you see the order. The input 8 goes through × 3 to make 24, then through − 4 to make 20. Writing the middle number down stops you rushing.
Mo works out 3y − 4 when y is 7 and writes 37 − 4. He has glued the 3 and the 7 together. 3y means 3 × y, so he should write 3 × 7 − 4, which is 21 − 4 = 17.
Worked example — model it step by step, thinking aloud: Work out 4k − 7 when k = 8. (1) 4k means 4 × k. Swap k for 8: 4 × 8 − 7. (2) Multiply first: 4 × 8 = 32. (3) Then subtract: 32 − 7 = 25. Answer: 25.
Tip: Substitute first, then multiply or divide, then add or subtract.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Brackets and fractions. Say it in your own words, then check understanding with a quick question: ask a pupil from the pre-teach group first, since they met these words and ideas before the lesson. Pupils try to recall before you re-explain.
Brackets come before everything else. In 3(k + 4) with k = 8, add inside the brackets first: 8 + 4 = 12. Then multiply: 3 × 12 = 36. Compare 3k + 4 with k = 8: 3 × 8 = 24, then 24 + 4 = 28. The brackets change the answer.
A fraction line works like brackets for whatever sits on top. (w + 11)/4 with w = 9 means add first: 9 + 11 = 20, then 20 ÷ 4 = 5. But w/4 + 11 means divide first: 9 ÷ 4 = 2.25, then 2.25 + 11 = 13.25.
When the letter is taken away from a number, keep the number first. 100 − 4w with w = 9 is 100 − 36 = 64, because 4 × 9 = 36 is worked out before the subtraction.
Worked example — model it step by step, thinking aloud: Work out 6(p − 4) when p = 9. (1) Swap p for 9: 6 × (9 − 4). (2) Brackets first: 9 − 4 = 5. (3) Then multiply: 6 × 5 = 30. Answer: 30.
Tip: If the letter is inside brackets or on top of a fraction with a number, that part is worked out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Squares and two letters. Say it in your own words, then check understanding with a quick question: ask a pupil from the pre-teach group first, since they met these words and ideas before the lesson. Pupils try to recall before you re-explain.
In 4x², the small 2 belongs to the x only. It says square the x, then multiply by 4. When x is 3: 3² = 9, then 4 × 9 = 36. Ron squares the 4 as well and gets 144. That would be (4x)², a different expression.
Compare 3y² and (3y)² when y is 4. In 3y², square the 4 first: 16, then 3 × 16 = 48. In (3y)², multiply first: 3 × 4 = 12, then 12² = 144.
An expression can use two letters. If g is 2 and h is 6, then g + h is 8, gh means g × h and is 12, and h/g means h ÷ g and is 3. Swap the letters round and h/g becomes g/h, which is 2 ÷ 6, not 3.
Worked example — model it step by step, thinking aloud: Work out 2t² when t = 5. (1) Swap t for 5: 2 × 5². (2) Square first: 5² = 25. (3) Then multiply: 2 × 25 = 50. Answer: 50.
Tip: The small 2 only squares what it is touching. 4x² squares x, not 4x.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Multiply, then add.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7b + 6 when b = 8.
Support — work through the steps with the group: (1) Swap b for 8 and write the × sign in: 7 × 8 + 6. (2) Do the multiplication and write a new line: 56 + 6. (3) Do the addition. (4) Check against the machine: 8, then × 7 gives 56, then + 6 gives 62.
Parallel worked example for Support (model it, do not give the task answer): Work out 3e + 5 when e = 4. Swap e for 4: 3 × 4 + 5.; New line: 12 + 5.; 12 + 5 = 17.. Answer: 17.
Core — reveal the hint only on request: Write 7 × 8 + 6 and multiply first.
Stretch — no help; when finished: Find a value of b for which 7b + 6 and 7(b + 6) differ by exactly 36. Explain why the difference is always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Brackets first.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4(w − 5) when w = 9.
Support — work through the steps with the group: (1) Swap w for 9: 4 × (9 − 5). (2) Work out the brackets and write a new line: 4 × 4. (3) Multiply. (4) Check with a machine: 9, then − 5 gives 4, then × 4 gives 16.
Parallel worked example for Support (model it, do not give the task answer): Work out 3(p + 2) when p = 5. Swap p for 5: 3 × (5 + 2).; Brackets first: 5 + 2 = 7.; 3 × 7 = 21.. Answer: 21.
Core — reveal the hint only on request: Work out 9 − 5 before you multiply.
Stretch — no help; when finished: Work out 4w − 5 when w = 9 as well. Explain why the two answers are different, and write both as function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Put these expressions in order of value, smallest first, when t = 3: 2t², 10 − t, 4(t + 1), t².
Answer: 10 − t  (B); t²  (D); 4(t + 1)  (C); 2t²  (A). When t is 3: 10 − t is 7, t² is 9, 4(t + 1) is 16 and 2t² is 18.
Source of this question: module 3 task ("Order the expressions")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Multiply, then add. Reveal the answer; pupils mark their own work in a different colour, then read the "why" together. Same destination for every lane, so one answer serves the whole class.
Answer: 62
Why: 7 × 8 = 56, then 56 + 6 = 62.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Brackets first. Reveal the answer; pupils mark their own work in a different colour, then read the "why" together. Same destination for every lane, so one answer serves the whole class.
Answer: 16
Why: Brackets first: 9 − 5 = 4. Then 4 × 4 = 16.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10 − t  (B); t²  (D); 4(t + 1)  (C); 2t²  (A)
Why: When t is 3: 10 − t is 7, t² is 9, 4(t + 1) is 16 and 2t² is 18.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Notation and Substitution · AQA KS3 → 8300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Substitution: two steps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(two step)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function machine help us write, read and use algebra?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6n − 5 when n = 7.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3(k + 5) when k = 6.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5a² when a = 3.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6n − 5 when n = 7.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× 7 = 42, then 42 − 5 = 37.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33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3(k + 5) when k = 6.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6 + 5 = 11. Then 3 × 11 = 33.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5a² when a = 3.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first: 3² = 9. Then 5 × 9 = 45.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559816"/>
          </a:xfrm>
          <a:prstGeom prst="roundRect">
            <a:avLst>
              <a:gd name="adj" fmla="val 9800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021977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55981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</a:t>
            </a:r>
            <a:endParaRPr lang="en-US" sz="22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55981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 with no letter in it</a:t>
            </a:r>
            <a:endParaRPr lang="en-US" sz="20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55981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3y − 4 the constant is the 4.</a:t>
            </a:r>
            <a:endParaRPr lang="en-US" sz="2000" dirty="0"/>
          </a:p>
        </p:txBody>
      </p:sp>
      <p:sp>
        <p:nvSpPr>
          <p:cNvPr id="16" name="kw-row"/>
          <p:cNvSpPr/>
          <p:nvPr/>
        </p:nvSpPr>
        <p:spPr>
          <a:xfrm>
            <a:off x="548640" y="2553208"/>
            <a:ext cx="11094415" cy="923036"/>
          </a:xfrm>
          <a:prstGeom prst="roundRect">
            <a:avLst>
              <a:gd name="adj" fmla="val 5944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2836555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553208"/>
            <a:ext cx="2331720" cy="9230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of operations</a:t>
            </a:r>
            <a:endParaRPr lang="en-US" sz="22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553208"/>
            <a:ext cx="3474720" cy="9230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first, then squares, then × and ÷, then + and −</a:t>
            </a:r>
            <a:endParaRPr lang="en-US" sz="20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553208"/>
            <a:ext cx="4236415" cy="9230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order of operations, 3 × 8 − 4 is 24 − 4.</a:t>
            </a:r>
            <a:endParaRPr lang="en-US" sz="2000" dirty="0"/>
          </a:p>
        </p:txBody>
      </p:sp>
      <p:sp>
        <p:nvSpPr>
          <p:cNvPr id="21" name="kw-row"/>
          <p:cNvSpPr/>
          <p:nvPr/>
        </p:nvSpPr>
        <p:spPr>
          <a:xfrm>
            <a:off x="548640" y="3549396"/>
            <a:ext cx="11094415" cy="816356"/>
          </a:xfrm>
          <a:prstGeom prst="roundRect">
            <a:avLst>
              <a:gd name="adj" fmla="val 6721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3779403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3549396"/>
            <a:ext cx="2331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brackets</a:t>
            </a:r>
            <a:endParaRPr lang="en-US" sz="22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3549396"/>
            <a:ext cx="3474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marks ( ) round the part you work out first</a:t>
            </a:r>
            <a:endParaRPr lang="en-US" sz="20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3549396"/>
            <a:ext cx="4236415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4(h + 2), work out the brackets first.</a:t>
            </a:r>
            <a:endParaRPr lang="en-US" sz="2000" dirty="0"/>
          </a:p>
        </p:txBody>
      </p:sp>
      <p:sp>
        <p:nvSpPr>
          <p:cNvPr id="26" name="kw-row"/>
          <p:cNvSpPr/>
          <p:nvPr/>
        </p:nvSpPr>
        <p:spPr>
          <a:xfrm>
            <a:off x="548640" y="4438904"/>
            <a:ext cx="11094415" cy="816356"/>
          </a:xfrm>
          <a:prstGeom prst="roundRect">
            <a:avLst>
              <a:gd name="adj" fmla="val 6721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4668911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4438904"/>
            <a:ext cx="2331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</a:t>
            </a:r>
            <a:endParaRPr lang="en-US" sz="22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4438904"/>
            <a:ext cx="3474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multiplied by itself, written with a small 2</a:t>
            </a:r>
            <a:endParaRPr lang="en-US" sz="20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4438904"/>
            <a:ext cx="4236415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squared is 9, written 3².</a:t>
            </a:r>
            <a:endParaRPr lang="en-US" sz="2000" dirty="0"/>
          </a:p>
        </p:txBody>
      </p:sp>
      <p:sp>
        <p:nvSpPr>
          <p:cNvPr id="31" name="kw-row"/>
          <p:cNvSpPr/>
          <p:nvPr/>
        </p:nvSpPr>
        <p:spPr>
          <a:xfrm>
            <a:off x="548640" y="5328412"/>
            <a:ext cx="11094415" cy="816356"/>
          </a:xfrm>
          <a:prstGeom prst="roundRect">
            <a:avLst>
              <a:gd name="adj" fmla="val 6721"/>
            </a:avLst>
          </a:prstGeom>
          <a:solidFill>
            <a:srgbClr val="F5F6F9"/>
          </a:solidFill>
          <a:ln/>
        </p:spPr>
      </p:sp>
      <p:sp>
        <p:nvSpPr>
          <p:cNvPr id="32" name="kw-hex"/>
          <p:cNvSpPr/>
          <p:nvPr/>
        </p:nvSpPr>
        <p:spPr>
          <a:xfrm>
            <a:off x="658368" y="5558419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kw-cell"/>
          <p:cNvSpPr txBox="1"/>
          <p:nvPr/>
        </p:nvSpPr>
        <p:spPr>
          <a:xfrm>
            <a:off x="1143000" y="5328412"/>
            <a:ext cx="2331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</a:t>
            </a:r>
            <a:endParaRPr lang="en-US" sz="2200" dirty="0"/>
          </a:p>
        </p:txBody>
      </p:sp>
      <p:sp>
        <p:nvSpPr>
          <p:cNvPr id="34" name="kw-cell"/>
          <p:cNvSpPr txBox="1"/>
          <p:nvPr/>
        </p:nvSpPr>
        <p:spPr>
          <a:xfrm>
            <a:off x="3657600" y="5328412"/>
            <a:ext cx="3474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 letter for the number it stands for</a:t>
            </a:r>
            <a:endParaRPr lang="en-US" sz="2000" dirty="0"/>
          </a:p>
        </p:txBody>
      </p:sp>
      <p:sp>
        <p:nvSpPr>
          <p:cNvPr id="35" name="kw-cell"/>
          <p:cNvSpPr txBox="1"/>
          <p:nvPr/>
        </p:nvSpPr>
        <p:spPr>
          <a:xfrm>
            <a:off x="7315200" y="5328412"/>
            <a:ext cx="4236415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y = 8 into 3y − 4.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expression has two steps.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3y − 4 when y is 8.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y for 8 first: 3 × 8 − 4.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before you subtract.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8 is 24, and 24 − 4 is 20.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 first of all.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4(h + 2) when h is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inside the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5 + 2 is 7.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multiply: 4 × 7 is 28.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care with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4x² means 4 × x², so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is 5, that is 4 × 25, which is 100.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Substitute, then follow the order of operations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first, then multiply or divide, then add or subtract.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4k − 7 when k = 8.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 means 4 × k. Swap k for 8: 4 × 8 − 7.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first: 4 × 8 = 32.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subtract: 32 − 7 = 25.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441027"/>
          </a:xfrm>
          <a:prstGeom prst="roundRect">
            <a:avLst>
              <a:gd name="adj" fmla="val 5076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94410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44102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two-step expression needs two steps when you substitute. In 3y − 4, the y is multiplied by 3 and then 4 is taken away.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97721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37649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97721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machine helps you see the order. The input 8 goes through × 3 to make 24, then through − 4 to make 20.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254669"/>
            <a:ext cx="5074920" cy="821267"/>
          </a:xfrm>
          <a:prstGeom prst="roundRect">
            <a:avLst>
              <a:gd name="adj" fmla="val 890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49901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254669"/>
            <a:ext cx="4389120" cy="82126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works out 3y − 4 when y is 7 and writes 37 − 4.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Brackets and fractions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071364"/>
            <a:ext cx="5074920" cy="1073404"/>
          </a:xfrm>
          <a:prstGeom prst="roundRect">
            <a:avLst>
              <a:gd name="adj" fmla="val 12778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410098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410098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126228"/>
            <a:ext cx="4206240" cy="96367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letter is inside brackets or on top of a fraction with a number, that part is worked out first.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6(p − 4) when p = 9.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p for 9: 6 × (9 − 4).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9 − 4 = 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multiply: 6 × 5 = 30.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265428"/>
          </a:xfrm>
          <a:prstGeom prst="roundRect">
            <a:avLst>
              <a:gd name="adj" fmla="val 5781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85630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2654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come before everything else. In 3(k + 4) with k = 8, add inside the brackets first: 8 + 4 = 12.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801620"/>
            <a:ext cx="5074920" cy="924560"/>
          </a:xfrm>
          <a:prstGeom prst="roundRect">
            <a:avLst>
              <a:gd name="adj" fmla="val 7912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97607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801620"/>
            <a:ext cx="4389120" cy="92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line works like brackets for whatever sits on top.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872484"/>
            <a:ext cx="5074920" cy="924560"/>
          </a:xfrm>
          <a:prstGeom prst="roundRect">
            <a:avLst>
              <a:gd name="adj" fmla="val 7912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16847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872484"/>
            <a:ext cx="4389120" cy="92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letter is taken away from a number, keep the number first.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Squares and two letters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2 only squares what it is touching. 4x² squares x, not 4x.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2t² when t = 5.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 for 5: 2 × 5².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first: 5² = 25.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multiply: 2 × 25 = 50.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821267"/>
          </a:xfrm>
          <a:prstGeom prst="roundRect">
            <a:avLst>
              <a:gd name="adj" fmla="val 890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63422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82126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4x², the small 2 belongs to the x only.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35745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275673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35745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3y² and (3y)² when y is 4. In 3y², square the 4 first: 16, then 3 × 16 = 48.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634909"/>
            <a:ext cx="5074920" cy="1441027"/>
          </a:xfrm>
          <a:prstGeom prst="roundRect">
            <a:avLst>
              <a:gd name="adj" fmla="val 5076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18913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634909"/>
            <a:ext cx="4389120" cy="144102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can use two letters. If g is 2 and h is 6, then g + h is 8, gh means g × h and is 12, and h/g means h ÷ g and is 3.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Multiply, then add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7b + 6 when b = 8.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b for 8 and write the × sign in: 7 × 8 + 6.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multiplication and write a new line: 56 + 6.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addition.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the machine: 8, then × 7 gives 56, then + 6 gives 62.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7 × 8 + 6 and multiply first.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value of b for which 7b + 6 and 7(b + 6) differ by exactly 36. Explain why the difference is always the same.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Brackets first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4(w − 5) when w = 9.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 for 9: 4 × (9 − 5).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brackets and write a new line: 4 × 4.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Multiply.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a machine: 9, then − 5 gives 4, then × 4 gives 16.</a:t>
            </a:r>
            <a:endParaRPr lang="en-US" sz="20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9 − 5 before you multiply.</a:t>
            </a:r>
            <a:endParaRPr lang="en-US" sz="20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4w − 5 when w = 9 as well. Explain why the two answers are different, and write both as function machines.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these expressions in order of value, smallest first, when t = 3: 2t², 10 − t, 4(t + 1), t².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2t²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10 − t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4(t + 1)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t²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184648"/>
            <a:ext cx="7619695" cy="68580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184648"/>
            <a:ext cx="2926080" cy="685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Multiply, then add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7b + 6 when b = 8.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8 = 56, then 56 + 6 = 62.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Brackets first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4(w − 5) when w = 9.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9 − 5 = 4. Then 4 × 4 = 16.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10 − t  (B)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t²  (D)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4(t + 1)  (C)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2t²  (A)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 is 3: 10 − t is 7, t² is 9, 4(t + 1) is 16 and 2t² is 18.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Notation and Substitution · Chapter 6: Substitution: two steps</dc:title>
  <dc:subject>Mathematics · Year 7</dc:subject>
  <dc:creator>Dr Vitor Merissi de Carvalho</dc:creator>
  <cp:lastModifiedBy>Dr Vitor Merissi de Carvalho</cp:lastModifiedBy>
  <cp:revision>1</cp:revision>
  <dcterms:created xsi:type="dcterms:W3CDTF">2026-10-18T17:47:12Z</dcterms:created>
  <dcterms:modified xsi:type="dcterms:W3CDTF">2026-10-18T17:47:12Z</dcterms:modified>
</cp:coreProperties>
</file>