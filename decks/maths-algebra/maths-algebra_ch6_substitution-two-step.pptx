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4b21eb0-d007-84ab-ea9a-8fab31809555}">
          <p14:sldIdLst>
            <p14:sldId id="256"/>
          </p14:sldIdLst>
        </p14:section>
        <p14:section name="Gate" id="{688c6ad8-8521-f5d2-e511-f4d57055b8ed}">
          <p14:sldIdLst>
            <p14:sldId id="257"/>
            <p14:sldId id="258"/>
          </p14:sldIdLst>
        </p14:section>
        <p14:section name="Pre-teach" id="{76e898db-b5e0-079b-a013-5e56621bd7a8}">
          <p14:sldIdLst>
            <p14:sldId id="259"/>
          </p14:sldIdLst>
        </p14:section>
        <p14:section name="Read-along" id="{7b867489-bd75-bd10-abf9-fd6aa08d48b3}">
          <p14:sldIdLst>
            <p14:sldId id="260"/>
            <p14:sldId id="261"/>
          </p14:sldIdLst>
        </p14:section>
        <p14:section name="Teach" id="{218ae0aa-3fb5-5904-d2cc-056987fce917}">
          <p14:sldIdLst>
            <p14:sldId id="262"/>
            <p14:sldId id="263"/>
            <p14:sldId id="264"/>
          </p14:sldIdLst>
        </p14:section>
        <p14:section name="Routes" id="{711804d8-45cb-ebfc-5b0c-4d3e373964af}">
          <p14:sldIdLst>
            <p14:sldId id="265"/>
            <p14:sldId id="266"/>
          </p14:sldIdLst>
        </p14:section>
        <p14:section name="Close" id="{d11ce860-1716-3adb-a482-b838107857fb}">
          <p14:sldIdLst>
            <p14:sldId id="267"/>
          </p14:sldIdLst>
        </p14:section>
        <p14:section name="Answers" id="{3fe40bcf-4bb5-74f3-b3a5-ce6ced5981b9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6 of 6: Substitution: two steps. Substitute into expressions with two steps, keep the order of operations, and handle brackets, fractions and squares.
This deck covers the department's lesson: 8 (Substitution (two step): How do we substitute into a two-step expression and keep the order of operations?).
Read the big question aloud: "How can a function machine help us write, read and use algebra?" We come back to it at the exit ticket.
Before this lesson the pre-teach group has heard the read-along and met the key words; today they lead the reading. Lesson shape: do now (recall before any help), key words, read-along, teach, then the same task three ways in (Support, Core, Stretch), exit ticket, answers. Every pupil works towards the same destination.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now — retrieval. Silent, no notes, no help: recall comes before any support. Give about four minutes.
1. Work out 6n − 5 when n = 7.  →  37
2. Work out 3(k + 5) when k = 6.  →  A   33
3. Work out 5a² when a = 3.  →  45
Circulate: who gets 3/3 (Stretch route), 2/3 (Core), 0–1 (Support)? Use this to route pupils later in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pupils mark their own in a different colour, then hands up for 3/3, 2/3, 1/3.
1. 37. 6 × 7 = 42, then 42 − 5 = 37.
2. A   33. Brackets first: 6 + 5 = 11. Then 3 × 11 = 33.
3. 45. Square first: 3² = 9. Then 5 × 9 = 45.
Say the route each score points to: 3/3 Stretch, 2/3 Core, 0–1 Support. Pupils may choose to move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words. Ask the pre-teach group first: they met these words before the lesson, so they give the meaning before anyone else.
For each word: say it, pupils repeat it, read the meaning, then read the example sentence together.
• constant: a term with no letter in it. Example: "In 3y − 4 the constant is the 4."
• order of operations: brackets first, then squares, then × and ÷, then + and −. Example: "By the order of operations, 3 × 8 − 4 is 24 − 4."
• brackets: the marks ( ) round the part you work out first. Example: "In 4(h + 2), work out the brackets first."
• square: a number multiplied by itself, written with a small 2. Example: "3 squared is 9, written 3²."
• substitute: swap a letter for the number it stands for. Example: "Substitute y = 8 into 3y − 4."
Recall before help: cover the meanings and ask pupils to define one word from memory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together; pupils who were pre-taught lead. The pre-teach group heard this passage (with highlighted audio in the ebook) before the lesson, so invite them to read each sentence aloud first; everyone else follows with a finger, then echo-reads it.
Key words are in bold: pause on each and ask for its meaning.
Sentences 1–6 of 12:
1. Now the expression has two steps.
2. Take 3y − 4 when y is 8.
3. Swap y for 8 first: 3 × 8 − 4.
4. Multiply before you subtract.
5. 3 × 8 is 24, and 24 − 4 is 20.
6. Brackets come first of all.
In the ebook the audio highlights each sentence as it is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together; pupils who were pre-taught lead. The pre-teach group heard this passage (with highlighted audio in the ebook) before the lesson, so invite them to read each sentence aloud first; everyone else follows with a finger, then echo-reads it.
Key words are in bold: pause on each and ask for its meaning.
Sentences 7–12 of 12:
7. Take 4(h + 2) when h is 5.
8. Add inside the brackets: 5 + 2 is 7.
9. Then multiply: 4 × 7 is 28.
10. Take care with squares.
11. 4x² means 4 × x², so square first.
12. When x is 5, that is 4 × 25, which is 100.
In the ebook the audio highlights each sentence as it is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— Substitute, then follow the order of operations. Say it in your own words, then check understanding with a quick question: ask a pupil from the pre-teach group first, since they met these words and ideas before the lesson. Pupils try to recall before you re-explain.
A two-step expression needs two steps when you substitute. In 3y − 4, the y is multiplied by 3 and then 4 is taken away. Swap y for its value first. If y is 8, write 3 × 8 − 4. Multiply before you subtract: 3 × 8 = 24, then 24 − 4 = 20.
A function machine helps you see the order. The input 8 goes through × 3 to make 24, then through − 4 to make 20. Writing the middle number down stops you rushing.
Mo works out 3y − 4 when y is 7 and writes 37 − 4. He has glued the 3 and the 7 together. 3y means 3 × y, so he should write 3 × 7 − 4, which is 21 − 4 = 17.
Worked example — model it step by step, thinking aloud: Work out 4k − 7 when k = 8. (1) 4k means 4 × k. Swap k for 8: 4 × 8 − 7. (2) Multiply first: 4 × 8 = 32. (3) Then subtract: 32 − 7 = 25. Answer: 25.
Tip: Substitute first, then multiply or divide, then add or subtract.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— Brackets and fractions. Say it in your own words, then check understanding with a quick question: ask a pupil from the pre-teach group first, since they met these words and ideas before the lesson. Pupils try to recall before you re-explain.
Brackets come before everything else. In 3(k + 4) with k = 8, add inside the brackets first: 8 + 4 = 12. Then multiply: 3 × 12 = 36. Compare 3k + 4 with k = 8: 3 × 8 = 24, then 24 + 4 = 28. The brackets change the answer.
A fraction line works like brackets for whatever sits on top. (w + 11)/4 with w = 9 means add first: 9 + 11 = 20, then 20 ÷ 4 = 5. But w/4 + 11 means divide first: 9 ÷ 4 = 2.25, then 2.25 + 11 = 13.25.
When the letter is taken away from a number, keep the number first. 100 − 4w with w = 9 is 100 − 36 = 64, because 4 × 9 = 36 is worked out before the subtraction.
Worked example — model it step by step, thinking aloud: Work out 6(p − 4) when p = 9. (1) Swap p for 9: 6 × (9 − 4). (2) Brackets first: 9 − 4 = 5. (3) Then multiply: 6 × 5 = 30. Answer: 30.
Tip: If the letter is inside brackets or on top of a fraction with a number, that part is worked out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— Squares and two letters. Say it in your own words, then check understanding with a quick question: ask a pupil from the pre-teach group first, since they met these words and ideas before the lesson. Pupils try to recall before you re-explain.
In 4x², the small 2 belongs to the x only. It says square the x, then multiply by 4. When x is 3: 3² = 9, then 4 × 9 = 36. Ron squares the 4 as well and gets 144. That would be (4x)², a different expression.
Compare 3y² and (3y)² when y is 4. In 3y², square the 4 first: 16, then 3 × 16 = 48. In (3y)², multiply first: 3 × 4 = 12, then 12² = 144.
An expression can use two letters. If g is 2 and h is 6, then g + h is 8, gh means g × h and is 12, and h/g means h ÷ g and is 3. Swap the letters round and h/g becomes g/h, which is 2 ÷ 6, not 3.
Worked example — model it step by step, thinking aloud: Work out 2t² when t = 5. (1) Swap t for 5: 2 × 5². (2) Square first: 5² = 25. (3) Then multiply: 2 × 25 = 50. Answer: 50.
Tip: The small 2 only squares what it is touching. 4x² squares x, not 4x.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1: Multiply, then add. Same task, three ways in: one destination for everyone; only the scaffold changes. Pupils take the lane their do-now score pointed to (3/3 Stretch, 2/3 Core, 0–1 Support) and may move up at any time.
Start the pre-teach group first: they know the words and the passage, so set them going on the task before you turn to the rest. Recall before help: every pupil tries from memory before opening a lane.
The task: Work out 7b + 6 when b = 8.
Support — work through the steps with the group: (1) Swap b for 8 and write the × sign in: 7 × 8 + 6. (2) Do the multiplication and write a new line: 56 + 6. (3) Do the addition. (4) Check against the machine: 8, then × 7 gives 56, then + 6 gives 62.
Parallel worked example for Support (model it, do not give the task answer): Work out 3e + 5 when e = 4. Swap e for 4: 3 × 4 + 5.; New line: 12 + 5.; 12 + 5 = 17.. Answer: 17.
Core — reveal the hint only on request: Write 7 × 8 + 6 and multiply first.
Stretch — no help; when finished: Find a value of b for which 7b + 6 and 7(b + 6) differ by exactly 36. Explain why the difference is always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2: Brackets first. Same task, three ways in: one destination for everyone; only the scaffold changes. Pupils take the lane their do-now score pointed to (3/3 Stretch, 2/3 Core, 0–1 Support) and may move up at any time.
Start the pre-teach group first: they know the words and the passage, so set them going on the task before you turn to the rest. Recall before help: every pupil tries from memory before opening a lane.
The task: Work out 4(w − 5) when w = 9.
Support — work through the steps with the group: (1) Swap w for 9: 4 × (9 − 5). (2) Work out the brackets and write a new line: 4 × 4. (3) Multiply. (4) Check with a machine: 9, then − 5 gives 4, then × 4 gives 16.
Parallel worked example for Support (model it, do not give the task answer): Work out 3(p + 2) when p = 5. Swap p for 5: 3 × (5 + 2).; Brackets first: 5 + 2 = 7.; 3 × 7 = 21.. Answer: 21.
Core — reveal the hint only on request: Work out 9 − 5 before you multiply.
Stretch — no help; when finished: Work out 4w − 5 when w = 9 as well. Explain why the two answers are different, and write both as function machines.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 — individual, silent, on a slip or mini-whiteboard. Recall before help: no notes, no lanes, no hints. Collect before pupils leave.
Question: Put these expressions in order of value, smallest first, when t = 3: 2t², 10 − t, 4(t + 1), t².
Answer: 10 − t  (B); t²  (D); 4(t + 1)  (C); 2t²  (A). When t is 3: 10 − t is 7, t² is 9, 4(t + 1) is 16 and 2t² is 18.
Source of this question: module 3 task ("Order the expressions") from the manifest.
Sort the slips: correct → ready to move on; incorrect → start next lesson in the pre-teach group, with the read-along and the Support lane. Same destination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task 1: Multiply, then add. Reveal the answer; pupils mark their own work in a different colour, then read the "why" together. Same destination for every lane, so one answer serves the whole class.
Answer: 62
Why: 7 × 8 = 56, then 56 + 6 = 62.
Ask a Support pupil to explain one step, and a Stretch pupil to share their extension.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task 2: Brackets first. Reveal the answer; pupils mark their own work in a different colour, then read the "why" together. Same destination for every lane, so one answer serves the whole class.
Answer: 16
Why: Brackets first: 9 − 5 = 4. Then 4 × 4 = 16.
Ask a Support pupil to explain one step, and a Stretch pupil to share their extension.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exit ticket: Exit ticket. Reveal the answer; pupils mark their own work in a different colour, then read the "why" together. Same destination for every lane, so one answer serves the whole class.
Answer: 10 − t  (B); t²  (D); 4(t + 1)  (C); 2t²  (A)
Why: When t is 3: 10 − t is 7, t² is 9, 4(t + 1) is 16 and 2t² is 18.
Ask a Support pupil to explain one step, and a Stretch pupil to share their extension.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TRA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0F2F7"/>
          </a:solidFill>
          <a:ln w="12700">
            <a:solidFill>
              <a:srgbClr val="F0F2F7"/>
            </a:solidFill>
            <a:prstDash val="solid"/>
          </a:ln>
        </p:spPr>
      </p:sp>
      <p:pic>
        <p:nvPicPr>
          <p:cNvPr id="3" name="Image 0" descr="Edu.AI hexagon 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6437376"/>
            <a:ext cx="438912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6446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· Year 7 · Algebraic Notation and Substitution · Ad Astra pilot exemplar — awaiting department review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915400" y="6446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Edu.Ai SV Digital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TRA_CONTENT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0F2F7"/>
          </a:solidFill>
          <a:ln w="12700">
            <a:solidFill>
              <a:srgbClr val="F0F2F7"/>
            </a:solidFill>
            <a:prstDash val="solid"/>
          </a:ln>
        </p:spPr>
      </p:sp>
      <p:pic>
        <p:nvPicPr>
          <p:cNvPr id="3" name="Image 0" descr="Edu.AI hexagon 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6437376"/>
            <a:ext cx="438912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6446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· Year 7 · Algebraic Notation and Substitution · Ad Astra pilot exemplar — awaiting department review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915400" y="6446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Edu.Ai SV Digital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nd-hue"/>
          <p:cNvSpPr/>
          <p:nvPr/>
        </p:nvSpPr>
        <p:spPr>
          <a:xfrm>
            <a:off x="0" y="5989320"/>
            <a:ext cx="12191695" cy="164592"/>
          </a:xfrm>
          <a:prstGeom prst="rect">
            <a:avLst/>
          </a:prstGeom>
          <a:solidFill>
            <a:srgbClr val="2E4A8C"/>
          </a:solidFill>
          <a:ln/>
        </p:spPr>
      </p:sp>
      <p:sp>
        <p:nvSpPr>
          <p:cNvPr id="4" name="band-gold"/>
          <p:cNvSpPr/>
          <p:nvPr/>
        </p:nvSpPr>
        <p:spPr>
          <a:xfrm>
            <a:off x="0" y="6208776"/>
            <a:ext cx="12191695" cy="64008"/>
          </a:xfrm>
          <a:prstGeom prst="rect">
            <a:avLst/>
          </a:prstGeom>
          <a:solidFill>
            <a:srgbClr val="B8862B"/>
          </a:solidFill>
          <a:ln/>
        </p:spPr>
      </p:sp>
      <p:sp>
        <p:nvSpPr>
          <p:cNvPr id="5" name="hex-deco1"/>
          <p:cNvSpPr/>
          <p:nvPr/>
        </p:nvSpPr>
        <p:spPr>
          <a:xfrm>
            <a:off x="1373886" y="276195"/>
            <a:ext cx="525780" cy="455325"/>
          </a:xfrm>
          <a:prstGeom prst="hexagon">
            <a:avLst/>
          </a:prstGeom>
          <a:solidFill>
            <a:srgbClr val="DBE0EB"/>
          </a:solidFill>
          <a:ln/>
        </p:spPr>
      </p:sp>
      <p:sp>
        <p:nvSpPr>
          <p:cNvPr id="6" name="hex-deco2"/>
          <p:cNvSpPr/>
          <p:nvPr/>
        </p:nvSpPr>
        <p:spPr>
          <a:xfrm>
            <a:off x="1373886" y="1168557"/>
            <a:ext cx="525780" cy="455325"/>
          </a:xfrm>
          <a:prstGeom prst="hexagon">
            <a:avLst/>
          </a:prstGeom>
          <a:ln w="19050">
            <a:solidFill>
              <a:srgbClr val="B8862B"/>
            </a:solidFill>
            <a:prstDash val="solid"/>
          </a:ln>
        </p:spPr>
      </p:sp>
      <p:sp>
        <p:nvSpPr>
          <p:cNvPr id="7" name="hex-chapter"/>
          <p:cNvSpPr/>
          <p:nvPr/>
        </p:nvSpPr>
        <p:spPr>
          <a:xfrm>
            <a:off x="548640" y="457200"/>
            <a:ext cx="1051560" cy="910651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8" name="hex-chapter-label"/>
          <p:cNvSpPr txBox="1"/>
          <p:nvPr/>
        </p:nvSpPr>
        <p:spPr>
          <a:xfrm>
            <a:off x="548640" y="457200"/>
            <a:ext cx="1051560" cy="91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9" name="kicker"/>
          <p:cNvSpPr txBox="1"/>
          <p:nvPr/>
        </p:nvSpPr>
        <p:spPr>
          <a:xfrm>
            <a:off x="2331720" y="256032"/>
            <a:ext cx="3504895" cy="12984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· Year 7</a:t>
            </a:r>
            <a:endParaRPr lang="en-US" sz="1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93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6/6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Notation and Substitution · AQA KS3 → 8300</a:t>
            </a:r>
            <a:endParaRPr lang="en-US" sz="1800" dirty="0"/>
          </a:p>
        </p:txBody>
      </p:sp>
      <p:sp>
        <p:nvSpPr>
          <p:cNvPr id="10" name="deck-title"/>
          <p:cNvSpPr txBox="1"/>
          <p:nvPr/>
        </p:nvSpPr>
        <p:spPr>
          <a:xfrm>
            <a:off x="548640" y="2393188"/>
            <a:ext cx="5287975" cy="1447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Substitution: two steps</a:t>
            </a:r>
            <a:endParaRPr lang="en-US" sz="4000" dirty="0"/>
          </a:p>
        </p:txBody>
      </p:sp>
      <p:sp>
        <p:nvSpPr>
          <p:cNvPr id="11" name="lessons-card"/>
          <p:cNvSpPr/>
          <p:nvPr/>
        </p:nvSpPr>
        <p:spPr>
          <a:xfrm>
            <a:off x="548640" y="4069588"/>
            <a:ext cx="5287975" cy="980440"/>
          </a:xfrm>
          <a:prstGeom prst="roundRect">
            <a:avLst>
              <a:gd name="adj" fmla="val 7461"/>
            </a:avLst>
          </a:prstGeom>
          <a:solidFill>
            <a:srgbClr val="F0F2F7"/>
          </a:solidFill>
          <a:ln/>
        </p:spPr>
      </p:sp>
      <p:sp>
        <p:nvSpPr>
          <p:cNvPr id="12" name="lessons"/>
          <p:cNvSpPr txBox="1"/>
          <p:nvPr/>
        </p:nvSpPr>
        <p:spPr>
          <a:xfrm>
            <a:off x="685800" y="4161028"/>
            <a:ext cx="5013655" cy="797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covered</a:t>
            </a:r>
            <a:endParaRPr lang="en-US" sz="2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9C7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pPr algn="l"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(two step)</a:t>
            </a:r>
            <a:endParaRPr lang="en-US" sz="2000" dirty="0"/>
          </a:p>
        </p:txBody>
      </p:sp>
      <p:sp>
        <p:nvSpPr>
          <p:cNvPr id="13" name="plate-frame"/>
          <p:cNvSpPr/>
          <p:nvPr/>
        </p:nvSpPr>
        <p:spPr>
          <a:xfrm>
            <a:off x="6248095" y="411480"/>
            <a:ext cx="5394960" cy="3130677"/>
          </a:xfrm>
          <a:prstGeom prst="rect">
            <a:avLst/>
          </a:prstGeom>
          <a:solidFill>
            <a:srgbClr val="F4EDDF"/>
          </a:solidFill>
          <a:ln w="19050">
            <a:solidFill>
              <a:srgbClr val="B8862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plate" descr="Ad Astra engraved plate for Mathematics, Year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7823" y="521208"/>
            <a:ext cx="5175504" cy="2911221"/>
          </a:xfrm>
          <a:prstGeom prst="rect">
            <a:avLst/>
          </a:prstGeom>
        </p:spPr>
      </p:pic>
      <p:sp>
        <p:nvSpPr>
          <p:cNvPr id="15" name="plate-inner"/>
          <p:cNvSpPr/>
          <p:nvPr/>
        </p:nvSpPr>
        <p:spPr>
          <a:xfrm>
            <a:off x="6357823" y="521208"/>
            <a:ext cx="5175504" cy="2911221"/>
          </a:xfrm>
          <a:prstGeom prst="rect">
            <a:avLst/>
          </a:prstGeom>
          <a:ln w="9525">
            <a:solidFill>
              <a:srgbClr val="B8862B"/>
            </a:solidFill>
            <a:prstDash val="solid"/>
          </a:ln>
        </p:spPr>
      </p:sp>
      <p:sp>
        <p:nvSpPr>
          <p:cNvPr id="16" name="stud0"/>
          <p:cNvSpPr/>
          <p:nvPr/>
        </p:nvSpPr>
        <p:spPr>
          <a:xfrm>
            <a:off x="6138367" y="316456"/>
            <a:ext cx="219456" cy="190049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tud1"/>
          <p:cNvSpPr/>
          <p:nvPr/>
        </p:nvSpPr>
        <p:spPr>
          <a:xfrm>
            <a:off x="11533327" y="316456"/>
            <a:ext cx="219456" cy="190049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tud2"/>
          <p:cNvSpPr/>
          <p:nvPr/>
        </p:nvSpPr>
        <p:spPr>
          <a:xfrm>
            <a:off x="6138367" y="3447133"/>
            <a:ext cx="219456" cy="190049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tud3"/>
          <p:cNvSpPr/>
          <p:nvPr/>
        </p:nvSpPr>
        <p:spPr>
          <a:xfrm>
            <a:off x="11533327" y="3447133"/>
            <a:ext cx="219456" cy="190049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bq-card"/>
          <p:cNvSpPr/>
          <p:nvPr/>
        </p:nvSpPr>
        <p:spPr>
          <a:xfrm>
            <a:off x="6248095" y="3816477"/>
            <a:ext cx="5394960" cy="2053971"/>
          </a:xfrm>
          <a:prstGeom prst="roundRect">
            <a:avLst>
              <a:gd name="adj" fmla="val 3561"/>
            </a:avLst>
          </a:prstGeom>
          <a:solidFill>
            <a:srgbClr val="F0F2F7"/>
          </a:solidFill>
          <a:ln w="12700">
            <a:solidFill>
              <a:srgbClr val="B2BCD4"/>
            </a:solidFill>
            <a:prstDash val="solid"/>
          </a:ln>
        </p:spPr>
      </p:sp>
      <p:sp>
        <p:nvSpPr>
          <p:cNvPr id="21" name="bq-hex"/>
          <p:cNvSpPr/>
          <p:nvPr/>
        </p:nvSpPr>
        <p:spPr>
          <a:xfrm>
            <a:off x="6412687" y="3999357"/>
            <a:ext cx="621792" cy="538472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22" name="bq-hex-label"/>
          <p:cNvSpPr txBox="1"/>
          <p:nvPr/>
        </p:nvSpPr>
        <p:spPr>
          <a:xfrm>
            <a:off x="6412687" y="3999357"/>
            <a:ext cx="621792" cy="53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600" dirty="0"/>
          </a:p>
        </p:txBody>
      </p:sp>
      <p:sp>
        <p:nvSpPr>
          <p:cNvPr id="23" name="bq"/>
          <p:cNvSpPr txBox="1"/>
          <p:nvPr/>
        </p:nvSpPr>
        <p:spPr>
          <a:xfrm>
            <a:off x="7144207" y="3907917"/>
            <a:ext cx="4389120" cy="187109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800" dirty="0"/>
          </a:p>
          <a:p>
            <a:pPr algn="l" indent="0" marL="0">
              <a:buNone/>
            </a:pPr>
            <a:r>
              <a:rPr lang="en-US" sz="2400" i="1" dirty="0">
                <a:solidFill>
                  <a:srgbClr val="1E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a function machine help us write, read and use algebra?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now: three from memory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548640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7F8FA"/>
          </a:solidFill>
          <a:ln w="12700">
            <a:solidFill>
              <a:srgbClr val="BCC5DA"/>
            </a:solidFill>
            <a:prstDash val="solid"/>
          </a:ln>
        </p:spPr>
      </p:sp>
      <p:sp>
        <p:nvSpPr>
          <p:cNvPr id="8" name="card-hex"/>
          <p:cNvSpPr/>
          <p:nvPr/>
        </p:nvSpPr>
        <p:spPr>
          <a:xfrm>
            <a:off x="731520" y="1572768"/>
            <a:ext cx="640080" cy="554309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9" name="card-hex-label"/>
          <p:cNvSpPr txBox="1"/>
          <p:nvPr/>
        </p:nvSpPr>
        <p:spPr>
          <a:xfrm>
            <a:off x="731520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card-label"/>
          <p:cNvSpPr txBox="1"/>
          <p:nvPr/>
        </p:nvSpPr>
        <p:spPr>
          <a:xfrm>
            <a:off x="1463040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</a:t>
            </a:r>
            <a:endParaRPr lang="en-US" sz="1800" dirty="0"/>
          </a:p>
        </p:txBody>
      </p:sp>
      <p:sp>
        <p:nvSpPr>
          <p:cNvPr id="11" name="card-body"/>
          <p:cNvSpPr txBox="1"/>
          <p:nvPr/>
        </p:nvSpPr>
        <p:spPr>
          <a:xfrm>
            <a:off x="731520" y="2355677"/>
            <a:ext cx="3149498" cy="365193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6n − 5 when n = 7.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algn="l" indent="0" marL="0"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400" dirty="0"/>
          </a:p>
        </p:txBody>
      </p:sp>
      <p:sp>
        <p:nvSpPr>
          <p:cNvPr id="12" name="card"/>
          <p:cNvSpPr/>
          <p:nvPr/>
        </p:nvSpPr>
        <p:spPr>
          <a:xfrm>
            <a:off x="4338218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7F8FA"/>
          </a:solidFill>
          <a:ln w="12700">
            <a:solidFill>
              <a:srgbClr val="BCC5DA"/>
            </a:solidFill>
            <a:prstDash val="solid"/>
          </a:ln>
        </p:spPr>
      </p:sp>
      <p:sp>
        <p:nvSpPr>
          <p:cNvPr id="13" name="card-hex"/>
          <p:cNvSpPr/>
          <p:nvPr/>
        </p:nvSpPr>
        <p:spPr>
          <a:xfrm>
            <a:off x="4521098" y="1572768"/>
            <a:ext cx="640080" cy="554309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4" name="card-hex-label"/>
          <p:cNvSpPr txBox="1"/>
          <p:nvPr/>
        </p:nvSpPr>
        <p:spPr>
          <a:xfrm>
            <a:off x="4521098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card-label"/>
          <p:cNvSpPr txBox="1"/>
          <p:nvPr/>
        </p:nvSpPr>
        <p:spPr>
          <a:xfrm>
            <a:off x="5252618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</a:t>
            </a:r>
            <a:endParaRPr lang="en-US" sz="1800" dirty="0"/>
          </a:p>
        </p:txBody>
      </p:sp>
      <p:sp>
        <p:nvSpPr>
          <p:cNvPr id="16" name="card-body"/>
          <p:cNvSpPr txBox="1"/>
          <p:nvPr/>
        </p:nvSpPr>
        <p:spPr>
          <a:xfrm>
            <a:off x="4521098" y="2355677"/>
            <a:ext cx="3149498" cy="365193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3(k + 5) when k = 6.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algn="l"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algn="l"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algn="l"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algn="l"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400" dirty="0"/>
          </a:p>
        </p:txBody>
      </p:sp>
      <p:sp>
        <p:nvSpPr>
          <p:cNvPr id="17" name="card"/>
          <p:cNvSpPr/>
          <p:nvPr/>
        </p:nvSpPr>
        <p:spPr>
          <a:xfrm>
            <a:off x="8127797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7F8FA"/>
          </a:solidFill>
          <a:ln w="12700">
            <a:solidFill>
              <a:srgbClr val="BCC5DA"/>
            </a:solidFill>
            <a:prstDash val="solid"/>
          </a:ln>
        </p:spPr>
      </p:sp>
      <p:sp>
        <p:nvSpPr>
          <p:cNvPr id="18" name="card-hex"/>
          <p:cNvSpPr/>
          <p:nvPr/>
        </p:nvSpPr>
        <p:spPr>
          <a:xfrm>
            <a:off x="8310677" y="1572768"/>
            <a:ext cx="640080" cy="554309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9" name="card-hex-label"/>
          <p:cNvSpPr txBox="1"/>
          <p:nvPr/>
        </p:nvSpPr>
        <p:spPr>
          <a:xfrm>
            <a:off x="8310677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card-label"/>
          <p:cNvSpPr txBox="1"/>
          <p:nvPr/>
        </p:nvSpPr>
        <p:spPr>
          <a:xfrm>
            <a:off x="9042197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</a:t>
            </a:r>
            <a:endParaRPr lang="en-US" sz="1800" dirty="0"/>
          </a:p>
        </p:txBody>
      </p:sp>
      <p:sp>
        <p:nvSpPr>
          <p:cNvPr id="21" name="card-body"/>
          <p:cNvSpPr txBox="1"/>
          <p:nvPr/>
        </p:nvSpPr>
        <p:spPr>
          <a:xfrm>
            <a:off x="8310677" y="2355677"/>
            <a:ext cx="3149498" cy="365193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5a² when a = 3.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algn="l" indent="0" marL="0"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548640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7F8FA"/>
          </a:solidFill>
          <a:ln w="12700">
            <a:solidFill>
              <a:srgbClr val="BCC5DA"/>
            </a:solidFill>
            <a:prstDash val="solid"/>
          </a:ln>
        </p:spPr>
      </p:sp>
      <p:sp>
        <p:nvSpPr>
          <p:cNvPr id="8" name="card-hex"/>
          <p:cNvSpPr/>
          <p:nvPr/>
        </p:nvSpPr>
        <p:spPr>
          <a:xfrm>
            <a:off x="731520" y="1572768"/>
            <a:ext cx="640080" cy="554309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9" name="card-hex-label"/>
          <p:cNvSpPr txBox="1"/>
          <p:nvPr/>
        </p:nvSpPr>
        <p:spPr>
          <a:xfrm>
            <a:off x="731520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card-label"/>
          <p:cNvSpPr txBox="1"/>
          <p:nvPr/>
        </p:nvSpPr>
        <p:spPr>
          <a:xfrm>
            <a:off x="1463040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11" name="answer-chip"/>
          <p:cNvSpPr/>
          <p:nvPr/>
        </p:nvSpPr>
        <p:spPr>
          <a:xfrm>
            <a:off x="731520" y="2355677"/>
            <a:ext cx="3149498" cy="614172"/>
          </a:xfrm>
          <a:prstGeom prst="roundRect">
            <a:avLst>
              <a:gd name="adj" fmla="val 17866"/>
            </a:avLst>
          </a:prstGeom>
          <a:solidFill>
            <a:srgbClr val="EFE4D0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12" name="answer"/>
          <p:cNvSpPr txBox="1"/>
          <p:nvPr/>
        </p:nvSpPr>
        <p:spPr>
          <a:xfrm>
            <a:off x="822960" y="2428829"/>
            <a:ext cx="2966618" cy="4678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2200" dirty="0"/>
          </a:p>
        </p:txBody>
      </p:sp>
      <p:sp>
        <p:nvSpPr>
          <p:cNvPr id="13" name="card-body"/>
          <p:cNvSpPr txBox="1"/>
          <p:nvPr/>
        </p:nvSpPr>
        <p:spPr>
          <a:xfrm>
            <a:off x="731520" y="3152729"/>
            <a:ext cx="3149498" cy="285487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6n − 5 when n = 7.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× 7 = 42, then 42 − 5 = 37.</a:t>
            </a:r>
            <a:endParaRPr lang="en-US" sz="2200" dirty="0"/>
          </a:p>
        </p:txBody>
      </p:sp>
      <p:sp>
        <p:nvSpPr>
          <p:cNvPr id="14" name="card"/>
          <p:cNvSpPr/>
          <p:nvPr/>
        </p:nvSpPr>
        <p:spPr>
          <a:xfrm>
            <a:off x="4338218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7F8FA"/>
          </a:solidFill>
          <a:ln w="12700">
            <a:solidFill>
              <a:srgbClr val="BCC5DA"/>
            </a:solidFill>
            <a:prstDash val="solid"/>
          </a:ln>
        </p:spPr>
      </p:sp>
      <p:sp>
        <p:nvSpPr>
          <p:cNvPr id="15" name="card-hex"/>
          <p:cNvSpPr/>
          <p:nvPr/>
        </p:nvSpPr>
        <p:spPr>
          <a:xfrm>
            <a:off x="4521098" y="1572768"/>
            <a:ext cx="640080" cy="554309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6" name="card-hex-label"/>
          <p:cNvSpPr txBox="1"/>
          <p:nvPr/>
        </p:nvSpPr>
        <p:spPr>
          <a:xfrm>
            <a:off x="4521098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card-label"/>
          <p:cNvSpPr txBox="1"/>
          <p:nvPr/>
        </p:nvSpPr>
        <p:spPr>
          <a:xfrm>
            <a:off x="5252618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18" name="answer-chip"/>
          <p:cNvSpPr/>
          <p:nvPr/>
        </p:nvSpPr>
        <p:spPr>
          <a:xfrm>
            <a:off x="4521098" y="2355677"/>
            <a:ext cx="3149498" cy="614172"/>
          </a:xfrm>
          <a:prstGeom prst="roundRect">
            <a:avLst>
              <a:gd name="adj" fmla="val 17866"/>
            </a:avLst>
          </a:prstGeom>
          <a:solidFill>
            <a:srgbClr val="EFE4D0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19" name="answer"/>
          <p:cNvSpPr txBox="1"/>
          <p:nvPr/>
        </p:nvSpPr>
        <p:spPr>
          <a:xfrm>
            <a:off x="4612538" y="2428829"/>
            <a:ext cx="2966618" cy="4678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33</a:t>
            </a:r>
            <a:endParaRPr lang="en-US" sz="2200" dirty="0"/>
          </a:p>
        </p:txBody>
      </p:sp>
      <p:sp>
        <p:nvSpPr>
          <p:cNvPr id="20" name="card-body"/>
          <p:cNvSpPr txBox="1"/>
          <p:nvPr/>
        </p:nvSpPr>
        <p:spPr>
          <a:xfrm>
            <a:off x="4521098" y="3152729"/>
            <a:ext cx="3149498" cy="285487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3(k + 5) when k = 6.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Brackets first: 6 + 5 = 11. Then 3 × 11 = 33.</a:t>
            </a:r>
            <a:endParaRPr lang="en-US" sz="2200" dirty="0"/>
          </a:p>
        </p:txBody>
      </p:sp>
      <p:sp>
        <p:nvSpPr>
          <p:cNvPr id="21" name="card"/>
          <p:cNvSpPr/>
          <p:nvPr/>
        </p:nvSpPr>
        <p:spPr>
          <a:xfrm>
            <a:off x="8127797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7F8FA"/>
          </a:solidFill>
          <a:ln w="12700">
            <a:solidFill>
              <a:srgbClr val="BCC5DA"/>
            </a:solidFill>
            <a:prstDash val="solid"/>
          </a:ln>
        </p:spPr>
      </p:sp>
      <p:sp>
        <p:nvSpPr>
          <p:cNvPr id="22" name="card-hex"/>
          <p:cNvSpPr/>
          <p:nvPr/>
        </p:nvSpPr>
        <p:spPr>
          <a:xfrm>
            <a:off x="8310677" y="1572768"/>
            <a:ext cx="640080" cy="554309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3" name="card-hex-label"/>
          <p:cNvSpPr txBox="1"/>
          <p:nvPr/>
        </p:nvSpPr>
        <p:spPr>
          <a:xfrm>
            <a:off x="8310677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card-label"/>
          <p:cNvSpPr txBox="1"/>
          <p:nvPr/>
        </p:nvSpPr>
        <p:spPr>
          <a:xfrm>
            <a:off x="9042197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25" name="answer-chip"/>
          <p:cNvSpPr/>
          <p:nvPr/>
        </p:nvSpPr>
        <p:spPr>
          <a:xfrm>
            <a:off x="8310677" y="2355677"/>
            <a:ext cx="3149498" cy="614172"/>
          </a:xfrm>
          <a:prstGeom prst="roundRect">
            <a:avLst>
              <a:gd name="adj" fmla="val 17866"/>
            </a:avLst>
          </a:prstGeom>
          <a:solidFill>
            <a:srgbClr val="EFE4D0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26" name="answer"/>
          <p:cNvSpPr txBox="1"/>
          <p:nvPr/>
        </p:nvSpPr>
        <p:spPr>
          <a:xfrm>
            <a:off x="8402117" y="2428829"/>
            <a:ext cx="2966618" cy="4678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2200" dirty="0"/>
          </a:p>
        </p:txBody>
      </p:sp>
      <p:sp>
        <p:nvSpPr>
          <p:cNvPr id="27" name="card-body"/>
          <p:cNvSpPr txBox="1"/>
          <p:nvPr/>
        </p:nvSpPr>
        <p:spPr>
          <a:xfrm>
            <a:off x="8310677" y="3152729"/>
            <a:ext cx="3149498" cy="285487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5a² when a = 3.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first: 3² = 9. Then 5 × 9 = 45.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words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Pre-teach</a:t>
            </a:r>
            <a:endParaRPr lang="en-US" sz="1800" dirty="0"/>
          </a:p>
        </p:txBody>
      </p:sp>
      <p:sp>
        <p:nvSpPr>
          <p:cNvPr id="7" name="kw-head"/>
          <p:cNvSpPr/>
          <p:nvPr/>
        </p:nvSpPr>
        <p:spPr>
          <a:xfrm>
            <a:off x="548640" y="1389888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2E4A8C"/>
          </a:solidFill>
          <a:ln/>
        </p:spPr>
      </p:sp>
      <p:sp>
        <p:nvSpPr>
          <p:cNvPr id="8" name="kw-headtext"/>
          <p:cNvSpPr txBox="1"/>
          <p:nvPr/>
        </p:nvSpPr>
        <p:spPr>
          <a:xfrm>
            <a:off x="1143000" y="1389888"/>
            <a:ext cx="23317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800" dirty="0"/>
          </a:p>
        </p:txBody>
      </p:sp>
      <p:sp>
        <p:nvSpPr>
          <p:cNvPr id="9" name="kw-headtext"/>
          <p:cNvSpPr txBox="1"/>
          <p:nvPr/>
        </p:nvSpPr>
        <p:spPr>
          <a:xfrm>
            <a:off x="3657600" y="1389888"/>
            <a:ext cx="34747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800" dirty="0"/>
          </a:p>
        </p:txBody>
      </p:sp>
      <p:sp>
        <p:nvSpPr>
          <p:cNvPr id="10" name="kw-headtext"/>
          <p:cNvSpPr txBox="1"/>
          <p:nvPr/>
        </p:nvSpPr>
        <p:spPr>
          <a:xfrm>
            <a:off x="7315200" y="1389888"/>
            <a:ext cx="4236415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sentence</a:t>
            </a:r>
            <a:endParaRPr lang="en-US" sz="1800" dirty="0"/>
          </a:p>
        </p:txBody>
      </p:sp>
      <p:sp>
        <p:nvSpPr>
          <p:cNvPr id="11" name="kw-row"/>
          <p:cNvSpPr/>
          <p:nvPr/>
        </p:nvSpPr>
        <p:spPr>
          <a:xfrm>
            <a:off x="548640" y="1920240"/>
            <a:ext cx="11094415" cy="559816"/>
          </a:xfrm>
          <a:prstGeom prst="roundRect">
            <a:avLst>
              <a:gd name="adj" fmla="val 9800"/>
            </a:avLst>
          </a:prstGeom>
          <a:solidFill>
            <a:srgbClr val="F5F6F9"/>
          </a:solidFill>
          <a:ln/>
        </p:spPr>
      </p:sp>
      <p:sp>
        <p:nvSpPr>
          <p:cNvPr id="12" name="kw-hex"/>
          <p:cNvSpPr/>
          <p:nvPr/>
        </p:nvSpPr>
        <p:spPr>
          <a:xfrm>
            <a:off x="658368" y="2021977"/>
            <a:ext cx="411480" cy="356342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3" name="kw-cell"/>
          <p:cNvSpPr txBox="1"/>
          <p:nvPr/>
        </p:nvSpPr>
        <p:spPr>
          <a:xfrm>
            <a:off x="1143000" y="1920240"/>
            <a:ext cx="2331720" cy="5598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</a:t>
            </a:r>
            <a:endParaRPr lang="en-US" sz="2200" dirty="0"/>
          </a:p>
        </p:txBody>
      </p:sp>
      <p:sp>
        <p:nvSpPr>
          <p:cNvPr id="14" name="kw-cell"/>
          <p:cNvSpPr txBox="1"/>
          <p:nvPr/>
        </p:nvSpPr>
        <p:spPr>
          <a:xfrm>
            <a:off x="3657600" y="1920240"/>
            <a:ext cx="3474720" cy="5598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 with no letter in it</a:t>
            </a:r>
            <a:endParaRPr lang="en-US" sz="2000" dirty="0"/>
          </a:p>
        </p:txBody>
      </p:sp>
      <p:sp>
        <p:nvSpPr>
          <p:cNvPr id="15" name="kw-cell"/>
          <p:cNvSpPr txBox="1"/>
          <p:nvPr/>
        </p:nvSpPr>
        <p:spPr>
          <a:xfrm>
            <a:off x="7315200" y="1920240"/>
            <a:ext cx="4236415" cy="5598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3y − 4 the constant is the 4.</a:t>
            </a:r>
            <a:endParaRPr lang="en-US" sz="2000" dirty="0"/>
          </a:p>
        </p:txBody>
      </p:sp>
      <p:sp>
        <p:nvSpPr>
          <p:cNvPr id="16" name="kw-row"/>
          <p:cNvSpPr/>
          <p:nvPr/>
        </p:nvSpPr>
        <p:spPr>
          <a:xfrm>
            <a:off x="548640" y="2553208"/>
            <a:ext cx="11094415" cy="923036"/>
          </a:xfrm>
          <a:prstGeom prst="roundRect">
            <a:avLst>
              <a:gd name="adj" fmla="val 5944"/>
            </a:avLst>
          </a:prstGeom>
          <a:solidFill>
            <a:srgbClr val="F9F4EC"/>
          </a:solidFill>
          <a:ln/>
        </p:spPr>
      </p:sp>
      <p:sp>
        <p:nvSpPr>
          <p:cNvPr id="17" name="kw-hex"/>
          <p:cNvSpPr/>
          <p:nvPr/>
        </p:nvSpPr>
        <p:spPr>
          <a:xfrm>
            <a:off x="658368" y="2836555"/>
            <a:ext cx="411480" cy="356342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18" name="kw-cell"/>
          <p:cNvSpPr txBox="1"/>
          <p:nvPr/>
        </p:nvSpPr>
        <p:spPr>
          <a:xfrm>
            <a:off x="1143000" y="2553208"/>
            <a:ext cx="2331720" cy="9230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of operations</a:t>
            </a:r>
            <a:endParaRPr lang="en-US" sz="2200" dirty="0"/>
          </a:p>
        </p:txBody>
      </p:sp>
      <p:sp>
        <p:nvSpPr>
          <p:cNvPr id="19" name="kw-cell"/>
          <p:cNvSpPr txBox="1"/>
          <p:nvPr/>
        </p:nvSpPr>
        <p:spPr>
          <a:xfrm>
            <a:off x="3657600" y="2553208"/>
            <a:ext cx="3474720" cy="9230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brackets first, then squares, then × and ÷, then + and −</a:t>
            </a:r>
            <a:endParaRPr lang="en-US" sz="2000" dirty="0"/>
          </a:p>
        </p:txBody>
      </p:sp>
      <p:sp>
        <p:nvSpPr>
          <p:cNvPr id="20" name="kw-cell"/>
          <p:cNvSpPr txBox="1"/>
          <p:nvPr/>
        </p:nvSpPr>
        <p:spPr>
          <a:xfrm>
            <a:off x="7315200" y="2553208"/>
            <a:ext cx="4236415" cy="9230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order of operations, 3 × 8 − 4 is 24 − 4.</a:t>
            </a:r>
            <a:endParaRPr lang="en-US" sz="2000" dirty="0"/>
          </a:p>
        </p:txBody>
      </p:sp>
      <p:sp>
        <p:nvSpPr>
          <p:cNvPr id="21" name="kw-row"/>
          <p:cNvSpPr/>
          <p:nvPr/>
        </p:nvSpPr>
        <p:spPr>
          <a:xfrm>
            <a:off x="548640" y="3549396"/>
            <a:ext cx="11094415" cy="816356"/>
          </a:xfrm>
          <a:prstGeom prst="roundRect">
            <a:avLst>
              <a:gd name="adj" fmla="val 6721"/>
            </a:avLst>
          </a:prstGeom>
          <a:solidFill>
            <a:srgbClr val="F5F6F9"/>
          </a:solidFill>
          <a:ln/>
        </p:spPr>
      </p:sp>
      <p:sp>
        <p:nvSpPr>
          <p:cNvPr id="22" name="kw-hex"/>
          <p:cNvSpPr/>
          <p:nvPr/>
        </p:nvSpPr>
        <p:spPr>
          <a:xfrm>
            <a:off x="658368" y="3779403"/>
            <a:ext cx="411480" cy="356342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3" name="kw-cell"/>
          <p:cNvSpPr txBox="1"/>
          <p:nvPr/>
        </p:nvSpPr>
        <p:spPr>
          <a:xfrm>
            <a:off x="1143000" y="3549396"/>
            <a:ext cx="2331720" cy="81635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brackets</a:t>
            </a:r>
            <a:endParaRPr lang="en-US" sz="2200" dirty="0"/>
          </a:p>
        </p:txBody>
      </p:sp>
      <p:sp>
        <p:nvSpPr>
          <p:cNvPr id="24" name="kw-cell"/>
          <p:cNvSpPr txBox="1"/>
          <p:nvPr/>
        </p:nvSpPr>
        <p:spPr>
          <a:xfrm>
            <a:off x="3657600" y="3549396"/>
            <a:ext cx="3474720" cy="81635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marks ( ) round the part you work out first</a:t>
            </a:r>
            <a:endParaRPr lang="en-US" sz="2000" dirty="0"/>
          </a:p>
        </p:txBody>
      </p:sp>
      <p:sp>
        <p:nvSpPr>
          <p:cNvPr id="25" name="kw-cell"/>
          <p:cNvSpPr txBox="1"/>
          <p:nvPr/>
        </p:nvSpPr>
        <p:spPr>
          <a:xfrm>
            <a:off x="7315200" y="3549396"/>
            <a:ext cx="4236415" cy="81635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4(h + 2), work out the brackets first.</a:t>
            </a:r>
            <a:endParaRPr lang="en-US" sz="2000" dirty="0"/>
          </a:p>
        </p:txBody>
      </p:sp>
      <p:sp>
        <p:nvSpPr>
          <p:cNvPr id="26" name="kw-row"/>
          <p:cNvSpPr/>
          <p:nvPr/>
        </p:nvSpPr>
        <p:spPr>
          <a:xfrm>
            <a:off x="548640" y="4438904"/>
            <a:ext cx="11094415" cy="816356"/>
          </a:xfrm>
          <a:prstGeom prst="roundRect">
            <a:avLst>
              <a:gd name="adj" fmla="val 6721"/>
            </a:avLst>
          </a:prstGeom>
          <a:solidFill>
            <a:srgbClr val="F9F4EC"/>
          </a:solidFill>
          <a:ln/>
        </p:spPr>
      </p:sp>
      <p:sp>
        <p:nvSpPr>
          <p:cNvPr id="27" name="kw-hex"/>
          <p:cNvSpPr/>
          <p:nvPr/>
        </p:nvSpPr>
        <p:spPr>
          <a:xfrm>
            <a:off x="658368" y="4668911"/>
            <a:ext cx="411480" cy="356342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28" name="kw-cell"/>
          <p:cNvSpPr txBox="1"/>
          <p:nvPr/>
        </p:nvSpPr>
        <p:spPr>
          <a:xfrm>
            <a:off x="1143000" y="4438904"/>
            <a:ext cx="2331720" cy="81635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square</a:t>
            </a:r>
            <a:endParaRPr lang="en-US" sz="2200" dirty="0"/>
          </a:p>
        </p:txBody>
      </p:sp>
      <p:sp>
        <p:nvSpPr>
          <p:cNvPr id="29" name="kw-cell"/>
          <p:cNvSpPr txBox="1"/>
          <p:nvPr/>
        </p:nvSpPr>
        <p:spPr>
          <a:xfrm>
            <a:off x="3657600" y="4438904"/>
            <a:ext cx="3474720" cy="81635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multiplied by itself, written with a small 2</a:t>
            </a:r>
            <a:endParaRPr lang="en-US" sz="2000" dirty="0"/>
          </a:p>
        </p:txBody>
      </p:sp>
      <p:sp>
        <p:nvSpPr>
          <p:cNvPr id="30" name="kw-cell"/>
          <p:cNvSpPr txBox="1"/>
          <p:nvPr/>
        </p:nvSpPr>
        <p:spPr>
          <a:xfrm>
            <a:off x="7315200" y="4438904"/>
            <a:ext cx="4236415" cy="81635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squared is 9, written 3².</a:t>
            </a:r>
            <a:endParaRPr lang="en-US" sz="2000" dirty="0"/>
          </a:p>
        </p:txBody>
      </p:sp>
      <p:sp>
        <p:nvSpPr>
          <p:cNvPr id="31" name="kw-row"/>
          <p:cNvSpPr/>
          <p:nvPr/>
        </p:nvSpPr>
        <p:spPr>
          <a:xfrm>
            <a:off x="548640" y="5328412"/>
            <a:ext cx="11094415" cy="816356"/>
          </a:xfrm>
          <a:prstGeom prst="roundRect">
            <a:avLst>
              <a:gd name="adj" fmla="val 6721"/>
            </a:avLst>
          </a:prstGeom>
          <a:solidFill>
            <a:srgbClr val="F5F6F9"/>
          </a:solidFill>
          <a:ln/>
        </p:spPr>
      </p:sp>
      <p:sp>
        <p:nvSpPr>
          <p:cNvPr id="32" name="kw-hex"/>
          <p:cNvSpPr/>
          <p:nvPr/>
        </p:nvSpPr>
        <p:spPr>
          <a:xfrm>
            <a:off x="658368" y="5558419"/>
            <a:ext cx="411480" cy="356342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33" name="kw-cell"/>
          <p:cNvSpPr txBox="1"/>
          <p:nvPr/>
        </p:nvSpPr>
        <p:spPr>
          <a:xfrm>
            <a:off x="1143000" y="5328412"/>
            <a:ext cx="2331720" cy="81635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substitute</a:t>
            </a:r>
            <a:endParaRPr lang="en-US" sz="2200" dirty="0"/>
          </a:p>
        </p:txBody>
      </p:sp>
      <p:sp>
        <p:nvSpPr>
          <p:cNvPr id="34" name="kw-cell"/>
          <p:cNvSpPr txBox="1"/>
          <p:nvPr/>
        </p:nvSpPr>
        <p:spPr>
          <a:xfrm>
            <a:off x="3657600" y="5328412"/>
            <a:ext cx="3474720" cy="81635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 letter for the number it stands for</a:t>
            </a:r>
            <a:endParaRPr lang="en-US" sz="2000" dirty="0"/>
          </a:p>
        </p:txBody>
      </p:sp>
      <p:sp>
        <p:nvSpPr>
          <p:cNvPr id="35" name="kw-cell"/>
          <p:cNvSpPr txBox="1"/>
          <p:nvPr/>
        </p:nvSpPr>
        <p:spPr>
          <a:xfrm>
            <a:off x="7315200" y="5328412"/>
            <a:ext cx="4236415" cy="81635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y = 8 into 3y − 4.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Read-along (1 of 2)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Pre-teach</a:t>
            </a:r>
            <a:endParaRPr lang="en-US" sz="1800" dirty="0"/>
          </a:p>
        </p:txBody>
      </p:sp>
      <p:sp>
        <p:nvSpPr>
          <p:cNvPr id="7" name="ra-side"/>
          <p:cNvSpPr/>
          <p:nvPr/>
        </p:nvSpPr>
        <p:spPr>
          <a:xfrm>
            <a:off x="548640" y="1389888"/>
            <a:ext cx="1874520" cy="4754880"/>
          </a:xfrm>
          <a:prstGeom prst="roundRect">
            <a:avLst>
              <a:gd name="adj" fmla="val 3902"/>
            </a:avLst>
          </a:prstGeom>
          <a:solidFill>
            <a:srgbClr val="2E4A8C"/>
          </a:solidFill>
          <a:ln/>
        </p:spPr>
      </p:sp>
      <p:sp>
        <p:nvSpPr>
          <p:cNvPr id="8" name="ra-hex"/>
          <p:cNvSpPr/>
          <p:nvPr/>
        </p:nvSpPr>
        <p:spPr>
          <a:xfrm>
            <a:off x="914400" y="1709928"/>
            <a:ext cx="1143000" cy="989838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ra-hex-label"/>
          <p:cNvSpPr txBox="1"/>
          <p:nvPr/>
        </p:nvSpPr>
        <p:spPr>
          <a:xfrm>
            <a:off x="914400" y="1709928"/>
            <a:ext cx="1143000" cy="989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2400" dirty="0"/>
          </a:p>
        </p:txBody>
      </p:sp>
      <p:sp>
        <p:nvSpPr>
          <p:cNvPr id="10" name="ra-note"/>
          <p:cNvSpPr txBox="1"/>
          <p:nvPr/>
        </p:nvSpPr>
        <p:spPr>
          <a:xfrm>
            <a:off x="640080" y="2898648"/>
            <a:ext cx="1691640" cy="2194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together;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pupils who were pre-taught lead</a:t>
            </a:r>
            <a:endParaRPr lang="en-US" sz="1800" dirty="0"/>
          </a:p>
        </p:txBody>
      </p:sp>
      <p:sp>
        <p:nvSpPr>
          <p:cNvPr id="11" name="ra-panel"/>
          <p:cNvSpPr/>
          <p:nvPr/>
        </p:nvSpPr>
        <p:spPr>
          <a:xfrm>
            <a:off x="2697480" y="1389888"/>
            <a:ext cx="8945575" cy="4754880"/>
          </a:xfrm>
          <a:prstGeom prst="roundRect">
            <a:avLst>
              <a:gd name="adj" fmla="val 769"/>
            </a:avLst>
          </a:prstGeom>
          <a:solidFill>
            <a:srgbClr val="F7F8FA"/>
          </a:solidFill>
          <a:ln w="12700">
            <a:solidFill>
              <a:srgbClr val="C7CEE0"/>
            </a:solidFill>
            <a:prstDash val="solid"/>
          </a:ln>
        </p:spPr>
      </p:sp>
      <p:sp>
        <p:nvSpPr>
          <p:cNvPr id="12" name="passage"/>
          <p:cNvSpPr txBox="1"/>
          <p:nvPr/>
        </p:nvSpPr>
        <p:spPr>
          <a:xfrm>
            <a:off x="2880360" y="1527048"/>
            <a:ext cx="8579815" cy="4480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expression has two steps.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3y − 4 when y is 8.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y for 8 first: 3 × 8 − 4.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before you subtract.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8 is 24, and 24 − 4 is 20.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Brackets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come first of all.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Read-along (2 of 2)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Pre-teach</a:t>
            </a:r>
            <a:endParaRPr lang="en-US" sz="1800" dirty="0"/>
          </a:p>
        </p:txBody>
      </p:sp>
      <p:sp>
        <p:nvSpPr>
          <p:cNvPr id="7" name="ra-side"/>
          <p:cNvSpPr/>
          <p:nvPr/>
        </p:nvSpPr>
        <p:spPr>
          <a:xfrm>
            <a:off x="548640" y="1389888"/>
            <a:ext cx="1874520" cy="4754880"/>
          </a:xfrm>
          <a:prstGeom prst="roundRect">
            <a:avLst>
              <a:gd name="adj" fmla="val 3902"/>
            </a:avLst>
          </a:prstGeom>
          <a:solidFill>
            <a:srgbClr val="2E4A8C"/>
          </a:solidFill>
          <a:ln/>
        </p:spPr>
      </p:sp>
      <p:sp>
        <p:nvSpPr>
          <p:cNvPr id="8" name="ra-hex"/>
          <p:cNvSpPr/>
          <p:nvPr/>
        </p:nvSpPr>
        <p:spPr>
          <a:xfrm>
            <a:off x="914400" y="1709928"/>
            <a:ext cx="1143000" cy="989838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ra-hex-label"/>
          <p:cNvSpPr txBox="1"/>
          <p:nvPr/>
        </p:nvSpPr>
        <p:spPr>
          <a:xfrm>
            <a:off x="914400" y="1709928"/>
            <a:ext cx="1143000" cy="989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2400" dirty="0"/>
          </a:p>
        </p:txBody>
      </p:sp>
      <p:sp>
        <p:nvSpPr>
          <p:cNvPr id="10" name="ra-note"/>
          <p:cNvSpPr txBox="1"/>
          <p:nvPr/>
        </p:nvSpPr>
        <p:spPr>
          <a:xfrm>
            <a:off x="640080" y="2898648"/>
            <a:ext cx="1691640" cy="2194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together;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pupils who were pre-taught lead</a:t>
            </a:r>
            <a:endParaRPr lang="en-US" sz="1800" dirty="0"/>
          </a:p>
        </p:txBody>
      </p:sp>
      <p:sp>
        <p:nvSpPr>
          <p:cNvPr id="11" name="ra-panel"/>
          <p:cNvSpPr/>
          <p:nvPr/>
        </p:nvSpPr>
        <p:spPr>
          <a:xfrm>
            <a:off x="2697480" y="1389888"/>
            <a:ext cx="8945575" cy="4754880"/>
          </a:xfrm>
          <a:prstGeom prst="roundRect">
            <a:avLst>
              <a:gd name="adj" fmla="val 769"/>
            </a:avLst>
          </a:prstGeom>
          <a:solidFill>
            <a:srgbClr val="F7F8FA"/>
          </a:solidFill>
          <a:ln w="12700">
            <a:solidFill>
              <a:srgbClr val="C7CEE0"/>
            </a:solidFill>
            <a:prstDash val="solid"/>
          </a:ln>
        </p:spPr>
      </p:sp>
      <p:sp>
        <p:nvSpPr>
          <p:cNvPr id="12" name="passage"/>
          <p:cNvSpPr txBox="1"/>
          <p:nvPr/>
        </p:nvSpPr>
        <p:spPr>
          <a:xfrm>
            <a:off x="2880360" y="1527048"/>
            <a:ext cx="8579815" cy="4480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4(h + 2) when h is 5.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inside the </a:t>
            </a:r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brackets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5 + 2 is 7.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multiply: 4 × 7 is 28.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care with </a:t>
            </a:r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squares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4x² means 4 × x², so </a:t>
            </a:r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first.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x is 5, that is 4 × 25, which is 100.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Substitute, then follow the order of operations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800" dirty="0"/>
          </a:p>
        </p:txBody>
      </p:sp>
      <p:sp>
        <p:nvSpPr>
          <p:cNvPr id="7" name="tip-box"/>
          <p:cNvSpPr/>
          <p:nvPr/>
        </p:nvSpPr>
        <p:spPr>
          <a:xfrm>
            <a:off x="548640" y="5350256"/>
            <a:ext cx="5074920" cy="794512"/>
          </a:xfrm>
          <a:prstGeom prst="roundRect">
            <a:avLst>
              <a:gd name="adj" fmla="val 17263"/>
            </a:avLst>
          </a:prstGeom>
          <a:solidFill>
            <a:srgbClr val="F6F0E6"/>
          </a:solidFill>
          <a:ln w="15875">
            <a:solidFill>
              <a:srgbClr val="B8862B"/>
            </a:solidFill>
            <a:prstDash val="solid"/>
          </a:ln>
        </p:spPr>
      </p:sp>
      <p:sp>
        <p:nvSpPr>
          <p:cNvPr id="8" name="tip-hex"/>
          <p:cNvSpPr/>
          <p:nvPr/>
        </p:nvSpPr>
        <p:spPr>
          <a:xfrm>
            <a:off x="685800" y="5549544"/>
            <a:ext cx="457200" cy="395935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ip-hex-label"/>
          <p:cNvSpPr txBox="1"/>
          <p:nvPr/>
        </p:nvSpPr>
        <p:spPr>
          <a:xfrm>
            <a:off x="685800" y="5549544"/>
            <a:ext cx="457200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ip"/>
          <p:cNvSpPr txBox="1"/>
          <p:nvPr/>
        </p:nvSpPr>
        <p:spPr>
          <a:xfrm>
            <a:off x="1280160" y="5405120"/>
            <a:ext cx="4206240" cy="6847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first, then multiply or divide, then add or subtract.</a:t>
            </a:r>
            <a:endParaRPr lang="en-US" sz="1800" dirty="0"/>
          </a:p>
        </p:txBody>
      </p:sp>
      <p:sp>
        <p:nvSpPr>
          <p:cNvPr id="11" name="worked-panel"/>
          <p:cNvSpPr/>
          <p:nvPr/>
        </p:nvSpPr>
        <p:spPr>
          <a:xfrm>
            <a:off x="5989320" y="1389888"/>
            <a:ext cx="5653735" cy="4754880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15875">
            <a:solidFill>
              <a:srgbClr val="9DAAC9"/>
            </a:solidFill>
            <a:prstDash val="solid"/>
          </a:ln>
        </p:spPr>
      </p:sp>
      <p:sp>
        <p:nvSpPr>
          <p:cNvPr id="12" name="worked-tab"/>
          <p:cNvSpPr/>
          <p:nvPr/>
        </p:nvSpPr>
        <p:spPr>
          <a:xfrm>
            <a:off x="6126480" y="1499616"/>
            <a:ext cx="2377440" cy="457200"/>
          </a:xfrm>
          <a:prstGeom prst="roundRect">
            <a:avLst>
              <a:gd name="adj" fmla="val 40000"/>
            </a:avLst>
          </a:prstGeom>
          <a:solidFill>
            <a:srgbClr val="2E4A8C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800" dirty="0"/>
          </a:p>
        </p:txBody>
      </p:sp>
      <p:sp>
        <p:nvSpPr>
          <p:cNvPr id="13" name="worked-q"/>
          <p:cNvSpPr txBox="1"/>
          <p:nvPr/>
        </p:nvSpPr>
        <p:spPr>
          <a:xfrm>
            <a:off x="6126480" y="2066544"/>
            <a:ext cx="5379415" cy="4058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4k − 7 when k = 8.</a:t>
            </a:r>
            <a:endParaRPr lang="en-US" sz="1800" dirty="0"/>
          </a:p>
        </p:txBody>
      </p:sp>
      <p:sp>
        <p:nvSpPr>
          <p:cNvPr id="14" name="step-box"/>
          <p:cNvSpPr/>
          <p:nvPr/>
        </p:nvSpPr>
        <p:spPr>
          <a:xfrm>
            <a:off x="6126480" y="2609596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15" name="step-hex"/>
          <p:cNvSpPr/>
          <p:nvPr/>
        </p:nvSpPr>
        <p:spPr>
          <a:xfrm>
            <a:off x="6217920" y="2710930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6" name="step-hex-label"/>
          <p:cNvSpPr txBox="1"/>
          <p:nvPr/>
        </p:nvSpPr>
        <p:spPr>
          <a:xfrm>
            <a:off x="6217920" y="2710930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tep"/>
          <p:cNvSpPr txBox="1"/>
          <p:nvPr/>
        </p:nvSpPr>
        <p:spPr>
          <a:xfrm>
            <a:off x="6766560" y="2609596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 means 4 × k. Swap k for 8: 4 × 8 − 7.</a:t>
            </a:r>
            <a:endParaRPr lang="en-US" sz="1800" dirty="0"/>
          </a:p>
        </p:txBody>
      </p:sp>
      <p:sp>
        <p:nvSpPr>
          <p:cNvPr id="18" name="step-box"/>
          <p:cNvSpPr/>
          <p:nvPr/>
        </p:nvSpPr>
        <p:spPr>
          <a:xfrm>
            <a:off x="6126480" y="3267964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19" name="step-hex"/>
          <p:cNvSpPr/>
          <p:nvPr/>
        </p:nvSpPr>
        <p:spPr>
          <a:xfrm>
            <a:off x="6217920" y="3369298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0" name="step-hex-label"/>
          <p:cNvSpPr txBox="1"/>
          <p:nvPr/>
        </p:nvSpPr>
        <p:spPr>
          <a:xfrm>
            <a:off x="6217920" y="3369298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step"/>
          <p:cNvSpPr txBox="1"/>
          <p:nvPr/>
        </p:nvSpPr>
        <p:spPr>
          <a:xfrm>
            <a:off x="6766560" y="3267964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first: 4 × 8 = 32.</a:t>
            </a:r>
            <a:endParaRPr lang="en-US" sz="1800" dirty="0"/>
          </a:p>
        </p:txBody>
      </p:sp>
      <p:sp>
        <p:nvSpPr>
          <p:cNvPr id="22" name="step-box"/>
          <p:cNvSpPr/>
          <p:nvPr/>
        </p:nvSpPr>
        <p:spPr>
          <a:xfrm>
            <a:off x="6126480" y="3926332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23" name="step-hex"/>
          <p:cNvSpPr/>
          <p:nvPr/>
        </p:nvSpPr>
        <p:spPr>
          <a:xfrm>
            <a:off x="6217920" y="4027666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4" name="step-hex-label"/>
          <p:cNvSpPr txBox="1"/>
          <p:nvPr/>
        </p:nvSpPr>
        <p:spPr>
          <a:xfrm>
            <a:off x="6217920" y="4027666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tep"/>
          <p:cNvSpPr txBox="1"/>
          <p:nvPr/>
        </p:nvSpPr>
        <p:spPr>
          <a:xfrm>
            <a:off x="6766560" y="3926332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subtract: 32 − 7 = 25.</a:t>
            </a:r>
            <a:endParaRPr lang="en-US" sz="1800" dirty="0"/>
          </a:p>
        </p:txBody>
      </p:sp>
      <p:sp>
        <p:nvSpPr>
          <p:cNvPr id="26" name="worked-answer"/>
          <p:cNvSpPr/>
          <p:nvPr/>
        </p:nvSpPr>
        <p:spPr>
          <a:xfrm>
            <a:off x="6126480" y="4630420"/>
            <a:ext cx="5379415" cy="552196"/>
          </a:xfrm>
          <a:prstGeom prst="roundRect">
            <a:avLst>
              <a:gd name="adj" fmla="val 33119"/>
            </a:avLst>
          </a:prstGeom>
          <a:solidFill>
            <a:srgbClr val="EFE4D0"/>
          </a:solidFill>
          <a:ln w="19050">
            <a:solidFill>
              <a:srgbClr val="B8862B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algn="l" indent="0" marL="0"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800" dirty="0"/>
          </a:p>
        </p:txBody>
      </p:sp>
      <p:sp>
        <p:nvSpPr>
          <p:cNvPr id="27" name="bullet-card"/>
          <p:cNvSpPr/>
          <p:nvPr/>
        </p:nvSpPr>
        <p:spPr>
          <a:xfrm>
            <a:off x="548640" y="1389888"/>
            <a:ext cx="5074920" cy="1441027"/>
          </a:xfrm>
          <a:prstGeom prst="roundRect">
            <a:avLst>
              <a:gd name="adj" fmla="val 5076"/>
            </a:avLst>
          </a:prstGeom>
          <a:solidFill>
            <a:srgbClr val="F5F6F9"/>
          </a:solidFill>
          <a:ln/>
        </p:spPr>
      </p:sp>
      <p:sp>
        <p:nvSpPr>
          <p:cNvPr id="28" name="bullet-hex"/>
          <p:cNvSpPr/>
          <p:nvPr/>
        </p:nvSpPr>
        <p:spPr>
          <a:xfrm>
            <a:off x="676656" y="1944109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9" name="bullet"/>
          <p:cNvSpPr txBox="1"/>
          <p:nvPr/>
        </p:nvSpPr>
        <p:spPr>
          <a:xfrm>
            <a:off x="1143000" y="1389888"/>
            <a:ext cx="4389120" cy="144102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two-step expression needs two steps when you substitute. In 3y − 4, the y is multiplied by 3 and then 4 is taken away.</a:t>
            </a:r>
            <a:endParaRPr lang="en-US" sz="2000" dirty="0"/>
          </a:p>
        </p:txBody>
      </p:sp>
      <p:sp>
        <p:nvSpPr>
          <p:cNvPr id="30" name="bullet-card"/>
          <p:cNvSpPr/>
          <p:nvPr/>
        </p:nvSpPr>
        <p:spPr>
          <a:xfrm>
            <a:off x="548640" y="2977219"/>
            <a:ext cx="5074920" cy="1131147"/>
          </a:xfrm>
          <a:prstGeom prst="roundRect">
            <a:avLst>
              <a:gd name="adj" fmla="val 6467"/>
            </a:avLst>
          </a:prstGeom>
          <a:solidFill>
            <a:srgbClr val="F5F6F9"/>
          </a:solidFill>
          <a:ln/>
        </p:spPr>
      </p:sp>
      <p:sp>
        <p:nvSpPr>
          <p:cNvPr id="31" name="bullet-hex"/>
          <p:cNvSpPr/>
          <p:nvPr/>
        </p:nvSpPr>
        <p:spPr>
          <a:xfrm>
            <a:off x="676656" y="3376499"/>
            <a:ext cx="384048" cy="33258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32" name="bullet"/>
          <p:cNvSpPr txBox="1"/>
          <p:nvPr/>
        </p:nvSpPr>
        <p:spPr>
          <a:xfrm>
            <a:off x="1143000" y="2977219"/>
            <a:ext cx="4389120" cy="113114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machine helps you see the order. The input 8 goes through × 3 to make 24, then through − 4 to make 20.</a:t>
            </a:r>
            <a:endParaRPr lang="en-US" sz="2000" dirty="0"/>
          </a:p>
        </p:txBody>
      </p:sp>
      <p:sp>
        <p:nvSpPr>
          <p:cNvPr id="33" name="bullet-card"/>
          <p:cNvSpPr/>
          <p:nvPr/>
        </p:nvSpPr>
        <p:spPr>
          <a:xfrm>
            <a:off x="548640" y="4254669"/>
            <a:ext cx="5074920" cy="821267"/>
          </a:xfrm>
          <a:prstGeom prst="roundRect">
            <a:avLst>
              <a:gd name="adj" fmla="val 8907"/>
            </a:avLst>
          </a:prstGeom>
          <a:solidFill>
            <a:srgbClr val="F5F6F9"/>
          </a:solidFill>
          <a:ln/>
        </p:spPr>
      </p:sp>
      <p:sp>
        <p:nvSpPr>
          <p:cNvPr id="34" name="bullet-hex"/>
          <p:cNvSpPr/>
          <p:nvPr/>
        </p:nvSpPr>
        <p:spPr>
          <a:xfrm>
            <a:off x="676656" y="4499010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35" name="bullet"/>
          <p:cNvSpPr txBox="1"/>
          <p:nvPr/>
        </p:nvSpPr>
        <p:spPr>
          <a:xfrm>
            <a:off x="1143000" y="4254669"/>
            <a:ext cx="4389120" cy="82126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works out 3y − 4 when y is 7 and writes 37 − 4.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Brackets and fractions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800" dirty="0"/>
          </a:p>
        </p:txBody>
      </p:sp>
      <p:sp>
        <p:nvSpPr>
          <p:cNvPr id="7" name="tip-box"/>
          <p:cNvSpPr/>
          <p:nvPr/>
        </p:nvSpPr>
        <p:spPr>
          <a:xfrm>
            <a:off x="548640" y="5071364"/>
            <a:ext cx="5074920" cy="1073404"/>
          </a:xfrm>
          <a:prstGeom prst="roundRect">
            <a:avLst>
              <a:gd name="adj" fmla="val 12778"/>
            </a:avLst>
          </a:prstGeom>
          <a:solidFill>
            <a:srgbClr val="F6F0E6"/>
          </a:solidFill>
          <a:ln w="15875">
            <a:solidFill>
              <a:srgbClr val="B8862B"/>
            </a:solidFill>
            <a:prstDash val="solid"/>
          </a:ln>
        </p:spPr>
      </p:sp>
      <p:sp>
        <p:nvSpPr>
          <p:cNvPr id="8" name="tip-hex"/>
          <p:cNvSpPr/>
          <p:nvPr/>
        </p:nvSpPr>
        <p:spPr>
          <a:xfrm>
            <a:off x="685800" y="5410098"/>
            <a:ext cx="457200" cy="395935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ip-hex-label"/>
          <p:cNvSpPr txBox="1"/>
          <p:nvPr/>
        </p:nvSpPr>
        <p:spPr>
          <a:xfrm>
            <a:off x="685800" y="5410098"/>
            <a:ext cx="457200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ip"/>
          <p:cNvSpPr txBox="1"/>
          <p:nvPr/>
        </p:nvSpPr>
        <p:spPr>
          <a:xfrm>
            <a:off x="1280160" y="5126228"/>
            <a:ext cx="4206240" cy="96367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letter is inside brackets or on top of a fraction with a number, that part is worked out first.</a:t>
            </a:r>
            <a:endParaRPr lang="en-US" sz="1800" dirty="0"/>
          </a:p>
        </p:txBody>
      </p:sp>
      <p:sp>
        <p:nvSpPr>
          <p:cNvPr id="11" name="worked-panel"/>
          <p:cNvSpPr/>
          <p:nvPr/>
        </p:nvSpPr>
        <p:spPr>
          <a:xfrm>
            <a:off x="5989320" y="1389888"/>
            <a:ext cx="5653735" cy="4754880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15875">
            <a:solidFill>
              <a:srgbClr val="9DAAC9"/>
            </a:solidFill>
            <a:prstDash val="solid"/>
          </a:ln>
        </p:spPr>
      </p:sp>
      <p:sp>
        <p:nvSpPr>
          <p:cNvPr id="12" name="worked-tab"/>
          <p:cNvSpPr/>
          <p:nvPr/>
        </p:nvSpPr>
        <p:spPr>
          <a:xfrm>
            <a:off x="6126480" y="1499616"/>
            <a:ext cx="2377440" cy="457200"/>
          </a:xfrm>
          <a:prstGeom prst="roundRect">
            <a:avLst>
              <a:gd name="adj" fmla="val 40000"/>
            </a:avLst>
          </a:prstGeom>
          <a:solidFill>
            <a:srgbClr val="2E4A8C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800" dirty="0"/>
          </a:p>
        </p:txBody>
      </p:sp>
      <p:sp>
        <p:nvSpPr>
          <p:cNvPr id="13" name="worked-q"/>
          <p:cNvSpPr txBox="1"/>
          <p:nvPr/>
        </p:nvSpPr>
        <p:spPr>
          <a:xfrm>
            <a:off x="6126480" y="2066544"/>
            <a:ext cx="5379415" cy="4058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6(p − 4) when p = 9.</a:t>
            </a:r>
            <a:endParaRPr lang="en-US" sz="1800" dirty="0"/>
          </a:p>
        </p:txBody>
      </p:sp>
      <p:sp>
        <p:nvSpPr>
          <p:cNvPr id="14" name="step-box"/>
          <p:cNvSpPr/>
          <p:nvPr/>
        </p:nvSpPr>
        <p:spPr>
          <a:xfrm>
            <a:off x="6126480" y="2609596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15" name="step-hex"/>
          <p:cNvSpPr/>
          <p:nvPr/>
        </p:nvSpPr>
        <p:spPr>
          <a:xfrm>
            <a:off x="6217920" y="2710930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6" name="step-hex-label"/>
          <p:cNvSpPr txBox="1"/>
          <p:nvPr/>
        </p:nvSpPr>
        <p:spPr>
          <a:xfrm>
            <a:off x="6217920" y="2710930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tep"/>
          <p:cNvSpPr txBox="1"/>
          <p:nvPr/>
        </p:nvSpPr>
        <p:spPr>
          <a:xfrm>
            <a:off x="6766560" y="2609596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p for 9: 6 × (9 − 4).</a:t>
            </a:r>
            <a:endParaRPr lang="en-US" sz="1800" dirty="0"/>
          </a:p>
        </p:txBody>
      </p:sp>
      <p:sp>
        <p:nvSpPr>
          <p:cNvPr id="18" name="step-box"/>
          <p:cNvSpPr/>
          <p:nvPr/>
        </p:nvSpPr>
        <p:spPr>
          <a:xfrm>
            <a:off x="6126480" y="3267964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19" name="step-hex"/>
          <p:cNvSpPr/>
          <p:nvPr/>
        </p:nvSpPr>
        <p:spPr>
          <a:xfrm>
            <a:off x="6217920" y="3369298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0" name="step-hex-label"/>
          <p:cNvSpPr txBox="1"/>
          <p:nvPr/>
        </p:nvSpPr>
        <p:spPr>
          <a:xfrm>
            <a:off x="6217920" y="3369298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step"/>
          <p:cNvSpPr txBox="1"/>
          <p:nvPr/>
        </p:nvSpPr>
        <p:spPr>
          <a:xfrm>
            <a:off x="6766560" y="3267964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Brackets first: 9 − 4 = 5.</a:t>
            </a:r>
            <a:endParaRPr lang="en-US" sz="1800" dirty="0"/>
          </a:p>
        </p:txBody>
      </p:sp>
      <p:sp>
        <p:nvSpPr>
          <p:cNvPr id="22" name="step-box"/>
          <p:cNvSpPr/>
          <p:nvPr/>
        </p:nvSpPr>
        <p:spPr>
          <a:xfrm>
            <a:off x="6126480" y="3926332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23" name="step-hex"/>
          <p:cNvSpPr/>
          <p:nvPr/>
        </p:nvSpPr>
        <p:spPr>
          <a:xfrm>
            <a:off x="6217920" y="4027666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4" name="step-hex-label"/>
          <p:cNvSpPr txBox="1"/>
          <p:nvPr/>
        </p:nvSpPr>
        <p:spPr>
          <a:xfrm>
            <a:off x="6217920" y="4027666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tep"/>
          <p:cNvSpPr txBox="1"/>
          <p:nvPr/>
        </p:nvSpPr>
        <p:spPr>
          <a:xfrm>
            <a:off x="6766560" y="3926332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multiply: 6 × 5 = 30.</a:t>
            </a:r>
            <a:endParaRPr lang="en-US" sz="1800" dirty="0"/>
          </a:p>
        </p:txBody>
      </p:sp>
      <p:sp>
        <p:nvSpPr>
          <p:cNvPr id="26" name="worked-answer"/>
          <p:cNvSpPr/>
          <p:nvPr/>
        </p:nvSpPr>
        <p:spPr>
          <a:xfrm>
            <a:off x="6126480" y="4630420"/>
            <a:ext cx="5379415" cy="552196"/>
          </a:xfrm>
          <a:prstGeom prst="roundRect">
            <a:avLst>
              <a:gd name="adj" fmla="val 33119"/>
            </a:avLst>
          </a:prstGeom>
          <a:solidFill>
            <a:srgbClr val="EFE4D0"/>
          </a:solidFill>
          <a:ln w="19050">
            <a:solidFill>
              <a:srgbClr val="B8862B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algn="l" indent="0" marL="0"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800" dirty="0"/>
          </a:p>
        </p:txBody>
      </p:sp>
      <p:sp>
        <p:nvSpPr>
          <p:cNvPr id="27" name="bullet-card"/>
          <p:cNvSpPr/>
          <p:nvPr/>
        </p:nvSpPr>
        <p:spPr>
          <a:xfrm>
            <a:off x="548640" y="1389888"/>
            <a:ext cx="5074920" cy="1265428"/>
          </a:xfrm>
          <a:prstGeom prst="roundRect">
            <a:avLst>
              <a:gd name="adj" fmla="val 5781"/>
            </a:avLst>
          </a:prstGeom>
          <a:solidFill>
            <a:srgbClr val="F5F6F9"/>
          </a:solidFill>
          <a:ln/>
        </p:spPr>
      </p:sp>
      <p:sp>
        <p:nvSpPr>
          <p:cNvPr id="28" name="bullet-hex"/>
          <p:cNvSpPr/>
          <p:nvPr/>
        </p:nvSpPr>
        <p:spPr>
          <a:xfrm>
            <a:off x="676656" y="1856309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9" name="bullet"/>
          <p:cNvSpPr txBox="1"/>
          <p:nvPr/>
        </p:nvSpPr>
        <p:spPr>
          <a:xfrm>
            <a:off x="1143000" y="1389888"/>
            <a:ext cx="4389120" cy="12654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Brackets come before everything else. In 3(k + 4) with k = 8, add inside the brackets first: 8 + 4 = 12.</a:t>
            </a:r>
            <a:endParaRPr lang="en-US" sz="2200" dirty="0"/>
          </a:p>
        </p:txBody>
      </p:sp>
      <p:sp>
        <p:nvSpPr>
          <p:cNvPr id="30" name="bullet-card"/>
          <p:cNvSpPr/>
          <p:nvPr/>
        </p:nvSpPr>
        <p:spPr>
          <a:xfrm>
            <a:off x="548640" y="2801620"/>
            <a:ext cx="5074920" cy="924560"/>
          </a:xfrm>
          <a:prstGeom prst="roundRect">
            <a:avLst>
              <a:gd name="adj" fmla="val 7912"/>
            </a:avLst>
          </a:prstGeom>
          <a:solidFill>
            <a:srgbClr val="F5F6F9"/>
          </a:solidFill>
          <a:ln/>
        </p:spPr>
      </p:sp>
      <p:sp>
        <p:nvSpPr>
          <p:cNvPr id="31" name="bullet-hex"/>
          <p:cNvSpPr/>
          <p:nvPr/>
        </p:nvSpPr>
        <p:spPr>
          <a:xfrm>
            <a:off x="676656" y="3097607"/>
            <a:ext cx="384048" cy="33258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32" name="bullet"/>
          <p:cNvSpPr txBox="1"/>
          <p:nvPr/>
        </p:nvSpPr>
        <p:spPr>
          <a:xfrm>
            <a:off x="1143000" y="2801620"/>
            <a:ext cx="4389120" cy="924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fraction line works like brackets for whatever sits on top.</a:t>
            </a:r>
            <a:endParaRPr lang="en-US" sz="2200" dirty="0"/>
          </a:p>
        </p:txBody>
      </p:sp>
      <p:sp>
        <p:nvSpPr>
          <p:cNvPr id="33" name="bullet-card"/>
          <p:cNvSpPr/>
          <p:nvPr/>
        </p:nvSpPr>
        <p:spPr>
          <a:xfrm>
            <a:off x="548640" y="3872484"/>
            <a:ext cx="5074920" cy="924560"/>
          </a:xfrm>
          <a:prstGeom prst="roundRect">
            <a:avLst>
              <a:gd name="adj" fmla="val 7912"/>
            </a:avLst>
          </a:prstGeom>
          <a:solidFill>
            <a:srgbClr val="F5F6F9"/>
          </a:solidFill>
          <a:ln/>
        </p:spPr>
      </p:sp>
      <p:sp>
        <p:nvSpPr>
          <p:cNvPr id="34" name="bullet-hex"/>
          <p:cNvSpPr/>
          <p:nvPr/>
        </p:nvSpPr>
        <p:spPr>
          <a:xfrm>
            <a:off x="676656" y="4168471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35" name="bullet"/>
          <p:cNvSpPr txBox="1"/>
          <p:nvPr/>
        </p:nvSpPr>
        <p:spPr>
          <a:xfrm>
            <a:off x="1143000" y="3872484"/>
            <a:ext cx="4389120" cy="924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letter is taken away from a number, keep the number first.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Squares and two letters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800" dirty="0"/>
          </a:p>
        </p:txBody>
      </p:sp>
      <p:sp>
        <p:nvSpPr>
          <p:cNvPr id="7" name="tip-box"/>
          <p:cNvSpPr/>
          <p:nvPr/>
        </p:nvSpPr>
        <p:spPr>
          <a:xfrm>
            <a:off x="548640" y="5350256"/>
            <a:ext cx="5074920" cy="794512"/>
          </a:xfrm>
          <a:prstGeom prst="roundRect">
            <a:avLst>
              <a:gd name="adj" fmla="val 17263"/>
            </a:avLst>
          </a:prstGeom>
          <a:solidFill>
            <a:srgbClr val="F6F0E6"/>
          </a:solidFill>
          <a:ln w="15875">
            <a:solidFill>
              <a:srgbClr val="B8862B"/>
            </a:solidFill>
            <a:prstDash val="solid"/>
          </a:ln>
        </p:spPr>
      </p:sp>
      <p:sp>
        <p:nvSpPr>
          <p:cNvPr id="8" name="tip-hex"/>
          <p:cNvSpPr/>
          <p:nvPr/>
        </p:nvSpPr>
        <p:spPr>
          <a:xfrm>
            <a:off x="685800" y="5549544"/>
            <a:ext cx="457200" cy="395935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ip-hex-label"/>
          <p:cNvSpPr txBox="1"/>
          <p:nvPr/>
        </p:nvSpPr>
        <p:spPr>
          <a:xfrm>
            <a:off x="685800" y="5549544"/>
            <a:ext cx="457200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ip"/>
          <p:cNvSpPr txBox="1"/>
          <p:nvPr/>
        </p:nvSpPr>
        <p:spPr>
          <a:xfrm>
            <a:off x="1280160" y="5405120"/>
            <a:ext cx="4206240" cy="6847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 2 only squares what it is touching. 4x² squares x, not 4x.</a:t>
            </a:r>
            <a:endParaRPr lang="en-US" sz="1800" dirty="0"/>
          </a:p>
        </p:txBody>
      </p:sp>
      <p:sp>
        <p:nvSpPr>
          <p:cNvPr id="11" name="worked-panel"/>
          <p:cNvSpPr/>
          <p:nvPr/>
        </p:nvSpPr>
        <p:spPr>
          <a:xfrm>
            <a:off x="5989320" y="1389888"/>
            <a:ext cx="5653735" cy="4754880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15875">
            <a:solidFill>
              <a:srgbClr val="9DAAC9"/>
            </a:solidFill>
            <a:prstDash val="solid"/>
          </a:ln>
        </p:spPr>
      </p:sp>
      <p:sp>
        <p:nvSpPr>
          <p:cNvPr id="12" name="worked-tab"/>
          <p:cNvSpPr/>
          <p:nvPr/>
        </p:nvSpPr>
        <p:spPr>
          <a:xfrm>
            <a:off x="6126480" y="1499616"/>
            <a:ext cx="2377440" cy="457200"/>
          </a:xfrm>
          <a:prstGeom prst="roundRect">
            <a:avLst>
              <a:gd name="adj" fmla="val 40000"/>
            </a:avLst>
          </a:prstGeom>
          <a:solidFill>
            <a:srgbClr val="2E4A8C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800" dirty="0"/>
          </a:p>
        </p:txBody>
      </p:sp>
      <p:sp>
        <p:nvSpPr>
          <p:cNvPr id="13" name="worked-q"/>
          <p:cNvSpPr txBox="1"/>
          <p:nvPr/>
        </p:nvSpPr>
        <p:spPr>
          <a:xfrm>
            <a:off x="6126480" y="2066544"/>
            <a:ext cx="5379415" cy="4058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2t² when t = 5.</a:t>
            </a:r>
            <a:endParaRPr lang="en-US" sz="1800" dirty="0"/>
          </a:p>
        </p:txBody>
      </p:sp>
      <p:sp>
        <p:nvSpPr>
          <p:cNvPr id="14" name="step-box"/>
          <p:cNvSpPr/>
          <p:nvPr/>
        </p:nvSpPr>
        <p:spPr>
          <a:xfrm>
            <a:off x="6126480" y="2609596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15" name="step-hex"/>
          <p:cNvSpPr/>
          <p:nvPr/>
        </p:nvSpPr>
        <p:spPr>
          <a:xfrm>
            <a:off x="6217920" y="2710930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6" name="step-hex-label"/>
          <p:cNvSpPr txBox="1"/>
          <p:nvPr/>
        </p:nvSpPr>
        <p:spPr>
          <a:xfrm>
            <a:off x="6217920" y="2710930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tep"/>
          <p:cNvSpPr txBox="1"/>
          <p:nvPr/>
        </p:nvSpPr>
        <p:spPr>
          <a:xfrm>
            <a:off x="6766560" y="2609596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 for 5: 2 × 5².</a:t>
            </a:r>
            <a:endParaRPr lang="en-US" sz="1800" dirty="0"/>
          </a:p>
        </p:txBody>
      </p:sp>
      <p:sp>
        <p:nvSpPr>
          <p:cNvPr id="18" name="step-box"/>
          <p:cNvSpPr/>
          <p:nvPr/>
        </p:nvSpPr>
        <p:spPr>
          <a:xfrm>
            <a:off x="6126480" y="3267964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19" name="step-hex"/>
          <p:cNvSpPr/>
          <p:nvPr/>
        </p:nvSpPr>
        <p:spPr>
          <a:xfrm>
            <a:off x="6217920" y="3369298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0" name="step-hex-label"/>
          <p:cNvSpPr txBox="1"/>
          <p:nvPr/>
        </p:nvSpPr>
        <p:spPr>
          <a:xfrm>
            <a:off x="6217920" y="3369298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step"/>
          <p:cNvSpPr txBox="1"/>
          <p:nvPr/>
        </p:nvSpPr>
        <p:spPr>
          <a:xfrm>
            <a:off x="6766560" y="3267964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first: 5² = 25.</a:t>
            </a:r>
            <a:endParaRPr lang="en-US" sz="1800" dirty="0"/>
          </a:p>
        </p:txBody>
      </p:sp>
      <p:sp>
        <p:nvSpPr>
          <p:cNvPr id="22" name="step-box"/>
          <p:cNvSpPr/>
          <p:nvPr/>
        </p:nvSpPr>
        <p:spPr>
          <a:xfrm>
            <a:off x="6126480" y="3926332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23" name="step-hex"/>
          <p:cNvSpPr/>
          <p:nvPr/>
        </p:nvSpPr>
        <p:spPr>
          <a:xfrm>
            <a:off x="6217920" y="4027666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4" name="step-hex-label"/>
          <p:cNvSpPr txBox="1"/>
          <p:nvPr/>
        </p:nvSpPr>
        <p:spPr>
          <a:xfrm>
            <a:off x="6217920" y="4027666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tep"/>
          <p:cNvSpPr txBox="1"/>
          <p:nvPr/>
        </p:nvSpPr>
        <p:spPr>
          <a:xfrm>
            <a:off x="6766560" y="3926332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multiply: 2 × 25 = 50.</a:t>
            </a:r>
            <a:endParaRPr lang="en-US" sz="1800" dirty="0"/>
          </a:p>
        </p:txBody>
      </p:sp>
      <p:sp>
        <p:nvSpPr>
          <p:cNvPr id="26" name="worked-answer"/>
          <p:cNvSpPr/>
          <p:nvPr/>
        </p:nvSpPr>
        <p:spPr>
          <a:xfrm>
            <a:off x="6126480" y="4630420"/>
            <a:ext cx="5379415" cy="552196"/>
          </a:xfrm>
          <a:prstGeom prst="roundRect">
            <a:avLst>
              <a:gd name="adj" fmla="val 33119"/>
            </a:avLst>
          </a:prstGeom>
          <a:solidFill>
            <a:srgbClr val="EFE4D0"/>
          </a:solidFill>
          <a:ln w="19050">
            <a:solidFill>
              <a:srgbClr val="B8862B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algn="l" indent="0" marL="0"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800" dirty="0"/>
          </a:p>
        </p:txBody>
      </p:sp>
      <p:sp>
        <p:nvSpPr>
          <p:cNvPr id="27" name="bullet-card"/>
          <p:cNvSpPr/>
          <p:nvPr/>
        </p:nvSpPr>
        <p:spPr>
          <a:xfrm>
            <a:off x="548640" y="1389888"/>
            <a:ext cx="5074920" cy="821267"/>
          </a:xfrm>
          <a:prstGeom prst="roundRect">
            <a:avLst>
              <a:gd name="adj" fmla="val 8907"/>
            </a:avLst>
          </a:prstGeom>
          <a:solidFill>
            <a:srgbClr val="F5F6F9"/>
          </a:solidFill>
          <a:ln/>
        </p:spPr>
      </p:sp>
      <p:sp>
        <p:nvSpPr>
          <p:cNvPr id="28" name="bullet-hex"/>
          <p:cNvSpPr/>
          <p:nvPr/>
        </p:nvSpPr>
        <p:spPr>
          <a:xfrm>
            <a:off x="676656" y="1634229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9" name="bullet"/>
          <p:cNvSpPr txBox="1"/>
          <p:nvPr/>
        </p:nvSpPr>
        <p:spPr>
          <a:xfrm>
            <a:off x="1143000" y="1389888"/>
            <a:ext cx="4389120" cy="82126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4x², the small 2 belongs to the x only.</a:t>
            </a:r>
            <a:endParaRPr lang="en-US" sz="2000" dirty="0"/>
          </a:p>
        </p:txBody>
      </p:sp>
      <p:sp>
        <p:nvSpPr>
          <p:cNvPr id="30" name="bullet-card"/>
          <p:cNvSpPr/>
          <p:nvPr/>
        </p:nvSpPr>
        <p:spPr>
          <a:xfrm>
            <a:off x="548640" y="2357459"/>
            <a:ext cx="5074920" cy="1131147"/>
          </a:xfrm>
          <a:prstGeom prst="roundRect">
            <a:avLst>
              <a:gd name="adj" fmla="val 6467"/>
            </a:avLst>
          </a:prstGeom>
          <a:solidFill>
            <a:srgbClr val="F5F6F9"/>
          </a:solidFill>
          <a:ln/>
        </p:spPr>
      </p:sp>
      <p:sp>
        <p:nvSpPr>
          <p:cNvPr id="31" name="bullet-hex"/>
          <p:cNvSpPr/>
          <p:nvPr/>
        </p:nvSpPr>
        <p:spPr>
          <a:xfrm>
            <a:off x="676656" y="2756739"/>
            <a:ext cx="384048" cy="33258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32" name="bullet"/>
          <p:cNvSpPr txBox="1"/>
          <p:nvPr/>
        </p:nvSpPr>
        <p:spPr>
          <a:xfrm>
            <a:off x="1143000" y="2357459"/>
            <a:ext cx="4389120" cy="113114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3y² and (3y)² when y is 4. In 3y², square the 4 first: 16, then 3 × 16 = 48.</a:t>
            </a:r>
            <a:endParaRPr lang="en-US" sz="2000" dirty="0"/>
          </a:p>
        </p:txBody>
      </p:sp>
      <p:sp>
        <p:nvSpPr>
          <p:cNvPr id="33" name="bullet-card"/>
          <p:cNvSpPr/>
          <p:nvPr/>
        </p:nvSpPr>
        <p:spPr>
          <a:xfrm>
            <a:off x="548640" y="3634909"/>
            <a:ext cx="5074920" cy="1441027"/>
          </a:xfrm>
          <a:prstGeom prst="roundRect">
            <a:avLst>
              <a:gd name="adj" fmla="val 5076"/>
            </a:avLst>
          </a:prstGeom>
          <a:solidFill>
            <a:srgbClr val="F5F6F9"/>
          </a:solidFill>
          <a:ln/>
        </p:spPr>
      </p:sp>
      <p:sp>
        <p:nvSpPr>
          <p:cNvPr id="34" name="bullet-hex"/>
          <p:cNvSpPr/>
          <p:nvPr/>
        </p:nvSpPr>
        <p:spPr>
          <a:xfrm>
            <a:off x="676656" y="4189130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35" name="bullet"/>
          <p:cNvSpPr txBox="1"/>
          <p:nvPr/>
        </p:nvSpPr>
        <p:spPr>
          <a:xfrm>
            <a:off x="1143000" y="3634909"/>
            <a:ext cx="4389120" cy="144102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expression can use two letters. If g is 2 and h is 6, then g + h is 8, gh means g × h and is 12, and h/g means h ÷ g and is 3.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task, three ways in: Multiply, then add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800" dirty="0"/>
          </a:p>
        </p:txBody>
      </p:sp>
      <p:sp>
        <p:nvSpPr>
          <p:cNvPr id="7" name="task-box"/>
          <p:cNvSpPr/>
          <p:nvPr/>
        </p:nvSpPr>
        <p:spPr>
          <a:xfrm>
            <a:off x="548640" y="1389888"/>
            <a:ext cx="11094415" cy="974852"/>
          </a:xfrm>
          <a:prstGeom prst="roundRect">
            <a:avLst>
              <a:gd name="adj" fmla="val 9380"/>
            </a:avLst>
          </a:prstGeom>
          <a:solidFill>
            <a:srgbClr val="FFFFFF"/>
          </a:solidFill>
          <a:ln w="31750">
            <a:solidFill>
              <a:srgbClr val="B8862B"/>
            </a:solidFill>
            <a:prstDash val="solid"/>
          </a:ln>
        </p:spPr>
      </p:sp>
      <p:sp>
        <p:nvSpPr>
          <p:cNvPr id="8" name="task-hex"/>
          <p:cNvSpPr/>
          <p:nvPr/>
        </p:nvSpPr>
        <p:spPr>
          <a:xfrm>
            <a:off x="777240" y="1560566"/>
            <a:ext cx="731520" cy="63349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ask-hex-label"/>
          <p:cNvSpPr txBox="1"/>
          <p:nvPr/>
        </p:nvSpPr>
        <p:spPr>
          <a:xfrm>
            <a:off x="777240" y="1560566"/>
            <a:ext cx="731520" cy="633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ask-everyone"/>
          <p:cNvSpPr txBox="1"/>
          <p:nvPr/>
        </p:nvSpPr>
        <p:spPr>
          <a:xfrm>
            <a:off x="10362895" y="1602994"/>
            <a:ext cx="118872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800" dirty="0"/>
          </a:p>
        </p:txBody>
      </p:sp>
      <p:sp>
        <p:nvSpPr>
          <p:cNvPr id="11" name="task"/>
          <p:cNvSpPr txBox="1"/>
          <p:nvPr/>
        </p:nvSpPr>
        <p:spPr>
          <a:xfrm>
            <a:off x="1645920" y="1481328"/>
            <a:ext cx="8579815" cy="7919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7b + 6 when b = 8.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algn="ctr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</a:t>
            </a:r>
            <a:endParaRPr lang="en-US" sz="2000" dirty="0"/>
          </a:p>
        </p:txBody>
      </p:sp>
      <p:sp>
        <p:nvSpPr>
          <p:cNvPr id="12" name="col-Support"/>
          <p:cNvSpPr/>
          <p:nvPr/>
        </p:nvSpPr>
        <p:spPr>
          <a:xfrm>
            <a:off x="548640" y="2639060"/>
            <a:ext cx="3515258" cy="3505708"/>
          </a:xfrm>
          <a:prstGeom prst="roundRect">
            <a:avLst>
              <a:gd name="adj" fmla="val 1565"/>
            </a:avLst>
          </a:prstGeom>
          <a:solidFill>
            <a:srgbClr val="F0F2F7"/>
          </a:solidFill>
          <a:ln/>
        </p:spPr>
      </p:sp>
      <p:sp>
        <p:nvSpPr>
          <p:cNvPr id="13" name="col-hex"/>
          <p:cNvSpPr/>
          <p:nvPr/>
        </p:nvSpPr>
        <p:spPr>
          <a:xfrm>
            <a:off x="658368" y="2712212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col-hex-label"/>
          <p:cNvSpPr txBox="1"/>
          <p:nvPr/>
        </p:nvSpPr>
        <p:spPr>
          <a:xfrm>
            <a:off x="658368" y="2712212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col-head"/>
          <p:cNvSpPr txBox="1"/>
          <p:nvPr/>
        </p:nvSpPr>
        <p:spPr>
          <a:xfrm>
            <a:off x="1188720" y="2675636"/>
            <a:ext cx="278373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3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2000" dirty="0"/>
          </a:p>
        </p:txBody>
      </p:sp>
      <p:sp>
        <p:nvSpPr>
          <p:cNvPr id="16" name="col-body"/>
          <p:cNvSpPr txBox="1"/>
          <p:nvPr/>
        </p:nvSpPr>
        <p:spPr>
          <a:xfrm>
            <a:off x="685800" y="3279140"/>
            <a:ext cx="3240938" cy="2755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b for 8 and write the × sign in: 7 × 8 + 6.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multiplication and write a new line: 56 + 6.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addition.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against the machine: 8, then × 7 gives 56, then + 6 gives 62.</a:t>
            </a:r>
            <a:endParaRPr lang="en-US" sz="1800" dirty="0"/>
          </a:p>
        </p:txBody>
      </p:sp>
      <p:sp>
        <p:nvSpPr>
          <p:cNvPr id="17" name="col-Core"/>
          <p:cNvSpPr/>
          <p:nvPr/>
        </p:nvSpPr>
        <p:spPr>
          <a:xfrm>
            <a:off x="4338218" y="2639060"/>
            <a:ext cx="3515258" cy="3505708"/>
          </a:xfrm>
          <a:prstGeom prst="roundRect">
            <a:avLst>
              <a:gd name="adj" fmla="val 1565"/>
            </a:avLst>
          </a:prstGeom>
          <a:solidFill>
            <a:srgbClr val="D7DDE9"/>
          </a:solidFill>
          <a:ln/>
        </p:spPr>
      </p:sp>
      <p:sp>
        <p:nvSpPr>
          <p:cNvPr id="18" name="col-hex"/>
          <p:cNvSpPr/>
          <p:nvPr/>
        </p:nvSpPr>
        <p:spPr>
          <a:xfrm>
            <a:off x="4447946" y="2712212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col-hex-label"/>
          <p:cNvSpPr txBox="1"/>
          <p:nvPr/>
        </p:nvSpPr>
        <p:spPr>
          <a:xfrm>
            <a:off x="4447946" y="2712212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col-head"/>
          <p:cNvSpPr txBox="1"/>
          <p:nvPr/>
        </p:nvSpPr>
        <p:spPr>
          <a:xfrm>
            <a:off x="4978298" y="2675636"/>
            <a:ext cx="278373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3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2000" dirty="0"/>
          </a:p>
        </p:txBody>
      </p:sp>
      <p:sp>
        <p:nvSpPr>
          <p:cNvPr id="21" name="col-body"/>
          <p:cNvSpPr txBox="1"/>
          <p:nvPr/>
        </p:nvSpPr>
        <p:spPr>
          <a:xfrm>
            <a:off x="4475378" y="3279140"/>
            <a:ext cx="3240938" cy="2755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7 × 8 + 6 and multiply first.</a:t>
            </a:r>
            <a:endParaRPr lang="en-US" sz="1800" dirty="0"/>
          </a:p>
        </p:txBody>
      </p:sp>
      <p:sp>
        <p:nvSpPr>
          <p:cNvPr id="22" name="col-Stretch"/>
          <p:cNvSpPr/>
          <p:nvPr/>
        </p:nvSpPr>
        <p:spPr>
          <a:xfrm>
            <a:off x="8127797" y="2639060"/>
            <a:ext cx="3515258" cy="3505708"/>
          </a:xfrm>
          <a:prstGeom prst="roundRect">
            <a:avLst>
              <a:gd name="adj" fmla="val 1565"/>
            </a:avLst>
          </a:prstGeom>
          <a:solidFill>
            <a:srgbClr val="2E4A8C"/>
          </a:solidFill>
          <a:ln/>
        </p:spPr>
      </p:sp>
      <p:sp>
        <p:nvSpPr>
          <p:cNvPr id="23" name="col-hex"/>
          <p:cNvSpPr/>
          <p:nvPr/>
        </p:nvSpPr>
        <p:spPr>
          <a:xfrm>
            <a:off x="8237525" y="2712212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col-hex-label"/>
          <p:cNvSpPr txBox="1"/>
          <p:nvPr/>
        </p:nvSpPr>
        <p:spPr>
          <a:xfrm>
            <a:off x="8237525" y="2712212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col-head"/>
          <p:cNvSpPr txBox="1"/>
          <p:nvPr/>
        </p:nvSpPr>
        <p:spPr>
          <a:xfrm>
            <a:off x="8767877" y="2675636"/>
            <a:ext cx="278373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2000" dirty="0"/>
          </a:p>
        </p:txBody>
      </p:sp>
      <p:sp>
        <p:nvSpPr>
          <p:cNvPr id="26" name="col-body"/>
          <p:cNvSpPr txBox="1"/>
          <p:nvPr/>
        </p:nvSpPr>
        <p:spPr>
          <a:xfrm>
            <a:off x="8264957" y="3279140"/>
            <a:ext cx="3240938" cy="2755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4B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 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value of b for which 7b + 6 and 7(b + 6) differ by exactly 36. Explain why the difference is always the same.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task, three ways in: Brackets first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800" dirty="0"/>
          </a:p>
        </p:txBody>
      </p:sp>
      <p:sp>
        <p:nvSpPr>
          <p:cNvPr id="7" name="task-box"/>
          <p:cNvSpPr/>
          <p:nvPr/>
        </p:nvSpPr>
        <p:spPr>
          <a:xfrm>
            <a:off x="548640" y="1389888"/>
            <a:ext cx="11094415" cy="974852"/>
          </a:xfrm>
          <a:prstGeom prst="roundRect">
            <a:avLst>
              <a:gd name="adj" fmla="val 9380"/>
            </a:avLst>
          </a:prstGeom>
          <a:solidFill>
            <a:srgbClr val="FFFFFF"/>
          </a:solidFill>
          <a:ln w="31750">
            <a:solidFill>
              <a:srgbClr val="B8862B"/>
            </a:solidFill>
            <a:prstDash val="solid"/>
          </a:ln>
        </p:spPr>
      </p:sp>
      <p:sp>
        <p:nvSpPr>
          <p:cNvPr id="8" name="task-hex"/>
          <p:cNvSpPr/>
          <p:nvPr/>
        </p:nvSpPr>
        <p:spPr>
          <a:xfrm>
            <a:off x="777240" y="1560566"/>
            <a:ext cx="731520" cy="63349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ask-hex-label"/>
          <p:cNvSpPr txBox="1"/>
          <p:nvPr/>
        </p:nvSpPr>
        <p:spPr>
          <a:xfrm>
            <a:off x="777240" y="1560566"/>
            <a:ext cx="731520" cy="633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ask-everyone"/>
          <p:cNvSpPr txBox="1"/>
          <p:nvPr/>
        </p:nvSpPr>
        <p:spPr>
          <a:xfrm>
            <a:off x="10362895" y="1602994"/>
            <a:ext cx="118872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800" dirty="0"/>
          </a:p>
        </p:txBody>
      </p:sp>
      <p:sp>
        <p:nvSpPr>
          <p:cNvPr id="11" name="task"/>
          <p:cNvSpPr txBox="1"/>
          <p:nvPr/>
        </p:nvSpPr>
        <p:spPr>
          <a:xfrm>
            <a:off x="1645920" y="1481328"/>
            <a:ext cx="8579815" cy="7919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4(w − 5) when w = 9.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algn="ctr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</a:t>
            </a:r>
            <a:endParaRPr lang="en-US" sz="2000" dirty="0"/>
          </a:p>
        </p:txBody>
      </p:sp>
      <p:sp>
        <p:nvSpPr>
          <p:cNvPr id="12" name="col-Support"/>
          <p:cNvSpPr/>
          <p:nvPr/>
        </p:nvSpPr>
        <p:spPr>
          <a:xfrm>
            <a:off x="548640" y="2639060"/>
            <a:ext cx="3515258" cy="3505708"/>
          </a:xfrm>
          <a:prstGeom prst="roundRect">
            <a:avLst>
              <a:gd name="adj" fmla="val 1565"/>
            </a:avLst>
          </a:prstGeom>
          <a:solidFill>
            <a:srgbClr val="F0F2F7"/>
          </a:solidFill>
          <a:ln/>
        </p:spPr>
      </p:sp>
      <p:sp>
        <p:nvSpPr>
          <p:cNvPr id="13" name="col-hex"/>
          <p:cNvSpPr/>
          <p:nvPr/>
        </p:nvSpPr>
        <p:spPr>
          <a:xfrm>
            <a:off x="658368" y="2712212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col-hex-label"/>
          <p:cNvSpPr txBox="1"/>
          <p:nvPr/>
        </p:nvSpPr>
        <p:spPr>
          <a:xfrm>
            <a:off x="658368" y="2712212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col-head"/>
          <p:cNvSpPr txBox="1"/>
          <p:nvPr/>
        </p:nvSpPr>
        <p:spPr>
          <a:xfrm>
            <a:off x="1188720" y="2675636"/>
            <a:ext cx="278373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3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2000" dirty="0"/>
          </a:p>
        </p:txBody>
      </p:sp>
      <p:sp>
        <p:nvSpPr>
          <p:cNvPr id="16" name="col-body"/>
          <p:cNvSpPr txBox="1"/>
          <p:nvPr/>
        </p:nvSpPr>
        <p:spPr>
          <a:xfrm>
            <a:off x="685800" y="3279140"/>
            <a:ext cx="3240938" cy="2755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w for 9: 4 × (9 − 5).</a:t>
            </a:r>
            <a:endParaRPr lang="en-US" sz="2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the brackets and write a new line: 4 × 4.</a:t>
            </a:r>
            <a:endParaRPr lang="en-US" sz="2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Multiply.</a:t>
            </a:r>
            <a:endParaRPr lang="en-US" sz="2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 a machine: 9, then − 5 gives 4, then × 4 gives 16.</a:t>
            </a:r>
            <a:endParaRPr lang="en-US" sz="2000" dirty="0"/>
          </a:p>
        </p:txBody>
      </p:sp>
      <p:sp>
        <p:nvSpPr>
          <p:cNvPr id="17" name="col-Core"/>
          <p:cNvSpPr/>
          <p:nvPr/>
        </p:nvSpPr>
        <p:spPr>
          <a:xfrm>
            <a:off x="4338218" y="2639060"/>
            <a:ext cx="3515258" cy="3505708"/>
          </a:xfrm>
          <a:prstGeom prst="roundRect">
            <a:avLst>
              <a:gd name="adj" fmla="val 1565"/>
            </a:avLst>
          </a:prstGeom>
          <a:solidFill>
            <a:srgbClr val="D7DDE9"/>
          </a:solidFill>
          <a:ln/>
        </p:spPr>
      </p:sp>
      <p:sp>
        <p:nvSpPr>
          <p:cNvPr id="18" name="col-hex"/>
          <p:cNvSpPr/>
          <p:nvPr/>
        </p:nvSpPr>
        <p:spPr>
          <a:xfrm>
            <a:off x="4447946" y="2712212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col-hex-label"/>
          <p:cNvSpPr txBox="1"/>
          <p:nvPr/>
        </p:nvSpPr>
        <p:spPr>
          <a:xfrm>
            <a:off x="4447946" y="2712212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col-head"/>
          <p:cNvSpPr txBox="1"/>
          <p:nvPr/>
        </p:nvSpPr>
        <p:spPr>
          <a:xfrm>
            <a:off x="4978298" y="2675636"/>
            <a:ext cx="278373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3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2000" dirty="0"/>
          </a:p>
        </p:txBody>
      </p:sp>
      <p:sp>
        <p:nvSpPr>
          <p:cNvPr id="21" name="col-body"/>
          <p:cNvSpPr txBox="1"/>
          <p:nvPr/>
        </p:nvSpPr>
        <p:spPr>
          <a:xfrm>
            <a:off x="4475378" y="3279140"/>
            <a:ext cx="3240938" cy="2755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9 − 5 before you multiply.</a:t>
            </a:r>
            <a:endParaRPr lang="en-US" sz="2000" dirty="0"/>
          </a:p>
        </p:txBody>
      </p:sp>
      <p:sp>
        <p:nvSpPr>
          <p:cNvPr id="22" name="col-Stretch"/>
          <p:cNvSpPr/>
          <p:nvPr/>
        </p:nvSpPr>
        <p:spPr>
          <a:xfrm>
            <a:off x="8127797" y="2639060"/>
            <a:ext cx="3515258" cy="3505708"/>
          </a:xfrm>
          <a:prstGeom prst="roundRect">
            <a:avLst>
              <a:gd name="adj" fmla="val 1565"/>
            </a:avLst>
          </a:prstGeom>
          <a:solidFill>
            <a:srgbClr val="2E4A8C"/>
          </a:solidFill>
          <a:ln/>
        </p:spPr>
      </p:sp>
      <p:sp>
        <p:nvSpPr>
          <p:cNvPr id="23" name="col-hex"/>
          <p:cNvSpPr/>
          <p:nvPr/>
        </p:nvSpPr>
        <p:spPr>
          <a:xfrm>
            <a:off x="8237525" y="2712212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col-hex-label"/>
          <p:cNvSpPr txBox="1"/>
          <p:nvPr/>
        </p:nvSpPr>
        <p:spPr>
          <a:xfrm>
            <a:off x="8237525" y="2712212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col-head"/>
          <p:cNvSpPr txBox="1"/>
          <p:nvPr/>
        </p:nvSpPr>
        <p:spPr>
          <a:xfrm>
            <a:off x="8767877" y="2675636"/>
            <a:ext cx="278373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2000" dirty="0"/>
          </a:p>
        </p:txBody>
      </p:sp>
      <p:sp>
        <p:nvSpPr>
          <p:cNvPr id="26" name="col-body"/>
          <p:cNvSpPr txBox="1"/>
          <p:nvPr/>
        </p:nvSpPr>
        <p:spPr>
          <a:xfrm>
            <a:off x="8264957" y="3279140"/>
            <a:ext cx="3240938" cy="2755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4B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 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4w − 5 when w = 9 as well. Explain why the two answers are different, and write both as function machines.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ticket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800" dirty="0"/>
          </a:p>
        </p:txBody>
      </p:sp>
      <p:sp>
        <p:nvSpPr>
          <p:cNvPr id="7" name="exit-card"/>
          <p:cNvSpPr/>
          <p:nvPr/>
        </p:nvSpPr>
        <p:spPr>
          <a:xfrm>
            <a:off x="1645920" y="1389888"/>
            <a:ext cx="8899855" cy="4754880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31750">
            <a:solidFill>
              <a:srgbClr val="2E4A8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exit-hex"/>
          <p:cNvSpPr/>
          <p:nvPr/>
        </p:nvSpPr>
        <p:spPr>
          <a:xfrm>
            <a:off x="1143000" y="1618488"/>
            <a:ext cx="1005840" cy="871057"/>
          </a:xfrm>
          <a:prstGeom prst="hexagon">
            <a:avLst/>
          </a:prstGeom>
          <a:solidFill>
            <a:srgbClr val="2E4A8C"/>
          </a:solidFill>
          <a:ln w="25400">
            <a:solidFill>
              <a:srgbClr val="B8862B"/>
            </a:solidFill>
            <a:prstDash val="solid"/>
          </a:ln>
        </p:spPr>
      </p:sp>
      <p:sp>
        <p:nvSpPr>
          <p:cNvPr id="9" name="exit-hex-label"/>
          <p:cNvSpPr txBox="1"/>
          <p:nvPr/>
        </p:nvSpPr>
        <p:spPr>
          <a:xfrm>
            <a:off x="1143000" y="1618488"/>
            <a:ext cx="1005840" cy="871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2000" dirty="0"/>
          </a:p>
        </p:txBody>
      </p:sp>
      <p:sp>
        <p:nvSpPr>
          <p:cNvPr id="10" name="exit-q"/>
          <p:cNvSpPr txBox="1"/>
          <p:nvPr/>
        </p:nvSpPr>
        <p:spPr>
          <a:xfrm>
            <a:off x="2286000" y="1664208"/>
            <a:ext cx="7802575" cy="26151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these expressions in order of value, smallest first, when t = 3: 2t², 10 − t, 4(t + 1), t².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2t²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10 − t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4(t + 1)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t²</a:t>
            </a:r>
            <a:endParaRPr lang="en-US" sz="2400" dirty="0"/>
          </a:p>
        </p:txBody>
      </p:sp>
      <p:sp>
        <p:nvSpPr>
          <p:cNvPr id="11" name="exit-answer-box"/>
          <p:cNvSpPr/>
          <p:nvPr/>
        </p:nvSpPr>
        <p:spPr>
          <a:xfrm>
            <a:off x="2286000" y="5184648"/>
            <a:ext cx="7619695" cy="685800"/>
          </a:xfrm>
          <a:prstGeom prst="roundRect">
            <a:avLst>
              <a:gd name="adj" fmla="val 13333"/>
            </a:avLst>
          </a:prstGeom>
          <a:solidFill>
            <a:srgbClr val="F7F8FA"/>
          </a:solidFill>
          <a:ln w="12700">
            <a:solidFill>
              <a:srgbClr val="9DAAC9"/>
            </a:solidFill>
            <a:prstDash val="solid"/>
          </a:ln>
        </p:spPr>
      </p:sp>
      <p:sp>
        <p:nvSpPr>
          <p:cNvPr id="12" name="exit-answer-label"/>
          <p:cNvSpPr txBox="1"/>
          <p:nvPr/>
        </p:nvSpPr>
        <p:spPr>
          <a:xfrm>
            <a:off x="2423160" y="5184648"/>
            <a:ext cx="2926080" cy="685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answer: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Answers: Multiply, then add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800" dirty="0"/>
          </a:p>
        </p:txBody>
      </p:sp>
      <p:sp>
        <p:nvSpPr>
          <p:cNvPr id="7" name="ans-panel"/>
          <p:cNvSpPr/>
          <p:nvPr/>
        </p:nvSpPr>
        <p:spPr>
          <a:xfrm>
            <a:off x="548640" y="1389888"/>
            <a:ext cx="6400800" cy="4754880"/>
          </a:xfrm>
          <a:prstGeom prst="roundRect">
            <a:avLst>
              <a:gd name="adj" fmla="val 962"/>
            </a:avLst>
          </a:prstGeom>
          <a:solidFill>
            <a:srgbClr val="F9F4EC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8" name="ans-tab"/>
          <p:cNvSpPr/>
          <p:nvPr/>
        </p:nvSpPr>
        <p:spPr>
          <a:xfrm>
            <a:off x="731520" y="155448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9C7225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9" name="ans"/>
          <p:cNvSpPr txBox="1"/>
          <p:nvPr/>
        </p:nvSpPr>
        <p:spPr>
          <a:xfrm>
            <a:off x="777240" y="2167128"/>
            <a:ext cx="5943600" cy="3840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7b + 6 when b = 8.</a:t>
            </a:r>
            <a:endParaRPr lang="en-US" sz="18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1E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1800" dirty="0"/>
          </a:p>
        </p:txBody>
      </p:sp>
      <p:sp>
        <p:nvSpPr>
          <p:cNvPr id="10" name="why-panel"/>
          <p:cNvSpPr/>
          <p:nvPr/>
        </p:nvSpPr>
        <p:spPr>
          <a:xfrm>
            <a:off x="7223760" y="1389888"/>
            <a:ext cx="4419295" cy="4754880"/>
          </a:xfrm>
          <a:prstGeom prst="roundRect">
            <a:avLst>
              <a:gd name="adj" fmla="val 1035"/>
            </a:avLst>
          </a:prstGeom>
          <a:solidFill>
            <a:srgbClr val="F0F2F7"/>
          </a:solidFill>
          <a:ln/>
        </p:spPr>
      </p:sp>
      <p:sp>
        <p:nvSpPr>
          <p:cNvPr id="11" name="why-hex"/>
          <p:cNvSpPr/>
          <p:nvPr/>
        </p:nvSpPr>
        <p:spPr>
          <a:xfrm>
            <a:off x="7406640" y="1572768"/>
            <a:ext cx="685800" cy="593903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2" name="why-hex-label"/>
          <p:cNvSpPr txBox="1"/>
          <p:nvPr/>
        </p:nvSpPr>
        <p:spPr>
          <a:xfrm>
            <a:off x="7406640" y="1572768"/>
            <a:ext cx="685800" cy="593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800" dirty="0"/>
          </a:p>
        </p:txBody>
      </p:sp>
      <p:sp>
        <p:nvSpPr>
          <p:cNvPr id="13" name="why"/>
          <p:cNvSpPr txBox="1"/>
          <p:nvPr/>
        </p:nvSpPr>
        <p:spPr>
          <a:xfrm>
            <a:off x="7406640" y="2304288"/>
            <a:ext cx="4053535" cy="3703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× 8 = 56, then 56 + 6 = 62.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Answers: Brackets first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800" dirty="0"/>
          </a:p>
        </p:txBody>
      </p:sp>
      <p:sp>
        <p:nvSpPr>
          <p:cNvPr id="7" name="ans-panel"/>
          <p:cNvSpPr/>
          <p:nvPr/>
        </p:nvSpPr>
        <p:spPr>
          <a:xfrm>
            <a:off x="548640" y="1389888"/>
            <a:ext cx="6400800" cy="4754880"/>
          </a:xfrm>
          <a:prstGeom prst="roundRect">
            <a:avLst>
              <a:gd name="adj" fmla="val 962"/>
            </a:avLst>
          </a:prstGeom>
          <a:solidFill>
            <a:srgbClr val="F9F4EC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8" name="ans-tab"/>
          <p:cNvSpPr/>
          <p:nvPr/>
        </p:nvSpPr>
        <p:spPr>
          <a:xfrm>
            <a:off x="731520" y="155448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9C7225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9" name="ans"/>
          <p:cNvSpPr txBox="1"/>
          <p:nvPr/>
        </p:nvSpPr>
        <p:spPr>
          <a:xfrm>
            <a:off x="777240" y="2167128"/>
            <a:ext cx="5943600" cy="3840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4(w − 5) when w = 9.</a:t>
            </a:r>
            <a:endParaRPr lang="en-US" sz="18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1E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800" dirty="0"/>
          </a:p>
        </p:txBody>
      </p:sp>
      <p:sp>
        <p:nvSpPr>
          <p:cNvPr id="10" name="why-panel"/>
          <p:cNvSpPr/>
          <p:nvPr/>
        </p:nvSpPr>
        <p:spPr>
          <a:xfrm>
            <a:off x="7223760" y="1389888"/>
            <a:ext cx="4419295" cy="4754880"/>
          </a:xfrm>
          <a:prstGeom prst="roundRect">
            <a:avLst>
              <a:gd name="adj" fmla="val 1035"/>
            </a:avLst>
          </a:prstGeom>
          <a:solidFill>
            <a:srgbClr val="F0F2F7"/>
          </a:solidFill>
          <a:ln/>
        </p:spPr>
      </p:sp>
      <p:sp>
        <p:nvSpPr>
          <p:cNvPr id="11" name="why-hex"/>
          <p:cNvSpPr/>
          <p:nvPr/>
        </p:nvSpPr>
        <p:spPr>
          <a:xfrm>
            <a:off x="7406640" y="1572768"/>
            <a:ext cx="685800" cy="593903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2" name="why-hex-label"/>
          <p:cNvSpPr txBox="1"/>
          <p:nvPr/>
        </p:nvSpPr>
        <p:spPr>
          <a:xfrm>
            <a:off x="7406640" y="1572768"/>
            <a:ext cx="685800" cy="593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800" dirty="0"/>
          </a:p>
        </p:txBody>
      </p:sp>
      <p:sp>
        <p:nvSpPr>
          <p:cNvPr id="13" name="why"/>
          <p:cNvSpPr txBox="1"/>
          <p:nvPr/>
        </p:nvSpPr>
        <p:spPr>
          <a:xfrm>
            <a:off x="7406640" y="2304288"/>
            <a:ext cx="4053535" cy="3703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Brackets first: 9 − 5 = 4. Then 4 × 4 = 16.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Answers: Exit ticket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800" dirty="0"/>
          </a:p>
        </p:txBody>
      </p:sp>
      <p:sp>
        <p:nvSpPr>
          <p:cNvPr id="7" name="ans-panel"/>
          <p:cNvSpPr/>
          <p:nvPr/>
        </p:nvSpPr>
        <p:spPr>
          <a:xfrm>
            <a:off x="548640" y="1389888"/>
            <a:ext cx="6400800" cy="4754880"/>
          </a:xfrm>
          <a:prstGeom prst="roundRect">
            <a:avLst>
              <a:gd name="adj" fmla="val 962"/>
            </a:avLst>
          </a:prstGeom>
          <a:solidFill>
            <a:srgbClr val="F9F4EC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8" name="ans-tab"/>
          <p:cNvSpPr/>
          <p:nvPr/>
        </p:nvSpPr>
        <p:spPr>
          <a:xfrm>
            <a:off x="731520" y="155448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9C7225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9" name="ans"/>
          <p:cNvSpPr txBox="1"/>
          <p:nvPr/>
        </p:nvSpPr>
        <p:spPr>
          <a:xfrm>
            <a:off x="777240" y="2167128"/>
            <a:ext cx="5943600" cy="3840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l"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10 − t  (B)</a:t>
            </a:r>
            <a:endParaRPr lang="en-US" sz="2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l"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t²  (D)</a:t>
            </a:r>
            <a:endParaRPr lang="en-US" sz="2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l"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4(t + 1)  (C)</a:t>
            </a:r>
            <a:endParaRPr lang="en-US" sz="2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l"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2t²  (A)</a:t>
            </a:r>
            <a:endParaRPr lang="en-US" sz="2400" dirty="0"/>
          </a:p>
        </p:txBody>
      </p:sp>
      <p:sp>
        <p:nvSpPr>
          <p:cNvPr id="10" name="why-panel"/>
          <p:cNvSpPr/>
          <p:nvPr/>
        </p:nvSpPr>
        <p:spPr>
          <a:xfrm>
            <a:off x="7223760" y="1389888"/>
            <a:ext cx="4419295" cy="4754880"/>
          </a:xfrm>
          <a:prstGeom prst="roundRect">
            <a:avLst>
              <a:gd name="adj" fmla="val 1035"/>
            </a:avLst>
          </a:prstGeom>
          <a:solidFill>
            <a:srgbClr val="F0F2F7"/>
          </a:solidFill>
          <a:ln/>
        </p:spPr>
      </p:sp>
      <p:sp>
        <p:nvSpPr>
          <p:cNvPr id="11" name="why-hex"/>
          <p:cNvSpPr/>
          <p:nvPr/>
        </p:nvSpPr>
        <p:spPr>
          <a:xfrm>
            <a:off x="7406640" y="1572768"/>
            <a:ext cx="685800" cy="593903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2" name="why-hex-label"/>
          <p:cNvSpPr txBox="1"/>
          <p:nvPr/>
        </p:nvSpPr>
        <p:spPr>
          <a:xfrm>
            <a:off x="7406640" y="1572768"/>
            <a:ext cx="685800" cy="593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800" dirty="0"/>
          </a:p>
        </p:txBody>
      </p:sp>
      <p:sp>
        <p:nvSpPr>
          <p:cNvPr id="13" name="why"/>
          <p:cNvSpPr txBox="1"/>
          <p:nvPr/>
        </p:nvSpPr>
        <p:spPr>
          <a:xfrm>
            <a:off x="7406640" y="2304288"/>
            <a:ext cx="4053535" cy="3703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 is 3: 10 − t is 7, t² is 9, 4(t + 1) is 16 and 2t² is 18.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 Astra maths">
  <a:themeElements>
    <a:clrScheme name="Ad Astra maths">
      <a:dk1>
        <a:srgbClr val="1E2229"/>
      </a:dk1>
      <a:lt1>
        <a:srgbClr val="FFFFFF"/>
      </a:lt1>
      <a:dk2>
        <a:srgbClr val="253B70"/>
      </a:dk2>
      <a:lt2>
        <a:srgbClr val="F0F2F7"/>
      </a:lt2>
      <a:accent1>
        <a:srgbClr val="2E4A8C"/>
      </a:accent1>
      <a:accent2>
        <a:srgbClr val="B8862B"/>
      </a:accent2>
      <a:accent3>
        <a:srgbClr val="8292BA"/>
      </a:accent3>
      <a:accent4>
        <a:srgbClr val="815E1E"/>
      </a:accent4>
      <a:accent5>
        <a:srgbClr val="4A505C"/>
      </a:accent5>
      <a:accent6>
        <a:srgbClr val="DEC69B"/>
      </a:accent6>
      <a:hlink>
        <a:srgbClr val="2E4A8C"/>
      </a:hlink>
      <a:folHlink>
        <a:srgbClr val="203462"/>
      </a:folHlink>
    </a:clrScheme>
    <a:fontScheme name="Ad Astra math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Edu.Ai SV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Algebraic Notation and Substitution · Chapter 6: Substitution: two steps</dc:title>
  <dc:subject>Mathematics · Year 7</dc:subject>
  <dc:creator>Dr Vitor Merissi de Carvalho</dc:creator>
  <cp:lastModifiedBy>Dr Vitor Merissi de Carvalho</cp:lastModifiedBy>
  <cp:revision>1</cp:revision>
  <dcterms:created xsi:type="dcterms:W3CDTF">2026-10-19T16:23:20Z</dcterms:created>
  <dcterms:modified xsi:type="dcterms:W3CDTF">2026-10-19T16:23:20Z</dcterms:modified>
</cp:coreProperties>
</file>