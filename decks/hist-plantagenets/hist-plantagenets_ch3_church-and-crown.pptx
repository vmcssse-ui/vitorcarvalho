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fd915bfb-fede-b524-75c7-b30c1790772e}">
          <p14:sldIdLst>
            <p14:sldId id="256"/>
          </p14:sldIdLst>
        </p14:section>
        <p14:section name="Gate" id="{8003e95f-8304-0da0-8828-702e81154600}">
          <p14:sldIdLst>
            <p14:sldId id="257"/>
            <p14:sldId id="258"/>
          </p14:sldIdLst>
        </p14:section>
        <p14:section name="Pre-teach" id="{b5acb780-7b90-7acd-3826-16ff30cd2212}">
          <p14:sldIdLst>
            <p14:sldId id="259"/>
          </p14:sldIdLst>
        </p14:section>
        <p14:section name="Read-along" id="{2447338b-386f-7647-7390-339d804a813a}">
          <p14:sldIdLst>
            <p14:sldId id="260"/>
            <p14:sldId id="261"/>
          </p14:sldIdLst>
        </p14:section>
        <p14:section name="Teach" id="{4803d31c-f2d9-13e2-43c0-3d20012074ab}">
          <p14:sldIdLst>
            <p14:sldId id="262"/>
            <p14:sldId id="263"/>
            <p14:sldId id="264"/>
            <p14:sldId id="265"/>
            <p14:sldId id="266"/>
          </p14:sldIdLst>
        </p14:section>
        <p14:section name="Routes" id="{276731dc-7a16-883d-dce3-204b882d4bfe}">
          <p14:sldIdLst>
            <p14:sldId id="267"/>
            <p14:sldId id="268"/>
            <p14:sldId id="269"/>
            <p14:sldId id="270"/>
          </p14:sldIdLst>
        </p14:section>
        <p14:section name="Close" id="{523c0393-ae57-d7d5-e099-39c079461de3}">
          <p14:sldIdLst>
            <p14:sldId id="271"/>
          </p14:sldIdLst>
        </p14:section>
        <p14:section name="Answers" id="{f8455da3-fd6e-7fde-0e4f-b014ebda8143}">
          <p14:sldIdLst>
            <p14:sldId id="272"/>
            <p14:sldId id="273"/>
            <p14:sldId id="27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3 of 5: The Church and the Crown: Henry II and Thomas Becket. Who stood above the king in medieval England, how Henry II's best friend became his enemy, and why an Archbishop was killed in his own cathedral in 1170.
This deck covers the department's lesson: 2 (The Church versus the Crown: Henry II and Thomas Becket: How powerful were the Church and the Crown in medieval England, why did Henry II and Becket fall out, and was there change or continuity between the Church and the king?).
Read the big question aloud: "How did the Plantagenets change England, 1154–1399?" We come back to it at the exit ticket.
Before this lesson the pre-teach group has heard the read-along and met the key words; today they lead the reading. Lesson shape: do now (recall before any help), key words, read-along, teach, then the same task three ways in (Support, Core, Stretch), exit ticket, answers. Every pupil works towards the same destination.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 retrieval. Silent, no notes, no help: recall comes before any support. Give about four minutes.
1. What does it mean to excommunicate someone?  →  D   To shut them out of the services and sacraments of the Church officially
2. Henry II made his friend Thomas Becket ___ of Canterbury, the head of the Church in England.  →  Archbishop
3. In what year was Thomas Becket murdered in Canterbury Cathedral?  →  1170
Circulate: who gets 3/3 (Stretch route), 2/3 (Core), 0–1 (Support)? Use this to route pupils later in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pupils mark their own in a different colour, then hands up for 3/3, 2/3, 1/3.
1. D   To shut them out of the services and sacraments of the Church officially. Excommunication officially excluded a person from the Church's services and sacraments. Becket used it against the bishops who had helped Henry.
2. Archbishop. Becket was first Chancellor of England, then Archbishop of Canterbury, the most senior churchman in England.
3. 1170. Becket returned from France in 1170 and was killed in Canterbury Cathedral the same year.
Say the route each score points to: 3/3 Stretch, 2/3 Core, 0–1 Support. Pupils may choose to move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Ask the pre-teach group first: they met these words before the lesson, so they give the meaning before anyone else.
For each word: say it, pupils repeat it, read the meaning, then read the example sentence together.
• clergy: religious leaders, the people who ran the Church. Example: "The clergy were a powerful group below the king."
• Chancellor: the person in charge of the country when the king was away. Example: "Henry made Becket his Chancellor because he trusted him."
• Archbishop: the most senior churchman in a country. Example: "The Archbishop of Canterbury led the Church in England."
• excommunicate: to officially shut someone out of the Church. Example: "Becket excommunicated the bishops who had helped Henry."
• contemporary: from the actual time. Example: "A contemporary picture shows Henry and Becket talking."
Recall before help: cover the meanings and ask pupils to define one word from memory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1–7 of 14:
1. In medieval England, people believed God was above the king.
2. Below the king came the barons, the knights and the peasants.
3. There was another powerful group: the clergy, who ran the Church.
4. In 1154 Henry II became king.
5. His best friend was Thomas Becket.
6. Henry made Becket his Chancellor, in charge when the king was away.
7. Then Henry made him Archbishop of Canterbury.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8–14 of 14:
8. But Becket became very religious and put the Church first.
9. He refused to let the king punish priests who broke the law.
10. In 1164 Becket fled to France and stayed for six years.
11. He came back in 1170 and the quarrel started again.
12. Henry raged against him, and four knights rode to Canterbury.
13. They killed Becket in his own cathedral.
14. Soon afterwards the Pope made Becket a saint.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Who was above the king?. Say it in your own words, then check understanding with a quick question: ask a pupil from the pre-teach group first, since they met these words and ideas before the lesson. Pupils try to recall before you re-explain.
Think back to the feudal system. At the top sat the king, then the barons, then the knights, then the peasants. But was there anyone higher than the monarch? Medieval people would have answered at once: God. The king ruled, they believed, because God allowed him to. And God's representatives on earth were the clergy, the religious leaders who ran the Church.
The clergy were a separate group below the king, but a powerful one. The Church owned a great deal of land. It had its own courts, where priests accused of crimes were tried by other churchmen rather than by the king's judges. And at its head, far away in Rome, was the Pope, who led the whole Church in western Europe and could give orders to kings.
So medieval England had two great powers: the Crown and the Church. Most of the time they worked together. But when a king and an Archbishop disagreed about who had the final say, the result could be deadly.
Tip: Clergy is the group word. One member of the clergy is a priest, a bishop or an archbishop.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Best friends: Henry and Becket. Say it in your own words, then check understanding with a quick question: ask a pupil from the pre-teach group first, since they met these words and ideas before the lesson. Pupils try to recall before you re-explain.
It is 1154, and Henry II has become King of England. He is William the Conqueror's great-grandson — the line runs through Matilda, the Conqueror's granddaughter — and he is the first Plantagenet king. He is popular, but he has a very short temper: when he is angry, his eyes go bloodshot and he flies into a rage.
One of Henry's best friends is Thomas Becket. They hunt together and feast together, and both love expensive food and wine. Henry trusts Thomas so much that he makes him Chancellor, the person in charge of the country when the king is away. Then Henry goes further and makes his friend Archbishop of Canterbury, the head of the Church in England. He expects an Archbishop who will do what the king wants.
That is not what he gets. Becket becomes very religious and starts to put the Church before the king. Henry believes the Church courts are too soft on priests who break the law, and he wants to punish them himself. Becket refuses to let him. In 1164 Becket agrees to change the rules of the Church courts, then changes his mind. Henry is furious, and Becket runs away to France. He stays there for six years.
Worked example — model it step by step, thinking aloud: Becket fled to France in 1164 and returned in 1170. Check the chapter's claim that he was away for six years. (1) Find the two dates: he left in 1164 and came back in 1170. (2) Later year minus earlier year: 1170 − 1164. (3) 1170 − 1164 = 6. The claim is right: six years. (4) This is also a good check on your lesson, which says both six years and the dates 1164 and 1170. The three numbers agree. Answer: Six years.
Tip: When a source gives you a length of time and two dates, check that they agree. If they do not, one of them is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Best friends: Henry and Becket. Say it in your own words, then check understanding with a quick question: ask a pupil from the pre-teach group first, since they met these words and ideas before the lesson. Pupils try to recall before you re-explain.
It is 1154, and Henry II has become King of England. He is William the Conqueror's great-grandson — the line runs through Matilda, the Conqueror's granddaughter — and he is the first Plantagenet king. He is popular, but he has a very short temper: when he is angry, his eyes go bloodshot and he flies into a rage.
One of Henry's best friends is Thomas Becket. They hunt together and feast together, and both love expensive food and wine. Henry trusts Thomas so much that he makes him Chancellor, the person in charge of the country when the king is away. Then Henry goes further and makes his friend Archbishop of Canterbury, the head of the Church in England. He expects an Archbishop who will do what the king wants.
That is not what he gets. Becket becomes very religious and starts to put the Church before the king. Henry believes the Church courts are too soft on priests who break the law, and he wants to punish them himself. Becket refuses to let him. In 1164 Becket agrees to change the rules of the Church courts, then changes his mind. Henry is furious, and Becket runs away to France. He stays there for six years.
Worked example — model it step by step, thinking aloud: Becket fled to France in 1164 and returned in 1170. Check the chapter's claim that he was away for six years. (1) Find the two dates: he left in 1164 and came back in 1170. (2) Later year minus earlier year: 1170 − 1164. (3) 1170 − 1164 = 6. The claim is right: six years. (4) This is also a good check on your lesson, which says both six years and the dates 1164 and 1170. The three numbers agree. Answer: Six years.
Tip: When a source gives you a length of time and two dates, check that they agree. If they do not, one of them is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The quarrel and the murder, 1170. Say it in your own words, then check understanding with a quick question: ask a pupil from the pre-teach group first, since they met these words and ideas before the lesson. Pupils try to recall before you re-explain.
While Becket was in France, Henry did something that made the quarrel worse. In 1170 he asked the Archbishop of York to crown his son as the next king. Crowning a king was the Archbishop of Canterbury's job, and Becket was furious. Even so, the two men eventually agreed to work together again, and Becket returned to England in 1170.
As soon as he was back, Becket excommunicated the bishops who had helped Henry run the Church while he was away, including the Archbishop of York. To excommunicate someone is to shut them out of the Church officially. For medieval people this was terrifying: an excommunicated person could not take part in Church services, and many believed it put their soul in danger.
When Henry heard the news he flew into one of his rages. Your lesson records the words he is said to have shouted: “Will no one rid me of this troublesome priest?” Four knights were standing nearby. They decided the king wanted Becket gone, and they set off for Canterbury at once, without asking him. Henry sent a messenger after them, but it was too late. The knights found Becket in Canterbury Cathedral, and when he refused to leave, they killed him.
Quotation: "Will no one rid me of this troublesome priest?" (Words attributed to Henry II in 1170, as your lesson records them). Read it aloud; ask what it shows.
Tip: Whether Henry meant his words as an order is exactly the question the next chapter asks. Do not decide yet.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Becket becomes a saint. Say it in your own words, then check understanding with a quick question: ask a pupil from the pre-teach group first, since they met these words and ideas before the lesson. Pupils try to recall before you re-explain.
The murder shocked Europe. Soon after Becket's death in 1170, Pope Alexander made him a saint. Becket's shrine at Canterbury became the most important place in the country for pilgrims to visit. People travelled for days to pray where he had died.
Ask what this tells you about the power of the Church. A king had lost his temper, and the result was that his enemy was honoured as a saint and the king himself was blamed across Europe. Henry had wanted to make the Church obey the Crown. Instead the murder made the Church, and Becket's memory, stronger.
So who held the power now, the Church or the king? Henry was still king, and no one took his throne away. But he had learnt that there were limits to what a king could do to the Church. Keep this question open: you will return to it in chapter 5 with another king and another quarrel.
Tip: A shrine is a holy place built around a saint's remains. A pilgrim is someone who travels to a shrine to pray.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From friends to murder: the order of events.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Put the events of the Henry and Becket story in chronological order.
Support — work through the steps with the group: (1) Start with friendship: the story begins before any quarrel. (2) Henry gave Becket two jobs. The royal job came before the Church job. (3) The quarrel about Church courts could only start once Becket was head of the Church. (4) Running away comes before coming back, and the murder is the very last event.
Parallel worked example for Support (model it, do not give the task answer): Put these events from chapter 1 in order: Stephen is crowned; the White Ship sinks; Henry II is crowned; Henry I is crowned. Henry I must be crowned before his son can drown in the White Ship.; Henry I's death leads to Stephen's crowning.; The civil war ends with Henry II's crowning.. Answer: Henry I is crowned (1100); the White Ship sinks (1120); Stephen is crowned (1135); Henry II is crowned (1154).
Core — reveal the hint only on request: Friends, Chancellor, Archbishop, quarrel, France, return, murder.
Stretch — no help; when finished: Pick the one event in the sequence that you think made the murder most likely, and explain why the story could still have ended differently after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From friends to murder: the order of events.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Put the events of the Henry and Becket story in chronological order.
Support — work through the steps with the group: (1) Start with friendship: the story begins before any quarrel. (2) Henry gave Becket two jobs. The royal job came before the Church job. (3) The quarrel about Church courts could only start once Becket was head of the Church. (4) Running away comes before coming back, and the murder is the very last event.
Parallel worked example for Support (model it, do not give the task answer): Put these events from chapter 1 in order: Stephen is crowned; the White Ship sinks; Henry II is crowned; Henry I is crowned. Henry I must be crowned before his son can drown in the White Ship.; Henry I's death leads to Stephen's crowning.; The civil war ends with Henry II's crowning.. Answer: Henry I is crowned (1100); the White Ship sinks (1120); Stephen is crowned (1135); Henry II is crowned (1154).
Core — reveal the hint only on request: Friends, Chancellor, Archbishop, quarrel, France, return, murder.
Stretch — no help; when finished: Pick the one event in the sequence that you think made the murder most likely, and explain why the story could still have ended differently after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What Becket did when he came back.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What did Becket do as soon as he returned from France in 1170?
Support — work through the steps with the group: (1) Remember what had made Becket furious while he was in France: another churchman had done his job. (2) Ask what power an Archbishop has that a king does not: he can shut people out of the Church. (3) Becket used that power on the churchmen who had sided with Henry. (4) Rule out anything that happened after Becket's death or that Becket could not do himself.
Parallel worked example for Support (model it, do not give the task answer): What did Henry do in 1170 while Becket was still in France? Choose: made Becket Chancellor; asked the Archbishop of York to crown his son; fled to France himself. Becket had been Chancellor years earlier, before he was Archbishop.; Henry was the king and did not flee anywhere.; Henry asked the Archbishop of York to crown his son, which was Becket's job.. Answer: He asked the Archbishop of York to crown his son..
Core — reveal the hint only on request: It was a Church punishment, aimed at churchmen who had helped the king.
Stretch — no help; when finished: Explain why Henry saw the excommunications as an attack on himself, even though the bishops, not the king, were the ones punished.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What Becket did when he came back.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What did Becket do as soon as he returned from France in 1170?
Support — work through the steps with the group: (1) Remember what had made Becket furious while he was in France: another churchman had done his job. (2) Ask what power an Archbishop has that a king does not: he can shut people out of the Church. (3) Becket used that power on the churchmen who had sided with Henry. (4) Rule out anything that happened after Becket's death or that Becket could not do himself.
Parallel worked example for Support (model it, do not give the task answer): What did Henry do in 1170 while Becket was still in France? Choose: made Becket Chancellor; asked the Archbishop of York to crown his son; fled to France himself. Becket had been Chancellor years earlier, before he was Archbishop.; Henry was the king and did not flee anywhere.; Henry asked the Archbishop of York to crown his son, which was Becket's job.. Answer: He asked the Archbishop of York to crown his son..
Core — reveal the hint only on request: It was a Church punishment, aimed at churchmen who had helped the king.
Stretch — no help; when finished: Explain why Henry saw the excommunications as an attack on himself, even though the bishops, not the king, were the ones punished.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 individual, silent, on a slip or mini-whiteboard. Recall before help: no notes, no lanes, no hints. Collect before pupils leave.
Question: What does it mean to excommunicate someone?
Answer: C   To shut them out of the services and sacraments of the Church officially. Excommunication officially excluded a person from the Church's services and sacraments. Becket used it against the bishops who had helped Henry.
Source of this question: gate item 1 re-asked (options rotated) — this chapter has no third quick-check module.
Sort the slips: correct → ready to move on; incorrect → start next lesson in the pre-teach group, with the read-along and the Support lane. Same destination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1: From friends to murder: the order of events. Reveal the answer; pupils mark their own work in a different colour, then read the "why" together. Same destination for every lane, so one answer serves the whole class.
Answer: Henry and Becket become best friends and Henry makes Becket Chancellor of England  (C); Henry makes Becket Archbishop of Canterbury  (A); Becket becomes very religious and refuses to let the king punish priests who break the law  (D); Becket runs away to France for six years (1164)  (F); Becket returns to England and excommunicates the bishops who helped Henry (1170)  (E); Four knights kill Becket in Canterbury Cathedral (1170)  (B)
Why: Friendship and the Chancellorship came first; then the Archbishopric; then Becket's new religious seriousness and his refusal over the Church courts; then exile in 1164, return in 1170, and the murder in 1170.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2: What Becket did when he came back. Reveal the answer; pupils mark their own work in a different colour, then read the "why" together. Same destination for every lane, so one answer serves the whole class.
Answer: A   He excommunicated the bishops who had helped Henry run the Church while he was away
Why: Becket excommunicated the bishops who had helped Henry, including the Archbishop of York. Henry saw this as Becket breaking their agreement and attacking the men who had served the Crown.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exit ticket: Exit ticket. Reveal the answer; pupils mark their own work in a different colour, then read the "why" together. Same destination for every lane, so one answer serves the whole class.
Answer: C   To shut them out of the services and sacraments of the Church officially
Why: Excommunication officially excluded a person from the Church's services and sacraments. Becket used it against the bishops who had helped Henry.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ASTRA_TITLE">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F6F2EF"/>
          </a:solidFill>
          <a:ln w="12700">
            <a:solidFill>
              <a:srgbClr val="F6F2EF"/>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History · Year 7 · The Plantagenets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ASTRA_CONTENT">
    <p:bg>
      <p:bgPr>
        <a:solidFill>
          <a:srgbClr val="FBF7EE"/>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F6F2EF"/>
          </a:solidFill>
          <a:ln w="12700">
            <a:solidFill>
              <a:srgbClr val="F6F2EF"/>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History · Year 7 · The Plantagenets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band-hue"/>
          <p:cNvSpPr/>
          <p:nvPr/>
        </p:nvSpPr>
        <p:spPr>
          <a:xfrm>
            <a:off x="0" y="5989320"/>
            <a:ext cx="12191695" cy="164592"/>
          </a:xfrm>
          <a:prstGeom prst="rect">
            <a:avLst/>
          </a:prstGeom>
          <a:solidFill>
            <a:srgbClr val="7A4A1E"/>
          </a:solidFill>
          <a:ln/>
        </p:spPr>
      </p:sp>
      <p:sp>
        <p:nvSpPr>
          <p:cNvPr id="4" name="band-gold"/>
          <p:cNvSpPr/>
          <p:nvPr/>
        </p:nvSpPr>
        <p:spPr>
          <a:xfrm>
            <a:off x="0" y="6208776"/>
            <a:ext cx="12191695" cy="64008"/>
          </a:xfrm>
          <a:prstGeom prst="rect">
            <a:avLst/>
          </a:prstGeom>
          <a:solidFill>
            <a:srgbClr val="B8862B"/>
          </a:solidFill>
          <a:ln/>
        </p:spPr>
      </p:sp>
      <p:sp>
        <p:nvSpPr>
          <p:cNvPr id="5" name="hex-deco1"/>
          <p:cNvSpPr/>
          <p:nvPr/>
        </p:nvSpPr>
        <p:spPr>
          <a:xfrm>
            <a:off x="1373886" y="276195"/>
            <a:ext cx="525780" cy="455325"/>
          </a:xfrm>
          <a:prstGeom prst="hexagon">
            <a:avLst/>
          </a:prstGeom>
          <a:solidFill>
            <a:srgbClr val="E8E0D9"/>
          </a:solidFill>
          <a:ln/>
        </p:spPr>
      </p:sp>
      <p:sp>
        <p:nvSpPr>
          <p:cNvPr id="6" name="hex-deco2"/>
          <p:cNvSpPr/>
          <p:nvPr/>
        </p:nvSpPr>
        <p:spPr>
          <a:xfrm>
            <a:off x="1373886" y="1168557"/>
            <a:ext cx="525780" cy="455325"/>
          </a:xfrm>
          <a:prstGeom prst="hexagon">
            <a:avLst/>
          </a:prstGeom>
          <a:ln w="19050">
            <a:solidFill>
              <a:srgbClr val="B8862B"/>
            </a:solidFill>
            <a:prstDash val="solid"/>
          </a:ln>
        </p:spPr>
      </p:sp>
      <p:sp>
        <p:nvSpPr>
          <p:cNvPr id="7" name="hex-chapter"/>
          <p:cNvSpPr/>
          <p:nvPr/>
        </p:nvSpPr>
        <p:spPr>
          <a:xfrm>
            <a:off x="548640" y="457200"/>
            <a:ext cx="1051560" cy="910651"/>
          </a:xfrm>
          <a:prstGeom prst="hexagon">
            <a:avLst/>
          </a:prstGeom>
          <a:solidFill>
            <a:srgbClr val="7A4A1E"/>
          </a:solidFill>
          <a:ln/>
        </p:spPr>
      </p:sp>
      <p:sp>
        <p:nvSpPr>
          <p:cNvPr id="8" name="hex-chapter-label"/>
          <p:cNvSpPr txBox="1"/>
          <p:nvPr/>
        </p:nvSpPr>
        <p:spPr>
          <a:xfrm>
            <a:off x="548640" y="457200"/>
            <a:ext cx="1051560" cy="910651"/>
          </a:xfrm>
          <a:prstGeom prst="rect">
            <a:avLst/>
          </a:prstGeom>
          <a:noFill/>
          <a:ln/>
        </p:spPr>
        <p:txBody>
          <a:bodyPr wrap="square" lIns="0" tIns="0" rIns="0" bIns="0" rtlCol="0" anchor="ctr"/>
          <a:lstStyle/>
          <a:p>
            <a:pPr algn="ctr" indent="0" marL="0">
              <a:buNone/>
            </a:pPr>
            <a:r>
              <a:rPr lang="en-US" sz="4000" b="1" dirty="0">
                <a:solidFill>
                  <a:srgbClr val="FFFFFF"/>
                </a:solidFill>
                <a:latin typeface="Cambria" pitchFamily="34" charset="0"/>
                <a:ea typeface="Cambria" pitchFamily="34" charset="-122"/>
                <a:cs typeface="Cambria" pitchFamily="34" charset="-120"/>
              </a:rPr>
              <a:t>3</a:t>
            </a:r>
            <a:endParaRPr lang="en-US" sz="4000" dirty="0"/>
          </a:p>
        </p:txBody>
      </p:sp>
      <p:sp>
        <p:nvSpPr>
          <p:cNvPr id="9" name="kicker"/>
          <p:cNvSpPr txBox="1"/>
          <p:nvPr/>
        </p:nvSpPr>
        <p:spPr>
          <a:xfrm>
            <a:off x="2331720" y="256032"/>
            <a:ext cx="3504895" cy="1298448"/>
          </a:xfrm>
          <a:prstGeom prst="rect">
            <a:avLst/>
          </a:prstGeom>
          <a:noFill/>
          <a:ln/>
        </p:spPr>
        <p:txBody>
          <a:bodyPr wrap="square" lIns="63500" tIns="63500" rIns="63500" bIns="63500" rtlCol="0" anchor="ctr"/>
          <a:lstStyle/>
          <a:p>
            <a:pPr algn="l" indent="0" marL="0">
              <a:spcAft>
                <a:spcPts val="200"/>
              </a:spcAft>
              <a:buNone/>
            </a:pPr>
            <a:r>
              <a:rPr lang="en-US" sz="1800" b="1" dirty="0">
                <a:solidFill>
                  <a:srgbClr val="7A4A1E"/>
                </a:solidFill>
                <a:latin typeface="Calibri" pitchFamily="34" charset="0"/>
                <a:ea typeface="Calibri" pitchFamily="34" charset="-122"/>
                <a:cs typeface="Calibri" pitchFamily="34" charset="-120"/>
              </a:rPr>
              <a:t>History · Year 7</a:t>
            </a:r>
            <a:endParaRPr lang="en-US" sz="1800" dirty="0"/>
          </a:p>
          <a:p>
            <a:pPr algn="l" indent="0" marL="0">
              <a:spcAft>
                <a:spcPts val="200"/>
              </a:spcAft>
              <a:buNone/>
            </a:pPr>
            <a:r>
              <a:rPr lang="en-US" sz="1800" b="1" dirty="0">
                <a:solidFill>
                  <a:srgbClr val="936B22"/>
                </a:solidFill>
                <a:latin typeface="Calibri" pitchFamily="34" charset="0"/>
                <a:ea typeface="Calibri" pitchFamily="34" charset="-122"/>
                <a:cs typeface="Calibri" pitchFamily="34" charset="-120"/>
              </a:rPr>
              <a:t>Chapter 3/5</a:t>
            </a:r>
            <a:endParaRPr lang="en-US" sz="1800" dirty="0"/>
          </a:p>
          <a:p>
            <a:pPr algn="l" indent="0" marL="0">
              <a:buNone/>
            </a:pPr>
            <a:r>
              <a:rPr lang="en-US" sz="1800" dirty="0">
                <a:solidFill>
                  <a:srgbClr val="4A505C"/>
                </a:solidFill>
                <a:latin typeface="Calibri" pitchFamily="34" charset="0"/>
                <a:ea typeface="Calibri" pitchFamily="34" charset="-122"/>
                <a:cs typeface="Calibri" pitchFamily="34" charset="-120"/>
              </a:rPr>
              <a:t>The Plantagenets · AQA KS3 → 8145</a:t>
            </a:r>
            <a:endParaRPr lang="en-US" sz="1800" dirty="0"/>
          </a:p>
        </p:txBody>
      </p:sp>
      <p:sp>
        <p:nvSpPr>
          <p:cNvPr id="10" name="deck-title"/>
          <p:cNvSpPr txBox="1"/>
          <p:nvPr/>
        </p:nvSpPr>
        <p:spPr>
          <a:xfrm>
            <a:off x="548640" y="2436368"/>
            <a:ext cx="5287975" cy="1051560"/>
          </a:xfrm>
          <a:prstGeom prst="rect">
            <a:avLst/>
          </a:prstGeom>
          <a:noFill/>
          <a:ln/>
        </p:spPr>
        <p:txBody>
          <a:bodyPr wrap="square" lIns="63500" tIns="63500" rIns="63500" bIns="63500" rtlCol="0" anchor="t"/>
          <a:lstStyle/>
          <a:p>
            <a:pPr algn="l" indent="0" marL="0">
              <a:buNone/>
            </a:pPr>
            <a:r>
              <a:rPr lang="en-US" sz="2800" b="1" dirty="0">
                <a:solidFill>
                  <a:srgbClr val="1E2229"/>
                </a:solidFill>
                <a:latin typeface="Cambria" pitchFamily="34" charset="0"/>
                <a:ea typeface="Cambria" pitchFamily="34" charset="-122"/>
                <a:cs typeface="Cambria" pitchFamily="34" charset="-120"/>
              </a:rPr>
              <a:t>The Church and the Crown: Henry II and Thomas Becket</a:t>
            </a:r>
            <a:endParaRPr lang="en-US" sz="2800" dirty="0"/>
          </a:p>
        </p:txBody>
      </p:sp>
      <p:sp>
        <p:nvSpPr>
          <p:cNvPr id="11" name="lessons-card"/>
          <p:cNvSpPr/>
          <p:nvPr/>
        </p:nvSpPr>
        <p:spPr>
          <a:xfrm>
            <a:off x="548640" y="3716528"/>
            <a:ext cx="5287975" cy="1290320"/>
          </a:xfrm>
          <a:prstGeom prst="roundRect">
            <a:avLst>
              <a:gd name="adj" fmla="val 5669"/>
            </a:avLst>
          </a:prstGeom>
          <a:solidFill>
            <a:srgbClr val="F6F2EF"/>
          </a:solidFill>
          <a:ln/>
        </p:spPr>
      </p:sp>
      <p:sp>
        <p:nvSpPr>
          <p:cNvPr id="12" name="lessons"/>
          <p:cNvSpPr txBox="1"/>
          <p:nvPr/>
        </p:nvSpPr>
        <p:spPr>
          <a:xfrm>
            <a:off x="685800" y="3807968"/>
            <a:ext cx="5013655" cy="1107440"/>
          </a:xfrm>
          <a:prstGeom prst="rect">
            <a:avLst/>
          </a:prstGeom>
          <a:noFill/>
          <a:ln/>
        </p:spPr>
        <p:txBody>
          <a:bodyPr wrap="square" lIns="63500" tIns="63500" rIns="63500" bIns="63500" rtlCol="0" anchor="t"/>
          <a:lstStyle/>
          <a:p>
            <a:pPr algn="l" indent="0" marL="0">
              <a:spcAft>
                <a:spcPts val="400"/>
              </a:spcAft>
              <a:buNone/>
            </a:pPr>
            <a:r>
              <a:rPr lang="en-US" sz="2000" b="1" dirty="0">
                <a:solidFill>
                  <a:srgbClr val="7A4A1E"/>
                </a:solidFill>
                <a:latin typeface="Calibri" pitchFamily="34" charset="0"/>
                <a:ea typeface="Calibri" pitchFamily="34" charset="-122"/>
                <a:cs typeface="Calibri" pitchFamily="34" charset="-120"/>
              </a:rPr>
              <a:t>Lessons covered</a:t>
            </a:r>
            <a:endParaRPr lang="en-US" sz="2000" dirty="0"/>
          </a:p>
          <a:p>
            <a:pPr algn="l" indent="0" marL="0">
              <a:spcAft>
                <a:spcPts val="300"/>
              </a:spcAft>
              <a:buNone/>
            </a:pPr>
            <a:r>
              <a:rPr lang="en-US" sz="2000" b="1" dirty="0">
                <a:solidFill>
                  <a:srgbClr val="9C7225"/>
                </a:solidFill>
                <a:latin typeface="Calibri" pitchFamily="34" charset="0"/>
                <a:ea typeface="Calibri" pitchFamily="34" charset="-122"/>
                <a:cs typeface="Calibri" pitchFamily="34" charset="-120"/>
              </a:rPr>
              <a:t>2  </a:t>
            </a:r>
            <a:pPr algn="l" indent="0" marL="0">
              <a:spcAft>
                <a:spcPts val="300"/>
              </a:spcAft>
              <a:buNone/>
            </a:pPr>
            <a:r>
              <a:rPr lang="en-US" sz="2000" dirty="0">
                <a:solidFill>
                  <a:srgbClr val="1E2229"/>
                </a:solidFill>
                <a:latin typeface="Calibri" pitchFamily="34" charset="0"/>
                <a:ea typeface="Calibri" pitchFamily="34" charset="-122"/>
                <a:cs typeface="Calibri" pitchFamily="34" charset="-120"/>
              </a:rPr>
              <a:t>The Church versus the Crown: Henry II and Thomas Becket</a:t>
            </a:r>
            <a:endParaRPr lang="en-US" sz="2000" dirty="0"/>
          </a:p>
        </p:txBody>
      </p:sp>
      <p:sp>
        <p:nvSpPr>
          <p:cNvPr id="13" name="plate-frame"/>
          <p:cNvSpPr/>
          <p:nvPr/>
        </p:nvSpPr>
        <p:spPr>
          <a:xfrm>
            <a:off x="6248095" y="411480"/>
            <a:ext cx="5394960" cy="3130677"/>
          </a:xfrm>
          <a:prstGeom prst="rect">
            <a:avLst/>
          </a:prstGeom>
          <a:solidFill>
            <a:srgbClr val="F4EDDF"/>
          </a:solidFill>
          <a:ln w="19050">
            <a:solidFill>
              <a:srgbClr val="B8862B"/>
            </a:solidFill>
            <a:prstDash val="solid"/>
          </a:ln>
          <a:effectLst>
            <a:outerShdw sx="100000" sy="100000" kx="0" ky="0" algn="bl" rotWithShape="0" blurRad="76200" dist="25400" dir="5400000">
              <a:srgbClr val="000000">
                <a:alpha val="12000"/>
              </a:srgbClr>
            </a:outerShdw>
          </a:effectLst>
        </p:spPr>
      </p:sp>
      <p:pic>
        <p:nvPicPr>
          <p:cNvPr id="14" name="plate" descr="Ad Astra engraved plate for History, Year 7">    </p:cNvPr>
          <p:cNvPicPr>
            <a:picLocks noChangeAspect="1"/>
          </p:cNvPicPr>
          <p:nvPr/>
        </p:nvPicPr>
        <p:blipFill>
          <a:blip r:embed="rId1"/>
          <a:stretch>
            <a:fillRect/>
          </a:stretch>
        </p:blipFill>
        <p:spPr>
          <a:xfrm>
            <a:off x="6357823" y="521208"/>
            <a:ext cx="5175504" cy="2911221"/>
          </a:xfrm>
          <a:prstGeom prst="rect">
            <a:avLst/>
          </a:prstGeom>
        </p:spPr>
      </p:pic>
      <p:sp>
        <p:nvSpPr>
          <p:cNvPr id="15" name="plate-inner"/>
          <p:cNvSpPr/>
          <p:nvPr/>
        </p:nvSpPr>
        <p:spPr>
          <a:xfrm>
            <a:off x="6357823" y="521208"/>
            <a:ext cx="5175504" cy="2911221"/>
          </a:xfrm>
          <a:prstGeom prst="rect">
            <a:avLst/>
          </a:prstGeom>
          <a:ln w="9525">
            <a:solidFill>
              <a:srgbClr val="B8862B"/>
            </a:solidFill>
            <a:prstDash val="solid"/>
          </a:ln>
        </p:spPr>
      </p:sp>
      <p:sp>
        <p:nvSpPr>
          <p:cNvPr id="16" name="stud0"/>
          <p:cNvSpPr/>
          <p:nvPr/>
        </p:nvSpPr>
        <p:spPr>
          <a:xfrm>
            <a:off x="6138367" y="316456"/>
            <a:ext cx="219456" cy="190049"/>
          </a:xfrm>
          <a:prstGeom prst="hexagon">
            <a:avLst/>
          </a:prstGeom>
          <a:solidFill>
            <a:srgbClr val="B8862B"/>
          </a:solidFill>
          <a:ln w="12700">
            <a:solidFill>
              <a:srgbClr val="FFFFFF"/>
            </a:solidFill>
            <a:prstDash val="solid"/>
          </a:ln>
        </p:spPr>
      </p:sp>
      <p:sp>
        <p:nvSpPr>
          <p:cNvPr id="17" name="stud1"/>
          <p:cNvSpPr/>
          <p:nvPr/>
        </p:nvSpPr>
        <p:spPr>
          <a:xfrm>
            <a:off x="11533327" y="316456"/>
            <a:ext cx="219456" cy="190049"/>
          </a:xfrm>
          <a:prstGeom prst="hexagon">
            <a:avLst/>
          </a:prstGeom>
          <a:solidFill>
            <a:srgbClr val="B8862B"/>
          </a:solidFill>
          <a:ln w="12700">
            <a:solidFill>
              <a:srgbClr val="FFFFFF"/>
            </a:solidFill>
            <a:prstDash val="solid"/>
          </a:ln>
        </p:spPr>
      </p:sp>
      <p:sp>
        <p:nvSpPr>
          <p:cNvPr id="18" name="stud2"/>
          <p:cNvSpPr/>
          <p:nvPr/>
        </p:nvSpPr>
        <p:spPr>
          <a:xfrm>
            <a:off x="6138367" y="3447133"/>
            <a:ext cx="219456" cy="190049"/>
          </a:xfrm>
          <a:prstGeom prst="hexagon">
            <a:avLst/>
          </a:prstGeom>
          <a:solidFill>
            <a:srgbClr val="B8862B"/>
          </a:solidFill>
          <a:ln w="12700">
            <a:solidFill>
              <a:srgbClr val="FFFFFF"/>
            </a:solidFill>
            <a:prstDash val="solid"/>
          </a:ln>
        </p:spPr>
      </p:sp>
      <p:sp>
        <p:nvSpPr>
          <p:cNvPr id="19" name="stud3"/>
          <p:cNvSpPr/>
          <p:nvPr/>
        </p:nvSpPr>
        <p:spPr>
          <a:xfrm>
            <a:off x="11533327" y="3447133"/>
            <a:ext cx="219456" cy="190049"/>
          </a:xfrm>
          <a:prstGeom prst="hexagon">
            <a:avLst/>
          </a:prstGeom>
          <a:solidFill>
            <a:srgbClr val="B8862B"/>
          </a:solidFill>
          <a:ln w="12700">
            <a:solidFill>
              <a:srgbClr val="FFFFFF"/>
            </a:solidFill>
            <a:prstDash val="solid"/>
          </a:ln>
        </p:spPr>
      </p:sp>
      <p:sp>
        <p:nvSpPr>
          <p:cNvPr id="20" name="bq-card"/>
          <p:cNvSpPr/>
          <p:nvPr/>
        </p:nvSpPr>
        <p:spPr>
          <a:xfrm>
            <a:off x="6248095" y="3816477"/>
            <a:ext cx="5394960" cy="2053971"/>
          </a:xfrm>
          <a:prstGeom prst="roundRect">
            <a:avLst>
              <a:gd name="adj" fmla="val 3561"/>
            </a:avLst>
          </a:prstGeom>
          <a:solidFill>
            <a:srgbClr val="F6F2EF"/>
          </a:solidFill>
          <a:ln w="12700">
            <a:solidFill>
              <a:srgbClr val="CEBCAC"/>
            </a:solidFill>
            <a:prstDash val="solid"/>
          </a:ln>
        </p:spPr>
      </p:sp>
      <p:sp>
        <p:nvSpPr>
          <p:cNvPr id="21" name="bq-hex"/>
          <p:cNvSpPr/>
          <p:nvPr/>
        </p:nvSpPr>
        <p:spPr>
          <a:xfrm>
            <a:off x="6412687" y="3999357"/>
            <a:ext cx="621792" cy="538472"/>
          </a:xfrm>
          <a:prstGeom prst="hexagon">
            <a:avLst/>
          </a:prstGeom>
          <a:solidFill>
            <a:srgbClr val="B8862B"/>
          </a:solidFill>
          <a:ln/>
        </p:spPr>
      </p:sp>
      <p:sp>
        <p:nvSpPr>
          <p:cNvPr id="22" name="bq-hex-label"/>
          <p:cNvSpPr txBox="1"/>
          <p:nvPr/>
        </p:nvSpPr>
        <p:spPr>
          <a:xfrm>
            <a:off x="6412687" y="3999357"/>
            <a:ext cx="621792" cy="538472"/>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a:t>
            </a:r>
            <a:endParaRPr lang="en-US" sz="2600" dirty="0"/>
          </a:p>
        </p:txBody>
      </p:sp>
      <p:sp>
        <p:nvSpPr>
          <p:cNvPr id="23" name="bq"/>
          <p:cNvSpPr txBox="1"/>
          <p:nvPr/>
        </p:nvSpPr>
        <p:spPr>
          <a:xfrm>
            <a:off x="7144207" y="3907917"/>
            <a:ext cx="4389120" cy="1871091"/>
          </a:xfrm>
          <a:prstGeom prst="rect">
            <a:avLst/>
          </a:prstGeom>
          <a:noFill/>
          <a:ln/>
        </p:spPr>
        <p:txBody>
          <a:bodyPr wrap="square" lIns="63500" tIns="63500" rIns="63500" bIns="63500" rtlCol="0" anchor="ctr"/>
          <a:lstStyle/>
          <a:p>
            <a:pPr algn="l" indent="0" marL="0">
              <a:spcAft>
                <a:spcPts val="400"/>
              </a:spcAft>
              <a:buNone/>
            </a:pPr>
            <a:r>
              <a:rPr lang="en-US" sz="1800" b="1" dirty="0">
                <a:solidFill>
                  <a:srgbClr val="7A4A1E"/>
                </a:solidFill>
                <a:latin typeface="Calibri" pitchFamily="34" charset="0"/>
                <a:ea typeface="Calibri" pitchFamily="34" charset="-122"/>
                <a:cs typeface="Calibri" pitchFamily="34" charset="-120"/>
              </a:rPr>
              <a:t>Big question</a:t>
            </a:r>
            <a:endParaRPr lang="en-US" sz="1800" dirty="0"/>
          </a:p>
          <a:p>
            <a:pPr algn="l" indent="0" marL="0">
              <a:buNone/>
            </a:pPr>
            <a:r>
              <a:rPr lang="en-US" sz="2400" i="1" dirty="0">
                <a:solidFill>
                  <a:srgbClr val="1E2229"/>
                </a:solidFill>
                <a:latin typeface="Cambria" pitchFamily="34" charset="0"/>
                <a:ea typeface="Cambria" pitchFamily="34" charset="-122"/>
                <a:cs typeface="Cambria" pitchFamily="34" charset="-120"/>
              </a:rPr>
              <a:t>How did the Plantagenets change England, 1154–1399?</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Do now: three from memory</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5272888" cy="4754880"/>
          </a:xfrm>
          <a:prstGeom prst="roundRect">
            <a:avLst>
              <a:gd name="adj" fmla="val 1154"/>
            </a:avLst>
          </a:prstGeom>
          <a:solidFill>
            <a:srgbClr val="FAF8F6"/>
          </a:solidFill>
          <a:ln w="12700">
            <a:solidFill>
              <a:srgbClr val="D4C5B7"/>
            </a:solidFill>
            <a:prstDash val="solid"/>
          </a:ln>
        </p:spPr>
      </p:sp>
      <p:sp>
        <p:nvSpPr>
          <p:cNvPr id="8" name="card-hex"/>
          <p:cNvSpPr/>
          <p:nvPr/>
        </p:nvSpPr>
        <p:spPr>
          <a:xfrm>
            <a:off x="731520" y="1572768"/>
            <a:ext cx="640080" cy="554309"/>
          </a:xfrm>
          <a:prstGeom prst="hexagon">
            <a:avLst/>
          </a:prstGeom>
          <a:solidFill>
            <a:srgbClr val="7A4A1E"/>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4267048" cy="566928"/>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Choose one</a:t>
            </a:r>
            <a:endParaRPr lang="en-US" sz="1800" dirty="0"/>
          </a:p>
        </p:txBody>
      </p:sp>
      <p:sp>
        <p:nvSpPr>
          <p:cNvPr id="11" name="card-body"/>
          <p:cNvSpPr txBox="1"/>
          <p:nvPr/>
        </p:nvSpPr>
        <p:spPr>
          <a:xfrm>
            <a:off x="731520" y="2355677"/>
            <a:ext cx="4907128" cy="3651931"/>
          </a:xfrm>
          <a:prstGeom prst="rect">
            <a:avLst/>
          </a:prstGeom>
          <a:noFill/>
          <a:ln/>
        </p:spPr>
        <p:txBody>
          <a:bodyPr wrap="square" lIns="63500" tIns="63500" rIns="63500" bIns="63500" rtlCol="0" anchor="t"/>
          <a:lstStyle/>
          <a:p>
            <a:pPr algn="l" indent="0" marL="0">
              <a:spcAft>
                <a:spcPts val="1000"/>
              </a:spcAft>
              <a:buNone/>
            </a:pPr>
            <a:r>
              <a:rPr lang="en-US" sz="2000" b="1" dirty="0">
                <a:solidFill>
                  <a:srgbClr val="1E2229"/>
                </a:solidFill>
                <a:latin typeface="Calibri" pitchFamily="34" charset="0"/>
                <a:ea typeface="Calibri" pitchFamily="34" charset="-122"/>
                <a:cs typeface="Calibri" pitchFamily="34" charset="-120"/>
              </a:rPr>
              <a:t>What does it mean to excommunicate someone?</a:t>
            </a:r>
            <a:endParaRPr lang="en-US" sz="2000" dirty="0"/>
          </a:p>
          <a:p>
            <a:pPr algn="l" indent="0" marL="0">
              <a:spcAft>
                <a:spcPts val="600"/>
              </a:spcAft>
              <a:buNone/>
            </a:pPr>
            <a:r>
              <a:rPr lang="en-US" sz="20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To make them a saint after their death</a:t>
            </a:r>
            <a:endParaRPr lang="en-US" sz="2000" dirty="0"/>
          </a:p>
          <a:p>
            <a:pPr algn="l" indent="0" marL="0">
              <a:spcAft>
                <a:spcPts val="600"/>
              </a:spcAft>
              <a:buNone/>
            </a:pPr>
            <a:r>
              <a:rPr lang="en-US" sz="20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To give them a job running the country while the king is away</a:t>
            </a:r>
            <a:endParaRPr lang="en-US" sz="2000" dirty="0"/>
          </a:p>
          <a:p>
            <a:pPr algn="l" indent="0" marL="0">
              <a:spcAft>
                <a:spcPts val="600"/>
              </a:spcAft>
              <a:buNone/>
            </a:pPr>
            <a:r>
              <a:rPr lang="en-US" sz="20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To send them to prison for a crime against the king</a:t>
            </a:r>
            <a:endParaRPr lang="en-US" sz="2000" dirty="0"/>
          </a:p>
          <a:p>
            <a:pPr algn="l" indent="0" marL="0">
              <a:spcAft>
                <a:spcPts val="600"/>
              </a:spcAft>
              <a:buNone/>
            </a:pPr>
            <a:r>
              <a:rPr lang="en-US" sz="20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To shut them out of the services and sacraments of the Church officially</a:t>
            </a:r>
            <a:endParaRPr lang="en-US" sz="2000" dirty="0"/>
          </a:p>
        </p:txBody>
      </p:sp>
      <p:sp>
        <p:nvSpPr>
          <p:cNvPr id="12" name="card"/>
          <p:cNvSpPr/>
          <p:nvPr/>
        </p:nvSpPr>
        <p:spPr>
          <a:xfrm>
            <a:off x="6095848" y="1389888"/>
            <a:ext cx="2636444" cy="4754880"/>
          </a:xfrm>
          <a:prstGeom prst="roundRect">
            <a:avLst>
              <a:gd name="adj" fmla="val 2081"/>
            </a:avLst>
          </a:prstGeom>
          <a:solidFill>
            <a:srgbClr val="FAF8F6"/>
          </a:solidFill>
          <a:ln w="12700">
            <a:solidFill>
              <a:srgbClr val="D4C5B7"/>
            </a:solidFill>
            <a:prstDash val="solid"/>
          </a:ln>
        </p:spPr>
      </p:sp>
      <p:sp>
        <p:nvSpPr>
          <p:cNvPr id="13" name="card-hex"/>
          <p:cNvSpPr/>
          <p:nvPr/>
        </p:nvSpPr>
        <p:spPr>
          <a:xfrm>
            <a:off x="6278728" y="1572768"/>
            <a:ext cx="640080" cy="554309"/>
          </a:xfrm>
          <a:prstGeom prst="hexagon">
            <a:avLst/>
          </a:prstGeom>
          <a:solidFill>
            <a:srgbClr val="7A4A1E"/>
          </a:solidFill>
          <a:ln/>
        </p:spPr>
      </p:sp>
      <p:sp>
        <p:nvSpPr>
          <p:cNvPr id="14" name="card-hex-label"/>
          <p:cNvSpPr txBox="1"/>
          <p:nvPr/>
        </p:nvSpPr>
        <p:spPr>
          <a:xfrm>
            <a:off x="6278728"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5" name="card-label"/>
          <p:cNvSpPr txBox="1"/>
          <p:nvPr/>
        </p:nvSpPr>
        <p:spPr>
          <a:xfrm>
            <a:off x="7010248" y="1572768"/>
            <a:ext cx="1630604" cy="566928"/>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Fill the gap</a:t>
            </a:r>
            <a:endParaRPr lang="en-US" sz="1800" dirty="0"/>
          </a:p>
        </p:txBody>
      </p:sp>
      <p:sp>
        <p:nvSpPr>
          <p:cNvPr id="16" name="card-body"/>
          <p:cNvSpPr txBox="1"/>
          <p:nvPr/>
        </p:nvSpPr>
        <p:spPr>
          <a:xfrm>
            <a:off x="6278728" y="2355677"/>
            <a:ext cx="2270684" cy="3651931"/>
          </a:xfrm>
          <a:prstGeom prst="rect">
            <a:avLst/>
          </a:prstGeom>
          <a:noFill/>
          <a:ln/>
        </p:spPr>
        <p:txBody>
          <a:bodyPr wrap="square" lIns="63500" tIns="63500" rIns="63500" bIns="63500" rtlCol="0" anchor="t"/>
          <a:lstStyle/>
          <a:p>
            <a:pPr algn="l" indent="0" marL="0">
              <a:spcAft>
                <a:spcPts val="1000"/>
              </a:spcAft>
              <a:buNone/>
            </a:pPr>
            <a:r>
              <a:rPr lang="en-US" sz="2000" b="1" dirty="0">
                <a:solidFill>
                  <a:srgbClr val="1E2229"/>
                </a:solidFill>
                <a:latin typeface="Calibri" pitchFamily="34" charset="0"/>
                <a:ea typeface="Calibri" pitchFamily="34" charset="-122"/>
                <a:cs typeface="Calibri" pitchFamily="34" charset="-120"/>
              </a:rPr>
              <a:t>Henry II made his friend Thomas Becket ___ of Canterbury, the head of the Church in England.</a:t>
            </a:r>
            <a:endParaRPr lang="en-US" sz="2000" dirty="0"/>
          </a:p>
          <a:p>
            <a:pPr algn="l" indent="0" marL="0">
              <a:buNone/>
            </a:pPr>
            <a:r>
              <a:rPr lang="en-US" sz="2000" b="1" dirty="0">
                <a:solidFill>
                  <a:srgbClr val="7A4A1E"/>
                </a:solidFill>
                <a:latin typeface="Calibri" pitchFamily="34" charset="0"/>
                <a:ea typeface="Calibri" pitchFamily="34" charset="-122"/>
                <a:cs typeface="Calibri" pitchFamily="34" charset="-120"/>
              </a:rPr>
              <a:t>Word bank:  </a:t>
            </a:r>
            <a:pPr algn="l" indent="0" marL="0">
              <a:buNone/>
            </a:pPr>
            <a:r>
              <a:rPr lang="en-US" sz="2000" dirty="0">
                <a:solidFill>
                  <a:srgbClr val="1E2229"/>
                </a:solidFill>
                <a:latin typeface="Calibri" pitchFamily="34" charset="0"/>
                <a:ea typeface="Calibri" pitchFamily="34" charset="-122"/>
                <a:cs typeface="Calibri" pitchFamily="34" charset="-120"/>
              </a:rPr>
              <a:t>Archbishop  ·  Chancellor  ·  Pope</a:t>
            </a:r>
            <a:endParaRPr lang="en-US" sz="2000" dirty="0"/>
          </a:p>
        </p:txBody>
      </p:sp>
      <p:sp>
        <p:nvSpPr>
          <p:cNvPr id="17" name="card"/>
          <p:cNvSpPr/>
          <p:nvPr/>
        </p:nvSpPr>
        <p:spPr>
          <a:xfrm>
            <a:off x="9006611" y="1389888"/>
            <a:ext cx="2636444" cy="4754880"/>
          </a:xfrm>
          <a:prstGeom prst="roundRect">
            <a:avLst>
              <a:gd name="adj" fmla="val 2081"/>
            </a:avLst>
          </a:prstGeom>
          <a:solidFill>
            <a:srgbClr val="FAF8F6"/>
          </a:solidFill>
          <a:ln w="12700">
            <a:solidFill>
              <a:srgbClr val="D4C5B7"/>
            </a:solidFill>
            <a:prstDash val="solid"/>
          </a:ln>
        </p:spPr>
      </p:sp>
      <p:sp>
        <p:nvSpPr>
          <p:cNvPr id="18" name="card-hex"/>
          <p:cNvSpPr/>
          <p:nvPr/>
        </p:nvSpPr>
        <p:spPr>
          <a:xfrm>
            <a:off x="9189491" y="1572768"/>
            <a:ext cx="640080" cy="554309"/>
          </a:xfrm>
          <a:prstGeom prst="hexagon">
            <a:avLst/>
          </a:prstGeom>
          <a:solidFill>
            <a:srgbClr val="7A4A1E"/>
          </a:solidFill>
          <a:ln/>
        </p:spPr>
      </p:sp>
      <p:sp>
        <p:nvSpPr>
          <p:cNvPr id="19" name="card-hex-label"/>
          <p:cNvSpPr txBox="1"/>
          <p:nvPr/>
        </p:nvSpPr>
        <p:spPr>
          <a:xfrm>
            <a:off x="9189491"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0" name="card-label"/>
          <p:cNvSpPr txBox="1"/>
          <p:nvPr/>
        </p:nvSpPr>
        <p:spPr>
          <a:xfrm>
            <a:off x="9921011" y="1572768"/>
            <a:ext cx="1630604" cy="566928"/>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Work it out</a:t>
            </a:r>
            <a:endParaRPr lang="en-US" sz="1800" dirty="0"/>
          </a:p>
        </p:txBody>
      </p:sp>
      <p:sp>
        <p:nvSpPr>
          <p:cNvPr id="21" name="card-body"/>
          <p:cNvSpPr txBox="1"/>
          <p:nvPr/>
        </p:nvSpPr>
        <p:spPr>
          <a:xfrm>
            <a:off x="9189491" y="2355677"/>
            <a:ext cx="2270684" cy="3651931"/>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1E2229"/>
                </a:solidFill>
                <a:latin typeface="Calibri" pitchFamily="34" charset="0"/>
                <a:ea typeface="Calibri" pitchFamily="34" charset="-122"/>
                <a:cs typeface="Calibri" pitchFamily="34" charset="-120"/>
              </a:rPr>
              <a:t>In what year was Thomas Becket murdered in Canterbury Cathedral?</a:t>
            </a:r>
            <a:endParaRPr lang="en-US" sz="2400" dirty="0"/>
          </a:p>
          <a:p>
            <a:pPr algn="l" indent="0" marL="0">
              <a:buNone/>
            </a:pPr>
            <a:r>
              <a:rPr lang="en-US" sz="2400" b="1" dirty="0">
                <a:solidFill>
                  <a:srgbClr val="7A4A1E"/>
                </a:solidFill>
                <a:latin typeface="Calibri" pitchFamily="34" charset="0"/>
                <a:ea typeface="Calibri" pitchFamily="34" charset="-122"/>
                <a:cs typeface="Calibri" pitchFamily="34" charset="-120"/>
              </a:rPr>
              <a:t>Answer:  </a:t>
            </a:r>
            <a:pPr algn="l" indent="0" marL="0">
              <a:buNone/>
            </a:pPr>
            <a:r>
              <a:rPr lang="en-US" sz="2400" dirty="0">
                <a:solidFill>
                  <a:srgbClr val="1E2229"/>
                </a:solidFill>
                <a:latin typeface="Calibri" pitchFamily="34" charset="0"/>
                <a:ea typeface="Calibri" pitchFamily="34" charset="-122"/>
                <a:cs typeface="Calibri" pitchFamily="34" charset="-120"/>
              </a:rPr>
              <a:t>________</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Answers</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5272888" cy="4754880"/>
          </a:xfrm>
          <a:prstGeom prst="roundRect">
            <a:avLst>
              <a:gd name="adj" fmla="val 1154"/>
            </a:avLst>
          </a:prstGeom>
          <a:solidFill>
            <a:srgbClr val="FAF8F6"/>
          </a:solidFill>
          <a:ln w="12700">
            <a:solidFill>
              <a:srgbClr val="D4C5B7"/>
            </a:solidFill>
            <a:prstDash val="solid"/>
          </a:ln>
        </p:spPr>
      </p:sp>
      <p:sp>
        <p:nvSpPr>
          <p:cNvPr id="8" name="card-hex"/>
          <p:cNvSpPr/>
          <p:nvPr/>
        </p:nvSpPr>
        <p:spPr>
          <a:xfrm>
            <a:off x="731520" y="1572768"/>
            <a:ext cx="640080" cy="554309"/>
          </a:xfrm>
          <a:prstGeom prst="hexagon">
            <a:avLst/>
          </a:prstGeom>
          <a:solidFill>
            <a:srgbClr val="7A4A1E"/>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4267048" cy="566928"/>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Answer</a:t>
            </a:r>
            <a:endParaRPr lang="en-US" sz="1800" dirty="0"/>
          </a:p>
        </p:txBody>
      </p:sp>
      <p:sp>
        <p:nvSpPr>
          <p:cNvPr id="11" name="answer-chip"/>
          <p:cNvSpPr/>
          <p:nvPr/>
        </p:nvSpPr>
        <p:spPr>
          <a:xfrm>
            <a:off x="731520" y="2355677"/>
            <a:ext cx="4907128" cy="1295908"/>
          </a:xfrm>
          <a:prstGeom prst="roundRect">
            <a:avLst>
              <a:gd name="adj" fmla="val 8467"/>
            </a:avLst>
          </a:prstGeom>
          <a:solidFill>
            <a:srgbClr val="EFE4D0"/>
          </a:solidFill>
          <a:ln w="19050">
            <a:solidFill>
              <a:srgbClr val="B8862B"/>
            </a:solidFill>
            <a:prstDash val="solid"/>
          </a:ln>
        </p:spPr>
      </p:sp>
      <p:sp>
        <p:nvSpPr>
          <p:cNvPr id="12" name="answer"/>
          <p:cNvSpPr txBox="1"/>
          <p:nvPr/>
        </p:nvSpPr>
        <p:spPr>
          <a:xfrm>
            <a:off x="822960" y="2428829"/>
            <a:ext cx="4724248" cy="1149604"/>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D   To shut them out of the services and sacraments of the Church officially</a:t>
            </a:r>
            <a:endParaRPr lang="en-US" sz="2200" dirty="0"/>
          </a:p>
        </p:txBody>
      </p:sp>
      <p:sp>
        <p:nvSpPr>
          <p:cNvPr id="13" name="card-body"/>
          <p:cNvSpPr txBox="1"/>
          <p:nvPr/>
        </p:nvSpPr>
        <p:spPr>
          <a:xfrm>
            <a:off x="731520" y="3834465"/>
            <a:ext cx="4907128" cy="2173143"/>
          </a:xfrm>
          <a:prstGeom prst="rect">
            <a:avLst/>
          </a:prstGeom>
          <a:noFill/>
          <a:ln/>
        </p:spPr>
        <p:txBody>
          <a:bodyPr wrap="square" lIns="63500" tIns="63500" rIns="63500" bIns="63500" rtlCol="0" anchor="t"/>
          <a:lstStyle/>
          <a:p>
            <a:pPr algn="l" indent="0" marL="0">
              <a:spcAft>
                <a:spcPts val="1000"/>
              </a:spcAft>
              <a:buNone/>
            </a:pPr>
            <a:r>
              <a:rPr lang="en-US" sz="2000" dirty="0">
                <a:solidFill>
                  <a:srgbClr val="4A505C"/>
                </a:solidFill>
                <a:latin typeface="Calibri" pitchFamily="34" charset="0"/>
                <a:ea typeface="Calibri" pitchFamily="34" charset="-122"/>
                <a:cs typeface="Calibri" pitchFamily="34" charset="-120"/>
              </a:rPr>
              <a:t>What does it mean to excommunicate someone?</a:t>
            </a:r>
            <a:endParaRPr lang="en-US" sz="2000" dirty="0"/>
          </a:p>
          <a:p>
            <a:pPr algn="l" indent="0" marL="0">
              <a:buNone/>
            </a:pPr>
            <a:r>
              <a:rPr lang="en-US" sz="2000" i="1" dirty="0">
                <a:solidFill>
                  <a:srgbClr val="1E2229"/>
                </a:solidFill>
                <a:latin typeface="Calibri" pitchFamily="34" charset="0"/>
                <a:ea typeface="Calibri" pitchFamily="34" charset="-122"/>
                <a:cs typeface="Calibri" pitchFamily="34" charset="-120"/>
              </a:rPr>
              <a:t>Excommunication officially excluded a person from the Church's services and sacraments. Becket used it against the bishops who had helped Henry.</a:t>
            </a:r>
            <a:endParaRPr lang="en-US" sz="2000" dirty="0"/>
          </a:p>
        </p:txBody>
      </p:sp>
      <p:sp>
        <p:nvSpPr>
          <p:cNvPr id="14" name="card"/>
          <p:cNvSpPr/>
          <p:nvPr/>
        </p:nvSpPr>
        <p:spPr>
          <a:xfrm>
            <a:off x="6095848" y="1389888"/>
            <a:ext cx="2636444" cy="4754880"/>
          </a:xfrm>
          <a:prstGeom prst="roundRect">
            <a:avLst>
              <a:gd name="adj" fmla="val 2081"/>
            </a:avLst>
          </a:prstGeom>
          <a:solidFill>
            <a:srgbClr val="FAF8F6"/>
          </a:solidFill>
          <a:ln w="12700">
            <a:solidFill>
              <a:srgbClr val="D4C5B7"/>
            </a:solidFill>
            <a:prstDash val="solid"/>
          </a:ln>
        </p:spPr>
      </p:sp>
      <p:sp>
        <p:nvSpPr>
          <p:cNvPr id="15" name="card-hex"/>
          <p:cNvSpPr/>
          <p:nvPr/>
        </p:nvSpPr>
        <p:spPr>
          <a:xfrm>
            <a:off x="6278728" y="1572768"/>
            <a:ext cx="640080" cy="554309"/>
          </a:xfrm>
          <a:prstGeom prst="hexagon">
            <a:avLst/>
          </a:prstGeom>
          <a:solidFill>
            <a:srgbClr val="7A4A1E"/>
          </a:solidFill>
          <a:ln/>
        </p:spPr>
      </p:sp>
      <p:sp>
        <p:nvSpPr>
          <p:cNvPr id="16" name="card-hex-label"/>
          <p:cNvSpPr txBox="1"/>
          <p:nvPr/>
        </p:nvSpPr>
        <p:spPr>
          <a:xfrm>
            <a:off x="6278728"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7" name="card-label"/>
          <p:cNvSpPr txBox="1"/>
          <p:nvPr/>
        </p:nvSpPr>
        <p:spPr>
          <a:xfrm>
            <a:off x="7010248" y="1572768"/>
            <a:ext cx="1630604" cy="566928"/>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Answer</a:t>
            </a:r>
            <a:endParaRPr lang="en-US" sz="1800" dirty="0"/>
          </a:p>
        </p:txBody>
      </p:sp>
      <p:sp>
        <p:nvSpPr>
          <p:cNvPr id="18" name="answer-chip"/>
          <p:cNvSpPr/>
          <p:nvPr/>
        </p:nvSpPr>
        <p:spPr>
          <a:xfrm>
            <a:off x="6278728" y="2355677"/>
            <a:ext cx="2270684" cy="614172"/>
          </a:xfrm>
          <a:prstGeom prst="roundRect">
            <a:avLst>
              <a:gd name="adj" fmla="val 17866"/>
            </a:avLst>
          </a:prstGeom>
          <a:solidFill>
            <a:srgbClr val="EFE4D0"/>
          </a:solidFill>
          <a:ln w="19050">
            <a:solidFill>
              <a:srgbClr val="B8862B"/>
            </a:solidFill>
            <a:prstDash val="solid"/>
          </a:ln>
        </p:spPr>
      </p:sp>
      <p:sp>
        <p:nvSpPr>
          <p:cNvPr id="19" name="answer"/>
          <p:cNvSpPr txBox="1"/>
          <p:nvPr/>
        </p:nvSpPr>
        <p:spPr>
          <a:xfrm>
            <a:off x="6370168" y="2428829"/>
            <a:ext cx="2087804"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Archbishop</a:t>
            </a:r>
            <a:endParaRPr lang="en-US" sz="2200" dirty="0"/>
          </a:p>
        </p:txBody>
      </p:sp>
      <p:sp>
        <p:nvSpPr>
          <p:cNvPr id="20" name="card-body"/>
          <p:cNvSpPr txBox="1"/>
          <p:nvPr/>
        </p:nvSpPr>
        <p:spPr>
          <a:xfrm>
            <a:off x="6278728" y="3152729"/>
            <a:ext cx="2270684" cy="2854879"/>
          </a:xfrm>
          <a:prstGeom prst="rect">
            <a:avLst/>
          </a:prstGeom>
          <a:noFill/>
          <a:ln/>
        </p:spPr>
        <p:txBody>
          <a:bodyPr wrap="square" lIns="63500" tIns="63500" rIns="63500" bIns="63500" rtlCol="0" anchor="t"/>
          <a:lstStyle/>
          <a:p>
            <a:pPr algn="l" indent="0" marL="0">
              <a:buNone/>
            </a:pPr>
            <a:r>
              <a:rPr lang="en-US" sz="1800" i="1" dirty="0">
                <a:solidFill>
                  <a:srgbClr val="1E2229"/>
                </a:solidFill>
                <a:latin typeface="Calibri" pitchFamily="34" charset="0"/>
                <a:ea typeface="Calibri" pitchFamily="34" charset="-122"/>
                <a:cs typeface="Calibri" pitchFamily="34" charset="-120"/>
              </a:rPr>
              <a:t>Becket was first Chancellor of England, then Archbishop of Canterbury, the most senior churchman in England.</a:t>
            </a:r>
            <a:endParaRPr lang="en-US" sz="1800" dirty="0"/>
          </a:p>
        </p:txBody>
      </p:sp>
      <p:sp>
        <p:nvSpPr>
          <p:cNvPr id="21" name="card"/>
          <p:cNvSpPr/>
          <p:nvPr/>
        </p:nvSpPr>
        <p:spPr>
          <a:xfrm>
            <a:off x="9006611" y="1389888"/>
            <a:ext cx="2636444" cy="4754880"/>
          </a:xfrm>
          <a:prstGeom prst="roundRect">
            <a:avLst>
              <a:gd name="adj" fmla="val 2081"/>
            </a:avLst>
          </a:prstGeom>
          <a:solidFill>
            <a:srgbClr val="FAF8F6"/>
          </a:solidFill>
          <a:ln w="12700">
            <a:solidFill>
              <a:srgbClr val="D4C5B7"/>
            </a:solidFill>
            <a:prstDash val="solid"/>
          </a:ln>
        </p:spPr>
      </p:sp>
      <p:sp>
        <p:nvSpPr>
          <p:cNvPr id="22" name="card-hex"/>
          <p:cNvSpPr/>
          <p:nvPr/>
        </p:nvSpPr>
        <p:spPr>
          <a:xfrm>
            <a:off x="9189491" y="1572768"/>
            <a:ext cx="640080" cy="554309"/>
          </a:xfrm>
          <a:prstGeom prst="hexagon">
            <a:avLst/>
          </a:prstGeom>
          <a:solidFill>
            <a:srgbClr val="7A4A1E"/>
          </a:solidFill>
          <a:ln/>
        </p:spPr>
      </p:sp>
      <p:sp>
        <p:nvSpPr>
          <p:cNvPr id="23" name="card-hex-label"/>
          <p:cNvSpPr txBox="1"/>
          <p:nvPr/>
        </p:nvSpPr>
        <p:spPr>
          <a:xfrm>
            <a:off x="9189491"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4" name="card-label"/>
          <p:cNvSpPr txBox="1"/>
          <p:nvPr/>
        </p:nvSpPr>
        <p:spPr>
          <a:xfrm>
            <a:off x="9921011" y="1572768"/>
            <a:ext cx="1630604" cy="566928"/>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Answer</a:t>
            </a:r>
            <a:endParaRPr lang="en-US" sz="1800" dirty="0"/>
          </a:p>
        </p:txBody>
      </p:sp>
      <p:sp>
        <p:nvSpPr>
          <p:cNvPr id="25" name="answer-chip"/>
          <p:cNvSpPr/>
          <p:nvPr/>
        </p:nvSpPr>
        <p:spPr>
          <a:xfrm>
            <a:off x="9189491" y="2355677"/>
            <a:ext cx="2270684" cy="614172"/>
          </a:xfrm>
          <a:prstGeom prst="roundRect">
            <a:avLst>
              <a:gd name="adj" fmla="val 17866"/>
            </a:avLst>
          </a:prstGeom>
          <a:solidFill>
            <a:srgbClr val="EFE4D0"/>
          </a:solidFill>
          <a:ln w="19050">
            <a:solidFill>
              <a:srgbClr val="B8862B"/>
            </a:solidFill>
            <a:prstDash val="solid"/>
          </a:ln>
        </p:spPr>
      </p:sp>
      <p:sp>
        <p:nvSpPr>
          <p:cNvPr id="26" name="answer"/>
          <p:cNvSpPr txBox="1"/>
          <p:nvPr/>
        </p:nvSpPr>
        <p:spPr>
          <a:xfrm>
            <a:off x="9280931" y="2428829"/>
            <a:ext cx="2087804"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1170</a:t>
            </a:r>
            <a:endParaRPr lang="en-US" sz="2200" dirty="0"/>
          </a:p>
        </p:txBody>
      </p:sp>
      <p:sp>
        <p:nvSpPr>
          <p:cNvPr id="27" name="card-body"/>
          <p:cNvSpPr txBox="1"/>
          <p:nvPr/>
        </p:nvSpPr>
        <p:spPr>
          <a:xfrm>
            <a:off x="9189491" y="3152729"/>
            <a:ext cx="2270684" cy="2854879"/>
          </a:xfrm>
          <a:prstGeom prst="rect">
            <a:avLst/>
          </a:prstGeom>
          <a:noFill/>
          <a:ln/>
        </p:spPr>
        <p:txBody>
          <a:bodyPr wrap="square" lIns="63500" tIns="63500" rIns="63500" bIns="63500" rtlCol="0" anchor="t"/>
          <a:lstStyle/>
          <a:p>
            <a:pPr algn="l" indent="0" marL="0">
              <a:buNone/>
            </a:pPr>
            <a:r>
              <a:rPr lang="en-US" sz="1800" i="1" dirty="0">
                <a:solidFill>
                  <a:srgbClr val="1E2229"/>
                </a:solidFill>
                <a:latin typeface="Calibri" pitchFamily="34" charset="0"/>
                <a:ea typeface="Calibri" pitchFamily="34" charset="-122"/>
                <a:cs typeface="Calibri" pitchFamily="34" charset="-120"/>
              </a:rPr>
              <a:t>Becket returned from France in 1170 and was killed in Canterbury Cathedral the same year.</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Key words</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Pre-teach</a:t>
            </a:r>
            <a:endParaRPr lang="en-US" sz="1800" dirty="0"/>
          </a:p>
        </p:txBody>
      </p:sp>
      <p:sp>
        <p:nvSpPr>
          <p:cNvPr id="7" name="kw-head"/>
          <p:cNvSpPr/>
          <p:nvPr/>
        </p:nvSpPr>
        <p:spPr>
          <a:xfrm>
            <a:off x="548640" y="1389888"/>
            <a:ext cx="11094415" cy="457200"/>
          </a:xfrm>
          <a:prstGeom prst="roundRect">
            <a:avLst>
              <a:gd name="adj" fmla="val 16000"/>
            </a:avLst>
          </a:prstGeom>
          <a:solidFill>
            <a:srgbClr val="7A4A1E"/>
          </a:solidFill>
          <a:ln/>
        </p:spPr>
      </p:sp>
      <p:sp>
        <p:nvSpPr>
          <p:cNvPr id="8" name="kw-headtext"/>
          <p:cNvSpPr txBox="1"/>
          <p:nvPr/>
        </p:nvSpPr>
        <p:spPr>
          <a:xfrm>
            <a:off x="1143000" y="1389888"/>
            <a:ext cx="2331720" cy="457200"/>
          </a:xfrm>
          <a:prstGeom prst="rect">
            <a:avLst/>
          </a:prstGeom>
          <a:no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Word</a:t>
            </a:r>
            <a:endParaRPr lang="en-US" sz="1800" dirty="0"/>
          </a:p>
        </p:txBody>
      </p:sp>
      <p:sp>
        <p:nvSpPr>
          <p:cNvPr id="9" name="kw-headtext"/>
          <p:cNvSpPr txBox="1"/>
          <p:nvPr/>
        </p:nvSpPr>
        <p:spPr>
          <a:xfrm>
            <a:off x="3657600" y="1389888"/>
            <a:ext cx="3474720" cy="457200"/>
          </a:xfrm>
          <a:prstGeom prst="rect">
            <a:avLst/>
          </a:prstGeom>
          <a:no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What it means</a:t>
            </a:r>
            <a:endParaRPr lang="en-US" sz="1800" dirty="0"/>
          </a:p>
        </p:txBody>
      </p:sp>
      <p:sp>
        <p:nvSpPr>
          <p:cNvPr id="10" name="kw-headtext"/>
          <p:cNvSpPr txBox="1"/>
          <p:nvPr/>
        </p:nvSpPr>
        <p:spPr>
          <a:xfrm>
            <a:off x="7315200" y="1389888"/>
            <a:ext cx="4236415" cy="457200"/>
          </a:xfrm>
          <a:prstGeom prst="rect">
            <a:avLst/>
          </a:prstGeom>
          <a:no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In a sentence</a:t>
            </a:r>
            <a:endParaRPr lang="en-US" sz="1800" dirty="0"/>
          </a:p>
        </p:txBody>
      </p:sp>
      <p:sp>
        <p:nvSpPr>
          <p:cNvPr id="11" name="kw-row"/>
          <p:cNvSpPr/>
          <p:nvPr/>
        </p:nvSpPr>
        <p:spPr>
          <a:xfrm>
            <a:off x="548640" y="1920240"/>
            <a:ext cx="11094415" cy="786384"/>
          </a:xfrm>
          <a:prstGeom prst="roundRect">
            <a:avLst>
              <a:gd name="adj" fmla="val 6977"/>
            </a:avLst>
          </a:prstGeom>
          <a:solidFill>
            <a:srgbClr val="F8F6F4"/>
          </a:solidFill>
          <a:ln/>
        </p:spPr>
      </p:sp>
      <p:sp>
        <p:nvSpPr>
          <p:cNvPr id="12" name="kw-hex"/>
          <p:cNvSpPr/>
          <p:nvPr/>
        </p:nvSpPr>
        <p:spPr>
          <a:xfrm>
            <a:off x="658368" y="2135261"/>
            <a:ext cx="411480" cy="356342"/>
          </a:xfrm>
          <a:prstGeom prst="hexagon">
            <a:avLst/>
          </a:prstGeom>
          <a:solidFill>
            <a:srgbClr val="7A4A1E"/>
          </a:solidFill>
          <a:ln/>
        </p:spPr>
      </p:sp>
      <p:sp>
        <p:nvSpPr>
          <p:cNvPr id="13" name="kw-cell"/>
          <p:cNvSpPr txBox="1"/>
          <p:nvPr/>
        </p:nvSpPr>
        <p:spPr>
          <a:xfrm>
            <a:off x="1143000" y="1920240"/>
            <a:ext cx="2331720" cy="786384"/>
          </a:xfrm>
          <a:prstGeom prst="rect">
            <a:avLst/>
          </a:prstGeom>
          <a:noFill/>
          <a:ln/>
        </p:spPr>
        <p:txBody>
          <a:bodyPr wrap="square" lIns="63500" tIns="63500" rIns="63500" bIns="63500" rtlCol="0" anchor="ctr"/>
          <a:lstStyle/>
          <a:p>
            <a:pPr algn="l" indent="0" marL="0">
              <a:buNone/>
            </a:pPr>
            <a:r>
              <a:rPr lang="en-US" sz="2000" b="1" dirty="0">
                <a:solidFill>
                  <a:srgbClr val="7A4A1E"/>
                </a:solidFill>
                <a:latin typeface="Cambria" pitchFamily="34" charset="0"/>
                <a:ea typeface="Cambria" pitchFamily="34" charset="-122"/>
                <a:cs typeface="Cambria" pitchFamily="34" charset="-120"/>
              </a:rPr>
              <a:t>clergy</a:t>
            </a:r>
            <a:endParaRPr lang="en-US" sz="2000" dirty="0"/>
          </a:p>
        </p:txBody>
      </p:sp>
      <p:sp>
        <p:nvSpPr>
          <p:cNvPr id="14" name="kw-cell"/>
          <p:cNvSpPr txBox="1"/>
          <p:nvPr/>
        </p:nvSpPr>
        <p:spPr>
          <a:xfrm>
            <a:off x="3657600" y="1920240"/>
            <a:ext cx="3474720" cy="786384"/>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religious leaders, the people who ran the Church</a:t>
            </a:r>
            <a:endParaRPr lang="en-US" sz="1800" dirty="0"/>
          </a:p>
        </p:txBody>
      </p:sp>
      <p:sp>
        <p:nvSpPr>
          <p:cNvPr id="15" name="kw-cell"/>
          <p:cNvSpPr txBox="1"/>
          <p:nvPr/>
        </p:nvSpPr>
        <p:spPr>
          <a:xfrm>
            <a:off x="7315200" y="1920240"/>
            <a:ext cx="4236415" cy="786384"/>
          </a:xfrm>
          <a:prstGeom prst="rect">
            <a:avLst/>
          </a:prstGeom>
          <a:noFill/>
          <a:ln/>
        </p:spPr>
        <p:txBody>
          <a:bodyPr wrap="square" lIns="63500" tIns="63500" rIns="63500" bIns="63500" rtlCol="0" anchor="ctr"/>
          <a:lstStyle/>
          <a:p>
            <a:pPr algn="l" indent="0" marL="0">
              <a:buNone/>
            </a:pPr>
            <a:r>
              <a:rPr lang="en-US" sz="1800" i="1" dirty="0">
                <a:solidFill>
                  <a:srgbClr val="4A505C"/>
                </a:solidFill>
                <a:latin typeface="Calibri" pitchFamily="34" charset="0"/>
                <a:ea typeface="Calibri" pitchFamily="34" charset="-122"/>
                <a:cs typeface="Calibri" pitchFamily="34" charset="-120"/>
              </a:rPr>
              <a:t>The clergy were a powerful group below the king.</a:t>
            </a:r>
            <a:endParaRPr lang="en-US" sz="1800" dirty="0"/>
          </a:p>
        </p:txBody>
      </p:sp>
      <p:sp>
        <p:nvSpPr>
          <p:cNvPr id="16" name="kw-row"/>
          <p:cNvSpPr/>
          <p:nvPr/>
        </p:nvSpPr>
        <p:spPr>
          <a:xfrm>
            <a:off x="548640" y="2779776"/>
            <a:ext cx="11094415" cy="786384"/>
          </a:xfrm>
          <a:prstGeom prst="roundRect">
            <a:avLst>
              <a:gd name="adj" fmla="val 6977"/>
            </a:avLst>
          </a:prstGeom>
          <a:solidFill>
            <a:srgbClr val="F9F4EC"/>
          </a:solidFill>
          <a:ln/>
        </p:spPr>
      </p:sp>
      <p:sp>
        <p:nvSpPr>
          <p:cNvPr id="17" name="kw-hex"/>
          <p:cNvSpPr/>
          <p:nvPr/>
        </p:nvSpPr>
        <p:spPr>
          <a:xfrm>
            <a:off x="658368" y="2994797"/>
            <a:ext cx="411480" cy="356342"/>
          </a:xfrm>
          <a:prstGeom prst="hexagon">
            <a:avLst/>
          </a:prstGeom>
          <a:solidFill>
            <a:srgbClr val="B8862B"/>
          </a:solidFill>
          <a:ln/>
        </p:spPr>
      </p:sp>
      <p:sp>
        <p:nvSpPr>
          <p:cNvPr id="18" name="kw-cell"/>
          <p:cNvSpPr txBox="1"/>
          <p:nvPr/>
        </p:nvSpPr>
        <p:spPr>
          <a:xfrm>
            <a:off x="1143000" y="2779776"/>
            <a:ext cx="2331720" cy="786384"/>
          </a:xfrm>
          <a:prstGeom prst="rect">
            <a:avLst/>
          </a:prstGeom>
          <a:noFill/>
          <a:ln/>
        </p:spPr>
        <p:txBody>
          <a:bodyPr wrap="square" lIns="63500" tIns="63500" rIns="63500" bIns="63500" rtlCol="0" anchor="ctr"/>
          <a:lstStyle/>
          <a:p>
            <a:pPr algn="l" indent="0" marL="0">
              <a:buNone/>
            </a:pPr>
            <a:r>
              <a:rPr lang="en-US" sz="2000" b="1" dirty="0">
                <a:solidFill>
                  <a:srgbClr val="7A4A1E"/>
                </a:solidFill>
                <a:latin typeface="Cambria" pitchFamily="34" charset="0"/>
                <a:ea typeface="Cambria" pitchFamily="34" charset="-122"/>
                <a:cs typeface="Cambria" pitchFamily="34" charset="-120"/>
              </a:rPr>
              <a:t>Chancellor</a:t>
            </a:r>
            <a:endParaRPr lang="en-US" sz="2000" dirty="0"/>
          </a:p>
        </p:txBody>
      </p:sp>
      <p:sp>
        <p:nvSpPr>
          <p:cNvPr id="19" name="kw-cell"/>
          <p:cNvSpPr txBox="1"/>
          <p:nvPr/>
        </p:nvSpPr>
        <p:spPr>
          <a:xfrm>
            <a:off x="3657600" y="2779776"/>
            <a:ext cx="3474720" cy="786384"/>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the person in charge of the country when the king was away</a:t>
            </a:r>
            <a:endParaRPr lang="en-US" sz="1800" dirty="0"/>
          </a:p>
        </p:txBody>
      </p:sp>
      <p:sp>
        <p:nvSpPr>
          <p:cNvPr id="20" name="kw-cell"/>
          <p:cNvSpPr txBox="1"/>
          <p:nvPr/>
        </p:nvSpPr>
        <p:spPr>
          <a:xfrm>
            <a:off x="7315200" y="2779776"/>
            <a:ext cx="4236415" cy="786384"/>
          </a:xfrm>
          <a:prstGeom prst="rect">
            <a:avLst/>
          </a:prstGeom>
          <a:noFill/>
          <a:ln/>
        </p:spPr>
        <p:txBody>
          <a:bodyPr wrap="square" lIns="63500" tIns="63500" rIns="63500" bIns="63500" rtlCol="0" anchor="ctr"/>
          <a:lstStyle/>
          <a:p>
            <a:pPr algn="l" indent="0" marL="0">
              <a:buNone/>
            </a:pPr>
            <a:r>
              <a:rPr lang="en-US" sz="1800" i="1" dirty="0">
                <a:solidFill>
                  <a:srgbClr val="4A505C"/>
                </a:solidFill>
                <a:latin typeface="Calibri" pitchFamily="34" charset="0"/>
                <a:ea typeface="Calibri" pitchFamily="34" charset="-122"/>
                <a:cs typeface="Calibri" pitchFamily="34" charset="-120"/>
              </a:rPr>
              <a:t>Henry made Becket his Chancellor because he trusted him.</a:t>
            </a:r>
            <a:endParaRPr lang="en-US" sz="1800" dirty="0"/>
          </a:p>
        </p:txBody>
      </p:sp>
      <p:sp>
        <p:nvSpPr>
          <p:cNvPr id="21" name="kw-row"/>
          <p:cNvSpPr/>
          <p:nvPr/>
        </p:nvSpPr>
        <p:spPr>
          <a:xfrm>
            <a:off x="548640" y="3639312"/>
            <a:ext cx="11094415" cy="786384"/>
          </a:xfrm>
          <a:prstGeom prst="roundRect">
            <a:avLst>
              <a:gd name="adj" fmla="val 6977"/>
            </a:avLst>
          </a:prstGeom>
          <a:solidFill>
            <a:srgbClr val="F8F6F4"/>
          </a:solidFill>
          <a:ln/>
        </p:spPr>
      </p:sp>
      <p:sp>
        <p:nvSpPr>
          <p:cNvPr id="22" name="kw-hex"/>
          <p:cNvSpPr/>
          <p:nvPr/>
        </p:nvSpPr>
        <p:spPr>
          <a:xfrm>
            <a:off x="658368" y="3854333"/>
            <a:ext cx="411480" cy="356342"/>
          </a:xfrm>
          <a:prstGeom prst="hexagon">
            <a:avLst/>
          </a:prstGeom>
          <a:solidFill>
            <a:srgbClr val="7A4A1E"/>
          </a:solidFill>
          <a:ln/>
        </p:spPr>
      </p:sp>
      <p:sp>
        <p:nvSpPr>
          <p:cNvPr id="23" name="kw-cell"/>
          <p:cNvSpPr txBox="1"/>
          <p:nvPr/>
        </p:nvSpPr>
        <p:spPr>
          <a:xfrm>
            <a:off x="1143000" y="3639312"/>
            <a:ext cx="2331720" cy="786384"/>
          </a:xfrm>
          <a:prstGeom prst="rect">
            <a:avLst/>
          </a:prstGeom>
          <a:noFill/>
          <a:ln/>
        </p:spPr>
        <p:txBody>
          <a:bodyPr wrap="square" lIns="63500" tIns="63500" rIns="63500" bIns="63500" rtlCol="0" anchor="ctr"/>
          <a:lstStyle/>
          <a:p>
            <a:pPr algn="l" indent="0" marL="0">
              <a:buNone/>
            </a:pPr>
            <a:r>
              <a:rPr lang="en-US" sz="2000" b="1" dirty="0">
                <a:solidFill>
                  <a:srgbClr val="7A4A1E"/>
                </a:solidFill>
                <a:latin typeface="Cambria" pitchFamily="34" charset="0"/>
                <a:ea typeface="Cambria" pitchFamily="34" charset="-122"/>
                <a:cs typeface="Cambria" pitchFamily="34" charset="-120"/>
              </a:rPr>
              <a:t>Archbishop</a:t>
            </a:r>
            <a:endParaRPr lang="en-US" sz="2000" dirty="0"/>
          </a:p>
        </p:txBody>
      </p:sp>
      <p:sp>
        <p:nvSpPr>
          <p:cNvPr id="24" name="kw-cell"/>
          <p:cNvSpPr txBox="1"/>
          <p:nvPr/>
        </p:nvSpPr>
        <p:spPr>
          <a:xfrm>
            <a:off x="3657600" y="3639312"/>
            <a:ext cx="3474720" cy="786384"/>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the most senior churchman in a country</a:t>
            </a:r>
            <a:endParaRPr lang="en-US" sz="1800" dirty="0"/>
          </a:p>
        </p:txBody>
      </p:sp>
      <p:sp>
        <p:nvSpPr>
          <p:cNvPr id="25" name="kw-cell"/>
          <p:cNvSpPr txBox="1"/>
          <p:nvPr/>
        </p:nvSpPr>
        <p:spPr>
          <a:xfrm>
            <a:off x="7315200" y="3639312"/>
            <a:ext cx="4236415" cy="786384"/>
          </a:xfrm>
          <a:prstGeom prst="rect">
            <a:avLst/>
          </a:prstGeom>
          <a:noFill/>
          <a:ln/>
        </p:spPr>
        <p:txBody>
          <a:bodyPr wrap="square" lIns="63500" tIns="63500" rIns="63500" bIns="63500" rtlCol="0" anchor="ctr"/>
          <a:lstStyle/>
          <a:p>
            <a:pPr algn="l" indent="0" marL="0">
              <a:buNone/>
            </a:pPr>
            <a:r>
              <a:rPr lang="en-US" sz="1800" i="1" dirty="0">
                <a:solidFill>
                  <a:srgbClr val="4A505C"/>
                </a:solidFill>
                <a:latin typeface="Calibri" pitchFamily="34" charset="0"/>
                <a:ea typeface="Calibri" pitchFamily="34" charset="-122"/>
                <a:cs typeface="Calibri" pitchFamily="34" charset="-120"/>
              </a:rPr>
              <a:t>The Archbishop of Canterbury led the Church in England.</a:t>
            </a:r>
            <a:endParaRPr lang="en-US" sz="1800" dirty="0"/>
          </a:p>
        </p:txBody>
      </p:sp>
      <p:sp>
        <p:nvSpPr>
          <p:cNvPr id="26" name="kw-row"/>
          <p:cNvSpPr/>
          <p:nvPr/>
        </p:nvSpPr>
        <p:spPr>
          <a:xfrm>
            <a:off x="548640" y="4498848"/>
            <a:ext cx="11094415" cy="786384"/>
          </a:xfrm>
          <a:prstGeom prst="roundRect">
            <a:avLst>
              <a:gd name="adj" fmla="val 6977"/>
            </a:avLst>
          </a:prstGeom>
          <a:solidFill>
            <a:srgbClr val="F9F4EC"/>
          </a:solidFill>
          <a:ln/>
        </p:spPr>
      </p:sp>
      <p:sp>
        <p:nvSpPr>
          <p:cNvPr id="27" name="kw-hex"/>
          <p:cNvSpPr/>
          <p:nvPr/>
        </p:nvSpPr>
        <p:spPr>
          <a:xfrm>
            <a:off x="658368" y="4713869"/>
            <a:ext cx="411480" cy="356342"/>
          </a:xfrm>
          <a:prstGeom prst="hexagon">
            <a:avLst/>
          </a:prstGeom>
          <a:solidFill>
            <a:srgbClr val="B8862B"/>
          </a:solidFill>
          <a:ln/>
        </p:spPr>
      </p:sp>
      <p:sp>
        <p:nvSpPr>
          <p:cNvPr id="28" name="kw-cell"/>
          <p:cNvSpPr txBox="1"/>
          <p:nvPr/>
        </p:nvSpPr>
        <p:spPr>
          <a:xfrm>
            <a:off x="1143000" y="4498848"/>
            <a:ext cx="2331720" cy="786384"/>
          </a:xfrm>
          <a:prstGeom prst="rect">
            <a:avLst/>
          </a:prstGeom>
          <a:noFill/>
          <a:ln/>
        </p:spPr>
        <p:txBody>
          <a:bodyPr wrap="square" lIns="63500" tIns="63500" rIns="63500" bIns="63500" rtlCol="0" anchor="ctr"/>
          <a:lstStyle/>
          <a:p>
            <a:pPr algn="l" indent="0" marL="0">
              <a:buNone/>
            </a:pPr>
            <a:r>
              <a:rPr lang="en-US" sz="2000" b="1" dirty="0">
                <a:solidFill>
                  <a:srgbClr val="7A4A1E"/>
                </a:solidFill>
                <a:latin typeface="Cambria" pitchFamily="34" charset="0"/>
                <a:ea typeface="Cambria" pitchFamily="34" charset="-122"/>
                <a:cs typeface="Cambria" pitchFamily="34" charset="-120"/>
              </a:rPr>
              <a:t>excommunicate</a:t>
            </a:r>
            <a:endParaRPr lang="en-US" sz="2000" dirty="0"/>
          </a:p>
        </p:txBody>
      </p:sp>
      <p:sp>
        <p:nvSpPr>
          <p:cNvPr id="29" name="kw-cell"/>
          <p:cNvSpPr txBox="1"/>
          <p:nvPr/>
        </p:nvSpPr>
        <p:spPr>
          <a:xfrm>
            <a:off x="3657600" y="4498848"/>
            <a:ext cx="3474720" cy="786384"/>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to officially shut someone out of the Church</a:t>
            </a:r>
            <a:endParaRPr lang="en-US" sz="1800" dirty="0"/>
          </a:p>
        </p:txBody>
      </p:sp>
      <p:sp>
        <p:nvSpPr>
          <p:cNvPr id="30" name="kw-cell"/>
          <p:cNvSpPr txBox="1"/>
          <p:nvPr/>
        </p:nvSpPr>
        <p:spPr>
          <a:xfrm>
            <a:off x="7315200" y="4498848"/>
            <a:ext cx="4236415" cy="786384"/>
          </a:xfrm>
          <a:prstGeom prst="rect">
            <a:avLst/>
          </a:prstGeom>
          <a:noFill/>
          <a:ln/>
        </p:spPr>
        <p:txBody>
          <a:bodyPr wrap="square" lIns="63500" tIns="63500" rIns="63500" bIns="63500" rtlCol="0" anchor="ctr"/>
          <a:lstStyle/>
          <a:p>
            <a:pPr algn="l" indent="0" marL="0">
              <a:buNone/>
            </a:pPr>
            <a:r>
              <a:rPr lang="en-US" sz="1800" i="1" dirty="0">
                <a:solidFill>
                  <a:srgbClr val="4A505C"/>
                </a:solidFill>
                <a:latin typeface="Calibri" pitchFamily="34" charset="0"/>
                <a:ea typeface="Calibri" pitchFamily="34" charset="-122"/>
                <a:cs typeface="Calibri" pitchFamily="34" charset="-120"/>
              </a:rPr>
              <a:t>Becket excommunicated the bishops who had helped Henry.</a:t>
            </a:r>
            <a:endParaRPr lang="en-US" sz="1800" dirty="0"/>
          </a:p>
        </p:txBody>
      </p:sp>
      <p:sp>
        <p:nvSpPr>
          <p:cNvPr id="31" name="kw-row"/>
          <p:cNvSpPr/>
          <p:nvPr/>
        </p:nvSpPr>
        <p:spPr>
          <a:xfrm>
            <a:off x="548640" y="5358384"/>
            <a:ext cx="11094415" cy="786384"/>
          </a:xfrm>
          <a:prstGeom prst="roundRect">
            <a:avLst>
              <a:gd name="adj" fmla="val 6977"/>
            </a:avLst>
          </a:prstGeom>
          <a:solidFill>
            <a:srgbClr val="F8F6F4"/>
          </a:solidFill>
          <a:ln/>
        </p:spPr>
      </p:sp>
      <p:sp>
        <p:nvSpPr>
          <p:cNvPr id="32" name="kw-hex"/>
          <p:cNvSpPr/>
          <p:nvPr/>
        </p:nvSpPr>
        <p:spPr>
          <a:xfrm>
            <a:off x="658368" y="5573405"/>
            <a:ext cx="411480" cy="356342"/>
          </a:xfrm>
          <a:prstGeom prst="hexagon">
            <a:avLst/>
          </a:prstGeom>
          <a:solidFill>
            <a:srgbClr val="7A4A1E"/>
          </a:solidFill>
          <a:ln/>
        </p:spPr>
      </p:sp>
      <p:sp>
        <p:nvSpPr>
          <p:cNvPr id="33" name="kw-cell"/>
          <p:cNvSpPr txBox="1"/>
          <p:nvPr/>
        </p:nvSpPr>
        <p:spPr>
          <a:xfrm>
            <a:off x="1143000" y="5358384"/>
            <a:ext cx="2331720" cy="786384"/>
          </a:xfrm>
          <a:prstGeom prst="rect">
            <a:avLst/>
          </a:prstGeom>
          <a:noFill/>
          <a:ln/>
        </p:spPr>
        <p:txBody>
          <a:bodyPr wrap="square" lIns="63500" tIns="63500" rIns="63500" bIns="63500" rtlCol="0" anchor="ctr"/>
          <a:lstStyle/>
          <a:p>
            <a:pPr algn="l" indent="0" marL="0">
              <a:buNone/>
            </a:pPr>
            <a:r>
              <a:rPr lang="en-US" sz="2000" b="1" dirty="0">
                <a:solidFill>
                  <a:srgbClr val="7A4A1E"/>
                </a:solidFill>
                <a:latin typeface="Cambria" pitchFamily="34" charset="0"/>
                <a:ea typeface="Cambria" pitchFamily="34" charset="-122"/>
                <a:cs typeface="Cambria" pitchFamily="34" charset="-120"/>
              </a:rPr>
              <a:t>contemporary</a:t>
            </a:r>
            <a:endParaRPr lang="en-US" sz="2000" dirty="0"/>
          </a:p>
        </p:txBody>
      </p:sp>
      <p:sp>
        <p:nvSpPr>
          <p:cNvPr id="34" name="kw-cell"/>
          <p:cNvSpPr txBox="1"/>
          <p:nvPr/>
        </p:nvSpPr>
        <p:spPr>
          <a:xfrm>
            <a:off x="3657600" y="5358384"/>
            <a:ext cx="3474720" cy="786384"/>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from the actual time</a:t>
            </a:r>
            <a:endParaRPr lang="en-US" sz="1800" dirty="0"/>
          </a:p>
        </p:txBody>
      </p:sp>
      <p:sp>
        <p:nvSpPr>
          <p:cNvPr id="35" name="kw-cell"/>
          <p:cNvSpPr txBox="1"/>
          <p:nvPr/>
        </p:nvSpPr>
        <p:spPr>
          <a:xfrm>
            <a:off x="7315200" y="5358384"/>
            <a:ext cx="4236415" cy="786384"/>
          </a:xfrm>
          <a:prstGeom prst="rect">
            <a:avLst/>
          </a:prstGeom>
          <a:noFill/>
          <a:ln/>
        </p:spPr>
        <p:txBody>
          <a:bodyPr wrap="square" lIns="63500" tIns="63500" rIns="63500" bIns="63500" rtlCol="0" anchor="ctr"/>
          <a:lstStyle/>
          <a:p>
            <a:pPr algn="l" indent="0" marL="0">
              <a:buNone/>
            </a:pPr>
            <a:r>
              <a:rPr lang="en-US" sz="1800" i="1" dirty="0">
                <a:solidFill>
                  <a:srgbClr val="4A505C"/>
                </a:solidFill>
                <a:latin typeface="Calibri" pitchFamily="34" charset="0"/>
                <a:ea typeface="Calibri" pitchFamily="34" charset="-122"/>
                <a:cs typeface="Calibri" pitchFamily="34" charset="-120"/>
              </a:rPr>
              <a:t>A contemporary picture shows Henry and Becket talking.</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Read-along (1 of 2)</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7A4A1E"/>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FAF8F6"/>
          </a:solidFill>
          <a:ln w="12700">
            <a:solidFill>
              <a:srgbClr val="DBCEC2"/>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1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In medieval England, people believed God was above the king.</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2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Below the king came the barons, the knights and the peasants.</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3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There was another powerful group: the </a:t>
            </a:r>
            <a:pPr algn="l" indent="0" marL="0">
              <a:spcAft>
                <a:spcPts val="600"/>
              </a:spcAft>
              <a:buNone/>
            </a:pPr>
            <a:r>
              <a:rPr lang="en-US" sz="2400" b="1" dirty="0">
                <a:solidFill>
                  <a:srgbClr val="7A4A1E"/>
                </a:solidFill>
                <a:latin typeface="Calibri" pitchFamily="34" charset="0"/>
                <a:ea typeface="Calibri" pitchFamily="34" charset="-122"/>
                <a:cs typeface="Calibri" pitchFamily="34" charset="-120"/>
              </a:rPr>
              <a:t>clergy</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 who ran the Church.</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4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In 1154 Henry II became king.</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5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His best friend was Thomas Becket.</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6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Henry made Becket his </a:t>
            </a:r>
            <a:pPr algn="l" indent="0" marL="0">
              <a:spcAft>
                <a:spcPts val="600"/>
              </a:spcAft>
              <a:buNone/>
            </a:pPr>
            <a:r>
              <a:rPr lang="en-US" sz="2400" b="1" dirty="0">
                <a:solidFill>
                  <a:srgbClr val="7A4A1E"/>
                </a:solidFill>
                <a:latin typeface="Calibri" pitchFamily="34" charset="0"/>
                <a:ea typeface="Calibri" pitchFamily="34" charset="-122"/>
                <a:cs typeface="Calibri" pitchFamily="34" charset="-120"/>
              </a:rPr>
              <a:t>Chancellor</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 in charge when the king was away.</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7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Then Henry made him </a:t>
            </a:r>
            <a:pPr algn="l" indent="0" marL="0">
              <a:spcAft>
                <a:spcPts val="600"/>
              </a:spcAft>
              <a:buNone/>
            </a:pPr>
            <a:r>
              <a:rPr lang="en-US" sz="2400" b="1" dirty="0">
                <a:solidFill>
                  <a:srgbClr val="7A4A1E"/>
                </a:solidFill>
                <a:latin typeface="Calibri" pitchFamily="34" charset="0"/>
                <a:ea typeface="Calibri" pitchFamily="34" charset="-122"/>
                <a:cs typeface="Calibri" pitchFamily="34" charset="-120"/>
              </a:rPr>
              <a:t>Archbishop</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 of Canterbury.</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Read-along (2 of 2)</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7A4A1E"/>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FAF8F6"/>
          </a:solidFill>
          <a:ln w="12700">
            <a:solidFill>
              <a:srgbClr val="DBCEC2"/>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8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But Becket became very religious and put the Church first.</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9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He refused to let the king punish priests who broke the law.</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10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In 1164 Becket fled to France and stayed for six years.</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11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He came back in 1170 and the quarrel started again.</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12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Henry raged against him, and four knights rode to Canterbury.</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13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They killed Becket in his own cathedral.</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14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Soon afterwards the Pope made Becket a saint.</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Who was above the king?</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629148"/>
            <a:ext cx="11094415" cy="515620"/>
          </a:xfrm>
          <a:prstGeom prst="roundRect">
            <a:avLst>
              <a:gd name="adj" fmla="val 26601"/>
            </a:avLst>
          </a:prstGeom>
          <a:solidFill>
            <a:srgbClr val="F6F0E6"/>
          </a:solidFill>
          <a:ln w="15875">
            <a:solidFill>
              <a:srgbClr val="B8862B"/>
            </a:solidFill>
            <a:prstDash val="solid"/>
          </a:ln>
        </p:spPr>
      </p:sp>
      <p:sp>
        <p:nvSpPr>
          <p:cNvPr id="8" name="tip-hex"/>
          <p:cNvSpPr/>
          <p:nvPr/>
        </p:nvSpPr>
        <p:spPr>
          <a:xfrm>
            <a:off x="685800" y="5688990"/>
            <a:ext cx="457200" cy="395935"/>
          </a:xfrm>
          <a:prstGeom prst="hexagon">
            <a:avLst/>
          </a:prstGeom>
          <a:solidFill>
            <a:srgbClr val="B8862B"/>
          </a:solidFill>
          <a:ln/>
        </p:spPr>
      </p:sp>
      <p:sp>
        <p:nvSpPr>
          <p:cNvPr id="9" name="tip-hex-label"/>
          <p:cNvSpPr txBox="1"/>
          <p:nvPr/>
        </p:nvSpPr>
        <p:spPr>
          <a:xfrm>
            <a:off x="685800" y="5688990"/>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684012"/>
            <a:ext cx="10225735" cy="405892"/>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Clergy is the group word. One member of the clergy is a priest, a bishop or an archbishop.</a:t>
            </a:r>
            <a:endParaRPr lang="en-US" sz="1800" dirty="0"/>
          </a:p>
        </p:txBody>
      </p:sp>
      <p:sp>
        <p:nvSpPr>
          <p:cNvPr id="11" name="point-card"/>
          <p:cNvSpPr/>
          <p:nvPr/>
        </p:nvSpPr>
        <p:spPr>
          <a:xfrm>
            <a:off x="548640" y="1389888"/>
            <a:ext cx="3515258" cy="3964940"/>
          </a:xfrm>
          <a:prstGeom prst="roundRect">
            <a:avLst>
              <a:gd name="adj" fmla="val 1561"/>
            </a:avLst>
          </a:prstGeom>
          <a:solidFill>
            <a:srgbClr val="F6F2EF"/>
          </a:solidFill>
          <a:ln/>
        </p:spPr>
      </p:sp>
      <p:sp>
        <p:nvSpPr>
          <p:cNvPr id="12" name="point-hex"/>
          <p:cNvSpPr/>
          <p:nvPr/>
        </p:nvSpPr>
        <p:spPr>
          <a:xfrm>
            <a:off x="731520" y="1572768"/>
            <a:ext cx="685800" cy="593903"/>
          </a:xfrm>
          <a:prstGeom prst="hexagon">
            <a:avLst/>
          </a:prstGeom>
          <a:solidFill>
            <a:srgbClr val="7A4A1E"/>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86766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Think back to the feudal system. At the top sat the king, then the barons, then the knights, then the peasants.</a:t>
            </a:r>
            <a:endParaRPr lang="en-US" sz="2400" dirty="0"/>
          </a:p>
        </p:txBody>
      </p:sp>
      <p:sp>
        <p:nvSpPr>
          <p:cNvPr id="15" name="point-card"/>
          <p:cNvSpPr/>
          <p:nvPr/>
        </p:nvSpPr>
        <p:spPr>
          <a:xfrm>
            <a:off x="4338218" y="1389888"/>
            <a:ext cx="3515258" cy="3964940"/>
          </a:xfrm>
          <a:prstGeom prst="roundRect">
            <a:avLst>
              <a:gd name="adj" fmla="val 1561"/>
            </a:avLst>
          </a:prstGeom>
          <a:solidFill>
            <a:srgbClr val="F9F4EC"/>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86766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The clergy were a separate group below the king, but a powerful one.</a:t>
            </a:r>
            <a:endParaRPr lang="en-US" sz="2400" dirty="0"/>
          </a:p>
        </p:txBody>
      </p:sp>
      <p:sp>
        <p:nvSpPr>
          <p:cNvPr id="19" name="point-card"/>
          <p:cNvSpPr/>
          <p:nvPr/>
        </p:nvSpPr>
        <p:spPr>
          <a:xfrm>
            <a:off x="8127797" y="1389888"/>
            <a:ext cx="3515258" cy="3964940"/>
          </a:xfrm>
          <a:prstGeom prst="roundRect">
            <a:avLst>
              <a:gd name="adj" fmla="val 1561"/>
            </a:avLst>
          </a:prstGeom>
          <a:solidFill>
            <a:srgbClr val="F6F2EF"/>
          </a:solidFill>
          <a:ln/>
        </p:spPr>
      </p:sp>
      <p:sp>
        <p:nvSpPr>
          <p:cNvPr id="20" name="point-hex"/>
          <p:cNvSpPr/>
          <p:nvPr/>
        </p:nvSpPr>
        <p:spPr>
          <a:xfrm>
            <a:off x="8310677" y="1572768"/>
            <a:ext cx="685800" cy="593903"/>
          </a:xfrm>
          <a:prstGeom prst="hexagon">
            <a:avLst/>
          </a:prstGeom>
          <a:solidFill>
            <a:srgbClr val="7A4A1E"/>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86766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So medieval England had two great powers: the Crown and the Church.</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Best friends: Henry and Becket</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6F0E6"/>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When a source gives you a length of time and two dates, check that they agree. If they do not, one of them is wrong.</a:t>
            </a:r>
            <a:endParaRPr lang="en-US" sz="1800" dirty="0"/>
          </a:p>
        </p:txBody>
      </p:sp>
      <p:sp>
        <p:nvSpPr>
          <p:cNvPr id="11" name="point-card"/>
          <p:cNvSpPr/>
          <p:nvPr/>
        </p:nvSpPr>
        <p:spPr>
          <a:xfrm>
            <a:off x="548640" y="1389888"/>
            <a:ext cx="3515258" cy="3686048"/>
          </a:xfrm>
          <a:prstGeom prst="roundRect">
            <a:avLst>
              <a:gd name="adj" fmla="val 1561"/>
            </a:avLst>
          </a:prstGeom>
          <a:solidFill>
            <a:srgbClr val="F6F2EF"/>
          </a:solidFill>
          <a:ln/>
        </p:spPr>
      </p:sp>
      <p:sp>
        <p:nvSpPr>
          <p:cNvPr id="12" name="point-hex"/>
          <p:cNvSpPr/>
          <p:nvPr/>
        </p:nvSpPr>
        <p:spPr>
          <a:xfrm>
            <a:off x="731520" y="1572768"/>
            <a:ext cx="685800" cy="593903"/>
          </a:xfrm>
          <a:prstGeom prst="hexagon">
            <a:avLst/>
          </a:prstGeom>
          <a:solidFill>
            <a:srgbClr val="7A4A1E"/>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588768"/>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It is 1154, and Henry II has become King of England.</a:t>
            </a:r>
            <a:endParaRPr lang="en-US" sz="2200" dirty="0"/>
          </a:p>
        </p:txBody>
      </p:sp>
      <p:sp>
        <p:nvSpPr>
          <p:cNvPr id="15" name="point-card"/>
          <p:cNvSpPr/>
          <p:nvPr/>
        </p:nvSpPr>
        <p:spPr>
          <a:xfrm>
            <a:off x="4338218" y="1389888"/>
            <a:ext cx="3515258" cy="3686048"/>
          </a:xfrm>
          <a:prstGeom prst="roundRect">
            <a:avLst>
              <a:gd name="adj" fmla="val 1561"/>
            </a:avLst>
          </a:prstGeom>
          <a:solidFill>
            <a:srgbClr val="F9F4EC"/>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588768"/>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One of Henry's best friends is Thomas Becket. They hunt together and feast together, and both love expensive food and wine.</a:t>
            </a:r>
            <a:endParaRPr lang="en-US" sz="2200" dirty="0"/>
          </a:p>
        </p:txBody>
      </p:sp>
      <p:sp>
        <p:nvSpPr>
          <p:cNvPr id="19" name="point-card"/>
          <p:cNvSpPr/>
          <p:nvPr/>
        </p:nvSpPr>
        <p:spPr>
          <a:xfrm>
            <a:off x="8127797" y="1389888"/>
            <a:ext cx="3515258" cy="3686048"/>
          </a:xfrm>
          <a:prstGeom prst="roundRect">
            <a:avLst>
              <a:gd name="adj" fmla="val 1561"/>
            </a:avLst>
          </a:prstGeom>
          <a:solidFill>
            <a:srgbClr val="F6F2EF"/>
          </a:solidFill>
          <a:ln/>
        </p:spPr>
      </p:sp>
      <p:sp>
        <p:nvSpPr>
          <p:cNvPr id="20" name="point-hex"/>
          <p:cNvSpPr/>
          <p:nvPr/>
        </p:nvSpPr>
        <p:spPr>
          <a:xfrm>
            <a:off x="8310677" y="1572768"/>
            <a:ext cx="685800" cy="593903"/>
          </a:xfrm>
          <a:prstGeom prst="hexagon">
            <a:avLst/>
          </a:prstGeom>
          <a:solidFill>
            <a:srgbClr val="7A4A1E"/>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588768"/>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That is not what he gets. Becket becomes very religious and starts to put the Church before the king.</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000" b="1" dirty="0">
                <a:solidFill>
                  <a:srgbClr val="7A4A1E"/>
                </a:solidFill>
                <a:latin typeface="Cambria" pitchFamily="34" charset="0"/>
                <a:ea typeface="Cambria" pitchFamily="34" charset="-122"/>
                <a:cs typeface="Cambria" pitchFamily="34" charset="-120"/>
              </a:rPr>
              <a:t>Worked example: Best friends: Henry and Becket</a:t>
            </a:r>
            <a:endParaRPr lang="en-US" sz="30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wq-band"/>
          <p:cNvSpPr/>
          <p:nvPr/>
        </p:nvSpPr>
        <p:spPr>
          <a:xfrm>
            <a:off x="548640" y="1389888"/>
            <a:ext cx="11094415" cy="929640"/>
          </a:xfrm>
          <a:prstGeom prst="roundRect">
            <a:avLst>
              <a:gd name="adj" fmla="val 9836"/>
            </a:avLst>
          </a:prstGeom>
          <a:solidFill>
            <a:srgbClr val="F6F2EF"/>
          </a:solidFill>
          <a:ln/>
        </p:spPr>
      </p:sp>
      <p:sp>
        <p:nvSpPr>
          <p:cNvPr id="8" name="worked-q"/>
          <p:cNvSpPr txBox="1"/>
          <p:nvPr/>
        </p:nvSpPr>
        <p:spPr>
          <a:xfrm>
            <a:off x="731520" y="1481328"/>
            <a:ext cx="10728655" cy="746760"/>
          </a:xfrm>
          <a:prstGeom prst="rect">
            <a:avLst/>
          </a:prstGeom>
          <a:noFill/>
          <a:ln/>
        </p:spPr>
        <p:txBody>
          <a:bodyPr wrap="square" lIns="63500" tIns="63500" rIns="63500" bIns="63500" rtlCol="0" anchor="ctr"/>
          <a:lstStyle/>
          <a:p>
            <a:pPr algn="l" indent="0" marL="0">
              <a:buNone/>
            </a:pPr>
            <a:r>
              <a:rPr lang="en-US" sz="2000" b="1" dirty="0">
                <a:solidFill>
                  <a:srgbClr val="1E2229"/>
                </a:solidFill>
                <a:latin typeface="Calibri" pitchFamily="34" charset="0"/>
                <a:ea typeface="Calibri" pitchFamily="34" charset="-122"/>
                <a:cs typeface="Calibri" pitchFamily="34" charset="-120"/>
              </a:rPr>
              <a:t>Becket fled to France in 1164 and returned in 1170. Check the chapter's claim that he was away for six years.</a:t>
            </a:r>
            <a:endParaRPr lang="en-US" sz="2000" dirty="0"/>
          </a:p>
        </p:txBody>
      </p:sp>
      <p:sp>
        <p:nvSpPr>
          <p:cNvPr id="9" name="step-box"/>
          <p:cNvSpPr/>
          <p:nvPr/>
        </p:nvSpPr>
        <p:spPr>
          <a:xfrm>
            <a:off x="548640" y="2502408"/>
            <a:ext cx="11094415" cy="568858"/>
          </a:xfrm>
          <a:prstGeom prst="roundRect">
            <a:avLst>
              <a:gd name="adj" fmla="val 12859"/>
            </a:avLst>
          </a:prstGeom>
          <a:solidFill>
            <a:srgbClr val="FFFFFF"/>
          </a:solidFill>
          <a:ln w="15875">
            <a:solidFill>
              <a:srgbClr val="B69B83"/>
            </a:solidFill>
            <a:prstDash val="solid"/>
          </a:ln>
        </p:spPr>
      </p:sp>
      <p:sp>
        <p:nvSpPr>
          <p:cNvPr id="10" name="step-hex"/>
          <p:cNvSpPr/>
          <p:nvPr/>
        </p:nvSpPr>
        <p:spPr>
          <a:xfrm>
            <a:off x="685800" y="2588870"/>
            <a:ext cx="457200" cy="395935"/>
          </a:xfrm>
          <a:prstGeom prst="hexagon">
            <a:avLst/>
          </a:prstGeom>
          <a:solidFill>
            <a:srgbClr val="7A4A1E"/>
          </a:solidFill>
          <a:ln/>
        </p:spPr>
      </p:sp>
      <p:sp>
        <p:nvSpPr>
          <p:cNvPr id="11" name="step-hex-label"/>
          <p:cNvSpPr txBox="1"/>
          <p:nvPr/>
        </p:nvSpPr>
        <p:spPr>
          <a:xfrm>
            <a:off x="685800" y="2588870"/>
            <a:ext cx="457200" cy="395935"/>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2" name="step"/>
          <p:cNvSpPr txBox="1"/>
          <p:nvPr/>
        </p:nvSpPr>
        <p:spPr>
          <a:xfrm>
            <a:off x="1280160" y="2502408"/>
            <a:ext cx="10180015" cy="568858"/>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Find the two dates: he left in 1164 and came back in 1170.</a:t>
            </a:r>
            <a:endParaRPr lang="en-US" sz="1800" dirty="0"/>
          </a:p>
        </p:txBody>
      </p:sp>
      <p:sp>
        <p:nvSpPr>
          <p:cNvPr id="13" name="step-box"/>
          <p:cNvSpPr/>
          <p:nvPr/>
        </p:nvSpPr>
        <p:spPr>
          <a:xfrm>
            <a:off x="548640" y="3144418"/>
            <a:ext cx="11094415" cy="568858"/>
          </a:xfrm>
          <a:prstGeom prst="roundRect">
            <a:avLst>
              <a:gd name="adj" fmla="val 12859"/>
            </a:avLst>
          </a:prstGeom>
          <a:solidFill>
            <a:srgbClr val="FFFFFF"/>
          </a:solidFill>
          <a:ln w="15875">
            <a:solidFill>
              <a:srgbClr val="B69B83"/>
            </a:solidFill>
            <a:prstDash val="solid"/>
          </a:ln>
        </p:spPr>
      </p:sp>
      <p:sp>
        <p:nvSpPr>
          <p:cNvPr id="14" name="step-hex"/>
          <p:cNvSpPr/>
          <p:nvPr/>
        </p:nvSpPr>
        <p:spPr>
          <a:xfrm>
            <a:off x="685800" y="3230880"/>
            <a:ext cx="457200" cy="395935"/>
          </a:xfrm>
          <a:prstGeom prst="hexagon">
            <a:avLst/>
          </a:prstGeom>
          <a:solidFill>
            <a:srgbClr val="7A4A1E"/>
          </a:solidFill>
          <a:ln/>
        </p:spPr>
      </p:sp>
      <p:sp>
        <p:nvSpPr>
          <p:cNvPr id="15" name="step-hex-label"/>
          <p:cNvSpPr txBox="1"/>
          <p:nvPr/>
        </p:nvSpPr>
        <p:spPr>
          <a:xfrm>
            <a:off x="685800" y="3230880"/>
            <a:ext cx="457200" cy="395935"/>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6" name="step"/>
          <p:cNvSpPr txBox="1"/>
          <p:nvPr/>
        </p:nvSpPr>
        <p:spPr>
          <a:xfrm>
            <a:off x="1280160" y="3144418"/>
            <a:ext cx="10180015" cy="568858"/>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Later year minus earlier year: 1170 − 1164.</a:t>
            </a:r>
            <a:endParaRPr lang="en-US" sz="1800" dirty="0"/>
          </a:p>
        </p:txBody>
      </p:sp>
      <p:sp>
        <p:nvSpPr>
          <p:cNvPr id="17" name="step-box"/>
          <p:cNvSpPr/>
          <p:nvPr/>
        </p:nvSpPr>
        <p:spPr>
          <a:xfrm>
            <a:off x="548640" y="3786429"/>
            <a:ext cx="11094415" cy="568858"/>
          </a:xfrm>
          <a:prstGeom prst="roundRect">
            <a:avLst>
              <a:gd name="adj" fmla="val 12859"/>
            </a:avLst>
          </a:prstGeom>
          <a:solidFill>
            <a:srgbClr val="FFFFFF"/>
          </a:solidFill>
          <a:ln w="15875">
            <a:solidFill>
              <a:srgbClr val="B69B83"/>
            </a:solidFill>
            <a:prstDash val="solid"/>
          </a:ln>
        </p:spPr>
      </p:sp>
      <p:sp>
        <p:nvSpPr>
          <p:cNvPr id="18" name="step-hex"/>
          <p:cNvSpPr/>
          <p:nvPr/>
        </p:nvSpPr>
        <p:spPr>
          <a:xfrm>
            <a:off x="685800" y="3872890"/>
            <a:ext cx="457200" cy="395935"/>
          </a:xfrm>
          <a:prstGeom prst="hexagon">
            <a:avLst/>
          </a:prstGeom>
          <a:solidFill>
            <a:srgbClr val="7A4A1E"/>
          </a:solidFill>
          <a:ln/>
        </p:spPr>
      </p:sp>
      <p:sp>
        <p:nvSpPr>
          <p:cNvPr id="19" name="step-hex-label"/>
          <p:cNvSpPr txBox="1"/>
          <p:nvPr/>
        </p:nvSpPr>
        <p:spPr>
          <a:xfrm>
            <a:off x="685800" y="3872890"/>
            <a:ext cx="457200" cy="395935"/>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0" name="step"/>
          <p:cNvSpPr txBox="1"/>
          <p:nvPr/>
        </p:nvSpPr>
        <p:spPr>
          <a:xfrm>
            <a:off x="1280160" y="3786429"/>
            <a:ext cx="10180015" cy="568858"/>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1170 − 1164 = 6. The claim is right: six years.</a:t>
            </a:r>
            <a:endParaRPr lang="en-US" sz="1800" dirty="0"/>
          </a:p>
        </p:txBody>
      </p:sp>
      <p:sp>
        <p:nvSpPr>
          <p:cNvPr id="21" name="step-box"/>
          <p:cNvSpPr/>
          <p:nvPr/>
        </p:nvSpPr>
        <p:spPr>
          <a:xfrm>
            <a:off x="548640" y="4428439"/>
            <a:ext cx="11094415" cy="833018"/>
          </a:xfrm>
          <a:prstGeom prst="roundRect">
            <a:avLst>
              <a:gd name="adj" fmla="val 8782"/>
            </a:avLst>
          </a:prstGeom>
          <a:solidFill>
            <a:srgbClr val="FFFFFF"/>
          </a:solidFill>
          <a:ln w="15875">
            <a:solidFill>
              <a:srgbClr val="B69B83"/>
            </a:solidFill>
            <a:prstDash val="solid"/>
          </a:ln>
        </p:spPr>
      </p:sp>
      <p:sp>
        <p:nvSpPr>
          <p:cNvPr id="22" name="step-hex"/>
          <p:cNvSpPr/>
          <p:nvPr/>
        </p:nvSpPr>
        <p:spPr>
          <a:xfrm>
            <a:off x="685800" y="4646981"/>
            <a:ext cx="457200" cy="395935"/>
          </a:xfrm>
          <a:prstGeom prst="hexagon">
            <a:avLst/>
          </a:prstGeom>
          <a:solidFill>
            <a:srgbClr val="7A4A1E"/>
          </a:solidFill>
          <a:ln/>
        </p:spPr>
      </p:sp>
      <p:sp>
        <p:nvSpPr>
          <p:cNvPr id="23" name="step-hex-label"/>
          <p:cNvSpPr txBox="1"/>
          <p:nvPr/>
        </p:nvSpPr>
        <p:spPr>
          <a:xfrm>
            <a:off x="685800" y="4646981"/>
            <a:ext cx="457200" cy="395935"/>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24" name="step"/>
          <p:cNvSpPr txBox="1"/>
          <p:nvPr/>
        </p:nvSpPr>
        <p:spPr>
          <a:xfrm>
            <a:off x="1280160" y="4428439"/>
            <a:ext cx="10180015" cy="833018"/>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This is also a good check on your lesson, which says both six years and the dates 1164 and 1170. The three numbers agree.</a:t>
            </a:r>
            <a:endParaRPr lang="en-US" sz="1800" dirty="0"/>
          </a:p>
        </p:txBody>
      </p:sp>
      <p:sp>
        <p:nvSpPr>
          <p:cNvPr id="25" name="worked-answer"/>
          <p:cNvSpPr/>
          <p:nvPr/>
        </p:nvSpPr>
        <p:spPr>
          <a:xfrm>
            <a:off x="548640" y="5444338"/>
            <a:ext cx="11094415" cy="552196"/>
          </a:xfrm>
          <a:prstGeom prst="roundRect">
            <a:avLst>
              <a:gd name="adj" fmla="val 24839"/>
            </a:avLst>
          </a:prstGeom>
          <a:solidFill>
            <a:srgbClr val="EFE4D0"/>
          </a:solidFill>
          <a:ln w="19050">
            <a:solidFill>
              <a:srgbClr val="B8862B"/>
            </a:solid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Answer  </a:t>
            </a:r>
            <a:pPr algn="l" indent="0" marL="0">
              <a:buNone/>
            </a:pPr>
            <a:r>
              <a:rPr lang="en-US" sz="1800" b="1" dirty="0">
                <a:solidFill>
                  <a:srgbClr val="1E2229"/>
                </a:solidFill>
                <a:latin typeface="Calibri" pitchFamily="34" charset="0"/>
                <a:ea typeface="Calibri" pitchFamily="34" charset="-122"/>
                <a:cs typeface="Calibri" pitchFamily="34" charset="-120"/>
              </a:rPr>
              <a:t>Six years</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The quarrel and the murder, 1170</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071364"/>
            <a:ext cx="5074920" cy="1073404"/>
          </a:xfrm>
          <a:prstGeom prst="roundRect">
            <a:avLst>
              <a:gd name="adj" fmla="val 12778"/>
            </a:avLst>
          </a:prstGeom>
          <a:solidFill>
            <a:srgbClr val="F6F0E6"/>
          </a:solidFill>
          <a:ln w="15875">
            <a:solidFill>
              <a:srgbClr val="B8862B"/>
            </a:solidFill>
            <a:prstDash val="solid"/>
          </a:ln>
        </p:spPr>
      </p:sp>
      <p:sp>
        <p:nvSpPr>
          <p:cNvPr id="8" name="tip-hex"/>
          <p:cNvSpPr/>
          <p:nvPr/>
        </p:nvSpPr>
        <p:spPr>
          <a:xfrm>
            <a:off x="685800" y="5410098"/>
            <a:ext cx="457200" cy="395935"/>
          </a:xfrm>
          <a:prstGeom prst="hexagon">
            <a:avLst/>
          </a:prstGeom>
          <a:solidFill>
            <a:srgbClr val="B8862B"/>
          </a:solidFill>
          <a:ln/>
        </p:spPr>
      </p:sp>
      <p:sp>
        <p:nvSpPr>
          <p:cNvPr id="9" name="tip-hex-label"/>
          <p:cNvSpPr txBox="1"/>
          <p:nvPr/>
        </p:nvSpPr>
        <p:spPr>
          <a:xfrm>
            <a:off x="685800" y="5410098"/>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126228"/>
            <a:ext cx="4206240" cy="963676"/>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Whether Henry meant his words as an order is exactly the question the next chapter asks. Do not decide yet.</a:t>
            </a:r>
            <a:endParaRPr lang="en-US" sz="1800" dirty="0"/>
          </a:p>
        </p:txBody>
      </p:sp>
      <p:sp>
        <p:nvSpPr>
          <p:cNvPr id="11" name="quote-panel"/>
          <p:cNvSpPr/>
          <p:nvPr/>
        </p:nvSpPr>
        <p:spPr>
          <a:xfrm>
            <a:off x="5989320" y="1389888"/>
            <a:ext cx="5653735" cy="4754880"/>
          </a:xfrm>
          <a:prstGeom prst="roundRect">
            <a:avLst>
              <a:gd name="adj" fmla="val 1154"/>
            </a:avLst>
          </a:prstGeom>
          <a:solidFill>
            <a:srgbClr val="F6F2EF"/>
          </a:solidFill>
          <a:ln/>
        </p:spPr>
      </p:sp>
      <p:sp>
        <p:nvSpPr>
          <p:cNvPr id="12" name="quote-mark"/>
          <p:cNvSpPr txBox="1"/>
          <p:nvPr/>
        </p:nvSpPr>
        <p:spPr>
          <a:xfrm>
            <a:off x="6126480" y="1572768"/>
            <a:ext cx="868680" cy="1280160"/>
          </a:xfrm>
          <a:prstGeom prst="rect">
            <a:avLst/>
          </a:prstGeom>
          <a:noFill/>
          <a:ln/>
        </p:spPr>
        <p:txBody>
          <a:bodyPr wrap="square" lIns="63500" tIns="63500" rIns="63500" bIns="63500" rtlCol="0" anchor="t"/>
          <a:lstStyle/>
          <a:p>
            <a:pPr algn="l" indent="0" marL="0">
              <a:buNone/>
            </a:pPr>
            <a:r>
              <a:rPr lang="en-US" sz="7200" b="1" dirty="0">
                <a:solidFill>
                  <a:srgbClr val="B8862B"/>
                </a:solidFill>
                <a:latin typeface="Cambria" pitchFamily="34" charset="0"/>
                <a:ea typeface="Cambria" pitchFamily="34" charset="-122"/>
                <a:cs typeface="Cambria" pitchFamily="34" charset="-120"/>
              </a:rPr>
              <a:t>“</a:t>
            </a:r>
            <a:endParaRPr lang="en-US" sz="7200" dirty="0"/>
          </a:p>
        </p:txBody>
      </p:sp>
      <p:sp>
        <p:nvSpPr>
          <p:cNvPr id="13" name="quote"/>
          <p:cNvSpPr txBox="1"/>
          <p:nvPr/>
        </p:nvSpPr>
        <p:spPr>
          <a:xfrm>
            <a:off x="7040880" y="1664208"/>
            <a:ext cx="4327855" cy="4206240"/>
          </a:xfrm>
          <a:prstGeom prst="rect">
            <a:avLst/>
          </a:prstGeom>
          <a:noFill/>
          <a:ln/>
        </p:spPr>
        <p:txBody>
          <a:bodyPr wrap="square" lIns="63500" tIns="63500" rIns="63500" bIns="63500" rtlCol="0" anchor="ctr"/>
          <a:lstStyle/>
          <a:p>
            <a:pPr algn="l" indent="0" marL="0">
              <a:spcAft>
                <a:spcPts val="1000"/>
              </a:spcAft>
              <a:buNone/>
            </a:pPr>
            <a:r>
              <a:rPr lang="en-US" sz="2600" i="1" dirty="0">
                <a:solidFill>
                  <a:srgbClr val="1E2229"/>
                </a:solidFill>
                <a:latin typeface="Cambria" pitchFamily="34" charset="0"/>
                <a:ea typeface="Cambria" pitchFamily="34" charset="-122"/>
                <a:cs typeface="Cambria" pitchFamily="34" charset="-120"/>
              </a:rPr>
              <a:t>Will no one rid me of this troublesome priest?</a:t>
            </a:r>
            <a:endParaRPr lang="en-US" sz="2600" dirty="0"/>
          </a:p>
          <a:p>
            <a:pPr algn="l" indent="0" marL="0">
              <a:buNone/>
            </a:pPr>
            <a:r>
              <a:rPr lang="en-US" sz="1800" dirty="0">
                <a:solidFill>
                  <a:srgbClr val="4A505C"/>
                </a:solidFill>
                <a:latin typeface="Calibri" pitchFamily="34" charset="0"/>
                <a:ea typeface="Calibri" pitchFamily="34" charset="-122"/>
                <a:cs typeface="Calibri" pitchFamily="34" charset="-120"/>
              </a:rPr>
              <a:t>— Words attributed to Henry II in 1170, as your lesson records them</a:t>
            </a:r>
            <a:endParaRPr lang="en-US" sz="2600" dirty="0"/>
          </a:p>
        </p:txBody>
      </p:sp>
      <p:sp>
        <p:nvSpPr>
          <p:cNvPr id="14" name="bullet-card"/>
          <p:cNvSpPr/>
          <p:nvPr/>
        </p:nvSpPr>
        <p:spPr>
          <a:xfrm>
            <a:off x="548640" y="1389888"/>
            <a:ext cx="5074920" cy="852255"/>
          </a:xfrm>
          <a:prstGeom prst="roundRect">
            <a:avLst>
              <a:gd name="adj" fmla="val 8583"/>
            </a:avLst>
          </a:prstGeom>
          <a:solidFill>
            <a:srgbClr val="F8F6F4"/>
          </a:solidFill>
          <a:ln/>
        </p:spPr>
      </p:sp>
      <p:sp>
        <p:nvSpPr>
          <p:cNvPr id="15" name="bullet-hex"/>
          <p:cNvSpPr/>
          <p:nvPr/>
        </p:nvSpPr>
        <p:spPr>
          <a:xfrm>
            <a:off x="676656" y="1649723"/>
            <a:ext cx="384048" cy="332586"/>
          </a:xfrm>
          <a:prstGeom prst="hexagon">
            <a:avLst/>
          </a:prstGeom>
          <a:solidFill>
            <a:srgbClr val="7A4A1E"/>
          </a:solidFill>
          <a:ln/>
        </p:spPr>
      </p:sp>
      <p:sp>
        <p:nvSpPr>
          <p:cNvPr id="16" name="bullet"/>
          <p:cNvSpPr txBox="1"/>
          <p:nvPr/>
        </p:nvSpPr>
        <p:spPr>
          <a:xfrm>
            <a:off x="1143000" y="1389888"/>
            <a:ext cx="4389120" cy="852255"/>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While Becket was in France, Henry did something that made the quarrel worse.</a:t>
            </a:r>
            <a:endParaRPr lang="en-US" sz="1800" dirty="0"/>
          </a:p>
        </p:txBody>
      </p:sp>
      <p:sp>
        <p:nvSpPr>
          <p:cNvPr id="17" name="bullet-card"/>
          <p:cNvSpPr/>
          <p:nvPr/>
        </p:nvSpPr>
        <p:spPr>
          <a:xfrm>
            <a:off x="548640" y="2388447"/>
            <a:ext cx="5074920" cy="1410039"/>
          </a:xfrm>
          <a:prstGeom prst="roundRect">
            <a:avLst>
              <a:gd name="adj" fmla="val 5188"/>
            </a:avLst>
          </a:prstGeom>
          <a:solidFill>
            <a:srgbClr val="F8F6F4"/>
          </a:solidFill>
          <a:ln/>
        </p:spPr>
      </p:sp>
      <p:sp>
        <p:nvSpPr>
          <p:cNvPr id="18" name="bullet-hex"/>
          <p:cNvSpPr/>
          <p:nvPr/>
        </p:nvSpPr>
        <p:spPr>
          <a:xfrm>
            <a:off x="676656" y="2927173"/>
            <a:ext cx="384048" cy="332586"/>
          </a:xfrm>
          <a:prstGeom prst="hexagon">
            <a:avLst/>
          </a:prstGeom>
          <a:solidFill>
            <a:srgbClr val="B8862B"/>
          </a:solidFill>
          <a:ln/>
        </p:spPr>
      </p:sp>
      <p:sp>
        <p:nvSpPr>
          <p:cNvPr id="19" name="bullet"/>
          <p:cNvSpPr txBox="1"/>
          <p:nvPr/>
        </p:nvSpPr>
        <p:spPr>
          <a:xfrm>
            <a:off x="1143000" y="2388447"/>
            <a:ext cx="4389120" cy="1410039"/>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As soon as he was back, Becket excommunicated the bishops who had helped Henry run the Church while he was away, including the Archbishop of York.</a:t>
            </a:r>
            <a:endParaRPr lang="en-US" sz="1800" dirty="0"/>
          </a:p>
        </p:txBody>
      </p:sp>
      <p:sp>
        <p:nvSpPr>
          <p:cNvPr id="20" name="bullet-card"/>
          <p:cNvSpPr/>
          <p:nvPr/>
        </p:nvSpPr>
        <p:spPr>
          <a:xfrm>
            <a:off x="548640" y="3944789"/>
            <a:ext cx="5074920" cy="852255"/>
          </a:xfrm>
          <a:prstGeom prst="roundRect">
            <a:avLst>
              <a:gd name="adj" fmla="val 8583"/>
            </a:avLst>
          </a:prstGeom>
          <a:solidFill>
            <a:srgbClr val="F8F6F4"/>
          </a:solidFill>
          <a:ln/>
        </p:spPr>
      </p:sp>
      <p:sp>
        <p:nvSpPr>
          <p:cNvPr id="21" name="bullet-hex"/>
          <p:cNvSpPr/>
          <p:nvPr/>
        </p:nvSpPr>
        <p:spPr>
          <a:xfrm>
            <a:off x="676656" y="4204624"/>
            <a:ext cx="384048" cy="332586"/>
          </a:xfrm>
          <a:prstGeom prst="hexagon">
            <a:avLst/>
          </a:prstGeom>
          <a:solidFill>
            <a:srgbClr val="7A4A1E"/>
          </a:solidFill>
          <a:ln/>
        </p:spPr>
      </p:sp>
      <p:sp>
        <p:nvSpPr>
          <p:cNvPr id="22" name="bullet"/>
          <p:cNvSpPr txBox="1"/>
          <p:nvPr/>
        </p:nvSpPr>
        <p:spPr>
          <a:xfrm>
            <a:off x="1143000" y="3944789"/>
            <a:ext cx="4389120" cy="852255"/>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When Henry heard the news he flew into one of his rages.</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Becket becomes a saint</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6F0E6"/>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A shrine is a holy place built around a saint's remains. A pilgrim is someone who travels to a shrine to pray.</a:t>
            </a:r>
            <a:endParaRPr lang="en-US" sz="1800" dirty="0"/>
          </a:p>
        </p:txBody>
      </p:sp>
      <p:sp>
        <p:nvSpPr>
          <p:cNvPr id="11" name="point-card"/>
          <p:cNvSpPr/>
          <p:nvPr/>
        </p:nvSpPr>
        <p:spPr>
          <a:xfrm>
            <a:off x="548640" y="1389888"/>
            <a:ext cx="3515258" cy="3686048"/>
          </a:xfrm>
          <a:prstGeom prst="roundRect">
            <a:avLst>
              <a:gd name="adj" fmla="val 1561"/>
            </a:avLst>
          </a:prstGeom>
          <a:solidFill>
            <a:srgbClr val="F6F2EF"/>
          </a:solidFill>
          <a:ln/>
        </p:spPr>
      </p:sp>
      <p:sp>
        <p:nvSpPr>
          <p:cNvPr id="12" name="point-hex"/>
          <p:cNvSpPr/>
          <p:nvPr/>
        </p:nvSpPr>
        <p:spPr>
          <a:xfrm>
            <a:off x="731520" y="1572768"/>
            <a:ext cx="685800" cy="593903"/>
          </a:xfrm>
          <a:prstGeom prst="hexagon">
            <a:avLst/>
          </a:prstGeom>
          <a:solidFill>
            <a:srgbClr val="7A4A1E"/>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588768"/>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The murder shocked Europe. Soon after Becket's death in 1170, Pope Alexander made him a saint.</a:t>
            </a:r>
            <a:endParaRPr lang="en-US" sz="2400" dirty="0"/>
          </a:p>
        </p:txBody>
      </p:sp>
      <p:sp>
        <p:nvSpPr>
          <p:cNvPr id="15" name="point-card"/>
          <p:cNvSpPr/>
          <p:nvPr/>
        </p:nvSpPr>
        <p:spPr>
          <a:xfrm>
            <a:off x="4338218" y="1389888"/>
            <a:ext cx="3515258" cy="3686048"/>
          </a:xfrm>
          <a:prstGeom prst="roundRect">
            <a:avLst>
              <a:gd name="adj" fmla="val 1561"/>
            </a:avLst>
          </a:prstGeom>
          <a:solidFill>
            <a:srgbClr val="F9F4EC"/>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588768"/>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Ask what this tells you about the power of the Church.</a:t>
            </a:r>
            <a:endParaRPr lang="en-US" sz="2400" dirty="0"/>
          </a:p>
        </p:txBody>
      </p:sp>
      <p:sp>
        <p:nvSpPr>
          <p:cNvPr id="19" name="point-card"/>
          <p:cNvSpPr/>
          <p:nvPr/>
        </p:nvSpPr>
        <p:spPr>
          <a:xfrm>
            <a:off x="8127797" y="1389888"/>
            <a:ext cx="3515258" cy="3686048"/>
          </a:xfrm>
          <a:prstGeom prst="roundRect">
            <a:avLst>
              <a:gd name="adj" fmla="val 1561"/>
            </a:avLst>
          </a:prstGeom>
          <a:solidFill>
            <a:srgbClr val="F6F2EF"/>
          </a:solidFill>
          <a:ln/>
        </p:spPr>
      </p:sp>
      <p:sp>
        <p:nvSpPr>
          <p:cNvPr id="20" name="point-hex"/>
          <p:cNvSpPr/>
          <p:nvPr/>
        </p:nvSpPr>
        <p:spPr>
          <a:xfrm>
            <a:off x="8310677" y="1572768"/>
            <a:ext cx="685800" cy="593903"/>
          </a:xfrm>
          <a:prstGeom prst="hexagon">
            <a:avLst/>
          </a:prstGeom>
          <a:solidFill>
            <a:srgbClr val="7A4A1E"/>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588768"/>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So who held the power now, the Church or the king?</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800" b="1" dirty="0">
                <a:solidFill>
                  <a:srgbClr val="7A4A1E"/>
                </a:solidFill>
                <a:latin typeface="Cambria" pitchFamily="34" charset="0"/>
                <a:ea typeface="Cambria" pitchFamily="34" charset="-122"/>
                <a:cs typeface="Cambria" pitchFamily="34" charset="-120"/>
              </a:rPr>
              <a:t>The task: From friends to murder: the order of events</a:t>
            </a:r>
            <a:endParaRPr lang="en-US" sz="28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Same task</a:t>
            </a:r>
            <a:endParaRPr lang="en-US" sz="1800" dirty="0"/>
          </a:p>
        </p:txBody>
      </p:sp>
      <p:sp>
        <p:nvSpPr>
          <p:cNvPr id="7" name="task-box"/>
          <p:cNvSpPr/>
          <p:nvPr/>
        </p:nvSpPr>
        <p:spPr>
          <a:xfrm>
            <a:off x="548640" y="1389888"/>
            <a:ext cx="11094415" cy="4754880"/>
          </a:xfrm>
          <a:prstGeom prst="roundRect">
            <a:avLst>
              <a:gd name="adj" fmla="val 962"/>
            </a:avLst>
          </a:prstGeom>
          <a:solidFill>
            <a:srgbClr val="FFFFFF"/>
          </a:solidFill>
          <a:ln w="31750">
            <a:solidFill>
              <a:srgbClr val="B8862B"/>
            </a:solidFill>
            <a:prstDash val="solid"/>
          </a:ln>
        </p:spPr>
      </p:sp>
      <p:sp>
        <p:nvSpPr>
          <p:cNvPr id="8" name="task-hex"/>
          <p:cNvSpPr/>
          <p:nvPr/>
        </p:nvSpPr>
        <p:spPr>
          <a:xfrm>
            <a:off x="822960" y="1664208"/>
            <a:ext cx="822960" cy="712683"/>
          </a:xfrm>
          <a:prstGeom prst="hexagon">
            <a:avLst/>
          </a:prstGeom>
          <a:solidFill>
            <a:srgbClr val="B8862B"/>
          </a:solidFill>
          <a:ln/>
        </p:spPr>
      </p:sp>
      <p:sp>
        <p:nvSpPr>
          <p:cNvPr id="9" name="task-hex-label"/>
          <p:cNvSpPr txBox="1"/>
          <p:nvPr/>
        </p:nvSpPr>
        <p:spPr>
          <a:xfrm>
            <a:off x="822960" y="1664208"/>
            <a:ext cx="822960" cy="712683"/>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1</a:t>
            </a:r>
            <a:endParaRPr lang="en-US" sz="2800" dirty="0"/>
          </a:p>
        </p:txBody>
      </p:sp>
      <p:sp>
        <p:nvSpPr>
          <p:cNvPr id="10" name="task"/>
          <p:cNvSpPr txBox="1"/>
          <p:nvPr/>
        </p:nvSpPr>
        <p:spPr>
          <a:xfrm>
            <a:off x="1828800" y="1572768"/>
            <a:ext cx="8534095" cy="4389120"/>
          </a:xfrm>
          <a:prstGeom prst="rect">
            <a:avLst/>
          </a:prstGeom>
          <a:noFill/>
          <a:ln/>
        </p:spPr>
        <p:txBody>
          <a:bodyPr wrap="square" lIns="63500" tIns="63500" rIns="63500" bIns="63500" rtlCol="0" anchor="ctr"/>
          <a:lstStyle/>
          <a:p>
            <a:pPr algn="ctr" indent="0" marL="0">
              <a:spcAft>
                <a:spcPts val="600"/>
              </a:spcAft>
              <a:buNone/>
            </a:pPr>
            <a:r>
              <a:rPr lang="en-US" sz="2400" b="1" dirty="0">
                <a:solidFill>
                  <a:srgbClr val="1E2229"/>
                </a:solidFill>
                <a:latin typeface="Calibri" pitchFamily="34" charset="0"/>
                <a:ea typeface="Calibri" pitchFamily="34" charset="-122"/>
                <a:cs typeface="Calibri" pitchFamily="34" charset="-120"/>
              </a:rPr>
              <a:t>Put the events of the Henry and Becket story in chronological order.</a:t>
            </a:r>
            <a:endParaRPr lang="en-US" sz="2400" dirty="0"/>
          </a:p>
          <a:p>
            <a:pPr algn="l" indent="0" marL="0">
              <a:spcAft>
                <a:spcPts val="200"/>
              </a:spcAft>
              <a:buNone/>
            </a:pPr>
            <a:r>
              <a:rPr lang="en-US" sz="2200" b="1" dirty="0">
                <a:solidFill>
                  <a:srgbClr val="B8862B"/>
                </a:solidFill>
                <a:latin typeface="Calibri" pitchFamily="34" charset="0"/>
                <a:ea typeface="Calibri" pitchFamily="34" charset="-122"/>
                <a:cs typeface="Calibri" pitchFamily="34" charset="-120"/>
              </a:rPr>
              <a:t>A   </a:t>
            </a:r>
            <a:pPr algn="l" indent="0" marL="0">
              <a:spcAft>
                <a:spcPts val="200"/>
              </a:spcAft>
              <a:buNone/>
            </a:pPr>
            <a:r>
              <a:rPr lang="en-US" sz="2200" dirty="0">
                <a:solidFill>
                  <a:srgbClr val="1E2229"/>
                </a:solidFill>
                <a:latin typeface="Calibri" pitchFamily="34" charset="0"/>
                <a:ea typeface="Calibri" pitchFamily="34" charset="-122"/>
                <a:cs typeface="Calibri" pitchFamily="34" charset="-120"/>
              </a:rPr>
              <a:t>Henry makes Becket Archbishop of Canterbury</a:t>
            </a:r>
            <a:endParaRPr lang="en-US" sz="2400" dirty="0"/>
          </a:p>
          <a:p>
            <a:pPr algn="l" indent="0" marL="0">
              <a:spcAft>
                <a:spcPts val="200"/>
              </a:spcAft>
              <a:buNone/>
            </a:pPr>
            <a:r>
              <a:rPr lang="en-US" sz="2200" b="1" dirty="0">
                <a:solidFill>
                  <a:srgbClr val="B8862B"/>
                </a:solidFill>
                <a:latin typeface="Calibri" pitchFamily="34" charset="0"/>
                <a:ea typeface="Calibri" pitchFamily="34" charset="-122"/>
                <a:cs typeface="Calibri" pitchFamily="34" charset="-120"/>
              </a:rPr>
              <a:t>B   </a:t>
            </a:r>
            <a:pPr algn="l" indent="0" marL="0">
              <a:spcAft>
                <a:spcPts val="200"/>
              </a:spcAft>
              <a:buNone/>
            </a:pPr>
            <a:r>
              <a:rPr lang="en-US" sz="2200" dirty="0">
                <a:solidFill>
                  <a:srgbClr val="1E2229"/>
                </a:solidFill>
                <a:latin typeface="Calibri" pitchFamily="34" charset="0"/>
                <a:ea typeface="Calibri" pitchFamily="34" charset="-122"/>
                <a:cs typeface="Calibri" pitchFamily="34" charset="-120"/>
              </a:rPr>
              <a:t>Four knights kill Becket in Canterbury Cathedral (1170)</a:t>
            </a:r>
            <a:endParaRPr lang="en-US" sz="2400" dirty="0"/>
          </a:p>
          <a:p>
            <a:pPr algn="l" indent="0" marL="0">
              <a:spcAft>
                <a:spcPts val="200"/>
              </a:spcAft>
              <a:buNone/>
            </a:pPr>
            <a:r>
              <a:rPr lang="en-US" sz="2200" b="1" dirty="0">
                <a:solidFill>
                  <a:srgbClr val="B8862B"/>
                </a:solidFill>
                <a:latin typeface="Calibri" pitchFamily="34" charset="0"/>
                <a:ea typeface="Calibri" pitchFamily="34" charset="-122"/>
                <a:cs typeface="Calibri" pitchFamily="34" charset="-120"/>
              </a:rPr>
              <a:t>C   </a:t>
            </a:r>
            <a:pPr algn="l" indent="0" marL="0">
              <a:spcAft>
                <a:spcPts val="200"/>
              </a:spcAft>
              <a:buNone/>
            </a:pPr>
            <a:r>
              <a:rPr lang="en-US" sz="2200" dirty="0">
                <a:solidFill>
                  <a:srgbClr val="1E2229"/>
                </a:solidFill>
                <a:latin typeface="Calibri" pitchFamily="34" charset="0"/>
                <a:ea typeface="Calibri" pitchFamily="34" charset="-122"/>
                <a:cs typeface="Calibri" pitchFamily="34" charset="-120"/>
              </a:rPr>
              <a:t>Henry and Becket become best friends and Henry makes Becket Chancellor of England</a:t>
            </a:r>
            <a:endParaRPr lang="en-US" sz="2400" dirty="0"/>
          </a:p>
          <a:p>
            <a:pPr algn="l" indent="0" marL="0">
              <a:spcAft>
                <a:spcPts val="200"/>
              </a:spcAft>
              <a:buNone/>
            </a:pPr>
            <a:r>
              <a:rPr lang="en-US" sz="2200" b="1" dirty="0">
                <a:solidFill>
                  <a:srgbClr val="B8862B"/>
                </a:solidFill>
                <a:latin typeface="Calibri" pitchFamily="34" charset="0"/>
                <a:ea typeface="Calibri" pitchFamily="34" charset="-122"/>
                <a:cs typeface="Calibri" pitchFamily="34" charset="-120"/>
              </a:rPr>
              <a:t>D   </a:t>
            </a:r>
            <a:pPr algn="l" indent="0" marL="0">
              <a:spcAft>
                <a:spcPts val="200"/>
              </a:spcAft>
              <a:buNone/>
            </a:pPr>
            <a:r>
              <a:rPr lang="en-US" sz="2200" dirty="0">
                <a:solidFill>
                  <a:srgbClr val="1E2229"/>
                </a:solidFill>
                <a:latin typeface="Calibri" pitchFamily="34" charset="0"/>
                <a:ea typeface="Calibri" pitchFamily="34" charset="-122"/>
                <a:cs typeface="Calibri" pitchFamily="34" charset="-120"/>
              </a:rPr>
              <a:t>Becket becomes very religious and refuses to let the king punish priests who break the law</a:t>
            </a:r>
            <a:endParaRPr lang="en-US" sz="2400" dirty="0"/>
          </a:p>
          <a:p>
            <a:pPr algn="l" indent="0" marL="0">
              <a:spcAft>
                <a:spcPts val="200"/>
              </a:spcAft>
              <a:buNone/>
            </a:pPr>
            <a:r>
              <a:rPr lang="en-US" sz="2200" b="1" dirty="0">
                <a:solidFill>
                  <a:srgbClr val="B8862B"/>
                </a:solidFill>
                <a:latin typeface="Calibri" pitchFamily="34" charset="0"/>
                <a:ea typeface="Calibri" pitchFamily="34" charset="-122"/>
                <a:cs typeface="Calibri" pitchFamily="34" charset="-120"/>
              </a:rPr>
              <a:t>E   </a:t>
            </a:r>
            <a:pPr algn="l" indent="0" marL="0">
              <a:spcAft>
                <a:spcPts val="200"/>
              </a:spcAft>
              <a:buNone/>
            </a:pPr>
            <a:r>
              <a:rPr lang="en-US" sz="2200" dirty="0">
                <a:solidFill>
                  <a:srgbClr val="1E2229"/>
                </a:solidFill>
                <a:latin typeface="Calibri" pitchFamily="34" charset="0"/>
                <a:ea typeface="Calibri" pitchFamily="34" charset="-122"/>
                <a:cs typeface="Calibri" pitchFamily="34" charset="-120"/>
              </a:rPr>
              <a:t>Becket returns to England and excommunicates the bishops who helped Henry (1170)</a:t>
            </a:r>
            <a:endParaRPr lang="en-US" sz="2400" dirty="0"/>
          </a:p>
          <a:p>
            <a:pPr algn="l" indent="0" marL="0">
              <a:spcAft>
                <a:spcPts val="200"/>
              </a:spcAft>
              <a:buNone/>
            </a:pPr>
            <a:r>
              <a:rPr lang="en-US" sz="2200" b="1" dirty="0">
                <a:solidFill>
                  <a:srgbClr val="B8862B"/>
                </a:solidFill>
                <a:latin typeface="Calibri" pitchFamily="34" charset="0"/>
                <a:ea typeface="Calibri" pitchFamily="34" charset="-122"/>
                <a:cs typeface="Calibri" pitchFamily="34" charset="-120"/>
              </a:rPr>
              <a:t>F   </a:t>
            </a:r>
            <a:pPr algn="l" indent="0" marL="0">
              <a:spcAft>
                <a:spcPts val="200"/>
              </a:spcAft>
              <a:buNone/>
            </a:pPr>
            <a:r>
              <a:rPr lang="en-US" sz="2200" dirty="0">
                <a:solidFill>
                  <a:srgbClr val="1E2229"/>
                </a:solidFill>
                <a:latin typeface="Calibri" pitchFamily="34" charset="0"/>
                <a:ea typeface="Calibri" pitchFamily="34" charset="-122"/>
                <a:cs typeface="Calibri" pitchFamily="34" charset="-120"/>
              </a:rPr>
              <a:t>Becket runs away to France for six years (1164)</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400" b="1" dirty="0">
                <a:solidFill>
                  <a:srgbClr val="7A4A1E"/>
                </a:solidFill>
                <a:latin typeface="Cambria" pitchFamily="34" charset="0"/>
                <a:ea typeface="Cambria" pitchFamily="34" charset="-122"/>
                <a:cs typeface="Cambria" pitchFamily="34" charset="-120"/>
              </a:rPr>
              <a:t>Same task, three ways in: From friends to murder: the order of events</a:t>
            </a:r>
            <a:endParaRPr lang="en-US" sz="24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731520"/>
          </a:xfrm>
          <a:prstGeom prst="roundRect">
            <a:avLst>
              <a:gd name="adj" fmla="val 12500"/>
            </a:avLst>
          </a:prstGeom>
          <a:solidFill>
            <a:srgbClr val="FFFFFF"/>
          </a:solidFill>
          <a:ln w="31750">
            <a:solidFill>
              <a:srgbClr val="B8862B"/>
            </a:solidFill>
            <a:prstDash val="solid"/>
          </a:ln>
        </p:spPr>
      </p:sp>
      <p:sp>
        <p:nvSpPr>
          <p:cNvPr id="8" name="task-hex"/>
          <p:cNvSpPr/>
          <p:nvPr/>
        </p:nvSpPr>
        <p:spPr>
          <a:xfrm>
            <a:off x="777240" y="1438900"/>
            <a:ext cx="731520" cy="633496"/>
          </a:xfrm>
          <a:prstGeom prst="hexagon">
            <a:avLst/>
          </a:prstGeom>
          <a:solidFill>
            <a:srgbClr val="B8862B"/>
          </a:solidFill>
          <a:ln/>
        </p:spPr>
      </p:sp>
      <p:sp>
        <p:nvSpPr>
          <p:cNvPr id="9" name="task-hex-label"/>
          <p:cNvSpPr txBox="1"/>
          <p:nvPr/>
        </p:nvSpPr>
        <p:spPr>
          <a:xfrm>
            <a:off x="777240" y="1438900"/>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task-everyone"/>
          <p:cNvSpPr txBox="1"/>
          <p:nvPr/>
        </p:nvSpPr>
        <p:spPr>
          <a:xfrm>
            <a:off x="10362895" y="1481328"/>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548640"/>
          </a:xfrm>
          <a:prstGeom prst="rect">
            <a:avLst/>
          </a:prstGeom>
          <a:noFill/>
          <a:ln/>
        </p:spPr>
        <p:txBody>
          <a:bodyPr wrap="square" lIns="63500" tIns="63500" rIns="63500" bIns="63500" rtlCol="0" anchor="ctr"/>
          <a:lstStyle/>
          <a:p>
            <a:pPr algn="ctr" indent="0" marL="0">
              <a:buNone/>
            </a:pPr>
            <a:r>
              <a:rPr lang="en-US" sz="2000" b="1" dirty="0">
                <a:solidFill>
                  <a:srgbClr val="1E2229"/>
                </a:solidFill>
                <a:latin typeface="Calibri" pitchFamily="34" charset="0"/>
                <a:ea typeface="Calibri" pitchFamily="34" charset="-122"/>
                <a:cs typeface="Calibri" pitchFamily="34" charset="-120"/>
              </a:rPr>
              <a:t>Task 1 (on the last slide): From friends to murder: the order of events</a:t>
            </a:r>
            <a:endParaRPr lang="en-US" sz="2000" dirty="0"/>
          </a:p>
        </p:txBody>
      </p:sp>
      <p:sp>
        <p:nvSpPr>
          <p:cNvPr id="12" name="col-Support"/>
          <p:cNvSpPr/>
          <p:nvPr/>
        </p:nvSpPr>
        <p:spPr>
          <a:xfrm>
            <a:off x="548640" y="2395728"/>
            <a:ext cx="4667802" cy="3749040"/>
          </a:xfrm>
          <a:prstGeom prst="roundRect">
            <a:avLst>
              <a:gd name="adj" fmla="val 1463"/>
            </a:avLst>
          </a:prstGeom>
          <a:solidFill>
            <a:srgbClr val="F6F2EF"/>
          </a:solidFill>
          <a:ln/>
        </p:spPr>
      </p:sp>
      <p:sp>
        <p:nvSpPr>
          <p:cNvPr id="13" name="col-hex"/>
          <p:cNvSpPr/>
          <p:nvPr/>
        </p:nvSpPr>
        <p:spPr>
          <a:xfrm>
            <a:off x="658368" y="2468880"/>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432304"/>
            <a:ext cx="3936282" cy="566928"/>
          </a:xfrm>
          <a:prstGeom prst="rect">
            <a:avLst/>
          </a:prstGeom>
          <a:noFill/>
          <a:ln/>
        </p:spPr>
        <p:txBody>
          <a:bodyPr wrap="square" lIns="63500" tIns="63500" rIns="63500" bIns="63500" rtlCol="0" anchor="ctr"/>
          <a:lstStyle/>
          <a:p>
            <a:pPr algn="l" indent="0" marL="0">
              <a:buNone/>
            </a:pPr>
            <a:r>
              <a:rPr lang="en-US" sz="2000" b="1" dirty="0">
                <a:solidFill>
                  <a:srgbClr val="553415"/>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035808"/>
            <a:ext cx="4393482" cy="2999232"/>
          </a:xfrm>
          <a:prstGeom prst="rect">
            <a:avLst/>
          </a:prstGeom>
          <a:noFill/>
          <a:ln/>
        </p:spPr>
        <p:txBody>
          <a:bodyPr wrap="square" lIns="63500" tIns="63500" rIns="63500" bIns="63500" rtlCol="0" anchor="t"/>
          <a:lstStyle/>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1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Start with friendship: the story begins before any quarrel.</a:t>
            </a:r>
            <a:endParaRPr lang="en-US" sz="1800" dirty="0"/>
          </a:p>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2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Henry gave Becket two jobs. The royal job came before the Church job.</a:t>
            </a:r>
            <a:endParaRPr lang="en-US" sz="1800" dirty="0"/>
          </a:p>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3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The quarrel about Church courts could only start once Becket was head of the Church.</a:t>
            </a:r>
            <a:endParaRPr lang="en-US" sz="1800" dirty="0"/>
          </a:p>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4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Running away comes before coming back, and the murder is the very last event.</a:t>
            </a:r>
            <a:endParaRPr lang="en-US" sz="1800" dirty="0"/>
          </a:p>
        </p:txBody>
      </p:sp>
      <p:sp>
        <p:nvSpPr>
          <p:cNvPr id="17" name="col-Core"/>
          <p:cNvSpPr/>
          <p:nvPr/>
        </p:nvSpPr>
        <p:spPr>
          <a:xfrm>
            <a:off x="5490762" y="2395728"/>
            <a:ext cx="2938987" cy="3749040"/>
          </a:xfrm>
          <a:prstGeom prst="roundRect">
            <a:avLst>
              <a:gd name="adj" fmla="val 1867"/>
            </a:avLst>
          </a:prstGeom>
          <a:solidFill>
            <a:srgbClr val="E6DDD4"/>
          </a:solidFill>
          <a:ln/>
        </p:spPr>
      </p:sp>
      <p:sp>
        <p:nvSpPr>
          <p:cNvPr id="18" name="col-hex"/>
          <p:cNvSpPr/>
          <p:nvPr/>
        </p:nvSpPr>
        <p:spPr>
          <a:xfrm>
            <a:off x="5600490" y="2468880"/>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5600490"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6130842" y="2432304"/>
            <a:ext cx="2207467" cy="566928"/>
          </a:xfrm>
          <a:prstGeom prst="rect">
            <a:avLst/>
          </a:prstGeom>
          <a:noFill/>
          <a:ln/>
        </p:spPr>
        <p:txBody>
          <a:bodyPr wrap="square" lIns="63500" tIns="63500" rIns="63500" bIns="63500" rtlCol="0" anchor="ctr"/>
          <a:lstStyle/>
          <a:p>
            <a:pPr algn="l" indent="0" marL="0">
              <a:buNone/>
            </a:pPr>
            <a:r>
              <a:rPr lang="en-US" sz="2000" b="1" dirty="0">
                <a:solidFill>
                  <a:srgbClr val="553415"/>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5627922" y="3035808"/>
            <a:ext cx="2664667" cy="2999232"/>
          </a:xfrm>
          <a:prstGeom prst="rect">
            <a:avLst/>
          </a:prstGeom>
          <a:noFill/>
          <a:ln/>
        </p:spPr>
        <p:txBody>
          <a:bodyPr wrap="square" lIns="63500" tIns="63500" rIns="63500" bIns="63500" rtlCol="0" anchor="t"/>
          <a:lstStyle/>
          <a:p>
            <a:pPr algn="l" indent="0" marL="0">
              <a:buNone/>
            </a:pPr>
            <a:r>
              <a:rPr lang="en-US" sz="1800" b="1" dirty="0">
                <a:solidFill>
                  <a:srgbClr val="623B18"/>
                </a:solidFill>
                <a:latin typeface="Calibri" pitchFamily="34" charset="0"/>
                <a:ea typeface="Calibri" pitchFamily="34" charset="-122"/>
                <a:cs typeface="Calibri" pitchFamily="34" charset="-120"/>
              </a:rPr>
              <a:t>Hint:  </a:t>
            </a:r>
            <a:pPr algn="l" indent="0" marL="0">
              <a:buNone/>
            </a:pPr>
            <a:r>
              <a:rPr lang="en-US" sz="1800" dirty="0">
                <a:solidFill>
                  <a:srgbClr val="1E2229"/>
                </a:solidFill>
                <a:latin typeface="Calibri" pitchFamily="34" charset="0"/>
                <a:ea typeface="Calibri" pitchFamily="34" charset="-122"/>
                <a:cs typeface="Calibri" pitchFamily="34" charset="-120"/>
              </a:rPr>
              <a:t>Friends, Chancellor, Archbishop, quarrel, France, return, murder.</a:t>
            </a:r>
            <a:endParaRPr lang="en-US" sz="1800" dirty="0"/>
          </a:p>
        </p:txBody>
      </p:sp>
      <p:sp>
        <p:nvSpPr>
          <p:cNvPr id="22" name="col-Stretch"/>
          <p:cNvSpPr/>
          <p:nvPr/>
        </p:nvSpPr>
        <p:spPr>
          <a:xfrm>
            <a:off x="8704069" y="2395728"/>
            <a:ext cx="2938987" cy="3749040"/>
          </a:xfrm>
          <a:prstGeom prst="roundRect">
            <a:avLst>
              <a:gd name="adj" fmla="val 1867"/>
            </a:avLst>
          </a:prstGeom>
          <a:solidFill>
            <a:srgbClr val="7A4A1E"/>
          </a:solidFill>
          <a:ln/>
        </p:spPr>
      </p:sp>
      <p:sp>
        <p:nvSpPr>
          <p:cNvPr id="23" name="col-hex"/>
          <p:cNvSpPr/>
          <p:nvPr/>
        </p:nvSpPr>
        <p:spPr>
          <a:xfrm>
            <a:off x="8813797" y="2468880"/>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8813797"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9344149" y="2432304"/>
            <a:ext cx="2207467"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8841229" y="3035808"/>
            <a:ext cx="2664667" cy="2999232"/>
          </a:xfrm>
          <a:prstGeom prst="rect">
            <a:avLst/>
          </a:prstGeom>
          <a:noFill/>
          <a:ln/>
        </p:spPr>
        <p:txBody>
          <a:bodyPr wrap="square" lIns="63500" tIns="63500" rIns="63500" bIns="63500" rtlCol="0" anchor="t"/>
          <a:lstStyle/>
          <a:p>
            <a:pPr algn="l" indent="0" marL="0">
              <a:buNone/>
            </a:pPr>
            <a:r>
              <a:rPr lang="en-US" sz="1800" b="1" dirty="0">
                <a:solidFill>
                  <a:srgbClr val="D4B680"/>
                </a:solidFill>
                <a:latin typeface="Calibri" pitchFamily="34" charset="0"/>
                <a:ea typeface="Calibri" pitchFamily="34" charset="-122"/>
                <a:cs typeface="Calibri" pitchFamily="34" charset="-120"/>
              </a:rPr>
              <a:t>Then:  </a:t>
            </a:r>
            <a:pPr algn="l" indent="0" marL="0">
              <a:buNone/>
            </a:pPr>
            <a:r>
              <a:rPr lang="en-US" sz="1800" dirty="0">
                <a:solidFill>
                  <a:srgbClr val="FFFFFF"/>
                </a:solidFill>
                <a:latin typeface="Calibri" pitchFamily="34" charset="0"/>
                <a:ea typeface="Calibri" pitchFamily="34" charset="-122"/>
                <a:cs typeface="Calibri" pitchFamily="34" charset="-120"/>
              </a:rPr>
              <a:t>Pick the one event in the sequence that you think made the murder most likely, and explain why the story could still have ended differently after it.</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The task: What Becket did when he came back</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Same task</a:t>
            </a:r>
            <a:endParaRPr lang="en-US" sz="1800" dirty="0"/>
          </a:p>
        </p:txBody>
      </p:sp>
      <p:sp>
        <p:nvSpPr>
          <p:cNvPr id="7" name="task-box"/>
          <p:cNvSpPr/>
          <p:nvPr/>
        </p:nvSpPr>
        <p:spPr>
          <a:xfrm>
            <a:off x="548640" y="1389888"/>
            <a:ext cx="11094415" cy="4754880"/>
          </a:xfrm>
          <a:prstGeom prst="roundRect">
            <a:avLst>
              <a:gd name="adj" fmla="val 962"/>
            </a:avLst>
          </a:prstGeom>
          <a:solidFill>
            <a:srgbClr val="FFFFFF"/>
          </a:solidFill>
          <a:ln w="31750">
            <a:solidFill>
              <a:srgbClr val="B8862B"/>
            </a:solidFill>
            <a:prstDash val="solid"/>
          </a:ln>
        </p:spPr>
      </p:sp>
      <p:sp>
        <p:nvSpPr>
          <p:cNvPr id="8" name="task-hex"/>
          <p:cNvSpPr/>
          <p:nvPr/>
        </p:nvSpPr>
        <p:spPr>
          <a:xfrm>
            <a:off x="822960" y="1664208"/>
            <a:ext cx="822960" cy="712683"/>
          </a:xfrm>
          <a:prstGeom prst="hexagon">
            <a:avLst/>
          </a:prstGeom>
          <a:solidFill>
            <a:srgbClr val="B8862B"/>
          </a:solidFill>
          <a:ln/>
        </p:spPr>
      </p:sp>
      <p:sp>
        <p:nvSpPr>
          <p:cNvPr id="9" name="task-hex-label"/>
          <p:cNvSpPr txBox="1"/>
          <p:nvPr/>
        </p:nvSpPr>
        <p:spPr>
          <a:xfrm>
            <a:off x="822960" y="1664208"/>
            <a:ext cx="822960" cy="712683"/>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2</a:t>
            </a:r>
            <a:endParaRPr lang="en-US" sz="2800" dirty="0"/>
          </a:p>
        </p:txBody>
      </p:sp>
      <p:sp>
        <p:nvSpPr>
          <p:cNvPr id="10" name="task"/>
          <p:cNvSpPr txBox="1"/>
          <p:nvPr/>
        </p:nvSpPr>
        <p:spPr>
          <a:xfrm>
            <a:off x="1828800" y="1572768"/>
            <a:ext cx="8534095" cy="4389120"/>
          </a:xfrm>
          <a:prstGeom prst="rect">
            <a:avLst/>
          </a:prstGeom>
          <a:noFill/>
          <a:ln/>
        </p:spPr>
        <p:txBody>
          <a:bodyPr wrap="square" lIns="63500" tIns="63500" rIns="63500" bIns="63500" rtlCol="0" anchor="ctr"/>
          <a:lstStyle/>
          <a:p>
            <a:pPr algn="ctr" indent="0" marL="0">
              <a:spcAft>
                <a:spcPts val="600"/>
              </a:spcAft>
              <a:buNone/>
            </a:pPr>
            <a:r>
              <a:rPr lang="en-US" sz="2600" b="1" dirty="0">
                <a:solidFill>
                  <a:srgbClr val="1E2229"/>
                </a:solidFill>
                <a:latin typeface="Calibri" pitchFamily="34" charset="0"/>
                <a:ea typeface="Calibri" pitchFamily="34" charset="-122"/>
                <a:cs typeface="Calibri" pitchFamily="34" charset="-120"/>
              </a:rPr>
              <a:t>What did Becket do as soon as he returned from France in 1170?</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A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He excommunicated the bishops who had helped Henry run the Church while he was away</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B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He gave up being Archbishop and went back to being Chancellor</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C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He asked the Pope to make him a saint</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D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He crowned Henry's son as the next king</a:t>
            </a:r>
            <a:endParaRPr lang="en-US" sz="26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400" b="1" dirty="0">
                <a:solidFill>
                  <a:srgbClr val="7A4A1E"/>
                </a:solidFill>
                <a:latin typeface="Cambria" pitchFamily="34" charset="0"/>
                <a:ea typeface="Cambria" pitchFamily="34" charset="-122"/>
                <a:cs typeface="Cambria" pitchFamily="34" charset="-120"/>
              </a:rPr>
              <a:t>Same task, three ways in: What Becket did when he came back</a:t>
            </a:r>
            <a:endParaRPr lang="en-US" sz="24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731520"/>
          </a:xfrm>
          <a:prstGeom prst="roundRect">
            <a:avLst>
              <a:gd name="adj" fmla="val 12500"/>
            </a:avLst>
          </a:prstGeom>
          <a:solidFill>
            <a:srgbClr val="FFFFFF"/>
          </a:solidFill>
          <a:ln w="31750">
            <a:solidFill>
              <a:srgbClr val="B8862B"/>
            </a:solidFill>
            <a:prstDash val="solid"/>
          </a:ln>
        </p:spPr>
      </p:sp>
      <p:sp>
        <p:nvSpPr>
          <p:cNvPr id="8" name="task-hex"/>
          <p:cNvSpPr/>
          <p:nvPr/>
        </p:nvSpPr>
        <p:spPr>
          <a:xfrm>
            <a:off x="777240" y="1438900"/>
            <a:ext cx="731520" cy="633496"/>
          </a:xfrm>
          <a:prstGeom prst="hexagon">
            <a:avLst/>
          </a:prstGeom>
          <a:solidFill>
            <a:srgbClr val="B8862B"/>
          </a:solidFill>
          <a:ln/>
        </p:spPr>
      </p:sp>
      <p:sp>
        <p:nvSpPr>
          <p:cNvPr id="9" name="task-hex-label"/>
          <p:cNvSpPr txBox="1"/>
          <p:nvPr/>
        </p:nvSpPr>
        <p:spPr>
          <a:xfrm>
            <a:off x="777240" y="1438900"/>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0" name="task-everyone"/>
          <p:cNvSpPr txBox="1"/>
          <p:nvPr/>
        </p:nvSpPr>
        <p:spPr>
          <a:xfrm>
            <a:off x="10362895" y="1481328"/>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548640"/>
          </a:xfrm>
          <a:prstGeom prst="rect">
            <a:avLst/>
          </a:prstGeom>
          <a:noFill/>
          <a:ln/>
        </p:spPr>
        <p:txBody>
          <a:bodyPr wrap="square" lIns="63500" tIns="63500" rIns="63500" bIns="63500" rtlCol="0" anchor="ctr"/>
          <a:lstStyle/>
          <a:p>
            <a:pPr algn="ctr" indent="0" marL="0">
              <a:buNone/>
            </a:pPr>
            <a:r>
              <a:rPr lang="en-US" sz="2000" b="1" dirty="0">
                <a:solidFill>
                  <a:srgbClr val="1E2229"/>
                </a:solidFill>
                <a:latin typeface="Calibri" pitchFamily="34" charset="0"/>
                <a:ea typeface="Calibri" pitchFamily="34" charset="-122"/>
                <a:cs typeface="Calibri" pitchFamily="34" charset="-120"/>
              </a:rPr>
              <a:t>Task 2 (on the last slide): What Becket did when he came back</a:t>
            </a:r>
            <a:endParaRPr lang="en-US" sz="2000" dirty="0"/>
          </a:p>
        </p:txBody>
      </p:sp>
      <p:sp>
        <p:nvSpPr>
          <p:cNvPr id="12" name="col-Support"/>
          <p:cNvSpPr/>
          <p:nvPr/>
        </p:nvSpPr>
        <p:spPr>
          <a:xfrm>
            <a:off x="548640" y="2395728"/>
            <a:ext cx="5602443" cy="3749040"/>
          </a:xfrm>
          <a:prstGeom prst="roundRect">
            <a:avLst>
              <a:gd name="adj" fmla="val 1463"/>
            </a:avLst>
          </a:prstGeom>
          <a:solidFill>
            <a:srgbClr val="F6F2EF"/>
          </a:solidFill>
          <a:ln/>
        </p:spPr>
      </p:sp>
      <p:sp>
        <p:nvSpPr>
          <p:cNvPr id="13" name="col-hex"/>
          <p:cNvSpPr/>
          <p:nvPr/>
        </p:nvSpPr>
        <p:spPr>
          <a:xfrm>
            <a:off x="658368" y="2468880"/>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432304"/>
            <a:ext cx="4870923" cy="566928"/>
          </a:xfrm>
          <a:prstGeom prst="rect">
            <a:avLst/>
          </a:prstGeom>
          <a:noFill/>
          <a:ln/>
        </p:spPr>
        <p:txBody>
          <a:bodyPr wrap="square" lIns="63500" tIns="63500" rIns="63500" bIns="63500" rtlCol="0" anchor="ctr"/>
          <a:lstStyle/>
          <a:p>
            <a:pPr algn="l" indent="0" marL="0">
              <a:buNone/>
            </a:pPr>
            <a:r>
              <a:rPr lang="en-US" sz="2000" b="1" dirty="0">
                <a:solidFill>
                  <a:srgbClr val="553415"/>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035808"/>
            <a:ext cx="5328123" cy="2999232"/>
          </a:xfrm>
          <a:prstGeom prst="rect">
            <a:avLst/>
          </a:prstGeom>
          <a:noFill/>
          <a:ln/>
        </p:spPr>
        <p:txBody>
          <a:bodyPr wrap="square" lIns="63500" tIns="63500" rIns="63500" bIns="63500" rtlCol="0" anchor="t"/>
          <a:lstStyle/>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1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Remember what had made Becket furious while he was in France: another churchman had done his job.</a:t>
            </a:r>
            <a:endParaRPr lang="en-US" sz="1800" dirty="0"/>
          </a:p>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2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Ask what power an Archbishop has that a king does not: he can shut people out of the Church.</a:t>
            </a:r>
            <a:endParaRPr lang="en-US" sz="1800" dirty="0"/>
          </a:p>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3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Becket used that power on the churchmen who had sided with Henry.</a:t>
            </a:r>
            <a:endParaRPr lang="en-US" sz="1800" dirty="0"/>
          </a:p>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4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Rule out anything that happened after Becket's death or that Becket could not do himself.</a:t>
            </a:r>
            <a:endParaRPr lang="en-US" sz="1800" dirty="0"/>
          </a:p>
        </p:txBody>
      </p:sp>
      <p:sp>
        <p:nvSpPr>
          <p:cNvPr id="17" name="col-Core"/>
          <p:cNvSpPr/>
          <p:nvPr/>
        </p:nvSpPr>
        <p:spPr>
          <a:xfrm>
            <a:off x="6425403" y="2395728"/>
            <a:ext cx="2471666" cy="3749040"/>
          </a:xfrm>
          <a:prstGeom prst="roundRect">
            <a:avLst>
              <a:gd name="adj" fmla="val 2220"/>
            </a:avLst>
          </a:prstGeom>
          <a:solidFill>
            <a:srgbClr val="E6DDD4"/>
          </a:solidFill>
          <a:ln/>
        </p:spPr>
      </p:sp>
      <p:sp>
        <p:nvSpPr>
          <p:cNvPr id="18" name="col-hex"/>
          <p:cNvSpPr/>
          <p:nvPr/>
        </p:nvSpPr>
        <p:spPr>
          <a:xfrm>
            <a:off x="6535131" y="2468880"/>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6535131"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7065483" y="2432304"/>
            <a:ext cx="1740146" cy="566928"/>
          </a:xfrm>
          <a:prstGeom prst="rect">
            <a:avLst/>
          </a:prstGeom>
          <a:noFill/>
          <a:ln/>
        </p:spPr>
        <p:txBody>
          <a:bodyPr wrap="square" lIns="63500" tIns="63500" rIns="63500" bIns="63500" rtlCol="0" anchor="ctr"/>
          <a:lstStyle/>
          <a:p>
            <a:pPr algn="l" indent="0" marL="0">
              <a:buNone/>
            </a:pPr>
            <a:r>
              <a:rPr lang="en-US" sz="2000" b="1" dirty="0">
                <a:solidFill>
                  <a:srgbClr val="553415"/>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6562563" y="3035808"/>
            <a:ext cx="2197346" cy="2999232"/>
          </a:xfrm>
          <a:prstGeom prst="rect">
            <a:avLst/>
          </a:prstGeom>
          <a:noFill/>
          <a:ln/>
        </p:spPr>
        <p:txBody>
          <a:bodyPr wrap="square" lIns="63500" tIns="63500" rIns="63500" bIns="63500" rtlCol="0" anchor="t"/>
          <a:lstStyle/>
          <a:p>
            <a:pPr algn="l" indent="0" marL="0">
              <a:buNone/>
            </a:pPr>
            <a:r>
              <a:rPr lang="en-US" sz="1800" b="1" dirty="0">
                <a:solidFill>
                  <a:srgbClr val="623B18"/>
                </a:solidFill>
                <a:latin typeface="Calibri" pitchFamily="34" charset="0"/>
                <a:ea typeface="Calibri" pitchFamily="34" charset="-122"/>
                <a:cs typeface="Calibri" pitchFamily="34" charset="-120"/>
              </a:rPr>
              <a:t>Hint:  </a:t>
            </a:r>
            <a:pPr algn="l" indent="0" marL="0">
              <a:buNone/>
            </a:pPr>
            <a:r>
              <a:rPr lang="en-US" sz="1800" dirty="0">
                <a:solidFill>
                  <a:srgbClr val="1E2229"/>
                </a:solidFill>
                <a:latin typeface="Calibri" pitchFamily="34" charset="0"/>
                <a:ea typeface="Calibri" pitchFamily="34" charset="-122"/>
                <a:cs typeface="Calibri" pitchFamily="34" charset="-120"/>
              </a:rPr>
              <a:t>It was a Church punishment, aimed at churchmen who had helped the king.</a:t>
            </a:r>
            <a:endParaRPr lang="en-US" sz="1800" dirty="0"/>
          </a:p>
        </p:txBody>
      </p:sp>
      <p:sp>
        <p:nvSpPr>
          <p:cNvPr id="22" name="col-Stretch"/>
          <p:cNvSpPr/>
          <p:nvPr/>
        </p:nvSpPr>
        <p:spPr>
          <a:xfrm>
            <a:off x="9171389" y="2395728"/>
            <a:ext cx="2471666" cy="3749040"/>
          </a:xfrm>
          <a:prstGeom prst="roundRect">
            <a:avLst>
              <a:gd name="adj" fmla="val 2220"/>
            </a:avLst>
          </a:prstGeom>
          <a:solidFill>
            <a:srgbClr val="7A4A1E"/>
          </a:solidFill>
          <a:ln/>
        </p:spPr>
      </p:sp>
      <p:sp>
        <p:nvSpPr>
          <p:cNvPr id="23" name="col-hex"/>
          <p:cNvSpPr/>
          <p:nvPr/>
        </p:nvSpPr>
        <p:spPr>
          <a:xfrm>
            <a:off x="9281117" y="2468880"/>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9281117"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9811469" y="2432304"/>
            <a:ext cx="1740146"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9308549" y="3035808"/>
            <a:ext cx="2197346" cy="2999232"/>
          </a:xfrm>
          <a:prstGeom prst="rect">
            <a:avLst/>
          </a:prstGeom>
          <a:noFill/>
          <a:ln/>
        </p:spPr>
        <p:txBody>
          <a:bodyPr wrap="square" lIns="63500" tIns="63500" rIns="63500" bIns="63500" rtlCol="0" anchor="t"/>
          <a:lstStyle/>
          <a:p>
            <a:pPr algn="l" indent="0" marL="0">
              <a:buNone/>
            </a:pPr>
            <a:r>
              <a:rPr lang="en-US" sz="1800" b="1" dirty="0">
                <a:solidFill>
                  <a:srgbClr val="D4B680"/>
                </a:solidFill>
                <a:latin typeface="Calibri" pitchFamily="34" charset="0"/>
                <a:ea typeface="Calibri" pitchFamily="34" charset="-122"/>
                <a:cs typeface="Calibri" pitchFamily="34" charset="-120"/>
              </a:rPr>
              <a:t>Then:  </a:t>
            </a:r>
            <a:pPr algn="l" indent="0" marL="0">
              <a:buNone/>
            </a:pPr>
            <a:r>
              <a:rPr lang="en-US" sz="1800" dirty="0">
                <a:solidFill>
                  <a:srgbClr val="FFFFFF"/>
                </a:solidFill>
                <a:latin typeface="Calibri" pitchFamily="34" charset="0"/>
                <a:ea typeface="Calibri" pitchFamily="34" charset="-122"/>
                <a:cs typeface="Calibri" pitchFamily="34" charset="-120"/>
              </a:rPr>
              <a:t>Explain why Henry saw the excommunications as an attack on himself, even though the bishops, not the king, were the ones punished.</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Exit ticket</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Exit</a:t>
            </a:r>
            <a:endParaRPr lang="en-US" sz="1800" dirty="0"/>
          </a:p>
        </p:txBody>
      </p:sp>
      <p:sp>
        <p:nvSpPr>
          <p:cNvPr id="7" name="exit-card"/>
          <p:cNvSpPr/>
          <p:nvPr/>
        </p:nvSpPr>
        <p:spPr>
          <a:xfrm>
            <a:off x="1645920" y="1389888"/>
            <a:ext cx="8899855" cy="4754880"/>
          </a:xfrm>
          <a:prstGeom prst="roundRect">
            <a:avLst>
              <a:gd name="adj" fmla="val 962"/>
            </a:avLst>
          </a:prstGeom>
          <a:solidFill>
            <a:srgbClr val="FFFFFF"/>
          </a:solidFill>
          <a:ln w="31750">
            <a:solidFill>
              <a:srgbClr val="7A4A1E"/>
            </a:solidFill>
            <a:prstDash val="solid"/>
          </a:ln>
          <a:effectLst>
            <a:outerShdw sx="100000" sy="100000" kx="0" ky="0" algn="bl" rotWithShape="0" blurRad="76200" dist="25400" dir="5400000">
              <a:srgbClr val="000000">
                <a:alpha val="12000"/>
              </a:srgbClr>
            </a:outerShdw>
          </a:effectLst>
        </p:spPr>
      </p:sp>
      <p:sp>
        <p:nvSpPr>
          <p:cNvPr id="8" name="exit-hex"/>
          <p:cNvSpPr/>
          <p:nvPr/>
        </p:nvSpPr>
        <p:spPr>
          <a:xfrm>
            <a:off x="1143000" y="1618488"/>
            <a:ext cx="1005840" cy="871057"/>
          </a:xfrm>
          <a:prstGeom prst="hexagon">
            <a:avLst/>
          </a:prstGeom>
          <a:solidFill>
            <a:srgbClr val="7A4A1E"/>
          </a:solidFill>
          <a:ln w="25400">
            <a:solidFill>
              <a:srgbClr val="B8862B"/>
            </a:solidFill>
            <a:prstDash val="solid"/>
          </a:ln>
        </p:spPr>
      </p:sp>
      <p:sp>
        <p:nvSpPr>
          <p:cNvPr id="9" name="exit-hex-label"/>
          <p:cNvSpPr txBox="1"/>
          <p:nvPr/>
        </p:nvSpPr>
        <p:spPr>
          <a:xfrm>
            <a:off x="1143000" y="1618488"/>
            <a:ext cx="1005840" cy="871057"/>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Exit</a:t>
            </a:r>
            <a:endParaRPr lang="en-US" sz="2000" dirty="0"/>
          </a:p>
        </p:txBody>
      </p:sp>
      <p:sp>
        <p:nvSpPr>
          <p:cNvPr id="10" name="exit-q"/>
          <p:cNvSpPr txBox="1"/>
          <p:nvPr/>
        </p:nvSpPr>
        <p:spPr>
          <a:xfrm>
            <a:off x="2286000" y="1664208"/>
            <a:ext cx="7802575" cy="2584196"/>
          </a:xfrm>
          <a:prstGeom prst="rect">
            <a:avLst/>
          </a:prstGeom>
          <a:noFill/>
          <a:ln/>
        </p:spPr>
        <p:txBody>
          <a:bodyPr wrap="square" lIns="63500" tIns="63500" rIns="63500" bIns="63500" rtlCol="0" anchor="t"/>
          <a:lstStyle/>
          <a:p>
            <a:pPr algn="l" indent="0" marL="0">
              <a:spcAft>
                <a:spcPts val="1200"/>
              </a:spcAft>
              <a:buNone/>
            </a:pPr>
            <a:r>
              <a:rPr lang="en-US" sz="2400" b="1" dirty="0">
                <a:solidFill>
                  <a:srgbClr val="1E2229"/>
                </a:solidFill>
                <a:latin typeface="Calibri" pitchFamily="34" charset="0"/>
                <a:ea typeface="Calibri" pitchFamily="34" charset="-122"/>
                <a:cs typeface="Calibri" pitchFamily="34" charset="-120"/>
              </a:rPr>
              <a:t>What does it mean to excommunicate someone?</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To give them a job running the country while the king is away</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To send them to prison for a crime against the king</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To shut them out of the services and sacraments of the Church officially</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To make them a saint after their death</a:t>
            </a:r>
            <a:endParaRPr lang="en-US" sz="2400" dirty="0"/>
          </a:p>
        </p:txBody>
      </p:sp>
      <p:sp>
        <p:nvSpPr>
          <p:cNvPr id="11" name="exit-answer-box"/>
          <p:cNvSpPr/>
          <p:nvPr/>
        </p:nvSpPr>
        <p:spPr>
          <a:xfrm>
            <a:off x="2286000" y="5047488"/>
            <a:ext cx="7619695" cy="822960"/>
          </a:xfrm>
          <a:prstGeom prst="roundRect">
            <a:avLst>
              <a:gd name="adj" fmla="val 11111"/>
            </a:avLst>
          </a:prstGeom>
          <a:solidFill>
            <a:srgbClr val="FAF8F6"/>
          </a:solidFill>
          <a:ln w="12700">
            <a:solidFill>
              <a:srgbClr val="C0AA95"/>
            </a:solidFill>
            <a:prstDash val="solid"/>
          </a:ln>
        </p:spPr>
      </p:sp>
      <p:sp>
        <p:nvSpPr>
          <p:cNvPr id="12" name="exit-answer-label"/>
          <p:cNvSpPr txBox="1"/>
          <p:nvPr/>
        </p:nvSpPr>
        <p:spPr>
          <a:xfrm>
            <a:off x="2423160" y="5047488"/>
            <a:ext cx="2926080" cy="822960"/>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My answer:</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800" b="1" dirty="0">
                <a:solidFill>
                  <a:srgbClr val="7A4A1E"/>
                </a:solidFill>
                <a:latin typeface="Cambria" pitchFamily="34" charset="0"/>
                <a:ea typeface="Cambria" pitchFamily="34" charset="-122"/>
                <a:cs typeface="Cambria" pitchFamily="34" charset="-120"/>
              </a:rPr>
              <a:t>Answers: From friends to murder: the order of events</a:t>
            </a:r>
            <a:endParaRPr lang="en-US" sz="28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9F4EC"/>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t"/>
          <a:lstStyle/>
          <a:p>
            <a:pPr algn="l" indent="0" marL="0">
              <a:spcAft>
                <a:spcPts val="1000"/>
              </a:spcAft>
              <a:buNone/>
            </a:pPr>
            <a:r>
              <a:rPr lang="en-US" sz="1800" b="1" dirty="0">
                <a:solidFill>
                  <a:srgbClr val="815E1E"/>
                </a:solidFill>
                <a:latin typeface="Calibri" pitchFamily="34" charset="0"/>
                <a:ea typeface="Calibri" pitchFamily="34" charset="-122"/>
                <a:cs typeface="Calibri" pitchFamily="34" charset="-120"/>
              </a:rPr>
              <a:t>1  </a:t>
            </a:r>
            <a:pPr algn="l" indent="0" marL="0">
              <a:spcAft>
                <a:spcPts val="1000"/>
              </a:spcAft>
              <a:buNone/>
            </a:pPr>
            <a:r>
              <a:rPr lang="en-US" sz="1800" dirty="0">
                <a:solidFill>
                  <a:srgbClr val="1E2229"/>
                </a:solidFill>
                <a:latin typeface="Calibri" pitchFamily="34" charset="0"/>
                <a:ea typeface="Calibri" pitchFamily="34" charset="-122"/>
                <a:cs typeface="Calibri" pitchFamily="34" charset="-120"/>
              </a:rPr>
              <a:t>Henry and Becket become best friends and Henry makes Becket Chancellor of England  (C)</a:t>
            </a:r>
            <a:endParaRPr lang="en-US" sz="1800" dirty="0"/>
          </a:p>
          <a:p>
            <a:pPr algn="l" indent="0" marL="0">
              <a:spcAft>
                <a:spcPts val="1000"/>
              </a:spcAft>
              <a:buNone/>
            </a:pPr>
            <a:r>
              <a:rPr lang="en-US" sz="1800" b="1" dirty="0">
                <a:solidFill>
                  <a:srgbClr val="815E1E"/>
                </a:solidFill>
                <a:latin typeface="Calibri" pitchFamily="34" charset="0"/>
                <a:ea typeface="Calibri" pitchFamily="34" charset="-122"/>
                <a:cs typeface="Calibri" pitchFamily="34" charset="-120"/>
              </a:rPr>
              <a:t>2  </a:t>
            </a:r>
            <a:pPr algn="l" indent="0" marL="0">
              <a:spcAft>
                <a:spcPts val="1000"/>
              </a:spcAft>
              <a:buNone/>
            </a:pPr>
            <a:r>
              <a:rPr lang="en-US" sz="1800" dirty="0">
                <a:solidFill>
                  <a:srgbClr val="1E2229"/>
                </a:solidFill>
                <a:latin typeface="Calibri" pitchFamily="34" charset="0"/>
                <a:ea typeface="Calibri" pitchFamily="34" charset="-122"/>
                <a:cs typeface="Calibri" pitchFamily="34" charset="-120"/>
              </a:rPr>
              <a:t>Henry makes Becket Archbishop of Canterbury  (A)</a:t>
            </a:r>
            <a:endParaRPr lang="en-US" sz="1800" dirty="0"/>
          </a:p>
          <a:p>
            <a:pPr algn="l" indent="0" marL="0">
              <a:spcAft>
                <a:spcPts val="1000"/>
              </a:spcAft>
              <a:buNone/>
            </a:pPr>
            <a:r>
              <a:rPr lang="en-US" sz="1800" b="1" dirty="0">
                <a:solidFill>
                  <a:srgbClr val="815E1E"/>
                </a:solidFill>
                <a:latin typeface="Calibri" pitchFamily="34" charset="0"/>
                <a:ea typeface="Calibri" pitchFamily="34" charset="-122"/>
                <a:cs typeface="Calibri" pitchFamily="34" charset="-120"/>
              </a:rPr>
              <a:t>3  </a:t>
            </a:r>
            <a:pPr algn="l" indent="0" marL="0">
              <a:spcAft>
                <a:spcPts val="1000"/>
              </a:spcAft>
              <a:buNone/>
            </a:pPr>
            <a:r>
              <a:rPr lang="en-US" sz="1800" dirty="0">
                <a:solidFill>
                  <a:srgbClr val="1E2229"/>
                </a:solidFill>
                <a:latin typeface="Calibri" pitchFamily="34" charset="0"/>
                <a:ea typeface="Calibri" pitchFamily="34" charset="-122"/>
                <a:cs typeface="Calibri" pitchFamily="34" charset="-120"/>
              </a:rPr>
              <a:t>Becket becomes very religious and refuses to let the king punish priests who break the law  (D)</a:t>
            </a:r>
            <a:endParaRPr lang="en-US" sz="1800" dirty="0"/>
          </a:p>
          <a:p>
            <a:pPr algn="l" indent="0" marL="0">
              <a:spcAft>
                <a:spcPts val="1000"/>
              </a:spcAft>
              <a:buNone/>
            </a:pPr>
            <a:r>
              <a:rPr lang="en-US" sz="1800" b="1" dirty="0">
                <a:solidFill>
                  <a:srgbClr val="815E1E"/>
                </a:solidFill>
                <a:latin typeface="Calibri" pitchFamily="34" charset="0"/>
                <a:ea typeface="Calibri" pitchFamily="34" charset="-122"/>
                <a:cs typeface="Calibri" pitchFamily="34" charset="-120"/>
              </a:rPr>
              <a:t>4  </a:t>
            </a:r>
            <a:pPr algn="l" indent="0" marL="0">
              <a:spcAft>
                <a:spcPts val="1000"/>
              </a:spcAft>
              <a:buNone/>
            </a:pPr>
            <a:r>
              <a:rPr lang="en-US" sz="1800" dirty="0">
                <a:solidFill>
                  <a:srgbClr val="1E2229"/>
                </a:solidFill>
                <a:latin typeface="Calibri" pitchFamily="34" charset="0"/>
                <a:ea typeface="Calibri" pitchFamily="34" charset="-122"/>
                <a:cs typeface="Calibri" pitchFamily="34" charset="-120"/>
              </a:rPr>
              <a:t>Becket runs away to France for six years (1164)  (F)</a:t>
            </a:r>
            <a:endParaRPr lang="en-US" sz="1800" dirty="0"/>
          </a:p>
          <a:p>
            <a:pPr algn="l" indent="0" marL="0">
              <a:spcAft>
                <a:spcPts val="1000"/>
              </a:spcAft>
              <a:buNone/>
            </a:pPr>
            <a:r>
              <a:rPr lang="en-US" sz="1800" b="1" dirty="0">
                <a:solidFill>
                  <a:srgbClr val="815E1E"/>
                </a:solidFill>
                <a:latin typeface="Calibri" pitchFamily="34" charset="0"/>
                <a:ea typeface="Calibri" pitchFamily="34" charset="-122"/>
                <a:cs typeface="Calibri" pitchFamily="34" charset="-120"/>
              </a:rPr>
              <a:t>5  </a:t>
            </a:r>
            <a:pPr algn="l" indent="0" marL="0">
              <a:spcAft>
                <a:spcPts val="1000"/>
              </a:spcAft>
              <a:buNone/>
            </a:pPr>
            <a:r>
              <a:rPr lang="en-US" sz="1800" dirty="0">
                <a:solidFill>
                  <a:srgbClr val="1E2229"/>
                </a:solidFill>
                <a:latin typeface="Calibri" pitchFamily="34" charset="0"/>
                <a:ea typeface="Calibri" pitchFamily="34" charset="-122"/>
                <a:cs typeface="Calibri" pitchFamily="34" charset="-120"/>
              </a:rPr>
              <a:t>Becket returns to England and excommunicates the bishops who helped Henry (1170)  (E)</a:t>
            </a:r>
            <a:endParaRPr lang="en-US" sz="1800" dirty="0"/>
          </a:p>
          <a:p>
            <a:pPr algn="l" indent="0" marL="0">
              <a:spcAft>
                <a:spcPts val="1000"/>
              </a:spcAft>
              <a:buNone/>
            </a:pPr>
            <a:r>
              <a:rPr lang="en-US" sz="1800" b="1" dirty="0">
                <a:solidFill>
                  <a:srgbClr val="815E1E"/>
                </a:solidFill>
                <a:latin typeface="Calibri" pitchFamily="34" charset="0"/>
                <a:ea typeface="Calibri" pitchFamily="34" charset="-122"/>
                <a:cs typeface="Calibri" pitchFamily="34" charset="-120"/>
              </a:rPr>
              <a:t>6  </a:t>
            </a:r>
            <a:pPr algn="l" indent="0" marL="0">
              <a:spcAft>
                <a:spcPts val="1000"/>
              </a:spcAft>
              <a:buNone/>
            </a:pPr>
            <a:r>
              <a:rPr lang="en-US" sz="1800" dirty="0">
                <a:solidFill>
                  <a:srgbClr val="1E2229"/>
                </a:solidFill>
                <a:latin typeface="Calibri" pitchFamily="34" charset="0"/>
                <a:ea typeface="Calibri" pitchFamily="34" charset="-122"/>
                <a:cs typeface="Calibri" pitchFamily="34" charset="-120"/>
              </a:rPr>
              <a:t>Four knights kill Becket in Canterbury Cathedral (1170)  (B)</a:t>
            </a:r>
            <a:endParaRPr lang="en-US" sz="1800" dirty="0"/>
          </a:p>
        </p:txBody>
      </p:sp>
      <p:sp>
        <p:nvSpPr>
          <p:cNvPr id="10" name="why-panel"/>
          <p:cNvSpPr/>
          <p:nvPr/>
        </p:nvSpPr>
        <p:spPr>
          <a:xfrm>
            <a:off x="7223760" y="1389888"/>
            <a:ext cx="4419295" cy="4754880"/>
          </a:xfrm>
          <a:prstGeom prst="roundRect">
            <a:avLst>
              <a:gd name="adj" fmla="val 1035"/>
            </a:avLst>
          </a:prstGeom>
          <a:solidFill>
            <a:srgbClr val="F6F2EF"/>
          </a:solidFill>
          <a:ln/>
        </p:spPr>
      </p:sp>
      <p:sp>
        <p:nvSpPr>
          <p:cNvPr id="11" name="why-hex"/>
          <p:cNvSpPr/>
          <p:nvPr/>
        </p:nvSpPr>
        <p:spPr>
          <a:xfrm>
            <a:off x="7406640" y="1572768"/>
            <a:ext cx="685800" cy="593903"/>
          </a:xfrm>
          <a:prstGeom prst="hexagon">
            <a:avLst/>
          </a:prstGeom>
          <a:solidFill>
            <a:srgbClr val="7A4A1E"/>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Friendship and the Chancellorship came first; then the Archbishopric; then Becket's new religious seriousness and his refusal over the Church courts; then exile in 1164, return in 1170, and the murder in 1170.</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Answers: What Becket did when he came back</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9F4EC"/>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ctr"/>
          <a:lstStyle/>
          <a:p>
            <a:pPr algn="l" indent="0" marL="0">
              <a:spcAft>
                <a:spcPts val="1400"/>
              </a:spcAft>
              <a:buNone/>
            </a:pPr>
            <a:r>
              <a:rPr lang="en-US" sz="1800" dirty="0">
                <a:solidFill>
                  <a:srgbClr val="4A505C"/>
                </a:solidFill>
                <a:latin typeface="Calibri" pitchFamily="34" charset="0"/>
                <a:ea typeface="Calibri" pitchFamily="34" charset="-122"/>
                <a:cs typeface="Calibri" pitchFamily="34" charset="-120"/>
              </a:rPr>
              <a:t>What did Becket do as soon as he returned from France in 1170?</a:t>
            </a:r>
            <a:endParaRPr lang="en-US" sz="1800" dirty="0"/>
          </a:p>
          <a:p>
            <a:pPr algn="l" indent="0" marL="0">
              <a:buNone/>
            </a:pPr>
            <a:r>
              <a:rPr lang="en-US" sz="3200" b="1" dirty="0">
                <a:solidFill>
                  <a:srgbClr val="1E2229"/>
                </a:solidFill>
                <a:latin typeface="Cambria" pitchFamily="34" charset="0"/>
                <a:ea typeface="Cambria" pitchFamily="34" charset="-122"/>
                <a:cs typeface="Cambria" pitchFamily="34" charset="-120"/>
              </a:rPr>
              <a:t>A   He excommunicated the bishops who had helped Henry run the Church while he was away</a:t>
            </a:r>
            <a:endParaRPr lang="en-US" sz="1800" dirty="0"/>
          </a:p>
        </p:txBody>
      </p:sp>
      <p:sp>
        <p:nvSpPr>
          <p:cNvPr id="10" name="why-panel"/>
          <p:cNvSpPr/>
          <p:nvPr/>
        </p:nvSpPr>
        <p:spPr>
          <a:xfrm>
            <a:off x="7223760" y="1389888"/>
            <a:ext cx="4419295" cy="4754880"/>
          </a:xfrm>
          <a:prstGeom prst="roundRect">
            <a:avLst>
              <a:gd name="adj" fmla="val 1035"/>
            </a:avLst>
          </a:prstGeom>
          <a:solidFill>
            <a:srgbClr val="F6F2EF"/>
          </a:solidFill>
          <a:ln/>
        </p:spPr>
      </p:sp>
      <p:sp>
        <p:nvSpPr>
          <p:cNvPr id="11" name="why-hex"/>
          <p:cNvSpPr/>
          <p:nvPr/>
        </p:nvSpPr>
        <p:spPr>
          <a:xfrm>
            <a:off x="7406640" y="1572768"/>
            <a:ext cx="685800" cy="593903"/>
          </a:xfrm>
          <a:prstGeom prst="hexagon">
            <a:avLst/>
          </a:prstGeom>
          <a:solidFill>
            <a:srgbClr val="7A4A1E"/>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Becket excommunicated the bishops who had helped Henry, including the Archbishop of York. Henry saw this as Becket breaking their agreement and attacking the men who had served the Crown.</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Answers: Exit ticket</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9F4EC"/>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ctr"/>
          <a:lstStyle/>
          <a:p>
            <a:pPr algn="l" indent="0" marL="0">
              <a:spcAft>
                <a:spcPts val="1400"/>
              </a:spcAft>
              <a:buNone/>
            </a:pPr>
            <a:r>
              <a:rPr lang="en-US" sz="1800" dirty="0">
                <a:solidFill>
                  <a:srgbClr val="4A505C"/>
                </a:solidFill>
                <a:latin typeface="Calibri" pitchFamily="34" charset="0"/>
                <a:ea typeface="Calibri" pitchFamily="34" charset="-122"/>
                <a:cs typeface="Calibri" pitchFamily="34" charset="-120"/>
              </a:rPr>
              <a:t>What does it mean to excommunicate someone?</a:t>
            </a:r>
            <a:endParaRPr lang="en-US" sz="1800" dirty="0"/>
          </a:p>
          <a:p>
            <a:pPr algn="l" indent="0" marL="0">
              <a:buNone/>
            </a:pPr>
            <a:r>
              <a:rPr lang="en-US" sz="3200" b="1" dirty="0">
                <a:solidFill>
                  <a:srgbClr val="1E2229"/>
                </a:solidFill>
                <a:latin typeface="Cambria" pitchFamily="34" charset="0"/>
                <a:ea typeface="Cambria" pitchFamily="34" charset="-122"/>
                <a:cs typeface="Cambria" pitchFamily="34" charset="-120"/>
              </a:rPr>
              <a:t>C   To shut them out of the services and sacraments of the Church officially</a:t>
            </a:r>
            <a:endParaRPr lang="en-US" sz="1800" dirty="0"/>
          </a:p>
        </p:txBody>
      </p:sp>
      <p:sp>
        <p:nvSpPr>
          <p:cNvPr id="10" name="why-panel"/>
          <p:cNvSpPr/>
          <p:nvPr/>
        </p:nvSpPr>
        <p:spPr>
          <a:xfrm>
            <a:off x="7223760" y="1389888"/>
            <a:ext cx="4419295" cy="4754880"/>
          </a:xfrm>
          <a:prstGeom prst="roundRect">
            <a:avLst>
              <a:gd name="adj" fmla="val 1035"/>
            </a:avLst>
          </a:prstGeom>
          <a:solidFill>
            <a:srgbClr val="F6F2EF"/>
          </a:solidFill>
          <a:ln/>
        </p:spPr>
      </p:sp>
      <p:sp>
        <p:nvSpPr>
          <p:cNvPr id="11" name="why-hex"/>
          <p:cNvSpPr/>
          <p:nvPr/>
        </p:nvSpPr>
        <p:spPr>
          <a:xfrm>
            <a:off x="7406640" y="1572768"/>
            <a:ext cx="685800" cy="593903"/>
          </a:xfrm>
          <a:prstGeom prst="hexagon">
            <a:avLst/>
          </a:prstGeom>
          <a:solidFill>
            <a:srgbClr val="7A4A1E"/>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Excommunication officially excluded a person from the Church's services and sacraments. Becket used it against the bishops who had helped Henry.</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19</a:t>
            </a:fld>
            <a:endParaRPr lang="en-US"/>
          </a:p>
        </p:txBody>
      </p:sp>
    </p:spTree>
  </p:cSld>
  <p:clrMapOvr>
    <a:masterClrMapping/>
  </p:clrMapOvr>
</p:sld>
</file>

<file path=ppt/theme/theme1.xml><?xml version="1.0" encoding="utf-8"?>
<a:theme xmlns:a="http://schemas.openxmlformats.org/drawingml/2006/main" name="Ad Astra history">
  <a:themeElements>
    <a:clrScheme name="Ad Astra history">
      <a:dk1>
        <a:srgbClr val="1E2229"/>
      </a:dk1>
      <a:lt1>
        <a:srgbClr val="FFFFFF"/>
      </a:lt1>
      <a:dk2>
        <a:srgbClr val="623B18"/>
      </a:dk2>
      <a:lt2>
        <a:srgbClr val="F6F2EF"/>
      </a:lt2>
      <a:accent1>
        <a:srgbClr val="7A4A1E"/>
      </a:accent1>
      <a:accent2>
        <a:srgbClr val="B8862B"/>
      </a:accent2>
      <a:accent3>
        <a:srgbClr val="AF9278"/>
      </a:accent3>
      <a:accent4>
        <a:srgbClr val="815E1E"/>
      </a:accent4>
      <a:accent5>
        <a:srgbClr val="4A505C"/>
      </a:accent5>
      <a:accent6>
        <a:srgbClr val="DEC69B"/>
      </a:accent6>
      <a:hlink>
        <a:srgbClr val="7A4A1E"/>
      </a:hlink>
      <a:folHlink>
        <a:srgbClr val="553415"/>
      </a:folHlink>
    </a:clrScheme>
    <a:fontScheme name="Ad Astra history">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Edu.Ai SV Digital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Plantagenets · Chapter 3: The Church and the Crown: Henry II and Thomas Becket</dc:title>
  <dc:subject>History · Year 7</dc:subject>
  <dc:creator>Dr Vitor Merissi de Carvalho</dc:creator>
  <cp:lastModifiedBy>Dr Vitor Merissi de Carvalho</cp:lastModifiedBy>
  <cp:revision>1</cp:revision>
  <dcterms:created xsi:type="dcterms:W3CDTF">2026-10-19T16:23:10Z</dcterms:created>
  <dcterms:modified xsi:type="dcterms:W3CDTF">2026-10-19T16:23:10Z</dcterms:modified>
</cp:coreProperties>
</file>