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81ebe5a7-12ad-6e65-ad61-7f3a74fa2da5}">
          <p14:sldIdLst>
            <p14:sldId id="256"/>
          </p14:sldIdLst>
        </p14:section>
        <p14:section name="Gate" id="{20166624-3dc1-aec8-d865-b6e5b46966a9}">
          <p14:sldIdLst>
            <p14:sldId id="257"/>
            <p14:sldId id="258"/>
          </p14:sldIdLst>
        </p14:section>
        <p14:section name="Pre-teach" id="{ed1cd642-f6bd-1e2d-965e-46a3b52d99a3}">
          <p14:sldIdLst>
            <p14:sldId id="259"/>
          </p14:sldIdLst>
        </p14:section>
        <p14:section name="Read-along" id="{46e1d3e5-8997-d971-058d-d494dffd3b8b}">
          <p14:sldIdLst>
            <p14:sldId id="260"/>
            <p14:sldId id="261"/>
          </p14:sldIdLst>
        </p14:section>
        <p14:section name="Teach" id="{f0d20acb-1699-03ee-5f30-e77f0aced6b2}">
          <p14:sldIdLst>
            <p14:sldId id="262"/>
            <p14:sldId id="263"/>
            <p14:sldId id="264"/>
            <p14:sldId id="265"/>
            <p14:sldId id="266"/>
          </p14:sldIdLst>
        </p14:section>
        <p14:section name="Routes" id="{58cf0bdf-6292-da5c-d485-a3326814cc9f}">
          <p14:sldIdLst>
            <p14:sldId id="267"/>
            <p14:sldId id="268"/>
            <p14:sldId id="269"/>
            <p14:sldId id="270"/>
          </p14:sldIdLst>
        </p14:section>
        <p14:section name="Close" id="{d12b1c89-7bb2-285d-b26e-ceaad1942f51}">
          <p14:sldIdLst>
            <p14:sldId id="271"/>
          </p14:sldIdLst>
        </p14:section>
        <p14:section name="Answers" id="{d210064b-8155-1bf3-3bfa-058ab3e63a9b}">
          <p14:sldIdLst>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4 of 5: Who was to blame for the murder of Thomas Becket?. How historians sort the causes of the murder by person and by time, the difference between a short-term and a long-term cause, and how to write a judgement in a PEE paragraph.
This deck covers the department's lesson: 2 (The Church versus the Crown: Henry II and Thomas Becket: How powerful were the Church and the Crown in medieval England, why did Henry II and Becket fall out, and was there change or continuity between the Church and the king?).
Read the big question aloud: "How did the Plantagenets change England, 1154–1399?"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Who actually killed Thomas Becket?  →  C   Four knights who had heard Henry rage against him
2. A cause that builds up over months or years before an event is called a ___-term cause.  →  long
3. Which of these is a reason some historians say Becket himself was partly to blame?  →  C   He refused to leave the cathedral when the knights threatened him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C   Four knights who had heard Henry rage against him. Four knights who had heard the king's words rode to Canterbury and killed Becket in the cathedral.
2. long. Long-term causes build up over a long time; short-term causes happen just before the event.
3. C   He refused to leave the cathedral when the knights threatened him. Becket refused to leave the cathedral when the knights threatened him. Your lesson puts this in the column Thomas Becket was to blame.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cause: something that makes an event happen. Example: "Henry's temper was one cause of the murder."
• short-term cause: a cause that happens just before the event. Example: "The knights setting off at once was a short-term cause."
• long-term cause: a cause that builds up over a long time. Example: "The quarrel over the Church courts was a long-term cause."
• blame: to say that someone is responsible for something bad. Example: "Historians still argue about who deserves the blame."
• judgement: your decision, backed by reasons. Example: "A good judgement names the person most to blame and explains why."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Four knights killed Thomas Becket in 1170.
2. But were they the only ones to blame?
3. Henry had a terrible temper and shouted about the troublesome priest.
4. He had also asked the Archbishop of York to crown his son, which was Becket's job.
5. Becket had broken his promises when he came back from France.
6. He had refused to let the king punish priests.
7. And he refused to leave the cathedral when the knights threatened him.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The knights set off straight away, without asking Henry.
9. They chose to kill Becket instead of making him leave the country.
10. Some causes built up over years: these are long-term causes.
11. Some happened in the final hours: these are short-term causes.
12. Historians sort the causes, then make a judgement.
13. You will do the same.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Three suspects. Say it in your own words, then check understanding with a quick question: ask a pupil from the pre-teach group first, since they met these words and ideas before the lesson. Pupils try to recall before you re-explain.
Your lesson gave you nine causes of the murder and asked you to sort them into three columns, one for each person who might be blamed: King Henry, Thomas Becket, or the knights. Here they are, grouped the way your lesson's answer slide grouped them.
Henry: he was well known for a terrible temper. In 1170 he had the Archbishop of York crown the next king — a job that belonged to Becket. And he shouted the words about the troublesome priest in front of the knights. Becket: when he returned from France in 1170 he broke his promises to Henry by excommunicating other bishops and the Archbishop of York. He refused to let the king punish priests who broke the law, and in 1164 he changed his mind about the Church court rules and fled to France. In the cathedral, he refused to leave when the knights threatened him. The knights: they set off for Canterbury straight away without asking Henry whether he wanted Becket killed. Henry sent a messenger after them, but it was too late. And they chose to kill Becket, and to kill him brutally, rather than simply drive him out of the country.
Notice the warning your lesson gave: some causes fit more than one column. Henry's shout belongs to Henry, but the knights' decision to act on it belongs to them. You have to decide who is most to blame, and that means weighing the causes, not just counting them.
Tip: Nine causes, three columns. Before you judge, make sure you can place every cause and say why it sits where it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Short-term and long-term causes. Say it in your own words, then check understanding with a quick question: ask a pupil from the pre-teach group first, since they met these words and ideas before the lesson. Pupils try to recall before you re-explain.
Historians also sort causes by time. A long-term cause builds up over months or years before the event. A short-term cause happens just before it, in the final days or hours. Both kinds are needed for an event to happen: the long-term causes load the gun, and the short-term causes pull the trigger.
Your lesson's answer slide sorted the nine causes like this. Long-term: Henry's terrible temper; Henry asking the Archbishop of York to crown the next king; Becket breaking his promises on his return in 1170; Becket refusing to let the king punish the priests; Becket running away to France. Short-term: Henry shouting about the troublesome priest; Becket refusing to leave the cathedral; the knights deciding to kill Becket brutally; the knights setting off for Canterbury straight away.
You may disagree with one or two of these, and that is allowed, as long as you can argue it. Becket's return and the excommunications happened in 1170, the same year as the murder, yet the slide calls them long-term. A historian might say they were the last step in a quarrel that had lasted six years, and so belong with the long-term causes. Another might say they were the spark. State your reason either way.
Worked example — model it step by step, thinking aloud: Is this a short-term or a long-term cause? In 1170, with Becket still in France, Henry had his son crowned by the Archbishop of York. (1) Ask when it happened in relation to the murder. It happened while Becket was still in France, before his return and before the final quarrel. (2) Ask whether it is part of a build-up or a final spark. It added to a quarrel that had been running since 1164, so it is part of the build-up. (3) Your lesson's answer slide agrees: it marks this cause LT. (4) Write the judgement in a sentence: This is a long-term cause because it deepened the quarrel months before the murder rather than triggering it. Answer: A long-term cause: it deepened the quarrel before Becket returned, rather than triggering the murder itself..
Tip: ST = short-term, LT = long-term. Write the letters next to each cause, then check your pattern: the short-term causes should all come from the last few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Short-term and long-term causes. Say it in your own words, then check understanding with a quick question: ask a pupil from the pre-teach group first, since they met these words and ideas before the lesson. Pupils try to recall before you re-explain.
Historians also sort causes by time. A long-term cause builds up over months or years before the event. A short-term cause happens just before it, in the final days or hours. Both kinds are needed for an event to happen: the long-term causes load the gun, and the short-term causes pull the trigger.
Your lesson's answer slide sorted the nine causes like this. Long-term: Henry's terrible temper; Henry asking the Archbishop of York to crown the next king; Becket breaking his promises on his return in 1170; Becket refusing to let the king punish the priests; Becket running away to France. Short-term: Henry shouting about the troublesome priest; Becket refusing to leave the cathedral; the knights deciding to kill Becket brutally; the knights setting off for Canterbury straight away.
You may disagree with one or two of these, and that is allowed, as long as you can argue it. Becket's return and the excommunications happened in 1170, the same year as the murder, yet the slide calls them long-term. A historian might say they were the last step in a quarrel that had lasted six years, and so belong with the long-term causes. Another might say they were the spark. State your reason either way.
Worked example — model it step by step, thinking aloud: Is this a short-term or a long-term cause? In 1170, with Becket still in France, Henry had his son crowned by the Archbishop of York. (1) Ask when it happened in relation to the murder. It happened while Becket was still in France, before his return and before the final quarrel. (2) Ask whether it is part of a build-up or a final spark. It added to a quarrel that had been running since 1164, so it is part of the build-up. (3) Your lesson's answer slide agrees: it marks this cause LT. (4) Write the judgement in a sentence: This is a long-term cause because it deepened the quarrel months before the murder rather than triggering it. Answer: A long-term cause: it deepened the quarrel before Becket returned, rather than triggering the murder itself..
Tip: ST = short-term, LT = long-term. Write the letters next to each cause, then check your pattern: the short-term causes should all come from the last few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Short-term and long-term causes. Say it in your own words, then check understanding with a quick question: ask a pupil from the pre-teach group first, since they met these words and ideas before the lesson. Pupils try to recall before you re-explain.
Historians also sort causes by time. A long-term cause builds up over months or years before the event. A short-term cause happens just before it, in the final days or hours. Both kinds are needed for an event to happen: the long-term causes load the gun, and the short-term causes pull the trigger.
Your lesson's answer slide sorted the nine causes like this. Long-term: Henry's terrible temper; Henry asking the Archbishop of York to crown the next king; Becket breaking his promises on his return in 1170; Becket refusing to let the king punish the priests; Becket running away to France. Short-term: Henry shouting about the troublesome priest; Becket refusing to leave the cathedral; the knights deciding to kill Becket brutally; the knights setting off for Canterbury straight away.
You may disagree with one or two of these, and that is allowed, as long as you can argue it. Becket's return and the excommunications happened in 1170, the same year as the murder, yet the slide calls them long-term. A historian might say they were the last step in a quarrel that had lasted six years, and so belong with the long-term causes. Another might say they were the spark. State your reason either way.
Worked example — model it step by step, thinking aloud: Is this a short-term or a long-term cause? In 1170, with Becket still in France, Henry had his son crowned by the Archbishop of York. (1) Ask when it happened in relation to the murder. It happened while Becket was still in France, before his return and before the final quarrel. (2) Ask whether it is part of a build-up or a final spark. It added to a quarrel that had been running since 1164, so it is part of the build-up. (3) Your lesson's answer slide agrees: it marks this cause LT. (4) Write the judgement in a sentence: This is a long-term cause because it deepened the quarrel months before the murder rather than triggering it. Answer: A long-term cause: it deepened the quarrel before Becket returned, rather than triggering the murder itself..
Tip: ST = short-term, LT = long-term. Write the letters next to each cause, then check your pattern: the short-term causes should all come from the last few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Writing your judgement: PEE. Say it in your own words, then check understanding with a quick question: ask a pupil from the pre-teach group first, since they met these words and ideas before the lesson. Pupils try to recall before you re-explain.
Your lesson asked you to finish the sentence: I think the murder of Thomas Becket was … fault. The best answers use PEE. Point: say who you think was most to blame. Evidence: give two or three causes from the columns, with the detail your lesson gave. Explanation: say why those causes matter more than the others.
A good explanation does one more thing: it deals with the other suspects. If you blame Henry, say why the knights' choice does not let him off. If you blame the knights, admit that Henry's words gave them the idea. A judgement that ignores the other side is only half an argument.
There is one trap to avoid. Your first lesson's summary of Henry II says he ordered the murder. Your second lesson tells a more careful story: he shouted in a rage, and the knights acted without asking him. Good historians notice when two accounts differ, and say which one the evidence supports.
Tip: P: I think … was most to blame. E: For example, … E: This matters most because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Short-term or long-term?.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Henry shouted the words about the troublesome priest in front of the knights, days before the murder. Is this a short-term or a long-term cause?
Support — work through the steps with the group: (1) Ask when the cause happened: years before the murder, or in the last few days? (2) Ask what it did: did it build up the quarrel, or did it set the final events going? (3) Days before, and it set the knights moving, means short-term. (4) Check against the pattern: all the short-term causes come from the last few days in 1170.
Parallel worked example for Support (model it, do not give the task answer): Is this short-term or long-term? Becket refused for years to let the king punish priests who broke the law. It ran for years, from before 1164 to 1170.; It built up the quarrel rather than triggering the murder.; So it is a long-term cause, which is how your lesson marks it.. Answer: A long-term cause.
Core — reveal the hint only on request: Years of build-up is long-term. Final days, and it sets things moving, is short-term.
Stretch — no help; when finished: Explain why the murder needed both kinds of cause: what would have happened if the shout had come with no long-term quarrel behind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Short-term or long-term?.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Henry shouted the words about the troublesome priest in front of the knights, days before the murder. Is this a short-term or a long-term cause?
Support — work through the steps with the group: (1) Ask when the cause happened: years before the murder, or in the last few days? (2) Ask what it did: did it build up the quarrel, or did it set the final events going? (3) Days before, and it set the knights moving, means short-term. (4) Check against the pattern: all the short-term causes come from the last few days in 1170.
Parallel worked example for Support (model it, do not give the task answer): Is this short-term or long-term? Becket refused for years to let the king punish priests who broke the law. It ran for years, from before 1164 to 1170.; It built up the quarrel rather than triggering the murder.; So it is a long-term cause, which is how your lesson marks it.. Answer: A long-term cause.
Core — reveal the hint only on request: Years of build-up is long-term. Final days, and it sets things moving, is short-term.
Stretch — no help; when finished: Explain why the murder needed both kinds of cause: what would have happened if the shout had come with no long-term quarrel behind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Whose column?.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cause of the murder to the person your lesson's answer slide blames for it.
Support — work through the steps with the group: (1) Ask who did each action. Who had the temper? Who excommunicated people? Who rode to Canterbury? (2) Only an Archbishop could excommunicate bishops. (3) Only the people who did the killing could set off to do it. (4) The temper belongs to the man famous for his rages.
Parallel worked example for Support (model it, do not give the task answer): Match these two causes to Henry or Becket: asked the Archbishop of York to crown the next king; refused to leave the cathedral. Only the king could ask someone to crown his son.; The man in the cathedral who was threatened was Becket.. Answer: Asked the Archbishop of York: Henry. Refused to leave the cathedral: Becket..
Core — reveal the hint only on request: Who could do each thing? Only a king, only an Archbishop, only the men with swords.
Stretch — no help; when finished: Your lesson warns that some causes fit more than one column. Pick one cause and argue that it could sit in two columns, then say which column you would finally choose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Whose column?.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cause of the murder to the person your lesson's answer slide blames for it.
Support — work through the steps with the group: (1) Ask who did each action. Who had the temper? Who excommunicated people? Who rode to Canterbury? (2) Only an Archbishop could excommunicate bishops. (3) Only the people who did the killing could set off to do it. (4) The temper belongs to the man famous for his rages.
Parallel worked example for Support (model it, do not give the task answer): Match these two causes to Henry or Becket: asked the Archbishop of York to crown the next king; refused to leave the cathedral. Only the king could ask someone to crown his son.; The man in the cathedral who was threatened was Becket.. Answer: Asked the Archbishop of York: Henry. Refused to leave the cathedral: Becket..
Core — reveal the hint only on request: Who could do each thing? Only a king, only an Archbishop, only the men with swords.
Stretch — no help; when finished: Your lesson warns that some causes fit more than one column. Pick one cause and argue that it could sit in two columns, then say which column you would finally choose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Who actually killed Thomas Becket?
Answer: B   Four knights who had heard Henry rage against him. Four knights who had heard the king's words rode to Canterbury and killed Becket in the cathedral.
Source of this question: gate item 1 re-asked (options rotated) — this chapter has no third quick-check module.
The ebook also holds task 3, "Your judgement",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Short-term or long-term?. Reveal the answer; pupils mark their own work in a different colour, then read the "why" together. Same destination for every lane, so one answer serves the whole class.
Answer: C   A short-term cause
Why: Short-term causes are the ones from the final days: the shout, the knights riding at once, Becket refusing to leave. Everything that built up the quarrel over years is long-term.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Whose column?. Reveal the answer; pupils mark their own work in a different colour, then read the "why" together. Same destination for every lane, so one answer serves the whole class.
Answer: Was well known for having a terrible temper  →  A  King Henry; Broke his promises on returning from France in 1170 by excommunicating other bishops  →  C  Thomas Becket; Set off for Canterbury straight away without asking whether the king wanted the murder  →  B  The knights
Why: The temper is Henry's; the excommunications on his return are Becket's; riding off without asking is the knights'. Each cause is matched to the person who did the action.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B   Four knights who had heard Henry rage against him
Why: Four knights who had heard the king's words rode to Canterbury and killed Becket in the cathedral.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6F2EF"/>
          </a:solidFill>
          <a:ln w="12700">
            <a:solidFill>
              <a:srgbClr val="F6F2EF"/>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7 · The Plantagenets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BF7EE"/>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6F2EF"/>
          </a:solidFill>
          <a:ln w="12700">
            <a:solidFill>
              <a:srgbClr val="F6F2EF"/>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7 · The Plantagenets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7A4A1E"/>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8E0D9"/>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7A4A1E"/>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4</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7A4A1E"/>
                </a:solidFill>
                <a:latin typeface="Calibri" pitchFamily="34" charset="0"/>
                <a:ea typeface="Calibri" pitchFamily="34" charset="-122"/>
                <a:cs typeface="Calibri" pitchFamily="34" charset="-120"/>
              </a:rPr>
              <a:t>History · Year 7</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4/5</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The Plantagenets · AQA KS3 → 8145</a:t>
            </a:r>
            <a:endParaRPr lang="en-US" sz="1800" dirty="0"/>
          </a:p>
        </p:txBody>
      </p:sp>
      <p:sp>
        <p:nvSpPr>
          <p:cNvPr id="10" name="deck-title"/>
          <p:cNvSpPr txBox="1"/>
          <p:nvPr/>
        </p:nvSpPr>
        <p:spPr>
          <a:xfrm>
            <a:off x="548640" y="2370328"/>
            <a:ext cx="5287975" cy="1183640"/>
          </a:xfrm>
          <a:prstGeom prst="rect">
            <a:avLst/>
          </a:prstGeom>
          <a:noFill/>
          <a:ln/>
        </p:spPr>
        <p:txBody>
          <a:bodyPr wrap="square" lIns="63500" tIns="63500" rIns="63500" bIns="63500" rtlCol="0" anchor="t"/>
          <a:lstStyle/>
          <a:p>
            <a:pPr algn="l" indent="0" marL="0">
              <a:buNone/>
            </a:pPr>
            <a:r>
              <a:rPr lang="en-US" sz="3200" b="1" dirty="0">
                <a:solidFill>
                  <a:srgbClr val="1E2229"/>
                </a:solidFill>
                <a:latin typeface="Cambria" pitchFamily="34" charset="0"/>
                <a:ea typeface="Cambria" pitchFamily="34" charset="-122"/>
                <a:cs typeface="Cambria" pitchFamily="34" charset="-120"/>
              </a:rPr>
              <a:t>Who was to blame for the murder of Thomas Becket?</a:t>
            </a:r>
            <a:endParaRPr lang="en-US" sz="3200" dirty="0"/>
          </a:p>
        </p:txBody>
      </p:sp>
      <p:sp>
        <p:nvSpPr>
          <p:cNvPr id="11" name="lessons-card"/>
          <p:cNvSpPr/>
          <p:nvPr/>
        </p:nvSpPr>
        <p:spPr>
          <a:xfrm>
            <a:off x="548640" y="3782568"/>
            <a:ext cx="5287975" cy="1290320"/>
          </a:xfrm>
          <a:prstGeom prst="roundRect">
            <a:avLst>
              <a:gd name="adj" fmla="val 5669"/>
            </a:avLst>
          </a:prstGeom>
          <a:solidFill>
            <a:srgbClr val="F6F2EF"/>
          </a:solidFill>
          <a:ln/>
        </p:spPr>
      </p:sp>
      <p:sp>
        <p:nvSpPr>
          <p:cNvPr id="12" name="lessons"/>
          <p:cNvSpPr txBox="1"/>
          <p:nvPr/>
        </p:nvSpPr>
        <p:spPr>
          <a:xfrm>
            <a:off x="685800" y="3874008"/>
            <a:ext cx="5013655" cy="110744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7A4A1E"/>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2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The Church versus the Crown: Henry II and Thomas Becket</a:t>
            </a:r>
            <a:endParaRPr lang="en-US" sz="2000" dirty="0"/>
          </a:p>
        </p:txBody>
      </p:sp>
      <p:sp>
        <p:nvSpPr>
          <p:cNvPr id="13" name="plate-frame"/>
          <p:cNvSpPr/>
          <p:nvPr/>
        </p:nvSpPr>
        <p:spPr>
          <a:xfrm>
            <a:off x="6248095" y="411480"/>
            <a:ext cx="5394960" cy="3130677"/>
          </a:xfrm>
          <a:prstGeom prst="rect">
            <a:avLst/>
          </a:prstGeom>
          <a:solidFill>
            <a:srgbClr val="F4EDDF"/>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History, Year 7">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6F2EF"/>
          </a:solidFill>
          <a:ln w="12700">
            <a:solidFill>
              <a:srgbClr val="CEBCAC"/>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7A4A1E"/>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How did the Plantagenets change England, 1154–1399?</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2636444" cy="4754880"/>
          </a:xfrm>
          <a:prstGeom prst="roundRect">
            <a:avLst>
              <a:gd name="adj" fmla="val 2081"/>
            </a:avLst>
          </a:prstGeom>
          <a:solidFill>
            <a:srgbClr val="FAF8F6"/>
          </a:solidFill>
          <a:ln w="12700">
            <a:solidFill>
              <a:srgbClr val="D4C5B7"/>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Who actually killed Thomas Becket?</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Archbishop of York</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Pope's soldiers</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Four knights who had heard Henry rage against him</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King Henry II himself</a:t>
            </a:r>
            <a:endParaRPr lang="en-US" sz="1800" dirty="0"/>
          </a:p>
        </p:txBody>
      </p:sp>
      <p:sp>
        <p:nvSpPr>
          <p:cNvPr id="12" name="card"/>
          <p:cNvSpPr/>
          <p:nvPr/>
        </p:nvSpPr>
        <p:spPr>
          <a:xfrm>
            <a:off x="3459404" y="1389888"/>
            <a:ext cx="2636444" cy="4754880"/>
          </a:xfrm>
          <a:prstGeom prst="roundRect">
            <a:avLst>
              <a:gd name="adj" fmla="val 2081"/>
            </a:avLst>
          </a:prstGeom>
          <a:solidFill>
            <a:srgbClr val="FAF8F6"/>
          </a:solidFill>
          <a:ln w="12700">
            <a:solidFill>
              <a:srgbClr val="D4C5B7"/>
            </a:solidFill>
            <a:prstDash val="solid"/>
          </a:ln>
        </p:spPr>
      </p:sp>
      <p:sp>
        <p:nvSpPr>
          <p:cNvPr id="13" name="card-hex"/>
          <p:cNvSpPr/>
          <p:nvPr/>
        </p:nvSpPr>
        <p:spPr>
          <a:xfrm>
            <a:off x="3642284" y="1572768"/>
            <a:ext cx="640080" cy="554309"/>
          </a:xfrm>
          <a:prstGeom prst="hexagon">
            <a:avLst/>
          </a:prstGeom>
          <a:solidFill>
            <a:srgbClr val="7A4A1E"/>
          </a:solidFill>
          <a:ln/>
        </p:spPr>
      </p:sp>
      <p:sp>
        <p:nvSpPr>
          <p:cNvPr id="14" name="card-hex-label"/>
          <p:cNvSpPr txBox="1"/>
          <p:nvPr/>
        </p:nvSpPr>
        <p:spPr>
          <a:xfrm>
            <a:off x="3642284"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4373804"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3642284"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A cause that builds up over months or years before an event is called a ___-term cause.</a:t>
            </a:r>
            <a:endParaRPr lang="en-US" sz="2200" dirty="0"/>
          </a:p>
          <a:p>
            <a:pPr algn="l" indent="0" marL="0">
              <a:buNone/>
            </a:pPr>
            <a:r>
              <a:rPr lang="en-US" sz="2200" b="1" dirty="0">
                <a:solidFill>
                  <a:srgbClr val="7A4A1E"/>
                </a:solidFill>
                <a:latin typeface="Calibri" pitchFamily="34" charset="0"/>
                <a:ea typeface="Calibri" pitchFamily="34" charset="-122"/>
                <a:cs typeface="Calibri" pitchFamily="34" charset="-120"/>
              </a:rPr>
              <a:t>Word bank:  </a:t>
            </a:r>
            <a:pPr algn="l" indent="0" marL="0">
              <a:buNone/>
            </a:pPr>
            <a:r>
              <a:rPr lang="en-US" sz="2200" dirty="0">
                <a:solidFill>
                  <a:srgbClr val="1E2229"/>
                </a:solidFill>
                <a:latin typeface="Calibri" pitchFamily="34" charset="0"/>
                <a:ea typeface="Calibri" pitchFamily="34" charset="-122"/>
                <a:cs typeface="Calibri" pitchFamily="34" charset="-120"/>
              </a:rPr>
              <a:t>long  ·  short  ·  first</a:t>
            </a:r>
            <a:endParaRPr lang="en-US" sz="2200" dirty="0"/>
          </a:p>
        </p:txBody>
      </p:sp>
      <p:sp>
        <p:nvSpPr>
          <p:cNvPr id="17" name="card"/>
          <p:cNvSpPr/>
          <p:nvPr/>
        </p:nvSpPr>
        <p:spPr>
          <a:xfrm>
            <a:off x="6370168" y="1389888"/>
            <a:ext cx="5272888" cy="4754880"/>
          </a:xfrm>
          <a:prstGeom prst="roundRect">
            <a:avLst>
              <a:gd name="adj" fmla="val 1154"/>
            </a:avLst>
          </a:prstGeom>
          <a:solidFill>
            <a:srgbClr val="FAF8F6"/>
          </a:solidFill>
          <a:ln w="12700">
            <a:solidFill>
              <a:srgbClr val="D4C5B7"/>
            </a:solidFill>
            <a:prstDash val="solid"/>
          </a:ln>
        </p:spPr>
      </p:sp>
      <p:sp>
        <p:nvSpPr>
          <p:cNvPr id="18" name="card-hex"/>
          <p:cNvSpPr/>
          <p:nvPr/>
        </p:nvSpPr>
        <p:spPr>
          <a:xfrm>
            <a:off x="6553048" y="1572768"/>
            <a:ext cx="640080" cy="554309"/>
          </a:xfrm>
          <a:prstGeom prst="hexagon">
            <a:avLst/>
          </a:prstGeom>
          <a:solidFill>
            <a:srgbClr val="7A4A1E"/>
          </a:solidFill>
          <a:ln/>
        </p:spPr>
      </p:sp>
      <p:sp>
        <p:nvSpPr>
          <p:cNvPr id="19" name="card-hex-label"/>
          <p:cNvSpPr txBox="1"/>
          <p:nvPr/>
        </p:nvSpPr>
        <p:spPr>
          <a:xfrm>
            <a:off x="655304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7284568"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6553048" y="2355677"/>
            <a:ext cx="490712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Which of these is a reason some historians say Becket himself was partly to blame?</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He sent a messenger after the knights, but too late</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He asked the Archbishop of York to crown the next king</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He refused to leave the cathedral when the knights threatened him</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He had a terrible temper and shouted at the knights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2636444" cy="4754880"/>
          </a:xfrm>
          <a:prstGeom prst="roundRect">
            <a:avLst>
              <a:gd name="adj" fmla="val 2081"/>
            </a:avLst>
          </a:prstGeom>
          <a:solidFill>
            <a:srgbClr val="FAF8F6"/>
          </a:solidFill>
          <a:ln w="12700">
            <a:solidFill>
              <a:srgbClr val="D4C5B7"/>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2270684" cy="1636776"/>
          </a:xfrm>
          <a:prstGeom prst="roundRect">
            <a:avLst>
              <a:gd name="adj" fmla="val 6704"/>
            </a:avLst>
          </a:prstGeom>
          <a:solidFill>
            <a:srgbClr val="EFE4D0"/>
          </a:solidFill>
          <a:ln w="19050">
            <a:solidFill>
              <a:srgbClr val="B8862B"/>
            </a:solidFill>
            <a:prstDash val="solid"/>
          </a:ln>
        </p:spPr>
      </p:sp>
      <p:sp>
        <p:nvSpPr>
          <p:cNvPr id="12" name="answer"/>
          <p:cNvSpPr txBox="1"/>
          <p:nvPr/>
        </p:nvSpPr>
        <p:spPr>
          <a:xfrm>
            <a:off x="822960" y="2428829"/>
            <a:ext cx="2087804" cy="1490472"/>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Four knights who had heard Henry rage against him</a:t>
            </a:r>
            <a:endParaRPr lang="en-US" sz="2200" dirty="0"/>
          </a:p>
        </p:txBody>
      </p:sp>
      <p:sp>
        <p:nvSpPr>
          <p:cNvPr id="13" name="card-body"/>
          <p:cNvSpPr txBox="1"/>
          <p:nvPr/>
        </p:nvSpPr>
        <p:spPr>
          <a:xfrm>
            <a:off x="731520" y="4175333"/>
            <a:ext cx="2270684" cy="1832275"/>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Four knights who had heard the king's words rode to Canterbury and killed Becket in the cathedral.</a:t>
            </a:r>
            <a:endParaRPr lang="en-US" sz="1800" dirty="0"/>
          </a:p>
        </p:txBody>
      </p:sp>
      <p:sp>
        <p:nvSpPr>
          <p:cNvPr id="14" name="card"/>
          <p:cNvSpPr/>
          <p:nvPr/>
        </p:nvSpPr>
        <p:spPr>
          <a:xfrm>
            <a:off x="3459404" y="1389888"/>
            <a:ext cx="2636444" cy="4754880"/>
          </a:xfrm>
          <a:prstGeom prst="roundRect">
            <a:avLst>
              <a:gd name="adj" fmla="val 2081"/>
            </a:avLst>
          </a:prstGeom>
          <a:solidFill>
            <a:srgbClr val="FAF8F6"/>
          </a:solidFill>
          <a:ln w="12700">
            <a:solidFill>
              <a:srgbClr val="D4C5B7"/>
            </a:solidFill>
            <a:prstDash val="solid"/>
          </a:ln>
        </p:spPr>
      </p:sp>
      <p:sp>
        <p:nvSpPr>
          <p:cNvPr id="15" name="card-hex"/>
          <p:cNvSpPr/>
          <p:nvPr/>
        </p:nvSpPr>
        <p:spPr>
          <a:xfrm>
            <a:off x="3642284" y="1572768"/>
            <a:ext cx="640080" cy="554309"/>
          </a:xfrm>
          <a:prstGeom prst="hexagon">
            <a:avLst/>
          </a:prstGeom>
          <a:solidFill>
            <a:srgbClr val="7A4A1E"/>
          </a:solidFill>
          <a:ln/>
        </p:spPr>
      </p:sp>
      <p:sp>
        <p:nvSpPr>
          <p:cNvPr id="16" name="card-hex-label"/>
          <p:cNvSpPr txBox="1"/>
          <p:nvPr/>
        </p:nvSpPr>
        <p:spPr>
          <a:xfrm>
            <a:off x="3642284"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4373804"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3642284" y="2355677"/>
            <a:ext cx="2270684" cy="614172"/>
          </a:xfrm>
          <a:prstGeom prst="roundRect">
            <a:avLst>
              <a:gd name="adj" fmla="val 17866"/>
            </a:avLst>
          </a:prstGeom>
          <a:solidFill>
            <a:srgbClr val="EFE4D0"/>
          </a:solidFill>
          <a:ln w="19050">
            <a:solidFill>
              <a:srgbClr val="B8862B"/>
            </a:solidFill>
            <a:prstDash val="solid"/>
          </a:ln>
        </p:spPr>
      </p:sp>
      <p:sp>
        <p:nvSpPr>
          <p:cNvPr id="19" name="answer"/>
          <p:cNvSpPr txBox="1"/>
          <p:nvPr/>
        </p:nvSpPr>
        <p:spPr>
          <a:xfrm>
            <a:off x="3733724"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long</a:t>
            </a:r>
            <a:endParaRPr lang="en-US" sz="2200" dirty="0"/>
          </a:p>
        </p:txBody>
      </p:sp>
      <p:sp>
        <p:nvSpPr>
          <p:cNvPr id="20" name="card-body"/>
          <p:cNvSpPr txBox="1"/>
          <p:nvPr/>
        </p:nvSpPr>
        <p:spPr>
          <a:xfrm>
            <a:off x="3642284" y="3152729"/>
            <a:ext cx="2270684"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Long-term causes build up over a long time; short-term causes happen just before the event.</a:t>
            </a:r>
            <a:endParaRPr lang="en-US" sz="1800" dirty="0"/>
          </a:p>
        </p:txBody>
      </p:sp>
      <p:sp>
        <p:nvSpPr>
          <p:cNvPr id="21" name="card"/>
          <p:cNvSpPr/>
          <p:nvPr/>
        </p:nvSpPr>
        <p:spPr>
          <a:xfrm>
            <a:off x="6370168" y="1389888"/>
            <a:ext cx="5272888" cy="4754880"/>
          </a:xfrm>
          <a:prstGeom prst="roundRect">
            <a:avLst>
              <a:gd name="adj" fmla="val 1154"/>
            </a:avLst>
          </a:prstGeom>
          <a:solidFill>
            <a:srgbClr val="FAF8F6"/>
          </a:solidFill>
          <a:ln w="12700">
            <a:solidFill>
              <a:srgbClr val="D4C5B7"/>
            </a:solidFill>
            <a:prstDash val="solid"/>
          </a:ln>
        </p:spPr>
      </p:sp>
      <p:sp>
        <p:nvSpPr>
          <p:cNvPr id="22" name="card-hex"/>
          <p:cNvSpPr/>
          <p:nvPr/>
        </p:nvSpPr>
        <p:spPr>
          <a:xfrm>
            <a:off x="6553048" y="1572768"/>
            <a:ext cx="640080" cy="554309"/>
          </a:xfrm>
          <a:prstGeom prst="hexagon">
            <a:avLst/>
          </a:prstGeom>
          <a:solidFill>
            <a:srgbClr val="7A4A1E"/>
          </a:solidFill>
          <a:ln/>
        </p:spPr>
      </p:sp>
      <p:sp>
        <p:nvSpPr>
          <p:cNvPr id="23" name="card-hex-label"/>
          <p:cNvSpPr txBox="1"/>
          <p:nvPr/>
        </p:nvSpPr>
        <p:spPr>
          <a:xfrm>
            <a:off x="655304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7284568"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6553048" y="2355677"/>
            <a:ext cx="4907128" cy="955040"/>
          </a:xfrm>
          <a:prstGeom prst="roundRect">
            <a:avLst>
              <a:gd name="adj" fmla="val 11489"/>
            </a:avLst>
          </a:prstGeom>
          <a:solidFill>
            <a:srgbClr val="EFE4D0"/>
          </a:solidFill>
          <a:ln w="19050">
            <a:solidFill>
              <a:srgbClr val="B8862B"/>
            </a:solidFill>
            <a:prstDash val="solid"/>
          </a:ln>
        </p:spPr>
      </p:sp>
      <p:sp>
        <p:nvSpPr>
          <p:cNvPr id="26" name="answer"/>
          <p:cNvSpPr txBox="1"/>
          <p:nvPr/>
        </p:nvSpPr>
        <p:spPr>
          <a:xfrm>
            <a:off x="6644488" y="2428829"/>
            <a:ext cx="4724248"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He refused to leave the cathedral when the knights threatened him</a:t>
            </a:r>
            <a:endParaRPr lang="en-US" sz="2200" dirty="0"/>
          </a:p>
        </p:txBody>
      </p:sp>
      <p:sp>
        <p:nvSpPr>
          <p:cNvPr id="27" name="card-body"/>
          <p:cNvSpPr txBox="1"/>
          <p:nvPr/>
        </p:nvSpPr>
        <p:spPr>
          <a:xfrm>
            <a:off x="6553048" y="3493597"/>
            <a:ext cx="4907128" cy="2514011"/>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Which of these is a reason some historians say Becket himself was partly to blame?</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Becket refused to leave the cathedral when the knights threatened him. Your lesson puts this in the column Thomas Becket was to blame.</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7A4A1E"/>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786384"/>
          </a:xfrm>
          <a:prstGeom prst="roundRect">
            <a:avLst>
              <a:gd name="adj" fmla="val 6977"/>
            </a:avLst>
          </a:prstGeom>
          <a:solidFill>
            <a:srgbClr val="F8F6F4"/>
          </a:solidFill>
          <a:ln/>
        </p:spPr>
      </p:sp>
      <p:sp>
        <p:nvSpPr>
          <p:cNvPr id="12" name="kw-hex"/>
          <p:cNvSpPr/>
          <p:nvPr/>
        </p:nvSpPr>
        <p:spPr>
          <a:xfrm>
            <a:off x="658368" y="2135261"/>
            <a:ext cx="411480" cy="356342"/>
          </a:xfrm>
          <a:prstGeom prst="hexagon">
            <a:avLst/>
          </a:prstGeom>
          <a:solidFill>
            <a:srgbClr val="7A4A1E"/>
          </a:solidFill>
          <a:ln/>
        </p:spPr>
      </p:sp>
      <p:sp>
        <p:nvSpPr>
          <p:cNvPr id="13" name="kw-cell"/>
          <p:cNvSpPr txBox="1"/>
          <p:nvPr/>
        </p:nvSpPr>
        <p:spPr>
          <a:xfrm>
            <a:off x="1143000" y="1920240"/>
            <a:ext cx="2331720" cy="786384"/>
          </a:xfrm>
          <a:prstGeom prst="rect">
            <a:avLst/>
          </a:prstGeom>
          <a:noFill/>
          <a:ln/>
        </p:spPr>
        <p:txBody>
          <a:bodyPr wrap="square" lIns="63500" tIns="63500" rIns="63500" bIns="63500" rtlCol="0" anchor="ctr"/>
          <a:lstStyle/>
          <a:p>
            <a:pPr algn="l" indent="0" marL="0">
              <a:buNone/>
            </a:pPr>
            <a:r>
              <a:rPr lang="en-US" sz="2000" b="1" dirty="0">
                <a:solidFill>
                  <a:srgbClr val="7A4A1E"/>
                </a:solidFill>
                <a:latin typeface="Cambria" pitchFamily="34" charset="0"/>
                <a:ea typeface="Cambria" pitchFamily="34" charset="-122"/>
                <a:cs typeface="Cambria" pitchFamily="34" charset="-120"/>
              </a:rPr>
              <a:t>cause</a:t>
            </a:r>
            <a:endParaRPr lang="en-US" sz="2000" dirty="0"/>
          </a:p>
        </p:txBody>
      </p:sp>
      <p:sp>
        <p:nvSpPr>
          <p:cNvPr id="14" name="kw-cell"/>
          <p:cNvSpPr txBox="1"/>
          <p:nvPr/>
        </p:nvSpPr>
        <p:spPr>
          <a:xfrm>
            <a:off x="3657600" y="1920240"/>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something that makes an event happen</a:t>
            </a:r>
            <a:endParaRPr lang="en-US" sz="1800" dirty="0"/>
          </a:p>
        </p:txBody>
      </p:sp>
      <p:sp>
        <p:nvSpPr>
          <p:cNvPr id="15" name="kw-cell"/>
          <p:cNvSpPr txBox="1"/>
          <p:nvPr/>
        </p:nvSpPr>
        <p:spPr>
          <a:xfrm>
            <a:off x="7315200" y="1920240"/>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Henry's temper was one cause of the murder.</a:t>
            </a:r>
            <a:endParaRPr lang="en-US" sz="1800" dirty="0"/>
          </a:p>
        </p:txBody>
      </p:sp>
      <p:sp>
        <p:nvSpPr>
          <p:cNvPr id="16" name="kw-row"/>
          <p:cNvSpPr/>
          <p:nvPr/>
        </p:nvSpPr>
        <p:spPr>
          <a:xfrm>
            <a:off x="548640" y="2779776"/>
            <a:ext cx="11094415" cy="786384"/>
          </a:xfrm>
          <a:prstGeom prst="roundRect">
            <a:avLst>
              <a:gd name="adj" fmla="val 6977"/>
            </a:avLst>
          </a:prstGeom>
          <a:solidFill>
            <a:srgbClr val="F9F4EC"/>
          </a:solidFill>
          <a:ln/>
        </p:spPr>
      </p:sp>
      <p:sp>
        <p:nvSpPr>
          <p:cNvPr id="17" name="kw-hex"/>
          <p:cNvSpPr/>
          <p:nvPr/>
        </p:nvSpPr>
        <p:spPr>
          <a:xfrm>
            <a:off x="658368" y="2994797"/>
            <a:ext cx="411480" cy="356342"/>
          </a:xfrm>
          <a:prstGeom prst="hexagon">
            <a:avLst/>
          </a:prstGeom>
          <a:solidFill>
            <a:srgbClr val="B8862B"/>
          </a:solidFill>
          <a:ln/>
        </p:spPr>
      </p:sp>
      <p:sp>
        <p:nvSpPr>
          <p:cNvPr id="18" name="kw-cell"/>
          <p:cNvSpPr txBox="1"/>
          <p:nvPr/>
        </p:nvSpPr>
        <p:spPr>
          <a:xfrm>
            <a:off x="1143000" y="2779776"/>
            <a:ext cx="2331720" cy="786384"/>
          </a:xfrm>
          <a:prstGeom prst="rect">
            <a:avLst/>
          </a:prstGeom>
          <a:noFill/>
          <a:ln/>
        </p:spPr>
        <p:txBody>
          <a:bodyPr wrap="square" lIns="63500" tIns="63500" rIns="63500" bIns="63500" rtlCol="0" anchor="ctr"/>
          <a:lstStyle/>
          <a:p>
            <a:pPr algn="l" indent="0" marL="0">
              <a:buNone/>
            </a:pPr>
            <a:r>
              <a:rPr lang="en-US" sz="2000" b="1" dirty="0">
                <a:solidFill>
                  <a:srgbClr val="7A4A1E"/>
                </a:solidFill>
                <a:latin typeface="Cambria" pitchFamily="34" charset="0"/>
                <a:ea typeface="Cambria" pitchFamily="34" charset="-122"/>
                <a:cs typeface="Cambria" pitchFamily="34" charset="-120"/>
              </a:rPr>
              <a:t>short-term cause</a:t>
            </a:r>
            <a:endParaRPr lang="en-US" sz="2000" dirty="0"/>
          </a:p>
        </p:txBody>
      </p:sp>
      <p:sp>
        <p:nvSpPr>
          <p:cNvPr id="19" name="kw-cell"/>
          <p:cNvSpPr txBox="1"/>
          <p:nvPr/>
        </p:nvSpPr>
        <p:spPr>
          <a:xfrm>
            <a:off x="3657600" y="2779776"/>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cause that happens just before the event</a:t>
            </a:r>
            <a:endParaRPr lang="en-US" sz="1800" dirty="0"/>
          </a:p>
        </p:txBody>
      </p:sp>
      <p:sp>
        <p:nvSpPr>
          <p:cNvPr id="20" name="kw-cell"/>
          <p:cNvSpPr txBox="1"/>
          <p:nvPr/>
        </p:nvSpPr>
        <p:spPr>
          <a:xfrm>
            <a:off x="7315200" y="2779776"/>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knights setting off at once was a short-term cause.</a:t>
            </a:r>
            <a:endParaRPr lang="en-US" sz="1800" dirty="0"/>
          </a:p>
        </p:txBody>
      </p:sp>
      <p:sp>
        <p:nvSpPr>
          <p:cNvPr id="21" name="kw-row"/>
          <p:cNvSpPr/>
          <p:nvPr/>
        </p:nvSpPr>
        <p:spPr>
          <a:xfrm>
            <a:off x="548640" y="3639312"/>
            <a:ext cx="11094415" cy="786384"/>
          </a:xfrm>
          <a:prstGeom prst="roundRect">
            <a:avLst>
              <a:gd name="adj" fmla="val 6977"/>
            </a:avLst>
          </a:prstGeom>
          <a:solidFill>
            <a:srgbClr val="F8F6F4"/>
          </a:solidFill>
          <a:ln/>
        </p:spPr>
      </p:sp>
      <p:sp>
        <p:nvSpPr>
          <p:cNvPr id="22" name="kw-hex"/>
          <p:cNvSpPr/>
          <p:nvPr/>
        </p:nvSpPr>
        <p:spPr>
          <a:xfrm>
            <a:off x="658368" y="3854333"/>
            <a:ext cx="411480" cy="356342"/>
          </a:xfrm>
          <a:prstGeom prst="hexagon">
            <a:avLst/>
          </a:prstGeom>
          <a:solidFill>
            <a:srgbClr val="7A4A1E"/>
          </a:solidFill>
          <a:ln/>
        </p:spPr>
      </p:sp>
      <p:sp>
        <p:nvSpPr>
          <p:cNvPr id="23" name="kw-cell"/>
          <p:cNvSpPr txBox="1"/>
          <p:nvPr/>
        </p:nvSpPr>
        <p:spPr>
          <a:xfrm>
            <a:off x="1143000" y="3639312"/>
            <a:ext cx="2331720" cy="786384"/>
          </a:xfrm>
          <a:prstGeom prst="rect">
            <a:avLst/>
          </a:prstGeom>
          <a:noFill/>
          <a:ln/>
        </p:spPr>
        <p:txBody>
          <a:bodyPr wrap="square" lIns="63500" tIns="63500" rIns="63500" bIns="63500" rtlCol="0" anchor="ctr"/>
          <a:lstStyle/>
          <a:p>
            <a:pPr algn="l" indent="0" marL="0">
              <a:buNone/>
            </a:pPr>
            <a:r>
              <a:rPr lang="en-US" sz="2000" b="1" dirty="0">
                <a:solidFill>
                  <a:srgbClr val="7A4A1E"/>
                </a:solidFill>
                <a:latin typeface="Cambria" pitchFamily="34" charset="0"/>
                <a:ea typeface="Cambria" pitchFamily="34" charset="-122"/>
                <a:cs typeface="Cambria" pitchFamily="34" charset="-120"/>
              </a:rPr>
              <a:t>long-term cause</a:t>
            </a:r>
            <a:endParaRPr lang="en-US" sz="2000" dirty="0"/>
          </a:p>
        </p:txBody>
      </p:sp>
      <p:sp>
        <p:nvSpPr>
          <p:cNvPr id="24" name="kw-cell"/>
          <p:cNvSpPr txBox="1"/>
          <p:nvPr/>
        </p:nvSpPr>
        <p:spPr>
          <a:xfrm>
            <a:off x="3657600" y="3639312"/>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cause that builds up over a long time</a:t>
            </a:r>
            <a:endParaRPr lang="en-US" sz="1800" dirty="0"/>
          </a:p>
        </p:txBody>
      </p:sp>
      <p:sp>
        <p:nvSpPr>
          <p:cNvPr id="25" name="kw-cell"/>
          <p:cNvSpPr txBox="1"/>
          <p:nvPr/>
        </p:nvSpPr>
        <p:spPr>
          <a:xfrm>
            <a:off x="7315200" y="3639312"/>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quarrel over the Church courts was a long-term cause.</a:t>
            </a:r>
            <a:endParaRPr lang="en-US" sz="1800" dirty="0"/>
          </a:p>
        </p:txBody>
      </p:sp>
      <p:sp>
        <p:nvSpPr>
          <p:cNvPr id="26" name="kw-row"/>
          <p:cNvSpPr/>
          <p:nvPr/>
        </p:nvSpPr>
        <p:spPr>
          <a:xfrm>
            <a:off x="548640" y="4498848"/>
            <a:ext cx="11094415" cy="786384"/>
          </a:xfrm>
          <a:prstGeom prst="roundRect">
            <a:avLst>
              <a:gd name="adj" fmla="val 6977"/>
            </a:avLst>
          </a:prstGeom>
          <a:solidFill>
            <a:srgbClr val="F9F4EC"/>
          </a:solidFill>
          <a:ln/>
        </p:spPr>
      </p:sp>
      <p:sp>
        <p:nvSpPr>
          <p:cNvPr id="27" name="kw-hex"/>
          <p:cNvSpPr/>
          <p:nvPr/>
        </p:nvSpPr>
        <p:spPr>
          <a:xfrm>
            <a:off x="658368" y="4713869"/>
            <a:ext cx="411480" cy="356342"/>
          </a:xfrm>
          <a:prstGeom prst="hexagon">
            <a:avLst/>
          </a:prstGeom>
          <a:solidFill>
            <a:srgbClr val="B8862B"/>
          </a:solidFill>
          <a:ln/>
        </p:spPr>
      </p:sp>
      <p:sp>
        <p:nvSpPr>
          <p:cNvPr id="28" name="kw-cell"/>
          <p:cNvSpPr txBox="1"/>
          <p:nvPr/>
        </p:nvSpPr>
        <p:spPr>
          <a:xfrm>
            <a:off x="1143000" y="4498848"/>
            <a:ext cx="2331720" cy="786384"/>
          </a:xfrm>
          <a:prstGeom prst="rect">
            <a:avLst/>
          </a:prstGeom>
          <a:noFill/>
          <a:ln/>
        </p:spPr>
        <p:txBody>
          <a:bodyPr wrap="square" lIns="63500" tIns="63500" rIns="63500" bIns="63500" rtlCol="0" anchor="ctr"/>
          <a:lstStyle/>
          <a:p>
            <a:pPr algn="l" indent="0" marL="0">
              <a:buNone/>
            </a:pPr>
            <a:r>
              <a:rPr lang="en-US" sz="2000" b="1" dirty="0">
                <a:solidFill>
                  <a:srgbClr val="7A4A1E"/>
                </a:solidFill>
                <a:latin typeface="Cambria" pitchFamily="34" charset="0"/>
                <a:ea typeface="Cambria" pitchFamily="34" charset="-122"/>
                <a:cs typeface="Cambria" pitchFamily="34" charset="-120"/>
              </a:rPr>
              <a:t>blame</a:t>
            </a:r>
            <a:endParaRPr lang="en-US" sz="2000" dirty="0"/>
          </a:p>
        </p:txBody>
      </p:sp>
      <p:sp>
        <p:nvSpPr>
          <p:cNvPr id="29" name="kw-cell"/>
          <p:cNvSpPr txBox="1"/>
          <p:nvPr/>
        </p:nvSpPr>
        <p:spPr>
          <a:xfrm>
            <a:off x="3657600" y="4498848"/>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to say that someone is responsible for something bad</a:t>
            </a:r>
            <a:endParaRPr lang="en-US" sz="1800" dirty="0"/>
          </a:p>
        </p:txBody>
      </p:sp>
      <p:sp>
        <p:nvSpPr>
          <p:cNvPr id="30" name="kw-cell"/>
          <p:cNvSpPr txBox="1"/>
          <p:nvPr/>
        </p:nvSpPr>
        <p:spPr>
          <a:xfrm>
            <a:off x="7315200" y="4498848"/>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Historians still argue about who deserves the blame.</a:t>
            </a:r>
            <a:endParaRPr lang="en-US" sz="1800" dirty="0"/>
          </a:p>
        </p:txBody>
      </p:sp>
      <p:sp>
        <p:nvSpPr>
          <p:cNvPr id="31" name="kw-row"/>
          <p:cNvSpPr/>
          <p:nvPr/>
        </p:nvSpPr>
        <p:spPr>
          <a:xfrm>
            <a:off x="548640" y="5358384"/>
            <a:ext cx="11094415" cy="786384"/>
          </a:xfrm>
          <a:prstGeom prst="roundRect">
            <a:avLst>
              <a:gd name="adj" fmla="val 6977"/>
            </a:avLst>
          </a:prstGeom>
          <a:solidFill>
            <a:srgbClr val="F8F6F4"/>
          </a:solidFill>
          <a:ln/>
        </p:spPr>
      </p:sp>
      <p:sp>
        <p:nvSpPr>
          <p:cNvPr id="32" name="kw-hex"/>
          <p:cNvSpPr/>
          <p:nvPr/>
        </p:nvSpPr>
        <p:spPr>
          <a:xfrm>
            <a:off x="658368" y="5573405"/>
            <a:ext cx="411480" cy="356342"/>
          </a:xfrm>
          <a:prstGeom prst="hexagon">
            <a:avLst/>
          </a:prstGeom>
          <a:solidFill>
            <a:srgbClr val="7A4A1E"/>
          </a:solidFill>
          <a:ln/>
        </p:spPr>
      </p:sp>
      <p:sp>
        <p:nvSpPr>
          <p:cNvPr id="33" name="kw-cell"/>
          <p:cNvSpPr txBox="1"/>
          <p:nvPr/>
        </p:nvSpPr>
        <p:spPr>
          <a:xfrm>
            <a:off x="1143000" y="5358384"/>
            <a:ext cx="2331720" cy="786384"/>
          </a:xfrm>
          <a:prstGeom prst="rect">
            <a:avLst/>
          </a:prstGeom>
          <a:noFill/>
          <a:ln/>
        </p:spPr>
        <p:txBody>
          <a:bodyPr wrap="square" lIns="63500" tIns="63500" rIns="63500" bIns="63500" rtlCol="0" anchor="ctr"/>
          <a:lstStyle/>
          <a:p>
            <a:pPr algn="l" indent="0" marL="0">
              <a:buNone/>
            </a:pPr>
            <a:r>
              <a:rPr lang="en-US" sz="2000" b="1" dirty="0">
                <a:solidFill>
                  <a:srgbClr val="7A4A1E"/>
                </a:solidFill>
                <a:latin typeface="Cambria" pitchFamily="34" charset="0"/>
                <a:ea typeface="Cambria" pitchFamily="34" charset="-122"/>
                <a:cs typeface="Cambria" pitchFamily="34" charset="-120"/>
              </a:rPr>
              <a:t>judgement</a:t>
            </a:r>
            <a:endParaRPr lang="en-US" sz="2000" dirty="0"/>
          </a:p>
        </p:txBody>
      </p:sp>
      <p:sp>
        <p:nvSpPr>
          <p:cNvPr id="34" name="kw-cell"/>
          <p:cNvSpPr txBox="1"/>
          <p:nvPr/>
        </p:nvSpPr>
        <p:spPr>
          <a:xfrm>
            <a:off x="3657600" y="5358384"/>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your decision, backed by reasons</a:t>
            </a:r>
            <a:endParaRPr lang="en-US" sz="1800" dirty="0"/>
          </a:p>
        </p:txBody>
      </p:sp>
      <p:sp>
        <p:nvSpPr>
          <p:cNvPr id="35" name="kw-cell"/>
          <p:cNvSpPr txBox="1"/>
          <p:nvPr/>
        </p:nvSpPr>
        <p:spPr>
          <a:xfrm>
            <a:off x="7315200" y="5358384"/>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A good judgement names the person most to blame and explains why.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AF8F6"/>
          </a:solidFill>
          <a:ln w="12700">
            <a:solidFill>
              <a:srgbClr val="DBCEC2"/>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Four knights killed Thomas Becket in 1170.</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But were they the only ones to </a:t>
            </a:r>
            <a:pPr algn="l" indent="0" marL="0">
              <a:spcAft>
                <a:spcPts val="600"/>
              </a:spcAft>
              <a:buNone/>
            </a:pPr>
            <a:r>
              <a:rPr lang="en-US" sz="2200" b="1" dirty="0">
                <a:solidFill>
                  <a:srgbClr val="7A4A1E"/>
                </a:solidFill>
                <a:latin typeface="Calibri" pitchFamily="34" charset="0"/>
                <a:ea typeface="Calibri" pitchFamily="34" charset="-122"/>
                <a:cs typeface="Calibri" pitchFamily="34" charset="-120"/>
              </a:rPr>
              <a:t>blame</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Henry had a terrible temper and shouted about the troublesome priest.</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He had also asked the Archbishop of York to crown his son, which was Becket's job.</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Becket had broken his promises when he came back from France.</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He had refused to let the king punish priests.</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And he refused to leave the cathedral when the knights threatened him.</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AF8F6"/>
          </a:solidFill>
          <a:ln w="12700">
            <a:solidFill>
              <a:srgbClr val="DBCEC2"/>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knights set off straight away, without asking Henry.</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They chose to kill Becket instead of making him leave the country.</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Some </a:t>
            </a:r>
            <a:pPr algn="l" indent="0" marL="0">
              <a:spcAft>
                <a:spcPts val="600"/>
              </a:spcAft>
              <a:buNone/>
            </a:pPr>
            <a:r>
              <a:rPr lang="en-US" sz="2200" b="1" dirty="0">
                <a:solidFill>
                  <a:srgbClr val="7A4A1E"/>
                </a:solidFill>
                <a:latin typeface="Calibri" pitchFamily="34" charset="0"/>
                <a:ea typeface="Calibri" pitchFamily="34" charset="-122"/>
                <a:cs typeface="Calibri" pitchFamily="34" charset="-120"/>
              </a:rPr>
              <a:t>causes</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built up over years: these are </a:t>
            </a:r>
            <a:pPr algn="l" indent="0" marL="0">
              <a:spcAft>
                <a:spcPts val="600"/>
              </a:spcAft>
              <a:buNone/>
            </a:pPr>
            <a:r>
              <a:rPr lang="en-US" sz="2200" b="1" dirty="0">
                <a:solidFill>
                  <a:srgbClr val="7A4A1E"/>
                </a:solidFill>
                <a:latin typeface="Calibri" pitchFamily="34" charset="0"/>
                <a:ea typeface="Calibri" pitchFamily="34" charset="-122"/>
                <a:cs typeface="Calibri" pitchFamily="34" charset="-120"/>
              </a:rPr>
              <a:t>long-term causes</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Some happened in the final hours: these are </a:t>
            </a:r>
            <a:pPr algn="l" indent="0" marL="0">
              <a:spcAft>
                <a:spcPts val="600"/>
              </a:spcAft>
              <a:buNone/>
            </a:pPr>
            <a:r>
              <a:rPr lang="en-US" sz="2200" b="1" dirty="0">
                <a:solidFill>
                  <a:srgbClr val="7A4A1E"/>
                </a:solidFill>
                <a:latin typeface="Calibri" pitchFamily="34" charset="0"/>
                <a:ea typeface="Calibri" pitchFamily="34" charset="-122"/>
                <a:cs typeface="Calibri" pitchFamily="34" charset="-120"/>
              </a:rPr>
              <a:t>short-term causes</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Historians sort the </a:t>
            </a:r>
            <a:pPr algn="l" indent="0" marL="0">
              <a:spcAft>
                <a:spcPts val="600"/>
              </a:spcAft>
              <a:buNone/>
            </a:pPr>
            <a:r>
              <a:rPr lang="en-US" sz="2200" b="1" dirty="0">
                <a:solidFill>
                  <a:srgbClr val="7A4A1E"/>
                </a:solidFill>
                <a:latin typeface="Calibri" pitchFamily="34" charset="0"/>
                <a:ea typeface="Calibri" pitchFamily="34" charset="-122"/>
                <a:cs typeface="Calibri" pitchFamily="34" charset="-120"/>
              </a:rPr>
              <a:t>causes</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then make a </a:t>
            </a:r>
            <a:pPr algn="l" indent="0" marL="0">
              <a:spcAft>
                <a:spcPts val="600"/>
              </a:spcAft>
              <a:buNone/>
            </a:pPr>
            <a:r>
              <a:rPr lang="en-US" sz="2200" b="1" dirty="0">
                <a:solidFill>
                  <a:srgbClr val="7A4A1E"/>
                </a:solidFill>
                <a:latin typeface="Calibri" pitchFamily="34" charset="0"/>
                <a:ea typeface="Calibri" pitchFamily="34" charset="-122"/>
                <a:cs typeface="Calibri" pitchFamily="34" charset="-120"/>
              </a:rPr>
              <a:t>judgement</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You will do the same.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Three suspects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Nine causes, three columns. Before you judge, make sure you can place every cause and say why it sits where it does.</a:t>
            </a:r>
            <a:endParaRPr lang="en-US" sz="1800" dirty="0"/>
          </a:p>
        </p:txBody>
      </p:sp>
      <p:sp>
        <p:nvSpPr>
          <p:cNvPr id="11" name="point-card"/>
          <p:cNvSpPr/>
          <p:nvPr/>
        </p:nvSpPr>
        <p:spPr>
          <a:xfrm>
            <a:off x="548640" y="1389888"/>
            <a:ext cx="3515258" cy="3686048"/>
          </a:xfrm>
          <a:prstGeom prst="roundRect">
            <a:avLst>
              <a:gd name="adj" fmla="val 1561"/>
            </a:avLst>
          </a:prstGeom>
          <a:solidFill>
            <a:srgbClr val="F6F2EF"/>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Your lesson gave you nine causes of the murder and asked you to sort them into three columns, one for each person who might be blamed: King Henry, Thomas Becket, or the knights.</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Henry: he was well known for a terrible temper. In 1170 he had the Archbishop of York crown the next king — a job that belonged to Becket.</a:t>
            </a:r>
            <a:endParaRPr lang="en-US" sz="1800" dirty="0"/>
          </a:p>
        </p:txBody>
      </p:sp>
      <p:sp>
        <p:nvSpPr>
          <p:cNvPr id="19" name="point-card"/>
          <p:cNvSpPr/>
          <p:nvPr/>
        </p:nvSpPr>
        <p:spPr>
          <a:xfrm>
            <a:off x="8127797" y="1389888"/>
            <a:ext cx="3515258" cy="3686048"/>
          </a:xfrm>
          <a:prstGeom prst="roundRect">
            <a:avLst>
              <a:gd name="adj" fmla="val 1561"/>
            </a:avLst>
          </a:prstGeom>
          <a:solidFill>
            <a:srgbClr val="F6F2EF"/>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Notice the warning your lesson gave: some causes fit more than one column.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Short-term and long-term causes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ST = short-term, LT = long-term. Write the letters next to each cause, then check your pattern: the short-term causes should all come from the last few days.</a:t>
            </a:r>
            <a:endParaRPr lang="en-US" sz="1800" dirty="0"/>
          </a:p>
        </p:txBody>
      </p:sp>
      <p:sp>
        <p:nvSpPr>
          <p:cNvPr id="11" name="point-card"/>
          <p:cNvSpPr/>
          <p:nvPr/>
        </p:nvSpPr>
        <p:spPr>
          <a:xfrm>
            <a:off x="548640" y="1389888"/>
            <a:ext cx="3515258" cy="3686048"/>
          </a:xfrm>
          <a:prstGeom prst="roundRect">
            <a:avLst>
              <a:gd name="adj" fmla="val 1561"/>
            </a:avLst>
          </a:prstGeom>
          <a:solidFill>
            <a:srgbClr val="F6F2EF"/>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Historians also sort causes by time. A long-term cause builds up over months or years before the event.</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Your lesson's answer slide sorted the nine causes like this.</a:t>
            </a:r>
            <a:endParaRPr lang="en-US" sz="2400" dirty="0"/>
          </a:p>
        </p:txBody>
      </p:sp>
      <p:sp>
        <p:nvSpPr>
          <p:cNvPr id="19" name="point-card"/>
          <p:cNvSpPr/>
          <p:nvPr/>
        </p:nvSpPr>
        <p:spPr>
          <a:xfrm>
            <a:off x="8127797" y="1389888"/>
            <a:ext cx="3515258" cy="3686048"/>
          </a:xfrm>
          <a:prstGeom prst="roundRect">
            <a:avLst>
              <a:gd name="adj" fmla="val 1561"/>
            </a:avLst>
          </a:prstGeom>
          <a:solidFill>
            <a:srgbClr val="F6F2EF"/>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You may disagree with one or two of these, and that is allowed, as long as you can argue it.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Worked example (1 of 2): Short-term and long-term causes</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F6F2EF"/>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Is this a short-term or a long-term cause? In 1170, with Becket still in France, Henry had his son crowned by the Archbishop of York.</a:t>
            </a:r>
            <a:endParaRPr lang="en-US" sz="2200" dirty="0"/>
          </a:p>
        </p:txBody>
      </p:sp>
      <p:sp>
        <p:nvSpPr>
          <p:cNvPr id="9" name="step-box"/>
          <p:cNvSpPr/>
          <p:nvPr/>
        </p:nvSpPr>
        <p:spPr>
          <a:xfrm>
            <a:off x="548640" y="2655824"/>
            <a:ext cx="5341468" cy="1695196"/>
          </a:xfrm>
          <a:prstGeom prst="roundRect">
            <a:avLst>
              <a:gd name="adj" fmla="val 4315"/>
            </a:avLst>
          </a:prstGeom>
          <a:solidFill>
            <a:srgbClr val="FFFFFF"/>
          </a:solidFill>
          <a:ln w="15875">
            <a:solidFill>
              <a:srgbClr val="B69B83"/>
            </a:solidFill>
            <a:prstDash val="solid"/>
          </a:ln>
        </p:spPr>
      </p:sp>
      <p:sp>
        <p:nvSpPr>
          <p:cNvPr id="10" name="step-hex"/>
          <p:cNvSpPr/>
          <p:nvPr/>
        </p:nvSpPr>
        <p:spPr>
          <a:xfrm>
            <a:off x="685800" y="2765552"/>
            <a:ext cx="530352" cy="459285"/>
          </a:xfrm>
          <a:prstGeom prst="hexagon">
            <a:avLst/>
          </a:prstGeom>
          <a:solidFill>
            <a:srgbClr val="7A4A1E"/>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Ask when it happened in relation to the murder. It happened while Becket was still in France, before his return and before the final quarrel.</a:t>
            </a:r>
            <a:endParaRPr lang="en-US" sz="1800" dirty="0"/>
          </a:p>
        </p:txBody>
      </p:sp>
      <p:sp>
        <p:nvSpPr>
          <p:cNvPr id="13" name="arrow"/>
          <p:cNvSpPr/>
          <p:nvPr/>
        </p:nvSpPr>
        <p:spPr>
          <a:xfrm>
            <a:off x="5963260" y="3366262"/>
            <a:ext cx="274320" cy="274320"/>
          </a:xfrm>
          <a:prstGeom prst="rightArrow">
            <a:avLst/>
          </a:prstGeom>
          <a:solidFill>
            <a:srgbClr val="B8862B"/>
          </a:solidFill>
          <a:ln/>
        </p:spPr>
      </p:sp>
      <p:sp>
        <p:nvSpPr>
          <p:cNvPr id="14" name="step-box"/>
          <p:cNvSpPr/>
          <p:nvPr/>
        </p:nvSpPr>
        <p:spPr>
          <a:xfrm>
            <a:off x="6301588" y="2655824"/>
            <a:ext cx="5341468" cy="1695196"/>
          </a:xfrm>
          <a:prstGeom prst="roundRect">
            <a:avLst>
              <a:gd name="adj" fmla="val 4315"/>
            </a:avLst>
          </a:prstGeom>
          <a:solidFill>
            <a:srgbClr val="FFFFFF"/>
          </a:solidFill>
          <a:ln w="15875">
            <a:solidFill>
              <a:srgbClr val="B69B83"/>
            </a:solidFill>
            <a:prstDash val="solid"/>
          </a:ln>
        </p:spPr>
      </p:sp>
      <p:sp>
        <p:nvSpPr>
          <p:cNvPr id="15" name="step-hex"/>
          <p:cNvSpPr/>
          <p:nvPr/>
        </p:nvSpPr>
        <p:spPr>
          <a:xfrm>
            <a:off x="6438748" y="2765552"/>
            <a:ext cx="530352" cy="459285"/>
          </a:xfrm>
          <a:prstGeom prst="hexagon">
            <a:avLst/>
          </a:prstGeom>
          <a:solidFill>
            <a:srgbClr val="7A4A1E"/>
          </a:solidFill>
          <a:ln/>
        </p:spPr>
      </p:sp>
      <p:sp>
        <p:nvSpPr>
          <p:cNvPr id="16"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6438748" y="3250184"/>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Ask whether it is part of a build-up or a final spark. It added to a quarrel that had been running since 1164, so it is part of the build-up.</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Worked example (2 of 2): Short-term and long-term causes</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F6F2EF"/>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Is this a short-term or a long-term cause? In 1170, with Becket still in France, Henry had his son crowned by the Archbishop of York.</a:t>
            </a:r>
            <a:endParaRPr lang="en-US" sz="2200" dirty="0"/>
          </a:p>
        </p:txBody>
      </p:sp>
      <p:sp>
        <p:nvSpPr>
          <p:cNvPr id="9" name="step-box"/>
          <p:cNvSpPr/>
          <p:nvPr/>
        </p:nvSpPr>
        <p:spPr>
          <a:xfrm>
            <a:off x="548640" y="2655824"/>
            <a:ext cx="5341468" cy="1974088"/>
          </a:xfrm>
          <a:prstGeom prst="roundRect">
            <a:avLst>
              <a:gd name="adj" fmla="val 3706"/>
            </a:avLst>
          </a:prstGeom>
          <a:solidFill>
            <a:srgbClr val="FFFFFF"/>
          </a:solidFill>
          <a:ln w="15875">
            <a:solidFill>
              <a:srgbClr val="B69B83"/>
            </a:solidFill>
            <a:prstDash val="solid"/>
          </a:ln>
        </p:spPr>
      </p:sp>
      <p:sp>
        <p:nvSpPr>
          <p:cNvPr id="10" name="step-hex"/>
          <p:cNvSpPr/>
          <p:nvPr/>
        </p:nvSpPr>
        <p:spPr>
          <a:xfrm>
            <a:off x="685800" y="2765552"/>
            <a:ext cx="530352" cy="459285"/>
          </a:xfrm>
          <a:prstGeom prst="hexagon">
            <a:avLst/>
          </a:prstGeom>
          <a:solidFill>
            <a:srgbClr val="7A4A1E"/>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2" name="step"/>
          <p:cNvSpPr txBox="1"/>
          <p:nvPr/>
        </p:nvSpPr>
        <p:spPr>
          <a:xfrm>
            <a:off x="685800" y="3250184"/>
            <a:ext cx="506714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Your lesson's answer slide agrees: it marks this cause LT.</a:t>
            </a:r>
            <a:endParaRPr lang="en-US" sz="1800" dirty="0"/>
          </a:p>
        </p:txBody>
      </p:sp>
      <p:sp>
        <p:nvSpPr>
          <p:cNvPr id="13" name="arrow"/>
          <p:cNvSpPr/>
          <p:nvPr/>
        </p:nvSpPr>
        <p:spPr>
          <a:xfrm>
            <a:off x="5963260" y="3505708"/>
            <a:ext cx="274320" cy="274320"/>
          </a:xfrm>
          <a:prstGeom prst="rightArrow">
            <a:avLst/>
          </a:prstGeom>
          <a:solidFill>
            <a:srgbClr val="B8862B"/>
          </a:solidFill>
          <a:ln/>
        </p:spPr>
      </p:sp>
      <p:sp>
        <p:nvSpPr>
          <p:cNvPr id="14" name="step-box"/>
          <p:cNvSpPr/>
          <p:nvPr/>
        </p:nvSpPr>
        <p:spPr>
          <a:xfrm>
            <a:off x="6301588" y="2655824"/>
            <a:ext cx="5341468" cy="1974088"/>
          </a:xfrm>
          <a:prstGeom prst="roundRect">
            <a:avLst>
              <a:gd name="adj" fmla="val 3706"/>
            </a:avLst>
          </a:prstGeom>
          <a:solidFill>
            <a:srgbClr val="FFFFFF"/>
          </a:solidFill>
          <a:ln w="15875">
            <a:solidFill>
              <a:srgbClr val="B69B83"/>
            </a:solidFill>
            <a:prstDash val="solid"/>
          </a:ln>
        </p:spPr>
      </p:sp>
      <p:sp>
        <p:nvSpPr>
          <p:cNvPr id="15" name="step-hex"/>
          <p:cNvSpPr/>
          <p:nvPr/>
        </p:nvSpPr>
        <p:spPr>
          <a:xfrm>
            <a:off x="6438748" y="2765552"/>
            <a:ext cx="530352" cy="459285"/>
          </a:xfrm>
          <a:prstGeom prst="hexagon">
            <a:avLst/>
          </a:prstGeom>
          <a:solidFill>
            <a:srgbClr val="7A4A1E"/>
          </a:solidFill>
          <a:ln/>
        </p:spPr>
      </p:sp>
      <p:sp>
        <p:nvSpPr>
          <p:cNvPr id="16"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7" name="step"/>
          <p:cNvSpPr txBox="1"/>
          <p:nvPr/>
        </p:nvSpPr>
        <p:spPr>
          <a:xfrm>
            <a:off x="6438748" y="3250184"/>
            <a:ext cx="506714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Write the judgement in a sentence: This is a long-term cause because it deepened the quarrel months before the murder rather than triggering it.</a:t>
            </a:r>
            <a:endParaRPr lang="en-US" sz="1800" dirty="0"/>
          </a:p>
        </p:txBody>
      </p:sp>
      <p:sp>
        <p:nvSpPr>
          <p:cNvPr id="18" name="worked-answer"/>
          <p:cNvSpPr/>
          <p:nvPr/>
        </p:nvSpPr>
        <p:spPr>
          <a:xfrm>
            <a:off x="1463040" y="5313680"/>
            <a:ext cx="9265615" cy="831088"/>
          </a:xfrm>
          <a:prstGeom prst="roundRect">
            <a:avLst>
              <a:gd name="adj" fmla="val 22005"/>
            </a:avLst>
          </a:prstGeom>
          <a:solidFill>
            <a:srgbClr val="EFE4D0"/>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A long-term cause: it deepened the quarrel before Becket returned, rather than triggering the murder itself.</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Writing your judgement: PEE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6F0E6"/>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P: I think … was most to blame. E: For example, … E: This matters most because …</a:t>
            </a:r>
            <a:endParaRPr lang="en-US" sz="1800" dirty="0"/>
          </a:p>
        </p:txBody>
      </p:sp>
      <p:sp>
        <p:nvSpPr>
          <p:cNvPr id="11" name="point-card"/>
          <p:cNvSpPr/>
          <p:nvPr/>
        </p:nvSpPr>
        <p:spPr>
          <a:xfrm>
            <a:off x="548640" y="1389888"/>
            <a:ext cx="3515258" cy="3964940"/>
          </a:xfrm>
          <a:prstGeom prst="roundRect">
            <a:avLst>
              <a:gd name="adj" fmla="val 1561"/>
            </a:avLst>
          </a:prstGeom>
          <a:solidFill>
            <a:srgbClr val="F6F2EF"/>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Your lesson asked you to finish the sentence: I think the murder of Thomas Becket was … fault.</a:t>
            </a:r>
            <a:endParaRPr lang="en-US" sz="2400" dirty="0"/>
          </a:p>
        </p:txBody>
      </p:sp>
      <p:sp>
        <p:nvSpPr>
          <p:cNvPr id="15" name="point-card"/>
          <p:cNvSpPr/>
          <p:nvPr/>
        </p:nvSpPr>
        <p:spPr>
          <a:xfrm>
            <a:off x="4338218" y="1389888"/>
            <a:ext cx="3515258" cy="3964940"/>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good explanation does one more thing: it deals with the other suspects.</a:t>
            </a:r>
            <a:endParaRPr lang="en-US" sz="2400" dirty="0"/>
          </a:p>
        </p:txBody>
      </p:sp>
      <p:sp>
        <p:nvSpPr>
          <p:cNvPr id="19" name="point-card"/>
          <p:cNvSpPr/>
          <p:nvPr/>
        </p:nvSpPr>
        <p:spPr>
          <a:xfrm>
            <a:off x="8127797" y="1389888"/>
            <a:ext cx="3515258" cy="3964940"/>
          </a:xfrm>
          <a:prstGeom prst="roundRect">
            <a:avLst>
              <a:gd name="adj" fmla="val 1561"/>
            </a:avLst>
          </a:prstGeom>
          <a:solidFill>
            <a:srgbClr val="F6F2EF"/>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There is one trap to avoid. Your first lesson's summary of Henry II says he ordered the murder.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Short-term or long-term?</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Henry shouted the words about the troublesome priest in front of the knights, days before the murder. Is this a short-term or a long-term cause?</a:t>
            </a:r>
            <a:endParaRPr lang="en-US" sz="2600" dirty="0"/>
          </a:p>
          <a:p>
            <a:pPr algn="ctr" indent="0" marL="0">
              <a:buNone/>
            </a:pPr>
            <a:r>
              <a:rPr lang="en-US" sz="2400" b="1" dirty="0">
                <a:solidFill>
                  <a:srgbClr val="B8862B"/>
                </a:solidFill>
                <a:latin typeface="Calibri" pitchFamily="34" charset="0"/>
                <a:ea typeface="Calibri" pitchFamily="34" charset="-122"/>
                <a:cs typeface="Calibri" pitchFamily="34" charset="-120"/>
              </a:rPr>
              <a:t>A  </a:t>
            </a:r>
            <a:pPr algn="ctr" indent="0" marL="0">
              <a:buNone/>
            </a:pPr>
            <a:r>
              <a:rPr lang="en-US" sz="2400" dirty="0">
                <a:solidFill>
                  <a:srgbClr val="1E2229"/>
                </a:solidFill>
                <a:latin typeface="Calibri" pitchFamily="34" charset="0"/>
                <a:ea typeface="Calibri" pitchFamily="34" charset="-122"/>
                <a:cs typeface="Calibri" pitchFamily="34" charset="-120"/>
              </a:rPr>
              <a:t>A long-term cause      </a:t>
            </a:r>
            <a:pPr algn="ctr" indent="0" marL="0">
              <a:buNone/>
            </a:pPr>
            <a:r>
              <a:rPr lang="en-US" sz="2400" b="1" dirty="0">
                <a:solidFill>
                  <a:srgbClr val="B8862B"/>
                </a:solidFill>
                <a:latin typeface="Calibri" pitchFamily="34" charset="0"/>
                <a:ea typeface="Calibri" pitchFamily="34" charset="-122"/>
                <a:cs typeface="Calibri" pitchFamily="34" charset="-120"/>
              </a:rPr>
              <a:t>B  </a:t>
            </a:r>
            <a:pPr algn="ctr" indent="0" marL="0">
              <a:buNone/>
            </a:pPr>
            <a:r>
              <a:rPr lang="en-US" sz="2400" dirty="0">
                <a:solidFill>
                  <a:srgbClr val="1E2229"/>
                </a:solidFill>
                <a:latin typeface="Calibri" pitchFamily="34" charset="0"/>
                <a:ea typeface="Calibri" pitchFamily="34" charset="-122"/>
                <a:cs typeface="Calibri" pitchFamily="34" charset="-120"/>
              </a:rPr>
              <a:t>Not a cause at all      </a:t>
            </a:r>
            <a:pPr algn="ctr" indent="0" marL="0">
              <a:buNone/>
            </a:pPr>
            <a:r>
              <a:rPr lang="en-US" sz="2400" b="1" dirty="0">
                <a:solidFill>
                  <a:srgbClr val="B8862B"/>
                </a:solidFill>
                <a:latin typeface="Calibri" pitchFamily="34" charset="0"/>
                <a:ea typeface="Calibri" pitchFamily="34" charset="-122"/>
                <a:cs typeface="Calibri" pitchFamily="34" charset="-120"/>
              </a:rPr>
              <a:t>C  </a:t>
            </a:r>
            <a:pPr algn="ctr" indent="0" marL="0">
              <a:buNone/>
            </a:pPr>
            <a:r>
              <a:rPr lang="en-US" sz="2400" dirty="0">
                <a:solidFill>
                  <a:srgbClr val="1E2229"/>
                </a:solidFill>
                <a:latin typeface="Calibri" pitchFamily="34" charset="0"/>
                <a:ea typeface="Calibri" pitchFamily="34" charset="-122"/>
                <a:cs typeface="Calibri" pitchFamily="34" charset="-120"/>
              </a:rPr>
              <a:t>A short-term cause</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7A4A1E"/>
                </a:solidFill>
                <a:latin typeface="Cambria" pitchFamily="34" charset="0"/>
                <a:ea typeface="Cambria" pitchFamily="34" charset="-122"/>
                <a:cs typeface="Cambria" pitchFamily="34" charset="-120"/>
              </a:rPr>
              <a:t>Same task, three ways in: Short-term or long-term?</a:t>
            </a:r>
            <a:endParaRPr lang="en-US" sz="28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Short-term or long-term?</a:t>
            </a:r>
            <a:endParaRPr lang="en-US" sz="2000" dirty="0"/>
          </a:p>
        </p:txBody>
      </p:sp>
      <p:sp>
        <p:nvSpPr>
          <p:cNvPr id="12" name="col-Support"/>
          <p:cNvSpPr/>
          <p:nvPr/>
        </p:nvSpPr>
        <p:spPr>
          <a:xfrm>
            <a:off x="548640" y="2395728"/>
            <a:ext cx="4667802" cy="3749040"/>
          </a:xfrm>
          <a:prstGeom prst="roundRect">
            <a:avLst>
              <a:gd name="adj" fmla="val 1463"/>
            </a:avLst>
          </a:prstGeom>
          <a:solidFill>
            <a:srgbClr val="F6F2EF"/>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Ask when the cause happened: years before the murder, or in the last few days?</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Ask what it did: did it build up the quarrel, or did it set the final events going?</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Days before, and it set the knights moving, means short-term.</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Check against the pattern: all the short-term causes come from the last few days in 1170.</a:t>
            </a:r>
            <a:endParaRPr lang="en-US" sz="1800" dirty="0"/>
          </a:p>
        </p:txBody>
      </p:sp>
      <p:sp>
        <p:nvSpPr>
          <p:cNvPr id="17" name="col-Core"/>
          <p:cNvSpPr/>
          <p:nvPr/>
        </p:nvSpPr>
        <p:spPr>
          <a:xfrm>
            <a:off x="5490762" y="2395728"/>
            <a:ext cx="2938987" cy="3749040"/>
          </a:xfrm>
          <a:prstGeom prst="roundRect">
            <a:avLst>
              <a:gd name="adj" fmla="val 1867"/>
            </a:avLst>
          </a:prstGeom>
          <a:solidFill>
            <a:srgbClr val="E6DDD4"/>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Years of build-up is long-term. Final days, and it sets things moving, is short-term.</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7A4A1E"/>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the murder needed both kinds of cause: what would have happened if the shout had come with no long-term quarrel behind it?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Whose column?</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618488"/>
            <a:ext cx="8534095" cy="870712"/>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cause of the murder to the person your lesson's answer slide blames for it.</a:t>
            </a:r>
            <a:endParaRPr lang="en-US" sz="2400" dirty="0"/>
          </a:p>
        </p:txBody>
      </p:sp>
      <p:sp>
        <p:nvSpPr>
          <p:cNvPr id="11" name="match-card"/>
          <p:cNvSpPr/>
          <p:nvPr/>
        </p:nvSpPr>
        <p:spPr>
          <a:xfrm>
            <a:off x="777240" y="2672080"/>
            <a:ext cx="5135728" cy="829056"/>
          </a:xfrm>
          <a:prstGeom prst="roundRect">
            <a:avLst>
              <a:gd name="adj" fmla="val 8824"/>
            </a:avLst>
          </a:prstGeom>
          <a:solidFill>
            <a:srgbClr val="F8F6F4"/>
          </a:solidFill>
          <a:ln/>
        </p:spPr>
      </p:sp>
      <p:sp>
        <p:nvSpPr>
          <p:cNvPr id="12" name="match-hex"/>
          <p:cNvSpPr/>
          <p:nvPr/>
        </p:nvSpPr>
        <p:spPr>
          <a:xfrm>
            <a:off x="850392" y="2920315"/>
            <a:ext cx="384048" cy="332586"/>
          </a:xfrm>
          <a:prstGeom prst="hexagon">
            <a:avLst/>
          </a:prstGeom>
          <a:solidFill>
            <a:srgbClr val="7A4A1E"/>
          </a:solidFill>
          <a:ln/>
        </p:spPr>
      </p:sp>
      <p:sp>
        <p:nvSpPr>
          <p:cNvPr id="13" name="match-hex-label"/>
          <p:cNvSpPr txBox="1"/>
          <p:nvPr/>
        </p:nvSpPr>
        <p:spPr>
          <a:xfrm>
            <a:off x="850392" y="292031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672080"/>
            <a:ext cx="4541368" cy="829056"/>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Was well known for having a terrible temper</a:t>
            </a:r>
            <a:endParaRPr lang="en-US" sz="2000" dirty="0"/>
          </a:p>
        </p:txBody>
      </p:sp>
      <p:sp>
        <p:nvSpPr>
          <p:cNvPr id="15" name="match-card"/>
          <p:cNvSpPr/>
          <p:nvPr/>
        </p:nvSpPr>
        <p:spPr>
          <a:xfrm>
            <a:off x="6278728" y="2672080"/>
            <a:ext cx="5135728" cy="829056"/>
          </a:xfrm>
          <a:prstGeom prst="roundRect">
            <a:avLst>
              <a:gd name="adj" fmla="val 8824"/>
            </a:avLst>
          </a:prstGeom>
          <a:solidFill>
            <a:srgbClr val="F9F4EC"/>
          </a:solidFill>
          <a:ln/>
        </p:spPr>
      </p:sp>
      <p:sp>
        <p:nvSpPr>
          <p:cNvPr id="16" name="match-hex"/>
          <p:cNvSpPr/>
          <p:nvPr/>
        </p:nvSpPr>
        <p:spPr>
          <a:xfrm>
            <a:off x="6351880" y="2920315"/>
            <a:ext cx="384048" cy="332586"/>
          </a:xfrm>
          <a:prstGeom prst="hexagon">
            <a:avLst/>
          </a:prstGeom>
          <a:solidFill>
            <a:srgbClr val="B8862B"/>
          </a:solidFill>
          <a:ln/>
        </p:spPr>
      </p:sp>
      <p:sp>
        <p:nvSpPr>
          <p:cNvPr id="17" name="match-hex-label"/>
          <p:cNvSpPr txBox="1"/>
          <p:nvPr/>
        </p:nvSpPr>
        <p:spPr>
          <a:xfrm>
            <a:off x="6351880" y="292031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6799936" y="2672080"/>
            <a:ext cx="4541368" cy="829056"/>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King Henry</a:t>
            </a:r>
            <a:endParaRPr lang="en-US" sz="2000" dirty="0"/>
          </a:p>
        </p:txBody>
      </p:sp>
      <p:sp>
        <p:nvSpPr>
          <p:cNvPr id="19" name="match-card"/>
          <p:cNvSpPr/>
          <p:nvPr/>
        </p:nvSpPr>
        <p:spPr>
          <a:xfrm>
            <a:off x="777240" y="3592576"/>
            <a:ext cx="5135728" cy="1138936"/>
          </a:xfrm>
          <a:prstGeom prst="roundRect">
            <a:avLst>
              <a:gd name="adj" fmla="val 6423"/>
            </a:avLst>
          </a:prstGeom>
          <a:solidFill>
            <a:srgbClr val="F8F6F4"/>
          </a:solidFill>
          <a:ln/>
        </p:spPr>
      </p:sp>
      <p:sp>
        <p:nvSpPr>
          <p:cNvPr id="20" name="match-hex"/>
          <p:cNvSpPr/>
          <p:nvPr/>
        </p:nvSpPr>
        <p:spPr>
          <a:xfrm>
            <a:off x="850392" y="3995751"/>
            <a:ext cx="384048" cy="332586"/>
          </a:xfrm>
          <a:prstGeom prst="hexagon">
            <a:avLst/>
          </a:prstGeom>
          <a:solidFill>
            <a:srgbClr val="7A4A1E"/>
          </a:solidFill>
          <a:ln/>
        </p:spPr>
      </p:sp>
      <p:sp>
        <p:nvSpPr>
          <p:cNvPr id="21" name="match-hex-label"/>
          <p:cNvSpPr txBox="1"/>
          <p:nvPr/>
        </p:nvSpPr>
        <p:spPr>
          <a:xfrm>
            <a:off x="850392" y="399575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592576"/>
            <a:ext cx="4541368" cy="1138936"/>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Broke his promises on returning from France in 1170 by excommunicating other bishops</a:t>
            </a:r>
            <a:endParaRPr lang="en-US" sz="2000" dirty="0"/>
          </a:p>
        </p:txBody>
      </p:sp>
      <p:sp>
        <p:nvSpPr>
          <p:cNvPr id="23" name="match-card"/>
          <p:cNvSpPr/>
          <p:nvPr/>
        </p:nvSpPr>
        <p:spPr>
          <a:xfrm>
            <a:off x="6278728" y="3592576"/>
            <a:ext cx="5135728" cy="1138936"/>
          </a:xfrm>
          <a:prstGeom prst="roundRect">
            <a:avLst>
              <a:gd name="adj" fmla="val 6423"/>
            </a:avLst>
          </a:prstGeom>
          <a:solidFill>
            <a:srgbClr val="F9F4EC"/>
          </a:solidFill>
          <a:ln/>
        </p:spPr>
      </p:sp>
      <p:sp>
        <p:nvSpPr>
          <p:cNvPr id="24" name="match-hex"/>
          <p:cNvSpPr/>
          <p:nvPr/>
        </p:nvSpPr>
        <p:spPr>
          <a:xfrm>
            <a:off x="6351880" y="3995751"/>
            <a:ext cx="384048" cy="332586"/>
          </a:xfrm>
          <a:prstGeom prst="hexagon">
            <a:avLst/>
          </a:prstGeom>
          <a:solidFill>
            <a:srgbClr val="B8862B"/>
          </a:solidFill>
          <a:ln/>
        </p:spPr>
      </p:sp>
      <p:sp>
        <p:nvSpPr>
          <p:cNvPr id="25" name="match-hex-label"/>
          <p:cNvSpPr txBox="1"/>
          <p:nvPr/>
        </p:nvSpPr>
        <p:spPr>
          <a:xfrm>
            <a:off x="6351880" y="399575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6799936" y="3592576"/>
            <a:ext cx="4541368" cy="1138936"/>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knights</a:t>
            </a:r>
            <a:endParaRPr lang="en-US" sz="2000" dirty="0"/>
          </a:p>
        </p:txBody>
      </p:sp>
      <p:sp>
        <p:nvSpPr>
          <p:cNvPr id="27" name="match-card"/>
          <p:cNvSpPr/>
          <p:nvPr/>
        </p:nvSpPr>
        <p:spPr>
          <a:xfrm>
            <a:off x="777240" y="4822952"/>
            <a:ext cx="5135728" cy="1138936"/>
          </a:xfrm>
          <a:prstGeom prst="roundRect">
            <a:avLst>
              <a:gd name="adj" fmla="val 6423"/>
            </a:avLst>
          </a:prstGeom>
          <a:solidFill>
            <a:srgbClr val="F8F6F4"/>
          </a:solidFill>
          <a:ln/>
        </p:spPr>
      </p:sp>
      <p:sp>
        <p:nvSpPr>
          <p:cNvPr id="28" name="match-hex"/>
          <p:cNvSpPr/>
          <p:nvPr/>
        </p:nvSpPr>
        <p:spPr>
          <a:xfrm>
            <a:off x="850392" y="5226127"/>
            <a:ext cx="384048" cy="332586"/>
          </a:xfrm>
          <a:prstGeom prst="hexagon">
            <a:avLst/>
          </a:prstGeom>
          <a:solidFill>
            <a:srgbClr val="7A4A1E"/>
          </a:solidFill>
          <a:ln/>
        </p:spPr>
      </p:sp>
      <p:sp>
        <p:nvSpPr>
          <p:cNvPr id="29" name="match-hex-label"/>
          <p:cNvSpPr txBox="1"/>
          <p:nvPr/>
        </p:nvSpPr>
        <p:spPr>
          <a:xfrm>
            <a:off x="850392" y="522612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822952"/>
            <a:ext cx="4541368" cy="1138936"/>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Set off for Canterbury straight away without asking whether the king wanted the murder</a:t>
            </a:r>
            <a:endParaRPr lang="en-US" sz="2000" dirty="0"/>
          </a:p>
        </p:txBody>
      </p:sp>
      <p:sp>
        <p:nvSpPr>
          <p:cNvPr id="31" name="match-card"/>
          <p:cNvSpPr/>
          <p:nvPr/>
        </p:nvSpPr>
        <p:spPr>
          <a:xfrm>
            <a:off x="6278728" y="4822952"/>
            <a:ext cx="5135728" cy="1138936"/>
          </a:xfrm>
          <a:prstGeom prst="roundRect">
            <a:avLst>
              <a:gd name="adj" fmla="val 6423"/>
            </a:avLst>
          </a:prstGeom>
          <a:solidFill>
            <a:srgbClr val="F9F4EC"/>
          </a:solidFill>
          <a:ln/>
        </p:spPr>
      </p:sp>
      <p:sp>
        <p:nvSpPr>
          <p:cNvPr id="32" name="match-hex"/>
          <p:cNvSpPr/>
          <p:nvPr/>
        </p:nvSpPr>
        <p:spPr>
          <a:xfrm>
            <a:off x="6351880" y="5226127"/>
            <a:ext cx="384048" cy="332586"/>
          </a:xfrm>
          <a:prstGeom prst="hexagon">
            <a:avLst/>
          </a:prstGeom>
          <a:solidFill>
            <a:srgbClr val="B8862B"/>
          </a:solidFill>
          <a:ln/>
        </p:spPr>
      </p:sp>
      <p:sp>
        <p:nvSpPr>
          <p:cNvPr id="33" name="match-hex-label"/>
          <p:cNvSpPr txBox="1"/>
          <p:nvPr/>
        </p:nvSpPr>
        <p:spPr>
          <a:xfrm>
            <a:off x="6351880" y="522612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6799936" y="4822952"/>
            <a:ext cx="4541368" cy="1138936"/>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Thomas Becket</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Same task, three ways in: Whose column?</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Whose column?</a:t>
            </a:r>
            <a:endParaRPr lang="en-US" sz="2000" dirty="0"/>
          </a:p>
        </p:txBody>
      </p:sp>
      <p:sp>
        <p:nvSpPr>
          <p:cNvPr id="12" name="col-Support"/>
          <p:cNvSpPr/>
          <p:nvPr/>
        </p:nvSpPr>
        <p:spPr>
          <a:xfrm>
            <a:off x="548640" y="2395728"/>
            <a:ext cx="4667802" cy="3749040"/>
          </a:xfrm>
          <a:prstGeom prst="roundRect">
            <a:avLst>
              <a:gd name="adj" fmla="val 1463"/>
            </a:avLst>
          </a:prstGeom>
          <a:solidFill>
            <a:srgbClr val="F6F2EF"/>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Ask who did each action. Who had the temper? Who excommunicated people? Who rode to Canterbury?</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Only an Archbishop could excommunicate bishops.</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Only the people who did the killing could set off to do it.</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temper belongs to the man famous for his rages.</a:t>
            </a:r>
            <a:endParaRPr lang="en-US" sz="1800" dirty="0"/>
          </a:p>
        </p:txBody>
      </p:sp>
      <p:sp>
        <p:nvSpPr>
          <p:cNvPr id="17" name="col-Core"/>
          <p:cNvSpPr/>
          <p:nvPr/>
        </p:nvSpPr>
        <p:spPr>
          <a:xfrm>
            <a:off x="5490762" y="2395728"/>
            <a:ext cx="2938987" cy="3749040"/>
          </a:xfrm>
          <a:prstGeom prst="roundRect">
            <a:avLst>
              <a:gd name="adj" fmla="val 1867"/>
            </a:avLst>
          </a:prstGeom>
          <a:solidFill>
            <a:srgbClr val="E6DDD4"/>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Who could do each thing? Only a king, only an Archbishop, only the men with swords.</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7A4A1E"/>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Your lesson warns that some causes fit more than one column. Pick one cause and argue that it could sit in two columns, then say which column you would finally choose and why.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7A4A1E"/>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7A4A1E"/>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243328"/>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Who actually killed Thomas Becket?</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Pope's soldiers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Four knights who had heard Henry rage against him</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King Henry II himself</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Archbishop of York</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AF8F6"/>
          </a:solidFill>
          <a:ln w="12700">
            <a:solidFill>
              <a:srgbClr val="C0AA95"/>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Short-term or long-term?</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Henry shouted the words about the troublesome priest in front of the knights, days before the murder. Is this a short-term or a long-term cause?</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C   A short-term cause</a:t>
            </a:r>
            <a:endParaRPr lang="en-US" sz="1800" dirty="0"/>
          </a:p>
        </p:txBody>
      </p:sp>
      <p:sp>
        <p:nvSpPr>
          <p:cNvPr id="10" name="why-panel"/>
          <p:cNvSpPr/>
          <p:nvPr/>
        </p:nvSpPr>
        <p:spPr>
          <a:xfrm>
            <a:off x="7223760" y="1389888"/>
            <a:ext cx="4419295" cy="4754880"/>
          </a:xfrm>
          <a:prstGeom prst="roundRect">
            <a:avLst>
              <a:gd name="adj" fmla="val 1035"/>
            </a:avLst>
          </a:prstGeom>
          <a:solidFill>
            <a:srgbClr val="F6F2EF"/>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Short-term causes are the ones from the final days: the shout, the knights riding at once, Becket refusing to leave. Everything that built up the quarrel over years is long-term.</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Whose column?</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Was well known for having a terrible temper  →  A  King Henry</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Broke his promises on returning from France in 1170 by excommunicating other bishops  →  C  Thomas Becket</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Set off for Canterbury straight away without asking whether the king wanted the murder  →  B  The knights</a:t>
            </a:r>
            <a:endParaRPr lang="en-US" sz="2400" dirty="0"/>
          </a:p>
        </p:txBody>
      </p:sp>
      <p:sp>
        <p:nvSpPr>
          <p:cNvPr id="10" name="why-panel"/>
          <p:cNvSpPr/>
          <p:nvPr/>
        </p:nvSpPr>
        <p:spPr>
          <a:xfrm>
            <a:off x="7223760" y="1389888"/>
            <a:ext cx="4419295" cy="4754880"/>
          </a:xfrm>
          <a:prstGeom prst="roundRect">
            <a:avLst>
              <a:gd name="adj" fmla="val 1035"/>
            </a:avLst>
          </a:prstGeom>
          <a:solidFill>
            <a:srgbClr val="F6F2EF"/>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temper is Henry's; the excommunications on his return are Becket's; riding off without asking is the knights'. Each cause is matched to the person who did the action.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Who actually killed Thomas Becket?</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B   Four knights who had heard Henry rage against him</a:t>
            </a:r>
            <a:endParaRPr lang="en-US" sz="1800" dirty="0"/>
          </a:p>
        </p:txBody>
      </p:sp>
      <p:sp>
        <p:nvSpPr>
          <p:cNvPr id="10" name="why-panel"/>
          <p:cNvSpPr/>
          <p:nvPr/>
        </p:nvSpPr>
        <p:spPr>
          <a:xfrm>
            <a:off x="7223760" y="1389888"/>
            <a:ext cx="4419295" cy="4754880"/>
          </a:xfrm>
          <a:prstGeom prst="roundRect">
            <a:avLst>
              <a:gd name="adj" fmla="val 1035"/>
            </a:avLst>
          </a:prstGeom>
          <a:solidFill>
            <a:srgbClr val="F6F2EF"/>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Four knights who had heard the king's words rode to Canterbury and killed Becket in the cathedral.</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Ad Astra history">
  <a:themeElements>
    <a:clrScheme name="Ad Astra history">
      <a:dk1>
        <a:srgbClr val="1E2229"/>
      </a:dk1>
      <a:lt1>
        <a:srgbClr val="FFFFFF"/>
      </a:lt1>
      <a:dk2>
        <a:srgbClr val="623B18"/>
      </a:dk2>
      <a:lt2>
        <a:srgbClr val="F6F2EF"/>
      </a:lt2>
      <a:accent1>
        <a:srgbClr val="7A4A1E"/>
      </a:accent1>
      <a:accent2>
        <a:srgbClr val="B8862B"/>
      </a:accent2>
      <a:accent3>
        <a:srgbClr val="AF9278"/>
      </a:accent3>
      <a:accent4>
        <a:srgbClr val="815E1E"/>
      </a:accent4>
      <a:accent5>
        <a:srgbClr val="4A505C"/>
      </a:accent5>
      <a:accent6>
        <a:srgbClr val="DEC69B"/>
      </a:accent6>
      <a:hlink>
        <a:srgbClr val="7A4A1E"/>
      </a:hlink>
      <a:folHlink>
        <a:srgbClr val="553415"/>
      </a:folHlink>
    </a:clrScheme>
    <a:fontScheme name="Ad Astra hist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Plantagenets · Chapter 4: Who was to blame for the murder of Thomas Becket?</dc:title>
  <dc:subject>History · Year 7</dc:subject>
  <dc:creator>Dr Vitor Merissi de Carvalho</dc:creator>
  <cp:lastModifiedBy>Dr Vitor Merissi de Carvalho</cp:lastModifiedBy>
  <cp:revision>1</cp:revision>
  <dcterms:created xsi:type="dcterms:W3CDTF">2026-10-19T16:23:10Z</dcterms:created>
  <dcterms:modified xsi:type="dcterms:W3CDTF">2026-10-19T16:23:10Z</dcterms:modified>
</cp:coreProperties>
</file>