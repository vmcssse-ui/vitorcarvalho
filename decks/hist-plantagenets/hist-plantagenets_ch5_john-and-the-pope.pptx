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fe6a1bf-085a-7134-56c5-7fd126974c0e}">
          <p14:sldIdLst>
            <p14:sldId id="256"/>
          </p14:sldIdLst>
        </p14:section>
        <p14:section name="Gate" id="{5a0c2e07-46ea-9b66-5bb2-5a7a913dc8eb}">
          <p14:sldIdLst>
            <p14:sldId id="257"/>
            <p14:sldId id="258"/>
          </p14:sldIdLst>
        </p14:section>
        <p14:section name="Pre-teach" id="{3ef384de-af13-05bc-8923-050a913bebb1}">
          <p14:sldIdLst>
            <p14:sldId id="259"/>
            <p14:sldId id="260"/>
          </p14:sldIdLst>
        </p14:section>
        <p14:section name="Read-along" id="{af2ec924-395e-9e94-891e-5838b09901fc}">
          <p14:sldIdLst>
            <p14:sldId id="261"/>
            <p14:sldId id="262"/>
          </p14:sldIdLst>
        </p14:section>
        <p14:section name="Teach" id="{ec438380-72f1-8793-4b25-01e88ad43c72}">
          <p14:sldIdLst>
            <p14:sldId id="263"/>
            <p14:sldId id="264"/>
            <p14:sldId id="265"/>
            <p14:sldId id="266"/>
            <p14:sldId id="267"/>
          </p14:sldIdLst>
        </p14:section>
        <p14:section name="Routes" id="{0777a3a7-27b1-22cf-a666-98411f6a4fd1}">
          <p14:sldIdLst>
            <p14:sldId id="268"/>
            <p14:sldId id="269"/>
            <p14:sldId id="270"/>
            <p14:sldId id="271"/>
          </p14:sldIdLst>
        </p14:section>
        <p14:section name="Close" id="{227e6efb-e6f3-9c80-2f52-f9f9db00c5e8}">
          <p14:sldIdLst>
            <p14:sldId id="272"/>
          </p14:sldIdLst>
        </p14:section>
        <p14:section name="Answers" id="{ad3cb2af-ff57-18a9-e039-a42d827b4b5b}">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5 of 5: King John and the Pope: change or continuity?. A second king quarrels with the Church, this time with the Pope himself; what changed and what stayed the same; and who held the ultimate power in England, the Church or the Crown.
This deck covers the department's lesson: 2 (The Church versus the Crown: Henry II and Thomas Becket: How powerful were the Church and the Crown in medieval England, why did Henry II and Becket fall out, and was there change or continuity between the Church and the king?).
Read the big question aloud: "How did the Plantagenets change England, 1154–1399?"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was the dispute between King John and the Pope about?  →  A   Who should be able to choose the next Archbishop of Canterbury
2. When something stays the same over a period of time, historians call it ___.  →  continuity
3. Which of these statements is evidence of CHANGE after John's dispute with the Pope?  →  C   The Pope had more say in English Church matters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Who should be able to choose the next Archbishop of Canterbury. John and the Pope disagreed about who had the right to choose the next Archbishop of Canterbury.
2. continuity. Continuity means staying the same; change means becoming different.
3. C   The Pope had more say in English Church matters. Before the dispute the king expected to choose the Archbishop; afterwards the Pope's say had grown. That is change. The other three were true before and after.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Pope: the head of the whole Church in western Europe, based in Rome. Example: "King John quarrelled with the Pope over who should be Archbishop."
• dispute: a serious disagreement. Example: "The dispute was about who could choose the next Archbishop of Canterbury."
• authority: the right to give orders and be obeyed. Example: "The king and the Pope both claimed authority over the English Church."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change: something that became different. Example: "The Pope having more say in English Church matters was a change."
• continuity: something that stayed the same. Example: "John staying on as king was continuity."
• Magna Carta: the agreement the barons forced John to accept, limiting the monarch's powers. Example: "Magna Carta limited what the king could do."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A generation after Becket's murder, another king fell out with the Church.
2. King John and the Pope disagreed about who should choose the next Archbishop of Canterbury.
3. John wanted his own man.
4. The Pope wanted his.
5. The Pope punished John by excommunicating him.
6. In the end John gave way, and the Pope lifted the excommunication.
7. After this, the Pope had more say in English Church matters.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But John remained King of England.
9. He could still choose who helped him lead the country.
10. And the Church remained wealthy and powerful, as it had always been.
11. Historians call what became different change, and what stayed the same continuity.
12. John's barons later made him agree to Magna Carta, which limited his power too.
13. So who really held the power in England?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Another king, another quarrel. Say it in your own words, then check understanding with a quick question: ask a pupil from the pre-teach group first, since they met these words and ideas before the lesson. Pupils try to recall before you re-explain.
Henry II's quarrel with Becket was not the last fight between the Crown and the Church. His son John, who ruled from 1199 to 1216, fell out with the Church too, and this time the other side was the Pope himself. The dispute was about who should be able to choose the next Archbishop of Canterbury. John believed the king should choose the head of the Church in England. The Pope believed that was his decision.
The Pope had a weapon that no king had: excommunication. He used it on John, shutting the King of England out of the Church. For a medieval king this was a serious blow. It told his people that God's Church had rejected him, and it gave his enemies an excuse to turn against him.
In the end John gave way. He accepted the Pope's choice of Archbishop, and the Pope lifted the excommunication, so John was no longer shut out of the Church. Compare this with Henry II. Henry's quarrel ended with an Archbishop dead and the king blamed. John's ended with the king backing down. In both cases the Church did not lose.
Tip: Your lesson's worksheet gives the detail of John's dispute. Read it with one question in mind: what changed, and what stayed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Change and continuity. Say it in your own words, then check understanding with a quick question: ask a pupil from the pre-teach group first, since they met these words and ideas before the lesson. Pupils try to recall before you re-explain.
Historians use two words to describe what happens over time. Change means something became different. Continuity means something stayed the same. Almost every event brings some of each, and a good historian notices both.
Your lesson gave you five statements about England after John's dispute with the Pope. The Pope had more say in English Church matters. John remained King of England. King John was able to choose who helped him lead the country. King John was now no longer excommunicated. The Church remained wealthy and powerful. Your task was to decide which show change and which show continuity.
The test is simple. Ask: was this true before the dispute as well? If yes, it is continuity: John was king before and after; he chose his own helpers before and after; the Church was wealthy and powerful before and after. If no, it is change: before the dispute the Pope had less say in English Church matters, and before the quarrel John had not been excommunicated at all, so being no longer excommunicated is a change back from a change.
Worked example — model it step by step, thinking aloud: The Pope had more say in English Church matters. Is this evidence of change or continuity? Explain your answer in two sentences. (1) Ask the test question: was this true before the dispute as well? (2) Before the dispute, John expected to choose the Archbishop himself, so the Pope had less say. Afterwards the Pope's choice stood. (3) Something that became different is a change. (4) Write it up: This statement shows change, because before the dispute the king expected to choose the Archbishop and afterwards the Pope's choice stood. The balance of power over the English Church had shifted towards Rome. Answer: Change: the Pope's say in English Church matters grew because of the dispute; it had not been as great before..
Tip: Remained, still and continued signal continuity. More, now and no longer signal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Change and continuity. Say it in your own words, then check understanding with a quick question: ask a pupil from the pre-teach group first, since they met these words and ideas before the lesson. Pupils try to recall before you re-explain.
Historians use two words to describe what happens over time. Change means something became different. Continuity means something stayed the same. Almost every event brings some of each, and a good historian notices both.
Your lesson gave you five statements about England after John's dispute with the Pope. The Pope had more say in English Church matters. John remained King of England. King John was able to choose who helped him lead the country. King John was now no longer excommunicated. The Church remained wealthy and powerful. Your task was to decide which show change and which show continuity.
The test is simple. Ask: was this true before the dispute as well? If yes, it is continuity: John was king before and after; he chose his own helpers before and after; the Church was wealthy and powerful before and after. If no, it is change: before the dispute the Pope had less say in English Church matters, and before the quarrel John had not been excommunicated at all, so being no longer excommunicated is a change back from a change.
Worked example — model it step by step, thinking aloud: The Pope had more say in English Church matters. Is this evidence of change or continuity? Explain your answer in two sentences. (1) Ask the test question: was this true before the dispute as well? (2) Before the dispute, John expected to choose the Archbishop himself, so the Pope had less say. Afterwards the Pope's choice stood. (3) Something that became different is a change. (4) Write it up: This statement shows change, because before the dispute the king expected to choose the Archbishop and afterwards the Pope's choice stood. The balance of power over the English Church had shifted towards Rome. Answer: Change: the Pope's say in English Church matters grew because of the dispute; it had not been as great before..
Tip: Remained, still and continued signal continuity. More, now and no longer signal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Change and continuity. Say it in your own words, then check understanding with a quick question: ask a pupil from the pre-teach group first, since they met these words and ideas before the lesson. Pupils try to recall before you re-explain.
Historians use two words to describe what happens over time. Change means something became different. Continuity means something stayed the same. Almost every event brings some of each, and a good historian notices both.
Your lesson gave you five statements about England after John's dispute with the Pope. The Pope had more say in English Church matters. John remained King of England. King John was able to choose who helped him lead the country. King John was now no longer excommunicated. The Church remained wealthy and powerful. Your task was to decide which show change and which show continuity.
The test is simple. Ask: was this true before the dispute as well? If yes, it is continuity: John was king before and after; he chose his own helpers before and after; the Church was wealthy and powerful before and after. If no, it is change: before the dispute the Pope had less say in English Church matters, and before the quarrel John had not been excommunicated at all, so being no longer excommunicated is a change back from a change.
Worked example — model it step by step, thinking aloud: The Pope had more say in English Church matters. Is this evidence of change or continuity? Explain your answer in two sentences. (1) Ask the test question: was this true before the dispute as well? (2) Before the dispute, John expected to choose the Archbishop himself, so the Pope had less say. Afterwards the Pope's choice stood. (3) Something that became different is a change. (4) Write it up: This statement shows change, because before the dispute the king expected to choose the Archbishop and afterwards the Pope's choice stood. The balance of power over the English Church had shifted towards Rome. Answer: Change: the Pope's say in English Church matters grew because of the dispute; it had not been as great before..
Tip: Remained, still and continued signal continuity. More, now and no longer signal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Who held the ultimate power?. Say it in your own words, then check understanding with a quick question: ask a pupil from the pre-teach group first, since they met these words and ideas before the lesson. Pupils try to recall before you re-explain.
Now put the two quarrels together. Henry II tried to make the Church obey the Crown, and the result was that Becket was made a saint and Canterbury became the greatest pilgrim site in England. John tried to choose his own Archbishop, was excommunicated, and gave way. In both cases the Church kept its wealth and power, and the Pope's authority was shown to reach into England.
Yet both men stayed king. No one took Henry's throne for the murder, and John remained King of England and went on choosing who helped him lead the country. The Church could humble a king, but it did not rule the country for him. And John's power was limited again, this time by his own barons, who forced him to agree to Magna Carta in 1215. That was a different kind of limit: not the Church above the king, but the barons beside him.
So your lesson's final question is a real one, and historians still argue about it. Who had the ultimate power in medieval England, the Church or the king? Decide, and write it as a PEE paragraph: your point, your evidence from the two quarrels, and your explanation of how that power was demonstrated.
Tip: Ultimate means final: who won when the two powers clashed? Use both quarrels as evidence, not just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Change or continuity?.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After the dispute, the Church remained wealthy and powerful. Is this statement evidence of change or continuity?
Support — work through the steps with the group: (1) Ask the test question: was this true before the dispute as well? (2) If it was true before and is still true after, nothing has become different. (3) Something that stays the same is continuity. (4) Check the signal words: remained, still and continued point to continuity.
Parallel worked example for Support (model it, do not give the task answer): After the dispute, King John was no longer excommunicated. Change or continuity? Before the dispute John was not excommunicated; during it he was; afterwards he was not again.; His position had changed twice, so something became different.; The signal words now and no longer point to change.. Answer: Change.
Core — reveal the hint only on request: Was it true before as well? Yes means continuity. Look for remained.
Stretch — no help; when finished: Explain why a historian might say this continuity is the most important fact of all about John's quarrel with the Pope.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Change or continuity?.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After the dispute, the Church remained wealthy and powerful. Is this statement evidence of change or continuity?
Support — work through the steps with the group: (1) Ask the test question: was this true before the dispute as well? (2) If it was true before and is still true after, nothing has become different. (3) Something that stays the same is continuity. (4) Check the signal words: remained, still and continued point to continuity.
Parallel worked example for Support (model it, do not give the task answer): After the dispute, King John was no longer excommunicated. Change or continuity? Before the dispute John was not excommunicated; during it he was; afterwards he was not again.; His position had changed twice, so something became different.; The signal words now and no longer point to change.. Answer: Change.
Core — reveal the hint only on request: Was it true before as well? Yes means continuity. Look for remained.
Stretch — no help; when finished: Explain why a historian might say this continuity is the most important fact of all about John's quarrel with the Pope.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Two quarrels, one lesson.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What do the quarrels of Henry II and John with the Church have in common?
Support — work through the steps with the group: (1) List how each quarrel ended: Henry blamed, Becket a saint; John excommunicated, then gave way. (2) Ask who was still king afterwards. Both men were. (3) Ask whether the Church lost anything. It did not: it remained wealthy and powerful. (4) The option that says both of those things is the one you want.
Parallel worked example for Support (model it, do not give the task answer): What did the rebellions against John and Henry III have in common? Choose: both were by the barons; both were led by the Pope; both ended with the king removed. Your lesson says the barons rebelled against John and twice against Henry III.; The Pope led neither, and neither king lost his throne.. Answer: Both were rebellions by the barons..
Core — reveal the hint only on request: Who kept the throne? Who kept their wealth and power? The answer names both.
Stretch — no help; when finished: Explain one important difference between the two quarrels, and say whether it shows change in the relationship between the Church and the Crown between 1170 and John's reign.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Two quarrels, one lesson.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What do the quarrels of Henry II and John with the Church have in common?
Support — work through the steps with the group: (1) List how each quarrel ended: Henry blamed, Becket a saint; John excommunicated, then gave way. (2) Ask who was still king afterwards. Both men were. (3) Ask whether the Church lost anything. It did not: it remained wealthy and powerful. (4) The option that says both of those things is the one you want.
Parallel worked example for Support (model it, do not give the task answer): What did the rebellions against John and Henry III have in common? Choose: both were by the barons; both were led by the Pope; both ended with the king removed. Your lesson says the barons rebelled against John and twice against Henry III.; The Pope led neither, and neither king lost his throne.. Answer: Both were rebellions by the barons..
Core — reveal the hint only on request: Who kept the throne? Who kept their wealth and power? The answer names both.
Stretch — no help; when finished: Explain one important difference between the two quarrels, and say whether it shows change in the relationship between the Church and the Crown between 1170 and John's reign.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was the dispute between King John and the Pope about?
Answer: D   Who should be able to choose the next Archbishop of Canterbury. John and the Pope disagreed about who had the right to choose the next Archbishop of Canterbury.
Source of this question: gate item 1 re-asked (options rotated) — this chapter has no third quick-check module.
The ebook also holds task 3, "Church or king: who had the ultimate power?",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Change or continuity?. Reveal the answer; pupils mark their own work in a different colour, then read the "why" together. Same destination for every lane, so one answer serves the whole class.
Answer: A   Continuity
Why: The Church was wealthy and powerful before and after the dispute; John stayed king and kept choosing his helpers. All three are continuity. The Pope's greater say, and John's excommunication being lifted, are the changes.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Two quarrels, one lesson. Reveal the answer; pupils mark their own work in a different colour, then read the "why" together. Same destination for every lane, so one answer serves the whole class.
Answer: A   In both, the king stayed on the throne but the Church kept its power and the king was humbled
Why: Both kings kept their thrones, and in both cases the Church came out with its power intact: Becket a saint and Canterbury a great shrine; John forced to accept the Pope's Archbishop.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D   Who should be able to choose the next Archbishop of Canterbury
Why: John and the Pope disagreed about who had the right to choose the next Archbishop of Canterbury.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6F2EF"/>
          </a:solidFill>
          <a:ln w="12700">
            <a:solidFill>
              <a:srgbClr val="F6F2EF"/>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7 · The Plantagenets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8E0D9"/>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5</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5/5</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Plantagenets · AQA KS3 → 8145</a:t>
            </a:r>
            <a:endParaRPr lang="en-US" sz="1800" dirty="0"/>
          </a:p>
        </p:txBody>
      </p:sp>
      <p:sp>
        <p:nvSpPr>
          <p:cNvPr id="10" name="deck-title"/>
          <p:cNvSpPr txBox="1"/>
          <p:nvPr/>
        </p:nvSpPr>
        <p:spPr>
          <a:xfrm>
            <a:off x="548640" y="230428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King John and the Pope: change or continuity?</a:t>
            </a:r>
            <a:endParaRPr lang="en-US" sz="3600" dirty="0"/>
          </a:p>
        </p:txBody>
      </p:sp>
      <p:sp>
        <p:nvSpPr>
          <p:cNvPr id="11" name="lessons-card"/>
          <p:cNvSpPr/>
          <p:nvPr/>
        </p:nvSpPr>
        <p:spPr>
          <a:xfrm>
            <a:off x="548640" y="3848608"/>
            <a:ext cx="5287975" cy="1290320"/>
          </a:xfrm>
          <a:prstGeom prst="roundRect">
            <a:avLst>
              <a:gd name="adj" fmla="val 5669"/>
            </a:avLst>
          </a:prstGeom>
          <a:solidFill>
            <a:srgbClr val="F6F2EF"/>
          </a:solidFill>
          <a:ln/>
        </p:spPr>
      </p:sp>
      <p:sp>
        <p:nvSpPr>
          <p:cNvPr id="12" name="lessons"/>
          <p:cNvSpPr txBox="1"/>
          <p:nvPr/>
        </p:nvSpPr>
        <p:spPr>
          <a:xfrm>
            <a:off x="685800" y="3940048"/>
            <a:ext cx="5013655" cy="11074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Church versus the Crown: Henry II and Thomas Becket</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6F2EF"/>
          </a:solidFill>
          <a:ln w="12700">
            <a:solidFill>
              <a:srgbClr val="CEBCA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did the Plantagenets change England, 1154–1399?</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was the dispute between King John and the Pope about?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Who should be able to choose the next Archbishop of Canterbury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Whether Becket should be made a saint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Who should rule England's lands in France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Whether John should go on a Crusade</a:t>
            </a:r>
            <a:endParaRPr lang="en-US" sz="1800" dirty="0"/>
          </a:p>
        </p:txBody>
      </p:sp>
      <p:sp>
        <p:nvSpPr>
          <p:cNvPr id="12" name="card"/>
          <p:cNvSpPr/>
          <p:nvPr/>
        </p:nvSpPr>
        <p:spPr>
          <a:xfrm>
            <a:off x="4777626" y="1389888"/>
            <a:ext cx="2636444" cy="4754880"/>
          </a:xfrm>
          <a:prstGeom prst="roundRect">
            <a:avLst>
              <a:gd name="adj" fmla="val 2081"/>
            </a:avLst>
          </a:prstGeom>
          <a:solidFill>
            <a:srgbClr val="FAF8F6"/>
          </a:solidFill>
          <a:ln w="12700">
            <a:solidFill>
              <a:srgbClr val="D4C5B7"/>
            </a:solidFill>
            <a:prstDash val="solid"/>
          </a:ln>
        </p:spPr>
      </p:sp>
      <p:sp>
        <p:nvSpPr>
          <p:cNvPr id="13" name="card-hex"/>
          <p:cNvSpPr/>
          <p:nvPr/>
        </p:nvSpPr>
        <p:spPr>
          <a:xfrm>
            <a:off x="4960506" y="1572768"/>
            <a:ext cx="640080" cy="554309"/>
          </a:xfrm>
          <a:prstGeom prst="hexagon">
            <a:avLst/>
          </a:prstGeom>
          <a:solidFill>
            <a:srgbClr val="7A4A1E"/>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When something stays the same over a period of time, historians call it ___.</a:t>
            </a:r>
            <a:endParaRPr lang="en-US" sz="2200" dirty="0"/>
          </a:p>
          <a:p>
            <a:pPr algn="l" indent="0" marL="0">
              <a:buNone/>
            </a:pPr>
            <a:r>
              <a:rPr lang="en-US" sz="2200" b="1" dirty="0">
                <a:solidFill>
                  <a:srgbClr val="7A4A1E"/>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continuity  ·  change  ·  chronology</a:t>
            </a:r>
            <a:endParaRPr lang="en-US" sz="2200" dirty="0"/>
          </a:p>
        </p:txBody>
      </p:sp>
      <p:sp>
        <p:nvSpPr>
          <p:cNvPr id="17" name="card"/>
          <p:cNvSpPr/>
          <p:nvPr/>
        </p:nvSpPr>
        <p:spPr>
          <a:xfrm>
            <a:off x="7688389" y="1389888"/>
            <a:ext cx="3954666" cy="4754880"/>
          </a:xfrm>
          <a:prstGeom prst="roundRect">
            <a:avLst>
              <a:gd name="adj" fmla="val 1387"/>
            </a:avLst>
          </a:prstGeom>
          <a:solidFill>
            <a:srgbClr val="FAF8F6"/>
          </a:solidFill>
          <a:ln w="12700">
            <a:solidFill>
              <a:srgbClr val="D4C5B7"/>
            </a:solidFill>
            <a:prstDash val="solid"/>
          </a:ln>
        </p:spPr>
      </p:sp>
      <p:sp>
        <p:nvSpPr>
          <p:cNvPr id="18" name="card-hex"/>
          <p:cNvSpPr/>
          <p:nvPr/>
        </p:nvSpPr>
        <p:spPr>
          <a:xfrm>
            <a:off x="7871269" y="1572768"/>
            <a:ext cx="640080" cy="554309"/>
          </a:xfrm>
          <a:prstGeom prst="hexagon">
            <a:avLst/>
          </a:prstGeom>
          <a:solidFill>
            <a:srgbClr val="7A4A1E"/>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Which of these statements is evidence of CHANGE after John's dispute with the Pope?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John remained King of England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Church remained wealthy and powerful</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Pope had more say in English Church matters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King John was able to choose who helped him lead the country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AF8F6"/>
          </a:solidFill>
          <a:ln w="12700">
            <a:solidFill>
              <a:srgbClr val="D4C5B7"/>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FE4D0"/>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Who should be able to choose the next Archbishop of Canterbury</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was the dispute between King John and the Pope about?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John and the Pope disagreed about who had the right to choose the next Archbishop of Canterbury.</a:t>
            </a:r>
            <a:endParaRPr lang="en-US" sz="2000" dirty="0"/>
          </a:p>
        </p:txBody>
      </p:sp>
      <p:sp>
        <p:nvSpPr>
          <p:cNvPr id="14" name="card"/>
          <p:cNvSpPr/>
          <p:nvPr/>
        </p:nvSpPr>
        <p:spPr>
          <a:xfrm>
            <a:off x="4777626" y="1389888"/>
            <a:ext cx="2636444" cy="4754880"/>
          </a:xfrm>
          <a:prstGeom prst="roundRect">
            <a:avLst>
              <a:gd name="adj" fmla="val 2081"/>
            </a:avLst>
          </a:prstGeom>
          <a:solidFill>
            <a:srgbClr val="FAF8F6"/>
          </a:solidFill>
          <a:ln w="12700">
            <a:solidFill>
              <a:srgbClr val="D4C5B7"/>
            </a:solidFill>
            <a:prstDash val="solid"/>
          </a:ln>
        </p:spPr>
      </p:sp>
      <p:sp>
        <p:nvSpPr>
          <p:cNvPr id="15" name="card-hex"/>
          <p:cNvSpPr/>
          <p:nvPr/>
        </p:nvSpPr>
        <p:spPr>
          <a:xfrm>
            <a:off x="4960506" y="1572768"/>
            <a:ext cx="640080" cy="554309"/>
          </a:xfrm>
          <a:prstGeom prst="hexagon">
            <a:avLst/>
          </a:prstGeom>
          <a:solidFill>
            <a:srgbClr val="7A4A1E"/>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continuity</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When something stays the same over a period of time, historians call it ___.</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Continuity means staying the same; change means becoming different.</a:t>
            </a:r>
            <a:endParaRPr lang="en-US" sz="1800" dirty="0"/>
          </a:p>
        </p:txBody>
      </p:sp>
      <p:sp>
        <p:nvSpPr>
          <p:cNvPr id="21" name="card"/>
          <p:cNvSpPr/>
          <p:nvPr/>
        </p:nvSpPr>
        <p:spPr>
          <a:xfrm>
            <a:off x="7688389" y="1389888"/>
            <a:ext cx="3954666" cy="4754880"/>
          </a:xfrm>
          <a:prstGeom prst="roundRect">
            <a:avLst>
              <a:gd name="adj" fmla="val 1387"/>
            </a:avLst>
          </a:prstGeom>
          <a:solidFill>
            <a:srgbClr val="FAF8F6"/>
          </a:solidFill>
          <a:ln w="12700">
            <a:solidFill>
              <a:srgbClr val="D4C5B7"/>
            </a:solidFill>
            <a:prstDash val="solid"/>
          </a:ln>
        </p:spPr>
      </p:sp>
      <p:sp>
        <p:nvSpPr>
          <p:cNvPr id="22" name="card-hex"/>
          <p:cNvSpPr/>
          <p:nvPr/>
        </p:nvSpPr>
        <p:spPr>
          <a:xfrm>
            <a:off x="7871269" y="1572768"/>
            <a:ext cx="640080" cy="554309"/>
          </a:xfrm>
          <a:prstGeom prst="hexagon">
            <a:avLst/>
          </a:prstGeom>
          <a:solidFill>
            <a:srgbClr val="7A4A1E"/>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955040"/>
          </a:xfrm>
          <a:prstGeom prst="roundRect">
            <a:avLst>
              <a:gd name="adj" fmla="val 11489"/>
            </a:avLst>
          </a:prstGeom>
          <a:solidFill>
            <a:srgbClr val="EFE4D0"/>
          </a:solidFill>
          <a:ln w="19050">
            <a:solidFill>
              <a:srgbClr val="B8862B"/>
            </a:solidFill>
            <a:prstDash val="solid"/>
          </a:ln>
        </p:spPr>
      </p:sp>
      <p:sp>
        <p:nvSpPr>
          <p:cNvPr id="26" name="answer"/>
          <p:cNvSpPr txBox="1"/>
          <p:nvPr/>
        </p:nvSpPr>
        <p:spPr>
          <a:xfrm>
            <a:off x="7962709" y="2428829"/>
            <a:ext cx="3406026"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The Pope had more say in English Church matters</a:t>
            </a:r>
            <a:endParaRPr lang="en-US" sz="2200" dirty="0"/>
          </a:p>
        </p:txBody>
      </p:sp>
      <p:sp>
        <p:nvSpPr>
          <p:cNvPr id="27" name="card-body"/>
          <p:cNvSpPr txBox="1"/>
          <p:nvPr/>
        </p:nvSpPr>
        <p:spPr>
          <a:xfrm>
            <a:off x="7871269" y="3493597"/>
            <a:ext cx="3588906" cy="2514011"/>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Which of these statements is evidence of CHANGE after John's dispute with the Pope?</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Before the dispute the king expected to choose the Archbishop; afterwards the Pope's say had grown. That is change. The other three were true before and after.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Pope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head of the whole Church in western Europe, based in Rome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King John quarrelled with the Pope over who should be Archbishop.</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dispute</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serious disagreement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dispute was about who could choose the next Archbishop of Canterbury.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authority</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right to give orders and be obeyed</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king and the Pope both claimed authority over the English Church.</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8F6F4"/>
          </a:solidFill>
          <a:ln w="12700">
            <a:solidFill>
              <a:srgbClr val="CEBCAC"/>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change</a:t>
            </a:r>
            <a:endParaRPr lang="en-US" sz="2600" dirty="0"/>
          </a:p>
        </p:txBody>
      </p:sp>
      <p:sp>
        <p:nvSpPr>
          <p:cNvPr id="11" name="word-rule"/>
          <p:cNvSpPr/>
          <p:nvPr/>
        </p:nvSpPr>
        <p:spPr>
          <a:xfrm>
            <a:off x="731520" y="2129028"/>
            <a:ext cx="3149498" cy="0"/>
          </a:xfrm>
          <a:prstGeom prst="line">
            <a:avLst/>
          </a:prstGeom>
          <a:ln w="12700">
            <a:solidFill>
              <a:srgbClr val="CEBCAC"/>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became different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Pope having more say in English Church matters was a change.</a:t>
            </a:r>
            <a:endParaRPr lang="en-US" sz="2200" dirty="0"/>
          </a:p>
        </p:txBody>
      </p:sp>
      <p:sp>
        <p:nvSpPr>
          <p:cNvPr id="13" name="word-card"/>
          <p:cNvSpPr/>
          <p:nvPr/>
        </p:nvSpPr>
        <p:spPr>
          <a:xfrm>
            <a:off x="4338218" y="1389888"/>
            <a:ext cx="3515258" cy="4754880"/>
          </a:xfrm>
          <a:prstGeom prst="roundRect">
            <a:avLst>
              <a:gd name="adj" fmla="val 1561"/>
            </a:avLst>
          </a:prstGeom>
          <a:solidFill>
            <a:srgbClr val="F8F6F4"/>
          </a:solidFill>
          <a:ln w="12700">
            <a:solidFill>
              <a:srgbClr val="CEBCAC"/>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continuity</a:t>
            </a:r>
            <a:endParaRPr lang="en-US" sz="2600" dirty="0"/>
          </a:p>
        </p:txBody>
      </p:sp>
      <p:sp>
        <p:nvSpPr>
          <p:cNvPr id="17" name="word-rule"/>
          <p:cNvSpPr/>
          <p:nvPr/>
        </p:nvSpPr>
        <p:spPr>
          <a:xfrm>
            <a:off x="4521098" y="2129028"/>
            <a:ext cx="3149498" cy="0"/>
          </a:xfrm>
          <a:prstGeom prst="line">
            <a:avLst/>
          </a:prstGeom>
          <a:ln w="12700">
            <a:solidFill>
              <a:srgbClr val="CEBCAC"/>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something that stayed the same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John staying on as king was continuity.</a:t>
            </a:r>
            <a:endParaRPr lang="en-US" sz="2200" dirty="0"/>
          </a:p>
        </p:txBody>
      </p:sp>
      <p:sp>
        <p:nvSpPr>
          <p:cNvPr id="19" name="word-card"/>
          <p:cNvSpPr/>
          <p:nvPr/>
        </p:nvSpPr>
        <p:spPr>
          <a:xfrm>
            <a:off x="8127797" y="1389888"/>
            <a:ext cx="3515258" cy="4754880"/>
          </a:xfrm>
          <a:prstGeom prst="roundRect">
            <a:avLst>
              <a:gd name="adj" fmla="val 1561"/>
            </a:avLst>
          </a:prstGeom>
          <a:solidFill>
            <a:srgbClr val="F8F6F4"/>
          </a:solidFill>
          <a:ln w="12700">
            <a:solidFill>
              <a:srgbClr val="CEBCAC"/>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Magna Carta</a:t>
            </a:r>
            <a:endParaRPr lang="en-US" sz="2600" dirty="0"/>
          </a:p>
        </p:txBody>
      </p:sp>
      <p:sp>
        <p:nvSpPr>
          <p:cNvPr id="23" name="word-rule"/>
          <p:cNvSpPr/>
          <p:nvPr/>
        </p:nvSpPr>
        <p:spPr>
          <a:xfrm>
            <a:off x="8310677" y="2129028"/>
            <a:ext cx="3149498" cy="0"/>
          </a:xfrm>
          <a:prstGeom prst="line">
            <a:avLst/>
          </a:prstGeom>
          <a:ln w="12700">
            <a:solidFill>
              <a:srgbClr val="CEBCAC"/>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agreement the barons forced John to accept, limiting the monarch's powers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Magna Carta limited what the king could do.</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generation after Becket's murder, another king fell out with the Church.</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King John and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Pope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disagreed about who should choose the next Archbishop of Canterbury.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John wanted his own man.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Pope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wanted his.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Pope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punished John by excommunicating him.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the end John gave way, and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Pope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lifted the excommunication.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After this, the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Pope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had more say in English Church matters.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AF8F6"/>
          </a:solidFill>
          <a:ln w="12700">
            <a:solidFill>
              <a:srgbClr val="DBCEC2"/>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But John remained King of England.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 could still choose who helped him lead the country.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And the Church remained wealthy and powerful, as it had always been.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Historians call what became different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change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what stayed the same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continuity</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John's barons later made him agree to </a:t>
            </a:r>
            <a:pPr algn="l" indent="0" marL="0">
              <a:spcAft>
                <a:spcPts val="600"/>
              </a:spcAft>
              <a:buNone/>
            </a:pPr>
            <a:r>
              <a:rPr lang="en-US" sz="2400" b="1" dirty="0">
                <a:solidFill>
                  <a:srgbClr val="7A4A1E"/>
                </a:solidFill>
                <a:latin typeface="Calibri" pitchFamily="34" charset="0"/>
                <a:ea typeface="Calibri" pitchFamily="34" charset="-122"/>
                <a:cs typeface="Calibri" pitchFamily="34" charset="-120"/>
              </a:rPr>
              <a:t>Magna Carta</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which limited his power too.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 who really held the power in England?</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Another king, another quarrel</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Your lesson's worksheet gives the detail of John's dispute. Read it with one question in mind: what changed, and what stayed the same?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Henry II's quarrel with Becket was not the last fight between the Crown and the Church.</a:t>
            </a:r>
            <a:endParaRPr lang="en-US" sz="20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The Pope had a weapon that no king had: excommunication.</a:t>
            </a:r>
            <a:endParaRPr lang="en-US" sz="20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000" dirty="0">
                <a:solidFill>
                  <a:srgbClr val="1E2229"/>
                </a:solidFill>
                <a:latin typeface="Calibri" pitchFamily="34" charset="0"/>
                <a:ea typeface="Calibri" pitchFamily="34" charset="-122"/>
                <a:cs typeface="Calibri" pitchFamily="34" charset="-120"/>
              </a:rPr>
              <a:t>In the end John gave way. He accepted the Pope's choice of Archbishop, and the Pope lifted the excommunication, so John was no longer shut out of the Church.</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Change and continuity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6F0E6"/>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Remained, still and continued signal continuity. More, now and no longer signal change.</a:t>
            </a:r>
            <a:endParaRPr lang="en-US" sz="1800" dirty="0"/>
          </a:p>
        </p:txBody>
      </p:sp>
      <p:sp>
        <p:nvSpPr>
          <p:cNvPr id="11" name="point-card"/>
          <p:cNvSpPr/>
          <p:nvPr/>
        </p:nvSpPr>
        <p:spPr>
          <a:xfrm>
            <a:off x="548640" y="1389888"/>
            <a:ext cx="3515258" cy="3964940"/>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Historians use two words to describe what happens over time.</a:t>
            </a:r>
            <a:endParaRPr lang="en-US" sz="2400" dirty="0"/>
          </a:p>
        </p:txBody>
      </p:sp>
      <p:sp>
        <p:nvSpPr>
          <p:cNvPr id="15" name="point-card"/>
          <p:cNvSpPr/>
          <p:nvPr/>
        </p:nvSpPr>
        <p:spPr>
          <a:xfrm>
            <a:off x="4338218" y="1389888"/>
            <a:ext cx="3515258" cy="3964940"/>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gave you five statements about England after John's dispute with the Pope.</a:t>
            </a:r>
            <a:endParaRPr lang="en-US" sz="2400" dirty="0"/>
          </a:p>
        </p:txBody>
      </p:sp>
      <p:sp>
        <p:nvSpPr>
          <p:cNvPr id="19" name="point-card"/>
          <p:cNvSpPr/>
          <p:nvPr/>
        </p:nvSpPr>
        <p:spPr>
          <a:xfrm>
            <a:off x="8127797" y="1389888"/>
            <a:ext cx="3515258" cy="3964940"/>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86766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test is simple. Ask: was this true before the dispute as well?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(1 of 2): Change and continuity</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6F2EF"/>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Pope had more say in English Church matters. Is this evidence of change or continuity? Explain your answer in two sentences.</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Ask the test question: was this true before the dispute as well?</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Before the dispute, John expected to choose the Archbishop himself, so the Pope had less say. Afterwards the Pope's choice stood.</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Worked example (2 of 2): Change and continuity</a:t>
            </a:r>
            <a:endParaRPr lang="en-US" sz="30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6F2EF"/>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The Pope had more say in English Church matters. Is this evidence of change or continuity? Explain your answer in two sentences.</a:t>
            </a:r>
            <a:endParaRPr lang="en-US" sz="2200" dirty="0"/>
          </a:p>
        </p:txBody>
      </p:sp>
      <p:sp>
        <p:nvSpPr>
          <p:cNvPr id="9" name="step-box"/>
          <p:cNvSpPr/>
          <p:nvPr/>
        </p:nvSpPr>
        <p:spPr>
          <a:xfrm>
            <a:off x="548640" y="2655824"/>
            <a:ext cx="5341468" cy="2252980"/>
          </a:xfrm>
          <a:prstGeom prst="roundRect">
            <a:avLst>
              <a:gd name="adj" fmla="val 3247"/>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Something that became different is a change.</a:t>
            </a:r>
            <a:endParaRPr lang="en-US" sz="1800" dirty="0"/>
          </a:p>
        </p:txBody>
      </p:sp>
      <p:sp>
        <p:nvSpPr>
          <p:cNvPr id="13" name="arrow"/>
          <p:cNvSpPr/>
          <p:nvPr/>
        </p:nvSpPr>
        <p:spPr>
          <a:xfrm>
            <a:off x="5963260" y="3645154"/>
            <a:ext cx="274320" cy="274320"/>
          </a:xfrm>
          <a:prstGeom prst="rightArrow">
            <a:avLst/>
          </a:prstGeom>
          <a:solidFill>
            <a:srgbClr val="B8862B"/>
          </a:solidFill>
          <a:ln/>
        </p:spPr>
      </p:sp>
      <p:sp>
        <p:nvSpPr>
          <p:cNvPr id="14" name="step-box"/>
          <p:cNvSpPr/>
          <p:nvPr/>
        </p:nvSpPr>
        <p:spPr>
          <a:xfrm>
            <a:off x="6301588" y="2655824"/>
            <a:ext cx="5341468" cy="2252980"/>
          </a:xfrm>
          <a:prstGeom prst="roundRect">
            <a:avLst>
              <a:gd name="adj" fmla="val 3247"/>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Write it up: This statement shows change, because before the dispute the king expected to choose the Archbishop and afterwards the Pope's choice stood. The balance of power over the English Church had shifted towards Rome.</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FE4D0"/>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Change: the Pope's say in English Church matters grew because of the dispute; it had not been as great before.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Who held the ultimate power?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Ultimate means final: who won when the two powers clashed? Use both quarrels as evidence, not just one.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6F2EF"/>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Now put the two quarrels together. Henry II tried to make the Church obey the Crown, and the result was that Becket was made a saint and Canterbury became the greatest pilgrim site in England.</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Yet both men stayed king. No one took Henry's throne for the murder, and John remained King of England and went on choosing who helped him lead the country.</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6F2EF"/>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So your lesson's final question is a real one, and historians still argue about it.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Change or continuity?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After the dispute, the Church remained wealthy and powerful. Is this statement evidence of change or continuity?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Continuity</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Neither: it has nothing to do with the dispute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Change</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Change or continuity?</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After the dispute, the Church remained wealthy and powerful. Is this statement evidence of change or continuity?</a:t>
            </a:r>
            <a:endParaRPr lang="en-US" sz="2000" dirty="0"/>
          </a:p>
        </p:txBody>
      </p:sp>
      <p:sp>
        <p:nvSpPr>
          <p:cNvPr id="12" name="col-Support"/>
          <p:cNvSpPr/>
          <p:nvPr/>
        </p:nvSpPr>
        <p:spPr>
          <a:xfrm>
            <a:off x="548640" y="2593848"/>
            <a:ext cx="4667802" cy="3550920"/>
          </a:xfrm>
          <a:prstGeom prst="roundRect">
            <a:avLst>
              <a:gd name="adj" fmla="val 1545"/>
            </a:avLst>
          </a:prstGeom>
          <a:solidFill>
            <a:srgbClr val="F6F2EF"/>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the test question: was this true before the dispute as well?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If it was true before and is still true after, nothing has become different.</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that stays the same is continuity.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the signal words: remained, still and continued point to continuity.</a:t>
            </a:r>
            <a:endParaRPr lang="en-US" sz="1800" dirty="0"/>
          </a:p>
        </p:txBody>
      </p:sp>
      <p:sp>
        <p:nvSpPr>
          <p:cNvPr id="17" name="col-Core"/>
          <p:cNvSpPr/>
          <p:nvPr/>
        </p:nvSpPr>
        <p:spPr>
          <a:xfrm>
            <a:off x="5490762" y="2593848"/>
            <a:ext cx="2938987" cy="3550920"/>
          </a:xfrm>
          <a:prstGeom prst="roundRect">
            <a:avLst>
              <a:gd name="adj" fmla="val 1867"/>
            </a:avLst>
          </a:prstGeom>
          <a:solidFill>
            <a:srgbClr val="E6DDD4"/>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Was it true before as well? Yes means continuity. Look for remained.</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7A4A1E"/>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a historian might say this continuity is the most important fact of all about John's quarrel with the Pope.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Two quarrels, one lesson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What do the quarrels of Henry II and John with the Church have in common?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both, the king stayed on the throne but the Church kept its power and the king was humbled</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both, the Pope removed the king from the throne</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both, the king won and the Church lost its wealth</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In both, the Archbishop of Canterbury was murdered</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7A4A1E"/>
                </a:solidFill>
                <a:latin typeface="Cambria" pitchFamily="34" charset="0"/>
                <a:ea typeface="Cambria" pitchFamily="34" charset="-122"/>
                <a:cs typeface="Cambria" pitchFamily="34" charset="-120"/>
              </a:rPr>
              <a:t>Same task, three ways in: Two quarrels, one lesson</a:t>
            </a:r>
            <a:endParaRPr lang="en-US" sz="28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Two quarrels, one lesson</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6F2EF"/>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List how each quarrel ended: Henry blamed, Becket a saint; John excommunicated, then gave way.</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who was still king afterwards. Both men were.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whether the Church lost anything. It did not: it remained wealthy and powerful.</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option that says both of those things is the one you want.</a:t>
            </a:r>
            <a:endParaRPr lang="en-US" sz="1800" dirty="0"/>
          </a:p>
        </p:txBody>
      </p:sp>
      <p:sp>
        <p:nvSpPr>
          <p:cNvPr id="17" name="col-Core"/>
          <p:cNvSpPr/>
          <p:nvPr/>
        </p:nvSpPr>
        <p:spPr>
          <a:xfrm>
            <a:off x="5490762" y="2395728"/>
            <a:ext cx="2938987" cy="3749040"/>
          </a:xfrm>
          <a:prstGeom prst="roundRect">
            <a:avLst>
              <a:gd name="adj" fmla="val 1867"/>
            </a:avLst>
          </a:prstGeom>
          <a:solidFill>
            <a:srgbClr val="E6DDD4"/>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Who kept the throne? Who kept their wealth and power? The answer names both.</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one important difference between the two quarrels, and say whether it shows change in the relationship between the Church and the Crown between 1170 and John's reign.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956052"/>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was the dispute between King John and the Pope about?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Whether Becket should be made a saint</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Who should rule England's lands in France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Whether John should go on a Crusade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Who should be able to choose the next Archbishop of Canterbury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AF8F6"/>
          </a:solidFill>
          <a:ln w="12700">
            <a:solidFill>
              <a:srgbClr val="C0AA9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Change or continuity?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After the dispute, the Church remained wealthy and powerful. Is this statement evidence of change or continuity?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Continuity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Church was wealthy and powerful before and after the dispute; John stayed king and kept choosing his helpers. All three are continuity. The Pope's greater say, and John's excommunication being lifted, are the changes.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Two quarrels, one lesson</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 the quarrels of Henry II and John with the Church have in common?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In both, the king stayed on the throne but the Church kept its power and the king was humbled</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kings kept their thrones, and in both cases the Church came out with its power intact: Becket a saint and Canterbury a great shrine; John forced to accept the Pope's Archbishop.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was the dispute between King John and the Pope about?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D   Who should be able to choose the next Archbishop of Canterbury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6F2EF"/>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John and the Pope disagreed about who had the right to choose the next Archbishop of Canterbury.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6F2EF"/>
      </a:lt2>
      <a:accent1>
        <a:srgbClr val="7A4A1E"/>
      </a:accent1>
      <a:accent2>
        <a:srgbClr val="B8862B"/>
      </a:accent2>
      <a:accent3>
        <a:srgbClr val="AF9278"/>
      </a:accent3>
      <a:accent4>
        <a:srgbClr val="815E1E"/>
      </a:accent4>
      <a:accent5>
        <a:srgbClr val="4A505C"/>
      </a:accent5>
      <a:accent6>
        <a:srgbClr val="DEC69B"/>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Plantagenets · Chapter 5: King John and the Pope: change or continuity?</dc:title>
  <dc:subject>History · Year 7</dc:subject>
  <dc:creator>Dr Vitor Merissi de Carvalho</dc:creator>
  <cp:lastModifiedBy>Dr Vitor Merissi de Carvalho</cp:lastModifiedBy>
  <cp:revision>1</cp:revision>
  <dcterms:created xsi:type="dcterms:W3CDTF">2026-10-19T06:07:58Z</dcterms:created>
  <dcterms:modified xsi:type="dcterms:W3CDTF">2026-10-19T06:07:58Z</dcterms:modified>
</cp:coreProperties>
</file>