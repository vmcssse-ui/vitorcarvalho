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notesMasterIdLst>
    <p:notesMasterId r:id="rId2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1eb39e80-df66-2940-af77-95b8870517dc}">
          <p14:sldIdLst>
            <p14:sldId id="256"/>
          </p14:sldIdLst>
        </p14:section>
        <p14:section name="Gate" id="{d39db495-dceb-ec8e-4b57-07c2e44fa793}">
          <p14:sldIdLst>
            <p14:sldId id="257"/>
            <p14:sldId id="258"/>
          </p14:sldIdLst>
        </p14:section>
        <p14:section name="Pre-teach" id="{d38cf910-e749-e34a-8897-dc5a5a37230d}">
          <p14:sldIdLst>
            <p14:sldId id="259"/>
            <p14:sldId id="260"/>
          </p14:sldIdLst>
        </p14:section>
        <p14:section name="Read-along" id="{e0817d74-e732-4168-fa9d-bc7f636dfd1f}">
          <p14:sldIdLst>
            <p14:sldId id="261"/>
            <p14:sldId id="262"/>
          </p14:sldIdLst>
        </p14:section>
        <p14:section name="Teach" id="{4d26bf71-a0a0-83e5-5d75-206c31441183}">
          <p14:sldIdLst>
            <p14:sldId id="263"/>
            <p14:sldId id="264"/>
            <p14:sldId id="265"/>
            <p14:sldId id="266"/>
            <p14:sldId id="267"/>
          </p14:sldIdLst>
        </p14:section>
        <p14:section name="Routes" id="{3b427d36-25ca-6d16-e0ae-3a5d4487602f}">
          <p14:sldIdLst>
            <p14:sldId id="268"/>
            <p14:sldId id="269"/>
            <p14:sldId id="270"/>
            <p14:sldId id="271"/>
          </p14:sldIdLst>
        </p14:section>
        <p14:section name="Close" id="{09eafe29-4799-53a6-0827-9d04fc3af731}">
          <p14:sldIdLst>
            <p14:sldId id="272"/>
          </p14:sldIdLst>
        </p14:section>
        <p14:section name="Answers" id="{30b1f39e-fe09-ebec-d126-d15e3e307145}">
          <p14:sldIdLst>
            <p14:sldId id="273"/>
            <p14:sldId id="274"/>
            <p14:sldId id="27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Chapter 5 of 5: King John and the Pope: change or continuity?. A second king quarrels with the Church, this time with the Pope himself; what changed and what stayed the same; and who held the ultimate power in England, the Church or the Crown.
This deck covers the department's lesson: 2 (The Church versus the Crown: Henry II and Thomas Becket: How powerful were the Church and the Crown in medieval England, why did Henry II and Becket fall out, and was there change or continuity between the Church and the king?).
Read the big question aloud: "How did the Plantagenets change England, 1154–1399?" We come back to it at the exit ticket.
Before this lesson the pre-teach group has heard the read-along and met the key words; today they lead the reading. Lesson shape: do now (recall before any help), key words, read-along, teach, then the same task three ways in (Support, Core, Stretch), exit ticket, answers. Every pupil works towards the same destination.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now — retrieval. Silent, no notes, no help: recall comes before any support. Give about four minutes.
1. What was the dispute between King John and the Pope about?  →  A   Who should be able to choose the next Archbishop of Canterbury
2. When something stays the same over a period of time, historians call it ___.  →  continuity
3. Which of these statements is evidence of CHANGE after John's dispute with the Pope?  →  C   The Pope had more say in English Church matters
Circulate: who gets 3/3 (Stretch route), 2/3 (Core), 0–1 (Support)? Use this to route pupils later in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pupils mark their own in a different colour, then hands up for 3/3, 2/3, 1/3.
1. A   Who should be able to choose the next Archbishop of Canterbury. John and the Pope disagreed about who had the right to choose the next Archbishop of Canterbury.
2. continuity. Continuity means staying the same; change means becoming different.
3. C   The Pope had more say in English Church matters. Before the dispute the king expected to choose the Archbishop; afterwards the Pope's say had grown. That is change. The other three were true before and after.
Say the route each score points to: 3/3 Stretch, 2/3 Core, 0–1 Support. Pupils may choose to move 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Ask the pre-teach group first: they met these words before the lesson, so they give the meaning before anyone else.
For each word: say it, pupils repeat it, read the meaning, then read the example sentence together.
• Pope: the head of the whole Church in western Europe, based in Rome. Example: "King John quarrelled with the Pope over who should be Archbishop."
• dispute: a serious disagreement. Example: "The dispute was about who could choose the next Archbishop of Canterbury."
• authority: the right to give orders and be obeyed. Example: "The king and the Pope both claimed authority over the English Church."
Recall before help: cover the meanings and ask pupils to define one word from memory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Ask the pre-teach group first: they met these words before the lesson, so they give the meaning before anyone else.
For each word: say it, pupils repeat it, read the meaning, then read the example sentence together.
• change: something that became different. Example: "The Pope having more say in English Church matters was a change."
• continuity: something that stayed the same. Example: "John staying on as king was continuity."
• Magna Carta: the agreement the barons forced John to accept, limiting the monarch's powers. Example: "Magna Carta limited what the king could do."
Recall before help: cover the meanings and ask pupils to define one word from memory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together; pupils who were pre-taught lead. The pre-teach group heard this passage (with highlighted audio in the ebook) before the lesson, so invite them to read each sentence aloud first; everyone else follows with a finger, then echo-reads it.
Key words are in bold: pause on each and ask for its meaning.
Sentences 1–7 of 13:
1. A generation after Becket's murder, another king fell out with the Church.
2. King John and the Pope disagreed about who should choose the next Archbishop of Canterbury.
3. John wanted his own man.
4. The Pope wanted his.
5. The Pope punished John by excommunicating him.
6. In the end John gave way, and the Pope lifted the excommunication.
7. After this, the Pope had more say in English Church matters.
In the ebook the audio highlights each sentence as it is 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together; pupils who were pre-taught lead. The pre-teach group heard this passage (with highlighted audio in the ebook) before the lesson, so invite them to read each sentence aloud first; everyone else follows with a finger, then echo-reads it.
Key words are in bold: pause on each and ask for its meaning.
Sentences 8–13 of 13:
8. But John remained King of England.
9. He could still choose who helped him lead the country.
10. And the Church remained wealthy and powerful, as it had always been.
11. Historians call what became different change, and what stayed the same continuity.
12. John's barons later made him agree to Magna Carta, which limited his power too.
13. So who really held the power in England?
In the ebook the audio highlights each sentence as it is 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Another king, another quarrel. Say it in your own words, then check understanding with a quick question: ask a pupil from the pre-teach group first, since they met these words and ideas before the lesson. Pupils try to recall before you re-explain.
Henry II's quarrel with Becket was not the last fight between the Crown and the Church. His son John, who ruled from 1199 to 1216, fell out with the Church too, and this time the other side was the Pope himself. The dispute was about who should be able to choose the next Archbishop of Canterbury. John believed the king should choose the head of the Church in England. The Pope believed that was his decision.
The Pope had a weapon that no king had: excommunication. He used it on John, shutting the King of England out of the Church. For a medieval king this was a serious blow. It told his people that God's Church had rejected him, and it gave his enemies an excuse to turn against him.
In the end John gave way. He accepted the Pope's choice of Archbishop, and the Pope lifted the excommunication, so John was no longer shut out of the Church. Compare this with Henry II. Henry's quarrel ended with an Archbishop dead and the king blamed. John's ended with the king backing down. In both cases the Church did not lose.
Tip: Your lesson's worksheet gives the detail of John's dispute. Read it with one question in mind: what changed, and what stayed the same?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Change and continuity. Say it in your own words, then check understanding with a quick question: ask a pupil from the pre-teach group first, since they met these words and ideas before the lesson. Pupils try to recall before you re-explain.
Historians use two words to describe what happens over time. Change means something became different. Continuity means something stayed the same. Almost every event brings some of each, and a good historian notices both.
Your lesson gave you five statements about England after John's dispute with the Pope. The Pope had more say in English Church matters. John remained King of England. King John was able to choose who helped him lead the country. King John was now no longer excommunicated. The Church remained wealthy and powerful. Your task was to decide which show change and which show continuity.
The test is simple. Ask: was this true before the dispute as well? If yes, it is continuity: John was king before and after; he chose his own helpers before and after; the Church was wealthy and powerful before and after. If no, it is change: before the dispute the Pope had less say in English Church matters, and before the quarrel John had not been excommunicated at all, so being no longer excommunicated is a change back from a change.
Worked example — model it step by step, thinking aloud: The Pope had more say in English Church matters. Is this evidence of change or continuity? Explain your answer in two sentences. (1) Ask the test question: was this true before the dispute as well? (2) Before the dispute, John expected to choose the Archbishop himself, so the Pope had less say. Afterwards the Pope's choice stood. (3) Something that became different is a change. (4) Write it up: This statement shows change, because before the dispute the king expected to choose the Archbishop and afterwards the Pope's choice stood. The balance of power over the English Church had shifted towards Rome. Answer: Change: the Pope's say in English Church matters grew because of the dispute; it had not been as great before..
Tip: Remained, still and continued signal continuity. More, now and no longer signal change.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Change and continuity. Say it in your own words, then check understanding with a quick question: ask a pupil from the pre-teach group first, since they met these words and ideas before the lesson. Pupils try to recall before you re-explain.
Historians use two words to describe what happens over time. Change means something became different. Continuity means something stayed the same. Almost every event brings some of each, and a good historian notices both.
Your lesson gave you five statements about England after John's dispute with the Pope. The Pope had more say in English Church matters. John remained King of England. King John was able to choose who helped him lead the country. King John was now no longer excommunicated. The Church remained wealthy and powerful. Your task was to decide which show change and which show continuity.
The test is simple. Ask: was this true before the dispute as well? If yes, it is continuity: John was king before and after; he chose his own helpers before and after; the Church was wealthy and powerful before and after. If no, it is change: before the dispute the Pope had less say in English Church matters, and before the quarrel John had not been excommunicated at all, so being no longer excommunicated is a change back from a change.
Worked example — model it step by step, thinking aloud: The Pope had more say in English Church matters. Is this evidence of change or continuity? Explain your answer in two sentences. (1) Ask the test question: was this true before the dispute as well? (2) Before the dispute, John expected to choose the Archbishop himself, so the Pope had less say. Afterwards the Pope's choice stood. (3) Something that became different is a change. (4) Write it up: This statement shows change, because before the dispute the king expected to choose the Archbishop and afterwards the Pope's choice stood. The balance of power over the English Church had shifted towards Rome. Answer: Change: the Pope's say in English Church matters grew because of the dispute; it had not been as great before..
Tip: Remained, still and continued signal continuity. More, now and no longer signal change.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Change and continuity. Say it in your own words, then check understanding with a quick question: ask a pupil from the pre-teach group first, since they met these words and ideas before the lesson. Pupils try to recall before you re-explain.
Historians use two words to describe what happens over time. Change means something became different. Continuity means something stayed the same. Almost every event brings some of each, and a good historian notices both.
Your lesson gave you five statements about England after John's dispute with the Pope. The Pope had more say in English Church matters. John remained King of England. King John was able to choose who helped him lead the country. King John was now no longer excommunicated. The Church remained wealthy and powerful. Your task was to decide which show change and which show continuity.
The test is simple. Ask: was this true before the dispute as well? If yes, it is continuity: John was king before and after; he chose his own helpers before and after; the Church was wealthy and powerful before and after. If no, it is change: before the dispute the Pope had less say in English Church matters, and before the quarrel John had not been excommunicated at all, so being no longer excommunicated is a change back from a change.
Worked example — model it step by step, thinking aloud: The Pope had more say in English Church matters. Is this evidence of change or continuity? Explain your answer in two sentences. (1) Ask the test question: was this true before the dispute as well? (2) Before the dispute, John expected to choose the Archbishop himself, so the Pope had less say. Afterwards the Pope's choice stood. (3) Something that became different is a change. (4) Write it up: This statement shows change, because before the dispute the king expected to choose the Archbishop and afterwards the Pope's choice stood. The balance of power over the English Church had shifted towards Rome. Answer: Change: the Pope's say in English Church matters grew because of the dispute; it had not been as great before..
Tip: Remained, still and continued signal continuity. More, now and no longer signal change.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Who held the ultimate power?. Say it in your own words, then check understanding with a quick question: ask a pupil from the pre-teach group first, since they met these words and ideas before the lesson. Pupils try to recall before you re-explain.
Now put the two quarrels together. Henry II tried to make the Church obey the Crown, and the result was that Becket was made a saint and Canterbury became the greatest pilgrim site in England. John tried to choose his own Archbishop, was excommunicated, and gave way. In both cases the Church kept its wealth and power, and the Pope's authority was shown to reach into England.
Yet both men stayed king. No one took Henry's throne for the murder, and John remained King of England and went on choosing who helped him lead the country. The Church could humble a king, but it did not rule the country for him. And John's power was limited again, this time by his own barons, who forced him to agree to Magna Carta in 1215. That was a different kind of limit: not the Church above the king, but the barons beside him.
So your lesson's final question is a real one, and historians still argue about it. Who had the ultimate power in medieval England, the Church or the king? Decide, and write it as a PEE paragraph: your point, your evidence from the two quarrels, and your explanation of how that power was demonstrated.
Tip: Ultimate means final: who won when the two powers clashed? Use both quarrels as evidence, not just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1: Change or continuity?.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After the dispute, the Church remained wealthy and powerful. Is this statement evidence of change or continuity?
Support — work through the steps with the group: (1) Ask the test question: was this true before the dispute as well? (2) If it was true before and is still true after, nothing has become different. (3) Something that stays the same is continuity. (4) Check the signal words: remained, still and continued point to continuity.
Parallel worked example for Support (model it, do not give the task answer): After the dispute, King John was no longer excommunicated. Change or continuity? Before the dispute John was not excommunicated; during it he was; afterwards he was not again.; His position had changed twice, so something became different.; The signal words now and no longer point to change.. Answer: Change.
Core — reveal the hint only on request: Was it true before as well? Yes means continuity. Look for remained.
Stretch — no help; when finished: Explain why a historian might say this continuity is the most important fact of all about John's quarrel with the Pope.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1: Change or continuity?.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After the dispute, the Church remained wealthy and powerful. Is this statement evidence of change or continuity?
Support — work through the steps with the group: (1) Ask the test question: was this true before the dispute as well? (2) If it was true before and is still true after, nothing has become different. (3) Something that stays the same is continuity. (4) Check the signal words: remained, still and continued point to continuity.
Parallel worked example for Support (model it, do not give the task answer): After the dispute, King John was no longer excommunicated. Change or continuity? Before the dispute John was not excommunicated; during it he was; afterwards he was not again.; His position had changed twice, so something became different.; The signal words now and no longer point to change.. Answer: Change.
Core — reveal the hint only on request: Was it true before as well? Yes means continuity. Look for remained.
Stretch — no help; when finished: Explain why a historian might say this continuity is the most important fact of all about John's quarrel with the Pope.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2: Two quarrels, one lesson.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What do the quarrels of Henry II and John with the Church have in common?
Support — work through the steps with the group: (1) List how each quarrel ended: Henry blamed, Becket a saint; John excommunicated, then gave way. (2) Ask who was still king afterwards. Both men were. (3) Ask whether the Church lost anything. It did not: it remained wealthy and powerful. (4) The option that says both of those things is the one you want.
Parallel worked example for Support (model it, do not give the task answer): What did the rebellions against John and Henry III have in common? Choose: both were by the barons; both were led by the Pope; both ended with the king removed. Your lesson says the barons rebelled against John and twice against Henry III.; The Pope led neither, and neither king lost his throne.. Answer: Both were rebellions by the barons..
Core — reveal the hint only on request: Who kept the throne? Who kept their wealth and power? The answer names both.
Stretch — no help; when finished: Explain one important difference between the two quarrels, and say whether it shows change in the relationship between the Church and the Crown between 1170 and John's reign.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2: Two quarrels, one lesson.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What do the quarrels of Henry II and John with the Church have in common?
Support — work through the steps with the group: (1) List how each quarrel ended: Henry blamed, Becket a saint; John excommunicated, then gave way. (2) Ask who was still king afterwards. Both men were. (3) Ask whether the Church lost anything. It did not: it remained wealthy and powerful. (4) The option that says both of those things is the one you want.
Parallel worked example for Support (model it, do not give the task answer): What did the rebellions against John and Henry III have in common? Choose: both were by the barons; both were led by the Pope; both ended with the king removed. Your lesson says the barons rebelled against John and twice against Henry III.; The Pope led neither, and neither king lost his throne.. Answer: Both were rebellions by the barons..
Core — reveal the hint only on request: Who kept the throne? Who kept their wealth and power? The answer names both.
Stretch — no help; when finished: Explain one important difference between the two quarrels, and say whether it shows change in the relationship between the Church and the Crown between 1170 and John's reign.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ticket — individual, silent, on a slip or mini-whiteboard. Recall before help: no notes, no lanes, no hints. Collect before pupils leave.
Question: What was the dispute between King John and the Pope about?
Answer: D   Who should be able to choose the next Archbishop of Canterbury. John and the Pope disagreed about who had the right to choose the next Archbishop of Canterbury.
Source of this question: gate item 1 re-asked (options rotated) — this chapter has no third quick-check module.
The ebook also holds task 3, "Church or king: who had the ultimate power?", for homework or the next lesson's do now.
Sort the slips: correct → ready to move on; incorrect → start next lesson in the pre-teach group, with the read-along and the Support lane. Same destination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task 1: Change or continuity?. Reveal the answer; pupils mark their own work in a different colour, then read the "why" together. Same destination for every lane, so one answer serves the whole class.
Answer: A   Continuity
Why: The Church was wealthy and powerful before and after the dispute; John stayed king and kept choosing his helpers. All three are continuity. The Pope's greater say, and John's excommunication being lifted, are the changes.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task 2: Two quarrels, one lesson. Reveal the answer; pupils mark their own work in a different colour, then read the "why" together. Same destination for every lane, so one answer serves the whole class.
Answer: A   In both, the king stayed on the throne but the Church kept its power and the king was humbled
Why: Both kings kept their thrones, and in both cases the Church came out with its power intact: Becket a saint and Canterbury a great shrine; John forced to accept the Pope's Archbishop.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exit ticket: Exit ticket. Reveal the answer; pupils mark their own work in a different colour, then read the "why" together. Same destination for every lane, so one answer serves the whole class.
Answer: D   Who should be able to choose the next Archbishop of Canterbury
Why: John and the Pope disagreed about who had the right to choose the next Archbishop of Canterbury.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ASTRA_TITLE">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6400800"/>
            <a:ext cx="12191695" cy="457200"/>
          </a:xfrm>
          <a:prstGeom prst="rect">
            <a:avLst/>
          </a:prstGeom>
          <a:solidFill>
            <a:srgbClr val="F6F2EF"/>
          </a:solidFill>
          <a:ln w="12700">
            <a:solidFill>
              <a:srgbClr val="F6F2EF"/>
            </a:solidFill>
            <a:prstDash val="solid"/>
          </a:ln>
        </p:spPr>
      </p:sp>
      <p:pic>
        <p:nvPicPr>
          <p:cNvPr id="3" name="Image 0" descr="Edu.AI hexagon motif">    </p:cNvPr>
          <p:cNvPicPr>
            <a:picLocks noChangeAspect="1"/>
          </p:cNvPicPr>
          <p:nvPr/>
        </p:nvPicPr>
        <p:blipFill>
          <a:blip r:embed="rId1"/>
          <a:stretch>
            <a:fillRect/>
          </a:stretch>
        </p:blipFill>
        <p:spPr>
          <a:xfrm>
            <a:off x="164592" y="6437376"/>
            <a:ext cx="438912" cy="384048"/>
          </a:xfrm>
          <a:prstGeom prst="rect">
            <a:avLst/>
          </a:prstGeom>
        </p:spPr>
      </p:pic>
      <p:sp>
        <p:nvSpPr>
          <p:cNvPr id="4" name="Text 1"/>
          <p:cNvSpPr/>
          <p:nvPr/>
        </p:nvSpPr>
        <p:spPr>
          <a:xfrm>
            <a:off x="713232" y="6446520"/>
            <a:ext cx="8138160" cy="365760"/>
          </a:xfrm>
          <a:prstGeom prst="rect">
            <a:avLst/>
          </a:prstGeom>
          <a:noFill/>
          <a:ln/>
        </p:spPr>
        <p:txBody>
          <a:bodyPr wrap="square" lIns="0" tIns="0" rIns="0" bIns="0" rtlCol="0" anchor="ctr"/>
          <a:lstStyle/>
          <a:p>
            <a:pPr indent="0" marL="0">
              <a:buNone/>
            </a:pPr>
            <a:r>
              <a:rPr lang="en-US" sz="1000" dirty="0">
                <a:solidFill>
                  <a:srgbClr val="4A505C"/>
                </a:solidFill>
                <a:latin typeface="Calibri" pitchFamily="34" charset="0"/>
                <a:ea typeface="Calibri" pitchFamily="34" charset="-122"/>
                <a:cs typeface="Calibri" pitchFamily="34" charset="-120"/>
              </a:rPr>
              <a:t>History · Year 7 · The Plantagenets · Ad Astra pilot exemplar — awaiting department review</a:t>
            </a:r>
            <a:endParaRPr lang="en-US" sz="1000" dirty="0"/>
          </a:p>
        </p:txBody>
      </p:sp>
      <p:sp>
        <p:nvSpPr>
          <p:cNvPr id="5" name="Text 2"/>
          <p:cNvSpPr/>
          <p:nvPr/>
        </p:nvSpPr>
        <p:spPr>
          <a:xfrm>
            <a:off x="8915400" y="6446520"/>
            <a:ext cx="2011680" cy="365760"/>
          </a:xfrm>
          <a:prstGeom prst="rect">
            <a:avLst/>
          </a:prstGeom>
          <a:noFill/>
          <a:ln/>
        </p:spPr>
        <p:txBody>
          <a:bodyPr wrap="square" lIns="0" tIns="0" rIns="0" bIns="0" rtlCol="0" anchor="ctr"/>
          <a:lstStyle/>
          <a:p>
            <a:pPr algn="r" indent="0" marL="0">
              <a:buNone/>
            </a:pPr>
            <a:r>
              <a:rPr lang="en-US" sz="1000" dirty="0">
                <a:solidFill>
                  <a:srgbClr val="4A505C"/>
                </a:solidFill>
                <a:latin typeface="Calibri" pitchFamily="34" charset="0"/>
                <a:ea typeface="Calibri" pitchFamily="34" charset="-122"/>
                <a:cs typeface="Calibri" pitchFamily="34" charset="-120"/>
              </a:rPr>
              <a:t>© 2026 Edu.Ai SV Digital</a:t>
            </a:r>
            <a:endParaRPr lang="en-US" sz="1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ASTRA_CONTENT">
    <p:bg>
      <p:bgPr>
        <a:solidFill>
          <a:srgbClr val="FBF7EE"/>
        </a:solidFill>
      </p:bgPr>
    </p:bg>
    <p:spTree>
      <p:nvGrpSpPr>
        <p:cNvPr id="1" name=""/>
        <p:cNvGrpSpPr/>
        <p:nvPr/>
      </p:nvGrpSpPr>
      <p:grpSpPr>
        <a:xfrm>
          <a:off x="0" y="0"/>
          <a:ext cx="0" cy="0"/>
          <a:chOff x="0" y="0"/>
          <a:chExt cx="0" cy="0"/>
        </a:xfrm>
      </p:grpSpPr>
      <p:sp>
        <p:nvSpPr>
          <p:cNvPr id="2" name="Shape 0"/>
          <p:cNvSpPr/>
          <p:nvPr/>
        </p:nvSpPr>
        <p:spPr>
          <a:xfrm>
            <a:off x="0" y="6400800"/>
            <a:ext cx="12191695" cy="457200"/>
          </a:xfrm>
          <a:prstGeom prst="rect">
            <a:avLst/>
          </a:prstGeom>
          <a:solidFill>
            <a:srgbClr val="F6F2EF"/>
          </a:solidFill>
          <a:ln w="12700">
            <a:solidFill>
              <a:srgbClr val="F6F2EF"/>
            </a:solidFill>
            <a:prstDash val="solid"/>
          </a:ln>
        </p:spPr>
      </p:sp>
      <p:pic>
        <p:nvPicPr>
          <p:cNvPr id="3" name="Image 0" descr="Edu.AI hexagon motif">    </p:cNvPr>
          <p:cNvPicPr>
            <a:picLocks noChangeAspect="1"/>
          </p:cNvPicPr>
          <p:nvPr/>
        </p:nvPicPr>
        <p:blipFill>
          <a:blip r:embed="rId1"/>
          <a:stretch>
            <a:fillRect/>
          </a:stretch>
        </p:blipFill>
        <p:spPr>
          <a:xfrm>
            <a:off x="164592" y="6437376"/>
            <a:ext cx="438912" cy="384048"/>
          </a:xfrm>
          <a:prstGeom prst="rect">
            <a:avLst/>
          </a:prstGeom>
        </p:spPr>
      </p:pic>
      <p:sp>
        <p:nvSpPr>
          <p:cNvPr id="4" name="Text 1"/>
          <p:cNvSpPr/>
          <p:nvPr/>
        </p:nvSpPr>
        <p:spPr>
          <a:xfrm>
            <a:off x="713232" y="6446520"/>
            <a:ext cx="8138160" cy="365760"/>
          </a:xfrm>
          <a:prstGeom prst="rect">
            <a:avLst/>
          </a:prstGeom>
          <a:noFill/>
          <a:ln/>
        </p:spPr>
        <p:txBody>
          <a:bodyPr wrap="square" lIns="0" tIns="0" rIns="0" bIns="0" rtlCol="0" anchor="ctr"/>
          <a:lstStyle/>
          <a:p>
            <a:pPr indent="0" marL="0">
              <a:buNone/>
            </a:pPr>
            <a:r>
              <a:rPr lang="en-US" sz="1000" dirty="0">
                <a:solidFill>
                  <a:srgbClr val="4A505C"/>
                </a:solidFill>
                <a:latin typeface="Calibri" pitchFamily="34" charset="0"/>
                <a:ea typeface="Calibri" pitchFamily="34" charset="-122"/>
                <a:cs typeface="Calibri" pitchFamily="34" charset="-120"/>
              </a:rPr>
              <a:t>History · Year 7 · The Plantagenets · Ad Astra pilot exemplar — awaiting department review</a:t>
            </a:r>
            <a:endParaRPr lang="en-US" sz="1000" dirty="0"/>
          </a:p>
        </p:txBody>
      </p:sp>
      <p:sp>
        <p:nvSpPr>
          <p:cNvPr id="5" name="Text 2"/>
          <p:cNvSpPr/>
          <p:nvPr/>
        </p:nvSpPr>
        <p:spPr>
          <a:xfrm>
            <a:off x="8915400" y="6446520"/>
            <a:ext cx="2011680" cy="365760"/>
          </a:xfrm>
          <a:prstGeom prst="rect">
            <a:avLst/>
          </a:prstGeom>
          <a:noFill/>
          <a:ln/>
        </p:spPr>
        <p:txBody>
          <a:bodyPr wrap="square" lIns="0" tIns="0" rIns="0" bIns="0" rtlCol="0" anchor="ctr"/>
          <a:lstStyle/>
          <a:p>
            <a:pPr algn="r" indent="0" marL="0">
              <a:buNone/>
            </a:pPr>
            <a:r>
              <a:rPr lang="en-US" sz="1000" dirty="0">
                <a:solidFill>
                  <a:srgbClr val="4A505C"/>
                </a:solidFill>
                <a:latin typeface="Calibri" pitchFamily="34" charset="0"/>
                <a:ea typeface="Calibri" pitchFamily="34" charset="-122"/>
                <a:cs typeface="Calibri" pitchFamily="34" charset="-120"/>
              </a:rPr>
              <a:t>© 2026 Edu.Ai SV Digital</a:t>
            </a:r>
            <a:endParaRPr lang="en-US" sz="1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3" name="band-hue"/>
          <p:cNvSpPr/>
          <p:nvPr/>
        </p:nvSpPr>
        <p:spPr>
          <a:xfrm>
            <a:off x="0" y="5989320"/>
            <a:ext cx="12191695" cy="164592"/>
          </a:xfrm>
          <a:prstGeom prst="rect">
            <a:avLst/>
          </a:prstGeom>
          <a:solidFill>
            <a:srgbClr val="7A4A1E"/>
          </a:solidFill>
          <a:ln/>
        </p:spPr>
      </p:sp>
      <p:sp>
        <p:nvSpPr>
          <p:cNvPr id="4" name="band-gold"/>
          <p:cNvSpPr/>
          <p:nvPr/>
        </p:nvSpPr>
        <p:spPr>
          <a:xfrm>
            <a:off x="0" y="6208776"/>
            <a:ext cx="12191695" cy="64008"/>
          </a:xfrm>
          <a:prstGeom prst="rect">
            <a:avLst/>
          </a:prstGeom>
          <a:solidFill>
            <a:srgbClr val="B8862B"/>
          </a:solidFill>
          <a:ln/>
        </p:spPr>
      </p:sp>
      <p:sp>
        <p:nvSpPr>
          <p:cNvPr id="5" name="hex-deco1"/>
          <p:cNvSpPr/>
          <p:nvPr/>
        </p:nvSpPr>
        <p:spPr>
          <a:xfrm>
            <a:off x="1373886" y="276195"/>
            <a:ext cx="525780" cy="455325"/>
          </a:xfrm>
          <a:prstGeom prst="hexagon">
            <a:avLst/>
          </a:prstGeom>
          <a:solidFill>
            <a:srgbClr val="E8E0D9"/>
          </a:solidFill>
          <a:ln/>
        </p:spPr>
      </p:sp>
      <p:sp>
        <p:nvSpPr>
          <p:cNvPr id="6" name="hex-deco2"/>
          <p:cNvSpPr/>
          <p:nvPr/>
        </p:nvSpPr>
        <p:spPr>
          <a:xfrm>
            <a:off x="1373886" y="1168557"/>
            <a:ext cx="525780" cy="455325"/>
          </a:xfrm>
          <a:prstGeom prst="hexagon">
            <a:avLst/>
          </a:prstGeom>
          <a:ln w="19050">
            <a:solidFill>
              <a:srgbClr val="B8862B"/>
            </a:solidFill>
            <a:prstDash val="solid"/>
          </a:ln>
        </p:spPr>
      </p:sp>
      <p:sp>
        <p:nvSpPr>
          <p:cNvPr id="7" name="hex-chapter"/>
          <p:cNvSpPr/>
          <p:nvPr/>
        </p:nvSpPr>
        <p:spPr>
          <a:xfrm>
            <a:off x="548640" y="457200"/>
            <a:ext cx="1051560" cy="910651"/>
          </a:xfrm>
          <a:prstGeom prst="hexagon">
            <a:avLst/>
          </a:prstGeom>
          <a:solidFill>
            <a:srgbClr val="7A4A1E"/>
          </a:solidFill>
          <a:ln/>
        </p:spPr>
      </p:sp>
      <p:sp>
        <p:nvSpPr>
          <p:cNvPr id="8" name="hex-chapter-label"/>
          <p:cNvSpPr txBox="1"/>
          <p:nvPr/>
        </p:nvSpPr>
        <p:spPr>
          <a:xfrm>
            <a:off x="548640" y="457200"/>
            <a:ext cx="1051560" cy="910651"/>
          </a:xfrm>
          <a:prstGeom prst="rect">
            <a:avLst/>
          </a:prstGeom>
          <a:noFill/>
          <a:ln/>
        </p:spPr>
        <p:txBody>
          <a:bodyPr wrap="square" lIns="0" tIns="0" rIns="0" bIns="0" rtlCol="0" anchor="ctr"/>
          <a:lstStyle/>
          <a:p>
            <a:pPr algn="ctr" indent="0" marL="0">
              <a:buNone/>
            </a:pPr>
            <a:r>
              <a:rPr lang="en-US" sz="4000" b="1" dirty="0">
                <a:solidFill>
                  <a:srgbClr val="FFFFFF"/>
                </a:solidFill>
                <a:latin typeface="Cambria" pitchFamily="34" charset="0"/>
                <a:ea typeface="Cambria" pitchFamily="34" charset="-122"/>
                <a:cs typeface="Cambria" pitchFamily="34" charset="-120"/>
              </a:rPr>
              <a:t>5</a:t>
            </a:r>
            <a:endParaRPr lang="en-US" sz="4000" dirty="0"/>
          </a:p>
        </p:txBody>
      </p:sp>
      <p:sp>
        <p:nvSpPr>
          <p:cNvPr id="9" name="kicker"/>
          <p:cNvSpPr txBox="1"/>
          <p:nvPr/>
        </p:nvSpPr>
        <p:spPr>
          <a:xfrm>
            <a:off x="2331720" y="256032"/>
            <a:ext cx="3504895" cy="1298448"/>
          </a:xfrm>
          <a:prstGeom prst="rect">
            <a:avLst/>
          </a:prstGeom>
          <a:noFill/>
          <a:ln/>
        </p:spPr>
        <p:txBody>
          <a:bodyPr wrap="square" lIns="63500" tIns="63500" rIns="63500" bIns="63500" rtlCol="0" anchor="ctr"/>
          <a:lstStyle/>
          <a:p>
            <a:pPr algn="l" indent="0" marL="0">
              <a:spcAft>
                <a:spcPts val="200"/>
              </a:spcAft>
              <a:buNone/>
            </a:pPr>
            <a:r>
              <a:rPr lang="en-US" sz="1800" b="1" dirty="0">
                <a:solidFill>
                  <a:srgbClr val="7A4A1E"/>
                </a:solidFill>
                <a:latin typeface="Calibri" pitchFamily="34" charset="0"/>
                <a:ea typeface="Calibri" pitchFamily="34" charset="-122"/>
                <a:cs typeface="Calibri" pitchFamily="34" charset="-120"/>
              </a:rPr>
              <a:t>History · Year 7</a:t>
            </a:r>
            <a:endParaRPr lang="en-US" sz="1800" dirty="0"/>
          </a:p>
          <a:p>
            <a:pPr algn="l" indent="0" marL="0">
              <a:spcAft>
                <a:spcPts val="200"/>
              </a:spcAft>
              <a:buNone/>
            </a:pPr>
            <a:r>
              <a:rPr lang="en-US" sz="1800" b="1" dirty="0">
                <a:solidFill>
                  <a:srgbClr val="936B22"/>
                </a:solidFill>
                <a:latin typeface="Calibri" pitchFamily="34" charset="0"/>
                <a:ea typeface="Calibri" pitchFamily="34" charset="-122"/>
                <a:cs typeface="Calibri" pitchFamily="34" charset="-120"/>
              </a:rPr>
              <a:t>Chapter 5/5</a:t>
            </a:r>
            <a:endParaRPr lang="en-US" sz="1800" dirty="0"/>
          </a:p>
          <a:p>
            <a:pPr algn="l" indent="0" marL="0">
              <a:buNone/>
            </a:pPr>
            <a:r>
              <a:rPr lang="en-US" sz="1800" dirty="0">
                <a:solidFill>
                  <a:srgbClr val="4A505C"/>
                </a:solidFill>
                <a:latin typeface="Calibri" pitchFamily="34" charset="0"/>
                <a:ea typeface="Calibri" pitchFamily="34" charset="-122"/>
                <a:cs typeface="Calibri" pitchFamily="34" charset="-120"/>
              </a:rPr>
              <a:t>The Plantagenets · AQA KS3 → 8145</a:t>
            </a:r>
            <a:endParaRPr lang="en-US" sz="1800" dirty="0"/>
          </a:p>
        </p:txBody>
      </p:sp>
      <p:sp>
        <p:nvSpPr>
          <p:cNvPr id="10" name="deck-title"/>
          <p:cNvSpPr txBox="1"/>
          <p:nvPr/>
        </p:nvSpPr>
        <p:spPr>
          <a:xfrm>
            <a:off x="548640" y="2304288"/>
            <a:ext cx="5287975" cy="1315720"/>
          </a:xfrm>
          <a:prstGeom prst="rect">
            <a:avLst/>
          </a:prstGeom>
          <a:noFill/>
          <a:ln/>
        </p:spPr>
        <p:txBody>
          <a:bodyPr wrap="square" lIns="63500" tIns="63500" rIns="63500" bIns="63500" rtlCol="0" anchor="t"/>
          <a:lstStyle/>
          <a:p>
            <a:pPr algn="l" indent="0" marL="0">
              <a:buNone/>
            </a:pPr>
            <a:r>
              <a:rPr lang="en-US" sz="3600" b="1" dirty="0">
                <a:solidFill>
                  <a:srgbClr val="1E2229"/>
                </a:solidFill>
                <a:latin typeface="Cambria" pitchFamily="34" charset="0"/>
                <a:ea typeface="Cambria" pitchFamily="34" charset="-122"/>
                <a:cs typeface="Cambria" pitchFamily="34" charset="-120"/>
              </a:rPr>
              <a:t>King John and the Pope: change or continuity?</a:t>
            </a:r>
            <a:endParaRPr lang="en-US" sz="3600" dirty="0"/>
          </a:p>
        </p:txBody>
      </p:sp>
      <p:sp>
        <p:nvSpPr>
          <p:cNvPr id="11" name="lessons-card"/>
          <p:cNvSpPr/>
          <p:nvPr/>
        </p:nvSpPr>
        <p:spPr>
          <a:xfrm>
            <a:off x="548640" y="3848608"/>
            <a:ext cx="5287975" cy="1290320"/>
          </a:xfrm>
          <a:prstGeom prst="roundRect">
            <a:avLst>
              <a:gd name="adj" fmla="val 5669"/>
            </a:avLst>
          </a:prstGeom>
          <a:solidFill>
            <a:srgbClr val="F6F2EF"/>
          </a:solidFill>
          <a:ln/>
        </p:spPr>
      </p:sp>
      <p:sp>
        <p:nvSpPr>
          <p:cNvPr id="12" name="lessons"/>
          <p:cNvSpPr txBox="1"/>
          <p:nvPr/>
        </p:nvSpPr>
        <p:spPr>
          <a:xfrm>
            <a:off x="685800" y="3940048"/>
            <a:ext cx="5013655" cy="1107440"/>
          </a:xfrm>
          <a:prstGeom prst="rect">
            <a:avLst/>
          </a:prstGeom>
          <a:noFill/>
          <a:ln/>
        </p:spPr>
        <p:txBody>
          <a:bodyPr wrap="square" lIns="63500" tIns="63500" rIns="63500" bIns="63500" rtlCol="0" anchor="t"/>
          <a:lstStyle/>
          <a:p>
            <a:pPr algn="l" indent="0" marL="0">
              <a:spcAft>
                <a:spcPts val="400"/>
              </a:spcAft>
              <a:buNone/>
            </a:pPr>
            <a:r>
              <a:rPr lang="en-US" sz="2000" b="1" dirty="0">
                <a:solidFill>
                  <a:srgbClr val="7A4A1E"/>
                </a:solidFill>
                <a:latin typeface="Calibri" pitchFamily="34" charset="0"/>
                <a:ea typeface="Calibri" pitchFamily="34" charset="-122"/>
                <a:cs typeface="Calibri" pitchFamily="34" charset="-120"/>
              </a:rPr>
              <a:t>Lessons covered</a:t>
            </a:r>
            <a:endParaRPr lang="en-US" sz="2000" dirty="0"/>
          </a:p>
          <a:p>
            <a:pPr algn="l" indent="0" marL="0">
              <a:spcAft>
                <a:spcPts val="300"/>
              </a:spcAft>
              <a:buNone/>
            </a:pPr>
            <a:r>
              <a:rPr lang="en-US" sz="2000" b="1" dirty="0">
                <a:solidFill>
                  <a:srgbClr val="9C7225"/>
                </a:solidFill>
                <a:latin typeface="Calibri" pitchFamily="34" charset="0"/>
                <a:ea typeface="Calibri" pitchFamily="34" charset="-122"/>
                <a:cs typeface="Calibri" pitchFamily="34" charset="-120"/>
              </a:rPr>
              <a:t>2  </a:t>
            </a:r>
            <a:pPr algn="l" indent="0" marL="0">
              <a:spcAft>
                <a:spcPts val="300"/>
              </a:spcAft>
              <a:buNone/>
            </a:pPr>
            <a:r>
              <a:rPr lang="en-US" sz="2000" dirty="0">
                <a:solidFill>
                  <a:srgbClr val="1E2229"/>
                </a:solidFill>
                <a:latin typeface="Calibri" pitchFamily="34" charset="0"/>
                <a:ea typeface="Calibri" pitchFamily="34" charset="-122"/>
                <a:cs typeface="Calibri" pitchFamily="34" charset="-120"/>
              </a:rPr>
              <a:t>The Church versus the Crown: Henry II and Thomas Becket</a:t>
            </a:r>
            <a:endParaRPr lang="en-US" sz="2000" dirty="0"/>
          </a:p>
        </p:txBody>
      </p:sp>
      <p:sp>
        <p:nvSpPr>
          <p:cNvPr id="13" name="plate-frame"/>
          <p:cNvSpPr/>
          <p:nvPr/>
        </p:nvSpPr>
        <p:spPr>
          <a:xfrm>
            <a:off x="6248095" y="411480"/>
            <a:ext cx="5394960" cy="3130677"/>
          </a:xfrm>
          <a:prstGeom prst="rect">
            <a:avLst/>
          </a:prstGeom>
          <a:solidFill>
            <a:srgbClr val="F4EDDF"/>
          </a:solidFill>
          <a:ln w="19050">
            <a:solidFill>
              <a:srgbClr val="B8862B"/>
            </a:solidFill>
            <a:prstDash val="solid"/>
          </a:ln>
          <a:effectLst>
            <a:outerShdw sx="100000" sy="100000" kx="0" ky="0" algn="bl" rotWithShape="0" blurRad="76200" dist="25400" dir="5400000">
              <a:srgbClr val="000000">
                <a:alpha val="12000"/>
              </a:srgbClr>
            </a:outerShdw>
          </a:effectLst>
        </p:spPr>
      </p:sp>
      <p:pic>
        <p:nvPicPr>
          <p:cNvPr id="14" name="plate" descr="Ad Astra engraved plate for History, Year 7">    </p:cNvPr>
          <p:cNvPicPr>
            <a:picLocks noChangeAspect="1"/>
          </p:cNvPicPr>
          <p:nvPr/>
        </p:nvPicPr>
        <p:blipFill>
          <a:blip r:embed="rId1"/>
          <a:stretch>
            <a:fillRect/>
          </a:stretch>
        </p:blipFill>
        <p:spPr>
          <a:xfrm>
            <a:off x="6357823" y="521208"/>
            <a:ext cx="5175504" cy="2911221"/>
          </a:xfrm>
          <a:prstGeom prst="rect">
            <a:avLst/>
          </a:prstGeom>
        </p:spPr>
      </p:pic>
      <p:sp>
        <p:nvSpPr>
          <p:cNvPr id="15" name="plate-inner"/>
          <p:cNvSpPr/>
          <p:nvPr/>
        </p:nvSpPr>
        <p:spPr>
          <a:xfrm>
            <a:off x="6357823" y="521208"/>
            <a:ext cx="5175504" cy="2911221"/>
          </a:xfrm>
          <a:prstGeom prst="rect">
            <a:avLst/>
          </a:prstGeom>
          <a:ln w="9525">
            <a:solidFill>
              <a:srgbClr val="B8862B"/>
            </a:solidFill>
            <a:prstDash val="solid"/>
          </a:ln>
        </p:spPr>
      </p:sp>
      <p:sp>
        <p:nvSpPr>
          <p:cNvPr id="16" name="stud0"/>
          <p:cNvSpPr/>
          <p:nvPr/>
        </p:nvSpPr>
        <p:spPr>
          <a:xfrm>
            <a:off x="6138367" y="316456"/>
            <a:ext cx="219456" cy="190049"/>
          </a:xfrm>
          <a:prstGeom prst="hexagon">
            <a:avLst/>
          </a:prstGeom>
          <a:solidFill>
            <a:srgbClr val="B8862B"/>
          </a:solidFill>
          <a:ln w="12700">
            <a:solidFill>
              <a:srgbClr val="FFFFFF"/>
            </a:solidFill>
            <a:prstDash val="solid"/>
          </a:ln>
        </p:spPr>
      </p:sp>
      <p:sp>
        <p:nvSpPr>
          <p:cNvPr id="17" name="stud1"/>
          <p:cNvSpPr/>
          <p:nvPr/>
        </p:nvSpPr>
        <p:spPr>
          <a:xfrm>
            <a:off x="11533327" y="316456"/>
            <a:ext cx="219456" cy="190049"/>
          </a:xfrm>
          <a:prstGeom prst="hexagon">
            <a:avLst/>
          </a:prstGeom>
          <a:solidFill>
            <a:srgbClr val="B8862B"/>
          </a:solidFill>
          <a:ln w="12700">
            <a:solidFill>
              <a:srgbClr val="FFFFFF"/>
            </a:solidFill>
            <a:prstDash val="solid"/>
          </a:ln>
        </p:spPr>
      </p:sp>
      <p:sp>
        <p:nvSpPr>
          <p:cNvPr id="18" name="stud2"/>
          <p:cNvSpPr/>
          <p:nvPr/>
        </p:nvSpPr>
        <p:spPr>
          <a:xfrm>
            <a:off x="6138367" y="3447133"/>
            <a:ext cx="219456" cy="190049"/>
          </a:xfrm>
          <a:prstGeom prst="hexagon">
            <a:avLst/>
          </a:prstGeom>
          <a:solidFill>
            <a:srgbClr val="B8862B"/>
          </a:solidFill>
          <a:ln w="12700">
            <a:solidFill>
              <a:srgbClr val="FFFFFF"/>
            </a:solidFill>
            <a:prstDash val="solid"/>
          </a:ln>
        </p:spPr>
      </p:sp>
      <p:sp>
        <p:nvSpPr>
          <p:cNvPr id="19" name="stud3"/>
          <p:cNvSpPr/>
          <p:nvPr/>
        </p:nvSpPr>
        <p:spPr>
          <a:xfrm>
            <a:off x="11533327" y="3447133"/>
            <a:ext cx="219456" cy="190049"/>
          </a:xfrm>
          <a:prstGeom prst="hexagon">
            <a:avLst/>
          </a:prstGeom>
          <a:solidFill>
            <a:srgbClr val="B8862B"/>
          </a:solidFill>
          <a:ln w="12700">
            <a:solidFill>
              <a:srgbClr val="FFFFFF"/>
            </a:solidFill>
            <a:prstDash val="solid"/>
          </a:ln>
        </p:spPr>
      </p:sp>
      <p:sp>
        <p:nvSpPr>
          <p:cNvPr id="20" name="bq-card"/>
          <p:cNvSpPr/>
          <p:nvPr/>
        </p:nvSpPr>
        <p:spPr>
          <a:xfrm>
            <a:off x="6248095" y="3816477"/>
            <a:ext cx="5394960" cy="2053971"/>
          </a:xfrm>
          <a:prstGeom prst="roundRect">
            <a:avLst>
              <a:gd name="adj" fmla="val 3561"/>
            </a:avLst>
          </a:prstGeom>
          <a:solidFill>
            <a:srgbClr val="F6F2EF"/>
          </a:solidFill>
          <a:ln w="12700">
            <a:solidFill>
              <a:srgbClr val="CEBCAC"/>
            </a:solidFill>
            <a:prstDash val="solid"/>
          </a:ln>
        </p:spPr>
      </p:sp>
      <p:sp>
        <p:nvSpPr>
          <p:cNvPr id="21" name="bq-hex"/>
          <p:cNvSpPr/>
          <p:nvPr/>
        </p:nvSpPr>
        <p:spPr>
          <a:xfrm>
            <a:off x="6412687" y="3999357"/>
            <a:ext cx="621792" cy="538472"/>
          </a:xfrm>
          <a:prstGeom prst="hexagon">
            <a:avLst/>
          </a:prstGeom>
          <a:solidFill>
            <a:srgbClr val="B8862B"/>
          </a:solidFill>
          <a:ln/>
        </p:spPr>
      </p:sp>
      <p:sp>
        <p:nvSpPr>
          <p:cNvPr id="22" name="bq-hex-label"/>
          <p:cNvSpPr txBox="1"/>
          <p:nvPr/>
        </p:nvSpPr>
        <p:spPr>
          <a:xfrm>
            <a:off x="6412687" y="3999357"/>
            <a:ext cx="621792" cy="538472"/>
          </a:xfrm>
          <a:prstGeom prst="rect">
            <a:avLst/>
          </a:prstGeom>
          <a:noFill/>
          <a:ln/>
        </p:spPr>
        <p:txBody>
          <a:bodyPr wrap="square" lIns="0" tIns="0" rIns="0" bIns="0" rtlCol="0" anchor="ctr"/>
          <a:lstStyle/>
          <a:p>
            <a:pPr algn="ctr" indent="0" marL="0">
              <a:buNone/>
            </a:pPr>
            <a:r>
              <a:rPr lang="en-US" sz="2600" b="1" dirty="0">
                <a:solidFill>
                  <a:srgbClr val="FFFFFF"/>
                </a:solidFill>
                <a:latin typeface="Cambria" pitchFamily="34" charset="0"/>
                <a:ea typeface="Cambria" pitchFamily="34" charset="-122"/>
                <a:cs typeface="Cambria" pitchFamily="34" charset="-120"/>
              </a:rPr>
              <a:t>?</a:t>
            </a:r>
            <a:endParaRPr lang="en-US" sz="2600" dirty="0"/>
          </a:p>
        </p:txBody>
      </p:sp>
      <p:sp>
        <p:nvSpPr>
          <p:cNvPr id="23" name="bq"/>
          <p:cNvSpPr txBox="1"/>
          <p:nvPr/>
        </p:nvSpPr>
        <p:spPr>
          <a:xfrm>
            <a:off x="7144207" y="3907917"/>
            <a:ext cx="4389120" cy="1871091"/>
          </a:xfrm>
          <a:prstGeom prst="rect">
            <a:avLst/>
          </a:prstGeom>
          <a:noFill/>
          <a:ln/>
        </p:spPr>
        <p:txBody>
          <a:bodyPr wrap="square" lIns="63500" tIns="63500" rIns="63500" bIns="63500" rtlCol="0" anchor="ctr"/>
          <a:lstStyle/>
          <a:p>
            <a:pPr algn="l" indent="0" marL="0">
              <a:spcAft>
                <a:spcPts val="400"/>
              </a:spcAft>
              <a:buNone/>
            </a:pPr>
            <a:r>
              <a:rPr lang="en-US" sz="1800" b="1" dirty="0">
                <a:solidFill>
                  <a:srgbClr val="7A4A1E"/>
                </a:solidFill>
                <a:latin typeface="Calibri" pitchFamily="34" charset="0"/>
                <a:ea typeface="Calibri" pitchFamily="34" charset="-122"/>
                <a:cs typeface="Calibri" pitchFamily="34" charset="-120"/>
              </a:rPr>
              <a:t>Big question</a:t>
            </a:r>
            <a:endParaRPr lang="en-US" sz="1800" dirty="0"/>
          </a:p>
          <a:p>
            <a:pPr algn="l" indent="0" marL="0">
              <a:buNone/>
            </a:pPr>
            <a:r>
              <a:rPr lang="en-US" sz="2400" i="1" dirty="0">
                <a:solidFill>
                  <a:srgbClr val="1E2229"/>
                </a:solidFill>
                <a:latin typeface="Cambria" pitchFamily="34" charset="0"/>
                <a:ea typeface="Cambria" pitchFamily="34" charset="-122"/>
                <a:cs typeface="Cambria" pitchFamily="34" charset="-120"/>
              </a:rPr>
              <a:t>How did the Plantagenets change England, 1154–1399?</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Do now: three from memory</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Gate</a:t>
            </a:r>
            <a:endParaRPr lang="en-US" sz="1800" dirty="0"/>
          </a:p>
        </p:txBody>
      </p:sp>
      <p:sp>
        <p:nvSpPr>
          <p:cNvPr id="7" name="card"/>
          <p:cNvSpPr/>
          <p:nvPr/>
        </p:nvSpPr>
        <p:spPr>
          <a:xfrm>
            <a:off x="548640" y="1389888"/>
            <a:ext cx="3954666" cy="4754880"/>
          </a:xfrm>
          <a:prstGeom prst="roundRect">
            <a:avLst>
              <a:gd name="adj" fmla="val 1387"/>
            </a:avLst>
          </a:prstGeom>
          <a:solidFill>
            <a:srgbClr val="FAF8F6"/>
          </a:solidFill>
          <a:ln w="12700">
            <a:solidFill>
              <a:srgbClr val="D4C5B7"/>
            </a:solidFill>
            <a:prstDash val="solid"/>
          </a:ln>
        </p:spPr>
      </p:sp>
      <p:sp>
        <p:nvSpPr>
          <p:cNvPr id="8" name="card-hex"/>
          <p:cNvSpPr/>
          <p:nvPr/>
        </p:nvSpPr>
        <p:spPr>
          <a:xfrm>
            <a:off x="731520" y="1572768"/>
            <a:ext cx="640080" cy="554309"/>
          </a:xfrm>
          <a:prstGeom prst="hexagon">
            <a:avLst/>
          </a:prstGeom>
          <a:solidFill>
            <a:srgbClr val="7A4A1E"/>
          </a:solidFill>
          <a:ln/>
        </p:spPr>
      </p:sp>
      <p:sp>
        <p:nvSpPr>
          <p:cNvPr id="9" name="card-hex-label"/>
          <p:cNvSpPr txBox="1"/>
          <p:nvPr/>
        </p:nvSpPr>
        <p:spPr>
          <a:xfrm>
            <a:off x="731520"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card-label"/>
          <p:cNvSpPr txBox="1"/>
          <p:nvPr/>
        </p:nvSpPr>
        <p:spPr>
          <a:xfrm>
            <a:off x="1463040" y="1572768"/>
            <a:ext cx="2948826" cy="566928"/>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Choose one</a:t>
            </a:r>
            <a:endParaRPr lang="en-US" sz="1800" dirty="0"/>
          </a:p>
        </p:txBody>
      </p:sp>
      <p:sp>
        <p:nvSpPr>
          <p:cNvPr id="11" name="card-body"/>
          <p:cNvSpPr txBox="1"/>
          <p:nvPr/>
        </p:nvSpPr>
        <p:spPr>
          <a:xfrm>
            <a:off x="731520" y="2355677"/>
            <a:ext cx="3588906" cy="3651931"/>
          </a:xfrm>
          <a:prstGeom prst="rect">
            <a:avLst/>
          </a:prstGeom>
          <a:noFill/>
          <a:ln/>
        </p:spPr>
        <p:txBody>
          <a:bodyPr wrap="square" lIns="63500" tIns="63500" rIns="63500" bIns="63500" rtlCol="0" anchor="t"/>
          <a:lstStyle/>
          <a:p>
            <a:pPr algn="l" indent="0" marL="0">
              <a:spcAft>
                <a:spcPts val="1000"/>
              </a:spcAft>
              <a:buNone/>
            </a:pPr>
            <a:r>
              <a:rPr lang="en-US" sz="1800" b="1" dirty="0">
                <a:solidFill>
                  <a:srgbClr val="1E2229"/>
                </a:solidFill>
                <a:latin typeface="Calibri" pitchFamily="34" charset="0"/>
                <a:ea typeface="Calibri" pitchFamily="34" charset="-122"/>
                <a:cs typeface="Calibri" pitchFamily="34" charset="-120"/>
              </a:rPr>
              <a:t>What was the dispute between King John and the Pope about?</a:t>
            </a:r>
            <a:endParaRPr lang="en-US" sz="1800" dirty="0"/>
          </a:p>
          <a:p>
            <a:pPr algn="l" indent="0" marL="0">
              <a:spcAft>
                <a:spcPts val="600"/>
              </a:spcAft>
              <a:buNone/>
            </a:pPr>
            <a:r>
              <a:rPr lang="en-US" sz="1800" b="1" dirty="0">
                <a:solidFill>
                  <a:srgbClr val="B8862B"/>
                </a:solidFill>
                <a:latin typeface="Calibri" pitchFamily="34" charset="0"/>
                <a:ea typeface="Calibri" pitchFamily="34" charset="-122"/>
                <a:cs typeface="Calibri" pitchFamily="34" charset="-120"/>
              </a:rPr>
              <a:t>A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Who should be able to choose the next Archbishop of Canterbury</a:t>
            </a:r>
            <a:endParaRPr lang="en-US" sz="1800" dirty="0"/>
          </a:p>
          <a:p>
            <a:pPr algn="l" indent="0" marL="0">
              <a:spcAft>
                <a:spcPts val="600"/>
              </a:spcAft>
              <a:buNone/>
            </a:pPr>
            <a:r>
              <a:rPr lang="en-US" sz="1800" b="1" dirty="0">
                <a:solidFill>
                  <a:srgbClr val="B8862B"/>
                </a:solidFill>
                <a:latin typeface="Calibri" pitchFamily="34" charset="0"/>
                <a:ea typeface="Calibri" pitchFamily="34" charset="-122"/>
                <a:cs typeface="Calibri" pitchFamily="34" charset="-120"/>
              </a:rPr>
              <a:t>B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Whether Becket should be made a saint</a:t>
            </a:r>
            <a:endParaRPr lang="en-US" sz="1800" dirty="0"/>
          </a:p>
          <a:p>
            <a:pPr algn="l" indent="0" marL="0">
              <a:spcAft>
                <a:spcPts val="600"/>
              </a:spcAft>
              <a:buNone/>
            </a:pPr>
            <a:r>
              <a:rPr lang="en-US" sz="1800" b="1" dirty="0">
                <a:solidFill>
                  <a:srgbClr val="B8862B"/>
                </a:solidFill>
                <a:latin typeface="Calibri" pitchFamily="34" charset="0"/>
                <a:ea typeface="Calibri" pitchFamily="34" charset="-122"/>
                <a:cs typeface="Calibri" pitchFamily="34" charset="-120"/>
              </a:rPr>
              <a:t>C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Who should rule England's lands in France</a:t>
            </a:r>
            <a:endParaRPr lang="en-US" sz="1800" dirty="0"/>
          </a:p>
          <a:p>
            <a:pPr algn="l" indent="0" marL="0">
              <a:spcAft>
                <a:spcPts val="600"/>
              </a:spcAft>
              <a:buNone/>
            </a:pPr>
            <a:r>
              <a:rPr lang="en-US" sz="1800" b="1" dirty="0">
                <a:solidFill>
                  <a:srgbClr val="B8862B"/>
                </a:solidFill>
                <a:latin typeface="Calibri" pitchFamily="34" charset="0"/>
                <a:ea typeface="Calibri" pitchFamily="34" charset="-122"/>
                <a:cs typeface="Calibri" pitchFamily="34" charset="-120"/>
              </a:rPr>
              <a:t>D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Whether John should go on a Crusade</a:t>
            </a:r>
            <a:endParaRPr lang="en-US" sz="1800" dirty="0"/>
          </a:p>
        </p:txBody>
      </p:sp>
      <p:sp>
        <p:nvSpPr>
          <p:cNvPr id="12" name="card"/>
          <p:cNvSpPr/>
          <p:nvPr/>
        </p:nvSpPr>
        <p:spPr>
          <a:xfrm>
            <a:off x="4777626" y="1389888"/>
            <a:ext cx="2636444" cy="4754880"/>
          </a:xfrm>
          <a:prstGeom prst="roundRect">
            <a:avLst>
              <a:gd name="adj" fmla="val 2081"/>
            </a:avLst>
          </a:prstGeom>
          <a:solidFill>
            <a:srgbClr val="FAF8F6"/>
          </a:solidFill>
          <a:ln w="12700">
            <a:solidFill>
              <a:srgbClr val="D4C5B7"/>
            </a:solidFill>
            <a:prstDash val="solid"/>
          </a:ln>
        </p:spPr>
      </p:sp>
      <p:sp>
        <p:nvSpPr>
          <p:cNvPr id="13" name="card-hex"/>
          <p:cNvSpPr/>
          <p:nvPr/>
        </p:nvSpPr>
        <p:spPr>
          <a:xfrm>
            <a:off x="4960506" y="1572768"/>
            <a:ext cx="640080" cy="554309"/>
          </a:xfrm>
          <a:prstGeom prst="hexagon">
            <a:avLst/>
          </a:prstGeom>
          <a:solidFill>
            <a:srgbClr val="7A4A1E"/>
          </a:solidFill>
          <a:ln/>
        </p:spPr>
      </p:sp>
      <p:sp>
        <p:nvSpPr>
          <p:cNvPr id="14" name="card-hex-label"/>
          <p:cNvSpPr txBox="1"/>
          <p:nvPr/>
        </p:nvSpPr>
        <p:spPr>
          <a:xfrm>
            <a:off x="4960506"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5" name="card-label"/>
          <p:cNvSpPr txBox="1"/>
          <p:nvPr/>
        </p:nvSpPr>
        <p:spPr>
          <a:xfrm>
            <a:off x="5692026" y="1572768"/>
            <a:ext cx="1630604" cy="566928"/>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Fill the gap</a:t>
            </a:r>
            <a:endParaRPr lang="en-US" sz="1800" dirty="0"/>
          </a:p>
        </p:txBody>
      </p:sp>
      <p:sp>
        <p:nvSpPr>
          <p:cNvPr id="16" name="card-body"/>
          <p:cNvSpPr txBox="1"/>
          <p:nvPr/>
        </p:nvSpPr>
        <p:spPr>
          <a:xfrm>
            <a:off x="4960506" y="2355677"/>
            <a:ext cx="2270684" cy="3651931"/>
          </a:xfrm>
          <a:prstGeom prst="rect">
            <a:avLst/>
          </a:prstGeom>
          <a:noFill/>
          <a:ln/>
        </p:spPr>
        <p:txBody>
          <a:bodyPr wrap="square" lIns="63500" tIns="63500" rIns="63500" bIns="63500" rtlCol="0" anchor="t"/>
          <a:lstStyle/>
          <a:p>
            <a:pPr algn="l" indent="0" marL="0">
              <a:spcAft>
                <a:spcPts val="1000"/>
              </a:spcAft>
              <a:buNone/>
            </a:pPr>
            <a:r>
              <a:rPr lang="en-US" sz="2200" b="1" dirty="0">
                <a:solidFill>
                  <a:srgbClr val="1E2229"/>
                </a:solidFill>
                <a:latin typeface="Calibri" pitchFamily="34" charset="0"/>
                <a:ea typeface="Calibri" pitchFamily="34" charset="-122"/>
                <a:cs typeface="Calibri" pitchFamily="34" charset="-120"/>
              </a:rPr>
              <a:t>When something stays the same over a period of time, historians call it ___.</a:t>
            </a:r>
            <a:endParaRPr lang="en-US" sz="2200" dirty="0"/>
          </a:p>
          <a:p>
            <a:pPr algn="l" indent="0" marL="0">
              <a:buNone/>
            </a:pPr>
            <a:r>
              <a:rPr lang="en-US" sz="2200" b="1" dirty="0">
                <a:solidFill>
                  <a:srgbClr val="7A4A1E"/>
                </a:solidFill>
                <a:latin typeface="Calibri" pitchFamily="34" charset="0"/>
                <a:ea typeface="Calibri" pitchFamily="34" charset="-122"/>
                <a:cs typeface="Calibri" pitchFamily="34" charset="-120"/>
              </a:rPr>
              <a:t>Word bank:  </a:t>
            </a:r>
            <a:pPr algn="l" indent="0" marL="0">
              <a:buNone/>
            </a:pPr>
            <a:r>
              <a:rPr lang="en-US" sz="2200" dirty="0">
                <a:solidFill>
                  <a:srgbClr val="1E2229"/>
                </a:solidFill>
                <a:latin typeface="Calibri" pitchFamily="34" charset="0"/>
                <a:ea typeface="Calibri" pitchFamily="34" charset="-122"/>
                <a:cs typeface="Calibri" pitchFamily="34" charset="-120"/>
              </a:rPr>
              <a:t>continuity  ·  change  ·  chronology</a:t>
            </a:r>
            <a:endParaRPr lang="en-US" sz="2200" dirty="0"/>
          </a:p>
        </p:txBody>
      </p:sp>
      <p:sp>
        <p:nvSpPr>
          <p:cNvPr id="17" name="card"/>
          <p:cNvSpPr/>
          <p:nvPr/>
        </p:nvSpPr>
        <p:spPr>
          <a:xfrm>
            <a:off x="7688389" y="1389888"/>
            <a:ext cx="3954666" cy="4754880"/>
          </a:xfrm>
          <a:prstGeom prst="roundRect">
            <a:avLst>
              <a:gd name="adj" fmla="val 1387"/>
            </a:avLst>
          </a:prstGeom>
          <a:solidFill>
            <a:srgbClr val="FAF8F6"/>
          </a:solidFill>
          <a:ln w="12700">
            <a:solidFill>
              <a:srgbClr val="D4C5B7"/>
            </a:solidFill>
            <a:prstDash val="solid"/>
          </a:ln>
        </p:spPr>
      </p:sp>
      <p:sp>
        <p:nvSpPr>
          <p:cNvPr id="18" name="card-hex"/>
          <p:cNvSpPr/>
          <p:nvPr/>
        </p:nvSpPr>
        <p:spPr>
          <a:xfrm>
            <a:off x="7871269" y="1572768"/>
            <a:ext cx="640080" cy="554309"/>
          </a:xfrm>
          <a:prstGeom prst="hexagon">
            <a:avLst/>
          </a:prstGeom>
          <a:solidFill>
            <a:srgbClr val="7A4A1E"/>
          </a:solidFill>
          <a:ln/>
        </p:spPr>
      </p:sp>
      <p:sp>
        <p:nvSpPr>
          <p:cNvPr id="19" name="card-hex-label"/>
          <p:cNvSpPr txBox="1"/>
          <p:nvPr/>
        </p:nvSpPr>
        <p:spPr>
          <a:xfrm>
            <a:off x="7871269"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0" name="card-label"/>
          <p:cNvSpPr txBox="1"/>
          <p:nvPr/>
        </p:nvSpPr>
        <p:spPr>
          <a:xfrm>
            <a:off x="8602789" y="1572768"/>
            <a:ext cx="2948826" cy="566928"/>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Choose one</a:t>
            </a:r>
            <a:endParaRPr lang="en-US" sz="1800" dirty="0"/>
          </a:p>
        </p:txBody>
      </p:sp>
      <p:sp>
        <p:nvSpPr>
          <p:cNvPr id="21" name="card-body"/>
          <p:cNvSpPr txBox="1"/>
          <p:nvPr/>
        </p:nvSpPr>
        <p:spPr>
          <a:xfrm>
            <a:off x="7871269" y="2355677"/>
            <a:ext cx="3588906" cy="3651931"/>
          </a:xfrm>
          <a:prstGeom prst="rect">
            <a:avLst/>
          </a:prstGeom>
          <a:noFill/>
          <a:ln/>
        </p:spPr>
        <p:txBody>
          <a:bodyPr wrap="square" lIns="63500" tIns="63500" rIns="63500" bIns="63500" rtlCol="0" anchor="t"/>
          <a:lstStyle/>
          <a:p>
            <a:pPr algn="l" indent="0" marL="0">
              <a:spcAft>
                <a:spcPts val="1000"/>
              </a:spcAft>
              <a:buNone/>
            </a:pPr>
            <a:r>
              <a:rPr lang="en-US" sz="1800" b="1" dirty="0">
                <a:solidFill>
                  <a:srgbClr val="1E2229"/>
                </a:solidFill>
                <a:latin typeface="Calibri" pitchFamily="34" charset="0"/>
                <a:ea typeface="Calibri" pitchFamily="34" charset="-122"/>
                <a:cs typeface="Calibri" pitchFamily="34" charset="-120"/>
              </a:rPr>
              <a:t>Which of these statements is evidence of CHANGE after John's dispute with the Pope?</a:t>
            </a:r>
            <a:endParaRPr lang="en-US" sz="1800" dirty="0"/>
          </a:p>
          <a:p>
            <a:pPr algn="l" indent="0" marL="0">
              <a:spcAft>
                <a:spcPts val="600"/>
              </a:spcAft>
              <a:buNone/>
            </a:pPr>
            <a:r>
              <a:rPr lang="en-US" sz="1800" b="1" dirty="0">
                <a:solidFill>
                  <a:srgbClr val="B8862B"/>
                </a:solidFill>
                <a:latin typeface="Calibri" pitchFamily="34" charset="0"/>
                <a:ea typeface="Calibri" pitchFamily="34" charset="-122"/>
                <a:cs typeface="Calibri" pitchFamily="34" charset="-120"/>
              </a:rPr>
              <a:t>A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John remained King of England</a:t>
            </a:r>
            <a:endParaRPr lang="en-US" sz="1800" dirty="0"/>
          </a:p>
          <a:p>
            <a:pPr algn="l" indent="0" marL="0">
              <a:spcAft>
                <a:spcPts val="600"/>
              </a:spcAft>
              <a:buNone/>
            </a:pPr>
            <a:r>
              <a:rPr lang="en-US" sz="1800" b="1" dirty="0">
                <a:solidFill>
                  <a:srgbClr val="B8862B"/>
                </a:solidFill>
                <a:latin typeface="Calibri" pitchFamily="34" charset="0"/>
                <a:ea typeface="Calibri" pitchFamily="34" charset="-122"/>
                <a:cs typeface="Calibri" pitchFamily="34" charset="-120"/>
              </a:rPr>
              <a:t>B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The Church remained wealthy and powerful</a:t>
            </a:r>
            <a:endParaRPr lang="en-US" sz="1800" dirty="0"/>
          </a:p>
          <a:p>
            <a:pPr algn="l" indent="0" marL="0">
              <a:spcAft>
                <a:spcPts val="600"/>
              </a:spcAft>
              <a:buNone/>
            </a:pPr>
            <a:r>
              <a:rPr lang="en-US" sz="1800" b="1" dirty="0">
                <a:solidFill>
                  <a:srgbClr val="B8862B"/>
                </a:solidFill>
                <a:latin typeface="Calibri" pitchFamily="34" charset="0"/>
                <a:ea typeface="Calibri" pitchFamily="34" charset="-122"/>
                <a:cs typeface="Calibri" pitchFamily="34" charset="-120"/>
              </a:rPr>
              <a:t>C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The Pope had more say in English Church matters</a:t>
            </a:r>
            <a:endParaRPr lang="en-US" sz="1800" dirty="0"/>
          </a:p>
          <a:p>
            <a:pPr algn="l" indent="0" marL="0">
              <a:spcAft>
                <a:spcPts val="600"/>
              </a:spcAft>
              <a:buNone/>
            </a:pPr>
            <a:r>
              <a:rPr lang="en-US" sz="1800" b="1" dirty="0">
                <a:solidFill>
                  <a:srgbClr val="B8862B"/>
                </a:solidFill>
                <a:latin typeface="Calibri" pitchFamily="34" charset="0"/>
                <a:ea typeface="Calibri" pitchFamily="34" charset="-122"/>
                <a:cs typeface="Calibri" pitchFamily="34" charset="-120"/>
              </a:rPr>
              <a:t>D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King John was able to choose who helped him lead the country</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Answers</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Gate</a:t>
            </a:r>
            <a:endParaRPr lang="en-US" sz="1800" dirty="0"/>
          </a:p>
        </p:txBody>
      </p:sp>
      <p:sp>
        <p:nvSpPr>
          <p:cNvPr id="7" name="card"/>
          <p:cNvSpPr/>
          <p:nvPr/>
        </p:nvSpPr>
        <p:spPr>
          <a:xfrm>
            <a:off x="548640" y="1389888"/>
            <a:ext cx="3954666" cy="4754880"/>
          </a:xfrm>
          <a:prstGeom prst="roundRect">
            <a:avLst>
              <a:gd name="adj" fmla="val 1387"/>
            </a:avLst>
          </a:prstGeom>
          <a:solidFill>
            <a:srgbClr val="FAF8F6"/>
          </a:solidFill>
          <a:ln w="12700">
            <a:solidFill>
              <a:srgbClr val="D4C5B7"/>
            </a:solidFill>
            <a:prstDash val="solid"/>
          </a:ln>
        </p:spPr>
      </p:sp>
      <p:sp>
        <p:nvSpPr>
          <p:cNvPr id="8" name="card-hex"/>
          <p:cNvSpPr/>
          <p:nvPr/>
        </p:nvSpPr>
        <p:spPr>
          <a:xfrm>
            <a:off x="731520" y="1572768"/>
            <a:ext cx="640080" cy="554309"/>
          </a:xfrm>
          <a:prstGeom prst="hexagon">
            <a:avLst/>
          </a:prstGeom>
          <a:solidFill>
            <a:srgbClr val="7A4A1E"/>
          </a:solidFill>
          <a:ln/>
        </p:spPr>
      </p:sp>
      <p:sp>
        <p:nvSpPr>
          <p:cNvPr id="9" name="card-hex-label"/>
          <p:cNvSpPr txBox="1"/>
          <p:nvPr/>
        </p:nvSpPr>
        <p:spPr>
          <a:xfrm>
            <a:off x="731520"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card-label"/>
          <p:cNvSpPr txBox="1"/>
          <p:nvPr/>
        </p:nvSpPr>
        <p:spPr>
          <a:xfrm>
            <a:off x="1463040" y="1572768"/>
            <a:ext cx="2948826" cy="566928"/>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Answer</a:t>
            </a:r>
            <a:endParaRPr lang="en-US" sz="1800" dirty="0"/>
          </a:p>
        </p:txBody>
      </p:sp>
      <p:sp>
        <p:nvSpPr>
          <p:cNvPr id="11" name="answer-chip"/>
          <p:cNvSpPr/>
          <p:nvPr/>
        </p:nvSpPr>
        <p:spPr>
          <a:xfrm>
            <a:off x="731520" y="2355677"/>
            <a:ext cx="3588906" cy="1295908"/>
          </a:xfrm>
          <a:prstGeom prst="roundRect">
            <a:avLst>
              <a:gd name="adj" fmla="val 8467"/>
            </a:avLst>
          </a:prstGeom>
          <a:solidFill>
            <a:srgbClr val="EFE4D0"/>
          </a:solidFill>
          <a:ln w="19050">
            <a:solidFill>
              <a:srgbClr val="B8862B"/>
            </a:solidFill>
            <a:prstDash val="solid"/>
          </a:ln>
        </p:spPr>
      </p:sp>
      <p:sp>
        <p:nvSpPr>
          <p:cNvPr id="12" name="answer"/>
          <p:cNvSpPr txBox="1"/>
          <p:nvPr/>
        </p:nvSpPr>
        <p:spPr>
          <a:xfrm>
            <a:off x="822960" y="2428829"/>
            <a:ext cx="3406026" cy="1149604"/>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A   Who should be able to choose the next Archbishop of Canterbury</a:t>
            </a:r>
            <a:endParaRPr lang="en-US" sz="2200" dirty="0"/>
          </a:p>
        </p:txBody>
      </p:sp>
      <p:sp>
        <p:nvSpPr>
          <p:cNvPr id="13" name="card-body"/>
          <p:cNvSpPr txBox="1"/>
          <p:nvPr/>
        </p:nvSpPr>
        <p:spPr>
          <a:xfrm>
            <a:off x="731520" y="3834465"/>
            <a:ext cx="3588906" cy="2173143"/>
          </a:xfrm>
          <a:prstGeom prst="rect">
            <a:avLst/>
          </a:prstGeom>
          <a:noFill/>
          <a:ln/>
        </p:spPr>
        <p:txBody>
          <a:bodyPr wrap="square" lIns="63500" tIns="63500" rIns="63500" bIns="63500" rtlCol="0" anchor="t"/>
          <a:lstStyle/>
          <a:p>
            <a:pPr algn="l" indent="0" marL="0">
              <a:spcAft>
                <a:spcPts val="1000"/>
              </a:spcAft>
              <a:buNone/>
            </a:pPr>
            <a:r>
              <a:rPr lang="en-US" sz="2000" dirty="0">
                <a:solidFill>
                  <a:srgbClr val="4A505C"/>
                </a:solidFill>
                <a:latin typeface="Calibri" pitchFamily="34" charset="0"/>
                <a:ea typeface="Calibri" pitchFamily="34" charset="-122"/>
                <a:cs typeface="Calibri" pitchFamily="34" charset="-120"/>
              </a:rPr>
              <a:t>What was the dispute between King John and the Pope about?</a:t>
            </a:r>
            <a:endParaRPr lang="en-US" sz="2000" dirty="0"/>
          </a:p>
          <a:p>
            <a:pPr algn="l" indent="0" marL="0">
              <a:buNone/>
            </a:pPr>
            <a:r>
              <a:rPr lang="en-US" sz="2000" i="1" dirty="0">
                <a:solidFill>
                  <a:srgbClr val="1E2229"/>
                </a:solidFill>
                <a:latin typeface="Calibri" pitchFamily="34" charset="0"/>
                <a:ea typeface="Calibri" pitchFamily="34" charset="-122"/>
                <a:cs typeface="Calibri" pitchFamily="34" charset="-120"/>
              </a:rPr>
              <a:t>John and the Pope disagreed about who had the right to choose the next Archbishop of Canterbury.</a:t>
            </a:r>
            <a:endParaRPr lang="en-US" sz="2000" dirty="0"/>
          </a:p>
        </p:txBody>
      </p:sp>
      <p:sp>
        <p:nvSpPr>
          <p:cNvPr id="14" name="card"/>
          <p:cNvSpPr/>
          <p:nvPr/>
        </p:nvSpPr>
        <p:spPr>
          <a:xfrm>
            <a:off x="4777626" y="1389888"/>
            <a:ext cx="2636444" cy="4754880"/>
          </a:xfrm>
          <a:prstGeom prst="roundRect">
            <a:avLst>
              <a:gd name="adj" fmla="val 2081"/>
            </a:avLst>
          </a:prstGeom>
          <a:solidFill>
            <a:srgbClr val="FAF8F6"/>
          </a:solidFill>
          <a:ln w="12700">
            <a:solidFill>
              <a:srgbClr val="D4C5B7"/>
            </a:solidFill>
            <a:prstDash val="solid"/>
          </a:ln>
        </p:spPr>
      </p:sp>
      <p:sp>
        <p:nvSpPr>
          <p:cNvPr id="15" name="card-hex"/>
          <p:cNvSpPr/>
          <p:nvPr/>
        </p:nvSpPr>
        <p:spPr>
          <a:xfrm>
            <a:off x="4960506" y="1572768"/>
            <a:ext cx="640080" cy="554309"/>
          </a:xfrm>
          <a:prstGeom prst="hexagon">
            <a:avLst/>
          </a:prstGeom>
          <a:solidFill>
            <a:srgbClr val="7A4A1E"/>
          </a:solidFill>
          <a:ln/>
        </p:spPr>
      </p:sp>
      <p:sp>
        <p:nvSpPr>
          <p:cNvPr id="16" name="card-hex-label"/>
          <p:cNvSpPr txBox="1"/>
          <p:nvPr/>
        </p:nvSpPr>
        <p:spPr>
          <a:xfrm>
            <a:off x="4960506"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7" name="card-label"/>
          <p:cNvSpPr txBox="1"/>
          <p:nvPr/>
        </p:nvSpPr>
        <p:spPr>
          <a:xfrm>
            <a:off x="5692026" y="1572768"/>
            <a:ext cx="1630604" cy="566928"/>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Answer</a:t>
            </a:r>
            <a:endParaRPr lang="en-US" sz="1800" dirty="0"/>
          </a:p>
        </p:txBody>
      </p:sp>
      <p:sp>
        <p:nvSpPr>
          <p:cNvPr id="18" name="answer-chip"/>
          <p:cNvSpPr/>
          <p:nvPr/>
        </p:nvSpPr>
        <p:spPr>
          <a:xfrm>
            <a:off x="4960506" y="2355677"/>
            <a:ext cx="2270684" cy="614172"/>
          </a:xfrm>
          <a:prstGeom prst="roundRect">
            <a:avLst>
              <a:gd name="adj" fmla="val 17866"/>
            </a:avLst>
          </a:prstGeom>
          <a:solidFill>
            <a:srgbClr val="EFE4D0"/>
          </a:solidFill>
          <a:ln w="19050">
            <a:solidFill>
              <a:srgbClr val="B8862B"/>
            </a:solidFill>
            <a:prstDash val="solid"/>
          </a:ln>
        </p:spPr>
      </p:sp>
      <p:sp>
        <p:nvSpPr>
          <p:cNvPr id="19" name="answer"/>
          <p:cNvSpPr txBox="1"/>
          <p:nvPr/>
        </p:nvSpPr>
        <p:spPr>
          <a:xfrm>
            <a:off x="5051946" y="2428829"/>
            <a:ext cx="2087804" cy="467868"/>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continuity</a:t>
            </a:r>
            <a:endParaRPr lang="en-US" sz="2200" dirty="0"/>
          </a:p>
        </p:txBody>
      </p:sp>
      <p:sp>
        <p:nvSpPr>
          <p:cNvPr id="20" name="card-body"/>
          <p:cNvSpPr txBox="1"/>
          <p:nvPr/>
        </p:nvSpPr>
        <p:spPr>
          <a:xfrm>
            <a:off x="4960506" y="3152729"/>
            <a:ext cx="2270684" cy="2854879"/>
          </a:xfrm>
          <a:prstGeom prst="rect">
            <a:avLst/>
          </a:prstGeom>
          <a:noFill/>
          <a:ln/>
        </p:spPr>
        <p:txBody>
          <a:bodyPr wrap="square" lIns="63500" tIns="63500" rIns="63500" bIns="63500" rtlCol="0" anchor="t"/>
          <a:lstStyle/>
          <a:p>
            <a:pPr algn="l" indent="0" marL="0">
              <a:spcAft>
                <a:spcPts val="1000"/>
              </a:spcAft>
              <a:buNone/>
            </a:pPr>
            <a:r>
              <a:rPr lang="en-US" sz="1800" dirty="0">
                <a:solidFill>
                  <a:srgbClr val="4A505C"/>
                </a:solidFill>
                <a:latin typeface="Calibri" pitchFamily="34" charset="0"/>
                <a:ea typeface="Calibri" pitchFamily="34" charset="-122"/>
                <a:cs typeface="Calibri" pitchFamily="34" charset="-120"/>
              </a:rPr>
              <a:t>When something stays the same over a period of time, historians call it ___.</a:t>
            </a:r>
            <a:endParaRPr lang="en-US" sz="1800" dirty="0"/>
          </a:p>
          <a:p>
            <a:pPr algn="l" indent="0" marL="0">
              <a:buNone/>
            </a:pPr>
            <a:r>
              <a:rPr lang="en-US" sz="1800" i="1" dirty="0">
                <a:solidFill>
                  <a:srgbClr val="1E2229"/>
                </a:solidFill>
                <a:latin typeface="Calibri" pitchFamily="34" charset="0"/>
                <a:ea typeface="Calibri" pitchFamily="34" charset="-122"/>
                <a:cs typeface="Calibri" pitchFamily="34" charset="-120"/>
              </a:rPr>
              <a:t>Continuity means staying the same; change means becoming different.</a:t>
            </a:r>
            <a:endParaRPr lang="en-US" sz="1800" dirty="0"/>
          </a:p>
        </p:txBody>
      </p:sp>
      <p:sp>
        <p:nvSpPr>
          <p:cNvPr id="21" name="card"/>
          <p:cNvSpPr/>
          <p:nvPr/>
        </p:nvSpPr>
        <p:spPr>
          <a:xfrm>
            <a:off x="7688389" y="1389888"/>
            <a:ext cx="3954666" cy="4754880"/>
          </a:xfrm>
          <a:prstGeom prst="roundRect">
            <a:avLst>
              <a:gd name="adj" fmla="val 1387"/>
            </a:avLst>
          </a:prstGeom>
          <a:solidFill>
            <a:srgbClr val="FAF8F6"/>
          </a:solidFill>
          <a:ln w="12700">
            <a:solidFill>
              <a:srgbClr val="D4C5B7"/>
            </a:solidFill>
            <a:prstDash val="solid"/>
          </a:ln>
        </p:spPr>
      </p:sp>
      <p:sp>
        <p:nvSpPr>
          <p:cNvPr id="22" name="card-hex"/>
          <p:cNvSpPr/>
          <p:nvPr/>
        </p:nvSpPr>
        <p:spPr>
          <a:xfrm>
            <a:off x="7871269" y="1572768"/>
            <a:ext cx="640080" cy="554309"/>
          </a:xfrm>
          <a:prstGeom prst="hexagon">
            <a:avLst/>
          </a:prstGeom>
          <a:solidFill>
            <a:srgbClr val="7A4A1E"/>
          </a:solidFill>
          <a:ln/>
        </p:spPr>
      </p:sp>
      <p:sp>
        <p:nvSpPr>
          <p:cNvPr id="23" name="card-hex-label"/>
          <p:cNvSpPr txBox="1"/>
          <p:nvPr/>
        </p:nvSpPr>
        <p:spPr>
          <a:xfrm>
            <a:off x="7871269"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4" name="card-label"/>
          <p:cNvSpPr txBox="1"/>
          <p:nvPr/>
        </p:nvSpPr>
        <p:spPr>
          <a:xfrm>
            <a:off x="8602789" y="1572768"/>
            <a:ext cx="2948826" cy="566928"/>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Answer</a:t>
            </a:r>
            <a:endParaRPr lang="en-US" sz="1800" dirty="0"/>
          </a:p>
        </p:txBody>
      </p:sp>
      <p:sp>
        <p:nvSpPr>
          <p:cNvPr id="25" name="answer-chip"/>
          <p:cNvSpPr/>
          <p:nvPr/>
        </p:nvSpPr>
        <p:spPr>
          <a:xfrm>
            <a:off x="7871269" y="2355677"/>
            <a:ext cx="3588906" cy="955040"/>
          </a:xfrm>
          <a:prstGeom prst="roundRect">
            <a:avLst>
              <a:gd name="adj" fmla="val 11489"/>
            </a:avLst>
          </a:prstGeom>
          <a:solidFill>
            <a:srgbClr val="EFE4D0"/>
          </a:solidFill>
          <a:ln w="19050">
            <a:solidFill>
              <a:srgbClr val="B8862B"/>
            </a:solidFill>
            <a:prstDash val="solid"/>
          </a:ln>
        </p:spPr>
      </p:sp>
      <p:sp>
        <p:nvSpPr>
          <p:cNvPr id="26" name="answer"/>
          <p:cNvSpPr txBox="1"/>
          <p:nvPr/>
        </p:nvSpPr>
        <p:spPr>
          <a:xfrm>
            <a:off x="7962709" y="2428829"/>
            <a:ext cx="3406026" cy="808736"/>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C   The Pope had more say in English Church matters</a:t>
            </a:r>
            <a:endParaRPr lang="en-US" sz="2200" dirty="0"/>
          </a:p>
        </p:txBody>
      </p:sp>
      <p:sp>
        <p:nvSpPr>
          <p:cNvPr id="27" name="card-body"/>
          <p:cNvSpPr txBox="1"/>
          <p:nvPr/>
        </p:nvSpPr>
        <p:spPr>
          <a:xfrm>
            <a:off x="7871269" y="3493597"/>
            <a:ext cx="3588906" cy="2514011"/>
          </a:xfrm>
          <a:prstGeom prst="rect">
            <a:avLst/>
          </a:prstGeom>
          <a:noFill/>
          <a:ln/>
        </p:spPr>
        <p:txBody>
          <a:bodyPr wrap="square" lIns="63500" tIns="63500" rIns="63500" bIns="63500" rtlCol="0" anchor="t"/>
          <a:lstStyle/>
          <a:p>
            <a:pPr algn="l" indent="0" marL="0">
              <a:spcAft>
                <a:spcPts val="1000"/>
              </a:spcAft>
              <a:buNone/>
            </a:pPr>
            <a:r>
              <a:rPr lang="en-US" sz="1800" dirty="0">
                <a:solidFill>
                  <a:srgbClr val="4A505C"/>
                </a:solidFill>
                <a:latin typeface="Calibri" pitchFamily="34" charset="0"/>
                <a:ea typeface="Calibri" pitchFamily="34" charset="-122"/>
                <a:cs typeface="Calibri" pitchFamily="34" charset="-120"/>
              </a:rPr>
              <a:t>Which of these statements is evidence of CHANGE after John's dispute with the Pope?</a:t>
            </a:r>
            <a:endParaRPr lang="en-US" sz="1800" dirty="0"/>
          </a:p>
          <a:p>
            <a:pPr algn="l" indent="0" marL="0">
              <a:buNone/>
            </a:pPr>
            <a:r>
              <a:rPr lang="en-US" sz="1800" i="1" dirty="0">
                <a:solidFill>
                  <a:srgbClr val="1E2229"/>
                </a:solidFill>
                <a:latin typeface="Calibri" pitchFamily="34" charset="0"/>
                <a:ea typeface="Calibri" pitchFamily="34" charset="-122"/>
                <a:cs typeface="Calibri" pitchFamily="34" charset="-120"/>
              </a:rPr>
              <a:t>Before the dispute the king expected to choose the Archbishop; afterwards the Pope's say had grown. That is change. The other three were true before and after.</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Key words (1 of 2)</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Pre-teach</a:t>
            </a:r>
            <a:endParaRPr lang="en-US" sz="1800" dirty="0"/>
          </a:p>
        </p:txBody>
      </p:sp>
      <p:sp>
        <p:nvSpPr>
          <p:cNvPr id="7" name="word-card"/>
          <p:cNvSpPr/>
          <p:nvPr/>
        </p:nvSpPr>
        <p:spPr>
          <a:xfrm>
            <a:off x="548640" y="1389888"/>
            <a:ext cx="3515258" cy="4754880"/>
          </a:xfrm>
          <a:prstGeom prst="roundRect">
            <a:avLst>
              <a:gd name="adj" fmla="val 1561"/>
            </a:avLst>
          </a:prstGeom>
          <a:solidFill>
            <a:srgbClr val="F8F6F4"/>
          </a:solidFill>
          <a:ln w="12700">
            <a:solidFill>
              <a:srgbClr val="CEBCAC"/>
            </a:solidFill>
            <a:prstDash val="solid"/>
          </a:ln>
        </p:spPr>
      </p:sp>
      <p:sp>
        <p:nvSpPr>
          <p:cNvPr id="8" name="word-hex"/>
          <p:cNvSpPr/>
          <p:nvPr/>
        </p:nvSpPr>
        <p:spPr>
          <a:xfrm>
            <a:off x="685800" y="1587414"/>
            <a:ext cx="502920" cy="435529"/>
          </a:xfrm>
          <a:prstGeom prst="hexagon">
            <a:avLst/>
          </a:prstGeom>
          <a:solidFill>
            <a:srgbClr val="B8862B"/>
          </a:solidFill>
          <a:ln/>
        </p:spPr>
      </p:sp>
      <p:sp>
        <p:nvSpPr>
          <p:cNvPr id="9" name="word-hex-label"/>
          <p:cNvSpPr txBox="1"/>
          <p:nvPr/>
        </p:nvSpPr>
        <p:spPr>
          <a:xfrm>
            <a:off x="685800"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0" name="word"/>
          <p:cNvSpPr txBox="1"/>
          <p:nvPr/>
        </p:nvSpPr>
        <p:spPr>
          <a:xfrm>
            <a:off x="1280160"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7A4A1E"/>
                </a:solidFill>
                <a:latin typeface="Cambria" pitchFamily="34" charset="0"/>
                <a:ea typeface="Cambria" pitchFamily="34" charset="-122"/>
                <a:cs typeface="Cambria" pitchFamily="34" charset="-120"/>
              </a:rPr>
              <a:t>Pope</a:t>
            </a:r>
            <a:endParaRPr lang="en-US" sz="2600" dirty="0"/>
          </a:p>
        </p:txBody>
      </p:sp>
      <p:sp>
        <p:nvSpPr>
          <p:cNvPr id="11" name="word-rule"/>
          <p:cNvSpPr/>
          <p:nvPr/>
        </p:nvSpPr>
        <p:spPr>
          <a:xfrm>
            <a:off x="731520" y="2129028"/>
            <a:ext cx="3149498" cy="0"/>
          </a:xfrm>
          <a:prstGeom prst="line">
            <a:avLst/>
          </a:prstGeom>
          <a:ln w="12700">
            <a:solidFill>
              <a:srgbClr val="CEBCAC"/>
            </a:solidFill>
            <a:prstDash val="solid"/>
          </a:ln>
        </p:spPr>
      </p:sp>
      <p:sp>
        <p:nvSpPr>
          <p:cNvPr id="12" name="word-body"/>
          <p:cNvSpPr txBox="1"/>
          <p:nvPr/>
        </p:nvSpPr>
        <p:spPr>
          <a:xfrm>
            <a:off x="731520"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the head of the whole Church in western Europe, based in Rome</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King John quarrelled with the Pope over who should be Archbishop.</a:t>
            </a:r>
            <a:endParaRPr lang="en-US" sz="2200" dirty="0"/>
          </a:p>
        </p:txBody>
      </p:sp>
      <p:sp>
        <p:nvSpPr>
          <p:cNvPr id="13" name="word-card"/>
          <p:cNvSpPr/>
          <p:nvPr/>
        </p:nvSpPr>
        <p:spPr>
          <a:xfrm>
            <a:off x="4338218" y="1389888"/>
            <a:ext cx="3515258" cy="4754880"/>
          </a:xfrm>
          <a:prstGeom prst="roundRect">
            <a:avLst>
              <a:gd name="adj" fmla="val 1561"/>
            </a:avLst>
          </a:prstGeom>
          <a:solidFill>
            <a:srgbClr val="F8F6F4"/>
          </a:solidFill>
          <a:ln w="12700">
            <a:solidFill>
              <a:srgbClr val="CEBCAC"/>
            </a:solidFill>
            <a:prstDash val="solid"/>
          </a:ln>
        </p:spPr>
      </p:sp>
      <p:sp>
        <p:nvSpPr>
          <p:cNvPr id="14" name="word-hex"/>
          <p:cNvSpPr/>
          <p:nvPr/>
        </p:nvSpPr>
        <p:spPr>
          <a:xfrm>
            <a:off x="4475378" y="1587414"/>
            <a:ext cx="502920" cy="435529"/>
          </a:xfrm>
          <a:prstGeom prst="hexagon">
            <a:avLst/>
          </a:prstGeom>
          <a:solidFill>
            <a:srgbClr val="B8862B"/>
          </a:solidFill>
          <a:ln/>
        </p:spPr>
      </p:sp>
      <p:sp>
        <p:nvSpPr>
          <p:cNvPr id="15" name="word-hex-label"/>
          <p:cNvSpPr txBox="1"/>
          <p:nvPr/>
        </p:nvSpPr>
        <p:spPr>
          <a:xfrm>
            <a:off x="4475378"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16" name="word"/>
          <p:cNvSpPr txBox="1"/>
          <p:nvPr/>
        </p:nvSpPr>
        <p:spPr>
          <a:xfrm>
            <a:off x="5069738"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7A4A1E"/>
                </a:solidFill>
                <a:latin typeface="Cambria" pitchFamily="34" charset="0"/>
                <a:ea typeface="Cambria" pitchFamily="34" charset="-122"/>
                <a:cs typeface="Cambria" pitchFamily="34" charset="-120"/>
              </a:rPr>
              <a:t>dispute</a:t>
            </a:r>
            <a:endParaRPr lang="en-US" sz="2600" dirty="0"/>
          </a:p>
        </p:txBody>
      </p:sp>
      <p:sp>
        <p:nvSpPr>
          <p:cNvPr id="17" name="word-rule"/>
          <p:cNvSpPr/>
          <p:nvPr/>
        </p:nvSpPr>
        <p:spPr>
          <a:xfrm>
            <a:off x="4521098" y="2129028"/>
            <a:ext cx="3149498" cy="0"/>
          </a:xfrm>
          <a:prstGeom prst="line">
            <a:avLst/>
          </a:prstGeom>
          <a:ln w="12700">
            <a:solidFill>
              <a:srgbClr val="CEBCAC"/>
            </a:solidFill>
            <a:prstDash val="solid"/>
          </a:ln>
        </p:spPr>
      </p:sp>
      <p:sp>
        <p:nvSpPr>
          <p:cNvPr id="18" name="word-body"/>
          <p:cNvSpPr txBox="1"/>
          <p:nvPr/>
        </p:nvSpPr>
        <p:spPr>
          <a:xfrm>
            <a:off x="4521098"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a serious disagreement</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The dispute was about who could choose the next Archbishop of Canterbury.</a:t>
            </a:r>
            <a:endParaRPr lang="en-US" sz="2200" dirty="0"/>
          </a:p>
        </p:txBody>
      </p:sp>
      <p:sp>
        <p:nvSpPr>
          <p:cNvPr id="19" name="word-card"/>
          <p:cNvSpPr/>
          <p:nvPr/>
        </p:nvSpPr>
        <p:spPr>
          <a:xfrm>
            <a:off x="8127797" y="1389888"/>
            <a:ext cx="3515258" cy="4754880"/>
          </a:xfrm>
          <a:prstGeom prst="roundRect">
            <a:avLst>
              <a:gd name="adj" fmla="val 1561"/>
            </a:avLst>
          </a:prstGeom>
          <a:solidFill>
            <a:srgbClr val="F8F6F4"/>
          </a:solidFill>
          <a:ln w="12700">
            <a:solidFill>
              <a:srgbClr val="CEBCAC"/>
            </a:solidFill>
            <a:prstDash val="solid"/>
          </a:ln>
        </p:spPr>
      </p:sp>
      <p:sp>
        <p:nvSpPr>
          <p:cNvPr id="20" name="word-hex"/>
          <p:cNvSpPr/>
          <p:nvPr/>
        </p:nvSpPr>
        <p:spPr>
          <a:xfrm>
            <a:off x="8264957" y="1587414"/>
            <a:ext cx="502920" cy="435529"/>
          </a:xfrm>
          <a:prstGeom prst="hexagon">
            <a:avLst/>
          </a:prstGeom>
          <a:solidFill>
            <a:srgbClr val="B8862B"/>
          </a:solidFill>
          <a:ln/>
        </p:spPr>
      </p:sp>
      <p:sp>
        <p:nvSpPr>
          <p:cNvPr id="21" name="word-hex-label"/>
          <p:cNvSpPr txBox="1"/>
          <p:nvPr/>
        </p:nvSpPr>
        <p:spPr>
          <a:xfrm>
            <a:off x="8264957"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2" name="word"/>
          <p:cNvSpPr txBox="1"/>
          <p:nvPr/>
        </p:nvSpPr>
        <p:spPr>
          <a:xfrm>
            <a:off x="8859317"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7A4A1E"/>
                </a:solidFill>
                <a:latin typeface="Cambria" pitchFamily="34" charset="0"/>
                <a:ea typeface="Cambria" pitchFamily="34" charset="-122"/>
                <a:cs typeface="Cambria" pitchFamily="34" charset="-120"/>
              </a:rPr>
              <a:t>authority</a:t>
            </a:r>
            <a:endParaRPr lang="en-US" sz="2600" dirty="0"/>
          </a:p>
        </p:txBody>
      </p:sp>
      <p:sp>
        <p:nvSpPr>
          <p:cNvPr id="23" name="word-rule"/>
          <p:cNvSpPr/>
          <p:nvPr/>
        </p:nvSpPr>
        <p:spPr>
          <a:xfrm>
            <a:off x="8310677" y="2129028"/>
            <a:ext cx="3149498" cy="0"/>
          </a:xfrm>
          <a:prstGeom prst="line">
            <a:avLst/>
          </a:prstGeom>
          <a:ln w="12700">
            <a:solidFill>
              <a:srgbClr val="CEBCAC"/>
            </a:solidFill>
            <a:prstDash val="solid"/>
          </a:ln>
        </p:spPr>
      </p:sp>
      <p:sp>
        <p:nvSpPr>
          <p:cNvPr id="24" name="word-body"/>
          <p:cNvSpPr txBox="1"/>
          <p:nvPr/>
        </p:nvSpPr>
        <p:spPr>
          <a:xfrm>
            <a:off x="8310677"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the right to give orders and be obeyed</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The king and the Pope both claimed authority over the English Church.</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Key words (2 of 2)</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Pre-teach</a:t>
            </a:r>
            <a:endParaRPr lang="en-US" sz="1800" dirty="0"/>
          </a:p>
        </p:txBody>
      </p:sp>
      <p:sp>
        <p:nvSpPr>
          <p:cNvPr id="7" name="word-card"/>
          <p:cNvSpPr/>
          <p:nvPr/>
        </p:nvSpPr>
        <p:spPr>
          <a:xfrm>
            <a:off x="548640" y="1389888"/>
            <a:ext cx="3515258" cy="4754880"/>
          </a:xfrm>
          <a:prstGeom prst="roundRect">
            <a:avLst>
              <a:gd name="adj" fmla="val 1561"/>
            </a:avLst>
          </a:prstGeom>
          <a:solidFill>
            <a:srgbClr val="F8F6F4"/>
          </a:solidFill>
          <a:ln w="12700">
            <a:solidFill>
              <a:srgbClr val="CEBCAC"/>
            </a:solidFill>
            <a:prstDash val="solid"/>
          </a:ln>
        </p:spPr>
      </p:sp>
      <p:sp>
        <p:nvSpPr>
          <p:cNvPr id="8" name="word-hex"/>
          <p:cNvSpPr/>
          <p:nvPr/>
        </p:nvSpPr>
        <p:spPr>
          <a:xfrm>
            <a:off x="685800" y="1587414"/>
            <a:ext cx="502920" cy="435529"/>
          </a:xfrm>
          <a:prstGeom prst="hexagon">
            <a:avLst/>
          </a:prstGeom>
          <a:solidFill>
            <a:srgbClr val="B8862B"/>
          </a:solidFill>
          <a:ln/>
        </p:spPr>
      </p:sp>
      <p:sp>
        <p:nvSpPr>
          <p:cNvPr id="9" name="word-hex-label"/>
          <p:cNvSpPr txBox="1"/>
          <p:nvPr/>
        </p:nvSpPr>
        <p:spPr>
          <a:xfrm>
            <a:off x="685800"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4</a:t>
            </a:r>
            <a:endParaRPr lang="en-US" sz="1800" dirty="0"/>
          </a:p>
        </p:txBody>
      </p:sp>
      <p:sp>
        <p:nvSpPr>
          <p:cNvPr id="10" name="word"/>
          <p:cNvSpPr txBox="1"/>
          <p:nvPr/>
        </p:nvSpPr>
        <p:spPr>
          <a:xfrm>
            <a:off x="1280160"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7A4A1E"/>
                </a:solidFill>
                <a:latin typeface="Cambria" pitchFamily="34" charset="0"/>
                <a:ea typeface="Cambria" pitchFamily="34" charset="-122"/>
                <a:cs typeface="Cambria" pitchFamily="34" charset="-120"/>
              </a:rPr>
              <a:t>change</a:t>
            </a:r>
            <a:endParaRPr lang="en-US" sz="2600" dirty="0"/>
          </a:p>
        </p:txBody>
      </p:sp>
      <p:sp>
        <p:nvSpPr>
          <p:cNvPr id="11" name="word-rule"/>
          <p:cNvSpPr/>
          <p:nvPr/>
        </p:nvSpPr>
        <p:spPr>
          <a:xfrm>
            <a:off x="731520" y="2129028"/>
            <a:ext cx="3149498" cy="0"/>
          </a:xfrm>
          <a:prstGeom prst="line">
            <a:avLst/>
          </a:prstGeom>
          <a:ln w="12700">
            <a:solidFill>
              <a:srgbClr val="CEBCAC"/>
            </a:solidFill>
            <a:prstDash val="solid"/>
          </a:ln>
        </p:spPr>
      </p:sp>
      <p:sp>
        <p:nvSpPr>
          <p:cNvPr id="12" name="word-body"/>
          <p:cNvSpPr txBox="1"/>
          <p:nvPr/>
        </p:nvSpPr>
        <p:spPr>
          <a:xfrm>
            <a:off x="731520"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something that became different</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The Pope having more say in English Church matters was a change.</a:t>
            </a:r>
            <a:endParaRPr lang="en-US" sz="2200" dirty="0"/>
          </a:p>
        </p:txBody>
      </p:sp>
      <p:sp>
        <p:nvSpPr>
          <p:cNvPr id="13" name="word-card"/>
          <p:cNvSpPr/>
          <p:nvPr/>
        </p:nvSpPr>
        <p:spPr>
          <a:xfrm>
            <a:off x="4338218" y="1389888"/>
            <a:ext cx="3515258" cy="4754880"/>
          </a:xfrm>
          <a:prstGeom prst="roundRect">
            <a:avLst>
              <a:gd name="adj" fmla="val 1561"/>
            </a:avLst>
          </a:prstGeom>
          <a:solidFill>
            <a:srgbClr val="F8F6F4"/>
          </a:solidFill>
          <a:ln w="12700">
            <a:solidFill>
              <a:srgbClr val="CEBCAC"/>
            </a:solidFill>
            <a:prstDash val="solid"/>
          </a:ln>
        </p:spPr>
      </p:sp>
      <p:sp>
        <p:nvSpPr>
          <p:cNvPr id="14" name="word-hex"/>
          <p:cNvSpPr/>
          <p:nvPr/>
        </p:nvSpPr>
        <p:spPr>
          <a:xfrm>
            <a:off x="4475378" y="1587414"/>
            <a:ext cx="502920" cy="435529"/>
          </a:xfrm>
          <a:prstGeom prst="hexagon">
            <a:avLst/>
          </a:prstGeom>
          <a:solidFill>
            <a:srgbClr val="B8862B"/>
          </a:solidFill>
          <a:ln/>
        </p:spPr>
      </p:sp>
      <p:sp>
        <p:nvSpPr>
          <p:cNvPr id="15" name="word-hex-label"/>
          <p:cNvSpPr txBox="1"/>
          <p:nvPr/>
        </p:nvSpPr>
        <p:spPr>
          <a:xfrm>
            <a:off x="4475378"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5</a:t>
            </a:r>
            <a:endParaRPr lang="en-US" sz="1800" dirty="0"/>
          </a:p>
        </p:txBody>
      </p:sp>
      <p:sp>
        <p:nvSpPr>
          <p:cNvPr id="16" name="word"/>
          <p:cNvSpPr txBox="1"/>
          <p:nvPr/>
        </p:nvSpPr>
        <p:spPr>
          <a:xfrm>
            <a:off x="5069738"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7A4A1E"/>
                </a:solidFill>
                <a:latin typeface="Cambria" pitchFamily="34" charset="0"/>
                <a:ea typeface="Cambria" pitchFamily="34" charset="-122"/>
                <a:cs typeface="Cambria" pitchFamily="34" charset="-120"/>
              </a:rPr>
              <a:t>continuity</a:t>
            </a:r>
            <a:endParaRPr lang="en-US" sz="2600" dirty="0"/>
          </a:p>
        </p:txBody>
      </p:sp>
      <p:sp>
        <p:nvSpPr>
          <p:cNvPr id="17" name="word-rule"/>
          <p:cNvSpPr/>
          <p:nvPr/>
        </p:nvSpPr>
        <p:spPr>
          <a:xfrm>
            <a:off x="4521098" y="2129028"/>
            <a:ext cx="3149498" cy="0"/>
          </a:xfrm>
          <a:prstGeom prst="line">
            <a:avLst/>
          </a:prstGeom>
          <a:ln w="12700">
            <a:solidFill>
              <a:srgbClr val="CEBCAC"/>
            </a:solidFill>
            <a:prstDash val="solid"/>
          </a:ln>
        </p:spPr>
      </p:sp>
      <p:sp>
        <p:nvSpPr>
          <p:cNvPr id="18" name="word-body"/>
          <p:cNvSpPr txBox="1"/>
          <p:nvPr/>
        </p:nvSpPr>
        <p:spPr>
          <a:xfrm>
            <a:off x="4521098"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something that stayed the same</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John staying on as king was continuity.</a:t>
            </a:r>
            <a:endParaRPr lang="en-US" sz="2200" dirty="0"/>
          </a:p>
        </p:txBody>
      </p:sp>
      <p:sp>
        <p:nvSpPr>
          <p:cNvPr id="19" name="word-card"/>
          <p:cNvSpPr/>
          <p:nvPr/>
        </p:nvSpPr>
        <p:spPr>
          <a:xfrm>
            <a:off x="8127797" y="1389888"/>
            <a:ext cx="3515258" cy="4754880"/>
          </a:xfrm>
          <a:prstGeom prst="roundRect">
            <a:avLst>
              <a:gd name="adj" fmla="val 1561"/>
            </a:avLst>
          </a:prstGeom>
          <a:solidFill>
            <a:srgbClr val="F8F6F4"/>
          </a:solidFill>
          <a:ln w="12700">
            <a:solidFill>
              <a:srgbClr val="CEBCAC"/>
            </a:solidFill>
            <a:prstDash val="solid"/>
          </a:ln>
        </p:spPr>
      </p:sp>
      <p:sp>
        <p:nvSpPr>
          <p:cNvPr id="20" name="word-hex"/>
          <p:cNvSpPr/>
          <p:nvPr/>
        </p:nvSpPr>
        <p:spPr>
          <a:xfrm>
            <a:off x="8264957" y="1587414"/>
            <a:ext cx="502920" cy="435529"/>
          </a:xfrm>
          <a:prstGeom prst="hexagon">
            <a:avLst/>
          </a:prstGeom>
          <a:solidFill>
            <a:srgbClr val="B8862B"/>
          </a:solidFill>
          <a:ln/>
        </p:spPr>
      </p:sp>
      <p:sp>
        <p:nvSpPr>
          <p:cNvPr id="21" name="word-hex-label"/>
          <p:cNvSpPr txBox="1"/>
          <p:nvPr/>
        </p:nvSpPr>
        <p:spPr>
          <a:xfrm>
            <a:off x="8264957"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6</a:t>
            </a:r>
            <a:endParaRPr lang="en-US" sz="1800" dirty="0"/>
          </a:p>
        </p:txBody>
      </p:sp>
      <p:sp>
        <p:nvSpPr>
          <p:cNvPr id="22" name="word"/>
          <p:cNvSpPr txBox="1"/>
          <p:nvPr/>
        </p:nvSpPr>
        <p:spPr>
          <a:xfrm>
            <a:off x="8859317"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7A4A1E"/>
                </a:solidFill>
                <a:latin typeface="Cambria" pitchFamily="34" charset="0"/>
                <a:ea typeface="Cambria" pitchFamily="34" charset="-122"/>
                <a:cs typeface="Cambria" pitchFamily="34" charset="-120"/>
              </a:rPr>
              <a:t>Magna Carta</a:t>
            </a:r>
            <a:endParaRPr lang="en-US" sz="2600" dirty="0"/>
          </a:p>
        </p:txBody>
      </p:sp>
      <p:sp>
        <p:nvSpPr>
          <p:cNvPr id="23" name="word-rule"/>
          <p:cNvSpPr/>
          <p:nvPr/>
        </p:nvSpPr>
        <p:spPr>
          <a:xfrm>
            <a:off x="8310677" y="2129028"/>
            <a:ext cx="3149498" cy="0"/>
          </a:xfrm>
          <a:prstGeom prst="line">
            <a:avLst/>
          </a:prstGeom>
          <a:ln w="12700">
            <a:solidFill>
              <a:srgbClr val="CEBCAC"/>
            </a:solidFill>
            <a:prstDash val="solid"/>
          </a:ln>
        </p:spPr>
      </p:sp>
      <p:sp>
        <p:nvSpPr>
          <p:cNvPr id="24" name="word-body"/>
          <p:cNvSpPr txBox="1"/>
          <p:nvPr/>
        </p:nvSpPr>
        <p:spPr>
          <a:xfrm>
            <a:off x="8310677"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the agreement the barons forced John to accept, limiting the monarch's powers</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Magna Carta limited what the king could do.</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Read-along (1 of 2)</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Pre-teach</a:t>
            </a:r>
            <a:endParaRPr lang="en-US" sz="1800" dirty="0"/>
          </a:p>
        </p:txBody>
      </p:sp>
      <p:sp>
        <p:nvSpPr>
          <p:cNvPr id="7" name="ra-side"/>
          <p:cNvSpPr/>
          <p:nvPr/>
        </p:nvSpPr>
        <p:spPr>
          <a:xfrm>
            <a:off x="548640" y="1389888"/>
            <a:ext cx="1874520" cy="4754880"/>
          </a:xfrm>
          <a:prstGeom prst="roundRect">
            <a:avLst>
              <a:gd name="adj" fmla="val 3902"/>
            </a:avLst>
          </a:prstGeom>
          <a:solidFill>
            <a:srgbClr val="7A4A1E"/>
          </a:solidFill>
          <a:ln/>
        </p:spPr>
      </p:sp>
      <p:sp>
        <p:nvSpPr>
          <p:cNvPr id="8" name="ra-hex"/>
          <p:cNvSpPr/>
          <p:nvPr/>
        </p:nvSpPr>
        <p:spPr>
          <a:xfrm>
            <a:off x="914400" y="1709928"/>
            <a:ext cx="1143000" cy="989838"/>
          </a:xfrm>
          <a:prstGeom prst="hexagon">
            <a:avLst/>
          </a:prstGeom>
          <a:solidFill>
            <a:srgbClr val="B8862B"/>
          </a:solidFill>
          <a:ln/>
        </p:spPr>
      </p:sp>
      <p:sp>
        <p:nvSpPr>
          <p:cNvPr id="9" name="ra-hex-label"/>
          <p:cNvSpPr txBox="1"/>
          <p:nvPr/>
        </p:nvSpPr>
        <p:spPr>
          <a:xfrm>
            <a:off x="914400" y="1709928"/>
            <a:ext cx="1143000" cy="989838"/>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Read</a:t>
            </a:r>
            <a:endParaRPr lang="en-US" sz="2400" dirty="0"/>
          </a:p>
        </p:txBody>
      </p:sp>
      <p:sp>
        <p:nvSpPr>
          <p:cNvPr id="10" name="ra-note"/>
          <p:cNvSpPr txBox="1"/>
          <p:nvPr/>
        </p:nvSpPr>
        <p:spPr>
          <a:xfrm>
            <a:off x="640080" y="2898648"/>
            <a:ext cx="1691640" cy="2194560"/>
          </a:xfrm>
          <a:prstGeom prst="rect">
            <a:avLst/>
          </a:prstGeom>
          <a:noFill/>
          <a:ln/>
        </p:spPr>
        <p:txBody>
          <a:bodyPr wrap="square" lIns="63500" tIns="63500" rIns="63500" bIns="63500" rtlCol="0" anchor="t"/>
          <a:lstStyle/>
          <a:p>
            <a:pPr algn="ctr" indent="0" marL="0">
              <a:spcAft>
                <a:spcPts val="800"/>
              </a:spcAft>
              <a:buNone/>
            </a:pPr>
            <a:r>
              <a:rPr lang="en-US" sz="1800" b="1" dirty="0">
                <a:solidFill>
                  <a:srgbClr val="FFFFFF"/>
                </a:solidFill>
                <a:latin typeface="Calibri" pitchFamily="34" charset="0"/>
                <a:ea typeface="Calibri" pitchFamily="34" charset="-122"/>
                <a:cs typeface="Calibri" pitchFamily="34" charset="-120"/>
              </a:rPr>
              <a:t>Read together;</a:t>
            </a:r>
            <a:endParaRPr lang="en-US" sz="1800" dirty="0"/>
          </a:p>
          <a:p>
            <a:pPr algn="ctr" indent="0" marL="0">
              <a:buNone/>
            </a:pPr>
            <a:r>
              <a:rPr lang="en-US" sz="1800" dirty="0">
                <a:solidFill>
                  <a:srgbClr val="FFFFFF"/>
                </a:solidFill>
                <a:latin typeface="Calibri" pitchFamily="34" charset="0"/>
                <a:ea typeface="Calibri" pitchFamily="34" charset="-122"/>
                <a:cs typeface="Calibri" pitchFamily="34" charset="-120"/>
              </a:rPr>
              <a:t>pupils who were pre-taught lead</a:t>
            </a:r>
            <a:endParaRPr lang="en-US" sz="1800" dirty="0"/>
          </a:p>
        </p:txBody>
      </p:sp>
      <p:sp>
        <p:nvSpPr>
          <p:cNvPr id="11" name="ra-panel"/>
          <p:cNvSpPr/>
          <p:nvPr/>
        </p:nvSpPr>
        <p:spPr>
          <a:xfrm>
            <a:off x="2697480" y="1389888"/>
            <a:ext cx="8945575" cy="4754880"/>
          </a:xfrm>
          <a:prstGeom prst="roundRect">
            <a:avLst>
              <a:gd name="adj" fmla="val 769"/>
            </a:avLst>
          </a:prstGeom>
          <a:solidFill>
            <a:srgbClr val="FAF8F6"/>
          </a:solidFill>
          <a:ln w="12700">
            <a:solidFill>
              <a:srgbClr val="DBCEC2"/>
            </a:solidFill>
            <a:prstDash val="solid"/>
          </a:ln>
        </p:spPr>
      </p:sp>
      <p:sp>
        <p:nvSpPr>
          <p:cNvPr id="12" name="passage"/>
          <p:cNvSpPr txBox="1"/>
          <p:nvPr/>
        </p:nvSpPr>
        <p:spPr>
          <a:xfrm>
            <a:off x="2880360" y="1527048"/>
            <a:ext cx="8579815" cy="4480560"/>
          </a:xfrm>
          <a:prstGeom prst="rect">
            <a:avLst/>
          </a:prstGeom>
          <a:noFill/>
          <a:ln/>
        </p:spPr>
        <p:txBody>
          <a:bodyPr wrap="square" lIns="63500" tIns="63500" rIns="63500" bIns="63500" rtlCol="0" anchor="t"/>
          <a:lstStyle/>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1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A generation after Becket's murder, another king fell out with the Church.</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2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King John and the </a:t>
            </a:r>
            <a:pPr algn="l" indent="0" marL="0">
              <a:spcAft>
                <a:spcPts val="600"/>
              </a:spcAft>
              <a:buNone/>
            </a:pPr>
            <a:r>
              <a:rPr lang="en-US" sz="2400" b="1" dirty="0">
                <a:solidFill>
                  <a:srgbClr val="7A4A1E"/>
                </a:solidFill>
                <a:latin typeface="Calibri" pitchFamily="34" charset="0"/>
                <a:ea typeface="Calibri" pitchFamily="34" charset="-122"/>
                <a:cs typeface="Calibri" pitchFamily="34" charset="-120"/>
              </a:rPr>
              <a:t>Pope</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 disagreed about who should choose the next Archbishop of Canterbury.</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3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John wanted his own man.</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4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The </a:t>
            </a:r>
            <a:pPr algn="l" indent="0" marL="0">
              <a:spcAft>
                <a:spcPts val="600"/>
              </a:spcAft>
              <a:buNone/>
            </a:pPr>
            <a:r>
              <a:rPr lang="en-US" sz="2400" b="1" dirty="0">
                <a:solidFill>
                  <a:srgbClr val="7A4A1E"/>
                </a:solidFill>
                <a:latin typeface="Calibri" pitchFamily="34" charset="0"/>
                <a:ea typeface="Calibri" pitchFamily="34" charset="-122"/>
                <a:cs typeface="Calibri" pitchFamily="34" charset="-120"/>
              </a:rPr>
              <a:t>Pope</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 wanted his.</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5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The </a:t>
            </a:r>
            <a:pPr algn="l" indent="0" marL="0">
              <a:spcAft>
                <a:spcPts val="600"/>
              </a:spcAft>
              <a:buNone/>
            </a:pPr>
            <a:r>
              <a:rPr lang="en-US" sz="2400" b="1" dirty="0">
                <a:solidFill>
                  <a:srgbClr val="7A4A1E"/>
                </a:solidFill>
                <a:latin typeface="Calibri" pitchFamily="34" charset="0"/>
                <a:ea typeface="Calibri" pitchFamily="34" charset="-122"/>
                <a:cs typeface="Calibri" pitchFamily="34" charset="-120"/>
              </a:rPr>
              <a:t>Pope</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 punished John by excommunicating him.</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6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In the end John gave way, and the </a:t>
            </a:r>
            <a:pPr algn="l" indent="0" marL="0">
              <a:spcAft>
                <a:spcPts val="600"/>
              </a:spcAft>
              <a:buNone/>
            </a:pPr>
            <a:r>
              <a:rPr lang="en-US" sz="2400" b="1" dirty="0">
                <a:solidFill>
                  <a:srgbClr val="7A4A1E"/>
                </a:solidFill>
                <a:latin typeface="Calibri" pitchFamily="34" charset="0"/>
                <a:ea typeface="Calibri" pitchFamily="34" charset="-122"/>
                <a:cs typeface="Calibri" pitchFamily="34" charset="-120"/>
              </a:rPr>
              <a:t>Pope</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 lifted the excommunication.</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7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After this, the </a:t>
            </a:r>
            <a:pPr algn="l" indent="0" marL="0">
              <a:spcAft>
                <a:spcPts val="600"/>
              </a:spcAft>
              <a:buNone/>
            </a:pPr>
            <a:r>
              <a:rPr lang="en-US" sz="2400" b="1" dirty="0">
                <a:solidFill>
                  <a:srgbClr val="7A4A1E"/>
                </a:solidFill>
                <a:latin typeface="Calibri" pitchFamily="34" charset="0"/>
                <a:ea typeface="Calibri" pitchFamily="34" charset="-122"/>
                <a:cs typeface="Calibri" pitchFamily="34" charset="-120"/>
              </a:rPr>
              <a:t>Pope</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 had more say in English Church matters.</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Read-along (2 of 2)</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Pre-teach</a:t>
            </a:r>
            <a:endParaRPr lang="en-US" sz="1800" dirty="0"/>
          </a:p>
        </p:txBody>
      </p:sp>
      <p:sp>
        <p:nvSpPr>
          <p:cNvPr id="7" name="ra-side"/>
          <p:cNvSpPr/>
          <p:nvPr/>
        </p:nvSpPr>
        <p:spPr>
          <a:xfrm>
            <a:off x="548640" y="1389888"/>
            <a:ext cx="1874520" cy="4754880"/>
          </a:xfrm>
          <a:prstGeom prst="roundRect">
            <a:avLst>
              <a:gd name="adj" fmla="val 3902"/>
            </a:avLst>
          </a:prstGeom>
          <a:solidFill>
            <a:srgbClr val="7A4A1E"/>
          </a:solidFill>
          <a:ln/>
        </p:spPr>
      </p:sp>
      <p:sp>
        <p:nvSpPr>
          <p:cNvPr id="8" name="ra-hex"/>
          <p:cNvSpPr/>
          <p:nvPr/>
        </p:nvSpPr>
        <p:spPr>
          <a:xfrm>
            <a:off x="914400" y="1709928"/>
            <a:ext cx="1143000" cy="989838"/>
          </a:xfrm>
          <a:prstGeom prst="hexagon">
            <a:avLst/>
          </a:prstGeom>
          <a:solidFill>
            <a:srgbClr val="B8862B"/>
          </a:solidFill>
          <a:ln/>
        </p:spPr>
      </p:sp>
      <p:sp>
        <p:nvSpPr>
          <p:cNvPr id="9" name="ra-hex-label"/>
          <p:cNvSpPr txBox="1"/>
          <p:nvPr/>
        </p:nvSpPr>
        <p:spPr>
          <a:xfrm>
            <a:off x="914400" y="1709928"/>
            <a:ext cx="1143000" cy="989838"/>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Read</a:t>
            </a:r>
            <a:endParaRPr lang="en-US" sz="2400" dirty="0"/>
          </a:p>
        </p:txBody>
      </p:sp>
      <p:sp>
        <p:nvSpPr>
          <p:cNvPr id="10" name="ra-note"/>
          <p:cNvSpPr txBox="1"/>
          <p:nvPr/>
        </p:nvSpPr>
        <p:spPr>
          <a:xfrm>
            <a:off x="640080" y="2898648"/>
            <a:ext cx="1691640" cy="2194560"/>
          </a:xfrm>
          <a:prstGeom prst="rect">
            <a:avLst/>
          </a:prstGeom>
          <a:noFill/>
          <a:ln/>
        </p:spPr>
        <p:txBody>
          <a:bodyPr wrap="square" lIns="63500" tIns="63500" rIns="63500" bIns="63500" rtlCol="0" anchor="t"/>
          <a:lstStyle/>
          <a:p>
            <a:pPr algn="ctr" indent="0" marL="0">
              <a:spcAft>
                <a:spcPts val="800"/>
              </a:spcAft>
              <a:buNone/>
            </a:pPr>
            <a:r>
              <a:rPr lang="en-US" sz="1800" b="1" dirty="0">
                <a:solidFill>
                  <a:srgbClr val="FFFFFF"/>
                </a:solidFill>
                <a:latin typeface="Calibri" pitchFamily="34" charset="0"/>
                <a:ea typeface="Calibri" pitchFamily="34" charset="-122"/>
                <a:cs typeface="Calibri" pitchFamily="34" charset="-120"/>
              </a:rPr>
              <a:t>Read together;</a:t>
            </a:r>
            <a:endParaRPr lang="en-US" sz="1800" dirty="0"/>
          </a:p>
          <a:p>
            <a:pPr algn="ctr" indent="0" marL="0">
              <a:buNone/>
            </a:pPr>
            <a:r>
              <a:rPr lang="en-US" sz="1800" dirty="0">
                <a:solidFill>
                  <a:srgbClr val="FFFFFF"/>
                </a:solidFill>
                <a:latin typeface="Calibri" pitchFamily="34" charset="0"/>
                <a:ea typeface="Calibri" pitchFamily="34" charset="-122"/>
                <a:cs typeface="Calibri" pitchFamily="34" charset="-120"/>
              </a:rPr>
              <a:t>pupils who were pre-taught lead</a:t>
            </a:r>
            <a:endParaRPr lang="en-US" sz="1800" dirty="0"/>
          </a:p>
        </p:txBody>
      </p:sp>
      <p:sp>
        <p:nvSpPr>
          <p:cNvPr id="11" name="ra-panel"/>
          <p:cNvSpPr/>
          <p:nvPr/>
        </p:nvSpPr>
        <p:spPr>
          <a:xfrm>
            <a:off x="2697480" y="1389888"/>
            <a:ext cx="8945575" cy="4754880"/>
          </a:xfrm>
          <a:prstGeom prst="roundRect">
            <a:avLst>
              <a:gd name="adj" fmla="val 769"/>
            </a:avLst>
          </a:prstGeom>
          <a:solidFill>
            <a:srgbClr val="FAF8F6"/>
          </a:solidFill>
          <a:ln w="12700">
            <a:solidFill>
              <a:srgbClr val="DBCEC2"/>
            </a:solidFill>
            <a:prstDash val="solid"/>
          </a:ln>
        </p:spPr>
      </p:sp>
      <p:sp>
        <p:nvSpPr>
          <p:cNvPr id="12" name="passage"/>
          <p:cNvSpPr txBox="1"/>
          <p:nvPr/>
        </p:nvSpPr>
        <p:spPr>
          <a:xfrm>
            <a:off x="2880360" y="1527048"/>
            <a:ext cx="8579815" cy="4480560"/>
          </a:xfrm>
          <a:prstGeom prst="rect">
            <a:avLst/>
          </a:prstGeom>
          <a:noFill/>
          <a:ln/>
        </p:spPr>
        <p:txBody>
          <a:bodyPr wrap="square" lIns="63500" tIns="63500" rIns="63500" bIns="63500" rtlCol="0" anchor="t"/>
          <a:lstStyle/>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8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But John remained King of England.</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9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He could still choose who helped him lead the country.</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10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And the Church remained wealthy and powerful, as it had always been.</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11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Historians call what became different </a:t>
            </a:r>
            <a:pPr algn="l" indent="0" marL="0">
              <a:spcAft>
                <a:spcPts val="600"/>
              </a:spcAft>
              <a:buNone/>
            </a:pPr>
            <a:r>
              <a:rPr lang="en-US" sz="2400" b="1" dirty="0">
                <a:solidFill>
                  <a:srgbClr val="7A4A1E"/>
                </a:solidFill>
                <a:latin typeface="Calibri" pitchFamily="34" charset="0"/>
                <a:ea typeface="Calibri" pitchFamily="34" charset="-122"/>
                <a:cs typeface="Calibri" pitchFamily="34" charset="-120"/>
              </a:rPr>
              <a:t>change</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 and what stayed the same </a:t>
            </a:r>
            <a:pPr algn="l" indent="0" marL="0">
              <a:spcAft>
                <a:spcPts val="600"/>
              </a:spcAft>
              <a:buNone/>
            </a:pPr>
            <a:r>
              <a:rPr lang="en-US" sz="2400" b="1" dirty="0">
                <a:solidFill>
                  <a:srgbClr val="7A4A1E"/>
                </a:solidFill>
                <a:latin typeface="Calibri" pitchFamily="34" charset="0"/>
                <a:ea typeface="Calibri" pitchFamily="34" charset="-122"/>
                <a:cs typeface="Calibri" pitchFamily="34" charset="-120"/>
              </a:rPr>
              <a:t>continuity</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12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John's barons later made him agree to </a:t>
            </a:r>
            <a:pPr algn="l" indent="0" marL="0">
              <a:spcAft>
                <a:spcPts val="600"/>
              </a:spcAft>
              <a:buNone/>
            </a:pPr>
            <a:r>
              <a:rPr lang="en-US" sz="2400" b="1" dirty="0">
                <a:solidFill>
                  <a:srgbClr val="7A4A1E"/>
                </a:solidFill>
                <a:latin typeface="Calibri" pitchFamily="34" charset="0"/>
                <a:ea typeface="Calibri" pitchFamily="34" charset="-122"/>
                <a:cs typeface="Calibri" pitchFamily="34" charset="-120"/>
              </a:rPr>
              <a:t>Magna Carta</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 which limited his power too.</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13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So who really held the power in England?</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Another king, another quarrel</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350256"/>
            <a:ext cx="11094415" cy="794512"/>
          </a:xfrm>
          <a:prstGeom prst="roundRect">
            <a:avLst>
              <a:gd name="adj" fmla="val 17263"/>
            </a:avLst>
          </a:prstGeom>
          <a:solidFill>
            <a:srgbClr val="F6F0E6"/>
          </a:solidFill>
          <a:ln w="15875">
            <a:solidFill>
              <a:srgbClr val="B8862B"/>
            </a:solidFill>
            <a:prstDash val="solid"/>
          </a:ln>
        </p:spPr>
      </p:sp>
      <p:sp>
        <p:nvSpPr>
          <p:cNvPr id="8" name="tip-hex"/>
          <p:cNvSpPr/>
          <p:nvPr/>
        </p:nvSpPr>
        <p:spPr>
          <a:xfrm>
            <a:off x="685800" y="5549544"/>
            <a:ext cx="457200" cy="395935"/>
          </a:xfrm>
          <a:prstGeom prst="hexagon">
            <a:avLst/>
          </a:prstGeom>
          <a:solidFill>
            <a:srgbClr val="B8862B"/>
          </a:solidFill>
          <a:ln/>
        </p:spPr>
      </p:sp>
      <p:sp>
        <p:nvSpPr>
          <p:cNvPr id="9" name="tip-hex-label"/>
          <p:cNvSpPr txBox="1"/>
          <p:nvPr/>
        </p:nvSpPr>
        <p:spPr>
          <a:xfrm>
            <a:off x="685800" y="5549544"/>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405120"/>
            <a:ext cx="10225735" cy="684784"/>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Your lesson's worksheet gives the detail of John's dispute. Read it with one question in mind: what changed, and what stayed the same?</a:t>
            </a:r>
            <a:endParaRPr lang="en-US" sz="1800" dirty="0"/>
          </a:p>
        </p:txBody>
      </p:sp>
      <p:sp>
        <p:nvSpPr>
          <p:cNvPr id="11" name="point-card"/>
          <p:cNvSpPr/>
          <p:nvPr/>
        </p:nvSpPr>
        <p:spPr>
          <a:xfrm>
            <a:off x="548640" y="1389888"/>
            <a:ext cx="3515258" cy="3686048"/>
          </a:xfrm>
          <a:prstGeom prst="roundRect">
            <a:avLst>
              <a:gd name="adj" fmla="val 1561"/>
            </a:avLst>
          </a:prstGeom>
          <a:solidFill>
            <a:srgbClr val="F6F2EF"/>
          </a:solidFill>
          <a:ln/>
        </p:spPr>
      </p:sp>
      <p:sp>
        <p:nvSpPr>
          <p:cNvPr id="12" name="point-hex"/>
          <p:cNvSpPr/>
          <p:nvPr/>
        </p:nvSpPr>
        <p:spPr>
          <a:xfrm>
            <a:off x="731520" y="1572768"/>
            <a:ext cx="685800" cy="593903"/>
          </a:xfrm>
          <a:prstGeom prst="hexagon">
            <a:avLst/>
          </a:prstGeom>
          <a:solidFill>
            <a:srgbClr val="7A4A1E"/>
          </a:solidFill>
          <a:ln/>
        </p:spPr>
      </p:sp>
      <p:sp>
        <p:nvSpPr>
          <p:cNvPr id="13"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4" name="point"/>
          <p:cNvSpPr txBox="1"/>
          <p:nvPr/>
        </p:nvSpPr>
        <p:spPr>
          <a:xfrm>
            <a:off x="731520" y="2350008"/>
            <a:ext cx="3149498" cy="2588768"/>
          </a:xfrm>
          <a:prstGeom prst="rect">
            <a:avLst/>
          </a:prstGeom>
          <a:noFill/>
          <a:ln/>
        </p:spPr>
        <p:txBody>
          <a:bodyPr wrap="square" lIns="63500" tIns="63500" rIns="63500" bIns="63500" rtlCol="0" anchor="t"/>
          <a:lstStyle/>
          <a:p>
            <a:pPr algn="l" indent="0" marL="0">
              <a:buNone/>
            </a:pPr>
            <a:r>
              <a:rPr lang="en-US" sz="2000" dirty="0">
                <a:solidFill>
                  <a:srgbClr val="1E2229"/>
                </a:solidFill>
                <a:latin typeface="Calibri" pitchFamily="34" charset="0"/>
                <a:ea typeface="Calibri" pitchFamily="34" charset="-122"/>
                <a:cs typeface="Calibri" pitchFamily="34" charset="-120"/>
              </a:rPr>
              <a:t>Henry II's quarrel with Becket was not the last fight between the Crown and the Church.</a:t>
            </a:r>
            <a:endParaRPr lang="en-US" sz="2000" dirty="0"/>
          </a:p>
        </p:txBody>
      </p:sp>
      <p:sp>
        <p:nvSpPr>
          <p:cNvPr id="15" name="point-card"/>
          <p:cNvSpPr/>
          <p:nvPr/>
        </p:nvSpPr>
        <p:spPr>
          <a:xfrm>
            <a:off x="4338218" y="1389888"/>
            <a:ext cx="3515258" cy="3686048"/>
          </a:xfrm>
          <a:prstGeom prst="roundRect">
            <a:avLst>
              <a:gd name="adj" fmla="val 1561"/>
            </a:avLst>
          </a:prstGeom>
          <a:solidFill>
            <a:srgbClr val="F9F4EC"/>
          </a:solidFill>
          <a:ln/>
        </p:spPr>
      </p:sp>
      <p:sp>
        <p:nvSpPr>
          <p:cNvPr id="16" name="point-hex"/>
          <p:cNvSpPr/>
          <p:nvPr/>
        </p:nvSpPr>
        <p:spPr>
          <a:xfrm>
            <a:off x="4521098" y="1572768"/>
            <a:ext cx="685800" cy="593903"/>
          </a:xfrm>
          <a:prstGeom prst="hexagon">
            <a:avLst/>
          </a:prstGeom>
          <a:solidFill>
            <a:srgbClr val="B8862B"/>
          </a:solidFill>
          <a:ln/>
        </p:spPr>
      </p:sp>
      <p:sp>
        <p:nvSpPr>
          <p:cNvPr id="17" name="point-hex-label"/>
          <p:cNvSpPr txBox="1"/>
          <p:nvPr/>
        </p:nvSpPr>
        <p:spPr>
          <a:xfrm>
            <a:off x="452109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8" name="point"/>
          <p:cNvSpPr txBox="1"/>
          <p:nvPr/>
        </p:nvSpPr>
        <p:spPr>
          <a:xfrm>
            <a:off x="4521098" y="2350008"/>
            <a:ext cx="3149498" cy="2588768"/>
          </a:xfrm>
          <a:prstGeom prst="rect">
            <a:avLst/>
          </a:prstGeom>
          <a:noFill/>
          <a:ln/>
        </p:spPr>
        <p:txBody>
          <a:bodyPr wrap="square" lIns="63500" tIns="63500" rIns="63500" bIns="63500" rtlCol="0" anchor="t"/>
          <a:lstStyle/>
          <a:p>
            <a:pPr algn="l" indent="0" marL="0">
              <a:buNone/>
            </a:pPr>
            <a:r>
              <a:rPr lang="en-US" sz="2000" dirty="0">
                <a:solidFill>
                  <a:srgbClr val="1E2229"/>
                </a:solidFill>
                <a:latin typeface="Calibri" pitchFamily="34" charset="0"/>
                <a:ea typeface="Calibri" pitchFamily="34" charset="-122"/>
                <a:cs typeface="Calibri" pitchFamily="34" charset="-120"/>
              </a:rPr>
              <a:t>The Pope had a weapon that no king had: excommunication.</a:t>
            </a:r>
            <a:endParaRPr lang="en-US" sz="2000" dirty="0"/>
          </a:p>
        </p:txBody>
      </p:sp>
      <p:sp>
        <p:nvSpPr>
          <p:cNvPr id="19" name="point-card"/>
          <p:cNvSpPr/>
          <p:nvPr/>
        </p:nvSpPr>
        <p:spPr>
          <a:xfrm>
            <a:off x="8127797" y="1389888"/>
            <a:ext cx="3515258" cy="3686048"/>
          </a:xfrm>
          <a:prstGeom prst="roundRect">
            <a:avLst>
              <a:gd name="adj" fmla="val 1561"/>
            </a:avLst>
          </a:prstGeom>
          <a:solidFill>
            <a:srgbClr val="F6F2EF"/>
          </a:solidFill>
          <a:ln/>
        </p:spPr>
      </p:sp>
      <p:sp>
        <p:nvSpPr>
          <p:cNvPr id="20" name="point-hex"/>
          <p:cNvSpPr/>
          <p:nvPr/>
        </p:nvSpPr>
        <p:spPr>
          <a:xfrm>
            <a:off x="8310677" y="1572768"/>
            <a:ext cx="685800" cy="593903"/>
          </a:xfrm>
          <a:prstGeom prst="hexagon">
            <a:avLst/>
          </a:prstGeom>
          <a:solidFill>
            <a:srgbClr val="7A4A1E"/>
          </a:solidFill>
          <a:ln/>
        </p:spPr>
      </p:sp>
      <p:sp>
        <p:nvSpPr>
          <p:cNvPr id="21" name="point-hex-label"/>
          <p:cNvSpPr txBox="1"/>
          <p:nvPr/>
        </p:nvSpPr>
        <p:spPr>
          <a:xfrm>
            <a:off x="8310677"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2" name="point"/>
          <p:cNvSpPr txBox="1"/>
          <p:nvPr/>
        </p:nvSpPr>
        <p:spPr>
          <a:xfrm>
            <a:off x="8310677" y="2350008"/>
            <a:ext cx="3149498" cy="2588768"/>
          </a:xfrm>
          <a:prstGeom prst="rect">
            <a:avLst/>
          </a:prstGeom>
          <a:noFill/>
          <a:ln/>
        </p:spPr>
        <p:txBody>
          <a:bodyPr wrap="square" lIns="63500" tIns="63500" rIns="63500" bIns="63500" rtlCol="0" anchor="t"/>
          <a:lstStyle/>
          <a:p>
            <a:pPr algn="l" indent="0" marL="0">
              <a:buNone/>
            </a:pPr>
            <a:r>
              <a:rPr lang="en-US" sz="2000" dirty="0">
                <a:solidFill>
                  <a:srgbClr val="1E2229"/>
                </a:solidFill>
                <a:latin typeface="Calibri" pitchFamily="34" charset="0"/>
                <a:ea typeface="Calibri" pitchFamily="34" charset="-122"/>
                <a:cs typeface="Calibri" pitchFamily="34" charset="-120"/>
              </a:rPr>
              <a:t>In the end John gave way. He accepted the Pope's choice of Archbishop, and the Pope lifted the excommunication, so John was no longer shut out of the Church.</a:t>
            </a:r>
            <a:endParaRPr lang="en-US" sz="2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Change and continuity</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629148"/>
            <a:ext cx="11094415" cy="515620"/>
          </a:xfrm>
          <a:prstGeom prst="roundRect">
            <a:avLst>
              <a:gd name="adj" fmla="val 26601"/>
            </a:avLst>
          </a:prstGeom>
          <a:solidFill>
            <a:srgbClr val="F6F0E6"/>
          </a:solidFill>
          <a:ln w="15875">
            <a:solidFill>
              <a:srgbClr val="B8862B"/>
            </a:solidFill>
            <a:prstDash val="solid"/>
          </a:ln>
        </p:spPr>
      </p:sp>
      <p:sp>
        <p:nvSpPr>
          <p:cNvPr id="8" name="tip-hex"/>
          <p:cNvSpPr/>
          <p:nvPr/>
        </p:nvSpPr>
        <p:spPr>
          <a:xfrm>
            <a:off x="685800" y="5688990"/>
            <a:ext cx="457200" cy="395935"/>
          </a:xfrm>
          <a:prstGeom prst="hexagon">
            <a:avLst/>
          </a:prstGeom>
          <a:solidFill>
            <a:srgbClr val="B8862B"/>
          </a:solidFill>
          <a:ln/>
        </p:spPr>
      </p:sp>
      <p:sp>
        <p:nvSpPr>
          <p:cNvPr id="9" name="tip-hex-label"/>
          <p:cNvSpPr txBox="1"/>
          <p:nvPr/>
        </p:nvSpPr>
        <p:spPr>
          <a:xfrm>
            <a:off x="685800" y="5688990"/>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684012"/>
            <a:ext cx="10225735" cy="405892"/>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Remained, still and continued signal continuity. More, now and no longer signal change.</a:t>
            </a:r>
            <a:endParaRPr lang="en-US" sz="1800" dirty="0"/>
          </a:p>
        </p:txBody>
      </p:sp>
      <p:sp>
        <p:nvSpPr>
          <p:cNvPr id="11" name="point-card"/>
          <p:cNvSpPr/>
          <p:nvPr/>
        </p:nvSpPr>
        <p:spPr>
          <a:xfrm>
            <a:off x="548640" y="1389888"/>
            <a:ext cx="3515258" cy="3964940"/>
          </a:xfrm>
          <a:prstGeom prst="roundRect">
            <a:avLst>
              <a:gd name="adj" fmla="val 1561"/>
            </a:avLst>
          </a:prstGeom>
          <a:solidFill>
            <a:srgbClr val="F6F2EF"/>
          </a:solidFill>
          <a:ln/>
        </p:spPr>
      </p:sp>
      <p:sp>
        <p:nvSpPr>
          <p:cNvPr id="12" name="point-hex"/>
          <p:cNvSpPr/>
          <p:nvPr/>
        </p:nvSpPr>
        <p:spPr>
          <a:xfrm>
            <a:off x="731520" y="1572768"/>
            <a:ext cx="685800" cy="593903"/>
          </a:xfrm>
          <a:prstGeom prst="hexagon">
            <a:avLst/>
          </a:prstGeom>
          <a:solidFill>
            <a:srgbClr val="7A4A1E"/>
          </a:solidFill>
          <a:ln/>
        </p:spPr>
      </p:sp>
      <p:sp>
        <p:nvSpPr>
          <p:cNvPr id="13"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4" name="point"/>
          <p:cNvSpPr txBox="1"/>
          <p:nvPr/>
        </p:nvSpPr>
        <p:spPr>
          <a:xfrm>
            <a:off x="731520" y="2350008"/>
            <a:ext cx="3149498" cy="286766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Historians use two words to describe what happens over time.</a:t>
            </a:r>
            <a:endParaRPr lang="en-US" sz="2400" dirty="0"/>
          </a:p>
        </p:txBody>
      </p:sp>
      <p:sp>
        <p:nvSpPr>
          <p:cNvPr id="15" name="point-card"/>
          <p:cNvSpPr/>
          <p:nvPr/>
        </p:nvSpPr>
        <p:spPr>
          <a:xfrm>
            <a:off x="4338218" y="1389888"/>
            <a:ext cx="3515258" cy="3964940"/>
          </a:xfrm>
          <a:prstGeom prst="roundRect">
            <a:avLst>
              <a:gd name="adj" fmla="val 1561"/>
            </a:avLst>
          </a:prstGeom>
          <a:solidFill>
            <a:srgbClr val="F9F4EC"/>
          </a:solidFill>
          <a:ln/>
        </p:spPr>
      </p:sp>
      <p:sp>
        <p:nvSpPr>
          <p:cNvPr id="16" name="point-hex"/>
          <p:cNvSpPr/>
          <p:nvPr/>
        </p:nvSpPr>
        <p:spPr>
          <a:xfrm>
            <a:off x="4521098" y="1572768"/>
            <a:ext cx="685800" cy="593903"/>
          </a:xfrm>
          <a:prstGeom prst="hexagon">
            <a:avLst/>
          </a:prstGeom>
          <a:solidFill>
            <a:srgbClr val="B8862B"/>
          </a:solidFill>
          <a:ln/>
        </p:spPr>
      </p:sp>
      <p:sp>
        <p:nvSpPr>
          <p:cNvPr id="17" name="point-hex-label"/>
          <p:cNvSpPr txBox="1"/>
          <p:nvPr/>
        </p:nvSpPr>
        <p:spPr>
          <a:xfrm>
            <a:off x="452109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8" name="point"/>
          <p:cNvSpPr txBox="1"/>
          <p:nvPr/>
        </p:nvSpPr>
        <p:spPr>
          <a:xfrm>
            <a:off x="4521098" y="2350008"/>
            <a:ext cx="3149498" cy="286766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Your lesson gave you five statements about England after John's dispute with the Pope.</a:t>
            </a:r>
            <a:endParaRPr lang="en-US" sz="2400" dirty="0"/>
          </a:p>
        </p:txBody>
      </p:sp>
      <p:sp>
        <p:nvSpPr>
          <p:cNvPr id="19" name="point-card"/>
          <p:cNvSpPr/>
          <p:nvPr/>
        </p:nvSpPr>
        <p:spPr>
          <a:xfrm>
            <a:off x="8127797" y="1389888"/>
            <a:ext cx="3515258" cy="3964940"/>
          </a:xfrm>
          <a:prstGeom prst="roundRect">
            <a:avLst>
              <a:gd name="adj" fmla="val 1561"/>
            </a:avLst>
          </a:prstGeom>
          <a:solidFill>
            <a:srgbClr val="F6F2EF"/>
          </a:solidFill>
          <a:ln/>
        </p:spPr>
      </p:sp>
      <p:sp>
        <p:nvSpPr>
          <p:cNvPr id="20" name="point-hex"/>
          <p:cNvSpPr/>
          <p:nvPr/>
        </p:nvSpPr>
        <p:spPr>
          <a:xfrm>
            <a:off x="8310677" y="1572768"/>
            <a:ext cx="685800" cy="593903"/>
          </a:xfrm>
          <a:prstGeom prst="hexagon">
            <a:avLst/>
          </a:prstGeom>
          <a:solidFill>
            <a:srgbClr val="7A4A1E"/>
          </a:solidFill>
          <a:ln/>
        </p:spPr>
      </p:sp>
      <p:sp>
        <p:nvSpPr>
          <p:cNvPr id="21" name="point-hex-label"/>
          <p:cNvSpPr txBox="1"/>
          <p:nvPr/>
        </p:nvSpPr>
        <p:spPr>
          <a:xfrm>
            <a:off x="8310677"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2" name="point"/>
          <p:cNvSpPr txBox="1"/>
          <p:nvPr/>
        </p:nvSpPr>
        <p:spPr>
          <a:xfrm>
            <a:off x="8310677" y="2350008"/>
            <a:ext cx="3149498" cy="286766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The test is simple. Ask: was this true before the dispute as well?</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000" b="1" dirty="0">
                <a:solidFill>
                  <a:srgbClr val="7A4A1E"/>
                </a:solidFill>
                <a:latin typeface="Cambria" pitchFamily="34" charset="0"/>
                <a:ea typeface="Cambria" pitchFamily="34" charset="-122"/>
                <a:cs typeface="Cambria" pitchFamily="34" charset="-120"/>
              </a:rPr>
              <a:t>Worked example (1 of 2): Change and continuity</a:t>
            </a:r>
            <a:endParaRPr lang="en-US" sz="30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wq-band"/>
          <p:cNvSpPr/>
          <p:nvPr/>
        </p:nvSpPr>
        <p:spPr>
          <a:xfrm>
            <a:off x="548640" y="1389888"/>
            <a:ext cx="11094415" cy="991616"/>
          </a:xfrm>
          <a:prstGeom prst="roundRect">
            <a:avLst>
              <a:gd name="adj" fmla="val 9221"/>
            </a:avLst>
          </a:prstGeom>
          <a:solidFill>
            <a:srgbClr val="F6F2EF"/>
          </a:solidFill>
          <a:ln/>
        </p:spPr>
      </p:sp>
      <p:sp>
        <p:nvSpPr>
          <p:cNvPr id="8" name="worked-q"/>
          <p:cNvSpPr txBox="1"/>
          <p:nvPr/>
        </p:nvSpPr>
        <p:spPr>
          <a:xfrm>
            <a:off x="731520" y="1481328"/>
            <a:ext cx="10728655" cy="808736"/>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The Pope had more say in English Church matters. Is this evidence of change or continuity? Explain your answer in two sentences.</a:t>
            </a:r>
            <a:endParaRPr lang="en-US" sz="2200" dirty="0"/>
          </a:p>
        </p:txBody>
      </p:sp>
      <p:sp>
        <p:nvSpPr>
          <p:cNvPr id="9" name="step-box"/>
          <p:cNvSpPr/>
          <p:nvPr/>
        </p:nvSpPr>
        <p:spPr>
          <a:xfrm>
            <a:off x="548640" y="2655824"/>
            <a:ext cx="5341468" cy="1695196"/>
          </a:xfrm>
          <a:prstGeom prst="roundRect">
            <a:avLst>
              <a:gd name="adj" fmla="val 4315"/>
            </a:avLst>
          </a:prstGeom>
          <a:solidFill>
            <a:srgbClr val="FFFFFF"/>
          </a:solidFill>
          <a:ln w="15875">
            <a:solidFill>
              <a:srgbClr val="B69B83"/>
            </a:solidFill>
            <a:prstDash val="solid"/>
          </a:ln>
        </p:spPr>
      </p:sp>
      <p:sp>
        <p:nvSpPr>
          <p:cNvPr id="10" name="step-hex"/>
          <p:cNvSpPr/>
          <p:nvPr/>
        </p:nvSpPr>
        <p:spPr>
          <a:xfrm>
            <a:off x="685800" y="2765552"/>
            <a:ext cx="530352" cy="459285"/>
          </a:xfrm>
          <a:prstGeom prst="hexagon">
            <a:avLst/>
          </a:prstGeom>
          <a:solidFill>
            <a:srgbClr val="7A4A1E"/>
          </a:solidFill>
          <a:ln/>
        </p:spPr>
      </p:sp>
      <p:sp>
        <p:nvSpPr>
          <p:cNvPr id="11" name="step-hex-label"/>
          <p:cNvSpPr txBox="1"/>
          <p:nvPr/>
        </p:nvSpPr>
        <p:spPr>
          <a:xfrm>
            <a:off x="685800" y="2765552"/>
            <a:ext cx="530352" cy="45928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12" name="step"/>
          <p:cNvSpPr txBox="1"/>
          <p:nvPr/>
        </p:nvSpPr>
        <p:spPr>
          <a:xfrm>
            <a:off x="685800" y="3250184"/>
            <a:ext cx="5067148" cy="1009396"/>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Ask the test question: was this true before the dispute as well?</a:t>
            </a:r>
            <a:endParaRPr lang="en-US" sz="1800" dirty="0"/>
          </a:p>
        </p:txBody>
      </p:sp>
      <p:sp>
        <p:nvSpPr>
          <p:cNvPr id="13" name="arrow"/>
          <p:cNvSpPr/>
          <p:nvPr/>
        </p:nvSpPr>
        <p:spPr>
          <a:xfrm>
            <a:off x="5963260" y="3366262"/>
            <a:ext cx="274320" cy="274320"/>
          </a:xfrm>
          <a:prstGeom prst="rightArrow">
            <a:avLst/>
          </a:prstGeom>
          <a:solidFill>
            <a:srgbClr val="B8862B"/>
          </a:solidFill>
          <a:ln/>
        </p:spPr>
      </p:sp>
      <p:sp>
        <p:nvSpPr>
          <p:cNvPr id="14" name="step-box"/>
          <p:cNvSpPr/>
          <p:nvPr/>
        </p:nvSpPr>
        <p:spPr>
          <a:xfrm>
            <a:off x="6301588" y="2655824"/>
            <a:ext cx="5341468" cy="1695196"/>
          </a:xfrm>
          <a:prstGeom prst="roundRect">
            <a:avLst>
              <a:gd name="adj" fmla="val 4315"/>
            </a:avLst>
          </a:prstGeom>
          <a:solidFill>
            <a:srgbClr val="FFFFFF"/>
          </a:solidFill>
          <a:ln w="15875">
            <a:solidFill>
              <a:srgbClr val="B69B83"/>
            </a:solidFill>
            <a:prstDash val="solid"/>
          </a:ln>
        </p:spPr>
      </p:sp>
      <p:sp>
        <p:nvSpPr>
          <p:cNvPr id="15" name="step-hex"/>
          <p:cNvSpPr/>
          <p:nvPr/>
        </p:nvSpPr>
        <p:spPr>
          <a:xfrm>
            <a:off x="6438748" y="2765552"/>
            <a:ext cx="530352" cy="459285"/>
          </a:xfrm>
          <a:prstGeom prst="hexagon">
            <a:avLst/>
          </a:prstGeom>
          <a:solidFill>
            <a:srgbClr val="7A4A1E"/>
          </a:solidFill>
          <a:ln/>
        </p:spPr>
      </p:sp>
      <p:sp>
        <p:nvSpPr>
          <p:cNvPr id="16" name="step-hex-label"/>
          <p:cNvSpPr txBox="1"/>
          <p:nvPr/>
        </p:nvSpPr>
        <p:spPr>
          <a:xfrm>
            <a:off x="6438748" y="2765552"/>
            <a:ext cx="530352" cy="45928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17" name="step"/>
          <p:cNvSpPr txBox="1"/>
          <p:nvPr/>
        </p:nvSpPr>
        <p:spPr>
          <a:xfrm>
            <a:off x="6438748" y="3250184"/>
            <a:ext cx="5067148" cy="1009396"/>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Before the dispute, John expected to choose the Archbishop himself, so the Pope had less say. Afterwards the Pope's choice stood.</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000" b="1" dirty="0">
                <a:solidFill>
                  <a:srgbClr val="7A4A1E"/>
                </a:solidFill>
                <a:latin typeface="Cambria" pitchFamily="34" charset="0"/>
                <a:ea typeface="Cambria" pitchFamily="34" charset="-122"/>
                <a:cs typeface="Cambria" pitchFamily="34" charset="-120"/>
              </a:rPr>
              <a:t>Worked example (2 of 2): Change and continuity</a:t>
            </a:r>
            <a:endParaRPr lang="en-US" sz="30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wq-band"/>
          <p:cNvSpPr/>
          <p:nvPr/>
        </p:nvSpPr>
        <p:spPr>
          <a:xfrm>
            <a:off x="548640" y="1389888"/>
            <a:ext cx="11094415" cy="991616"/>
          </a:xfrm>
          <a:prstGeom prst="roundRect">
            <a:avLst>
              <a:gd name="adj" fmla="val 9221"/>
            </a:avLst>
          </a:prstGeom>
          <a:solidFill>
            <a:srgbClr val="F6F2EF"/>
          </a:solidFill>
          <a:ln/>
        </p:spPr>
      </p:sp>
      <p:sp>
        <p:nvSpPr>
          <p:cNvPr id="8" name="worked-q"/>
          <p:cNvSpPr txBox="1"/>
          <p:nvPr/>
        </p:nvSpPr>
        <p:spPr>
          <a:xfrm>
            <a:off x="731520" y="1481328"/>
            <a:ext cx="10728655" cy="808736"/>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The Pope had more say in English Church matters. Is this evidence of change or continuity? Explain your answer in two sentences.</a:t>
            </a:r>
            <a:endParaRPr lang="en-US" sz="2200" dirty="0"/>
          </a:p>
        </p:txBody>
      </p:sp>
      <p:sp>
        <p:nvSpPr>
          <p:cNvPr id="9" name="step-box"/>
          <p:cNvSpPr/>
          <p:nvPr/>
        </p:nvSpPr>
        <p:spPr>
          <a:xfrm>
            <a:off x="548640" y="2655824"/>
            <a:ext cx="5341468" cy="2252980"/>
          </a:xfrm>
          <a:prstGeom prst="roundRect">
            <a:avLst>
              <a:gd name="adj" fmla="val 3247"/>
            </a:avLst>
          </a:prstGeom>
          <a:solidFill>
            <a:srgbClr val="FFFFFF"/>
          </a:solidFill>
          <a:ln w="15875">
            <a:solidFill>
              <a:srgbClr val="B69B83"/>
            </a:solidFill>
            <a:prstDash val="solid"/>
          </a:ln>
        </p:spPr>
      </p:sp>
      <p:sp>
        <p:nvSpPr>
          <p:cNvPr id="10" name="step-hex"/>
          <p:cNvSpPr/>
          <p:nvPr/>
        </p:nvSpPr>
        <p:spPr>
          <a:xfrm>
            <a:off x="685800" y="2765552"/>
            <a:ext cx="530352" cy="459285"/>
          </a:xfrm>
          <a:prstGeom prst="hexagon">
            <a:avLst/>
          </a:prstGeom>
          <a:solidFill>
            <a:srgbClr val="7A4A1E"/>
          </a:solidFill>
          <a:ln/>
        </p:spPr>
      </p:sp>
      <p:sp>
        <p:nvSpPr>
          <p:cNvPr id="11" name="step-hex-label"/>
          <p:cNvSpPr txBox="1"/>
          <p:nvPr/>
        </p:nvSpPr>
        <p:spPr>
          <a:xfrm>
            <a:off x="685800" y="2765552"/>
            <a:ext cx="530352" cy="45928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12" name="step"/>
          <p:cNvSpPr txBox="1"/>
          <p:nvPr/>
        </p:nvSpPr>
        <p:spPr>
          <a:xfrm>
            <a:off x="685800" y="3250184"/>
            <a:ext cx="5067148" cy="1567180"/>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Something that became different is a change.</a:t>
            </a:r>
            <a:endParaRPr lang="en-US" sz="1800" dirty="0"/>
          </a:p>
        </p:txBody>
      </p:sp>
      <p:sp>
        <p:nvSpPr>
          <p:cNvPr id="13" name="arrow"/>
          <p:cNvSpPr/>
          <p:nvPr/>
        </p:nvSpPr>
        <p:spPr>
          <a:xfrm>
            <a:off x="5963260" y="3645154"/>
            <a:ext cx="274320" cy="274320"/>
          </a:xfrm>
          <a:prstGeom prst="rightArrow">
            <a:avLst/>
          </a:prstGeom>
          <a:solidFill>
            <a:srgbClr val="B8862B"/>
          </a:solidFill>
          <a:ln/>
        </p:spPr>
      </p:sp>
      <p:sp>
        <p:nvSpPr>
          <p:cNvPr id="14" name="step-box"/>
          <p:cNvSpPr/>
          <p:nvPr/>
        </p:nvSpPr>
        <p:spPr>
          <a:xfrm>
            <a:off x="6301588" y="2655824"/>
            <a:ext cx="5341468" cy="2252980"/>
          </a:xfrm>
          <a:prstGeom prst="roundRect">
            <a:avLst>
              <a:gd name="adj" fmla="val 3247"/>
            </a:avLst>
          </a:prstGeom>
          <a:solidFill>
            <a:srgbClr val="FFFFFF"/>
          </a:solidFill>
          <a:ln w="15875">
            <a:solidFill>
              <a:srgbClr val="B69B83"/>
            </a:solidFill>
            <a:prstDash val="solid"/>
          </a:ln>
        </p:spPr>
      </p:sp>
      <p:sp>
        <p:nvSpPr>
          <p:cNvPr id="15" name="step-hex"/>
          <p:cNvSpPr/>
          <p:nvPr/>
        </p:nvSpPr>
        <p:spPr>
          <a:xfrm>
            <a:off x="6438748" y="2765552"/>
            <a:ext cx="530352" cy="459285"/>
          </a:xfrm>
          <a:prstGeom prst="hexagon">
            <a:avLst/>
          </a:prstGeom>
          <a:solidFill>
            <a:srgbClr val="7A4A1E"/>
          </a:solidFill>
          <a:ln/>
        </p:spPr>
      </p:sp>
      <p:sp>
        <p:nvSpPr>
          <p:cNvPr id="16" name="step-hex-label"/>
          <p:cNvSpPr txBox="1"/>
          <p:nvPr/>
        </p:nvSpPr>
        <p:spPr>
          <a:xfrm>
            <a:off x="6438748" y="2765552"/>
            <a:ext cx="530352" cy="45928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17" name="step"/>
          <p:cNvSpPr txBox="1"/>
          <p:nvPr/>
        </p:nvSpPr>
        <p:spPr>
          <a:xfrm>
            <a:off x="6438748" y="3250184"/>
            <a:ext cx="5067148" cy="1567180"/>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Write it up: This statement shows change, because before the dispute the king expected to choose the Archbishop and afterwards the Pope's choice stood. The balance of power over the English Church had shifted towards Rome.</a:t>
            </a:r>
            <a:endParaRPr lang="en-US" sz="1800" dirty="0"/>
          </a:p>
        </p:txBody>
      </p:sp>
      <p:sp>
        <p:nvSpPr>
          <p:cNvPr id="18" name="worked-answer"/>
          <p:cNvSpPr/>
          <p:nvPr/>
        </p:nvSpPr>
        <p:spPr>
          <a:xfrm>
            <a:off x="1463040" y="5313680"/>
            <a:ext cx="9265615" cy="831088"/>
          </a:xfrm>
          <a:prstGeom prst="roundRect">
            <a:avLst>
              <a:gd name="adj" fmla="val 22005"/>
            </a:avLst>
          </a:prstGeom>
          <a:solidFill>
            <a:srgbClr val="EFE4D0"/>
          </a:solidFill>
          <a:ln w="19050">
            <a:solidFill>
              <a:srgbClr val="B8862B"/>
            </a:solid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Answer  </a:t>
            </a:r>
            <a:pPr algn="ctr" indent="0" marL="0">
              <a:buNone/>
            </a:pPr>
            <a:r>
              <a:rPr lang="en-US" sz="1800" b="1" dirty="0">
                <a:solidFill>
                  <a:srgbClr val="1E2229"/>
                </a:solidFill>
                <a:latin typeface="Calibri" pitchFamily="34" charset="0"/>
                <a:ea typeface="Calibri" pitchFamily="34" charset="-122"/>
                <a:cs typeface="Calibri" pitchFamily="34" charset="-120"/>
              </a:rPr>
              <a:t>Change: the Pope's say in English Church matters grew because of the dispute; it had not been as great before.</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Who held the ultimate power?</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350256"/>
            <a:ext cx="11094415" cy="794512"/>
          </a:xfrm>
          <a:prstGeom prst="roundRect">
            <a:avLst>
              <a:gd name="adj" fmla="val 17263"/>
            </a:avLst>
          </a:prstGeom>
          <a:solidFill>
            <a:srgbClr val="F6F0E6"/>
          </a:solidFill>
          <a:ln w="15875">
            <a:solidFill>
              <a:srgbClr val="B8862B"/>
            </a:solidFill>
            <a:prstDash val="solid"/>
          </a:ln>
        </p:spPr>
      </p:sp>
      <p:sp>
        <p:nvSpPr>
          <p:cNvPr id="8" name="tip-hex"/>
          <p:cNvSpPr/>
          <p:nvPr/>
        </p:nvSpPr>
        <p:spPr>
          <a:xfrm>
            <a:off x="685800" y="5549544"/>
            <a:ext cx="457200" cy="395935"/>
          </a:xfrm>
          <a:prstGeom prst="hexagon">
            <a:avLst/>
          </a:prstGeom>
          <a:solidFill>
            <a:srgbClr val="B8862B"/>
          </a:solidFill>
          <a:ln/>
        </p:spPr>
      </p:sp>
      <p:sp>
        <p:nvSpPr>
          <p:cNvPr id="9" name="tip-hex-label"/>
          <p:cNvSpPr txBox="1"/>
          <p:nvPr/>
        </p:nvSpPr>
        <p:spPr>
          <a:xfrm>
            <a:off x="685800" y="5549544"/>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405120"/>
            <a:ext cx="10225735" cy="684784"/>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Ultimate means final: who won when the two powers clashed? Use both quarrels as evidence, not just one.</a:t>
            </a:r>
            <a:endParaRPr lang="en-US" sz="1800" dirty="0"/>
          </a:p>
        </p:txBody>
      </p:sp>
      <p:sp>
        <p:nvSpPr>
          <p:cNvPr id="11" name="point-card"/>
          <p:cNvSpPr/>
          <p:nvPr/>
        </p:nvSpPr>
        <p:spPr>
          <a:xfrm>
            <a:off x="548640" y="1389888"/>
            <a:ext cx="3515258" cy="3686048"/>
          </a:xfrm>
          <a:prstGeom prst="roundRect">
            <a:avLst>
              <a:gd name="adj" fmla="val 1561"/>
            </a:avLst>
          </a:prstGeom>
          <a:solidFill>
            <a:srgbClr val="F6F2EF"/>
          </a:solidFill>
          <a:ln/>
        </p:spPr>
      </p:sp>
      <p:sp>
        <p:nvSpPr>
          <p:cNvPr id="12" name="point-hex"/>
          <p:cNvSpPr/>
          <p:nvPr/>
        </p:nvSpPr>
        <p:spPr>
          <a:xfrm>
            <a:off x="731520" y="1572768"/>
            <a:ext cx="685800" cy="593903"/>
          </a:xfrm>
          <a:prstGeom prst="hexagon">
            <a:avLst/>
          </a:prstGeom>
          <a:solidFill>
            <a:srgbClr val="7A4A1E"/>
          </a:solidFill>
          <a:ln/>
        </p:spPr>
      </p:sp>
      <p:sp>
        <p:nvSpPr>
          <p:cNvPr id="13"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4" name="point"/>
          <p:cNvSpPr txBox="1"/>
          <p:nvPr/>
        </p:nvSpPr>
        <p:spPr>
          <a:xfrm>
            <a:off x="731520" y="2350008"/>
            <a:ext cx="3149498" cy="2588768"/>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Now put the two quarrels together. Henry II tried to make the Church obey the Crown, and the result was that Becket was made a saint and Canterbury became the greatest pilgrim site in England.</a:t>
            </a:r>
            <a:endParaRPr lang="en-US" sz="1800" dirty="0"/>
          </a:p>
        </p:txBody>
      </p:sp>
      <p:sp>
        <p:nvSpPr>
          <p:cNvPr id="15" name="point-card"/>
          <p:cNvSpPr/>
          <p:nvPr/>
        </p:nvSpPr>
        <p:spPr>
          <a:xfrm>
            <a:off x="4338218" y="1389888"/>
            <a:ext cx="3515258" cy="3686048"/>
          </a:xfrm>
          <a:prstGeom prst="roundRect">
            <a:avLst>
              <a:gd name="adj" fmla="val 1561"/>
            </a:avLst>
          </a:prstGeom>
          <a:solidFill>
            <a:srgbClr val="F9F4EC"/>
          </a:solidFill>
          <a:ln/>
        </p:spPr>
      </p:sp>
      <p:sp>
        <p:nvSpPr>
          <p:cNvPr id="16" name="point-hex"/>
          <p:cNvSpPr/>
          <p:nvPr/>
        </p:nvSpPr>
        <p:spPr>
          <a:xfrm>
            <a:off x="4521098" y="1572768"/>
            <a:ext cx="685800" cy="593903"/>
          </a:xfrm>
          <a:prstGeom prst="hexagon">
            <a:avLst/>
          </a:prstGeom>
          <a:solidFill>
            <a:srgbClr val="B8862B"/>
          </a:solidFill>
          <a:ln/>
        </p:spPr>
      </p:sp>
      <p:sp>
        <p:nvSpPr>
          <p:cNvPr id="17" name="point-hex-label"/>
          <p:cNvSpPr txBox="1"/>
          <p:nvPr/>
        </p:nvSpPr>
        <p:spPr>
          <a:xfrm>
            <a:off x="452109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8" name="point"/>
          <p:cNvSpPr txBox="1"/>
          <p:nvPr/>
        </p:nvSpPr>
        <p:spPr>
          <a:xfrm>
            <a:off x="4521098" y="2350008"/>
            <a:ext cx="3149498" cy="2588768"/>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Yet both men stayed king. No one took Henry's throne for the murder, and John remained King of England and went on choosing who helped him lead the country.</a:t>
            </a:r>
            <a:endParaRPr lang="en-US" sz="1800" dirty="0"/>
          </a:p>
        </p:txBody>
      </p:sp>
      <p:sp>
        <p:nvSpPr>
          <p:cNvPr id="19" name="point-card"/>
          <p:cNvSpPr/>
          <p:nvPr/>
        </p:nvSpPr>
        <p:spPr>
          <a:xfrm>
            <a:off x="8127797" y="1389888"/>
            <a:ext cx="3515258" cy="3686048"/>
          </a:xfrm>
          <a:prstGeom prst="roundRect">
            <a:avLst>
              <a:gd name="adj" fmla="val 1561"/>
            </a:avLst>
          </a:prstGeom>
          <a:solidFill>
            <a:srgbClr val="F6F2EF"/>
          </a:solidFill>
          <a:ln/>
        </p:spPr>
      </p:sp>
      <p:sp>
        <p:nvSpPr>
          <p:cNvPr id="20" name="point-hex"/>
          <p:cNvSpPr/>
          <p:nvPr/>
        </p:nvSpPr>
        <p:spPr>
          <a:xfrm>
            <a:off x="8310677" y="1572768"/>
            <a:ext cx="685800" cy="593903"/>
          </a:xfrm>
          <a:prstGeom prst="hexagon">
            <a:avLst/>
          </a:prstGeom>
          <a:solidFill>
            <a:srgbClr val="7A4A1E"/>
          </a:solidFill>
          <a:ln/>
        </p:spPr>
      </p:sp>
      <p:sp>
        <p:nvSpPr>
          <p:cNvPr id="21" name="point-hex-label"/>
          <p:cNvSpPr txBox="1"/>
          <p:nvPr/>
        </p:nvSpPr>
        <p:spPr>
          <a:xfrm>
            <a:off x="8310677"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2" name="point"/>
          <p:cNvSpPr txBox="1"/>
          <p:nvPr/>
        </p:nvSpPr>
        <p:spPr>
          <a:xfrm>
            <a:off x="8310677" y="2350008"/>
            <a:ext cx="3149498" cy="2588768"/>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So your lesson's final question is a real one, and historians still argue about it.</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The task: Change or continuity?</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Same task</a:t>
            </a:r>
            <a:endParaRPr lang="en-US" sz="1800" dirty="0"/>
          </a:p>
        </p:txBody>
      </p:sp>
      <p:sp>
        <p:nvSpPr>
          <p:cNvPr id="7" name="task-box"/>
          <p:cNvSpPr/>
          <p:nvPr/>
        </p:nvSpPr>
        <p:spPr>
          <a:xfrm>
            <a:off x="548640" y="1389888"/>
            <a:ext cx="11094415" cy="4754880"/>
          </a:xfrm>
          <a:prstGeom prst="roundRect">
            <a:avLst>
              <a:gd name="adj" fmla="val 962"/>
            </a:avLst>
          </a:prstGeom>
          <a:solidFill>
            <a:srgbClr val="FFFFFF"/>
          </a:solidFill>
          <a:ln w="31750">
            <a:solidFill>
              <a:srgbClr val="B8862B"/>
            </a:solidFill>
            <a:prstDash val="solid"/>
          </a:ln>
        </p:spPr>
      </p:sp>
      <p:sp>
        <p:nvSpPr>
          <p:cNvPr id="8" name="task-hex"/>
          <p:cNvSpPr/>
          <p:nvPr/>
        </p:nvSpPr>
        <p:spPr>
          <a:xfrm>
            <a:off x="822960" y="1664208"/>
            <a:ext cx="822960" cy="712683"/>
          </a:xfrm>
          <a:prstGeom prst="hexagon">
            <a:avLst/>
          </a:prstGeom>
          <a:solidFill>
            <a:srgbClr val="B8862B"/>
          </a:solidFill>
          <a:ln/>
        </p:spPr>
      </p:sp>
      <p:sp>
        <p:nvSpPr>
          <p:cNvPr id="9" name="task-hex-label"/>
          <p:cNvSpPr txBox="1"/>
          <p:nvPr/>
        </p:nvSpPr>
        <p:spPr>
          <a:xfrm>
            <a:off x="822960" y="1664208"/>
            <a:ext cx="822960" cy="712683"/>
          </a:xfrm>
          <a:prstGeom prst="rect">
            <a:avLst/>
          </a:prstGeom>
          <a:noFill/>
          <a:ln/>
        </p:spPr>
        <p:txBody>
          <a:bodyPr wrap="square" lIns="0" tIns="0" rIns="0" bIns="0" rtlCol="0" anchor="ctr"/>
          <a:lstStyle/>
          <a:p>
            <a:pPr algn="ctr" indent="0" marL="0">
              <a:buNone/>
            </a:pPr>
            <a:r>
              <a:rPr lang="en-US" sz="2800" b="1" dirty="0">
                <a:solidFill>
                  <a:srgbClr val="FFFFFF"/>
                </a:solidFill>
                <a:latin typeface="Cambria" pitchFamily="34" charset="0"/>
                <a:ea typeface="Cambria" pitchFamily="34" charset="-122"/>
                <a:cs typeface="Cambria" pitchFamily="34" charset="-120"/>
              </a:rPr>
              <a:t>1</a:t>
            </a:r>
            <a:endParaRPr lang="en-US" sz="2800" dirty="0"/>
          </a:p>
        </p:txBody>
      </p:sp>
      <p:sp>
        <p:nvSpPr>
          <p:cNvPr id="10" name="task"/>
          <p:cNvSpPr txBox="1"/>
          <p:nvPr/>
        </p:nvSpPr>
        <p:spPr>
          <a:xfrm>
            <a:off x="1828800" y="1572768"/>
            <a:ext cx="8534095" cy="4389120"/>
          </a:xfrm>
          <a:prstGeom prst="rect">
            <a:avLst/>
          </a:prstGeom>
          <a:noFill/>
          <a:ln/>
        </p:spPr>
        <p:txBody>
          <a:bodyPr wrap="square" lIns="63500" tIns="63500" rIns="63500" bIns="63500" rtlCol="0" anchor="ctr"/>
          <a:lstStyle/>
          <a:p>
            <a:pPr algn="ctr" indent="0" marL="0">
              <a:spcAft>
                <a:spcPts val="600"/>
              </a:spcAft>
              <a:buNone/>
            </a:pPr>
            <a:r>
              <a:rPr lang="en-US" sz="2600" b="1" dirty="0">
                <a:solidFill>
                  <a:srgbClr val="1E2229"/>
                </a:solidFill>
                <a:latin typeface="Calibri" pitchFamily="34" charset="0"/>
                <a:ea typeface="Calibri" pitchFamily="34" charset="-122"/>
                <a:cs typeface="Calibri" pitchFamily="34" charset="-120"/>
              </a:rPr>
              <a:t>After the dispute, the Church remained wealthy and powerful. Is this statement evidence of change or continuity?</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A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Continuity</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B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Neither: it has nothing to do with the dispute</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C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Change</a:t>
            </a:r>
            <a:endParaRPr lang="en-US" sz="26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000" b="1" dirty="0">
                <a:solidFill>
                  <a:srgbClr val="7A4A1E"/>
                </a:solidFill>
                <a:latin typeface="Cambria" pitchFamily="34" charset="0"/>
                <a:ea typeface="Cambria" pitchFamily="34" charset="-122"/>
                <a:cs typeface="Cambria" pitchFamily="34" charset="-120"/>
              </a:rPr>
              <a:t>Same task, three ways in: Change or continuity?</a:t>
            </a:r>
            <a:endParaRPr lang="en-US" sz="30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Routes</a:t>
            </a:r>
            <a:endParaRPr lang="en-US" sz="1800" dirty="0"/>
          </a:p>
        </p:txBody>
      </p:sp>
      <p:sp>
        <p:nvSpPr>
          <p:cNvPr id="7" name="task-box"/>
          <p:cNvSpPr/>
          <p:nvPr/>
        </p:nvSpPr>
        <p:spPr>
          <a:xfrm>
            <a:off x="548640" y="1389888"/>
            <a:ext cx="11094415" cy="929640"/>
          </a:xfrm>
          <a:prstGeom prst="roundRect">
            <a:avLst>
              <a:gd name="adj" fmla="val 9836"/>
            </a:avLst>
          </a:prstGeom>
          <a:solidFill>
            <a:srgbClr val="FFFFFF"/>
          </a:solidFill>
          <a:ln w="31750">
            <a:solidFill>
              <a:srgbClr val="B8862B"/>
            </a:solidFill>
            <a:prstDash val="solid"/>
          </a:ln>
        </p:spPr>
      </p:sp>
      <p:sp>
        <p:nvSpPr>
          <p:cNvPr id="8" name="task-hex"/>
          <p:cNvSpPr/>
          <p:nvPr/>
        </p:nvSpPr>
        <p:spPr>
          <a:xfrm>
            <a:off x="777240" y="1537960"/>
            <a:ext cx="731520" cy="633496"/>
          </a:xfrm>
          <a:prstGeom prst="hexagon">
            <a:avLst/>
          </a:prstGeom>
          <a:solidFill>
            <a:srgbClr val="B8862B"/>
          </a:solidFill>
          <a:ln/>
        </p:spPr>
      </p:sp>
      <p:sp>
        <p:nvSpPr>
          <p:cNvPr id="9" name="task-hex-label"/>
          <p:cNvSpPr txBox="1"/>
          <p:nvPr/>
        </p:nvSpPr>
        <p:spPr>
          <a:xfrm>
            <a:off x="777240" y="1537960"/>
            <a:ext cx="731520" cy="633496"/>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task-everyone"/>
          <p:cNvSpPr txBox="1"/>
          <p:nvPr/>
        </p:nvSpPr>
        <p:spPr>
          <a:xfrm>
            <a:off x="10362895" y="1580388"/>
            <a:ext cx="1188720" cy="548640"/>
          </a:xfrm>
          <a:prstGeom prst="rect">
            <a:avLst/>
          </a:prstGeom>
          <a:no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Everyone</a:t>
            </a:r>
            <a:endParaRPr lang="en-US" sz="1800" dirty="0"/>
          </a:p>
        </p:txBody>
      </p:sp>
      <p:sp>
        <p:nvSpPr>
          <p:cNvPr id="11" name="task"/>
          <p:cNvSpPr txBox="1"/>
          <p:nvPr/>
        </p:nvSpPr>
        <p:spPr>
          <a:xfrm>
            <a:off x="1645920" y="1481328"/>
            <a:ext cx="8579815" cy="746760"/>
          </a:xfrm>
          <a:prstGeom prst="rect">
            <a:avLst/>
          </a:prstGeom>
          <a:noFill/>
          <a:ln/>
        </p:spPr>
        <p:txBody>
          <a:bodyPr wrap="square" lIns="63500" tIns="63500" rIns="63500" bIns="63500" rtlCol="0" anchor="ctr"/>
          <a:lstStyle/>
          <a:p>
            <a:pPr algn="ctr" indent="0" marL="0">
              <a:spcAft>
                <a:spcPts val="600"/>
              </a:spcAft>
              <a:buNone/>
            </a:pPr>
            <a:r>
              <a:rPr lang="en-US" sz="2000" b="1" dirty="0">
                <a:solidFill>
                  <a:srgbClr val="1E2229"/>
                </a:solidFill>
                <a:latin typeface="Calibri" pitchFamily="34" charset="0"/>
                <a:ea typeface="Calibri" pitchFamily="34" charset="-122"/>
                <a:cs typeface="Calibri" pitchFamily="34" charset="-120"/>
              </a:rPr>
              <a:t>After the dispute, the Church remained wealthy and powerful. Is this statement evidence of change or continuity?</a:t>
            </a:r>
            <a:endParaRPr lang="en-US" sz="2000" dirty="0"/>
          </a:p>
        </p:txBody>
      </p:sp>
      <p:sp>
        <p:nvSpPr>
          <p:cNvPr id="12" name="col-Support"/>
          <p:cNvSpPr/>
          <p:nvPr/>
        </p:nvSpPr>
        <p:spPr>
          <a:xfrm>
            <a:off x="548640" y="2593848"/>
            <a:ext cx="4667802" cy="3550920"/>
          </a:xfrm>
          <a:prstGeom prst="roundRect">
            <a:avLst>
              <a:gd name="adj" fmla="val 1545"/>
            </a:avLst>
          </a:prstGeom>
          <a:solidFill>
            <a:srgbClr val="F6F2EF"/>
          </a:solidFill>
          <a:ln/>
        </p:spPr>
      </p:sp>
      <p:sp>
        <p:nvSpPr>
          <p:cNvPr id="13" name="col-hex"/>
          <p:cNvSpPr/>
          <p:nvPr/>
        </p:nvSpPr>
        <p:spPr>
          <a:xfrm>
            <a:off x="658368" y="2667000"/>
            <a:ext cx="475488" cy="411773"/>
          </a:xfrm>
          <a:prstGeom prst="hexagon">
            <a:avLst/>
          </a:prstGeom>
          <a:solidFill>
            <a:srgbClr val="B8862B"/>
          </a:solidFill>
          <a:ln w="12700">
            <a:solidFill>
              <a:srgbClr val="FFFFFF"/>
            </a:solidFill>
            <a:prstDash val="solid"/>
          </a:ln>
        </p:spPr>
      </p:sp>
      <p:sp>
        <p:nvSpPr>
          <p:cNvPr id="14" name="col-hex-label"/>
          <p:cNvSpPr txBox="1"/>
          <p:nvPr/>
        </p:nvSpPr>
        <p:spPr>
          <a:xfrm>
            <a:off x="658368" y="266700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5" name="col-head"/>
          <p:cNvSpPr txBox="1"/>
          <p:nvPr/>
        </p:nvSpPr>
        <p:spPr>
          <a:xfrm>
            <a:off x="1188720" y="2630424"/>
            <a:ext cx="3936282" cy="566928"/>
          </a:xfrm>
          <a:prstGeom prst="rect">
            <a:avLst/>
          </a:prstGeom>
          <a:noFill/>
          <a:ln/>
        </p:spPr>
        <p:txBody>
          <a:bodyPr wrap="square" lIns="63500" tIns="63500" rIns="63500" bIns="63500" rtlCol="0" anchor="ctr"/>
          <a:lstStyle/>
          <a:p>
            <a:pPr algn="l" indent="0" marL="0">
              <a:buNone/>
            </a:pPr>
            <a:r>
              <a:rPr lang="en-US" sz="2000" b="1" dirty="0">
                <a:solidFill>
                  <a:srgbClr val="553415"/>
                </a:solidFill>
                <a:latin typeface="Calibri" pitchFamily="34" charset="0"/>
                <a:ea typeface="Calibri" pitchFamily="34" charset="-122"/>
                <a:cs typeface="Calibri" pitchFamily="34" charset="-120"/>
              </a:rPr>
              <a:t>Support</a:t>
            </a:r>
            <a:endParaRPr lang="en-US" sz="2000" dirty="0"/>
          </a:p>
        </p:txBody>
      </p:sp>
      <p:sp>
        <p:nvSpPr>
          <p:cNvPr id="16" name="col-body"/>
          <p:cNvSpPr txBox="1"/>
          <p:nvPr/>
        </p:nvSpPr>
        <p:spPr>
          <a:xfrm>
            <a:off x="685800" y="3233928"/>
            <a:ext cx="4393482" cy="2801112"/>
          </a:xfrm>
          <a:prstGeom prst="rect">
            <a:avLst/>
          </a:prstGeom>
          <a:noFill/>
          <a:ln/>
        </p:spPr>
        <p:txBody>
          <a:bodyPr wrap="square" lIns="63500" tIns="63500" rIns="63500" bIns="63500" rtlCol="0" anchor="t"/>
          <a:lstStyle/>
          <a:p>
            <a:pPr algn="l" indent="0" marL="0">
              <a:spcAft>
                <a:spcPts val="600"/>
              </a:spcAft>
              <a:buNone/>
            </a:pPr>
            <a:r>
              <a:rPr lang="en-US" sz="1800" b="1" dirty="0">
                <a:solidFill>
                  <a:srgbClr val="7A4A1E"/>
                </a:solidFill>
                <a:latin typeface="Calibri" pitchFamily="34" charset="0"/>
                <a:ea typeface="Calibri" pitchFamily="34" charset="-122"/>
                <a:cs typeface="Calibri" pitchFamily="34" charset="-120"/>
              </a:rPr>
              <a:t>1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Ask the test question: was this true before the dispute as well?</a:t>
            </a:r>
            <a:endParaRPr lang="en-US" sz="1800" dirty="0"/>
          </a:p>
          <a:p>
            <a:pPr algn="l" indent="0" marL="0">
              <a:spcAft>
                <a:spcPts val="600"/>
              </a:spcAft>
              <a:buNone/>
            </a:pPr>
            <a:r>
              <a:rPr lang="en-US" sz="1800" b="1" dirty="0">
                <a:solidFill>
                  <a:srgbClr val="7A4A1E"/>
                </a:solidFill>
                <a:latin typeface="Calibri" pitchFamily="34" charset="0"/>
                <a:ea typeface="Calibri" pitchFamily="34" charset="-122"/>
                <a:cs typeface="Calibri" pitchFamily="34" charset="-120"/>
              </a:rPr>
              <a:t>2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If it was true before and is still true after, nothing has become different.</a:t>
            </a:r>
            <a:endParaRPr lang="en-US" sz="1800" dirty="0"/>
          </a:p>
          <a:p>
            <a:pPr algn="l" indent="0" marL="0">
              <a:spcAft>
                <a:spcPts val="600"/>
              </a:spcAft>
              <a:buNone/>
            </a:pPr>
            <a:r>
              <a:rPr lang="en-US" sz="1800" b="1" dirty="0">
                <a:solidFill>
                  <a:srgbClr val="7A4A1E"/>
                </a:solidFill>
                <a:latin typeface="Calibri" pitchFamily="34" charset="0"/>
                <a:ea typeface="Calibri" pitchFamily="34" charset="-122"/>
                <a:cs typeface="Calibri" pitchFamily="34" charset="-120"/>
              </a:rPr>
              <a:t>3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Something that stays the same is continuity.</a:t>
            </a:r>
            <a:endParaRPr lang="en-US" sz="1800" dirty="0"/>
          </a:p>
          <a:p>
            <a:pPr algn="l" indent="0" marL="0">
              <a:spcAft>
                <a:spcPts val="600"/>
              </a:spcAft>
              <a:buNone/>
            </a:pPr>
            <a:r>
              <a:rPr lang="en-US" sz="1800" b="1" dirty="0">
                <a:solidFill>
                  <a:srgbClr val="7A4A1E"/>
                </a:solidFill>
                <a:latin typeface="Calibri" pitchFamily="34" charset="0"/>
                <a:ea typeface="Calibri" pitchFamily="34" charset="-122"/>
                <a:cs typeface="Calibri" pitchFamily="34" charset="-120"/>
              </a:rPr>
              <a:t>4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Check the signal words: remained, still and continued point to continuity.</a:t>
            </a:r>
            <a:endParaRPr lang="en-US" sz="1800" dirty="0"/>
          </a:p>
        </p:txBody>
      </p:sp>
      <p:sp>
        <p:nvSpPr>
          <p:cNvPr id="17" name="col-Core"/>
          <p:cNvSpPr/>
          <p:nvPr/>
        </p:nvSpPr>
        <p:spPr>
          <a:xfrm>
            <a:off x="5490762" y="2593848"/>
            <a:ext cx="2938987" cy="3550920"/>
          </a:xfrm>
          <a:prstGeom prst="roundRect">
            <a:avLst>
              <a:gd name="adj" fmla="val 1867"/>
            </a:avLst>
          </a:prstGeom>
          <a:solidFill>
            <a:srgbClr val="E6DDD4"/>
          </a:solidFill>
          <a:ln/>
        </p:spPr>
      </p:sp>
      <p:sp>
        <p:nvSpPr>
          <p:cNvPr id="18" name="col-hex"/>
          <p:cNvSpPr/>
          <p:nvPr/>
        </p:nvSpPr>
        <p:spPr>
          <a:xfrm>
            <a:off x="5600490" y="2667000"/>
            <a:ext cx="475488" cy="411773"/>
          </a:xfrm>
          <a:prstGeom prst="hexagon">
            <a:avLst/>
          </a:prstGeom>
          <a:solidFill>
            <a:srgbClr val="B8862B"/>
          </a:solidFill>
          <a:ln w="12700">
            <a:solidFill>
              <a:srgbClr val="FFFFFF"/>
            </a:solidFill>
            <a:prstDash val="solid"/>
          </a:ln>
        </p:spPr>
      </p:sp>
      <p:sp>
        <p:nvSpPr>
          <p:cNvPr id="19" name="col-hex-label"/>
          <p:cNvSpPr txBox="1"/>
          <p:nvPr/>
        </p:nvSpPr>
        <p:spPr>
          <a:xfrm>
            <a:off x="5600490" y="266700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0" name="col-head"/>
          <p:cNvSpPr txBox="1"/>
          <p:nvPr/>
        </p:nvSpPr>
        <p:spPr>
          <a:xfrm>
            <a:off x="6130842" y="2630424"/>
            <a:ext cx="2207467" cy="566928"/>
          </a:xfrm>
          <a:prstGeom prst="rect">
            <a:avLst/>
          </a:prstGeom>
          <a:noFill/>
          <a:ln/>
        </p:spPr>
        <p:txBody>
          <a:bodyPr wrap="square" lIns="63500" tIns="63500" rIns="63500" bIns="63500" rtlCol="0" anchor="ctr"/>
          <a:lstStyle/>
          <a:p>
            <a:pPr algn="l" indent="0" marL="0">
              <a:buNone/>
            </a:pPr>
            <a:r>
              <a:rPr lang="en-US" sz="2000" b="1" dirty="0">
                <a:solidFill>
                  <a:srgbClr val="553415"/>
                </a:solidFill>
                <a:latin typeface="Calibri" pitchFamily="34" charset="0"/>
                <a:ea typeface="Calibri" pitchFamily="34" charset="-122"/>
                <a:cs typeface="Calibri" pitchFamily="34" charset="-120"/>
              </a:rPr>
              <a:t>Core</a:t>
            </a:r>
            <a:endParaRPr lang="en-US" sz="2000" dirty="0"/>
          </a:p>
        </p:txBody>
      </p:sp>
      <p:sp>
        <p:nvSpPr>
          <p:cNvPr id="21" name="col-body"/>
          <p:cNvSpPr txBox="1"/>
          <p:nvPr/>
        </p:nvSpPr>
        <p:spPr>
          <a:xfrm>
            <a:off x="5627922" y="3233928"/>
            <a:ext cx="2664667" cy="2801112"/>
          </a:xfrm>
          <a:prstGeom prst="rect">
            <a:avLst/>
          </a:prstGeom>
          <a:noFill/>
          <a:ln/>
        </p:spPr>
        <p:txBody>
          <a:bodyPr wrap="square" lIns="63500" tIns="63500" rIns="63500" bIns="63500" rtlCol="0" anchor="t"/>
          <a:lstStyle/>
          <a:p>
            <a:pPr algn="l" indent="0" marL="0">
              <a:buNone/>
            </a:pPr>
            <a:r>
              <a:rPr lang="en-US" sz="1800" b="1" dirty="0">
                <a:solidFill>
                  <a:srgbClr val="623B18"/>
                </a:solidFill>
                <a:latin typeface="Calibri" pitchFamily="34" charset="0"/>
                <a:ea typeface="Calibri" pitchFamily="34" charset="-122"/>
                <a:cs typeface="Calibri" pitchFamily="34" charset="-120"/>
              </a:rPr>
              <a:t>Hint:  </a:t>
            </a:r>
            <a:pPr algn="l" indent="0" marL="0">
              <a:buNone/>
            </a:pPr>
            <a:r>
              <a:rPr lang="en-US" sz="1800" dirty="0">
                <a:solidFill>
                  <a:srgbClr val="1E2229"/>
                </a:solidFill>
                <a:latin typeface="Calibri" pitchFamily="34" charset="0"/>
                <a:ea typeface="Calibri" pitchFamily="34" charset="-122"/>
                <a:cs typeface="Calibri" pitchFamily="34" charset="-120"/>
              </a:rPr>
              <a:t>Was it true before as well? Yes means continuity. Look for remained.</a:t>
            </a:r>
            <a:endParaRPr lang="en-US" sz="1800" dirty="0"/>
          </a:p>
        </p:txBody>
      </p:sp>
      <p:sp>
        <p:nvSpPr>
          <p:cNvPr id="22" name="col-Stretch"/>
          <p:cNvSpPr/>
          <p:nvPr/>
        </p:nvSpPr>
        <p:spPr>
          <a:xfrm>
            <a:off x="8704069" y="2593848"/>
            <a:ext cx="2938987" cy="3550920"/>
          </a:xfrm>
          <a:prstGeom prst="roundRect">
            <a:avLst>
              <a:gd name="adj" fmla="val 1867"/>
            </a:avLst>
          </a:prstGeom>
          <a:solidFill>
            <a:srgbClr val="7A4A1E"/>
          </a:solidFill>
          <a:ln/>
        </p:spPr>
      </p:sp>
      <p:sp>
        <p:nvSpPr>
          <p:cNvPr id="23" name="col-hex"/>
          <p:cNvSpPr/>
          <p:nvPr/>
        </p:nvSpPr>
        <p:spPr>
          <a:xfrm>
            <a:off x="8813797" y="2667000"/>
            <a:ext cx="475488" cy="411773"/>
          </a:xfrm>
          <a:prstGeom prst="hexagon">
            <a:avLst/>
          </a:prstGeom>
          <a:solidFill>
            <a:srgbClr val="B8862B"/>
          </a:solidFill>
          <a:ln w="12700">
            <a:solidFill>
              <a:srgbClr val="FFFFFF"/>
            </a:solidFill>
            <a:prstDash val="solid"/>
          </a:ln>
        </p:spPr>
      </p:sp>
      <p:sp>
        <p:nvSpPr>
          <p:cNvPr id="24" name="col-hex-label"/>
          <p:cNvSpPr txBox="1"/>
          <p:nvPr/>
        </p:nvSpPr>
        <p:spPr>
          <a:xfrm>
            <a:off x="8813797" y="266700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5" name="col-head"/>
          <p:cNvSpPr txBox="1"/>
          <p:nvPr/>
        </p:nvSpPr>
        <p:spPr>
          <a:xfrm>
            <a:off x="9344149" y="2630424"/>
            <a:ext cx="2207467" cy="566928"/>
          </a:xfrm>
          <a:prstGeom prst="rect">
            <a:avLst/>
          </a:prstGeom>
          <a:noFill/>
          <a:ln/>
        </p:spPr>
        <p:txBody>
          <a:bodyPr wrap="square" lIns="63500" tIns="63500" rIns="63500" bIns="6350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Stretch</a:t>
            </a:r>
            <a:endParaRPr lang="en-US" sz="2000" dirty="0"/>
          </a:p>
        </p:txBody>
      </p:sp>
      <p:sp>
        <p:nvSpPr>
          <p:cNvPr id="26" name="col-body"/>
          <p:cNvSpPr txBox="1"/>
          <p:nvPr/>
        </p:nvSpPr>
        <p:spPr>
          <a:xfrm>
            <a:off x="8841229" y="3233928"/>
            <a:ext cx="2664667" cy="2801112"/>
          </a:xfrm>
          <a:prstGeom prst="rect">
            <a:avLst/>
          </a:prstGeom>
          <a:noFill/>
          <a:ln/>
        </p:spPr>
        <p:txBody>
          <a:bodyPr wrap="square" lIns="63500" tIns="63500" rIns="63500" bIns="63500" rtlCol="0" anchor="t"/>
          <a:lstStyle/>
          <a:p>
            <a:pPr algn="l" indent="0" marL="0">
              <a:buNone/>
            </a:pPr>
            <a:r>
              <a:rPr lang="en-US" sz="1800" b="1" dirty="0">
                <a:solidFill>
                  <a:srgbClr val="D4B680"/>
                </a:solidFill>
                <a:latin typeface="Calibri" pitchFamily="34" charset="0"/>
                <a:ea typeface="Calibri" pitchFamily="34" charset="-122"/>
                <a:cs typeface="Calibri" pitchFamily="34" charset="-120"/>
              </a:rPr>
              <a:t>Then:  </a:t>
            </a:r>
            <a:pPr algn="l" indent="0" marL="0">
              <a:buNone/>
            </a:pPr>
            <a:r>
              <a:rPr lang="en-US" sz="1800" dirty="0">
                <a:solidFill>
                  <a:srgbClr val="FFFFFF"/>
                </a:solidFill>
                <a:latin typeface="Calibri" pitchFamily="34" charset="0"/>
                <a:ea typeface="Calibri" pitchFamily="34" charset="-122"/>
                <a:cs typeface="Calibri" pitchFamily="34" charset="-120"/>
              </a:rPr>
              <a:t>Explain why a historian might say this continuity is the most important fact of all about John's quarrel with the Pope.</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The task: Two quarrels, one lesson</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Same task</a:t>
            </a:r>
            <a:endParaRPr lang="en-US" sz="1800" dirty="0"/>
          </a:p>
        </p:txBody>
      </p:sp>
      <p:sp>
        <p:nvSpPr>
          <p:cNvPr id="7" name="task-box"/>
          <p:cNvSpPr/>
          <p:nvPr/>
        </p:nvSpPr>
        <p:spPr>
          <a:xfrm>
            <a:off x="548640" y="1389888"/>
            <a:ext cx="11094415" cy="4754880"/>
          </a:xfrm>
          <a:prstGeom prst="roundRect">
            <a:avLst>
              <a:gd name="adj" fmla="val 962"/>
            </a:avLst>
          </a:prstGeom>
          <a:solidFill>
            <a:srgbClr val="FFFFFF"/>
          </a:solidFill>
          <a:ln w="31750">
            <a:solidFill>
              <a:srgbClr val="B8862B"/>
            </a:solidFill>
            <a:prstDash val="solid"/>
          </a:ln>
        </p:spPr>
      </p:sp>
      <p:sp>
        <p:nvSpPr>
          <p:cNvPr id="8" name="task-hex"/>
          <p:cNvSpPr/>
          <p:nvPr/>
        </p:nvSpPr>
        <p:spPr>
          <a:xfrm>
            <a:off x="822960" y="1664208"/>
            <a:ext cx="822960" cy="712683"/>
          </a:xfrm>
          <a:prstGeom prst="hexagon">
            <a:avLst/>
          </a:prstGeom>
          <a:solidFill>
            <a:srgbClr val="B8862B"/>
          </a:solidFill>
          <a:ln/>
        </p:spPr>
      </p:sp>
      <p:sp>
        <p:nvSpPr>
          <p:cNvPr id="9" name="task-hex-label"/>
          <p:cNvSpPr txBox="1"/>
          <p:nvPr/>
        </p:nvSpPr>
        <p:spPr>
          <a:xfrm>
            <a:off x="822960" y="1664208"/>
            <a:ext cx="822960" cy="712683"/>
          </a:xfrm>
          <a:prstGeom prst="rect">
            <a:avLst/>
          </a:prstGeom>
          <a:noFill/>
          <a:ln/>
        </p:spPr>
        <p:txBody>
          <a:bodyPr wrap="square" lIns="0" tIns="0" rIns="0" bIns="0" rtlCol="0" anchor="ctr"/>
          <a:lstStyle/>
          <a:p>
            <a:pPr algn="ctr" indent="0" marL="0">
              <a:buNone/>
            </a:pPr>
            <a:r>
              <a:rPr lang="en-US" sz="2800" b="1" dirty="0">
                <a:solidFill>
                  <a:srgbClr val="FFFFFF"/>
                </a:solidFill>
                <a:latin typeface="Cambria" pitchFamily="34" charset="0"/>
                <a:ea typeface="Cambria" pitchFamily="34" charset="-122"/>
                <a:cs typeface="Cambria" pitchFamily="34" charset="-120"/>
              </a:rPr>
              <a:t>2</a:t>
            </a:r>
            <a:endParaRPr lang="en-US" sz="2800" dirty="0"/>
          </a:p>
        </p:txBody>
      </p:sp>
      <p:sp>
        <p:nvSpPr>
          <p:cNvPr id="10" name="task"/>
          <p:cNvSpPr txBox="1"/>
          <p:nvPr/>
        </p:nvSpPr>
        <p:spPr>
          <a:xfrm>
            <a:off x="1828800" y="1572768"/>
            <a:ext cx="8534095" cy="4389120"/>
          </a:xfrm>
          <a:prstGeom prst="rect">
            <a:avLst/>
          </a:prstGeom>
          <a:noFill/>
          <a:ln/>
        </p:spPr>
        <p:txBody>
          <a:bodyPr wrap="square" lIns="63500" tIns="63500" rIns="63500" bIns="63500" rtlCol="0" anchor="ctr"/>
          <a:lstStyle/>
          <a:p>
            <a:pPr algn="ctr" indent="0" marL="0">
              <a:spcAft>
                <a:spcPts val="600"/>
              </a:spcAft>
              <a:buNone/>
            </a:pPr>
            <a:r>
              <a:rPr lang="en-US" sz="2600" b="1" dirty="0">
                <a:solidFill>
                  <a:srgbClr val="1E2229"/>
                </a:solidFill>
                <a:latin typeface="Calibri" pitchFamily="34" charset="0"/>
                <a:ea typeface="Calibri" pitchFamily="34" charset="-122"/>
                <a:cs typeface="Calibri" pitchFamily="34" charset="-120"/>
              </a:rPr>
              <a:t>What do the quarrels of Henry II and John with the Church have in common?</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A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In both, the king stayed on the throne but the Church kept its power and the king was humbled</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B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In both, the Pope removed the king from the throne</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C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In both, the king won and the Church lost its wealth</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D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In both, the Archbishop of Canterbury was murdered</a:t>
            </a:r>
            <a:endParaRPr lang="en-US" sz="26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2800" b="1" dirty="0">
                <a:solidFill>
                  <a:srgbClr val="7A4A1E"/>
                </a:solidFill>
                <a:latin typeface="Cambria" pitchFamily="34" charset="0"/>
                <a:ea typeface="Cambria" pitchFamily="34" charset="-122"/>
                <a:cs typeface="Cambria" pitchFamily="34" charset="-120"/>
              </a:rPr>
              <a:t>Same task, three ways in: Two quarrels, one lesson</a:t>
            </a:r>
            <a:endParaRPr lang="en-US" sz="28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Routes</a:t>
            </a:r>
            <a:endParaRPr lang="en-US" sz="1800" dirty="0"/>
          </a:p>
        </p:txBody>
      </p:sp>
      <p:sp>
        <p:nvSpPr>
          <p:cNvPr id="7" name="task-box"/>
          <p:cNvSpPr/>
          <p:nvPr/>
        </p:nvSpPr>
        <p:spPr>
          <a:xfrm>
            <a:off x="548640" y="1389888"/>
            <a:ext cx="11094415" cy="731520"/>
          </a:xfrm>
          <a:prstGeom prst="roundRect">
            <a:avLst>
              <a:gd name="adj" fmla="val 12500"/>
            </a:avLst>
          </a:prstGeom>
          <a:solidFill>
            <a:srgbClr val="FFFFFF"/>
          </a:solidFill>
          <a:ln w="31750">
            <a:solidFill>
              <a:srgbClr val="B8862B"/>
            </a:solidFill>
            <a:prstDash val="solid"/>
          </a:ln>
        </p:spPr>
      </p:sp>
      <p:sp>
        <p:nvSpPr>
          <p:cNvPr id="8" name="task-hex"/>
          <p:cNvSpPr/>
          <p:nvPr/>
        </p:nvSpPr>
        <p:spPr>
          <a:xfrm>
            <a:off x="777240" y="1438900"/>
            <a:ext cx="731520" cy="633496"/>
          </a:xfrm>
          <a:prstGeom prst="hexagon">
            <a:avLst/>
          </a:prstGeom>
          <a:solidFill>
            <a:srgbClr val="B8862B"/>
          </a:solidFill>
          <a:ln/>
        </p:spPr>
      </p:sp>
      <p:sp>
        <p:nvSpPr>
          <p:cNvPr id="9" name="task-hex-label"/>
          <p:cNvSpPr txBox="1"/>
          <p:nvPr/>
        </p:nvSpPr>
        <p:spPr>
          <a:xfrm>
            <a:off x="777240" y="1438900"/>
            <a:ext cx="731520" cy="633496"/>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0" name="task-everyone"/>
          <p:cNvSpPr txBox="1"/>
          <p:nvPr/>
        </p:nvSpPr>
        <p:spPr>
          <a:xfrm>
            <a:off x="10362895" y="1481328"/>
            <a:ext cx="1188720" cy="548640"/>
          </a:xfrm>
          <a:prstGeom prst="rect">
            <a:avLst/>
          </a:prstGeom>
          <a:no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Everyone</a:t>
            </a:r>
            <a:endParaRPr lang="en-US" sz="1800" dirty="0"/>
          </a:p>
        </p:txBody>
      </p:sp>
      <p:sp>
        <p:nvSpPr>
          <p:cNvPr id="11" name="task"/>
          <p:cNvSpPr txBox="1"/>
          <p:nvPr/>
        </p:nvSpPr>
        <p:spPr>
          <a:xfrm>
            <a:off x="1645920" y="1481328"/>
            <a:ext cx="8579815" cy="548640"/>
          </a:xfrm>
          <a:prstGeom prst="rect">
            <a:avLst/>
          </a:prstGeom>
          <a:noFill/>
          <a:ln/>
        </p:spPr>
        <p:txBody>
          <a:bodyPr wrap="square" lIns="63500" tIns="63500" rIns="63500" bIns="63500" rtlCol="0" anchor="ctr"/>
          <a:lstStyle/>
          <a:p>
            <a:pPr algn="ctr" indent="0" marL="0">
              <a:buNone/>
            </a:pPr>
            <a:r>
              <a:rPr lang="en-US" sz="2000" b="1" dirty="0">
                <a:solidFill>
                  <a:srgbClr val="1E2229"/>
                </a:solidFill>
                <a:latin typeface="Calibri" pitchFamily="34" charset="0"/>
                <a:ea typeface="Calibri" pitchFamily="34" charset="-122"/>
                <a:cs typeface="Calibri" pitchFamily="34" charset="-120"/>
              </a:rPr>
              <a:t>Task 2 (on the last slide): Two quarrels, one lesson</a:t>
            </a:r>
            <a:endParaRPr lang="en-US" sz="2000" dirty="0"/>
          </a:p>
        </p:txBody>
      </p:sp>
      <p:sp>
        <p:nvSpPr>
          <p:cNvPr id="12" name="col-Support"/>
          <p:cNvSpPr/>
          <p:nvPr/>
        </p:nvSpPr>
        <p:spPr>
          <a:xfrm>
            <a:off x="548640" y="2395728"/>
            <a:ext cx="4667802" cy="3749040"/>
          </a:xfrm>
          <a:prstGeom prst="roundRect">
            <a:avLst>
              <a:gd name="adj" fmla="val 1463"/>
            </a:avLst>
          </a:prstGeom>
          <a:solidFill>
            <a:srgbClr val="F6F2EF"/>
          </a:solidFill>
          <a:ln/>
        </p:spPr>
      </p:sp>
      <p:sp>
        <p:nvSpPr>
          <p:cNvPr id="13" name="col-hex"/>
          <p:cNvSpPr/>
          <p:nvPr/>
        </p:nvSpPr>
        <p:spPr>
          <a:xfrm>
            <a:off x="658368" y="2468880"/>
            <a:ext cx="475488" cy="411773"/>
          </a:xfrm>
          <a:prstGeom prst="hexagon">
            <a:avLst/>
          </a:prstGeom>
          <a:solidFill>
            <a:srgbClr val="B8862B"/>
          </a:solidFill>
          <a:ln w="12700">
            <a:solidFill>
              <a:srgbClr val="FFFFFF"/>
            </a:solidFill>
            <a:prstDash val="solid"/>
          </a:ln>
        </p:spPr>
      </p:sp>
      <p:sp>
        <p:nvSpPr>
          <p:cNvPr id="14" name="col-hex-label"/>
          <p:cNvSpPr txBox="1"/>
          <p:nvPr/>
        </p:nvSpPr>
        <p:spPr>
          <a:xfrm>
            <a:off x="658368" y="2468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5" name="col-head"/>
          <p:cNvSpPr txBox="1"/>
          <p:nvPr/>
        </p:nvSpPr>
        <p:spPr>
          <a:xfrm>
            <a:off x="1188720" y="2432304"/>
            <a:ext cx="3936282" cy="566928"/>
          </a:xfrm>
          <a:prstGeom prst="rect">
            <a:avLst/>
          </a:prstGeom>
          <a:noFill/>
          <a:ln/>
        </p:spPr>
        <p:txBody>
          <a:bodyPr wrap="square" lIns="63500" tIns="63500" rIns="63500" bIns="63500" rtlCol="0" anchor="ctr"/>
          <a:lstStyle/>
          <a:p>
            <a:pPr algn="l" indent="0" marL="0">
              <a:buNone/>
            </a:pPr>
            <a:r>
              <a:rPr lang="en-US" sz="2000" b="1" dirty="0">
                <a:solidFill>
                  <a:srgbClr val="553415"/>
                </a:solidFill>
                <a:latin typeface="Calibri" pitchFamily="34" charset="0"/>
                <a:ea typeface="Calibri" pitchFamily="34" charset="-122"/>
                <a:cs typeface="Calibri" pitchFamily="34" charset="-120"/>
              </a:rPr>
              <a:t>Support</a:t>
            </a:r>
            <a:endParaRPr lang="en-US" sz="2000" dirty="0"/>
          </a:p>
        </p:txBody>
      </p:sp>
      <p:sp>
        <p:nvSpPr>
          <p:cNvPr id="16" name="col-body"/>
          <p:cNvSpPr txBox="1"/>
          <p:nvPr/>
        </p:nvSpPr>
        <p:spPr>
          <a:xfrm>
            <a:off x="685800" y="3035808"/>
            <a:ext cx="4393482" cy="2999232"/>
          </a:xfrm>
          <a:prstGeom prst="rect">
            <a:avLst/>
          </a:prstGeom>
          <a:noFill/>
          <a:ln/>
        </p:spPr>
        <p:txBody>
          <a:bodyPr wrap="square" lIns="63500" tIns="63500" rIns="63500" bIns="63500" rtlCol="0" anchor="t"/>
          <a:lstStyle/>
          <a:p>
            <a:pPr algn="l" indent="0" marL="0">
              <a:spcAft>
                <a:spcPts val="600"/>
              </a:spcAft>
              <a:buNone/>
            </a:pPr>
            <a:r>
              <a:rPr lang="en-US" sz="1800" b="1" dirty="0">
                <a:solidFill>
                  <a:srgbClr val="7A4A1E"/>
                </a:solidFill>
                <a:latin typeface="Calibri" pitchFamily="34" charset="0"/>
                <a:ea typeface="Calibri" pitchFamily="34" charset="-122"/>
                <a:cs typeface="Calibri" pitchFamily="34" charset="-120"/>
              </a:rPr>
              <a:t>1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List how each quarrel ended: Henry blamed, Becket a saint; John excommunicated, then gave way.</a:t>
            </a:r>
            <a:endParaRPr lang="en-US" sz="1800" dirty="0"/>
          </a:p>
          <a:p>
            <a:pPr algn="l" indent="0" marL="0">
              <a:spcAft>
                <a:spcPts val="600"/>
              </a:spcAft>
              <a:buNone/>
            </a:pPr>
            <a:r>
              <a:rPr lang="en-US" sz="1800" b="1" dirty="0">
                <a:solidFill>
                  <a:srgbClr val="7A4A1E"/>
                </a:solidFill>
                <a:latin typeface="Calibri" pitchFamily="34" charset="0"/>
                <a:ea typeface="Calibri" pitchFamily="34" charset="-122"/>
                <a:cs typeface="Calibri" pitchFamily="34" charset="-120"/>
              </a:rPr>
              <a:t>2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Ask who was still king afterwards. Both men were.</a:t>
            </a:r>
            <a:endParaRPr lang="en-US" sz="1800" dirty="0"/>
          </a:p>
          <a:p>
            <a:pPr algn="l" indent="0" marL="0">
              <a:spcAft>
                <a:spcPts val="600"/>
              </a:spcAft>
              <a:buNone/>
            </a:pPr>
            <a:r>
              <a:rPr lang="en-US" sz="1800" b="1" dirty="0">
                <a:solidFill>
                  <a:srgbClr val="7A4A1E"/>
                </a:solidFill>
                <a:latin typeface="Calibri" pitchFamily="34" charset="0"/>
                <a:ea typeface="Calibri" pitchFamily="34" charset="-122"/>
                <a:cs typeface="Calibri" pitchFamily="34" charset="-120"/>
              </a:rPr>
              <a:t>3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Ask whether the Church lost anything. It did not: it remained wealthy and powerful.</a:t>
            </a:r>
            <a:endParaRPr lang="en-US" sz="1800" dirty="0"/>
          </a:p>
          <a:p>
            <a:pPr algn="l" indent="0" marL="0">
              <a:spcAft>
                <a:spcPts val="600"/>
              </a:spcAft>
              <a:buNone/>
            </a:pPr>
            <a:r>
              <a:rPr lang="en-US" sz="1800" b="1" dirty="0">
                <a:solidFill>
                  <a:srgbClr val="7A4A1E"/>
                </a:solidFill>
                <a:latin typeface="Calibri" pitchFamily="34" charset="0"/>
                <a:ea typeface="Calibri" pitchFamily="34" charset="-122"/>
                <a:cs typeface="Calibri" pitchFamily="34" charset="-120"/>
              </a:rPr>
              <a:t>4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The option that says both of those things is the one you want.</a:t>
            </a:r>
            <a:endParaRPr lang="en-US" sz="1800" dirty="0"/>
          </a:p>
        </p:txBody>
      </p:sp>
      <p:sp>
        <p:nvSpPr>
          <p:cNvPr id="17" name="col-Core"/>
          <p:cNvSpPr/>
          <p:nvPr/>
        </p:nvSpPr>
        <p:spPr>
          <a:xfrm>
            <a:off x="5490762" y="2395728"/>
            <a:ext cx="2938987" cy="3749040"/>
          </a:xfrm>
          <a:prstGeom prst="roundRect">
            <a:avLst>
              <a:gd name="adj" fmla="val 1867"/>
            </a:avLst>
          </a:prstGeom>
          <a:solidFill>
            <a:srgbClr val="E6DDD4"/>
          </a:solidFill>
          <a:ln/>
        </p:spPr>
      </p:sp>
      <p:sp>
        <p:nvSpPr>
          <p:cNvPr id="18" name="col-hex"/>
          <p:cNvSpPr/>
          <p:nvPr/>
        </p:nvSpPr>
        <p:spPr>
          <a:xfrm>
            <a:off x="5600490" y="2468880"/>
            <a:ext cx="475488" cy="411773"/>
          </a:xfrm>
          <a:prstGeom prst="hexagon">
            <a:avLst/>
          </a:prstGeom>
          <a:solidFill>
            <a:srgbClr val="B8862B"/>
          </a:solidFill>
          <a:ln w="12700">
            <a:solidFill>
              <a:srgbClr val="FFFFFF"/>
            </a:solidFill>
            <a:prstDash val="solid"/>
          </a:ln>
        </p:spPr>
      </p:sp>
      <p:sp>
        <p:nvSpPr>
          <p:cNvPr id="19" name="col-hex-label"/>
          <p:cNvSpPr txBox="1"/>
          <p:nvPr/>
        </p:nvSpPr>
        <p:spPr>
          <a:xfrm>
            <a:off x="5600490" y="2468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0" name="col-head"/>
          <p:cNvSpPr txBox="1"/>
          <p:nvPr/>
        </p:nvSpPr>
        <p:spPr>
          <a:xfrm>
            <a:off x="6130842" y="2432304"/>
            <a:ext cx="2207467" cy="566928"/>
          </a:xfrm>
          <a:prstGeom prst="rect">
            <a:avLst/>
          </a:prstGeom>
          <a:noFill/>
          <a:ln/>
        </p:spPr>
        <p:txBody>
          <a:bodyPr wrap="square" lIns="63500" tIns="63500" rIns="63500" bIns="63500" rtlCol="0" anchor="ctr"/>
          <a:lstStyle/>
          <a:p>
            <a:pPr algn="l" indent="0" marL="0">
              <a:buNone/>
            </a:pPr>
            <a:r>
              <a:rPr lang="en-US" sz="2000" b="1" dirty="0">
                <a:solidFill>
                  <a:srgbClr val="553415"/>
                </a:solidFill>
                <a:latin typeface="Calibri" pitchFamily="34" charset="0"/>
                <a:ea typeface="Calibri" pitchFamily="34" charset="-122"/>
                <a:cs typeface="Calibri" pitchFamily="34" charset="-120"/>
              </a:rPr>
              <a:t>Core</a:t>
            </a:r>
            <a:endParaRPr lang="en-US" sz="2000" dirty="0"/>
          </a:p>
        </p:txBody>
      </p:sp>
      <p:sp>
        <p:nvSpPr>
          <p:cNvPr id="21" name="col-body"/>
          <p:cNvSpPr txBox="1"/>
          <p:nvPr/>
        </p:nvSpPr>
        <p:spPr>
          <a:xfrm>
            <a:off x="5627922" y="3035808"/>
            <a:ext cx="2664667" cy="2999232"/>
          </a:xfrm>
          <a:prstGeom prst="rect">
            <a:avLst/>
          </a:prstGeom>
          <a:noFill/>
          <a:ln/>
        </p:spPr>
        <p:txBody>
          <a:bodyPr wrap="square" lIns="63500" tIns="63500" rIns="63500" bIns="63500" rtlCol="0" anchor="t"/>
          <a:lstStyle/>
          <a:p>
            <a:pPr algn="l" indent="0" marL="0">
              <a:buNone/>
            </a:pPr>
            <a:r>
              <a:rPr lang="en-US" sz="1800" b="1" dirty="0">
                <a:solidFill>
                  <a:srgbClr val="623B18"/>
                </a:solidFill>
                <a:latin typeface="Calibri" pitchFamily="34" charset="0"/>
                <a:ea typeface="Calibri" pitchFamily="34" charset="-122"/>
                <a:cs typeface="Calibri" pitchFamily="34" charset="-120"/>
              </a:rPr>
              <a:t>Hint:  </a:t>
            </a:r>
            <a:pPr algn="l" indent="0" marL="0">
              <a:buNone/>
            </a:pPr>
            <a:r>
              <a:rPr lang="en-US" sz="1800" dirty="0">
                <a:solidFill>
                  <a:srgbClr val="1E2229"/>
                </a:solidFill>
                <a:latin typeface="Calibri" pitchFamily="34" charset="0"/>
                <a:ea typeface="Calibri" pitchFamily="34" charset="-122"/>
                <a:cs typeface="Calibri" pitchFamily="34" charset="-120"/>
              </a:rPr>
              <a:t>Who kept the throne? Who kept their wealth and power? The answer names both.</a:t>
            </a:r>
            <a:endParaRPr lang="en-US" sz="1800" dirty="0"/>
          </a:p>
        </p:txBody>
      </p:sp>
      <p:sp>
        <p:nvSpPr>
          <p:cNvPr id="22" name="col-Stretch"/>
          <p:cNvSpPr/>
          <p:nvPr/>
        </p:nvSpPr>
        <p:spPr>
          <a:xfrm>
            <a:off x="8704069" y="2395728"/>
            <a:ext cx="2938987" cy="3749040"/>
          </a:xfrm>
          <a:prstGeom prst="roundRect">
            <a:avLst>
              <a:gd name="adj" fmla="val 1867"/>
            </a:avLst>
          </a:prstGeom>
          <a:solidFill>
            <a:srgbClr val="7A4A1E"/>
          </a:solidFill>
          <a:ln/>
        </p:spPr>
      </p:sp>
      <p:sp>
        <p:nvSpPr>
          <p:cNvPr id="23" name="col-hex"/>
          <p:cNvSpPr/>
          <p:nvPr/>
        </p:nvSpPr>
        <p:spPr>
          <a:xfrm>
            <a:off x="8813797" y="2468880"/>
            <a:ext cx="475488" cy="411773"/>
          </a:xfrm>
          <a:prstGeom prst="hexagon">
            <a:avLst/>
          </a:prstGeom>
          <a:solidFill>
            <a:srgbClr val="B8862B"/>
          </a:solidFill>
          <a:ln w="12700">
            <a:solidFill>
              <a:srgbClr val="FFFFFF"/>
            </a:solidFill>
            <a:prstDash val="solid"/>
          </a:ln>
        </p:spPr>
      </p:sp>
      <p:sp>
        <p:nvSpPr>
          <p:cNvPr id="24" name="col-hex-label"/>
          <p:cNvSpPr txBox="1"/>
          <p:nvPr/>
        </p:nvSpPr>
        <p:spPr>
          <a:xfrm>
            <a:off x="8813797" y="2468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5" name="col-head"/>
          <p:cNvSpPr txBox="1"/>
          <p:nvPr/>
        </p:nvSpPr>
        <p:spPr>
          <a:xfrm>
            <a:off x="9344149" y="2432304"/>
            <a:ext cx="2207467" cy="566928"/>
          </a:xfrm>
          <a:prstGeom prst="rect">
            <a:avLst/>
          </a:prstGeom>
          <a:noFill/>
          <a:ln/>
        </p:spPr>
        <p:txBody>
          <a:bodyPr wrap="square" lIns="63500" tIns="63500" rIns="63500" bIns="6350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Stretch</a:t>
            </a:r>
            <a:endParaRPr lang="en-US" sz="2000" dirty="0"/>
          </a:p>
        </p:txBody>
      </p:sp>
      <p:sp>
        <p:nvSpPr>
          <p:cNvPr id="26" name="col-body"/>
          <p:cNvSpPr txBox="1"/>
          <p:nvPr/>
        </p:nvSpPr>
        <p:spPr>
          <a:xfrm>
            <a:off x="8841229" y="3035808"/>
            <a:ext cx="2664667" cy="2999232"/>
          </a:xfrm>
          <a:prstGeom prst="rect">
            <a:avLst/>
          </a:prstGeom>
          <a:noFill/>
          <a:ln/>
        </p:spPr>
        <p:txBody>
          <a:bodyPr wrap="square" lIns="63500" tIns="63500" rIns="63500" bIns="63500" rtlCol="0" anchor="t"/>
          <a:lstStyle/>
          <a:p>
            <a:pPr algn="l" indent="0" marL="0">
              <a:buNone/>
            </a:pPr>
            <a:r>
              <a:rPr lang="en-US" sz="1800" b="1" dirty="0">
                <a:solidFill>
                  <a:srgbClr val="D4B680"/>
                </a:solidFill>
                <a:latin typeface="Calibri" pitchFamily="34" charset="0"/>
                <a:ea typeface="Calibri" pitchFamily="34" charset="-122"/>
                <a:cs typeface="Calibri" pitchFamily="34" charset="-120"/>
              </a:rPr>
              <a:t>Then:  </a:t>
            </a:r>
            <a:pPr algn="l" indent="0" marL="0">
              <a:buNone/>
            </a:pPr>
            <a:r>
              <a:rPr lang="en-US" sz="1800" dirty="0">
                <a:solidFill>
                  <a:srgbClr val="FFFFFF"/>
                </a:solidFill>
                <a:latin typeface="Calibri" pitchFamily="34" charset="0"/>
                <a:ea typeface="Calibri" pitchFamily="34" charset="-122"/>
                <a:cs typeface="Calibri" pitchFamily="34" charset="-120"/>
              </a:rPr>
              <a:t>Explain one important difference between the two quarrels, and say whether it shows change in the relationship between the Church and the Crown between 1170 and John's reign.</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Exit ticket</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Exit</a:t>
            </a:r>
            <a:endParaRPr lang="en-US" sz="1800" dirty="0"/>
          </a:p>
        </p:txBody>
      </p:sp>
      <p:sp>
        <p:nvSpPr>
          <p:cNvPr id="7" name="exit-card"/>
          <p:cNvSpPr/>
          <p:nvPr/>
        </p:nvSpPr>
        <p:spPr>
          <a:xfrm>
            <a:off x="1645920" y="1389888"/>
            <a:ext cx="8899855" cy="4754880"/>
          </a:xfrm>
          <a:prstGeom prst="roundRect">
            <a:avLst>
              <a:gd name="adj" fmla="val 962"/>
            </a:avLst>
          </a:prstGeom>
          <a:solidFill>
            <a:srgbClr val="FFFFFF"/>
          </a:solidFill>
          <a:ln w="31750">
            <a:solidFill>
              <a:srgbClr val="7A4A1E"/>
            </a:solidFill>
            <a:prstDash val="solid"/>
          </a:ln>
          <a:effectLst>
            <a:outerShdw sx="100000" sy="100000" kx="0" ky="0" algn="bl" rotWithShape="0" blurRad="76200" dist="25400" dir="5400000">
              <a:srgbClr val="000000">
                <a:alpha val="12000"/>
              </a:srgbClr>
            </a:outerShdw>
          </a:effectLst>
        </p:spPr>
      </p:sp>
      <p:sp>
        <p:nvSpPr>
          <p:cNvPr id="8" name="exit-hex"/>
          <p:cNvSpPr/>
          <p:nvPr/>
        </p:nvSpPr>
        <p:spPr>
          <a:xfrm>
            <a:off x="1143000" y="1618488"/>
            <a:ext cx="1005840" cy="871057"/>
          </a:xfrm>
          <a:prstGeom prst="hexagon">
            <a:avLst/>
          </a:prstGeom>
          <a:solidFill>
            <a:srgbClr val="7A4A1E"/>
          </a:solidFill>
          <a:ln w="25400">
            <a:solidFill>
              <a:srgbClr val="B8862B"/>
            </a:solidFill>
            <a:prstDash val="solid"/>
          </a:ln>
        </p:spPr>
      </p:sp>
      <p:sp>
        <p:nvSpPr>
          <p:cNvPr id="9" name="exit-hex-label"/>
          <p:cNvSpPr txBox="1"/>
          <p:nvPr/>
        </p:nvSpPr>
        <p:spPr>
          <a:xfrm>
            <a:off x="1143000" y="1618488"/>
            <a:ext cx="1005840" cy="871057"/>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Exit</a:t>
            </a:r>
            <a:endParaRPr lang="en-US" sz="2000" dirty="0"/>
          </a:p>
        </p:txBody>
      </p:sp>
      <p:sp>
        <p:nvSpPr>
          <p:cNvPr id="10" name="exit-q"/>
          <p:cNvSpPr txBox="1"/>
          <p:nvPr/>
        </p:nvSpPr>
        <p:spPr>
          <a:xfrm>
            <a:off x="2286000" y="1664208"/>
            <a:ext cx="7802575" cy="2956052"/>
          </a:xfrm>
          <a:prstGeom prst="rect">
            <a:avLst/>
          </a:prstGeom>
          <a:noFill/>
          <a:ln/>
        </p:spPr>
        <p:txBody>
          <a:bodyPr wrap="square" lIns="63500" tIns="63500" rIns="63500" bIns="63500" rtlCol="0" anchor="t"/>
          <a:lstStyle/>
          <a:p>
            <a:pPr algn="l" indent="0" marL="0">
              <a:spcAft>
                <a:spcPts val="1200"/>
              </a:spcAft>
              <a:buNone/>
            </a:pPr>
            <a:r>
              <a:rPr lang="en-US" sz="2400" b="1" dirty="0">
                <a:solidFill>
                  <a:srgbClr val="1E2229"/>
                </a:solidFill>
                <a:latin typeface="Calibri" pitchFamily="34" charset="0"/>
                <a:ea typeface="Calibri" pitchFamily="34" charset="-122"/>
                <a:cs typeface="Calibri" pitchFamily="34" charset="-120"/>
              </a:rPr>
              <a:t>What was the dispute between King John and the Pope about?</a:t>
            </a:r>
            <a:endParaRPr lang="en-US" sz="24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A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Whether Becket should be made a saint</a:t>
            </a:r>
            <a:endParaRPr lang="en-US" sz="24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B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Who should rule England's lands in France</a:t>
            </a:r>
            <a:endParaRPr lang="en-US" sz="24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C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Whether John should go on a Crusade</a:t>
            </a:r>
            <a:endParaRPr lang="en-US" sz="24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D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Who should be able to choose the next Archbishop of Canterbury</a:t>
            </a:r>
            <a:endParaRPr lang="en-US" sz="2400" dirty="0"/>
          </a:p>
        </p:txBody>
      </p:sp>
      <p:sp>
        <p:nvSpPr>
          <p:cNvPr id="11" name="exit-answer-box"/>
          <p:cNvSpPr/>
          <p:nvPr/>
        </p:nvSpPr>
        <p:spPr>
          <a:xfrm>
            <a:off x="2286000" y="5047488"/>
            <a:ext cx="7619695" cy="822960"/>
          </a:xfrm>
          <a:prstGeom prst="roundRect">
            <a:avLst>
              <a:gd name="adj" fmla="val 11111"/>
            </a:avLst>
          </a:prstGeom>
          <a:solidFill>
            <a:srgbClr val="FAF8F6"/>
          </a:solidFill>
          <a:ln w="12700">
            <a:solidFill>
              <a:srgbClr val="C0AA95"/>
            </a:solidFill>
            <a:prstDash val="solid"/>
          </a:ln>
        </p:spPr>
      </p:sp>
      <p:sp>
        <p:nvSpPr>
          <p:cNvPr id="12" name="exit-answer-label"/>
          <p:cNvSpPr txBox="1"/>
          <p:nvPr/>
        </p:nvSpPr>
        <p:spPr>
          <a:xfrm>
            <a:off x="2423160" y="5047488"/>
            <a:ext cx="2926080" cy="822960"/>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My answer:</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Answers: Change or continuity?</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9F4EC"/>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ctr"/>
          <a:lstStyle/>
          <a:p>
            <a:pPr algn="l" indent="0" marL="0">
              <a:spcAft>
                <a:spcPts val="1400"/>
              </a:spcAft>
              <a:buNone/>
            </a:pPr>
            <a:r>
              <a:rPr lang="en-US" sz="1800" dirty="0">
                <a:solidFill>
                  <a:srgbClr val="4A505C"/>
                </a:solidFill>
                <a:latin typeface="Calibri" pitchFamily="34" charset="0"/>
                <a:ea typeface="Calibri" pitchFamily="34" charset="-122"/>
                <a:cs typeface="Calibri" pitchFamily="34" charset="-120"/>
              </a:rPr>
              <a:t>After the dispute, the Church remained wealthy and powerful. Is this statement evidence of change or continuity?</a:t>
            </a:r>
            <a:endParaRPr lang="en-US" sz="1800" dirty="0"/>
          </a:p>
          <a:p>
            <a:pPr algn="l" indent="0" marL="0">
              <a:buNone/>
            </a:pPr>
            <a:r>
              <a:rPr lang="en-US" sz="3200" b="1" dirty="0">
                <a:solidFill>
                  <a:srgbClr val="1E2229"/>
                </a:solidFill>
                <a:latin typeface="Cambria" pitchFamily="34" charset="0"/>
                <a:ea typeface="Cambria" pitchFamily="34" charset="-122"/>
                <a:cs typeface="Cambria" pitchFamily="34" charset="-120"/>
              </a:rPr>
              <a:t>A   Continuity</a:t>
            </a:r>
            <a:endParaRPr lang="en-US" sz="1800" dirty="0"/>
          </a:p>
        </p:txBody>
      </p:sp>
      <p:sp>
        <p:nvSpPr>
          <p:cNvPr id="10" name="why-panel"/>
          <p:cNvSpPr/>
          <p:nvPr/>
        </p:nvSpPr>
        <p:spPr>
          <a:xfrm>
            <a:off x="7223760" y="1389888"/>
            <a:ext cx="4419295" cy="4754880"/>
          </a:xfrm>
          <a:prstGeom prst="roundRect">
            <a:avLst>
              <a:gd name="adj" fmla="val 1035"/>
            </a:avLst>
          </a:prstGeom>
          <a:solidFill>
            <a:srgbClr val="F6F2EF"/>
          </a:solidFill>
          <a:ln/>
        </p:spPr>
      </p:sp>
      <p:sp>
        <p:nvSpPr>
          <p:cNvPr id="11" name="why-hex"/>
          <p:cNvSpPr/>
          <p:nvPr/>
        </p:nvSpPr>
        <p:spPr>
          <a:xfrm>
            <a:off x="7406640" y="1572768"/>
            <a:ext cx="685800" cy="593903"/>
          </a:xfrm>
          <a:prstGeom prst="hexagon">
            <a:avLst/>
          </a:prstGeom>
          <a:solidFill>
            <a:srgbClr val="7A4A1E"/>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The Church was wealthy and powerful before and after the dispute; John stayed king and kept choosing his helpers. All three are continuity. The Pope's greater say, and John's excommunication being lifted, are the changes.</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Answers: Two quarrels, one lesson</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9F4EC"/>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ctr"/>
          <a:lstStyle/>
          <a:p>
            <a:pPr algn="l" indent="0" marL="0">
              <a:spcAft>
                <a:spcPts val="1400"/>
              </a:spcAft>
              <a:buNone/>
            </a:pPr>
            <a:r>
              <a:rPr lang="en-US" sz="1800" dirty="0">
                <a:solidFill>
                  <a:srgbClr val="4A505C"/>
                </a:solidFill>
                <a:latin typeface="Calibri" pitchFamily="34" charset="0"/>
                <a:ea typeface="Calibri" pitchFamily="34" charset="-122"/>
                <a:cs typeface="Calibri" pitchFamily="34" charset="-120"/>
              </a:rPr>
              <a:t>What do the quarrels of Henry II and John with the Church have in common?</a:t>
            </a:r>
            <a:endParaRPr lang="en-US" sz="1800" dirty="0"/>
          </a:p>
          <a:p>
            <a:pPr algn="l" indent="0" marL="0">
              <a:buNone/>
            </a:pPr>
            <a:r>
              <a:rPr lang="en-US" sz="3200" b="1" dirty="0">
                <a:solidFill>
                  <a:srgbClr val="1E2229"/>
                </a:solidFill>
                <a:latin typeface="Cambria" pitchFamily="34" charset="0"/>
                <a:ea typeface="Cambria" pitchFamily="34" charset="-122"/>
                <a:cs typeface="Cambria" pitchFamily="34" charset="-120"/>
              </a:rPr>
              <a:t>A   In both, the king stayed on the throne but the Church kept its power and the king was humbled</a:t>
            </a:r>
            <a:endParaRPr lang="en-US" sz="1800" dirty="0"/>
          </a:p>
        </p:txBody>
      </p:sp>
      <p:sp>
        <p:nvSpPr>
          <p:cNvPr id="10" name="why-panel"/>
          <p:cNvSpPr/>
          <p:nvPr/>
        </p:nvSpPr>
        <p:spPr>
          <a:xfrm>
            <a:off x="7223760" y="1389888"/>
            <a:ext cx="4419295" cy="4754880"/>
          </a:xfrm>
          <a:prstGeom prst="roundRect">
            <a:avLst>
              <a:gd name="adj" fmla="val 1035"/>
            </a:avLst>
          </a:prstGeom>
          <a:solidFill>
            <a:srgbClr val="F6F2EF"/>
          </a:solidFill>
          <a:ln/>
        </p:spPr>
      </p:sp>
      <p:sp>
        <p:nvSpPr>
          <p:cNvPr id="11" name="why-hex"/>
          <p:cNvSpPr/>
          <p:nvPr/>
        </p:nvSpPr>
        <p:spPr>
          <a:xfrm>
            <a:off x="7406640" y="1572768"/>
            <a:ext cx="685800" cy="593903"/>
          </a:xfrm>
          <a:prstGeom prst="hexagon">
            <a:avLst/>
          </a:prstGeom>
          <a:solidFill>
            <a:srgbClr val="7A4A1E"/>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Both kings kept their thrones, and in both cases the Church came out with its power intact: Becket a saint and Canterbury a great shrine; John forced to accept the Pope's Archbishop.</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Answers: Exit ticket</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9F4EC"/>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ctr"/>
          <a:lstStyle/>
          <a:p>
            <a:pPr algn="l" indent="0" marL="0">
              <a:spcAft>
                <a:spcPts val="1400"/>
              </a:spcAft>
              <a:buNone/>
            </a:pPr>
            <a:r>
              <a:rPr lang="en-US" sz="1800" dirty="0">
                <a:solidFill>
                  <a:srgbClr val="4A505C"/>
                </a:solidFill>
                <a:latin typeface="Calibri" pitchFamily="34" charset="0"/>
                <a:ea typeface="Calibri" pitchFamily="34" charset="-122"/>
                <a:cs typeface="Calibri" pitchFamily="34" charset="-120"/>
              </a:rPr>
              <a:t>What was the dispute between King John and the Pope about?</a:t>
            </a:r>
            <a:endParaRPr lang="en-US" sz="1800" dirty="0"/>
          </a:p>
          <a:p>
            <a:pPr algn="l" indent="0" marL="0">
              <a:buNone/>
            </a:pPr>
            <a:r>
              <a:rPr lang="en-US" sz="3200" b="1" dirty="0">
                <a:solidFill>
                  <a:srgbClr val="1E2229"/>
                </a:solidFill>
                <a:latin typeface="Cambria" pitchFamily="34" charset="0"/>
                <a:ea typeface="Cambria" pitchFamily="34" charset="-122"/>
                <a:cs typeface="Cambria" pitchFamily="34" charset="-120"/>
              </a:rPr>
              <a:t>D   Who should be able to choose the next Archbishop of Canterbury</a:t>
            </a:r>
            <a:endParaRPr lang="en-US" sz="1800" dirty="0"/>
          </a:p>
        </p:txBody>
      </p:sp>
      <p:sp>
        <p:nvSpPr>
          <p:cNvPr id="10" name="why-panel"/>
          <p:cNvSpPr/>
          <p:nvPr/>
        </p:nvSpPr>
        <p:spPr>
          <a:xfrm>
            <a:off x="7223760" y="1389888"/>
            <a:ext cx="4419295" cy="4754880"/>
          </a:xfrm>
          <a:prstGeom prst="roundRect">
            <a:avLst>
              <a:gd name="adj" fmla="val 1035"/>
            </a:avLst>
          </a:prstGeom>
          <a:solidFill>
            <a:srgbClr val="F6F2EF"/>
          </a:solidFill>
          <a:ln/>
        </p:spPr>
      </p:sp>
      <p:sp>
        <p:nvSpPr>
          <p:cNvPr id="11" name="why-hex"/>
          <p:cNvSpPr/>
          <p:nvPr/>
        </p:nvSpPr>
        <p:spPr>
          <a:xfrm>
            <a:off x="7406640" y="1572768"/>
            <a:ext cx="685800" cy="593903"/>
          </a:xfrm>
          <a:prstGeom prst="hexagon">
            <a:avLst/>
          </a:prstGeom>
          <a:solidFill>
            <a:srgbClr val="7A4A1E"/>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John and the Pope disagreed about who had the right to choose the next Archbishop of Canterbury.</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20</a:t>
            </a:fld>
            <a:endParaRPr lang="en-US"/>
          </a:p>
        </p:txBody>
      </p:sp>
    </p:spTree>
  </p:cSld>
  <p:clrMapOvr>
    <a:masterClrMapping/>
  </p:clrMapOvr>
</p:sld>
</file>

<file path=ppt/theme/theme1.xml><?xml version="1.0" encoding="utf-8"?>
<a:theme xmlns:a="http://schemas.openxmlformats.org/drawingml/2006/main" name="Ad Astra history">
  <a:themeElements>
    <a:clrScheme name="Ad Astra history">
      <a:dk1>
        <a:srgbClr val="1E2229"/>
      </a:dk1>
      <a:lt1>
        <a:srgbClr val="FFFFFF"/>
      </a:lt1>
      <a:dk2>
        <a:srgbClr val="623B18"/>
      </a:dk2>
      <a:lt2>
        <a:srgbClr val="F6F2EF"/>
      </a:lt2>
      <a:accent1>
        <a:srgbClr val="7A4A1E"/>
      </a:accent1>
      <a:accent2>
        <a:srgbClr val="B8862B"/>
      </a:accent2>
      <a:accent3>
        <a:srgbClr val="AF9278"/>
      </a:accent3>
      <a:accent4>
        <a:srgbClr val="815E1E"/>
      </a:accent4>
      <a:accent5>
        <a:srgbClr val="4A505C"/>
      </a:accent5>
      <a:accent6>
        <a:srgbClr val="DEC69B"/>
      </a:accent6>
      <a:hlink>
        <a:srgbClr val="7A4A1E"/>
      </a:hlink>
      <a:folHlink>
        <a:srgbClr val="553415"/>
      </a:folHlink>
    </a:clrScheme>
    <a:fontScheme name="Ad Astra history">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Edu.Ai SV Digital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Plantagenets · Chapter 5: King John and the Pope: change or continuity?</dc:title>
  <dc:subject>History · Year 7</dc:subject>
  <dc:creator>Dr Vitor Merissi de Carvalho</dc:creator>
  <cp:lastModifiedBy>Dr Vitor Merissi de Carvalho</cp:lastModifiedBy>
  <cp:revision>1</cp:revision>
  <dcterms:created xsi:type="dcterms:W3CDTF">2026-10-19T16:23:10Z</dcterms:created>
  <dcterms:modified xsi:type="dcterms:W3CDTF">2026-10-19T16:23:10Z</dcterms:modified>
</cp:coreProperties>
</file>