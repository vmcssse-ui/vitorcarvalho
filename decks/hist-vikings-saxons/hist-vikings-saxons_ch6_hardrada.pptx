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906f6c-6890-46a9-cfea-fcfbb84f5216}">
          <p14:sldIdLst>
            <p14:sldId id="256"/>
          </p14:sldIdLst>
        </p14:section>
        <p14:section name="Gate" id="{531580ba-a148-2599-0fe6-61643093dccb}">
          <p14:sldIdLst>
            <p14:sldId id="257"/>
            <p14:sldId id="258"/>
          </p14:sldIdLst>
        </p14:section>
        <p14:section name="Pre-teach" id="{2be2bdc2-5635-a077-97be-5e6e8e38dd5a}">
          <p14:sldIdLst>
            <p14:sldId id="259"/>
            <p14:sldId id="260"/>
          </p14:sldIdLst>
        </p14:section>
        <p14:section name="Read-along" id="{2a3cdc34-4c23-11d6-64fb-3cbee07ab8ec}">
          <p14:sldIdLst>
            <p14:sldId id="261"/>
            <p14:sldId id="262"/>
          </p14:sldIdLst>
        </p14:section>
        <p14:section name="Teach" id="{bba20ef4-ec59-3086-dc22-fce9192ea456}">
          <p14:sldIdLst>
            <p14:sldId id="263"/>
            <p14:sldId id="264"/>
            <p14:sldId id="265"/>
            <p14:sldId id="266"/>
            <p14:sldId id="267"/>
          </p14:sldIdLst>
        </p14:section>
        <p14:section name="Routes" id="{657633a5-fff7-9c12-4c33-380b06ad424d}">
          <p14:sldIdLst>
            <p14:sldId id="268"/>
            <p14:sldId id="269"/>
            <p14:sldId id="270"/>
            <p14:sldId id="271"/>
          </p14:sldIdLst>
        </p14:section>
        <p14:section name="Close" id="{873a815b-2bab-dfd2-e4ca-4474d5f5f579}">
          <p14:sldIdLst>
            <p14:sldId id="272"/>
          </p14:sldIdLst>
        </p14:section>
        <p14:section name="Answers" id="{768110a3-ec7a-873d-2069-53db5e422c90}">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The saga of Harald Hardrada, and how accurate is a source?. Harald's journey from Norway to Novgorod and Constantinople and back, what his story teaches us about the Vikings, and how to judge whether a source gives an accurate and balanced picture.
This deck covers the department's lesson: 5 (The story of Harald Hardrada and assessment preparation: What does the saga of Harald Hardrada teach us about the Vikings, and how accurate are sources about them?).
Read the big question aloud: "Who were the Vikings, and how do historians use chronology and sources to find out?"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Who did Harald fight for in Constantinople?  →  B   The Byzantine Emperor, as a member of the Varangian Guard
2. In which year did Harald Hardrada invade England and take York?  →  1066
3. Harald was nicknamed hard-___ because of his harsh taxes.  →  ruler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The Byzantine Emperor, as a member of the Varangian Guard. In Constantinople Harald joined the Varangian Guard, the Emperor's private army and bodyguard, made up of Norsemen.
2. 1066. Harald sailed across the North Sea in 1066, won at Fulford Gate and took York.
3. ruler. Hardrada means hard-ruler. The farmers of Norway gave him the name because of his harsh taxes and punishments.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saga: a long story about a hero's life. Example: "The saga of Harald Hardrada follows him across Europe."
• Novgorod: a wooden trading town in the land of the Rus, now Russia. Example: "Harald was welcomed at Novgorod by Prince Yaroslav."
• Constantinople: the great stone city of the Byzantine Emperor, now Istanbul. Example: "Harald joined the Emperor's bodyguard in Constantinople."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Varangian Guard: the Byzantine Emperor's private army and bodyguard, made up of Norsemen. Example: "In the Varangian Guard, Harald fought pirates and captured cities."
• hard-ruler: Harald's nickname, given for his harsh taxes. Example: "The farmers called him hard-ruler because of his taxes."
• accurate: correct and true to the facts. Example: "Is the song accurate about what the Vikings were like?"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Harald Hardrada was a Viking from Norway.
2. In 1030 his brother, King Olaf, was killed in battle.
3. Harald was fifteen and badly hurt, and he fled east.
4. He sailed across the Baltic Sea to the land of the Rus.
5. At Novgorod, Prince Yaroslav welcomed him with a feast.
6. In 1034 Harald reached Constantinople.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He joined the Varangian Guard, the Emperor's bodyguard.
8. He fought pirates and captured cities, and grew rich and famous.
9. In 1047 he returned to Norway and became its king.
10. His harsh taxes earned him the name hard-ruler.
11. In 1066 he invaded England and took York.
12. His story shows that Vikings were travellers and traders as well as warriors.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 saga begins: the journey east. Say it in your own words, then check understanding with a quick question: ask a pupil from the pre-teach group first, since they met these words and ideas before the lesson. Pupils try to recall before you re-explain.
A saga is a long story about a hero's life, told and retold by the Vikings. Your lesson gives the saga of Harald Hardrada. It begins in 1030, when Harald was fifteen. His brother, King Olaf of Norway, had fought a bitter war to make Norway Christian, and the farmers who wanted to keep their old gods rose up against him, supported by King Cnut of England and Denmark. Olaf was killed at the Battle of Stiklestad. Harald was wounded, and fled with Cnut's men searching for him.
He recovered at the hall of the Swedish king, gathered survivors and set off east in a longship to find Magnus, Olaf's young son, in the land of the Rus. He crossed the icy Baltic, stopped at the island of Gotland, and travelled down the river Daugava to Lake Ladoga, where traders were loading beads, furs, amber and wax, weighing goods with lead weights. From there the longship rowed on to Novgorod, a large wooden town on the lake shore.
At Novgorod, Grand Prince Yaroslav of the Rus welcomed Harald with a great feast and told him how his own ancestors had come from the north and settled along the river Dnieper. Harald swore to fight for Yaroslav, found Magnus and gave him the news of his father's death, and became a strong and feared warrior in Yaroslav's service. But he wanted more adventure, and Yaroslav had dazzled him with news of a city called Constantinople.
Tip: Follow Harald on a map: Norway, Sweden, Gotland, the Daugava, Lake Ladoga, Novgorod. Every stop is a trading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Constantinople and the Varangian Guard. Say it in your own words, then check understanding with a quick question: ask a pupil from the pre-teach group first, since they met these words and ideas before the lesson. Pupils try to recall before you re-explain.
Harald reached Constantinople in 1034. It was a city like no other, built of stone, with great domes along the shore sparkling in the light from the water. He joined the Varangian Guard, the bodyguard of the Byzantine Emperor, which was made up of fellow Norsemen, so he felt at home. He did not stay in the city for long, because the Emperor had enemies who needed fighting.
These were the years of Harald's greatest adventures. The saga says he fought pirates in the Mediterranean, fought in Sicily and Palestine, walked the streets of Jerusalem and captured eighty cities. In one story he had himself carried into a town in a coffin, pretending to be dead, then burst out and held the gates open for his men. He returned to Constantinople with fame, riches and an army of followers.
Then news came from home: in his absence, Magnus had become King of Norway. In 1042 Harald asked the Emperor to release him and was refused, so he slipped away by ship and rowed for the sea. A great chain blocked the harbour mouth; Harald had his men row straight at it and run to the front of the ship so that it tipped over the chain. He escaped back to Novgorod, where he married Yaroslav's daughter Elisabeth.
Tip: Remember that a saga is a story told to praise a hero. Eighty cities and a coffin trick are the saga's claims, not facts a historian can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Hard-ruler: king of Norway, and the road to England. Say it in your own words, then check understanding with a quick question: ask a pupil from the pre-teach group first, since they met these words and ideas before the lesson. Pupils try to recall before you re-explain.
In 1047 Harald arrived back in Norway ready to fight Magnus, and was surprised to be offered half the kingdom instead. When Magnus died soon afterwards, Harald became sole king. He went to war with Denmark and with Sweden, and raised harsh taxes to pay for it. The farmers at home rebelled, and he punished them very harshly. They gave him the nickname hard-ruler. Yet he also used his links with Byzantium to bring Christian churches and more trade to Norway.
When Harald was about fifty, a great age at the time, an Anglo-Saxon named Tostig came to his court. Tostig was the brother of Harold Godwinson, the King of England, and he told Harald that the English throne could be his. Here was one last adventure, and a chance to outdo King Cnut, who had helped to kill his beloved brother.
In 1066 Harald sailed across the North Sea and up the river Ouse. He defeated the English earls Edwin and Morcar at the Battle of Fulford Gate and took the city of York. Feeling confident, he let his men feast, and went lightly armed to meet the people of York. In the distance he saw the dust of an army on the move. What happened next is the start of your next topic.
Tip: Harald's dates in order: 1030 leaves Norway, 1034 Constantinople, 1042 escapes, 1047 king, 1066 England.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saga teaches, and how accurate is a source?. Say it in your own words, then check understanding with a quick question: ask a pupil from the pre-teach group first, since they met these words and ideas before the lesson. Pupils try to recall before you re-explain.
What does the story of Harald Hardrada teach us about the Vikings? That they travelled enormous distances by river and sea; that they traded as they went; that they served foreign rulers as soldiers; that by Harald's time many were Christians; and that a Viking could be a king in Norway and still dream of England. Harald's life joins up everything in this unit: the sea raider, the trader with the carnelian bead, and the invader of England.
Your assessment asks how well you can understand sources about the Vikings and judge how accurate they are using your own knowledge. In your lesson the sources were comedy songs about the Vikings. For any such source, ask two questions: what is the source telling us about the Vikings, and, using what I know, is that an accurate account?
A source that shows the Vikings only as raiders who burned villages and robbed monasteries is not wrong, because Lindisfarne happened. But it is one-sided, because it leaves out the Danelaw, the farms and trade, the Thing, the words and place names Vikings gave to English, and journeys like Harald's. A balanced judgement says what the source gets right, what it leaves out, and what it could add to give a fuller picture.
Worked example — model it step by step, thinking aloud: A short film shows the Vikings only as raiders who steal and burn. Judge how accurate it is, using your own knowledge. (1) Say what the source tells us: the Vikings were violent raiders. (2) Check it against your knowledge: true in part, because of raids such as Lindisfarne in 793. (3) Say what it leaves out: Vikings also settled in the Danelaw, farmed, traded as far as India, met at the Thing and gave English words such as sky and egg. (4) Judge: partly accurate but one-sided; it would be more accurate if it included settling and trading. Answer: Partly accurate: the raids are real, but the film is one-sided because it leaves out settling, farming, trade and language, so it does not give a balanced view of the Vikings..
Tip: Accurate is not the same as complete. Say what is right, then say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the saga teaches, and how accurate is a source?. Say it in your own words, then check understanding with a quick question: ask a pupil from the pre-teach group first, since they met these words and ideas before the lesson. Pupils try to recall before you re-explain.
What does the story of Harald Hardrada teach us about the Vikings? That they travelled enormous distances by river and sea; that they traded as they went; that they served foreign rulers as soldiers; that by Harald's time many were Christians; and that a Viking could be a king in Norway and still dream of England. Harald's life joins up everything in this unit: the sea raider, the trader with the carnelian bead, and the invader of England.
Your assessment asks how well you can understand sources about the Vikings and judge how accurate they are using your own knowledge. In your lesson the sources were comedy songs about the Vikings. For any such source, ask two questions: what is the source telling us about the Vikings, and, using what I know, is that an accurate account?
A source that shows the Vikings only as raiders who burned villages and robbed monasteries is not wrong, because Lindisfarne happened. But it is one-sided, because it leaves out the Danelaw, the farms and trade, the Thing, the words and place names Vikings gave to English, and journeys like Harald's. A balanced judgement says what the source gets right, what it leaves out, and what it could add to give a fuller picture.
Worked example — model it step by step, thinking aloud: A short film shows the Vikings only as raiders who steal and burn. Judge how accurate it is, using your own knowledge. (1) Say what the source tells us: the Vikings were violent raiders. (2) Check it against your knowledge: true in part, because of raids such as Lindisfarne in 793. (3) Say what it leaves out: Vikings also settled in the Danelaw, farmed, traded as far as India, met at the Thing and gave English words such as sky and egg. (4) Judge: partly accurate but one-sided; it would be more accurate if it included settling and trading. Answer: Partly accurate: the raids are real, but the film is one-sided because it leaves out settling, farming, trade and language, so it does not give a balanced view of the Vikings..
Tip: Accurate is not the same as complete. Say what is right, then say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Harald's life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the saga of Harald Hardrada in chronological order.
Support — work through the steps with the group: (1) Five events carry a date in brackets. Put those in order of date first, smallest number first. (2) The Novgorod event has no date. Ask: did Harald reach Novgorod before or after Constantinople? He travelled east through Novgorod on the way. (3) So Novgorod goes between 1030 and 1034. (4) Check the story makes sense: flee, Novgorod, Constantinople, escape, king, England.
Parallel worked example for Support (model it, do not give the task answer): Put in order: starts secondary school (age 11); learns to walk; starts primary school (age 4); learns to ride a bike (age 6). Three have ages: 4, 6, 11.; Learning to walk has no age, but it comes before primary school.; So: walk, primary, bike, secondary.. Answer: learns to walk; starts primary school; learns to ride a bike; starts secondary school.
Core — reveal the hint only on request: Dates first, smallest to largest. Novgorod is on the way to Constantinople, so it sits between 1030 and 1034.
Stretch — no help; when finished: Explain how the stop at Novgorod shaped the rest of Harald's life, giving two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Harald's life in order.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these events from the saga of Harald Hardrada in chronological order.
Support — work through the steps with the group: (1) Five events carry a date in brackets. Put those in order of date first, smallest number first. (2) The Novgorod event has no date. Ask: did Harald reach Novgorod before or after Constantinople? He travelled east through Novgorod on the way. (3) So Novgorod goes between 1030 and 1034. (4) Check the story makes sense: flee, Novgorod, Constantinople, escape, king, England.
Parallel worked example for Support (model it, do not give the task answer): Put in order: starts secondary school (age 11); learns to walk; starts primary school (age 4); learns to ride a bike (age 6). Three have ages: 4, 6, 11.; Learning to walk has no age, but it comes before primary school.; So: walk, primary, bike, secondary.. Answer: learns to walk; starts primary school; learns to ride a bike; starts secondary school.
Core — reveal the hint only on request: Dates first, smallest to largest. Novgorod is on the way to Constantinople, so it sits between 1030 and 1034.
Stretch — no help; when finished: Explain how the stop at Novgorod shaped the rest of Harald's life, giving two consequences.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the source leaves 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comedy song describes the Vikings only as raiders who stole treasure and burned villages. Using your own knowledge, what does the song leave out?
Support — work through the steps with the group: (1) Write down what the source says the Vikings were: raiders. (2) Is that true? Yes, partly: Lindisfarne, 793. (3) Now list what you know that the source does not mention: the Danelaw, farms, trade with the east, the Thing, words like sky and egg, place names like Grimsby. (4) Choose the option that names those missing things. Options that contradict the facts are wrong.
Parallel worked example for Support (model it, do not give the task answer): A poster describes a school only as a place where pupils sit exams. What does it leave out: that the school has sport, clubs, friendships and trips, or that the school has no pupils? True in part: pupils do sit exams.; Missing: everything else about school life.; The second option contradicts the facts, so the first is the answer.. Answer: That the school also has sport, clubs, friendships and trips..
Core — reveal the hint only on request: The source is not wrong, it is incomplete. Which option lists the true things it leaves out?
Stretch — no help; when finished: Explain why a one-sided source can still be useful to a historian, and what you would want to know about its origin and purpose before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What the source leaves 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comedy song describes the Vikings only as raiders who stole treasure and burned villages. Using your own knowledge, what does the song leave out?
Support — work through the steps with the group: (1) Write down what the source says the Vikings were: raiders. (2) Is that true? Yes, partly: Lindisfarne, 793. (3) Now list what you know that the source does not mention: the Danelaw, farms, trade with the east, the Thing, words like sky and egg, place names like Grimsby. (4) Choose the option that names those missing things. Options that contradict the facts are wrong.
Parallel worked example for Support (model it, do not give the task answer): A poster describes a school only as a place where pupils sit exams. What does it leave out: that the school has sport, clubs, friendships and trips, or that the school has no pupils? True in part: pupils do sit exams.; Missing: everything else about school life.; The second option contradicts the facts, so the first is the answer.. Answer: That the school also has sport, clubs, friendships and trips..
Core — reveal the hint only on request: The source is not wrong, it is incomplete. Which option lists the true things it leaves out?
Stretch — no help; when finished: Explain why a one-sided source can still be useful to a historian, and what you would want to know about its origin and purpose before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Who did Harald fight for in Constantinople?
Answer: A   The Byzantine Emperor, as a member of the Varangian Guard. In Constantinople Harald joined the Varangian Guard, the Emperor's private army and bodyguard, made up of Norsemen.
Source of this question: gate item 1 re-asked (options rotated) — this chapter has no third quick-check module.
The ebook also holds task 3, "A letter about a one-sided source",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Harald's life in order. Reveal the answer; pupils mark their own work in a different colour, then read the "why" together. Same destination for every lane, so one answer serves the whole class.
Answer: Harald's brother King Olaf is killed and Harald flees Norway (1030)  (D); Harald reaches Novgorod and swears to fight for Prince Yaroslav  (F); Harald reaches Constantinople and joins the Varangian Guard (1034)  (C); Harald escapes from Constantinople over the harbour chain (1042)  (A); Harald returns to Norway and shares the kingdom with Magnus (1047)  (B); Harald invades England, wins at Fulford Gate and takes York (1066)  (E)
Why: 1030 Olaf killed and Harald flees; Novgorod and Yaroslav on the way east; 1034 Constantinople; 1042 the escape; 1047 king of Norway; 1066 England and York.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What the source leaves out. Reveal the answer; pupils mark their own work in a different colour, then read the "why" together. Same destination for every lane, so one answer serves the whole class.
Answer: B   That Vikings also settled, farmed, traded and gave English new words and place names
Why: The raids are real, so the source is partly accurate. It is one-sided because it leaves out the Danelaw, farming, trade, the Thing and the words and place names the Vikings gave to English.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The Byzantine Emperor, as a member of the Varangian Guard
Why: In Constantinople Harald joined the Varangian Guard, the Emperor's private army and bodyguard, made up of Norsemen.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6F2EF"/>
          </a:solidFill>
          <a:ln w="12700">
            <a:solidFill>
              <a:srgbClr val="F6F2EF"/>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7 · The Vikings and Anglo-Saxons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E0D9"/>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Vikings and Anglo-Saxons · AQA KS3 → 8145</a:t>
            </a:r>
            <a:endParaRPr lang="en-US" sz="1800" dirty="0"/>
          </a:p>
        </p:txBody>
      </p:sp>
      <p:sp>
        <p:nvSpPr>
          <p:cNvPr id="10" name="deck-title"/>
          <p:cNvSpPr txBox="1"/>
          <p:nvPr/>
        </p:nvSpPr>
        <p:spPr>
          <a:xfrm>
            <a:off x="548640" y="243636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saga of Harald Hardrada, and how accurate is a source?</a:t>
            </a:r>
            <a:endParaRPr lang="en-US" sz="2800" dirty="0"/>
          </a:p>
        </p:txBody>
      </p:sp>
      <p:sp>
        <p:nvSpPr>
          <p:cNvPr id="11" name="lessons-card"/>
          <p:cNvSpPr/>
          <p:nvPr/>
        </p:nvSpPr>
        <p:spPr>
          <a:xfrm>
            <a:off x="548640" y="3716528"/>
            <a:ext cx="5287975" cy="1290320"/>
          </a:xfrm>
          <a:prstGeom prst="roundRect">
            <a:avLst>
              <a:gd name="adj" fmla="val 5669"/>
            </a:avLst>
          </a:prstGeom>
          <a:solidFill>
            <a:srgbClr val="F6F2EF"/>
          </a:solidFill>
          <a:ln/>
        </p:spPr>
      </p:sp>
      <p:sp>
        <p:nvSpPr>
          <p:cNvPr id="12" name="lessons"/>
          <p:cNvSpPr txBox="1"/>
          <p:nvPr/>
        </p:nvSpPr>
        <p:spPr>
          <a:xfrm>
            <a:off x="685800" y="380796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story of Harald Hardrada and assessment preparation</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6F2EF"/>
          </a:solidFill>
          <a:ln w="12700">
            <a:solidFill>
              <a:srgbClr val="CEBCA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Who were the Vikings, and how do historians use chronology and sources to find out?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Who did Harald fight for in Constantinople?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Grand Prince Yaroslav of the Rus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Byzantine Emperor, as a member of the Varangian Guard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Pope in Rome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King Cnut of England and Denmark</a:t>
            </a:r>
            <a:endParaRPr lang="en-US" sz="1800" dirty="0"/>
          </a:p>
        </p:txBody>
      </p:sp>
      <p:sp>
        <p:nvSpPr>
          <p:cNvPr id="12"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3" name="card-hex"/>
          <p:cNvSpPr/>
          <p:nvPr/>
        </p:nvSpPr>
        <p:spPr>
          <a:xfrm>
            <a:off x="4521098" y="1572768"/>
            <a:ext cx="640080" cy="554309"/>
          </a:xfrm>
          <a:prstGeom prst="hexagon">
            <a:avLst/>
          </a:prstGeom>
          <a:solidFill>
            <a:srgbClr val="7A4A1E"/>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Harald Hardrada invade England and take York?</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18" name="card-hex"/>
          <p:cNvSpPr/>
          <p:nvPr/>
        </p:nvSpPr>
        <p:spPr>
          <a:xfrm>
            <a:off x="8310677" y="1572768"/>
            <a:ext cx="640080" cy="554309"/>
          </a:xfrm>
          <a:prstGeom prst="hexagon">
            <a:avLst/>
          </a:prstGeom>
          <a:solidFill>
            <a:srgbClr val="7A4A1E"/>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Harald was nicknamed hard-___ because of his harsh taxes.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ruler  ·  fighter  ·  sailor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AF8F6"/>
          </a:solidFill>
          <a:ln w="12700">
            <a:solidFill>
              <a:srgbClr val="D4C5B7"/>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FE4D0"/>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The Byzantine Emperor, as a member of the Varangian Guard</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In Constantinople Harald joined the Varangian Guard, the Emperor's private army and bodyguard, made up of Norsemen.</a:t>
            </a:r>
            <a:endParaRPr lang="en-US" sz="1800" dirty="0"/>
          </a:p>
        </p:txBody>
      </p:sp>
      <p:sp>
        <p:nvSpPr>
          <p:cNvPr id="14" name="card"/>
          <p:cNvSpPr/>
          <p:nvPr/>
        </p:nvSpPr>
        <p:spPr>
          <a:xfrm>
            <a:off x="4338218" y="1389888"/>
            <a:ext cx="3515258" cy="4754880"/>
          </a:xfrm>
          <a:prstGeom prst="roundRect">
            <a:avLst>
              <a:gd name="adj" fmla="val 1561"/>
            </a:avLst>
          </a:prstGeom>
          <a:solidFill>
            <a:srgbClr val="FAF8F6"/>
          </a:solidFill>
          <a:ln w="12700">
            <a:solidFill>
              <a:srgbClr val="D4C5B7"/>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1066</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which year did Harald Hardrada invade England and take York?</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Harald sailed across the North Sea in 1066, won at Fulford Gate and took York.</a:t>
            </a:r>
            <a:endParaRPr lang="en-US" sz="2200" dirty="0"/>
          </a:p>
        </p:txBody>
      </p:sp>
      <p:sp>
        <p:nvSpPr>
          <p:cNvPr id="21" name="card"/>
          <p:cNvSpPr/>
          <p:nvPr/>
        </p:nvSpPr>
        <p:spPr>
          <a:xfrm>
            <a:off x="8127797" y="1389888"/>
            <a:ext cx="3515258" cy="4754880"/>
          </a:xfrm>
          <a:prstGeom prst="roundRect">
            <a:avLst>
              <a:gd name="adj" fmla="val 1561"/>
            </a:avLst>
          </a:prstGeom>
          <a:solidFill>
            <a:srgbClr val="FAF8F6"/>
          </a:solidFill>
          <a:ln w="12700">
            <a:solidFill>
              <a:srgbClr val="D4C5B7"/>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ruler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Harald was nicknamed hard-___ because of his harsh taxes.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Hardrada means hard-ruler. The farmers of Norway gave him the name because of his harsh taxes and punishments.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saga</a:t>
            </a:r>
            <a:endParaRPr lang="en-US" sz="2600" dirty="0"/>
          </a:p>
        </p:txBody>
      </p:sp>
      <p:sp>
        <p:nvSpPr>
          <p:cNvPr id="11" name="word-rule"/>
          <p:cNvSpPr/>
          <p:nvPr/>
        </p:nvSpPr>
        <p:spPr>
          <a:xfrm>
            <a:off x="731520" y="2129028"/>
            <a:ext cx="3149498" cy="0"/>
          </a:xfrm>
          <a:prstGeom prst="line">
            <a:avLst/>
          </a:prstGeom>
          <a:ln w="12700">
            <a:solidFill>
              <a:srgbClr val="CEBCA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long story about a hero's life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saga of Harald Hardrada follows him across Europe.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Novgorod</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wooden trading town in the land of the Rus, now Russia</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Harald was welcomed at Novgorod by Prince Yaroslav.</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Constantinople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great stone city of the Byzantine Emperor, now Istanbul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Harald joined the Emperor's bodyguard in Constantinople.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8F6F4"/>
          </a:solidFill>
          <a:ln w="12700">
            <a:solidFill>
              <a:srgbClr val="CEBCAC"/>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Varangian Guard</a:t>
            </a:r>
            <a:endParaRPr lang="en-US" sz="2600" dirty="0"/>
          </a:p>
        </p:txBody>
      </p:sp>
      <p:sp>
        <p:nvSpPr>
          <p:cNvPr id="11" name="word-rule"/>
          <p:cNvSpPr/>
          <p:nvPr/>
        </p:nvSpPr>
        <p:spPr>
          <a:xfrm>
            <a:off x="731520" y="2558288"/>
            <a:ext cx="3149498" cy="0"/>
          </a:xfrm>
          <a:prstGeom prst="line">
            <a:avLst/>
          </a:prstGeom>
          <a:ln w="12700">
            <a:solidFill>
              <a:srgbClr val="CEBCAC"/>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Byzantine Emperor's private army and bodyguard, made up of Norsemen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the Varangian Guard, Harald fought pirates and captured cities.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8F6F4"/>
          </a:solidFill>
          <a:ln w="12700">
            <a:solidFill>
              <a:srgbClr val="CEBCA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hard-ruler</a:t>
            </a:r>
            <a:endParaRPr lang="en-US" sz="2600" dirty="0"/>
          </a:p>
        </p:txBody>
      </p:sp>
      <p:sp>
        <p:nvSpPr>
          <p:cNvPr id="17" name="word-rule"/>
          <p:cNvSpPr/>
          <p:nvPr/>
        </p:nvSpPr>
        <p:spPr>
          <a:xfrm>
            <a:off x="4521098" y="2129028"/>
            <a:ext cx="3149498" cy="0"/>
          </a:xfrm>
          <a:prstGeom prst="line">
            <a:avLst/>
          </a:prstGeom>
          <a:ln w="12700">
            <a:solidFill>
              <a:srgbClr val="CEBCA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Harald's nickname, given for his harsh taxes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farmers called him hard-ruler because of his taxes.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8F6F4"/>
          </a:solidFill>
          <a:ln w="12700">
            <a:solidFill>
              <a:srgbClr val="CEBCA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accurate</a:t>
            </a:r>
            <a:endParaRPr lang="en-US" sz="2600" dirty="0"/>
          </a:p>
        </p:txBody>
      </p:sp>
      <p:sp>
        <p:nvSpPr>
          <p:cNvPr id="23" name="word-rule"/>
          <p:cNvSpPr/>
          <p:nvPr/>
        </p:nvSpPr>
        <p:spPr>
          <a:xfrm>
            <a:off x="8310677" y="2129028"/>
            <a:ext cx="3149498" cy="0"/>
          </a:xfrm>
          <a:prstGeom prst="line">
            <a:avLst/>
          </a:prstGeom>
          <a:ln w="12700">
            <a:solidFill>
              <a:srgbClr val="CEBCA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correct and true to the facts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Is the song accurate about what the Vikings were like?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Harald Hardrada was a Viking from Norway.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1030 his brother, King Olaf, was killed in battle.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Harald was fifteen and badly hurt, and he fled east.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sailed across the Baltic Sea to the land of the Rus.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Novgorod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Prince Yaroslav welcomed him with a feast.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1034 Harald reached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Constantinople</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AF8F6"/>
          </a:solidFill>
          <a:ln w="12700">
            <a:solidFill>
              <a:srgbClr val="DBCEC2"/>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joined the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Varangian Guard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the Emperor's bodyguard.</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fought pirates and captured cities, and grew rich and famous.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1047 he returned to Norway and became its king.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 harsh taxes earned him the name </a:t>
            </a:r>
            <a:pPr algn="l" indent="0" marL="0">
              <a:spcAft>
                <a:spcPts val="600"/>
              </a:spcAft>
              <a:buNone/>
            </a:pPr>
            <a:r>
              <a:rPr lang="en-US" sz="2800" b="1" dirty="0">
                <a:solidFill>
                  <a:srgbClr val="7A4A1E"/>
                </a:solidFill>
                <a:latin typeface="Calibri" pitchFamily="34" charset="0"/>
                <a:ea typeface="Calibri" pitchFamily="34" charset="-122"/>
                <a:cs typeface="Calibri" pitchFamily="34" charset="-120"/>
              </a:rPr>
              <a:t>hard-ruler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1066 he invaded England and took York.</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His story shows that Vikings were travellers and traders as well as warriors.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 saga begins: the journey east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Follow Harald on a map: Norway, Sweden, Gotland, the Daugava, Lake Ladoga, Novgorod. Every stop is a trading place.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saga is a long story about a hero's life, told and retold by the Vikings.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He recovered at the hall of the Swedish king, gathered survivors and set off east in a longship to find Magnus, Olaf's young son, in the land of the Rus.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At Novgorod, Grand Prince Yaroslav of the Rus welcomed Harald with a great feast and told him how his own ancestors had come from the north and settled along the river Dnieper.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Constantinople and the Varangian Guard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Remember that a saga is a story told to praise a hero. Eighty cities and a coffin trick are the saga's claims, not facts a historian can check.</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Harald reached Constantinople in 1034. It was a city like no other, built of stone, with great domes along the shore sparkling in the light from the water.</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These were the years of Harald's greatest adventures. The saga says he fought pirates in the Mediterranean, fought in Sicily and Palestine, walked the streets of Jerusalem and captured eighty cities.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Then news came from home: in his absence, Magnus had become King of Norway.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Hard-ruler: king of Norway, and the road to England</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Harald's dates in order: 1030 leaves Norway, 1034 Constantinople, 1042 escapes, 1047 king, 1066 England.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1047 Harald arrived back in Norway ready to fight Magnus, and was surprised to be offered half the kingdom instead.</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Harald was about fifty, a great age at the time, an Anglo-Saxon named Tostig came to his court.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1066 Harald sailed across the North Sea and up the river Ouse.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What the saga teaches, and how accurate is a source?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Accurate is not the same as complete. Say what is right, then say what is missing.</a:t>
            </a:r>
            <a:endParaRPr lang="en-US" sz="1800" dirty="0"/>
          </a:p>
        </p:txBody>
      </p:sp>
      <p:sp>
        <p:nvSpPr>
          <p:cNvPr id="11" name="point-card"/>
          <p:cNvSpPr/>
          <p:nvPr/>
        </p:nvSpPr>
        <p:spPr>
          <a:xfrm>
            <a:off x="548640" y="1389888"/>
            <a:ext cx="3515258" cy="3964940"/>
          </a:xfrm>
          <a:prstGeom prst="roundRect">
            <a:avLst>
              <a:gd name="adj" fmla="val 1561"/>
            </a:avLst>
          </a:prstGeom>
          <a:solidFill>
            <a:srgbClr val="F6F2EF"/>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What does the story of Harald Hardrada teach us about the Vikings?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9F4EC"/>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assessment asks how well you can understand sources about the Vikings and judge how accurate they are using your own knowledge.</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6F2EF"/>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source that shows the Vikings only as raiders who burned villages and robbed monasteries is not wrong, because Lindisfarne happened.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What the saga teaches, and how accurate is a source?</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F6F2EF"/>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short film shows the Vikings only as raiders who steal and burn. Judge how accurate it is, using your own knowledge.</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B69B83"/>
            </a:solidFill>
            <a:prstDash val="solid"/>
          </a:ln>
        </p:spPr>
      </p:sp>
      <p:sp>
        <p:nvSpPr>
          <p:cNvPr id="10" name="step-hex"/>
          <p:cNvSpPr/>
          <p:nvPr/>
        </p:nvSpPr>
        <p:spPr>
          <a:xfrm>
            <a:off x="685800" y="2560980"/>
            <a:ext cx="457200" cy="395935"/>
          </a:xfrm>
          <a:prstGeom prst="hexagon">
            <a:avLst/>
          </a:prstGeom>
          <a:solidFill>
            <a:srgbClr val="7A4A1E"/>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the source tells us: the Vikings were violent raiders.</a:t>
            </a:r>
            <a:endParaRPr lang="en-US" sz="1800" dirty="0"/>
          </a:p>
        </p:txBody>
      </p:sp>
      <p:sp>
        <p:nvSpPr>
          <p:cNvPr id="13" name="step-box"/>
          <p:cNvSpPr/>
          <p:nvPr/>
        </p:nvSpPr>
        <p:spPr>
          <a:xfrm>
            <a:off x="548640" y="3088640"/>
            <a:ext cx="11094415" cy="513080"/>
          </a:xfrm>
          <a:prstGeom prst="roundRect">
            <a:avLst>
              <a:gd name="adj" fmla="val 14257"/>
            </a:avLst>
          </a:prstGeom>
          <a:solidFill>
            <a:srgbClr val="FFFFFF"/>
          </a:solidFill>
          <a:ln w="15875">
            <a:solidFill>
              <a:srgbClr val="B69B83"/>
            </a:solidFill>
            <a:prstDash val="solid"/>
          </a:ln>
        </p:spPr>
      </p:sp>
      <p:sp>
        <p:nvSpPr>
          <p:cNvPr id="14" name="step-hex"/>
          <p:cNvSpPr/>
          <p:nvPr/>
        </p:nvSpPr>
        <p:spPr>
          <a:xfrm>
            <a:off x="685800" y="3147212"/>
            <a:ext cx="457200" cy="395935"/>
          </a:xfrm>
          <a:prstGeom prst="hexagon">
            <a:avLst/>
          </a:prstGeom>
          <a:solidFill>
            <a:srgbClr val="7A4A1E"/>
          </a:solidFill>
          <a:ln/>
        </p:spPr>
      </p:sp>
      <p:sp>
        <p:nvSpPr>
          <p:cNvPr id="15" name="step-hex-label"/>
          <p:cNvSpPr txBox="1"/>
          <p:nvPr/>
        </p:nvSpPr>
        <p:spPr>
          <a:xfrm>
            <a:off x="685800" y="314721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it against your knowledge: true in part, because of raids such as Lindisfarne in 793.</a:t>
            </a:r>
            <a:endParaRPr lang="en-US" sz="1800" dirty="0"/>
          </a:p>
        </p:txBody>
      </p:sp>
      <p:sp>
        <p:nvSpPr>
          <p:cNvPr id="17" name="step-box"/>
          <p:cNvSpPr/>
          <p:nvPr/>
        </p:nvSpPr>
        <p:spPr>
          <a:xfrm>
            <a:off x="548640" y="3674872"/>
            <a:ext cx="11094415" cy="777240"/>
          </a:xfrm>
          <a:prstGeom prst="roundRect">
            <a:avLst>
              <a:gd name="adj" fmla="val 9412"/>
            </a:avLst>
          </a:prstGeom>
          <a:solidFill>
            <a:srgbClr val="FFFFFF"/>
          </a:solidFill>
          <a:ln w="15875">
            <a:solidFill>
              <a:srgbClr val="B69B83"/>
            </a:solidFill>
            <a:prstDash val="solid"/>
          </a:ln>
        </p:spPr>
      </p:sp>
      <p:sp>
        <p:nvSpPr>
          <p:cNvPr id="18" name="step-hex"/>
          <p:cNvSpPr/>
          <p:nvPr/>
        </p:nvSpPr>
        <p:spPr>
          <a:xfrm>
            <a:off x="685800" y="3865524"/>
            <a:ext cx="457200" cy="395935"/>
          </a:xfrm>
          <a:prstGeom prst="hexagon">
            <a:avLst/>
          </a:prstGeom>
          <a:solidFill>
            <a:srgbClr val="7A4A1E"/>
          </a:solidFill>
          <a:ln/>
        </p:spPr>
      </p:sp>
      <p:sp>
        <p:nvSpPr>
          <p:cNvPr id="19" name="step-hex-label"/>
          <p:cNvSpPr txBox="1"/>
          <p:nvPr/>
        </p:nvSpPr>
        <p:spPr>
          <a:xfrm>
            <a:off x="685800" y="386552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74872"/>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it leaves out: Vikings also settled in the Danelaw, farmed, traded as far as India, met at the Thing and gave English words such as sky and egg.</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B69B83"/>
            </a:solidFill>
            <a:prstDash val="solid"/>
          </a:ln>
        </p:spPr>
      </p:sp>
      <p:sp>
        <p:nvSpPr>
          <p:cNvPr id="22" name="step-hex"/>
          <p:cNvSpPr/>
          <p:nvPr/>
        </p:nvSpPr>
        <p:spPr>
          <a:xfrm>
            <a:off x="685800" y="4583836"/>
            <a:ext cx="457200" cy="395935"/>
          </a:xfrm>
          <a:prstGeom prst="hexagon">
            <a:avLst/>
          </a:prstGeom>
          <a:solidFill>
            <a:srgbClr val="7A4A1E"/>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 partly accurate but one-sided; it would be more accurate if it included settling and trading.</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Partly accurate: the raids are real, but the film is one-sided because it leaves out settling, farming, trade and language, so it does not give a balanced view of the Vikings.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Harald's life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400" b="1" dirty="0">
                <a:solidFill>
                  <a:srgbClr val="1E2229"/>
                </a:solidFill>
                <a:latin typeface="Calibri" pitchFamily="34" charset="0"/>
                <a:ea typeface="Calibri" pitchFamily="34" charset="-122"/>
                <a:cs typeface="Calibri" pitchFamily="34" charset="-120"/>
              </a:rPr>
              <a:t>Put these events from the saga of Harald Hardrada in chronological order.</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Harald escapes from Constantinople over the harbour chain (1042)</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Harald returns to Norway and shares the kingdom with Magnus (1047)</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Harald reaches Constantinople and joins the Varangian Guard (1034)</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Harald's brother King Olaf is killed and Harald flees Norway (1030)</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Harald invades England, wins at Fulford Gate and takes York (1066)</a:t>
            </a:r>
            <a:endParaRPr lang="en-US" sz="24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F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Harald reaches Novgorod and swears to fight for Prince Yaroslav</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Same task, three ways in: Harald's life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Harald's life in order</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Five events carry a date in brackets. Put those in order of date first, smallest number first.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Novgorod event has no date. Ask: did Harald reach Novgorod before or after Constantinople? He travelled east through Novgorod on the way.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 Novgorod goes between 1030 and 1034.</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story makes sense: flee, Novgorod, Constantinople, escape, king, England.</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Dates first, smallest to largest. Novgorod is on the way to Constantinople, so it sits between 1030 and 1034.</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stop at Novgorod shaped the rest of Harald's life, giving two consequences.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the source leaves out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comedy song describes the Vikings only as raiders who stole treasure and burned villages. Using your own knowledge, what does the song leave out?</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That Vikings never attacked monasteries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That Vikings also settled, farmed, traded and gave English new words and place names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That Vikings were Romans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That Vikings came from Britain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What the source leaves out</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What the source leaves out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6F2EF"/>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what the source says the Vikings were: raiders.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Is that true? Yes, partly: Lindisfarne, 793.</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Now list what you know that the source does not mention: the Danelaw, farms, trade with the east, the Thing, words like sky and egg, place names like Grimsby.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the option that names those missing things. Options that contradict the facts are wrong.</a:t>
            </a:r>
            <a:endParaRPr lang="en-US" sz="1800" dirty="0"/>
          </a:p>
        </p:txBody>
      </p:sp>
      <p:sp>
        <p:nvSpPr>
          <p:cNvPr id="17" name="col-Core"/>
          <p:cNvSpPr/>
          <p:nvPr/>
        </p:nvSpPr>
        <p:spPr>
          <a:xfrm>
            <a:off x="6425403" y="2395728"/>
            <a:ext cx="2471666" cy="3749040"/>
          </a:xfrm>
          <a:prstGeom prst="roundRect">
            <a:avLst>
              <a:gd name="adj" fmla="val 2220"/>
            </a:avLst>
          </a:prstGeom>
          <a:solidFill>
            <a:srgbClr val="E6DDD4"/>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The source is not wrong, it is incomplete. Which option lists the true things it leaves out?</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one-sided source can still be useful to a historian, and what you would want to know about its origin and purpose before using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Who did Harald fight for in Constantinople?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Byzantine Emperor, as a member of the Varangian Guard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Pope in Rome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King Cnut of England and Denmark</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Grand Prince Yaroslav of the Rus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AF8F6"/>
          </a:solidFill>
          <a:ln w="12700">
            <a:solidFill>
              <a:srgbClr val="C0AA9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Harald's life in order</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786384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740664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Harald's brother King Olaf is killed and Harald flees Norway (1030)  (D)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Harald reaches Novgorod and swears to fight for Prince Yaroslav  (F)</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Harald reaches Constantinople and joins the Varangian Guard (1034)  (C)</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Harald escapes from Constantinople over the harbour chain (1042)  (A)</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Harald returns to Norway and shares the kingdom with Magnus (1047)  (B)</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6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Harald invades England, wins at Fulford Gate and takes York (1066)  (E)</a:t>
            </a:r>
            <a:endParaRPr lang="en-US" sz="1800" dirty="0"/>
          </a:p>
        </p:txBody>
      </p:sp>
      <p:sp>
        <p:nvSpPr>
          <p:cNvPr id="10" name="why-panel"/>
          <p:cNvSpPr/>
          <p:nvPr/>
        </p:nvSpPr>
        <p:spPr>
          <a:xfrm>
            <a:off x="8686800" y="1389888"/>
            <a:ext cx="2956255" cy="4754880"/>
          </a:xfrm>
          <a:prstGeom prst="roundRect">
            <a:avLst>
              <a:gd name="adj" fmla="val 1547"/>
            </a:avLst>
          </a:prstGeom>
          <a:solidFill>
            <a:srgbClr val="F6F2EF"/>
          </a:solidFill>
          <a:ln/>
        </p:spPr>
      </p:sp>
      <p:sp>
        <p:nvSpPr>
          <p:cNvPr id="11" name="why-hex"/>
          <p:cNvSpPr/>
          <p:nvPr/>
        </p:nvSpPr>
        <p:spPr>
          <a:xfrm>
            <a:off x="8869680" y="1572768"/>
            <a:ext cx="685800" cy="593903"/>
          </a:xfrm>
          <a:prstGeom prst="hexagon">
            <a:avLst/>
          </a:prstGeom>
          <a:solidFill>
            <a:srgbClr val="7A4A1E"/>
          </a:solidFill>
          <a:ln/>
        </p:spPr>
      </p:sp>
      <p:sp>
        <p:nvSpPr>
          <p:cNvPr id="12" name="why-hex-label"/>
          <p:cNvSpPr txBox="1"/>
          <p:nvPr/>
        </p:nvSpPr>
        <p:spPr>
          <a:xfrm>
            <a:off x="886968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8869680" y="2304288"/>
            <a:ext cx="259049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1030 Olaf killed and Harald flees; Novgorod and Yaroslav on the way east; 1034 Constantinople; 1042 the escape; 1047 king of Norway; 1066 England and York.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the source leaves out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comedy song describes the Vikings only as raiders who stole treasure and burned villages. Using your own knowledge, what does the song leave out?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That Vikings also settled, farmed, traded and gave English new words and place names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raids are real, so the source is partly accurate. It is one-sided because it leaves out the Danelaw, farming, trade, the Thing and the words and place names the Vikings gave to English.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Who did Harald fight for in Constantinople?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The Byzantine Emperor, as a member of the Varangian Guard</a:t>
            </a:r>
            <a:endParaRPr lang="en-US" sz="1800" dirty="0"/>
          </a:p>
        </p:txBody>
      </p:sp>
      <p:sp>
        <p:nvSpPr>
          <p:cNvPr id="10" name="why-panel"/>
          <p:cNvSpPr/>
          <p:nvPr/>
        </p:nvSpPr>
        <p:spPr>
          <a:xfrm>
            <a:off x="7223760" y="1389888"/>
            <a:ext cx="4419295" cy="4754880"/>
          </a:xfrm>
          <a:prstGeom prst="roundRect">
            <a:avLst>
              <a:gd name="adj" fmla="val 1035"/>
            </a:avLst>
          </a:prstGeom>
          <a:solidFill>
            <a:srgbClr val="F6F2EF"/>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Constantinople Harald joined the Varangian Guard, the Emperor's private army and bodyguard, made up of Norsemen.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6F2EF"/>
      </a:lt2>
      <a:accent1>
        <a:srgbClr val="7A4A1E"/>
      </a:accent1>
      <a:accent2>
        <a:srgbClr val="B8862B"/>
      </a:accent2>
      <a:accent3>
        <a:srgbClr val="AF9278"/>
      </a:accent3>
      <a:accent4>
        <a:srgbClr val="815E1E"/>
      </a:accent4>
      <a:accent5>
        <a:srgbClr val="4A505C"/>
      </a:accent5>
      <a:accent6>
        <a:srgbClr val="DEC69B"/>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Vikings and Anglo-Saxons · Chapter 6: The saga of Harald Hardrada, and how accurate is a source?</dc:title>
  <dc:subject>History · Year 7</dc:subject>
  <dc:creator>Dr Vitor Merissi de Carvalho</dc:creator>
  <cp:lastModifiedBy>Dr Vitor Merissi de Carvalho</cp:lastModifiedBy>
  <cp:revision>1</cp:revision>
  <dcterms:created xsi:type="dcterms:W3CDTF">2026-10-19T16:23:17Z</dcterms:created>
  <dcterms:modified xsi:type="dcterms:W3CDTF">2026-10-19T16:23:17Z</dcterms:modified>
</cp:coreProperties>
</file>