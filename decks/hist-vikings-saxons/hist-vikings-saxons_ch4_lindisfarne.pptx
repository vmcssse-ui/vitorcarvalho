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d488b10-d11a-cbc3-b051-d2f8fffa8c65}">
          <p14:sldIdLst>
            <p14:sldId id="256"/>
          </p14:sldIdLst>
        </p14:section>
        <p14:section name="Gate" id="{77c8d048-04b5-a3ee-47d7-5c3015ec98fb}">
          <p14:sldIdLst>
            <p14:sldId id="257"/>
            <p14:sldId id="258"/>
          </p14:sldIdLst>
        </p14:section>
        <p14:section name="Pre-teach" id="{102b038c-00e6-9b7d-be41-37e7cc39633c}">
          <p14:sldIdLst>
            <p14:sldId id="259"/>
            <p14:sldId id="260"/>
          </p14:sldIdLst>
        </p14:section>
        <p14:section name="Read-along" id="{c4f358f3-7b08-b361-73bd-2d0a3424ecbf}">
          <p14:sldIdLst>
            <p14:sldId id="261"/>
            <p14:sldId id="262"/>
          </p14:sldIdLst>
        </p14:section>
        <p14:section name="Teach" id="{8bc35500-0b33-09c4-e89e-4a810cdba466}">
          <p14:sldIdLst>
            <p14:sldId id="263"/>
            <p14:sldId id="264"/>
            <p14:sldId id="265"/>
            <p14:sldId id="266"/>
            <p14:sldId id="267"/>
          </p14:sldIdLst>
        </p14:section>
        <p14:section name="Routes" id="{fd65f221-6ce6-78aa-ff7a-03fcc36b4b20}">
          <p14:sldIdLst>
            <p14:sldId id="268"/>
            <p14:sldId id="269"/>
            <p14:sldId id="270"/>
            <p14:sldId id="271"/>
            <p14:sldId id="272"/>
          </p14:sldIdLst>
        </p14:section>
        <p14:section name="Close" id="{c51b19e0-3589-0a0f-cd2b-be5b93a302f6}">
          <p14:sldIdLst>
            <p14:sldId id="273"/>
          </p14:sldIdLst>
        </p14:section>
        <p14:section name="Answers" id="{c76ce2f0-185c-4753-0edb-03f0d50901cb}">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What happened at Lindisfarne?. The raid on the Holy Island in 793, what a monk's account says about it, and how to infer from a source and back your inference with evidence.
This deck covers the department's lesson: 3 (What does Lindisfarne tell us about the Vikings?: What happened at Lindisfarne in 793, and what can we infer from accounts of it?).
Read the big question aloud: "Who were the Vikings, and how do historians use chronology and sources to find out?"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which year did the Vikings attack Lindisfarne?  →  793
2. What kind of people lived at Lindisfarne when the Vikings attacked?  →  C   Monks
3. An ___ is a good guess based on what the source shows, which the source does not state directly.  →  inference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793. The raid on Lindisfarne was in 793. It is often called the beginning of the Viking Age.
2. C   Monks. Lindisfarne was a monastery. Monks lived there, prayed and made holy books; they did not fight back.
3. inference. An inference is worked out from clues in the source; it is not written in the source itself.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Lindisfarne: a small island off the north-east coast of England, also called Holy Island. Example: "You can only walk to Lindisfarne when the tide is low."
• monastery: a place where monks live, pray and work. Example: "The monks at the monastery made beautiful holy books."
• monk: a religious man who gives his life to prayer and work. Example: "A monk did not carry weapons."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raid: a sudden attack to steal treasure and goods. Example: "The Vikings came to Lindisfarne on a raid."
• infer: to make a good guess from clues the source gives. Example: "We can infer that the monks were not ready to fight."
• evidence: the words or details in the source that support your inference. Example: "Give evidence from the source for each inference."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Lindisfarne is a small island off the north-east coast of England.
2. It is also called Holy Island.
3. A Christian monastery stood there.
4. Monks lived there, prayed, and made holy books.
5. The island felt safe, because you could only reach it at low tide.
6. In the year 793, Viking warriors sailed there in longships.
7. They attacked the monastery and took its treasure.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monks did not fight back.
9. Some monks were killed and others were taken away in chains.
10. This was one of the first Viking raids on England.
11. Historians call it the start of the Viking Age.
12. A monk later wrote an account of the raid.
13. We can infer things from his words that he does not say directly.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would anyone attack this island?. Say it in your own words, then check understanding with a quick question: ask a pupil from the pre-teach group first, since they met these words and ideas before the lesson. Pupils try to recall before you re-explain.
Lindisfarne is a small island off the north-east coast of England. Its other name is Holy Island, and it earned that name: the monastery standing on it was one of the most important Christian places in the country. The monks who lived there spent their days praying and copying out holy books by hand. The island can be walked to only at low tide, which is part of why it felt so safe.
In the year 793, Viking warriors from Scandinavia sailed across the sea in their longships and attacked Lindisfarne. The monks did not fight back. The Vikings wanted the treasure and valuables of the monastery, and they took them. It was one of the first Viking raids on England, and historians often call it the beginning of the Viking Age.
Why a monastery? Think like a raider. A monastery held gold and silver for its church, it was full of men who had given up fighting, and it stood by the sea where a longship could land and leave quickly. To a Viking it was rich, undefended and easy to reach.
Tip: Three reasons a monastery was a target: rich, undefended, by the sea. You will need them for inference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monk's account. Say it in your own words, then check understanding with a quick question: ask a pupil from the pre-teach group first, since they met these words and ideas before the lesson. Pupils try to recall before you re-explain.
The best-known description of the raid was written by a monk some years afterwards. Your lesson prints it as the source for your progress check. He writes that the Vikings came to the church of Lindisfarne, “dug up the altars and seized all the treasures of the holy church”. He says they killed some of the brothers, that “some they took away with them in chains”, and that “some they drowned in the sea”.
Notice who is writing. The monk was on the side of the people who were attacked, and he wrote for other Christians. That does not make him wrong, but it does shape his words: the Vikings are shown only as destroyers, and nothing is said about why they came or who they were.
That is exactly why this source is so good for practising inference. It tells us some things directly, and it lets us work out other things from the details it chooses.
Quotation: "dug up the altars and seized all the treasures of the holy church" (A monk's account of the raid on Lindisfarne, written in the Middle Ages, as printed in your lesson). Read it aloud; ask what it shows.
Tip: When you read a source, ask who wrote it and for whom. The monk's side of the story is one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Inferring from sources. Say it in your own words, then check understanding with a quick question: ask a pupil from the pre-teach group first, since they met these words and ideas before the lesson. Pupils try to recall before you re-explain.
Inferring from sources is one of the most important skills in history, because it lets us understand more about the time and the people than the source says in so many words. An inference is a good guess about what is happening, based on what we can read or see. The key rule from your lesson: you should not be able to see or read your inference in the source. If the source states it, that is information, not an inference.
Try it on an everyday sentence. Suppose a source said: a boy walked home in the rain with his coat open and his umbrella still rolled up. The source does not say the boy did not mind getting wet, but we can infer it, because he did nothing to stay dry. We can also infer he was not in a hurry, because he walked.
Now the raid. From the fact that the Vikings arrived armed with axes, swords and shields, we can infer that they came expecting to fight, not to trade. From the fact that the monks could not defend themselves, we can infer that they were not prepared for an attack, or were not the kind of people who fought. From the fact that the raiders took a great deal of treasure, we can infer that Lindisfarne was a rich place, because there was plenty there to take.
Worked example — model it step by step, thinking aloud: What can you infer about the Vikings from the monk's words “some they took away with them in chains”? (1) Read the words: people were taken away, and they were in chains. (2) Ask what the source does not say but suggests. Why take people away? To sell them or to make them work. (3) Write the inference: I can infer that the Vikings wanted captives as well as treasure. (4) Give the evidence: the source says some monks were taken away in chains. Answer: I can infer that the Vikings wanted captives as well as treasure. Evidence from the source that shows me this: “some they took away with them in chains”..
Tip: If you can point to your idea in the source, it is information. If you worked it out from clues, it is an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Inferring from sources. Say it in your own words, then check understanding with a quick question: ask a pupil from the pre-teach group first, since they met these words and ideas before the lesson. Pupils try to recall before you re-explain.
Inferring from sources is one of the most important skills in history, because it lets us understand more about the time and the people than the source says in so many words. An inference is a good guess about what is happening, based on what we can read or see. The key rule from your lesson: you should not be able to see or read your inference in the source. If the source states it, that is information, not an inference.
Try it on an everyday sentence. Suppose a source said: a boy walked home in the rain with his coat open and his umbrella still rolled up. The source does not say the boy did not mind getting wet, but we can infer it, because he did nothing to stay dry. We can also infer he was not in a hurry, because he walked.
Now the raid. From the fact that the Vikings arrived armed with axes, swords and shields, we can infer that they came expecting to fight, not to trade. From the fact that the monks could not defend themselves, we can infer that they were not prepared for an attack, or were not the kind of people who fought. From the fact that the raiders took a great deal of treasure, we can infer that Lindisfarne was a rich place, because there was plenty there to take.
Worked example — model it step by step, thinking aloud: What can you infer about the Vikings from the monk's words “some they took away with them in chains”? (1) Read the words: people were taken away, and they were in chains. (2) Ask what the source does not say but suggests. Why take people away? To sell them or to make them work. (3) Write the inference: I can infer that the Vikings wanted captives as well as treasure. (4) Give the evidence: the source says some monks were taken away in chains. Answer: I can infer that the Vikings wanted captives as well as treasure. Evidence from the source that shows me this: “some they took away with them in chains”..
Tip: If you can point to your idea in the source, it is information. If you worked it out from clues, it is an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an inference with evidence. Say it in your own words, then check understanding with a quick question: ask a pupil from the pre-teach group first, since they met these words and ideas before the lesson. Pupils try to recall before you re-explain.
Your progress check asks for two inferences about what the Vikings were like, each backed with a quote from the source. The lesson gives you two sentence starters to use in turn: I can infer that… and Evidence from the source that shows me this…
Keep the pair together. First the inference, in your own words, saying something the source does not state. Then the evidence: a short quotation, in quotation marks, copied exactly. The quotation should be the detail that made you think of the inference, not the whole source.
A common mistake is to quote first and then repeat the quote in different words. That is description, not inference. Another is to make a guess the source cannot support, such as saying the Vikings were poor. Check that every inference has a clue behind it.
Tip: Inference, then evidence. Two of each. Short quotations in quotation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can you infer?.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source about the raid says that the Vikings took a great deal of gold from the monastery. What can you infer from this?
Support — work through the steps with the group: (1) Underline the clue in the source: what was taken, how much, or what it did to the raiders. (2) Ask what must have been true for that clue to happen. (3) Cross out any option the source gives no clue about at all, such as the time of day or the monks fighting. (4) Choose the option that the clue supports.
Parallel worked example for Support (model it, do not give the task answer): A source says a shopkeeper counted the day's money for a very long time. What can you infer: the shop was busy, the shop was closed, or the shopkeeper was tall? Clue: counting took a long time.; What must be true? There was a lot of money to count.; A lot of money means many customers: the shop was busy. Nothing points to closed or tall.. Answer: The shop was busy..
Core — reveal the hint only on request: Ask what must have been true for the clue to happen. If no clue points to an option, it is not an inference.
Stretch — no help; when finished: Write a second, different inference from the same detail about gold, and explain what clue supports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can you infer?.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source about the raid says that the Vikings took a great deal of gold from the monastery. What can you infer from this?
Support — work through the steps with the group: (1) Underline the clue in the source: what was taken, how much, or what it did to the raiders. (2) Ask what must have been true for that clue to happen. (3) Cross out any option the source gives no clue about at all, such as the time of day or the monks fighting. (4) Choose the option that the clue supports.
Parallel worked example for Support (model it, do not give the task answer): A source says a shopkeeper counted the day's money for a very long time. What can you infer: the shop was busy, the shop was closed, or the shopkeeper was tall? Clue: counting took a long time.; What must be true? There was a lot of money to count.; A lot of money means many customers: the shop was busy. Nothing points to closed or tall.. Answer: The shop was busy..
Core — reveal the hint only on request: Ask what must have been true for the clue to happen. If no clue points to an option, it is not an inference.
Stretch — no help; when finished: Write a second, different inference from the same detail about gold, and explain what clue supports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Two inferences with evidence.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Using the monk's account of the raid on Lindisfarne, give TWO inferences about what the Vikings were like. For each one, write the inference and then the evidence from the source that shows it. Use the sentence starters I can infer that… and Evidence from the source that shows me this…
Support — work through the steps with the group: (1) Read the source and underline two details: for example, what they did to the altars, and what they did to some of the monks. (2) For the first detail, ask: what does this tell me about the Vikings that the monk does not actually say? Write: I can infer that… (3) Then write: Evidence from the source that shows me this… and copy the short detail in quotation marks. (4) Do the same for the second detail. Check the two inferences are different.
Parallel worked example for Support (model it, do not give the task answer): Give one inference with evidence from this source: the knights rode into the village in full armour, and the villagers hid their animals. Clue: full armour. Inference: the knights expected trouble or wanted to frighten people.; Clue: villagers hid animals. Inference: the villagers feared the knights would take them.; Write one pair: inference, then evidence in quotation marks.. Answer: I can infer that the villagers did not trust the knights. Evidence from the source that shows me this: the villagers hid their animals..
Core — reveal the hint only on request: Two pairs: inference, then quoted evidence. The inference must be something the monk does not say outright.
Stretch — no help; when finished: Explain one way the monk's point of view might limit what we can infer about the Vikings from his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Two inferences with evidence.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Using the monk's account of the raid on Lindisfarne, give TWO inferences about what the Vikings were like. For each one, write the inference and then the evidence from the source that shows it. Use the sentence starters I can infer that… and Evidence from the source that shows me this…
Support — work through the steps with the group: (1) Read the source and underline two details: for example, what they did to the altars, and what they did to some of the monks. (2) For the first detail, ask: what does this tell me about the Vikings that the monk does not actually say? Write: I can infer that… (3) Then write: Evidence from the source that shows me this… and copy the short detail in quotation marks. (4) Do the same for the second detail. Check the two inferences are different.
Parallel worked example for Support (model it, do not give the task answer): Give one inference with evidence from this source: the knights rode into the village in full armour, and the villagers hid their animals. Clue: full armour. Inference: the knights expected trouble or wanted to frighten people.; Clue: villagers hid animals. Inference: the villagers feared the knights would take them.; Write one pair: inference, then evidence in quotation marks.. Answer: I can infer that the villagers did not trust the knights. Evidence from the source that shows me this: the villagers hid their animals..
Core — reveal the hint only on request: Two pairs: inference, then quoted evidence. The inference must be something the monk does not say outright.
Stretch — no help; when finished: Explain one way the monk's point of view might limit what we can infer about the Vikings from his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Two inferences with evidence.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Using the monk's account of the raid on Lindisfarne, give TWO inferences about what the Vikings were like. For each one, write the inference and then the evidence from the source that shows it. Use the sentence starters I can infer that… and Evidence from the source that shows me this…
Support — work through the steps with the group: (1) Read the source and underline two details: for example, what they did to the altars, and what they did to some of the monks. (2) For the first detail, ask: what does this tell me about the Vikings that the monk does not actually say? Write: I can infer that… (3) Then write: Evidence from the source that shows me this… and copy the short detail in quotation marks. (4) Do the same for the second detail. Check the two inferences are different.
Parallel worked example for Support (model it, do not give the task answer): Give one inference with evidence from this source: the knights rode into the village in full armour, and the villagers hid their animals. Clue: full armour. Inference: the knights expected trouble or wanted to frighten people.; Clue: villagers hid animals. Inference: the villagers feared the knights would take them.; Write one pair: inference, then evidence in quotation marks.. Answer: I can infer that the villagers did not trust the knights. Evidence from the source that shows me this: the villagers hid their animals..
Core — reveal the hint only on request: Two pairs: inference, then quoted evidence. The inference must be something the monk does not say outright.
Stretch — no help; when finished: Explain one way the monk's point of view might limit what we can infer about the Vikings from his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Put the events of the raid on Lindisfarne in the order they happened.
Answer: Monks live, pray and make holy books on the island, reached only at low tide  (E); Viking warriors sail from Scandinavia in longships  (C); They land on Lindisfarne armed with axes, swords and shields  (F); They attack the monastery and seize its treasure  (A); Some monks are killed and others taken away in chains  (D); A monk writes an account of the raid, and the Viking Age has begun  (B). Life on the island came first; the Vikings sailed, landed, attacked and took treasure; monks were killed or taken; and the account was written afterwards, when the Viking Age had begun.
Source of this question: module 3 task ("The raid in order")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What can you infer?. Reveal the answer; pupils mark their own work in a different colour, then read the "why" together. Same destination for every lane, so one answer serves the whole class.
Answer: B   Lindisfarne was a wealthy place
Why: A great deal of gold taken means a great deal of gold was there. The source does not say Lindisfarne was wealthy, so this is an inference, and it is the only option the clue supports.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Two inferences with evidence. Reveal the answer; pupils mark their own work in a different colour, then read the "why" together. Same destination for every lane, so one answer serves the whole class.
Answer: I give two different inferences, each something the source does not state directly.; Each inference is about what the Vikings were like, not only about what happened.; Each inference is followed by a short quotation from the source, in quotation marks.; The quotation I choose is the detail that supports my inference, not the whole source.
Why: A strong answer gives two different inferences about the Vikings as people, each worked out from a clue and each backed by a short, exact quotation. The quotation proves the inference came from the source.
Model answer: I can infer that the Vikings were not Christians and did not respect the church. Evidence from the source that shows me this: they “dug up the altars and seized all the treasures of the holy church”, which a Christian would never do. I can infer that the Vikings wanted captives as well as treasure. Evidence from the source that shows me this: “some they took away with them in chains”, which suggests they planned to sell them or make them work.
Success criteria: I give two different inferences, each something the source does not state directly.; Each inference is about what the Vikings were like, not only about what happened.; Each inference is followed by a short quotation from the source, in quotation marks.; The quotation I choose is the detail that supports my inference, not the whole source.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Monks live, pray and make holy books on the island, reached only at low tide  (E); Viking warriors sail from Scandinavia in longships  (C); They land on Lindisfarne armed with axes, swords and shields  (F); They attack the monastery and seize its treasure  (A); Some monks are killed and others taken away in chains  (D); A monk writes an account of the raid, and the Viking Age has begun  (B)
Why: Life on the island came first; the Vikings sailed, landed, attacked and took treasure; monks were killed or taken; and the account was written afterwards, when the Viking Age had begun.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Vikings and Anglo-Saxons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Vikings and Anglo-Saxons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Vikings and Anglo-Saxons · AQA KS3 → 8145</a:t>
            </a:r>
            <a:endParaRPr lang="en-US" sz="1800" dirty="0"/>
          </a:p>
        </p:txBody>
      </p:sp>
      <p:sp>
        <p:nvSpPr>
          <p:cNvPr id="10" name="deck-title"/>
          <p:cNvSpPr txBox="1"/>
          <p:nvPr/>
        </p:nvSpPr>
        <p:spPr>
          <a:xfrm>
            <a:off x="548640" y="223824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What happened at Lindisfarne?</a:t>
            </a:r>
            <a:endParaRPr lang="en-US" sz="4000" dirty="0"/>
          </a:p>
        </p:txBody>
      </p:sp>
      <p:sp>
        <p:nvSpPr>
          <p:cNvPr id="11" name="lessons-card"/>
          <p:cNvSpPr/>
          <p:nvPr/>
        </p:nvSpPr>
        <p:spPr>
          <a:xfrm>
            <a:off x="548640" y="3914648"/>
            <a:ext cx="5287975" cy="1290320"/>
          </a:xfrm>
          <a:prstGeom prst="roundRect">
            <a:avLst>
              <a:gd name="adj" fmla="val 5669"/>
            </a:avLst>
          </a:prstGeom>
          <a:solidFill>
            <a:srgbClr val="F6F2EF"/>
          </a:solidFill>
          <a:ln/>
        </p:spPr>
      </p:sp>
      <p:sp>
        <p:nvSpPr>
          <p:cNvPr id="12" name="lessons"/>
          <p:cNvSpPr txBox="1"/>
          <p:nvPr/>
        </p:nvSpPr>
        <p:spPr>
          <a:xfrm>
            <a:off x="685800" y="400608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What does Lindisfarne tell us about the Vikings?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Who were the Vikings, and how do historians use chronology and sources to find out?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did the Vikings attack Lindisfarne?</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kind of people lived at Lindisfarne when the Vikings attacked?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Soldiers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Kings and their courts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Monks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Viking settlers</a:t>
            </a:r>
            <a:endParaRPr lang="en-US" sz="2200" dirty="0"/>
          </a:p>
        </p:txBody>
      </p:sp>
      <p:sp>
        <p:nvSpPr>
          <p:cNvPr id="17"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An ___ is a good guess based on what the source shows, which the source does not state directly.</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inference  ·  origin  ·  opinion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793</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In which year did the Vikings attack Lindisfarne?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raid on Lindisfarne was in 793. It is often called the beginning of the Viking Age.</a:t>
            </a:r>
            <a:endParaRPr lang="en-US" sz="22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Monks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kind of people lived at Lindisfarne when the Vikings attacked?</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Lindisfarne was a monastery. Monks lived there, prayed and made holy books; they did not fight back.</a:t>
            </a:r>
            <a:endParaRPr lang="en-US" sz="20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inference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An ___ is a good guess based on what the source shows, which the source does not state directly.</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An inference is worked out from clues in the source; it is not written in the source itself.</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Lindisfarne</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small island off the north-east coast of England, also called Holy Island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You can only walk to Lindisfarne when the tide is low.</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monastery</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place where monks live, pray and work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monks at the monastery made beautiful holy books.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monk</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religious man who gives his life to prayer and work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monk did not carry weapons.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raid</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sudden attack to steal treasure and goods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Vikings came to Lindisfarne on a raid.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infer</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make a good guess from clues the source gives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We can infer that the monks were not ready to fight.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evidence</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words or details in the source that support your inference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Give evidence from the source for each inference.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Lindisfarne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 small island off the north-east coast of England.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is also called Holy Island.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Christian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monastery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stood there.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Monks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lived there, prayed, and made holy books.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island felt safe, because you could only reach it at low tide.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the year 793, Viking warriors sailed there in longships.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attacked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monastery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took its treasure.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monks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did not fight back.</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Some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monks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were killed and others were taken away in chains.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was one of the first Viking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raids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on England.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Historians call it the start of the Viking Age.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monk</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later wrote an account of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raid</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We can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infer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things from his words that he does not say directly.</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Why would anyone attack this island?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reasons a monastery was a target: rich, undefended, by the sea. You will need them for inference questions.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Lindisfarne is a small island off the north-east coast of England.</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the year 793, Viking warriors from Scandinavia sailed across the sea in their longships and attacked Lindisfarne.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Why a monastery? Think like a raider.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 monk's account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read a source, ask who wrote it and for whom. The monk's side of the story is one side.</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6F2EF"/>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dug up the altars and seized all the treasures of the holy church</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A monk's account of the raid on Lindisfarne, written in the Middle Ages, as printed in your lesson</a:t>
            </a:r>
            <a:endParaRPr lang="en-US" sz="2600" dirty="0"/>
          </a:p>
        </p:txBody>
      </p:sp>
      <p:sp>
        <p:nvSpPr>
          <p:cNvPr id="14" name="bullet-card"/>
          <p:cNvSpPr/>
          <p:nvPr/>
        </p:nvSpPr>
        <p:spPr>
          <a:xfrm>
            <a:off x="548640" y="1389888"/>
            <a:ext cx="5074920" cy="945219"/>
          </a:xfrm>
          <a:prstGeom prst="roundRect">
            <a:avLst>
              <a:gd name="adj" fmla="val 7739"/>
            </a:avLst>
          </a:prstGeom>
          <a:solidFill>
            <a:srgbClr val="F8F6F4"/>
          </a:solidFill>
          <a:ln/>
        </p:spPr>
      </p:sp>
      <p:sp>
        <p:nvSpPr>
          <p:cNvPr id="15" name="bullet-hex"/>
          <p:cNvSpPr/>
          <p:nvPr/>
        </p:nvSpPr>
        <p:spPr>
          <a:xfrm>
            <a:off x="676656" y="1696205"/>
            <a:ext cx="384048" cy="332586"/>
          </a:xfrm>
          <a:prstGeom prst="hexagon">
            <a:avLst/>
          </a:prstGeom>
          <a:solidFill>
            <a:srgbClr val="7A4A1E"/>
          </a:solidFill>
          <a:ln/>
        </p:spPr>
      </p:sp>
      <p:sp>
        <p:nvSpPr>
          <p:cNvPr id="16" name="bullet"/>
          <p:cNvSpPr txBox="1"/>
          <p:nvPr/>
        </p:nvSpPr>
        <p:spPr>
          <a:xfrm>
            <a:off x="1143000" y="1389888"/>
            <a:ext cx="4389120" cy="94521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best-known description of the raid was written by a monk some years afterwards.</a:t>
            </a:r>
            <a:endParaRPr lang="en-US" sz="1800" dirty="0"/>
          </a:p>
        </p:txBody>
      </p:sp>
      <p:sp>
        <p:nvSpPr>
          <p:cNvPr id="17" name="bullet-card"/>
          <p:cNvSpPr/>
          <p:nvPr/>
        </p:nvSpPr>
        <p:spPr>
          <a:xfrm>
            <a:off x="548640" y="2481411"/>
            <a:ext cx="5074920" cy="1224111"/>
          </a:xfrm>
          <a:prstGeom prst="roundRect">
            <a:avLst>
              <a:gd name="adj" fmla="val 5976"/>
            </a:avLst>
          </a:prstGeom>
          <a:solidFill>
            <a:srgbClr val="F8F6F4"/>
          </a:solidFill>
          <a:ln/>
        </p:spPr>
      </p:sp>
      <p:sp>
        <p:nvSpPr>
          <p:cNvPr id="18" name="bullet-hex"/>
          <p:cNvSpPr/>
          <p:nvPr/>
        </p:nvSpPr>
        <p:spPr>
          <a:xfrm>
            <a:off x="676656" y="2927173"/>
            <a:ext cx="384048" cy="332586"/>
          </a:xfrm>
          <a:prstGeom prst="hexagon">
            <a:avLst/>
          </a:prstGeom>
          <a:solidFill>
            <a:srgbClr val="B8862B"/>
          </a:solidFill>
          <a:ln/>
        </p:spPr>
      </p:sp>
      <p:sp>
        <p:nvSpPr>
          <p:cNvPr id="19" name="bullet"/>
          <p:cNvSpPr txBox="1"/>
          <p:nvPr/>
        </p:nvSpPr>
        <p:spPr>
          <a:xfrm>
            <a:off x="1143000" y="2481411"/>
            <a:ext cx="4389120" cy="122411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Notice who is writing. The monk was on the side of the people who were attacked, and he wrote for other Christians.</a:t>
            </a:r>
            <a:endParaRPr lang="en-US" sz="1800" dirty="0"/>
          </a:p>
        </p:txBody>
      </p:sp>
      <p:sp>
        <p:nvSpPr>
          <p:cNvPr id="20" name="bullet-card"/>
          <p:cNvSpPr/>
          <p:nvPr/>
        </p:nvSpPr>
        <p:spPr>
          <a:xfrm>
            <a:off x="548640" y="3851825"/>
            <a:ext cx="5074920" cy="945219"/>
          </a:xfrm>
          <a:prstGeom prst="roundRect">
            <a:avLst>
              <a:gd name="adj" fmla="val 7739"/>
            </a:avLst>
          </a:prstGeom>
          <a:solidFill>
            <a:srgbClr val="F8F6F4"/>
          </a:solidFill>
          <a:ln/>
        </p:spPr>
      </p:sp>
      <p:sp>
        <p:nvSpPr>
          <p:cNvPr id="21" name="bullet-hex"/>
          <p:cNvSpPr/>
          <p:nvPr/>
        </p:nvSpPr>
        <p:spPr>
          <a:xfrm>
            <a:off x="676656" y="4158142"/>
            <a:ext cx="384048" cy="332586"/>
          </a:xfrm>
          <a:prstGeom prst="hexagon">
            <a:avLst/>
          </a:prstGeom>
          <a:solidFill>
            <a:srgbClr val="7A4A1E"/>
          </a:solidFill>
          <a:ln/>
        </p:spPr>
      </p:sp>
      <p:sp>
        <p:nvSpPr>
          <p:cNvPr id="22" name="bullet"/>
          <p:cNvSpPr txBox="1"/>
          <p:nvPr/>
        </p:nvSpPr>
        <p:spPr>
          <a:xfrm>
            <a:off x="1143000" y="3851825"/>
            <a:ext cx="4389120" cy="94521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That is exactly why this source is so good for practising inference.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Inferring from sources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you can point to your idea in the source, it is information. If you worked it out from clues, it is an inference.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Inferring from sources is one of the most important skills in history, because it lets us understand more about the time and the people than the source says in so many words.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Try it on an everyday sentence. Suppose a source said: a boy walked home in the rain with his coat open and his umbrella still rolled up.</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Now the raid. From the fact that the Vikings arrived armed with axes, swords and shields, we can infer that they came expecting to fight, not to trade.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Worked example: Inferring from sources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6F2EF"/>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What can you infer about the Vikings from the monk's words “some they took away with them in chains”?</a:t>
            </a:r>
            <a:endParaRPr lang="en-US" sz="2000" dirty="0"/>
          </a:p>
        </p:txBody>
      </p:sp>
      <p:sp>
        <p:nvSpPr>
          <p:cNvPr id="9" name="step-box"/>
          <p:cNvSpPr/>
          <p:nvPr/>
        </p:nvSpPr>
        <p:spPr>
          <a:xfrm>
            <a:off x="548640" y="2502408"/>
            <a:ext cx="11094415" cy="513080"/>
          </a:xfrm>
          <a:prstGeom prst="roundRect">
            <a:avLst>
              <a:gd name="adj" fmla="val 14257"/>
            </a:avLst>
          </a:prstGeom>
          <a:solidFill>
            <a:srgbClr val="FFFFFF"/>
          </a:solidFill>
          <a:ln w="15875">
            <a:solidFill>
              <a:srgbClr val="B69B83"/>
            </a:solidFill>
            <a:prstDash val="solid"/>
          </a:ln>
        </p:spPr>
      </p:sp>
      <p:sp>
        <p:nvSpPr>
          <p:cNvPr id="10" name="step-hex"/>
          <p:cNvSpPr/>
          <p:nvPr/>
        </p:nvSpPr>
        <p:spPr>
          <a:xfrm>
            <a:off x="685800" y="2560980"/>
            <a:ext cx="457200" cy="395935"/>
          </a:xfrm>
          <a:prstGeom prst="hexagon">
            <a:avLst/>
          </a:prstGeom>
          <a:solidFill>
            <a:srgbClr val="7A4A1E"/>
          </a:solidFill>
          <a:ln/>
        </p:spPr>
      </p:sp>
      <p:sp>
        <p:nvSpPr>
          <p:cNvPr id="11" name="step-hex-label"/>
          <p:cNvSpPr txBox="1"/>
          <p:nvPr/>
        </p:nvSpPr>
        <p:spPr>
          <a:xfrm>
            <a:off x="685800" y="25609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Read the words: people were taken away, and they were in chains.</a:t>
            </a:r>
            <a:endParaRPr lang="en-US" sz="1800" dirty="0"/>
          </a:p>
        </p:txBody>
      </p:sp>
      <p:sp>
        <p:nvSpPr>
          <p:cNvPr id="13" name="step-box"/>
          <p:cNvSpPr/>
          <p:nvPr/>
        </p:nvSpPr>
        <p:spPr>
          <a:xfrm>
            <a:off x="548640" y="3088640"/>
            <a:ext cx="11094415" cy="777240"/>
          </a:xfrm>
          <a:prstGeom prst="roundRect">
            <a:avLst>
              <a:gd name="adj" fmla="val 9412"/>
            </a:avLst>
          </a:prstGeom>
          <a:solidFill>
            <a:srgbClr val="FFFFFF"/>
          </a:solidFill>
          <a:ln w="15875">
            <a:solidFill>
              <a:srgbClr val="B69B83"/>
            </a:solidFill>
            <a:prstDash val="solid"/>
          </a:ln>
        </p:spPr>
      </p:sp>
      <p:sp>
        <p:nvSpPr>
          <p:cNvPr id="14" name="step-hex"/>
          <p:cNvSpPr/>
          <p:nvPr/>
        </p:nvSpPr>
        <p:spPr>
          <a:xfrm>
            <a:off x="685800" y="3279292"/>
            <a:ext cx="457200" cy="395935"/>
          </a:xfrm>
          <a:prstGeom prst="hexagon">
            <a:avLst/>
          </a:prstGeom>
          <a:solidFill>
            <a:srgbClr val="7A4A1E"/>
          </a:solidFill>
          <a:ln/>
        </p:spPr>
      </p:sp>
      <p:sp>
        <p:nvSpPr>
          <p:cNvPr id="15" name="step-hex-label"/>
          <p:cNvSpPr txBox="1"/>
          <p:nvPr/>
        </p:nvSpPr>
        <p:spPr>
          <a:xfrm>
            <a:off x="685800" y="327929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88640"/>
            <a:ext cx="10180015" cy="77724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Ask what the source does not say but suggests. Why take people away? To sell them or to make them work.</a:t>
            </a:r>
            <a:endParaRPr lang="en-US" sz="1800" dirty="0"/>
          </a:p>
        </p:txBody>
      </p:sp>
      <p:sp>
        <p:nvSpPr>
          <p:cNvPr id="17" name="step-box"/>
          <p:cNvSpPr/>
          <p:nvPr/>
        </p:nvSpPr>
        <p:spPr>
          <a:xfrm>
            <a:off x="548640" y="3939032"/>
            <a:ext cx="11094415" cy="513080"/>
          </a:xfrm>
          <a:prstGeom prst="roundRect">
            <a:avLst>
              <a:gd name="adj" fmla="val 14257"/>
            </a:avLst>
          </a:prstGeom>
          <a:solidFill>
            <a:srgbClr val="FFFFFF"/>
          </a:solidFill>
          <a:ln w="15875">
            <a:solidFill>
              <a:srgbClr val="B69B83"/>
            </a:solidFill>
            <a:prstDash val="solid"/>
          </a:ln>
        </p:spPr>
      </p:sp>
      <p:sp>
        <p:nvSpPr>
          <p:cNvPr id="18" name="step-hex"/>
          <p:cNvSpPr/>
          <p:nvPr/>
        </p:nvSpPr>
        <p:spPr>
          <a:xfrm>
            <a:off x="685800" y="3997604"/>
            <a:ext cx="457200" cy="395935"/>
          </a:xfrm>
          <a:prstGeom prst="hexagon">
            <a:avLst/>
          </a:prstGeom>
          <a:solidFill>
            <a:srgbClr val="7A4A1E"/>
          </a:solidFill>
          <a:ln/>
        </p:spPr>
      </p:sp>
      <p:sp>
        <p:nvSpPr>
          <p:cNvPr id="19" name="step-hex-label"/>
          <p:cNvSpPr txBox="1"/>
          <p:nvPr/>
        </p:nvSpPr>
        <p:spPr>
          <a:xfrm>
            <a:off x="685800" y="399760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939032"/>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inference: I can infer that the Vikings wanted captives as well as treasure.</a:t>
            </a:r>
            <a:endParaRPr lang="en-US" sz="1800" dirty="0"/>
          </a:p>
        </p:txBody>
      </p:sp>
      <p:sp>
        <p:nvSpPr>
          <p:cNvPr id="21" name="step-box"/>
          <p:cNvSpPr/>
          <p:nvPr/>
        </p:nvSpPr>
        <p:spPr>
          <a:xfrm>
            <a:off x="548640" y="4525264"/>
            <a:ext cx="11094415" cy="513080"/>
          </a:xfrm>
          <a:prstGeom prst="roundRect">
            <a:avLst>
              <a:gd name="adj" fmla="val 14257"/>
            </a:avLst>
          </a:prstGeom>
          <a:solidFill>
            <a:srgbClr val="FFFFFF"/>
          </a:solidFill>
          <a:ln w="15875">
            <a:solidFill>
              <a:srgbClr val="B69B83"/>
            </a:solidFill>
            <a:prstDash val="solid"/>
          </a:ln>
        </p:spPr>
      </p:sp>
      <p:sp>
        <p:nvSpPr>
          <p:cNvPr id="22" name="step-hex"/>
          <p:cNvSpPr/>
          <p:nvPr/>
        </p:nvSpPr>
        <p:spPr>
          <a:xfrm>
            <a:off x="685800" y="4583836"/>
            <a:ext cx="457200" cy="395935"/>
          </a:xfrm>
          <a:prstGeom prst="hexagon">
            <a:avLst/>
          </a:prstGeom>
          <a:solidFill>
            <a:srgbClr val="7A4A1E"/>
          </a:solidFill>
          <a:ln/>
        </p:spPr>
      </p:sp>
      <p:sp>
        <p:nvSpPr>
          <p:cNvPr id="23" name="step-hex-label"/>
          <p:cNvSpPr txBox="1"/>
          <p:nvPr/>
        </p:nvSpPr>
        <p:spPr>
          <a:xfrm>
            <a:off x="685800" y="458383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525264"/>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Give the evidence: the source says some monks were taken away in chains.</a:t>
            </a:r>
            <a:endParaRPr lang="en-US" sz="1800" dirty="0"/>
          </a:p>
        </p:txBody>
      </p:sp>
      <p:sp>
        <p:nvSpPr>
          <p:cNvPr id="25" name="worked-answer"/>
          <p:cNvSpPr/>
          <p:nvPr/>
        </p:nvSpPr>
        <p:spPr>
          <a:xfrm>
            <a:off x="548640" y="5221224"/>
            <a:ext cx="11094415" cy="831088"/>
          </a:xfrm>
          <a:prstGeom prst="roundRect">
            <a:avLst>
              <a:gd name="adj" fmla="val 16504"/>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I can infer that the Vikings wanted captives as well as treasure. Evidence from the source that shows me this: “some they took away with them in chains”.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Writing an inference with evidence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Inference, then evidence. Two of each. Short quotations in quotation marks.</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progress check asks for two inferences about what the Vikings were like, each backed with a quote from the source.</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Keep the pair together. First the inference, in your own words, saying something the source does not state.</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common mistake is to quote first and then repeat the quote in different words.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What can you infer?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source about the raid says that the Vikings took a great deal of gold from the monastery. What can you infer from this?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raid happened at night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Lindisfarne was a wealthy place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Vikings were poor farmers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monks were ready to fight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What can you infer?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What can you infer?</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Underline the clue in the source: what was taken, how much, or what it did to the raiders.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must have been true for that clue to happen.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Cross out any option the source gives no clue about at all, such as the time of day or the monks fighting.</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Choose the option that the clue supports.</a:t>
            </a:r>
            <a:endParaRPr lang="en-US" sz="1800" dirty="0"/>
          </a:p>
        </p:txBody>
      </p:sp>
      <p:sp>
        <p:nvSpPr>
          <p:cNvPr id="17" name="col-Core"/>
          <p:cNvSpPr/>
          <p:nvPr/>
        </p:nvSpPr>
        <p:spPr>
          <a:xfrm>
            <a:off x="5490762" y="2395728"/>
            <a:ext cx="2938987" cy="3749040"/>
          </a:xfrm>
          <a:prstGeom prst="roundRect">
            <a:avLst>
              <a:gd name="adj" fmla="val 1867"/>
            </a:avLst>
          </a:prstGeom>
          <a:solidFill>
            <a:srgbClr val="E6DDD4"/>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Ask what must have been true for the clue to happen. If no clue points to an option, it is not an inference.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Write a second, different inference from the same detail about gold, and explain what clue supports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Two inferences with evidence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Using the monk's account of the raid on Lindisfarne, give TWO inferences about what the Vikings were like. For each one, write the inference and then the evidence from the source that shows it. Use the sentence starters I can infer that… and Evidence from the source that shows me this…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(1 of 2): Two inferences with evidence</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49400"/>
          </a:xfrm>
          <a:prstGeom prst="roundRect">
            <a:avLst>
              <a:gd name="adj" fmla="val 5902"/>
            </a:avLst>
          </a:prstGeom>
          <a:solidFill>
            <a:srgbClr val="FFFFFF"/>
          </a:solidFill>
          <a:ln w="31750">
            <a:solidFill>
              <a:srgbClr val="B8862B"/>
            </a:solidFill>
            <a:prstDash val="solid"/>
          </a:ln>
        </p:spPr>
      </p:sp>
      <p:sp>
        <p:nvSpPr>
          <p:cNvPr id="8" name="task-hex"/>
          <p:cNvSpPr/>
          <p:nvPr/>
        </p:nvSpPr>
        <p:spPr>
          <a:xfrm>
            <a:off x="777240" y="1847840"/>
            <a:ext cx="731520" cy="633496"/>
          </a:xfrm>
          <a:prstGeom prst="hexagon">
            <a:avLst/>
          </a:prstGeom>
          <a:solidFill>
            <a:srgbClr val="B8862B"/>
          </a:solidFill>
          <a:ln/>
        </p:spPr>
      </p:sp>
      <p:sp>
        <p:nvSpPr>
          <p:cNvPr id="9" name="task-hex-label"/>
          <p:cNvSpPr txBox="1"/>
          <p:nvPr/>
        </p:nvSpPr>
        <p:spPr>
          <a:xfrm>
            <a:off x="777240" y="18478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8902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366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Using the monk's account of the raid on Lindisfarne, give TWO inferences about what the Vikings were like. For each one, write the inference and then the evidence from the source that shows it. Use the sentence starters I can infer that… and Evidence from the source that shows me this…</a:t>
            </a:r>
            <a:endParaRPr lang="en-US" sz="2000" dirty="0"/>
          </a:p>
        </p:txBody>
      </p:sp>
      <p:sp>
        <p:nvSpPr>
          <p:cNvPr id="12" name="col-Support"/>
          <p:cNvSpPr/>
          <p:nvPr/>
        </p:nvSpPr>
        <p:spPr>
          <a:xfrm>
            <a:off x="548640" y="3213608"/>
            <a:ext cx="11094415" cy="2931160"/>
          </a:xfrm>
          <a:prstGeom prst="roundRect">
            <a:avLst>
              <a:gd name="adj" fmla="val 1872"/>
            </a:avLst>
          </a:prstGeom>
          <a:solidFill>
            <a:srgbClr val="F6F2EF"/>
          </a:solidFill>
          <a:ln/>
        </p:spPr>
      </p:sp>
      <p:sp>
        <p:nvSpPr>
          <p:cNvPr id="13" name="col-hex"/>
          <p:cNvSpPr/>
          <p:nvPr/>
        </p:nvSpPr>
        <p:spPr>
          <a:xfrm>
            <a:off x="658368" y="3286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286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5018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53688"/>
            <a:ext cx="10820095" cy="2181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the source and underline two details: for example, what they did to the altars, and what they did to some of the monks.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For the first detail, ask: what does this tell me about the Vikings that the monk does not actually say? Write: I can infer that…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write: Evidence from the source that shows me this… and copy the short detail in quotation marks.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Do the same for the second detail. Check the two inferences are different.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(2 of 2): Two inferences with evidence</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49400"/>
          </a:xfrm>
          <a:prstGeom prst="roundRect">
            <a:avLst>
              <a:gd name="adj" fmla="val 5902"/>
            </a:avLst>
          </a:prstGeom>
          <a:solidFill>
            <a:srgbClr val="FFFFFF"/>
          </a:solidFill>
          <a:ln w="31750">
            <a:solidFill>
              <a:srgbClr val="B8862B"/>
            </a:solidFill>
            <a:prstDash val="solid"/>
          </a:ln>
        </p:spPr>
      </p:sp>
      <p:sp>
        <p:nvSpPr>
          <p:cNvPr id="8" name="task-hex"/>
          <p:cNvSpPr/>
          <p:nvPr/>
        </p:nvSpPr>
        <p:spPr>
          <a:xfrm>
            <a:off x="777240" y="1847840"/>
            <a:ext cx="731520" cy="633496"/>
          </a:xfrm>
          <a:prstGeom prst="hexagon">
            <a:avLst/>
          </a:prstGeom>
          <a:solidFill>
            <a:srgbClr val="B8862B"/>
          </a:solidFill>
          <a:ln/>
        </p:spPr>
      </p:sp>
      <p:sp>
        <p:nvSpPr>
          <p:cNvPr id="9" name="task-hex-label"/>
          <p:cNvSpPr txBox="1"/>
          <p:nvPr/>
        </p:nvSpPr>
        <p:spPr>
          <a:xfrm>
            <a:off x="777240" y="18478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8902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366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Using the monk's account of the raid on Lindisfarne, give TWO inferences about what the Vikings were like. For each one, write the inference and then the evidence from the source that shows it. Use the sentence starters I can infer that… and Evidence from the source that shows me this…</a:t>
            </a:r>
            <a:endParaRPr lang="en-US" sz="2000" dirty="0"/>
          </a:p>
        </p:txBody>
      </p:sp>
      <p:sp>
        <p:nvSpPr>
          <p:cNvPr id="12" name="col-Core"/>
          <p:cNvSpPr/>
          <p:nvPr/>
        </p:nvSpPr>
        <p:spPr>
          <a:xfrm>
            <a:off x="548640" y="3213608"/>
            <a:ext cx="5410048" cy="2931160"/>
          </a:xfrm>
          <a:prstGeom prst="roundRect">
            <a:avLst>
              <a:gd name="adj" fmla="val 1872"/>
            </a:avLst>
          </a:prstGeom>
          <a:solidFill>
            <a:srgbClr val="E6DDD4"/>
          </a:solidFill>
          <a:ln/>
        </p:spPr>
      </p:sp>
      <p:sp>
        <p:nvSpPr>
          <p:cNvPr id="13" name="col-hex"/>
          <p:cNvSpPr/>
          <p:nvPr/>
        </p:nvSpPr>
        <p:spPr>
          <a:xfrm>
            <a:off x="658368" y="3286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286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3250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853688"/>
            <a:ext cx="5135728" cy="218135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Two pairs: inference, then quoted evidence. The inference must be something the monk does not say outright.</a:t>
            </a:r>
            <a:endParaRPr lang="en-US" sz="2200" dirty="0"/>
          </a:p>
        </p:txBody>
      </p:sp>
      <p:sp>
        <p:nvSpPr>
          <p:cNvPr id="17" name="col-Stretch"/>
          <p:cNvSpPr/>
          <p:nvPr/>
        </p:nvSpPr>
        <p:spPr>
          <a:xfrm>
            <a:off x="6233008" y="3213608"/>
            <a:ext cx="5410048" cy="2931160"/>
          </a:xfrm>
          <a:prstGeom prst="roundRect">
            <a:avLst>
              <a:gd name="adj" fmla="val 1872"/>
            </a:avLst>
          </a:prstGeom>
          <a:solidFill>
            <a:srgbClr val="7A4A1E"/>
          </a:solidFill>
          <a:ln/>
        </p:spPr>
      </p:sp>
      <p:sp>
        <p:nvSpPr>
          <p:cNvPr id="18" name="col-hex"/>
          <p:cNvSpPr/>
          <p:nvPr/>
        </p:nvSpPr>
        <p:spPr>
          <a:xfrm>
            <a:off x="6342736" y="3286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3286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3250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853688"/>
            <a:ext cx="5135728" cy="218135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Explain one way the monk's point of view might limit what we can infer about the Vikings from his account.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43632"/>
          </a:xfrm>
          <a:prstGeom prst="rect">
            <a:avLst/>
          </a:prstGeom>
          <a:noFill/>
          <a:ln/>
        </p:spPr>
        <p:txBody>
          <a:bodyPr wrap="square" lIns="63500" tIns="63500" rIns="63500" bIns="63500" rtlCol="0" anchor="t"/>
          <a:lstStyle/>
          <a:p>
            <a:pPr algn="l" indent="0" marL="0">
              <a:spcAft>
                <a:spcPts val="1200"/>
              </a:spcAft>
              <a:buNone/>
            </a:pPr>
            <a:r>
              <a:rPr lang="en-US" sz="2000" b="1" dirty="0">
                <a:solidFill>
                  <a:srgbClr val="1E2229"/>
                </a:solidFill>
                <a:latin typeface="Calibri" pitchFamily="34" charset="0"/>
                <a:ea typeface="Calibri" pitchFamily="34" charset="-122"/>
                <a:cs typeface="Calibri" pitchFamily="34" charset="-120"/>
              </a:rPr>
              <a:t>Put the events of the raid on Lindisfarne in the order they happened.</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attack the monastery and seize its treasure</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monk writes an account of the raid, and the Viking Age has begun</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Viking warriors sail from Scandinavia in longships</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Some monks are killed and others taken away in chains</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E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Monks live, pray and make holy books on the island, reached only at low tide</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F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land on Lindisfarne armed with axes, swords and shields</a:t>
            </a:r>
            <a:endParaRPr lang="en-US" sz="2000" dirty="0"/>
          </a:p>
        </p:txBody>
      </p:sp>
      <p:sp>
        <p:nvSpPr>
          <p:cNvPr id="11" name="exit-answer-box"/>
          <p:cNvSpPr/>
          <p:nvPr/>
        </p:nvSpPr>
        <p:spPr>
          <a:xfrm>
            <a:off x="2286000" y="5184648"/>
            <a:ext cx="7619695" cy="685800"/>
          </a:xfrm>
          <a:prstGeom prst="roundRect">
            <a:avLst>
              <a:gd name="adj" fmla="val 13333"/>
            </a:avLst>
          </a:prstGeom>
          <a:solidFill>
            <a:srgbClr val="FAF8F6"/>
          </a:solidFill>
          <a:ln w="12700">
            <a:solidFill>
              <a:srgbClr val="C0AA95"/>
            </a:solidFill>
            <a:prstDash val="solid"/>
          </a:ln>
        </p:spPr>
      </p:sp>
      <p:sp>
        <p:nvSpPr>
          <p:cNvPr id="12" name="exit-answer-label"/>
          <p:cNvSpPr txBox="1"/>
          <p:nvPr/>
        </p:nvSpPr>
        <p:spPr>
          <a:xfrm>
            <a:off x="2423160" y="5184648"/>
            <a:ext cx="2926080" cy="68580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What can you infer?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source about the raid says that the Vikings took a great deal of gold from the monastery. What can you infer from this?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Lindisfarne was a wealthy place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great deal of gold taken means a great deal of gold was there. The source does not say Lindisfarne was wealthy, so this is an inference, and it is the only option the clue supports.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Two inferences with evidence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5486400"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5486400" cy="878967"/>
          </a:xfrm>
          <a:prstGeom prst="roundRect">
            <a:avLst>
              <a:gd name="adj" fmla="val 10403"/>
            </a:avLst>
          </a:prstGeom>
          <a:solidFill>
            <a:srgbClr val="F8F6F4"/>
          </a:solidFill>
          <a:ln/>
        </p:spPr>
      </p:sp>
      <p:sp>
        <p:nvSpPr>
          <p:cNvPr id="9" name="tickbox"/>
          <p:cNvSpPr/>
          <p:nvPr/>
        </p:nvSpPr>
        <p:spPr>
          <a:xfrm>
            <a:off x="713232" y="2277427"/>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4709160" cy="87896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 give two different inferences, each something the source does not state directly.</a:t>
            </a:r>
            <a:endParaRPr lang="en-US" sz="1800" dirty="0"/>
          </a:p>
        </p:txBody>
      </p:sp>
      <p:sp>
        <p:nvSpPr>
          <p:cNvPr id="11" name="crit-box"/>
          <p:cNvSpPr/>
          <p:nvPr/>
        </p:nvSpPr>
        <p:spPr>
          <a:xfrm>
            <a:off x="548640" y="2954655"/>
            <a:ext cx="5486400" cy="878967"/>
          </a:xfrm>
          <a:prstGeom prst="roundRect">
            <a:avLst>
              <a:gd name="adj" fmla="val 10403"/>
            </a:avLst>
          </a:prstGeom>
          <a:solidFill>
            <a:srgbClr val="F8F6F4"/>
          </a:solidFill>
          <a:ln/>
        </p:spPr>
      </p:sp>
      <p:sp>
        <p:nvSpPr>
          <p:cNvPr id="12" name="tickbox"/>
          <p:cNvSpPr/>
          <p:nvPr/>
        </p:nvSpPr>
        <p:spPr>
          <a:xfrm>
            <a:off x="713232" y="3247834"/>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954655"/>
            <a:ext cx="4709160" cy="87896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Each inference is about what the Vikings were like, not only about what happened.</a:t>
            </a:r>
            <a:endParaRPr lang="en-US" sz="1800" dirty="0"/>
          </a:p>
        </p:txBody>
      </p:sp>
      <p:sp>
        <p:nvSpPr>
          <p:cNvPr id="14" name="crit-box"/>
          <p:cNvSpPr/>
          <p:nvPr/>
        </p:nvSpPr>
        <p:spPr>
          <a:xfrm>
            <a:off x="548640" y="3925062"/>
            <a:ext cx="5486400" cy="1157859"/>
          </a:xfrm>
          <a:prstGeom prst="roundRect">
            <a:avLst>
              <a:gd name="adj" fmla="val 7897"/>
            </a:avLst>
          </a:prstGeom>
          <a:solidFill>
            <a:srgbClr val="F8F6F4"/>
          </a:solidFill>
          <a:ln/>
        </p:spPr>
      </p:sp>
      <p:sp>
        <p:nvSpPr>
          <p:cNvPr id="15" name="tickbox"/>
          <p:cNvSpPr/>
          <p:nvPr/>
        </p:nvSpPr>
        <p:spPr>
          <a:xfrm>
            <a:off x="713232" y="4357687"/>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925062"/>
            <a:ext cx="4709160" cy="115785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Each inference is followed by a short quotation from the source, in quotation marks.</a:t>
            </a:r>
            <a:endParaRPr lang="en-US" sz="1800" dirty="0"/>
          </a:p>
        </p:txBody>
      </p:sp>
      <p:sp>
        <p:nvSpPr>
          <p:cNvPr id="17" name="crit-box"/>
          <p:cNvSpPr/>
          <p:nvPr/>
        </p:nvSpPr>
        <p:spPr>
          <a:xfrm>
            <a:off x="548640" y="5174361"/>
            <a:ext cx="5486400" cy="878967"/>
          </a:xfrm>
          <a:prstGeom prst="roundRect">
            <a:avLst>
              <a:gd name="adj" fmla="val 10403"/>
            </a:avLst>
          </a:prstGeom>
          <a:solidFill>
            <a:srgbClr val="F8F6F4"/>
          </a:solidFill>
          <a:ln/>
        </p:spPr>
      </p:sp>
      <p:sp>
        <p:nvSpPr>
          <p:cNvPr id="18" name="tickbox"/>
          <p:cNvSpPr/>
          <p:nvPr/>
        </p:nvSpPr>
        <p:spPr>
          <a:xfrm>
            <a:off x="713232" y="5467540"/>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5174361"/>
            <a:ext cx="4709160" cy="87896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quotation I choose is the detail that supports my inference, not the whole source.</a:t>
            </a:r>
            <a:endParaRPr lang="en-US" sz="1800" dirty="0"/>
          </a:p>
        </p:txBody>
      </p:sp>
      <p:sp>
        <p:nvSpPr>
          <p:cNvPr id="20" name="model-panel"/>
          <p:cNvSpPr/>
          <p:nvPr/>
        </p:nvSpPr>
        <p:spPr>
          <a:xfrm>
            <a:off x="6309360" y="1389888"/>
            <a:ext cx="5333695" cy="4754880"/>
          </a:xfrm>
          <a:prstGeom prst="roundRect">
            <a:avLst>
              <a:gd name="adj" fmla="val 962"/>
            </a:avLst>
          </a:prstGeom>
          <a:solidFill>
            <a:srgbClr val="F9F4EC"/>
          </a:solidFill>
          <a:ln w="19050">
            <a:solidFill>
              <a:srgbClr val="B8862B"/>
            </a:solidFill>
            <a:prstDash val="solid"/>
          </a:ln>
        </p:spPr>
      </p:sp>
      <p:sp>
        <p:nvSpPr>
          <p:cNvPr id="21" name="model-tab"/>
          <p:cNvSpPr/>
          <p:nvPr/>
        </p:nvSpPr>
        <p:spPr>
          <a:xfrm>
            <a:off x="649224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22" name="model"/>
          <p:cNvSpPr txBox="1"/>
          <p:nvPr/>
        </p:nvSpPr>
        <p:spPr>
          <a:xfrm>
            <a:off x="6537960" y="2167128"/>
            <a:ext cx="4876495" cy="384048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 can infer that the Vikings were not Christians and did not respect the church. Evidence from the source that shows me this: they “dug up the altars and seized all the treasures of the holy church”, which a Christian would never do. I can infer that the Vikings wanted captives as well as treasure. Evidence from the source that shows me this: “some they took away with them in chains”, which suggests they planned to sell them or make them work.</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Monks live, pray and make holy books on the island, reached only at low tide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Viking warriors sail from Scandinavia in longships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They land on Lindisfarne armed with axes, swords and shields  (F)</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They attack the monastery and seize its treasure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Some monks are killed and others taken away in chains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 monk writes an account of the raid, and the Viking Age has begun  (B)</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Life on the island came first; the Vikings sailed, landed, attacked and took treasure; monks were killed or taken; and the account was written afterwards, when the Viking Age had begun.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Vikings and Anglo-Saxons · Chapter 4: What happened at Lindisfarne?</dc:title>
  <dc:subject>History · Year 7</dc:subject>
  <dc:creator>Dr Vitor Merissi de Carvalho</dc:creator>
  <cp:lastModifiedBy>Dr Vitor Merissi de Carvalho</cp:lastModifiedBy>
  <cp:revision>1</cp:revision>
  <dcterms:created xsi:type="dcterms:W3CDTF">2026-10-19T16:23:17Z</dcterms:created>
  <dcterms:modified xsi:type="dcterms:W3CDTF">2026-10-19T16:23:17Z</dcterms:modified>
</cp:coreProperties>
</file>