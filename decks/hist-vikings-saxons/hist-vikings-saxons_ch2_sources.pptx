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c8266d8-7a65-6070-5d1c-59524ade4604}">
          <p14:sldIdLst>
            <p14:sldId id="256"/>
          </p14:sldIdLst>
        </p14:section>
        <p14:section name="Gate" id="{54af6c51-e770-79e1-8731-0e2b141a935c}">
          <p14:sldIdLst>
            <p14:sldId id="257"/>
            <p14:sldId id="258"/>
            <p14:sldId id="259"/>
          </p14:sldIdLst>
        </p14:section>
        <p14:section name="Pre-teach" id="{e3de05c2-911a-ba6d-48c8-dda970c7591c}">
          <p14:sldIdLst>
            <p14:sldId id="260"/>
            <p14:sldId id="261"/>
          </p14:sldIdLst>
        </p14:section>
        <p14:section name="Read-along" id="{a049cdb3-6b1e-e40c-8693-667f64f5087c}">
          <p14:sldIdLst>
            <p14:sldId id="262"/>
          </p14:sldIdLst>
        </p14:section>
        <p14:section name="Teach" id="{63186003-01dc-60d8-5d09-6dc76cbf1ebe}">
          <p14:sldIdLst>
            <p14:sldId id="263"/>
            <p14:sldId id="264"/>
            <p14:sldId id="265"/>
            <p14:sldId id="266"/>
            <p14:sldId id="267"/>
          </p14:sldIdLst>
        </p14:section>
        <p14:section name="Routes" id="{790484a6-fc25-0d91-1e13-8bbbc95ede87}">
          <p14:sldIdLst>
            <p14:sldId id="268"/>
            <p14:sldId id="269"/>
            <p14:sldId id="270"/>
            <p14:sldId id="271"/>
          </p14:sldIdLst>
        </p14:section>
        <p14:section name="Close" id="{56c1e5be-dc5f-bb56-76cd-7358b6509578}">
          <p14:sldIdLst>
            <p14:sldId id="272"/>
          </p14:sldIdLst>
        </p14:section>
        <p14:section name="Answers" id="{d9f0ca97-2c17-7be9-bd06-fa6fa10ca1f5}">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Sources: how we know about the past. What a source is, the difference between primary and secondary sources, how to question a source with NOP, and how historians and archaeologists work.
This deck covers the department's lessons: 1 (Introduction, Chronology and Sources: What is chronology, how do we put dates in order, and what can a source tell us?); 2 (Who were the Vikings?: Where did the Vikings come from, and what did they believe?).
Read the big question aloud: "Who were the Vikings, and how do historians use chronology and sources to find out?"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___ source is an original document or object from the time being studied.  →  primary
2. Which of these is a secondary source about the Second World War?  →  A   A school textbook about the war, written afterwards
3. In the NOP method, what does the O stand for?  →  C   Origin: where and when the source is from, and who made it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___ source is an original document or object from the time being studied.  →  primary
2. Which of these is a secondary source about the Second World War?  →  A   A school textbook about the war, written afterwards
3. In the NOP method, what does the O stand for?  →  C   Origin: where and when the source is from, and who made it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primary. Primary sources come from the time itself; secondary sources are made afterwards.
2. A   A school textbook about the war, written afterwards. A textbook is written after the time being studied, so it is a secondary source. The diary, uniform and letter were all made during the war, so they are primary.
3. C   Origin: where and when the source is from, and who made it. N is Nature, O is Origin, P is Purpose. Origin asks where, when and by whom the source was made.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source: something we use to get information about the past. Example: "A diary is a source because it tells us what someone thought at the time."
• primary source: evidence made at the time being studied. Example: "A coin made by the Romans is a primary source about the Romans."
• secondary source: something made after the time being studied. Example: "A school textbook about the Romans is a secondary source."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evidence: the facts and objects that support what we say. Example: "Historians need evidence before they make a judgement."
• archaeologist: someone who studies the objects and remains people left behind. Example: "The archaeologist dug up a Viking sword."
• purpose: the reason something was made. Example: "The purpose of a poster might be to persuade people."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A source is something we use to find out about the past.
2. Sources are our evidence.
3. A primary source comes from the time we are studying.
4. A diary written during a war is a primary source.
5. A secondary source was made afterwards.
6. A textbook about that war is a secondary source.
7. Historians question every source before they trust it.
8. They ask what it is, where it came from and why it was made.
9. Archaeologists study objects and bones that people left behind.
10. A tooth that is a thousand years old can show where a person grew up.
11. Historians and archaeologists work together to build a picture of the past.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source?. Say it in your own words, then check understanding with a quick question: ask a pupil from the pre-teach group first, since they met these words and ideas before the lesson. Pupils try to recall before you re-explain.
A source is anything we use to get information about the past. Sources are the evidence historians use to learn about history. A letter, a coin, a building, a photograph, a film, a podcast and a person's memory can all be sources.
Your first lesson began with a real example: a soldier who fought in the Second World War, between 1939 and 1945, and who could still describe it many years later. Could you trust what he said? Yes, in one way: he was there, and saw things no book can show. But also be careful: memories fade over many decades, and people naturally tell the parts of a story that matter most to them.
That is the habit this chapter is about. Every source tells us something, and every source has limits. A good historian asks both questions at once: what does this tell me, and how far can I trust it?
Tip: Even your teacher is a source of historical information. Ask the same two questions of every source: what does it tell me, and how far can I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Primary and secondary sources. Say it in your own words, then check understanding with a quick question: ask a pupil from the pre-teach group first, since they met these words and ideas before the lesson. Pupils try to recall before you re-explain.
A primary source is an original document, object or piece of evidence from the time being studied. Anne Frank's diary is a primary source about the Second World War, because she wrote it while she was in hiding from the Nazis in the Netherlands. The bones of King Richard III, a fifteenth-century king, are a primary source about him. The Colosseum in Rome is a primary source about the Romans.
A secondary source is something written or created after the time being studied. A school textbook about the Second World War was not written during the war, but afterwards. The film Gladiator was made nearly two thousand years after the gladiators it shows. A history podcast is recorded today about events long ago.
Both kinds are useful, but for different reasons. Primary sources take you straight to the time, with the thoughts and objects of the people who were there. Secondary sources pull together many primary sources and explain them, with the benefit of knowing how the story ended.
Worked example — model it step by step, thinking aloud: Is a Viking sword found in a grave a primary or a secondary source about the Vikings? (1) Ask when it was made: by Vikings, in Viking times. (2) A primary source is an original object from the time being studied. (3) The sword is from the time, so it is a primary source. (4) Compare: a museum label explaining the sword was written today, so the label is a secondary source. Answer: Primary: it is an original object from Viking times. The label beside it is secondary..
Tip: Ask one question: was it made at the time, or afterwards? At the time means primary; afterwards means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Primary and secondary sources. Say it in your own words, then check understanding with a quick question: ask a pupil from the pre-teach group first, since they met these words and ideas before the lesson. Pupils try to recall before you re-explain.
A primary source is an original document, object or piece of evidence from the time being studied. Anne Frank's diary is a primary source about the Second World War, because she wrote it while she was in hiding from the Nazis in the Netherlands. The bones of King Richard III, a fifteenth-century king, are a primary source about him. The Colosseum in Rome is a primary source about the Romans.
A secondary source is something written or created after the time being studied. A school textbook about the Second World War was not written during the war, but afterwards. The film Gladiator was made nearly two thousand years after the gladiators it shows. A history podcast is recorded today about events long ago.
Both kinds are useful, but for different reasons. Primary sources take you straight to the time, with the thoughts and objects of the people who were there. Secondary sources pull together many primary sources and explain them, with the benefit of knowing how the story ended.
Worked example — model it step by step, thinking aloud: Is a Viking sword found in a grave a primary or a secondary source about the Vikings? (1) Ask when it was made: by Vikings, in Viking times. (2) A primary source is an original object from the time being studied. (3) The sword is from the time, so it is a primary source. (4) Compare: a museum label explaining the sword was written today, so the label is a secondary source. Answer: Primary: it is an original object from Viking times. The label beside it is secondary..
Tip: Ask one question: was it made at the time, or afterwards? At the time means primary; afterwards means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Questioning a source: NOP. Say it in your own words, then check understanding with a quick question: ask a pupil from the pre-teach group first, since they met these words and ideas before the lesson. Pupils try to recall before you re-explain.
We use sources to learn about the past, but we also have to question the source itself to make sure it is telling us the right information. Your lesson gives a three-letter method called NOP.
N is for Nature: what is the source, and what does it say? O is for Origin: where is it from, when is it from, and who made it? P is for Purpose: why was it made, and what is it trying to tell us? A poster made to persuade people and a private diary have very different purposes, and that changes how far we trust each one.
Your lesson ended with a coin. Who made it? What is it? Where is it from? When is it from, including which century? Is it a primary or a secondary source? Answer those and you have done a full NOP analysis, and you can start to ask what the coin shows about the people who used it.
Tip: Say the three questions in order every time: what is it, where and when is it from and who made it, why was it made. Nature, Origin,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Historians and archaeologists. Say it in your own words, then check understanding with a quick question: ask a pupil from the pre-teach group first, since they met these words and ideas before the lesson. Pupils try to recall before you re-explain.
Historians study the past through the analysis of sources, mostly written ones. They form judgements based on the evidence they use, and their work can be challenged by new discoveries or by different interpretations of the same evidence.
Archaeologists study the objects and remains that people left behind: bones, buildings, tools, coins and jewellery. They form judgements from the patterns they find across many objects, and their work can be challenged by new discoveries or by new techniques for analysing objects.
Your lesson introduced a bioarchaeologist, Dr Cat Jarman, who studies the Vikings buried in British soil. By examining teeth that are now over a thousand years old she can work out a person's childhood diet, and from that where they were probably born. With radiocarbon dating she can find a death date to within a few years. Her research is giving us new ideas about the roles of women and children in Viking life.
Tip: Historian: written sources, judgements from evidence. Archaeologist: objects and remains, judgements from patterns. Both can be challenged by new finds.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NOP, historians and archaeologists.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term to its meaning.
Support — work through the steps with the group: (1) Start with the two jobs. The one who digs up objects and bones is the archaeologist. (2) Nature asks what the source is; think of the nature of something as what it is like. (3) Origin shares a root with original: where something first came from. (4) Purpose is the reason for doing something, so it is about why the source was made.
Parallel worked example for Support (model it, do not give the task answer): Match: author, publisher and reader to: the person who wrote the book; the company that printed it; the person who reads it. Author comes from the same root as authority and authorship: the writer.; A publisher publishes, that is, prints and sells.; The reader is left.. Answer: author: wrote the book; publisher: printed it; reader: reads it.
Core — reveal the hint only on request: Nature is what, Origin is where, when and who, Purpose is why. Archaeologists dig.
Stretch — no help; when finished: Explain why Origin and Purpose together tell you how far to trust a source, using one example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NOP, historians and archaeologists.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term to its meaning.
Support — work through the steps with the group: (1) Start with the two jobs. The one who digs up objects and bones is the archaeologist. (2) Nature asks what the source is; think of the nature of something as what it is like. (3) Origin shares a root with original: where something first came from. (4) Purpose is the reason for doing something, so it is about why the source was made.
Parallel worked example for Support (model it, do not give the task answer): Match: author, publisher and reader to: the person who wrote the book; the company that printed it; the person who reads it. Author comes from the same root as authority and authorship: the writer.; A publisher publishes, that is, prints and sells.; The reader is left.. Answer: author: wrote the book; publisher: printed it; reader: reads it.
Core — reveal the hint only on request: Nature is what, Origin is where, when and who, Purpose is why. Archaeologists dig.
Stretch — no help; when finished: Explain why Origin and Purpose together tell you how far to trust a source, using one example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Primary or secondary?.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bones of King Richard III were dug up in a Leicester car park and studied by scientists. Are the bones a primary or a secondary source about Richard III, and why?
Support — work through the steps with the group: (1) Ask when the source comes from, not when it was found. (2) Richard III lived in the fifteenth century. His bones are from his own lifetime. (3) From the time being studied means primary. (4) Now check the reason: the correct option must say they are from his own time.
Parallel worked example for Support (model it, do not give the task answer): A Roman coin was found by a farmer last year. Is it a primary or a secondary source about the Romans, and why? Ask when it was made: by the Romans, in Roman times.; From the time being studied means primary.; Finding it last year does not change when it was made.. Answer: Primary, because the Romans made it in their own time; the date it was found does not matter..
Core — reveal the hint only on request: Primary or secondary depends on when the source was made, not on when or by whom it was found.
Stretch — no help; when finished: A scientist writes a report about what the bones show. Is the report primary or secondary? Explain your answer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Primary or secondary?.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bones of King Richard III were dug up in a Leicester car park and studied by scientists. Are the bones a primary or a secondary source about Richard III, and why?
Support — work through the steps with the group: (1) Ask when the source comes from, not when it was found. (2) Richard III lived in the fifteenth century. His bones are from his own lifetime. (3) From the time being studied means primary. (4) Now check the reason: the correct option must say they are from his own time.
Parallel worked example for Support (model it, do not give the task answer): A Roman coin was found by a farmer last year. Is it a primary or a secondary source about the Romans, and why? Ask when it was made: by the Romans, in Roman times.; From the time being studied means primary.; Finding it last year does not change when it was made.. Answer: Primary, because the Romans made it in their own time; the date it was found does not matter..
Core — reveal the hint only on request: Primary or secondary depends on when the source was made, not on when or by whom it was found.
Stretch — no help; when finished: A scientist writes a report about what the bones show. Is the report primary or secondary? Explain your answer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___ source is an original document or object from the time being studied.
Answer: A primary source is an original document or object from the time being studied.. Primary sources come from the time itself; secondary sources are made afterwards.
Source of this question: gate item 1 re-asked (options rotated) — this chapter has no third quick-check module.
The ebook also holds task 3, "Analyse a coin with NOP",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NOP, historians and archaeologists. Reveal the answer; pupils mark their own work in a different colour, then read the "why" together. Same destination for every lane, so one answer serves the whole class.
Answer: Nature  →  C  What the source is and what it says; Origin  →  B  Where and when the source is from, and who made it; Purpose  →  D  Why the source was made and what it is trying to tell us; Historian  →  E  Studies the past through the analysis of sources, mostly written; Archaeologist  →  A  Studies the objects and remains that people left behind
Why: Nature is what the source is; Origin is where, when and who; Purpose is why it was made. Historians work from sources, mostly written; archaeologists work from objects and remains.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Primary or secondary?. Reveal the answer; pupils mark their own work in a different colour, then read the "why" together. Same destination for every lane, so one answer serves the whole class.
Answer: D   Primary, because they are the remains of the man himself, from his own time
Why: A source is primary if it comes from the time being studied. Richard's bones are the remains of the man himself, so they are primary; when they were found and who found them make no difference.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primary source is an original document or object from the time being studied.
Why: Primary sources come from the time itself; secondary sources are made afterwards.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Vikings and Anglo-Saxons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Vikings and Anglo-Saxons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Vikings and Anglo-Saxons · AQA KS3 → 8145</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Sources: how we know about the past</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6F2EF"/>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Chronology and Sources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Who were the Vikings?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Who were the Vikings, and how do historians use chronology and sources to find 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___ source is an original document or object from the time being studied.</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primary  ·  secondary  ·  modern</a:t>
            </a:r>
            <a:endParaRPr lang="en-US" sz="2400" dirty="0"/>
          </a:p>
        </p:txBody>
      </p:sp>
      <p:sp>
        <p:nvSpPr>
          <p:cNvPr id="12" name="card"/>
          <p:cNvSpPr/>
          <p:nvPr/>
        </p:nvSpPr>
        <p:spPr>
          <a:xfrm>
            <a:off x="6233008" y="1389888"/>
            <a:ext cx="5410048" cy="4754880"/>
          </a:xfrm>
          <a:prstGeom prst="roundRect">
            <a:avLst>
              <a:gd name="adj" fmla="val 1154"/>
            </a:avLst>
          </a:prstGeom>
          <a:solidFill>
            <a:srgbClr val="FAF8F6"/>
          </a:solidFill>
          <a:ln w="12700">
            <a:solidFill>
              <a:srgbClr val="D4C5B7"/>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of these is a secondary source about the Second World War?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school textbook about the war, written afterwards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soldier's uniform worn during the war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diary written during the war by someone in hiding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letter sent home from the front in 1943</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the NOP method, what does the O stand for?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Opinion: what the historian thinks about the source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Object: whether the source is a thing or a document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Origin: where and when the source is from, and who made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Order: where the source fits on a timeline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primary</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___ source is an original document or object from the time being studied.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Primary sources come from the time itself; secondary sources are made afterwards.</a:t>
            </a:r>
            <a:endParaRPr lang="en-US" sz="20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FE4D0"/>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school textbook about the war, written afterwards</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textbook is written after the time being studied, so it is a secondary source. The diary, uniform and letter were all made during the war, so they are primary.</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FE4D0"/>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Origin: where and when the source is from, and who made it</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the NOP method, what does the O stand for?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N is Nature, O is Origin, P is Purpose. Origin asks where, when and by whom the source was made.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source</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we use to get information about the past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diary is a source because it tells us what someone thought at the time.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primary source</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evidence made at the time being studied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coin made by the Romans is a primary source about the Romans.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secondary source</a:t>
            </a:r>
            <a:endParaRPr lang="en-US" sz="2600" dirty="0"/>
          </a:p>
        </p:txBody>
      </p:sp>
      <p:sp>
        <p:nvSpPr>
          <p:cNvPr id="23" name="word-rule"/>
          <p:cNvSpPr/>
          <p:nvPr/>
        </p:nvSpPr>
        <p:spPr>
          <a:xfrm>
            <a:off x="8310677" y="2558288"/>
            <a:ext cx="3149498" cy="0"/>
          </a:xfrm>
          <a:prstGeom prst="line">
            <a:avLst/>
          </a:prstGeom>
          <a:ln w="12700">
            <a:solidFill>
              <a:srgbClr val="CEBCAC"/>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made after the time being studied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school textbook about the Romans is a secondary source.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evidence</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facts and objects that support what we say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Historians need evidence before they make a judgement.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archaeologist</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someone who studies the objects and remains people left behind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archaeologist dug up a Viking sword.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purpose</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reason something was made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purpose of a poster might be to persuade people.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source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something we use to find out about the past.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Sources</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are our </a:t>
            </a:r>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evidence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primary source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comes from the time we are studying.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diary written during a war is a </a:t>
            </a:r>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primary source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secondary source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was made afterwards.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textbook about that war is a </a:t>
            </a:r>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secondary source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Historians question every </a:t>
            </a:r>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source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before they trust it.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ask what it is, where it came from and why it was made.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Archaeologists</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study objects and bones that people left behind.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tooth that is a thousand years old can show where a person grew up.</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Historians and </a:t>
            </a:r>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archaeologists</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work together to build a picture of the past.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is a source?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Even your teacher is a source of historical information. Ask the same two questions of every source: what does it tell me, and how far can I trust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source is anything we use to get information about the past.</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first lesson began with a real example: a soldier who fought in the Second World War, between 1939 and 1945, and who could still describe it many years later.</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That is the habit this chapter is about. Every source tells us something, and every source has limits.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Primary and secondary sources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Ask one question: was it made at the time, or afterwards? At the time means primary; afterwards means secondary.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primary source is an original document, object or piece of evidence from the time being studied.</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secondary source is something written or created after the time being studied.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Both kinds are useful, but for different reasons. Primary sources take you straight to the time, with the thoughts and objects of the people who were there.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Worked example: Primary and secondary sources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6F2EF"/>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Is a Viking sword found in a grave a primary or a secondary source about the Vikings?</a:t>
            </a:r>
            <a:endParaRPr lang="en-US" sz="2200" dirty="0"/>
          </a:p>
        </p:txBody>
      </p:sp>
      <p:sp>
        <p:nvSpPr>
          <p:cNvPr id="9" name="step-box"/>
          <p:cNvSpPr/>
          <p:nvPr/>
        </p:nvSpPr>
        <p:spPr>
          <a:xfrm>
            <a:off x="548640" y="2314956"/>
            <a:ext cx="2464994"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when it was made: by Vikings, in Viking times.</a:t>
            </a:r>
            <a:endParaRPr lang="en-US" sz="1800" dirty="0"/>
          </a:p>
        </p:txBody>
      </p:sp>
      <p:sp>
        <p:nvSpPr>
          <p:cNvPr id="13" name="arrow"/>
          <p:cNvSpPr/>
          <p:nvPr/>
        </p:nvSpPr>
        <p:spPr>
          <a:xfrm>
            <a:off x="3086786" y="3304286"/>
            <a:ext cx="274320" cy="274320"/>
          </a:xfrm>
          <a:prstGeom prst="rightArrow">
            <a:avLst/>
          </a:prstGeom>
          <a:solidFill>
            <a:srgbClr val="B8862B"/>
          </a:solidFill>
          <a:ln/>
        </p:spPr>
      </p:sp>
      <p:sp>
        <p:nvSpPr>
          <p:cNvPr id="14" name="step-box"/>
          <p:cNvSpPr/>
          <p:nvPr/>
        </p:nvSpPr>
        <p:spPr>
          <a:xfrm>
            <a:off x="3425114" y="2314956"/>
            <a:ext cx="2464994"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3562274" y="2424684"/>
            <a:ext cx="530352" cy="459285"/>
          </a:xfrm>
          <a:prstGeom prst="hexagon">
            <a:avLst/>
          </a:prstGeom>
          <a:solidFill>
            <a:srgbClr val="7A4A1E"/>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primary source is an original object from the time being studied.</a:t>
            </a:r>
            <a:endParaRPr lang="en-US" sz="1800" dirty="0"/>
          </a:p>
        </p:txBody>
      </p:sp>
      <p:sp>
        <p:nvSpPr>
          <p:cNvPr id="18" name="arrow"/>
          <p:cNvSpPr/>
          <p:nvPr/>
        </p:nvSpPr>
        <p:spPr>
          <a:xfrm>
            <a:off x="5963260" y="3304286"/>
            <a:ext cx="274320" cy="274320"/>
          </a:xfrm>
          <a:prstGeom prst="rightArrow">
            <a:avLst/>
          </a:prstGeom>
          <a:solidFill>
            <a:srgbClr val="B8862B"/>
          </a:solidFill>
          <a:ln/>
        </p:spPr>
      </p:sp>
      <p:sp>
        <p:nvSpPr>
          <p:cNvPr id="19" name="step-box"/>
          <p:cNvSpPr/>
          <p:nvPr/>
        </p:nvSpPr>
        <p:spPr>
          <a:xfrm>
            <a:off x="6301588" y="2314956"/>
            <a:ext cx="2464994" cy="2252980"/>
          </a:xfrm>
          <a:prstGeom prst="roundRect">
            <a:avLst>
              <a:gd name="adj" fmla="val 3247"/>
            </a:avLst>
          </a:prstGeom>
          <a:solidFill>
            <a:srgbClr val="FFFFFF"/>
          </a:solidFill>
          <a:ln w="15875">
            <a:solidFill>
              <a:srgbClr val="B69B83"/>
            </a:solidFill>
            <a:prstDash val="solid"/>
          </a:ln>
        </p:spPr>
      </p:sp>
      <p:sp>
        <p:nvSpPr>
          <p:cNvPr id="20" name="step-hex"/>
          <p:cNvSpPr/>
          <p:nvPr/>
        </p:nvSpPr>
        <p:spPr>
          <a:xfrm>
            <a:off x="6438748" y="2424684"/>
            <a:ext cx="530352" cy="459285"/>
          </a:xfrm>
          <a:prstGeom prst="hexagon">
            <a:avLst/>
          </a:prstGeom>
          <a:solidFill>
            <a:srgbClr val="7A4A1E"/>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sword is from the time, so it is a primary source.</a:t>
            </a:r>
            <a:endParaRPr lang="en-US" sz="1800" dirty="0"/>
          </a:p>
        </p:txBody>
      </p:sp>
      <p:sp>
        <p:nvSpPr>
          <p:cNvPr id="23" name="arrow"/>
          <p:cNvSpPr/>
          <p:nvPr/>
        </p:nvSpPr>
        <p:spPr>
          <a:xfrm>
            <a:off x="8839733" y="3304286"/>
            <a:ext cx="274320" cy="274320"/>
          </a:xfrm>
          <a:prstGeom prst="rightArrow">
            <a:avLst/>
          </a:prstGeom>
          <a:solidFill>
            <a:srgbClr val="B8862B"/>
          </a:solidFill>
          <a:ln/>
        </p:spPr>
      </p:sp>
      <p:sp>
        <p:nvSpPr>
          <p:cNvPr id="24" name="step-box"/>
          <p:cNvSpPr/>
          <p:nvPr/>
        </p:nvSpPr>
        <p:spPr>
          <a:xfrm>
            <a:off x="9178061" y="2314956"/>
            <a:ext cx="2464994" cy="2252980"/>
          </a:xfrm>
          <a:prstGeom prst="roundRect">
            <a:avLst>
              <a:gd name="adj" fmla="val 3247"/>
            </a:avLst>
          </a:prstGeom>
          <a:solidFill>
            <a:srgbClr val="FFFFFF"/>
          </a:solidFill>
          <a:ln w="15875">
            <a:solidFill>
              <a:srgbClr val="B69B83"/>
            </a:solidFill>
            <a:prstDash val="solid"/>
          </a:ln>
        </p:spPr>
      </p:sp>
      <p:sp>
        <p:nvSpPr>
          <p:cNvPr id="25" name="step-hex"/>
          <p:cNvSpPr/>
          <p:nvPr/>
        </p:nvSpPr>
        <p:spPr>
          <a:xfrm>
            <a:off x="9315221" y="2424684"/>
            <a:ext cx="530352" cy="459285"/>
          </a:xfrm>
          <a:prstGeom prst="hexagon">
            <a:avLst/>
          </a:prstGeom>
          <a:solidFill>
            <a:srgbClr val="7A4A1E"/>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a museum label explaining the sword was written today, so the label is a secondary source.</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Primary: it is an original object from Viking times. The label beside it is secondary.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Questioning a source: NOP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Say the three questions in order every time: what is it, where and when is it from and who made it, why was it made. Nature, Origin, Purpose.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We use sources to learn about the past, but we also have to question the source itself to make sure it is telling us the right information.</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 is for Nature: what is the source, and what does it say?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ended with a coin. Who made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Historians and archaeologists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Historian: written sources, judgements from evidence. Archaeologist: objects and remains, judgements from patterns. Both can be challenged by new finds.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Historians study the past through the analysis of sources, mostly written ones.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Archaeologists study the objects and remains that people left behind: bones, buildings, tools, coins and jewellery.</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introduced a bioarchaeologist, Dr Cat Jarman, who studies the Vikings buried in British soil.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NOP, historians and archaeologists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term to its meaning.</a:t>
            </a:r>
            <a:endParaRPr lang="en-US" sz="2400" dirty="0"/>
          </a:p>
        </p:txBody>
      </p:sp>
      <p:sp>
        <p:nvSpPr>
          <p:cNvPr id="11" name="match-card"/>
          <p:cNvSpPr/>
          <p:nvPr/>
        </p:nvSpPr>
        <p:spPr>
          <a:xfrm>
            <a:off x="777240" y="2468331"/>
            <a:ext cx="3081437" cy="567647"/>
          </a:xfrm>
          <a:prstGeom prst="roundRect">
            <a:avLst>
              <a:gd name="adj" fmla="val 12887"/>
            </a:avLst>
          </a:prstGeom>
          <a:solidFill>
            <a:srgbClr val="F8F6F4"/>
          </a:solidFill>
          <a:ln/>
        </p:spPr>
      </p:sp>
      <p:sp>
        <p:nvSpPr>
          <p:cNvPr id="12" name="match-hex"/>
          <p:cNvSpPr/>
          <p:nvPr/>
        </p:nvSpPr>
        <p:spPr>
          <a:xfrm>
            <a:off x="850392" y="2585862"/>
            <a:ext cx="384048" cy="332586"/>
          </a:xfrm>
          <a:prstGeom prst="hexagon">
            <a:avLst/>
          </a:prstGeom>
          <a:solidFill>
            <a:srgbClr val="7A4A1E"/>
          </a:solidFill>
          <a:ln/>
        </p:spPr>
      </p:sp>
      <p:sp>
        <p:nvSpPr>
          <p:cNvPr id="13" name="match-hex-label"/>
          <p:cNvSpPr txBox="1"/>
          <p:nvPr/>
        </p:nvSpPr>
        <p:spPr>
          <a:xfrm>
            <a:off x="850392" y="2585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Nature</a:t>
            </a:r>
            <a:endParaRPr lang="en-US" sz="2000" dirty="0"/>
          </a:p>
        </p:txBody>
      </p:sp>
      <p:sp>
        <p:nvSpPr>
          <p:cNvPr id="15" name="match-card"/>
          <p:cNvSpPr/>
          <p:nvPr/>
        </p:nvSpPr>
        <p:spPr>
          <a:xfrm>
            <a:off x="4224437" y="2468331"/>
            <a:ext cx="7190019" cy="567647"/>
          </a:xfrm>
          <a:prstGeom prst="roundRect">
            <a:avLst>
              <a:gd name="adj" fmla="val 12887"/>
            </a:avLst>
          </a:prstGeom>
          <a:solidFill>
            <a:srgbClr val="F9F4EC"/>
          </a:solidFill>
          <a:ln/>
        </p:spPr>
      </p:sp>
      <p:sp>
        <p:nvSpPr>
          <p:cNvPr id="16" name="match-hex"/>
          <p:cNvSpPr/>
          <p:nvPr/>
        </p:nvSpPr>
        <p:spPr>
          <a:xfrm>
            <a:off x="4297589" y="2585862"/>
            <a:ext cx="384048" cy="332586"/>
          </a:xfrm>
          <a:prstGeom prst="hexagon">
            <a:avLst/>
          </a:prstGeom>
          <a:solidFill>
            <a:srgbClr val="B8862B"/>
          </a:solidFill>
          <a:ln/>
        </p:spPr>
      </p:sp>
      <p:sp>
        <p:nvSpPr>
          <p:cNvPr id="17" name="match-hex-label"/>
          <p:cNvSpPr txBox="1"/>
          <p:nvPr/>
        </p:nvSpPr>
        <p:spPr>
          <a:xfrm>
            <a:off x="4297589" y="2585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Studies the objects and remains that people left behind</a:t>
            </a:r>
            <a:endParaRPr lang="en-US" sz="2000" dirty="0"/>
          </a:p>
        </p:txBody>
      </p:sp>
      <p:sp>
        <p:nvSpPr>
          <p:cNvPr id="19" name="match-card"/>
          <p:cNvSpPr/>
          <p:nvPr/>
        </p:nvSpPr>
        <p:spPr>
          <a:xfrm>
            <a:off x="777240" y="3127419"/>
            <a:ext cx="3081437" cy="567647"/>
          </a:xfrm>
          <a:prstGeom prst="roundRect">
            <a:avLst>
              <a:gd name="adj" fmla="val 12887"/>
            </a:avLst>
          </a:prstGeom>
          <a:solidFill>
            <a:srgbClr val="F8F6F4"/>
          </a:solidFill>
          <a:ln/>
        </p:spPr>
      </p:sp>
      <p:sp>
        <p:nvSpPr>
          <p:cNvPr id="20" name="match-hex"/>
          <p:cNvSpPr/>
          <p:nvPr/>
        </p:nvSpPr>
        <p:spPr>
          <a:xfrm>
            <a:off x="850392" y="3244950"/>
            <a:ext cx="384048" cy="332586"/>
          </a:xfrm>
          <a:prstGeom prst="hexagon">
            <a:avLst/>
          </a:prstGeom>
          <a:solidFill>
            <a:srgbClr val="7A4A1E"/>
          </a:solidFill>
          <a:ln/>
        </p:spPr>
      </p:sp>
      <p:sp>
        <p:nvSpPr>
          <p:cNvPr id="21" name="match-hex-label"/>
          <p:cNvSpPr txBox="1"/>
          <p:nvPr/>
        </p:nvSpPr>
        <p:spPr>
          <a:xfrm>
            <a:off x="850392" y="32449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27419"/>
            <a:ext cx="2487077"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Origin</a:t>
            </a:r>
            <a:endParaRPr lang="en-US" sz="2000" dirty="0"/>
          </a:p>
        </p:txBody>
      </p:sp>
      <p:sp>
        <p:nvSpPr>
          <p:cNvPr id="23" name="match-card"/>
          <p:cNvSpPr/>
          <p:nvPr/>
        </p:nvSpPr>
        <p:spPr>
          <a:xfrm>
            <a:off x="4224437" y="3127419"/>
            <a:ext cx="7190019" cy="567647"/>
          </a:xfrm>
          <a:prstGeom prst="roundRect">
            <a:avLst>
              <a:gd name="adj" fmla="val 12887"/>
            </a:avLst>
          </a:prstGeom>
          <a:solidFill>
            <a:srgbClr val="F9F4EC"/>
          </a:solidFill>
          <a:ln/>
        </p:spPr>
      </p:sp>
      <p:sp>
        <p:nvSpPr>
          <p:cNvPr id="24" name="match-hex"/>
          <p:cNvSpPr/>
          <p:nvPr/>
        </p:nvSpPr>
        <p:spPr>
          <a:xfrm>
            <a:off x="4297589" y="3244950"/>
            <a:ext cx="384048" cy="332586"/>
          </a:xfrm>
          <a:prstGeom prst="hexagon">
            <a:avLst/>
          </a:prstGeom>
          <a:solidFill>
            <a:srgbClr val="B8862B"/>
          </a:solidFill>
          <a:ln/>
        </p:spPr>
      </p:sp>
      <p:sp>
        <p:nvSpPr>
          <p:cNvPr id="25" name="match-hex-label"/>
          <p:cNvSpPr txBox="1"/>
          <p:nvPr/>
        </p:nvSpPr>
        <p:spPr>
          <a:xfrm>
            <a:off x="4297589" y="32449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27419"/>
            <a:ext cx="6595659"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Where and when the source is from, and who made it</a:t>
            </a:r>
            <a:endParaRPr lang="en-US" sz="2000" dirty="0"/>
          </a:p>
        </p:txBody>
      </p:sp>
      <p:sp>
        <p:nvSpPr>
          <p:cNvPr id="27" name="match-card"/>
          <p:cNvSpPr/>
          <p:nvPr/>
        </p:nvSpPr>
        <p:spPr>
          <a:xfrm>
            <a:off x="777240" y="3786506"/>
            <a:ext cx="3081437" cy="567647"/>
          </a:xfrm>
          <a:prstGeom prst="roundRect">
            <a:avLst>
              <a:gd name="adj" fmla="val 12887"/>
            </a:avLst>
          </a:prstGeom>
          <a:solidFill>
            <a:srgbClr val="F8F6F4"/>
          </a:solidFill>
          <a:ln/>
        </p:spPr>
      </p:sp>
      <p:sp>
        <p:nvSpPr>
          <p:cNvPr id="28" name="match-hex"/>
          <p:cNvSpPr/>
          <p:nvPr/>
        </p:nvSpPr>
        <p:spPr>
          <a:xfrm>
            <a:off x="850392" y="3904037"/>
            <a:ext cx="384048" cy="332586"/>
          </a:xfrm>
          <a:prstGeom prst="hexagon">
            <a:avLst/>
          </a:prstGeom>
          <a:solidFill>
            <a:srgbClr val="7A4A1E"/>
          </a:solidFill>
          <a:ln/>
        </p:spPr>
      </p:sp>
      <p:sp>
        <p:nvSpPr>
          <p:cNvPr id="29" name="match-hex-label"/>
          <p:cNvSpPr txBox="1"/>
          <p:nvPr/>
        </p:nvSpPr>
        <p:spPr>
          <a:xfrm>
            <a:off x="850392" y="390403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786506"/>
            <a:ext cx="2487077"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Purpose</a:t>
            </a:r>
            <a:endParaRPr lang="en-US" sz="2000" dirty="0"/>
          </a:p>
        </p:txBody>
      </p:sp>
      <p:sp>
        <p:nvSpPr>
          <p:cNvPr id="31" name="match-card"/>
          <p:cNvSpPr/>
          <p:nvPr/>
        </p:nvSpPr>
        <p:spPr>
          <a:xfrm>
            <a:off x="4224437" y="3786506"/>
            <a:ext cx="7190019" cy="567647"/>
          </a:xfrm>
          <a:prstGeom prst="roundRect">
            <a:avLst>
              <a:gd name="adj" fmla="val 12887"/>
            </a:avLst>
          </a:prstGeom>
          <a:solidFill>
            <a:srgbClr val="F9F4EC"/>
          </a:solidFill>
          <a:ln/>
        </p:spPr>
      </p:sp>
      <p:sp>
        <p:nvSpPr>
          <p:cNvPr id="32" name="match-hex"/>
          <p:cNvSpPr/>
          <p:nvPr/>
        </p:nvSpPr>
        <p:spPr>
          <a:xfrm>
            <a:off x="4297589" y="3904037"/>
            <a:ext cx="384048" cy="332586"/>
          </a:xfrm>
          <a:prstGeom prst="hexagon">
            <a:avLst/>
          </a:prstGeom>
          <a:solidFill>
            <a:srgbClr val="B8862B"/>
          </a:solidFill>
          <a:ln/>
        </p:spPr>
      </p:sp>
      <p:sp>
        <p:nvSpPr>
          <p:cNvPr id="33" name="match-hex-label"/>
          <p:cNvSpPr txBox="1"/>
          <p:nvPr/>
        </p:nvSpPr>
        <p:spPr>
          <a:xfrm>
            <a:off x="4297589" y="390403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786506"/>
            <a:ext cx="6595659"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What the source is and what it says</a:t>
            </a:r>
            <a:endParaRPr lang="en-US" sz="2000" dirty="0"/>
          </a:p>
        </p:txBody>
      </p:sp>
      <p:sp>
        <p:nvSpPr>
          <p:cNvPr id="35" name="match-card"/>
          <p:cNvSpPr/>
          <p:nvPr/>
        </p:nvSpPr>
        <p:spPr>
          <a:xfrm>
            <a:off x="777240" y="4445593"/>
            <a:ext cx="3081437" cy="567647"/>
          </a:xfrm>
          <a:prstGeom prst="roundRect">
            <a:avLst>
              <a:gd name="adj" fmla="val 12887"/>
            </a:avLst>
          </a:prstGeom>
          <a:solidFill>
            <a:srgbClr val="F8F6F4"/>
          </a:solidFill>
          <a:ln/>
        </p:spPr>
      </p:sp>
      <p:sp>
        <p:nvSpPr>
          <p:cNvPr id="36" name="match-hex"/>
          <p:cNvSpPr/>
          <p:nvPr/>
        </p:nvSpPr>
        <p:spPr>
          <a:xfrm>
            <a:off x="850392" y="4563124"/>
            <a:ext cx="384048" cy="332586"/>
          </a:xfrm>
          <a:prstGeom prst="hexagon">
            <a:avLst/>
          </a:prstGeom>
          <a:solidFill>
            <a:srgbClr val="7A4A1E"/>
          </a:solidFill>
          <a:ln/>
        </p:spPr>
      </p:sp>
      <p:sp>
        <p:nvSpPr>
          <p:cNvPr id="37" name="match-hex-label"/>
          <p:cNvSpPr txBox="1"/>
          <p:nvPr/>
        </p:nvSpPr>
        <p:spPr>
          <a:xfrm>
            <a:off x="850392" y="45631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445593"/>
            <a:ext cx="2487077"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Historian</a:t>
            </a:r>
            <a:endParaRPr lang="en-US" sz="2000" dirty="0"/>
          </a:p>
        </p:txBody>
      </p:sp>
      <p:sp>
        <p:nvSpPr>
          <p:cNvPr id="39" name="match-card"/>
          <p:cNvSpPr/>
          <p:nvPr/>
        </p:nvSpPr>
        <p:spPr>
          <a:xfrm>
            <a:off x="4224437" y="4445593"/>
            <a:ext cx="7190019" cy="567647"/>
          </a:xfrm>
          <a:prstGeom prst="roundRect">
            <a:avLst>
              <a:gd name="adj" fmla="val 12887"/>
            </a:avLst>
          </a:prstGeom>
          <a:solidFill>
            <a:srgbClr val="F9F4EC"/>
          </a:solidFill>
          <a:ln/>
        </p:spPr>
      </p:sp>
      <p:sp>
        <p:nvSpPr>
          <p:cNvPr id="40" name="match-hex"/>
          <p:cNvSpPr/>
          <p:nvPr/>
        </p:nvSpPr>
        <p:spPr>
          <a:xfrm>
            <a:off x="4297589" y="4563124"/>
            <a:ext cx="384048" cy="332586"/>
          </a:xfrm>
          <a:prstGeom prst="hexagon">
            <a:avLst/>
          </a:prstGeom>
          <a:solidFill>
            <a:srgbClr val="B8862B"/>
          </a:solidFill>
          <a:ln/>
        </p:spPr>
      </p:sp>
      <p:sp>
        <p:nvSpPr>
          <p:cNvPr id="41" name="match-hex-label"/>
          <p:cNvSpPr txBox="1"/>
          <p:nvPr/>
        </p:nvSpPr>
        <p:spPr>
          <a:xfrm>
            <a:off x="4297589" y="45631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445593"/>
            <a:ext cx="6595659"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Why the source was made and what it is trying to tell us</a:t>
            </a:r>
            <a:endParaRPr lang="en-US" sz="2000" dirty="0"/>
          </a:p>
        </p:txBody>
      </p:sp>
      <p:sp>
        <p:nvSpPr>
          <p:cNvPr id="43" name="match-card"/>
          <p:cNvSpPr/>
          <p:nvPr/>
        </p:nvSpPr>
        <p:spPr>
          <a:xfrm>
            <a:off x="777240" y="5104681"/>
            <a:ext cx="3081437" cy="857207"/>
          </a:xfrm>
          <a:prstGeom prst="roundRect">
            <a:avLst>
              <a:gd name="adj" fmla="val 8534"/>
            </a:avLst>
          </a:prstGeom>
          <a:solidFill>
            <a:srgbClr val="F8F6F4"/>
          </a:solidFill>
          <a:ln/>
        </p:spPr>
      </p:sp>
      <p:sp>
        <p:nvSpPr>
          <p:cNvPr id="44" name="match-hex"/>
          <p:cNvSpPr/>
          <p:nvPr/>
        </p:nvSpPr>
        <p:spPr>
          <a:xfrm>
            <a:off x="850392" y="5366992"/>
            <a:ext cx="384048" cy="332586"/>
          </a:xfrm>
          <a:prstGeom prst="hexagon">
            <a:avLst/>
          </a:prstGeom>
          <a:solidFill>
            <a:srgbClr val="7A4A1E"/>
          </a:solidFill>
          <a:ln/>
        </p:spPr>
      </p:sp>
      <p:sp>
        <p:nvSpPr>
          <p:cNvPr id="45" name="match-hex-label"/>
          <p:cNvSpPr txBox="1"/>
          <p:nvPr/>
        </p:nvSpPr>
        <p:spPr>
          <a:xfrm>
            <a:off x="850392" y="53669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104681"/>
            <a:ext cx="2487077" cy="8572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Archaeologist</a:t>
            </a:r>
            <a:endParaRPr lang="en-US" sz="2000" dirty="0"/>
          </a:p>
        </p:txBody>
      </p:sp>
      <p:sp>
        <p:nvSpPr>
          <p:cNvPr id="47" name="match-card"/>
          <p:cNvSpPr/>
          <p:nvPr/>
        </p:nvSpPr>
        <p:spPr>
          <a:xfrm>
            <a:off x="4224437" y="5104681"/>
            <a:ext cx="7190019" cy="857207"/>
          </a:xfrm>
          <a:prstGeom prst="roundRect">
            <a:avLst>
              <a:gd name="adj" fmla="val 8534"/>
            </a:avLst>
          </a:prstGeom>
          <a:solidFill>
            <a:srgbClr val="F9F4EC"/>
          </a:solidFill>
          <a:ln/>
        </p:spPr>
      </p:sp>
      <p:sp>
        <p:nvSpPr>
          <p:cNvPr id="48" name="match-hex"/>
          <p:cNvSpPr/>
          <p:nvPr/>
        </p:nvSpPr>
        <p:spPr>
          <a:xfrm>
            <a:off x="4297589" y="5366992"/>
            <a:ext cx="384048" cy="332586"/>
          </a:xfrm>
          <a:prstGeom prst="hexagon">
            <a:avLst/>
          </a:prstGeom>
          <a:solidFill>
            <a:srgbClr val="B8862B"/>
          </a:solidFill>
          <a:ln/>
        </p:spPr>
      </p:sp>
      <p:sp>
        <p:nvSpPr>
          <p:cNvPr id="49" name="match-hex-label"/>
          <p:cNvSpPr txBox="1"/>
          <p:nvPr/>
        </p:nvSpPr>
        <p:spPr>
          <a:xfrm>
            <a:off x="4297589" y="53669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104681"/>
            <a:ext cx="6595659" cy="8572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Studies the past through the analysis of sources, mostly written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NOP, historians and archaeologists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NOP, historians and archaeologists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two jobs. The one who digs up objects and bones is the archaeologist.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Nature asks what the source is; think of the nature of something as what it is like.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Origin shares a root with original: where something first came from.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Purpose is the reason for doing something, so it is about why the source was made.</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Nature is what, Origin is where, when and who, Purpose is why. Archaeologists dig.</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Origin and Purpose together tell you how far to trust a source, using one example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Primary or secondary?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bones of King Richard III were dug up in a Leicester car park and studied by scientists. Are the bones a primary or a secondary source about Richard III, and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Secondary, because scientists had to study them to learn anything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Primary, because they were found by archaeologists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Secondary, because they were only found recently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Primary, because they are the remains of the man himself, from his own time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Primary or secondary?</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Primary or secondary?</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when the source comes from, not when it was found.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Richard III lived in the fifteenth century. His bones are from his own lifetime.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the time being studied means primary.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Now check the reason: the correct option must say they are from his own time.</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Primary or secondary depends on when the source was made, not on when or by whom it was found.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scientist writes a report about what the bones show. Is the report primary or secondary? Explain your answer in two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___ source is an original document or object from the time being studied.</a:t>
            </a:r>
            <a:endParaRPr lang="en-US" sz="24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primary   ·   secondary   ·   modern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NOP, historians and archaeologists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Nature  →  C  What the source is and what it says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Origin  →  B  Where and when the source is from, and who made it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Purpose  →  D  Why the source was made and what it is trying to tell us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Historian  →  E  Studies the past through the analysis of sources, mostly written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Archaeologist  →  A  Studies the objects and remains that people left behind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Nature is what the source is; Origin is where, when and who; Purpose is why it was made. Historians work from sources, mostly written; archaeologists work from objects and remains.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Primary or secondary?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bones of King Richard III were dug up in a Leicester car park and studied by scientists. Are the bones a primary or a secondary source about Richard III, and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Primary, because they are the remains of the man himself, from his own time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source is primary if it comes from the time being studied. Richard's bones are the remains of the man himself, so they are primary; when they were found and who found them make no difference.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___ source is an original document or object from the time being studied.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primary source is an original document or object from the time being studied.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Primary sources come from the time itself; secondary sources are made afterwards.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Vikings and Anglo-Saxons · Chapter 2: Sources: how we know about the past</dc:title>
  <dc:subject>History · Year 7</dc:subject>
  <dc:creator>Dr Vitor Merissi de Carvalho</dc:creator>
  <cp:lastModifiedBy>Dr Vitor Merissi de Carvalho</cp:lastModifiedBy>
  <cp:revision>1</cp:revision>
  <dcterms:created xsi:type="dcterms:W3CDTF">2026-10-19T16:23:16Z</dcterms:created>
  <dcterms:modified xsi:type="dcterms:W3CDTF">2026-10-19T16:23:16Z</dcterms:modified>
</cp:coreProperties>
</file>