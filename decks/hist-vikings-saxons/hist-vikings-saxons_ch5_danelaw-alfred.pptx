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5394d12-19fa-1d56-40a4-8a5332071fbf}">
          <p14:sldIdLst>
            <p14:sldId id="256"/>
          </p14:sldIdLst>
        </p14:section>
        <p14:section name="Gate" id="{57111909-05b3-7b39-3202-754e5b44f8f1}">
          <p14:sldIdLst>
            <p14:sldId id="257"/>
            <p14:sldId id="258"/>
          </p14:sldIdLst>
        </p14:section>
        <p14:section name="Pre-teach" id="{db78ef17-4f52-6b66-04a5-e4e1ad1346d8}">
          <p14:sldIdLst>
            <p14:sldId id="259"/>
            <p14:sldId id="260"/>
          </p14:sldIdLst>
        </p14:section>
        <p14:section name="Read-along" id="{f065ab3d-7124-a5bc-a87b-1c9ab282037f}">
          <p14:sldIdLst>
            <p14:sldId id="261"/>
            <p14:sldId id="262"/>
          </p14:sldIdLst>
        </p14:section>
        <p14:section name="Teach" id="{2279e19b-6eb1-2f2a-e7ff-6f280ecd8456}">
          <p14:sldIdLst>
            <p14:sldId id="263"/>
            <p14:sldId id="264"/>
            <p14:sldId id="265"/>
            <p14:sldId id="266"/>
            <p14:sldId id="267"/>
          </p14:sldIdLst>
        </p14:section>
        <p14:section name="Routes" id="{0014595b-3d4e-7e13-f277-913b681da0c9}">
          <p14:sldIdLst>
            <p14:sldId id="268"/>
            <p14:sldId id="269"/>
            <p14:sldId id="270"/>
          </p14:sldIdLst>
        </p14:section>
        <p14:section name="Close" id="{12913db5-19f7-72b8-3af3-fb8369c7bc7d}">
          <p14:sldIdLst>
            <p14:sldId id="271"/>
          </p14:sldIdLst>
        </p14:section>
        <p14:section name="Answers" id="{5ae3be6c-0751-6fcb-1b6d-a467451a098a}">
          <p14:sldIdLst>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5 of 6: Viking rule, the Danelaw and Alfred the Great. How the Vikings went from raiding to settling, what changed in the Danelaw, how Alfred of Wessex dealt with Guthrum, and whether he deserves the title Great.
This deck covers the department's lesson: 4 (Viking rule and how the Anglo-Saxons dealt with the Vikings: How did Viking rule change Britain, and how well did Alfred deal with the Vikings?).
Read the big question aloud: "Who were the Vikings, and how do historians use chronology and sources to find out?"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three Anglo-Saxon kingdoms did the Vikings invade and settle in?  →  D   Northumbria, Mercia and East Anglia
2. The large area of England under Viking control, where Viking rules were followed, was called the ___.  →  Danelaw
3. Where did Alfred hide after Guthrum invaded Wessex?  →  B   In Somerset, an area the Vikings did not know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D   Northumbria, Mercia and East Anglia. The Vikings settled in the north and east: Northumbria, Mercia and East Anglia. Wessex, in the south, held out under Alfred.
2. Danelaw. The Danelaw was the part of England where Viking law and ways of life were followed; the rest still had Anglo-Saxon kings.
3. B   In Somerset, an area the Vikings did not know. Alfred fled to Somerset, which was unfamiliar to the Vikings, and used the time to build a stronger army.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settle: to stay and live in a place. Example: "After years of raiding, many Vikings began to settle in England."
• Danelaw: the large part of England where Viking rules and ways of life were followed. Example: "York was the most important city in the Danelaw."
• jarl: a Viking lord. Example: "Some towns were ruled by a Viking king or a jarl."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Wessex: the Anglo-Saxon kingdom in the south of England ruled by Alfred. Example: "Guthrum invaded Wessex and Alfred had to flee."
• burh: a town with high walls and guard towers built to protect people. Example: "Alfred built burhs so people had somewhere safe to go."
• significant: important, with effects that lasted. Example: "Was the Viking invasion significant? Give reasons."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At first the Vikings came to Britain to raid.
2. Later they began to stay and settle.
3. In 865 a huge Viking army landed in England.
4. The Vikings took over Northumbria, Mercia and East Anglia.
5. The land under Viking rule became known as the Danelaw.
6. York was its largest and most important city.
7. The Vikings built settlements, traded and farmed the land.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Only Wessex, in the south, held out against them.
9. Its king was Alfred.
10. The Viking leader Guthrum invaded Wessex, and Alfred fled to Somerset.
11. Alfred built a new army and beat Guthrum at Edington in 878.
12. Then he built walled towns called burhs to protect his people.
13. Many people call him Alfred the Great.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From raiding to settling. Say it in your own words, then check understanding with a quick question: ask a pupil from the pre-teach group first, since they met these words and ideas before the lesson. Pupils try to recall before you re-explain.
At first, the Vikings came to Britain to raid: to steal treasure and goods and sail away. But after a while they started staying and living here too. In 865, according to your lesson's timeline, the Great Heathen Army landed and began conquering the Anglo-Saxon kingdoms one by one.
The Vikings settled especially in the north and east of England. They took over three kingdoms: Northumbria, Mercia and East Anglia. They made farms and towns, traded, and ruled the areas they had taken. In the places they ruled they had their own laws and leaders; some towns had Viking kings or jarls, who were like lords. The largest and most important city under Viking rule was York.
This changed how people lived and who was in charge. An Anglo-Saxon farmer in Northumbria now paid his dues to a Viking lord, settled his disputes by Viking law, and had Viking neighbours.
Tip: Three kingdoms, one city: Northumbria, Mercia, East Anglia; York.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Danelaw and the mixing of cultures. Say it in your own words, then check understanding with a quick question: ask a pupil from the pre-teach group first, since they met these words and ideas before the lesson. Pupils try to recall before you re-explain.
A big part of Britain became known as the Danelaw, where Viking rules and ways of life were followed. That was different from the rest of England, which still had Anglo-Saxon kings. In 878, after his victory at Edington, Alfred agreed the boundaries of the Danelaw with Guthrum.
Over time, the Vikings and the local people started living together more peacefully. They shared language, clothes, farming ideas and even names. Some English words we use today come from the Viking language, such as sky, egg and window. Place names ending in -by and -thorpe, such as Grimsby, Derby and Scunthorpe, are Viking names that are still used.
Your lesson asked you to judge how significant the Viking invasion was, on a line from not significant to very significant. A good judgement weighs lasting changes, such as language, place names and the Danelaw, against the fact that in the end England was united under Anglo-Saxon kings. Then it considers the other side of its own argument.
Tip: Significant means important with lasting effects. Language and place names still used today are strong evidence of significance.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Alfred: the king who should never have been king. Say it in your own words, then check understanding with a quick question: ask a pupil from the pre-teach group first, since they met these words and ideas before the lesson. Pupils try to recall before you re-explain.
Alfred was a sickly child. He had three older brothers who were all supposed to become king before him, so he should never really have been king at all. As a boy he visited shrines and churches, and even met the Pope in Rome. This mattered, because religion was part of everybody's life and the Pope was seen as the link between God and the people on Earth. Alfred outlived all three brothers and became King of Wessex.
Alfred believed that reading and writing were extremely important. He translated many books from Latin, which few people could read, into English, so that more people could understand them. This started a new age of education and literacy in Britain, and some people say it is the reason he was called Great.
Then Guthrum, a Viking warlord, invaded Wessex. Alfred fled and hid in Somerset, an area the Vikings did not know. While in hiding he put together a Saxon army more capable of fighting the Vikings. When it was big enough he marched to meet Guthrum at Edington, in 878, and after a day of fighting Alfred won. He forced Guthrum back, trapped the Vikings and starved them of food until they surrendered. Guthrum agreed to Alfred's treaty: he became a Christian, went back to the Danelaw and promised never to invade Alfred's kingdom again.
Tip: Alfred's story in five beats: sickly child, Rome, books, flight to Somerset, Edington.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Alfred's policies, and the title Great. Say it in your own words, then check understanding with a quick question: ask a pupil from the pre-teach group first, since they met these words and ideas before the lesson. Pupils try to recall before you re-explain.
After defeating the Vikings, Alfred introduced policies to make sure Wessex was better prepared if they came again. Burhs were towns surrounded by high walls and guard towers, to protect the people living there. Alfred used the burhs to collect tax and store the money, so that more burhs could be built. He also decided that half of the army should always be active, so that it was ready at all times. This was one of the first professional armies in Britain.
Your lesson asked you to judge how well Alfred dealt with the Vikings. Did he beat them? Yes, at Edington. Did he ever run and hide? Yes, in Somerset. Did he learn from his mistakes and prepare better for the future? Yes: burhs, tax and a standing army. Weigh all three before you place your arrow.
Does Alfred deserve to be remembered as Great? Your lesson wants a view with two reasons, and then the opposite view. Translating books, beating Guthrum and building the burhs are reasons for yes. Fleeing from his kingdom, and the fact that the Danelaw remained in Viking hands, are reasons a critic might give.
Worked example — model it step by step, thinking aloud: Write one reason, with evidence and explanation, that Alfred deserves the title Great. (1) Point: One reason Alfred deserves to be remembered as Great is that he made Wessex safer against future Viking attacks. (2) Evidence: he built burhs, towns with high walls and guard towers, and kept half of his army active at all times. (3) Explain: this meant that when Vikings attacked again, people had somewhere safe to go and an army ready to fight, so Wessex was not overrun. (4) Link back: that is why many people think the title Great is deserved. Answer: Point, evidence, explain: Alfred made Wessex safer; he built burhs and kept half the army ready; so Wessex could resist future attacks, which is a lasting achievement..
Tip: For a judgement question, give your view, two reasons with evidence, and then one sentence for the other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Alfred's policies, and the title Great. Say it in your own words, then check understanding with a quick question: ask a pupil from the pre-teach group first, since they met these words and ideas before the lesson. Pupils try to recall before you re-explain.
After defeating the Vikings, Alfred introduced policies to make sure Wessex was better prepared if they came again. Burhs were towns surrounded by high walls and guard towers, to protect the people living there. Alfred used the burhs to collect tax and store the money, so that more burhs could be built. He also decided that half of the army should always be active, so that it was ready at all times. This was one of the first professional armies in Britain.
Your lesson asked you to judge how well Alfred dealt with the Vikings. Did he beat them? Yes, at Edington. Did he ever run and hide? Yes, in Somerset. Did he learn from his mistakes and prepare better for the future? Yes: burhs, tax and a standing army. Weigh all three before you place your arrow.
Does Alfred deserve to be remembered as Great? Your lesson wants a view with two reasons, and then the opposite view. Translating books, beating Guthrum and building the burhs are reasons for yes. Fleeing from his kingdom, and the fact that the Danelaw remained in Viking hands, are reasons a critic might give.
Worked example — model it step by step, thinking aloud: Write one reason, with evidence and explanation, that Alfred deserves the title Great. (1) Point: One reason Alfred deserves to be remembered as Great is that he made Wessex safer against future Viking attacks. (2) Evidence: he built burhs, towns with high walls and guard towers, and kept half of his army active at all times. (3) Explain: this meant that when Vikings attacked again, people had somewhere safe to go and an army ready to fight, so Wessex was not overrun. (4) Link back: that is why many people think the title Great is deserved. Answer: Point, evidence, explain: Alfred made Wessex safer; he built burhs and kept half the army ready; so Wessex could resist future attacks, which is a lasting achievement..
Tip: For a judgement question, give your view, two reasons with evidence, and then one sentence for the other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From the Great Heathen Army to Edington.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The Great Heathen Army landed in England in 865. Alfred defeated Guthrum at Edington in 878. How many years passed between the two events?
Support — work through the steps with the group: (1) Write the later date first: 878. (2) Subtract the earlier date: 878 − 865. (3) Both are in the 800s, so just do 78 − 65 = 13. (4) Check it makes sense: a little over a decade.
Parallel worked example for Support (model it, do not give the task answer): How many years passed between the Romans leaving Britain in 410 and the Pope sending Augustine in 597? Later date first: 597.; Subtract: 597 − 410.; 597 − 410 = 187.. Answer: 187 years.
Core — reveal the hint only on request: Later date minus earlier date. Both are in the 800s, so work with the last two digits.
Stretch — no help; when finished: Explain what the thirteen-year gap tells you about how hard the Anglo-Saxon kingdoms found it to stop the Vikings.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Alfred's story in order.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events of Alfred's life in the order your lesson gave them.
Support — work through the steps with the group: (1) Childhood comes first: the sickly boy with three older brothers. (2) He has to become king before he can act as king, so becoming king and translating books comes next. (3) Guthrum must invade before Alfred can flee, and Alfred must flee and build an army before he can win. (4) The policies to prepare for the future come after the victory.
Parallel worked example for Support (model it, do not give the task answer): Put in order: a team wins the cup; a new captain is chosen; the team loses badly and trains harder; the club builds a bigger stadium. The captain is chosen first.; The team loses, then trains harder.; Then wins the cup.; The bigger stadium comes after success.. Answer: captain chosen; loses and trains harder; wins the cup; bigger stadium.
Core — reveal the hint only on request: Child, king, invasion, hiding, victory, policies.
Stretch — no help; when finished: Explain how the time in Somerset made the victory at Edington possible, and how the victory made the burhs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Alfred's story in order.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events of Alfred's life in the order your lesson gave them.
Support — work through the steps with the group: (1) Childhood comes first: the sickly boy with three older brothers. (2) He has to become king before he can act as king, so becoming king and translating books comes next. (3) Guthrum must invade before Alfred can flee, and Alfred must flee and build an army before he can win. (4) The policies to prepare for the future come after the victory.
Parallel worked example for Support (model it, do not give the task answer): Put in order: a team wins the cup; a new captain is chosen; the team loses badly and trains harder; the club builds a bigger stadium. The captain is chosen first.; The team loses, then trains harder.; Then wins the cup.; The bigger stadium comes after success.. Answer: captain chosen; loses and trains harder; wins the cup; bigger stadium.
Core — reveal the hint only on request: Child, king, invasion, hiding, victory, policies.
Stretch — no help; when finished: Explain how the time in Somerset made the victory at Edington possible, and how the victory made the burhs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Which three Anglo-Saxon kingdoms did the Vikings invade and settle in?
Answer: C   Northumbria, Mercia and East Anglia. The Vikings settled in the north and east: Northumbria, Mercia and East Anglia. Wessex, in the south, held out under Alfred.
Source of this question: gate item 1 re-asked (options rotated) — this chapter has no third quick-check module.
The ebook also holds task 3, "Does Alfred deserve the title Great?",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From the Great Heathen Army to Edington. Reveal the answer; pupils mark their own work in a different colour, then read the "why" together. Same destination for every lane, so one answer serves the whole class.
Answer: 13 years
Why: 878 − 865 = 13 years. The Vikings had thirteen years of conquest before Alfred's victory at Edington turned the tide.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Alfred's story in order. Reveal the answer; pupils mark their own work in a different colour, then read the "why" together. Same destination for every lane, so one answer serves the whole class.
Answer: Alfred is a sickly child with three older brothers who are all meant to be king before him  (F); Alfred becomes King of Wessex and translates books from Latin into English  (E); The Viking warlord Guthrum invades Wessex  (A); Alfred hides in Somerset and builds a stronger Saxon army  (D); Alfred defeats Guthrum at Edington and traps the Vikings until they surrender  (B); Alfred builds burhs, collects tax and keeps half of his army always active  (C)
Why: Sickly child; king and translator; Guthrum invades; Alfred hides in Somerset and builds an army; victory at Edington; then burhs, tax and a standing army to prepare for the future.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C   Northumbria, Mercia and East Anglia
Why: The Vikings settled in the north and east: Northumbria, Mercia and East Anglia. Wessex, in the south, held out under Alfred.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6F2EF"/>
          </a:solidFill>
          <a:ln w="12700">
            <a:solidFill>
              <a:srgbClr val="F6F2EF"/>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7 · The Vikings and Anglo-Saxons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6F2EF"/>
          </a:solidFill>
          <a:ln w="12700">
            <a:solidFill>
              <a:srgbClr val="F6F2EF"/>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7 · The Vikings and Anglo-Saxons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8E0D9"/>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5</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7</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5/6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Vikings and Anglo-Saxons · AQA KS3 → 8145</a:t>
            </a:r>
            <a:endParaRPr lang="en-US" sz="1800" dirty="0"/>
          </a:p>
        </p:txBody>
      </p:sp>
      <p:sp>
        <p:nvSpPr>
          <p:cNvPr id="10" name="deck-title"/>
          <p:cNvSpPr txBox="1"/>
          <p:nvPr/>
        </p:nvSpPr>
        <p:spPr>
          <a:xfrm>
            <a:off x="548640" y="2370328"/>
            <a:ext cx="5287975" cy="1183640"/>
          </a:xfrm>
          <a:prstGeom prst="rect">
            <a:avLst/>
          </a:prstGeom>
          <a:noFill/>
          <a:ln/>
        </p:spPr>
        <p:txBody>
          <a:bodyPr wrap="square" lIns="63500" tIns="63500" rIns="63500" bIns="63500" rtlCol="0" anchor="t"/>
          <a:lstStyle/>
          <a:p>
            <a:pPr algn="l" indent="0" marL="0">
              <a:buNone/>
            </a:pPr>
            <a:r>
              <a:rPr lang="en-US" sz="3200" b="1" dirty="0">
                <a:solidFill>
                  <a:srgbClr val="1E2229"/>
                </a:solidFill>
                <a:latin typeface="Cambria" pitchFamily="34" charset="0"/>
                <a:ea typeface="Cambria" pitchFamily="34" charset="-122"/>
                <a:cs typeface="Cambria" pitchFamily="34" charset="-120"/>
              </a:rPr>
              <a:t>Viking rule, the Danelaw and Alfred the Great</a:t>
            </a:r>
            <a:endParaRPr lang="en-US" sz="3200" dirty="0"/>
          </a:p>
        </p:txBody>
      </p:sp>
      <p:sp>
        <p:nvSpPr>
          <p:cNvPr id="11" name="lessons-card"/>
          <p:cNvSpPr/>
          <p:nvPr/>
        </p:nvSpPr>
        <p:spPr>
          <a:xfrm>
            <a:off x="548640" y="3782568"/>
            <a:ext cx="5287975" cy="1290320"/>
          </a:xfrm>
          <a:prstGeom prst="roundRect">
            <a:avLst>
              <a:gd name="adj" fmla="val 5669"/>
            </a:avLst>
          </a:prstGeom>
          <a:solidFill>
            <a:srgbClr val="F6F2EF"/>
          </a:solidFill>
          <a:ln/>
        </p:spPr>
      </p:sp>
      <p:sp>
        <p:nvSpPr>
          <p:cNvPr id="12" name="lessons"/>
          <p:cNvSpPr txBox="1"/>
          <p:nvPr/>
        </p:nvSpPr>
        <p:spPr>
          <a:xfrm>
            <a:off x="685800" y="3874008"/>
            <a:ext cx="5013655" cy="11074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4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Viking rule and how the Anglo-Saxons dealt with the Vikings</a:t>
            </a:r>
            <a:endParaRPr lang="en-US" sz="2000" dirty="0"/>
          </a:p>
        </p:txBody>
      </p:sp>
      <p:sp>
        <p:nvSpPr>
          <p:cNvPr id="13" name="plate-frame"/>
          <p:cNvSpPr/>
          <p:nvPr/>
        </p:nvSpPr>
        <p:spPr>
          <a:xfrm>
            <a:off x="6248095" y="411480"/>
            <a:ext cx="5394960" cy="3130677"/>
          </a:xfrm>
          <a:prstGeom prst="rect">
            <a:avLst/>
          </a:prstGeom>
          <a:solidFill>
            <a:srgbClr val="F4EDDF"/>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7">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6F2EF"/>
          </a:solidFill>
          <a:ln w="12700">
            <a:solidFill>
              <a:srgbClr val="CEBCAC"/>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Who were the Vikings, and how do historians use chronology and sources to find out?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AF8F6"/>
          </a:solidFill>
          <a:ln w="12700">
            <a:solidFill>
              <a:srgbClr val="D4C5B7"/>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Which three Anglo-Saxon kingdoms did the Vikings invade and settle in?</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Wessex, Kent and Sussex</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Northumbria, Wessex and Essex</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Mercia, Wales and Cornwall</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Northumbria, Mercia and East Anglia</a:t>
            </a:r>
            <a:endParaRPr lang="en-US" sz="1800" dirty="0"/>
          </a:p>
        </p:txBody>
      </p:sp>
      <p:sp>
        <p:nvSpPr>
          <p:cNvPr id="12" name="card"/>
          <p:cNvSpPr/>
          <p:nvPr/>
        </p:nvSpPr>
        <p:spPr>
          <a:xfrm>
            <a:off x="4338218" y="1389888"/>
            <a:ext cx="3515258" cy="4754880"/>
          </a:xfrm>
          <a:prstGeom prst="roundRect">
            <a:avLst>
              <a:gd name="adj" fmla="val 1561"/>
            </a:avLst>
          </a:prstGeom>
          <a:solidFill>
            <a:srgbClr val="FAF8F6"/>
          </a:solidFill>
          <a:ln w="12700">
            <a:solidFill>
              <a:srgbClr val="D4C5B7"/>
            </a:solidFill>
            <a:prstDash val="solid"/>
          </a:ln>
        </p:spPr>
      </p:sp>
      <p:sp>
        <p:nvSpPr>
          <p:cNvPr id="13" name="card-hex"/>
          <p:cNvSpPr/>
          <p:nvPr/>
        </p:nvSpPr>
        <p:spPr>
          <a:xfrm>
            <a:off x="4521098" y="1572768"/>
            <a:ext cx="640080" cy="554309"/>
          </a:xfrm>
          <a:prstGeom prst="hexagon">
            <a:avLst/>
          </a:prstGeom>
          <a:solidFill>
            <a:srgbClr val="7A4A1E"/>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The large area of England under Viking control, where Viking rules were followed, was called the ___.</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Danelaw  ·  Wessex  ·  Thing</a:t>
            </a:r>
            <a:endParaRPr lang="en-US" sz="2400" dirty="0"/>
          </a:p>
        </p:txBody>
      </p:sp>
      <p:sp>
        <p:nvSpPr>
          <p:cNvPr id="17" name="card"/>
          <p:cNvSpPr/>
          <p:nvPr/>
        </p:nvSpPr>
        <p:spPr>
          <a:xfrm>
            <a:off x="8127797" y="1389888"/>
            <a:ext cx="3515258" cy="4754880"/>
          </a:xfrm>
          <a:prstGeom prst="roundRect">
            <a:avLst>
              <a:gd name="adj" fmla="val 1561"/>
            </a:avLst>
          </a:prstGeom>
          <a:solidFill>
            <a:srgbClr val="FAF8F6"/>
          </a:solidFill>
          <a:ln w="12700">
            <a:solidFill>
              <a:srgbClr val="D4C5B7"/>
            </a:solidFill>
            <a:prstDash val="solid"/>
          </a:ln>
        </p:spPr>
      </p:sp>
      <p:sp>
        <p:nvSpPr>
          <p:cNvPr id="18" name="card-hex"/>
          <p:cNvSpPr/>
          <p:nvPr/>
        </p:nvSpPr>
        <p:spPr>
          <a:xfrm>
            <a:off x="8310677" y="1572768"/>
            <a:ext cx="640080" cy="554309"/>
          </a:xfrm>
          <a:prstGeom prst="hexagon">
            <a:avLst/>
          </a:prstGeom>
          <a:solidFill>
            <a:srgbClr val="7A4A1E"/>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Where did Alfred hide after Guthrum invaded Wessex?</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In Norway, across the North Sea</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In Somerset, an area the Vikings did not know</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In Rome, with the Pope</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In York, the largest Viking city</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AF8F6"/>
          </a:solidFill>
          <a:ln w="12700">
            <a:solidFill>
              <a:srgbClr val="D4C5B7"/>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955040"/>
          </a:xfrm>
          <a:prstGeom prst="roundRect">
            <a:avLst>
              <a:gd name="adj" fmla="val 11489"/>
            </a:avLst>
          </a:prstGeom>
          <a:solidFill>
            <a:srgbClr val="EFE4D0"/>
          </a:solidFill>
          <a:ln w="19050">
            <a:solidFill>
              <a:srgbClr val="B8862B"/>
            </a:solidFill>
            <a:prstDash val="solid"/>
          </a:ln>
        </p:spPr>
      </p:sp>
      <p:sp>
        <p:nvSpPr>
          <p:cNvPr id="12" name="answer"/>
          <p:cNvSpPr txBox="1"/>
          <p:nvPr/>
        </p:nvSpPr>
        <p:spPr>
          <a:xfrm>
            <a:off x="822960" y="2428829"/>
            <a:ext cx="296661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Northumbria, Mercia and East Anglia</a:t>
            </a:r>
            <a:endParaRPr lang="en-US" sz="2200" dirty="0"/>
          </a:p>
        </p:txBody>
      </p:sp>
      <p:sp>
        <p:nvSpPr>
          <p:cNvPr id="13" name="card-body"/>
          <p:cNvSpPr txBox="1"/>
          <p:nvPr/>
        </p:nvSpPr>
        <p:spPr>
          <a:xfrm>
            <a:off x="731520" y="3493597"/>
            <a:ext cx="3149498" cy="2514011"/>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Which three Anglo-Saxon kingdoms did the Vikings invade and settle in?</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The Vikings settled in the north and east: Northumbria, Mercia and East Anglia. Wessex, in the south, held out under Alfred.</a:t>
            </a:r>
            <a:endParaRPr lang="en-US" sz="1800" dirty="0"/>
          </a:p>
        </p:txBody>
      </p:sp>
      <p:sp>
        <p:nvSpPr>
          <p:cNvPr id="14" name="card"/>
          <p:cNvSpPr/>
          <p:nvPr/>
        </p:nvSpPr>
        <p:spPr>
          <a:xfrm>
            <a:off x="4338218" y="1389888"/>
            <a:ext cx="3515258" cy="4754880"/>
          </a:xfrm>
          <a:prstGeom prst="roundRect">
            <a:avLst>
              <a:gd name="adj" fmla="val 1561"/>
            </a:avLst>
          </a:prstGeom>
          <a:solidFill>
            <a:srgbClr val="FAF8F6"/>
          </a:solidFill>
          <a:ln w="12700">
            <a:solidFill>
              <a:srgbClr val="D4C5B7"/>
            </a:solidFill>
            <a:prstDash val="solid"/>
          </a:ln>
        </p:spPr>
      </p:sp>
      <p:sp>
        <p:nvSpPr>
          <p:cNvPr id="15" name="card-hex"/>
          <p:cNvSpPr/>
          <p:nvPr/>
        </p:nvSpPr>
        <p:spPr>
          <a:xfrm>
            <a:off x="4521098" y="1572768"/>
            <a:ext cx="640080" cy="554309"/>
          </a:xfrm>
          <a:prstGeom prst="hexagon">
            <a:avLst/>
          </a:prstGeom>
          <a:solidFill>
            <a:srgbClr val="7A4A1E"/>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FE4D0"/>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Danelaw</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The large area of England under Viking control, where Viking rules were followed, was called the ___.</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The Danelaw was the part of England where Viking law and ways of life were followed; the rest still had Anglo-Saxon kings.</a:t>
            </a:r>
            <a:endParaRPr lang="en-US" sz="1800" dirty="0"/>
          </a:p>
        </p:txBody>
      </p:sp>
      <p:sp>
        <p:nvSpPr>
          <p:cNvPr id="21" name="card"/>
          <p:cNvSpPr/>
          <p:nvPr/>
        </p:nvSpPr>
        <p:spPr>
          <a:xfrm>
            <a:off x="8127797" y="1389888"/>
            <a:ext cx="3515258" cy="4754880"/>
          </a:xfrm>
          <a:prstGeom prst="roundRect">
            <a:avLst>
              <a:gd name="adj" fmla="val 1561"/>
            </a:avLst>
          </a:prstGeom>
          <a:solidFill>
            <a:srgbClr val="FAF8F6"/>
          </a:solidFill>
          <a:ln w="12700">
            <a:solidFill>
              <a:srgbClr val="D4C5B7"/>
            </a:solidFill>
            <a:prstDash val="solid"/>
          </a:ln>
        </p:spPr>
      </p:sp>
      <p:sp>
        <p:nvSpPr>
          <p:cNvPr id="22" name="card-hex"/>
          <p:cNvSpPr/>
          <p:nvPr/>
        </p:nvSpPr>
        <p:spPr>
          <a:xfrm>
            <a:off x="8310677" y="1572768"/>
            <a:ext cx="640080" cy="554309"/>
          </a:xfrm>
          <a:prstGeom prst="hexagon">
            <a:avLst/>
          </a:prstGeom>
          <a:solidFill>
            <a:srgbClr val="7A4A1E"/>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1295908"/>
          </a:xfrm>
          <a:prstGeom prst="roundRect">
            <a:avLst>
              <a:gd name="adj" fmla="val 8467"/>
            </a:avLst>
          </a:prstGeom>
          <a:solidFill>
            <a:srgbClr val="EFE4D0"/>
          </a:solidFill>
          <a:ln w="19050">
            <a:solidFill>
              <a:srgbClr val="B8862B"/>
            </a:solidFill>
            <a:prstDash val="solid"/>
          </a:ln>
        </p:spPr>
      </p:sp>
      <p:sp>
        <p:nvSpPr>
          <p:cNvPr id="26" name="answer"/>
          <p:cNvSpPr txBox="1"/>
          <p:nvPr/>
        </p:nvSpPr>
        <p:spPr>
          <a:xfrm>
            <a:off x="8402117" y="2428829"/>
            <a:ext cx="296661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In Somerset, an area the Vikings did not know</a:t>
            </a:r>
            <a:endParaRPr lang="en-US" sz="2200" dirty="0"/>
          </a:p>
        </p:txBody>
      </p:sp>
      <p:sp>
        <p:nvSpPr>
          <p:cNvPr id="27" name="card-body"/>
          <p:cNvSpPr txBox="1"/>
          <p:nvPr/>
        </p:nvSpPr>
        <p:spPr>
          <a:xfrm>
            <a:off x="8310677" y="3834465"/>
            <a:ext cx="3149498" cy="2173143"/>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Where did Alfred hide after Guthrum invaded Wessex?</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Alfred fled to Somerset, which was unfamiliar to the Vikings, and used the time to build a stronger army.</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8F6F4"/>
          </a:solidFill>
          <a:ln w="12700">
            <a:solidFill>
              <a:srgbClr val="CEBCA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settle</a:t>
            </a:r>
            <a:endParaRPr lang="en-US" sz="2600" dirty="0"/>
          </a:p>
        </p:txBody>
      </p:sp>
      <p:sp>
        <p:nvSpPr>
          <p:cNvPr id="11" name="word-rule"/>
          <p:cNvSpPr/>
          <p:nvPr/>
        </p:nvSpPr>
        <p:spPr>
          <a:xfrm>
            <a:off x="731520" y="2129028"/>
            <a:ext cx="3149498" cy="0"/>
          </a:xfrm>
          <a:prstGeom prst="line">
            <a:avLst/>
          </a:prstGeom>
          <a:ln w="12700">
            <a:solidFill>
              <a:srgbClr val="CEBCA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to stay and live in a place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After years of raiding, many Vikings began to settle in England.</a:t>
            </a:r>
            <a:endParaRPr lang="en-US" sz="2200" dirty="0"/>
          </a:p>
        </p:txBody>
      </p:sp>
      <p:sp>
        <p:nvSpPr>
          <p:cNvPr id="13" name="word-card"/>
          <p:cNvSpPr/>
          <p:nvPr/>
        </p:nvSpPr>
        <p:spPr>
          <a:xfrm>
            <a:off x="4338218" y="1389888"/>
            <a:ext cx="3515258" cy="4754880"/>
          </a:xfrm>
          <a:prstGeom prst="roundRect">
            <a:avLst>
              <a:gd name="adj" fmla="val 1561"/>
            </a:avLst>
          </a:prstGeom>
          <a:solidFill>
            <a:srgbClr val="F8F6F4"/>
          </a:solidFill>
          <a:ln w="12700">
            <a:solidFill>
              <a:srgbClr val="CEBCA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Danelaw</a:t>
            </a:r>
            <a:endParaRPr lang="en-US" sz="2600" dirty="0"/>
          </a:p>
        </p:txBody>
      </p:sp>
      <p:sp>
        <p:nvSpPr>
          <p:cNvPr id="17" name="word-rule"/>
          <p:cNvSpPr/>
          <p:nvPr/>
        </p:nvSpPr>
        <p:spPr>
          <a:xfrm>
            <a:off x="4521098" y="2129028"/>
            <a:ext cx="3149498" cy="0"/>
          </a:xfrm>
          <a:prstGeom prst="line">
            <a:avLst/>
          </a:prstGeom>
          <a:ln w="12700">
            <a:solidFill>
              <a:srgbClr val="CEBCA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large part of England where Viking rules and ways of life were followed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York was the most important city in the Danelaw.</a:t>
            </a:r>
            <a:endParaRPr lang="en-US" sz="2200" dirty="0"/>
          </a:p>
        </p:txBody>
      </p:sp>
      <p:sp>
        <p:nvSpPr>
          <p:cNvPr id="19" name="word-card"/>
          <p:cNvSpPr/>
          <p:nvPr/>
        </p:nvSpPr>
        <p:spPr>
          <a:xfrm>
            <a:off x="8127797" y="1389888"/>
            <a:ext cx="3515258" cy="4754880"/>
          </a:xfrm>
          <a:prstGeom prst="roundRect">
            <a:avLst>
              <a:gd name="adj" fmla="val 1561"/>
            </a:avLst>
          </a:prstGeom>
          <a:solidFill>
            <a:srgbClr val="F8F6F4"/>
          </a:solidFill>
          <a:ln w="12700">
            <a:solidFill>
              <a:srgbClr val="CEBCA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jarl</a:t>
            </a:r>
            <a:endParaRPr lang="en-US" sz="2600" dirty="0"/>
          </a:p>
        </p:txBody>
      </p:sp>
      <p:sp>
        <p:nvSpPr>
          <p:cNvPr id="23" name="word-rule"/>
          <p:cNvSpPr/>
          <p:nvPr/>
        </p:nvSpPr>
        <p:spPr>
          <a:xfrm>
            <a:off x="8310677" y="2129028"/>
            <a:ext cx="3149498" cy="0"/>
          </a:xfrm>
          <a:prstGeom prst="line">
            <a:avLst/>
          </a:prstGeom>
          <a:ln w="12700">
            <a:solidFill>
              <a:srgbClr val="CEBCA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Viking lord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Some towns were ruled by a Viking king or a jarl.</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8F6F4"/>
          </a:solidFill>
          <a:ln w="12700">
            <a:solidFill>
              <a:srgbClr val="CEBCA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Wessex</a:t>
            </a:r>
            <a:endParaRPr lang="en-US" sz="2600" dirty="0"/>
          </a:p>
        </p:txBody>
      </p:sp>
      <p:sp>
        <p:nvSpPr>
          <p:cNvPr id="11" name="word-rule"/>
          <p:cNvSpPr/>
          <p:nvPr/>
        </p:nvSpPr>
        <p:spPr>
          <a:xfrm>
            <a:off x="731520" y="2129028"/>
            <a:ext cx="3149498" cy="0"/>
          </a:xfrm>
          <a:prstGeom prst="line">
            <a:avLst/>
          </a:prstGeom>
          <a:ln w="12700">
            <a:solidFill>
              <a:srgbClr val="CEBCA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Anglo-Saxon kingdom in the south of England ruled by Alfred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Guthrum invaded Wessex and Alfred had to flee.</a:t>
            </a:r>
            <a:endParaRPr lang="en-US" sz="2200" dirty="0"/>
          </a:p>
        </p:txBody>
      </p:sp>
      <p:sp>
        <p:nvSpPr>
          <p:cNvPr id="13" name="word-card"/>
          <p:cNvSpPr/>
          <p:nvPr/>
        </p:nvSpPr>
        <p:spPr>
          <a:xfrm>
            <a:off x="4338218" y="1389888"/>
            <a:ext cx="3515258" cy="4754880"/>
          </a:xfrm>
          <a:prstGeom prst="roundRect">
            <a:avLst>
              <a:gd name="adj" fmla="val 1561"/>
            </a:avLst>
          </a:prstGeom>
          <a:solidFill>
            <a:srgbClr val="F8F6F4"/>
          </a:solidFill>
          <a:ln w="12700">
            <a:solidFill>
              <a:srgbClr val="CEBCA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burh</a:t>
            </a:r>
            <a:endParaRPr lang="en-US" sz="2600" dirty="0"/>
          </a:p>
        </p:txBody>
      </p:sp>
      <p:sp>
        <p:nvSpPr>
          <p:cNvPr id="17" name="word-rule"/>
          <p:cNvSpPr/>
          <p:nvPr/>
        </p:nvSpPr>
        <p:spPr>
          <a:xfrm>
            <a:off x="4521098" y="2129028"/>
            <a:ext cx="3149498" cy="0"/>
          </a:xfrm>
          <a:prstGeom prst="line">
            <a:avLst/>
          </a:prstGeom>
          <a:ln w="12700">
            <a:solidFill>
              <a:srgbClr val="CEBCA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town with high walls and guard towers built to protect people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Alfred built burhs so people had somewhere safe to go.</a:t>
            </a:r>
            <a:endParaRPr lang="en-US" sz="2200" dirty="0"/>
          </a:p>
        </p:txBody>
      </p:sp>
      <p:sp>
        <p:nvSpPr>
          <p:cNvPr id="19" name="word-card"/>
          <p:cNvSpPr/>
          <p:nvPr/>
        </p:nvSpPr>
        <p:spPr>
          <a:xfrm>
            <a:off x="8127797" y="1389888"/>
            <a:ext cx="3515258" cy="4754880"/>
          </a:xfrm>
          <a:prstGeom prst="roundRect">
            <a:avLst>
              <a:gd name="adj" fmla="val 1561"/>
            </a:avLst>
          </a:prstGeom>
          <a:solidFill>
            <a:srgbClr val="F8F6F4"/>
          </a:solidFill>
          <a:ln w="12700">
            <a:solidFill>
              <a:srgbClr val="CEBCA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significant</a:t>
            </a:r>
            <a:endParaRPr lang="en-US" sz="2600" dirty="0"/>
          </a:p>
        </p:txBody>
      </p:sp>
      <p:sp>
        <p:nvSpPr>
          <p:cNvPr id="23" name="word-rule"/>
          <p:cNvSpPr/>
          <p:nvPr/>
        </p:nvSpPr>
        <p:spPr>
          <a:xfrm>
            <a:off x="8310677" y="2129028"/>
            <a:ext cx="3149498" cy="0"/>
          </a:xfrm>
          <a:prstGeom prst="line">
            <a:avLst/>
          </a:prstGeom>
          <a:ln w="12700">
            <a:solidFill>
              <a:srgbClr val="CEBCA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important, with effects that lasted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Was the Viking invasion significant? Give reasons.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AF8F6"/>
          </a:solidFill>
          <a:ln w="12700">
            <a:solidFill>
              <a:srgbClr val="DBCEC2"/>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first the Vikings came to Britain to raid.</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Later they began to stay and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settle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In 865 a huge Viking army landed in England.</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Vikings took over Northumbria, Mercia and East Anglia.</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land under Viking rule became known as the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Danelaw</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York was its largest and most important city.</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Vikings built settlements, traded and farmed the land.</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AF8F6"/>
          </a:solidFill>
          <a:ln w="12700">
            <a:solidFill>
              <a:srgbClr val="DBCEC2"/>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Only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Wessex</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in the south, held out against them.</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Its king was Alfred.</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Viking leader Guthrum invaded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Wessex</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and Alfred fled to Somerset.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Alfred built a new army and beat Guthrum at Edington in 878.</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Then he built walled towns called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burhs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to protect his people.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Many people call him Alfred the Great.</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From raiding to settling</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6F0E6"/>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Three kingdoms, one city: Northumbria, Mercia, East Anglia; York.</a:t>
            </a:r>
            <a:endParaRPr lang="en-US" sz="1800" dirty="0"/>
          </a:p>
        </p:txBody>
      </p:sp>
      <p:sp>
        <p:nvSpPr>
          <p:cNvPr id="11" name="point-card"/>
          <p:cNvSpPr/>
          <p:nvPr/>
        </p:nvSpPr>
        <p:spPr>
          <a:xfrm>
            <a:off x="548640" y="1389888"/>
            <a:ext cx="3515258" cy="3964940"/>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At first, the Vikings came to Britain to raid: to steal treasure and goods and sail away.</a:t>
            </a:r>
            <a:endParaRPr lang="en-US" sz="2400" dirty="0"/>
          </a:p>
        </p:txBody>
      </p:sp>
      <p:sp>
        <p:nvSpPr>
          <p:cNvPr id="15" name="point-card"/>
          <p:cNvSpPr/>
          <p:nvPr/>
        </p:nvSpPr>
        <p:spPr>
          <a:xfrm>
            <a:off x="4338218" y="1389888"/>
            <a:ext cx="3515258" cy="3964940"/>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Vikings settled especially in the north and east of England.</a:t>
            </a:r>
            <a:endParaRPr lang="en-US" sz="2400" dirty="0"/>
          </a:p>
        </p:txBody>
      </p:sp>
      <p:sp>
        <p:nvSpPr>
          <p:cNvPr id="19" name="point-card"/>
          <p:cNvSpPr/>
          <p:nvPr/>
        </p:nvSpPr>
        <p:spPr>
          <a:xfrm>
            <a:off x="8127797" y="1389888"/>
            <a:ext cx="3515258" cy="3964940"/>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This changed how people lived and who was in charge.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Danelaw and the mixing of cultures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Significant means important with lasting effects. Language and place names still used today are strong evidence of significance.</a:t>
            </a:r>
            <a:endParaRPr lang="en-US" sz="1800" dirty="0"/>
          </a:p>
        </p:txBody>
      </p:sp>
      <p:sp>
        <p:nvSpPr>
          <p:cNvPr id="11" name="point-card"/>
          <p:cNvSpPr/>
          <p:nvPr/>
        </p:nvSpPr>
        <p:spPr>
          <a:xfrm>
            <a:off x="548640" y="1389888"/>
            <a:ext cx="3515258" cy="3686048"/>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big part of Britain became known as the Danelaw, where Viking rules and ways of life were followed.</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Over time, the Vikings and the local people started living together more peacefully.</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Your lesson asked you to judge how significant the Viking invasion was, on a line from not significant to very significant.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Alfred: the king who should never have been king</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6F0E6"/>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Alfred's story in five beats: sickly child, Rome, books, flight to Somerset, Edington.</a:t>
            </a:r>
            <a:endParaRPr lang="en-US" sz="1800" dirty="0"/>
          </a:p>
        </p:txBody>
      </p:sp>
      <p:sp>
        <p:nvSpPr>
          <p:cNvPr id="11" name="point-card"/>
          <p:cNvSpPr/>
          <p:nvPr/>
        </p:nvSpPr>
        <p:spPr>
          <a:xfrm>
            <a:off x="548640" y="1389888"/>
            <a:ext cx="3515258" cy="3964940"/>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Alfred was a sickly child. He had three older brothers who were all supposed to become king before him, so he should never really have been king at all.</a:t>
            </a:r>
            <a:endParaRPr lang="en-US" sz="2000" dirty="0"/>
          </a:p>
        </p:txBody>
      </p:sp>
      <p:sp>
        <p:nvSpPr>
          <p:cNvPr id="15" name="point-card"/>
          <p:cNvSpPr/>
          <p:nvPr/>
        </p:nvSpPr>
        <p:spPr>
          <a:xfrm>
            <a:off x="4338218" y="1389888"/>
            <a:ext cx="3515258" cy="3964940"/>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Alfred believed that reading and writing were extremely important. He translated many books from Latin, which few people could read, into English, so that more people could understand them.</a:t>
            </a:r>
            <a:endParaRPr lang="en-US" sz="2000" dirty="0"/>
          </a:p>
        </p:txBody>
      </p:sp>
      <p:sp>
        <p:nvSpPr>
          <p:cNvPr id="19" name="point-card"/>
          <p:cNvSpPr/>
          <p:nvPr/>
        </p:nvSpPr>
        <p:spPr>
          <a:xfrm>
            <a:off x="8127797" y="1389888"/>
            <a:ext cx="3515258" cy="3964940"/>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Then Guthrum, a Viking warlord, invaded Wessex. Alfred fled and hid in Somerset, an area the Vikings did not know.</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Alfred's policies, and the title Great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For a judgement question, give your view, two reasons with evidence, and then one sentence for the other side.</a:t>
            </a:r>
            <a:endParaRPr lang="en-US" sz="1800" dirty="0"/>
          </a:p>
        </p:txBody>
      </p:sp>
      <p:sp>
        <p:nvSpPr>
          <p:cNvPr id="11" name="point-card"/>
          <p:cNvSpPr/>
          <p:nvPr/>
        </p:nvSpPr>
        <p:spPr>
          <a:xfrm>
            <a:off x="548640" y="1389888"/>
            <a:ext cx="3515258" cy="3686048"/>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After defeating the Vikings, Alfred introduced policies to make sure Wessex was better prepared if they came again.</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Your lesson asked you to judge how well Alfred dealt with the Vikings.</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Does Alfred deserve to be remembered as Great? Your lesson wants a view with two reasons, and then the opposite view.</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Worked example: Alfred's policies, and the title Great</a:t>
            </a:r>
            <a:endParaRPr lang="en-US" sz="28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19760"/>
          </a:xfrm>
          <a:prstGeom prst="roundRect">
            <a:avLst>
              <a:gd name="adj" fmla="val 14754"/>
            </a:avLst>
          </a:prstGeom>
          <a:solidFill>
            <a:srgbClr val="F6F2EF"/>
          </a:solidFill>
          <a:ln/>
        </p:spPr>
      </p:sp>
      <p:sp>
        <p:nvSpPr>
          <p:cNvPr id="8" name="worked-q"/>
          <p:cNvSpPr txBox="1"/>
          <p:nvPr/>
        </p:nvSpPr>
        <p:spPr>
          <a:xfrm>
            <a:off x="731520" y="1481328"/>
            <a:ext cx="10728655" cy="43688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Write one reason, with evidence and explanation, that Alfred deserves the title Great.</a:t>
            </a:r>
            <a:endParaRPr lang="en-US" sz="2000" dirty="0"/>
          </a:p>
        </p:txBody>
      </p:sp>
      <p:sp>
        <p:nvSpPr>
          <p:cNvPr id="9" name="step-box"/>
          <p:cNvSpPr/>
          <p:nvPr/>
        </p:nvSpPr>
        <p:spPr>
          <a:xfrm>
            <a:off x="548640" y="2192528"/>
            <a:ext cx="11094415" cy="733552"/>
          </a:xfrm>
          <a:prstGeom prst="roundRect">
            <a:avLst>
              <a:gd name="adj" fmla="val 9972"/>
            </a:avLst>
          </a:prstGeom>
          <a:solidFill>
            <a:srgbClr val="FFFFFF"/>
          </a:solidFill>
          <a:ln w="15875">
            <a:solidFill>
              <a:srgbClr val="B69B83"/>
            </a:solidFill>
            <a:prstDash val="solid"/>
          </a:ln>
        </p:spPr>
      </p:sp>
      <p:sp>
        <p:nvSpPr>
          <p:cNvPr id="10" name="step-hex"/>
          <p:cNvSpPr/>
          <p:nvPr/>
        </p:nvSpPr>
        <p:spPr>
          <a:xfrm>
            <a:off x="685800" y="2361336"/>
            <a:ext cx="457200" cy="395935"/>
          </a:xfrm>
          <a:prstGeom prst="hexagon">
            <a:avLst/>
          </a:prstGeom>
          <a:solidFill>
            <a:srgbClr val="7A4A1E"/>
          </a:solidFill>
          <a:ln/>
        </p:spPr>
      </p:sp>
      <p:sp>
        <p:nvSpPr>
          <p:cNvPr id="11" name="step-hex-label"/>
          <p:cNvSpPr txBox="1"/>
          <p:nvPr/>
        </p:nvSpPr>
        <p:spPr>
          <a:xfrm>
            <a:off x="685800" y="2361336"/>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192528"/>
            <a:ext cx="10180015" cy="73355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Point: One reason Alfred deserves to be remembered as Great is that he made Wessex safer against future Viking attacks.</a:t>
            </a:r>
            <a:endParaRPr lang="en-US" sz="1800" dirty="0"/>
          </a:p>
        </p:txBody>
      </p:sp>
      <p:sp>
        <p:nvSpPr>
          <p:cNvPr id="13" name="step-box"/>
          <p:cNvSpPr/>
          <p:nvPr/>
        </p:nvSpPr>
        <p:spPr>
          <a:xfrm>
            <a:off x="548640" y="2999232"/>
            <a:ext cx="11094415" cy="733552"/>
          </a:xfrm>
          <a:prstGeom prst="roundRect">
            <a:avLst>
              <a:gd name="adj" fmla="val 9972"/>
            </a:avLst>
          </a:prstGeom>
          <a:solidFill>
            <a:srgbClr val="FFFFFF"/>
          </a:solidFill>
          <a:ln w="15875">
            <a:solidFill>
              <a:srgbClr val="B69B83"/>
            </a:solidFill>
            <a:prstDash val="solid"/>
          </a:ln>
        </p:spPr>
      </p:sp>
      <p:sp>
        <p:nvSpPr>
          <p:cNvPr id="14" name="step-hex"/>
          <p:cNvSpPr/>
          <p:nvPr/>
        </p:nvSpPr>
        <p:spPr>
          <a:xfrm>
            <a:off x="685800" y="3168040"/>
            <a:ext cx="457200" cy="395935"/>
          </a:xfrm>
          <a:prstGeom prst="hexagon">
            <a:avLst/>
          </a:prstGeom>
          <a:solidFill>
            <a:srgbClr val="7A4A1E"/>
          </a:solidFill>
          <a:ln/>
        </p:spPr>
      </p:sp>
      <p:sp>
        <p:nvSpPr>
          <p:cNvPr id="15" name="step-hex-label"/>
          <p:cNvSpPr txBox="1"/>
          <p:nvPr/>
        </p:nvSpPr>
        <p:spPr>
          <a:xfrm>
            <a:off x="685800" y="316804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2999232"/>
            <a:ext cx="10180015" cy="73355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Evidence: he built burhs, towns with high walls and guard towers, and kept half of his army active at all times.</a:t>
            </a:r>
            <a:endParaRPr lang="en-US" sz="1800" dirty="0"/>
          </a:p>
        </p:txBody>
      </p:sp>
      <p:sp>
        <p:nvSpPr>
          <p:cNvPr id="17" name="step-box"/>
          <p:cNvSpPr/>
          <p:nvPr/>
        </p:nvSpPr>
        <p:spPr>
          <a:xfrm>
            <a:off x="548640" y="3805936"/>
            <a:ext cx="11094415" cy="733552"/>
          </a:xfrm>
          <a:prstGeom prst="roundRect">
            <a:avLst>
              <a:gd name="adj" fmla="val 9972"/>
            </a:avLst>
          </a:prstGeom>
          <a:solidFill>
            <a:srgbClr val="FFFFFF"/>
          </a:solidFill>
          <a:ln w="15875">
            <a:solidFill>
              <a:srgbClr val="B69B83"/>
            </a:solidFill>
            <a:prstDash val="solid"/>
          </a:ln>
        </p:spPr>
      </p:sp>
      <p:sp>
        <p:nvSpPr>
          <p:cNvPr id="18" name="step-hex"/>
          <p:cNvSpPr/>
          <p:nvPr/>
        </p:nvSpPr>
        <p:spPr>
          <a:xfrm>
            <a:off x="685800" y="3974744"/>
            <a:ext cx="457200" cy="395935"/>
          </a:xfrm>
          <a:prstGeom prst="hexagon">
            <a:avLst/>
          </a:prstGeom>
          <a:solidFill>
            <a:srgbClr val="7A4A1E"/>
          </a:solidFill>
          <a:ln/>
        </p:spPr>
      </p:sp>
      <p:sp>
        <p:nvSpPr>
          <p:cNvPr id="19" name="step-hex-label"/>
          <p:cNvSpPr txBox="1"/>
          <p:nvPr/>
        </p:nvSpPr>
        <p:spPr>
          <a:xfrm>
            <a:off x="685800" y="397474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805936"/>
            <a:ext cx="10180015" cy="73355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Explain: this meant that when Vikings attacked again, people had somewhere safe to go and an army ready to fight, so Wessex was not overrun.</a:t>
            </a:r>
            <a:endParaRPr lang="en-US" sz="1800" dirty="0"/>
          </a:p>
        </p:txBody>
      </p:sp>
      <p:sp>
        <p:nvSpPr>
          <p:cNvPr id="21" name="step-box"/>
          <p:cNvSpPr/>
          <p:nvPr/>
        </p:nvSpPr>
        <p:spPr>
          <a:xfrm>
            <a:off x="548640" y="4612640"/>
            <a:ext cx="11094415" cy="469392"/>
          </a:xfrm>
          <a:prstGeom prst="roundRect">
            <a:avLst>
              <a:gd name="adj" fmla="val 15584"/>
            </a:avLst>
          </a:prstGeom>
          <a:solidFill>
            <a:srgbClr val="FFFFFF"/>
          </a:solidFill>
          <a:ln w="15875">
            <a:solidFill>
              <a:srgbClr val="B69B83"/>
            </a:solidFill>
            <a:prstDash val="solid"/>
          </a:ln>
        </p:spPr>
      </p:sp>
      <p:sp>
        <p:nvSpPr>
          <p:cNvPr id="22" name="step-hex"/>
          <p:cNvSpPr/>
          <p:nvPr/>
        </p:nvSpPr>
        <p:spPr>
          <a:xfrm>
            <a:off x="685800" y="4649368"/>
            <a:ext cx="457200" cy="395935"/>
          </a:xfrm>
          <a:prstGeom prst="hexagon">
            <a:avLst/>
          </a:prstGeom>
          <a:solidFill>
            <a:srgbClr val="7A4A1E"/>
          </a:solidFill>
          <a:ln/>
        </p:spPr>
      </p:sp>
      <p:sp>
        <p:nvSpPr>
          <p:cNvPr id="23" name="step-hex-label"/>
          <p:cNvSpPr txBox="1"/>
          <p:nvPr/>
        </p:nvSpPr>
        <p:spPr>
          <a:xfrm>
            <a:off x="685800" y="4649368"/>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612640"/>
            <a:ext cx="10180015" cy="46939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Link back: that is why many people think the title Great is deserved.</a:t>
            </a:r>
            <a:endParaRPr lang="en-US" sz="1800" dirty="0"/>
          </a:p>
        </p:txBody>
      </p:sp>
      <p:sp>
        <p:nvSpPr>
          <p:cNvPr id="25" name="worked-answer"/>
          <p:cNvSpPr/>
          <p:nvPr/>
        </p:nvSpPr>
        <p:spPr>
          <a:xfrm>
            <a:off x="548640" y="5264912"/>
            <a:ext cx="11094415" cy="831088"/>
          </a:xfrm>
          <a:prstGeom prst="roundRect">
            <a:avLst>
              <a:gd name="adj" fmla="val 16504"/>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Point, evidence, explain: Alfred made Wessex safer; he built burhs and kept half the army ready; so Wessex could resist future attacks, which is a lasting achievement.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Same task, three ways in: From the Great Heathen Army to Edington</a:t>
            </a:r>
            <a:endParaRPr lang="en-US" sz="24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84732"/>
          </a:xfrm>
          <a:prstGeom prst="roundRect">
            <a:avLst>
              <a:gd name="adj" fmla="val 7117"/>
            </a:avLst>
          </a:prstGeom>
          <a:solidFill>
            <a:srgbClr val="FFFFFF"/>
          </a:solidFill>
          <a:ln w="31750">
            <a:solidFill>
              <a:srgbClr val="B8862B"/>
            </a:solidFill>
            <a:prstDash val="solid"/>
          </a:ln>
        </p:spPr>
      </p:sp>
      <p:sp>
        <p:nvSpPr>
          <p:cNvPr id="8" name="task-hex"/>
          <p:cNvSpPr/>
          <p:nvPr/>
        </p:nvSpPr>
        <p:spPr>
          <a:xfrm>
            <a:off x="777240" y="1715506"/>
            <a:ext cx="731520" cy="633496"/>
          </a:xfrm>
          <a:prstGeom prst="hexagon">
            <a:avLst/>
          </a:prstGeom>
          <a:solidFill>
            <a:srgbClr val="B8862B"/>
          </a:solidFill>
          <a:ln/>
        </p:spPr>
      </p:sp>
      <p:sp>
        <p:nvSpPr>
          <p:cNvPr id="9" name="task-hex-label"/>
          <p:cNvSpPr txBox="1"/>
          <p:nvPr/>
        </p:nvSpPr>
        <p:spPr>
          <a:xfrm>
            <a:off x="777240" y="171550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75793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10185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The Great Heathen Army landed in England in 865. Alfred defeated Guthrum at Edington in 878. How many years passed between the two events?</a:t>
            </a:r>
            <a:endParaRPr lang="en-US" sz="2000" dirty="0"/>
          </a:p>
          <a:p>
            <a:pPr algn="ctr" indent="0" marL="0">
              <a:buNone/>
            </a:pPr>
            <a:r>
              <a:rPr lang="en-US" sz="1800" b="1" dirty="0">
                <a:solidFill>
                  <a:srgbClr val="7A4A1E"/>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 years</a:t>
            </a:r>
            <a:endParaRPr lang="en-US" sz="2000" dirty="0"/>
          </a:p>
        </p:txBody>
      </p:sp>
      <p:sp>
        <p:nvSpPr>
          <p:cNvPr id="12" name="col-Support"/>
          <p:cNvSpPr/>
          <p:nvPr/>
        </p:nvSpPr>
        <p:spPr>
          <a:xfrm>
            <a:off x="548640" y="2948940"/>
            <a:ext cx="3515258" cy="3195828"/>
          </a:xfrm>
          <a:prstGeom prst="roundRect">
            <a:avLst>
              <a:gd name="adj" fmla="val 1717"/>
            </a:avLst>
          </a:prstGeom>
          <a:solidFill>
            <a:srgbClr val="F6F2EF"/>
          </a:solidFill>
          <a:ln/>
        </p:spPr>
      </p:sp>
      <p:sp>
        <p:nvSpPr>
          <p:cNvPr id="13" name="col-hex"/>
          <p:cNvSpPr/>
          <p:nvPr/>
        </p:nvSpPr>
        <p:spPr>
          <a:xfrm>
            <a:off x="658368" y="302209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89020"/>
            <a:ext cx="3240938" cy="2446020"/>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Write the later date first: 878.</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Subtract the earlier date: 878 − 865.</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Both are in the 800s, so just do 78 − 65 = 13.</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it makes sense: a little over a decade.</a:t>
            </a:r>
            <a:endParaRPr lang="en-US" sz="1800" dirty="0"/>
          </a:p>
        </p:txBody>
      </p:sp>
      <p:sp>
        <p:nvSpPr>
          <p:cNvPr id="17" name="col-Core"/>
          <p:cNvSpPr/>
          <p:nvPr/>
        </p:nvSpPr>
        <p:spPr>
          <a:xfrm>
            <a:off x="4338218" y="2948940"/>
            <a:ext cx="3515258" cy="3195828"/>
          </a:xfrm>
          <a:prstGeom prst="roundRect">
            <a:avLst>
              <a:gd name="adj" fmla="val 1717"/>
            </a:avLst>
          </a:prstGeom>
          <a:solidFill>
            <a:srgbClr val="E6DDD4"/>
          </a:solidFill>
          <a:ln/>
        </p:spPr>
      </p:sp>
      <p:sp>
        <p:nvSpPr>
          <p:cNvPr id="18" name="col-hex"/>
          <p:cNvSpPr/>
          <p:nvPr/>
        </p:nvSpPr>
        <p:spPr>
          <a:xfrm>
            <a:off x="4447946" y="302209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589020"/>
            <a:ext cx="3240938" cy="2446020"/>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Later date minus earlier date. Both are in the 800s, so work with the last two digits.</a:t>
            </a:r>
            <a:endParaRPr lang="en-US" sz="1800" dirty="0"/>
          </a:p>
        </p:txBody>
      </p:sp>
      <p:sp>
        <p:nvSpPr>
          <p:cNvPr id="22" name="col-Stretch"/>
          <p:cNvSpPr/>
          <p:nvPr/>
        </p:nvSpPr>
        <p:spPr>
          <a:xfrm>
            <a:off x="8127797" y="2948940"/>
            <a:ext cx="3515258" cy="3195828"/>
          </a:xfrm>
          <a:prstGeom prst="roundRect">
            <a:avLst>
              <a:gd name="adj" fmla="val 1717"/>
            </a:avLst>
          </a:prstGeom>
          <a:solidFill>
            <a:srgbClr val="7A4A1E"/>
          </a:solidFill>
          <a:ln/>
        </p:spPr>
      </p:sp>
      <p:sp>
        <p:nvSpPr>
          <p:cNvPr id="23" name="col-hex"/>
          <p:cNvSpPr/>
          <p:nvPr/>
        </p:nvSpPr>
        <p:spPr>
          <a:xfrm>
            <a:off x="8237525" y="302209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589020"/>
            <a:ext cx="3240938" cy="2446020"/>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what the thirteen-year gap tells you about how hard the Anglo-Saxon kingdoms found it to stop the Vikings.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Alfred's story in order</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200" b="1" dirty="0">
                <a:solidFill>
                  <a:srgbClr val="1E2229"/>
                </a:solidFill>
                <a:latin typeface="Calibri" pitchFamily="34" charset="0"/>
                <a:ea typeface="Calibri" pitchFamily="34" charset="-122"/>
                <a:cs typeface="Calibri" pitchFamily="34" charset="-120"/>
              </a:rPr>
              <a:t>Put the events of Alfred's life in the order your lesson gave them.</a:t>
            </a:r>
            <a:endParaRPr lang="en-US" sz="2200" dirty="0"/>
          </a:p>
          <a:p>
            <a:pPr algn="l" indent="0" marL="0">
              <a:spcAft>
                <a:spcPts val="2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000" dirty="0">
                <a:solidFill>
                  <a:srgbClr val="1E2229"/>
                </a:solidFill>
                <a:latin typeface="Calibri" pitchFamily="34" charset="0"/>
                <a:ea typeface="Calibri" pitchFamily="34" charset="-122"/>
                <a:cs typeface="Calibri" pitchFamily="34" charset="-120"/>
              </a:rPr>
              <a:t>The Viking warlord Guthrum invades Wessex</a:t>
            </a:r>
            <a:endParaRPr lang="en-US" sz="2200" dirty="0"/>
          </a:p>
          <a:p>
            <a:pPr algn="l" indent="0" marL="0">
              <a:spcAft>
                <a:spcPts val="2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000" dirty="0">
                <a:solidFill>
                  <a:srgbClr val="1E2229"/>
                </a:solidFill>
                <a:latin typeface="Calibri" pitchFamily="34" charset="0"/>
                <a:ea typeface="Calibri" pitchFamily="34" charset="-122"/>
                <a:cs typeface="Calibri" pitchFamily="34" charset="-120"/>
              </a:rPr>
              <a:t>Alfred defeats Guthrum at Edington and traps the Vikings until they surrender</a:t>
            </a:r>
            <a:endParaRPr lang="en-US" sz="2200" dirty="0"/>
          </a:p>
          <a:p>
            <a:pPr algn="l" indent="0" marL="0">
              <a:spcAft>
                <a:spcPts val="2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000" dirty="0">
                <a:solidFill>
                  <a:srgbClr val="1E2229"/>
                </a:solidFill>
                <a:latin typeface="Calibri" pitchFamily="34" charset="0"/>
                <a:ea typeface="Calibri" pitchFamily="34" charset="-122"/>
                <a:cs typeface="Calibri" pitchFamily="34" charset="-120"/>
              </a:rPr>
              <a:t>Alfred builds burhs, collects tax and keeps half of his army always active</a:t>
            </a:r>
            <a:endParaRPr lang="en-US" sz="2200" dirty="0"/>
          </a:p>
          <a:p>
            <a:pPr algn="l" indent="0" marL="0">
              <a:spcAft>
                <a:spcPts val="2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000" dirty="0">
                <a:solidFill>
                  <a:srgbClr val="1E2229"/>
                </a:solidFill>
                <a:latin typeface="Calibri" pitchFamily="34" charset="0"/>
                <a:ea typeface="Calibri" pitchFamily="34" charset="-122"/>
                <a:cs typeface="Calibri" pitchFamily="34" charset="-120"/>
              </a:rPr>
              <a:t>Alfred hides in Somerset and builds a stronger Saxon army</a:t>
            </a:r>
            <a:endParaRPr lang="en-US" sz="2200" dirty="0"/>
          </a:p>
          <a:p>
            <a:pPr algn="l" indent="0" marL="0">
              <a:spcAft>
                <a:spcPts val="200"/>
              </a:spcAft>
              <a:buNone/>
            </a:pPr>
            <a:r>
              <a:rPr lang="en-US" sz="20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000" dirty="0">
                <a:solidFill>
                  <a:srgbClr val="1E2229"/>
                </a:solidFill>
                <a:latin typeface="Calibri" pitchFamily="34" charset="0"/>
                <a:ea typeface="Calibri" pitchFamily="34" charset="-122"/>
                <a:cs typeface="Calibri" pitchFamily="34" charset="-120"/>
              </a:rPr>
              <a:t>Alfred becomes King of Wessex and translates books from Latin into English</a:t>
            </a:r>
            <a:endParaRPr lang="en-US" sz="2200" dirty="0"/>
          </a:p>
          <a:p>
            <a:pPr algn="l" indent="0" marL="0">
              <a:spcAft>
                <a:spcPts val="200"/>
              </a:spcAft>
              <a:buNone/>
            </a:pPr>
            <a:r>
              <a:rPr lang="en-US" sz="2000" b="1" dirty="0">
                <a:solidFill>
                  <a:srgbClr val="B8862B"/>
                </a:solidFill>
                <a:latin typeface="Calibri" pitchFamily="34" charset="0"/>
                <a:ea typeface="Calibri" pitchFamily="34" charset="-122"/>
                <a:cs typeface="Calibri" pitchFamily="34" charset="-120"/>
              </a:rPr>
              <a:t>F   </a:t>
            </a:r>
            <a:pPr algn="l" indent="0" marL="0">
              <a:spcAft>
                <a:spcPts val="200"/>
              </a:spcAft>
              <a:buNone/>
            </a:pPr>
            <a:r>
              <a:rPr lang="en-US" sz="2000" dirty="0">
                <a:solidFill>
                  <a:srgbClr val="1E2229"/>
                </a:solidFill>
                <a:latin typeface="Calibri" pitchFamily="34" charset="0"/>
                <a:ea typeface="Calibri" pitchFamily="34" charset="-122"/>
                <a:cs typeface="Calibri" pitchFamily="34" charset="-120"/>
              </a:rPr>
              <a:t>Alfred is a sickly child with three older brothers who are all meant to be king before him</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Same task, three ways in: Alfred's story in order</a:t>
            </a:r>
            <a:endParaRPr lang="en-US" sz="30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Alfred's story in order</a:t>
            </a:r>
            <a:endParaRPr lang="en-US" sz="2000" dirty="0"/>
          </a:p>
        </p:txBody>
      </p:sp>
      <p:sp>
        <p:nvSpPr>
          <p:cNvPr id="12" name="col-Support"/>
          <p:cNvSpPr/>
          <p:nvPr/>
        </p:nvSpPr>
        <p:spPr>
          <a:xfrm>
            <a:off x="548640" y="2395728"/>
            <a:ext cx="5602443" cy="3749040"/>
          </a:xfrm>
          <a:prstGeom prst="roundRect">
            <a:avLst>
              <a:gd name="adj" fmla="val 1463"/>
            </a:avLst>
          </a:prstGeom>
          <a:solidFill>
            <a:srgbClr val="F6F2EF"/>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Childhood comes first: the sickly boy with three older brothers.</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He has to become king before he can act as king, so becoming king and translating books comes next.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Guthrum must invade before Alfred can flee, and Alfred must flee and build an army before he can win.</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policies to prepare for the future come after the victory.</a:t>
            </a:r>
            <a:endParaRPr lang="en-US" sz="1800" dirty="0"/>
          </a:p>
        </p:txBody>
      </p:sp>
      <p:sp>
        <p:nvSpPr>
          <p:cNvPr id="17" name="col-Core"/>
          <p:cNvSpPr/>
          <p:nvPr/>
        </p:nvSpPr>
        <p:spPr>
          <a:xfrm>
            <a:off x="6425403" y="2395728"/>
            <a:ext cx="2471666" cy="3749040"/>
          </a:xfrm>
          <a:prstGeom prst="roundRect">
            <a:avLst>
              <a:gd name="adj" fmla="val 2220"/>
            </a:avLst>
          </a:prstGeom>
          <a:solidFill>
            <a:srgbClr val="E6DDD4"/>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Child, king, invasion, hiding, victory, policies.</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7A4A1E"/>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how the time in Somerset made the victory at Edington possible, and how the victory made the burhs possible.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615184"/>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Which three Anglo-Saxon kingdoms did the Vikings invade and settle in?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Northumbria, Wessex and Essex</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Mercia, Wales and Cornwall</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Northumbria, Mercia and East Anglia</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Wessex, Kent and Sussex</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AF8F6"/>
          </a:solidFill>
          <a:ln w="12700">
            <a:solidFill>
              <a:srgbClr val="C0AA95"/>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Answers: From the Great Heathen Army to Edington</a:t>
            </a:r>
            <a:endParaRPr lang="en-US" sz="28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The Great Heathen Army landed in England in 865. Alfred defeated Guthrum at Edington in 878. How many years passed between the two events?</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13 years</a:t>
            </a:r>
            <a:endParaRPr lang="en-US" sz="1800" dirty="0"/>
          </a:p>
        </p:txBody>
      </p:sp>
      <p:sp>
        <p:nvSpPr>
          <p:cNvPr id="10" name="why-panel"/>
          <p:cNvSpPr/>
          <p:nvPr/>
        </p:nvSpPr>
        <p:spPr>
          <a:xfrm>
            <a:off x="7223760" y="1389888"/>
            <a:ext cx="4419295" cy="4754880"/>
          </a:xfrm>
          <a:prstGeom prst="roundRect">
            <a:avLst>
              <a:gd name="adj" fmla="val 1035"/>
            </a:avLst>
          </a:prstGeom>
          <a:solidFill>
            <a:srgbClr val="F6F2EF"/>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878 − 865 = 13 years. The Vikings had thirteen years of conquest before Alfred's victory at Edington turned the tide.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Alfred's story in order</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Alfred is a sickly child with three older brothers who are all meant to be king before him  (F)</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Alfred becomes King of Wessex and translates books from Latin into English  (E)</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The Viking warlord Guthrum invades Wessex  (A)</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Alfred hides in Somerset and builds a stronger Saxon army  (D)</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Alfred defeats Guthrum at Edington and traps the Vikings until they surrender  (B)</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6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Alfred builds burhs, collects tax and keeps half of his army always active  (C)</a:t>
            </a:r>
            <a:endParaRPr lang="en-US" sz="1800" dirty="0"/>
          </a:p>
        </p:txBody>
      </p:sp>
      <p:sp>
        <p:nvSpPr>
          <p:cNvPr id="10" name="why-panel"/>
          <p:cNvSpPr/>
          <p:nvPr/>
        </p:nvSpPr>
        <p:spPr>
          <a:xfrm>
            <a:off x="7223760" y="1389888"/>
            <a:ext cx="4419295" cy="4754880"/>
          </a:xfrm>
          <a:prstGeom prst="roundRect">
            <a:avLst>
              <a:gd name="adj" fmla="val 1035"/>
            </a:avLst>
          </a:prstGeom>
          <a:solidFill>
            <a:srgbClr val="F6F2EF"/>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Sickly child; king and translator; Guthrum invades; Alfred hides in Somerset and builds an army; victory at Edington; then burhs, tax and a standing army to prepare for the future.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three Anglo-Saxon kingdoms did the Vikings invade and settle in?</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C   Northumbria, Mercia and East Anglia</a:t>
            </a:r>
            <a:endParaRPr lang="en-US" sz="1800" dirty="0"/>
          </a:p>
        </p:txBody>
      </p:sp>
      <p:sp>
        <p:nvSpPr>
          <p:cNvPr id="10" name="why-panel"/>
          <p:cNvSpPr/>
          <p:nvPr/>
        </p:nvSpPr>
        <p:spPr>
          <a:xfrm>
            <a:off x="7223760" y="1389888"/>
            <a:ext cx="4419295" cy="4754880"/>
          </a:xfrm>
          <a:prstGeom prst="roundRect">
            <a:avLst>
              <a:gd name="adj" fmla="val 1035"/>
            </a:avLst>
          </a:prstGeom>
          <a:solidFill>
            <a:srgbClr val="F6F2EF"/>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Vikings settled in the north and east: Northumbria, Mercia and East Anglia. Wessex, in the south, held out under Alfred.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6F2EF"/>
      </a:lt2>
      <a:accent1>
        <a:srgbClr val="7A4A1E"/>
      </a:accent1>
      <a:accent2>
        <a:srgbClr val="B8862B"/>
      </a:accent2>
      <a:accent3>
        <a:srgbClr val="AF9278"/>
      </a:accent3>
      <a:accent4>
        <a:srgbClr val="815E1E"/>
      </a:accent4>
      <a:accent5>
        <a:srgbClr val="4A505C"/>
      </a:accent5>
      <a:accent6>
        <a:srgbClr val="DEC69B"/>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Vikings and Anglo-Saxons · Chapter 5: Viking rule, the Danelaw and Alfred the Great</dc:title>
  <dc:subject>History · Year 7</dc:subject>
  <dc:creator>Dr Vitor Merissi de Carvalho</dc:creator>
  <cp:lastModifiedBy>Dr Vitor Merissi de Carvalho</cp:lastModifiedBy>
  <cp:revision>1</cp:revision>
  <dcterms:created xsi:type="dcterms:W3CDTF">2026-10-19T06:08:05Z</dcterms:created>
  <dcterms:modified xsi:type="dcterms:W3CDTF">2026-10-19T06:08:05Z</dcterms:modified>
</cp:coreProperties>
</file>