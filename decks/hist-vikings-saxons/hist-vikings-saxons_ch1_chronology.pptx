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3bc2cb-efa2-7bca-4feb-15480ead5457}">
          <p14:sldIdLst>
            <p14:sldId id="256"/>
          </p14:sldIdLst>
        </p14:section>
        <p14:section name="Gate" id="{39b3aa73-3b40-d834-12c0-b8cf41e4d347}">
          <p14:sldIdLst>
            <p14:sldId id="257"/>
            <p14:sldId id="258"/>
          </p14:sldIdLst>
        </p14:section>
        <p14:section name="Pre-teach" id="{4a3272cb-0330-ac87-acfe-8a039518c03d}">
          <p14:sldIdLst>
            <p14:sldId id="259"/>
            <p14:sldId id="260"/>
          </p14:sldIdLst>
        </p14:section>
        <p14:section name="Read-along" id="{16800b79-3d2a-0a0d-5d2d-49976f560db8}">
          <p14:sldIdLst>
            <p14:sldId id="261"/>
            <p14:sldId id="262"/>
          </p14:sldIdLst>
        </p14:section>
        <p14:section name="Teach" id="{6ce2084b-7b3b-448e-70cd-f47c3d0c6bc2}">
          <p14:sldIdLst>
            <p14:sldId id="263"/>
            <p14:sldId id="264"/>
            <p14:sldId id="265"/>
            <p14:sldId id="266"/>
            <p14:sldId id="267"/>
          </p14:sldIdLst>
        </p14:section>
        <p14:section name="Routes" id="{a2e19642-ac2f-1a06-875f-43152cac0e09}">
          <p14:sldIdLst>
            <p14:sldId id="268"/>
            <p14:sldId id="269"/>
            <p14:sldId id="270"/>
          </p14:sldIdLst>
        </p14:section>
        <p14:section name="Close" id="{03b14b55-a327-3818-a511-89e1413c59a4}">
          <p14:sldIdLst>
            <p14:sldId id="271"/>
          </p14:sldIdLst>
        </p14:section>
        <p14:section name="Answers" id="{83016185-712b-3375-4bbc-75e3e5cfab3c}">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Chronology: putting the past in order. What chronology means, how BC and AD work, how to find the century a year belongs to, and why the order of events matters.
This deck covers the department's lesson: 1 (Introduction, Chronology and Sources: What is chronology, how do we put dates in order, and what can a source tell us?).
Read the big question aloud: "Who were the Vikings, and how do historians use chronology and sources to find out?"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it mean to put events in chronological order?  →  C   To arrange them from the oldest to the most recent
2. Which century is the year 1792 in? Give the number of the century.  →  18 th century
3. For BC dates, the bigger the number, the ___ back in time the event happened.  →  further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To arrange them from the oldest to the most recent. Chronological order runs from the oldest event to the most recent: it is the order in which things actually happened.
2. 18 th century. Cover the last two digits of 1792 to leave 17, then add one: 18. So 1792 is in the eighteenth century.
3. further. BC years count backwards from the birth of Jesus, so 332 BC is further back than 27 BC.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chronology: the study of time, and putting events in order. Example: "Chronology helps us see which event came first."
• chronological order: from the oldest event to the most recent. Example: "Put the dates in chronological order, oldest first."
• BC: Before Christ, the years before the birth of Jesus. Example: "The Romans made their empire in 27 BC."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AD: Anno Domini, the years after the birth of Jesus. Example: "The Romans left Britain in AD 410."
• decade: a period of ten years. Example: "The 1990s were a decade."
• century: a period of one hundred years. Example: "The year 1459 is in the fifteenth century."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History is the study of the past.
2. To study the past we need to know the order things happened in.
3. Chronology is the study of time.
4. Chronological order means from the oldest event to the most recent.
5. The Romans left Britain in 410.
6. The Battle of Hastings was in 1066.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Great Fire of London was in 1666.
8. Dates before the birth of Jesus are called BC.
9. Dates after it are called AD.
10. A decade is ten years and a century is one hundred years.
11. The year 1459 is in the fifteenth century.
12. Getting the order right matters because a cause always comes before its effect.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chronology?. Say it in your own words, then check understanding with a quick question: ask a pupil from the pre-teach group first, since they met these words and ideas before the lesson. Pupils try to recall before you re-explain.
Chronology is the study of time. When historians put events in chronological order, they arrange them from the oldest to the most recent. It sounds simple, but it is the first skill every historian needs, because you cannot explain the past until you know what happened first.
Your first lesson used six events to practise this: the fall of the Roman Empire in 476, the Battle of Hastings in 1066, the Peasants' Revolt in England in 1381, the Great Fire of London in 1666, the abolition of slavery across the British Empire in 1833, and the death of Queen Elizabeth II in 2022. Put them on a line from oldest to most recent and you have a timeline.
A timeline is only useful if every date is in the right place. One date out of order and the whole story changes, so historians check dates carefully before they say anything about causes.
Tip: Oldest on the left, most recent on the right. If you draw it the other way round, a reader will misread every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BC and AD: counting from a zero point. Say it in your own words, then check understanding with a quick question: ask a pupil from the pre-teach group first, since they met these words and ideas before the lesson. Pupils try to recall before you re-explain.
Our calendar counts from the birth of Jesus Christ. Years after it are AD, which is short for the Latin words Anno Domini, meaning in the year of the Lord. Years before it are BC, Before Christ. So the Romans left Britain in AD 410, but Alexander the Great conquered Egypt in 332 BC and the Roman Empire was created in 27 BC.
Here is the part that catches people out. For AD dates, the bigger the number, the more recent the event: 1666 is more recent than 410. For BC dates it is the other way round: the bigger the number, the further back in time. So 332 BC is older than 27 BC, and the dinosaurs, around 240 million years BC, are older than everything.
Your lesson asked whether we should use the birth of Jesus to measure time at all. Many historians now write BCE and CE, meaning Before the Common Era and Common Era. The numbers are exactly the same; only the letters change. You will see both in books, so learn to read both.
Worked example — model it step by step, thinking aloud: Put these dates in chronological order: 500 BC, 567, 250 BC, 2010, 3000 BC, 1552. (1) Separate the BC dates from the AD dates. BC: 3000 BC, 500 BC, 250 BC. AD: 567, 1552, 2010. (2) All BC dates come before all AD dates, so the BC group goes first. (3) Inside the BC group the biggest number is oldest: 3000 BC, then 500 BC, then 250 BC. (4) Inside the AD group the smallest number is oldest: 567, then 1552, then 2010. Answer: 3000 BC, 500 BC, 250 BC, 567, 1552, 2010.
Tip: There is no year zero. The year after 1 BC is AD 1. Your worksheet shows a zero point between BC and AD; it is a line, not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BC and AD: counting from a zero point. Say it in your own words, then check understanding with a quick question: ask a pupil from the pre-teach group first, since they met these words and ideas before the lesson. Pupils try to recall before you re-explain.
Our calendar counts from the birth of Jesus Christ. Years after it are AD, which is short for the Latin words Anno Domini, meaning in the year of the Lord. Years before it are BC, Before Christ. So the Romans left Britain in AD 410, but Alexander the Great conquered Egypt in 332 BC and the Roman Empire was created in 27 BC.
Here is the part that catches people out. For AD dates, the bigger the number, the more recent the event: 1666 is more recent than 410. For BC dates it is the other way round: the bigger the number, the further back in time. So 332 BC is older than 27 BC, and the dinosaurs, around 240 million years BC, are older than everything.
Your lesson asked whether we should use the birth of Jesus to measure time at all. Many historians now write BCE and CE, meaning Before the Common Era and Common Era. The numbers are exactly the same; only the letters change. You will see both in books, so learn to read both.
Worked example — model it step by step, thinking aloud: Put these dates in chronological order: 500 BC, 567, 250 BC, 2010, 3000 BC, 1552. (1) Separate the BC dates from the AD dates. BC: 3000 BC, 500 BC, 250 BC. AD: 567, 1552, 2010. (2) All BC dates come before all AD dates, so the BC group goes first. (3) Inside the BC group the biggest number is oldest: 3000 BC, then 500 BC, then 250 BC. (4) Inside the AD group the smallest number is oldest: 567, then 1552, then 2010. Answer: 3000 BC, 500 BC, 250 BC, 567, 1552, 2010.
Tip: There is no year zero. The year after 1 BC is AD 1. Your worksheet shows a zero point between BC and AD; it is a line, not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Decades and centuries. Say it in your own words, then check understanding with a quick question: ask a pupil from the pre-teach group first, since they met these words and ideas before the lesson. Pupils try to recall before you re-explain.
A decade is ten years. A century is one hundred years. Historians often talk in centuries because a single year is too small to describe a whole period: we say the Vikings raided England in the eighth and ninth centuries, not in a list of dates.
Your lesson gives a quick method for finding a century: cover up the last two digits of the year and add one. For 1459, cover the 59 to leave 14, then add one: the fifteenth century. For 1792, cover the 92 to leave 17, add one: the eighteenth century. For 42 there is nothing left when you cover two digits, so 0 plus one gives the first century.
The method works because the first century ran from year 1 to year 100, so every century finishes at a year ending in 00. That gives one exception to remember: a year that ends in 00 belongs to the century before. The year 1900 is in the nineteenth century, not the twentieth, because the nineteenth century ran from 1801 to 1900.
Worked example — model it step by step, thinking aloud: Which century is the year 1675 in? (1) Cover the last two digits: 1675 becomes 16. (2) Add one: 16 + 1 = 17. (3) So 1675 is in the seventeenth century. (4) Check: the seventeenth century runs from 1601 to 1700, and 1675 sits inside it. Answer: The seventeenth century.
Tip: Cover two digits, add one. Then check your answer by saying the century's first and last years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order matters: cause and effect. Say it in your own words, then check understanding with a quick question: ask a pupil from the pre-teach group first, since they met these words and ideas before the lesson. Pupils try to recall before you re-explain.
Your lesson's challenge asked why it matters that we get events in the right order. The answer is cause and effect. A cause is what makes something happen; an effect is what happens as a result. A cause must come before its effect, never after.
Suppose someone said the Vikings attacked Lindisfarne because of the Battle of Hastings. Chronology stops that idea at once: the raid on Lindisfarne was in 793 and Hastings was in 1066, more than two and a half centuries later. An event cannot be caused by something that had not yet happened.
That is why every unit in this course starts with dates. Once you know the order, you can start asking the real historical questions: why did this happen, and what did it lead to?
Tip: When you write about a cause, check the date of the cause is earlier than the date of the effect. If it is not, you have them the wrong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Oldest to most recent.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six dates in chronological order, oldest first.
Support — work through the steps with the group: (1) Sort the dates into two piles: BC and AD. Every BC date comes before every AD date. (2) In the BC pile the biggest number is the oldest, so it goes first. (3) In the AD pile the smallest number is the oldest. (4) Read your final list and check it runs BC first, then AD, with the numbers falling and then rising.
Parallel worked example for Support (model it, do not give the task answer): Put these in chronological order: 1066, 55 BC, 410, 800 BC. BC pile: 800 BC, 55 BC. The bigger BC number is older, so 800 BC first.; AD pile: 410, 1066. The smaller AD number is older, so 410 first.; Join them: BC pile, then AD pile.. Answer: 800 BC, 55 BC, 410, 1066.
Core — reveal the hint only on request: BC before AD. Within BC, big numbers are oldest; within AD, small numbers are oldest.
Stretch — no help; when finished: Explain, in two sentences, why the biggest BC number is the oldest date but the biggest AD number is the most recent.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Oldest to most recent.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six dates in chronological order, oldest first.
Support — work through the steps with the group: (1) Sort the dates into two piles: BC and AD. Every BC date comes before every AD date. (2) In the BC pile the biggest number is the oldest, so it goes first. (3) In the AD pile the smallest number is the oldest. (4) Read your final list and check it runs BC first, then AD, with the numbers falling and then rising.
Parallel worked example for Support (model it, do not give the task answer): Put these in chronological order: 1066, 55 BC, 410, 800 BC. BC pile: 800 BC, 55 BC. The bigger BC number is older, so 800 BC first.; AD pile: 410, 1066. The smaller AD number is older, so 410 first.; Join them: BC pile, then AD pile.. Answer: 800 BC, 55 BC, 410, 1066.
Core — reveal the hint only on request: BC before AD. Within BC, big numbers are oldest; within AD, small numbers are oldest.
Stretch — no help; when finished: Explain, in two sentences, why the biggest BC number is the oldest date but the biggest AD number is the most recent.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century?.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century is the year 1459 in? Give the number of the century.
Support — work through the steps with the group: (1) Write the year down and cover the last two digits with your finger. (2) Read the digits that are left. That is how many full centuries have passed. (3) Add one, because we are now inside the next century. (4) Say the answer as a word: fifteenth, sixteenth, and so on.
Parallel worked example for Support (model it, do not give the task answer): Which century is the year 1703 in? Cover the 03 to leave 17.; Add one: 18.; So 1703 is in the eighteenth century.. Answer: 18th century.
Core — reveal the hint only on request: Cover the last two digits, then add one. Remember the one exception: a year ending in 00 belongs to the century before.
Stretch — no help; when finished: Explain why the year 1500 is in the fifteenth century even though the cover-and-add-one method gives sixteen.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it mean to put events in chronological order?
Answer: B   To arrange them from the oldest to the most recent. Chronological order runs from the oldest event to the most recent: it is the order in which things actually happened.
Source of this question: gate item 1 re-asked (options rotated) — this chapter has no third quick-check module.
The ebook also holds task 3, "Words for time",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Oldest to most recent. Reveal the answer; pupils mark their own work in a different colour, then read the "why" together. Same destination for every lane, so one answer serves the whole class.
Answer: 3000 BC  (A); 500 BC  (C); 250 BC  (E); 567  (D); 1552  (B); 2010  (F)
Why: All BC dates come before all AD dates. Within BC the bigger number is older (3000 BC, 500 BC, 250 BC); within AD the smaller number is older (567, 1552, 2010).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century?. Reveal the answer; pupils mark their own work in a different colour, then read the "why" together. Same destination for every lane, so one answer serves the whole class.
Answer: 15 th century
Why: Fourteen full centuries had passed by the year 1400, so 1459 lies inside the fifteenth. Cover the 59, read 14, add 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To arrange them from the oldest to the most recent
Why: Chronological order runs from the oldest event to the most recent: it is the order in which things actually happened.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Vikings and Anglo-Saxons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Chronology: putting the past in order</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6F2EF"/>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Chronology and Sources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Who were the Vikings, and how do historians use chronology and sources to find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does it mean to put events in chronological order?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arrange them from the most recent to the oldest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arrange them from the most important to the least important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arrange them from the oldest to the most recent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arrange them in alphabetical order by name</a:t>
            </a:r>
            <a:endParaRPr lang="en-US" sz="1800" dirty="0"/>
          </a:p>
        </p:txBody>
      </p:sp>
      <p:sp>
        <p:nvSpPr>
          <p:cNvPr id="12"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century is the year 1792 in? Give the number of the century.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th century</a:t>
            </a:r>
            <a:endParaRPr lang="en-US" sz="2400" dirty="0"/>
          </a:p>
        </p:txBody>
      </p:sp>
      <p:sp>
        <p:nvSpPr>
          <p:cNvPr id="17"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For BC dates, the bigger the number, the ___ back in time the event happened.</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further  ·  less far  ·  more recently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To arrange them from the oldest to the most recent</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does it mean to put events in chronological order?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Chronological order runs from the oldest event to the most recent: it is the order in which things actually happened.</a:t>
            </a:r>
            <a:endParaRPr lang="en-US" sz="2200" dirty="0"/>
          </a:p>
        </p:txBody>
      </p:sp>
      <p:sp>
        <p:nvSpPr>
          <p:cNvPr id="14"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18 th century</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century is the year 1792 in? Give the number of the century.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Cover the last two digits of 1792 to leave 17, then add one: 18. So 1792 is in the eighteenth century.</a:t>
            </a:r>
            <a:endParaRPr lang="en-US" sz="1800" dirty="0"/>
          </a:p>
        </p:txBody>
      </p:sp>
      <p:sp>
        <p:nvSpPr>
          <p:cNvPr id="21"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further</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For BC dates, the bigger the number, the ___ back in time the event happened.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BC years count backwards from the birth of Jesus, so 332 BC is further back than 27 BC.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chronology</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study of time, and putting events in order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Chronology helps us see which event came first.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chronological order</a:t>
            </a:r>
            <a:endParaRPr lang="en-US" sz="2600" dirty="0"/>
          </a:p>
        </p:txBody>
      </p:sp>
      <p:sp>
        <p:nvSpPr>
          <p:cNvPr id="17" name="word-rule"/>
          <p:cNvSpPr/>
          <p:nvPr/>
        </p:nvSpPr>
        <p:spPr>
          <a:xfrm>
            <a:off x="4521098" y="2558288"/>
            <a:ext cx="3149498" cy="0"/>
          </a:xfrm>
          <a:prstGeom prst="line">
            <a:avLst/>
          </a:prstGeom>
          <a:ln w="12700">
            <a:solidFill>
              <a:srgbClr val="CEBCA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from the oldest event to the most recent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Put the dates in chronological order, oldest first.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BC</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Before Christ, the years before the birth of Jesus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Romans made their empire in 27 BC.</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AD</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Anno Domini, the years after the birth of Jesus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Romans left Britain in AD 410.</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decade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period of ten years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1990s were a decade.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century</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period of one hundred years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year 1459 is in the fifteenth century.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History is the study of the past.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study the past we need to know the order things happened 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Chronology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the study of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Chronological order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from the oldest event to the most recent.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Romans left Britain in 410.</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Battle of Hastings was in 1066.</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Great Fire of London was in 1666.</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Dates before the birth of Jesus are called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BC</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Dates after it are called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AD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decade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ten years and 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century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one hundred years.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year 1459 is in the fifteenth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century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Getting the order right matters because a cause always comes before its effect.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is chronology?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Oldest on the left, most recent on the right. If you draw it the other way round, a reader will misread every date.</a:t>
            </a:r>
            <a:endParaRPr lang="en-US" sz="1800" dirty="0"/>
          </a:p>
        </p:txBody>
      </p:sp>
      <p:sp>
        <p:nvSpPr>
          <p:cNvPr id="11" name="bullet-card"/>
          <p:cNvSpPr/>
          <p:nvPr/>
        </p:nvSpPr>
        <p:spPr>
          <a:xfrm>
            <a:off x="548640" y="1389888"/>
            <a:ext cx="11094415" cy="984504"/>
          </a:xfrm>
          <a:prstGeom prst="roundRect">
            <a:avLst>
              <a:gd name="adj" fmla="val 7430"/>
            </a:avLst>
          </a:prstGeom>
          <a:solidFill>
            <a:srgbClr val="F8F6F4"/>
          </a:solidFill>
          <a:ln/>
        </p:spPr>
      </p:sp>
      <p:sp>
        <p:nvSpPr>
          <p:cNvPr id="12" name="bullet-hex"/>
          <p:cNvSpPr/>
          <p:nvPr/>
        </p:nvSpPr>
        <p:spPr>
          <a:xfrm>
            <a:off x="676656" y="1715847"/>
            <a:ext cx="384048" cy="332586"/>
          </a:xfrm>
          <a:prstGeom prst="hexagon">
            <a:avLst/>
          </a:prstGeom>
          <a:solidFill>
            <a:srgbClr val="7A4A1E"/>
          </a:solidFill>
          <a:ln/>
        </p:spPr>
      </p:sp>
      <p:sp>
        <p:nvSpPr>
          <p:cNvPr id="13" name="bullet"/>
          <p:cNvSpPr txBox="1"/>
          <p:nvPr/>
        </p:nvSpPr>
        <p:spPr>
          <a:xfrm>
            <a:off x="1143000" y="1389888"/>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Chronology is the study of time. When historians put events in chronological order, they arrange them from the oldest to the most recent.</a:t>
            </a:r>
            <a:endParaRPr lang="en-US" sz="2200" dirty="0"/>
          </a:p>
        </p:txBody>
      </p:sp>
      <p:sp>
        <p:nvSpPr>
          <p:cNvPr id="14" name="bullet-card"/>
          <p:cNvSpPr/>
          <p:nvPr/>
        </p:nvSpPr>
        <p:spPr>
          <a:xfrm>
            <a:off x="548640" y="2520696"/>
            <a:ext cx="11094415" cy="1666240"/>
          </a:xfrm>
          <a:prstGeom prst="roundRect">
            <a:avLst>
              <a:gd name="adj" fmla="val 4390"/>
            </a:avLst>
          </a:prstGeom>
          <a:solidFill>
            <a:srgbClr val="F8F6F4"/>
          </a:solidFill>
          <a:ln/>
        </p:spPr>
      </p:sp>
      <p:sp>
        <p:nvSpPr>
          <p:cNvPr id="15" name="bullet-hex"/>
          <p:cNvSpPr/>
          <p:nvPr/>
        </p:nvSpPr>
        <p:spPr>
          <a:xfrm>
            <a:off x="676656" y="3187523"/>
            <a:ext cx="384048" cy="332586"/>
          </a:xfrm>
          <a:prstGeom prst="hexagon">
            <a:avLst/>
          </a:prstGeom>
          <a:solidFill>
            <a:srgbClr val="B8862B"/>
          </a:solidFill>
          <a:ln/>
        </p:spPr>
      </p:sp>
      <p:sp>
        <p:nvSpPr>
          <p:cNvPr id="16" name="bullet"/>
          <p:cNvSpPr txBox="1"/>
          <p:nvPr/>
        </p:nvSpPr>
        <p:spPr>
          <a:xfrm>
            <a:off x="1143000" y="2520696"/>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first lesson used six events to practise this: the fall of the Roman Empire in 476, the Battle of Hastings in 1066, the Peasants' Revolt in England in 1381, the Great Fire of London in 1666, the abolition of slavery across the British Empire in 1833, and the death of Queen Elizabeth II in 2022.</a:t>
            </a:r>
            <a:endParaRPr lang="en-US" sz="2200" dirty="0"/>
          </a:p>
        </p:txBody>
      </p:sp>
      <p:sp>
        <p:nvSpPr>
          <p:cNvPr id="17" name="bullet-card"/>
          <p:cNvSpPr/>
          <p:nvPr/>
        </p:nvSpPr>
        <p:spPr>
          <a:xfrm>
            <a:off x="548640" y="4333240"/>
            <a:ext cx="11094415" cy="742696"/>
          </a:xfrm>
          <a:prstGeom prst="roundRect">
            <a:avLst>
              <a:gd name="adj" fmla="val 9850"/>
            </a:avLst>
          </a:prstGeom>
          <a:solidFill>
            <a:srgbClr val="F8F6F4"/>
          </a:solidFill>
          <a:ln/>
        </p:spPr>
      </p:sp>
      <p:sp>
        <p:nvSpPr>
          <p:cNvPr id="18" name="bullet-hex"/>
          <p:cNvSpPr/>
          <p:nvPr/>
        </p:nvSpPr>
        <p:spPr>
          <a:xfrm>
            <a:off x="676656" y="4538295"/>
            <a:ext cx="384048" cy="332586"/>
          </a:xfrm>
          <a:prstGeom prst="hexagon">
            <a:avLst/>
          </a:prstGeom>
          <a:solidFill>
            <a:srgbClr val="7A4A1E"/>
          </a:solidFill>
          <a:ln/>
        </p:spPr>
      </p:sp>
      <p:sp>
        <p:nvSpPr>
          <p:cNvPr id="19" name="bullet"/>
          <p:cNvSpPr txBox="1"/>
          <p:nvPr/>
        </p:nvSpPr>
        <p:spPr>
          <a:xfrm>
            <a:off x="1143000" y="4333240"/>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timeline is only useful if every date is in the right place.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BC and AD: counting from a zero point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There is no year zero. The year after 1 BC is AD 1. Your worksheet shows a zero point between BC and AD; it is a line, not a year.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Our calendar counts from the birth of Jesus Christ. Years after it are AD, which is short for the Latin words Anno Domini, meaning in the year of the Lord.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Here is the part that catches people out. For AD dates, the bigger the number, the more recent the event: 1666 is more recent than 410.</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asked whether we should use the birth of Jesus to measure time at all.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BC and AD: counting from a zero point</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6F2EF"/>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Put these dates in chronological order: 500 BC, 567, 250 BC, 2010, 3000 BC, 1552.</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Separate the BC dates from the AD dates. BC: 3000 BC, 500 BC, 250 BC. AD: 567, 1552, 2010.</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3562274" y="2424684"/>
            <a:ext cx="530352" cy="459285"/>
          </a:xfrm>
          <a:prstGeom prst="hexagon">
            <a:avLst/>
          </a:prstGeom>
          <a:solidFill>
            <a:srgbClr val="7A4A1E"/>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All BC dates come before all AD dates, so the BC group goes first.</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B69B83"/>
            </a:solidFill>
            <a:prstDash val="solid"/>
          </a:ln>
        </p:spPr>
      </p:sp>
      <p:sp>
        <p:nvSpPr>
          <p:cNvPr id="20" name="step-hex"/>
          <p:cNvSpPr/>
          <p:nvPr/>
        </p:nvSpPr>
        <p:spPr>
          <a:xfrm>
            <a:off x="6438748" y="2424684"/>
            <a:ext cx="530352" cy="459285"/>
          </a:xfrm>
          <a:prstGeom prst="hexagon">
            <a:avLst/>
          </a:prstGeom>
          <a:solidFill>
            <a:srgbClr val="7A4A1E"/>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Inside the BC group the biggest number is oldest: 3000 BC, then 500 BC, then 250 BC.</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B69B83"/>
            </a:solidFill>
            <a:prstDash val="solid"/>
          </a:ln>
        </p:spPr>
      </p:sp>
      <p:sp>
        <p:nvSpPr>
          <p:cNvPr id="25" name="step-hex"/>
          <p:cNvSpPr/>
          <p:nvPr/>
        </p:nvSpPr>
        <p:spPr>
          <a:xfrm>
            <a:off x="9315221" y="2424684"/>
            <a:ext cx="530352" cy="459285"/>
          </a:xfrm>
          <a:prstGeom prst="hexagon">
            <a:avLst/>
          </a:prstGeom>
          <a:solidFill>
            <a:srgbClr val="7A4A1E"/>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Inside the AD group the smallest number is oldest: 567, then 1552, then 2010.</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3000 BC, 500 BC, 250 BC, 567, 1552, 2010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Decades and centuries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Cover two digits, add one. Then check your answer by saying the century's first and last years out loud.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Which century is the year 1675 in?</a:t>
            </a:r>
            <a:endParaRPr lang="en-US" sz="1800" dirty="0"/>
          </a:p>
        </p:txBody>
      </p:sp>
      <p:sp>
        <p:nvSpPr>
          <p:cNvPr id="14" name="step-box"/>
          <p:cNvSpPr/>
          <p:nvPr/>
        </p:nvSpPr>
        <p:spPr>
          <a:xfrm>
            <a:off x="6126480" y="2609596"/>
            <a:ext cx="5379415" cy="566928"/>
          </a:xfrm>
          <a:prstGeom prst="roundRect">
            <a:avLst>
              <a:gd name="adj" fmla="val 16129"/>
            </a:avLst>
          </a:prstGeom>
          <a:solidFill>
            <a:srgbClr val="F6F2EF"/>
          </a:solidFill>
          <a:ln/>
        </p:spPr>
      </p:sp>
      <p:sp>
        <p:nvSpPr>
          <p:cNvPr id="15" name="step-hex"/>
          <p:cNvSpPr/>
          <p:nvPr/>
        </p:nvSpPr>
        <p:spPr>
          <a:xfrm>
            <a:off x="6217920" y="2710930"/>
            <a:ext cx="420624" cy="364260"/>
          </a:xfrm>
          <a:prstGeom prst="hexagon">
            <a:avLst/>
          </a:prstGeom>
          <a:solidFill>
            <a:srgbClr val="7A4A1E"/>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Cover the last two digits: 1675 becomes 16.</a:t>
            </a:r>
            <a:endParaRPr lang="en-US" sz="1800" dirty="0"/>
          </a:p>
        </p:txBody>
      </p:sp>
      <p:sp>
        <p:nvSpPr>
          <p:cNvPr id="18" name="step-box"/>
          <p:cNvSpPr/>
          <p:nvPr/>
        </p:nvSpPr>
        <p:spPr>
          <a:xfrm>
            <a:off x="6126480" y="3267964"/>
            <a:ext cx="5379415" cy="566928"/>
          </a:xfrm>
          <a:prstGeom prst="roundRect">
            <a:avLst>
              <a:gd name="adj" fmla="val 16129"/>
            </a:avLst>
          </a:prstGeom>
          <a:solidFill>
            <a:srgbClr val="F6F2EF"/>
          </a:solidFill>
          <a:ln/>
        </p:spPr>
      </p:sp>
      <p:sp>
        <p:nvSpPr>
          <p:cNvPr id="19" name="step-hex"/>
          <p:cNvSpPr/>
          <p:nvPr/>
        </p:nvSpPr>
        <p:spPr>
          <a:xfrm>
            <a:off x="6217920" y="3369298"/>
            <a:ext cx="420624" cy="364260"/>
          </a:xfrm>
          <a:prstGeom prst="hexagon">
            <a:avLst/>
          </a:prstGeom>
          <a:solidFill>
            <a:srgbClr val="7A4A1E"/>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one: 16 + 1 = 17.</a:t>
            </a:r>
            <a:endParaRPr lang="en-US" sz="1800" dirty="0"/>
          </a:p>
        </p:txBody>
      </p:sp>
      <p:sp>
        <p:nvSpPr>
          <p:cNvPr id="22" name="step-box"/>
          <p:cNvSpPr/>
          <p:nvPr/>
        </p:nvSpPr>
        <p:spPr>
          <a:xfrm>
            <a:off x="6126480" y="3926332"/>
            <a:ext cx="5379415" cy="566928"/>
          </a:xfrm>
          <a:prstGeom prst="roundRect">
            <a:avLst>
              <a:gd name="adj" fmla="val 16129"/>
            </a:avLst>
          </a:prstGeom>
          <a:solidFill>
            <a:srgbClr val="F6F2EF"/>
          </a:solidFill>
          <a:ln/>
        </p:spPr>
      </p:sp>
      <p:sp>
        <p:nvSpPr>
          <p:cNvPr id="23" name="step-hex"/>
          <p:cNvSpPr/>
          <p:nvPr/>
        </p:nvSpPr>
        <p:spPr>
          <a:xfrm>
            <a:off x="6217920" y="4027666"/>
            <a:ext cx="420624" cy="364260"/>
          </a:xfrm>
          <a:prstGeom prst="hexagon">
            <a:avLst/>
          </a:prstGeom>
          <a:solidFill>
            <a:srgbClr val="7A4A1E"/>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1675 is in the seventeenth century.</a:t>
            </a:r>
            <a:endParaRPr lang="en-US" sz="1800" dirty="0"/>
          </a:p>
        </p:txBody>
      </p:sp>
      <p:sp>
        <p:nvSpPr>
          <p:cNvPr id="26" name="step-box"/>
          <p:cNvSpPr/>
          <p:nvPr/>
        </p:nvSpPr>
        <p:spPr>
          <a:xfrm>
            <a:off x="6126480" y="4584700"/>
            <a:ext cx="5379415" cy="794512"/>
          </a:xfrm>
          <a:prstGeom prst="roundRect">
            <a:avLst>
              <a:gd name="adj" fmla="val 11509"/>
            </a:avLst>
          </a:prstGeom>
          <a:solidFill>
            <a:srgbClr val="F6F2EF"/>
          </a:solidFill>
          <a:ln/>
        </p:spPr>
      </p:sp>
      <p:sp>
        <p:nvSpPr>
          <p:cNvPr id="27" name="step-hex"/>
          <p:cNvSpPr/>
          <p:nvPr/>
        </p:nvSpPr>
        <p:spPr>
          <a:xfrm>
            <a:off x="6217920" y="4799826"/>
            <a:ext cx="420624" cy="364260"/>
          </a:xfrm>
          <a:prstGeom prst="hexagon">
            <a:avLst/>
          </a:prstGeom>
          <a:solidFill>
            <a:srgbClr val="7A4A1E"/>
          </a:solidFill>
          <a:ln/>
        </p:spPr>
      </p:sp>
      <p:sp>
        <p:nvSpPr>
          <p:cNvPr id="28" name="step-hex-label"/>
          <p:cNvSpPr txBox="1"/>
          <p:nvPr/>
        </p:nvSpPr>
        <p:spPr>
          <a:xfrm>
            <a:off x="6217920" y="47998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58470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seventeenth century runs from 1601 to 1700, and 1675 sits inside it.</a:t>
            </a:r>
            <a:endParaRPr lang="en-US" sz="1800" dirty="0"/>
          </a:p>
        </p:txBody>
      </p:sp>
      <p:sp>
        <p:nvSpPr>
          <p:cNvPr id="30" name="worked-answer"/>
          <p:cNvSpPr/>
          <p:nvPr/>
        </p:nvSpPr>
        <p:spPr>
          <a:xfrm>
            <a:off x="6126480" y="551637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seventeenth century</a:t>
            </a:r>
            <a:endParaRPr lang="en-US" sz="1800" dirty="0"/>
          </a:p>
        </p:txBody>
      </p:sp>
      <p:sp>
        <p:nvSpPr>
          <p:cNvPr id="31" name="bullet-card"/>
          <p:cNvSpPr/>
          <p:nvPr/>
        </p:nvSpPr>
        <p:spPr>
          <a:xfrm>
            <a:off x="548640" y="1389888"/>
            <a:ext cx="5074920" cy="852255"/>
          </a:xfrm>
          <a:prstGeom prst="roundRect">
            <a:avLst>
              <a:gd name="adj" fmla="val 8583"/>
            </a:avLst>
          </a:prstGeom>
          <a:solidFill>
            <a:srgbClr val="F8F6F4"/>
          </a:solidFill>
          <a:ln/>
        </p:spPr>
      </p:sp>
      <p:sp>
        <p:nvSpPr>
          <p:cNvPr id="32" name="bullet-hex"/>
          <p:cNvSpPr/>
          <p:nvPr/>
        </p:nvSpPr>
        <p:spPr>
          <a:xfrm>
            <a:off x="676656" y="1649723"/>
            <a:ext cx="384048" cy="332586"/>
          </a:xfrm>
          <a:prstGeom prst="hexagon">
            <a:avLst/>
          </a:prstGeom>
          <a:solidFill>
            <a:srgbClr val="7A4A1E"/>
          </a:solidFill>
          <a:ln/>
        </p:spPr>
      </p:sp>
      <p:sp>
        <p:nvSpPr>
          <p:cNvPr id="33" name="bullet"/>
          <p:cNvSpPr txBox="1"/>
          <p:nvPr/>
        </p:nvSpPr>
        <p:spPr>
          <a:xfrm>
            <a:off x="1143000" y="1389888"/>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decade is ten years. A century is one hundred years.</a:t>
            </a:r>
            <a:endParaRPr lang="en-US" sz="1800" dirty="0"/>
          </a:p>
        </p:txBody>
      </p:sp>
      <p:sp>
        <p:nvSpPr>
          <p:cNvPr id="34" name="bullet-card"/>
          <p:cNvSpPr/>
          <p:nvPr/>
        </p:nvSpPr>
        <p:spPr>
          <a:xfrm>
            <a:off x="548640" y="2388447"/>
            <a:ext cx="5074920" cy="1131147"/>
          </a:xfrm>
          <a:prstGeom prst="roundRect">
            <a:avLst>
              <a:gd name="adj" fmla="val 6467"/>
            </a:avLst>
          </a:prstGeom>
          <a:solidFill>
            <a:srgbClr val="F8F6F4"/>
          </a:solidFill>
          <a:ln/>
        </p:spPr>
      </p:sp>
      <p:sp>
        <p:nvSpPr>
          <p:cNvPr id="35" name="bullet-hex"/>
          <p:cNvSpPr/>
          <p:nvPr/>
        </p:nvSpPr>
        <p:spPr>
          <a:xfrm>
            <a:off x="676656" y="2787727"/>
            <a:ext cx="384048" cy="332586"/>
          </a:xfrm>
          <a:prstGeom prst="hexagon">
            <a:avLst/>
          </a:prstGeom>
          <a:solidFill>
            <a:srgbClr val="B8862B"/>
          </a:solidFill>
          <a:ln/>
        </p:spPr>
      </p:sp>
      <p:sp>
        <p:nvSpPr>
          <p:cNvPr id="36" name="bullet"/>
          <p:cNvSpPr txBox="1"/>
          <p:nvPr/>
        </p:nvSpPr>
        <p:spPr>
          <a:xfrm>
            <a:off x="1143000" y="2388447"/>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gives a quick method for finding a century: cover up the last two digits of the year and add one.</a:t>
            </a:r>
            <a:endParaRPr lang="en-US" sz="1800" dirty="0"/>
          </a:p>
        </p:txBody>
      </p:sp>
      <p:sp>
        <p:nvSpPr>
          <p:cNvPr id="37" name="bullet-card"/>
          <p:cNvSpPr/>
          <p:nvPr/>
        </p:nvSpPr>
        <p:spPr>
          <a:xfrm>
            <a:off x="548640" y="3665897"/>
            <a:ext cx="5074920" cy="1131147"/>
          </a:xfrm>
          <a:prstGeom prst="roundRect">
            <a:avLst>
              <a:gd name="adj" fmla="val 6467"/>
            </a:avLst>
          </a:prstGeom>
          <a:solidFill>
            <a:srgbClr val="F8F6F4"/>
          </a:solidFill>
          <a:ln/>
        </p:spPr>
      </p:sp>
      <p:sp>
        <p:nvSpPr>
          <p:cNvPr id="38" name="bullet-hex"/>
          <p:cNvSpPr/>
          <p:nvPr/>
        </p:nvSpPr>
        <p:spPr>
          <a:xfrm>
            <a:off x="676656" y="4065178"/>
            <a:ext cx="384048" cy="332586"/>
          </a:xfrm>
          <a:prstGeom prst="hexagon">
            <a:avLst/>
          </a:prstGeom>
          <a:solidFill>
            <a:srgbClr val="7A4A1E"/>
          </a:solidFill>
          <a:ln/>
        </p:spPr>
      </p:sp>
      <p:sp>
        <p:nvSpPr>
          <p:cNvPr id="39" name="bullet"/>
          <p:cNvSpPr txBox="1"/>
          <p:nvPr/>
        </p:nvSpPr>
        <p:spPr>
          <a:xfrm>
            <a:off x="1143000" y="3665897"/>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method works because the first century ran from year 1 to year 100, so every century finishes at a year ending in 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the order matters: cause and effect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a cause, check the date of the cause is earlier than the date of the effect. If it is not, you have them the wrong way round.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challenge asked why it matters that we get events in the right order.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Suppose someone said the Vikings attacked Lindisfarne because of the Battle of Hastings.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why every unit in this course starts with dates.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Oldest to most recent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six dates in chronological order, oldest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3000 BC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1552</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500 BC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567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250 BC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2010</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Oldest to most recent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Oldest to most recent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dates into two piles: BC and AD. Every BC date comes before every AD date.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the BC pile the biggest number is the oldest, so it goes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the AD pile the smallest number is the oldest.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your final list and check it runs BC first, then AD, with the numbers falling and then rising.</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BC before AD. Within BC, big numbers are oldest; within AD, small numbers are oldest.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in two sentences, why the biggest BC number is the oldest date but the biggest AD number is the most recent.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Which century?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century is the year 1459 in? Give the number of the century.</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th century</a:t>
            </a:r>
            <a:endParaRPr lang="en-US" sz="2000" dirty="0"/>
          </a:p>
        </p:txBody>
      </p:sp>
      <p:sp>
        <p:nvSpPr>
          <p:cNvPr id="12" name="col-Support"/>
          <p:cNvSpPr/>
          <p:nvPr/>
        </p:nvSpPr>
        <p:spPr>
          <a:xfrm>
            <a:off x="548640" y="2639060"/>
            <a:ext cx="4667802" cy="3505708"/>
          </a:xfrm>
          <a:prstGeom prst="roundRect">
            <a:avLst>
              <a:gd name="adj" fmla="val 1565"/>
            </a:avLst>
          </a:prstGeom>
          <a:solidFill>
            <a:srgbClr val="F6F2EF"/>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4393482"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year down and cover the last two digits with your finger.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digits that are left. That is how many full centuries have passed.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one, because we are now inside the next century.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the answer as a word: fifteenth, sixteenth, and so on.</a:t>
            </a:r>
            <a:endParaRPr lang="en-US" sz="1800" dirty="0"/>
          </a:p>
        </p:txBody>
      </p:sp>
      <p:sp>
        <p:nvSpPr>
          <p:cNvPr id="17" name="col-Core"/>
          <p:cNvSpPr/>
          <p:nvPr/>
        </p:nvSpPr>
        <p:spPr>
          <a:xfrm>
            <a:off x="5490762" y="2639060"/>
            <a:ext cx="2938987" cy="3505708"/>
          </a:xfrm>
          <a:prstGeom prst="roundRect">
            <a:avLst>
              <a:gd name="adj" fmla="val 1867"/>
            </a:avLst>
          </a:prstGeom>
          <a:solidFill>
            <a:srgbClr val="E6DDD4"/>
          </a:solidFill>
          <a:ln/>
        </p:spPr>
      </p:sp>
      <p:sp>
        <p:nvSpPr>
          <p:cNvPr id="18" name="col-hex"/>
          <p:cNvSpPr/>
          <p:nvPr/>
        </p:nvSpPr>
        <p:spPr>
          <a:xfrm>
            <a:off x="5600490"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7563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79140"/>
            <a:ext cx="2664667" cy="275590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Cover the last two digits, then add one. Remember the one exception: a year ending in 00 belongs to the century before.</a:t>
            </a:r>
            <a:endParaRPr lang="en-US" sz="1800" dirty="0"/>
          </a:p>
        </p:txBody>
      </p:sp>
      <p:sp>
        <p:nvSpPr>
          <p:cNvPr id="22" name="col-Stretch"/>
          <p:cNvSpPr/>
          <p:nvPr/>
        </p:nvSpPr>
        <p:spPr>
          <a:xfrm>
            <a:off x="8704069" y="2639060"/>
            <a:ext cx="2938987" cy="3505708"/>
          </a:xfrm>
          <a:prstGeom prst="roundRect">
            <a:avLst>
              <a:gd name="adj" fmla="val 1867"/>
            </a:avLst>
          </a:prstGeom>
          <a:solidFill>
            <a:srgbClr val="7A4A1E"/>
          </a:solidFill>
          <a:ln/>
        </p:spPr>
      </p:sp>
      <p:sp>
        <p:nvSpPr>
          <p:cNvPr id="23" name="col-hex"/>
          <p:cNvSpPr/>
          <p:nvPr/>
        </p:nvSpPr>
        <p:spPr>
          <a:xfrm>
            <a:off x="8813797"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7563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79140"/>
            <a:ext cx="2664667"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year 1500 is in the fifteenth century even though the cover-and-add-one method gives sixteen.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it mean to put events in chronological order?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arrange them from the most important to the least important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arrange them from the oldest to the most recent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arrange them in alphabetical order by name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arrange them from the most recent to the oldest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Oldest to most recent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3000 BC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500 BC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250 BC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567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1552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2010  (F)</a:t>
            </a:r>
            <a:endParaRPr lang="en-US" sz="24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All BC dates come before all AD dates. Within BC the bigger number is older (3000 BC, 500 BC, 250 BC); within AD the smaller number is older (567, 1552, 2010).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century?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century is the year 1459 in? Give the number of the century.</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 th century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Fourteen full centuries had passed by the year 1400, so 1459 lies inside the fifteenth. Cover the 59, read 14, add 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it mean to put events in chronological order?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To arrange them from the oldest to the most recent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Chronological order runs from the oldest event to the most recent: it is the order in which things actually happened.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Vikings and Anglo-Saxons · Chapter 1: Chronology: putting the past in order</dc:title>
  <dc:subject>History · Year 7</dc:subject>
  <dc:creator>Dr Vitor Merissi de Carvalho</dc:creator>
  <cp:lastModifiedBy>Dr Vitor Merissi de Carvalho</cp:lastModifiedBy>
  <cp:revision>1</cp:revision>
  <dcterms:created xsi:type="dcterms:W3CDTF">2026-10-19T06:08:05Z</dcterms:created>
  <dcterms:modified xsi:type="dcterms:W3CDTF">2026-10-19T06:08:05Z</dcterms:modified>
</cp:coreProperties>
</file>