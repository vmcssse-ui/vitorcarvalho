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2a22d5a-646e-a039-b3dd-93b6d1adee7c}">
          <p14:sldIdLst>
            <p14:sldId id="256"/>
          </p14:sldIdLst>
        </p14:section>
        <p14:section name="Gate" id="{39aeaa7e-9f8b-dc40-0dc9-c8cd7abec510}">
          <p14:sldIdLst>
            <p14:sldId id="257"/>
            <p14:sldId id="258"/>
          </p14:sldIdLst>
        </p14:section>
        <p14:section name="Pre-teach" id="{34e9a88e-36a8-d076-9d9b-68efe2a1bfc7}">
          <p14:sldIdLst>
            <p14:sldId id="259"/>
            <p14:sldId id="260"/>
          </p14:sldIdLst>
        </p14:section>
        <p14:section name="Read-along" id="{d762babf-347b-b395-6e9d-fac367f53d7d}">
          <p14:sldIdLst>
            <p14:sldId id="261"/>
            <p14:sldId id="262"/>
          </p14:sldIdLst>
        </p14:section>
        <p14:section name="Teach" id="{616c2653-e265-0d3b-94fe-ede1c987962e}">
          <p14:sldIdLst>
            <p14:sldId id="263"/>
            <p14:sldId id="264"/>
            <p14:sldId id="265"/>
            <p14:sldId id="266"/>
            <p14:sldId id="267"/>
          </p14:sldIdLst>
        </p14:section>
        <p14:section name="Routes" id="{25f0dc5c-8f09-4bc8-43e2-57936480615a}">
          <p14:sldIdLst>
            <p14:sldId id="268"/>
            <p14:sldId id="269"/>
            <p14:sldId id="270"/>
            <p14:sldId id="271"/>
          </p14:sldIdLst>
        </p14:section>
        <p14:section name="Close" id="{ba5ac91b-cd66-1dc7-6acf-47808e2d9384}">
          <p14:sldIdLst>
            <p14:sldId id="272"/>
          </p14:sldIdLst>
        </p14:section>
        <p14:section name="Answers" id="{cedfebf3-a888-0a6b-93dd-1946e9173993}">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Who were the Vikings?. Where the Vikings came from and what the word means, what they believed and how they lived, and what a single bead can tell archaeologists about how far they travelled.
This deck covers the department's lesson: 2 (Who were the Vikings?: Where did the Vikings come from, and what did they believe?).
Read the big question aloud: "Who were the Vikings, and how do historians use chronology and sources to find out?"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three countries did the Vikings mostly come from?  →  C   Norway, Sweden and Denmark
2. The word Viking means sea ___.  →  raider
3. What was the Thing?  →  D   A meeting where Vikings decided laws and settled arguments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Norway, Sweden and Denmark. Scandinavia is Norway, Sweden and Denmark. The Vikings did not come from Britain.
2. raider. Viking means sea raider. It describes a way of life, not a nationality.
3. D   A meeting where Vikings decided laws and settled arguments. The Thing was the Viking version of a parliament: laws were decided and arguments settled there, and it had a festival atmosphere.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Viking: a sea raider from Scandinavia; a way of life, not a nationality. Example: "A Viking might come from Norway, Sweden or Denmark."
• Scandinavia: the part of northern Europe made up of Norway, Sweden and Denmark. Example: "The Vikings sailed from Scandinavia across the North Sea."
• pagan: someone who worships many gods rather than following Christianity. Example: "The Vikings were pagans who worshipped Odin and Thor."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Valhalla: the Viking idea of heaven. Example: "Viking warriors hoped to reach Valhalla when they died."
• the Thing: the Viking meeting where laws were made and arguments settled. Example: "At the Thing, families could settle an argument by debate."
• artefact: an object made by people in the past. Example: "A bead is a small artefact that can tell a big story."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Vikings came from Scandinavia: Norway, Sweden and Denmark.
2. The word Viking means sea raider.
3. It describes a way of life, not a country.
4. Viking raids on England began in the late 700s.
5. Many Vikings later settled in English lands.
6. The Vikings were pagans.
7. They worshipped gods such as Odin and Thor.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Warriors hoped to reach Valhalla, the Viking heaven.
9. Vikings met at the Thing to make laws and settle arguments.
10. Most Vikings were farmers who kept sheep, pigs and cattle.
11. Archaeologists found a small red bead in a Viking grave in England.
12. The bead came all the way from India.
13. So the Vikings were traders as well as raiders.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did the Vikings come from?. Say it in your own words, then check understanding with a quick question: ask a pupil from the pre-teach group first, since they met these words and ideas before the lesson. Pupils try to recall before you re-explain.
The Vikings came from Scandinavia, the part of northern Europe that is now Norway, Sweden and Denmark. They did not come from Britain. The word Viking means sea raider, and it refers to a lifestyle, not a nationality: there were Vikings from each of the Scandinavian countries, and most people in Scandinavia were farmers who never went raiding at all.
The Vikings arrived in a Britain that had already changed hands. The Romans left in 410, and the Anglo-Saxons began arriving soon after. In 597 the Pope sent Augustine of Canterbury to convert the Anglo-Saxons to Christianity, and by about 680 the conversion was complete. Viking raids began in 787, according to your lesson's timeline, and your lesson says that around 35,000 Danish Vikings raided and settled in English lands from the late 700s onwards.
The Vikings were pagans. They worshipped the same gods that the Anglo-Saxons themselves had worshipped before they became Christian. That is one reason the two peoples understood each other better than you might expect, once the fighting stopped.
Tip: Three countries, one word, one meaning: Norway, Sweden, Denmark; Viking; sea raider.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Gods, Valhalla and the Thing. Say it in your own words, then check understanding with a quick question: ask a pupil from the pre-teach group first, since they met these words and ideas before the lesson. Pupils try to recall before you re-explain.
Your lesson names twelve gods in the Viking religion, each responsible for different things. Odin was the king of the gods. Thor was the god of thunder and fertility, usually shown with his hammer, Mjolnir. Loki was the god of mischief and chaos, often represented by a snake. Heimdall was the god of light and protection, who kept watch for invaders of Asgard, the home of the gods.
Reaching Valhalla mattered enormously. Vikings believed it was a kind of heaven: a great hall where the bravest of the dead lived alongside the god Odin. Hold that belief, and the risks a Viking warrior took start to make sense, because a brave death was the way in.
The Thing was the Viking version of a modern parliament. At the Thing, Vikings decided what the laws should be and discussed politics. Families could settle arguments there through debate, although sometimes the argument ended in a fight. The Thing lasted several days and had a festival atmosphere, with people drinking and setting up stalls to sell what they had made.
Tip: Odin rules, Thor thunders with his hammer, Loki causes mischief, Heimdall keeps watch. Four gods, four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Women and farming. Say it in your own words, then check understanding with a quick question: ask a pupil from the pre-teach group first, since they met these words and ideas before the lesson. Pupils try to recall before you re-explain.
Viking women had more rights than most other women of their time. A Viking woman could ask for a divorce if her husband was unfaithful. Your lesson points out that women in Britain could not do the same on equal terms until 1923, more than a thousand years later. Viking women were highly respected for their work in the home, such as cooking, making clothes and looking after children, and some went on raids and into battle alongside the men.
Most Vikings, though, were farmers. They kept sheep, pigs and cattle, and used the wool to make clothes. They made bread and porridge, hunted wild animals such as boar for stew, and used honey to sweeten food and to make mead, a strong drink a little like beer. They were good fishermen, and fish formed a large part of their diet.
Your lesson asked you to decide whether farming was the most important part of Viking life. Think about what each part gave them: farming gave food, the Thing gave law, religion gave meaning, and the respect shown to women shaped family life. A good answer picks one and explains why, then admits what the others gave too.
Worked example — model it step by step, thinking aloud: Was farming the most important part of Viking life? Plan a one-sentence answer with a reason. (1) Decide: agree or disagree. Suppose you agree. (2) Give the reason: without food from farming, no one could go to the Thing, worship or raid. (3) Admit the other side in a few words: although the Thing mattered because it kept the peace. (4) Put it together in one sentence. Answer: I agree that farming was the most important part of Viking life, because everything else depended on having food, although the Thing mattered because it kept the peace..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Women and farming. Say it in your own words, then check understanding with a quick question: ask a pupil from the pre-teach group first, since they met these words and ideas before the lesson. Pupils try to recall before you re-explain.
Viking women had more rights than most other women of their time. A Viking woman could ask for a divorce if her husband was unfaithful. Your lesson points out that women in Britain could not do the same on equal terms until 1923, more than a thousand years later. Viking women were highly respected for their work in the home, such as cooking, making clothes and looking after children, and some went on raids and into battle alongside the men.
Most Vikings, though, were farmers. They kept sheep, pigs and cattle, and used the wool to make clothes. They made bread and porridge, hunted wild animals such as boar for stew, and used honey to sweeten food and to make mead, a strong drink a little like beer. They were good fishermen, and fish formed a large part of their diet.
Your lesson asked you to decide whether farming was the most important part of Viking life. Think about what each part gave them: farming gave food, the Thing gave law, religion gave meaning, and the respect shown to women shaped family life. A good answer picks one and explains why, then admits what the others gave too.
Worked example — model it step by step, thinking aloud: Was farming the most important part of Viking life? Plan a one-sentence answer with a reason. (1) Decide: agree or disagree. Suppose you agree. (2) Give the reason: without food from farming, no one could go to the Thing, worship or raid. (3) Admit the other side in a few words: although the Thing mattered because it kept the peace. (4) Put it together in one sentence. Answer: I agree that farming was the most important part of Viking life, because everything else depended on having food, although the Thing mattered because it kept the peace..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a bead can tell us. Say it in your own words, then check understanding with a quick question: ask a pupil from the pre-teach group first, since they met these words and ideas before the lesson. Pupils try to recall before you re-explain.
At Repton, in Derbyshire, archaeologists have found a Viking camp built around a monastery, with a mass grave holding 264 bodies dated to the 870s, silver Arab coins dated to between 872 and 874, gaming pieces, axe heads, ship's nails and a Thor pendant. Among the finds was a carnelian bead: a small, shiny red stone bead that Vikings sometimes wore as jewellery.
The interesting part is that carnelian did not come from Scandinavia at all. This bead came from Gujarat, in India. It had crossed thousands of miles to get here. Trader after trader had handled it, first in the Islamic world, then the Byzantine Empire, then eastern Europe, until at last it ended up with a Viking in England. The same kind of bead has been found at a Viking fort at Vypovzyv, in Ukraine. At Birka in Sweden a woman was buried with carnelian beads and a ring with Arabic writing. At Gotland a hoard held 14,295 coins, most of them Islamic.
This shows that the Vikings were not just fierce warriors who raided other countries. They were also skilled traders who used long routes along the rivers of Russia and towards Constantinople. They swapped furs, amber and even enslaved people for luxury items such as beads, silk and silver coins. Work out where a bead was made, work out where it was finally buried, and you have two fixed points on a trade route. That is how archaeologists have traced Viking journeys as far as Asia, the Middle East and North Africa.
Tip: One small object, three big inferences: the Vikings traded, they travelled far, and they met people from many cultures.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Viking gods.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god or place to its description.
Support — work through the steps with the group: (1) Valhalla is the only place in the list; everything else is a god. Match it to the heaven. (2) Thor is the one with the hammer: think of thunder. (3) Loki makes mischief and is shown as a snake. (4) Of the two left, Odin is the king and Heimdall is the watchman.
Parallel worked example for Support (model it, do not give the task answer): Match the Roman gods Jupiter, Neptune and Mars to: king of the gods; god of the sea; god of war. Jupiter is the king of the Roman gods.; Neptune rules the sea.; Mars is war.. Answer: Jupiter: king of the gods; Neptune: god of the sea; Mars: god of war.
Core — reveal the hint only on request: One is a place, four are gods. The hammer belongs to the thunder god.
Stretch — no help; when finished: Explain how the belief in Valhalla might have changed the way a Viking warrior behaved in battle.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Viking gods.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god or place to its description.
Support — work through the steps with the group: (1) Valhalla is the only place in the list; everything else is a god. Match it to the heaven. (2) Thor is the one with the hammer: think of thunder. (3) Loki makes mischief and is shown as a snake. (4) Of the two left, Odin is the king and Heimdall is the watchman.
Parallel worked example for Support (model it, do not give the task answer): Match the Roman gods Jupiter, Neptune and Mars to: king of the gods; god of the sea; god of war. Jupiter is the king of the Roman gods.; Neptune rules the sea.; Mars is war.. Answer: Jupiter: king of the gods; Neptune: god of the sea; Mars: god of war.
Core — reveal the hint only on request: One is a place, four are gods. The hammer belongs to the thunder god.
Stretch — no help; when finished: Explain how the belief in Valhalla might have changed the way a Viking warrior behaved in battle.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does the find tell us?.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carnelian bead found in a Viking grave at Repton, in England, was made from stone that came from Gujarat, in India. What does this find tell us about the Vikings?
Support — work through the steps with the group: (1) Ask where the object was made, and where it was found. (2) If those two places are far apart, the object travelled. Ask how: through traders, one to the next. (3) An inference is a good guess based on the evidence. What does a far-travelled object suggest about the people who owned it? (4) Pick the option about trade and distance, not about raiding India or about English stone.
Parallel worked example for Support (model it, do not give the task answer): A Roman villa in Britain had a floor made with marble from Italy. What does this tell us about the Romans in Britain? Made in Italy, found in Britain: the marble travelled.; It travelled by trade and transport across the empire.; Inference: Romans in Britain were connected to the rest of the empire and had the wealth to import luxury goods.. Answer: The Romans in Britain were connected to the wider empire and could afford to import luxury materials..
Core — reveal the hint only on request: Where was it made, where was it found, and how did it get from one to the other?
Stretch — no help; when finished: Explain how archaeologists could use many finds like this one to draw a map of Viking trade routes, and what the limits of such a map would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does the find tell us?.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carnelian bead found in a Viking grave at Repton, in England, was made from stone that came from Gujarat, in India. What does this find tell us about the Vikings?
Support — work through the steps with the group: (1) Ask where the object was made, and where it was found. (2) If those two places are far apart, the object travelled. Ask how: through traders, one to the next. (3) An inference is a good guess based on the evidence. What does a far-travelled object suggest about the people who owned it? (4) Pick the option about trade and distance, not about raiding India or about English stone.
Parallel worked example for Support (model it, do not give the task answer): A Roman villa in Britain had a floor made with marble from Italy. What does this tell us about the Romans in Britain? Made in Italy, found in Britain: the marble travelled.; It travelled by trade and transport across the empire.; Inference: Romans in Britain were connected to the rest of the empire and had the wealth to import luxury goods.. Answer: The Romans in Britain were connected to the wider empire and could afford to import luxury materials..
Core — reveal the hint only on request: Where was it made, where was it found, and how did it get from one to the other?
Stretch — no help; when finished: Explain how archaeologists could use many finds like this one to draw a map of Viking trade routes, and what the limits of such a map would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three countries did the Vikings mostly come from?
Answer: B   Norway, Sweden and Denmark. Scandinavia is Norway, Sweden and Denmark. The Vikings did not come from Britain.
Source of this question: gate item 1 re-asked (options rotated) — this chapter has no third quick-check module.
The ebook also holds task 3, "Was farming the most important part of Viking life?",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Viking gods. Reveal the answer; pupils mark their own work in a different colour, then read the "why" together. Same destination for every lane, so one answer serves the whole class.
Answer: Odin  →  A  King of the gods; Thor  →  C  God of thunder, shown with his hammer Mjolnir; Loki  →  B  God of mischief and chaos, shown as a snake; Heimdall  →  D  God of light and protection, who keeps watch for invaders; Valhalla  →  E  The Viking heaven, where warriors hoped to live after death
Why: Odin was king of the gods; Thor the thunder god with Mjolnir; Loki the god of mischief, shown as a snake; Heimdall the watchman god of light and protection; Valhalla the heaven where warriors hoped to live with Odin.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What does the find tell us?. Reveal the answer; pupils mark their own work in a different colour, then read the "why" together. Same destination for every lane, so one answer serves the whole class.
Answer: B   They were part of trade routes that reached far beyond Scandinavia
Why: An object made in one place and found thousands of miles away shows trade and travel. The Vikings were traders connected to the Islamic world, Byzantium and eastern Europe, as well as raiders.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Norway, Sweden and Denmark
Why: Scandinavia is Norway, Sweden and Denmark. The Vikings did not come from Britain.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Vikings and Anglo-Saxons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Vikings and Anglo-Saxons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Vikings and Anglo-Saxons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Who were the Vikings?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6F2EF"/>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Who were the Vikings?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Who were the Vikings, and how do historians use chronology and sources to find out?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three countries did the Vikings mostly come from?</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Sweden, Finland and Russia</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Denmark, France and the Netherlands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Norway, Sweden and Denmark</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Norway, Germany and Britain</a:t>
            </a:r>
            <a:endParaRPr lang="en-US" sz="1800" dirty="0"/>
          </a:p>
        </p:txBody>
      </p:sp>
      <p:sp>
        <p:nvSpPr>
          <p:cNvPr id="12"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word Viking means sea ___.</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raider  ·  farmer  ·  king</a:t>
            </a:r>
            <a:endParaRPr lang="en-US" sz="2400" dirty="0"/>
          </a:p>
        </p:txBody>
      </p:sp>
      <p:sp>
        <p:nvSpPr>
          <p:cNvPr id="17"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was the Thing?</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Viking name for heaven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Viking warship with a dragon's head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Thor's hammer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meeting where Vikings decided laws and settled arguments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FE4D0"/>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Norway, Sweden and Denmark</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three countries did the Vikings mostly come from?</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Scandinavia is Norway, Sweden and Denmark. The Vikings did not come from Britain.</a:t>
            </a:r>
            <a:endParaRPr lang="en-US" sz="20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raider</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word Viking means sea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Viking means sea raider. It describes a way of life, not a nationality.</a:t>
            </a:r>
            <a:endParaRPr lang="en-US" sz="22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FE4D0"/>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 meeting where Vikings decided laws and settled arguments</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was the Thing?</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Thing was the Viking version of a parliament: laws were decided and arguments settled there, and it had a festival atmosphere.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Viking</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sea raider from Scandinavia; a way of life, not a nationality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Viking might come from Norway, Sweden or Denmark.</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Scandinavia</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part of northern Europe made up of Norway, Sweden and Denmark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Vikings sailed from Scandinavia across the North Sea.</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pagan</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someone who worships many gods rather than following Christianity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Vikings were pagans who worshipped Odin and Thor.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Valhalla</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Viking idea of heaven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Viking warriors hoped to reach Valhalla when they died.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the Thing</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Viking meeting where laws were made and arguments settled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At the Thing, families could settle an argument by debate.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artefact</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object made by people in the past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bead is a small artefact that can tell a big story.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Vikings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came from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Scandinavia</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Norway, Sweden and Denmark.</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word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Viking</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means sea raider.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describes a way of life, not a country.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Viking</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raids on England began in the late 700s.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Many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Vikings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later settled in English lands.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Vikings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were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pagans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They worshipped gods such as Odin and Thor.</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Warriors hoped to reach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Valhalla</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the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Viking</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heaven.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Vikings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met at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the Thing</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to make laws and settle arguments.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Most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Vikings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were farmers who kept sheep, pigs and cattle.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Archaeologists found a small red bead in a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Viking</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grave in England.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bead came all the way from India.</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 the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Vikings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were traders as well as raiders.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Where did the Vikings come from?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countries, one word, one meaning: Norway, Sweden, Denmark; Viking; sea raider.</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Vikings came from Scandinavia, the part of northern Europe that is now Norway, Sweden and Denmark.</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Vikings arrived in a Britain that had already changed hands.</a:t>
            </a:r>
            <a:endParaRPr lang="en-US" sz="22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Vikings were pagans. They worshipped the same gods that the Anglo-Saxons themselves had worshipped before they became Christian.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Gods, Valhalla and the Thing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Odin rules, Thor thunders with his hammer, Loki causes mischief, Heimdall keeps watch. Four gods, four jobs.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names twelve gods in the Viking religion, each responsible for different things.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Reaching Valhalla mattered enormously. Vikings believed it was a kind of heaven: a great hall where the bravest of the dead lived alongside the god Odin.</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Thing was the Viking version of a modern parliament.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Women and farming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6F2EF"/>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Viking women had more rights than most other women of their time.</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9F4EC"/>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Most Vikings, though, were farmers. They kept sheep, pigs and cattle, and used the wool to make clothes.</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6F2EF"/>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asked you to decide whether farming was the most important part of Viking life.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Worked example: Women and farming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6F2EF"/>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Was farming the most important part of Viking life? Plan a one-sentence answer with a reason.</a:t>
            </a:r>
            <a:endParaRPr lang="en-US" sz="2000" dirty="0"/>
          </a:p>
        </p:txBody>
      </p:sp>
      <p:sp>
        <p:nvSpPr>
          <p:cNvPr id="9" name="step-box"/>
          <p:cNvSpPr/>
          <p:nvPr/>
        </p:nvSpPr>
        <p:spPr>
          <a:xfrm>
            <a:off x="548640" y="2192528"/>
            <a:ext cx="11094415" cy="603504"/>
          </a:xfrm>
          <a:prstGeom prst="roundRect">
            <a:avLst>
              <a:gd name="adj" fmla="val 12121"/>
            </a:avLst>
          </a:prstGeom>
          <a:solidFill>
            <a:srgbClr val="FFFFFF"/>
          </a:solidFill>
          <a:ln w="15875">
            <a:solidFill>
              <a:srgbClr val="B69B83"/>
            </a:solidFill>
            <a:prstDash val="solid"/>
          </a:ln>
        </p:spPr>
      </p:sp>
      <p:sp>
        <p:nvSpPr>
          <p:cNvPr id="10" name="step-hex"/>
          <p:cNvSpPr/>
          <p:nvPr/>
        </p:nvSpPr>
        <p:spPr>
          <a:xfrm>
            <a:off x="685800" y="2296312"/>
            <a:ext cx="457200" cy="395935"/>
          </a:xfrm>
          <a:prstGeom prst="hexagon">
            <a:avLst/>
          </a:prstGeom>
          <a:solidFill>
            <a:srgbClr val="7A4A1E"/>
          </a:solidFill>
          <a:ln/>
        </p:spPr>
      </p:sp>
      <p:sp>
        <p:nvSpPr>
          <p:cNvPr id="11" name="step-hex-label"/>
          <p:cNvSpPr txBox="1"/>
          <p:nvPr/>
        </p:nvSpPr>
        <p:spPr>
          <a:xfrm>
            <a:off x="685800" y="229631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Decide: agree or disagree. Suppose you agree.</a:t>
            </a:r>
            <a:endParaRPr lang="en-US" sz="1800" dirty="0"/>
          </a:p>
        </p:txBody>
      </p:sp>
      <p:sp>
        <p:nvSpPr>
          <p:cNvPr id="13" name="step-box"/>
          <p:cNvSpPr/>
          <p:nvPr/>
        </p:nvSpPr>
        <p:spPr>
          <a:xfrm>
            <a:off x="548640" y="2869184"/>
            <a:ext cx="11094415" cy="603504"/>
          </a:xfrm>
          <a:prstGeom prst="roundRect">
            <a:avLst>
              <a:gd name="adj" fmla="val 12121"/>
            </a:avLst>
          </a:prstGeom>
          <a:solidFill>
            <a:srgbClr val="FFFFFF"/>
          </a:solidFill>
          <a:ln w="15875">
            <a:solidFill>
              <a:srgbClr val="B69B83"/>
            </a:solidFill>
            <a:prstDash val="solid"/>
          </a:ln>
        </p:spPr>
      </p:sp>
      <p:sp>
        <p:nvSpPr>
          <p:cNvPr id="14" name="step-hex"/>
          <p:cNvSpPr/>
          <p:nvPr/>
        </p:nvSpPr>
        <p:spPr>
          <a:xfrm>
            <a:off x="685800" y="2972968"/>
            <a:ext cx="457200" cy="395935"/>
          </a:xfrm>
          <a:prstGeom prst="hexagon">
            <a:avLst/>
          </a:prstGeom>
          <a:solidFill>
            <a:srgbClr val="7A4A1E"/>
          </a:solidFill>
          <a:ln/>
        </p:spPr>
      </p:sp>
      <p:sp>
        <p:nvSpPr>
          <p:cNvPr id="15" name="step-hex-label"/>
          <p:cNvSpPr txBox="1"/>
          <p:nvPr/>
        </p:nvSpPr>
        <p:spPr>
          <a:xfrm>
            <a:off x="685800" y="297296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869184"/>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Give the reason: without food from farming, no one could go to the Thing, worship or raid.</a:t>
            </a:r>
            <a:endParaRPr lang="en-US" sz="1800" dirty="0"/>
          </a:p>
        </p:txBody>
      </p:sp>
      <p:sp>
        <p:nvSpPr>
          <p:cNvPr id="17" name="step-box"/>
          <p:cNvSpPr/>
          <p:nvPr/>
        </p:nvSpPr>
        <p:spPr>
          <a:xfrm>
            <a:off x="548640" y="3545840"/>
            <a:ext cx="11094415" cy="603504"/>
          </a:xfrm>
          <a:prstGeom prst="roundRect">
            <a:avLst>
              <a:gd name="adj" fmla="val 12121"/>
            </a:avLst>
          </a:prstGeom>
          <a:solidFill>
            <a:srgbClr val="FFFFFF"/>
          </a:solidFill>
          <a:ln w="15875">
            <a:solidFill>
              <a:srgbClr val="B69B83"/>
            </a:solidFill>
            <a:prstDash val="solid"/>
          </a:ln>
        </p:spPr>
      </p:sp>
      <p:sp>
        <p:nvSpPr>
          <p:cNvPr id="18" name="step-hex"/>
          <p:cNvSpPr/>
          <p:nvPr/>
        </p:nvSpPr>
        <p:spPr>
          <a:xfrm>
            <a:off x="685800" y="3649624"/>
            <a:ext cx="457200" cy="395935"/>
          </a:xfrm>
          <a:prstGeom prst="hexagon">
            <a:avLst/>
          </a:prstGeom>
          <a:solidFill>
            <a:srgbClr val="7A4A1E"/>
          </a:solidFill>
          <a:ln/>
        </p:spPr>
      </p:sp>
      <p:sp>
        <p:nvSpPr>
          <p:cNvPr id="19" name="step-hex-label"/>
          <p:cNvSpPr txBox="1"/>
          <p:nvPr/>
        </p:nvSpPr>
        <p:spPr>
          <a:xfrm>
            <a:off x="685800" y="364962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545840"/>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Admit the other side in a few words: although the Thing mattered because it kept the peace.</a:t>
            </a:r>
            <a:endParaRPr lang="en-US" sz="1800" dirty="0"/>
          </a:p>
        </p:txBody>
      </p:sp>
      <p:sp>
        <p:nvSpPr>
          <p:cNvPr id="21" name="step-box"/>
          <p:cNvSpPr/>
          <p:nvPr/>
        </p:nvSpPr>
        <p:spPr>
          <a:xfrm>
            <a:off x="548640" y="4222496"/>
            <a:ext cx="11094415" cy="603504"/>
          </a:xfrm>
          <a:prstGeom prst="roundRect">
            <a:avLst>
              <a:gd name="adj" fmla="val 12121"/>
            </a:avLst>
          </a:prstGeom>
          <a:solidFill>
            <a:srgbClr val="FFFFFF"/>
          </a:solidFill>
          <a:ln w="15875">
            <a:solidFill>
              <a:srgbClr val="B69B83"/>
            </a:solidFill>
            <a:prstDash val="solid"/>
          </a:ln>
        </p:spPr>
      </p:sp>
      <p:sp>
        <p:nvSpPr>
          <p:cNvPr id="22" name="step-hex"/>
          <p:cNvSpPr/>
          <p:nvPr/>
        </p:nvSpPr>
        <p:spPr>
          <a:xfrm>
            <a:off x="685800" y="4326280"/>
            <a:ext cx="457200" cy="395935"/>
          </a:xfrm>
          <a:prstGeom prst="hexagon">
            <a:avLst/>
          </a:prstGeom>
          <a:solidFill>
            <a:srgbClr val="7A4A1E"/>
          </a:solidFill>
          <a:ln/>
        </p:spPr>
      </p:sp>
      <p:sp>
        <p:nvSpPr>
          <p:cNvPr id="23" name="step-hex-label"/>
          <p:cNvSpPr txBox="1"/>
          <p:nvPr/>
        </p:nvSpPr>
        <p:spPr>
          <a:xfrm>
            <a:off x="685800" y="43262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222496"/>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Put it together in one sentence.</a:t>
            </a:r>
            <a:endParaRPr lang="en-US" sz="1800" dirty="0"/>
          </a:p>
        </p:txBody>
      </p:sp>
      <p:sp>
        <p:nvSpPr>
          <p:cNvPr id="25" name="worked-answer"/>
          <p:cNvSpPr/>
          <p:nvPr/>
        </p:nvSpPr>
        <p:spPr>
          <a:xfrm>
            <a:off x="548640" y="5008880"/>
            <a:ext cx="11094415" cy="831088"/>
          </a:xfrm>
          <a:prstGeom prst="roundRect">
            <a:avLst>
              <a:gd name="adj" fmla="val 16504"/>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I agree that farming was the most important part of Viking life, because everything else depended on having food, although the Thing mattered because it kept the peace.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a bead can tell us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One small object, three big inferences: the Vikings traded, they travelled far, and they met people from many cultures.</a:t>
            </a:r>
            <a:endParaRPr lang="en-US" sz="1800" dirty="0"/>
          </a:p>
        </p:txBody>
      </p:sp>
      <p:sp>
        <p:nvSpPr>
          <p:cNvPr id="11" name="bullet-card"/>
          <p:cNvSpPr/>
          <p:nvPr/>
        </p:nvSpPr>
        <p:spPr>
          <a:xfrm>
            <a:off x="548640" y="1389888"/>
            <a:ext cx="11094415" cy="1746843"/>
          </a:xfrm>
          <a:prstGeom prst="roundRect">
            <a:avLst>
              <a:gd name="adj" fmla="val 4188"/>
            </a:avLst>
          </a:prstGeom>
          <a:solidFill>
            <a:srgbClr val="F8F6F4"/>
          </a:solidFill>
          <a:ln/>
        </p:spPr>
      </p:sp>
      <p:sp>
        <p:nvSpPr>
          <p:cNvPr id="12" name="bullet-hex"/>
          <p:cNvSpPr/>
          <p:nvPr/>
        </p:nvSpPr>
        <p:spPr>
          <a:xfrm>
            <a:off x="676656" y="2097017"/>
            <a:ext cx="384048" cy="332586"/>
          </a:xfrm>
          <a:prstGeom prst="hexagon">
            <a:avLst/>
          </a:prstGeom>
          <a:solidFill>
            <a:srgbClr val="7A4A1E"/>
          </a:solidFill>
          <a:ln/>
        </p:spPr>
      </p:sp>
      <p:sp>
        <p:nvSpPr>
          <p:cNvPr id="13" name="bullet"/>
          <p:cNvSpPr txBox="1"/>
          <p:nvPr/>
        </p:nvSpPr>
        <p:spPr>
          <a:xfrm>
            <a:off x="1143000" y="1389888"/>
            <a:ext cx="10408615" cy="17468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At Repton, in Derbyshire, archaeologists have found a Viking camp built around a monastery, with a mass grave holding 264 bodies dated to the 870s, silver Arab coins dated to between 872 and 874, gaming pieces, axe heads, ship's nails and a Thor pendant.</a:t>
            </a:r>
            <a:endParaRPr lang="en-US" sz="2200" dirty="0"/>
          </a:p>
        </p:txBody>
      </p:sp>
      <p:sp>
        <p:nvSpPr>
          <p:cNvPr id="14" name="bullet-card"/>
          <p:cNvSpPr/>
          <p:nvPr/>
        </p:nvSpPr>
        <p:spPr>
          <a:xfrm>
            <a:off x="548640" y="3283035"/>
            <a:ext cx="11094415" cy="823299"/>
          </a:xfrm>
          <a:prstGeom prst="roundRect">
            <a:avLst>
              <a:gd name="adj" fmla="val 8885"/>
            </a:avLst>
          </a:prstGeom>
          <a:solidFill>
            <a:srgbClr val="F8F6F4"/>
          </a:solidFill>
          <a:ln/>
        </p:spPr>
      </p:sp>
      <p:sp>
        <p:nvSpPr>
          <p:cNvPr id="15" name="bullet-hex"/>
          <p:cNvSpPr/>
          <p:nvPr/>
        </p:nvSpPr>
        <p:spPr>
          <a:xfrm>
            <a:off x="676656" y="3528391"/>
            <a:ext cx="384048" cy="332586"/>
          </a:xfrm>
          <a:prstGeom prst="hexagon">
            <a:avLst/>
          </a:prstGeom>
          <a:solidFill>
            <a:srgbClr val="B8862B"/>
          </a:solidFill>
          <a:ln/>
        </p:spPr>
      </p:sp>
      <p:sp>
        <p:nvSpPr>
          <p:cNvPr id="16" name="bullet"/>
          <p:cNvSpPr txBox="1"/>
          <p:nvPr/>
        </p:nvSpPr>
        <p:spPr>
          <a:xfrm>
            <a:off x="1143000" y="3283035"/>
            <a:ext cx="10408615" cy="82329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interesting part is that carnelian did not come from Scandinavia at all.</a:t>
            </a:r>
            <a:endParaRPr lang="en-US" sz="2200" dirty="0"/>
          </a:p>
        </p:txBody>
      </p:sp>
      <p:sp>
        <p:nvSpPr>
          <p:cNvPr id="17" name="bullet-card"/>
          <p:cNvSpPr/>
          <p:nvPr/>
        </p:nvSpPr>
        <p:spPr>
          <a:xfrm>
            <a:off x="548640" y="4252637"/>
            <a:ext cx="11094415" cy="823299"/>
          </a:xfrm>
          <a:prstGeom prst="roundRect">
            <a:avLst>
              <a:gd name="adj" fmla="val 8885"/>
            </a:avLst>
          </a:prstGeom>
          <a:solidFill>
            <a:srgbClr val="F8F6F4"/>
          </a:solidFill>
          <a:ln/>
        </p:spPr>
      </p:sp>
      <p:sp>
        <p:nvSpPr>
          <p:cNvPr id="18" name="bullet-hex"/>
          <p:cNvSpPr/>
          <p:nvPr/>
        </p:nvSpPr>
        <p:spPr>
          <a:xfrm>
            <a:off x="676656" y="4497994"/>
            <a:ext cx="384048" cy="332586"/>
          </a:xfrm>
          <a:prstGeom prst="hexagon">
            <a:avLst/>
          </a:prstGeom>
          <a:solidFill>
            <a:srgbClr val="7A4A1E"/>
          </a:solidFill>
          <a:ln/>
        </p:spPr>
      </p:sp>
      <p:sp>
        <p:nvSpPr>
          <p:cNvPr id="19" name="bullet"/>
          <p:cNvSpPr txBox="1"/>
          <p:nvPr/>
        </p:nvSpPr>
        <p:spPr>
          <a:xfrm>
            <a:off x="1143000" y="4252637"/>
            <a:ext cx="10408615" cy="82329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This shows that the Vikings were not just fierce warriors who raided other countries.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Viking gods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god or place to its description.</a:t>
            </a:r>
            <a:endParaRPr lang="en-US" sz="2400" dirty="0"/>
          </a:p>
        </p:txBody>
      </p:sp>
      <p:sp>
        <p:nvSpPr>
          <p:cNvPr id="11" name="match-card"/>
          <p:cNvSpPr/>
          <p:nvPr/>
        </p:nvSpPr>
        <p:spPr>
          <a:xfrm>
            <a:off x="777240" y="2468331"/>
            <a:ext cx="3081437" cy="625559"/>
          </a:xfrm>
          <a:prstGeom prst="roundRect">
            <a:avLst>
              <a:gd name="adj" fmla="val 11694"/>
            </a:avLst>
          </a:prstGeom>
          <a:solidFill>
            <a:srgbClr val="F8F6F4"/>
          </a:solidFill>
          <a:ln/>
        </p:spPr>
      </p:sp>
      <p:sp>
        <p:nvSpPr>
          <p:cNvPr id="12" name="match-hex"/>
          <p:cNvSpPr/>
          <p:nvPr/>
        </p:nvSpPr>
        <p:spPr>
          <a:xfrm>
            <a:off x="850392" y="2614818"/>
            <a:ext cx="384048" cy="332586"/>
          </a:xfrm>
          <a:prstGeom prst="hexagon">
            <a:avLst/>
          </a:prstGeom>
          <a:solidFill>
            <a:srgbClr val="7A4A1E"/>
          </a:solidFill>
          <a:ln/>
        </p:spPr>
      </p:sp>
      <p:sp>
        <p:nvSpPr>
          <p:cNvPr id="13" name="match-hex-label"/>
          <p:cNvSpPr txBox="1"/>
          <p:nvPr/>
        </p:nvSpPr>
        <p:spPr>
          <a:xfrm>
            <a:off x="850392" y="2614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Odin</a:t>
            </a:r>
            <a:endParaRPr lang="en-US" sz="2000" dirty="0"/>
          </a:p>
        </p:txBody>
      </p:sp>
      <p:sp>
        <p:nvSpPr>
          <p:cNvPr id="15" name="match-card"/>
          <p:cNvSpPr/>
          <p:nvPr/>
        </p:nvSpPr>
        <p:spPr>
          <a:xfrm>
            <a:off x="4224437" y="2468331"/>
            <a:ext cx="7190019" cy="625559"/>
          </a:xfrm>
          <a:prstGeom prst="roundRect">
            <a:avLst>
              <a:gd name="adj" fmla="val 11694"/>
            </a:avLst>
          </a:prstGeom>
          <a:solidFill>
            <a:srgbClr val="F9F4EC"/>
          </a:solidFill>
          <a:ln/>
        </p:spPr>
      </p:sp>
      <p:sp>
        <p:nvSpPr>
          <p:cNvPr id="16" name="match-hex"/>
          <p:cNvSpPr/>
          <p:nvPr/>
        </p:nvSpPr>
        <p:spPr>
          <a:xfrm>
            <a:off x="4297589" y="2614818"/>
            <a:ext cx="384048" cy="332586"/>
          </a:xfrm>
          <a:prstGeom prst="hexagon">
            <a:avLst/>
          </a:prstGeom>
          <a:solidFill>
            <a:srgbClr val="B8862B"/>
          </a:solidFill>
          <a:ln/>
        </p:spPr>
      </p:sp>
      <p:sp>
        <p:nvSpPr>
          <p:cNvPr id="17" name="match-hex-label"/>
          <p:cNvSpPr txBox="1"/>
          <p:nvPr/>
        </p:nvSpPr>
        <p:spPr>
          <a:xfrm>
            <a:off x="4297589" y="2614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King of the gods</a:t>
            </a:r>
            <a:endParaRPr lang="en-US" sz="2000" dirty="0"/>
          </a:p>
        </p:txBody>
      </p:sp>
      <p:sp>
        <p:nvSpPr>
          <p:cNvPr id="19" name="match-card"/>
          <p:cNvSpPr/>
          <p:nvPr/>
        </p:nvSpPr>
        <p:spPr>
          <a:xfrm>
            <a:off x="777240" y="3185331"/>
            <a:ext cx="3081437" cy="625559"/>
          </a:xfrm>
          <a:prstGeom prst="roundRect">
            <a:avLst>
              <a:gd name="adj" fmla="val 11694"/>
            </a:avLst>
          </a:prstGeom>
          <a:solidFill>
            <a:srgbClr val="F8F6F4"/>
          </a:solidFill>
          <a:ln/>
        </p:spPr>
      </p:sp>
      <p:sp>
        <p:nvSpPr>
          <p:cNvPr id="20" name="match-hex"/>
          <p:cNvSpPr/>
          <p:nvPr/>
        </p:nvSpPr>
        <p:spPr>
          <a:xfrm>
            <a:off x="850392" y="3331818"/>
            <a:ext cx="384048" cy="332586"/>
          </a:xfrm>
          <a:prstGeom prst="hexagon">
            <a:avLst/>
          </a:prstGeom>
          <a:solidFill>
            <a:srgbClr val="7A4A1E"/>
          </a:solidFill>
          <a:ln/>
        </p:spPr>
      </p:sp>
      <p:sp>
        <p:nvSpPr>
          <p:cNvPr id="21" name="match-hex-label"/>
          <p:cNvSpPr txBox="1"/>
          <p:nvPr/>
        </p:nvSpPr>
        <p:spPr>
          <a:xfrm>
            <a:off x="850392" y="3331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85331"/>
            <a:ext cx="2487077"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Thor</a:t>
            </a:r>
            <a:endParaRPr lang="en-US" sz="2000" dirty="0"/>
          </a:p>
        </p:txBody>
      </p:sp>
      <p:sp>
        <p:nvSpPr>
          <p:cNvPr id="23" name="match-card"/>
          <p:cNvSpPr/>
          <p:nvPr/>
        </p:nvSpPr>
        <p:spPr>
          <a:xfrm>
            <a:off x="4224437" y="3185331"/>
            <a:ext cx="7190019" cy="625559"/>
          </a:xfrm>
          <a:prstGeom prst="roundRect">
            <a:avLst>
              <a:gd name="adj" fmla="val 11694"/>
            </a:avLst>
          </a:prstGeom>
          <a:solidFill>
            <a:srgbClr val="F9F4EC"/>
          </a:solidFill>
          <a:ln/>
        </p:spPr>
      </p:sp>
      <p:sp>
        <p:nvSpPr>
          <p:cNvPr id="24" name="match-hex"/>
          <p:cNvSpPr/>
          <p:nvPr/>
        </p:nvSpPr>
        <p:spPr>
          <a:xfrm>
            <a:off x="4297589" y="3331818"/>
            <a:ext cx="384048" cy="332586"/>
          </a:xfrm>
          <a:prstGeom prst="hexagon">
            <a:avLst/>
          </a:prstGeom>
          <a:solidFill>
            <a:srgbClr val="B8862B"/>
          </a:solidFill>
          <a:ln/>
        </p:spPr>
      </p:sp>
      <p:sp>
        <p:nvSpPr>
          <p:cNvPr id="25" name="match-hex-label"/>
          <p:cNvSpPr txBox="1"/>
          <p:nvPr/>
        </p:nvSpPr>
        <p:spPr>
          <a:xfrm>
            <a:off x="4297589" y="3331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85331"/>
            <a:ext cx="6595659"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God of mischief and chaos, shown as a snake</a:t>
            </a:r>
            <a:endParaRPr lang="en-US" sz="2000" dirty="0"/>
          </a:p>
        </p:txBody>
      </p:sp>
      <p:sp>
        <p:nvSpPr>
          <p:cNvPr id="27" name="match-card"/>
          <p:cNvSpPr/>
          <p:nvPr/>
        </p:nvSpPr>
        <p:spPr>
          <a:xfrm>
            <a:off x="777240" y="3902330"/>
            <a:ext cx="3081437" cy="625559"/>
          </a:xfrm>
          <a:prstGeom prst="roundRect">
            <a:avLst>
              <a:gd name="adj" fmla="val 11694"/>
            </a:avLst>
          </a:prstGeom>
          <a:solidFill>
            <a:srgbClr val="F8F6F4"/>
          </a:solidFill>
          <a:ln/>
        </p:spPr>
      </p:sp>
      <p:sp>
        <p:nvSpPr>
          <p:cNvPr id="28" name="match-hex"/>
          <p:cNvSpPr/>
          <p:nvPr/>
        </p:nvSpPr>
        <p:spPr>
          <a:xfrm>
            <a:off x="850392" y="4048817"/>
            <a:ext cx="384048" cy="332586"/>
          </a:xfrm>
          <a:prstGeom prst="hexagon">
            <a:avLst/>
          </a:prstGeom>
          <a:solidFill>
            <a:srgbClr val="7A4A1E"/>
          </a:solidFill>
          <a:ln/>
        </p:spPr>
      </p:sp>
      <p:sp>
        <p:nvSpPr>
          <p:cNvPr id="29"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02330"/>
            <a:ext cx="2487077"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Loki</a:t>
            </a:r>
            <a:endParaRPr lang="en-US" sz="2000" dirty="0"/>
          </a:p>
        </p:txBody>
      </p:sp>
      <p:sp>
        <p:nvSpPr>
          <p:cNvPr id="31" name="match-card"/>
          <p:cNvSpPr/>
          <p:nvPr/>
        </p:nvSpPr>
        <p:spPr>
          <a:xfrm>
            <a:off x="4224437" y="3902330"/>
            <a:ext cx="7190019" cy="625559"/>
          </a:xfrm>
          <a:prstGeom prst="roundRect">
            <a:avLst>
              <a:gd name="adj" fmla="val 11694"/>
            </a:avLst>
          </a:prstGeom>
          <a:solidFill>
            <a:srgbClr val="F9F4EC"/>
          </a:solidFill>
          <a:ln/>
        </p:spPr>
      </p:sp>
      <p:sp>
        <p:nvSpPr>
          <p:cNvPr id="32" name="match-hex"/>
          <p:cNvSpPr/>
          <p:nvPr/>
        </p:nvSpPr>
        <p:spPr>
          <a:xfrm>
            <a:off x="4297589" y="4048817"/>
            <a:ext cx="384048" cy="332586"/>
          </a:xfrm>
          <a:prstGeom prst="hexagon">
            <a:avLst/>
          </a:prstGeom>
          <a:solidFill>
            <a:srgbClr val="B8862B"/>
          </a:solidFill>
          <a:ln/>
        </p:spPr>
      </p:sp>
      <p:sp>
        <p:nvSpPr>
          <p:cNvPr id="33"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902330"/>
            <a:ext cx="6595659"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God of thunder, shown with his hammer Mjolnir</a:t>
            </a:r>
            <a:endParaRPr lang="en-US" sz="2000" dirty="0"/>
          </a:p>
        </p:txBody>
      </p:sp>
      <p:sp>
        <p:nvSpPr>
          <p:cNvPr id="35" name="match-card"/>
          <p:cNvSpPr/>
          <p:nvPr/>
        </p:nvSpPr>
        <p:spPr>
          <a:xfrm>
            <a:off x="777240" y="4619329"/>
            <a:ext cx="3081437" cy="625559"/>
          </a:xfrm>
          <a:prstGeom prst="roundRect">
            <a:avLst>
              <a:gd name="adj" fmla="val 11694"/>
            </a:avLst>
          </a:prstGeom>
          <a:solidFill>
            <a:srgbClr val="F8F6F4"/>
          </a:solidFill>
          <a:ln/>
        </p:spPr>
      </p:sp>
      <p:sp>
        <p:nvSpPr>
          <p:cNvPr id="36" name="match-hex"/>
          <p:cNvSpPr/>
          <p:nvPr/>
        </p:nvSpPr>
        <p:spPr>
          <a:xfrm>
            <a:off x="850392" y="4765816"/>
            <a:ext cx="384048" cy="332586"/>
          </a:xfrm>
          <a:prstGeom prst="hexagon">
            <a:avLst/>
          </a:prstGeom>
          <a:solidFill>
            <a:srgbClr val="7A4A1E"/>
          </a:solidFill>
          <a:ln/>
        </p:spPr>
      </p:sp>
      <p:sp>
        <p:nvSpPr>
          <p:cNvPr id="37" name="match-hex-label"/>
          <p:cNvSpPr txBox="1"/>
          <p:nvPr/>
        </p:nvSpPr>
        <p:spPr>
          <a:xfrm>
            <a:off x="850392" y="4765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619329"/>
            <a:ext cx="2487077"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Heimdall</a:t>
            </a:r>
            <a:endParaRPr lang="en-US" sz="2000" dirty="0"/>
          </a:p>
        </p:txBody>
      </p:sp>
      <p:sp>
        <p:nvSpPr>
          <p:cNvPr id="39" name="match-card"/>
          <p:cNvSpPr/>
          <p:nvPr/>
        </p:nvSpPr>
        <p:spPr>
          <a:xfrm>
            <a:off x="4224437" y="4619329"/>
            <a:ext cx="7190019" cy="625559"/>
          </a:xfrm>
          <a:prstGeom prst="roundRect">
            <a:avLst>
              <a:gd name="adj" fmla="val 11694"/>
            </a:avLst>
          </a:prstGeom>
          <a:solidFill>
            <a:srgbClr val="F9F4EC"/>
          </a:solidFill>
          <a:ln/>
        </p:spPr>
      </p:sp>
      <p:sp>
        <p:nvSpPr>
          <p:cNvPr id="40" name="match-hex"/>
          <p:cNvSpPr/>
          <p:nvPr/>
        </p:nvSpPr>
        <p:spPr>
          <a:xfrm>
            <a:off x="4297589" y="4765816"/>
            <a:ext cx="384048" cy="332586"/>
          </a:xfrm>
          <a:prstGeom prst="hexagon">
            <a:avLst/>
          </a:prstGeom>
          <a:solidFill>
            <a:srgbClr val="B8862B"/>
          </a:solidFill>
          <a:ln/>
        </p:spPr>
      </p:sp>
      <p:sp>
        <p:nvSpPr>
          <p:cNvPr id="41" name="match-hex-label"/>
          <p:cNvSpPr txBox="1"/>
          <p:nvPr/>
        </p:nvSpPr>
        <p:spPr>
          <a:xfrm>
            <a:off x="4297589" y="4765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619329"/>
            <a:ext cx="6595659"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God of light and protection, who keeps watch for invaders</a:t>
            </a:r>
            <a:endParaRPr lang="en-US" sz="2000" dirty="0"/>
          </a:p>
        </p:txBody>
      </p:sp>
      <p:sp>
        <p:nvSpPr>
          <p:cNvPr id="43" name="match-card"/>
          <p:cNvSpPr/>
          <p:nvPr/>
        </p:nvSpPr>
        <p:spPr>
          <a:xfrm>
            <a:off x="777240" y="5336329"/>
            <a:ext cx="3081437" cy="625559"/>
          </a:xfrm>
          <a:prstGeom prst="roundRect">
            <a:avLst>
              <a:gd name="adj" fmla="val 11694"/>
            </a:avLst>
          </a:prstGeom>
          <a:solidFill>
            <a:srgbClr val="F8F6F4"/>
          </a:solidFill>
          <a:ln/>
        </p:spPr>
      </p:sp>
      <p:sp>
        <p:nvSpPr>
          <p:cNvPr id="44" name="match-hex"/>
          <p:cNvSpPr/>
          <p:nvPr/>
        </p:nvSpPr>
        <p:spPr>
          <a:xfrm>
            <a:off x="850392" y="5482816"/>
            <a:ext cx="384048" cy="332586"/>
          </a:xfrm>
          <a:prstGeom prst="hexagon">
            <a:avLst/>
          </a:prstGeom>
          <a:solidFill>
            <a:srgbClr val="7A4A1E"/>
          </a:solidFill>
          <a:ln/>
        </p:spPr>
      </p:sp>
      <p:sp>
        <p:nvSpPr>
          <p:cNvPr id="45" name="match-hex-label"/>
          <p:cNvSpPr txBox="1"/>
          <p:nvPr/>
        </p:nvSpPr>
        <p:spPr>
          <a:xfrm>
            <a:off x="850392" y="5482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336329"/>
            <a:ext cx="2487077"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Valhalla</a:t>
            </a:r>
            <a:endParaRPr lang="en-US" sz="2000" dirty="0"/>
          </a:p>
        </p:txBody>
      </p:sp>
      <p:sp>
        <p:nvSpPr>
          <p:cNvPr id="47" name="match-card"/>
          <p:cNvSpPr/>
          <p:nvPr/>
        </p:nvSpPr>
        <p:spPr>
          <a:xfrm>
            <a:off x="4224437" y="5336329"/>
            <a:ext cx="7190019" cy="625559"/>
          </a:xfrm>
          <a:prstGeom prst="roundRect">
            <a:avLst>
              <a:gd name="adj" fmla="val 11694"/>
            </a:avLst>
          </a:prstGeom>
          <a:solidFill>
            <a:srgbClr val="F9F4EC"/>
          </a:solidFill>
          <a:ln/>
        </p:spPr>
      </p:sp>
      <p:sp>
        <p:nvSpPr>
          <p:cNvPr id="48" name="match-hex"/>
          <p:cNvSpPr/>
          <p:nvPr/>
        </p:nvSpPr>
        <p:spPr>
          <a:xfrm>
            <a:off x="4297589" y="5482816"/>
            <a:ext cx="384048" cy="332586"/>
          </a:xfrm>
          <a:prstGeom prst="hexagon">
            <a:avLst/>
          </a:prstGeom>
          <a:solidFill>
            <a:srgbClr val="B8862B"/>
          </a:solidFill>
          <a:ln/>
        </p:spPr>
      </p:sp>
      <p:sp>
        <p:nvSpPr>
          <p:cNvPr id="49" name="match-hex-label"/>
          <p:cNvSpPr txBox="1"/>
          <p:nvPr/>
        </p:nvSpPr>
        <p:spPr>
          <a:xfrm>
            <a:off x="4297589" y="5482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336329"/>
            <a:ext cx="6595659"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Viking heaven, where warriors hoped to live after death</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The Viking gods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Viking gods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Valhalla is the only place in the list; everything else is a god. Match it to the heaven.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Thor is the one with the hammer: think of thunder.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Loki makes mischief and is shown as a snake.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the two left, Odin is the king and Heimdall is the watchman.</a:t>
            </a:r>
            <a:endParaRPr lang="en-US" sz="1800" dirty="0"/>
          </a:p>
        </p:txBody>
      </p:sp>
      <p:sp>
        <p:nvSpPr>
          <p:cNvPr id="17" name="col-Core"/>
          <p:cNvSpPr/>
          <p:nvPr/>
        </p:nvSpPr>
        <p:spPr>
          <a:xfrm>
            <a:off x="5490762" y="2395728"/>
            <a:ext cx="2938987" cy="3749040"/>
          </a:xfrm>
          <a:prstGeom prst="roundRect">
            <a:avLst>
              <a:gd name="adj" fmla="val 1867"/>
            </a:avLst>
          </a:prstGeom>
          <a:solidFill>
            <a:srgbClr val="E6DDD4"/>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One is a place, four are gods. The hammer belongs to the thunder god.</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the belief in Valhalla might have changed the way a Viking warrior behaved in battle.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What does the find tell us?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carnelian bead found in a Viking grave at Repton, in England, was made from stone that came from Gujarat, in India. What does this find tell us about the Vikings?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They made their own beads from stone found in England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They were part of trade routes that reached far beyond Scandinavia</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They sailed their longships all the way to India to raid it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They had no interest in jewellery or wealth</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What does the find tell us?</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What does the find tell us?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where the object was made, and where it was found.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those two places are far apart, the object travelled. Ask how: through traders, one to the next.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 inference is a good guess based on the evidence. What does a far-travelled object suggest about the people who owned it?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Pick the option about trade and distance, not about raiding India or about English stone.</a:t>
            </a:r>
            <a:endParaRPr lang="en-US" sz="1800" dirty="0"/>
          </a:p>
        </p:txBody>
      </p:sp>
      <p:sp>
        <p:nvSpPr>
          <p:cNvPr id="17" name="col-Core"/>
          <p:cNvSpPr/>
          <p:nvPr/>
        </p:nvSpPr>
        <p:spPr>
          <a:xfrm>
            <a:off x="6425403" y="2395728"/>
            <a:ext cx="2471666" cy="3749040"/>
          </a:xfrm>
          <a:prstGeom prst="roundRect">
            <a:avLst>
              <a:gd name="adj" fmla="val 2220"/>
            </a:avLst>
          </a:prstGeom>
          <a:solidFill>
            <a:srgbClr val="E6DDD4"/>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Where was it made, where was it found, and how did it get from one to the other?</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archaeologists could use many finds like this one to draw a map of Viking trade routes, and what the limits of such a map would be.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three countries did the Vikings mostly come from?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Denmark, France and the Netherlands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Norway, Sweden and Denmark</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Norway, Germany and Britain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Sweden, Finland and Russia</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Viking gods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Odin  →  A  King of the gods</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Thor  →  C  God of thunder, shown with his hammer Mjolnir</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Loki  →  B  God of mischief and chaos, shown as a snake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Heimdall  →  D  God of light and protection, who keeps watch for invaders</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Valhalla  →  E  The Viking heaven, where warriors hoped to live after death</a:t>
            </a:r>
            <a:endParaRPr lang="en-US" sz="22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Odin was king of the gods; Thor the thunder god with Mjolnir; Loki the god of mischief, shown as a snake; Heimdall the watchman god of light and protection; Valhalla the heaven where warriors hoped to live with Odin.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What does the find tell us?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carnelian bead found in a Viking grave at Repton, in England, was made from stone that came from Gujarat, in India. What does this find tell us about the Vikings?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They were part of trade routes that reached far beyond Scandinavia</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object made in one place and found thousands of miles away shows trade and travel. The Vikings were traders connected to the Islamic world, Byzantium and eastern Europe, as well as raiders.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three countries did the Vikings mostly come from?</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Norway, Sweden and Denmark</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Scandinavia is Norway, Sweden and Denmark. The Vikings did not come from Britain.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Vikings and Anglo-Saxons · Chapter 3: Who were the Vikings?</dc:title>
  <dc:subject>History · Year 7</dc:subject>
  <dc:creator>Dr Vitor Merissi de Carvalho</dc:creator>
  <cp:lastModifiedBy>Dr Vitor Merissi de Carvalho</cp:lastModifiedBy>
  <cp:revision>1</cp:revision>
  <dcterms:created xsi:type="dcterms:W3CDTF">2026-10-19T16:23:17Z</dcterms:created>
  <dcterms:modified xsi:type="dcterms:W3CDTF">2026-10-19T16:23:17Z</dcterms:modified>
</cp:coreProperties>
</file>