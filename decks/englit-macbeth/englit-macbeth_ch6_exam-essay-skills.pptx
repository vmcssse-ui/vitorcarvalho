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e93549c-c6ac-1837-f179-6f361e1b5b9e}">
          <p14:sldIdLst>
            <p14:sldId id="256"/>
          </p14:sldIdLst>
        </p14:section>
        <p14:section name="Gate" id="{165af8e2-665c-efc5-40c6-c1ccc77d78de}">
          <p14:sldIdLst>
            <p14:sldId id="257"/>
            <p14:sldId id="258"/>
          </p14:sldIdLst>
        </p14:section>
        <p14:section name="Pre-teach" id="{82f25ab3-1745-5fbe-341c-16cf5ff07a3d}">
          <p14:sldIdLst>
            <p14:sldId id="259"/>
          </p14:sldIdLst>
        </p14:section>
        <p14:section name="Read-along" id="{082ccd4b-e450-0006-a924-1ca078132520}">
          <p14:sldIdLst>
            <p14:sldId id="260"/>
          </p14:sldIdLst>
        </p14:section>
        <p14:section name="Teach" id="{3a776cd5-4761-1c96-2b10-89bef69d2dcf}">
          <p14:sldIdLst>
            <p14:sldId id="261"/>
            <p14:sldId id="262"/>
            <p14:sldId id="263"/>
          </p14:sldIdLst>
        </p14:section>
        <p14:section name="Routes" id="{59bb19d9-b833-503b-799a-6d9668ce491a}">
          <p14:sldIdLst>
            <p14:sldId id="264"/>
            <p14:sldId id="265"/>
            <p14:sldId id="266"/>
            <p14:sldId id="267"/>
            <p14:sldId id="268"/>
          </p14:sldIdLst>
        </p14:section>
        <p14:section name="Close" id="{33d2a08d-ea24-fe97-bb59-085ae70685dc}">
          <p14:sldIdLst>
            <p14:sldId id="269"/>
          </p14:sldIdLst>
        </p14:section>
        <p14:section name="Answers" id="{f859583a-d2b4-9af1-8bbb-db9dda5cd40b}">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Writing the Macbeth essay. This chapter shows you how to turn everything you know into a planned answer, from the extract to the whole play.
This deck covers the department's lessons: 7 (Presentation of Macbeth in Act 1 Scenes 1–3: How does Shakespeare present Macbeth in the opening scenes of the play?); 14 (Mid-unit assessment preparation (with Revising Lady Macbeth): How do I approach the exam-style question, from the extract to the whole play?).
Read the big question aloud: "What is the plot, context and key themes of Shakespeare's play Macbeth, and how does Shakespeare turn a hero into a tyrant?"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assessment objective is about context?  →  A   AO3
2. How many marks is the Macbeth question worth, not counting the 4 marks for spelling, punctuation and grammar?  →  30 marks
3. Which sentence embeds a quotation best?  →  C   Macbeth admits his mind is “full of scorpions”, an image of thoughts that sting and poison him.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AO3. AO3 is the link between the play and the world it was written in.
2. 30 marks. 30 marks for your response, plus 4 for AO4, makes 34 marks for the Shakespeare section.
3. C   Macbeth admits his mind is “full of scorpions”, an image of thoughts that sting and poison him.. The best option fits a short quotation into the writer's own sentence and explains it straight away.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extract: a short part of the play printed on the paper. Example: "Start by reading the extract carefully."
• argument: the main idea your whole answer proves. Example: "A clear argument links every paragraph together."
• embed: to fit a quotation inside your own sentence. Example: "Embed a short quotation instead of copying long lines."
• method: a choice the writer makes, like an image or a question. Example: "Name the method, then explain its effect."
• whole play: everything outside the extract. Example: "You must also write about the whole play."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1–11 of 11:
1. In the exam, you answer one question on Macbeth.
2. The paper gives you a short extract from the play.
3. You write about the extract, and about the whole play.
4. You will not have the play with you.
5. So you need key quotations in your memory.
6. Spend ten minutes reading and planning first.
7. Decide your main argument before you write.
8. Use short quotations and fit them into your sentences.
9. Explain the effect of one word or method at a time.
10. Link your ideas to the world of 1606.
11. Check your spelling, punctuation and grammar at the end.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question is asking for. Say it in your own words, then check understanding with a quick question: ask a pupil from the pre-teach group first, since they met these words and ideas before the lesson. Pupils try to recall before you re-explain.
The Macbeth question is in Section A of Paper 1. It is worth 30 marks, with 4 more marks for spelling, punctuation and grammar. It is a closed-book exam, so the extract is the only part of the play you will have in front of you.
Your teacher marks four things. AO1: you answer the question with a clear argument and use quotations as evidence. AO2: you analyse how Shakespeare uses language, structure and form, using subject terms. AO3: you show how the play connects to the world it was written in. AO4: your writing is accurate and uses a good range of vocabulary.
Quotation: "We will proceed no further in this business." (1.7.34). Read it aloud; ask what it shows.
Tip: A short quotation like ‘business’ is worth more than a long one: it lets you zoom in on one word and show AO2.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From the extract to the whole play. Say it in your own words, then check understanding with a quick question: ask a pupil from the pre-teach group first, since they met these words and ideas before the lesson. Pupils try to recall before you re-explain.
Before you write, place the extract: is it near the beginning, middle or end of the play? Then ask how the character, relationship or theme looks before and after it. This is how you turn one page into an answer about the whole play.
A reliable plan has six parts: an introduction with your argument; two points about the extract; one point about earlier or later in the play; one point about the ending; and a conclusion about what Shakespeare was showing. Bring context into the middle paragraphs, where it can explain a quotation. For the Macbeths, you might track their partnership from Act 1, where they plan together, to Act 3, where Macbeth shuts her out.
Quotation: "Be innocent of the knowledge, dearest chuck" (3.2.50). Read it aloud; ask what it shows.
Tip: ‘Chuck’ is a pet name, like ‘chick’. It sounds loving, but he is hiding a murder from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a strong paragraph. Say it in your own words, then check understanding with a quick question: ask a pupil from the pre-teach group first, since they met these words and ideas before the lesson. Pupils try to recall before you re-explain.
Use the What, How, Why structure from your lessons. What: make a point that answers the question. How: give a short, embedded quotation and name the method. Why: explain the effect, zoom in on a word, and say what Shakespeare wanted his audience to think or feel.
Weave context into your analysis instead of adding it at the end. For example, Lady Macbeth tells Macbeth in Act 3 that “What's done is done”. By Act 5 she says that it cannot be undone. Placing those lines side by side, with a sentence about Christian ideas of sin, is a whole-play paragraph in miniature.
Quotation: "What's done cannot be undone." (5.1.74). Read it aloud; ask what it shows.
Tip: If a sentence of context could be pasted into any essay, it is not yet doing its job. Tie it to a word in your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Plan in the right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parts of an extract-to-whole-play answer in the order you would write them.
Support — work through the steps with the group: (1) Every answer opens with your argument and closes with your conclusion. (2) The extract comes first, because the question starts there. (3) Then move out into the play, ending with Act 5.
Parallel worked example for Support (model it, do not give the task answer): Practice: order a single paragraph: explain the effect; make your point; give a quotation; link to context. What: the point comes first.; How: then the quotation.; Why: then the effect, then context woven in.. Answer: Make your point; give a quotation; explain the effect; link to context..
Core — reveal the hint only on request: Think of zooming: start on the extract, then pull back to show the whole play.
Stretch — no help; when finished: If the extract came from Act 5, how would you change this plan? Rewrite the order for that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Plan in the right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parts of an extract-to-whole-play answer in the order you would write them.
Support — work through the steps with the group: (1) Every answer opens with your argument and closes with your conclusion. (2) The extract comes first, because the question starts there. (3) Then move out into the play, ending with Act 5.
Parallel worked example for Support (model it, do not give the task answer): Practice: order a single paragraph: explain the effect; make your point; give a quotation; link to context. What: the point comes first.; How: then the quotation.; Why: then the effect, then context woven in.. Answer: Make your point; give a quotation; explain the effect; link to context..
Core — reveal the hint only on request: Think of zooming: start on the extract, then pull back to show the whole play.
Stretch — no help; when finished: If the extract came from Act 5, how would you change this plan? Rewrite the order for that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extract-to-whole-play answer.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Begin with Act 1 Scene 7, from Macbeth's line “We will proceed no further in this business” to Lady Macbeth's “But screw your courage to the sticking place / And we'll not fail.” How does Shakespeare present the relationship between Macbeth and Lady Macbeth, in this part of the scene and across the whole play? Write your introduction and first two paragraphs.
Support — work through the steps with the group: (1) Introduction: write one sentence on how the relationship changes from start to end (for example, from her control to his isolation). (2) Paragraph 1: who has the power in the extract? Quote one line by each of them and analyse one word. (3) Paragraph 2: jump to Act 3 Scene 2 or Act 3 Scene 4. Who has the power now? Quote and analyse. (4) Weave in context: warrior culture, Jacobean ideas about wives, or the divine right of kings.
Parallel worked example for Support (model it, do not give the task answer): Practice question (a different relationship): how does Shakespeare present the friendship between Macbeth and Banquo, in Act 1 Scene 3 and across the play? Argument: they begin as equals but the prophecy turns Macbeth against his friend.; Extract: they meet the witches together; Banquo asks why Macbeth starts and seems to fear.; Later: in Act 3 Scene 1 Macbeth says that being king is nothing unless he is safe, and plans Banquo's murder.; Context: fealty and loyalty between soldiers mattered deeply in a warrior culture.. Answer: Shakespeare presents Macbeth and Banquo as comrades who are split apart by the prophecy. In Act 1 Scene 3 Banquo asks, “Why do you start and seem to fear / Things that do sound so fair?”, noticing his friend's reaction as only a close companion would. By Act 3, Macbeth believes “To be thus is nothing, / But to be safely thus”, and the friend has become a threat to be removed..
Core — reveal the hint only on request: Find the moment the power shifts. In the extract it moves to her; by Act 3 it has moved back to him, and he no longer shares his plans.
Stretch — no help; when finished: Write a conclusion that judges the relationship: is Shakespeare showing a loving marriage destroyed by ambition, or a partnership that was always built on power? Refer to Act 5 Scene 1 and Act 5 Scene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extract-to-whole-play answer.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Begin with Act 1 Scene 7, from Macbeth's line “We will proceed no further in this business” to Lady Macbeth's “But screw your courage to the sticking place / And we'll not fail.” How does Shakespeare present the relationship between Macbeth and Lady Macbeth, in this part of the scene and across the whole play? Write your introduction and first two paragraphs.
Support — work through the steps with the group: (1) Introduction: write one sentence on how the relationship changes from start to end (for example, from her control to his isolation). (2) Paragraph 1: who has the power in the extract? Quote one line by each of them and analyse one word. (3) Paragraph 2: jump to Act 3 Scene 2 or Act 3 Scene 4. Who has the power now? Quote and analyse. (4) Weave in context: warrior culture, Jacobean ideas about wives, or the divine right of kings.
Parallel worked example for Support (model it, do not give the task answer): Practice question (a different relationship): how does Shakespeare present the friendship between Macbeth and Banquo, in Act 1 Scene 3 and across the play? Argument: they begin as equals but the prophecy turns Macbeth against his friend.; Extract: they meet the witches together; Banquo asks why Macbeth starts and seems to fear.; Later: in Act 3 Scene 1 Macbeth says that being king is nothing unless he is safe, and plans Banquo's murder.; Context: fealty and loyalty between soldiers mattered deeply in a warrior culture.. Answer: Shakespeare presents Macbeth and Banquo as comrades who are split apart by the prophecy. In Act 1 Scene 3 Banquo asks, “Why do you start and seem to fear / Things that do sound so fair?”, noticing his friend's reaction as only a close companion would. By Act 3, Macbeth believes “To be thus is nothing, / But to be safely thus”, and the friend has become a threat to be removed..
Core — reveal the hint only on request: Find the moment the power shifts. In the extract it moves to her; by Act 3 it has moved back to him, and he no longer shares his plans.
Stretch — no help; when finished: Write a conclusion that judges the relationship: is Shakespeare showing a loving marriage destroyed by ambition, or a partnership that was always built on power? Refer to Act 5 Scene 1 and Act 5 Scene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extract-to-whole-play answer.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Begin with Act 1 Scene 7, from Macbeth's line “We will proceed no further in this business” to Lady Macbeth's “But screw your courage to the sticking place / And we'll not fail.” How does Shakespeare present the relationship between Macbeth and Lady Macbeth, in this part of the scene and across the whole play? Write your introduction and first two paragraphs.
Support — work through the steps with the group: (1) Introduction: write one sentence on how the relationship changes from start to end (for example, from her control to his isolation). (2) Paragraph 1: who has the power in the extract? Quote one line by each of them and analyse one word. (3) Paragraph 2: jump to Act 3 Scene 2 or Act 3 Scene 4. Who has the power now? Quote and analyse. (4) Weave in context: warrior culture, Jacobean ideas about wives, or the divine right of kings.
Parallel worked example for Support (model it, do not give the task answer): Practice question (a different relationship): how does Shakespeare present the friendship between Macbeth and Banquo, in Act 1 Scene 3 and across the play? Argument: they begin as equals but the prophecy turns Macbeth against his friend.; Extract: they meet the witches together; Banquo asks why Macbeth starts and seems to fear.; Later: in Act 3 Scene 1 Macbeth says that being king is nothing unless he is safe, and plans Banquo's murder.; Context: fealty and loyalty between soldiers mattered deeply in a warrior culture.. Answer: Shakespeare presents Macbeth and Banquo as comrades who are split apart by the prophecy. In Act 1 Scene 3 Banquo asks, “Why do you start and seem to fear / Things that do sound so fair?”, noticing his friend's reaction as only a close companion would. By Act 3, Macbeth believes “To be thus is nothing, / But to be safely thus”, and the friend has become a threat to be removed..
Core — reveal the hint only on request: Find the moment the power shifts. In the extract it moves to her; by Act 3 it has moved back to him, and he no longer shares his plans.
Stretch — no help; when finished: Write a conclusion that judges the relationship: is Shakespeare showing a loving marriage destroyed by ambition, or a partnership that was always built on power? Refer to Act 5 Scene 1 and Act 5 Scene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sentence weaves context in best?
Answer: C   Macduff calls the murder “sacrilegious”, a word that turns regicide into an attack on God, as the divine right of kings would lead a Jacobean audience to feel.. Only option B joins a quotation, its effect and the context in one sentence. The others state context without linking it to the play.
Source of this question: module 3 task ("Weaving context in")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Plan in the right order. Reveal the answer; pupils mark their own work in a different colour, then read the "why" together. Same destination for every lane, so one answer serves the whole class.
Answer: Introduction: your argument about how the character or theme develops  (A); First point about the extract  (C); Second point about the extract  (F); A point about the same idea earlier or later in the play  (B); A point about how the idea ends by Act 5  (E); Conclusion: what Shakespeare was showing his audience  (D)
Why: The plan moves from the extract outward and ends with Shakespeare's purpose, so that every paragraph serves one argument.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extract-to-whole-play answer. Reveal the answer; pupils mark their own work in a different colour, then read the "why" together. Same destination for every lane, so one answer serves the whole class.
Answer: AO1: an introduction with a clear argument about how the relationship develops; AO1: short, embedded quotations from the extract and from at least one other scene; AO2: analysis of methods such as questions, insults, imperatives, or pet names, with subject terms; AO3: context woven in, for example warrior culture, gender expectations or the divine right of kings; AO4: accurate spelling, punctuation and grammar
Why: Top answers make one argument, start from the extract, then move across the play to show change. Context should explain why a method works, as warrior culture does in the model.
Model answer: Shakespeare presents the Macbeths' relationship as a partnership that is powerful at first but slowly breaks apart. In this part of Act 1 Scene 7, Lady Macbeth holds the power. When Macbeth announces “We will proceed no further in this business”, the word ‘business’ makes murder sound like a deal he can cancel. She replies with questions and insults, claiming “When you durst do it, then you were a man”. By tying courage to manhood, she turns the values of a warrior culture against him, and within minutes he agrees. Yet by Act 3 Scene 2 he tells her to “Be innocent of the knowledge, dearest chuck”: he now plans murder without her, and the tender word ‘chuck’ hides the fact that she has lost her place beside him.
Success criteria: AO1: an introduction with a clear argument about how the relationship develops; AO1: short, embedded quotations from the extract and from at least one other scene; AO2: analysis of methods such as questions, insults, imperatives, or pet names, with subject terms; AO3: context woven in, for example warrior culture, gender expectations or the divine right of kings; AO4: accurate spelling, punctuation and grammar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extract-to-whole-play answer. Reveal the answer; pupils mark their own work in a different colour, then read the "why" together. Same destination for every lane, so one answer serves the whole class.
Answer: AO1: an introduction with a clear argument about how the relationship develops; AO1: short, embedded quotations from the extract and from at least one other scene; AO2: analysis of methods such as questions, insults, imperatives, or pet names, with subject terms; AO3: context woven in, for example warrior culture, gender expectations or the divine right of kings; AO4: accurate spelling, punctuation and grammar
Why: Top answers make one argument, start from the extract, then move across the play to show change. Context should explain why a method works, as warrior culture does in the model.
Model answer: Shakespeare presents the Macbeths' relationship as a partnership that is powerful at first but slowly breaks apart. In this part of Act 1 Scene 7, Lady Macbeth holds the power. When Macbeth announces “We will proceed no further in this business”, the word ‘business’ makes murder sound like a deal he can cancel. She replies with questions and insults, claiming “When you durst do it, then you were a man”. By tying courage to manhood, she turns the values of a warrior culture against him, and within minutes he agrees. Yet by Act 3 Scene 2 he tells her to “Be innocent of the knowledge, dearest chuck”: he now plans murder without her, and the tender word ‘chuck’ hides the fact that she has lost her place beside him.
Success criteria: AO1: an introduction with a clear argument about how the relationship develops; AO1: short, embedded quotations from the extract and from at least one other scene; AO2: analysis of methods such as questions, insults, imperatives, or pet names, with subject terms; AO3: context woven in, for example warrior culture, gender expectations or the divine right of kings; AO4: accurate spelling, punctuation and grammar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Macduff calls the murder “sacrilegious”, a word that turns regicide into an attack on God, as the divine right of kings would lead a Jacobean audience to feel.
Why: Only option B joins a quotation, its effect and the context in one sentence. The others state context without linking it to the play.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Macbeth · AQA 8702</a:t>
            </a:r>
            <a:endParaRPr lang="en-US" sz="1800" dirty="0"/>
          </a:p>
        </p:txBody>
      </p:sp>
      <p:sp>
        <p:nvSpPr>
          <p:cNvPr id="10" name="deck-title"/>
          <p:cNvSpPr txBox="1"/>
          <p:nvPr/>
        </p:nvSpPr>
        <p:spPr>
          <a:xfrm>
            <a:off x="548640" y="190931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Writing the Macbeth essay</a:t>
            </a:r>
            <a:endParaRPr lang="en-US" sz="4000" dirty="0"/>
          </a:p>
        </p:txBody>
      </p:sp>
      <p:sp>
        <p:nvSpPr>
          <p:cNvPr id="11" name="lessons-card"/>
          <p:cNvSpPr/>
          <p:nvPr/>
        </p:nvSpPr>
        <p:spPr>
          <a:xfrm>
            <a:off x="548640" y="3585718"/>
            <a:ext cx="5287975" cy="1948180"/>
          </a:xfrm>
          <a:prstGeom prst="roundRect">
            <a:avLst>
              <a:gd name="adj" fmla="val 3755"/>
            </a:avLst>
          </a:prstGeom>
          <a:solidFill>
            <a:srgbClr val="EAE5EE"/>
          </a:solidFill>
          <a:ln/>
        </p:spPr>
      </p:sp>
      <p:sp>
        <p:nvSpPr>
          <p:cNvPr id="12" name="lessons"/>
          <p:cNvSpPr txBox="1"/>
          <p:nvPr/>
        </p:nvSpPr>
        <p:spPr>
          <a:xfrm>
            <a:off x="685800" y="367715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Presentation of Macbeth in Act 1 Scenes 1–3</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Mid-unit assessment preparation (with Revising Lady Macbeth)</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plot, context and key themes of Shakespeare's play Macbeth, and how does Shakespeare turn a hero into a tyrant?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assessment objective is about context?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AO3</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AO4</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AO1</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AO2</a:t>
            </a:r>
            <a:endParaRPr lang="en-US" sz="2400" dirty="0"/>
          </a:p>
        </p:txBody>
      </p:sp>
      <p:sp>
        <p:nvSpPr>
          <p:cNvPr id="12" name="card"/>
          <p:cNvSpPr/>
          <p:nvPr/>
        </p:nvSpPr>
        <p:spPr>
          <a:xfrm>
            <a:off x="3459404" y="1389888"/>
            <a:ext cx="2636444" cy="4754880"/>
          </a:xfrm>
          <a:prstGeom prst="roundRect">
            <a:avLst>
              <a:gd name="adj" fmla="val 2081"/>
            </a:avLst>
          </a:prstGeom>
          <a:solidFill>
            <a:srgbClr val="EFEBF2"/>
          </a:solidFill>
          <a:ln w="12700">
            <a:solidFill>
              <a:srgbClr val="C1B4CC"/>
            </a:solidFill>
            <a:prstDash val="solid"/>
          </a:ln>
        </p:spPr>
      </p:sp>
      <p:sp>
        <p:nvSpPr>
          <p:cNvPr id="13" name="card-hex"/>
          <p:cNvSpPr/>
          <p:nvPr/>
        </p:nvSpPr>
        <p:spPr>
          <a:xfrm>
            <a:off x="3642284" y="1572768"/>
            <a:ext cx="640080" cy="554309"/>
          </a:xfrm>
          <a:prstGeom prst="hexagon">
            <a:avLst/>
          </a:prstGeom>
          <a:solidFill>
            <a:srgbClr val="5B3A7A"/>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How many marks is the Macbeth question worth, not counting the 4 marks for spelling, punctuation and grammar?</a:t>
            </a:r>
            <a:endParaRPr lang="en-US" sz="2000" dirty="0"/>
          </a:p>
          <a:p>
            <a:pPr algn="l" indent="0" marL="0">
              <a:buNone/>
            </a:pPr>
            <a:r>
              <a:rPr lang="en-US" sz="2000" b="1" dirty="0">
                <a:solidFill>
                  <a:srgbClr val="5B3A7A"/>
                </a:solidFill>
                <a:latin typeface="Calibri" pitchFamily="34" charset="0"/>
                <a:ea typeface="Calibri" pitchFamily="34" charset="-122"/>
                <a:cs typeface="Calibri" pitchFamily="34" charset="-120"/>
              </a:rPr>
              <a:t>Answer:  </a:t>
            </a:r>
            <a:pPr algn="l" indent="0" marL="0">
              <a:buNone/>
            </a:pPr>
            <a:r>
              <a:rPr lang="en-US" sz="2000" dirty="0">
                <a:solidFill>
                  <a:srgbClr val="1E2229"/>
                </a:solidFill>
                <a:latin typeface="Calibri" pitchFamily="34" charset="0"/>
                <a:ea typeface="Calibri" pitchFamily="34" charset="-122"/>
                <a:cs typeface="Calibri" pitchFamily="34" charset="-120"/>
              </a:rPr>
              <a:t>________ marks</a:t>
            </a:r>
            <a:endParaRPr lang="en-US" sz="2000" dirty="0"/>
          </a:p>
        </p:txBody>
      </p:sp>
      <p:sp>
        <p:nvSpPr>
          <p:cNvPr id="17" name="card"/>
          <p:cNvSpPr/>
          <p:nvPr/>
        </p:nvSpPr>
        <p:spPr>
          <a:xfrm>
            <a:off x="6370168" y="1389888"/>
            <a:ext cx="5272888" cy="4754880"/>
          </a:xfrm>
          <a:prstGeom prst="roundRect">
            <a:avLst>
              <a:gd name="adj" fmla="val 1154"/>
            </a:avLst>
          </a:prstGeom>
          <a:solidFill>
            <a:srgbClr val="EFEBF2"/>
          </a:solidFill>
          <a:ln w="12700">
            <a:solidFill>
              <a:srgbClr val="C1B4CC"/>
            </a:solidFill>
            <a:prstDash val="solid"/>
          </a:ln>
        </p:spPr>
      </p:sp>
      <p:sp>
        <p:nvSpPr>
          <p:cNvPr id="18" name="card-hex"/>
          <p:cNvSpPr/>
          <p:nvPr/>
        </p:nvSpPr>
        <p:spPr>
          <a:xfrm>
            <a:off x="6553048" y="1572768"/>
            <a:ext cx="640080" cy="554309"/>
          </a:xfrm>
          <a:prstGeom prst="hexagon">
            <a:avLst/>
          </a:prstGeom>
          <a:solidFill>
            <a:srgbClr val="5B3A7A"/>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sentence embeds a quotation best?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Macbeth says a quote about scorpions in Act 3.</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Macbeth is scared. Quote: “O, full of scorpions is my mind, dear wife!”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Macbeth admits his mind is “full of scorpions”, an image of thoughts that sting and poison him.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 full of scorpions is my mind, dear wife!” This shows he is scared.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AO3</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assessment objective is about context?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AO3 is the link between the play and the world it was written in.</a:t>
            </a:r>
            <a:endParaRPr lang="en-US" sz="2000" dirty="0"/>
          </a:p>
        </p:txBody>
      </p:sp>
      <p:sp>
        <p:nvSpPr>
          <p:cNvPr id="14" name="card"/>
          <p:cNvSpPr/>
          <p:nvPr/>
        </p:nvSpPr>
        <p:spPr>
          <a:xfrm>
            <a:off x="3459404" y="1389888"/>
            <a:ext cx="2636444" cy="4754880"/>
          </a:xfrm>
          <a:prstGeom prst="roundRect">
            <a:avLst>
              <a:gd name="adj" fmla="val 2081"/>
            </a:avLst>
          </a:prstGeom>
          <a:solidFill>
            <a:srgbClr val="EFEBF2"/>
          </a:solidFill>
          <a:ln w="12700">
            <a:solidFill>
              <a:srgbClr val="C1B4CC"/>
            </a:solidFill>
            <a:prstDash val="solid"/>
          </a:ln>
        </p:spPr>
      </p:sp>
      <p:sp>
        <p:nvSpPr>
          <p:cNvPr id="15" name="card-hex"/>
          <p:cNvSpPr/>
          <p:nvPr/>
        </p:nvSpPr>
        <p:spPr>
          <a:xfrm>
            <a:off x="3642284" y="1572768"/>
            <a:ext cx="640080" cy="554309"/>
          </a:xfrm>
          <a:prstGeom prst="hexagon">
            <a:avLst/>
          </a:prstGeom>
          <a:solidFill>
            <a:srgbClr val="5B3A7A"/>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30 marks</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30 marks for your response, plus 4 for AO4, makes 34 marks for the Shakespeare section.</a:t>
            </a:r>
            <a:endParaRPr lang="en-US" sz="1800" dirty="0"/>
          </a:p>
        </p:txBody>
      </p:sp>
      <p:sp>
        <p:nvSpPr>
          <p:cNvPr id="21" name="card"/>
          <p:cNvSpPr/>
          <p:nvPr/>
        </p:nvSpPr>
        <p:spPr>
          <a:xfrm>
            <a:off x="6370168" y="1389888"/>
            <a:ext cx="5272888" cy="4754880"/>
          </a:xfrm>
          <a:prstGeom prst="roundRect">
            <a:avLst>
              <a:gd name="adj" fmla="val 1154"/>
            </a:avLst>
          </a:prstGeom>
          <a:solidFill>
            <a:srgbClr val="EFEBF2"/>
          </a:solidFill>
          <a:ln w="12700">
            <a:solidFill>
              <a:srgbClr val="C1B4CC"/>
            </a:solidFill>
            <a:prstDash val="solid"/>
          </a:ln>
        </p:spPr>
      </p:sp>
      <p:sp>
        <p:nvSpPr>
          <p:cNvPr id="22" name="card-hex"/>
          <p:cNvSpPr/>
          <p:nvPr/>
        </p:nvSpPr>
        <p:spPr>
          <a:xfrm>
            <a:off x="6553048" y="1572768"/>
            <a:ext cx="640080" cy="554309"/>
          </a:xfrm>
          <a:prstGeom prst="hexagon">
            <a:avLst/>
          </a:prstGeom>
          <a:solidFill>
            <a:srgbClr val="5B3A7A"/>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Macbeth admits his mind is “full of scorpions”, an image of thoughts that sting and poison him.</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sentence embeds a quotation best?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best option fits a short quotation into the writer's own sentence and explains it straight away.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EDE9F0"/>
          </a:solidFill>
          <a:ln/>
        </p:spPr>
      </p:sp>
      <p:sp>
        <p:nvSpPr>
          <p:cNvPr id="12" name="kw-hex"/>
          <p:cNvSpPr/>
          <p:nvPr/>
        </p:nvSpPr>
        <p:spPr>
          <a:xfrm>
            <a:off x="658368" y="2158020"/>
            <a:ext cx="411480" cy="356342"/>
          </a:xfrm>
          <a:prstGeom prst="hexagon">
            <a:avLst/>
          </a:prstGeom>
          <a:solidFill>
            <a:srgbClr val="5B3A7A"/>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extract</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short part of the play printed on the paper</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Start by reading the extract carefully.</a:t>
            </a:r>
            <a:endParaRPr lang="en-US" sz="1800" dirty="0"/>
          </a:p>
        </p:txBody>
      </p:sp>
      <p:sp>
        <p:nvSpPr>
          <p:cNvPr id="16" name="kw-row"/>
          <p:cNvSpPr/>
          <p:nvPr/>
        </p:nvSpPr>
        <p:spPr>
          <a:xfrm>
            <a:off x="548640" y="2825293"/>
            <a:ext cx="11094415" cy="831901"/>
          </a:xfrm>
          <a:prstGeom prst="roundRect">
            <a:avLst>
              <a:gd name="adj" fmla="val 6595"/>
            </a:avLst>
          </a:prstGeom>
          <a:solidFill>
            <a:srgbClr val="F4EDDF"/>
          </a:solidFill>
          <a:ln/>
        </p:spPr>
      </p:sp>
      <p:sp>
        <p:nvSpPr>
          <p:cNvPr id="17" name="kw-hex"/>
          <p:cNvSpPr/>
          <p:nvPr/>
        </p:nvSpPr>
        <p:spPr>
          <a:xfrm>
            <a:off x="658368" y="3063072"/>
            <a:ext cx="411480" cy="356342"/>
          </a:xfrm>
          <a:prstGeom prst="hexagon">
            <a:avLst/>
          </a:prstGeom>
          <a:solidFill>
            <a:srgbClr val="B8862B"/>
          </a:solidFill>
          <a:ln/>
        </p:spPr>
      </p:sp>
      <p:sp>
        <p:nvSpPr>
          <p:cNvPr id="18" name="kw-cell"/>
          <p:cNvSpPr txBox="1"/>
          <p:nvPr/>
        </p:nvSpPr>
        <p:spPr>
          <a:xfrm>
            <a:off x="1143000" y="2825293"/>
            <a:ext cx="2331720" cy="83190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argument</a:t>
            </a:r>
            <a:endParaRPr lang="en-US" sz="2000" dirty="0"/>
          </a:p>
        </p:txBody>
      </p:sp>
      <p:sp>
        <p:nvSpPr>
          <p:cNvPr id="19" name="kw-cell"/>
          <p:cNvSpPr txBox="1"/>
          <p:nvPr/>
        </p:nvSpPr>
        <p:spPr>
          <a:xfrm>
            <a:off x="3657600" y="2825293"/>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main idea your whole answer proves</a:t>
            </a:r>
            <a:endParaRPr lang="en-US" sz="1800" dirty="0"/>
          </a:p>
        </p:txBody>
      </p:sp>
      <p:sp>
        <p:nvSpPr>
          <p:cNvPr id="20" name="kw-cell"/>
          <p:cNvSpPr txBox="1"/>
          <p:nvPr/>
        </p:nvSpPr>
        <p:spPr>
          <a:xfrm>
            <a:off x="7315200" y="2825293"/>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clear argument links every paragraph together.</a:t>
            </a:r>
            <a:endParaRPr lang="en-US" sz="1800" dirty="0"/>
          </a:p>
        </p:txBody>
      </p:sp>
      <p:sp>
        <p:nvSpPr>
          <p:cNvPr id="21" name="kw-row"/>
          <p:cNvSpPr/>
          <p:nvPr/>
        </p:nvSpPr>
        <p:spPr>
          <a:xfrm>
            <a:off x="548640" y="3730346"/>
            <a:ext cx="11094415" cy="831901"/>
          </a:xfrm>
          <a:prstGeom prst="roundRect">
            <a:avLst>
              <a:gd name="adj" fmla="val 6595"/>
            </a:avLst>
          </a:prstGeom>
          <a:solidFill>
            <a:srgbClr val="EDE9F0"/>
          </a:solidFill>
          <a:ln/>
        </p:spPr>
      </p:sp>
      <p:sp>
        <p:nvSpPr>
          <p:cNvPr id="22" name="kw-hex"/>
          <p:cNvSpPr/>
          <p:nvPr/>
        </p:nvSpPr>
        <p:spPr>
          <a:xfrm>
            <a:off x="658368" y="3968125"/>
            <a:ext cx="411480" cy="356342"/>
          </a:xfrm>
          <a:prstGeom prst="hexagon">
            <a:avLst/>
          </a:prstGeom>
          <a:solidFill>
            <a:srgbClr val="5B3A7A"/>
          </a:solidFill>
          <a:ln/>
        </p:spPr>
      </p:sp>
      <p:sp>
        <p:nvSpPr>
          <p:cNvPr id="23" name="kw-cell"/>
          <p:cNvSpPr txBox="1"/>
          <p:nvPr/>
        </p:nvSpPr>
        <p:spPr>
          <a:xfrm>
            <a:off x="1143000" y="3730346"/>
            <a:ext cx="2331720" cy="83190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embed</a:t>
            </a:r>
            <a:endParaRPr lang="en-US" sz="2000" dirty="0"/>
          </a:p>
        </p:txBody>
      </p:sp>
      <p:sp>
        <p:nvSpPr>
          <p:cNvPr id="24" name="kw-cell"/>
          <p:cNvSpPr txBox="1"/>
          <p:nvPr/>
        </p:nvSpPr>
        <p:spPr>
          <a:xfrm>
            <a:off x="3657600" y="3730346"/>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fit a quotation inside your own sentence</a:t>
            </a:r>
            <a:endParaRPr lang="en-US" sz="1800" dirty="0"/>
          </a:p>
        </p:txBody>
      </p:sp>
      <p:sp>
        <p:nvSpPr>
          <p:cNvPr id="25" name="kw-cell"/>
          <p:cNvSpPr txBox="1"/>
          <p:nvPr/>
        </p:nvSpPr>
        <p:spPr>
          <a:xfrm>
            <a:off x="7315200" y="3730346"/>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Embed a short quotation instead of copying long lines.</a:t>
            </a:r>
            <a:endParaRPr lang="en-US" sz="1800" dirty="0"/>
          </a:p>
        </p:txBody>
      </p:sp>
      <p:sp>
        <p:nvSpPr>
          <p:cNvPr id="26" name="kw-row"/>
          <p:cNvSpPr/>
          <p:nvPr/>
        </p:nvSpPr>
        <p:spPr>
          <a:xfrm>
            <a:off x="548640" y="4635398"/>
            <a:ext cx="11094415" cy="831901"/>
          </a:xfrm>
          <a:prstGeom prst="roundRect">
            <a:avLst>
              <a:gd name="adj" fmla="val 6595"/>
            </a:avLst>
          </a:prstGeom>
          <a:solidFill>
            <a:srgbClr val="F4EDDF"/>
          </a:solidFill>
          <a:ln/>
        </p:spPr>
      </p:sp>
      <p:sp>
        <p:nvSpPr>
          <p:cNvPr id="27" name="kw-hex"/>
          <p:cNvSpPr/>
          <p:nvPr/>
        </p:nvSpPr>
        <p:spPr>
          <a:xfrm>
            <a:off x="658368" y="4873178"/>
            <a:ext cx="411480" cy="356342"/>
          </a:xfrm>
          <a:prstGeom prst="hexagon">
            <a:avLst/>
          </a:prstGeom>
          <a:solidFill>
            <a:srgbClr val="B8862B"/>
          </a:solidFill>
          <a:ln/>
        </p:spPr>
      </p:sp>
      <p:sp>
        <p:nvSpPr>
          <p:cNvPr id="28" name="kw-cell"/>
          <p:cNvSpPr txBox="1"/>
          <p:nvPr/>
        </p:nvSpPr>
        <p:spPr>
          <a:xfrm>
            <a:off x="1143000" y="4635398"/>
            <a:ext cx="2331720" cy="83190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method</a:t>
            </a:r>
            <a:endParaRPr lang="en-US" sz="2000" dirty="0"/>
          </a:p>
        </p:txBody>
      </p:sp>
      <p:sp>
        <p:nvSpPr>
          <p:cNvPr id="29" name="kw-cell"/>
          <p:cNvSpPr txBox="1"/>
          <p:nvPr/>
        </p:nvSpPr>
        <p:spPr>
          <a:xfrm>
            <a:off x="3657600" y="4635398"/>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choice the writer makes, like an image or a question</a:t>
            </a:r>
            <a:endParaRPr lang="en-US" sz="1800" dirty="0"/>
          </a:p>
        </p:txBody>
      </p:sp>
      <p:sp>
        <p:nvSpPr>
          <p:cNvPr id="30" name="kw-cell"/>
          <p:cNvSpPr txBox="1"/>
          <p:nvPr/>
        </p:nvSpPr>
        <p:spPr>
          <a:xfrm>
            <a:off x="7315200" y="4635398"/>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Name the method, then explain its effect.</a:t>
            </a:r>
            <a:endParaRPr lang="en-US" sz="1800" dirty="0"/>
          </a:p>
        </p:txBody>
      </p:sp>
      <p:sp>
        <p:nvSpPr>
          <p:cNvPr id="31" name="kw-row"/>
          <p:cNvSpPr/>
          <p:nvPr/>
        </p:nvSpPr>
        <p:spPr>
          <a:xfrm>
            <a:off x="548640" y="5540451"/>
            <a:ext cx="11094415" cy="604317"/>
          </a:xfrm>
          <a:prstGeom prst="roundRect">
            <a:avLst>
              <a:gd name="adj" fmla="val 9079"/>
            </a:avLst>
          </a:prstGeom>
          <a:solidFill>
            <a:srgbClr val="EDE9F0"/>
          </a:solidFill>
          <a:ln/>
        </p:spPr>
      </p:sp>
      <p:sp>
        <p:nvSpPr>
          <p:cNvPr id="32" name="kw-hex"/>
          <p:cNvSpPr/>
          <p:nvPr/>
        </p:nvSpPr>
        <p:spPr>
          <a:xfrm>
            <a:off x="658368" y="5664439"/>
            <a:ext cx="411480" cy="356342"/>
          </a:xfrm>
          <a:prstGeom prst="hexagon">
            <a:avLst/>
          </a:prstGeom>
          <a:solidFill>
            <a:srgbClr val="5B3A7A"/>
          </a:solidFill>
          <a:ln/>
        </p:spPr>
      </p:sp>
      <p:sp>
        <p:nvSpPr>
          <p:cNvPr id="33" name="kw-cell"/>
          <p:cNvSpPr txBox="1"/>
          <p:nvPr/>
        </p:nvSpPr>
        <p:spPr>
          <a:xfrm>
            <a:off x="1143000" y="5540451"/>
            <a:ext cx="2331720" cy="604317"/>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whole play</a:t>
            </a:r>
            <a:endParaRPr lang="en-US" sz="2000" dirty="0"/>
          </a:p>
        </p:txBody>
      </p:sp>
      <p:sp>
        <p:nvSpPr>
          <p:cNvPr id="34" name="kw-cell"/>
          <p:cNvSpPr txBox="1"/>
          <p:nvPr/>
        </p:nvSpPr>
        <p:spPr>
          <a:xfrm>
            <a:off x="3657600" y="5540451"/>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everything outside the extract</a:t>
            </a:r>
            <a:endParaRPr lang="en-US" sz="1800" dirty="0"/>
          </a:p>
        </p:txBody>
      </p:sp>
      <p:sp>
        <p:nvSpPr>
          <p:cNvPr id="35" name="kw-cell"/>
          <p:cNvSpPr txBox="1"/>
          <p:nvPr/>
        </p:nvSpPr>
        <p:spPr>
          <a:xfrm>
            <a:off x="7315200" y="5540451"/>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You must also write about the whole play.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the exam, you answer one question on Macbeth.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paper gives you a short </a:t>
            </a:r>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extract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from the play.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You write about the </a:t>
            </a:r>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extract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and about the </a:t>
            </a:r>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whole play</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You will not have the play with you.</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you need key quotations in your memory.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Spend ten minutes reading and planning first.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Decide your main </a:t>
            </a:r>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argument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before you write.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Use short quotations and fit them into your sentences.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Explain the effect of one word or </a:t>
            </a:r>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method</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at a time.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Link your ideas to the world of 1606.</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Check your spelling, punctuation and grammar at the end.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What the question is asking for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short quotation like ‘business’ is worth more than a long one: it lets you zoom in on one word and show AO2.</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We will proceed no further in this business.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1.7.34</a:t>
            </a:r>
            <a:endParaRPr lang="en-US" sz="2600" dirty="0"/>
          </a:p>
        </p:txBody>
      </p:sp>
      <p:sp>
        <p:nvSpPr>
          <p:cNvPr id="14" name="bullet-card"/>
          <p:cNvSpPr/>
          <p:nvPr/>
        </p:nvSpPr>
        <p:spPr>
          <a:xfrm>
            <a:off x="548640" y="1389888"/>
            <a:ext cx="5074920" cy="1289558"/>
          </a:xfrm>
          <a:prstGeom prst="roundRect">
            <a:avLst>
              <a:gd name="adj" fmla="val 5673"/>
            </a:avLst>
          </a:prstGeom>
          <a:solidFill>
            <a:srgbClr val="EDE9F0"/>
          </a:solidFill>
          <a:ln/>
        </p:spPr>
      </p:sp>
      <p:sp>
        <p:nvSpPr>
          <p:cNvPr id="15" name="bullet-hex"/>
          <p:cNvSpPr/>
          <p:nvPr/>
        </p:nvSpPr>
        <p:spPr>
          <a:xfrm>
            <a:off x="676656" y="1868374"/>
            <a:ext cx="384048" cy="332586"/>
          </a:xfrm>
          <a:prstGeom prst="hexagon">
            <a:avLst/>
          </a:prstGeom>
          <a:solidFill>
            <a:srgbClr val="5B3A7A"/>
          </a:solidFill>
          <a:ln/>
        </p:spPr>
      </p:sp>
      <p:sp>
        <p:nvSpPr>
          <p:cNvPr id="16" name="bullet"/>
          <p:cNvSpPr txBox="1"/>
          <p:nvPr/>
        </p:nvSpPr>
        <p:spPr>
          <a:xfrm>
            <a:off x="1143000" y="1389888"/>
            <a:ext cx="4389120"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Macbeth question is in Section A of Paper 1.</a:t>
            </a:r>
            <a:endParaRPr lang="en-US" sz="2200" dirty="0"/>
          </a:p>
        </p:txBody>
      </p:sp>
      <p:sp>
        <p:nvSpPr>
          <p:cNvPr id="17" name="bullet-card"/>
          <p:cNvSpPr/>
          <p:nvPr/>
        </p:nvSpPr>
        <p:spPr>
          <a:xfrm>
            <a:off x="548640" y="2825750"/>
            <a:ext cx="5074920" cy="1971294"/>
          </a:xfrm>
          <a:prstGeom prst="roundRect">
            <a:avLst>
              <a:gd name="adj" fmla="val 3711"/>
            </a:avLst>
          </a:prstGeom>
          <a:solidFill>
            <a:srgbClr val="EDE9F0"/>
          </a:solidFill>
          <a:ln/>
        </p:spPr>
      </p:sp>
      <p:sp>
        <p:nvSpPr>
          <p:cNvPr id="18" name="bullet-hex"/>
          <p:cNvSpPr/>
          <p:nvPr/>
        </p:nvSpPr>
        <p:spPr>
          <a:xfrm>
            <a:off x="676656" y="3645104"/>
            <a:ext cx="384048" cy="332586"/>
          </a:xfrm>
          <a:prstGeom prst="hexagon">
            <a:avLst/>
          </a:prstGeom>
          <a:solidFill>
            <a:srgbClr val="B8862B"/>
          </a:solidFill>
          <a:ln/>
        </p:spPr>
      </p:sp>
      <p:sp>
        <p:nvSpPr>
          <p:cNvPr id="19" name="bullet"/>
          <p:cNvSpPr txBox="1"/>
          <p:nvPr/>
        </p:nvSpPr>
        <p:spPr>
          <a:xfrm>
            <a:off x="1143000" y="2825750"/>
            <a:ext cx="4389120" cy="197129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teacher marks four things. AO1: you answer the question with a clear argument and use quotations as evidence.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From the extract to the whole play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‘Chuck’ is a pet name, like ‘chick’. It sounds loving, but he is hiding a murder from her.</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Be innocent of the knowledge, dearest chuck</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3.2.50</a:t>
            </a:r>
            <a:endParaRPr lang="en-US" sz="2600" dirty="0"/>
          </a:p>
        </p:txBody>
      </p:sp>
      <p:sp>
        <p:nvSpPr>
          <p:cNvPr id="14" name="bullet-card"/>
          <p:cNvSpPr/>
          <p:nvPr/>
        </p:nvSpPr>
        <p:spPr>
          <a:xfrm>
            <a:off x="548640" y="1389888"/>
            <a:ext cx="5074920" cy="1212088"/>
          </a:xfrm>
          <a:prstGeom prst="roundRect">
            <a:avLst>
              <a:gd name="adj" fmla="val 6035"/>
            </a:avLst>
          </a:prstGeom>
          <a:solidFill>
            <a:srgbClr val="EDE9F0"/>
          </a:solidFill>
          <a:ln/>
        </p:spPr>
      </p:sp>
      <p:sp>
        <p:nvSpPr>
          <p:cNvPr id="15" name="bullet-hex"/>
          <p:cNvSpPr/>
          <p:nvPr/>
        </p:nvSpPr>
        <p:spPr>
          <a:xfrm>
            <a:off x="676656" y="1829639"/>
            <a:ext cx="384048" cy="332586"/>
          </a:xfrm>
          <a:prstGeom prst="hexagon">
            <a:avLst/>
          </a:prstGeom>
          <a:solidFill>
            <a:srgbClr val="5B3A7A"/>
          </a:solidFill>
          <a:ln/>
        </p:spPr>
      </p:sp>
      <p:sp>
        <p:nvSpPr>
          <p:cNvPr id="16" name="bullet"/>
          <p:cNvSpPr txBox="1"/>
          <p:nvPr/>
        </p:nvSpPr>
        <p:spPr>
          <a:xfrm>
            <a:off x="1143000" y="1389888"/>
            <a:ext cx="4389120" cy="121208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Before you write, place the extract: is it near the beginning, middle or end of the play?</a:t>
            </a:r>
            <a:endParaRPr lang="en-US" sz="1800" dirty="0"/>
          </a:p>
        </p:txBody>
      </p:sp>
      <p:sp>
        <p:nvSpPr>
          <p:cNvPr id="17" name="bullet-card"/>
          <p:cNvSpPr/>
          <p:nvPr/>
        </p:nvSpPr>
        <p:spPr>
          <a:xfrm>
            <a:off x="548640" y="2748280"/>
            <a:ext cx="5074920" cy="2048764"/>
          </a:xfrm>
          <a:prstGeom prst="roundRect">
            <a:avLst>
              <a:gd name="adj" fmla="val 3571"/>
            </a:avLst>
          </a:prstGeom>
          <a:solidFill>
            <a:srgbClr val="EDE9F0"/>
          </a:solidFill>
          <a:ln/>
        </p:spPr>
      </p:sp>
      <p:sp>
        <p:nvSpPr>
          <p:cNvPr id="18" name="bullet-hex"/>
          <p:cNvSpPr/>
          <p:nvPr/>
        </p:nvSpPr>
        <p:spPr>
          <a:xfrm>
            <a:off x="676656" y="3606369"/>
            <a:ext cx="384048" cy="332586"/>
          </a:xfrm>
          <a:prstGeom prst="hexagon">
            <a:avLst/>
          </a:prstGeom>
          <a:solidFill>
            <a:srgbClr val="B8862B"/>
          </a:solidFill>
          <a:ln/>
        </p:spPr>
      </p:sp>
      <p:sp>
        <p:nvSpPr>
          <p:cNvPr id="19" name="bullet"/>
          <p:cNvSpPr txBox="1"/>
          <p:nvPr/>
        </p:nvSpPr>
        <p:spPr>
          <a:xfrm>
            <a:off x="1143000" y="2748280"/>
            <a:ext cx="4389120" cy="204876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reliable plan has six parts: an introduction with your argument; two points about the extract; one point about earlier or later in the play; one point about the ending; and a conclusion about what Shakespeare was showing.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Writing a strong paragraph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sentence of context could be pasted into any essay, it is not yet doing its job. Tie it to a word in your quotation.</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What's done cannot be undone.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5.1.74</a:t>
            </a:r>
            <a:endParaRPr lang="en-US" sz="2600" dirty="0"/>
          </a:p>
        </p:txBody>
      </p:sp>
      <p:sp>
        <p:nvSpPr>
          <p:cNvPr id="14" name="bullet-card"/>
          <p:cNvSpPr/>
          <p:nvPr/>
        </p:nvSpPr>
        <p:spPr>
          <a:xfrm>
            <a:off x="548640" y="1389888"/>
            <a:ext cx="5074920" cy="1698244"/>
          </a:xfrm>
          <a:prstGeom prst="roundRect">
            <a:avLst>
              <a:gd name="adj" fmla="val 4308"/>
            </a:avLst>
          </a:prstGeom>
          <a:solidFill>
            <a:srgbClr val="EDE9F0"/>
          </a:solidFill>
          <a:ln/>
        </p:spPr>
      </p:sp>
      <p:sp>
        <p:nvSpPr>
          <p:cNvPr id="15" name="bullet-hex"/>
          <p:cNvSpPr/>
          <p:nvPr/>
        </p:nvSpPr>
        <p:spPr>
          <a:xfrm>
            <a:off x="676656" y="2072717"/>
            <a:ext cx="384048" cy="332586"/>
          </a:xfrm>
          <a:prstGeom prst="hexagon">
            <a:avLst/>
          </a:prstGeom>
          <a:solidFill>
            <a:srgbClr val="5B3A7A"/>
          </a:solidFill>
          <a:ln/>
        </p:spPr>
      </p:sp>
      <p:sp>
        <p:nvSpPr>
          <p:cNvPr id="16" name="bullet"/>
          <p:cNvSpPr txBox="1"/>
          <p:nvPr/>
        </p:nvSpPr>
        <p:spPr>
          <a:xfrm>
            <a:off x="1143000" y="138988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Use the What, How, Why structure from your lessons. What: make a point that answers the question.</a:t>
            </a:r>
            <a:endParaRPr lang="en-US" sz="2200" dirty="0"/>
          </a:p>
        </p:txBody>
      </p:sp>
      <p:sp>
        <p:nvSpPr>
          <p:cNvPr id="17" name="bullet-card"/>
          <p:cNvSpPr/>
          <p:nvPr/>
        </p:nvSpPr>
        <p:spPr>
          <a:xfrm>
            <a:off x="548640" y="3234436"/>
            <a:ext cx="5074920" cy="1357376"/>
          </a:xfrm>
          <a:prstGeom prst="roundRect">
            <a:avLst>
              <a:gd name="adj" fmla="val 5389"/>
            </a:avLst>
          </a:prstGeom>
          <a:solidFill>
            <a:srgbClr val="EDE9F0"/>
          </a:solidFill>
          <a:ln/>
        </p:spPr>
      </p:sp>
      <p:sp>
        <p:nvSpPr>
          <p:cNvPr id="18" name="bullet-hex"/>
          <p:cNvSpPr/>
          <p:nvPr/>
        </p:nvSpPr>
        <p:spPr>
          <a:xfrm>
            <a:off x="676656" y="3746831"/>
            <a:ext cx="384048" cy="332586"/>
          </a:xfrm>
          <a:prstGeom prst="hexagon">
            <a:avLst/>
          </a:prstGeom>
          <a:solidFill>
            <a:srgbClr val="B8862B"/>
          </a:solidFill>
          <a:ln/>
        </p:spPr>
      </p:sp>
      <p:sp>
        <p:nvSpPr>
          <p:cNvPr id="19" name="bullet"/>
          <p:cNvSpPr txBox="1"/>
          <p:nvPr/>
        </p:nvSpPr>
        <p:spPr>
          <a:xfrm>
            <a:off x="1143000" y="3234436"/>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Weave context into your analysis instead of adding it at the end.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Plan in the right order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parts of an extract-to-whole-play answer in the order you would write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Introduction: your argument about how the character or theme develops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point about the same idea earlier or later in the play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First point about the extract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Conclusion: what Shakespeare was showing his audience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point about how the idea ends by Act 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Second point about the extract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Same task, three ways in: Plan in the right order</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parts of an extract-to-whole-play answer in the order you would write them.</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Every answer opens with your argument and closes with your conclusion.</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extract comes first, because the question starts there.</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Then move out into the play, ending with Act 5.</a:t>
            </a:r>
            <a:endParaRPr lang="en-US" sz="2000" dirty="0"/>
          </a:p>
        </p:txBody>
      </p:sp>
      <p:sp>
        <p:nvSpPr>
          <p:cNvPr id="17" name="col-Core"/>
          <p:cNvSpPr/>
          <p:nvPr/>
        </p:nvSpPr>
        <p:spPr>
          <a:xfrm>
            <a:off x="4338218" y="2593848"/>
            <a:ext cx="3515258" cy="3550920"/>
          </a:xfrm>
          <a:prstGeom prst="roundRect">
            <a:avLst>
              <a:gd name="adj" fmla="val 1561"/>
            </a:avLst>
          </a:prstGeom>
          <a:solidFill>
            <a:srgbClr val="D6CEDE"/>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492E62"/>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Think of zooming: start on the extract, then pull back to show the whole play.</a:t>
            </a:r>
            <a:endParaRPr lang="en-US" sz="2000" dirty="0"/>
          </a:p>
        </p:txBody>
      </p:sp>
      <p:sp>
        <p:nvSpPr>
          <p:cNvPr id="22" name="col-Stretch"/>
          <p:cNvSpPr/>
          <p:nvPr/>
        </p:nvSpPr>
        <p:spPr>
          <a:xfrm>
            <a:off x="8127797" y="2593848"/>
            <a:ext cx="3515258" cy="3550920"/>
          </a:xfrm>
          <a:prstGeom prst="roundRect">
            <a:avLst>
              <a:gd name="adj" fmla="val 1561"/>
            </a:avLst>
          </a:prstGeom>
          <a:solidFill>
            <a:srgbClr val="5B3A7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If the extract came from Act 5, how would you change this plan? Rewrite the order for that case.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The extract-to-whole-play answer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Begin with Act 1 Scene 7, from Macbeth's line “We will proceed no further in this business” to Lady Macbeth's “But screw your courage to the sticking place / And we'll not fail.” How does Shakespeare present the relationship between Macbeth and Lady Macbeth, in this part of the scene and across the whole play? Write your introduction and first two paragraphs.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30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(1 of 2): The extract-to-whole-play answer</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859280"/>
          </a:xfrm>
          <a:prstGeom prst="roundRect">
            <a:avLst>
              <a:gd name="adj" fmla="val 4918"/>
            </a:avLst>
          </a:prstGeom>
          <a:solidFill>
            <a:srgbClr val="FFFFFF"/>
          </a:solidFill>
          <a:ln w="31750">
            <a:solidFill>
              <a:srgbClr val="B8862B"/>
            </a:solidFill>
            <a:prstDash val="solid"/>
          </a:ln>
        </p:spPr>
      </p:sp>
      <p:sp>
        <p:nvSpPr>
          <p:cNvPr id="8" name="task-hex"/>
          <p:cNvSpPr/>
          <p:nvPr/>
        </p:nvSpPr>
        <p:spPr>
          <a:xfrm>
            <a:off x="777240" y="2002780"/>
            <a:ext cx="731520" cy="633496"/>
          </a:xfrm>
          <a:prstGeom prst="hexagon">
            <a:avLst/>
          </a:prstGeom>
          <a:solidFill>
            <a:srgbClr val="B8862B"/>
          </a:solidFill>
          <a:ln/>
        </p:spPr>
      </p:sp>
      <p:sp>
        <p:nvSpPr>
          <p:cNvPr id="9" name="task-hex-label"/>
          <p:cNvSpPr txBox="1"/>
          <p:nvPr/>
        </p:nvSpPr>
        <p:spPr>
          <a:xfrm>
            <a:off x="777240" y="200278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204520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67640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Begin with Act 1 Scene 7, from Macbeth's line “We will proceed no further in this business” to Lady Macbeth's “But screw your courage to the sticking place / And we'll not fail.” How does Shakespeare present the relationship between Macbeth and Lady Macbeth, in this part of the scene and across the whole play? Write your introduction and first two paragraphs.</a:t>
            </a:r>
            <a:endParaRPr lang="en-US" sz="2000" dirty="0"/>
          </a:p>
        </p:txBody>
      </p:sp>
      <p:sp>
        <p:nvSpPr>
          <p:cNvPr id="12" name="col-Support"/>
          <p:cNvSpPr/>
          <p:nvPr/>
        </p:nvSpPr>
        <p:spPr>
          <a:xfrm>
            <a:off x="548640" y="3523488"/>
            <a:ext cx="11094415" cy="2621280"/>
          </a:xfrm>
          <a:prstGeom prst="roundRect">
            <a:avLst>
              <a:gd name="adj" fmla="val 2093"/>
            </a:avLst>
          </a:prstGeom>
          <a:solidFill>
            <a:srgbClr val="EAE5EE"/>
          </a:solidFill>
          <a:ln/>
        </p:spPr>
      </p:sp>
      <p:sp>
        <p:nvSpPr>
          <p:cNvPr id="13" name="col-hex"/>
          <p:cNvSpPr/>
          <p:nvPr/>
        </p:nvSpPr>
        <p:spPr>
          <a:xfrm>
            <a:off x="658368" y="359664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59664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56006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4163568"/>
            <a:ext cx="10820095" cy="187147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Introduction: write one sentence on how the relationship changes from start to end (for example, from her control to his isolation).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Paragraph 1: who has the power in the extract? Quote one line by each of them and analyse one word.</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Paragraph 2: jump to Act 3 Scene 2 or Act 3 Scene 4. Who has the power now? Quote and analyse.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Weave in context: warrior culture, Jacobean ideas about wives, or the divine right of kings.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(2 of 2): The extract-to-whole-play answer</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859280"/>
          </a:xfrm>
          <a:prstGeom prst="roundRect">
            <a:avLst>
              <a:gd name="adj" fmla="val 4918"/>
            </a:avLst>
          </a:prstGeom>
          <a:solidFill>
            <a:srgbClr val="FFFFFF"/>
          </a:solidFill>
          <a:ln w="31750">
            <a:solidFill>
              <a:srgbClr val="B8862B"/>
            </a:solidFill>
            <a:prstDash val="solid"/>
          </a:ln>
        </p:spPr>
      </p:sp>
      <p:sp>
        <p:nvSpPr>
          <p:cNvPr id="8" name="task-hex"/>
          <p:cNvSpPr/>
          <p:nvPr/>
        </p:nvSpPr>
        <p:spPr>
          <a:xfrm>
            <a:off x="777240" y="2002780"/>
            <a:ext cx="731520" cy="633496"/>
          </a:xfrm>
          <a:prstGeom prst="hexagon">
            <a:avLst/>
          </a:prstGeom>
          <a:solidFill>
            <a:srgbClr val="B8862B"/>
          </a:solidFill>
          <a:ln/>
        </p:spPr>
      </p:sp>
      <p:sp>
        <p:nvSpPr>
          <p:cNvPr id="9" name="task-hex-label"/>
          <p:cNvSpPr txBox="1"/>
          <p:nvPr/>
        </p:nvSpPr>
        <p:spPr>
          <a:xfrm>
            <a:off x="777240" y="200278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204520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67640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Begin with Act 1 Scene 7, from Macbeth's line “We will proceed no further in this business” to Lady Macbeth's “But screw your courage to the sticking place / And we'll not fail.” How does Shakespeare present the relationship between Macbeth and Lady Macbeth, in this part of the scene and across the whole play? Write your introduction and first two paragraphs.</a:t>
            </a:r>
            <a:endParaRPr lang="en-US" sz="2000" dirty="0"/>
          </a:p>
        </p:txBody>
      </p:sp>
      <p:sp>
        <p:nvSpPr>
          <p:cNvPr id="12" name="col-Core"/>
          <p:cNvSpPr/>
          <p:nvPr/>
        </p:nvSpPr>
        <p:spPr>
          <a:xfrm>
            <a:off x="548640" y="3523488"/>
            <a:ext cx="5410048" cy="2621280"/>
          </a:xfrm>
          <a:prstGeom prst="roundRect">
            <a:avLst>
              <a:gd name="adj" fmla="val 2093"/>
            </a:avLst>
          </a:prstGeom>
          <a:solidFill>
            <a:srgbClr val="D6CEDE"/>
          </a:solidFill>
          <a:ln/>
        </p:spPr>
      </p:sp>
      <p:sp>
        <p:nvSpPr>
          <p:cNvPr id="13" name="col-hex"/>
          <p:cNvSpPr/>
          <p:nvPr/>
        </p:nvSpPr>
        <p:spPr>
          <a:xfrm>
            <a:off x="658368" y="359664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59664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356006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4163568"/>
            <a:ext cx="5135728" cy="1871472"/>
          </a:xfrm>
          <a:prstGeom prst="rect">
            <a:avLst/>
          </a:prstGeom>
          <a:noFill/>
          <a:ln/>
        </p:spPr>
        <p:txBody>
          <a:bodyPr wrap="square" lIns="63500" tIns="63500" rIns="63500" bIns="63500" rtlCol="0" anchor="t"/>
          <a:lstStyle/>
          <a:p>
            <a:pPr algn="l" indent="0" marL="0">
              <a:buNone/>
            </a:pPr>
            <a:r>
              <a:rPr lang="en-US" sz="2000" b="1" dirty="0">
                <a:solidFill>
                  <a:srgbClr val="492E62"/>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Find the moment the power shifts. In the extract it moves to her; by Act 3 it has moved back to him, and he no longer shares his plans.</a:t>
            </a:r>
            <a:endParaRPr lang="en-US" sz="2000" dirty="0"/>
          </a:p>
        </p:txBody>
      </p:sp>
      <p:sp>
        <p:nvSpPr>
          <p:cNvPr id="17" name="col-Stretch"/>
          <p:cNvSpPr/>
          <p:nvPr/>
        </p:nvSpPr>
        <p:spPr>
          <a:xfrm>
            <a:off x="6233008" y="3523488"/>
            <a:ext cx="5410048" cy="2621280"/>
          </a:xfrm>
          <a:prstGeom prst="roundRect">
            <a:avLst>
              <a:gd name="adj" fmla="val 2093"/>
            </a:avLst>
          </a:prstGeom>
          <a:solidFill>
            <a:srgbClr val="5B3A7A"/>
          </a:solidFill>
          <a:ln/>
        </p:spPr>
      </p:sp>
      <p:sp>
        <p:nvSpPr>
          <p:cNvPr id="18" name="col-hex"/>
          <p:cNvSpPr/>
          <p:nvPr/>
        </p:nvSpPr>
        <p:spPr>
          <a:xfrm>
            <a:off x="6342736" y="359664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359664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356006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4163568"/>
            <a:ext cx="5135728" cy="187147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Write a conclusion that judges the relationship: is Shakespeare showing a loving marriage destroyed by ambition, or a partnership that was always built on power? Refer to Act 5 Scene 1 and Act 5 Scene 5.</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70124"/>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Which sentence weaves context in best?</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divine right of kings was a belief in Shakespeare's time that kings were chosen by God.</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Shakespeare's audience had many beliefs, such as the divine right of kings.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Macduff calls the murder “sacrilegious”, a word that turns regicide into an attack on God, as the divine right of kings would lead a Jacobean audience to feel.</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Macbeth kills Duncan. In 1606 people believed in the divine right of kings.</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Plan in the right order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Introduction: your argument about how the character or theme develops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First point about the extract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Second point about the extract  (F)</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 point about the same idea earlier or later in the play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 point about how the idea ends by Act 5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Conclusion: what Shakespeare was showing his audience  (D)</a:t>
            </a:r>
            <a:endParaRPr lang="en-US" sz="22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plan moves from the extract outward and ends with Shakespeare's purpose, so that every paragraph serves one argument.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The extract-to-whole-play answer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536143"/>
          </a:xfrm>
          <a:prstGeom prst="roundRect">
            <a:avLst>
              <a:gd name="adj" fmla="val 17055"/>
            </a:avLst>
          </a:prstGeom>
          <a:solidFill>
            <a:srgbClr val="EDE9F0"/>
          </a:solidFill>
          <a:ln/>
        </p:spPr>
      </p:sp>
      <p:sp>
        <p:nvSpPr>
          <p:cNvPr id="9" name="tickbox"/>
          <p:cNvSpPr/>
          <p:nvPr/>
        </p:nvSpPr>
        <p:spPr>
          <a:xfrm>
            <a:off x="713232" y="2106016"/>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5361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an introduction with a clear argument about how the relationship develops</a:t>
            </a:r>
            <a:endParaRPr lang="en-US" sz="2200" dirty="0"/>
          </a:p>
        </p:txBody>
      </p:sp>
      <p:sp>
        <p:nvSpPr>
          <p:cNvPr id="11" name="crit-box"/>
          <p:cNvSpPr/>
          <p:nvPr/>
        </p:nvSpPr>
        <p:spPr>
          <a:xfrm>
            <a:off x="548640" y="2611831"/>
            <a:ext cx="11094415" cy="877011"/>
          </a:xfrm>
          <a:prstGeom prst="roundRect">
            <a:avLst>
              <a:gd name="adj" fmla="val 10426"/>
            </a:avLst>
          </a:prstGeom>
          <a:solidFill>
            <a:srgbClr val="EDE9F0"/>
          </a:solidFill>
          <a:ln/>
        </p:spPr>
      </p:sp>
      <p:sp>
        <p:nvSpPr>
          <p:cNvPr id="12" name="tickbox"/>
          <p:cNvSpPr/>
          <p:nvPr/>
        </p:nvSpPr>
        <p:spPr>
          <a:xfrm>
            <a:off x="713232" y="2904033"/>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611831"/>
            <a:ext cx="10317175" cy="8770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short, embedded quotations from the extract and from at least one other scene</a:t>
            </a:r>
            <a:endParaRPr lang="en-US" sz="2200" dirty="0"/>
          </a:p>
        </p:txBody>
      </p:sp>
      <p:sp>
        <p:nvSpPr>
          <p:cNvPr id="14" name="crit-box"/>
          <p:cNvSpPr/>
          <p:nvPr/>
        </p:nvSpPr>
        <p:spPr>
          <a:xfrm>
            <a:off x="548640" y="3580282"/>
            <a:ext cx="11094415" cy="877011"/>
          </a:xfrm>
          <a:prstGeom prst="roundRect">
            <a:avLst>
              <a:gd name="adj" fmla="val 10426"/>
            </a:avLst>
          </a:prstGeom>
          <a:solidFill>
            <a:srgbClr val="EDE9F0"/>
          </a:solidFill>
          <a:ln/>
        </p:spPr>
      </p:sp>
      <p:sp>
        <p:nvSpPr>
          <p:cNvPr id="15" name="tickbox"/>
          <p:cNvSpPr/>
          <p:nvPr/>
        </p:nvSpPr>
        <p:spPr>
          <a:xfrm>
            <a:off x="713232" y="3872484"/>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580282"/>
            <a:ext cx="10317175" cy="8770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AO2: analysis of methods such as questions, insults, imperatives, or pet names, with subject terms</a:t>
            </a:r>
            <a:endParaRPr lang="en-US" sz="2200" dirty="0"/>
          </a:p>
        </p:txBody>
      </p:sp>
      <p:sp>
        <p:nvSpPr>
          <p:cNvPr id="17" name="crit-box"/>
          <p:cNvSpPr/>
          <p:nvPr/>
        </p:nvSpPr>
        <p:spPr>
          <a:xfrm>
            <a:off x="548640" y="4548734"/>
            <a:ext cx="11094415" cy="877011"/>
          </a:xfrm>
          <a:prstGeom prst="roundRect">
            <a:avLst>
              <a:gd name="adj" fmla="val 10426"/>
            </a:avLst>
          </a:prstGeom>
          <a:solidFill>
            <a:srgbClr val="EDE9F0"/>
          </a:solidFill>
          <a:ln/>
        </p:spPr>
      </p:sp>
      <p:sp>
        <p:nvSpPr>
          <p:cNvPr id="18" name="tickbox"/>
          <p:cNvSpPr/>
          <p:nvPr/>
        </p:nvSpPr>
        <p:spPr>
          <a:xfrm>
            <a:off x="713232" y="4840935"/>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548734"/>
            <a:ext cx="10317175" cy="8770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AO3: context woven in, for example warrior culture, gender expectations or the divine right of kings</a:t>
            </a:r>
            <a:endParaRPr lang="en-US" sz="2200" dirty="0"/>
          </a:p>
        </p:txBody>
      </p:sp>
      <p:sp>
        <p:nvSpPr>
          <p:cNvPr id="20" name="crit-box"/>
          <p:cNvSpPr/>
          <p:nvPr/>
        </p:nvSpPr>
        <p:spPr>
          <a:xfrm>
            <a:off x="548640" y="5517185"/>
            <a:ext cx="11094415" cy="536143"/>
          </a:xfrm>
          <a:prstGeom prst="roundRect">
            <a:avLst>
              <a:gd name="adj" fmla="val 17055"/>
            </a:avLst>
          </a:prstGeom>
          <a:solidFill>
            <a:srgbClr val="EDE9F0"/>
          </a:solidFill>
          <a:ln/>
        </p:spPr>
      </p:sp>
      <p:sp>
        <p:nvSpPr>
          <p:cNvPr id="21" name="tickbox"/>
          <p:cNvSpPr/>
          <p:nvPr/>
        </p:nvSpPr>
        <p:spPr>
          <a:xfrm>
            <a:off x="713232" y="5638952"/>
            <a:ext cx="292608" cy="292608"/>
          </a:xfrm>
          <a:prstGeom prst="rect">
            <a:avLst/>
          </a:prstGeom>
          <a:solidFill>
            <a:srgbClr val="FFFFFF"/>
          </a:solidFill>
          <a:ln w="19050">
            <a:solidFill>
              <a:srgbClr val="5B3A7A"/>
            </a:solidFill>
            <a:prstDash val="solid"/>
          </a:ln>
        </p:spPr>
      </p:sp>
      <p:sp>
        <p:nvSpPr>
          <p:cNvPr id="22" name="crit"/>
          <p:cNvSpPr txBox="1"/>
          <p:nvPr/>
        </p:nvSpPr>
        <p:spPr>
          <a:xfrm>
            <a:off x="1143000" y="5517185"/>
            <a:ext cx="10317175" cy="5361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AO4: accurate spelling, punctuation and grammar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Model answer: The extract-to-whole-play answer</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Shakespeare presents the Macbeths' relationship as a partnership that is powerful at first but slowly breaks apart. In this part of Act 1 Scene 7, Lady Macbeth holds the power. When Macbeth announces “We will proceed no further in this business”, the word ‘business’ makes murder sound like a deal he can cancel. She replies with questions and insults, claiming “When you durst do it, then you were a man”. By tying courage to manhood, she turns the values of a warrior culture against him, and within minutes he agrees. Yet by Act 3 Scene 2 he tells her to “Be innocent of the knowledge, dearest chuck”: he now plans murder without her, and the tender word ‘chuck’ hides the fact that she has lost her place beside him.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sentence weaves context in best?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Macduff calls the murder “sacrilegious”, a word that turns regicide into an attack on God, as the divine right of kings would lead a Jacobean audience to feel.</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Only option B joins a quotation, its effect and the context in one sentence. The others state context without linking it to the play.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Macbeth · Chapter 6: Writing the Macbeth essay</dc:title>
  <dc:subject>English Literature · Year 10</dc:subject>
  <dc:creator>Dr Vitor Merissi de Carvalho</dc:creator>
  <cp:lastModifiedBy>Dr Vitor Merissi de Carvalho</cp:lastModifiedBy>
  <cp:revision>1</cp:revision>
  <dcterms:created xsi:type="dcterms:W3CDTF">2026-10-19T16:22:41Z</dcterms:created>
  <dcterms:modified xsi:type="dcterms:W3CDTF">2026-10-19T16:22:41Z</dcterms:modified>
</cp:coreProperties>
</file>