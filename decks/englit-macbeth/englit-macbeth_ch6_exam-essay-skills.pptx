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9f20f2-b623-8b33-370a-3775c1530e2b}">
          <p14:sldIdLst>
            <p14:sldId id="256"/>
          </p14:sldIdLst>
        </p14:section>
        <p14:section name="Gate" id="{eda97a38-242a-026b-cab6-31779d75bb0e}">
          <p14:sldIdLst>
            <p14:sldId id="257"/>
            <p14:sldId id="258"/>
          </p14:sldIdLst>
        </p14:section>
        <p14:section name="Pre-teach" id="{7bcdb05b-847b-0389-39f7-c6ca51f4ffbf}">
          <p14:sldIdLst>
            <p14:sldId id="259"/>
          </p14:sldIdLst>
        </p14:section>
        <p14:section name="Read-along" id="{a8223975-17b8-53f6-e5f8-5ac419dd9eda}">
          <p14:sldIdLst>
            <p14:sldId id="260"/>
          </p14:sldIdLst>
        </p14:section>
        <p14:section name="Teach" id="{87c925b4-ccd8-bbf2-d416-86d0acd42d56}">
          <p14:sldIdLst>
            <p14:sldId id="261"/>
            <p14:sldId id="262"/>
            <p14:sldId id="263"/>
          </p14:sldIdLst>
        </p14:section>
        <p14:section name="Routes" id="{4e5f8c49-2c69-43ab-13ea-4c60376d682a}">
          <p14:sldIdLst>
            <p14:sldId id="264"/>
            <p14:sldId id="265"/>
            <p14:sldId id="266"/>
            <p14:sldId id="267"/>
            <p14:sldId id="268"/>
          </p14:sldIdLst>
        </p14:section>
        <p14:section name="Close" id="{1ff985cf-e928-c967-7100-f96819da649a}">
          <p14:sldIdLst>
            <p14:sldId id="269"/>
          </p14:sldIdLst>
        </p14:section>
        <p14:section name="Answers" id="{23b7076d-a4ab-c516-eace-9fb8e14d980e}">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Writing the Macbeth essay. This chapter shows you how to turn everything you know into a planned answer, from the extract to the whole play.
This deck covers the department's lessons: 7 (Presentation of Macbeth in Act 1 Scenes 1–3: How does Shakespeare present Macbeth in the opening scenes of the play?); 14 (Mid-unit assessment preparation (with Revising Lady Macbeth): How do I approach the exam-style question, from the extract to the whole play?).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assessment objective is about context?  →  C   AO3
2. How many marks is the Macbeth question worth, not counting the 4 marks for spelling, punctuation and grammar?  →  30 marks
3. Which sentence embeds a quotation best?  →  B   Macbeth admits his mind is “full of scorpions”, an image of thoughts that sting and poison him.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AO3. AO3 is the link between the play and the world it was written in.
2. 30 marks. 30 marks for your response, plus 4 for AO4, makes 34 marks for the Shakespeare section.
3. B   Macbeth admits his mind is “full of scorpions”, an image of thoughts that sting and poison him.. The best option fits a short quotation into the writer's own sentence and explains it straight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extract: a short part of the play printed on the paper. Example: "Start by reading the extract carefully."
• argument: the main idea your whole answer proves. Example: "A clear argument links every paragraph together."
• embed: to fit a quotation inside your own sentence. Example: "Embed a short quotation instead of copying long lines."
• method: a choice the writer makes, like an image or a question. Example: "Name the method, then explain its effect."
• whole play: everything outside the extract. Example: "You must also write about the whole play."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In the exam, you answer one question on Macbeth.
2. The paper gives you a short extract from the play.
3. You write about the extract, and about the whole play.
4. You will not have the play with you.
5. So you need key quotations in your memory.
6. Spend ten minutes reading and planning first.
7. Decide your main argument before you write.
8. Use short quotations and fit them into your sentences.
9. Explain the effect of one word or method at a time.
10. Link your ideas to the world of 1606.
11. Check your spelling, punctuation and grammar at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question is asking for. Say it in your own words, then check understanding with a quick question: ask a pupil from the pre-teach group first, since they met these words and ideas before the lesson. Pupils try to recall before you re-explain.
The Macbeth question is in Section A of Paper 1. It is worth 30 marks, with 4 more marks for spelling, punctuation and grammar. It is a closed-book exam, so the extract is the only part of the play you will have in front of you.
Your teacher marks four things. AO1: you answer the question with a clear argument and use quotations as evidence. AO2: you analyse how Shakespeare uses language, structure and form, using subject terms. AO3: you show how the play connects to the world it was written in. AO4: your writing is accurate and uses a good range of vocabulary.
Quotation: "We will proceed no further in this business." (1.7.34). Read it aloud; ask what it shows.
Tip: A short quotation like ‘business’ is worth more than a long one: it lets you zoom in on one word and show AO2.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the extract to the whole play. Say it in your own words, then check understanding with a quick question: ask a pupil from the pre-teach group first, since they met these words and ideas before the lesson. Pupils try to recall before you re-explain.
Before you write, place the extract: is it near the beginning, middle or end of the play? Then ask how the character, relationship or theme looks before and after it. This is how you turn one page into an answer about the whole play.
A reliable plan has six parts: an introduction with your argument; two points about the extract; one point about earlier or later in the play; one point about the ending; and a conclusion about what Shakespeare was showing. Bring context into the middle paragraphs, where it can explain a quotation. For the Macbeths, you might track their partnership from Act 1, where they plan together, to Act 3, where Macbeth shuts her out.
Quotation: "Be innocent of the knowledge, dearest chuck" (3.2.50). Read it aloud; ask what it shows.
Tip: ‘Chuck’ is a pet name, like ‘chick’. It sounds loving, but he is hiding a murder from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 strong paragraph. Say it in your own words, then check understanding with a quick question: ask a pupil from the pre-teach group first, since they met these words and ideas before the lesson. Pupils try to recall before you re-explain.
Use the What, How, Why structure from your lessons. What: make a point that answers the question. How: give a short, embedded quotation and name the method. Why: explain the effect, zoom in on a word, and say what Shakespeare wanted his audience to think or feel.
Weave context into your analysis instead of adding it at the end. For example, Lady Macbeth tells Macbeth in Act 3 that “What's done is done”. By Act 5 she says that it cannot be undone. Placing those lines side by side, with a sentence about Christian ideas of sin, is a whole-play paragraph in miniature.
Quotation: "What's done cannot be undone." (5.1.74). Read it aloud; ask what it shows.
Tip: If a sentence of context could be pasted into any essay, it is not yet doing its job. Tie it to a word in your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parts of an extract-to-whole-play answer in the order you would write them.
Support — work through the steps with the group: (1) Every answer opens with your argument and closes with your conclusion. (2) The extract comes first, because the question starts there. (3) Then move out into the play, ending with Act 5.
Parallel worked example for Support (model it, do not give the task answer): Practice: order a single paragraph: explain the effect; make your point; give a quotation; link to context. What: the point comes first.; How: then the quotation.; Why: then the effect, then context woven in.. Answer: Make your point; give a quotation; explain the effect; link to context..
Core — reveal the hint only on request: Think of zooming: start on the extract, then pull back to show the whole play.
Stretch — no help; when finished: If the extract came from Act 5, how would you change this plan? Rewrite the order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parts of an extract-to-whole-play answer in the order you would write them.
Support — work through the steps with the group: (1) Every answer opens with your argument and closes with your conclusion. (2) The extract comes first, because the question starts there. (3) Then move out into the play, ending with Act 5.
Parallel worked example for Support (model it, do not give the task answer): Practice: order a single paragraph: explain the effect; make your point; give a quotation; link to context. What: the point comes first.; How: then the quotation.; Why: then the effect, then context woven in.. Answer: Make your point; give a quotation; explain the effect; link to context..
Core — reveal the hint only on request: Think of zooming: start on the extract, then pull back to show the whole play.
Stretch — no help; when finished: If the extract came from Act 5, how would you change this plan? Rewrite the order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weaves context in best?
Answer: B   Macduff calls the murder “sacrilegious”, a word that turns regicide into an attack on God, as the divine right of kings would lead a Jacobean audience to feel.. Only option B joins a quotation, its effect and the context in one sentence. The others state context without linking it to the play.
Source of this question: module 3 task ("Weaving context in")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Plan in the right order. Reveal the answer; pupils mark their own work in a different colour, then read the "why" together. Same destination for every lane, so one answer serves the whole class.
Answer: Introduction: your argument about how the character or theme develops  (A); First point about the extract  (C); Second point about the extract  (F); A point about the same idea earlier or later in the play  (B); A point about how the idea ends by Act 5  (E); Conclusion: what Shakespeare was showing his audience  (D)
Why: The plan moves from the extract outward and ends with Shakespeare's purpose, so that every paragraph serves one argument.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extract-to-whole-play answer. Reveal the answer; pupils mark their own work in a different colour, then read the "why" together. Same destination for every lane, so one answer serves the whole class.
Answer: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Why: Top answers make one argument, start from the extract, then move across the play to show change. Context should explain why a method works, as warrior culture does in the model.
Model answer: 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
Success criteria: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extract-to-whole-play answer. Reveal the answer; pupils mark their own work in a different colour, then read the "why" together. Same destination for every lane, so one answer serves the whole class.
Answer: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Why: Top answers make one argument, start from the extract, then move across the play to show change. Context should explain why a method works, as warrior culture does in the model.
Model answer: 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
Success criteria: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Macduff calls the murder “sacrilegious”, a word that turns regicide into an attack on God, as the divine right of kings would lead a Jacobean audience to feel.
Why: Only option B joins a quotation, its effect and the context in one sentence. The others state context without linking it to the play.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Writing the Macbeth essay</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AE5EE"/>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Presentation of Macbeth in Act 1 Scenes 1–3</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preparation (with Revising Lady Macbeth)</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assessment objective is about context?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AO1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AO2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AO3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AO4</a:t>
            </a:r>
            <a:endParaRPr lang="en-US" sz="2400" dirty="0"/>
          </a:p>
        </p:txBody>
      </p:sp>
      <p:sp>
        <p:nvSpPr>
          <p:cNvPr id="12" name="card"/>
          <p:cNvSpPr/>
          <p:nvPr/>
        </p:nvSpPr>
        <p:spPr>
          <a:xfrm>
            <a:off x="3459404"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3642284" y="1572768"/>
            <a:ext cx="640080" cy="554309"/>
          </a:xfrm>
          <a:prstGeom prst="hexagon">
            <a:avLst/>
          </a:prstGeom>
          <a:solidFill>
            <a:srgbClr val="5B3A7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many marks is the Macbeth question worth, not counting the 4 marks for spelling, punctuation and grammar?</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marks</a:t>
            </a:r>
            <a:endParaRPr lang="en-US" sz="2000" dirty="0"/>
          </a:p>
        </p:txBody>
      </p:sp>
      <p:sp>
        <p:nvSpPr>
          <p:cNvPr id="17" name="card"/>
          <p:cNvSpPr/>
          <p:nvPr/>
        </p:nvSpPr>
        <p:spPr>
          <a:xfrm>
            <a:off x="6370168" y="1389888"/>
            <a:ext cx="5272888" cy="4754880"/>
          </a:xfrm>
          <a:prstGeom prst="roundRect">
            <a:avLst>
              <a:gd name="adj" fmla="val 1154"/>
            </a:avLst>
          </a:prstGeom>
          <a:solidFill>
            <a:srgbClr val="EFEBF2"/>
          </a:solidFill>
          <a:ln w="12700">
            <a:solidFill>
              <a:srgbClr val="C1B4CC"/>
            </a:solidFill>
            <a:prstDash val="solid"/>
          </a:ln>
        </p:spPr>
      </p:sp>
      <p:sp>
        <p:nvSpPr>
          <p:cNvPr id="18" name="card-hex"/>
          <p:cNvSpPr/>
          <p:nvPr/>
        </p:nvSpPr>
        <p:spPr>
          <a:xfrm>
            <a:off x="6553048" y="1572768"/>
            <a:ext cx="640080" cy="554309"/>
          </a:xfrm>
          <a:prstGeom prst="hexagon">
            <a:avLst/>
          </a:prstGeom>
          <a:solidFill>
            <a:srgbClr val="5B3A7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embeds a quotation best?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Macbeth is scared. Quote: “O, full of scorpions is my mind, dear wife!”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Macbeth admits his mind is “full of scorpions”, an image of thoughts that sting and poison him.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 full of scorpions is my mind, dear wife!” This shows he is scared.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Macbeth says a quote about scorpions in Act 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AO3</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assessment objective is about context?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AO3 is the link between the play and the world it was written in.</a:t>
            </a:r>
            <a:endParaRPr lang="en-US" sz="2000" dirty="0"/>
          </a:p>
        </p:txBody>
      </p:sp>
      <p:sp>
        <p:nvSpPr>
          <p:cNvPr id="14" name="card"/>
          <p:cNvSpPr/>
          <p:nvPr/>
        </p:nvSpPr>
        <p:spPr>
          <a:xfrm>
            <a:off x="3459404"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3642284" y="1572768"/>
            <a:ext cx="640080" cy="554309"/>
          </a:xfrm>
          <a:prstGeom prst="hexagon">
            <a:avLst/>
          </a:prstGeom>
          <a:solidFill>
            <a:srgbClr val="5B3A7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marks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30 marks for your response, plus 4 for AO4, makes 34 marks for the Shakespeare section.</a:t>
            </a:r>
            <a:endParaRPr lang="en-US" sz="1800" dirty="0"/>
          </a:p>
        </p:txBody>
      </p:sp>
      <p:sp>
        <p:nvSpPr>
          <p:cNvPr id="21" name="card"/>
          <p:cNvSpPr/>
          <p:nvPr/>
        </p:nvSpPr>
        <p:spPr>
          <a:xfrm>
            <a:off x="6370168" y="1389888"/>
            <a:ext cx="5272888" cy="4754880"/>
          </a:xfrm>
          <a:prstGeom prst="roundRect">
            <a:avLst>
              <a:gd name="adj" fmla="val 1154"/>
            </a:avLst>
          </a:prstGeom>
          <a:solidFill>
            <a:srgbClr val="EFEBF2"/>
          </a:solidFill>
          <a:ln w="12700">
            <a:solidFill>
              <a:srgbClr val="C1B4CC"/>
            </a:solidFill>
            <a:prstDash val="solid"/>
          </a:ln>
        </p:spPr>
      </p:sp>
      <p:sp>
        <p:nvSpPr>
          <p:cNvPr id="22" name="card-hex"/>
          <p:cNvSpPr/>
          <p:nvPr/>
        </p:nvSpPr>
        <p:spPr>
          <a:xfrm>
            <a:off x="6553048" y="1572768"/>
            <a:ext cx="640080" cy="554309"/>
          </a:xfrm>
          <a:prstGeom prst="hexagon">
            <a:avLst/>
          </a:prstGeom>
          <a:solidFill>
            <a:srgbClr val="5B3A7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Macbeth admits his mind is “full of scorpions”, an image of thoughts that sting and poison him.</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embeds a quotation best?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best option fits a short quotation into the writer's own sentence and explains it straight away.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DE9F0"/>
          </a:solidFill>
          <a:ln/>
        </p:spPr>
      </p:sp>
      <p:sp>
        <p:nvSpPr>
          <p:cNvPr id="12" name="kw-hex"/>
          <p:cNvSpPr/>
          <p:nvPr/>
        </p:nvSpPr>
        <p:spPr>
          <a:xfrm>
            <a:off x="658368" y="2158020"/>
            <a:ext cx="411480" cy="356342"/>
          </a:xfrm>
          <a:prstGeom prst="hexagon">
            <a:avLst/>
          </a:prstGeom>
          <a:solidFill>
            <a:srgbClr val="5B3A7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extract</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short part of the play printed on the paper</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Start by reading the extract carefully.</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argument</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main idea your whole answer proves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clear argument links every paragraph together.</a:t>
            </a:r>
            <a:endParaRPr lang="en-US" sz="1800" dirty="0"/>
          </a:p>
        </p:txBody>
      </p:sp>
      <p:sp>
        <p:nvSpPr>
          <p:cNvPr id="21" name="kw-row"/>
          <p:cNvSpPr/>
          <p:nvPr/>
        </p:nvSpPr>
        <p:spPr>
          <a:xfrm>
            <a:off x="548640" y="3730346"/>
            <a:ext cx="11094415" cy="831901"/>
          </a:xfrm>
          <a:prstGeom prst="roundRect">
            <a:avLst>
              <a:gd name="adj" fmla="val 6595"/>
            </a:avLst>
          </a:prstGeom>
          <a:solidFill>
            <a:srgbClr val="EDE9F0"/>
          </a:solidFill>
          <a:ln/>
        </p:spPr>
      </p:sp>
      <p:sp>
        <p:nvSpPr>
          <p:cNvPr id="22" name="kw-hex"/>
          <p:cNvSpPr/>
          <p:nvPr/>
        </p:nvSpPr>
        <p:spPr>
          <a:xfrm>
            <a:off x="658368" y="3968125"/>
            <a:ext cx="411480" cy="356342"/>
          </a:xfrm>
          <a:prstGeom prst="hexagon">
            <a:avLst/>
          </a:prstGeom>
          <a:solidFill>
            <a:srgbClr val="5B3A7A"/>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embed</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fit a quotation inside your own sentence</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Embed a short quotation instead of copying long lines.</a:t>
            </a:r>
            <a:endParaRPr lang="en-US" sz="1800" dirty="0"/>
          </a:p>
        </p:txBody>
      </p:sp>
      <p:sp>
        <p:nvSpPr>
          <p:cNvPr id="26" name="kw-row"/>
          <p:cNvSpPr/>
          <p:nvPr/>
        </p:nvSpPr>
        <p:spPr>
          <a:xfrm>
            <a:off x="548640" y="4635398"/>
            <a:ext cx="11094415" cy="831901"/>
          </a:xfrm>
          <a:prstGeom prst="roundRect">
            <a:avLst>
              <a:gd name="adj" fmla="val 6595"/>
            </a:avLst>
          </a:prstGeom>
          <a:solidFill>
            <a:srgbClr val="F4EDDF"/>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method</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choice the writer makes, like an image or a question</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Name the method, then explain its effect.</a:t>
            </a:r>
            <a:endParaRPr lang="en-US" sz="1800" dirty="0"/>
          </a:p>
        </p:txBody>
      </p:sp>
      <p:sp>
        <p:nvSpPr>
          <p:cNvPr id="31" name="kw-row"/>
          <p:cNvSpPr/>
          <p:nvPr/>
        </p:nvSpPr>
        <p:spPr>
          <a:xfrm>
            <a:off x="548640" y="5540451"/>
            <a:ext cx="11094415" cy="604317"/>
          </a:xfrm>
          <a:prstGeom prst="roundRect">
            <a:avLst>
              <a:gd name="adj" fmla="val 9079"/>
            </a:avLst>
          </a:prstGeom>
          <a:solidFill>
            <a:srgbClr val="EDE9F0"/>
          </a:solidFill>
          <a:ln/>
        </p:spPr>
      </p:sp>
      <p:sp>
        <p:nvSpPr>
          <p:cNvPr id="32" name="kw-hex"/>
          <p:cNvSpPr/>
          <p:nvPr/>
        </p:nvSpPr>
        <p:spPr>
          <a:xfrm>
            <a:off x="658368" y="5664439"/>
            <a:ext cx="411480" cy="356342"/>
          </a:xfrm>
          <a:prstGeom prst="hexagon">
            <a:avLst/>
          </a:prstGeom>
          <a:solidFill>
            <a:srgbClr val="5B3A7A"/>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whole play</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everything outside the extract</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must also write about the whole play.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exam, you answer one question on Macbeth.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paper gives you a short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extract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from the play.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write about the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extract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and about the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whole play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will not have the play with you.</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you need key quotations in your memory.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Spend ten minutes reading and planning first.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Decide your main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argument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before you write.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short quotations and fit them into your sentences.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Explain the effect of one word or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method</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at a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Link your ideas to the world of 1606.</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your spelling, punctuation and grammar at the end.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the question is asking for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 quotation like ‘business’ is worth more than a long one: it lets you zoom in on one word and show AO2.</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We will proceed no further in this business.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1.7.34</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Macbeth question is in Section A of Paper 1.</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teacher marks four things. AO1: you answer the question with a clear argument and use quotations as evidence.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From the extract to the whole play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‘Chuck’ is a pet name, like ‘chick’. It sounds loving, but he is hiding a murder from her.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Be innocent of the knowledge, dearest chuck</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3.2.50</a:t>
            </a:r>
            <a:endParaRPr lang="en-US" sz="2600" dirty="0"/>
          </a:p>
        </p:txBody>
      </p:sp>
      <p:sp>
        <p:nvSpPr>
          <p:cNvPr id="14" name="bullet-card"/>
          <p:cNvSpPr/>
          <p:nvPr/>
        </p:nvSpPr>
        <p:spPr>
          <a:xfrm>
            <a:off x="548640" y="1389888"/>
            <a:ext cx="5074920" cy="1212088"/>
          </a:xfrm>
          <a:prstGeom prst="roundRect">
            <a:avLst>
              <a:gd name="adj" fmla="val 6035"/>
            </a:avLst>
          </a:prstGeom>
          <a:solidFill>
            <a:srgbClr val="EDE9F0"/>
          </a:solidFill>
          <a:ln/>
        </p:spPr>
      </p:sp>
      <p:sp>
        <p:nvSpPr>
          <p:cNvPr id="15" name="bullet-hex"/>
          <p:cNvSpPr/>
          <p:nvPr/>
        </p:nvSpPr>
        <p:spPr>
          <a:xfrm>
            <a:off x="676656" y="1829639"/>
            <a:ext cx="384048" cy="332586"/>
          </a:xfrm>
          <a:prstGeom prst="hexagon">
            <a:avLst/>
          </a:prstGeom>
          <a:solidFill>
            <a:srgbClr val="5B3A7A"/>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write, place the extract: is it near the beginning, middle or end of the play?</a:t>
            </a:r>
            <a:endParaRPr lang="en-US" sz="1800" dirty="0"/>
          </a:p>
        </p:txBody>
      </p:sp>
      <p:sp>
        <p:nvSpPr>
          <p:cNvPr id="17" name="bullet-card"/>
          <p:cNvSpPr/>
          <p:nvPr/>
        </p:nvSpPr>
        <p:spPr>
          <a:xfrm>
            <a:off x="548640" y="2748280"/>
            <a:ext cx="5074920" cy="2048764"/>
          </a:xfrm>
          <a:prstGeom prst="roundRect">
            <a:avLst>
              <a:gd name="adj" fmla="val 3571"/>
            </a:avLst>
          </a:prstGeom>
          <a:solidFill>
            <a:srgbClr val="EDE9F0"/>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2748280"/>
            <a:ext cx="4389120" cy="20487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reliable plan has six parts: an introduction with your argument; two points about the extract; one point about earlier or later in the play; one point about the ending; and a conclusion about what Shakespeare was showing.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a strong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of context could be pasted into any essay, it is not yet doing its job. Tie it to a word in your quotation.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done cannot be undone.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5.1.74</a:t>
            </a:r>
            <a:endParaRPr lang="en-US" sz="2600" dirty="0"/>
          </a:p>
        </p:txBody>
      </p:sp>
      <p:sp>
        <p:nvSpPr>
          <p:cNvPr id="14" name="bullet-card"/>
          <p:cNvSpPr/>
          <p:nvPr/>
        </p:nvSpPr>
        <p:spPr>
          <a:xfrm>
            <a:off x="548640" y="1389888"/>
            <a:ext cx="5074920" cy="1698244"/>
          </a:xfrm>
          <a:prstGeom prst="roundRect">
            <a:avLst>
              <a:gd name="adj" fmla="val 4308"/>
            </a:avLst>
          </a:prstGeom>
          <a:solidFill>
            <a:srgbClr val="EDE9F0"/>
          </a:solidFill>
          <a:ln/>
        </p:spPr>
      </p:sp>
      <p:sp>
        <p:nvSpPr>
          <p:cNvPr id="15" name="bullet-hex"/>
          <p:cNvSpPr/>
          <p:nvPr/>
        </p:nvSpPr>
        <p:spPr>
          <a:xfrm>
            <a:off x="676656" y="2072717"/>
            <a:ext cx="384048" cy="332586"/>
          </a:xfrm>
          <a:prstGeom prst="hexagon">
            <a:avLst/>
          </a:prstGeom>
          <a:solidFill>
            <a:srgbClr val="5B3A7A"/>
          </a:solidFill>
          <a:ln/>
        </p:spPr>
      </p:sp>
      <p:sp>
        <p:nvSpPr>
          <p:cNvPr id="16"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 the What, How, Why structure from your lessons. What: make a point that answers the question.</a:t>
            </a:r>
            <a:endParaRPr lang="en-US" sz="2200" dirty="0"/>
          </a:p>
        </p:txBody>
      </p:sp>
      <p:sp>
        <p:nvSpPr>
          <p:cNvPr id="17" name="bullet-card"/>
          <p:cNvSpPr/>
          <p:nvPr/>
        </p:nvSpPr>
        <p:spPr>
          <a:xfrm>
            <a:off x="548640" y="3234436"/>
            <a:ext cx="5074920" cy="1357376"/>
          </a:xfrm>
          <a:prstGeom prst="roundRect">
            <a:avLst>
              <a:gd name="adj" fmla="val 5389"/>
            </a:avLst>
          </a:prstGeom>
          <a:solidFill>
            <a:srgbClr val="EDE9F0"/>
          </a:solidFill>
          <a:ln/>
        </p:spPr>
      </p:sp>
      <p:sp>
        <p:nvSpPr>
          <p:cNvPr id="18" name="bullet-hex"/>
          <p:cNvSpPr/>
          <p:nvPr/>
        </p:nvSpPr>
        <p:spPr>
          <a:xfrm>
            <a:off x="676656" y="3746831"/>
            <a:ext cx="384048" cy="332586"/>
          </a:xfrm>
          <a:prstGeom prst="hexagon">
            <a:avLst/>
          </a:prstGeom>
          <a:solidFill>
            <a:srgbClr val="B8862B"/>
          </a:solidFill>
          <a:ln/>
        </p:spPr>
      </p:sp>
      <p:sp>
        <p:nvSpPr>
          <p:cNvPr id="19" name="bullet"/>
          <p:cNvSpPr txBox="1"/>
          <p:nvPr/>
        </p:nvSpPr>
        <p:spPr>
          <a:xfrm>
            <a:off x="1143000" y="3234436"/>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Weave context into your analysis instead of adding it at the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parts of an extract-to-whole-play answer in the order you would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your argument about how the character or theme develops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point about the same idea earlier or later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First point about the extract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what Shakespeare was showing his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point about how the idea ends by Act 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 point about the extract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Plan in the right order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parts of an extract-to-whole-play answer in the order you would write them.</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Every answer opens with your argument and closes with your conclusion.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extract comes first, because the question starts there.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move out into the play, ending with Act 5.</a:t>
            </a:r>
            <a:endParaRPr lang="en-US" sz="20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Think of zooming: start on the extract, then pull back to show the whole play.</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If the extract came from Act 5, how would you change this plan? Rewrite the order for that case.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extract-to-whole-play answer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30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The extract-to-whole-play answer</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000" dirty="0"/>
          </a:p>
        </p:txBody>
      </p:sp>
      <p:sp>
        <p:nvSpPr>
          <p:cNvPr id="12" name="col-Support"/>
          <p:cNvSpPr/>
          <p:nvPr/>
        </p:nvSpPr>
        <p:spPr>
          <a:xfrm>
            <a:off x="548640" y="3523488"/>
            <a:ext cx="11094415" cy="2621280"/>
          </a:xfrm>
          <a:prstGeom prst="roundRect">
            <a:avLst>
              <a:gd name="adj" fmla="val 2093"/>
            </a:avLst>
          </a:prstGeom>
          <a:solidFill>
            <a:srgbClr val="EAE5EE"/>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6006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63568"/>
            <a:ext cx="10820095" cy="187147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Introduction: write one sentence on how the relationship changes from start to end (for example, from her control to his isolation).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1: who has the power in the extract? Quote one line by each of them and analyse one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2: jump to Act 3 Scene 2 or Act 3 Scene 4. Who has the power now? Quote and analyse.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Weave in context: warrior culture, Jacobean ideas about wives, or the divine right of 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The extract-to-whole-play answer</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000" dirty="0"/>
          </a:p>
        </p:txBody>
      </p:sp>
      <p:sp>
        <p:nvSpPr>
          <p:cNvPr id="12" name="col-Core"/>
          <p:cNvSpPr/>
          <p:nvPr/>
        </p:nvSpPr>
        <p:spPr>
          <a:xfrm>
            <a:off x="548640" y="3523488"/>
            <a:ext cx="5410048" cy="2621280"/>
          </a:xfrm>
          <a:prstGeom prst="roundRect">
            <a:avLst>
              <a:gd name="adj" fmla="val 2093"/>
            </a:avLst>
          </a:prstGeom>
          <a:solidFill>
            <a:srgbClr val="D6CEDE"/>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4163568"/>
            <a:ext cx="5135728" cy="187147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Find the moment the power shifts. In the extract it moves to her; by Act 3 it has moved back to him, and he no longer shares his plans.</a:t>
            </a:r>
            <a:endParaRPr lang="en-US" sz="2000" dirty="0"/>
          </a:p>
        </p:txBody>
      </p:sp>
      <p:sp>
        <p:nvSpPr>
          <p:cNvPr id="17" name="col-Stretch"/>
          <p:cNvSpPr/>
          <p:nvPr/>
        </p:nvSpPr>
        <p:spPr>
          <a:xfrm>
            <a:off x="6233008" y="3523488"/>
            <a:ext cx="5410048" cy="2621280"/>
          </a:xfrm>
          <a:prstGeom prst="roundRect">
            <a:avLst>
              <a:gd name="adj" fmla="val 2093"/>
            </a:avLst>
          </a:prstGeom>
          <a:solidFill>
            <a:srgbClr val="5B3A7A"/>
          </a:solidFill>
          <a:ln/>
        </p:spPr>
      </p:sp>
      <p:sp>
        <p:nvSpPr>
          <p:cNvPr id="18" name="col-hex"/>
          <p:cNvSpPr/>
          <p:nvPr/>
        </p:nvSpPr>
        <p:spPr>
          <a:xfrm>
            <a:off x="6342736" y="359664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4163568"/>
            <a:ext cx="5135728" cy="187147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a conclusion that judges the relationship: is Shakespeare showing a loving marriage destroyed by ambition, or a partnership that was always built on power? Refer to Act 5 Scene 1 and Act 5 Scene 5.</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sentence weaves context in best?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Macbeth kills Duncan. In 1606 people believed in the divine right of kings.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Macduff calls the murder “sacrilegious”, a word that turns regicide into an attack on God, as the divine right of kings would lead a Jacobean audience to feel.</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divine right of kings was a belief in Shakespeare's time that kings were chosen by God.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Shakespeare's audience had many beliefs, such as the divine right of kings.</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your argument about how the character or theme develops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First point about the extract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Second point about the extract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point about the same idea earlier or later in the play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point about how the idea ends by Act 5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what Shakespeare was showing his audience  (D)</a:t>
            </a:r>
            <a:endParaRPr lang="en-US" sz="2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plan moves from the extract outward and ends with Shakespeare's purpose, so that every paragraph serves one argument.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extract-to-whole-play answer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36143"/>
          </a:xfrm>
          <a:prstGeom prst="roundRect">
            <a:avLst>
              <a:gd name="adj" fmla="val 17055"/>
            </a:avLst>
          </a:prstGeom>
          <a:solidFill>
            <a:srgbClr val="EDE9F0"/>
          </a:solidFill>
          <a:ln/>
        </p:spPr>
      </p:sp>
      <p:sp>
        <p:nvSpPr>
          <p:cNvPr id="9" name="tickbox"/>
          <p:cNvSpPr/>
          <p:nvPr/>
        </p:nvSpPr>
        <p:spPr>
          <a:xfrm>
            <a:off x="713232" y="210601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an introduction with a clear argument about how the relationship develops</a:t>
            </a:r>
            <a:endParaRPr lang="en-US" sz="2200" dirty="0"/>
          </a:p>
        </p:txBody>
      </p:sp>
      <p:sp>
        <p:nvSpPr>
          <p:cNvPr id="11" name="crit-box"/>
          <p:cNvSpPr/>
          <p:nvPr/>
        </p:nvSpPr>
        <p:spPr>
          <a:xfrm>
            <a:off x="548640" y="2611831"/>
            <a:ext cx="11094415" cy="877011"/>
          </a:xfrm>
          <a:prstGeom prst="roundRect">
            <a:avLst>
              <a:gd name="adj" fmla="val 10426"/>
            </a:avLst>
          </a:prstGeom>
          <a:solidFill>
            <a:srgbClr val="EDE9F0"/>
          </a:solidFill>
          <a:ln/>
        </p:spPr>
      </p:sp>
      <p:sp>
        <p:nvSpPr>
          <p:cNvPr id="12" name="tickbox"/>
          <p:cNvSpPr/>
          <p:nvPr/>
        </p:nvSpPr>
        <p:spPr>
          <a:xfrm>
            <a:off x="713232" y="2904033"/>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611831"/>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short, embedded quotations from the extract and from at least one other scene</a:t>
            </a:r>
            <a:endParaRPr lang="en-US" sz="2200" dirty="0"/>
          </a:p>
        </p:txBody>
      </p:sp>
      <p:sp>
        <p:nvSpPr>
          <p:cNvPr id="14" name="crit-box"/>
          <p:cNvSpPr/>
          <p:nvPr/>
        </p:nvSpPr>
        <p:spPr>
          <a:xfrm>
            <a:off x="548640" y="3580282"/>
            <a:ext cx="11094415" cy="877011"/>
          </a:xfrm>
          <a:prstGeom prst="roundRect">
            <a:avLst>
              <a:gd name="adj" fmla="val 10426"/>
            </a:avLst>
          </a:prstGeom>
          <a:solidFill>
            <a:srgbClr val="EDE9F0"/>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80282"/>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analysis of methods such as questions, insults, imperatives, or pet names, with subject terms</a:t>
            </a:r>
            <a:endParaRPr lang="en-US" sz="2200" dirty="0"/>
          </a:p>
        </p:txBody>
      </p:sp>
      <p:sp>
        <p:nvSpPr>
          <p:cNvPr id="17" name="crit-box"/>
          <p:cNvSpPr/>
          <p:nvPr/>
        </p:nvSpPr>
        <p:spPr>
          <a:xfrm>
            <a:off x="548640" y="4548734"/>
            <a:ext cx="11094415" cy="877011"/>
          </a:xfrm>
          <a:prstGeom prst="roundRect">
            <a:avLst>
              <a:gd name="adj" fmla="val 10426"/>
            </a:avLst>
          </a:prstGeom>
          <a:solidFill>
            <a:srgbClr val="EDE9F0"/>
          </a:solidFill>
          <a:ln/>
        </p:spPr>
      </p:sp>
      <p:sp>
        <p:nvSpPr>
          <p:cNvPr id="18" name="tickbox"/>
          <p:cNvSpPr/>
          <p:nvPr/>
        </p:nvSpPr>
        <p:spPr>
          <a:xfrm>
            <a:off x="713232" y="4840935"/>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548734"/>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context woven in, for example warrior culture, gender expectations or the divine right of kings</a:t>
            </a:r>
            <a:endParaRPr lang="en-US" sz="2200" dirty="0"/>
          </a:p>
        </p:txBody>
      </p:sp>
      <p:sp>
        <p:nvSpPr>
          <p:cNvPr id="20" name="crit-box"/>
          <p:cNvSpPr/>
          <p:nvPr/>
        </p:nvSpPr>
        <p:spPr>
          <a:xfrm>
            <a:off x="548640" y="5517185"/>
            <a:ext cx="11094415" cy="536143"/>
          </a:xfrm>
          <a:prstGeom prst="roundRect">
            <a:avLst>
              <a:gd name="adj" fmla="val 17055"/>
            </a:avLst>
          </a:prstGeom>
          <a:solidFill>
            <a:srgbClr val="EDE9F0"/>
          </a:solidFill>
          <a:ln/>
        </p:spPr>
      </p:sp>
      <p:sp>
        <p:nvSpPr>
          <p:cNvPr id="21" name="tickbox"/>
          <p:cNvSpPr/>
          <p:nvPr/>
        </p:nvSpPr>
        <p:spPr>
          <a:xfrm>
            <a:off x="713232" y="5638952"/>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517185"/>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AO4: accurate spelling, punctuation and grammar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The extract-to-whole-play answer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weaves context in best?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Macduff calls the murder “sacrilegious”, a word that turns regicide into an attack on God, as the divine right of kings would lead a Jacobean audience to feel.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option B joins a quotation, its effect and the context in one sentence. The others state context without linking it to the play.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6: Writing the Macbeth essay</dc:title>
  <dc:subject>English Literature · Year 10</dc:subject>
  <dc:creator>Dr Vitor Merissi de Carvalho</dc:creator>
  <cp:lastModifiedBy>Dr Vitor Merissi de Carvalho</cp:lastModifiedBy>
  <cp:revision>1</cp:revision>
  <dcterms:created xsi:type="dcterms:W3CDTF">2026-10-16T23:02:12Z</dcterms:created>
  <dcterms:modified xsi:type="dcterms:W3CDTF">2026-10-16T23:02:12Z</dcterms:modified>
</cp:coreProperties>
</file>