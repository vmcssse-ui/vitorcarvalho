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44577c0-037a-eba6-2e11-86ba71e74cb6}">
          <p14:sldIdLst>
            <p14:sldId id="256"/>
          </p14:sldIdLst>
        </p14:section>
        <p14:section name="Gate" id="{b3b71940-aac7-2d90-be3d-9b171dd9a4a7}">
          <p14:sldIdLst>
            <p14:sldId id="257"/>
            <p14:sldId id="258"/>
          </p14:sldIdLst>
        </p14:section>
        <p14:section name="Pre-teach" id="{ae1466eb-872a-cb0a-4157-b979735c357d}">
          <p14:sldIdLst>
            <p14:sldId id="259"/>
          </p14:sldIdLst>
        </p14:section>
        <p14:section name="Read-along" id="{fbf4f722-3265-6ab1-1b8b-e8ae2efc4ce8}">
          <p14:sldIdLst>
            <p14:sldId id="260"/>
            <p14:sldId id="261"/>
          </p14:sldIdLst>
        </p14:section>
        <p14:section name="Teach" id="{488c6d94-655d-9cb5-2a59-91c17d0b84de}">
          <p14:sldIdLst>
            <p14:sldId id="262"/>
            <p14:sldId id="263"/>
            <p14:sldId id="264"/>
          </p14:sldIdLst>
        </p14:section>
        <p14:section name="Routes" id="{a2760043-4cff-e64a-ac3b-048f0964fe9f}">
          <p14:sldIdLst>
            <p14:sldId id="265"/>
            <p14:sldId id="266"/>
            <p14:sldId id="267"/>
            <p14:sldId id="268"/>
          </p14:sldIdLst>
        </p14:section>
        <p14:section name="Close" id="{8ea2f173-c0e2-2015-179e-bdc219c42263}">
          <p14:sldIdLst>
            <p14:sldId id="269"/>
          </p14:sldIdLst>
        </p14:section>
        <p14:section name="Answers" id="{e4a34027-152c-4061-e7d8-eb606049f021}">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The world of the play. This chapter gives you the beliefs of Shakespeare's audience, so the rest of the play makes sense.
This deck covers the department's lessons: 1 (Introduction to Shakespeare's Macbeth: context: What is meant by context, and what were the beliefs and ideas of Shakespeare's society?); 2 (Introduction to Macbeth: the plot and the opening: Can I summarise the main plot and apply context to the opening of the play?).
Read the big question aloud: "What is the plot, context and key themes of Shakespeare's play Macbeth, and how does Shakespeare turn a hero into a tyrant?"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Who was King of England when Shakespeare wrote Macbeth?  →  D   James I
2. The belief that God set a fixed order for everything is called the Great Chain of ___.  →  Being
3. What was the Gunpowder Plot of 1605?  →  D   A plan to blow up Parliament and the king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James I. James VI of Scotland became James I of England in 1603. Macbeth was written in about 1606.
2. Being. The Great Chain of Being ran from God and the angels down to rocks. Kings sat near the top.
3. D   A plan to blow up Parliament and the king. Plotters planned to blow up Parliament with James inside. It made traitors a fresh, real fear for the audience.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context: the world a story was written in. Example: "Knowing the context helps you see why the audience feared the witches."
• Jacobean: from the time of King James I. Example: "A Jacobean audience believed that witches were real."
• order: everything in its right place. Example: "People believed God had set the world in order."
• traitor: someone who betrays their king. Example: "A traitor who tried to kill the king could be executed."
• patriarchal: run by men. Example: "In a patriarchal society, wives were expected to obey their husbands."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Macbeth is a play by William Shakespeare.
2. He wrote it in about 1606.
3. The story is set in Scotland, long ago.
4. When Shakespeare wrote it, James I was King of England.
5. James was also King of Scotland.
6. James believed in witches and wrote a book about them.
7. Many people believed God had put the whole world in order.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They called this order the Great Chain of Being.
9. The king sat high on the chain, close to God.
10. So killing a king meant breaking God's order.
11. In 1605, a group of plotters tried to blow up the king.
12. We call this the Gunpowder Plot.
13. Shakespeare's audience feared traitors, witches and chaos.
14. Keep these fears in mind as you read the play.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 king who feared witches. Say it in your own words, then check understanding with a quick question: ask a pupil from the pre-teach group first, since they met these words and ideas before the lesson. Pupils try to recall before you re-explain.
When Elizabeth I died in 1603, James VI of Scotland became James I of England. Shakespeare's company was soon renamed the King's Men, so James was not just the king: he was their patron. A play about Scotland, kings and witches was a play about things James cared about deeply.
James took witchcraft seriously. In 1590 he was involved in the North Berwick witch trials, where people were accused of raising storms against his ship. In 1597 he published Daemonologie, a book arguing that witches were real servants of the devil. For a Jacobean audience, the witches on stage were not a joke in a pointed hat. They were a real and frightening danger.
Quotation: "By the pricking of my thumbs, / Something wicked this way comes." (4.1.44–45). Read it aloud; ask what it shows.
Tip: Context is only worth marks when you link it to a moment in the play. Never write a history lesson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Order, kings and the Gunpowder Plot. Say it in your own words, then check understanding with a quick question: ask a pupil from the pre-teach group first, since they met these words and ideas before the lesson. Pupils try to recall before you re-explain.
Shakespeare's audience was taught that God had placed everything in a fixed order: God and the angels at the top, then kings, then ordinary people, then animals, plants and rocks. This was the Great Chain of Being. Closely linked was the divine right of kings: a king was chosen by God, so to kill one was a sin as well as a crime.
On 5 November 1605, Catholic plotters, including Guy Fawkes, planned to blow up Parliament with the king inside. The Gunpowder Plot failed, but it left the country nervous about traitors hiding behind friendly faces. When Macduff finds Duncan's body, he describes the murder as an attack on something holy. That is how Shakespeare's audience would have felt about regicide.
Quotation: "Most sacrilegious murder hath broke ope / The Lord's anointed temple" (2.3.76–77). Read it aloud; ask what it shows.
Tip: ‘Anointed’ means blessed with holy oil at a coronation. Macduff is calling the king's body a temple of God.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Women, heroes and tragedy. Say it in your own words, then check understanding with a quick question: ask a pupil from the pre-teach group first, since they met these words and ideas before the lesson. Pupils try to recall before you re-explain.
Jacobean England was patriarchal. Women were expected to obey their fathers and husbands, and they were not allowed to act on the public stage, so boy actors played Lady Macbeth and the witches. Many people still blamed Eve for the first sin in the Bible, and women were the people most often accused of witchcraft.
Macbeth is a tragedy. A tragic hero starts high and falls because of a flaw inside him, his hamartia. Shakespeare starts Macbeth at the very top: the first time we hear about him, he is the bravest soldier in Scotland. The higher he starts, the further he has to fall.
Quotation: "For brave Macbeth (well he deserves that name)" (1.2.18). Read it aloud; ask what it shows.
Tip: Shakespeare took the story from Holinshed's Chronicles (1587). The real Macbeth was King of Scotland from 1040 to 1057.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plot in eight steps.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eight events from Macbeth in the order they happen in the play.
Support — work through the steps with the group: (1) Find the event that starts everything: who gives Macbeth the idea of being king? (2) Find the event that ends everything: how does Macbeth die? (3) Place the two murders Macbeth arranges after he becomes king. Who is the first threat he removes? (4) Fill the gaps: when do the ghost and the sleepwalking happen? Remember that guilt grows over time.
Parallel worked example for Support (model it, do not give the task answer): Practice: put these moments from Act 1 Scene 3 in order: Ross names Macbeth Thane of Cawdor; the witches greet Macbeth; the witches vanish; Banquo asks about his own future. The scene opens with the witches, so their greeting comes first.; Banquo asks what they have for him once Macbeth has heard his prophecies.; The witches vanish before Ross arrives.; Ross brings the news last, and the first prophecy comes true.. Answer: The witches greet Macbeth; Banquo asks about his future; the witches vanish; Ross names Macbeth Thane of Cawdor..
Core — reveal the hint only on request: Think of three stages: Act 1–2 Macbeth gets the crown, Act 3–4 he kills to keep it, Act 5 he loses it.
Stretch — no help; when finished: Which single event on the list is the turning point of the play? Justify your choice in two sentences, then say which event a Jacobean audience would find most shocking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plot in eight steps.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eight events from Macbeth in the order they happen in the play.
Support — work through the steps with the group: (1) Find the event that starts everything: who gives Macbeth the idea of being king? (2) Find the event that ends everything: how does Macbeth die? (3) Place the two murders Macbeth arranges after he becomes king. Who is the first threat he removes? (4) Fill the gaps: when do the ghost and the sleepwalking happen? Remember that guilt grows over time.
Parallel worked example for Support (model it, do not give the task answer): Practice: put these moments from Act 1 Scene 3 in order: Ross names Macbeth Thane of Cawdor; the witches greet Macbeth; the witches vanish; Banquo asks about his own future. The scene opens with the witches, so their greeting comes first.; Banquo asks what they have for him once Macbeth has heard his prophecies.; The witches vanish before Ross arrives.; Ross brings the news last, and the first prophecy comes true.. Answer: The witches greet Macbeth; Banquo asks about his future; the witches vanish; Ross names Macbeth Thane of Cawdor..
Core — reveal the hint only on request: Think of three stages: Act 1–2 Macbeth gets the crown, Act 3–4 he kills to keep it, Act 5 he loses it.
Stretch — no help; when finished: Which single event on the list is the turning point of the play? Justify your choice in two sentences, then say which event a Jacobean audience would find most shocking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Context to meaning.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piece of context to the moment in the play it helps you understand.
Support — work through the steps with the group: (1) Read the left-hand side and say in your own words what each piece of context is. (2) Ask: what would someone who believed this feel when watching the play? (3) Find the moment on the right that would trigger that feeling.
Parallel worked example for Support (model it, do not give the task answer): Practice: which moment does the Great Chain of Being help you understand: (a) the witches' rhyme or (b) Macduff calling the murder ‘sacrilegious’? The Great Chain puts the king close to God.; ‘Sacrilegious’ means an attack on something holy.; So the Chain explains why Macduff uses religious words.. Answer: (b) Macduff calling the murder ‘sacrilegious’..
Core — reveal the hint only on request: Each piece of context explains a feeling the first audience would have had. Match the belief to the feeling.
Stretch — no help; when finished: Pick one pair and turn it into a single exam sentence that names the moment, quotes three or four words, and weaves in the context in the same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Context to meaning.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piece of context to the moment in the play it helps you understand.
Support — work through the steps with the group: (1) Read the left-hand side and say in your own words what each piece of context is. (2) Ask: what would someone who believed this feel when watching the play? (3) Find the moment on the right that would trigger that feeling.
Parallel worked example for Support (model it, do not give the task answer): Practice: which moment does the Great Chain of Being help you understand: (a) the witches' rhyme or (b) Macduff calling the murder ‘sacrilegious’? The Great Chain puts the king close to God.; ‘Sacrilegious’ means an attack on something holy.; So the Chain explains why Macduff uses religious words.. Answer: (b) Macduff calling the murder ‘sacrilegious’..
Core — reveal the hint only on request: Each piece of context explains a feeling the first audience would have had. Match the belief to the feeling.
Stretch — no help; when finished: Pick one pair and turn it into a single exam sentence that names the moment, quotes three or four words, and weaves in the context in the same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Who was King of England when Shakespeare wrote Macbeth?
Answer: C   James I. James VI of Scotland became James I of England in 1603. Macbeth was written in about 1606.
Source of this question: gate item 1 re-asked (options rotated) — this chapter has no third quick-check module.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The plot in eight steps. Reveal the answer; pupils mark their own work in a different colour, then read the "why" together. Same destination for every lane, so one answer serves the whole class.
Answer: Three witches greet Macbeth and Banquo with prophecies.  (G); Lady Macbeth reads Macbeth's letter and plans the murder.  (E); Macbeth kills King Duncan in his sleep.  (C); Macbeth sends murderers to kill Banquo and his son Fleance.  (A); Banquo's ghost appears at Macbeth's feast.  (H); Macbeth has Macduff's wife and children killed.  (D); Lady Macbeth walks and talks in her sleep.  (B); Macduff kills Macbeth and Malcolm becomes king.  (F)
Why: The play moves in three stages: winning the crown (Acts 1–2), holding it through more murder (Acts 3–4), and losing it (Act 5). Every later chapter fits into this shape.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Context to meaning. Reveal the answer; pupils mark their own work in a different colour, then read the "why" together. Same destination for every lane, so one answer serves the whole class.
Answer: James I's Daemonologie (1597)  →  D  Why the witches would frighten, not amuse, the first audience; The Gunpowder Plot (1605)  →  A  Why a smiling traitor like Macbeth feels so dangerous; The divine right of kings  →  E  Why killing Duncan is a sin against God, not only a crime; A patriarchal society  →  C  Why Lady Macbeth's commanding voice would shock; The genre of tragedy  →  B  Why Macbeth begins as a brave and admired hero
Why: Context earns marks (AO3) only when it explains why a moment matters. Each pair here is one link you can reuse in an essay.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C   James I
Why: James VI of Scotland became James I of England in 1603. Macbeth was written in about 1606.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6CEDE"/>
          </a:solidFill>
          <a:ln w="12700">
            <a:solidFill>
              <a:srgbClr val="D6CE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10 · Macbeth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6CEDE"/>
          </a:solidFill>
          <a:ln w="12700">
            <a:solidFill>
              <a:srgbClr val="D6CE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10 · Macbeth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5B3A7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9D2E0"/>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5B3A7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5B3A7A"/>
                </a:solidFill>
                <a:latin typeface="Calibri" pitchFamily="34" charset="0"/>
                <a:ea typeface="Calibri" pitchFamily="34" charset="-122"/>
                <a:cs typeface="Calibri" pitchFamily="34" charset="-120"/>
              </a:rPr>
              <a:t>English Literature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Macbeth · AQA 8702</a:t>
            </a:r>
            <a:endParaRPr lang="en-US" sz="1800" dirty="0"/>
          </a:p>
        </p:txBody>
      </p:sp>
      <p:sp>
        <p:nvSpPr>
          <p:cNvPr id="10" name="deck-title"/>
          <p:cNvSpPr txBox="1"/>
          <p:nvPr/>
        </p:nvSpPr>
        <p:spPr>
          <a:xfrm>
            <a:off x="548640" y="2239518"/>
            <a:ext cx="5287975" cy="7874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The world of the play</a:t>
            </a:r>
            <a:endParaRPr lang="en-US" sz="4000" dirty="0"/>
          </a:p>
        </p:txBody>
      </p:sp>
      <p:sp>
        <p:nvSpPr>
          <p:cNvPr id="11" name="lessons-card"/>
          <p:cNvSpPr/>
          <p:nvPr/>
        </p:nvSpPr>
        <p:spPr>
          <a:xfrm>
            <a:off x="548640" y="3255518"/>
            <a:ext cx="5287975" cy="1948180"/>
          </a:xfrm>
          <a:prstGeom prst="roundRect">
            <a:avLst>
              <a:gd name="adj" fmla="val 3755"/>
            </a:avLst>
          </a:prstGeom>
          <a:solidFill>
            <a:srgbClr val="EAE5EE"/>
          </a:solidFill>
          <a:ln/>
        </p:spPr>
      </p:sp>
      <p:sp>
        <p:nvSpPr>
          <p:cNvPr id="12" name="lessons"/>
          <p:cNvSpPr txBox="1"/>
          <p:nvPr/>
        </p:nvSpPr>
        <p:spPr>
          <a:xfrm>
            <a:off x="685800" y="3346958"/>
            <a:ext cx="5013655" cy="176530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5B3A7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Introduction to Shakespeare's Macbeth: context</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Introduction to Macbeth: the plot and the opening</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Literature,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AE5EE"/>
          </a:solidFill>
          <a:ln w="12700">
            <a:solidFill>
              <a:srgbClr val="B8AAC6"/>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5B3A7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What is the plot, context and key themes of Shakespeare's play Macbeth, and how does Shakespeare turn a hero into a tyrant?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FEBF2"/>
          </a:solidFill>
          <a:ln w="12700">
            <a:solidFill>
              <a:srgbClr val="C1B4CC"/>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Who was King of England when Shakespeare wrote Macbeth?</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Charles I</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Richard III</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Henry VIII</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James I</a:t>
            </a:r>
            <a:endParaRPr lang="en-US" sz="2400" dirty="0"/>
          </a:p>
        </p:txBody>
      </p:sp>
      <p:sp>
        <p:nvSpPr>
          <p:cNvPr id="12" name="card"/>
          <p:cNvSpPr/>
          <p:nvPr/>
        </p:nvSpPr>
        <p:spPr>
          <a:xfrm>
            <a:off x="4338218" y="1389888"/>
            <a:ext cx="3515258" cy="4754880"/>
          </a:xfrm>
          <a:prstGeom prst="roundRect">
            <a:avLst>
              <a:gd name="adj" fmla="val 1561"/>
            </a:avLst>
          </a:prstGeom>
          <a:solidFill>
            <a:srgbClr val="EFEBF2"/>
          </a:solidFill>
          <a:ln w="12700">
            <a:solidFill>
              <a:srgbClr val="C1B4CC"/>
            </a:solidFill>
            <a:prstDash val="solid"/>
          </a:ln>
        </p:spPr>
      </p:sp>
      <p:sp>
        <p:nvSpPr>
          <p:cNvPr id="13" name="card-hex"/>
          <p:cNvSpPr/>
          <p:nvPr/>
        </p:nvSpPr>
        <p:spPr>
          <a:xfrm>
            <a:off x="4521098" y="1572768"/>
            <a:ext cx="640080" cy="554309"/>
          </a:xfrm>
          <a:prstGeom prst="hexagon">
            <a:avLst/>
          </a:prstGeom>
          <a:solidFill>
            <a:srgbClr val="5B3A7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belief that God set a fixed order for everything is called the Great Chain of ___.</a:t>
            </a:r>
            <a:endParaRPr lang="en-US" sz="2400" dirty="0"/>
          </a:p>
          <a:p>
            <a:pPr algn="l" indent="0" marL="0">
              <a:buNone/>
            </a:pPr>
            <a:r>
              <a:rPr lang="en-US" sz="2400" b="1" dirty="0">
                <a:solidFill>
                  <a:srgbClr val="5B3A7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Being  ·  Kings  ·  Command</a:t>
            </a:r>
            <a:endParaRPr lang="en-US" sz="2400" dirty="0"/>
          </a:p>
        </p:txBody>
      </p:sp>
      <p:sp>
        <p:nvSpPr>
          <p:cNvPr id="17" name="card"/>
          <p:cNvSpPr/>
          <p:nvPr/>
        </p:nvSpPr>
        <p:spPr>
          <a:xfrm>
            <a:off x="8127797" y="1389888"/>
            <a:ext cx="3515258" cy="4754880"/>
          </a:xfrm>
          <a:prstGeom prst="roundRect">
            <a:avLst>
              <a:gd name="adj" fmla="val 1561"/>
            </a:avLst>
          </a:prstGeom>
          <a:solidFill>
            <a:srgbClr val="EFEBF2"/>
          </a:solidFill>
          <a:ln w="12700">
            <a:solidFill>
              <a:srgbClr val="C1B4CC"/>
            </a:solidFill>
            <a:prstDash val="solid"/>
          </a:ln>
        </p:spPr>
      </p:sp>
      <p:sp>
        <p:nvSpPr>
          <p:cNvPr id="18" name="card-hex"/>
          <p:cNvSpPr/>
          <p:nvPr/>
        </p:nvSpPr>
        <p:spPr>
          <a:xfrm>
            <a:off x="8310677" y="1572768"/>
            <a:ext cx="640080" cy="554309"/>
          </a:xfrm>
          <a:prstGeom prst="hexagon">
            <a:avLst/>
          </a:prstGeom>
          <a:solidFill>
            <a:srgbClr val="5B3A7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What was the Gunpowder Plot of 1605?</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war between England and Scotland</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fire at Shakespeare's theatre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witch trial in Scotland</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plan to blow up Parliament and the king</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FEBF2"/>
          </a:solidFill>
          <a:ln w="12700">
            <a:solidFill>
              <a:srgbClr val="C1B4CC"/>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BDDC4"/>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James I</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Who was King of England when Shakespeare wrote Macbeth?</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James VI of Scotland became James I of England in 1603. Macbeth was written in about 1606.</a:t>
            </a:r>
            <a:endParaRPr lang="en-US" sz="2000" dirty="0"/>
          </a:p>
        </p:txBody>
      </p:sp>
      <p:sp>
        <p:nvSpPr>
          <p:cNvPr id="14" name="card"/>
          <p:cNvSpPr/>
          <p:nvPr/>
        </p:nvSpPr>
        <p:spPr>
          <a:xfrm>
            <a:off x="4338218" y="1389888"/>
            <a:ext cx="3515258" cy="4754880"/>
          </a:xfrm>
          <a:prstGeom prst="roundRect">
            <a:avLst>
              <a:gd name="adj" fmla="val 1561"/>
            </a:avLst>
          </a:prstGeom>
          <a:solidFill>
            <a:srgbClr val="EFEBF2"/>
          </a:solidFill>
          <a:ln w="12700">
            <a:solidFill>
              <a:srgbClr val="C1B4CC"/>
            </a:solidFill>
            <a:prstDash val="solid"/>
          </a:ln>
        </p:spPr>
      </p:sp>
      <p:sp>
        <p:nvSpPr>
          <p:cNvPr id="15" name="card-hex"/>
          <p:cNvSpPr/>
          <p:nvPr/>
        </p:nvSpPr>
        <p:spPr>
          <a:xfrm>
            <a:off x="4521098" y="1572768"/>
            <a:ext cx="640080" cy="554309"/>
          </a:xfrm>
          <a:prstGeom prst="hexagon">
            <a:avLst/>
          </a:prstGeom>
          <a:solidFill>
            <a:srgbClr val="5B3A7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Being</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The belief that God set a fixed order for everything is called the Great Chain of ___.</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Great Chain of Being ran from God and the angels down to rocks. Kings sat near the top.</a:t>
            </a:r>
            <a:endParaRPr lang="en-US" sz="2000" dirty="0"/>
          </a:p>
        </p:txBody>
      </p:sp>
      <p:sp>
        <p:nvSpPr>
          <p:cNvPr id="21" name="card"/>
          <p:cNvSpPr/>
          <p:nvPr/>
        </p:nvSpPr>
        <p:spPr>
          <a:xfrm>
            <a:off x="8127797" y="1389888"/>
            <a:ext cx="3515258" cy="4754880"/>
          </a:xfrm>
          <a:prstGeom prst="roundRect">
            <a:avLst>
              <a:gd name="adj" fmla="val 1561"/>
            </a:avLst>
          </a:prstGeom>
          <a:solidFill>
            <a:srgbClr val="EFEBF2"/>
          </a:solidFill>
          <a:ln w="12700">
            <a:solidFill>
              <a:srgbClr val="C1B4CC"/>
            </a:solidFill>
            <a:prstDash val="solid"/>
          </a:ln>
        </p:spPr>
      </p:sp>
      <p:sp>
        <p:nvSpPr>
          <p:cNvPr id="22" name="card-hex"/>
          <p:cNvSpPr/>
          <p:nvPr/>
        </p:nvSpPr>
        <p:spPr>
          <a:xfrm>
            <a:off x="8310677" y="1572768"/>
            <a:ext cx="640080" cy="554309"/>
          </a:xfrm>
          <a:prstGeom prst="hexagon">
            <a:avLst/>
          </a:prstGeom>
          <a:solidFill>
            <a:srgbClr val="5B3A7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295908"/>
          </a:xfrm>
          <a:prstGeom prst="roundRect">
            <a:avLst>
              <a:gd name="adj" fmla="val 8467"/>
            </a:avLst>
          </a:prstGeom>
          <a:solidFill>
            <a:srgbClr val="EBDDC4"/>
          </a:solidFill>
          <a:ln w="19050">
            <a:solidFill>
              <a:srgbClr val="B8862B"/>
            </a:solidFill>
            <a:prstDash val="solid"/>
          </a:ln>
        </p:spPr>
      </p:sp>
      <p:sp>
        <p:nvSpPr>
          <p:cNvPr id="26" name="answer"/>
          <p:cNvSpPr txBox="1"/>
          <p:nvPr/>
        </p:nvSpPr>
        <p:spPr>
          <a:xfrm>
            <a:off x="8402117"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A plan to blow up Parliament and the king</a:t>
            </a:r>
            <a:endParaRPr lang="en-US" sz="2200" dirty="0"/>
          </a:p>
        </p:txBody>
      </p:sp>
      <p:sp>
        <p:nvSpPr>
          <p:cNvPr id="27" name="card-body"/>
          <p:cNvSpPr txBox="1"/>
          <p:nvPr/>
        </p:nvSpPr>
        <p:spPr>
          <a:xfrm>
            <a:off x="8310677" y="3834465"/>
            <a:ext cx="3149498" cy="2173143"/>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What was the Gunpowder Plot of 1605?</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Plotters planned to blow up Parliament with James inside. It made traitors a fresh, real fear for the audience.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5B3A7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EDE9F0"/>
          </a:solidFill>
          <a:ln/>
        </p:spPr>
      </p:sp>
      <p:sp>
        <p:nvSpPr>
          <p:cNvPr id="12" name="kw-hex"/>
          <p:cNvSpPr/>
          <p:nvPr/>
        </p:nvSpPr>
        <p:spPr>
          <a:xfrm>
            <a:off x="658368" y="2135261"/>
            <a:ext cx="411480" cy="356342"/>
          </a:xfrm>
          <a:prstGeom prst="hexagon">
            <a:avLst/>
          </a:prstGeom>
          <a:solidFill>
            <a:srgbClr val="5B3A7A"/>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context</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world a story was written in</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Knowing the context helps you see why the audience feared the witches.</a:t>
            </a:r>
            <a:endParaRPr lang="en-US" sz="1800" dirty="0"/>
          </a:p>
        </p:txBody>
      </p:sp>
      <p:sp>
        <p:nvSpPr>
          <p:cNvPr id="16" name="kw-row"/>
          <p:cNvSpPr/>
          <p:nvPr/>
        </p:nvSpPr>
        <p:spPr>
          <a:xfrm>
            <a:off x="548640" y="2779776"/>
            <a:ext cx="11094415" cy="786384"/>
          </a:xfrm>
          <a:prstGeom prst="roundRect">
            <a:avLst>
              <a:gd name="adj" fmla="val 6977"/>
            </a:avLst>
          </a:prstGeom>
          <a:solidFill>
            <a:srgbClr val="F4EDDF"/>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Jacobean</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from the time of King James I</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Jacobean audience believed that witches were real.</a:t>
            </a:r>
            <a:endParaRPr lang="en-US" sz="1800" dirty="0"/>
          </a:p>
        </p:txBody>
      </p:sp>
      <p:sp>
        <p:nvSpPr>
          <p:cNvPr id="21" name="kw-row"/>
          <p:cNvSpPr/>
          <p:nvPr/>
        </p:nvSpPr>
        <p:spPr>
          <a:xfrm>
            <a:off x="548640" y="3639312"/>
            <a:ext cx="11094415" cy="786384"/>
          </a:xfrm>
          <a:prstGeom prst="roundRect">
            <a:avLst>
              <a:gd name="adj" fmla="val 6977"/>
            </a:avLst>
          </a:prstGeom>
          <a:solidFill>
            <a:srgbClr val="EDE9F0"/>
          </a:solidFill>
          <a:ln/>
        </p:spPr>
      </p:sp>
      <p:sp>
        <p:nvSpPr>
          <p:cNvPr id="22" name="kw-hex"/>
          <p:cNvSpPr/>
          <p:nvPr/>
        </p:nvSpPr>
        <p:spPr>
          <a:xfrm>
            <a:off x="658368" y="3854333"/>
            <a:ext cx="411480" cy="356342"/>
          </a:xfrm>
          <a:prstGeom prst="hexagon">
            <a:avLst/>
          </a:prstGeom>
          <a:solidFill>
            <a:srgbClr val="5B3A7A"/>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order</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everything in its right place</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People believed God had set the world in order.</a:t>
            </a:r>
            <a:endParaRPr lang="en-US" sz="1800" dirty="0"/>
          </a:p>
        </p:txBody>
      </p:sp>
      <p:sp>
        <p:nvSpPr>
          <p:cNvPr id="26" name="kw-row"/>
          <p:cNvSpPr/>
          <p:nvPr/>
        </p:nvSpPr>
        <p:spPr>
          <a:xfrm>
            <a:off x="548640" y="4498848"/>
            <a:ext cx="11094415" cy="786384"/>
          </a:xfrm>
          <a:prstGeom prst="roundRect">
            <a:avLst>
              <a:gd name="adj" fmla="val 6977"/>
            </a:avLst>
          </a:prstGeom>
          <a:solidFill>
            <a:srgbClr val="F4EDDF"/>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traitor</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someone who betrays their king</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traitor who tried to kill the king could be executed.</a:t>
            </a:r>
            <a:endParaRPr lang="en-US" sz="1800" dirty="0"/>
          </a:p>
        </p:txBody>
      </p:sp>
      <p:sp>
        <p:nvSpPr>
          <p:cNvPr id="31" name="kw-row"/>
          <p:cNvSpPr/>
          <p:nvPr/>
        </p:nvSpPr>
        <p:spPr>
          <a:xfrm>
            <a:off x="548640" y="5358384"/>
            <a:ext cx="11094415" cy="786384"/>
          </a:xfrm>
          <a:prstGeom prst="roundRect">
            <a:avLst>
              <a:gd name="adj" fmla="val 6977"/>
            </a:avLst>
          </a:prstGeom>
          <a:solidFill>
            <a:srgbClr val="EDE9F0"/>
          </a:solidFill>
          <a:ln/>
        </p:spPr>
      </p:sp>
      <p:sp>
        <p:nvSpPr>
          <p:cNvPr id="32" name="kw-hex"/>
          <p:cNvSpPr/>
          <p:nvPr/>
        </p:nvSpPr>
        <p:spPr>
          <a:xfrm>
            <a:off x="658368" y="5573405"/>
            <a:ext cx="411480" cy="356342"/>
          </a:xfrm>
          <a:prstGeom prst="hexagon">
            <a:avLst/>
          </a:prstGeom>
          <a:solidFill>
            <a:srgbClr val="5B3A7A"/>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patriarchal</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run by men</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In a patriarchal society, wives were expected to obey their husbands.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FEBF2"/>
          </a:solidFill>
          <a:ln w="12700">
            <a:solidFill>
              <a:srgbClr val="C9BED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Macbeth is a play by William Shakespeare.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He wrote it in about 1606.</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story is set in Scotland, long ago.</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When Shakespeare wrote it, James I was King of England.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James was also King of Scotland.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James believed in witches and wrote a book about them.</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Many people believed God had put the whole world in </a:t>
            </a:r>
            <a:pPr algn="l" indent="0" marL="0">
              <a:spcAft>
                <a:spcPts val="600"/>
              </a:spcAft>
              <a:buNone/>
            </a:pPr>
            <a:r>
              <a:rPr lang="en-US" sz="2600" b="1" dirty="0">
                <a:solidFill>
                  <a:srgbClr val="5B3A7A"/>
                </a:solidFill>
                <a:latin typeface="Calibri" pitchFamily="34" charset="0"/>
                <a:ea typeface="Calibri" pitchFamily="34" charset="-122"/>
                <a:cs typeface="Calibri" pitchFamily="34" charset="-120"/>
              </a:rPr>
              <a:t>order</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FEBF2"/>
          </a:solidFill>
          <a:ln w="12700">
            <a:solidFill>
              <a:srgbClr val="C9BED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They called this </a:t>
            </a:r>
            <a:pPr algn="l" indent="0" marL="0">
              <a:spcAft>
                <a:spcPts val="600"/>
              </a:spcAft>
              <a:buNone/>
            </a:pPr>
            <a:r>
              <a:rPr lang="en-US" sz="2600" b="1" dirty="0">
                <a:solidFill>
                  <a:srgbClr val="5B3A7A"/>
                </a:solidFill>
                <a:latin typeface="Calibri" pitchFamily="34" charset="0"/>
                <a:ea typeface="Calibri" pitchFamily="34" charset="-122"/>
                <a:cs typeface="Calibri" pitchFamily="34" charset="-120"/>
              </a:rPr>
              <a:t>order</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the Great Chain of Being.</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king sat high on the chain, close to God.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So killing a king meant breaking God's </a:t>
            </a:r>
            <a:pPr algn="l" indent="0" marL="0">
              <a:spcAft>
                <a:spcPts val="600"/>
              </a:spcAft>
              <a:buNone/>
            </a:pPr>
            <a:r>
              <a:rPr lang="en-US" sz="2600" b="1" dirty="0">
                <a:solidFill>
                  <a:srgbClr val="5B3A7A"/>
                </a:solidFill>
                <a:latin typeface="Calibri" pitchFamily="34" charset="0"/>
                <a:ea typeface="Calibri" pitchFamily="34" charset="-122"/>
                <a:cs typeface="Calibri" pitchFamily="34" charset="-120"/>
              </a:rPr>
              <a:t>order</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1605, a group of plotters tried to blow up the king.</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We call this the Gunpowder Plot.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Shakespeare's audience feared </a:t>
            </a:r>
            <a:pPr algn="l" indent="0" marL="0">
              <a:spcAft>
                <a:spcPts val="600"/>
              </a:spcAft>
              <a:buNone/>
            </a:pPr>
            <a:r>
              <a:rPr lang="en-US" sz="2600" b="1" dirty="0">
                <a:solidFill>
                  <a:srgbClr val="5B3A7A"/>
                </a:solidFill>
                <a:latin typeface="Calibri" pitchFamily="34" charset="0"/>
                <a:ea typeface="Calibri" pitchFamily="34" charset="-122"/>
                <a:cs typeface="Calibri" pitchFamily="34" charset="-120"/>
              </a:rPr>
              <a:t>traitors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witches and chaos.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Keep these fears in mind as you read the play.</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 king who feared witches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2E9D9"/>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Context is only worth marks when you link it to a moment in the play. Never write a history lesson on its own.</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AE5EE"/>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By the pricking of my thumbs, / Something wicked this way comes.</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4.1.44–45</a:t>
            </a:r>
            <a:endParaRPr lang="en-US" sz="2600" dirty="0"/>
          </a:p>
        </p:txBody>
      </p:sp>
      <p:sp>
        <p:nvSpPr>
          <p:cNvPr id="14" name="bullet-card"/>
          <p:cNvSpPr/>
          <p:nvPr/>
        </p:nvSpPr>
        <p:spPr>
          <a:xfrm>
            <a:off x="548640" y="1389888"/>
            <a:ext cx="5074920" cy="1289558"/>
          </a:xfrm>
          <a:prstGeom prst="roundRect">
            <a:avLst>
              <a:gd name="adj" fmla="val 5673"/>
            </a:avLst>
          </a:prstGeom>
          <a:solidFill>
            <a:srgbClr val="EDE9F0"/>
          </a:solidFill>
          <a:ln/>
        </p:spPr>
      </p:sp>
      <p:sp>
        <p:nvSpPr>
          <p:cNvPr id="15" name="bullet-hex"/>
          <p:cNvSpPr/>
          <p:nvPr/>
        </p:nvSpPr>
        <p:spPr>
          <a:xfrm>
            <a:off x="676656" y="1868374"/>
            <a:ext cx="384048" cy="332586"/>
          </a:xfrm>
          <a:prstGeom prst="hexagon">
            <a:avLst/>
          </a:prstGeom>
          <a:solidFill>
            <a:srgbClr val="5B3A7A"/>
          </a:solidFill>
          <a:ln/>
        </p:spPr>
      </p:sp>
      <p:sp>
        <p:nvSpPr>
          <p:cNvPr id="16" name="bullet"/>
          <p:cNvSpPr txBox="1"/>
          <p:nvPr/>
        </p:nvSpPr>
        <p:spPr>
          <a:xfrm>
            <a:off x="1143000" y="1389888"/>
            <a:ext cx="4389120" cy="128955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When Elizabeth I died in 1603, James VI of Scotland became James I of England.</a:t>
            </a:r>
            <a:endParaRPr lang="en-US" sz="2200" dirty="0"/>
          </a:p>
        </p:txBody>
      </p:sp>
      <p:sp>
        <p:nvSpPr>
          <p:cNvPr id="17" name="bullet-card"/>
          <p:cNvSpPr/>
          <p:nvPr/>
        </p:nvSpPr>
        <p:spPr>
          <a:xfrm>
            <a:off x="548640" y="2825750"/>
            <a:ext cx="5074920" cy="1971294"/>
          </a:xfrm>
          <a:prstGeom prst="roundRect">
            <a:avLst>
              <a:gd name="adj" fmla="val 3711"/>
            </a:avLst>
          </a:prstGeom>
          <a:solidFill>
            <a:srgbClr val="EDE9F0"/>
          </a:solidFill>
          <a:ln/>
        </p:spPr>
      </p:sp>
      <p:sp>
        <p:nvSpPr>
          <p:cNvPr id="18" name="bullet-hex"/>
          <p:cNvSpPr/>
          <p:nvPr/>
        </p:nvSpPr>
        <p:spPr>
          <a:xfrm>
            <a:off x="676656" y="3645104"/>
            <a:ext cx="384048" cy="332586"/>
          </a:xfrm>
          <a:prstGeom prst="hexagon">
            <a:avLst/>
          </a:prstGeom>
          <a:solidFill>
            <a:srgbClr val="B8862B"/>
          </a:solidFill>
          <a:ln/>
        </p:spPr>
      </p:sp>
      <p:sp>
        <p:nvSpPr>
          <p:cNvPr id="19" name="bullet"/>
          <p:cNvSpPr txBox="1"/>
          <p:nvPr/>
        </p:nvSpPr>
        <p:spPr>
          <a:xfrm>
            <a:off x="1143000" y="2825750"/>
            <a:ext cx="4389120" cy="197129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James took witchcraft seriously. In 1590 he was involved in the North Berwick witch trials, where people were accused of raising storms against his ship.</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Order, kings and the Gunpowder Plot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2E9D9"/>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‘Anointed’ means blessed with holy oil at a coronation. Macduff is calling the king's body a temple of God.</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AE5EE"/>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Most sacrilegious murder hath broke ope / The Lord's anointed temple</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2.3.76–77</a:t>
            </a:r>
            <a:endParaRPr lang="en-US" sz="2600" dirty="0"/>
          </a:p>
        </p:txBody>
      </p:sp>
      <p:sp>
        <p:nvSpPr>
          <p:cNvPr id="14" name="bullet-card"/>
          <p:cNvSpPr/>
          <p:nvPr/>
        </p:nvSpPr>
        <p:spPr>
          <a:xfrm>
            <a:off x="548640" y="1389888"/>
            <a:ext cx="5074920" cy="1940306"/>
          </a:xfrm>
          <a:prstGeom prst="roundRect">
            <a:avLst>
              <a:gd name="adj" fmla="val 3770"/>
            </a:avLst>
          </a:prstGeom>
          <a:solidFill>
            <a:srgbClr val="EDE9F0"/>
          </a:solidFill>
          <a:ln/>
        </p:spPr>
      </p:sp>
      <p:sp>
        <p:nvSpPr>
          <p:cNvPr id="15" name="bullet-hex"/>
          <p:cNvSpPr/>
          <p:nvPr/>
        </p:nvSpPr>
        <p:spPr>
          <a:xfrm>
            <a:off x="676656" y="2193748"/>
            <a:ext cx="384048" cy="332586"/>
          </a:xfrm>
          <a:prstGeom prst="hexagon">
            <a:avLst/>
          </a:prstGeom>
          <a:solidFill>
            <a:srgbClr val="5B3A7A"/>
          </a:solidFill>
          <a:ln/>
        </p:spPr>
      </p:sp>
      <p:sp>
        <p:nvSpPr>
          <p:cNvPr id="16" name="bullet"/>
          <p:cNvSpPr txBox="1"/>
          <p:nvPr/>
        </p:nvSpPr>
        <p:spPr>
          <a:xfrm>
            <a:off x="1143000" y="1389888"/>
            <a:ext cx="4389120" cy="194030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Shakespeare's audience was taught that God had placed everything in a fixed order: God and the angels at the top, then kings, then ordinary people, then animals, plants and rocks.</a:t>
            </a:r>
            <a:endParaRPr lang="en-US" sz="2000" dirty="0"/>
          </a:p>
        </p:txBody>
      </p:sp>
      <p:sp>
        <p:nvSpPr>
          <p:cNvPr id="17" name="bullet-card"/>
          <p:cNvSpPr/>
          <p:nvPr/>
        </p:nvSpPr>
        <p:spPr>
          <a:xfrm>
            <a:off x="548640" y="3476498"/>
            <a:ext cx="5074920" cy="1320546"/>
          </a:xfrm>
          <a:prstGeom prst="roundRect">
            <a:avLst>
              <a:gd name="adj" fmla="val 5540"/>
            </a:avLst>
          </a:prstGeom>
          <a:solidFill>
            <a:srgbClr val="EDE9F0"/>
          </a:solidFill>
          <a:ln/>
        </p:spPr>
      </p:sp>
      <p:sp>
        <p:nvSpPr>
          <p:cNvPr id="18" name="bullet-hex"/>
          <p:cNvSpPr/>
          <p:nvPr/>
        </p:nvSpPr>
        <p:spPr>
          <a:xfrm>
            <a:off x="676656" y="3970478"/>
            <a:ext cx="384048" cy="332586"/>
          </a:xfrm>
          <a:prstGeom prst="hexagon">
            <a:avLst/>
          </a:prstGeom>
          <a:solidFill>
            <a:srgbClr val="B8862B"/>
          </a:solidFill>
          <a:ln/>
        </p:spPr>
      </p:sp>
      <p:sp>
        <p:nvSpPr>
          <p:cNvPr id="19" name="bullet"/>
          <p:cNvSpPr txBox="1"/>
          <p:nvPr/>
        </p:nvSpPr>
        <p:spPr>
          <a:xfrm>
            <a:off x="1143000" y="3476498"/>
            <a:ext cx="4389120" cy="132054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On 5 November 1605, Catholic plotters, including Guy Fawkes, planned to blow up Parliament with the king inside.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Women, heroes and tragedy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4792472"/>
            <a:ext cx="5074920" cy="1352296"/>
          </a:xfrm>
          <a:prstGeom prst="roundRect">
            <a:avLst>
              <a:gd name="adj" fmla="val 10143"/>
            </a:avLst>
          </a:prstGeom>
          <a:solidFill>
            <a:srgbClr val="F2E9D9"/>
          </a:solidFill>
          <a:ln w="15875">
            <a:solidFill>
              <a:srgbClr val="B8862B"/>
            </a:solidFill>
            <a:prstDash val="solid"/>
          </a:ln>
        </p:spPr>
      </p:sp>
      <p:sp>
        <p:nvSpPr>
          <p:cNvPr id="8" name="tip-hex"/>
          <p:cNvSpPr/>
          <p:nvPr/>
        </p:nvSpPr>
        <p:spPr>
          <a:xfrm>
            <a:off x="685800" y="5270652"/>
            <a:ext cx="457200" cy="395935"/>
          </a:xfrm>
          <a:prstGeom prst="hexagon">
            <a:avLst/>
          </a:prstGeom>
          <a:solidFill>
            <a:srgbClr val="B8862B"/>
          </a:solidFill>
          <a:ln/>
        </p:spPr>
      </p:sp>
      <p:sp>
        <p:nvSpPr>
          <p:cNvPr id="9" name="tip-hex-label"/>
          <p:cNvSpPr txBox="1"/>
          <p:nvPr/>
        </p:nvSpPr>
        <p:spPr>
          <a:xfrm>
            <a:off x="685800" y="5270652"/>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4847336"/>
            <a:ext cx="4206240" cy="1242568"/>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Shakespeare took the story from Holinshed's Chronicles (1587). The real Macbeth was King of Scotland from 1040 to 1057.</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AE5EE"/>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For brave Macbeth (well he deserves that name)</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1.2.18</a:t>
            </a:r>
            <a:endParaRPr lang="en-US" sz="2600" dirty="0"/>
          </a:p>
        </p:txBody>
      </p:sp>
      <p:sp>
        <p:nvSpPr>
          <p:cNvPr id="14" name="bullet-card"/>
          <p:cNvSpPr/>
          <p:nvPr/>
        </p:nvSpPr>
        <p:spPr>
          <a:xfrm>
            <a:off x="548640" y="1389888"/>
            <a:ext cx="5074920" cy="1769872"/>
          </a:xfrm>
          <a:prstGeom prst="roundRect">
            <a:avLst>
              <a:gd name="adj" fmla="val 4133"/>
            </a:avLst>
          </a:prstGeom>
          <a:solidFill>
            <a:srgbClr val="EDE9F0"/>
          </a:solidFill>
          <a:ln/>
        </p:spPr>
      </p:sp>
      <p:sp>
        <p:nvSpPr>
          <p:cNvPr id="15" name="bullet-hex"/>
          <p:cNvSpPr/>
          <p:nvPr/>
        </p:nvSpPr>
        <p:spPr>
          <a:xfrm>
            <a:off x="676656" y="2108531"/>
            <a:ext cx="384048" cy="332586"/>
          </a:xfrm>
          <a:prstGeom prst="hexagon">
            <a:avLst/>
          </a:prstGeom>
          <a:solidFill>
            <a:srgbClr val="5B3A7A"/>
          </a:solidFill>
          <a:ln/>
        </p:spPr>
      </p:sp>
      <p:sp>
        <p:nvSpPr>
          <p:cNvPr id="16" name="bullet"/>
          <p:cNvSpPr txBox="1"/>
          <p:nvPr/>
        </p:nvSpPr>
        <p:spPr>
          <a:xfrm>
            <a:off x="1143000" y="1389888"/>
            <a:ext cx="4389120" cy="1769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Jacobean England was patriarchal. Women were expected to obey their fathers and husbands, and they were not allowed to act on the public stage, so boy actors played Lady Macbeth and the witches.</a:t>
            </a:r>
            <a:endParaRPr lang="en-US" sz="1800" dirty="0"/>
          </a:p>
        </p:txBody>
      </p:sp>
      <p:sp>
        <p:nvSpPr>
          <p:cNvPr id="17" name="bullet-card"/>
          <p:cNvSpPr/>
          <p:nvPr/>
        </p:nvSpPr>
        <p:spPr>
          <a:xfrm>
            <a:off x="548640" y="3306064"/>
            <a:ext cx="5074920" cy="1212088"/>
          </a:xfrm>
          <a:prstGeom prst="roundRect">
            <a:avLst>
              <a:gd name="adj" fmla="val 6035"/>
            </a:avLst>
          </a:prstGeom>
          <a:solidFill>
            <a:srgbClr val="EDE9F0"/>
          </a:solidFill>
          <a:ln/>
        </p:spPr>
      </p:sp>
      <p:sp>
        <p:nvSpPr>
          <p:cNvPr id="18" name="bullet-hex"/>
          <p:cNvSpPr/>
          <p:nvPr/>
        </p:nvSpPr>
        <p:spPr>
          <a:xfrm>
            <a:off x="676656" y="3745815"/>
            <a:ext cx="384048" cy="332586"/>
          </a:xfrm>
          <a:prstGeom prst="hexagon">
            <a:avLst/>
          </a:prstGeom>
          <a:solidFill>
            <a:srgbClr val="B8862B"/>
          </a:solidFill>
          <a:ln/>
        </p:spPr>
      </p:sp>
      <p:sp>
        <p:nvSpPr>
          <p:cNvPr id="19" name="bullet"/>
          <p:cNvSpPr txBox="1"/>
          <p:nvPr/>
        </p:nvSpPr>
        <p:spPr>
          <a:xfrm>
            <a:off x="1143000" y="3306064"/>
            <a:ext cx="4389120" cy="121208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Macbeth is a tragedy. A tragic hero starts high and falls because of a flaw inside him, his hamartia.</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The plot in eight steps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these eight events from Macbeth in the order they happen in the play.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Macbeth sends murderers to kill Banquo and his son Fleance.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Lady Macbeth walks and talks in her sleep.</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Macbeth kills King Duncan in his sleep.</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Macbeth has Macduff's wife and children killed.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Lady Macbeth reads Macbeth's letter and plans the murder.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F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Macduff kills Macbeth and Malcolm becomes king.</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G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Three witches greet Macbeth and Banquo with prophecies.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H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Banquo's ghost appears at Macbeth's feast.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5B3A7A"/>
                </a:solidFill>
                <a:latin typeface="Cambria" pitchFamily="34" charset="0"/>
                <a:ea typeface="Cambria" pitchFamily="34" charset="-122"/>
                <a:cs typeface="Cambria" pitchFamily="34" charset="-120"/>
              </a:rPr>
              <a:t>Same task, three ways in: The plot in eight steps</a:t>
            </a:r>
            <a:endParaRPr lang="en-US" sz="30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The plot in eight steps</a:t>
            </a:r>
            <a:endParaRPr lang="en-US" sz="2000" dirty="0"/>
          </a:p>
        </p:txBody>
      </p:sp>
      <p:sp>
        <p:nvSpPr>
          <p:cNvPr id="12" name="col-Support"/>
          <p:cNvSpPr/>
          <p:nvPr/>
        </p:nvSpPr>
        <p:spPr>
          <a:xfrm>
            <a:off x="548640" y="2395728"/>
            <a:ext cx="5602443" cy="3749040"/>
          </a:xfrm>
          <a:prstGeom prst="roundRect">
            <a:avLst>
              <a:gd name="adj" fmla="val 1463"/>
            </a:avLst>
          </a:prstGeom>
          <a:solidFill>
            <a:srgbClr val="EAE5EE"/>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event that starts everything: who gives Macbeth the idea of being king?</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event that ends everything: how does Macbeth die?</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Place the two murders Macbeth arranges after he becomes king. Who is the first threat he removes?</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Fill the gaps: when do the ghost and the sleepwalking happen? Remember that guilt grows over time.</a:t>
            </a:r>
            <a:endParaRPr lang="en-US" sz="1800" dirty="0"/>
          </a:p>
        </p:txBody>
      </p:sp>
      <p:sp>
        <p:nvSpPr>
          <p:cNvPr id="17" name="col-Core"/>
          <p:cNvSpPr/>
          <p:nvPr/>
        </p:nvSpPr>
        <p:spPr>
          <a:xfrm>
            <a:off x="6425403" y="2395728"/>
            <a:ext cx="2471666" cy="3749040"/>
          </a:xfrm>
          <a:prstGeom prst="roundRect">
            <a:avLst>
              <a:gd name="adj" fmla="val 2220"/>
            </a:avLst>
          </a:prstGeom>
          <a:solidFill>
            <a:srgbClr val="D6CEDE"/>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492E62"/>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Think of three stages: Act 1–2 Macbeth gets the crown, Act 3–4 he kills to keep it, Act 5 he loses it.</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5B3A7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Which single event on the list is the turning point of the play? Justify your choice in two sentences, then say which event a Jacobean audience would find most shocking and why.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Context to meaning</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piece of context to the moment in the play it helps you understand.</a:t>
            </a:r>
            <a:endParaRPr lang="en-US" sz="2400" dirty="0"/>
          </a:p>
        </p:txBody>
      </p:sp>
      <p:sp>
        <p:nvSpPr>
          <p:cNvPr id="11" name="match-card"/>
          <p:cNvSpPr/>
          <p:nvPr/>
        </p:nvSpPr>
        <p:spPr>
          <a:xfrm>
            <a:off x="777240" y="2672080"/>
            <a:ext cx="3585319" cy="721360"/>
          </a:xfrm>
          <a:prstGeom prst="roundRect">
            <a:avLst>
              <a:gd name="adj" fmla="val 10141"/>
            </a:avLst>
          </a:prstGeom>
          <a:solidFill>
            <a:srgbClr val="EDE9F0"/>
          </a:solidFill>
          <a:ln/>
        </p:spPr>
      </p:sp>
      <p:sp>
        <p:nvSpPr>
          <p:cNvPr id="12" name="match-hex"/>
          <p:cNvSpPr/>
          <p:nvPr/>
        </p:nvSpPr>
        <p:spPr>
          <a:xfrm>
            <a:off x="850392" y="2866467"/>
            <a:ext cx="384048" cy="332586"/>
          </a:xfrm>
          <a:prstGeom prst="hexagon">
            <a:avLst/>
          </a:prstGeom>
          <a:solidFill>
            <a:srgbClr val="5B3A7A"/>
          </a:solidFill>
          <a:ln/>
        </p:spPr>
      </p:sp>
      <p:sp>
        <p:nvSpPr>
          <p:cNvPr id="13" name="match-hex-label"/>
          <p:cNvSpPr txBox="1"/>
          <p:nvPr/>
        </p:nvSpPr>
        <p:spPr>
          <a:xfrm>
            <a:off x="850392" y="286646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2990959" cy="72136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James I's Daemonologie (1597)</a:t>
            </a:r>
            <a:endParaRPr lang="en-US" sz="1800" dirty="0"/>
          </a:p>
        </p:txBody>
      </p:sp>
      <p:sp>
        <p:nvSpPr>
          <p:cNvPr id="15" name="match-card"/>
          <p:cNvSpPr/>
          <p:nvPr/>
        </p:nvSpPr>
        <p:spPr>
          <a:xfrm>
            <a:off x="4728319" y="2672080"/>
            <a:ext cx="6686136" cy="721360"/>
          </a:xfrm>
          <a:prstGeom prst="roundRect">
            <a:avLst>
              <a:gd name="adj" fmla="val 10141"/>
            </a:avLst>
          </a:prstGeom>
          <a:solidFill>
            <a:srgbClr val="F4EDDF"/>
          </a:solidFill>
          <a:ln/>
        </p:spPr>
      </p:sp>
      <p:sp>
        <p:nvSpPr>
          <p:cNvPr id="16" name="match-hex"/>
          <p:cNvSpPr/>
          <p:nvPr/>
        </p:nvSpPr>
        <p:spPr>
          <a:xfrm>
            <a:off x="4801471" y="2866467"/>
            <a:ext cx="384048" cy="332586"/>
          </a:xfrm>
          <a:prstGeom prst="hexagon">
            <a:avLst/>
          </a:prstGeom>
          <a:solidFill>
            <a:srgbClr val="B8862B"/>
          </a:solidFill>
          <a:ln/>
        </p:spPr>
      </p:sp>
      <p:sp>
        <p:nvSpPr>
          <p:cNvPr id="17" name="match-hex-label"/>
          <p:cNvSpPr txBox="1"/>
          <p:nvPr/>
        </p:nvSpPr>
        <p:spPr>
          <a:xfrm>
            <a:off x="4801471" y="286646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5249527" y="2672080"/>
            <a:ext cx="6091776" cy="72136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Why a smiling traitor like Macbeth feels so dangerous</a:t>
            </a:r>
            <a:endParaRPr lang="en-US" sz="1800" dirty="0"/>
          </a:p>
        </p:txBody>
      </p:sp>
      <p:sp>
        <p:nvSpPr>
          <p:cNvPr id="19" name="match-card"/>
          <p:cNvSpPr/>
          <p:nvPr/>
        </p:nvSpPr>
        <p:spPr>
          <a:xfrm>
            <a:off x="777240" y="3484880"/>
            <a:ext cx="3585319" cy="493776"/>
          </a:xfrm>
          <a:prstGeom prst="roundRect">
            <a:avLst>
              <a:gd name="adj" fmla="val 14815"/>
            </a:avLst>
          </a:prstGeom>
          <a:solidFill>
            <a:srgbClr val="EDE9F0"/>
          </a:solidFill>
          <a:ln/>
        </p:spPr>
      </p:sp>
      <p:sp>
        <p:nvSpPr>
          <p:cNvPr id="20" name="match-hex"/>
          <p:cNvSpPr/>
          <p:nvPr/>
        </p:nvSpPr>
        <p:spPr>
          <a:xfrm>
            <a:off x="850392" y="3565475"/>
            <a:ext cx="384048" cy="332586"/>
          </a:xfrm>
          <a:prstGeom prst="hexagon">
            <a:avLst/>
          </a:prstGeom>
          <a:solidFill>
            <a:srgbClr val="5B3A7A"/>
          </a:solidFill>
          <a:ln/>
        </p:spPr>
      </p:sp>
      <p:sp>
        <p:nvSpPr>
          <p:cNvPr id="21" name="match-hex-label"/>
          <p:cNvSpPr txBox="1"/>
          <p:nvPr/>
        </p:nvSpPr>
        <p:spPr>
          <a:xfrm>
            <a:off x="850392" y="356547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484880"/>
            <a:ext cx="2990959" cy="49377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Gunpowder Plot (1605)</a:t>
            </a:r>
            <a:endParaRPr lang="en-US" sz="1800" dirty="0"/>
          </a:p>
        </p:txBody>
      </p:sp>
      <p:sp>
        <p:nvSpPr>
          <p:cNvPr id="23" name="match-card"/>
          <p:cNvSpPr/>
          <p:nvPr/>
        </p:nvSpPr>
        <p:spPr>
          <a:xfrm>
            <a:off x="4728319" y="3484880"/>
            <a:ext cx="6686136" cy="493776"/>
          </a:xfrm>
          <a:prstGeom prst="roundRect">
            <a:avLst>
              <a:gd name="adj" fmla="val 14815"/>
            </a:avLst>
          </a:prstGeom>
          <a:solidFill>
            <a:srgbClr val="F4EDDF"/>
          </a:solidFill>
          <a:ln/>
        </p:spPr>
      </p:sp>
      <p:sp>
        <p:nvSpPr>
          <p:cNvPr id="24" name="match-hex"/>
          <p:cNvSpPr/>
          <p:nvPr/>
        </p:nvSpPr>
        <p:spPr>
          <a:xfrm>
            <a:off x="4801471" y="3565475"/>
            <a:ext cx="384048" cy="332586"/>
          </a:xfrm>
          <a:prstGeom prst="hexagon">
            <a:avLst/>
          </a:prstGeom>
          <a:solidFill>
            <a:srgbClr val="B8862B"/>
          </a:solidFill>
          <a:ln/>
        </p:spPr>
      </p:sp>
      <p:sp>
        <p:nvSpPr>
          <p:cNvPr id="25" name="match-hex-label"/>
          <p:cNvSpPr txBox="1"/>
          <p:nvPr/>
        </p:nvSpPr>
        <p:spPr>
          <a:xfrm>
            <a:off x="4801471" y="356547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5249527" y="3484880"/>
            <a:ext cx="6091776" cy="49377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Why Macbeth begins as a brave and admired hero</a:t>
            </a:r>
            <a:endParaRPr lang="en-US" sz="1800" dirty="0"/>
          </a:p>
        </p:txBody>
      </p:sp>
      <p:sp>
        <p:nvSpPr>
          <p:cNvPr id="27" name="match-card"/>
          <p:cNvSpPr/>
          <p:nvPr/>
        </p:nvSpPr>
        <p:spPr>
          <a:xfrm>
            <a:off x="777240" y="4070096"/>
            <a:ext cx="3585319" cy="493776"/>
          </a:xfrm>
          <a:prstGeom prst="roundRect">
            <a:avLst>
              <a:gd name="adj" fmla="val 14815"/>
            </a:avLst>
          </a:prstGeom>
          <a:solidFill>
            <a:srgbClr val="EDE9F0"/>
          </a:solidFill>
          <a:ln/>
        </p:spPr>
      </p:sp>
      <p:sp>
        <p:nvSpPr>
          <p:cNvPr id="28" name="match-hex"/>
          <p:cNvSpPr/>
          <p:nvPr/>
        </p:nvSpPr>
        <p:spPr>
          <a:xfrm>
            <a:off x="850392" y="4150691"/>
            <a:ext cx="384048" cy="332586"/>
          </a:xfrm>
          <a:prstGeom prst="hexagon">
            <a:avLst/>
          </a:prstGeom>
          <a:solidFill>
            <a:srgbClr val="5B3A7A"/>
          </a:solidFill>
          <a:ln/>
        </p:spPr>
      </p:sp>
      <p:sp>
        <p:nvSpPr>
          <p:cNvPr id="29" name="match-hex-label"/>
          <p:cNvSpPr txBox="1"/>
          <p:nvPr/>
        </p:nvSpPr>
        <p:spPr>
          <a:xfrm>
            <a:off x="850392" y="41506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070096"/>
            <a:ext cx="2990959" cy="49377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divine right of kings</a:t>
            </a:r>
            <a:endParaRPr lang="en-US" sz="1800" dirty="0"/>
          </a:p>
        </p:txBody>
      </p:sp>
      <p:sp>
        <p:nvSpPr>
          <p:cNvPr id="31" name="match-card"/>
          <p:cNvSpPr/>
          <p:nvPr/>
        </p:nvSpPr>
        <p:spPr>
          <a:xfrm>
            <a:off x="4728319" y="4070096"/>
            <a:ext cx="6686136" cy="493776"/>
          </a:xfrm>
          <a:prstGeom prst="roundRect">
            <a:avLst>
              <a:gd name="adj" fmla="val 14815"/>
            </a:avLst>
          </a:prstGeom>
          <a:solidFill>
            <a:srgbClr val="F4EDDF"/>
          </a:solidFill>
          <a:ln/>
        </p:spPr>
      </p:sp>
      <p:sp>
        <p:nvSpPr>
          <p:cNvPr id="32" name="match-hex"/>
          <p:cNvSpPr/>
          <p:nvPr/>
        </p:nvSpPr>
        <p:spPr>
          <a:xfrm>
            <a:off x="4801471" y="4150691"/>
            <a:ext cx="384048" cy="332586"/>
          </a:xfrm>
          <a:prstGeom prst="hexagon">
            <a:avLst/>
          </a:prstGeom>
          <a:solidFill>
            <a:srgbClr val="B8862B"/>
          </a:solidFill>
          <a:ln/>
        </p:spPr>
      </p:sp>
      <p:sp>
        <p:nvSpPr>
          <p:cNvPr id="33" name="match-hex-label"/>
          <p:cNvSpPr txBox="1"/>
          <p:nvPr/>
        </p:nvSpPr>
        <p:spPr>
          <a:xfrm>
            <a:off x="4801471" y="41506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5249527" y="4070096"/>
            <a:ext cx="6091776" cy="49377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Why Lady Macbeth's commanding voice would shock</a:t>
            </a:r>
            <a:endParaRPr lang="en-US" sz="1800" dirty="0"/>
          </a:p>
        </p:txBody>
      </p:sp>
      <p:sp>
        <p:nvSpPr>
          <p:cNvPr id="35" name="match-card"/>
          <p:cNvSpPr/>
          <p:nvPr/>
        </p:nvSpPr>
        <p:spPr>
          <a:xfrm>
            <a:off x="777240" y="4655312"/>
            <a:ext cx="3585319" cy="721360"/>
          </a:xfrm>
          <a:prstGeom prst="roundRect">
            <a:avLst>
              <a:gd name="adj" fmla="val 10141"/>
            </a:avLst>
          </a:prstGeom>
          <a:solidFill>
            <a:srgbClr val="EDE9F0"/>
          </a:solidFill>
          <a:ln/>
        </p:spPr>
      </p:sp>
      <p:sp>
        <p:nvSpPr>
          <p:cNvPr id="36" name="match-hex"/>
          <p:cNvSpPr/>
          <p:nvPr/>
        </p:nvSpPr>
        <p:spPr>
          <a:xfrm>
            <a:off x="850392" y="4849699"/>
            <a:ext cx="384048" cy="332586"/>
          </a:xfrm>
          <a:prstGeom prst="hexagon">
            <a:avLst/>
          </a:prstGeom>
          <a:solidFill>
            <a:srgbClr val="5B3A7A"/>
          </a:solidFill>
          <a:ln/>
        </p:spPr>
      </p:sp>
      <p:sp>
        <p:nvSpPr>
          <p:cNvPr id="37" name="match-hex-label"/>
          <p:cNvSpPr txBox="1"/>
          <p:nvPr/>
        </p:nvSpPr>
        <p:spPr>
          <a:xfrm>
            <a:off x="850392" y="484969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655312"/>
            <a:ext cx="2990959" cy="72136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patriarchal society</a:t>
            </a:r>
            <a:endParaRPr lang="en-US" sz="1800" dirty="0"/>
          </a:p>
        </p:txBody>
      </p:sp>
      <p:sp>
        <p:nvSpPr>
          <p:cNvPr id="39" name="match-card"/>
          <p:cNvSpPr/>
          <p:nvPr/>
        </p:nvSpPr>
        <p:spPr>
          <a:xfrm>
            <a:off x="4728319" y="4655312"/>
            <a:ext cx="6686136" cy="721360"/>
          </a:xfrm>
          <a:prstGeom prst="roundRect">
            <a:avLst>
              <a:gd name="adj" fmla="val 10141"/>
            </a:avLst>
          </a:prstGeom>
          <a:solidFill>
            <a:srgbClr val="F4EDDF"/>
          </a:solidFill>
          <a:ln/>
        </p:spPr>
      </p:sp>
      <p:sp>
        <p:nvSpPr>
          <p:cNvPr id="40" name="match-hex"/>
          <p:cNvSpPr/>
          <p:nvPr/>
        </p:nvSpPr>
        <p:spPr>
          <a:xfrm>
            <a:off x="4801471" y="4849699"/>
            <a:ext cx="384048" cy="332586"/>
          </a:xfrm>
          <a:prstGeom prst="hexagon">
            <a:avLst/>
          </a:prstGeom>
          <a:solidFill>
            <a:srgbClr val="B8862B"/>
          </a:solidFill>
          <a:ln/>
        </p:spPr>
      </p:sp>
      <p:sp>
        <p:nvSpPr>
          <p:cNvPr id="41" name="match-hex-label"/>
          <p:cNvSpPr txBox="1"/>
          <p:nvPr/>
        </p:nvSpPr>
        <p:spPr>
          <a:xfrm>
            <a:off x="4801471" y="484969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5249527" y="4655312"/>
            <a:ext cx="6091776" cy="72136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Why the witches would frighten, not amuse, the first audience</a:t>
            </a:r>
            <a:endParaRPr lang="en-US" sz="1800" dirty="0"/>
          </a:p>
        </p:txBody>
      </p:sp>
      <p:sp>
        <p:nvSpPr>
          <p:cNvPr id="43" name="match-card"/>
          <p:cNvSpPr/>
          <p:nvPr/>
        </p:nvSpPr>
        <p:spPr>
          <a:xfrm>
            <a:off x="777240" y="5468112"/>
            <a:ext cx="3585319" cy="493776"/>
          </a:xfrm>
          <a:prstGeom prst="roundRect">
            <a:avLst>
              <a:gd name="adj" fmla="val 14815"/>
            </a:avLst>
          </a:prstGeom>
          <a:solidFill>
            <a:srgbClr val="EDE9F0"/>
          </a:solidFill>
          <a:ln/>
        </p:spPr>
      </p:sp>
      <p:sp>
        <p:nvSpPr>
          <p:cNvPr id="44" name="match-hex"/>
          <p:cNvSpPr/>
          <p:nvPr/>
        </p:nvSpPr>
        <p:spPr>
          <a:xfrm>
            <a:off x="850392" y="5548707"/>
            <a:ext cx="384048" cy="332586"/>
          </a:xfrm>
          <a:prstGeom prst="hexagon">
            <a:avLst/>
          </a:prstGeom>
          <a:solidFill>
            <a:srgbClr val="5B3A7A"/>
          </a:solidFill>
          <a:ln/>
        </p:spPr>
      </p:sp>
      <p:sp>
        <p:nvSpPr>
          <p:cNvPr id="45" name="match-hex-label"/>
          <p:cNvSpPr txBox="1"/>
          <p:nvPr/>
        </p:nvSpPr>
        <p:spPr>
          <a:xfrm>
            <a:off x="850392" y="55487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6" name="match-text"/>
          <p:cNvSpPr txBox="1"/>
          <p:nvPr/>
        </p:nvSpPr>
        <p:spPr>
          <a:xfrm>
            <a:off x="1298448" y="5468112"/>
            <a:ext cx="2990959" cy="49377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genre of tragedy</a:t>
            </a:r>
            <a:endParaRPr lang="en-US" sz="1800" dirty="0"/>
          </a:p>
        </p:txBody>
      </p:sp>
      <p:sp>
        <p:nvSpPr>
          <p:cNvPr id="47" name="match-card"/>
          <p:cNvSpPr/>
          <p:nvPr/>
        </p:nvSpPr>
        <p:spPr>
          <a:xfrm>
            <a:off x="4728319" y="5468112"/>
            <a:ext cx="6686136" cy="493776"/>
          </a:xfrm>
          <a:prstGeom prst="roundRect">
            <a:avLst>
              <a:gd name="adj" fmla="val 14815"/>
            </a:avLst>
          </a:prstGeom>
          <a:solidFill>
            <a:srgbClr val="F4EDDF"/>
          </a:solidFill>
          <a:ln/>
        </p:spPr>
      </p:sp>
      <p:sp>
        <p:nvSpPr>
          <p:cNvPr id="48" name="match-hex"/>
          <p:cNvSpPr/>
          <p:nvPr/>
        </p:nvSpPr>
        <p:spPr>
          <a:xfrm>
            <a:off x="4801471" y="5548707"/>
            <a:ext cx="384048" cy="332586"/>
          </a:xfrm>
          <a:prstGeom prst="hexagon">
            <a:avLst/>
          </a:prstGeom>
          <a:solidFill>
            <a:srgbClr val="B8862B"/>
          </a:solidFill>
          <a:ln/>
        </p:spPr>
      </p:sp>
      <p:sp>
        <p:nvSpPr>
          <p:cNvPr id="49" name="match-hex-label"/>
          <p:cNvSpPr txBox="1"/>
          <p:nvPr/>
        </p:nvSpPr>
        <p:spPr>
          <a:xfrm>
            <a:off x="4801471" y="55487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50" name="match-text"/>
          <p:cNvSpPr txBox="1"/>
          <p:nvPr/>
        </p:nvSpPr>
        <p:spPr>
          <a:xfrm>
            <a:off x="5249527" y="5468112"/>
            <a:ext cx="6091776" cy="49377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Why killing Duncan is a sin against God, not only a crime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Same task, three ways in: Context to meaning</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piece of context to the moment in the play it helps you understand.</a:t>
            </a:r>
            <a:endParaRPr lang="en-US" sz="2000" dirty="0"/>
          </a:p>
        </p:txBody>
      </p:sp>
      <p:sp>
        <p:nvSpPr>
          <p:cNvPr id="12" name="col-Support"/>
          <p:cNvSpPr/>
          <p:nvPr/>
        </p:nvSpPr>
        <p:spPr>
          <a:xfrm>
            <a:off x="548640" y="2593848"/>
            <a:ext cx="3515258" cy="3550920"/>
          </a:xfrm>
          <a:prstGeom prst="roundRect">
            <a:avLst>
              <a:gd name="adj" fmla="val 1561"/>
            </a:avLst>
          </a:prstGeom>
          <a:solidFill>
            <a:srgbClr val="EAE5EE"/>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3240938"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Read the left-hand side and say in your own words what each piece of context is.</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what would someone who believed this feel when watching the play?</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moment on the right that would trigger that feeling.</a:t>
            </a:r>
            <a:endParaRPr lang="en-US" sz="1800" dirty="0"/>
          </a:p>
        </p:txBody>
      </p:sp>
      <p:sp>
        <p:nvSpPr>
          <p:cNvPr id="17" name="col-Core"/>
          <p:cNvSpPr/>
          <p:nvPr/>
        </p:nvSpPr>
        <p:spPr>
          <a:xfrm>
            <a:off x="4338218" y="2593848"/>
            <a:ext cx="3515258" cy="3550920"/>
          </a:xfrm>
          <a:prstGeom prst="roundRect">
            <a:avLst>
              <a:gd name="adj" fmla="val 1561"/>
            </a:avLst>
          </a:prstGeom>
          <a:solidFill>
            <a:srgbClr val="D6CEDE"/>
          </a:solidFill>
          <a:ln/>
        </p:spPr>
      </p:sp>
      <p:sp>
        <p:nvSpPr>
          <p:cNvPr id="18" name="col-hex"/>
          <p:cNvSpPr/>
          <p:nvPr/>
        </p:nvSpPr>
        <p:spPr>
          <a:xfrm>
            <a:off x="4447946"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33928"/>
            <a:ext cx="3240938" cy="2801112"/>
          </a:xfrm>
          <a:prstGeom prst="rect">
            <a:avLst/>
          </a:prstGeom>
          <a:noFill/>
          <a:ln/>
        </p:spPr>
        <p:txBody>
          <a:bodyPr wrap="square" lIns="63500" tIns="63500" rIns="63500" bIns="63500" rtlCol="0" anchor="t"/>
          <a:lstStyle/>
          <a:p>
            <a:pPr algn="l" indent="0" marL="0">
              <a:buNone/>
            </a:pPr>
            <a:r>
              <a:rPr lang="en-US" sz="1800" b="1" dirty="0">
                <a:solidFill>
                  <a:srgbClr val="492E62"/>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Each piece of context explains a feeling the first audience would have had. Match the belief to the feeling.</a:t>
            </a:r>
            <a:endParaRPr lang="en-US" sz="1800" dirty="0"/>
          </a:p>
        </p:txBody>
      </p:sp>
      <p:sp>
        <p:nvSpPr>
          <p:cNvPr id="22" name="col-Stretch"/>
          <p:cNvSpPr/>
          <p:nvPr/>
        </p:nvSpPr>
        <p:spPr>
          <a:xfrm>
            <a:off x="8127797" y="2593848"/>
            <a:ext cx="3515258" cy="3550920"/>
          </a:xfrm>
          <a:prstGeom prst="roundRect">
            <a:avLst>
              <a:gd name="adj" fmla="val 1561"/>
            </a:avLst>
          </a:prstGeom>
          <a:solidFill>
            <a:srgbClr val="5B3A7A"/>
          </a:solidFill>
          <a:ln/>
        </p:spPr>
      </p:sp>
      <p:sp>
        <p:nvSpPr>
          <p:cNvPr id="23" name="col-hex"/>
          <p:cNvSpPr/>
          <p:nvPr/>
        </p:nvSpPr>
        <p:spPr>
          <a:xfrm>
            <a:off x="8237525"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33928"/>
            <a:ext cx="3240938"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Pick one pair and turn it into a single exam sentence that names the moment, quotes three or four words, and weaves in the context in the same sentence.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5B3A7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5B3A7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Who was King of England when Shakespeare wrote Macbeth?</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Richard III</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Henry VIII</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James I</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Charles I</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FEBF2"/>
          </a:solidFill>
          <a:ln w="12700">
            <a:solidFill>
              <a:srgbClr val="A897B9"/>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The plot in eight steps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713232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667512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Three witches greet Macbeth and Banquo with prophecies.  (G)</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Lady Macbeth reads Macbeth's letter and plans the murder.  (E)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Macbeth kills King Duncan in his sleep.  (C)</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Macbeth sends murderers to kill Banquo and his son Fleance.  (A)</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Banquo's ghost appears at Macbeth's feast.  (H)</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6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Macbeth has Macduff's wife and children killed.  (D)</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7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Lady Macbeth walks and talks in her sleep.  (B)</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8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Macduff kills Macbeth and Malcolm becomes king.  (F)</a:t>
            </a:r>
            <a:endParaRPr lang="en-US" sz="1800" dirty="0"/>
          </a:p>
        </p:txBody>
      </p:sp>
      <p:sp>
        <p:nvSpPr>
          <p:cNvPr id="10" name="why-panel"/>
          <p:cNvSpPr/>
          <p:nvPr/>
        </p:nvSpPr>
        <p:spPr>
          <a:xfrm>
            <a:off x="7955280" y="1389888"/>
            <a:ext cx="3687775" cy="4754880"/>
          </a:xfrm>
          <a:prstGeom prst="roundRect">
            <a:avLst>
              <a:gd name="adj" fmla="val 1240"/>
            </a:avLst>
          </a:prstGeom>
          <a:solidFill>
            <a:srgbClr val="EAE5EE"/>
          </a:solidFill>
          <a:ln/>
        </p:spPr>
      </p:sp>
      <p:sp>
        <p:nvSpPr>
          <p:cNvPr id="11" name="why-hex"/>
          <p:cNvSpPr/>
          <p:nvPr/>
        </p:nvSpPr>
        <p:spPr>
          <a:xfrm>
            <a:off x="8138160" y="1572768"/>
            <a:ext cx="685800" cy="593903"/>
          </a:xfrm>
          <a:prstGeom prst="hexagon">
            <a:avLst/>
          </a:prstGeom>
          <a:solidFill>
            <a:srgbClr val="5B3A7A"/>
          </a:solidFill>
          <a:ln/>
        </p:spPr>
      </p:sp>
      <p:sp>
        <p:nvSpPr>
          <p:cNvPr id="12" name="why-hex-label"/>
          <p:cNvSpPr txBox="1"/>
          <p:nvPr/>
        </p:nvSpPr>
        <p:spPr>
          <a:xfrm>
            <a:off x="813816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8138160" y="2304288"/>
            <a:ext cx="332201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play moves in three stages: winning the crown (Acts 1–2), holding it through more murder (Acts 3–4), and losing it (Act 5). Every later chapter fits into this shape.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Context to meaning</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James I's Daemonologie (1597)  →  D  Why the witches would frighten, not amuse, the first audience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Gunpowder Plot (1605)  →  A  Why a smiling traitor like Macbeth feels so dangerous</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divine right of kings  →  E  Why killing Duncan is a sin against God, not only a crime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A patriarchal society  →  C  Why Lady Macbeth's commanding voice would shock</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genre of tragedy  →  B  Why Macbeth begins as a brave and admired hero</a:t>
            </a:r>
            <a:endParaRPr lang="en-US" sz="2000" dirty="0"/>
          </a:p>
        </p:txBody>
      </p:sp>
      <p:sp>
        <p:nvSpPr>
          <p:cNvPr id="10" name="why-panel"/>
          <p:cNvSpPr/>
          <p:nvPr/>
        </p:nvSpPr>
        <p:spPr>
          <a:xfrm>
            <a:off x="7223760" y="1389888"/>
            <a:ext cx="4419295" cy="4754880"/>
          </a:xfrm>
          <a:prstGeom prst="roundRect">
            <a:avLst>
              <a:gd name="adj" fmla="val 1035"/>
            </a:avLst>
          </a:prstGeom>
          <a:solidFill>
            <a:srgbClr val="EAE5EE"/>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Context earns marks (AO3) only when it explains why a moment matters. Each pair here is one link you can reuse in an essay.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Who was King of England when Shakespeare wrote Macbeth?</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James I</a:t>
            </a:r>
            <a:endParaRPr lang="en-US" sz="1800" dirty="0"/>
          </a:p>
        </p:txBody>
      </p:sp>
      <p:sp>
        <p:nvSpPr>
          <p:cNvPr id="10" name="why-panel"/>
          <p:cNvSpPr/>
          <p:nvPr/>
        </p:nvSpPr>
        <p:spPr>
          <a:xfrm>
            <a:off x="7223760" y="1389888"/>
            <a:ext cx="4419295" cy="4754880"/>
          </a:xfrm>
          <a:prstGeom prst="roundRect">
            <a:avLst>
              <a:gd name="adj" fmla="val 1035"/>
            </a:avLst>
          </a:prstGeom>
          <a:solidFill>
            <a:srgbClr val="EAE5EE"/>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James VI of Scotland became James I of England in 1603. Macbeth was written in about 1606.</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Ad Astra englit">
  <a:themeElements>
    <a:clrScheme name="Ad Astra englit">
      <a:dk1>
        <a:srgbClr val="1E2229"/>
      </a:dk1>
      <a:lt1>
        <a:srgbClr val="FFFFFF"/>
      </a:lt1>
      <a:dk2>
        <a:srgbClr val="492E62"/>
      </a:dk2>
      <a:lt2>
        <a:srgbClr val="EAE5EE"/>
      </a:lt2>
      <a:accent1>
        <a:srgbClr val="5B3A7A"/>
      </a:accent1>
      <a:accent2>
        <a:srgbClr val="B8862B"/>
      </a:accent2>
      <a:accent3>
        <a:srgbClr val="9D89AF"/>
      </a:accent3>
      <a:accent4>
        <a:srgbClr val="815E1E"/>
      </a:accent4>
      <a:accent5>
        <a:srgbClr val="4A505C"/>
      </a:accent5>
      <a:accent6>
        <a:srgbClr val="D9BF8F"/>
      </a:accent6>
      <a:hlink>
        <a:srgbClr val="5B3A7A"/>
      </a:hlink>
      <a:folHlink>
        <a:srgbClr val="402955"/>
      </a:folHlink>
    </a:clrScheme>
    <a:fontScheme name="Ad Astra engli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Macbeth · Chapter 1: The world of the play</dc:title>
  <dc:subject>English Literature · Year 10</dc:subject>
  <dc:creator>Dr Vitor Merissi de Carvalho</dc:creator>
  <cp:lastModifiedBy>Dr Vitor Merissi de Carvalho</cp:lastModifiedBy>
  <cp:revision>1</cp:revision>
  <dcterms:created xsi:type="dcterms:W3CDTF">2026-10-19T06:07:30Z</dcterms:created>
  <dcterms:modified xsi:type="dcterms:W3CDTF">2026-10-19T06:07:30Z</dcterms:modified>
</cp:coreProperties>
</file>