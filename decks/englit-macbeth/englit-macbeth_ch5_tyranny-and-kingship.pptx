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7e8635-906c-17bd-fa80-6c1786b40238}">
          <p14:sldIdLst>
            <p14:sldId id="256"/>
          </p14:sldIdLst>
        </p14:section>
        <p14:section name="Gate" id="{adb7fe97-a083-a7e7-aaa8-321e9c0b7199}">
          <p14:sldIdLst>
            <p14:sldId id="257"/>
            <p14:sldId id="258"/>
          </p14:sldIdLst>
        </p14:section>
        <p14:section name="Pre-teach" id="{f944f53d-c98c-5ba6-0bdb-6e958cc3efc8}">
          <p14:sldIdLst>
            <p14:sldId id="259"/>
            <p14:sldId id="260"/>
          </p14:sldIdLst>
        </p14:section>
        <p14:section name="Read-along" id="{f5b3761f-58a0-76d5-0624-e9c631caefc9}">
          <p14:sldIdLst>
            <p14:sldId id="261"/>
            <p14:sldId id="262"/>
          </p14:sldIdLst>
        </p14:section>
        <p14:section name="Teach" id="{3760244f-d749-e3cf-0ef3-e1a327776b97}">
          <p14:sldIdLst>
            <p14:sldId id="263"/>
            <p14:sldId id="264"/>
            <p14:sldId id="265"/>
          </p14:sldIdLst>
        </p14:section>
        <p14:section name="Routes" id="{5cc219fb-d5fc-8789-fbfd-e6d9fdd5d534}">
          <p14:sldIdLst>
            <p14:sldId id="266"/>
            <p14:sldId id="267"/>
            <p14:sldId id="268"/>
            <p14:sldId id="269"/>
          </p14:sldIdLst>
        </p14:section>
        <p14:section name="Close" id="{26883fd5-89a4-4bdc-51a2-fa2413100820}">
          <p14:sldIdLst>
            <p14:sldId id="270"/>
          </p14:sldIdLst>
        </p14:section>
        <p14:section name="Answers" id="{931d1cc8-f9a5-213a-55e0-767f8eecb9a1}">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Tyranny and kingship (Acts 3 to 5). This chapter shows how a king who kills to stay safe becomes a tyrant, and how Scotland is won back.
This deck covers the department's lessons: 17 (Act 3 Scene 1: Macbeth and the murderers: How does this scene introduce the turning point in the play?); 18 (Act 3 Scenes 2–3: Macbeth's deterioration and Banquo's murder: How has Macbeth's state of mind developed from the beginning of the play to this point?); 19 (Act 3 Scene 4: The banquet scene: How does Shakespeare communicate Macbeth's mental deterioration?); 20 (Act 3 Scene 5: Hecate: What is the purpose of the Hecate scene?); 21 (Act 3 Scene 6: Lennox: How does Shakespeare present Lennox's internal struggle?); 22 (Act 4 Scene 1: The second set of prophecies: To what extent is Macbeth manipulated by the witches?); 23 (Act 4 Scenes 2–3: Murder and revenge: What is the dramatic function of the Macduff scenes?); 25 (Act 5 Scenes 2–5: ‘Life's but a walking shadow’: How far does Shakespeare want us to feel sympathy for Macbeth?); 26 (Act 5 Scenes 6–9: The last stand: What thoughts are the audience left with at the play's conclusion?).
Read the big question aloud: "What is the plot, context and key themes of Shakespeare's play Macbeth, and how does Shakespeare turn a hero into a tyrant?"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Act 3 Scene 3, what happens when the murderers attack?  →  A   Banquo is killed but Fleance escapes
2. Complete Macbeth's line: “O, full of ___ is my mind, dear wife!”  →  scorpions
3. What is a tyrant?  →  B   A ruler who governs through fear and violence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Banquo is killed but Fleance escapes. Fleance's escape matters: the prophecy that Banquo's children will be kings is still alive.
2. scorpions. Scorpions sting and poison, so the image shows thoughts that torment him.
3. B   A ruler who governs through fear and violence. By Act 4 Macbeth rules by killing anyone he fears, even women and children. Malcolm and Macduff both call him a tyrant.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tyrant: a ruler who uses fear and violence. Example: "Macbeth becomes a tyrant who kills anyone he fears."
• paranoia: a fear that everyone is against you. Example: "His paranoia makes him send murderers after Banquo."
• apparition: a ghostly vision. Example: "The witches show Macbeth three apparitions."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fealty: a promise of loyalty to a lord or king. Example: "Lennox has sworn fealty, but he no longer trusts the king."
• foil: a character who is the opposite of another, so that each shows up the other. Example: "Macduff is a foil to Macbeth."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Macbeth is now king, but he does not feel safe.
2. He fears Banquo, because the witches said Banquo's children would be kings.
3. He pays murderers to kill Banquo and his son.
4. Banquo dies, but his son Fleance escapes.
5. At a feast, Macbeth sees Banquo's ghost in his seat.
6. The lords begin to whisper about their king.
7. Macbeth goes back to the witches for more answers.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tell him no man born of a woman can harm him.
9. Then he has Macduff's wife and children killed.
10. Macduff joins Malcolm in England to fight back.
11. Lady Macbeth dies, and Macbeth feels that life means nothing.
12. In the last battle, Macduff kills Macbeth.
13. Malcolm becomes the new king of Scotland.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king who is never safe (3.1–3.4). Say it in your own words, then check understanding with a quick question: ask a pupil from the pre-teach group first, since they met these words and ideas before the lesson. Pupils try to recall before you re-explain.
Once crowned, Macbeth finds that the crown is not enough. He says that being king is nothing unless he is safe: “To be thus is nothing, / But to be safely thus.” He persuades two murderers that Banquo is their enemy, using questions and insults, just as Lady Macbeth once persuaded him.
He now plans without his wife and tells her to stay innocent of the knowledge. At the banquet, Banquo's ghost sits in his place, and Macbeth's terror is seen by all his lords. He knows blood leads to more blood: “It will have blood, they say; blood will have blood.”
Quotation: "O, full of scorpions is my mind, dear wife!" (3.2.41). Read it aloud; ask what it shows.
Tip: Shakespeare shows Banquo's murder on stage but not Duncan's. Ask why: what does the audience now need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Witches, apparitions and a slaughtered family (3.5–4.3). Say it in your own words, then check understanding with a quick question: ask a pupil from the pre-teach group first, since they met these words and ideas before the lesson. Pupils try to recall before you re-explain.
Macbeth goes back to the witches by choice. This time he does not ask; he demands. Three apparitions give him warnings that sound like promises, and he comes away believing he cannot be beaten. In Act 3 Scene 5 the goddess Hecate appears, angry with the witches; in Act 3 Scene 6 Lennox hints that he no longer trusts the king he swore fealty to.
Macbeth's next act is his cruellest. He orders the killing of “His wife, his babes, and all unfortunate souls” at Macduff's castle. Macduff's young son is brave and witty before he is killed, and the audience's sympathy for Macbeth drains away. In England, Malcolm tests Macduff's loyalty before agreeing to fight, and when Macduff hears the news, his grief turns to a soldier's resolve.
Quotation: "none of woman born / Shall harm Macbeth." (4.1.91–92). Read it aloud; ask what it shows.
Tip: Macduff and Lady Macduff are foils to the Macbeths: a loyal husband and a loving mother. (The department deck says "counterfoil"; the exam term is foil.)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Tomorrow, and a tyrant's end (5.3–5.8). Say it in your own words, then check understanding with a quick question: ask a pupil from the pre-teach group first, since they met these words and ideas before the lesson. Pupils try to recall before you re-explain.
As Malcolm's army closes in, Macbeth is proud and reckless, trusting the prophecies: this is hubris. When he hears that Lady Macbeth is dead, he gives one of Shakespeare's most famous speeches. Time crawls; life is a brief candle and a walking shadow, a story full of noise that means nothing.
Then the prophecies turn against him. Birnam Wood seems to move as soldiers carry branches as cover, and Macduff reveals he was not born in the usual way. Macbeth still refuses to surrender and dies fighting. Malcolm, the rightful king, ends the play by calling him “this dead butcher and his fiend-like queen”, and order is restored.
Quotation: "Tomorrow and tomorrow and tomorrow / Creeps in this petty pace from day to day" (5.5.22–23). Read it aloud; ask what it shows.
Tip: Punctuation of this line varies between editions; the words do not. Learn the words, and follow your own edition's commas.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Macbeth as a tyrant.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Macbeth as a tyrant in Acts 3 and 4? Write one developed paragraph.
Support — work through the steps with the group: (1) Point: say what drives his tyranny (fear, paranoia, the prophecies). (2) Evidence 1: quote a line from Act 3 that shows he does not feel safe. (3) Evidence 2: quote a line from Act 4 that shows his violence spreading. (4) Context: compare him with the Jacobean idea of a good king, such as Duncan.
Parallel worked example for Support (model it, do not give the task answer): Practice question: how does Shakespeare present Duncan as a good king in Act 1 Scene 4? Point: Duncan rewards loyalty.; Evidence: “I have begun to plant thee”.; Method: the metaphor of planting shows care and growth.; Context: a king ruling as God intended looks after his people.. Answer: Shakespeare presents Duncan as a generous king. He tells Macbeth, “I have begun to plant thee”, a metaphor that shows a king who nurtures his subjects so they grow, as a God-given ruler should..
Core — reveal the hint only on request: Show a pattern: each murder is less necessary than the one before. Which word in your Act 4 quotation shows that?
Stretch — no help; when finished: Bring in Malcolm in Act 4 Scene 3 or Edward the Confessor, the English king said to heal the sick. How does Shakespeare use other kings to show what Macbeth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Macbeth as a tyrant.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Shakespeare present Macbeth as a tyrant in Acts 3 and 4? Write one developed paragraph.
Support — work through the steps with the group: (1) Point: say what drives his tyranny (fear, paranoia, the prophecies). (2) Evidence 1: quote a line from Act 3 that shows he does not feel safe. (3) Evidence 2: quote a line from Act 4 that shows his violence spreading. (4) Context: compare him with the Jacobean idea of a good king, such as Duncan.
Parallel worked example for Support (model it, do not give the task answer): Practice question: how does Shakespeare present Duncan as a good king in Act 1 Scene 4? Point: Duncan rewards loyalty.; Evidence: “I have begun to plant thee”.; Method: the metaphor of planting shows care and growth.; Context: a king ruling as God intended looks after his people.. Answer: Shakespeare presents Duncan as a generous king. He tells Macbeth, “I have begun to plant thee”, a metaphor that shows a king who nurtures his subjects so they grow, as a God-given ruler should..
Core — reveal the hint only on request: Show a pattern: each murder is less necessary than the one before. Which word in your Act 4 quotation shows that?
Stretch — no help; when finished: Bring in Malcolm in Act 4 Scene 3 or Edward the Confessor, the English king said to heal the sick. How does Shakespeare use other kings to show what Macbeth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Macbeth's road from Act 3 to Act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Acts 3 to 5 in the order they happen.
Support — work through the steps with the group: (1) Start with Act 3: Banquo must be planned for, then killed, then return as a ghost. (2) Act 4 opens with the witches; Macbeth acts on what they say. (3) Act 5 ends with the battle. What news reaches Macbeth before Birnam Wood moves?
Parallel worked example for Support (model it, do not give the task answer): Practice: order these Act 2 events: Macduff finds the body; Macbeth sees the dagger; the Porter opens the gate; Macbeth returns with bloody hands. The dagger comes before the murder.; He returns afterwards with the daggers and blood.; The knocking leads to the Porter.; Macduff then finds the body.. Answer: Macbeth sees the dagger; Macbeth returns with bloody hands; the Porter opens the gate; Macduff finds the body..
Core — reveal the hint only on request: Each act has a pattern: plan, act, consequence. Use that to place the events.
Stretch — no help; when finished: Which of these events is Macbeth's last real choice, after which his fate seems sealed? Justify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Macbeth's road from Act 3 to Act 5.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Acts 3 to 5 in the order they happen.
Support — work through the steps with the group: (1) Start with Act 3: Banquo must be planned for, then killed, then return as a ghost. (2) Act 4 opens with the witches; Macbeth acts on what they say. (3) Act 5 ends with the battle. What news reaches Macbeth before Birnam Wood moves?
Parallel worked example for Support (model it, do not give the task answer): Practice: order these Act 2 events: Macduff finds the body; Macbeth sees the dagger; the Porter opens the gate; Macbeth returns with bloody hands. The dagger comes before the murder.; He returns afterwards with the daggers and blood.; The knocking leads to the Porter.; Macduff then finds the body.. Answer: Macbeth sees the dagger; Macbeth returns with bloody hands; the Porter opens the gate; Macduff finds the body..
Core — reveal the hint only on request: Each act has a pattern: plan, act, consequence. Use that to place the events.
Stretch — no help; when finished: Which of these events is Macbeth's last real choice, after which his fate seems sealed? Justify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Act 3 Scene 3, what happens when the murderers attack?
Answer: D   Banquo is killed but Fleance escapes. Fleance's escape matters: the prophecy that Banquo's children will be kings is still alive.
Source of this question: gate item 1 re-asked (options rotated) — this chapter has no third quick-check module.
The ebook also holds task 3, "Four kings",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Macbeth as a tyrant. Reveal the answer; pupils mark their own work in a different colour, then read the "why" together. Same destination for every lane, so one answer serves the whole class.
Answer: AO1: a clear argument about how his tyranny grows, not just a list of murders; AO1: short embedded quotations from Act 3 and Act 4; AO2: you analyse a method, such as a list, an image or a change in his language; AO3: you contrast him with the Jacobean idea of a good, God-given king
Why: Tyranny in the play grows step by step out of fear. Shakespeare measures Macbeth against good kings so the audience sees exactly what has been lost.
Model answer: In Act 3 Shakespeare shows that the crown has not brought Macbeth peace. He admits, “To be thus is nothing, / But to be safely thus”, so being king means nothing unless he feels secure. That fear turns him into a tyrant: he arranges Banquo's murder and, by Act 4, decides to attack Macduff's castle and kill “His wife, his babes, and all unfortunate souls”. The list of victims spreads wider and wider, showing that his violence has lost any clear purpose. A Jacobean audience who believed that kings were chosen by God would see the gap between Macbeth and Duncan, a rightful king who rewarded loyalty rather than punishing it.
Success criteria: AO1: a clear argument about how his tyranny grows, not just a list of murders; AO1: short embedded quotations from Act 3 and Act 4; AO2: you analyse a method, such as a list, an image or a change in his language; AO3: you contrast him with the Jacobean idea of a good, God-given king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Macbeth as a tyrant. Reveal the answer; pupils mark their own work in a different colour, then read the "why" together. Same destination for every lane, so one answer serves the whole class.
Answer: AO1: a clear argument about how his tyranny grows, not just a list of murders; AO1: short embedded quotations from Act 3 and Act 4; AO2: you analyse a method, such as a list, an image or a change in his language; AO3: you contrast him with the Jacobean idea of a good, God-given king
Why: Tyranny in the play grows step by step out of fear. Shakespeare measures Macbeth against good kings so the audience sees exactly what has been lost.
Model answer: In Act 3 Shakespeare shows that the crown has not brought Macbeth peace. He admits, “To be thus is nothing, / But to be safely thus”, so being king means nothing unless he feels secure. That fear turns him into a tyrant: he arranges Banquo's murder and, by Act 4, decides to attack Macduff's castle and kill “His wife, his babes, and all unfortunate souls”. The list of victims spreads wider and wider, showing that his violence has lost any clear purpose. A Jacobean audience who believed that kings were chosen by God would see the gap between Macbeth and Duncan, a rightful king who rewarded loyalty rather than punishing it.
Success criteria: AO1: a clear argument about how his tyranny grows, not just a list of murders; AO1: short embedded quotations from Act 3 and Act 4; AO2: you analyse a method, such as a list, an image or a change in his language; AO3: you contrast him with the Jacobean idea of a good, God-given king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Macbeth's road from Act 3 to Act 5. Reveal the answer; pupils mark their own work in a different colour, then read the "why" together. Same destination for every lane, so one answer serves the whole class.
Answer: Macbeth persuades two murderers to kill Banquo.  (H); Banquo is killed, but Fleance escapes.  (F); Banquo's ghost appears at the banquet.  (A); The witches show Macbeth three apparitions.  (B); Macduff's wife and children are murdered.  (D); Macbeth hears that Lady Macbeth is dead.  (C); Birnam Wood seems to move towards Dunsinane.  (E); Macduff kills Macbeth.  (G)
Why: Act 3 deals with Banquo, Act 4 with the witches and Macduff, and Act 5 with the fall. Knowing this order lets you place any extract you are given in the exam.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Banquo is killed but Fleance escapes
Why: Fleance's escape matters: the prophecy that Banquo's children will be kings is still alive.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Macbeth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524225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Macbeth · AQA 8702</a:t>
            </a:r>
            <a:endParaRPr lang="en-US" sz="1800" dirty="0"/>
          </a:p>
        </p:txBody>
      </p:sp>
      <p:sp>
        <p:nvSpPr>
          <p:cNvPr id="10" name="deck-title"/>
          <p:cNvSpPr txBox="1"/>
          <p:nvPr/>
        </p:nvSpPr>
        <p:spPr>
          <a:xfrm>
            <a:off x="548640" y="1585468"/>
            <a:ext cx="7025335" cy="58928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Tyranny and kingship (Acts 3 to 5)</a:t>
            </a:r>
            <a:endParaRPr lang="en-US" sz="2800" dirty="0"/>
          </a:p>
        </p:txBody>
      </p:sp>
      <p:sp>
        <p:nvSpPr>
          <p:cNvPr id="11" name="lessons-card"/>
          <p:cNvSpPr/>
          <p:nvPr/>
        </p:nvSpPr>
        <p:spPr>
          <a:xfrm>
            <a:off x="548640" y="2403348"/>
            <a:ext cx="7025335" cy="3454400"/>
          </a:xfrm>
          <a:prstGeom prst="roundRect">
            <a:avLst>
              <a:gd name="adj" fmla="val 2118"/>
            </a:avLst>
          </a:prstGeom>
          <a:solidFill>
            <a:srgbClr val="EAE5EE"/>
          </a:solidFill>
          <a:ln/>
        </p:spPr>
      </p:sp>
      <p:sp>
        <p:nvSpPr>
          <p:cNvPr id="12" name="lessons"/>
          <p:cNvSpPr txBox="1"/>
          <p:nvPr/>
        </p:nvSpPr>
        <p:spPr>
          <a:xfrm>
            <a:off x="685800" y="2494788"/>
            <a:ext cx="6751015" cy="3271520"/>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3 Scene 1: Macbeth and the murderers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3 Scenes 2–3: Macbeth's deterioration and Banquo's murder</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3 Scene 4: The banquet scene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3 Scene 5: Hecate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3 Scene 6: Lennox</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4 Scene 1: The second set of prophecies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4 Scenes 2–3: Murder and revenge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5 Scenes 2–5: ‘Life's but a walking shadow’</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26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Act 5 Scenes 6–9: The last stand</a:t>
            </a:r>
            <a:endParaRPr lang="en-US" sz="1800" dirty="0"/>
          </a:p>
        </p:txBody>
      </p:sp>
      <p:sp>
        <p:nvSpPr>
          <p:cNvPr id="13" name="plate-frame"/>
          <p:cNvSpPr/>
          <p:nvPr/>
        </p:nvSpPr>
        <p:spPr>
          <a:xfrm>
            <a:off x="7985455" y="411480"/>
            <a:ext cx="3657600" cy="2153412"/>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8095183" y="521208"/>
            <a:ext cx="3438144" cy="1933956"/>
          </a:xfrm>
          <a:prstGeom prst="rect">
            <a:avLst/>
          </a:prstGeom>
        </p:spPr>
      </p:pic>
      <p:sp>
        <p:nvSpPr>
          <p:cNvPr id="15" name="plate-inner"/>
          <p:cNvSpPr/>
          <p:nvPr/>
        </p:nvSpPr>
        <p:spPr>
          <a:xfrm>
            <a:off x="8095183" y="521208"/>
            <a:ext cx="3438144" cy="1933956"/>
          </a:xfrm>
          <a:prstGeom prst="rect">
            <a:avLst/>
          </a:prstGeom>
          <a:ln w="9525">
            <a:solidFill>
              <a:srgbClr val="B8862B"/>
            </a:solidFill>
            <a:prstDash val="solid"/>
          </a:ln>
        </p:spPr>
      </p:sp>
      <p:sp>
        <p:nvSpPr>
          <p:cNvPr id="16" name="stud0"/>
          <p:cNvSpPr/>
          <p:nvPr/>
        </p:nvSpPr>
        <p:spPr>
          <a:xfrm>
            <a:off x="787572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7875727" y="2469868"/>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2469868"/>
            <a:ext cx="219456" cy="190049"/>
          </a:xfrm>
          <a:prstGeom prst="hexagon">
            <a:avLst/>
          </a:prstGeom>
          <a:solidFill>
            <a:srgbClr val="B8862B"/>
          </a:solidFill>
          <a:ln w="12700">
            <a:solidFill>
              <a:srgbClr val="FFFFFF"/>
            </a:solidFill>
            <a:prstDash val="solid"/>
          </a:ln>
        </p:spPr>
      </p:sp>
      <p:sp>
        <p:nvSpPr>
          <p:cNvPr id="20" name="bq-card"/>
          <p:cNvSpPr/>
          <p:nvPr/>
        </p:nvSpPr>
        <p:spPr>
          <a:xfrm>
            <a:off x="7985455" y="2839212"/>
            <a:ext cx="3657600" cy="3031236"/>
          </a:xfrm>
          <a:prstGeom prst="roundRect">
            <a:avLst>
              <a:gd name="adj" fmla="val 2413"/>
            </a:avLst>
          </a:prstGeom>
          <a:solidFill>
            <a:srgbClr val="EAE5EE"/>
          </a:solidFill>
          <a:ln w="12700">
            <a:solidFill>
              <a:srgbClr val="B8AAC6"/>
            </a:solidFill>
            <a:prstDash val="solid"/>
          </a:ln>
        </p:spPr>
      </p:sp>
      <p:sp>
        <p:nvSpPr>
          <p:cNvPr id="21" name="bq-hex"/>
          <p:cNvSpPr/>
          <p:nvPr/>
        </p:nvSpPr>
        <p:spPr>
          <a:xfrm>
            <a:off x="8150047" y="3022092"/>
            <a:ext cx="621792" cy="538472"/>
          </a:xfrm>
          <a:prstGeom prst="hexagon">
            <a:avLst/>
          </a:prstGeom>
          <a:solidFill>
            <a:srgbClr val="B8862B"/>
          </a:solidFill>
          <a:ln/>
        </p:spPr>
      </p:sp>
      <p:sp>
        <p:nvSpPr>
          <p:cNvPr id="22" name="bq-hex-label"/>
          <p:cNvSpPr txBox="1"/>
          <p:nvPr/>
        </p:nvSpPr>
        <p:spPr>
          <a:xfrm>
            <a:off x="8150047" y="3022092"/>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8881567" y="2930652"/>
            <a:ext cx="2651760" cy="2848356"/>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plot, context and key themes of Shakespeare's play Macbeth, and how does Shakespeare turn a hero into a tyrant?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Act 3 Scene 3, what happens when the murderers attack?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Banquo is killed but Fleance escapes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Fleance is killed but Banquo escapes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Banquo and Fleance both escape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Macduff stops them</a:t>
            </a:r>
            <a:endParaRPr lang="en-US" sz="1800" dirty="0"/>
          </a:p>
        </p:txBody>
      </p:sp>
      <p:sp>
        <p:nvSpPr>
          <p:cNvPr id="12"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Complete Macbeth's line: “O, full of ___ is my mind, dear wife!”</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scorpions  ·  serpents  ·  spiders</a:t>
            </a:r>
            <a:endParaRPr lang="en-US" sz="2400" dirty="0"/>
          </a:p>
        </p:txBody>
      </p:sp>
      <p:sp>
        <p:nvSpPr>
          <p:cNvPr id="17"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a tyrant?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king chosen by God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ruler who governs through fear and violence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lord who swears fealty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soldier who fights for his king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Banquo is killed but Fleance escapes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Act 3 Scene 3, what happens when the murderers attack?</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Fleance's escape matters: the prophecy that Banquo's children will be kings is still alive.</a:t>
            </a:r>
            <a:endParaRPr lang="en-US" sz="2000" dirty="0"/>
          </a:p>
        </p:txBody>
      </p:sp>
      <p:sp>
        <p:nvSpPr>
          <p:cNvPr id="14" name="card"/>
          <p:cNvSpPr/>
          <p:nvPr/>
        </p:nvSpPr>
        <p:spPr>
          <a:xfrm>
            <a:off x="4338218" y="1389888"/>
            <a:ext cx="3515258" cy="4754880"/>
          </a:xfrm>
          <a:prstGeom prst="roundRect">
            <a:avLst>
              <a:gd name="adj" fmla="val 1561"/>
            </a:avLst>
          </a:prstGeom>
          <a:solidFill>
            <a:srgbClr val="EFEBF2"/>
          </a:solidFill>
          <a:ln w="12700">
            <a:solidFill>
              <a:srgbClr val="C1B4CC"/>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scorpions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Complete Macbeth's line: “O, full of ___ is my mind, dear wife!”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Scorpions sting and poison, so the image shows thoughts that torment him.</a:t>
            </a:r>
            <a:endParaRPr lang="en-US" sz="2200" dirty="0"/>
          </a:p>
        </p:txBody>
      </p:sp>
      <p:sp>
        <p:nvSpPr>
          <p:cNvPr id="21" name="card"/>
          <p:cNvSpPr/>
          <p:nvPr/>
        </p:nvSpPr>
        <p:spPr>
          <a:xfrm>
            <a:off x="8127797" y="1389888"/>
            <a:ext cx="3515258" cy="4754880"/>
          </a:xfrm>
          <a:prstGeom prst="roundRect">
            <a:avLst>
              <a:gd name="adj" fmla="val 1561"/>
            </a:avLst>
          </a:prstGeom>
          <a:solidFill>
            <a:srgbClr val="EFEBF2"/>
          </a:solidFill>
          <a:ln w="12700">
            <a:solidFill>
              <a:srgbClr val="C1B4CC"/>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ruler who governs through fear and violence</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 tyrant?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By Act 4 Macbeth rules by killing anyone he fears, even women and children. Malcolm and Macduff both call him a tyrant.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tyrant</a:t>
            </a:r>
            <a:endParaRPr lang="en-US" sz="2600" dirty="0"/>
          </a:p>
        </p:txBody>
      </p:sp>
      <p:sp>
        <p:nvSpPr>
          <p:cNvPr id="11" name="word-rule"/>
          <p:cNvSpPr/>
          <p:nvPr/>
        </p:nvSpPr>
        <p:spPr>
          <a:xfrm>
            <a:off x="731520" y="2129028"/>
            <a:ext cx="3149498" cy="0"/>
          </a:xfrm>
          <a:prstGeom prst="line">
            <a:avLst/>
          </a:prstGeom>
          <a:ln w="12700">
            <a:solidFill>
              <a:srgbClr val="B8AAC6"/>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ruler who uses fear and violence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Macbeth becomes a tyrant who kills anyone he fears.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DE9F0"/>
          </a:solidFill>
          <a:ln w="12700">
            <a:solidFill>
              <a:srgbClr val="B8AAC6"/>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paranoia</a:t>
            </a:r>
            <a:endParaRPr lang="en-US" sz="2600" dirty="0"/>
          </a:p>
        </p:txBody>
      </p:sp>
      <p:sp>
        <p:nvSpPr>
          <p:cNvPr id="17" name="word-rule"/>
          <p:cNvSpPr/>
          <p:nvPr/>
        </p:nvSpPr>
        <p:spPr>
          <a:xfrm>
            <a:off x="4521098" y="2129028"/>
            <a:ext cx="3149498" cy="0"/>
          </a:xfrm>
          <a:prstGeom prst="line">
            <a:avLst/>
          </a:prstGeom>
          <a:ln w="12700">
            <a:solidFill>
              <a:srgbClr val="B8AAC6"/>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fear that everyone is against you</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His paranoia makes him send murderers after Banquo.</a:t>
            </a:r>
            <a:endParaRPr lang="en-US" sz="2200" dirty="0"/>
          </a:p>
        </p:txBody>
      </p:sp>
      <p:sp>
        <p:nvSpPr>
          <p:cNvPr id="19" name="word-card"/>
          <p:cNvSpPr/>
          <p:nvPr/>
        </p:nvSpPr>
        <p:spPr>
          <a:xfrm>
            <a:off x="8127797" y="1389888"/>
            <a:ext cx="3515258" cy="4754880"/>
          </a:xfrm>
          <a:prstGeom prst="roundRect">
            <a:avLst>
              <a:gd name="adj" fmla="val 1561"/>
            </a:avLst>
          </a:prstGeom>
          <a:solidFill>
            <a:srgbClr val="EDE9F0"/>
          </a:solidFill>
          <a:ln w="12700">
            <a:solidFill>
              <a:srgbClr val="B8AAC6"/>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apparition</a:t>
            </a:r>
            <a:endParaRPr lang="en-US" sz="2600" dirty="0"/>
          </a:p>
        </p:txBody>
      </p:sp>
      <p:sp>
        <p:nvSpPr>
          <p:cNvPr id="23" name="word-rule"/>
          <p:cNvSpPr/>
          <p:nvPr/>
        </p:nvSpPr>
        <p:spPr>
          <a:xfrm>
            <a:off x="8310677" y="2129028"/>
            <a:ext cx="3149498" cy="0"/>
          </a:xfrm>
          <a:prstGeom prst="line">
            <a:avLst/>
          </a:prstGeom>
          <a:ln w="12700">
            <a:solidFill>
              <a:srgbClr val="B8AAC6"/>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ghostly vision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witches show Macbeth three apparitions.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fealty</a:t>
            </a:r>
            <a:endParaRPr lang="en-US" sz="2600" dirty="0"/>
          </a:p>
        </p:txBody>
      </p:sp>
      <p:sp>
        <p:nvSpPr>
          <p:cNvPr id="11" name="word-rule"/>
          <p:cNvSpPr/>
          <p:nvPr/>
        </p:nvSpPr>
        <p:spPr>
          <a:xfrm>
            <a:off x="731520" y="2129028"/>
            <a:ext cx="5044288" cy="0"/>
          </a:xfrm>
          <a:prstGeom prst="line">
            <a:avLst/>
          </a:prstGeom>
          <a:ln w="12700">
            <a:solidFill>
              <a:srgbClr val="B8AAC6"/>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promise of loyalty to a lord or king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Lennox has sworn fealty, but he no longer trusts the king.</a:t>
            </a:r>
            <a:endParaRPr lang="en-US" sz="2200" dirty="0"/>
          </a:p>
        </p:txBody>
      </p:sp>
      <p:sp>
        <p:nvSpPr>
          <p:cNvPr id="13" name="word-card"/>
          <p:cNvSpPr/>
          <p:nvPr/>
        </p:nvSpPr>
        <p:spPr>
          <a:xfrm>
            <a:off x="6233008" y="1389888"/>
            <a:ext cx="5410048" cy="4754880"/>
          </a:xfrm>
          <a:prstGeom prst="roundRect">
            <a:avLst>
              <a:gd name="adj" fmla="val 1154"/>
            </a:avLst>
          </a:prstGeom>
          <a:solidFill>
            <a:srgbClr val="EDE9F0"/>
          </a:solidFill>
          <a:ln w="12700">
            <a:solidFill>
              <a:srgbClr val="B8AAC6"/>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foil</a:t>
            </a:r>
            <a:endParaRPr lang="en-US" sz="2600" dirty="0"/>
          </a:p>
        </p:txBody>
      </p:sp>
      <p:sp>
        <p:nvSpPr>
          <p:cNvPr id="17" name="word-rule"/>
          <p:cNvSpPr/>
          <p:nvPr/>
        </p:nvSpPr>
        <p:spPr>
          <a:xfrm>
            <a:off x="6415888" y="2129028"/>
            <a:ext cx="5044288" cy="0"/>
          </a:xfrm>
          <a:prstGeom prst="line">
            <a:avLst/>
          </a:prstGeom>
          <a:ln w="12700">
            <a:solidFill>
              <a:srgbClr val="B8AAC6"/>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character who is the opposite of another, so that each shows up the 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Macduff is a foil to Macbeth.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Macbeth is now king, but he does not feel safe.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fears Banquo, because the witches said Banquo's children would be kings.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pays murderers to kill Banquo and his son.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Banquo dies, but his son Fleance escapes.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 feast, Macbeth sees Banquo's ghost in his seat.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lords begin to whisper about their king.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Macbeth goes back to the witches for more answers.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tell him no man born of a woman can harm him.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he has Macduff's wife and children killed.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Macduff joins Malcolm in England to fight back.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Lady Macbeth dies, and Macbeth feels that life means nothing.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the last battle, Macduff kills Macbeth.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Malcolm becomes the new king of Scotland.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 king who is never safe (3.1–3.4)</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Shakespeare shows Banquo's murder on stage but not Duncan's. Ask why: what does the audience now need to see?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O, full of scorpions is my mind, dear wife!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3.2.41</a:t>
            </a:r>
            <a:endParaRPr lang="en-US" sz="2600" dirty="0"/>
          </a:p>
        </p:txBody>
      </p:sp>
      <p:sp>
        <p:nvSpPr>
          <p:cNvPr id="14" name="bullet-card"/>
          <p:cNvSpPr/>
          <p:nvPr/>
        </p:nvSpPr>
        <p:spPr>
          <a:xfrm>
            <a:off x="548640" y="1389888"/>
            <a:ext cx="5074920" cy="1357376"/>
          </a:xfrm>
          <a:prstGeom prst="roundRect">
            <a:avLst>
              <a:gd name="adj" fmla="val 5389"/>
            </a:avLst>
          </a:prstGeom>
          <a:solidFill>
            <a:srgbClr val="EDE9F0"/>
          </a:solidFill>
          <a:ln/>
        </p:spPr>
      </p:sp>
      <p:sp>
        <p:nvSpPr>
          <p:cNvPr id="15" name="bullet-hex"/>
          <p:cNvSpPr/>
          <p:nvPr/>
        </p:nvSpPr>
        <p:spPr>
          <a:xfrm>
            <a:off x="676656" y="1902283"/>
            <a:ext cx="384048" cy="332586"/>
          </a:xfrm>
          <a:prstGeom prst="hexagon">
            <a:avLst/>
          </a:prstGeom>
          <a:solidFill>
            <a:srgbClr val="5B3A7A"/>
          </a:solidFill>
          <a:ln/>
        </p:spPr>
      </p:sp>
      <p:sp>
        <p:nvSpPr>
          <p:cNvPr id="16" name="bullet"/>
          <p:cNvSpPr txBox="1"/>
          <p:nvPr/>
        </p:nvSpPr>
        <p:spPr>
          <a:xfrm>
            <a:off x="1143000" y="138988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Once crowned, Macbeth finds that the crown is not enough.</a:t>
            </a:r>
            <a:endParaRPr lang="en-US" sz="2200" dirty="0"/>
          </a:p>
        </p:txBody>
      </p:sp>
      <p:sp>
        <p:nvSpPr>
          <p:cNvPr id="17" name="bullet-card"/>
          <p:cNvSpPr/>
          <p:nvPr/>
        </p:nvSpPr>
        <p:spPr>
          <a:xfrm>
            <a:off x="548640" y="2893568"/>
            <a:ext cx="5074920" cy="1698244"/>
          </a:xfrm>
          <a:prstGeom prst="roundRect">
            <a:avLst>
              <a:gd name="adj" fmla="val 4308"/>
            </a:avLst>
          </a:prstGeom>
          <a:solidFill>
            <a:srgbClr val="EDE9F0"/>
          </a:solidFill>
          <a:ln/>
        </p:spPr>
      </p:sp>
      <p:sp>
        <p:nvSpPr>
          <p:cNvPr id="18" name="bullet-hex"/>
          <p:cNvSpPr/>
          <p:nvPr/>
        </p:nvSpPr>
        <p:spPr>
          <a:xfrm>
            <a:off x="676656" y="3576397"/>
            <a:ext cx="384048" cy="332586"/>
          </a:xfrm>
          <a:prstGeom prst="hexagon">
            <a:avLst/>
          </a:prstGeom>
          <a:solidFill>
            <a:srgbClr val="B8862B"/>
          </a:solidFill>
          <a:ln/>
        </p:spPr>
      </p:sp>
      <p:sp>
        <p:nvSpPr>
          <p:cNvPr id="19" name="bullet"/>
          <p:cNvSpPr txBox="1"/>
          <p:nvPr/>
        </p:nvSpPr>
        <p:spPr>
          <a:xfrm>
            <a:off x="1143000" y="289356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 now plans without his wife and tells her to stay innocent of the knowledge.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Witches, apparitions and a slaughtered family (3.5–4.3)</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2E9D9"/>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Macduff and Lady Macduff are foils to the Macbeths: a loyal husband and a loving mother. (The department deck says "counterfoil"; the exam term is foil.)</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none of woman born / Shall harm Macbeth.</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4.1.91–92</a:t>
            </a:r>
            <a:endParaRPr lang="en-US" sz="2600" dirty="0"/>
          </a:p>
        </p:txBody>
      </p:sp>
      <p:sp>
        <p:nvSpPr>
          <p:cNvPr id="14" name="bullet-card"/>
          <p:cNvSpPr/>
          <p:nvPr/>
        </p:nvSpPr>
        <p:spPr>
          <a:xfrm>
            <a:off x="548640" y="1389888"/>
            <a:ext cx="5074920" cy="1320546"/>
          </a:xfrm>
          <a:prstGeom prst="roundRect">
            <a:avLst>
              <a:gd name="adj" fmla="val 5540"/>
            </a:avLst>
          </a:prstGeom>
          <a:solidFill>
            <a:srgbClr val="EDE9F0"/>
          </a:solidFill>
          <a:ln/>
        </p:spPr>
      </p:sp>
      <p:sp>
        <p:nvSpPr>
          <p:cNvPr id="15" name="bullet-hex"/>
          <p:cNvSpPr/>
          <p:nvPr/>
        </p:nvSpPr>
        <p:spPr>
          <a:xfrm>
            <a:off x="676656" y="1883868"/>
            <a:ext cx="384048" cy="332586"/>
          </a:xfrm>
          <a:prstGeom prst="hexagon">
            <a:avLst/>
          </a:prstGeom>
          <a:solidFill>
            <a:srgbClr val="5B3A7A"/>
          </a:solidFill>
          <a:ln/>
        </p:spPr>
      </p:sp>
      <p:sp>
        <p:nvSpPr>
          <p:cNvPr id="16" name="bullet"/>
          <p:cNvSpPr txBox="1"/>
          <p:nvPr/>
        </p:nvSpPr>
        <p:spPr>
          <a:xfrm>
            <a:off x="1143000" y="1389888"/>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Macbeth goes back to the witches by choice. This time he does not ask; he demands.</a:t>
            </a:r>
            <a:endParaRPr lang="en-US" sz="2200" dirty="0"/>
          </a:p>
        </p:txBody>
      </p:sp>
      <p:sp>
        <p:nvSpPr>
          <p:cNvPr id="17" name="bullet-card"/>
          <p:cNvSpPr/>
          <p:nvPr/>
        </p:nvSpPr>
        <p:spPr>
          <a:xfrm>
            <a:off x="548640" y="2856738"/>
            <a:ext cx="5074920" cy="1661414"/>
          </a:xfrm>
          <a:prstGeom prst="roundRect">
            <a:avLst>
              <a:gd name="adj" fmla="val 4403"/>
            </a:avLst>
          </a:prstGeom>
          <a:solidFill>
            <a:srgbClr val="EDE9F0"/>
          </a:solidFill>
          <a:ln/>
        </p:spPr>
      </p:sp>
      <p:sp>
        <p:nvSpPr>
          <p:cNvPr id="18" name="bullet-hex"/>
          <p:cNvSpPr/>
          <p:nvPr/>
        </p:nvSpPr>
        <p:spPr>
          <a:xfrm>
            <a:off x="676656" y="3521152"/>
            <a:ext cx="384048" cy="332586"/>
          </a:xfrm>
          <a:prstGeom prst="hexagon">
            <a:avLst/>
          </a:prstGeom>
          <a:solidFill>
            <a:srgbClr val="B8862B"/>
          </a:solidFill>
          <a:ln/>
        </p:spPr>
      </p:sp>
      <p:sp>
        <p:nvSpPr>
          <p:cNvPr id="19" name="bullet"/>
          <p:cNvSpPr txBox="1"/>
          <p:nvPr/>
        </p:nvSpPr>
        <p:spPr>
          <a:xfrm>
            <a:off x="1143000" y="285673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Macbeth's next act is his cruellest. He orders the killing of “His wife, his babes, and all unfortunate souls” at Macduff's castle.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Tomorrow, and a tyrant's end (5.3–5.8)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2E9D9"/>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Punctuation of this line varies between editions; the words do not. Learn the words, and follow your own edition's commas.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AE5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Tomorrow and tomorrow and tomorrow / Creeps in this petty pace from day to day</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5.5.22–23</a:t>
            </a:r>
            <a:endParaRPr lang="en-US" sz="2600" dirty="0"/>
          </a:p>
        </p:txBody>
      </p:sp>
      <p:sp>
        <p:nvSpPr>
          <p:cNvPr id="14" name="bullet-card"/>
          <p:cNvSpPr/>
          <p:nvPr/>
        </p:nvSpPr>
        <p:spPr>
          <a:xfrm>
            <a:off x="548640" y="1389888"/>
            <a:ext cx="5074920" cy="1181100"/>
          </a:xfrm>
          <a:prstGeom prst="roundRect">
            <a:avLst>
              <a:gd name="adj" fmla="val 6194"/>
            </a:avLst>
          </a:prstGeom>
          <a:solidFill>
            <a:srgbClr val="EDE9F0"/>
          </a:solidFill>
          <a:ln/>
        </p:spPr>
      </p:sp>
      <p:sp>
        <p:nvSpPr>
          <p:cNvPr id="15" name="bullet-hex"/>
          <p:cNvSpPr/>
          <p:nvPr/>
        </p:nvSpPr>
        <p:spPr>
          <a:xfrm>
            <a:off x="676656" y="1814145"/>
            <a:ext cx="384048" cy="332586"/>
          </a:xfrm>
          <a:prstGeom prst="hexagon">
            <a:avLst/>
          </a:prstGeom>
          <a:solidFill>
            <a:srgbClr val="5B3A7A"/>
          </a:solidFill>
          <a:ln/>
        </p:spPr>
      </p:sp>
      <p:sp>
        <p:nvSpPr>
          <p:cNvPr id="16" name="bullet"/>
          <p:cNvSpPr txBox="1"/>
          <p:nvPr/>
        </p:nvSpPr>
        <p:spPr>
          <a:xfrm>
            <a:off x="1143000" y="1389888"/>
            <a:ext cx="4389120" cy="11811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 Malcolm's army closes in, Macbeth is proud and reckless, trusting the prophecies: this is hubris.</a:t>
            </a:r>
            <a:endParaRPr lang="en-US" sz="2000" dirty="0"/>
          </a:p>
        </p:txBody>
      </p:sp>
      <p:sp>
        <p:nvSpPr>
          <p:cNvPr id="17" name="bullet-card"/>
          <p:cNvSpPr/>
          <p:nvPr/>
        </p:nvSpPr>
        <p:spPr>
          <a:xfrm>
            <a:off x="548640" y="2717292"/>
            <a:ext cx="5074920" cy="1800860"/>
          </a:xfrm>
          <a:prstGeom prst="roundRect">
            <a:avLst>
              <a:gd name="adj" fmla="val 4062"/>
            </a:avLst>
          </a:prstGeom>
          <a:solidFill>
            <a:srgbClr val="EDE9F0"/>
          </a:solidFill>
          <a:ln/>
        </p:spPr>
      </p:sp>
      <p:sp>
        <p:nvSpPr>
          <p:cNvPr id="18" name="bullet-hex"/>
          <p:cNvSpPr/>
          <p:nvPr/>
        </p:nvSpPr>
        <p:spPr>
          <a:xfrm>
            <a:off x="676656" y="3451429"/>
            <a:ext cx="384048" cy="332586"/>
          </a:xfrm>
          <a:prstGeom prst="hexagon">
            <a:avLst/>
          </a:prstGeom>
          <a:solidFill>
            <a:srgbClr val="B8862B"/>
          </a:solidFill>
          <a:ln/>
        </p:spPr>
      </p:sp>
      <p:sp>
        <p:nvSpPr>
          <p:cNvPr id="19" name="bullet"/>
          <p:cNvSpPr txBox="1"/>
          <p:nvPr/>
        </p:nvSpPr>
        <p:spPr>
          <a:xfrm>
            <a:off x="1143000" y="2717292"/>
            <a:ext cx="4389120" cy="18008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Then the prophecies turn against him. Birnam Wood seems to move as soldiers carry branches as cover, and Macduff reveals he was not born in the usual way.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Macbeth as a tyrant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Shakespeare present Macbeth as a tyrant in Acts 3 and 4? Write one developed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Macbeth as a tyrant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Shakespeare present Macbeth as a tyrant in Acts 3 and 4? Write one developed paragraph.</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Point: say what drives his tyranny (fear, paranoia, the prophecies).</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Evidence 1: quote a line from Act 3 that shows he does not feel safe.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Evidence 2: quote a line from Act 4 that shows his violence spreading.</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Context: compare him with the Jacobean idea of a good king, such as Duncan.</a:t>
            </a:r>
            <a:endParaRPr lang="en-US" sz="1800" dirty="0"/>
          </a:p>
        </p:txBody>
      </p:sp>
      <p:sp>
        <p:nvSpPr>
          <p:cNvPr id="17" name="col-Core"/>
          <p:cNvSpPr/>
          <p:nvPr/>
        </p:nvSpPr>
        <p:spPr>
          <a:xfrm>
            <a:off x="5490762" y="2593848"/>
            <a:ext cx="2938987" cy="3550920"/>
          </a:xfrm>
          <a:prstGeom prst="roundRect">
            <a:avLst>
              <a:gd name="adj" fmla="val 1867"/>
            </a:avLst>
          </a:prstGeom>
          <a:solidFill>
            <a:srgbClr val="D6CED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Show a pattern: each murder is less necessary than the one before. Which word in your Act 4 quotation shows that?</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5B3A7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Bring in Malcolm in Act 4 Scene 3 or Edward the Confessor, the English king said to heal the sick. How does Shakespeare use other kings to show what Macbeth is 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Macbeth's road from Act 3 to Act 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from Acts 3 to 5 in the order they happen.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Banquo's ghost appears at the banquet.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witches show Macbeth three apparitions.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Macbeth hears that Lady Macbeth is dead.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Macduff's wife and children are murdered.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Birnam Wood seems to move towards Dunsinane.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Banquo is killed, but Fleance escapes.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Macduff kills Macbeth.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H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Macbeth persuades two murderers to kill Banquo.</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Macbeth's road from Act 3 to Act 5</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events from Acts 3 to 5 in the order they happen.</a:t>
            </a:r>
            <a:endParaRPr lang="en-US" sz="2000" dirty="0"/>
          </a:p>
        </p:txBody>
      </p:sp>
      <p:sp>
        <p:nvSpPr>
          <p:cNvPr id="12" name="col-Support"/>
          <p:cNvSpPr/>
          <p:nvPr/>
        </p:nvSpPr>
        <p:spPr>
          <a:xfrm>
            <a:off x="548640" y="2578608"/>
            <a:ext cx="3515258" cy="3566160"/>
          </a:xfrm>
          <a:prstGeom prst="roundRect">
            <a:avLst>
              <a:gd name="adj" fmla="val 1561"/>
            </a:avLst>
          </a:prstGeom>
          <a:solidFill>
            <a:srgbClr val="EAE5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Act 3: Banquo must be planned for, then killed, then return as a ghost.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Act 4 opens with the witches; Macbeth acts on what they say.</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Act 5 ends with the battle. What news reaches Macbeth before Birnam Wood moves?</a:t>
            </a:r>
            <a:endParaRPr lang="en-US" sz="1800" dirty="0"/>
          </a:p>
        </p:txBody>
      </p:sp>
      <p:sp>
        <p:nvSpPr>
          <p:cNvPr id="17" name="col-Core"/>
          <p:cNvSpPr/>
          <p:nvPr/>
        </p:nvSpPr>
        <p:spPr>
          <a:xfrm>
            <a:off x="4338218" y="2578608"/>
            <a:ext cx="3515258" cy="3566160"/>
          </a:xfrm>
          <a:prstGeom prst="roundRect">
            <a:avLst>
              <a:gd name="adj" fmla="val 1561"/>
            </a:avLst>
          </a:prstGeom>
          <a:solidFill>
            <a:srgbClr val="D6CED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act has a pattern: plan, act, consequence. Use that to place the events.</a:t>
            </a:r>
            <a:endParaRPr lang="en-US" sz="1800" dirty="0"/>
          </a:p>
        </p:txBody>
      </p:sp>
      <p:sp>
        <p:nvSpPr>
          <p:cNvPr id="22" name="col-Stretch"/>
          <p:cNvSpPr/>
          <p:nvPr/>
        </p:nvSpPr>
        <p:spPr>
          <a:xfrm>
            <a:off x="8127797" y="2578608"/>
            <a:ext cx="3515258" cy="3566160"/>
          </a:xfrm>
          <a:prstGeom prst="roundRect">
            <a:avLst>
              <a:gd name="adj" fmla="val 1561"/>
            </a:avLst>
          </a:prstGeom>
          <a:solidFill>
            <a:srgbClr val="5B3A7A"/>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Which of these events is Macbeth's last real choice, after which his fate seems sealed? Justify your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Act 3 Scene 3, what happens when the murderers attack?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Fleance is killed but Banquo escapes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Banquo and Fleance both escape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Macduff stops them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Banquo is killed but Fleance escapes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Macbeth as a tyrant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EDE9F0"/>
          </a:solidFill>
          <a:ln/>
        </p:spPr>
      </p:sp>
      <p:sp>
        <p:nvSpPr>
          <p:cNvPr id="9" name="tickbox"/>
          <p:cNvSpPr/>
          <p:nvPr/>
        </p:nvSpPr>
        <p:spPr>
          <a:xfrm>
            <a:off x="713232" y="2209038"/>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a clear argument about how his tyranny grows, not just a list of murders</a:t>
            </a:r>
            <a:endParaRPr lang="en-US" sz="2200" dirty="0"/>
          </a:p>
        </p:txBody>
      </p:sp>
      <p:sp>
        <p:nvSpPr>
          <p:cNvPr id="11" name="crit-box"/>
          <p:cNvSpPr/>
          <p:nvPr/>
        </p:nvSpPr>
        <p:spPr>
          <a:xfrm>
            <a:off x="548640" y="2817876"/>
            <a:ext cx="11094415" cy="742188"/>
          </a:xfrm>
          <a:prstGeom prst="roundRect">
            <a:avLst>
              <a:gd name="adj" fmla="val 12320"/>
            </a:avLst>
          </a:prstGeom>
          <a:solidFill>
            <a:srgbClr val="EDE9F0"/>
          </a:solidFill>
          <a:ln/>
        </p:spPr>
      </p:sp>
      <p:sp>
        <p:nvSpPr>
          <p:cNvPr id="12" name="tickbox"/>
          <p:cNvSpPr/>
          <p:nvPr/>
        </p:nvSpPr>
        <p:spPr>
          <a:xfrm>
            <a:off x="713232" y="3042666"/>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2817876"/>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AO1: short embedded quotations from Act 3 and Act 4</a:t>
            </a:r>
            <a:endParaRPr lang="en-US" sz="2200" dirty="0"/>
          </a:p>
        </p:txBody>
      </p:sp>
      <p:sp>
        <p:nvSpPr>
          <p:cNvPr id="14" name="crit-box"/>
          <p:cNvSpPr/>
          <p:nvPr/>
        </p:nvSpPr>
        <p:spPr>
          <a:xfrm>
            <a:off x="548640" y="3651504"/>
            <a:ext cx="11094415" cy="742188"/>
          </a:xfrm>
          <a:prstGeom prst="roundRect">
            <a:avLst>
              <a:gd name="adj" fmla="val 12320"/>
            </a:avLst>
          </a:prstGeom>
          <a:solidFill>
            <a:srgbClr val="EDE9F0"/>
          </a:solidFill>
          <a:ln/>
        </p:spPr>
      </p:sp>
      <p:sp>
        <p:nvSpPr>
          <p:cNvPr id="15" name="tickbox"/>
          <p:cNvSpPr/>
          <p:nvPr/>
        </p:nvSpPr>
        <p:spPr>
          <a:xfrm>
            <a:off x="713232" y="387629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651504"/>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AO2: you analyse a method, such as a list, an image or a change in his language</a:t>
            </a:r>
            <a:endParaRPr lang="en-US" sz="2200" dirty="0"/>
          </a:p>
        </p:txBody>
      </p:sp>
      <p:sp>
        <p:nvSpPr>
          <p:cNvPr id="17" name="crit-box"/>
          <p:cNvSpPr/>
          <p:nvPr/>
        </p:nvSpPr>
        <p:spPr>
          <a:xfrm>
            <a:off x="548640" y="4485132"/>
            <a:ext cx="11094415" cy="742188"/>
          </a:xfrm>
          <a:prstGeom prst="roundRect">
            <a:avLst>
              <a:gd name="adj" fmla="val 12320"/>
            </a:avLst>
          </a:prstGeom>
          <a:solidFill>
            <a:srgbClr val="EDE9F0"/>
          </a:solidFill>
          <a:ln/>
        </p:spPr>
      </p:sp>
      <p:sp>
        <p:nvSpPr>
          <p:cNvPr id="18" name="tickbox"/>
          <p:cNvSpPr/>
          <p:nvPr/>
        </p:nvSpPr>
        <p:spPr>
          <a:xfrm>
            <a:off x="713232" y="4709922"/>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485132"/>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AO3: you contrast him with the Jacobean idea of a good, God-given king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Macbeth as a tyrant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Act 3 Shakespeare shows that the crown has not brought Macbeth peace. He admits, “To be thus is nothing, / But to be safely thus”, so being king means nothing unless he feels secure. That fear turns him into a tyrant: he arranges Banquo's murder and, by Act 4, decides to attack Macduff's castle and kill “His wife, his babes, and all unfortunate souls”. The list of victims spreads wider and wider, showing that his violence has lost any clear purpose. A Jacobean audience who believed that kings were chosen by God would see the gap between Macbeth and Duncan, a rightful king who rewarded loyalty rather than punishing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Macbeth's road from Act 3 to Act 5</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Macbeth persuades two murderers to kill Banquo.  (H)</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Banquo is killed, but Fleance escapes.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Banquo's ghost appears at the banquet.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witches show Macbeth three apparitions.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Macduff's wife and children are murdered.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Macbeth hears that Lady Macbeth is dead.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Birnam Wood seems to move towards Dunsinane.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8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Macduff kills Macbeth.  (G)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Act 3 deals with Banquo, Act 4 with the witches and Macduff, and Act 5 with the fall. Knowing this order lets you place any extract you are given in the exam.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Act 3 Scene 3, what happens when the murderers attack?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Banquo is killed but Fleance escapes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Fleance's escape matters: the prophecy that Banquo's children will be kings is still alive.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Macbeth · Chapter 5: Tyranny and kingship (Acts 3 to 5)</dc:title>
  <dc:subject>English Literature · Year 10</dc:subject>
  <dc:creator>Dr Vitor Merissi de Carvalho</dc:creator>
  <cp:lastModifiedBy>Dr Vitor Merissi de Carvalho</cp:lastModifiedBy>
  <cp:revision>1</cp:revision>
  <dcterms:created xsi:type="dcterms:W3CDTF">2026-10-19T06:07:31Z</dcterms:created>
  <dcterms:modified xsi:type="dcterms:W3CDTF">2026-10-19T06:07:31Z</dcterms:modified>
</cp:coreProperties>
</file>