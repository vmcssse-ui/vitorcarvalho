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1b3c3df-b829-3cd4-e09a-43d4c9e9222f}">
          <p14:sldIdLst>
            <p14:sldId id="256"/>
          </p14:sldIdLst>
        </p14:section>
        <p14:section name="Gate" id="{a601f1fe-ab67-884b-5a64-a09d3798c6c6}">
          <p14:sldIdLst>
            <p14:sldId id="257"/>
            <p14:sldId id="258"/>
          </p14:sldIdLst>
        </p14:section>
        <p14:section name="Pre-teach" id="{7c550b40-3401-5594-1ad3-8f6d05e0cacf}">
          <p14:sldIdLst>
            <p14:sldId id="259"/>
          </p14:sldIdLst>
        </p14:section>
        <p14:section name="Read-along" id="{2cd13238-d1b5-ab1f-e0c2-0683417785f2}">
          <p14:sldIdLst>
            <p14:sldId id="260"/>
            <p14:sldId id="261"/>
          </p14:sldIdLst>
        </p14:section>
        <p14:section name="Teach" id="{aa6d43a3-2de6-21d8-ea9a-60c34d0cabfc}">
          <p14:sldIdLst>
            <p14:sldId id="262"/>
            <p14:sldId id="263"/>
            <p14:sldId id="264"/>
          </p14:sldIdLst>
        </p14:section>
        <p14:section name="Routes" id="{3bd6160b-d23b-916d-b90b-b7b26655995c}">
          <p14:sldIdLst>
            <p14:sldId id="265"/>
            <p14:sldId id="266"/>
            <p14:sldId id="267"/>
            <p14:sldId id="268"/>
          </p14:sldIdLst>
        </p14:section>
        <p14:section name="Close" id="{909e93b1-efd2-63d7-5bfa-58f5a43f2a0e}">
          <p14:sldIdLst>
            <p14:sldId id="269"/>
          </p14:sldIdLst>
        </p14:section>
        <p14:section name="Answers" id="{a51ef82d-e6be-239d-599d-a490b69968d0}">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Lady Macbeth: power, gender and persuasion (Act 1, Scenes 5–7). This chapter shows you how Lady Macbeth breaks every rule for a Jacobean wife, and how she wins the argument.
This deck covers the department's lessons: 9 (Act 1 Scene 5: Lady Macbeth: How does Shakespeare present Lady Macbeth as a controversial character?); 10 (Act 1 Scene 5 part 2: Macbeth's entrance: How does Shakespeare present the relationship between Macbeth and Lady Macbeth in Act 1 Scene 5?); 11 (Act 1 Scenes 6–7: Manipulation and masculinity: Why is Lady Macbeth's manipulation of Macbeth so effective?).
Read the big question aloud: "What is the plot, context and key themes of Shakespeare's play Macbeth, and how does Shakespeare turn a hero into a tyrant?"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When Lady Macbeth reads the letter, what does she fear about her husband?  →  A   He is too kind to kill
2. Complete Lady Macbeth's advice: “Look like th' innocent flower, / But be the ___ under 't.”  →  serpent
3. When Lady Macbeth asks spirits to ‘unsex’ her, what is she asking for?  →  D   To have her gentleness as a woman taken away, so she can be cruel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He is too kind to kill. She says his nature is “too full o' th' milk of human kindness”. She sees his kindness as a weakness.
2. serpent. Shakespeare's word is ‘serpent’, which links to the tempter in the Garden of Eden.
3. D   To have her gentleness as a woman taken away, so she can be cruel. She links womanhood with gentleness and wants it removed so that nothing stops her purpose.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subvert: to turn something upside down. Example: "Lady Macbeth subverts what people expected of a wife."
• soliloquy: a speech made alone on stage. Example: "In her soliloquy, Lady Macbeth calls on evil spirits."
• imperative: a command word. Example: "‘Come’ is an imperative, because she is giving an order."
• manipulate: to control someone in a sneaky way. Example: "She manipulates Macbeth by calling him a coward."
• emasculate: to make a man feel less of a man. Example: "She tries to emasculate him when he wants to stop."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Lady Macbeth reads a letter from her husband.
2. It tells her about the witches.
3. At once, she wants him to be king.
4. But she fears he is too kind to kill.
5. Then she hears that King Duncan is coming to stay.
6. Alone, she calls on evil spirits.
7. She asks them to fill her with cruelty.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When Macbeth comes home, she takes charge.
9. She tells him to smile, but hide his plan.
10. Later, Macbeth decides not to kill the king.
11. Lady Macbeth calls him a coward.
12. She says a real man would do it.
13. By the end of the scene, he agrees.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letter and the spirits (1.5). Say it in your own words, then check understanding with a quick question: ask a pupil from the pre-teach group first, since they met these words and ideas before the lesson. Pupils try to recall before you re-explain.
We first meet Lady Macbeth reading her husband's letter. Her first worry is not whether murder is wrong, but whether Macbeth is too gentle to do it. She fears his nature is “too full o' th' milk of human kindness”. Milk is linked to mothers and care, so she sees kindness as a weakness.
Alone, she calls on spirits to take away her womanhood and fill her with cruelty. Jacobean audiences believed women were weaker and gentler than men, and that women who reached for dark powers were witches. Lady Macbeth's language would have shocked them. She sounds less like a wife and more like a fourth witch.
Quotation: "Come, you spirits / That tend on mortal thoughts, unsex me here" (1.5.47–48). Read it aloud; ask what it shows.
Tip: Count her imperatives in this speech: come, unsex, fill, make thick, stop up. She is giving orders to the powers of 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flower and the serpent (1.5). Say it in your own words, then check understanding with a quick question: ask a pupil from the pre-teach group first, since they met these words and ideas before the lesson. Pupils try to recall before you re-explain.
When Macbeth comes home, he barely speaks. Lady Macbeth does almost all the talking and gives the instructions. She tells him that his face is like a book that people can read, so he must learn to hide his thoughts.
Her advice uses a striking image. A flower looks innocent; a serpent hides beneath it. A Christian audience would think of the serpent in the Garden of Eden, which tempted Eve. The scene ends with her taking control of the plan completely: she tells him to leave all the rest to her.
Quotation: "Look like th' innocent flower, / But be the serpent under 't." (1.5.76–77). Read it aloud; ask what it shows.
Tip: Link this to Duncan's words in 1.4 about not being able to read a mind in a face. Appearance and reality is a theme you can track across the whole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Winning the argument (1.7). Say it in your own words, then check understanding with a quick question: ask a pupil from the pre-teach group first, since they met these words and ideas before the lesson. Pupils try to recall before you re-explain.
In his soliloquy, Macbeth lists the reasons not to kill Duncan: he is his relative, his king and his guest, and Duncan has been a good ruler. He decides clearly, “We will proceed no further in this business.” Calling murder ‘business’ shows he is trying to keep it at a distance.
Lady Macbeth then uses several methods of persuasion. She asks mocking questions, calls him a coward, and links courage to being a man. Most shocking of all, she says that if she had sworn to, she would kill her own baby. In a warrior culture where a man's honour meant everything, her attack on his manhood works.
Quotation: "When you durst do it, then you were a man" (1.7.56). Read it aloud; ask what it shows.
Tip: ‘Durst’ means ‘dared’. She says he was only a man when he dared to think of murder.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powerful woman in Act 1 Scene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Lady Macbeth as a powerful woman in Act 1 Scene 5? Write one developed paragraph.
Support — work through the steps with the group: (1) What: say what kind of power she has (over herself, over Macbeth, over the plan). (2) How: pick an imperative from her soliloquy and quote it. (3) Why: explain who she is commanding and what that says about her. (4) Context: say how a patriarchal Jacobean audience would react to a woman speaking like this.
Parallel worked example for Support (model it, do not give the task answer): Practice question: how does Shakespeare show Macbeth turning to darkness in Act 1 Scene 4? What: Macbeth wants his ambition hidden.; How: he commands the stars, “Stars, hide your fires”.; Why: stars and light were linked to heaven, so he asks goodness to look away.. Answer: Shakespeare shows Macbeth turning to darkness when he commands, “Stars, hide your fires”. The imperative is aimed at heaven's lights; he wants God's world not to see his plan, which shows he already knows it is evil..
Core — reveal the hint only on request: Look at who she gives orders to. A wife giving orders to spirits, and then to her husband, breaks two Jacobean rules at once.
Stretch — no help; when finished: Is her power real or a performance? Use the fact that she needs to ask spirits for cruelty to argue that, underneath, she may not be as hard as she sounds, and link this to Act 5 Scene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powerful woman in Act 1 Scene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Lady Macbeth as a powerful woman in Act 1 Scene 5? Write one developed paragraph.
Support — work through the steps with the group: (1) What: say what kind of power she has (over herself, over Macbeth, over the plan). (2) How: pick an imperative from her soliloquy and quote it. (3) Why: explain who she is commanding and what that says about her. (4) Context: say how a patriarchal Jacobean audience would react to a woman speaking like this.
Parallel worked example for Support (model it, do not give the task answer): Practice question: how does Shakespeare show Macbeth turning to darkness in Act 1 Scene 4? What: Macbeth wants his ambition hidden.; How: he commands the stars, “Stars, hide your fires”.; Why: stars and light were linked to heaven, so he asks goodness to look away.. Answer: Shakespeare shows Macbeth turning to darkness when he commands, “Stars, hide your fires”. The imperative is aimed at heaven's lights; he wants God's world not to see his plan, which shows he already knows it is evil..
Core — reveal the hint only on request: Look at who she gives orders to. A wife giving orders to spirits, and then to her husband, breaks two Jacobean rules at once.
Stretch — no help; when finished: Is her power real or a performance? Use the fact that she needs to ask spirits for cruelty to argue that, underneath, she may not be as hard as she sounds, and link this to Act 5 Scene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Methods of persuasion in Act 1 Scene 7.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persuasion method to the line Lady Macbeth uses in Act 1 Scene 7.
Support — work through the steps with the group: (1) Spot the question mark: which line is a question? (2) Spot the insult: which line uses the word ‘coward’? (3) Spot the gender word: which line uses ‘man’? (4) The last line left is the one that encourages him.
Parallel worked example for Support (model it, do not give the task answer): Practice: in Act 3 Scene 1 Macbeth asks the murderers if they are so religious that they will pray for Banquo. Which method is this? It is a question.; It suggests they are weak if they forgive.; So it is a mocking question that challenges their pride.. Answer: A mocking question that challenges their pride, just as Lady Macbeth challenged his..
Core — reveal the hint only on request: Each method gets harder: she starts with a question and ends by promising success.
Stretch — no help; when finished: Why does the attack on his manhood work best on Macbeth in particular? Link your answer to the warrior culture of Act 1 Scene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Methods of persuasion in Act 1 Scene 7.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persuasion method to the line Lady Macbeth uses in Act 1 Scene 7.
Support — work through the steps with the group: (1) Spot the question mark: which line is a question? (2) Spot the insult: which line uses the word ‘coward’? (3) Spot the gender word: which line uses ‘man’? (4) The last line left is the one that encourages him.
Parallel worked example for Support (model it, do not give the task answer): Practice: in Act 3 Scene 1 Macbeth asks the murderers if they are so religious that they will pray for Banquo. Which method is this? It is a question.; It suggests they are weak if they forgive.; So it is a mocking question that challenges their pride.. Answer: A mocking question that challenges their pride, just as Lady Macbeth challenged his..
Core — reveal the hint only on request: Each method gets harder: she starts with a question and ends by promising success.
Stretch — no help; when finished: Why does the attack on his manhood work best on Macbeth in particular? Link your answer to the warrior culture of Act 1 Scene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When Lady Macbeth reads the letter, what does she fear about her husband?
Answer: D   He is too kind to kill. She says his nature is “too full o' th' milk of human kindness”. She sees his kindness as a weakness.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powerful woman in Act 1 Scene 5. Reveal the answer; pupils mark their own work in a different colour, then read the "why" together. Same destination for every lane, so one answer serves the whole class.
Answer: AO1: a clear point about her power, answered directly; AO1: at least two short quotations from 1.5, embedded; AO2: you analyse a method: imperatives, imagery of darkness, or the soliloquy form; AO3: you link her to Jacobean expectations of women or to beliefs about witches
Why: The best answers show how her language gives her power and why that power would disturb a Jacobean audience. The model does both in one paragraph.
Model answer: Shakespeare presents Lady Macbeth as a woman who refuses the role her society gave her. Alone on stage, she cries, “Come, you spirits / That tend on mortal thoughts, unsex me here”. The imperative ‘come’ shows her giving orders, not to a husband but to evil spirits, which a Jacobean audience would link with witchcraft. ‘Unsex me’ suggests she believes that gentleness belongs to women and must be torn out before she can kill. In a patriarchal society that expected wives to obey, this would have shocked an audience in 1606. Her power is real, but Shakespeare makes clear that it comes from darkness.
Success criteria: AO1: a clear point about her power, answered directly; AO1: at least two short quotations from 1.5, embedded; AO2: you analyse a method: imperatives, imagery of darkness, or the soliloquy form; AO3: you link her to Jacobean expectations of women or to beliefs about witches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Methods of persuasion in Act 1 Scene 7. Reveal the answer; pupils mark their own work in a different colour, then read the "why" together. Same destination for every lane, so one answer serves the whole class.
Answer: A mocking question  →  B  “Was the hope drunk / Wherein you dressed yourself?”; Calling him a coward  →  C  “And live a coward in thine own esteem”; Attacking his manhood  →  D  “When you durst do it, then you were a man”; Encouragement and a plan  →  A  “But screw your courage to the sticking place / And we'll not fail.”
Why: Lady Macbeth moves from questions, to insults, to an attack on his manhood, to a confident plan. Macbeth, who has just decided to stop, is talked back into murder in one scene.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He is too kind to kill
Why: She says his nature is “too full o' th' milk of human kindness”. She sees his kindness as a weakness.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Macbeth · AQA 8702</a:t>
            </a:r>
            <a:endParaRPr lang="en-US" sz="1800" dirty="0"/>
          </a:p>
        </p:txBody>
      </p:sp>
      <p:sp>
        <p:nvSpPr>
          <p:cNvPr id="10" name="deck-title"/>
          <p:cNvSpPr txBox="1"/>
          <p:nvPr/>
        </p:nvSpPr>
        <p:spPr>
          <a:xfrm>
            <a:off x="548640" y="185724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Lady Macbeth: power, gender and persuasion (Act 1, Scenes 5–7)</a:t>
            </a:r>
            <a:endParaRPr lang="en-US" sz="2800" dirty="0"/>
          </a:p>
        </p:txBody>
      </p:sp>
      <p:sp>
        <p:nvSpPr>
          <p:cNvPr id="11" name="lessons-card"/>
          <p:cNvSpPr/>
          <p:nvPr/>
        </p:nvSpPr>
        <p:spPr>
          <a:xfrm>
            <a:off x="548640" y="3599688"/>
            <a:ext cx="5287975" cy="1986280"/>
          </a:xfrm>
          <a:prstGeom prst="roundRect">
            <a:avLst>
              <a:gd name="adj" fmla="val 3683"/>
            </a:avLst>
          </a:prstGeom>
          <a:solidFill>
            <a:srgbClr val="EAE5EE"/>
          </a:solidFill>
          <a:ln/>
        </p:spPr>
      </p:sp>
      <p:sp>
        <p:nvSpPr>
          <p:cNvPr id="12" name="lessons"/>
          <p:cNvSpPr txBox="1"/>
          <p:nvPr/>
        </p:nvSpPr>
        <p:spPr>
          <a:xfrm>
            <a:off x="685800" y="369112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5: Lady Macbeth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5 part 2: Macbeth's entrance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Scenes 6–7: Manipulation and masculinity</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plot, context and key themes of Shakespeare's play Macbeth, and how does Shakespeare turn a hero into a tyrant?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When Lady Macbeth reads the letter, what does she fear about her husband?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 is too kind to kill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 does not want to be king</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 will tell Banquo</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 is too cruel</a:t>
            </a:r>
            <a:endParaRPr lang="en-US" sz="22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Complete Lady Macbeth's advice: “Look like th' innocent flower, / But be the ___ under 't.”</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serpent  ·  snake  ·  viper</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When Lady Macbeth asks spirits to ‘unsex’ her, what is she asking for?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be made queen at once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become a man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become invisible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have her gentleness as a woman taken away, so she can be cruel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He is too kind to kill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When Lady Macbeth reads the letter, what does she fear about her husband?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She says his nature is “too full o' th' milk of human kindness”. She sees his kindness as a weakness.</a:t>
            </a:r>
            <a:endParaRPr lang="en-US" sz="20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serpent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Complete Lady Macbeth's advice: “Look like th' innocent flower, / But be the ___ under 't.”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Shakespeare's word is ‘serpent’, which links to the tempter in the Garden of Eden.</a:t>
            </a:r>
            <a:endParaRPr lang="en-US" sz="20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BDDC4"/>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To have her gentleness as a woman taken away, so she can be cruel</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She links womanhood with gentleness and wants it removed so that nothing stops her purpose.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DE9F0"/>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subvert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turn something upside down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Lady Macbeth subverts what people expected of a wife.</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soliloquy</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speech made alone on stage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her soliloquy, Lady Macbeth calls on evil spirits.</a:t>
            </a:r>
            <a:endParaRPr lang="en-US" sz="1800" dirty="0"/>
          </a:p>
        </p:txBody>
      </p:sp>
      <p:sp>
        <p:nvSpPr>
          <p:cNvPr id="21" name="kw-row"/>
          <p:cNvSpPr/>
          <p:nvPr/>
        </p:nvSpPr>
        <p:spPr>
          <a:xfrm>
            <a:off x="548640" y="3639312"/>
            <a:ext cx="11094415" cy="786384"/>
          </a:xfrm>
          <a:prstGeom prst="roundRect">
            <a:avLst>
              <a:gd name="adj" fmla="val 6977"/>
            </a:avLst>
          </a:prstGeom>
          <a:solidFill>
            <a:srgbClr val="EDE9F0"/>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imperative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command word</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‘Come’ is an imperative, because she is giving an order.</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manipulate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control someone in a sneaky way</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She manipulates Macbeth by calling him a coward.</a:t>
            </a:r>
            <a:endParaRPr lang="en-US" sz="1800" dirty="0"/>
          </a:p>
        </p:txBody>
      </p:sp>
      <p:sp>
        <p:nvSpPr>
          <p:cNvPr id="31" name="kw-row"/>
          <p:cNvSpPr/>
          <p:nvPr/>
        </p:nvSpPr>
        <p:spPr>
          <a:xfrm>
            <a:off x="548640" y="5358384"/>
            <a:ext cx="11094415" cy="786384"/>
          </a:xfrm>
          <a:prstGeom prst="roundRect">
            <a:avLst>
              <a:gd name="adj" fmla="val 6977"/>
            </a:avLst>
          </a:prstGeom>
          <a:solidFill>
            <a:srgbClr val="EDE9F0"/>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emasculate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make a man feel less of a man</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She tries to emasculate him when he wants to stop.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Lady Macbeth reads a letter from her husband.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tells her about the witches.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once, she wants him to be king.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But she fears he is too kind to kill.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she hears that King Duncan is coming to stay.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Alone, she calls on evil spirits.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asks them to fill her with cruelty.</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Macbeth comes home, she takes charge.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tells him to smile, but hide his plan.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Later, Macbeth decides not to kill the king.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Lady Macbeth calls him a coward.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says a real man would do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By the end of the scene, he agrees.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letter and the spirits (1.5)</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her imperatives in this speech: come, unsex, fill, make thick, stop up. She is giving orders to the powers of hell.</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Come, you spirits / That tend on mortal thoughts, unsex me here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1.5.47–48</a:t>
            </a:r>
            <a:endParaRPr lang="en-US" sz="2600" dirty="0"/>
          </a:p>
        </p:txBody>
      </p:sp>
      <p:sp>
        <p:nvSpPr>
          <p:cNvPr id="14" name="bullet-card"/>
          <p:cNvSpPr/>
          <p:nvPr/>
        </p:nvSpPr>
        <p:spPr>
          <a:xfrm>
            <a:off x="548640" y="1389888"/>
            <a:ext cx="5074920" cy="1971294"/>
          </a:xfrm>
          <a:prstGeom prst="roundRect">
            <a:avLst>
              <a:gd name="adj" fmla="val 3711"/>
            </a:avLst>
          </a:prstGeom>
          <a:solidFill>
            <a:srgbClr val="EDE9F0"/>
          </a:solidFill>
          <a:ln/>
        </p:spPr>
      </p:sp>
      <p:sp>
        <p:nvSpPr>
          <p:cNvPr id="15" name="bullet-hex"/>
          <p:cNvSpPr/>
          <p:nvPr/>
        </p:nvSpPr>
        <p:spPr>
          <a:xfrm>
            <a:off x="676656" y="2209242"/>
            <a:ext cx="384048" cy="332586"/>
          </a:xfrm>
          <a:prstGeom prst="hexagon">
            <a:avLst/>
          </a:prstGeom>
          <a:solidFill>
            <a:srgbClr val="5B3A7A"/>
          </a:solidFill>
          <a:ln/>
        </p:spPr>
      </p:sp>
      <p:sp>
        <p:nvSpPr>
          <p:cNvPr id="16" name="bullet"/>
          <p:cNvSpPr txBox="1"/>
          <p:nvPr/>
        </p:nvSpPr>
        <p:spPr>
          <a:xfrm>
            <a:off x="1143000" y="1389888"/>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We first meet Lady Macbeth reading her husband's letter. Her first worry is not whether murder is wrong, but whether Macbeth is too gentle to do it.</a:t>
            </a:r>
            <a:endParaRPr lang="en-US" sz="2200" dirty="0"/>
          </a:p>
        </p:txBody>
      </p:sp>
      <p:sp>
        <p:nvSpPr>
          <p:cNvPr id="17" name="bullet-card"/>
          <p:cNvSpPr/>
          <p:nvPr/>
        </p:nvSpPr>
        <p:spPr>
          <a:xfrm>
            <a:off x="548640" y="3507486"/>
            <a:ext cx="5074920" cy="1289558"/>
          </a:xfrm>
          <a:prstGeom prst="roundRect">
            <a:avLst>
              <a:gd name="adj" fmla="val 5673"/>
            </a:avLst>
          </a:prstGeom>
          <a:solidFill>
            <a:srgbClr val="EDE9F0"/>
          </a:solidFill>
          <a:ln/>
        </p:spPr>
      </p:sp>
      <p:sp>
        <p:nvSpPr>
          <p:cNvPr id="18" name="bullet-hex"/>
          <p:cNvSpPr/>
          <p:nvPr/>
        </p:nvSpPr>
        <p:spPr>
          <a:xfrm>
            <a:off x="676656" y="3985972"/>
            <a:ext cx="384048" cy="332586"/>
          </a:xfrm>
          <a:prstGeom prst="hexagon">
            <a:avLst/>
          </a:prstGeom>
          <a:solidFill>
            <a:srgbClr val="B8862B"/>
          </a:solidFill>
          <a:ln/>
        </p:spPr>
      </p:sp>
      <p:sp>
        <p:nvSpPr>
          <p:cNvPr id="19" name="bullet"/>
          <p:cNvSpPr txBox="1"/>
          <p:nvPr/>
        </p:nvSpPr>
        <p:spPr>
          <a:xfrm>
            <a:off x="1143000" y="3507486"/>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Alone, she calls on spirits to take away her womanhood and fill her with cruelty.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flower and the serpent (1.5)</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2E9D9"/>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Link this to Duncan's words in 1.4 about not being able to read a mind in a face. Appearance and reality is a theme you can track across the whole play.</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Look like th' innocent flower, / But be the serpent under 't.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1.5.76–77</a:t>
            </a:r>
            <a:endParaRPr lang="en-US" sz="2600" dirty="0"/>
          </a:p>
        </p:txBody>
      </p:sp>
      <p:sp>
        <p:nvSpPr>
          <p:cNvPr id="14" name="bullet-card"/>
          <p:cNvSpPr/>
          <p:nvPr/>
        </p:nvSpPr>
        <p:spPr>
          <a:xfrm>
            <a:off x="548640" y="1389888"/>
            <a:ext cx="5074920" cy="1661414"/>
          </a:xfrm>
          <a:prstGeom prst="roundRect">
            <a:avLst>
              <a:gd name="adj" fmla="val 4403"/>
            </a:avLst>
          </a:prstGeom>
          <a:solidFill>
            <a:srgbClr val="EDE9F0"/>
          </a:solidFill>
          <a:ln/>
        </p:spPr>
      </p:sp>
      <p:sp>
        <p:nvSpPr>
          <p:cNvPr id="15" name="bullet-hex"/>
          <p:cNvSpPr/>
          <p:nvPr/>
        </p:nvSpPr>
        <p:spPr>
          <a:xfrm>
            <a:off x="676656" y="2054302"/>
            <a:ext cx="384048" cy="332586"/>
          </a:xfrm>
          <a:prstGeom prst="hexagon">
            <a:avLst/>
          </a:prstGeom>
          <a:solidFill>
            <a:srgbClr val="5B3A7A"/>
          </a:solidFill>
          <a:ln/>
        </p:spPr>
      </p:sp>
      <p:sp>
        <p:nvSpPr>
          <p:cNvPr id="16" name="bullet"/>
          <p:cNvSpPr txBox="1"/>
          <p:nvPr/>
        </p:nvSpPr>
        <p:spPr>
          <a:xfrm>
            <a:off x="1143000" y="138988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Macbeth comes home, he barely speaks. Lady Macbeth does almost all the talking and gives the instructions.</a:t>
            </a:r>
            <a:endParaRPr lang="en-US" sz="2200" dirty="0"/>
          </a:p>
        </p:txBody>
      </p:sp>
      <p:sp>
        <p:nvSpPr>
          <p:cNvPr id="17" name="bullet-card"/>
          <p:cNvSpPr/>
          <p:nvPr/>
        </p:nvSpPr>
        <p:spPr>
          <a:xfrm>
            <a:off x="548640" y="3197606"/>
            <a:ext cx="5074920" cy="1320546"/>
          </a:xfrm>
          <a:prstGeom prst="roundRect">
            <a:avLst>
              <a:gd name="adj" fmla="val 5540"/>
            </a:avLst>
          </a:prstGeom>
          <a:solidFill>
            <a:srgbClr val="EDE9F0"/>
          </a:solidFill>
          <a:ln/>
        </p:spPr>
      </p:sp>
      <p:sp>
        <p:nvSpPr>
          <p:cNvPr id="18" name="bullet-hex"/>
          <p:cNvSpPr/>
          <p:nvPr/>
        </p:nvSpPr>
        <p:spPr>
          <a:xfrm>
            <a:off x="676656" y="3691586"/>
            <a:ext cx="384048" cy="332586"/>
          </a:xfrm>
          <a:prstGeom prst="hexagon">
            <a:avLst/>
          </a:prstGeom>
          <a:solidFill>
            <a:srgbClr val="B8862B"/>
          </a:solidFill>
          <a:ln/>
        </p:spPr>
      </p:sp>
      <p:sp>
        <p:nvSpPr>
          <p:cNvPr id="19" name="bullet"/>
          <p:cNvSpPr txBox="1"/>
          <p:nvPr/>
        </p:nvSpPr>
        <p:spPr>
          <a:xfrm>
            <a:off x="1143000" y="3197606"/>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Her advice uses a striking image. A flower looks innocent; a serpent hides beneath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Winning the argument (1.7)</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‘Durst’ means ‘dared’. She says he was only a man when he dared to think of murder.</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When you durst do it, then you were a man</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1.7.56</a:t>
            </a:r>
            <a:endParaRPr lang="en-US" sz="2600" dirty="0"/>
          </a:p>
        </p:txBody>
      </p:sp>
      <p:sp>
        <p:nvSpPr>
          <p:cNvPr id="14" name="bullet-card"/>
          <p:cNvSpPr/>
          <p:nvPr/>
        </p:nvSpPr>
        <p:spPr>
          <a:xfrm>
            <a:off x="548640" y="1389888"/>
            <a:ext cx="5074920" cy="1630426"/>
          </a:xfrm>
          <a:prstGeom prst="roundRect">
            <a:avLst>
              <a:gd name="adj" fmla="val 4487"/>
            </a:avLst>
          </a:prstGeom>
          <a:solidFill>
            <a:srgbClr val="EDE9F0"/>
          </a:solidFill>
          <a:ln/>
        </p:spPr>
      </p:sp>
      <p:sp>
        <p:nvSpPr>
          <p:cNvPr id="15" name="bullet-hex"/>
          <p:cNvSpPr/>
          <p:nvPr/>
        </p:nvSpPr>
        <p:spPr>
          <a:xfrm>
            <a:off x="676656" y="2038808"/>
            <a:ext cx="384048" cy="332586"/>
          </a:xfrm>
          <a:prstGeom prst="hexagon">
            <a:avLst/>
          </a:prstGeom>
          <a:solidFill>
            <a:srgbClr val="5B3A7A"/>
          </a:solidFill>
          <a:ln/>
        </p:spPr>
      </p:sp>
      <p:sp>
        <p:nvSpPr>
          <p:cNvPr id="16"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 his soliloquy, Macbeth lists the reasons not to kill Duncan: he is his relative, his king and his guest, and Duncan has been a good ruler.</a:t>
            </a:r>
            <a:endParaRPr lang="en-US" sz="2000" dirty="0"/>
          </a:p>
        </p:txBody>
      </p:sp>
      <p:sp>
        <p:nvSpPr>
          <p:cNvPr id="17" name="bullet-card"/>
          <p:cNvSpPr/>
          <p:nvPr/>
        </p:nvSpPr>
        <p:spPr>
          <a:xfrm>
            <a:off x="548640" y="3166618"/>
            <a:ext cx="5074920" cy="1630426"/>
          </a:xfrm>
          <a:prstGeom prst="roundRect">
            <a:avLst>
              <a:gd name="adj" fmla="val 4487"/>
            </a:avLst>
          </a:prstGeom>
          <a:solidFill>
            <a:srgbClr val="EDE9F0"/>
          </a:solidFill>
          <a:ln/>
        </p:spPr>
      </p:sp>
      <p:sp>
        <p:nvSpPr>
          <p:cNvPr id="18" name="bullet-hex"/>
          <p:cNvSpPr/>
          <p:nvPr/>
        </p:nvSpPr>
        <p:spPr>
          <a:xfrm>
            <a:off x="676656" y="3815538"/>
            <a:ext cx="384048" cy="332586"/>
          </a:xfrm>
          <a:prstGeom prst="hexagon">
            <a:avLst/>
          </a:prstGeom>
          <a:solidFill>
            <a:srgbClr val="B8862B"/>
          </a:solidFill>
          <a:ln/>
        </p:spPr>
      </p:sp>
      <p:sp>
        <p:nvSpPr>
          <p:cNvPr id="19" name="bullet"/>
          <p:cNvSpPr txBox="1"/>
          <p:nvPr/>
        </p:nvSpPr>
        <p:spPr>
          <a:xfrm>
            <a:off x="1143000" y="3166618"/>
            <a:ext cx="4389120" cy="163042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Lady Macbeth then uses several methods of persuasion. She asks mocking questions, calls him a coward, and links courage to being a man.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A powerful woman in Act 1 Scene 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present Lady Macbeth as a powerful woman in Act 1 Scene 5? Write one developed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A powerful woman in Act 1 Scene 5</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A powerful woman in Act 1 Scene 5</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AE5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say what kind of power she has (over herself, over Macbeth, over the plan).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pick an imperative from her soliloquy and quote it.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Why: explain who she is commanding and what that says about her.</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Context: say how a patriarchal Jacobean audience would react to a woman speaking like this.</a:t>
            </a:r>
            <a:endParaRPr lang="en-US" sz="1800" dirty="0"/>
          </a:p>
        </p:txBody>
      </p:sp>
      <p:sp>
        <p:nvSpPr>
          <p:cNvPr id="17" name="col-Core"/>
          <p:cNvSpPr/>
          <p:nvPr/>
        </p:nvSpPr>
        <p:spPr>
          <a:xfrm>
            <a:off x="5490762" y="2395728"/>
            <a:ext cx="2938987" cy="3749040"/>
          </a:xfrm>
          <a:prstGeom prst="roundRect">
            <a:avLst>
              <a:gd name="adj" fmla="val 1867"/>
            </a:avLst>
          </a:prstGeom>
          <a:solidFill>
            <a:srgbClr val="D6CED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at who she gives orders to. A wife giving orders to spirits, and then to her husband, breaks two Jacobean rules at once.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5B3A7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Is her power real or a performance? Use the fact that she needs to ask spirits for cruelty to argue that, underneath, she may not be as hard as she sounds, and link this to Act 5 Scene 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The task: Methods of persuasion in Act 1 Scene 7</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persuasion method to the line Lady Macbeth uses in Act 1 Scene 7.</a:t>
            </a:r>
            <a:endParaRPr lang="en-US" sz="2400" dirty="0"/>
          </a:p>
        </p:txBody>
      </p:sp>
      <p:sp>
        <p:nvSpPr>
          <p:cNvPr id="11" name="match-card"/>
          <p:cNvSpPr/>
          <p:nvPr/>
        </p:nvSpPr>
        <p:spPr>
          <a:xfrm>
            <a:off x="777240" y="2672080"/>
            <a:ext cx="3081437" cy="826262"/>
          </a:xfrm>
          <a:prstGeom prst="roundRect">
            <a:avLst>
              <a:gd name="adj" fmla="val 8853"/>
            </a:avLst>
          </a:prstGeom>
          <a:solidFill>
            <a:srgbClr val="EDE9F0"/>
          </a:solidFill>
          <a:ln/>
        </p:spPr>
      </p:sp>
      <p:sp>
        <p:nvSpPr>
          <p:cNvPr id="12" name="match-hex"/>
          <p:cNvSpPr/>
          <p:nvPr/>
        </p:nvSpPr>
        <p:spPr>
          <a:xfrm>
            <a:off x="850392" y="2918918"/>
            <a:ext cx="384048" cy="332586"/>
          </a:xfrm>
          <a:prstGeom prst="hexagon">
            <a:avLst/>
          </a:prstGeom>
          <a:solidFill>
            <a:srgbClr val="5B3A7A"/>
          </a:solidFill>
          <a:ln/>
        </p:spPr>
      </p:sp>
      <p:sp>
        <p:nvSpPr>
          <p:cNvPr id="13" name="match-hex-label"/>
          <p:cNvSpPr txBox="1"/>
          <p:nvPr/>
        </p:nvSpPr>
        <p:spPr>
          <a:xfrm>
            <a:off x="850392" y="29189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mocking question</a:t>
            </a:r>
            <a:endParaRPr lang="en-US" sz="2000" dirty="0"/>
          </a:p>
        </p:txBody>
      </p:sp>
      <p:sp>
        <p:nvSpPr>
          <p:cNvPr id="15" name="match-card"/>
          <p:cNvSpPr/>
          <p:nvPr/>
        </p:nvSpPr>
        <p:spPr>
          <a:xfrm>
            <a:off x="4224437" y="2672080"/>
            <a:ext cx="7190019" cy="826262"/>
          </a:xfrm>
          <a:prstGeom prst="roundRect">
            <a:avLst>
              <a:gd name="adj" fmla="val 8853"/>
            </a:avLst>
          </a:prstGeom>
          <a:solidFill>
            <a:srgbClr val="F4EDDF"/>
          </a:solidFill>
          <a:ln/>
        </p:spPr>
      </p:sp>
      <p:sp>
        <p:nvSpPr>
          <p:cNvPr id="16" name="match-hex"/>
          <p:cNvSpPr/>
          <p:nvPr/>
        </p:nvSpPr>
        <p:spPr>
          <a:xfrm>
            <a:off x="4297589" y="2918918"/>
            <a:ext cx="384048" cy="332586"/>
          </a:xfrm>
          <a:prstGeom prst="hexagon">
            <a:avLst/>
          </a:prstGeom>
          <a:solidFill>
            <a:srgbClr val="B8862B"/>
          </a:solidFill>
          <a:ln/>
        </p:spPr>
      </p:sp>
      <p:sp>
        <p:nvSpPr>
          <p:cNvPr id="17" name="match-hex-label"/>
          <p:cNvSpPr txBox="1"/>
          <p:nvPr/>
        </p:nvSpPr>
        <p:spPr>
          <a:xfrm>
            <a:off x="4297589" y="29189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“But screw your courage to the sticking place / And we'll not fail.”</a:t>
            </a:r>
            <a:endParaRPr lang="en-US" sz="2000" dirty="0"/>
          </a:p>
        </p:txBody>
      </p:sp>
      <p:sp>
        <p:nvSpPr>
          <p:cNvPr id="19" name="match-card"/>
          <p:cNvSpPr/>
          <p:nvPr/>
        </p:nvSpPr>
        <p:spPr>
          <a:xfrm>
            <a:off x="777240" y="3589782"/>
            <a:ext cx="3081437" cy="536702"/>
          </a:xfrm>
          <a:prstGeom prst="roundRect">
            <a:avLst>
              <a:gd name="adj" fmla="val 13630"/>
            </a:avLst>
          </a:prstGeom>
          <a:solidFill>
            <a:srgbClr val="EDE9F0"/>
          </a:solidFill>
          <a:ln/>
        </p:spPr>
      </p:sp>
      <p:sp>
        <p:nvSpPr>
          <p:cNvPr id="20" name="match-hex"/>
          <p:cNvSpPr/>
          <p:nvPr/>
        </p:nvSpPr>
        <p:spPr>
          <a:xfrm>
            <a:off x="850392" y="3691840"/>
            <a:ext cx="384048" cy="332586"/>
          </a:xfrm>
          <a:prstGeom prst="hexagon">
            <a:avLst/>
          </a:prstGeom>
          <a:solidFill>
            <a:srgbClr val="5B3A7A"/>
          </a:solidFill>
          <a:ln/>
        </p:spPr>
      </p:sp>
      <p:sp>
        <p:nvSpPr>
          <p:cNvPr id="21" name="match-hex-label"/>
          <p:cNvSpPr txBox="1"/>
          <p:nvPr/>
        </p:nvSpPr>
        <p:spPr>
          <a:xfrm>
            <a:off x="850392" y="36918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89782"/>
            <a:ext cx="2487077" cy="53670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Calling him a coward</a:t>
            </a:r>
            <a:endParaRPr lang="en-US" sz="2000" dirty="0"/>
          </a:p>
        </p:txBody>
      </p:sp>
      <p:sp>
        <p:nvSpPr>
          <p:cNvPr id="23" name="match-card"/>
          <p:cNvSpPr/>
          <p:nvPr/>
        </p:nvSpPr>
        <p:spPr>
          <a:xfrm>
            <a:off x="4224437" y="3589782"/>
            <a:ext cx="7190019" cy="536702"/>
          </a:xfrm>
          <a:prstGeom prst="roundRect">
            <a:avLst>
              <a:gd name="adj" fmla="val 13630"/>
            </a:avLst>
          </a:prstGeom>
          <a:solidFill>
            <a:srgbClr val="F4EDDF"/>
          </a:solidFill>
          <a:ln/>
        </p:spPr>
      </p:sp>
      <p:sp>
        <p:nvSpPr>
          <p:cNvPr id="24" name="match-hex"/>
          <p:cNvSpPr/>
          <p:nvPr/>
        </p:nvSpPr>
        <p:spPr>
          <a:xfrm>
            <a:off x="4297589" y="3691840"/>
            <a:ext cx="384048" cy="332586"/>
          </a:xfrm>
          <a:prstGeom prst="hexagon">
            <a:avLst/>
          </a:prstGeom>
          <a:solidFill>
            <a:srgbClr val="B8862B"/>
          </a:solidFill>
          <a:ln/>
        </p:spPr>
      </p:sp>
      <p:sp>
        <p:nvSpPr>
          <p:cNvPr id="25" name="match-hex-label"/>
          <p:cNvSpPr txBox="1"/>
          <p:nvPr/>
        </p:nvSpPr>
        <p:spPr>
          <a:xfrm>
            <a:off x="4297589" y="36918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89782"/>
            <a:ext cx="6595659" cy="53670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“Was the hope drunk / Wherein you dressed yourself?”</a:t>
            </a:r>
            <a:endParaRPr lang="en-US" sz="2000" dirty="0"/>
          </a:p>
        </p:txBody>
      </p:sp>
      <p:sp>
        <p:nvSpPr>
          <p:cNvPr id="27" name="match-card"/>
          <p:cNvSpPr/>
          <p:nvPr/>
        </p:nvSpPr>
        <p:spPr>
          <a:xfrm>
            <a:off x="777240" y="4217924"/>
            <a:ext cx="3081437" cy="826262"/>
          </a:xfrm>
          <a:prstGeom prst="roundRect">
            <a:avLst>
              <a:gd name="adj" fmla="val 8853"/>
            </a:avLst>
          </a:prstGeom>
          <a:solidFill>
            <a:srgbClr val="EDE9F0"/>
          </a:solidFill>
          <a:ln/>
        </p:spPr>
      </p:sp>
      <p:sp>
        <p:nvSpPr>
          <p:cNvPr id="28" name="match-hex"/>
          <p:cNvSpPr/>
          <p:nvPr/>
        </p:nvSpPr>
        <p:spPr>
          <a:xfrm>
            <a:off x="850392" y="4464762"/>
            <a:ext cx="384048" cy="332586"/>
          </a:xfrm>
          <a:prstGeom prst="hexagon">
            <a:avLst/>
          </a:prstGeom>
          <a:solidFill>
            <a:srgbClr val="5B3A7A"/>
          </a:solidFill>
          <a:ln/>
        </p:spPr>
      </p:sp>
      <p:sp>
        <p:nvSpPr>
          <p:cNvPr id="29" name="match-hex-label"/>
          <p:cNvSpPr txBox="1"/>
          <p:nvPr/>
        </p:nvSpPr>
        <p:spPr>
          <a:xfrm>
            <a:off x="850392" y="44647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17924"/>
            <a:ext cx="2487077"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Attacking his manhood</a:t>
            </a:r>
            <a:endParaRPr lang="en-US" sz="2000" dirty="0"/>
          </a:p>
        </p:txBody>
      </p:sp>
      <p:sp>
        <p:nvSpPr>
          <p:cNvPr id="31" name="match-card"/>
          <p:cNvSpPr/>
          <p:nvPr/>
        </p:nvSpPr>
        <p:spPr>
          <a:xfrm>
            <a:off x="4224437" y="4217924"/>
            <a:ext cx="7190019" cy="826262"/>
          </a:xfrm>
          <a:prstGeom prst="roundRect">
            <a:avLst>
              <a:gd name="adj" fmla="val 8853"/>
            </a:avLst>
          </a:prstGeom>
          <a:solidFill>
            <a:srgbClr val="F4EDDF"/>
          </a:solidFill>
          <a:ln/>
        </p:spPr>
      </p:sp>
      <p:sp>
        <p:nvSpPr>
          <p:cNvPr id="32" name="match-hex"/>
          <p:cNvSpPr/>
          <p:nvPr/>
        </p:nvSpPr>
        <p:spPr>
          <a:xfrm>
            <a:off x="4297589" y="4464762"/>
            <a:ext cx="384048" cy="332586"/>
          </a:xfrm>
          <a:prstGeom prst="hexagon">
            <a:avLst/>
          </a:prstGeom>
          <a:solidFill>
            <a:srgbClr val="B8862B"/>
          </a:solidFill>
          <a:ln/>
        </p:spPr>
      </p:sp>
      <p:sp>
        <p:nvSpPr>
          <p:cNvPr id="33" name="match-hex-label"/>
          <p:cNvSpPr txBox="1"/>
          <p:nvPr/>
        </p:nvSpPr>
        <p:spPr>
          <a:xfrm>
            <a:off x="4297589" y="44647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17924"/>
            <a:ext cx="6595659"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“And live a coward in thine own esteem”</a:t>
            </a:r>
            <a:endParaRPr lang="en-US" sz="2000" dirty="0"/>
          </a:p>
        </p:txBody>
      </p:sp>
      <p:sp>
        <p:nvSpPr>
          <p:cNvPr id="35" name="match-card"/>
          <p:cNvSpPr/>
          <p:nvPr/>
        </p:nvSpPr>
        <p:spPr>
          <a:xfrm>
            <a:off x="777240" y="5135626"/>
            <a:ext cx="3081437" cy="826262"/>
          </a:xfrm>
          <a:prstGeom prst="roundRect">
            <a:avLst>
              <a:gd name="adj" fmla="val 8853"/>
            </a:avLst>
          </a:prstGeom>
          <a:solidFill>
            <a:srgbClr val="EDE9F0"/>
          </a:solidFill>
          <a:ln/>
        </p:spPr>
      </p:sp>
      <p:sp>
        <p:nvSpPr>
          <p:cNvPr id="36" name="match-hex"/>
          <p:cNvSpPr/>
          <p:nvPr/>
        </p:nvSpPr>
        <p:spPr>
          <a:xfrm>
            <a:off x="850392" y="5382464"/>
            <a:ext cx="384048" cy="332586"/>
          </a:xfrm>
          <a:prstGeom prst="hexagon">
            <a:avLst/>
          </a:prstGeom>
          <a:solidFill>
            <a:srgbClr val="5B3A7A"/>
          </a:solidFill>
          <a:ln/>
        </p:spPr>
      </p:sp>
      <p:sp>
        <p:nvSpPr>
          <p:cNvPr id="37" name="match-hex-label"/>
          <p:cNvSpPr txBox="1"/>
          <p:nvPr/>
        </p:nvSpPr>
        <p:spPr>
          <a:xfrm>
            <a:off x="850392" y="538246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35626"/>
            <a:ext cx="2487077"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Encouragement and a plan</a:t>
            </a:r>
            <a:endParaRPr lang="en-US" sz="2000" dirty="0"/>
          </a:p>
        </p:txBody>
      </p:sp>
      <p:sp>
        <p:nvSpPr>
          <p:cNvPr id="39" name="match-card"/>
          <p:cNvSpPr/>
          <p:nvPr/>
        </p:nvSpPr>
        <p:spPr>
          <a:xfrm>
            <a:off x="4224437" y="5135626"/>
            <a:ext cx="7190019" cy="826262"/>
          </a:xfrm>
          <a:prstGeom prst="roundRect">
            <a:avLst>
              <a:gd name="adj" fmla="val 8853"/>
            </a:avLst>
          </a:prstGeom>
          <a:solidFill>
            <a:srgbClr val="F4EDDF"/>
          </a:solidFill>
          <a:ln/>
        </p:spPr>
      </p:sp>
      <p:sp>
        <p:nvSpPr>
          <p:cNvPr id="40" name="match-hex"/>
          <p:cNvSpPr/>
          <p:nvPr/>
        </p:nvSpPr>
        <p:spPr>
          <a:xfrm>
            <a:off x="4297589" y="5382464"/>
            <a:ext cx="384048" cy="332586"/>
          </a:xfrm>
          <a:prstGeom prst="hexagon">
            <a:avLst/>
          </a:prstGeom>
          <a:solidFill>
            <a:srgbClr val="B8862B"/>
          </a:solidFill>
          <a:ln/>
        </p:spPr>
      </p:sp>
      <p:sp>
        <p:nvSpPr>
          <p:cNvPr id="41" name="match-hex-label"/>
          <p:cNvSpPr txBox="1"/>
          <p:nvPr/>
        </p:nvSpPr>
        <p:spPr>
          <a:xfrm>
            <a:off x="4297589" y="538246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35626"/>
            <a:ext cx="6595659"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“When you durst do it, then you were a man”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Methods of persuasion in Act 1 Scene 7</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persuasion method to the line Lady Macbeth uses in Act 1 Scene 7.</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Spot the question mark: which line is a question?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Spot the insult: which line uses the word ‘coward’?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Spot the gender word: which line uses ‘man’?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line left is the one that encourages him.</a:t>
            </a:r>
            <a:endParaRPr lang="en-US" sz="1800" dirty="0"/>
          </a:p>
        </p:txBody>
      </p:sp>
      <p:sp>
        <p:nvSpPr>
          <p:cNvPr id="17" name="col-Core"/>
          <p:cNvSpPr/>
          <p:nvPr/>
        </p:nvSpPr>
        <p:spPr>
          <a:xfrm>
            <a:off x="4338218" y="2593848"/>
            <a:ext cx="3515258" cy="3550920"/>
          </a:xfrm>
          <a:prstGeom prst="roundRect">
            <a:avLst>
              <a:gd name="adj" fmla="val 1561"/>
            </a:avLst>
          </a:prstGeom>
          <a:solidFill>
            <a:srgbClr val="D6CED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method gets harder: she starts with a question and ends by promising success.</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Why does the attack on his manhood work best on Macbeth in particular? Link your answer to the warrior culture of Act 1 Scene 2.</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When Lady Macbeth reads the letter, what does she fear about her husband?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does not want to be 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will tell Banquo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is too cruel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is too kind to kill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A powerful woman in Act 1 Scene 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793750"/>
          </a:xfrm>
          <a:prstGeom prst="roundRect">
            <a:avLst>
              <a:gd name="adj" fmla="val 11520"/>
            </a:avLst>
          </a:prstGeom>
          <a:solidFill>
            <a:srgbClr val="EDE9F0"/>
          </a:solidFill>
          <a:ln/>
        </p:spPr>
      </p:sp>
      <p:sp>
        <p:nvSpPr>
          <p:cNvPr id="9" name="tickbox"/>
          <p:cNvSpPr/>
          <p:nvPr/>
        </p:nvSpPr>
        <p:spPr>
          <a:xfrm>
            <a:off x="713232" y="2234819"/>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AO1: a clear point about her power, answered directly</a:t>
            </a:r>
            <a:endParaRPr lang="en-US" sz="2000" dirty="0"/>
          </a:p>
        </p:txBody>
      </p:sp>
      <p:sp>
        <p:nvSpPr>
          <p:cNvPr id="11" name="crit-box"/>
          <p:cNvSpPr/>
          <p:nvPr/>
        </p:nvSpPr>
        <p:spPr>
          <a:xfrm>
            <a:off x="548640" y="2869438"/>
            <a:ext cx="5486400" cy="793750"/>
          </a:xfrm>
          <a:prstGeom prst="roundRect">
            <a:avLst>
              <a:gd name="adj" fmla="val 11520"/>
            </a:avLst>
          </a:prstGeom>
          <a:solidFill>
            <a:srgbClr val="EDE9F0"/>
          </a:solidFill>
          <a:ln/>
        </p:spPr>
      </p:sp>
      <p:sp>
        <p:nvSpPr>
          <p:cNvPr id="12" name="tickbox"/>
          <p:cNvSpPr/>
          <p:nvPr/>
        </p:nvSpPr>
        <p:spPr>
          <a:xfrm>
            <a:off x="713232" y="3120009"/>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86943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AO1: at least two short quotations from 1.5, embedded</a:t>
            </a:r>
            <a:endParaRPr lang="en-US" sz="2000" dirty="0"/>
          </a:p>
        </p:txBody>
      </p:sp>
      <p:sp>
        <p:nvSpPr>
          <p:cNvPr id="14" name="crit-box"/>
          <p:cNvSpPr/>
          <p:nvPr/>
        </p:nvSpPr>
        <p:spPr>
          <a:xfrm>
            <a:off x="548640" y="3754628"/>
            <a:ext cx="5486400" cy="1103630"/>
          </a:xfrm>
          <a:prstGeom prst="roundRect">
            <a:avLst>
              <a:gd name="adj" fmla="val 8285"/>
            </a:avLst>
          </a:prstGeom>
          <a:solidFill>
            <a:srgbClr val="EDE9F0"/>
          </a:solidFill>
          <a:ln/>
        </p:spPr>
      </p:sp>
      <p:sp>
        <p:nvSpPr>
          <p:cNvPr id="15" name="tickbox"/>
          <p:cNvSpPr/>
          <p:nvPr/>
        </p:nvSpPr>
        <p:spPr>
          <a:xfrm>
            <a:off x="713232" y="4160139"/>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754628"/>
            <a:ext cx="4709160" cy="110363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AO2: you analyse a method: imperatives, imagery of darkness, or the soliloquy form</a:t>
            </a:r>
            <a:endParaRPr lang="en-US" sz="2000" dirty="0"/>
          </a:p>
        </p:txBody>
      </p:sp>
      <p:sp>
        <p:nvSpPr>
          <p:cNvPr id="17" name="crit-box"/>
          <p:cNvSpPr/>
          <p:nvPr/>
        </p:nvSpPr>
        <p:spPr>
          <a:xfrm>
            <a:off x="548640" y="4949698"/>
            <a:ext cx="5486400" cy="1103630"/>
          </a:xfrm>
          <a:prstGeom prst="roundRect">
            <a:avLst>
              <a:gd name="adj" fmla="val 8285"/>
            </a:avLst>
          </a:prstGeom>
          <a:solidFill>
            <a:srgbClr val="EDE9F0"/>
          </a:solidFill>
          <a:ln/>
        </p:spPr>
      </p:sp>
      <p:sp>
        <p:nvSpPr>
          <p:cNvPr id="18" name="tickbox"/>
          <p:cNvSpPr/>
          <p:nvPr/>
        </p:nvSpPr>
        <p:spPr>
          <a:xfrm>
            <a:off x="713232" y="5355209"/>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949698"/>
            <a:ext cx="4709160" cy="110363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AO3: you link her to Jacobean expectations of women or to beliefs about witches</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4EDDF"/>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Shakespeare presents Lady Macbeth as a woman who refuses the role her society gave her. Alone on stage, she cries, “Come, you spirits / That tend on mortal thoughts, unsex me here”. The imperative ‘come’ shows her giving orders, not to a husband but to evil spirits, which a Jacobean audience would link with witchcraft. ‘Unsex me’ suggests she believes that gentleness belongs to women and must be torn out before she can kill. In a patriarchal society that expected wives to obey, this would have shocked an audience in 1606. Her power is real, but Shakespeare makes clear that it comes from darkness.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Answers: Methods of persuasion in Act 1 Scene 7</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mocking question  →  B  “Was the hope drunk / Wherein you dressed yourself?”</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Calling him a coward  →  C  “And live a coward in thine own esteem”</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Attacking his manhood  →  D  “When you durst do it, then you were a man”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Encouragement and a plan  →  A  “But screw your courage to the sticking place / And we'll not fail.”</a:t>
            </a:r>
            <a:endParaRPr lang="en-US" sz="22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Lady Macbeth moves from questions, to insults, to an attack on his manhood, to a confident plan. Macbeth, who has just decided to stop, is talked back into murder in one scene.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When Lady Macbeth reads the letter, what does she fear about her husband?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He is too kind to kill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She says his nature is “too full o' th' milk of human kindness”. She sees his kindness as a weakness.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Macbeth · Chapter 3: Lady Macbeth: power, gender and persuasion (Act 1, Scenes 5–7)</dc:title>
  <dc:subject>English Literature · Year 10</dc:subject>
  <dc:creator>Dr Vitor Merissi de Carvalho</dc:creator>
  <cp:lastModifiedBy>Dr Vitor Merissi de Carvalho</cp:lastModifiedBy>
  <cp:revision>1</cp:revision>
  <dcterms:created xsi:type="dcterms:W3CDTF">2026-10-19T06:07:31Z</dcterms:created>
  <dcterms:modified xsi:type="dcterms:W3CDTF">2026-10-19T06:07:31Z</dcterms:modified>
</cp:coreProperties>
</file>