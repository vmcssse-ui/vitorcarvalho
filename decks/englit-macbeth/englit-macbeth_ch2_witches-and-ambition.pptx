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31c4695-3173-8815-27db-d202ce9f993b}">
          <p14:sldIdLst>
            <p14:sldId id="256"/>
          </p14:sldIdLst>
        </p14:section>
        <p14:section name="Gate" id="{c3fb4a82-1a4f-bb3b-d1f4-610712ccf4ca}">
          <p14:sldIdLst>
            <p14:sldId id="257"/>
            <p14:sldId id="258"/>
          </p14:sldIdLst>
        </p14:section>
        <p14:section name="Pre-teach" id="{f5e37e0f-9f89-203f-e235-abe344456783}">
          <p14:sldIdLst>
            <p14:sldId id="259"/>
          </p14:sldIdLst>
        </p14:section>
        <p14:section name="Read-along" id="{53b784b1-38ec-54fe-8a80-3d0a8b01e29c}">
          <p14:sldIdLst>
            <p14:sldId id="260"/>
            <p14:sldId id="261"/>
          </p14:sldIdLst>
        </p14:section>
        <p14:section name="Teach" id="{1f795ae7-5d1a-aa4f-9f5d-becd049df157}">
          <p14:sldIdLst>
            <p14:sldId id="262"/>
            <p14:sldId id="263"/>
            <p14:sldId id="264"/>
          </p14:sldIdLst>
        </p14:section>
        <p14:section name="Routes" id="{b400ee97-def4-0916-52dd-60197d9ab1d9}">
          <p14:sldIdLst>
            <p14:sldId id="265"/>
            <p14:sldId id="266"/>
            <p14:sldId id="267"/>
            <p14:sldId id="268"/>
          </p14:sldIdLst>
        </p14:section>
        <p14:section name="Close" id="{fded466c-0910-89b2-4fda-8b4a195c8f2e}">
          <p14:sldIdLst>
            <p14:sldId id="269"/>
          </p14:sldIdLst>
        </p14:section>
        <p14:section name="Answers" id="{0ec6b3cc-00f1-9e91-418e-fd5cb46ddac4}">
          <p14:sldIdLst>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Witches, a brave soldier and ambition (Act 1). This chapter takes you from the witches' first chant to the moment Macbeth hides his black desires.
This deck covers the department's lessons: 3 (Act 1 Scene 1: the witches: How does Shakespeare present the witches in the opening act?); 4 (Act 1 Scene 2: Brave Macbeth: How is Macbeth introduced to the audience?); 5 (Act 1 Scene 3: Macbeth and the witches: How do Macbeth and Banquo react to the witches, and what does this reveal?); 6 (Act 1 Scene 3 part 2: Macbeth's asides: How does Shakespeare present Macbeth's state of mind in the second half of the scene?); 8 (Act 1 Scene 4: Kingship: How does Shakespeare introduce the idea of kingship?).
Read the big question aloud: "What is the plot, context and key themes of Shakespeare's play Macbeth, and how does Shakespeare turn a hero into a tyrant?"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do the witches predict for Banquo?  →  D   His children will be kings
2. Complete the witches' line: “Fair is foul, and foul is ___.”  →  fair
3. What does the word ‘hamartia’ mean?  →  D   A tragic hero's fatal flaw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His children will be kings. Banquo will not be king himself, but his descendants will. This is why Macbeth later fears him.
2. fair. The paradox swaps good and evil, warning that appearances in this play cannot be trusted.
3. D   A tragic hero's fatal flaw. Hamartia is the flaw that brings a tragic hero down. For Macbeth, it is usually read as ambition.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prophecy: a prediction about the future. Example: "The witches' prophecy says Macbeth will be king."
• paradox: a statement that seems to contradict itself. Example: "‘Fair is foul’ is a paradox, because fair and foul are opposites."
• ambition: a strong wish for power or success. Example: "Macbeth's ambition makes him think about murder."
• aside: a line only the audience hears. Example: "In an aside, Macbeth tells us his secret hopes."
• irony: when words mean more than the speaker knows. Example: "It is ironic that Duncan trusts Macbeth so much."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The play opens with three witches in a storm.
2. They speak in rhymes, like a spell.
3. They plan to meet a soldier called Macbeth.
4. Next, we hear that Macbeth has won a battle for King Duncan.
5. Everyone calls him brave and loyal.
6. On his way home, Macbeth meets the witches with his friend Banquo.
7. They say Macbeth will be Thane of Cawdor, and then king.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They say Banquo's children will be kings.
9. Soon, Macbeth is made Thane of Cawdor.
10. The first prophecy has come true.
11. Now Macbeth starts to think about killing the king.
12. He is scared by his own thoughts.
13. But he keeps those thoughts a secret.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witches open the play (1.1). Say it in your own words, then check understanding with a quick question: ask a pupil from the pre-teach group first, since they met these words and ideas before the lesson. Pupils try to recall before you re-explain.
Shakespeare opens with thunder and lightning. Storms were one of the powers the first audience believed witches had, so the weather tells them at once that something evil is at work. This is pathetic fallacy: the weather matches the mood.
Listen to the rhythm. The witches speak in short lines of four strong beats, with the stress falling first (trochaic tetrameter), and they rhyme in couplets. Nobody else in the play talks like this, so it sounds like a chant. Their final line is a paradox: good and evil are swapped. It warns us that in this play, nothing is what it seems.
Quotation: "Fair is foul, and foul is fair." (1.1.12). Read it aloud; ask what it shows.
Tip: Learn this line. You can link it to almost any scene where appearance and reality do not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Brave Macbeth meets the witches (1.2–1.3). Say it in your own words, then check understanding with a quick question: ask a pupil from the pre-teach group first, since they met these words and ideas before the lesson. Pupils try to recall before you re-explain.
Before we meet Macbeth, a wounded captain describes him in battle. Macbeth cuts an enemy open from the stomach to the jaw and puts his head on the castle walls. In an 11th-century warrior culture, this makes him a hero. But it also shows us, very early, how comfortable he is with blood.
Macbeth's first words echo the witches' paradox, “So foul and fair a day I have not seen”, so Shakespeare ties him to them before they even speak to him. When they hail him as future king, Banquo notices him start with fear. In his asides, Macbeth hopes chance will crown him with no action from him, yet he is already picturing murder. Banquo, by contrast, warns that evil can tell small truths to win us over.
Quotation: "Till he unseamed him from the nave to th' chops, / And fixed his head upon our battlements." (1.2.24–25). Read it aloud; ask what it shows.
Tip: Banquo is Macbeth's foil: he hears the same prophecy but does not act on it. Use him to show that Macbeth chose.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Duncan and kingship (1.4). Say it in your own words, then check understanding with a quick question: ask a pupil from the pre-teach group first, since they met these words and ideas before the lesson. Pupils try to recall before you re-explain.
Duncan has just executed the old Thane of Cawdor for treason. He says sadly that you cannot read a man's mind from his face, and that he had trusted that traitor completely. At that exact moment, Macbeth, the new Thane of Cawdor, walks in. The audience knows what Macbeth is thinking, but Duncan does not. This is dramatic irony.
Duncan is a generous king: he rewards loyalty and speaks of planting Macbeth so that he grows. But when Duncan names his son Malcolm as heir, Macbeth sees a step in his way. Alone, he asks the stars to hide their light. Light was linked with God and goodness, so he is asking for darkness to cover what he wants.
Quotation: "Stars, hide your fires; / Let not light see my black and deep desires." (1.4.57–58). Read it aloud; ask what it shows.
Tip: Notice the rhyming couplet ‘fires / desires’. Macbeth briefly sounds like the witches.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Macbeth's reaction to the witches.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does Shakespeare present Macbeth's reaction to the witches in Act 1 Scene 3? Write one developed paragraph.
Support — work through the steps with the group: (1) What: write one sentence that says how Macbeth reacts (for example: eager, frightened, spellbound). (2) How: choose a short quotation and name one method in it (an imperative, a paradox, an aside). (3) Why: explain what that method shows about Macbeth, then link it to what a Jacobean audience believed about witches. (4) Check: does your paragraph end by linking back to the question?
Parallel worked example for Support (model it, do not give the task answer): Practice question: how does Shakespeare present Banquo's reaction to the witches? What: Banquo is suspicious and careful.; How: he warns that “The instruments of darkness tell us truths”.; Why: ‘instruments of darkness’ names the witches as tools of the devil; he believes small truths can be bait for a bigger lie.. Answer: Shakespeare presents Banquo as wary of the witches. He warns that “The instruments of darkness tell us truths”, calling them tools of evil who use small truths to trap people. Unlike Macbeth, he sees the danger, which makes Macbeth's later choice look more clearly his own..
Core — reveal the hint only on request: Use the What / How / Why structure from your lessons, and make sure your context explains a quotation rather than sitting at the end.
Stretch — no help; when finished: Add a sentence that compares Macbeth with Banquo, then judge: is Macbeth already guilty in this scene, or only tempted? Use the idea of fate and free will.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Macbeth's reaction to the witches.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does Shakespeare present Macbeth's reaction to the witches in Act 1 Scene 3? Write one developed paragraph.
Support — work through the steps with the group: (1) What: write one sentence that says how Macbeth reacts (for example: eager, frightened, spellbound). (2) How: choose a short quotation and name one method in it (an imperative, a paradox, an aside). (3) Why: explain what that method shows about Macbeth, then link it to what a Jacobean audience believed about witches. (4) Check: does your paragraph end by linking back to the question?
Parallel worked example for Support (model it, do not give the task answer): Practice question: how does Shakespeare present Banquo's reaction to the witches? What: Banquo is suspicious and careful.; How: he warns that “The instruments of darkness tell us truths”.; Why: ‘instruments of darkness’ names the witches as tools of the devil; he believes small truths can be bait for a bigger lie.. Answer: Shakespeare presents Banquo as wary of the witches. He warns that “The instruments of darkness tell us truths”, calling them tools of evil who use small truths to trap people. Unlike Macbeth, he sees the danger, which makes Macbeth's later choice look more clearly his own..
Core — reveal the hint only on request: Use the What / How / Why structure from your lessons, and make sure your context explains a quotation rather than sitting at the end.
Stretch — no help; when finished: Add a sentence that compares Macbeth with Banquo, then judge: is Macbeth already guilty in this scene, or only tempted? Use the idea of fate and free will.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Act 1 quotations and what they show.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Act 1 quotation to what it shows about Macbeth.
Support — work through the steps with the group: (1) Read each quotation aloud and find who is speaking and to whom. (2) Underline one key word in each (brave, stay, chance, hide). (3) Match the key word to the description that fits it best.
Parallel worked example for Support (model it, do not give the task answer): Practice: what does Duncan's line “I have begun to plant thee” show about him? Find the key word: ‘plant’.; A plant is cared for so that it grows.; So Duncan is promising to reward and promote Macbeth.. Answer: Duncan is a generous king who means to reward Macbeth and help him grow..
Core — reveal the hint only on request: The four quotations are in the order they come in Act 1. Each one shows Macbeth a step further from loyalty.
Stretch — no help; when finished: Arrange the four quotations as a ‘journey’ and write one sentence explaining how Act 1 already maps out Macbeth's fall as a tragic hero.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Act 1 quotations and what they show.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Act 1 quotation to what it shows about Macbeth.
Support — work through the steps with the group: (1) Read each quotation aloud and find who is speaking and to whom. (2) Underline one key word in each (brave, stay, chance, hide). (3) Match the key word to the description that fits it best.
Parallel worked example for Support (model it, do not give the task answer): Practice: what does Duncan's line “I have begun to plant thee” show about him? Find the key word: ‘plant’.; A plant is cared for so that it grows.; So Duncan is promising to reward and promote Macbeth.. Answer: Duncan is a generous king who means to reward Macbeth and help him grow..
Core — reveal the hint only on request: The four quotations are in the order they come in Act 1. Each one shows Macbeth a step further from loyalty.
Stretch — no help; when finished: Arrange the four quotations as a ‘journey’ and write one sentence explaining how Act 1 already maps out Macbeth's fall as a tragic hero.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Duncan says of the traitor Cawdor: “He was a gentleman on whom I built / An absolute trust.” Then Macbeth enters. Why is this dramatic irony?
Answer: B   Because the audience knows Macbeth is already thinking of murder, but Duncan does not. Duncan has just learned that a trusted thane was a traitor, and the next man through the door, given the same title, is plotting too. The audience can see it; Duncan cannot.
Source of this question: module 3 task ("Dramatic irony in Act 1 Scene 4")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Macbeth's reaction to the witches. Reveal the answer; pupils mark their own work in a different colour, then read the "why" together. Same destination for every lane, so one answer serves the whole class.
Answer: AO1: a clear point that answers the question about Macbeth's reaction; AO1: at least two short quotations, embedded in your own sentences; AO2: you zoom in on a word or method (imperative, paradox, aside) and explain its effect; AO3: you link the reaction to Jacobean beliefs about witches or to the idea of a tragic hero
Why: A top paragraph moves from a clear point, to a short quotation, to the effect of one word or method, to context that explains why it matters. The model shows each step in that order.
Model answer: Shakespeare presents Macbeth as gripped by the witches from the moment he arrives. His first line, “So foul and fair a day I have not seen”, echoes their chant from the opening scene, so the audience connects him to them before they have even spoken. When they try to leave, he orders, “Stay, you imperfect speakers. Tell me more.” The imperative ‘stay’ shows a man used to commanding, yet the word ‘imperfect’ admits he knows their message is incomplete, and he still wants more. To an audience whose king had written that witches served the devil, this eagerness would look like the first step into damnation, and the first sign of his hamartia: ambition.
Success criteria: AO1: a clear point that answers the question about Macbeth's reaction; AO1: at least two short quotations, embedded in your own sentences; AO2: you zoom in on a word or method (imperative, paradox, aside) and explain its effect; AO3: you link the reaction to Jacobean beliefs about witches or to the idea of a tragic hero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Macbeth's reaction to the witches. Reveal the answer; pupils mark their own work in a different colour, then read the "why" together. Same destination for every lane, so one answer serves the whole class.
Answer: AO1: a clear point that answers the question about Macbeth's reaction; AO1: at least two short quotations, embedded in your own sentences; AO2: you zoom in on a word or method (imperative, paradox, aside) and explain its effect; AO3: you link the reaction to Jacobean beliefs about witches or to the idea of a tragic hero
Why: A top paragraph moves from a clear point, to a short quotation, to the effect of one word or method, to context that explains why it matters. The model shows each step in that order.
Model answer: Shakespeare presents Macbeth as gripped by the witches from the moment he arrives. His first line, “So foul and fair a day I have not seen”, echoes their chant from the opening scene, so the audience connects him to them before they have even spoken. When they try to leave, he orders, “Stay, you imperfect speakers. Tell me more.” The imperative ‘stay’ shows a man used to commanding, yet the word ‘imperfect’ admits he knows their message is incomplete, and he still wants more. To an audience whose king had written that witches served the devil, this eagerness would look like the first step into damnation, and the first sign of his hamartia: ambition.
Success criteria: AO1: a clear point that answers the question about Macbeth's reaction; AO1: at least two short quotations, embedded in your own sentences; AO2: you zoom in on a word or method (imperative, paradox, aside) and explain its effect; AO3: you link the reaction to Jacobean beliefs about witches or to the idea of a tragic hero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Act 1 quotations and what they show. Reveal the answer; pupils mark their own work in a different colour, then read the "why" together. Same destination for every lane, so one answer serves the whole class.
Answer: “For brave Macbeth”  →  C  He begins the play praised as a loyal, heroic soldier.; “Stay, you imperfect speakers. Tell me more.”  →  A  He is hungry for the witches' prophecies.; “If chance will have me king, why, chance may crown me / Without my stir.”  →  D  He hopes fate will hand him the crown without his acting.; “Stars, hide your fires; / Let not light see my black and deep desires.”  →  B  He now wants darkness to hide his evil wish.
Why: Act 1 moves Macbeth from praised soldier, to eager listener, to hopeful waiter on fate, to secret plotter. Learning these four lines gives you his whole first act.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Because the audience knows Macbeth is already thinking of murder, but Duncan does not
Why: Duncan has just learned that a trusted thane was a traitor, and the next man through the door, given the same title, is plotting too. The audience can see it; Duncan cannot.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6CEDE"/>
          </a:solidFill>
          <a:ln w="12700">
            <a:solidFill>
              <a:srgbClr val="D6CE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10 · Macbeth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6CEDE"/>
          </a:solidFill>
          <a:ln w="12700">
            <a:solidFill>
              <a:srgbClr val="D6CE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10 · Macbeth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5B3A7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9D2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5B3A7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5B3A7A"/>
                </a:solidFill>
                <a:latin typeface="Calibri" pitchFamily="34" charset="0"/>
                <a:ea typeface="Calibri" pitchFamily="34" charset="-122"/>
                <a:cs typeface="Calibri" pitchFamily="34" charset="-120"/>
              </a:rPr>
              <a:t>English Literature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Macbeth · AQA 8702</a:t>
            </a:r>
            <a:endParaRPr lang="en-US" sz="1800" dirty="0"/>
          </a:p>
        </p:txBody>
      </p:sp>
      <p:sp>
        <p:nvSpPr>
          <p:cNvPr id="10" name="deck-title"/>
          <p:cNvSpPr txBox="1"/>
          <p:nvPr/>
        </p:nvSpPr>
        <p:spPr>
          <a:xfrm>
            <a:off x="548640" y="1763268"/>
            <a:ext cx="5287975" cy="1315720"/>
          </a:xfrm>
          <a:prstGeom prst="rect">
            <a:avLst/>
          </a:prstGeom>
          <a:noFill/>
          <a:ln/>
        </p:spPr>
        <p:txBody>
          <a:bodyPr wrap="square" lIns="63500" tIns="63500" rIns="63500" bIns="63500" rtlCol="0" anchor="t"/>
          <a:lstStyle/>
          <a:p>
            <a:pPr algn="l" indent="0" marL="0">
              <a:buNone/>
            </a:pPr>
            <a:r>
              <a:rPr lang="en-US" sz="3600" b="1" dirty="0">
                <a:solidFill>
                  <a:srgbClr val="1E2229"/>
                </a:solidFill>
                <a:latin typeface="Cambria" pitchFamily="34" charset="0"/>
                <a:ea typeface="Cambria" pitchFamily="34" charset="-122"/>
                <a:cs typeface="Cambria" pitchFamily="34" charset="-120"/>
              </a:rPr>
              <a:t>Witches, a brave soldier and ambition (Act 1)</a:t>
            </a:r>
            <a:endParaRPr lang="en-US" sz="3600" dirty="0"/>
          </a:p>
        </p:txBody>
      </p:sp>
      <p:sp>
        <p:nvSpPr>
          <p:cNvPr id="11" name="lessons-card"/>
          <p:cNvSpPr/>
          <p:nvPr/>
        </p:nvSpPr>
        <p:spPr>
          <a:xfrm>
            <a:off x="548640" y="3307588"/>
            <a:ext cx="5287975" cy="2372360"/>
          </a:xfrm>
          <a:prstGeom prst="roundRect">
            <a:avLst>
              <a:gd name="adj" fmla="val 3084"/>
            </a:avLst>
          </a:prstGeom>
          <a:solidFill>
            <a:srgbClr val="EAE5EE"/>
          </a:solidFill>
          <a:ln/>
        </p:spPr>
      </p:sp>
      <p:sp>
        <p:nvSpPr>
          <p:cNvPr id="12" name="lessons"/>
          <p:cNvSpPr txBox="1"/>
          <p:nvPr/>
        </p:nvSpPr>
        <p:spPr>
          <a:xfrm>
            <a:off x="685800" y="3399028"/>
            <a:ext cx="5013655" cy="218948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5B3A7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Act 1 Scene 1: the witches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Act 1 Scene 2: Brave Macbeth</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Act 1 Scene 3: Macbeth and the witches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Act 1 Scene 3 part 2: Macbeth's asides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8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Act 1 Scene 4: Kingship</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iteratur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AE5EE"/>
          </a:solidFill>
          <a:ln w="12700">
            <a:solidFill>
              <a:srgbClr val="B8AAC6"/>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5B3A7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is the plot, context and key themes of Shakespeare's play Macbeth, and how does Shakespeare turn a hero into a tyrant?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FEBF2"/>
          </a:solidFill>
          <a:ln w="12700">
            <a:solidFill>
              <a:srgbClr val="C1B4CC"/>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What do the witches predict for Banquo?</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He will be Thane of Cawdor</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He will rule England</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He will kill Duncan</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His children will be kings</a:t>
            </a:r>
            <a:endParaRPr lang="en-US" sz="2400" dirty="0"/>
          </a:p>
        </p:txBody>
      </p:sp>
      <p:sp>
        <p:nvSpPr>
          <p:cNvPr id="12" name="card"/>
          <p:cNvSpPr/>
          <p:nvPr/>
        </p:nvSpPr>
        <p:spPr>
          <a:xfrm>
            <a:off x="4338218" y="1389888"/>
            <a:ext cx="3515258" cy="4754880"/>
          </a:xfrm>
          <a:prstGeom prst="roundRect">
            <a:avLst>
              <a:gd name="adj" fmla="val 1561"/>
            </a:avLst>
          </a:prstGeom>
          <a:solidFill>
            <a:srgbClr val="EFEBF2"/>
          </a:solidFill>
          <a:ln w="12700">
            <a:solidFill>
              <a:srgbClr val="C1B4CC"/>
            </a:solidFill>
            <a:prstDash val="solid"/>
          </a:ln>
        </p:spPr>
      </p:sp>
      <p:sp>
        <p:nvSpPr>
          <p:cNvPr id="13" name="card-hex"/>
          <p:cNvSpPr/>
          <p:nvPr/>
        </p:nvSpPr>
        <p:spPr>
          <a:xfrm>
            <a:off x="4521098" y="1572768"/>
            <a:ext cx="640080" cy="554309"/>
          </a:xfrm>
          <a:prstGeom prst="hexagon">
            <a:avLst/>
          </a:prstGeom>
          <a:solidFill>
            <a:srgbClr val="5B3A7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Complete the witches' line: “Fair is foul, and foul is ___.”</a:t>
            </a:r>
            <a:endParaRPr lang="en-US" sz="2400" dirty="0"/>
          </a:p>
          <a:p>
            <a:pPr algn="l" indent="0" marL="0">
              <a:buNone/>
            </a:pPr>
            <a:r>
              <a:rPr lang="en-US" sz="2400" b="1" dirty="0">
                <a:solidFill>
                  <a:srgbClr val="5B3A7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fair  ·  foul  ·  false</a:t>
            </a:r>
            <a:endParaRPr lang="en-US" sz="2400" dirty="0"/>
          </a:p>
        </p:txBody>
      </p:sp>
      <p:sp>
        <p:nvSpPr>
          <p:cNvPr id="17" name="card"/>
          <p:cNvSpPr/>
          <p:nvPr/>
        </p:nvSpPr>
        <p:spPr>
          <a:xfrm>
            <a:off x="8127797" y="1389888"/>
            <a:ext cx="3515258" cy="4754880"/>
          </a:xfrm>
          <a:prstGeom prst="roundRect">
            <a:avLst>
              <a:gd name="adj" fmla="val 1561"/>
            </a:avLst>
          </a:prstGeom>
          <a:solidFill>
            <a:srgbClr val="EFEBF2"/>
          </a:solidFill>
          <a:ln w="12700">
            <a:solidFill>
              <a:srgbClr val="C1B4CC"/>
            </a:solidFill>
            <a:prstDash val="solid"/>
          </a:ln>
        </p:spPr>
      </p:sp>
      <p:sp>
        <p:nvSpPr>
          <p:cNvPr id="18" name="card-hex"/>
          <p:cNvSpPr/>
          <p:nvPr/>
        </p:nvSpPr>
        <p:spPr>
          <a:xfrm>
            <a:off x="8310677" y="1572768"/>
            <a:ext cx="640080" cy="554309"/>
          </a:xfrm>
          <a:prstGeom prst="hexagon">
            <a:avLst/>
          </a:prstGeom>
          <a:solidFill>
            <a:srgbClr val="5B3A7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What does the word ‘hamartia’ mean?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battle speech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type of witch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rhyming couplet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tragic hero's fatal flaw</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FEBF2"/>
          </a:solidFill>
          <a:ln w="12700">
            <a:solidFill>
              <a:srgbClr val="C1B4CC"/>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955040"/>
          </a:xfrm>
          <a:prstGeom prst="roundRect">
            <a:avLst>
              <a:gd name="adj" fmla="val 11489"/>
            </a:avLst>
          </a:prstGeom>
          <a:solidFill>
            <a:srgbClr val="EBDDC4"/>
          </a:solidFill>
          <a:ln w="19050">
            <a:solidFill>
              <a:srgbClr val="B8862B"/>
            </a:solidFill>
            <a:prstDash val="solid"/>
          </a:ln>
        </p:spPr>
      </p:sp>
      <p:sp>
        <p:nvSpPr>
          <p:cNvPr id="12" name="answer"/>
          <p:cNvSpPr txBox="1"/>
          <p:nvPr/>
        </p:nvSpPr>
        <p:spPr>
          <a:xfrm>
            <a:off x="822960"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His children will be kings</a:t>
            </a:r>
            <a:endParaRPr lang="en-US" sz="2200" dirty="0"/>
          </a:p>
        </p:txBody>
      </p:sp>
      <p:sp>
        <p:nvSpPr>
          <p:cNvPr id="13" name="card-body"/>
          <p:cNvSpPr txBox="1"/>
          <p:nvPr/>
        </p:nvSpPr>
        <p:spPr>
          <a:xfrm>
            <a:off x="731520"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do the witches predict for Banquo?</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Banquo will not be king himself, but his descendants will. This is why Macbeth later fears him.</a:t>
            </a:r>
            <a:endParaRPr lang="en-US" sz="2000" dirty="0"/>
          </a:p>
        </p:txBody>
      </p:sp>
      <p:sp>
        <p:nvSpPr>
          <p:cNvPr id="14" name="card"/>
          <p:cNvSpPr/>
          <p:nvPr/>
        </p:nvSpPr>
        <p:spPr>
          <a:xfrm>
            <a:off x="4338218" y="1389888"/>
            <a:ext cx="3515258" cy="4754880"/>
          </a:xfrm>
          <a:prstGeom prst="roundRect">
            <a:avLst>
              <a:gd name="adj" fmla="val 1561"/>
            </a:avLst>
          </a:prstGeom>
          <a:solidFill>
            <a:srgbClr val="EFEBF2"/>
          </a:solidFill>
          <a:ln w="12700">
            <a:solidFill>
              <a:srgbClr val="C1B4CC"/>
            </a:solidFill>
            <a:prstDash val="solid"/>
          </a:ln>
        </p:spPr>
      </p:sp>
      <p:sp>
        <p:nvSpPr>
          <p:cNvPr id="15" name="card-hex"/>
          <p:cNvSpPr/>
          <p:nvPr/>
        </p:nvSpPr>
        <p:spPr>
          <a:xfrm>
            <a:off x="4521098" y="1572768"/>
            <a:ext cx="640080" cy="554309"/>
          </a:xfrm>
          <a:prstGeom prst="hexagon">
            <a:avLst/>
          </a:prstGeom>
          <a:solidFill>
            <a:srgbClr val="5B3A7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fair</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Complete the witches' line: “Fair is foul, and foul is ___.”</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paradox swaps good and evil, warning that appearances in this play cannot be trusted.</a:t>
            </a:r>
            <a:endParaRPr lang="en-US" sz="2200" dirty="0"/>
          </a:p>
        </p:txBody>
      </p:sp>
      <p:sp>
        <p:nvSpPr>
          <p:cNvPr id="21" name="card"/>
          <p:cNvSpPr/>
          <p:nvPr/>
        </p:nvSpPr>
        <p:spPr>
          <a:xfrm>
            <a:off x="8127797" y="1389888"/>
            <a:ext cx="3515258" cy="4754880"/>
          </a:xfrm>
          <a:prstGeom prst="roundRect">
            <a:avLst>
              <a:gd name="adj" fmla="val 1561"/>
            </a:avLst>
          </a:prstGeom>
          <a:solidFill>
            <a:srgbClr val="EFEBF2"/>
          </a:solidFill>
          <a:ln w="12700">
            <a:solidFill>
              <a:srgbClr val="C1B4CC"/>
            </a:solidFill>
            <a:prstDash val="solid"/>
          </a:ln>
        </p:spPr>
      </p:sp>
      <p:sp>
        <p:nvSpPr>
          <p:cNvPr id="22" name="card-hex"/>
          <p:cNvSpPr/>
          <p:nvPr/>
        </p:nvSpPr>
        <p:spPr>
          <a:xfrm>
            <a:off x="8310677" y="1572768"/>
            <a:ext cx="640080" cy="554309"/>
          </a:xfrm>
          <a:prstGeom prst="hexagon">
            <a:avLst/>
          </a:prstGeom>
          <a:solidFill>
            <a:srgbClr val="5B3A7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955040"/>
          </a:xfrm>
          <a:prstGeom prst="roundRect">
            <a:avLst>
              <a:gd name="adj" fmla="val 11489"/>
            </a:avLst>
          </a:prstGeom>
          <a:solidFill>
            <a:srgbClr val="EBDDC4"/>
          </a:solidFill>
          <a:ln w="19050">
            <a:solidFill>
              <a:srgbClr val="B8862B"/>
            </a:solidFill>
            <a:prstDash val="solid"/>
          </a:ln>
        </p:spPr>
      </p:sp>
      <p:sp>
        <p:nvSpPr>
          <p:cNvPr id="26" name="answer"/>
          <p:cNvSpPr txBox="1"/>
          <p:nvPr/>
        </p:nvSpPr>
        <p:spPr>
          <a:xfrm>
            <a:off x="8402117"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A tragic hero's fatal flaw</a:t>
            </a:r>
            <a:endParaRPr lang="en-US" sz="2200" dirty="0"/>
          </a:p>
        </p:txBody>
      </p:sp>
      <p:sp>
        <p:nvSpPr>
          <p:cNvPr id="27" name="card-body"/>
          <p:cNvSpPr txBox="1"/>
          <p:nvPr/>
        </p:nvSpPr>
        <p:spPr>
          <a:xfrm>
            <a:off x="8310677"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What does the word ‘hamartia’ mean?</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Hamartia is the flaw that brings a tragic hero down. For Macbeth, it is usually read as ambition.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5B3A7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EDE9F0"/>
          </a:solidFill>
          <a:ln/>
        </p:spPr>
      </p:sp>
      <p:sp>
        <p:nvSpPr>
          <p:cNvPr id="12" name="kw-hex"/>
          <p:cNvSpPr/>
          <p:nvPr/>
        </p:nvSpPr>
        <p:spPr>
          <a:xfrm>
            <a:off x="658368" y="2135261"/>
            <a:ext cx="411480" cy="356342"/>
          </a:xfrm>
          <a:prstGeom prst="hexagon">
            <a:avLst/>
          </a:prstGeom>
          <a:solidFill>
            <a:srgbClr val="5B3A7A"/>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prophecy</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prediction about the future</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witches' prophecy says Macbeth will be king.</a:t>
            </a:r>
            <a:endParaRPr lang="en-US" sz="1800" dirty="0"/>
          </a:p>
        </p:txBody>
      </p:sp>
      <p:sp>
        <p:nvSpPr>
          <p:cNvPr id="16" name="kw-row"/>
          <p:cNvSpPr/>
          <p:nvPr/>
        </p:nvSpPr>
        <p:spPr>
          <a:xfrm>
            <a:off x="548640" y="2779776"/>
            <a:ext cx="11094415" cy="786384"/>
          </a:xfrm>
          <a:prstGeom prst="roundRect">
            <a:avLst>
              <a:gd name="adj" fmla="val 6977"/>
            </a:avLst>
          </a:prstGeom>
          <a:solidFill>
            <a:srgbClr val="F4EDDF"/>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paradox</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statement that seems to contradict itself</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‘Fair is foul’ is a paradox, because fair and foul are opposites.</a:t>
            </a:r>
            <a:endParaRPr lang="en-US" sz="1800" dirty="0"/>
          </a:p>
        </p:txBody>
      </p:sp>
      <p:sp>
        <p:nvSpPr>
          <p:cNvPr id="21" name="kw-row"/>
          <p:cNvSpPr/>
          <p:nvPr/>
        </p:nvSpPr>
        <p:spPr>
          <a:xfrm>
            <a:off x="548640" y="3639312"/>
            <a:ext cx="11094415" cy="786384"/>
          </a:xfrm>
          <a:prstGeom prst="roundRect">
            <a:avLst>
              <a:gd name="adj" fmla="val 6977"/>
            </a:avLst>
          </a:prstGeom>
          <a:solidFill>
            <a:srgbClr val="EDE9F0"/>
          </a:solidFill>
          <a:ln/>
        </p:spPr>
      </p:sp>
      <p:sp>
        <p:nvSpPr>
          <p:cNvPr id="22" name="kw-hex"/>
          <p:cNvSpPr/>
          <p:nvPr/>
        </p:nvSpPr>
        <p:spPr>
          <a:xfrm>
            <a:off x="658368" y="3854333"/>
            <a:ext cx="411480" cy="356342"/>
          </a:xfrm>
          <a:prstGeom prst="hexagon">
            <a:avLst/>
          </a:prstGeom>
          <a:solidFill>
            <a:srgbClr val="5B3A7A"/>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ambition</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strong wish for power or success</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Macbeth's ambition makes him think about murder.</a:t>
            </a:r>
            <a:endParaRPr lang="en-US" sz="1800" dirty="0"/>
          </a:p>
        </p:txBody>
      </p:sp>
      <p:sp>
        <p:nvSpPr>
          <p:cNvPr id="26" name="kw-row"/>
          <p:cNvSpPr/>
          <p:nvPr/>
        </p:nvSpPr>
        <p:spPr>
          <a:xfrm>
            <a:off x="548640" y="4498848"/>
            <a:ext cx="11094415" cy="786384"/>
          </a:xfrm>
          <a:prstGeom prst="roundRect">
            <a:avLst>
              <a:gd name="adj" fmla="val 6977"/>
            </a:avLst>
          </a:prstGeom>
          <a:solidFill>
            <a:srgbClr val="F4EDDF"/>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aside</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line only the audience hears</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In an aside, Macbeth tells us his secret hopes.</a:t>
            </a:r>
            <a:endParaRPr lang="en-US" sz="1800" dirty="0"/>
          </a:p>
        </p:txBody>
      </p:sp>
      <p:sp>
        <p:nvSpPr>
          <p:cNvPr id="31" name="kw-row"/>
          <p:cNvSpPr/>
          <p:nvPr/>
        </p:nvSpPr>
        <p:spPr>
          <a:xfrm>
            <a:off x="548640" y="5358384"/>
            <a:ext cx="11094415" cy="786384"/>
          </a:xfrm>
          <a:prstGeom prst="roundRect">
            <a:avLst>
              <a:gd name="adj" fmla="val 6977"/>
            </a:avLst>
          </a:prstGeom>
          <a:solidFill>
            <a:srgbClr val="EDE9F0"/>
          </a:solidFill>
          <a:ln/>
        </p:spPr>
      </p:sp>
      <p:sp>
        <p:nvSpPr>
          <p:cNvPr id="32" name="kw-hex"/>
          <p:cNvSpPr/>
          <p:nvPr/>
        </p:nvSpPr>
        <p:spPr>
          <a:xfrm>
            <a:off x="658368" y="5573405"/>
            <a:ext cx="411480" cy="356342"/>
          </a:xfrm>
          <a:prstGeom prst="hexagon">
            <a:avLst/>
          </a:prstGeom>
          <a:solidFill>
            <a:srgbClr val="5B3A7A"/>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irony</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when words mean more than the speaker knows</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It is ironic that Duncan trusts Macbeth so much.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FEBF2"/>
          </a:solidFill>
          <a:ln w="12700">
            <a:solidFill>
              <a:srgbClr val="C9BED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play opens with three witches in a storm.</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speak in rhymes, like a spell.</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plan to meet a soldier called Macbeth.</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Next, we hear that Macbeth has won a battle for King Duncan.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Everyone calls him brave and loyal.</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On his way home, Macbeth meets the witches with his friend Banquo.</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say Macbeth will be Thane of Cawdor, and then king.</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FEBF2"/>
          </a:solidFill>
          <a:ln w="12700">
            <a:solidFill>
              <a:srgbClr val="C9BED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say Banquo's children will be kings.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Soon, Macbeth is made Thane of Cawdor.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first </a:t>
            </a:r>
            <a:pPr algn="l" indent="0" marL="0">
              <a:spcAft>
                <a:spcPts val="600"/>
              </a:spcAft>
              <a:buNone/>
            </a:pPr>
            <a:r>
              <a:rPr lang="en-US" sz="2600" b="1" dirty="0">
                <a:solidFill>
                  <a:srgbClr val="5B3A7A"/>
                </a:solidFill>
                <a:latin typeface="Calibri" pitchFamily="34" charset="0"/>
                <a:ea typeface="Calibri" pitchFamily="34" charset="-122"/>
                <a:cs typeface="Calibri" pitchFamily="34" charset="-120"/>
              </a:rPr>
              <a:t>prophecy</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has come true.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Now Macbeth starts to think about killing the king.</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He is scared by his own thoughts.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But he keeps those thoughts a secret.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witches open the play (1.1)</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2E9D9"/>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this line. You can link it to almost any scene where appearance and reality do not match.</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AE5EE"/>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Fair is foul, and foul is fair.</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1.1.12</a:t>
            </a:r>
            <a:endParaRPr lang="en-US" sz="2600" dirty="0"/>
          </a:p>
        </p:txBody>
      </p:sp>
      <p:sp>
        <p:nvSpPr>
          <p:cNvPr id="14" name="bullet-card"/>
          <p:cNvSpPr/>
          <p:nvPr/>
        </p:nvSpPr>
        <p:spPr>
          <a:xfrm>
            <a:off x="548640" y="1389888"/>
            <a:ext cx="5074920" cy="1769872"/>
          </a:xfrm>
          <a:prstGeom prst="roundRect">
            <a:avLst>
              <a:gd name="adj" fmla="val 4133"/>
            </a:avLst>
          </a:prstGeom>
          <a:solidFill>
            <a:srgbClr val="EDE9F0"/>
          </a:solidFill>
          <a:ln/>
        </p:spPr>
      </p:sp>
      <p:sp>
        <p:nvSpPr>
          <p:cNvPr id="15" name="bullet-hex"/>
          <p:cNvSpPr/>
          <p:nvPr/>
        </p:nvSpPr>
        <p:spPr>
          <a:xfrm>
            <a:off x="676656" y="2108531"/>
            <a:ext cx="384048" cy="332586"/>
          </a:xfrm>
          <a:prstGeom prst="hexagon">
            <a:avLst/>
          </a:prstGeom>
          <a:solidFill>
            <a:srgbClr val="5B3A7A"/>
          </a:solidFill>
          <a:ln/>
        </p:spPr>
      </p:sp>
      <p:sp>
        <p:nvSpPr>
          <p:cNvPr id="16" name="bullet"/>
          <p:cNvSpPr txBox="1"/>
          <p:nvPr/>
        </p:nvSpPr>
        <p:spPr>
          <a:xfrm>
            <a:off x="1143000" y="1389888"/>
            <a:ext cx="4389120" cy="1769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Shakespeare opens with thunder and lightning. Storms were one of the powers the first audience believed witches had, so the weather tells them at once that something evil is at work.</a:t>
            </a:r>
            <a:endParaRPr lang="en-US" sz="1800" dirty="0"/>
          </a:p>
        </p:txBody>
      </p:sp>
      <p:sp>
        <p:nvSpPr>
          <p:cNvPr id="17" name="bullet-card"/>
          <p:cNvSpPr/>
          <p:nvPr/>
        </p:nvSpPr>
        <p:spPr>
          <a:xfrm>
            <a:off x="548640" y="3306064"/>
            <a:ext cx="5074920" cy="1490980"/>
          </a:xfrm>
          <a:prstGeom prst="roundRect">
            <a:avLst>
              <a:gd name="adj" fmla="val 4906"/>
            </a:avLst>
          </a:prstGeom>
          <a:solidFill>
            <a:srgbClr val="EDE9F0"/>
          </a:solidFill>
          <a:ln/>
        </p:spPr>
      </p:sp>
      <p:sp>
        <p:nvSpPr>
          <p:cNvPr id="18" name="bullet-hex"/>
          <p:cNvSpPr/>
          <p:nvPr/>
        </p:nvSpPr>
        <p:spPr>
          <a:xfrm>
            <a:off x="676656" y="3885261"/>
            <a:ext cx="384048" cy="332586"/>
          </a:xfrm>
          <a:prstGeom prst="hexagon">
            <a:avLst/>
          </a:prstGeom>
          <a:solidFill>
            <a:srgbClr val="B8862B"/>
          </a:solidFill>
          <a:ln/>
        </p:spPr>
      </p:sp>
      <p:sp>
        <p:nvSpPr>
          <p:cNvPr id="19" name="bullet"/>
          <p:cNvSpPr txBox="1"/>
          <p:nvPr/>
        </p:nvSpPr>
        <p:spPr>
          <a:xfrm>
            <a:off x="1143000" y="3306064"/>
            <a:ext cx="4389120" cy="14909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Listen to the rhythm. The witches speak in short lines of four strong beats, with the stress falling first (trochaic tetrameter), and they rhyme in couplets.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Brave Macbeth meets the witches (1.2–1.3)</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2E9D9"/>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Banquo is Macbeth's foil: he hears the same prophecy but does not act on it. Use him to show that Macbeth chose.</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AE5EE"/>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Till he unseamed him from the nave to th' chops, / And fixed his head upon our battlements.</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1.2.24–25</a:t>
            </a:r>
            <a:endParaRPr lang="en-US" sz="2600" dirty="0"/>
          </a:p>
        </p:txBody>
      </p:sp>
      <p:sp>
        <p:nvSpPr>
          <p:cNvPr id="14" name="bullet-card"/>
          <p:cNvSpPr/>
          <p:nvPr/>
        </p:nvSpPr>
        <p:spPr>
          <a:xfrm>
            <a:off x="548640" y="1389888"/>
            <a:ext cx="5074920" cy="1289558"/>
          </a:xfrm>
          <a:prstGeom prst="roundRect">
            <a:avLst>
              <a:gd name="adj" fmla="val 5673"/>
            </a:avLst>
          </a:prstGeom>
          <a:solidFill>
            <a:srgbClr val="EDE9F0"/>
          </a:solidFill>
          <a:ln/>
        </p:spPr>
      </p:sp>
      <p:sp>
        <p:nvSpPr>
          <p:cNvPr id="15" name="bullet-hex"/>
          <p:cNvSpPr/>
          <p:nvPr/>
        </p:nvSpPr>
        <p:spPr>
          <a:xfrm>
            <a:off x="676656" y="1868374"/>
            <a:ext cx="384048" cy="332586"/>
          </a:xfrm>
          <a:prstGeom prst="hexagon">
            <a:avLst/>
          </a:prstGeom>
          <a:solidFill>
            <a:srgbClr val="5B3A7A"/>
          </a:solidFill>
          <a:ln/>
        </p:spPr>
      </p:sp>
      <p:sp>
        <p:nvSpPr>
          <p:cNvPr id="16" name="bullet"/>
          <p:cNvSpPr txBox="1"/>
          <p:nvPr/>
        </p:nvSpPr>
        <p:spPr>
          <a:xfrm>
            <a:off x="1143000" y="1389888"/>
            <a:ext cx="4389120" cy="128955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Before we meet Macbeth, a wounded captain describes him in battle.</a:t>
            </a:r>
            <a:endParaRPr lang="en-US" sz="2200" dirty="0"/>
          </a:p>
        </p:txBody>
      </p:sp>
      <p:sp>
        <p:nvSpPr>
          <p:cNvPr id="17" name="bullet-card"/>
          <p:cNvSpPr/>
          <p:nvPr/>
        </p:nvSpPr>
        <p:spPr>
          <a:xfrm>
            <a:off x="548640" y="2825750"/>
            <a:ext cx="5074920" cy="1971294"/>
          </a:xfrm>
          <a:prstGeom prst="roundRect">
            <a:avLst>
              <a:gd name="adj" fmla="val 3711"/>
            </a:avLst>
          </a:prstGeom>
          <a:solidFill>
            <a:srgbClr val="EDE9F0"/>
          </a:solidFill>
          <a:ln/>
        </p:spPr>
      </p:sp>
      <p:sp>
        <p:nvSpPr>
          <p:cNvPr id="18" name="bullet-hex"/>
          <p:cNvSpPr/>
          <p:nvPr/>
        </p:nvSpPr>
        <p:spPr>
          <a:xfrm>
            <a:off x="676656" y="3645104"/>
            <a:ext cx="384048" cy="332586"/>
          </a:xfrm>
          <a:prstGeom prst="hexagon">
            <a:avLst/>
          </a:prstGeom>
          <a:solidFill>
            <a:srgbClr val="B8862B"/>
          </a:solidFill>
          <a:ln/>
        </p:spPr>
      </p:sp>
      <p:sp>
        <p:nvSpPr>
          <p:cNvPr id="19" name="bullet"/>
          <p:cNvSpPr txBox="1"/>
          <p:nvPr/>
        </p:nvSpPr>
        <p:spPr>
          <a:xfrm>
            <a:off x="1143000" y="2825750"/>
            <a:ext cx="4389120" cy="197129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Macbeth's first words echo the witches' paradox, “So foul and fair a day I have not seen”, so Shakespeare ties him to them before they even speak to him.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Duncan and kingship (1.4)</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2E9D9"/>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Notice the rhyming couplet ‘fires / desires’. Macbeth briefly sounds like the witches.</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AE5EE"/>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Stars, hide your fires; / Let not light see my black and deep desires.</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1.4.57–58</a:t>
            </a:r>
            <a:endParaRPr lang="en-US" sz="2600" dirty="0"/>
          </a:p>
        </p:txBody>
      </p:sp>
      <p:sp>
        <p:nvSpPr>
          <p:cNvPr id="14" name="bullet-card"/>
          <p:cNvSpPr/>
          <p:nvPr/>
        </p:nvSpPr>
        <p:spPr>
          <a:xfrm>
            <a:off x="548640" y="1389888"/>
            <a:ext cx="5074920" cy="1357376"/>
          </a:xfrm>
          <a:prstGeom prst="roundRect">
            <a:avLst>
              <a:gd name="adj" fmla="val 5389"/>
            </a:avLst>
          </a:prstGeom>
          <a:solidFill>
            <a:srgbClr val="EDE9F0"/>
          </a:solidFill>
          <a:ln/>
        </p:spPr>
      </p:sp>
      <p:sp>
        <p:nvSpPr>
          <p:cNvPr id="15" name="bullet-hex"/>
          <p:cNvSpPr/>
          <p:nvPr/>
        </p:nvSpPr>
        <p:spPr>
          <a:xfrm>
            <a:off x="676656" y="1902283"/>
            <a:ext cx="384048" cy="332586"/>
          </a:xfrm>
          <a:prstGeom prst="hexagon">
            <a:avLst/>
          </a:prstGeom>
          <a:solidFill>
            <a:srgbClr val="5B3A7A"/>
          </a:solidFill>
          <a:ln/>
        </p:spPr>
      </p:sp>
      <p:sp>
        <p:nvSpPr>
          <p:cNvPr id="16" name="bullet"/>
          <p:cNvSpPr txBox="1"/>
          <p:nvPr/>
        </p:nvSpPr>
        <p:spPr>
          <a:xfrm>
            <a:off x="1143000" y="1389888"/>
            <a:ext cx="4389120" cy="135737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Duncan has just executed the old Thane of Cawdor for treason.</a:t>
            </a:r>
            <a:endParaRPr lang="en-US" sz="2200" dirty="0"/>
          </a:p>
        </p:txBody>
      </p:sp>
      <p:sp>
        <p:nvSpPr>
          <p:cNvPr id="17" name="bullet-card"/>
          <p:cNvSpPr/>
          <p:nvPr/>
        </p:nvSpPr>
        <p:spPr>
          <a:xfrm>
            <a:off x="548640" y="2893568"/>
            <a:ext cx="5074920" cy="1698244"/>
          </a:xfrm>
          <a:prstGeom prst="roundRect">
            <a:avLst>
              <a:gd name="adj" fmla="val 4308"/>
            </a:avLst>
          </a:prstGeom>
          <a:solidFill>
            <a:srgbClr val="EDE9F0"/>
          </a:solidFill>
          <a:ln/>
        </p:spPr>
      </p:sp>
      <p:sp>
        <p:nvSpPr>
          <p:cNvPr id="18" name="bullet-hex"/>
          <p:cNvSpPr/>
          <p:nvPr/>
        </p:nvSpPr>
        <p:spPr>
          <a:xfrm>
            <a:off x="676656" y="3576397"/>
            <a:ext cx="384048" cy="332586"/>
          </a:xfrm>
          <a:prstGeom prst="hexagon">
            <a:avLst/>
          </a:prstGeom>
          <a:solidFill>
            <a:srgbClr val="B8862B"/>
          </a:solidFill>
          <a:ln/>
        </p:spPr>
      </p:sp>
      <p:sp>
        <p:nvSpPr>
          <p:cNvPr id="19" name="bullet"/>
          <p:cNvSpPr txBox="1"/>
          <p:nvPr/>
        </p:nvSpPr>
        <p:spPr>
          <a:xfrm>
            <a:off x="1143000" y="2893568"/>
            <a:ext cx="4389120" cy="169824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Duncan is a generous king: he rewards loyalty and speaks of planting Macbeth so that he grows.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Macbeth's reaction to the witches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How does Shakespeare present Macbeth's reaction to the witches in Act 1 Scene 3? Write one developed paragraph.</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8 marks · 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5B3A7A"/>
                </a:solidFill>
                <a:latin typeface="Cambria" pitchFamily="34" charset="0"/>
                <a:ea typeface="Cambria" pitchFamily="34" charset="-122"/>
                <a:cs typeface="Cambria" pitchFamily="34" charset="-120"/>
              </a:rPr>
              <a:t>Same task, three ways in: Macbeth's reaction to the witches</a:t>
            </a:r>
            <a:endParaRPr lang="en-US" sz="24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Macbeth's reaction to the witches</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AE5EE"/>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What: write one sentence that says how Macbeth reacts (for example: eager, frightened, spellbound).</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How: choose a short quotation and name one method in it (an imperative, a paradox, an aside).</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Why: explain what that method shows about Macbeth, then link it to what a Jacobean audience believed about witches.</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does your paragraph end by linking back to the question?</a:t>
            </a:r>
            <a:endParaRPr lang="en-US" sz="1800" dirty="0"/>
          </a:p>
        </p:txBody>
      </p:sp>
      <p:sp>
        <p:nvSpPr>
          <p:cNvPr id="17" name="col-Core"/>
          <p:cNvSpPr/>
          <p:nvPr/>
        </p:nvSpPr>
        <p:spPr>
          <a:xfrm>
            <a:off x="6425403" y="2395728"/>
            <a:ext cx="2471666" cy="3749040"/>
          </a:xfrm>
          <a:prstGeom prst="roundRect">
            <a:avLst>
              <a:gd name="adj" fmla="val 2220"/>
            </a:avLst>
          </a:prstGeom>
          <a:solidFill>
            <a:srgbClr val="D6CEDE"/>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492E62"/>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Use the What / How / Why structure from your lessons, and make sure your context explains a quotation rather than sitting at the end.</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5B3A7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Add a sentence that compares Macbeth with Banquo, then judge: is Macbeth already guilty in this scene, or only tempted? Use the idea of fate and free will.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Act 1 quotations and what they show</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Act 1 quotation to what it shows about Macbeth.</a:t>
            </a:r>
            <a:endParaRPr lang="en-US" sz="2400" dirty="0"/>
          </a:p>
        </p:txBody>
      </p:sp>
      <p:sp>
        <p:nvSpPr>
          <p:cNvPr id="11" name="match-card"/>
          <p:cNvSpPr/>
          <p:nvPr/>
        </p:nvSpPr>
        <p:spPr>
          <a:xfrm>
            <a:off x="777240" y="2468331"/>
            <a:ext cx="5135728" cy="510169"/>
          </a:xfrm>
          <a:prstGeom prst="roundRect">
            <a:avLst>
              <a:gd name="adj" fmla="val 14339"/>
            </a:avLst>
          </a:prstGeom>
          <a:solidFill>
            <a:srgbClr val="EDE9F0"/>
          </a:solidFill>
          <a:ln/>
        </p:spPr>
      </p:sp>
      <p:sp>
        <p:nvSpPr>
          <p:cNvPr id="12" name="match-hex"/>
          <p:cNvSpPr/>
          <p:nvPr/>
        </p:nvSpPr>
        <p:spPr>
          <a:xfrm>
            <a:off x="850392" y="2557123"/>
            <a:ext cx="384048" cy="332586"/>
          </a:xfrm>
          <a:prstGeom prst="hexagon">
            <a:avLst/>
          </a:prstGeom>
          <a:solidFill>
            <a:srgbClr val="5B3A7A"/>
          </a:solidFill>
          <a:ln/>
        </p:spPr>
      </p:sp>
      <p:sp>
        <p:nvSpPr>
          <p:cNvPr id="13" name="match-hex-label"/>
          <p:cNvSpPr txBox="1"/>
          <p:nvPr/>
        </p:nvSpPr>
        <p:spPr>
          <a:xfrm>
            <a:off x="850392" y="255712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4541368" cy="51016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“For brave Macbeth”</a:t>
            </a:r>
            <a:endParaRPr lang="en-US" sz="2000" dirty="0"/>
          </a:p>
        </p:txBody>
      </p:sp>
      <p:sp>
        <p:nvSpPr>
          <p:cNvPr id="15" name="match-card"/>
          <p:cNvSpPr/>
          <p:nvPr/>
        </p:nvSpPr>
        <p:spPr>
          <a:xfrm>
            <a:off x="6278728" y="2468331"/>
            <a:ext cx="5135728" cy="510169"/>
          </a:xfrm>
          <a:prstGeom prst="roundRect">
            <a:avLst>
              <a:gd name="adj" fmla="val 14339"/>
            </a:avLst>
          </a:prstGeom>
          <a:solidFill>
            <a:srgbClr val="F4EDDF"/>
          </a:solidFill>
          <a:ln/>
        </p:spPr>
      </p:sp>
      <p:sp>
        <p:nvSpPr>
          <p:cNvPr id="16" name="match-hex"/>
          <p:cNvSpPr/>
          <p:nvPr/>
        </p:nvSpPr>
        <p:spPr>
          <a:xfrm>
            <a:off x="6351880" y="2557123"/>
            <a:ext cx="384048" cy="332586"/>
          </a:xfrm>
          <a:prstGeom prst="hexagon">
            <a:avLst/>
          </a:prstGeom>
          <a:solidFill>
            <a:srgbClr val="B8862B"/>
          </a:solidFill>
          <a:ln/>
        </p:spPr>
      </p:sp>
      <p:sp>
        <p:nvSpPr>
          <p:cNvPr id="17" name="match-hex-label"/>
          <p:cNvSpPr txBox="1"/>
          <p:nvPr/>
        </p:nvSpPr>
        <p:spPr>
          <a:xfrm>
            <a:off x="6351880" y="255712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468331"/>
            <a:ext cx="4541368" cy="51016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He is hungry for the witches' prophecies.</a:t>
            </a:r>
            <a:endParaRPr lang="en-US" sz="2000" dirty="0"/>
          </a:p>
        </p:txBody>
      </p:sp>
      <p:sp>
        <p:nvSpPr>
          <p:cNvPr id="19" name="match-card"/>
          <p:cNvSpPr/>
          <p:nvPr/>
        </p:nvSpPr>
        <p:spPr>
          <a:xfrm>
            <a:off x="777240" y="3069941"/>
            <a:ext cx="5135728" cy="799729"/>
          </a:xfrm>
          <a:prstGeom prst="roundRect">
            <a:avLst>
              <a:gd name="adj" fmla="val 9147"/>
            </a:avLst>
          </a:prstGeom>
          <a:solidFill>
            <a:srgbClr val="EDE9F0"/>
          </a:solidFill>
          <a:ln/>
        </p:spPr>
      </p:sp>
      <p:sp>
        <p:nvSpPr>
          <p:cNvPr id="20" name="match-hex"/>
          <p:cNvSpPr/>
          <p:nvPr/>
        </p:nvSpPr>
        <p:spPr>
          <a:xfrm>
            <a:off x="850392" y="3303512"/>
            <a:ext cx="384048" cy="332586"/>
          </a:xfrm>
          <a:prstGeom prst="hexagon">
            <a:avLst/>
          </a:prstGeom>
          <a:solidFill>
            <a:srgbClr val="5B3A7A"/>
          </a:solidFill>
          <a:ln/>
        </p:spPr>
      </p:sp>
      <p:sp>
        <p:nvSpPr>
          <p:cNvPr id="21" name="match-hex-label"/>
          <p:cNvSpPr txBox="1"/>
          <p:nvPr/>
        </p:nvSpPr>
        <p:spPr>
          <a:xfrm>
            <a:off x="850392" y="330351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069941"/>
            <a:ext cx="4541368" cy="79972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“Stay, you imperfect speakers. Tell me more.”</a:t>
            </a:r>
            <a:endParaRPr lang="en-US" sz="2000" dirty="0"/>
          </a:p>
        </p:txBody>
      </p:sp>
      <p:sp>
        <p:nvSpPr>
          <p:cNvPr id="23" name="match-card"/>
          <p:cNvSpPr/>
          <p:nvPr/>
        </p:nvSpPr>
        <p:spPr>
          <a:xfrm>
            <a:off x="6278728" y="3069941"/>
            <a:ext cx="5135728" cy="799729"/>
          </a:xfrm>
          <a:prstGeom prst="roundRect">
            <a:avLst>
              <a:gd name="adj" fmla="val 9147"/>
            </a:avLst>
          </a:prstGeom>
          <a:solidFill>
            <a:srgbClr val="F4EDDF"/>
          </a:solidFill>
          <a:ln/>
        </p:spPr>
      </p:sp>
      <p:sp>
        <p:nvSpPr>
          <p:cNvPr id="24" name="match-hex"/>
          <p:cNvSpPr/>
          <p:nvPr/>
        </p:nvSpPr>
        <p:spPr>
          <a:xfrm>
            <a:off x="6351880" y="3303512"/>
            <a:ext cx="384048" cy="332586"/>
          </a:xfrm>
          <a:prstGeom prst="hexagon">
            <a:avLst/>
          </a:prstGeom>
          <a:solidFill>
            <a:srgbClr val="B8862B"/>
          </a:solidFill>
          <a:ln/>
        </p:spPr>
      </p:sp>
      <p:sp>
        <p:nvSpPr>
          <p:cNvPr id="25" name="match-hex-label"/>
          <p:cNvSpPr txBox="1"/>
          <p:nvPr/>
        </p:nvSpPr>
        <p:spPr>
          <a:xfrm>
            <a:off x="6351880" y="330351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069941"/>
            <a:ext cx="4541368" cy="79972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He now wants darkness to hide his evil wish.</a:t>
            </a:r>
            <a:endParaRPr lang="en-US" sz="2000" dirty="0"/>
          </a:p>
        </p:txBody>
      </p:sp>
      <p:sp>
        <p:nvSpPr>
          <p:cNvPr id="27" name="match-card"/>
          <p:cNvSpPr/>
          <p:nvPr/>
        </p:nvSpPr>
        <p:spPr>
          <a:xfrm>
            <a:off x="777240" y="3961110"/>
            <a:ext cx="5135728" cy="1109609"/>
          </a:xfrm>
          <a:prstGeom prst="roundRect">
            <a:avLst>
              <a:gd name="adj" fmla="val 6593"/>
            </a:avLst>
          </a:prstGeom>
          <a:solidFill>
            <a:srgbClr val="EDE9F0"/>
          </a:solidFill>
          <a:ln/>
        </p:spPr>
      </p:sp>
      <p:sp>
        <p:nvSpPr>
          <p:cNvPr id="28" name="match-hex"/>
          <p:cNvSpPr/>
          <p:nvPr/>
        </p:nvSpPr>
        <p:spPr>
          <a:xfrm>
            <a:off x="850392" y="4349621"/>
            <a:ext cx="384048" cy="332586"/>
          </a:xfrm>
          <a:prstGeom prst="hexagon">
            <a:avLst/>
          </a:prstGeom>
          <a:solidFill>
            <a:srgbClr val="5B3A7A"/>
          </a:solidFill>
          <a:ln/>
        </p:spPr>
      </p:sp>
      <p:sp>
        <p:nvSpPr>
          <p:cNvPr id="29" name="match-hex-label"/>
          <p:cNvSpPr txBox="1"/>
          <p:nvPr/>
        </p:nvSpPr>
        <p:spPr>
          <a:xfrm>
            <a:off x="850392" y="434962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961110"/>
            <a:ext cx="4541368" cy="11096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“If chance will have me king, why, chance may crown me / Without my stir.”</a:t>
            </a:r>
            <a:endParaRPr lang="en-US" sz="2000" dirty="0"/>
          </a:p>
        </p:txBody>
      </p:sp>
      <p:sp>
        <p:nvSpPr>
          <p:cNvPr id="31" name="match-card"/>
          <p:cNvSpPr/>
          <p:nvPr/>
        </p:nvSpPr>
        <p:spPr>
          <a:xfrm>
            <a:off x="6278728" y="3961110"/>
            <a:ext cx="5135728" cy="1109609"/>
          </a:xfrm>
          <a:prstGeom prst="roundRect">
            <a:avLst>
              <a:gd name="adj" fmla="val 6593"/>
            </a:avLst>
          </a:prstGeom>
          <a:solidFill>
            <a:srgbClr val="F4EDDF"/>
          </a:solidFill>
          <a:ln/>
        </p:spPr>
      </p:sp>
      <p:sp>
        <p:nvSpPr>
          <p:cNvPr id="32" name="match-hex"/>
          <p:cNvSpPr/>
          <p:nvPr/>
        </p:nvSpPr>
        <p:spPr>
          <a:xfrm>
            <a:off x="6351880" y="4349621"/>
            <a:ext cx="384048" cy="332586"/>
          </a:xfrm>
          <a:prstGeom prst="hexagon">
            <a:avLst/>
          </a:prstGeom>
          <a:solidFill>
            <a:srgbClr val="B8862B"/>
          </a:solidFill>
          <a:ln/>
        </p:spPr>
      </p:sp>
      <p:sp>
        <p:nvSpPr>
          <p:cNvPr id="33" name="match-hex-label"/>
          <p:cNvSpPr txBox="1"/>
          <p:nvPr/>
        </p:nvSpPr>
        <p:spPr>
          <a:xfrm>
            <a:off x="6351880" y="434962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799936" y="3961110"/>
            <a:ext cx="4541368" cy="11096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He begins the play praised as a loyal, heroic soldier.</a:t>
            </a:r>
            <a:endParaRPr lang="en-US" sz="2000" dirty="0"/>
          </a:p>
        </p:txBody>
      </p:sp>
      <p:sp>
        <p:nvSpPr>
          <p:cNvPr id="35" name="match-card"/>
          <p:cNvSpPr/>
          <p:nvPr/>
        </p:nvSpPr>
        <p:spPr>
          <a:xfrm>
            <a:off x="777240" y="5162159"/>
            <a:ext cx="5135728" cy="799729"/>
          </a:xfrm>
          <a:prstGeom prst="roundRect">
            <a:avLst>
              <a:gd name="adj" fmla="val 9147"/>
            </a:avLst>
          </a:prstGeom>
          <a:solidFill>
            <a:srgbClr val="EDE9F0"/>
          </a:solidFill>
          <a:ln/>
        </p:spPr>
      </p:sp>
      <p:sp>
        <p:nvSpPr>
          <p:cNvPr id="36" name="match-hex"/>
          <p:cNvSpPr/>
          <p:nvPr/>
        </p:nvSpPr>
        <p:spPr>
          <a:xfrm>
            <a:off x="850392" y="5395731"/>
            <a:ext cx="384048" cy="332586"/>
          </a:xfrm>
          <a:prstGeom prst="hexagon">
            <a:avLst/>
          </a:prstGeom>
          <a:solidFill>
            <a:srgbClr val="5B3A7A"/>
          </a:solidFill>
          <a:ln/>
        </p:spPr>
      </p:sp>
      <p:sp>
        <p:nvSpPr>
          <p:cNvPr id="37" name="match-hex-label"/>
          <p:cNvSpPr txBox="1"/>
          <p:nvPr/>
        </p:nvSpPr>
        <p:spPr>
          <a:xfrm>
            <a:off x="850392" y="539573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62159"/>
            <a:ext cx="4541368" cy="79972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“Stars, hide your fires; / Let not light see my black and deep desires.”</a:t>
            </a:r>
            <a:endParaRPr lang="en-US" sz="2000" dirty="0"/>
          </a:p>
        </p:txBody>
      </p:sp>
      <p:sp>
        <p:nvSpPr>
          <p:cNvPr id="39" name="match-card"/>
          <p:cNvSpPr/>
          <p:nvPr/>
        </p:nvSpPr>
        <p:spPr>
          <a:xfrm>
            <a:off x="6278728" y="5162159"/>
            <a:ext cx="5135728" cy="799729"/>
          </a:xfrm>
          <a:prstGeom prst="roundRect">
            <a:avLst>
              <a:gd name="adj" fmla="val 9147"/>
            </a:avLst>
          </a:prstGeom>
          <a:solidFill>
            <a:srgbClr val="F4EDDF"/>
          </a:solidFill>
          <a:ln/>
        </p:spPr>
      </p:sp>
      <p:sp>
        <p:nvSpPr>
          <p:cNvPr id="40" name="match-hex"/>
          <p:cNvSpPr/>
          <p:nvPr/>
        </p:nvSpPr>
        <p:spPr>
          <a:xfrm>
            <a:off x="6351880" y="5395731"/>
            <a:ext cx="384048" cy="332586"/>
          </a:xfrm>
          <a:prstGeom prst="hexagon">
            <a:avLst/>
          </a:prstGeom>
          <a:solidFill>
            <a:srgbClr val="B8862B"/>
          </a:solidFill>
          <a:ln/>
        </p:spPr>
      </p:sp>
      <p:sp>
        <p:nvSpPr>
          <p:cNvPr id="41" name="match-hex-label"/>
          <p:cNvSpPr txBox="1"/>
          <p:nvPr/>
        </p:nvSpPr>
        <p:spPr>
          <a:xfrm>
            <a:off x="6351880" y="539573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6799936" y="5162159"/>
            <a:ext cx="4541368" cy="79972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He hopes fate will hand him the crown without his acting.</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5B3A7A"/>
                </a:solidFill>
                <a:latin typeface="Cambria" pitchFamily="34" charset="0"/>
                <a:ea typeface="Cambria" pitchFamily="34" charset="-122"/>
                <a:cs typeface="Cambria" pitchFamily="34" charset="-120"/>
              </a:rPr>
              <a:t>Same task, three ways in: Act 1 quotations and what they show</a:t>
            </a:r>
            <a:endParaRPr lang="en-US" sz="24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Act 1 quotation to what it shows about Macbeth.</a:t>
            </a:r>
            <a:endParaRPr lang="en-US" sz="2000" dirty="0"/>
          </a:p>
        </p:txBody>
      </p:sp>
      <p:sp>
        <p:nvSpPr>
          <p:cNvPr id="12" name="col-Support"/>
          <p:cNvSpPr/>
          <p:nvPr/>
        </p:nvSpPr>
        <p:spPr>
          <a:xfrm>
            <a:off x="548640" y="2578608"/>
            <a:ext cx="3515258" cy="3566160"/>
          </a:xfrm>
          <a:prstGeom prst="roundRect">
            <a:avLst>
              <a:gd name="adj" fmla="val 1561"/>
            </a:avLst>
          </a:prstGeom>
          <a:solidFill>
            <a:srgbClr val="EAE5EE"/>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3240938" cy="281635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Read each quotation aloud and find who is speaking and to whom.</a:t>
            </a:r>
            <a:endParaRPr lang="en-US" sz="2000" dirty="0"/>
          </a:p>
          <a:p>
            <a:pPr algn="l" indent="0" marL="0">
              <a:spcAft>
                <a:spcPts val="600"/>
              </a:spcAft>
              <a:buNone/>
            </a:pPr>
            <a:r>
              <a:rPr lang="en-US" sz="20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Underline one key word in each (brave, stay, chance, hide).</a:t>
            </a:r>
            <a:endParaRPr lang="en-US" sz="2000" dirty="0"/>
          </a:p>
          <a:p>
            <a:pPr algn="l" indent="0" marL="0">
              <a:spcAft>
                <a:spcPts val="600"/>
              </a:spcAft>
              <a:buNone/>
            </a:pPr>
            <a:r>
              <a:rPr lang="en-US" sz="20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Match the key word to the description that fits it best.</a:t>
            </a:r>
            <a:endParaRPr lang="en-US" sz="2000" dirty="0"/>
          </a:p>
        </p:txBody>
      </p:sp>
      <p:sp>
        <p:nvSpPr>
          <p:cNvPr id="17" name="col-Core"/>
          <p:cNvSpPr/>
          <p:nvPr/>
        </p:nvSpPr>
        <p:spPr>
          <a:xfrm>
            <a:off x="4338218" y="2578608"/>
            <a:ext cx="3515258" cy="3566160"/>
          </a:xfrm>
          <a:prstGeom prst="roundRect">
            <a:avLst>
              <a:gd name="adj" fmla="val 1561"/>
            </a:avLst>
          </a:prstGeom>
          <a:solidFill>
            <a:srgbClr val="D6CEDE"/>
          </a:solidFill>
          <a:ln/>
        </p:spPr>
      </p:sp>
      <p:sp>
        <p:nvSpPr>
          <p:cNvPr id="18" name="col-hex"/>
          <p:cNvSpPr/>
          <p:nvPr/>
        </p:nvSpPr>
        <p:spPr>
          <a:xfrm>
            <a:off x="444794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18688"/>
            <a:ext cx="3240938" cy="2816352"/>
          </a:xfrm>
          <a:prstGeom prst="rect">
            <a:avLst/>
          </a:prstGeom>
          <a:noFill/>
          <a:ln/>
        </p:spPr>
        <p:txBody>
          <a:bodyPr wrap="square" lIns="63500" tIns="63500" rIns="63500" bIns="63500" rtlCol="0" anchor="t"/>
          <a:lstStyle/>
          <a:p>
            <a:pPr algn="l" indent="0" marL="0">
              <a:buNone/>
            </a:pPr>
            <a:r>
              <a:rPr lang="en-US" sz="2000" b="1" dirty="0">
                <a:solidFill>
                  <a:srgbClr val="492E62"/>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The four quotations are in the order they come in Act 1. Each one shows Macbeth a step further from loyalty.</a:t>
            </a:r>
            <a:endParaRPr lang="en-US" sz="2000" dirty="0"/>
          </a:p>
        </p:txBody>
      </p:sp>
      <p:sp>
        <p:nvSpPr>
          <p:cNvPr id="22" name="col-Stretch"/>
          <p:cNvSpPr/>
          <p:nvPr/>
        </p:nvSpPr>
        <p:spPr>
          <a:xfrm>
            <a:off x="8127797" y="2578608"/>
            <a:ext cx="3515258" cy="3566160"/>
          </a:xfrm>
          <a:prstGeom prst="roundRect">
            <a:avLst>
              <a:gd name="adj" fmla="val 1561"/>
            </a:avLst>
          </a:prstGeom>
          <a:solidFill>
            <a:srgbClr val="5B3A7A"/>
          </a:solidFill>
          <a:ln/>
        </p:spPr>
      </p:sp>
      <p:sp>
        <p:nvSpPr>
          <p:cNvPr id="23" name="col-hex"/>
          <p:cNvSpPr/>
          <p:nvPr/>
        </p:nvSpPr>
        <p:spPr>
          <a:xfrm>
            <a:off x="8237525"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18688"/>
            <a:ext cx="3240938" cy="2816352"/>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Arrange the four quotations as a ‘journey’ and write one sentence explaining how Act 1 already maps out Macbeth's fall as a tragic hero.</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5B3A7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5B3A7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3080004"/>
          </a:xfrm>
          <a:prstGeom prst="rect">
            <a:avLst/>
          </a:prstGeom>
          <a:noFill/>
          <a:ln/>
        </p:spPr>
        <p:txBody>
          <a:bodyPr wrap="square" lIns="63500" tIns="63500" rIns="63500" bIns="63500" rtlCol="0" anchor="t"/>
          <a:lstStyle/>
          <a:p>
            <a:pPr algn="l" indent="0" marL="0">
              <a:spcAft>
                <a:spcPts val="1200"/>
              </a:spcAft>
              <a:buNone/>
            </a:pPr>
            <a:r>
              <a:rPr lang="en-US" sz="2200" b="1" dirty="0">
                <a:solidFill>
                  <a:srgbClr val="1E2229"/>
                </a:solidFill>
                <a:latin typeface="Calibri" pitchFamily="34" charset="0"/>
                <a:ea typeface="Calibri" pitchFamily="34" charset="-122"/>
                <a:cs typeface="Calibri" pitchFamily="34" charset="-120"/>
              </a:rPr>
              <a:t>Duncan says of the traitor Cawdor: “He was a gentleman on whom I built / An absolute trust.” Then Macbeth enters. Why is this dramatic irony?</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Because Banquo has already warned Duncan</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Because the audience knows Macbeth is already thinking of murder, but Duncan does not</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Because Duncan is lying about Cawdor</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Because Macbeth does not know who Cawdor was</a:t>
            </a:r>
            <a:endParaRPr lang="en-US" sz="2200" dirty="0"/>
          </a:p>
        </p:txBody>
      </p:sp>
      <p:sp>
        <p:nvSpPr>
          <p:cNvPr id="11" name="exit-answer-box"/>
          <p:cNvSpPr/>
          <p:nvPr/>
        </p:nvSpPr>
        <p:spPr>
          <a:xfrm>
            <a:off x="2286000" y="5047488"/>
            <a:ext cx="7619695" cy="822960"/>
          </a:xfrm>
          <a:prstGeom prst="roundRect">
            <a:avLst>
              <a:gd name="adj" fmla="val 11111"/>
            </a:avLst>
          </a:prstGeom>
          <a:solidFill>
            <a:srgbClr val="EFEBF2"/>
          </a:solidFill>
          <a:ln w="12700">
            <a:solidFill>
              <a:srgbClr val="A897B9"/>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Macbeth's reaction to the witches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742188"/>
          </a:xfrm>
          <a:prstGeom prst="roundRect">
            <a:avLst>
              <a:gd name="adj" fmla="val 12320"/>
            </a:avLst>
          </a:prstGeom>
          <a:solidFill>
            <a:srgbClr val="EDE9F0"/>
          </a:solidFill>
          <a:ln/>
        </p:spPr>
      </p:sp>
      <p:sp>
        <p:nvSpPr>
          <p:cNvPr id="9" name="tickbox"/>
          <p:cNvSpPr/>
          <p:nvPr/>
        </p:nvSpPr>
        <p:spPr>
          <a:xfrm>
            <a:off x="713232" y="2209038"/>
            <a:ext cx="292608" cy="292608"/>
          </a:xfrm>
          <a:prstGeom prst="rect">
            <a:avLst/>
          </a:prstGeom>
          <a:solidFill>
            <a:srgbClr val="FFFFFF"/>
          </a:solidFill>
          <a:ln w="19050">
            <a:solidFill>
              <a:srgbClr val="5B3A7A"/>
            </a:solidFill>
            <a:prstDash val="solid"/>
          </a:ln>
        </p:spPr>
      </p:sp>
      <p:sp>
        <p:nvSpPr>
          <p:cNvPr id="10" name="crit"/>
          <p:cNvSpPr txBox="1"/>
          <p:nvPr/>
        </p:nvSpPr>
        <p:spPr>
          <a:xfrm>
            <a:off x="1143000" y="1984248"/>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AO1: a clear point that answers the question about Macbeth's reaction</a:t>
            </a:r>
            <a:endParaRPr lang="en-US" sz="2200" dirty="0"/>
          </a:p>
        </p:txBody>
      </p:sp>
      <p:sp>
        <p:nvSpPr>
          <p:cNvPr id="11" name="crit-box"/>
          <p:cNvSpPr/>
          <p:nvPr/>
        </p:nvSpPr>
        <p:spPr>
          <a:xfrm>
            <a:off x="548640" y="2817876"/>
            <a:ext cx="11094415" cy="742188"/>
          </a:xfrm>
          <a:prstGeom prst="roundRect">
            <a:avLst>
              <a:gd name="adj" fmla="val 12320"/>
            </a:avLst>
          </a:prstGeom>
          <a:solidFill>
            <a:srgbClr val="EDE9F0"/>
          </a:solidFill>
          <a:ln/>
        </p:spPr>
      </p:sp>
      <p:sp>
        <p:nvSpPr>
          <p:cNvPr id="12" name="tickbox"/>
          <p:cNvSpPr/>
          <p:nvPr/>
        </p:nvSpPr>
        <p:spPr>
          <a:xfrm>
            <a:off x="713232" y="3042666"/>
            <a:ext cx="292608" cy="292608"/>
          </a:xfrm>
          <a:prstGeom prst="rect">
            <a:avLst/>
          </a:prstGeom>
          <a:solidFill>
            <a:srgbClr val="FFFFFF"/>
          </a:solidFill>
          <a:ln w="19050">
            <a:solidFill>
              <a:srgbClr val="5B3A7A"/>
            </a:solidFill>
            <a:prstDash val="solid"/>
          </a:ln>
        </p:spPr>
      </p:sp>
      <p:sp>
        <p:nvSpPr>
          <p:cNvPr id="13" name="crit"/>
          <p:cNvSpPr txBox="1"/>
          <p:nvPr/>
        </p:nvSpPr>
        <p:spPr>
          <a:xfrm>
            <a:off x="1143000" y="2817876"/>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AO1: at least two short quotations, embedded in your own sentences</a:t>
            </a:r>
            <a:endParaRPr lang="en-US" sz="2200" dirty="0"/>
          </a:p>
        </p:txBody>
      </p:sp>
      <p:sp>
        <p:nvSpPr>
          <p:cNvPr id="14" name="crit-box"/>
          <p:cNvSpPr/>
          <p:nvPr/>
        </p:nvSpPr>
        <p:spPr>
          <a:xfrm>
            <a:off x="548640" y="3651504"/>
            <a:ext cx="11094415" cy="1083056"/>
          </a:xfrm>
          <a:prstGeom prst="roundRect">
            <a:avLst>
              <a:gd name="adj" fmla="val 8443"/>
            </a:avLst>
          </a:prstGeom>
          <a:solidFill>
            <a:srgbClr val="EDE9F0"/>
          </a:solidFill>
          <a:ln/>
        </p:spPr>
      </p:sp>
      <p:sp>
        <p:nvSpPr>
          <p:cNvPr id="15" name="tickbox"/>
          <p:cNvSpPr/>
          <p:nvPr/>
        </p:nvSpPr>
        <p:spPr>
          <a:xfrm>
            <a:off x="713232" y="4046728"/>
            <a:ext cx="292608" cy="292608"/>
          </a:xfrm>
          <a:prstGeom prst="rect">
            <a:avLst/>
          </a:prstGeom>
          <a:solidFill>
            <a:srgbClr val="FFFFFF"/>
          </a:solidFill>
          <a:ln w="19050">
            <a:solidFill>
              <a:srgbClr val="5B3A7A"/>
            </a:solidFill>
            <a:prstDash val="solid"/>
          </a:ln>
        </p:spPr>
      </p:sp>
      <p:sp>
        <p:nvSpPr>
          <p:cNvPr id="16" name="crit"/>
          <p:cNvSpPr txBox="1"/>
          <p:nvPr/>
        </p:nvSpPr>
        <p:spPr>
          <a:xfrm>
            <a:off x="1143000" y="3651504"/>
            <a:ext cx="10317175" cy="108305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AO2: you zoom in on a word or method (imperative, paradox, aside) and explain its effect</a:t>
            </a:r>
            <a:endParaRPr lang="en-US" sz="2200" dirty="0"/>
          </a:p>
        </p:txBody>
      </p:sp>
      <p:sp>
        <p:nvSpPr>
          <p:cNvPr id="17" name="crit-box"/>
          <p:cNvSpPr/>
          <p:nvPr/>
        </p:nvSpPr>
        <p:spPr>
          <a:xfrm>
            <a:off x="548640" y="4826000"/>
            <a:ext cx="11094415" cy="1083056"/>
          </a:xfrm>
          <a:prstGeom prst="roundRect">
            <a:avLst>
              <a:gd name="adj" fmla="val 8443"/>
            </a:avLst>
          </a:prstGeom>
          <a:solidFill>
            <a:srgbClr val="EDE9F0"/>
          </a:solidFill>
          <a:ln/>
        </p:spPr>
      </p:sp>
      <p:sp>
        <p:nvSpPr>
          <p:cNvPr id="18" name="tickbox"/>
          <p:cNvSpPr/>
          <p:nvPr/>
        </p:nvSpPr>
        <p:spPr>
          <a:xfrm>
            <a:off x="713232" y="5221224"/>
            <a:ext cx="292608" cy="292608"/>
          </a:xfrm>
          <a:prstGeom prst="rect">
            <a:avLst/>
          </a:prstGeom>
          <a:solidFill>
            <a:srgbClr val="FFFFFF"/>
          </a:solidFill>
          <a:ln w="19050">
            <a:solidFill>
              <a:srgbClr val="5B3A7A"/>
            </a:solidFill>
            <a:prstDash val="solid"/>
          </a:ln>
        </p:spPr>
      </p:sp>
      <p:sp>
        <p:nvSpPr>
          <p:cNvPr id="19" name="crit"/>
          <p:cNvSpPr txBox="1"/>
          <p:nvPr/>
        </p:nvSpPr>
        <p:spPr>
          <a:xfrm>
            <a:off x="1143000" y="4826000"/>
            <a:ext cx="10317175" cy="108305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AO3: you link the reaction to Jacobean beliefs about witches or to the idea of a tragic hero</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5B3A7A"/>
                </a:solidFill>
                <a:latin typeface="Cambria" pitchFamily="34" charset="0"/>
                <a:ea typeface="Cambria" pitchFamily="34" charset="-122"/>
                <a:cs typeface="Cambria" pitchFamily="34" charset="-120"/>
              </a:rPr>
              <a:t>Model answer: Macbeth's reaction to the witches</a:t>
            </a:r>
            <a:endParaRPr lang="en-US" sz="30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4EDDF"/>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Shakespeare presents Macbeth as gripped by the witches from the moment he arrives. His first line, “So foul and fair a day I have not seen”, echoes their chant from the opening scene, so the audience connects him to them before they have even spoken. When they try to leave, he orders, “Stay, you imperfect speakers. Tell me more.” The imperative ‘stay’ shows a man used to commanding, yet the word ‘imperfect’ admits he knows their message is incomplete, and he still wants more. To an audience whose king had written that witches served the devil, this eagerness would look like the first step into damnation, and the first sign of his hamartia: ambition.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Act 1 quotations and what they show</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“For brave Macbeth”  →  C  He begins the play praised as a loyal, heroic soldier.</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“Stay, you imperfect speakers. Tell me more.”  →  A  He is hungry for the witches' prophecies.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“If chance will have me king, why, chance may crown me / Without my stir.”  →  D  He hopes fate will hand him the crown without his acting.</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“Stars, hide your fires; / Let not light see my black and deep desires.”  →  B  He now wants darkness to hide his evil wish.</a:t>
            </a:r>
            <a:endParaRPr lang="en-US" sz="2000" dirty="0"/>
          </a:p>
        </p:txBody>
      </p:sp>
      <p:sp>
        <p:nvSpPr>
          <p:cNvPr id="10" name="why-panel"/>
          <p:cNvSpPr/>
          <p:nvPr/>
        </p:nvSpPr>
        <p:spPr>
          <a:xfrm>
            <a:off x="7223760" y="1389888"/>
            <a:ext cx="4419295" cy="4754880"/>
          </a:xfrm>
          <a:prstGeom prst="roundRect">
            <a:avLst>
              <a:gd name="adj" fmla="val 1035"/>
            </a:avLst>
          </a:prstGeom>
          <a:solidFill>
            <a:srgbClr val="EAE5EE"/>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Act 1 moves Macbeth from praised soldier, to eager listener, to hopeful waiter on fate, to secret plotter. Learning these four lines gives you his whole first act.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Duncan says of the traitor Cawdor: “He was a gentleman on whom I built / An absolute trust.” Then Macbeth enters. Why is this dramatic irony?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Because the audience knows Macbeth is already thinking of murder, but Duncan does not</a:t>
            </a:r>
            <a:endParaRPr lang="en-US" sz="1800" dirty="0"/>
          </a:p>
        </p:txBody>
      </p:sp>
      <p:sp>
        <p:nvSpPr>
          <p:cNvPr id="10" name="why-panel"/>
          <p:cNvSpPr/>
          <p:nvPr/>
        </p:nvSpPr>
        <p:spPr>
          <a:xfrm>
            <a:off x="7223760" y="1389888"/>
            <a:ext cx="4419295" cy="4754880"/>
          </a:xfrm>
          <a:prstGeom prst="roundRect">
            <a:avLst>
              <a:gd name="adj" fmla="val 1035"/>
            </a:avLst>
          </a:prstGeom>
          <a:solidFill>
            <a:srgbClr val="EAE5EE"/>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Duncan has just learned that a trusted thane was a traitor, and the next man through the door, given the same title, is plotting too. The audience can see it; Duncan cannot.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englit">
  <a:themeElements>
    <a:clrScheme name="Ad Astra englit">
      <a:dk1>
        <a:srgbClr val="1E2229"/>
      </a:dk1>
      <a:lt1>
        <a:srgbClr val="FFFFFF"/>
      </a:lt1>
      <a:dk2>
        <a:srgbClr val="492E62"/>
      </a:dk2>
      <a:lt2>
        <a:srgbClr val="EAE5EE"/>
      </a:lt2>
      <a:accent1>
        <a:srgbClr val="5B3A7A"/>
      </a:accent1>
      <a:accent2>
        <a:srgbClr val="B8862B"/>
      </a:accent2>
      <a:accent3>
        <a:srgbClr val="9D89AF"/>
      </a:accent3>
      <a:accent4>
        <a:srgbClr val="815E1E"/>
      </a:accent4>
      <a:accent5>
        <a:srgbClr val="4A505C"/>
      </a:accent5>
      <a:accent6>
        <a:srgbClr val="D9BF8F"/>
      </a:accent6>
      <a:hlink>
        <a:srgbClr val="5B3A7A"/>
      </a:hlink>
      <a:folHlink>
        <a:srgbClr val="402955"/>
      </a:folHlink>
    </a:clrScheme>
    <a:fontScheme name="Ad Astra engl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Macbeth · Chapter 2: Witches, a brave soldier and ambition (Act 1)</dc:title>
  <dc:subject>English Literature · Year 10</dc:subject>
  <dc:creator>Dr Vitor Merissi de Carvalho</dc:creator>
  <cp:lastModifiedBy>Dr Vitor Merissi de Carvalho</cp:lastModifiedBy>
  <cp:revision>1</cp:revision>
  <dcterms:created xsi:type="dcterms:W3CDTF">2026-10-19T06:07:30Z</dcterms:created>
  <dcterms:modified xsi:type="dcterms:W3CDTF">2026-10-19T06:07:30Z</dcterms:modified>
</cp:coreProperties>
</file>