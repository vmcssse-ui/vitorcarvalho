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4fd3a51-64ae-6546-4dfa-a917fc77a5a3}">
          <p14:sldIdLst>
            <p14:sldId id="256"/>
          </p14:sldIdLst>
        </p14:section>
        <p14:section name="Gate" id="{348396e4-2228-0862-7f2e-1525e0d96eee}">
          <p14:sldIdLst>
            <p14:sldId id="257"/>
            <p14:sldId id="258"/>
          </p14:sldIdLst>
        </p14:section>
        <p14:section name="Pre-teach" id="{e09a72ed-0dcd-a7c4-ec6f-5744abb2fe42}">
          <p14:sldIdLst>
            <p14:sldId id="259"/>
          </p14:sldIdLst>
        </p14:section>
        <p14:section name="Read-along" id="{20fc2ef7-6553-8ec7-8558-37cff6fb2a0a}">
          <p14:sldIdLst>
            <p14:sldId id="260"/>
            <p14:sldId id="261"/>
          </p14:sldIdLst>
        </p14:section>
        <p14:section name="Teach" id="{76678a6e-437b-416e-2d33-ea6d57ea8391}">
          <p14:sldIdLst>
            <p14:sldId id="262"/>
            <p14:sldId id="263"/>
            <p14:sldId id="264"/>
          </p14:sldIdLst>
        </p14:section>
        <p14:section name="Routes" id="{612ff7d8-7d17-dacf-bf91-0c55a238492d}">
          <p14:sldIdLst>
            <p14:sldId id="265"/>
            <p14:sldId id="266"/>
            <p14:sldId id="267"/>
            <p14:sldId id="268"/>
          </p14:sldIdLst>
        </p14:section>
        <p14:section name="Close" id="{177c7323-2f2c-461b-3317-54d7b1038e90}">
          <p14:sldIdLst>
            <p14:sldId id="269"/>
          </p14:sldIdLst>
        </p14:section>
        <p14:section name="Answers" id="{5cc50239-6c1c-20fb-5c77-ac0b2bda63e1}">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Guilt, sleep and blood (Act 2 and Act 5 Scene 1). This chapter follows the murder and its cost, from a floating dagger to a queen who cannot wash her hands clean.
This deck covers the department's lessons: 12 (Act 2 Scene 1: The dagger scene: To what extent is Macbeth in control of his actions?); 13 (Act 2 Scene 2: After the murder: How is guilt explored in this scene?); 15 (Act 2 Scene 3: The Porter's scene: What impact does the king's death have on different characters?); 16 (Act 2 Scene 4: The Everyman: What is the role of the Everyman?); 24 (Act 5 Scene 1: The sleepwalking scene: What has happened to Lady Macbeth?).
Read the big question aloud: "What is the plot, context and key themes of Shakespeare's play Macbeth, and how does Shakespeare turn a hero into a tyrant?"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Macbeth see just before he kills Duncan?  →  B   A floating dagger
2. Complete Lady Macbeth's line: “A little ___ clears us of this deed.”  →  water
3. In Act 5 Scene 1, why might Lady Macbeth keep a light by her all the time?  →  B   She now fears the darkness she once called for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A floating dagger. In Act 2 Scene 1 he sees a dagger pointing him towards Duncan's room. Banquo's ghost comes later, in Act 3 Scene 4.
2. water. She thinks guilt can be rinsed off. In Act 5 Scene 1 we see that it cannot.
3. B   She now fears the darkness she once called for. In Act 1 she called on thick night to hide the murder. Now the dark frightens her: the motif of light and darkness has turned against her.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hallucination: seeing something that is not there. Example: "The floating dagger may be a hallucination."
• guilt: the bad feeling after doing wrong. Example: "Macbeth's guilt stops him from sleeping."
• conscience: the inner voice that knows right from wrong. Example: "His conscience shows him blood on the dagger."
• motif: an image that keeps coming back. Example: "Blood is a motif that returns again and again."
• Everyman: a character who stands for ordinary people. Example: "The Old Man is an Everyman for the people of Scotland."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It is night in Macbeth's castle.
2. Macbeth sees a dagger floating in the air.
3. He cannot touch it, but he can see it.
4. A bell rings, and he goes to kill the king.
5. Afterwards, Macbeth is shaking with fear.
6. He thinks he hears a voice say he will never sleep again.
7. He looks at the blood on his hands.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Lady Macbeth says a little water will wash it away.
9. In the morning, Macduff finds the king's body.
10. Strange things happen in nature, as if the world is sick.
11. Much later, Lady Macbeth walks in her sleep.
12. She keeps rubbing her hands.
13. She cannot wash away the blood she imagines there.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dagger of the mind (2.1). Say it in your own words, then check understanding with a quick question: ask a pupil from the pre-teach group first, since they met these words and ideas before the lesson. Pupils try to recall before you re-explain.
Just before the murder, Macbeth sees a dagger in the air, pointing him towards Duncan's room. He tries to grab it and cannot. Shakespeare leaves it open: is it sent by the witches, is it a hallucination from a mind under huge pressure, or is Macbeth creating it to push himself on?
Then blood appears on the blade. His conscience may be showing him what he is about to do. When the bell rings, he treats it as a signal and goes. The speech ends in a rhyming couplet, like the witches' chants, and its last word is ‘hell’.
Quotation: "Is this a dagger which I see before me, / The handle toward my hand?" (2.1.44–45). Read it aloud; ask what it shows.
Tip: Your view of the dagger answers the lesson's big question: how far is Macbeth in control of his own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After the murder (2.2–2.4). Say it in your own words, then check understanding with a quick question: ask a pupil from the pre-teach group first, since they met these words and ideas before the lesson. Pupils try to recall before you re-explain.
Shakespeare does not show Duncan's murder; we see only the shock afterwards. Macbeth is horrified and confused. He has brought the daggers out with him, and he thinks he heard a voice cry that “Macbeth does murder sleep”. Sleep was seen as a gift of peace for the innocent, so losing it is part of his punishment. Lady Macbeth stays practical: she takes the daggers back and tells him “A little water clears us of this deed.”
Next comes knocking at the gate and a drunken Porter, who jokes that he guards the gate of hell. The joke is full of dramatic irony, because the castle now holds a murderer. When Macduff finds the body, his repeated “O horror, horror, horror!” shows the shock of regicide. In Act 2 Scene 4, an Old Man, an Everyman for the Scottish people, describes nature turned upside down. Breaking the Great Chain has thrown the whole world into chaos.
Quotation: "Will all great Neptune's ocean wash this blood / Clean from my hand?" (2.2.78–79). Read it aloud; ask what it shows.
Tip: Put Macbeth's ‘ocean’ beside Lady Macbeth's ‘little water’. The contrast shows who feels the guilt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sleepwalking queen (5.1). Say it in your own words, then check understanding with a quick question: ask a pupil from the pre-teach group first, since they met these words and ideas before the lesson. Pupils try to recall before you re-explain.
We have not seen Lady Macbeth since the banquet in Act 3. Now a doctor and a gentlewoman watch her walk in her sleep, rubbing her hands as if washing them. She insists on having a light by her all the time; the woman who once called for thick night now fears the dark.
Her words come out in broken pieces of the past: the spot of blood, the old man's blood, Macduff's wife. She now speaks in prose, not verse, a sign that her control has gone. A Christian audience would see God's justice at work: her secret sin is punishing her from inside. Even she admits the truth: “What's done cannot be undone.”
Quotation: "Out, damned spot, out, I say!" (5.1.37). Read it aloud; ask what it shows.
Tip: This scene is an echo chamber. Almost every line repeats something from Acts 1 to 4. Ask: what is she remembering?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Lady Macbeth changes.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show that Lady Macbeth has changed between Act 2 Scene 2 and Act 5 Scene 1? Write one developed paragraph.
Support — work through the steps with the group: (1) Then: write one sentence about how she behaves after the murder in 2.2, with a short quotation. (2) Now: write one sentence about how she behaves in 5.1, with a short quotation. (3) Method: name one thing Shakespeare changes, such as blood and water images, short sentences, or prose instead of verse. (4) Why: explain what Shakespeare wanted his Christian audience to understand about sin.
Parallel worked example for Support (model it, do not give the task answer): Practice question: how does Shakespeare show Macbeth changing between Act 1 Scene 2 and Act 3 Scene 2? Then: he is called “brave Macbeth”, a loyal hero.; Now: he cries “O, full of scorpions is my mind, dear wife!”; Method: the scorpion metaphor shows painful, poisonous thoughts.; Why: the crown has brought fear, not peace, the cost of breaking God's order.. Answer: Macbeth begins as “brave Macbeth”, praised by all, but by Act 3 he cries “O, full of scorpions is my mind, dear wife!” The metaphor shows thoughts that sting and poison him, revealing that the crown he killed for has brought him only fear..
Core — reveal the hint only on request: Pair one image from 2.2 with one from 5.1. Blood and water work best.
Stretch — no help; when finished: Argue whether Shakespeare wants us to pity Lady Macbeth in 5.1. Use the gentlewoman's or the doctor's reaction as evidence for how the audience should feel.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Lady Macbeth changes.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show that Lady Macbeth has changed between Act 2 Scene 2 and Act 5 Scene 1? Write one developed paragraph.
Support — work through the steps with the group: (1) Then: write one sentence about how she behaves after the murder in 2.2, with a short quotation. (2) Now: write one sentence about how she behaves in 5.1, with a short quotation. (3) Method: name one thing Shakespeare changes, such as blood and water images, short sentences, or prose instead of verse. (4) Why: explain what Shakespeare wanted his Christian audience to understand about sin.
Parallel worked example for Support (model it, do not give the task answer): Practice question: how does Shakespeare show Macbeth changing between Act 1 Scene 2 and Act 3 Scene 2? Then: he is called “brave Macbeth”, a loyal hero.; Now: he cries “O, full of scorpions is my mind, dear wife!”; Method: the scorpion metaphor shows painful, poisonous thoughts.; Why: the crown has brought fear, not peace, the cost of breaking God's order.. Answer: Macbeth begins as “brave Macbeth”, praised by all, but by Act 3 he cries “O, full of scorpions is my mind, dear wife!” The metaphor shows thoughts that sting and poison him, revealing that the crown he killed for has brought him only fear..
Core — reveal the hint only on request: Pair one image from 2.2 with one from 5.1. Blood and water work best.
Stretch — no help; when finished: Argue whether Shakespeare wants us to pity Lady Macbeth in 5.1. Use the gentlewoman's or the doctor's reaction as evidence for how the audience should feel.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Images of guilt.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image from Act 2 to what it suggests about guilt.
Support — work through the steps with the group: (1) Find who says each line: Macbeth, Lady Macbeth or Macduff. (2) Underline the image in each: sleep, ocean, water, the repeated word. (3) Ask: is this person overwhelmed by guilt, or brushing it off?
Parallel worked example for Support (model it, do not give the task answer): Practice: what does the Porter's joke about keeping the gate of hell suggest? The Porter does not know about the murder.; The audience does.; So the joke suggests the castle has truly become a kind of hell.. Answer: That Macbeth's castle has become hell, which the audience understands but the Porter does not..
Core — reveal the hint only on request: Two of these images are about washing. Who thinks it is easy, and who thinks it is impossible?
Stretch — no help; when finished: Which of these images does Shakespeare bring back in Act 5 Scene 1, and why does the echo make the sleepwalking scene so powerful?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Images of guilt.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image from Act 2 to what it suggests about guilt.
Support — work through the steps with the group: (1) Find who says each line: Macbeth, Lady Macbeth or Macduff. (2) Underline the image in each: sleep, ocean, water, the repeated word. (3) Ask: is this person overwhelmed by guilt, or brushing it off?
Parallel worked example for Support (model it, do not give the task answer): Practice: what does the Porter's joke about keeping the gate of hell suggest? The Porter does not know about the murder.; The audience does.; So the joke suggests the castle has truly become a kind of hell.. Answer: That Macbeth's castle has become hell, which the audience understands but the Porter does not..
Core — reveal the hint only on request: Two of these images are about washing. Who thinks it is easy, and who thinks it is impossible?
Stretch — no help; when finished: Which of these images does Shakespeare bring back in Act 5 Scene 1, and why does the echo make the sleepwalking scene so powerful?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Macbeth calls the vision “A dagger of the mind, a false creation”. Which reading does this line support most strongly?
Answer: B   The dagger is a hallucination produced by Macbeth's troubled mind. Macbeth himself names the dagger as something his mind has made. That supports the hallucination reading, though the play still leaves room for the witches.
Source of this question: module 3 task ("Reading the dagger")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Lady Macbeth changes. Reveal the answer; pupils mark their own work in a different colour, then read the "why" together. Same destination for every lane, so one answer serves the whole class.
Answer: AO1: a clear argument about how she changes, not just what happens; AO1: at least one short quotation from each scene; AO2: you analyse a method: the motif of blood or water, sentence structure, or the change from verse to prose; AO3: you link the change to Christian ideas of guilt, sin and God's justice
Why: A strong answer is built on a ‘then and now’ comparison and explains why the change matters, here through the motif of blood and the Christian idea that sin is punished.
Model answer: In Act 2 Scene 2 Lady Macbeth is calm and practical. She tells her husband “A little water clears us of this deed”, as if guilt could be rinsed away like dirt. By Act 5 Scene 1 the same woman cannot stop washing. “Out, damned spot, out, I say!” breaks into short, desperate commands, and she now speaks in prose rather than verse, which shows her control has gone. The motif of blood links the two scenes: the water she trusted has failed her. For a Christian audience this would look like God's justice at work, punishing a sin that nobody else has yet discovered.
Success criteria: AO1: a clear argument about how she changes, not just what happens; AO1: at least one short quotation from each scene; AO2: you analyse a method: the motif of blood or water, sentence structure, or the change from verse to prose; AO3: you link the change to Christian ideas of guilt, sin and God's justice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Images of guilt. Reveal the answer; pupils mark their own work in a different colour, then read the "why" together. Same destination for every lane, so one answer serves the whole class.
Answer: “Macbeth does murder sleep”  →  B  He has destroyed his own peace; the innocent can rest, but he cannot.; “Will all great Neptune's ocean wash this blood / Clean from my hand?”  →  C  His guilt is so great that the whole sea could not remove it.; “A little water clears us of this deed.”  →  A  She believes guilt is a stain that can simply be washed off.; “O horror, horror, horror!”  →  D  The shock of regicide is too great for normal words.
Why: Sleep, water and blood are motifs that return. In Act 2, Macbeth feels the guilt and Lady Macbeth dismisses it; by Act 5, that is reversed.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The dagger is a hallucination produced by Macbeth's troubled mind
Why: Macbeth himself names the dagger as something his mind has made. That supports the hallucination reading, though the play still leaves room for the witches.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Macbeth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Macbeth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D2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Macbeth · AQA 8702</a:t>
            </a:r>
            <a:endParaRPr lang="en-US" sz="1800" dirty="0"/>
          </a:p>
        </p:txBody>
      </p:sp>
      <p:sp>
        <p:nvSpPr>
          <p:cNvPr id="10" name="deck-title"/>
          <p:cNvSpPr txBox="1"/>
          <p:nvPr/>
        </p:nvSpPr>
        <p:spPr>
          <a:xfrm>
            <a:off x="548640" y="176326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Guilt, sleep and blood (Act 2 and Act 5 Scene 1)</a:t>
            </a:r>
            <a:endParaRPr lang="en-US" sz="3600" dirty="0"/>
          </a:p>
        </p:txBody>
      </p:sp>
      <p:sp>
        <p:nvSpPr>
          <p:cNvPr id="11" name="lessons-card"/>
          <p:cNvSpPr/>
          <p:nvPr/>
        </p:nvSpPr>
        <p:spPr>
          <a:xfrm>
            <a:off x="548640" y="3307588"/>
            <a:ext cx="5287975" cy="2372360"/>
          </a:xfrm>
          <a:prstGeom prst="roundRect">
            <a:avLst>
              <a:gd name="adj" fmla="val 3084"/>
            </a:avLst>
          </a:prstGeom>
          <a:solidFill>
            <a:srgbClr val="EAE5EE"/>
          </a:solidFill>
          <a:ln/>
        </p:spPr>
      </p:sp>
      <p:sp>
        <p:nvSpPr>
          <p:cNvPr id="12" name="lessons"/>
          <p:cNvSpPr txBox="1"/>
          <p:nvPr/>
        </p:nvSpPr>
        <p:spPr>
          <a:xfrm>
            <a:off x="685800" y="3399028"/>
            <a:ext cx="5013655" cy="21894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2 Scene 1: The dagger scene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2 Scene 2: After the murder</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2 Scene 3: The Porter's scene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2 Scene 4: The Everyman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5 Scene 1: The sleepwalking scene</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AE5EE"/>
          </a:solidFill>
          <a:ln w="12700">
            <a:solidFill>
              <a:srgbClr val="B8AAC6"/>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the plot, context and key themes of Shakespeare's play Macbeth, and how does Shakespeare turn a hero into a tyrant?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does Macbeth see just before he kills Duncan?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Banquo's ghost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floating dagger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Three apparitions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moving wood</a:t>
            </a:r>
            <a:endParaRPr lang="en-US" sz="2400" dirty="0"/>
          </a:p>
        </p:txBody>
      </p:sp>
      <p:sp>
        <p:nvSpPr>
          <p:cNvPr id="12"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Complete Lady Macbeth's line: “A little ___ clears us of this deed.”</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water  ·  washing  ·  wine</a:t>
            </a:r>
            <a:endParaRPr lang="en-US" sz="2400" dirty="0"/>
          </a:p>
        </p:txBody>
      </p:sp>
      <p:sp>
        <p:nvSpPr>
          <p:cNvPr id="17"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In Act 5 Scene 1, why might Lady Macbeth keep a light by her all the time?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She is reading Macbeth's letters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She now fears the darkness she once called for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doctor ordered it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She is waiting for Macduff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 floating dagger</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does Macbeth see just before he kills Duncan?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In Act 2 Scene 1 he sees a dagger pointing him towards Duncan's room. Banquo's ghost comes later, in Act 3 Scene 4.</a:t>
            </a:r>
            <a:endParaRPr lang="en-US" sz="2000" dirty="0"/>
          </a:p>
        </p:txBody>
      </p:sp>
      <p:sp>
        <p:nvSpPr>
          <p:cNvPr id="14"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water</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Complete Lady Macbeth's line: “A little ___ clears us of this deed.”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She thinks guilt can be rinsed off. In Act 5 Scene 1 we see that it cannot.</a:t>
            </a:r>
            <a:endParaRPr lang="en-US" sz="2200" dirty="0"/>
          </a:p>
        </p:txBody>
      </p:sp>
      <p:sp>
        <p:nvSpPr>
          <p:cNvPr id="21"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BDDC4"/>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She now fears the darkness she once called for</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In Act 1 she called on thick night to hide the murder. Now the dark frightens her: the motif of light and darkness has turned against 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1901"/>
          </a:xfrm>
          <a:prstGeom prst="roundRect">
            <a:avLst>
              <a:gd name="adj" fmla="val 6595"/>
            </a:avLst>
          </a:prstGeom>
          <a:solidFill>
            <a:srgbClr val="EDE9F0"/>
          </a:solidFill>
          <a:ln/>
        </p:spPr>
      </p:sp>
      <p:sp>
        <p:nvSpPr>
          <p:cNvPr id="12" name="kw-hex"/>
          <p:cNvSpPr/>
          <p:nvPr/>
        </p:nvSpPr>
        <p:spPr>
          <a:xfrm>
            <a:off x="658368" y="2158020"/>
            <a:ext cx="411480" cy="356342"/>
          </a:xfrm>
          <a:prstGeom prst="hexagon">
            <a:avLst/>
          </a:prstGeom>
          <a:solidFill>
            <a:srgbClr val="5B3A7A"/>
          </a:solidFill>
          <a:ln/>
        </p:spPr>
      </p:sp>
      <p:sp>
        <p:nvSpPr>
          <p:cNvPr id="13" name="kw-cell"/>
          <p:cNvSpPr txBox="1"/>
          <p:nvPr/>
        </p:nvSpPr>
        <p:spPr>
          <a:xfrm>
            <a:off x="1143000" y="1920240"/>
            <a:ext cx="2331720" cy="831901"/>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hallucination</a:t>
            </a:r>
            <a:endParaRPr lang="en-US" sz="2000" dirty="0"/>
          </a:p>
        </p:txBody>
      </p:sp>
      <p:sp>
        <p:nvSpPr>
          <p:cNvPr id="14" name="kw-cell"/>
          <p:cNvSpPr txBox="1"/>
          <p:nvPr/>
        </p:nvSpPr>
        <p:spPr>
          <a:xfrm>
            <a:off x="3657600" y="1920240"/>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seeing something that is not there</a:t>
            </a:r>
            <a:endParaRPr lang="en-US" sz="1800" dirty="0"/>
          </a:p>
        </p:txBody>
      </p:sp>
      <p:sp>
        <p:nvSpPr>
          <p:cNvPr id="15" name="kw-cell"/>
          <p:cNvSpPr txBox="1"/>
          <p:nvPr/>
        </p:nvSpPr>
        <p:spPr>
          <a:xfrm>
            <a:off x="7315200" y="1920240"/>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floating dagger may be a hallucination.</a:t>
            </a:r>
            <a:endParaRPr lang="en-US" sz="1800" dirty="0"/>
          </a:p>
        </p:txBody>
      </p:sp>
      <p:sp>
        <p:nvSpPr>
          <p:cNvPr id="16" name="kw-row"/>
          <p:cNvSpPr/>
          <p:nvPr/>
        </p:nvSpPr>
        <p:spPr>
          <a:xfrm>
            <a:off x="548640" y="2825293"/>
            <a:ext cx="11094415" cy="604317"/>
          </a:xfrm>
          <a:prstGeom prst="roundRect">
            <a:avLst>
              <a:gd name="adj" fmla="val 9079"/>
            </a:avLst>
          </a:prstGeom>
          <a:solidFill>
            <a:srgbClr val="F4EDDF"/>
          </a:solidFill>
          <a:ln/>
        </p:spPr>
      </p:sp>
      <p:sp>
        <p:nvSpPr>
          <p:cNvPr id="17" name="kw-hex"/>
          <p:cNvSpPr/>
          <p:nvPr/>
        </p:nvSpPr>
        <p:spPr>
          <a:xfrm>
            <a:off x="658368" y="2949280"/>
            <a:ext cx="411480" cy="356342"/>
          </a:xfrm>
          <a:prstGeom prst="hexagon">
            <a:avLst/>
          </a:prstGeom>
          <a:solidFill>
            <a:srgbClr val="B8862B"/>
          </a:solidFill>
          <a:ln/>
        </p:spPr>
      </p:sp>
      <p:sp>
        <p:nvSpPr>
          <p:cNvPr id="18" name="kw-cell"/>
          <p:cNvSpPr txBox="1"/>
          <p:nvPr/>
        </p:nvSpPr>
        <p:spPr>
          <a:xfrm>
            <a:off x="1143000" y="2825293"/>
            <a:ext cx="2331720" cy="604317"/>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guilt</a:t>
            </a:r>
            <a:endParaRPr lang="en-US" sz="2000" dirty="0"/>
          </a:p>
        </p:txBody>
      </p:sp>
      <p:sp>
        <p:nvSpPr>
          <p:cNvPr id="19" name="kw-cell"/>
          <p:cNvSpPr txBox="1"/>
          <p:nvPr/>
        </p:nvSpPr>
        <p:spPr>
          <a:xfrm>
            <a:off x="3657600" y="2825293"/>
            <a:ext cx="3474720" cy="60431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bad feeling after doing wrong</a:t>
            </a:r>
            <a:endParaRPr lang="en-US" sz="1800" dirty="0"/>
          </a:p>
        </p:txBody>
      </p:sp>
      <p:sp>
        <p:nvSpPr>
          <p:cNvPr id="20" name="kw-cell"/>
          <p:cNvSpPr txBox="1"/>
          <p:nvPr/>
        </p:nvSpPr>
        <p:spPr>
          <a:xfrm>
            <a:off x="7315200" y="2825293"/>
            <a:ext cx="4236415" cy="60431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Macbeth's guilt stops him from sleeping.</a:t>
            </a:r>
            <a:endParaRPr lang="en-US" sz="1800" dirty="0"/>
          </a:p>
        </p:txBody>
      </p:sp>
      <p:sp>
        <p:nvSpPr>
          <p:cNvPr id="21" name="kw-row"/>
          <p:cNvSpPr/>
          <p:nvPr/>
        </p:nvSpPr>
        <p:spPr>
          <a:xfrm>
            <a:off x="548640" y="3502762"/>
            <a:ext cx="11094415" cy="831901"/>
          </a:xfrm>
          <a:prstGeom prst="roundRect">
            <a:avLst>
              <a:gd name="adj" fmla="val 6595"/>
            </a:avLst>
          </a:prstGeom>
          <a:solidFill>
            <a:srgbClr val="EDE9F0"/>
          </a:solidFill>
          <a:ln/>
        </p:spPr>
      </p:sp>
      <p:sp>
        <p:nvSpPr>
          <p:cNvPr id="22" name="kw-hex"/>
          <p:cNvSpPr/>
          <p:nvPr/>
        </p:nvSpPr>
        <p:spPr>
          <a:xfrm>
            <a:off x="658368" y="3740541"/>
            <a:ext cx="411480" cy="356342"/>
          </a:xfrm>
          <a:prstGeom prst="hexagon">
            <a:avLst/>
          </a:prstGeom>
          <a:solidFill>
            <a:srgbClr val="5B3A7A"/>
          </a:solidFill>
          <a:ln/>
        </p:spPr>
      </p:sp>
      <p:sp>
        <p:nvSpPr>
          <p:cNvPr id="23" name="kw-cell"/>
          <p:cNvSpPr txBox="1"/>
          <p:nvPr/>
        </p:nvSpPr>
        <p:spPr>
          <a:xfrm>
            <a:off x="1143000" y="3502762"/>
            <a:ext cx="2331720" cy="831901"/>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conscience</a:t>
            </a:r>
            <a:endParaRPr lang="en-US" sz="2000" dirty="0"/>
          </a:p>
        </p:txBody>
      </p:sp>
      <p:sp>
        <p:nvSpPr>
          <p:cNvPr id="24" name="kw-cell"/>
          <p:cNvSpPr txBox="1"/>
          <p:nvPr/>
        </p:nvSpPr>
        <p:spPr>
          <a:xfrm>
            <a:off x="3657600" y="3502762"/>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inner voice that knows right from wrong</a:t>
            </a:r>
            <a:endParaRPr lang="en-US" sz="1800" dirty="0"/>
          </a:p>
        </p:txBody>
      </p:sp>
      <p:sp>
        <p:nvSpPr>
          <p:cNvPr id="25" name="kw-cell"/>
          <p:cNvSpPr txBox="1"/>
          <p:nvPr/>
        </p:nvSpPr>
        <p:spPr>
          <a:xfrm>
            <a:off x="7315200" y="3502762"/>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His conscience shows him blood on the dagger.</a:t>
            </a:r>
            <a:endParaRPr lang="en-US" sz="1800" dirty="0"/>
          </a:p>
        </p:txBody>
      </p:sp>
      <p:sp>
        <p:nvSpPr>
          <p:cNvPr id="26" name="kw-row"/>
          <p:cNvSpPr/>
          <p:nvPr/>
        </p:nvSpPr>
        <p:spPr>
          <a:xfrm>
            <a:off x="548640" y="4407814"/>
            <a:ext cx="11094415" cy="831901"/>
          </a:xfrm>
          <a:prstGeom prst="roundRect">
            <a:avLst>
              <a:gd name="adj" fmla="val 6595"/>
            </a:avLst>
          </a:prstGeom>
          <a:solidFill>
            <a:srgbClr val="F4EDDF"/>
          </a:solidFill>
          <a:ln/>
        </p:spPr>
      </p:sp>
      <p:sp>
        <p:nvSpPr>
          <p:cNvPr id="27" name="kw-hex"/>
          <p:cNvSpPr/>
          <p:nvPr/>
        </p:nvSpPr>
        <p:spPr>
          <a:xfrm>
            <a:off x="658368" y="4645594"/>
            <a:ext cx="411480" cy="356342"/>
          </a:xfrm>
          <a:prstGeom prst="hexagon">
            <a:avLst/>
          </a:prstGeom>
          <a:solidFill>
            <a:srgbClr val="B8862B"/>
          </a:solidFill>
          <a:ln/>
        </p:spPr>
      </p:sp>
      <p:sp>
        <p:nvSpPr>
          <p:cNvPr id="28" name="kw-cell"/>
          <p:cNvSpPr txBox="1"/>
          <p:nvPr/>
        </p:nvSpPr>
        <p:spPr>
          <a:xfrm>
            <a:off x="1143000" y="4407814"/>
            <a:ext cx="2331720" cy="831901"/>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motif</a:t>
            </a:r>
            <a:endParaRPr lang="en-US" sz="2000" dirty="0"/>
          </a:p>
        </p:txBody>
      </p:sp>
      <p:sp>
        <p:nvSpPr>
          <p:cNvPr id="29" name="kw-cell"/>
          <p:cNvSpPr txBox="1"/>
          <p:nvPr/>
        </p:nvSpPr>
        <p:spPr>
          <a:xfrm>
            <a:off x="3657600" y="4407814"/>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 image that keeps coming back</a:t>
            </a:r>
            <a:endParaRPr lang="en-US" sz="1800" dirty="0"/>
          </a:p>
        </p:txBody>
      </p:sp>
      <p:sp>
        <p:nvSpPr>
          <p:cNvPr id="30" name="kw-cell"/>
          <p:cNvSpPr txBox="1"/>
          <p:nvPr/>
        </p:nvSpPr>
        <p:spPr>
          <a:xfrm>
            <a:off x="7315200" y="4407814"/>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Blood is a motif that returns again and again.</a:t>
            </a:r>
            <a:endParaRPr lang="en-US" sz="1800" dirty="0"/>
          </a:p>
        </p:txBody>
      </p:sp>
      <p:sp>
        <p:nvSpPr>
          <p:cNvPr id="31" name="kw-row"/>
          <p:cNvSpPr/>
          <p:nvPr/>
        </p:nvSpPr>
        <p:spPr>
          <a:xfrm>
            <a:off x="548640" y="5312867"/>
            <a:ext cx="11094415" cy="831901"/>
          </a:xfrm>
          <a:prstGeom prst="roundRect">
            <a:avLst>
              <a:gd name="adj" fmla="val 6595"/>
            </a:avLst>
          </a:prstGeom>
          <a:solidFill>
            <a:srgbClr val="EDE9F0"/>
          </a:solidFill>
          <a:ln/>
        </p:spPr>
      </p:sp>
      <p:sp>
        <p:nvSpPr>
          <p:cNvPr id="32" name="kw-hex"/>
          <p:cNvSpPr/>
          <p:nvPr/>
        </p:nvSpPr>
        <p:spPr>
          <a:xfrm>
            <a:off x="658368" y="5550647"/>
            <a:ext cx="411480" cy="356342"/>
          </a:xfrm>
          <a:prstGeom prst="hexagon">
            <a:avLst/>
          </a:prstGeom>
          <a:solidFill>
            <a:srgbClr val="5B3A7A"/>
          </a:solidFill>
          <a:ln/>
        </p:spPr>
      </p:sp>
      <p:sp>
        <p:nvSpPr>
          <p:cNvPr id="33" name="kw-cell"/>
          <p:cNvSpPr txBox="1"/>
          <p:nvPr/>
        </p:nvSpPr>
        <p:spPr>
          <a:xfrm>
            <a:off x="1143000" y="5312867"/>
            <a:ext cx="2331720" cy="831901"/>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Everyman</a:t>
            </a:r>
            <a:endParaRPr lang="en-US" sz="2000" dirty="0"/>
          </a:p>
        </p:txBody>
      </p:sp>
      <p:sp>
        <p:nvSpPr>
          <p:cNvPr id="34" name="kw-cell"/>
          <p:cNvSpPr txBox="1"/>
          <p:nvPr/>
        </p:nvSpPr>
        <p:spPr>
          <a:xfrm>
            <a:off x="3657600" y="5312867"/>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character who stands for ordinary people</a:t>
            </a:r>
            <a:endParaRPr lang="en-US" sz="1800" dirty="0"/>
          </a:p>
        </p:txBody>
      </p:sp>
      <p:sp>
        <p:nvSpPr>
          <p:cNvPr id="35" name="kw-cell"/>
          <p:cNvSpPr txBox="1"/>
          <p:nvPr/>
        </p:nvSpPr>
        <p:spPr>
          <a:xfrm>
            <a:off x="7315200" y="5312867"/>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Old Man is an Everyman for the people of Scotland.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is night in Macbeth's castle.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Macbeth sees a dagger floating in the air.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cannot touch it, but he can see it.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bell rings, and he goes to kill the king.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Afterwards, Macbeth is shaking with fear.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thinks he hears a voice say he will never sleep again.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looks at the blood on his hands.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Lady Macbeth says a little water will wash it away.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the morning, Macduff finds the king's body.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Strange things happen in nature, as if the world is sick.</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Much later, Lady Macbeth walks in her sleep.</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She keeps rubbing her hands.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She cannot wash away the blood she imagines there.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dagger of the mind (2.1)</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Your view of the dagger answers the lesson's big question: how far is Macbeth in control of his own actions?</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Is this a dagger which I see before me, / The handle toward my hand?</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2.1.44–45</a:t>
            </a:r>
            <a:endParaRPr lang="en-US" sz="2600" dirty="0"/>
          </a:p>
        </p:txBody>
      </p:sp>
      <p:sp>
        <p:nvSpPr>
          <p:cNvPr id="14" name="bullet-card"/>
          <p:cNvSpPr/>
          <p:nvPr/>
        </p:nvSpPr>
        <p:spPr>
          <a:xfrm>
            <a:off x="548640" y="1389888"/>
            <a:ext cx="5074920" cy="1630426"/>
          </a:xfrm>
          <a:prstGeom prst="roundRect">
            <a:avLst>
              <a:gd name="adj" fmla="val 4487"/>
            </a:avLst>
          </a:prstGeom>
          <a:solidFill>
            <a:srgbClr val="EDE9F0"/>
          </a:solidFill>
          <a:ln/>
        </p:spPr>
      </p:sp>
      <p:sp>
        <p:nvSpPr>
          <p:cNvPr id="15" name="bullet-hex"/>
          <p:cNvSpPr/>
          <p:nvPr/>
        </p:nvSpPr>
        <p:spPr>
          <a:xfrm>
            <a:off x="676656" y="2038808"/>
            <a:ext cx="384048" cy="332586"/>
          </a:xfrm>
          <a:prstGeom prst="hexagon">
            <a:avLst/>
          </a:prstGeom>
          <a:solidFill>
            <a:srgbClr val="5B3A7A"/>
          </a:solidFill>
          <a:ln/>
        </p:spPr>
      </p:sp>
      <p:sp>
        <p:nvSpPr>
          <p:cNvPr id="16" name="bullet"/>
          <p:cNvSpPr txBox="1"/>
          <p:nvPr/>
        </p:nvSpPr>
        <p:spPr>
          <a:xfrm>
            <a:off x="1143000" y="1389888"/>
            <a:ext cx="4389120" cy="16304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Just before the murder, Macbeth sees a dagger in the air, pointing him towards Duncan's room.</a:t>
            </a:r>
            <a:endParaRPr lang="en-US" sz="2200" dirty="0"/>
          </a:p>
        </p:txBody>
      </p:sp>
      <p:sp>
        <p:nvSpPr>
          <p:cNvPr id="17" name="bullet-card"/>
          <p:cNvSpPr/>
          <p:nvPr/>
        </p:nvSpPr>
        <p:spPr>
          <a:xfrm>
            <a:off x="548640" y="3166618"/>
            <a:ext cx="5074920" cy="1630426"/>
          </a:xfrm>
          <a:prstGeom prst="roundRect">
            <a:avLst>
              <a:gd name="adj" fmla="val 4487"/>
            </a:avLst>
          </a:prstGeom>
          <a:solidFill>
            <a:srgbClr val="EDE9F0"/>
          </a:solidFill>
          <a:ln/>
        </p:spPr>
      </p:sp>
      <p:sp>
        <p:nvSpPr>
          <p:cNvPr id="18" name="bullet-hex"/>
          <p:cNvSpPr/>
          <p:nvPr/>
        </p:nvSpPr>
        <p:spPr>
          <a:xfrm>
            <a:off x="676656" y="3815538"/>
            <a:ext cx="384048" cy="332586"/>
          </a:xfrm>
          <a:prstGeom prst="hexagon">
            <a:avLst/>
          </a:prstGeom>
          <a:solidFill>
            <a:srgbClr val="B8862B"/>
          </a:solidFill>
          <a:ln/>
        </p:spPr>
      </p:sp>
      <p:sp>
        <p:nvSpPr>
          <p:cNvPr id="19" name="bullet"/>
          <p:cNvSpPr txBox="1"/>
          <p:nvPr/>
        </p:nvSpPr>
        <p:spPr>
          <a:xfrm>
            <a:off x="1143000" y="3166618"/>
            <a:ext cx="4389120" cy="16304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Then blood appears on the blade. His conscience may be showing him what he is about to do.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After the murder (2.2–2.4)</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Put Macbeth's ‘ocean’ beside Lady Macbeth's ‘little water’. The contrast shows who feels the guilt first.</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Will all great Neptune's ocean wash this blood / Clean from my hand?</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2.2.78–79</a:t>
            </a:r>
            <a:endParaRPr lang="en-US" sz="2600" dirty="0"/>
          </a:p>
        </p:txBody>
      </p:sp>
      <p:sp>
        <p:nvSpPr>
          <p:cNvPr id="14" name="bullet-card"/>
          <p:cNvSpPr/>
          <p:nvPr/>
        </p:nvSpPr>
        <p:spPr>
          <a:xfrm>
            <a:off x="548640" y="1389888"/>
            <a:ext cx="5074920" cy="1630426"/>
          </a:xfrm>
          <a:prstGeom prst="roundRect">
            <a:avLst>
              <a:gd name="adj" fmla="val 4487"/>
            </a:avLst>
          </a:prstGeom>
          <a:solidFill>
            <a:srgbClr val="EDE9F0"/>
          </a:solidFill>
          <a:ln/>
        </p:spPr>
      </p:sp>
      <p:sp>
        <p:nvSpPr>
          <p:cNvPr id="15" name="bullet-hex"/>
          <p:cNvSpPr/>
          <p:nvPr/>
        </p:nvSpPr>
        <p:spPr>
          <a:xfrm>
            <a:off x="676656" y="2038808"/>
            <a:ext cx="384048" cy="332586"/>
          </a:xfrm>
          <a:prstGeom prst="hexagon">
            <a:avLst/>
          </a:prstGeom>
          <a:solidFill>
            <a:srgbClr val="5B3A7A"/>
          </a:solidFill>
          <a:ln/>
        </p:spPr>
      </p:sp>
      <p:sp>
        <p:nvSpPr>
          <p:cNvPr id="16" name="bullet"/>
          <p:cNvSpPr txBox="1"/>
          <p:nvPr/>
        </p:nvSpPr>
        <p:spPr>
          <a:xfrm>
            <a:off x="1143000" y="1389888"/>
            <a:ext cx="4389120" cy="16304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Shakespeare does not show Duncan's murder; we see only the shock afterwards.</a:t>
            </a:r>
            <a:endParaRPr lang="en-US" sz="2200" dirty="0"/>
          </a:p>
        </p:txBody>
      </p:sp>
      <p:sp>
        <p:nvSpPr>
          <p:cNvPr id="17" name="bullet-card"/>
          <p:cNvSpPr/>
          <p:nvPr/>
        </p:nvSpPr>
        <p:spPr>
          <a:xfrm>
            <a:off x="548640" y="3166618"/>
            <a:ext cx="5074920" cy="1630426"/>
          </a:xfrm>
          <a:prstGeom prst="roundRect">
            <a:avLst>
              <a:gd name="adj" fmla="val 4487"/>
            </a:avLst>
          </a:prstGeom>
          <a:solidFill>
            <a:srgbClr val="EDE9F0"/>
          </a:solidFill>
          <a:ln/>
        </p:spPr>
      </p:sp>
      <p:sp>
        <p:nvSpPr>
          <p:cNvPr id="18" name="bullet-hex"/>
          <p:cNvSpPr/>
          <p:nvPr/>
        </p:nvSpPr>
        <p:spPr>
          <a:xfrm>
            <a:off x="676656" y="3815538"/>
            <a:ext cx="384048" cy="332586"/>
          </a:xfrm>
          <a:prstGeom prst="hexagon">
            <a:avLst/>
          </a:prstGeom>
          <a:solidFill>
            <a:srgbClr val="B8862B"/>
          </a:solidFill>
          <a:ln/>
        </p:spPr>
      </p:sp>
      <p:sp>
        <p:nvSpPr>
          <p:cNvPr id="19" name="bullet"/>
          <p:cNvSpPr txBox="1"/>
          <p:nvPr/>
        </p:nvSpPr>
        <p:spPr>
          <a:xfrm>
            <a:off x="1143000" y="3166618"/>
            <a:ext cx="4389120" cy="16304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Next comes knocking at the gate and a drunken Porter, who jokes that he guards the gate of hell.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sleepwalking queen (5.1)</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This scene is an echo chamber. Almost every line repeats something from Acts 1 to 4. Ask: what is she remembering?</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Out, damned spot, out, I say!</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5.1.37</a:t>
            </a:r>
            <a:endParaRPr lang="en-US" sz="2600" dirty="0"/>
          </a:p>
        </p:txBody>
      </p:sp>
      <p:sp>
        <p:nvSpPr>
          <p:cNvPr id="14" name="bullet-card"/>
          <p:cNvSpPr/>
          <p:nvPr/>
        </p:nvSpPr>
        <p:spPr>
          <a:xfrm>
            <a:off x="548640" y="1389888"/>
            <a:ext cx="5074920" cy="1289558"/>
          </a:xfrm>
          <a:prstGeom prst="roundRect">
            <a:avLst>
              <a:gd name="adj" fmla="val 5673"/>
            </a:avLst>
          </a:prstGeom>
          <a:solidFill>
            <a:srgbClr val="EDE9F0"/>
          </a:solidFill>
          <a:ln/>
        </p:spPr>
      </p:sp>
      <p:sp>
        <p:nvSpPr>
          <p:cNvPr id="15" name="bullet-hex"/>
          <p:cNvSpPr/>
          <p:nvPr/>
        </p:nvSpPr>
        <p:spPr>
          <a:xfrm>
            <a:off x="676656" y="1868374"/>
            <a:ext cx="384048" cy="332586"/>
          </a:xfrm>
          <a:prstGeom prst="hexagon">
            <a:avLst/>
          </a:prstGeom>
          <a:solidFill>
            <a:srgbClr val="5B3A7A"/>
          </a:solidFill>
          <a:ln/>
        </p:spPr>
      </p:sp>
      <p:sp>
        <p:nvSpPr>
          <p:cNvPr id="16" name="bullet"/>
          <p:cNvSpPr txBox="1"/>
          <p:nvPr/>
        </p:nvSpPr>
        <p:spPr>
          <a:xfrm>
            <a:off x="1143000" y="1389888"/>
            <a:ext cx="4389120" cy="12895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We have not seen Lady Macbeth since the banquet in Act 3.</a:t>
            </a:r>
            <a:endParaRPr lang="en-US" sz="2200" dirty="0"/>
          </a:p>
        </p:txBody>
      </p:sp>
      <p:sp>
        <p:nvSpPr>
          <p:cNvPr id="17" name="bullet-card"/>
          <p:cNvSpPr/>
          <p:nvPr/>
        </p:nvSpPr>
        <p:spPr>
          <a:xfrm>
            <a:off x="548640" y="2825750"/>
            <a:ext cx="5074920" cy="1971294"/>
          </a:xfrm>
          <a:prstGeom prst="roundRect">
            <a:avLst>
              <a:gd name="adj" fmla="val 3711"/>
            </a:avLst>
          </a:prstGeom>
          <a:solidFill>
            <a:srgbClr val="EDE9F0"/>
          </a:solidFill>
          <a:ln/>
        </p:spPr>
      </p:sp>
      <p:sp>
        <p:nvSpPr>
          <p:cNvPr id="18" name="bullet-hex"/>
          <p:cNvSpPr/>
          <p:nvPr/>
        </p:nvSpPr>
        <p:spPr>
          <a:xfrm>
            <a:off x="676656" y="3645104"/>
            <a:ext cx="384048" cy="332586"/>
          </a:xfrm>
          <a:prstGeom prst="hexagon">
            <a:avLst/>
          </a:prstGeom>
          <a:solidFill>
            <a:srgbClr val="B8862B"/>
          </a:solidFill>
          <a:ln/>
        </p:spPr>
      </p:sp>
      <p:sp>
        <p:nvSpPr>
          <p:cNvPr id="19" name="bullet"/>
          <p:cNvSpPr txBox="1"/>
          <p:nvPr/>
        </p:nvSpPr>
        <p:spPr>
          <a:xfrm>
            <a:off x="1143000" y="2825750"/>
            <a:ext cx="4389120" cy="197129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Her words come out in broken pieces of the past: the spot of blood, the old man's blood, Macduff's wife.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How Lady Macbeth changes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does Shakespeare show that Lady Macbeth has changed between Act 2 Scene 2 and Act 5 Scene 1? Write one developed paragraph.</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8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Same task, three ways in: How Lady Macbeth changes</a:t>
            </a:r>
            <a:endParaRPr lang="en-US" sz="28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How Lady Macbeth changes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AE5EE"/>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write one sentence about how she behaves after the murder in 2.2, with a short quotation.</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Now: write one sentence about how she behaves in 5.1, with a short quotation.</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Method: name one thing Shakespeare changes, such as blood and water images, short sentences, or prose instead of verse.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Why: explain what Shakespeare wanted his Christian audience to understand about sin.</a:t>
            </a:r>
            <a:endParaRPr lang="en-US" sz="1800" dirty="0"/>
          </a:p>
        </p:txBody>
      </p:sp>
      <p:sp>
        <p:nvSpPr>
          <p:cNvPr id="17" name="col-Core"/>
          <p:cNvSpPr/>
          <p:nvPr/>
        </p:nvSpPr>
        <p:spPr>
          <a:xfrm>
            <a:off x="6425403" y="2395728"/>
            <a:ext cx="2471666" cy="3749040"/>
          </a:xfrm>
          <a:prstGeom prst="roundRect">
            <a:avLst>
              <a:gd name="adj" fmla="val 2220"/>
            </a:avLst>
          </a:prstGeom>
          <a:solidFill>
            <a:srgbClr val="D6CED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Pair one image from 2.2 with one from 5.1. Blood and water work best.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5B3A7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Argue whether Shakespeare wants us to pity Lady Macbeth in 5.1. Use the gentlewoman's or the doctor's reaction as evidence for how the audience should feel.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Images of guilt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image from Act 2 to what it suggests about guilt.</a:t>
            </a:r>
            <a:endParaRPr lang="en-US" sz="2400" dirty="0"/>
          </a:p>
        </p:txBody>
      </p:sp>
      <p:sp>
        <p:nvSpPr>
          <p:cNvPr id="11" name="match-card"/>
          <p:cNvSpPr/>
          <p:nvPr/>
        </p:nvSpPr>
        <p:spPr>
          <a:xfrm>
            <a:off x="777240" y="2468331"/>
            <a:ext cx="5135728" cy="804809"/>
          </a:xfrm>
          <a:prstGeom prst="roundRect">
            <a:avLst>
              <a:gd name="adj" fmla="val 9089"/>
            </a:avLst>
          </a:prstGeom>
          <a:solidFill>
            <a:srgbClr val="EDE9F0"/>
          </a:solidFill>
          <a:ln/>
        </p:spPr>
      </p:sp>
      <p:sp>
        <p:nvSpPr>
          <p:cNvPr id="12" name="match-hex"/>
          <p:cNvSpPr/>
          <p:nvPr/>
        </p:nvSpPr>
        <p:spPr>
          <a:xfrm>
            <a:off x="850392" y="2704443"/>
            <a:ext cx="384048" cy="332586"/>
          </a:xfrm>
          <a:prstGeom prst="hexagon">
            <a:avLst/>
          </a:prstGeom>
          <a:solidFill>
            <a:srgbClr val="5B3A7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“Macbeth does murder sleep”</a:t>
            </a:r>
            <a:endParaRPr lang="en-US" sz="2000" dirty="0"/>
          </a:p>
        </p:txBody>
      </p:sp>
      <p:sp>
        <p:nvSpPr>
          <p:cNvPr id="15" name="match-card"/>
          <p:cNvSpPr/>
          <p:nvPr/>
        </p:nvSpPr>
        <p:spPr>
          <a:xfrm>
            <a:off x="6278728" y="2468331"/>
            <a:ext cx="5135728" cy="804809"/>
          </a:xfrm>
          <a:prstGeom prst="roundRect">
            <a:avLst>
              <a:gd name="adj" fmla="val 9089"/>
            </a:avLst>
          </a:prstGeom>
          <a:solidFill>
            <a:srgbClr val="F4EDDF"/>
          </a:solidFill>
          <a:ln/>
        </p:spPr>
      </p:sp>
      <p:sp>
        <p:nvSpPr>
          <p:cNvPr id="16" name="match-hex"/>
          <p:cNvSpPr/>
          <p:nvPr/>
        </p:nvSpPr>
        <p:spPr>
          <a:xfrm>
            <a:off x="6351880" y="2704443"/>
            <a:ext cx="384048" cy="332586"/>
          </a:xfrm>
          <a:prstGeom prst="hexagon">
            <a:avLst/>
          </a:prstGeom>
          <a:solidFill>
            <a:srgbClr val="B8862B"/>
          </a:solidFill>
          <a:ln/>
        </p:spPr>
      </p:sp>
      <p:sp>
        <p:nvSpPr>
          <p:cNvPr id="17" name="match-hex-label"/>
          <p:cNvSpPr txBox="1"/>
          <p:nvPr/>
        </p:nvSpPr>
        <p:spPr>
          <a:xfrm>
            <a:off x="6351880"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She believes guilt is a stain that can simply be washed off.</a:t>
            </a:r>
            <a:endParaRPr lang="en-US" sz="2000" dirty="0"/>
          </a:p>
        </p:txBody>
      </p:sp>
      <p:sp>
        <p:nvSpPr>
          <p:cNvPr id="19" name="match-card"/>
          <p:cNvSpPr/>
          <p:nvPr/>
        </p:nvSpPr>
        <p:spPr>
          <a:xfrm>
            <a:off x="777240" y="3364581"/>
            <a:ext cx="5135728" cy="804809"/>
          </a:xfrm>
          <a:prstGeom prst="roundRect">
            <a:avLst>
              <a:gd name="adj" fmla="val 9089"/>
            </a:avLst>
          </a:prstGeom>
          <a:solidFill>
            <a:srgbClr val="EDE9F0"/>
          </a:solidFill>
          <a:ln/>
        </p:spPr>
      </p:sp>
      <p:sp>
        <p:nvSpPr>
          <p:cNvPr id="20" name="match-hex"/>
          <p:cNvSpPr/>
          <p:nvPr/>
        </p:nvSpPr>
        <p:spPr>
          <a:xfrm>
            <a:off x="850392" y="3600692"/>
            <a:ext cx="384048" cy="332586"/>
          </a:xfrm>
          <a:prstGeom prst="hexagon">
            <a:avLst/>
          </a:prstGeom>
          <a:solidFill>
            <a:srgbClr val="5B3A7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“Will all great Neptune's ocean wash this blood / Clean from my hand?”</a:t>
            </a:r>
            <a:endParaRPr lang="en-US" sz="2000" dirty="0"/>
          </a:p>
        </p:txBody>
      </p:sp>
      <p:sp>
        <p:nvSpPr>
          <p:cNvPr id="23" name="match-card"/>
          <p:cNvSpPr/>
          <p:nvPr/>
        </p:nvSpPr>
        <p:spPr>
          <a:xfrm>
            <a:off x="6278728" y="3364581"/>
            <a:ext cx="5135728" cy="804809"/>
          </a:xfrm>
          <a:prstGeom prst="roundRect">
            <a:avLst>
              <a:gd name="adj" fmla="val 9089"/>
            </a:avLst>
          </a:prstGeom>
          <a:solidFill>
            <a:srgbClr val="F4EDDF"/>
          </a:solidFill>
          <a:ln/>
        </p:spPr>
      </p:sp>
      <p:sp>
        <p:nvSpPr>
          <p:cNvPr id="24" name="match-hex"/>
          <p:cNvSpPr/>
          <p:nvPr/>
        </p:nvSpPr>
        <p:spPr>
          <a:xfrm>
            <a:off x="6351880" y="3600692"/>
            <a:ext cx="384048" cy="332586"/>
          </a:xfrm>
          <a:prstGeom prst="hexagon">
            <a:avLst/>
          </a:prstGeom>
          <a:solidFill>
            <a:srgbClr val="B8862B"/>
          </a:solidFill>
          <a:ln/>
        </p:spPr>
      </p:sp>
      <p:sp>
        <p:nvSpPr>
          <p:cNvPr id="25" name="match-hex-label"/>
          <p:cNvSpPr txBox="1"/>
          <p:nvPr/>
        </p:nvSpPr>
        <p:spPr>
          <a:xfrm>
            <a:off x="6351880"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36458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He has destroyed his own peace; the innocent can rest, but he cannot.</a:t>
            </a:r>
            <a:endParaRPr lang="en-US" sz="2000" dirty="0"/>
          </a:p>
        </p:txBody>
      </p:sp>
      <p:sp>
        <p:nvSpPr>
          <p:cNvPr id="27" name="match-card"/>
          <p:cNvSpPr/>
          <p:nvPr/>
        </p:nvSpPr>
        <p:spPr>
          <a:xfrm>
            <a:off x="777240" y="4260830"/>
            <a:ext cx="5135728" cy="804809"/>
          </a:xfrm>
          <a:prstGeom prst="roundRect">
            <a:avLst>
              <a:gd name="adj" fmla="val 9089"/>
            </a:avLst>
          </a:prstGeom>
          <a:solidFill>
            <a:srgbClr val="EDE9F0"/>
          </a:solidFill>
          <a:ln/>
        </p:spPr>
      </p:sp>
      <p:sp>
        <p:nvSpPr>
          <p:cNvPr id="28" name="match-hex"/>
          <p:cNvSpPr/>
          <p:nvPr/>
        </p:nvSpPr>
        <p:spPr>
          <a:xfrm>
            <a:off x="850392" y="4496941"/>
            <a:ext cx="384048" cy="332586"/>
          </a:xfrm>
          <a:prstGeom prst="hexagon">
            <a:avLst/>
          </a:prstGeom>
          <a:solidFill>
            <a:srgbClr val="5B3A7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little water clears us of this deed.”</a:t>
            </a:r>
            <a:endParaRPr lang="en-US" sz="2000" dirty="0"/>
          </a:p>
        </p:txBody>
      </p:sp>
      <p:sp>
        <p:nvSpPr>
          <p:cNvPr id="31" name="match-card"/>
          <p:cNvSpPr/>
          <p:nvPr/>
        </p:nvSpPr>
        <p:spPr>
          <a:xfrm>
            <a:off x="6278728" y="4260830"/>
            <a:ext cx="5135728" cy="804809"/>
          </a:xfrm>
          <a:prstGeom prst="roundRect">
            <a:avLst>
              <a:gd name="adj" fmla="val 9089"/>
            </a:avLst>
          </a:prstGeom>
          <a:solidFill>
            <a:srgbClr val="F4EDDF"/>
          </a:solidFill>
          <a:ln/>
        </p:spPr>
      </p:sp>
      <p:sp>
        <p:nvSpPr>
          <p:cNvPr id="32" name="match-hex"/>
          <p:cNvSpPr/>
          <p:nvPr/>
        </p:nvSpPr>
        <p:spPr>
          <a:xfrm>
            <a:off x="6351880" y="4496941"/>
            <a:ext cx="384048" cy="332586"/>
          </a:xfrm>
          <a:prstGeom prst="hexagon">
            <a:avLst/>
          </a:prstGeom>
          <a:solidFill>
            <a:srgbClr val="B8862B"/>
          </a:solidFill>
          <a:ln/>
        </p:spPr>
      </p:sp>
      <p:sp>
        <p:nvSpPr>
          <p:cNvPr id="33" name="match-hex-label"/>
          <p:cNvSpPr txBox="1"/>
          <p:nvPr/>
        </p:nvSpPr>
        <p:spPr>
          <a:xfrm>
            <a:off x="6351880"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260830"/>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His guilt is so great that the whole sea could not remove it.</a:t>
            </a:r>
            <a:endParaRPr lang="en-US" sz="2000" dirty="0"/>
          </a:p>
        </p:txBody>
      </p:sp>
      <p:sp>
        <p:nvSpPr>
          <p:cNvPr id="35" name="match-card"/>
          <p:cNvSpPr/>
          <p:nvPr/>
        </p:nvSpPr>
        <p:spPr>
          <a:xfrm>
            <a:off x="777240" y="5157079"/>
            <a:ext cx="5135728" cy="804809"/>
          </a:xfrm>
          <a:prstGeom prst="roundRect">
            <a:avLst>
              <a:gd name="adj" fmla="val 9089"/>
            </a:avLst>
          </a:prstGeom>
          <a:solidFill>
            <a:srgbClr val="EDE9F0"/>
          </a:solidFill>
          <a:ln/>
        </p:spPr>
      </p:sp>
      <p:sp>
        <p:nvSpPr>
          <p:cNvPr id="36" name="match-hex"/>
          <p:cNvSpPr/>
          <p:nvPr/>
        </p:nvSpPr>
        <p:spPr>
          <a:xfrm>
            <a:off x="850392" y="5393191"/>
            <a:ext cx="384048" cy="332586"/>
          </a:xfrm>
          <a:prstGeom prst="hexagon">
            <a:avLst/>
          </a:prstGeom>
          <a:solidFill>
            <a:srgbClr val="5B3A7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 horror, horror, horror!”</a:t>
            </a:r>
            <a:endParaRPr lang="en-US" sz="2000" dirty="0"/>
          </a:p>
        </p:txBody>
      </p:sp>
      <p:sp>
        <p:nvSpPr>
          <p:cNvPr id="39" name="match-card"/>
          <p:cNvSpPr/>
          <p:nvPr/>
        </p:nvSpPr>
        <p:spPr>
          <a:xfrm>
            <a:off x="6278728" y="5157079"/>
            <a:ext cx="5135728" cy="804809"/>
          </a:xfrm>
          <a:prstGeom prst="roundRect">
            <a:avLst>
              <a:gd name="adj" fmla="val 9089"/>
            </a:avLst>
          </a:prstGeom>
          <a:solidFill>
            <a:srgbClr val="F4EDDF"/>
          </a:solidFill>
          <a:ln/>
        </p:spPr>
      </p:sp>
      <p:sp>
        <p:nvSpPr>
          <p:cNvPr id="40" name="match-hex"/>
          <p:cNvSpPr/>
          <p:nvPr/>
        </p:nvSpPr>
        <p:spPr>
          <a:xfrm>
            <a:off x="6351880" y="5393191"/>
            <a:ext cx="384048" cy="332586"/>
          </a:xfrm>
          <a:prstGeom prst="hexagon">
            <a:avLst/>
          </a:prstGeom>
          <a:solidFill>
            <a:srgbClr val="B8862B"/>
          </a:solidFill>
          <a:ln/>
        </p:spPr>
      </p:sp>
      <p:sp>
        <p:nvSpPr>
          <p:cNvPr id="41" name="match-hex-label"/>
          <p:cNvSpPr txBox="1"/>
          <p:nvPr/>
        </p:nvSpPr>
        <p:spPr>
          <a:xfrm>
            <a:off x="6351880"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5157079"/>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shock of regicide is too great for normal words.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Same task, three ways in: Images of guilt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image from Act 2 to what it suggests about guilt.</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AE5EE"/>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who says each line: Macbeth, Lady Macbeth or Macduff.</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Underline the image in each: sleep, ocean, water, the repeated word.</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is this person overwhelmed by guilt, or brushing it off?</a:t>
            </a:r>
            <a:endParaRPr lang="en-US" sz="1800" dirty="0"/>
          </a:p>
        </p:txBody>
      </p:sp>
      <p:sp>
        <p:nvSpPr>
          <p:cNvPr id="17" name="col-Core"/>
          <p:cNvSpPr/>
          <p:nvPr/>
        </p:nvSpPr>
        <p:spPr>
          <a:xfrm>
            <a:off x="4338218" y="2578608"/>
            <a:ext cx="3515258" cy="3566160"/>
          </a:xfrm>
          <a:prstGeom prst="roundRect">
            <a:avLst>
              <a:gd name="adj" fmla="val 1561"/>
            </a:avLst>
          </a:prstGeom>
          <a:solidFill>
            <a:srgbClr val="D6CEDE"/>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of these images are about washing. Who thinks it is easy, and who thinks it is impossible?</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5B3A7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Which of these images does Shakespeare bring back in Act 5 Scene 1, and why does the echo make the sleepwalking scene so powerful?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42925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Macbeth calls the vision “A dagger of the mind, a false creation”. Which reading does this line support most strongly?</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dagger is real and anyone could see it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dagger is a hallucination produced by Macbeth's troubled mind</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Lady Macbeth has hung a dagger in the hall</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Banquo has left the dagger as a warning</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EFEBF2"/>
          </a:solidFill>
          <a:ln w="12700">
            <a:solidFill>
              <a:srgbClr val="A897B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How Lady Macbeth changes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5486400"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5486400" cy="871220"/>
          </a:xfrm>
          <a:prstGeom prst="roundRect">
            <a:avLst>
              <a:gd name="adj" fmla="val 10496"/>
            </a:avLst>
          </a:prstGeom>
          <a:solidFill>
            <a:srgbClr val="EDE9F0"/>
          </a:solidFill>
          <a:ln/>
        </p:spPr>
      </p:sp>
      <p:sp>
        <p:nvSpPr>
          <p:cNvPr id="9" name="tickbox"/>
          <p:cNvSpPr/>
          <p:nvPr/>
        </p:nvSpPr>
        <p:spPr>
          <a:xfrm>
            <a:off x="713232" y="2273554"/>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4709160" cy="87122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AO1: a clear argument about how she changes, not just what happens</a:t>
            </a:r>
            <a:endParaRPr lang="en-US" sz="2000" dirty="0"/>
          </a:p>
        </p:txBody>
      </p:sp>
      <p:sp>
        <p:nvSpPr>
          <p:cNvPr id="11" name="crit-box"/>
          <p:cNvSpPr/>
          <p:nvPr/>
        </p:nvSpPr>
        <p:spPr>
          <a:xfrm>
            <a:off x="548640" y="2946908"/>
            <a:ext cx="5486400" cy="871220"/>
          </a:xfrm>
          <a:prstGeom prst="roundRect">
            <a:avLst>
              <a:gd name="adj" fmla="val 10496"/>
            </a:avLst>
          </a:prstGeom>
          <a:solidFill>
            <a:srgbClr val="EDE9F0"/>
          </a:solidFill>
          <a:ln/>
        </p:spPr>
      </p:sp>
      <p:sp>
        <p:nvSpPr>
          <p:cNvPr id="12" name="tickbox"/>
          <p:cNvSpPr/>
          <p:nvPr/>
        </p:nvSpPr>
        <p:spPr>
          <a:xfrm>
            <a:off x="713232" y="3236214"/>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2946908"/>
            <a:ext cx="4709160" cy="87122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AO1: at least one short quotation from each scene</a:t>
            </a:r>
            <a:endParaRPr lang="en-US" sz="2000" dirty="0"/>
          </a:p>
        </p:txBody>
      </p:sp>
      <p:sp>
        <p:nvSpPr>
          <p:cNvPr id="14" name="crit-box"/>
          <p:cNvSpPr/>
          <p:nvPr/>
        </p:nvSpPr>
        <p:spPr>
          <a:xfrm>
            <a:off x="548640" y="3909568"/>
            <a:ext cx="5486400" cy="1181100"/>
          </a:xfrm>
          <a:prstGeom prst="roundRect">
            <a:avLst>
              <a:gd name="adj" fmla="val 7742"/>
            </a:avLst>
          </a:prstGeom>
          <a:solidFill>
            <a:srgbClr val="EDE9F0"/>
          </a:solidFill>
          <a:ln/>
        </p:spPr>
      </p:sp>
      <p:sp>
        <p:nvSpPr>
          <p:cNvPr id="15" name="tickbox"/>
          <p:cNvSpPr/>
          <p:nvPr/>
        </p:nvSpPr>
        <p:spPr>
          <a:xfrm>
            <a:off x="713232" y="4353814"/>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3909568"/>
            <a:ext cx="4709160" cy="118110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AO2: you analyse a method: the motif of blood or water, sentence structure, or the change from verse to prose</a:t>
            </a:r>
            <a:endParaRPr lang="en-US" sz="2000" dirty="0"/>
          </a:p>
        </p:txBody>
      </p:sp>
      <p:sp>
        <p:nvSpPr>
          <p:cNvPr id="17" name="crit-box"/>
          <p:cNvSpPr/>
          <p:nvPr/>
        </p:nvSpPr>
        <p:spPr>
          <a:xfrm>
            <a:off x="548640" y="5182108"/>
            <a:ext cx="5486400" cy="871220"/>
          </a:xfrm>
          <a:prstGeom prst="roundRect">
            <a:avLst>
              <a:gd name="adj" fmla="val 10496"/>
            </a:avLst>
          </a:prstGeom>
          <a:solidFill>
            <a:srgbClr val="EDE9F0"/>
          </a:solidFill>
          <a:ln/>
        </p:spPr>
      </p:sp>
      <p:sp>
        <p:nvSpPr>
          <p:cNvPr id="18" name="tickbox"/>
          <p:cNvSpPr/>
          <p:nvPr/>
        </p:nvSpPr>
        <p:spPr>
          <a:xfrm>
            <a:off x="713232" y="5471414"/>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5182108"/>
            <a:ext cx="4709160" cy="87122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AO3: you link the change to Christian ideas of guilt, sin and God's justice</a:t>
            </a:r>
            <a:endParaRPr lang="en-US" sz="2000" dirty="0"/>
          </a:p>
        </p:txBody>
      </p:sp>
      <p:sp>
        <p:nvSpPr>
          <p:cNvPr id="20" name="model-panel"/>
          <p:cNvSpPr/>
          <p:nvPr/>
        </p:nvSpPr>
        <p:spPr>
          <a:xfrm>
            <a:off x="6309360" y="1389888"/>
            <a:ext cx="5333695" cy="4754880"/>
          </a:xfrm>
          <a:prstGeom prst="roundRect">
            <a:avLst>
              <a:gd name="adj" fmla="val 962"/>
            </a:avLst>
          </a:prstGeom>
          <a:solidFill>
            <a:srgbClr val="F4EDDF"/>
          </a:solidFill>
          <a:ln w="19050">
            <a:solidFill>
              <a:srgbClr val="B8862B"/>
            </a:solidFill>
            <a:prstDash val="solid"/>
          </a:ln>
        </p:spPr>
      </p:sp>
      <p:sp>
        <p:nvSpPr>
          <p:cNvPr id="21" name="model-tab"/>
          <p:cNvSpPr/>
          <p:nvPr/>
        </p:nvSpPr>
        <p:spPr>
          <a:xfrm>
            <a:off x="649224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22" name="model"/>
          <p:cNvSpPr txBox="1"/>
          <p:nvPr/>
        </p:nvSpPr>
        <p:spPr>
          <a:xfrm>
            <a:off x="6537960" y="2167128"/>
            <a:ext cx="487649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Act 2 Scene 2 Lady Macbeth is calm and practical. She tells her husband “A little water clears us of this deed”, as if guilt could be rinsed away like dirt. By Act 5 Scene 1 the same woman cannot stop washing. “Out, damned spot, out, I say!” breaks into short, desperate commands, and she now speaks in prose rather than verse, which shows her control has gone. The motif of blood links the two scenes: the water she trusted has failed her. For a Christian audience this would look like God's justice at work, punishing a sin that nobody else has yet discovered.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Images of guilt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“Macbeth does murder sleep”  →  B  He has destroyed his own peace; the innocent can rest, but he cannot.</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“Will all great Neptune's ocean wash this blood / Clean from my hand?”  →  C  His guilt is so great that the whole sea could not remove it.</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 little water clears us of this deed.”  →  A  She believes guilt is a stain that can simply be washed off.</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“O horror, horror, horror!”  →  D  The shock of regicide is too great for normal words.</a:t>
            </a:r>
            <a:endParaRPr lang="en-US" sz="20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Sleep, water and blood are motifs that return. In Act 2, Macbeth feels the guilt and Lady Macbeth dismisses it; by Act 5, that is reversed.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Macbeth calls the vision “A dagger of the mind, a false creation”. Which reading does this line support most strongly?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The dagger is a hallucination produced by Macbeth's troubled mind</a:t>
            </a:r>
            <a:endParaRPr lang="en-US" sz="18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Macbeth himself names the dagger as something his mind has made. That supports the hallucination reading, though the play still leaves room for the witches.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AE5EE"/>
      </a:lt2>
      <a:accent1>
        <a:srgbClr val="5B3A7A"/>
      </a:accent1>
      <a:accent2>
        <a:srgbClr val="B8862B"/>
      </a:accent2>
      <a:accent3>
        <a:srgbClr val="9D89AF"/>
      </a:accent3>
      <a:accent4>
        <a:srgbClr val="815E1E"/>
      </a:accent4>
      <a:accent5>
        <a:srgbClr val="4A505C"/>
      </a:accent5>
      <a:accent6>
        <a:srgbClr val="D9BF8F"/>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Macbeth · Chapter 4: Guilt, sleep and blood (Act 2 and Act 5 Scene 1)</dc:title>
  <dc:subject>English Literature · Year 10</dc:subject>
  <dc:creator>Dr Vitor Merissi de Carvalho</dc:creator>
  <cp:lastModifiedBy>Dr Vitor Merissi de Carvalho</cp:lastModifiedBy>
  <cp:revision>1</cp:revision>
  <dcterms:created xsi:type="dcterms:W3CDTF">2026-10-16T23:02:11Z</dcterms:created>
  <dcterms:modified xsi:type="dcterms:W3CDTF">2026-10-16T23:02:11Z</dcterms:modified>
</cp:coreProperties>
</file>