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f324430-a41a-c0d9-eacf-a03d5336f55d}">
          <p14:sldIdLst>
            <p14:sldId id="256"/>
          </p14:sldIdLst>
        </p14:section>
        <p14:section name="Gate" id="{c1a0fe16-94a7-9c64-d192-30660697efbf}">
          <p14:sldIdLst>
            <p14:sldId id="257"/>
            <p14:sldId id="258"/>
            <p14:sldId id="259"/>
          </p14:sldIdLst>
        </p14:section>
        <p14:section name="Pre-teach" id="{c429c8b0-6374-954e-73bb-f16fe0e01807}">
          <p14:sldIdLst>
            <p14:sldId id="260"/>
            <p14:sldId id="261"/>
          </p14:sldIdLst>
        </p14:section>
        <p14:section name="Read-along" id="{176ed1aa-31ff-197f-031c-d04b09af6b6a}">
          <p14:sldIdLst>
            <p14:sldId id="262"/>
            <p14:sldId id="263"/>
          </p14:sldIdLst>
        </p14:section>
        <p14:section name="Teach" id="{9cd343b5-edd3-77a0-4016-6f99db29fe11}">
          <p14:sldIdLst>
            <p14:sldId id="264"/>
            <p14:sldId id="265"/>
            <p14:sldId id="266"/>
            <p14:sldId id="267"/>
            <p14:sldId id="268"/>
            <p14:sldId id="269"/>
          </p14:sldIdLst>
        </p14:section>
        <p14:section name="Routes" id="{398a2035-60e5-b4e5-4926-2afb506ec0d9}">
          <p14:sldIdLst>
            <p14:sldId id="270"/>
            <p14:sldId id="271"/>
            <p14:sldId id="272"/>
            <p14:sldId id="273"/>
          </p14:sldIdLst>
        </p14:section>
        <p14:section name="Close" id="{ae5db255-0197-1ea1-a468-34826d27d9a0}">
          <p14:sldIdLst>
            <p14:sldId id="274"/>
          </p14:sldIdLst>
        </p14:section>
        <p14:section name="Answers" id="{2a80405f-cc31-c3c7-740d-9f9c05d661f7}">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The Somme: the plan and the battle. Why the Allies chose a war of attrition, why the attack had to happen in July 1916, what Haig's four-step plan was, and what happened when the plan met the reality of the German defences.
This deck covers the department's lesson: 3 (The Battle of the Somme: victory or defeat?: Was the Battle of the Somme a success or a failure for the British Army?).
Read the big question aloud: "Was the Battle of the Somme a victory or a defeat, and why have historians changed their minds about General Haig?"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a war of attrition mean?  →  C   Wearing the enemy down little by little until they surrender or their army collapses
2. In January 1916 Britain passed the ___ Act, so that men aged 18 to 41 could be made by law to join the army.  →  Conscription
3. What were the two purposes of the Battle of the Somme?  →  C   To draw the German army away from Verdun, and to inflict heavy losses on it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a war of attrition mean?  →  C   Wearing the enemy down little by little until they surrender or their army collapses
2. In January 1916 Britain passed the ___ Act, so that men aged 18 to 41 could be made by law to join the army.  →  Conscription
3. What were the two purposes of the Battle of the Somme?  →  C   To draw the German army away from Verdun, and to inflict heavy losses on it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Wearing the enemy down little by little until they surrender or their army collapses. Attrition means grinding the enemy down in men and supplies until they can no longer fight. It was the strategy both alliances used by 1916.
2. Conscription. The Conscription Act of January 1916 forced men aged 18 to 41 to join up, which gave Haig a much bigger but far less experienced army.
3. C   To draw the German army away from Verdun, and to inflict heavy losses on it. The Somme was meant to relieve the French at Verdun and to wear the German army down. Both purposes come from the strategy of attrition.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war of attrition: wearing an enemy down little by little until they surrender or collapse. Example: "By 1916 the war had become a war of attrition."
• conscription: forcing men to join the armed forces by law. Example: "Conscription gave Haig many more soldiers, but they were not trained."
• offensive: a large planned attack. Example: "The Allies planned a major offensive by the River Somme."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bombardment: heavy shelling of an enemy position, often for days on end. Example: "The bombardment was meant to cut the barbed wire and destroy the trenches."
• Verdun: the French town where a German attack almost broke the French army in 1916. Example: "One purpose of the Somme was to draw German soldiers away from Verdun."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By 1916 the war had become a war of attrition.
2. Each side tried to wear the other down until it collapsed.
3. The Allies believed they had more weapons, food and men.
4. In January 1916 Britain passed the Conscription Act.
5. All men aged 18 to 41 could now be made to join up.
6. In February 1916 the Germans attacked the French at Verdun.
7. The French army came close to collapse.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French demanded that the British attack at the Somme.
9. General Douglas Haig led the British army there.
10. His plan had four steps and was kept deliberately simple.
11. The attack began on 1 July 1916.
12. The first day was a disaster for the British army.
13. The battle went on until November 1916.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war of attrition. Say it in your own words, then check understanding with a quick question: ask a pupil from the pre-teach group first, since they met these words and ideas before the lesson. Pupils try to recall before you re-explain.
By 1916 the war had become a war of attrition. That means the way to victory was no longer a single brilliant battle, but gradually wearing down and weakening the enemy army until it surrendered or collapsed. The British and French realised they would have to grind the German army down, and they were confident that they had more of what that takes: more weapons, more food and more soldiers.
To make sure of the soldiers, Britain passed the Conscription Act in January 1916. Conscription meant that men aged between 18 and 41 could be forced by law to join the British army. The advantage was obvious: the army grew enormously. The disadvantage took longer to show. The new soldiers were inexperienced and had not had long military training.
Keep both sides of that in mind. Attrition is a strategy that spends lives on purpose, and the men it was about to spend had mostly been civilians a few months earlier.
Tip: Define a war of attrition in your own words before you use it: wearing the enemy down until they collapse. Then say what it means for the men doing the wearing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Somme, and why July?. Say it in your own words, then check understanding with a quick question: ask a pupil from the pre-teach group first, since they met these words and ideas before the lesson. Pupils try to recall before you re-explain.
The Allies had been planning a big year of attacks for 1916, on the Western Front in France, on the Eastern Front in Russia, and in the Balkans. The French had been planning a major offensive against the Germans near the River Somme. Then, in February 1916, the Germans attacked the French at Verdun, and the French army came close to collapse. From February 1916 the British army was in charge of the Somme offensive instead.
That gives the battle its two purposes, and your lesson wants both of them. The first was to divert the German army away from Verdun, to relieve the French. The second was to inflict heavy losses on the German army, in men and in resources, because the Allies believed they could afford such losses better than Germany could.
General Douglas Haig led the British army at the Somme. The French, desperate at Verdun, pushed him to begin as soon as possible, and the attack began on 1 July 1916. The battle lasted until November 1916.
Tip: Two purposes, every time: relieve Verdun, and wear the German army down. An answer with only one of them has only half the aim of the battle.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Haig's four-step plan. Say it in your own words, then check understanding with a quick question: ask a pupil from the pre-teach group first, since they met these words and ideas before the lesson. Pupils try to recall before you re-explain.
Conscription had given Haig many more soldiers, but they had almost no experience and very little military training, so he kept his plan simple. Step one was to wear the German army and its defences down with constant shelling and bombardment before the attack. Step two was to send his men walking across no-man's-land, along a front about 14 miles long, into the German trenches. Step three was to defeat the Germans at the Somme. Step four was to meet up with the French army and secure Verdun.
Step one is the step everything else rested on. The German trenches were bombarded for seven days in a row, and nearly 2 million shells were fired at them. Haig believed the shelling would cut the barbed wire in front of the German trenches, destroy the trenches themselves, and destroy the bunkers the German soldiers were sheltering in. In short, he believed it would clear a path.
That belief shaped step two. Haig ordered his men to cross in broad daylight, so that the gunners behind them could see where they were firing, and to walk forward in a straight line, because he had been told the German machine guns were destroyed. Those orders only make sense if step one worked.
Worked example — model it step by step, thinking aloud: Explain the importance of step one in Haig's plan, and what would happen if it failed. (1) Say what step one was: seven days of shelling to cut the wire and destroy the German trenches and bunkers. (2) Say what step one made possible: if the wire was cut and the defenders gone, the men could walk across and take the trenches. (3) Say what depends on it: the orders to cross in daylight, in a straight line, were only sensible if the defences had been destroyed. (4) Say what happens if it fails: the men would be walking slowly, in the open, towards wire that was still standing and machine guns that still worked. Answer: Step one was supposed to clear the path; every later step assumed it had. If it failed, the plan sent men walking in the open towards uncut wire and working machine guns..
Tip: A four-step plan is only as strong as its first step. Say that in your answer and you have the examiner's point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Haig's four-step plan. Say it in your own words, then check understanding with a quick question: ask a pupil from the pre-teach group first, since they met these words and ideas before the lesson. Pupils try to recall before you re-explain.
Conscription had given Haig many more soldiers, but they had almost no experience and very little military training, so he kept his plan simple. Step one was to wear the German army and its defences down with constant shelling and bombardment before the attack. Step two was to send his men walking across no-man's-land, along a front about 14 miles long, into the German trenches. Step three was to defeat the Germans at the Somme. Step four was to meet up with the French army and secure Verdun.
Step one is the step everything else rested on. The German trenches were bombarded for seven days in a row, and nearly 2 million shells were fired at them. Haig believed the shelling would cut the barbed wire in front of the German trenches, destroy the trenches themselves, and destroy the bunkers the German soldiers were sheltering in. In short, he believed it would clear a path.
That belief shaped step two. Haig ordered his men to cross in broad daylight, so that the gunners behind them could see where they were firing, and to walk forward in a straight line, because he had been told the German machine guns were destroyed. Those orders only make sense if step one worked.
Worked example — model it step by step, thinking aloud: Explain the importance of step one in Haig's plan, and what would happen if it failed. (1) Say what step one was: seven days of shelling to cut the wire and destroy the German trenches and bunkers. (2) Say what step one made possible: if the wire was cut and the defenders gone, the men could walk across and take the trenches. (3) Say what depends on it: the orders to cross in daylight, in a straight line, were only sensible if the defences had been destroyed. (4) Say what happens if it fails: the men would be walking slowly, in the open, towards wire that was still standing and machine guns that still worked. Answer: Step one was supposed to clear the path; every later step assumed it had. If it failed, the plan sent men walking in the open towards uncut wire and working machine guns..
Tip: A four-step plan is only as strong as its first step. Say that in your answer and you have the examiner's point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Haig's four-step plan. Say it in your own words, then check understanding with a quick question: ask a pupil from the pre-teach group first, since they met these words and ideas before the lesson. Pupils try to recall before you re-explain.
Conscription had given Haig many more soldiers, but they had almost no experience and very little military training, so he kept his plan simple. Step one was to wear the German army and its defences down with constant shelling and bombardment before the attack. Step two was to send his men walking across no-man's-land, along a front about 14 miles long, into the German trenches. Step three was to defeat the Germans at the Somme. Step four was to meet up with the French army and secure Verdun.
Step one is the step everything else rested on. The German trenches were bombarded for seven days in a row, and nearly 2 million shells were fired at them. Haig believed the shelling would cut the barbed wire in front of the German trenches, destroy the trenches themselves, and destroy the bunkers the German soldiers were sheltering in. In short, he believed it would clear a path.
That belief shaped step two. Haig ordered his men to cross in broad daylight, so that the gunners behind them could see where they were firing, and to walk forward in a straight line, because he had been told the German machine guns were destroyed. Those orders only make sense if step one worked.
Worked example — model it step by step, thinking aloud: Explain the importance of step one in Haig's plan, and what would happen if it failed. (1) Say what step one was: seven days of shelling to cut the wire and destroy the German trenches and bunkers. (2) Say what step one made possible: if the wire was cut and the defenders gone, the men could walk across and take the trenches. (3) Say what depends on it: the orders to cross in daylight, in a straight line, were only sensible if the defences had been destroyed. (4) Say what happens if it fails: the men would be walking slowly, in the open, towards wire that was still standing and machine guns that still worked. Answer: Step one was supposed to clear the path; every later step assumed it had. If it failed, the plan sent men walking in the open towards uncut wire and working machine guns..
Tip: A four-step plan is only as strong as its first step. Say that in your answer and you have the examiner's point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Plan and reality. Say it in your own words, then check understanding with a quick question: ask a pupil from the pre-teach group first, since they met these words and ideas before the lesson. Pupils try to recall before you re-explain.
The bombardment did not do what Haig expected. In many places the barbed wire was not cut, and the German soldiers were not dead: a great many had sheltered deep underground, and when the shelling stopped they came back up to their machine guns. The one thing seven days of shelling certainly did was tell the Germans that an attack was coming.
On 1 July 1916 more than 100,000 British troops climbed out and walked into no-man's-land. On that first day about 57,000 British soldiers were injured or killed, nearly 20,000 of them killed. It was the bloodiest single day in the history of the British army, and every one of those figures is a family. Many historians look at that first day and conclude that the Somme was a failure.
Other historians ask you to look at the whole battle, from July to its end in November 1916. Over those months the pressure on Verdun was lifted and the French army was saved; the German army suffered very heavy losses of its own, which was the second purpose of the attack; the British gained about 7 miles of ground; new technology, including the tank, was tried out for the first time; and an inexperienced army learned, at a terrible price, how this kind of war had to be fought.
Tip: When you judge the Somme, say which timescale you are judging: the first day, or July to November. Historians disagree partly because they are answering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Haig's plan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steps of Haig's plan for the Somme in the order he intended them.
Support — work through the steps with the group: (1) Ask which step needs nothing else to have happened first. That one comes before the men leave their trenches. (2) The men cannot cross no-man's-land until the path has been cleared. (3) The Germans cannot be defeated until the British have reached their trenches. (4) Verdun is the furthest goal, so it must be last.
Parallel worked example for Support (model it, do not give the task answer): Put these steps of a school fire evacuation in order: the registers are checked on the field; the alarm sounds; classes walk to the field; the all-clear is given. Nothing happens until the alarm sounds.; Then the classes walk out.; Registers are checked once everyone is on the field.; The all-clear comes last.. Answer: the alarm sounds; classes walk to the field; the registers are checked on the field; the all-clear is given.
Core — reveal the hint only on request: Shelling, crossing, defeating, then the French. Each step depends on the one before it.
Stretch — no help; when finished: Explain which step you think carried the biggest risk of failure, and what Haig could have done differently if he had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Haig's plan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four steps of Haig's plan for the Somme in the order he intended them.
Support — work through the steps with the group: (1) Ask which step needs nothing else to have happened first. That one comes before the men leave their trenches. (2) The men cannot cross no-man's-land until the path has been cleared. (3) The Germans cannot be defeated until the British have reached their trenches. (4) Verdun is the furthest goal, so it must be last.
Parallel worked example for Support (model it, do not give the task answer): Put these steps of a school fire evacuation in order: the registers are checked on the field; the alarm sounds; classes walk to the field; the all-clear is given. Nothing happens until the alarm sounds.; Then the classes walk out.; Registers are checked once everyone is on the field.; The all-clear comes last.. Answer: the alarm sounds; classes walk to the field; the registers are checked on the field; the all-clear is given.
Core — reveal the hint only on request: Shelling, crossing, defeating, then the French. Each step depends on the one before it.
Stretch — no help; when finished: Explain which step you think carried the biggest risk of failure, and what Haig could have done differently if he had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Three shells a second.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Your lesson says the guns fired 1,783,000 shells during the bombardment, which lasted seven days, or 604,800 seconds. On average, how many shells were fired each second? Give your answer to the nearest whole number.
Support — work through the steps with the group: (1) Decide which operation you need. Shells in total, shared over seconds, means divide. (2) Write it down: 1,783,000 divided by 604,800. (3) Work out the division: it comes to a little under 3. (4) Round to the nearest whole number, remembering that 2.9 rounds up.
Parallel worked example for Support (model it, do not give the task answer): A conveyor belt carries 95 boxes in 60 seconds. How many boxes per second is that, to the nearest whole number? Divide the boxes by the seconds: 95 divided by 60.; That gives about 1.6.; 1.6 rounds up to 2.. Answer: 2 boxes per second.
Core — reveal the hint only on request: Divide the shells by the seconds, then round. Do not use the number of days.
Stretch — no help; when finished: Three shells a second for seven days still left much of the wire uncut. Explain what that tells you about the German defences, and about the information Haig was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Three shells a second.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Your lesson says the guns fired 1,783,000 shells during the bombardment, which lasted seven days, or 604,800 seconds. On average, how many shells were fired each second? Give your answer to the nearest whole number.
Support — work through the steps with the group: (1) Decide which operation you need. Shells in total, shared over seconds, means divide. (2) Write it down: 1,783,000 divided by 604,800. (3) Work out the division: it comes to a little under 3. (4) Round to the nearest whole number, remembering that 2.9 rounds up.
Parallel worked example for Support (model it, do not give the task answer): A conveyor belt carries 95 boxes in 60 seconds. How many boxes per second is that, to the nearest whole number? Divide the boxes by the seconds: 95 divided by 60.; That gives about 1.6.; 1.6 rounds up to 2.. Answer: 2 boxes per second.
Core — reveal the hint only on request: Divide the shells by the seconds, then round. Do not use the number of days.
Stretch — no help; when finished: Three shells a second for seven days still left much of the wire uncut. Explain what that tells you about the German defences, and about the information Haig was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does a war of attrition mean?
Answer: B   Wearing the enemy down little by little until they surrender or their army collapses. Attrition means grinding the enemy down in men and supplies until they can no longer fight. It was the strategy both alliances used by 1916.
Source of this question: gate item 1 re-asked (options rotated) — this chapter has no third quick-check module.
The ebook also holds task 3, "Success or failure?",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Haig's plan in order. Reveal the answer; pupils mark their own work in a different colour, then read the "why" together. Same destination for every lane, so one answer serves the whole class.
Answer: Wear the German army and its defences down with shelling and bombardment  (D); Send British troops walking across no-man's-land to the German trenches  (A); Defeat the German army at the Somme  (C); Meet up with the French army and secure Verdun  (B)
Why: Bombardment first, then the walk across no-man's-land, then the defeat of the Germans at the Somme, then the meeting with the French at Verdun. The plan is a chain: if the first link breaks, every later step is attempted in conditions it was not designed for.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Three shells a second. Reveal the answer; pupils mark their own work in a different colour, then read the "why" together. Same destination for every lane, so one answer serves the whole class.
Answer: 3 shells per second
Why: 1,783,000 shells over 604,800 seconds is about 2.9 shells a second, which rounds to 3. The figure explains Haig's confidence: nobody had ever fired so much. It also sets up the hardest question of the unit, which is how so much shelling could leave the wire uncut and the machine guns working.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Wearing the enemy down little by little until they surrender or their army collapses
Why: Attrition means grinding the enemy down in men and supplies until they can no longer fight. It was the strategy both alliances used by 1916.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Battle of the Somme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the Somme · AQA KS3 → 8145</a:t>
            </a:r>
            <a:endParaRPr lang="en-US" sz="1800" dirty="0"/>
          </a:p>
        </p:txBody>
      </p:sp>
      <p:sp>
        <p:nvSpPr>
          <p:cNvPr id="10" name="deck-title"/>
          <p:cNvSpPr txBox="1"/>
          <p:nvPr/>
        </p:nvSpPr>
        <p:spPr>
          <a:xfrm>
            <a:off x="548640" y="223824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Somme: the plan and the battle</a:t>
            </a:r>
            <a:endParaRPr lang="en-US" sz="4000" dirty="0"/>
          </a:p>
        </p:txBody>
      </p:sp>
      <p:sp>
        <p:nvSpPr>
          <p:cNvPr id="11" name="lessons-card"/>
          <p:cNvSpPr/>
          <p:nvPr/>
        </p:nvSpPr>
        <p:spPr>
          <a:xfrm>
            <a:off x="548640" y="3914648"/>
            <a:ext cx="5287975" cy="1290320"/>
          </a:xfrm>
          <a:prstGeom prst="roundRect">
            <a:avLst>
              <a:gd name="adj" fmla="val 5669"/>
            </a:avLst>
          </a:prstGeom>
          <a:solidFill>
            <a:srgbClr val="F4F0EC"/>
          </a:solidFill>
          <a:ln/>
        </p:spPr>
      </p:sp>
      <p:sp>
        <p:nvSpPr>
          <p:cNvPr id="12" name="lessons"/>
          <p:cNvSpPr txBox="1"/>
          <p:nvPr/>
        </p:nvSpPr>
        <p:spPr>
          <a:xfrm>
            <a:off x="685800" y="40060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Battle of the Somme: victory or defeat?</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Was the Battle of the Somme a victory or a defeat, and why have historians changed their minds about General Haig?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does a war of attrition mean?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Attacking only at night to avoid being seen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Winning with one fast and decisive battle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Wearing the enemy down little by little until they surrender or their army collapses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Defending a line of trenches without ever attacking</a:t>
            </a:r>
            <a:endParaRPr lang="en-US" sz="2000" dirty="0"/>
          </a:p>
        </p:txBody>
      </p:sp>
      <p:sp>
        <p:nvSpPr>
          <p:cNvPr id="12" name="card"/>
          <p:cNvSpPr/>
          <p:nvPr/>
        </p:nvSpPr>
        <p:spPr>
          <a:xfrm>
            <a:off x="6233008" y="1389888"/>
            <a:ext cx="541004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January 1916 Britain passed the ___ Act, so that men aged 18 to 41 could be made by law to join the army.</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Conscription  ·  Attrition  ·  Alliance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were the two purposes of the Battle of the Somme?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test the tank and to train Britain's new recruits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defend the Belgian coast against a German landing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draw the German army away from Verdun, and to inflict heavy losses on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 capture Berlin and end the war before the winter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EE3CD"/>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Wearing the enemy down little by little until they surrender or their army collapses</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Attrition means grinding the enemy down in men and supplies until they can no longer fight. It was the strategy both alliances used by 1916.</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Conscription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January 1916 Britain passed the ___ Act, so that men aged 18 to 41 could be made by law to join the army.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Conscription Act of January 1916 forced men aged 18 to 41 to join up, which gave Haig a much bigger but far less experienced army.</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EE3CD"/>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To draw the German army away from Verdun, and to inflict heavy losses on it</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Somme was meant to relieve the French at Verdun and to wear the German army down. Both purposes come from the strategy of attrition.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war of attrition</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wearing an enemy down little by little until they surrender or collapse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By 1916 the war had become a war of attrition.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conscription</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forcing men to join the armed forces by law</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Conscription gave Haig many more soldiers, but they were not trained.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offensive</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large planned attack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Allies planned a major offensive by the River Somme.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bombardment</a:t>
            </a:r>
            <a:endParaRPr lang="en-US" sz="2600" dirty="0"/>
          </a:p>
        </p:txBody>
      </p:sp>
      <p:sp>
        <p:nvSpPr>
          <p:cNvPr id="11" name="word-rule"/>
          <p:cNvSpPr/>
          <p:nvPr/>
        </p:nvSpPr>
        <p:spPr>
          <a:xfrm>
            <a:off x="731520" y="2129028"/>
            <a:ext cx="5044288" cy="0"/>
          </a:xfrm>
          <a:prstGeom prst="line">
            <a:avLst/>
          </a:prstGeom>
          <a:ln w="12700">
            <a:solidFill>
              <a:srgbClr val="CCB9A8"/>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heavy shelling of an enemy position, often for days on end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bombardment was meant to cut the barbed wire and destroy the trenches.</a:t>
            </a:r>
            <a:endParaRPr lang="en-US" sz="2200" dirty="0"/>
          </a:p>
        </p:txBody>
      </p:sp>
      <p:sp>
        <p:nvSpPr>
          <p:cNvPr id="13" name="word-card"/>
          <p:cNvSpPr/>
          <p:nvPr/>
        </p:nvSpPr>
        <p:spPr>
          <a:xfrm>
            <a:off x="6233008" y="1389888"/>
            <a:ext cx="5410048" cy="4754880"/>
          </a:xfrm>
          <a:prstGeom prst="roundRect">
            <a:avLst>
              <a:gd name="adj" fmla="val 1154"/>
            </a:avLst>
          </a:prstGeom>
          <a:solidFill>
            <a:srgbClr val="F6F3F0"/>
          </a:solidFill>
          <a:ln w="12700">
            <a:solidFill>
              <a:srgbClr val="CCB9A8"/>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Verdun</a:t>
            </a:r>
            <a:endParaRPr lang="en-US" sz="2600" dirty="0"/>
          </a:p>
        </p:txBody>
      </p:sp>
      <p:sp>
        <p:nvSpPr>
          <p:cNvPr id="17" name="word-rule"/>
          <p:cNvSpPr/>
          <p:nvPr/>
        </p:nvSpPr>
        <p:spPr>
          <a:xfrm>
            <a:off x="6415888" y="2129028"/>
            <a:ext cx="5044288" cy="0"/>
          </a:xfrm>
          <a:prstGeom prst="line">
            <a:avLst/>
          </a:prstGeom>
          <a:ln w="12700">
            <a:solidFill>
              <a:srgbClr val="CCB9A8"/>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French town where a German attack almost broke the French army in 1916</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One purpose of the Somme was to draw German soldiers away from Verdun.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By 1916 the war had become a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war of attrition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side tried to wear the other down until it collapsed.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Allies believed they had more weapons, food and men.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January 1916 Britain passed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Conscription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Act.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All men aged 18 to 41 could now be made to join up.</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February 1916 the Germans attacked the French at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Verdun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French army came close to collapse.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French demanded that the British attack at the Somme.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General Douglas Haig led the British army there.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 plan had four steps and was kept deliberately simple.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attack began on 1 July 1916.</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first day was a disaster for the British army.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battle went on until November 1916.</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 war of attrition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Define a war of attrition in your own words before you use it: wearing the enemy down until they collapse. Then say what it means for the men doing the wearing down.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By 1916 the war had become a war of attrition.</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 make sure of the soldiers, Britain passed the Conscription Act in January 1916.</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Keep both sides of that in mind. Attrition is a strategy that spends lives on purpose, and the men it was about to spend had mostly been civilians a few months earlier.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the Somme, and why July?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purposes, every time: relieve Verdun, and wear the German army down. An answer with only one of them has only half the aim of the battle.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Allies had been planning a big year of attacks for 1916, on the Western Front in France, on the Eastern Front in Russia, and in the Balkans.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That gives the battle its two purposes, and your lesson wants both of them.</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General Douglas Haig led the British army at the Somme.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Haig's four-step plan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four-step plan is only as strong as its first step. Say that in your answer and you have the examiner's point already.</a:t>
            </a:r>
            <a:endParaRPr lang="en-US" sz="1800" dirty="0"/>
          </a:p>
        </p:txBody>
      </p:sp>
      <p:sp>
        <p:nvSpPr>
          <p:cNvPr id="11" name="bullet-card"/>
          <p:cNvSpPr/>
          <p:nvPr/>
        </p:nvSpPr>
        <p:spPr>
          <a:xfrm>
            <a:off x="548640" y="1389888"/>
            <a:ext cx="11094415" cy="1017524"/>
          </a:xfrm>
          <a:prstGeom prst="roundRect">
            <a:avLst>
              <a:gd name="adj" fmla="val 7189"/>
            </a:avLst>
          </a:prstGeom>
          <a:solidFill>
            <a:srgbClr val="F6F3F0"/>
          </a:solidFill>
          <a:ln/>
        </p:spPr>
      </p:sp>
      <p:sp>
        <p:nvSpPr>
          <p:cNvPr id="12" name="bullet-hex"/>
          <p:cNvSpPr/>
          <p:nvPr/>
        </p:nvSpPr>
        <p:spPr>
          <a:xfrm>
            <a:off x="676656" y="1732357"/>
            <a:ext cx="384048" cy="332586"/>
          </a:xfrm>
          <a:prstGeom prst="hexagon">
            <a:avLst/>
          </a:prstGeom>
          <a:solidFill>
            <a:srgbClr val="7A4A1E"/>
          </a:solidFill>
          <a:ln/>
        </p:spPr>
      </p:sp>
      <p:sp>
        <p:nvSpPr>
          <p:cNvPr id="13" name="bullet"/>
          <p:cNvSpPr txBox="1"/>
          <p:nvPr/>
        </p:nvSpPr>
        <p:spPr>
          <a:xfrm>
            <a:off x="1143000" y="1389888"/>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Conscription had given Haig many more soldiers, but they had almost no experience and very little military training, so he kept his plan simple.</a:t>
            </a:r>
            <a:endParaRPr lang="en-US" sz="2200" dirty="0"/>
          </a:p>
        </p:txBody>
      </p:sp>
      <p:sp>
        <p:nvSpPr>
          <p:cNvPr id="14" name="bullet-card"/>
          <p:cNvSpPr/>
          <p:nvPr/>
        </p:nvSpPr>
        <p:spPr>
          <a:xfrm>
            <a:off x="548640" y="2553716"/>
            <a:ext cx="11094415" cy="1017524"/>
          </a:xfrm>
          <a:prstGeom prst="roundRect">
            <a:avLst>
              <a:gd name="adj" fmla="val 7189"/>
            </a:avLst>
          </a:prstGeom>
          <a:solidFill>
            <a:srgbClr val="F6F3F0"/>
          </a:solidFill>
          <a:ln/>
        </p:spPr>
      </p:sp>
      <p:sp>
        <p:nvSpPr>
          <p:cNvPr id="15" name="bullet-hex"/>
          <p:cNvSpPr/>
          <p:nvPr/>
        </p:nvSpPr>
        <p:spPr>
          <a:xfrm>
            <a:off x="676656" y="2896185"/>
            <a:ext cx="384048" cy="332586"/>
          </a:xfrm>
          <a:prstGeom prst="hexagon">
            <a:avLst/>
          </a:prstGeom>
          <a:solidFill>
            <a:srgbClr val="B8862B"/>
          </a:solidFill>
          <a:ln/>
        </p:spPr>
      </p:sp>
      <p:sp>
        <p:nvSpPr>
          <p:cNvPr id="16" name="bullet"/>
          <p:cNvSpPr txBox="1"/>
          <p:nvPr/>
        </p:nvSpPr>
        <p:spPr>
          <a:xfrm>
            <a:off x="1143000" y="2553716"/>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Step one is the step everything else rested on. The German trenches were bombarded for seven days in a row, and nearly 2 million shells were fired at them.</a:t>
            </a:r>
            <a:endParaRPr lang="en-US" sz="2200" dirty="0"/>
          </a:p>
        </p:txBody>
      </p:sp>
      <p:sp>
        <p:nvSpPr>
          <p:cNvPr id="17" name="bullet-card"/>
          <p:cNvSpPr/>
          <p:nvPr/>
        </p:nvSpPr>
        <p:spPr>
          <a:xfrm>
            <a:off x="548640" y="3717544"/>
            <a:ext cx="11094415" cy="1358392"/>
          </a:xfrm>
          <a:prstGeom prst="roundRect">
            <a:avLst>
              <a:gd name="adj" fmla="val 5385"/>
            </a:avLst>
          </a:prstGeom>
          <a:solidFill>
            <a:srgbClr val="F6F3F0"/>
          </a:solidFill>
          <a:ln/>
        </p:spPr>
      </p:sp>
      <p:sp>
        <p:nvSpPr>
          <p:cNvPr id="18" name="bullet-hex"/>
          <p:cNvSpPr/>
          <p:nvPr/>
        </p:nvSpPr>
        <p:spPr>
          <a:xfrm>
            <a:off x="676656" y="4230447"/>
            <a:ext cx="384048" cy="332586"/>
          </a:xfrm>
          <a:prstGeom prst="hexagon">
            <a:avLst/>
          </a:prstGeom>
          <a:solidFill>
            <a:srgbClr val="7A4A1E"/>
          </a:solidFill>
          <a:ln/>
        </p:spPr>
      </p:sp>
      <p:sp>
        <p:nvSpPr>
          <p:cNvPr id="19" name="bullet"/>
          <p:cNvSpPr txBox="1"/>
          <p:nvPr/>
        </p:nvSpPr>
        <p:spPr>
          <a:xfrm>
            <a:off x="1143000" y="3717544"/>
            <a:ext cx="10408615"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That belief shaped step two. Haig ordered his men to cross in broad daylight, so that the gunners behind them could see where they were firing, and to walk forward in a straight line, because he had been told the German machine guns were destroyed.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(1 of 2): Haig's four-step plan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4F0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the importance of step one in Haig's plan, and what would happen if it failed.</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step one was: seven days of shelling to cut the wire and destroy the German trenches and bunkers.</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step one made possible: if the wire was cut and the defenders gone, the men could walk across and take the trenches.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(2 of 2): Haig's four-step plan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4F0EC"/>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the importance of step one in Haig's plan, and what would happen if it failed.</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depends on it: the orders to cross in daylight, in a straight line, were only sensible if the defences had been destroyed.</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happens if it fails: the men would be walking slowly, in the open, towards wire that was still standing and machine guns that still worked.</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Step one was supposed to clear the path; every later step assumed it had. If it failed, the plan sent men walking in the open towards uncut wire and working machine guns.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Plan and reality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judge the Somme, say which timescale you are judging: the first day, or July to November. Historians disagree partly because they are answering different questions.</a:t>
            </a:r>
            <a:endParaRPr lang="en-US" sz="1800" dirty="0"/>
          </a:p>
        </p:txBody>
      </p:sp>
      <p:sp>
        <p:nvSpPr>
          <p:cNvPr id="11" name="bullet-card"/>
          <p:cNvSpPr/>
          <p:nvPr/>
        </p:nvSpPr>
        <p:spPr>
          <a:xfrm>
            <a:off x="548640" y="1389888"/>
            <a:ext cx="11094415" cy="1585637"/>
          </a:xfrm>
          <a:prstGeom prst="roundRect">
            <a:avLst>
              <a:gd name="adj" fmla="val 4613"/>
            </a:avLst>
          </a:prstGeom>
          <a:solidFill>
            <a:srgbClr val="F6F3F0"/>
          </a:solidFill>
          <a:ln/>
        </p:spPr>
      </p:sp>
      <p:sp>
        <p:nvSpPr>
          <p:cNvPr id="12" name="bullet-hex"/>
          <p:cNvSpPr/>
          <p:nvPr/>
        </p:nvSpPr>
        <p:spPr>
          <a:xfrm>
            <a:off x="676656" y="2016414"/>
            <a:ext cx="384048" cy="332586"/>
          </a:xfrm>
          <a:prstGeom prst="hexagon">
            <a:avLst/>
          </a:prstGeom>
          <a:solidFill>
            <a:srgbClr val="7A4A1E"/>
          </a:solidFill>
          <a:ln/>
        </p:spPr>
      </p:sp>
      <p:sp>
        <p:nvSpPr>
          <p:cNvPr id="13" name="bullet"/>
          <p:cNvSpPr txBox="1"/>
          <p:nvPr/>
        </p:nvSpPr>
        <p:spPr>
          <a:xfrm>
            <a:off x="1143000" y="1389888"/>
            <a:ext cx="10408615" cy="15856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bombardment did not do what Haig expected. In many places the barbed wire was not cut, and the German soldiers were not dead: a great many had sheltered deep underground, and when the shelling stopped they came back up to their machine guns.</a:t>
            </a:r>
            <a:endParaRPr lang="en-US" sz="2200" dirty="0"/>
          </a:p>
        </p:txBody>
      </p:sp>
      <p:sp>
        <p:nvSpPr>
          <p:cNvPr id="14" name="bullet-card"/>
          <p:cNvSpPr/>
          <p:nvPr/>
        </p:nvSpPr>
        <p:spPr>
          <a:xfrm>
            <a:off x="548640" y="3121829"/>
            <a:ext cx="11094415" cy="903901"/>
          </a:xfrm>
          <a:prstGeom prst="roundRect">
            <a:avLst>
              <a:gd name="adj" fmla="val 8093"/>
            </a:avLst>
          </a:prstGeom>
          <a:solidFill>
            <a:srgbClr val="F6F3F0"/>
          </a:solidFill>
          <a:ln/>
        </p:spPr>
      </p:sp>
      <p:sp>
        <p:nvSpPr>
          <p:cNvPr id="15" name="bullet-hex"/>
          <p:cNvSpPr/>
          <p:nvPr/>
        </p:nvSpPr>
        <p:spPr>
          <a:xfrm>
            <a:off x="676656" y="3407487"/>
            <a:ext cx="384048" cy="332586"/>
          </a:xfrm>
          <a:prstGeom prst="hexagon">
            <a:avLst/>
          </a:prstGeom>
          <a:solidFill>
            <a:srgbClr val="B8862B"/>
          </a:solidFill>
          <a:ln/>
        </p:spPr>
      </p:sp>
      <p:sp>
        <p:nvSpPr>
          <p:cNvPr id="16" name="bullet"/>
          <p:cNvSpPr txBox="1"/>
          <p:nvPr/>
        </p:nvSpPr>
        <p:spPr>
          <a:xfrm>
            <a:off x="1143000" y="3121829"/>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On 1 July 1916 more than 100,000 British troops climbed out and walked into no-man's-land.</a:t>
            </a:r>
            <a:endParaRPr lang="en-US" sz="2200" dirty="0"/>
          </a:p>
        </p:txBody>
      </p:sp>
      <p:sp>
        <p:nvSpPr>
          <p:cNvPr id="17" name="bullet-card"/>
          <p:cNvSpPr/>
          <p:nvPr/>
        </p:nvSpPr>
        <p:spPr>
          <a:xfrm>
            <a:off x="548640" y="4172035"/>
            <a:ext cx="11094415" cy="903901"/>
          </a:xfrm>
          <a:prstGeom prst="roundRect">
            <a:avLst>
              <a:gd name="adj" fmla="val 8093"/>
            </a:avLst>
          </a:prstGeom>
          <a:solidFill>
            <a:srgbClr val="F6F3F0"/>
          </a:solidFill>
          <a:ln/>
        </p:spPr>
      </p:sp>
      <p:sp>
        <p:nvSpPr>
          <p:cNvPr id="18" name="bullet-hex"/>
          <p:cNvSpPr/>
          <p:nvPr/>
        </p:nvSpPr>
        <p:spPr>
          <a:xfrm>
            <a:off x="676656" y="4457693"/>
            <a:ext cx="384048" cy="332586"/>
          </a:xfrm>
          <a:prstGeom prst="hexagon">
            <a:avLst/>
          </a:prstGeom>
          <a:solidFill>
            <a:srgbClr val="7A4A1E"/>
          </a:solidFill>
          <a:ln/>
        </p:spPr>
      </p:sp>
      <p:sp>
        <p:nvSpPr>
          <p:cNvPr id="19" name="bullet"/>
          <p:cNvSpPr txBox="1"/>
          <p:nvPr/>
        </p:nvSpPr>
        <p:spPr>
          <a:xfrm>
            <a:off x="1143000" y="4172035"/>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Other historians ask you to look at the whole battle, from July to its end in November 1916.</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Haig's plan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four steps of Haig's plan for the Somme in the order he intended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Send British troops walking across no-man's-land to the German trenches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Meet up with the French army and secure Verdun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Defeat the German army at the Somme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Wear the German army and its defences down with shelling and bombardment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Haig's plan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Haig's plan in order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which step needs nothing else to have happened first. That one comes before the men leave their trenches.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men cannot cross no-man's-land until the path has been cleared.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Germans cannot be defeated until the British have reached their trenches.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Verdun is the furthest goal, so it must be last.</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Shelling, crossing, defeating, then the French. Each step depends on the one before it.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which step you think carried the biggest risk of failure, and what Haig could have done differently if he had known.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Three shells a second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Your lesson says the guns fired 1,783,000 shells during the bombardment, which lasted seven days, or 604,800 seconds. On average, how many shells were fired each second? Give your answer to the nearest whole number.</a:t>
            </a:r>
            <a:endParaRPr lang="en-US" sz="2600" dirty="0"/>
          </a:p>
          <a:p>
            <a:pPr algn="ctr" indent="0" marL="0">
              <a:buNone/>
            </a:pPr>
            <a:r>
              <a:rPr lang="en-US" sz="2400" b="1" dirty="0">
                <a:solidFill>
                  <a:srgbClr val="7A4A1E"/>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shells per second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Three shells a second</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Three shells a second</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which operation you need. Shells in total, shared over seconds, means divide.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it down: 1,783,000 divided by 604,800.</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out the division: it comes to a little under 3.</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Round to the nearest whole number, remembering that 2.9 rounds up.</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Divide the shells by the seconds, then round. Do not use the number of days.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Three shells a second for seven days still left much of the wire uncut. Explain what that tells you about the German defences, and about the information Haig was given.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does a war of attrition mean?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Winning with one fast and decisive battle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Wearing the enemy down little by little until they surrender or their army collapses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Defending a line of trenches without ever attacking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Attacking only at night to avoid being seen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Haig's plan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Wear the German army and its defences down with shelling and bombardment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Send British troops walking across no-man's-land to the German trenches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Defeat the German army at the Somme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Meet up with the French army and secure Verdun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Bombardment first, then the walk across no-man's-land, then the defeat of the Germans at the Somme, then the meeting with the French at Verdun. The plan is a chain: if the first link breaks, every later step is attempted in conditions it was not designed for.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Three shells a second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Your lesson says the guns fired 1,783,000 shells during the bombardment, which lasted seven days, or 604,800 seconds. On average, how many shells were fired each second? Give your answer to the nearest whole number.</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 shells per second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1,783,000 shells over 604,800 seconds is about 2.9 shells a second, which rounds to 3. The figure explains Haig's confidence: nobody had ever fired so much. It also sets up the hardest question of the unit, which is how so much shelling could leave the wire uncut and the machine guns working.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does a war of attrition mean?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Wearing the enemy down little by little until they surrender or their army collapses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Attrition means grinding the enemy down in men and supplies until they can no longer fight. It was the strategy both alliances used by 1916.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the Somme · Chapter 5: The Somme: the plan and the battle</dc:title>
  <dc:subject>History · Year 8</dc:subject>
  <dc:creator>Dr Vitor Merissi de Carvalho</dc:creator>
  <cp:lastModifiedBy>Dr Vitor Merissi de Carvalho</cp:lastModifiedBy>
  <cp:revision>1</cp:revision>
  <dcterms:created xsi:type="dcterms:W3CDTF">2026-10-19T16:23:14Z</dcterms:created>
  <dcterms:modified xsi:type="dcterms:W3CDTF">2026-10-19T16:23:14Z</dcterms:modified>
</cp:coreProperties>
</file>