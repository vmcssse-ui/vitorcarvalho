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f9dd66e-7e1c-9532-eea3-9aebd0970529}">
          <p14:sldIdLst>
            <p14:sldId id="256"/>
          </p14:sldIdLst>
        </p14:section>
        <p14:section name="Gate" id="{7c6f8d9e-80db-42ae-2593-29d2287645a6}">
          <p14:sldIdLst>
            <p14:sldId id="257"/>
            <p14:sldId id="258"/>
            <p14:sldId id="259"/>
          </p14:sldIdLst>
        </p14:section>
        <p14:section name="Pre-teach" id="{ad4cf28a-d762-3070-250f-08517ecb23a1}">
          <p14:sldIdLst>
            <p14:sldId id="260"/>
            <p14:sldId id="261"/>
          </p14:sldIdLst>
        </p14:section>
        <p14:section name="Read-along" id="{779f4182-aeb2-40dd-e591-58c67df82218}">
          <p14:sldIdLst>
            <p14:sldId id="262"/>
            <p14:sldId id="263"/>
          </p14:sldIdLst>
        </p14:section>
        <p14:section name="Teach" id="{5197cc04-0d37-7468-1467-7f9a2ec717b4}">
          <p14:sldIdLst>
            <p14:sldId id="264"/>
            <p14:sldId id="265"/>
            <p14:sldId id="266"/>
            <p14:sldId id="267"/>
            <p14:sldId id="268"/>
            <p14:sldId id="269"/>
          </p14:sldIdLst>
        </p14:section>
        <p14:section name="Routes" id="{a56a63ab-eaf0-0e80-75f7-e0551e8877d5}">
          <p14:sldIdLst>
            <p14:sldId id="270"/>
            <p14:sldId id="271"/>
            <p14:sldId id="272"/>
            <p14:sldId id="273"/>
          </p14:sldIdLst>
        </p14:section>
        <p14:section name="Close" id="{01bd2053-886a-2595-e1ab-95b01c89810d}">
          <p14:sldIdLst>
            <p14:sldId id="274"/>
          </p14:sldIdLst>
        </p14:section>
        <p14:section name="Answers" id="{8253ff6b-8905-e909-d310-f4585ad05cb0}">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Why Europe was ready for war in 1914. Who fought whom, the difference between a long-term and a short-term cause, and the four long-term causes your lesson studies: militarism, alliances, imperialism and nationalism.
This deck covers the department's lesson: 1 (The Causes of WW1: Why was the world at war in 1914?).
Read the big question aloud: "Was the Battle of the Somme a victory or a defeat, and why have historians changed their minds about General Haig?"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three countries made up the Triple Entente?  →  D   Britain, France and Russia
2. A cause that had been building up for years or decades is called a ___ cause.  →  long-term
3. What does militarism mean?  →  C   The belief that a country is safer if it has the biggest and best armed forces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three countries made up the Triple Entente?  →  D   Britain, France and Russia
2. A cause that had been building up for years or decades is called a ___ cause.  →  long-term
3. What does militarism mean?  →  C   The belief that a country is safer if it has the biggest and best armed forces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Britain, France and Russia. The Triple Entente was Britain, France and Russia: France and Russia signed an alliance in 1894 and Britain joined them in 1907.
2. long-term. Long-term causes existed for years, decades or even centuries before the event. Short-term causes happened only hours, days or weeks before.
3. C   The belief that a country is safer if it has the biggest and best armed forces. Militarism is the belief that weapons bring safety, which pushed every country to build more of them.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militarism: the belief that a country is safer if it has the biggest and best armed forces. Example: "Militarism pushed one country after another to build more guns and more ships."
• alliances: agreements between countries to defend each other if one is attacked. Example: "Alliances meant that a small war could pull in many countries at once."
• imperialism: building an empire by taking control of other countries. Example: "Imperialism set Britain and Germany against each other in Africa."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nationalism: great pride in your own country, and the wish for it to be strong and independent. Example: "Nationalism made people want their country to be stronger than its neighbours."
• long-term cause: a cause that has been building up for years, or even for decades. Example: "Imperialism was a long-term cause of the First World War."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First World War began in the summer of 1914.
2. Two groups of countries faced each other.
3. Britain, France and Russia had an agreement called the Triple Entente.
4. Germany, Austria-Hungary and Italy had an agreement called the Triple Alliance.
5. Most people believed that any war would be short.
6. They were wrong.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Historians look for two kinds of cause.
8. A long-term cause had been building for years or decades.
9. A short-term cause happened only days or weeks before.
10. Your lesson studies four long-term causes.
11. They are militarism, alliances, imperialism and nationalism.
12. Each one made Europe more dangerous long before 1914.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fought whom?. Say it in your own words, then check understanding with a quick question: ask a pupil from the pre-teach group first, since they met these words and ideas before the lesson. Pupils try to recall before you re-explain.
The First World War was fought between two groups of powers. On one side stood the Triple Entente: Britain, France and Russia. On the other stood the Triple Alliance: Germany, Austria-Hungary and Italy. Britain declared war on Germany on 4 August 1914, after German soldiers invaded Belgium, a neutral country that had asked to be left out of any war.
Your lesson also uses the name Central Powers for Germany's side, and it is worth being careful with it. The Triple Alliance was an agreement signed before the war, and Italy was part of it. When war came, though, Italy did not fight alongside Germany. The countries that did fight on Germany's side became known as the Central Powers. If you use both names, make clear which one you mean.
Almost everyone expected the war to be over quickly. Generals believed that modern weapons and railways had made warfare fast and decisive. Instead the fighting lasted more than four years.
Tip: If a question asks who fought whom, name both alliances and the countries in each. Then add that Italy did not fight on Germany's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Long-term and short-term causes. Say it in your own words, then check understanding with a quick question: ask a pupil from the pre-teach group first, since they met these words and ideas before the lesson. Pupils try to recall before you re-explain.
Historians blame both short-term and long-term causes for the outbreak of war. A long-term cause is one that existed for years, decades or even centuries before the event. A short-term cause happened only hours, days or weeks before.
This is a useful pair of ideas because it stops you blaming everything on one moment. The assassination in Sarajevo, which you meet in the next chapter, is the short-term cause. Militarism, alliances, imperialism and nationalism are the long-term causes. Both sorts matter: the long-term causes made Europe ready to explode, and the short-term cause lit it.
When you write about causes, say which kind you mean and why. That one sentence lifts an answer from description into explanation.
Worked example — model it step by step, thinking aloud: Explain how one long-term cause made war in Europe more likely. Use a point, evidence and an explanation. (1) Point: say which cause you have chosen in one sentence. One long-term cause that made war more likely was the system of alliances. (2) Evidence: give the detail from your lesson. France and Russia promised to defend each other, Britain joined them in 1907, and Germany, Austria-Hungary and Italy had their own agreement. (3) Explain: link the evidence to war. This made war more likely because an attack on one country now pulled in all of its partners. (4) Finish with the judgement: so a quarrel between two countries could no longer stay small. Answer: Point, evidence, explain: alliances; the two groups promised to defend each other; so an attack on one country dragged in the rest, and a local quarrel became a European war..
Tip: Long-term means years or decades. Short-term means hours, days or weeks. Use the words in your answer, not just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Long-term and short-term causes. Say it in your own words, then check understanding with a quick question: ask a pupil from the pre-teach group first, since they met these words and ideas before the lesson. Pupils try to recall before you re-explain.
Historians blame both short-term and long-term causes for the outbreak of war. A long-term cause is one that existed for years, decades or even centuries before the event. A short-term cause happened only hours, days or weeks before.
This is a useful pair of ideas because it stops you blaming everything on one moment. The assassination in Sarajevo, which you meet in the next chapter, is the short-term cause. Militarism, alliances, imperialism and nationalism are the long-term causes. Both sorts matter: the long-term causes made Europe ready to explode, and the short-term cause lit it.
When you write about causes, say which kind you mean and why. That one sentence lifts an answer from description into explanation.
Worked example — model it step by step, thinking aloud: Explain how one long-term cause made war in Europe more likely. Use a point, evidence and an explanation. (1) Point: say which cause you have chosen in one sentence. One long-term cause that made war more likely was the system of alliances. (2) Evidence: give the detail from your lesson. France and Russia promised to defend each other, Britain joined them in 1907, and Germany, Austria-Hungary and Italy had their own agreement. (3) Explain: link the evidence to war. This made war more likely because an attack on one country now pulled in all of its partners. (4) Finish with the judgement: so a quarrel between two countries could no longer stay small. Answer: Point, evidence, explain: alliances; the two groups promised to defend each other; so an attack on one country dragged in the rest, and a local quarrel became a European war..
Tip: Long-term means years or decades. Short-term means hours, days or weeks. Use the words in your answer, not just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Long-term and short-term causes. Say it in your own words, then check understanding with a quick question: ask a pupil from the pre-teach group first, since they met these words and ideas before the lesson. Pupils try to recall before you re-explain.
Historians blame both short-term and long-term causes for the outbreak of war. A long-term cause is one that existed for years, decades or even centuries before the event. A short-term cause happened only hours, days or weeks before.
This is a useful pair of ideas because it stops you blaming everything on one moment. The assassination in Sarajevo, which you meet in the next chapter, is the short-term cause. Militarism, alliances, imperialism and nationalism are the long-term causes. Both sorts matter: the long-term causes made Europe ready to explode, and the short-term cause lit it.
When you write about causes, say which kind you mean and why. That one sentence lifts an answer from description into explanation.
Worked example — model it step by step, thinking aloud: Explain how one long-term cause made war in Europe more likely. Use a point, evidence and an explanation. (1) Point: say which cause you have chosen in one sentence. One long-term cause that made war more likely was the system of alliances. (2) Evidence: give the detail from your lesson. France and Russia promised to defend each other, Britain joined them in 1907, and Germany, Austria-Hungary and Italy had their own agreement. (3) Explain: link the evidence to war. This made war more likely because an attack on one country now pulled in all of its partners. (4) Finish with the judgement: so a quarrel between two countries could no longer stay small. Answer: Point, evidence, explain: alliances; the two groups promised to defend each other; so an attack on one country dragged in the rest, and a local quarrel became a European war..
Tip: Long-term means years or decades. Short-term means hours, days or weeks. Use the words in your answer, not just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Militarism and alliances. Say it in your own words, then check understanding with a quick question: ask a pupil from the pre-teach group first, since they met these words and ideas before the lesson. Pupils try to recall before you re-explain.
Militarism is the simple idea that a country with the most and the best weapons will not be attacked. The trouble is that every country thought the same, so each new warship or new gun pushed a neighbour to build more. Britain and Germany raced each other at sea. Germany wanted a navy to match its ambitions, and it began to build one. Britain, an island that depended on its ships, answered by building more and bigger battleships of its own. Britain stayed ahead, because it had more money, more shipyards and longer experience of building warships.
Alliances are promises. Countries in an alliance agreed to defend each other if one of them was attacked. France and Russia signed an alliance in 1894, and Britain joined them in 1907, which made the group the Triple Entente. Germany, Austria-Hungary and Italy had the Triple Alliance. Other countries feared Germany, which had grown quickly into the strongest industrial and military power on the continent.
Put the two causes together and you can see the danger. Militarism filled Europe with weapons. Alliances made sure that if those weapons were ever used, almost everyone would be dragged in.
Tip: Militarism is about weapons. Alliances are about promises. Keep the two apart, then show how they worked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Imperialism and nationalism. Say it in your own words, then check understanding with a quick question: ask a pupil from the pre-teach group first, since they met these words and ideas before the lesson. Pupils try to recall before you re-explain.
Imperialism is the drive to build a strong empire by taking control of other countries. You have studied this already in the Year 8 unit on India and Empire. European countries competed all over the world, and Germany believed it was unfair that it held only a small empire while Britain and France held huge ones. Britain and Germany competed for control in Africa, and in the Morocco Crisis of 1911 Germany challenged French control of Morocco. The crisis passed, but it left Britain and France closer together and Germany feeling hemmed in.
Nationalism is the wish to make your own country strong and independent. In the Balkans, many Slavic people wanted their own lands and their own state. When Austria-Hungary annexed Bosnia in 1908, Serbia was furious, because many Slavs in Bosnia looked to Serbia rather than to Vienna. In 1912, war broke out in the Balkans between Serbia and its neighbours and the Ottoman Empire, and Serbia came out of it larger and more confident.
Nationalism also fed the other two causes. A country that wants to be the proudest and strongest wants the biggest army, which is militarism, and the biggest empire, which is imperialism. That is why historians treat the four long-term causes as a knot rather than a list.
Tip: Imperialism is about land and resources abroad. Nationalism is about pride at home. The Balkans is where nationalism mattered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causes, four examples.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long-term cause to the example from your lesson.
Support — work through the steps with the group: (1) Start with the one you are surest of: which example is about warships and weapons? (2) Find the example that is about a promise between countries. (3) Find the example that is about control of land outside Europe. (4) The example left over is about pride and anger inside Europe, which is nationalism.
Parallel worked example for Support (model it, do not give the task answer): Match these three school words to their examples: a rule, a reward, a routine. Examples: you line up in the same place every morning; you may not run in the corridor; you are given a merit for good work. A rule tells you what you may not do, so match the corridor.; A reward is something given for good work, so match the merit.; A routine is what happens the same way every day, so match the lining up.. Answer: Rule: no running in the corridor. Reward: a merit for good work. Routine: lining up in the same place every morning..
Core — reveal the hint only on request: Weapons, promises, land abroad, pride at home. One example for each.
Stretch — no help; when finished: Choose two of the four causes and explain how one of them made the other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causes, four examples.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long-term cause to the example from your lesson.
Support — work through the steps with the group: (1) Start with the one you are surest of: which example is about warships and weapons? (2) Find the example that is about a promise between countries. (3) Find the example that is about control of land outside Europe. (4) The example left over is about pride and anger inside Europe, which is nationalism.
Parallel worked example for Support (model it, do not give the task answer): Match these three school words to their examples: a rule, a reward, a routine. Examples: you line up in the same place every morning; you may not run in the corridor; you are given a merit for good work. A rule tells you what you may not do, so match the corridor.; A reward is something given for good work, so match the merit.; A routine is what happens the same way every day, so match the lining up.. Answer: Rule: no running in the corridor. Reward: a merit for good work. Routine: lining up in the same place every morning..
Core — reveal the hint only on request: Weapons, promises, land abroad, pride at home. One example for each.
Stretch — no help; when finished: Choose two of the four causes and explain how one of them made the other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cause mattered most?.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Choose the long-term cause you think was most likely to lead to war. Write a PEE paragraph of four to six sentences explaining your choice.
Support — work through the steps with the group: (1) Choose ONE cause: militarism, alliances, imperialism or nationalism. (2) Sentence 1, point: I think the cause most likely to lead to war was... (3) Sentences 2 and 3, evidence: give one detail from your lesson about that cause. (4) Sentences 4 and 5, explain: This made war more likely because... Then add that the other causes mattered too.
Parallel worked example for Support (model it, do not give the task answer): Choose the reason you think most likely to make a football team lose a match, and write a point, evidence and explanation. Point: name the reason, for example having no fit goalkeeper.; Evidence: the usual keeper is injured and the replacement has played twice.; Explain: this makes losing more likely because every shot on target is more likely to go in.. Answer: Point, evidence, explain, with one sentence admitting that other reasons also matter..
Core — reveal the hint only on request: One cause, one piece of evidence, then because. End by admitting that the other three causes were also at work.
Stretch — no help; when finished: Rank all four causes from one to four, and explain why you put your fourth choice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cause mattered most?.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Choose the long-term cause you think was most likely to lead to war. Write a PEE paragraph of four to six sentences explaining your choice.
Support — work through the steps with the group: (1) Choose ONE cause: militarism, alliances, imperialism or nationalism. (2) Sentence 1, point: I think the cause most likely to lead to war was... (3) Sentences 2 and 3, evidence: give one detail from your lesson about that cause. (4) Sentences 4 and 5, explain: This made war more likely because... Then add that the other causes mattered too.
Parallel worked example for Support (model it, do not give the task answer): Choose the reason you think most likely to make a football team lose a match, and write a point, evidence and explanation. Point: name the reason, for example having no fit goalkeeper.; Evidence: the usual keeper is injured and the replacement has played twice.; Explain: this makes losing more likely because every shot on target is more likely to go in.. Answer: Point, evidence, explain, with one sentence admitting that other reasons also matter..
Core — reveal the hint only on request: One cause, one piece of evidence, then because. End by admitting that the other three causes were also at work.
Stretch — no help; when finished: Rank all four causes from one to four, and explain why you put your fourth choice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Germany builds a fleet of powerful new battleships so that no other country will dare to attack it. Which long-term cause does this show?
Answer: D   Militarism. Each of these examples is about building up armed forces in the belief that strength keeps a country safe. That belief is militarism, and the naval race between Britain and Germany is its clearest example.
Source of this question: module 3 task ("Spot the cause")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causes, four examples. Reveal the answer; pupils mark their own work in a different colour, then read the "why" together. Same destination for every lane, so one answer serves the whole class.
Answer: Militarism  →  D  Britain and Germany race each other to build the most powerful navy; Alliances  →  A  France and Russia promise to defend each other, and Britain joins them in 1907; Imperialism  →  B  Germany challenges French control of Morocco in 1911; Nationalism  →  C  Serbia is furious when Austria-Hungary annexes Bosnia in 1908
Why: Militarism is weapons, and the naval race is the clearest example. Alliances are promises, so the Entente of 1907 belongs there. Imperialism is empire abroad, which is the Morocco Crisis of 1911. Nationalism is pride and anger at home, which is Serbia in 1908.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cause mattered most?. Reveal the answer; pupils mark their own work in a different colour, then read the "why" together. Same destination for every lane, so one answer serves the whole class.
Answer: I name one long-term cause and say clearly that I think it was the most likely to lead to war.; I give evidence from my lesson for that cause, such as the naval race, the Entente of 1907, the Morocco Crisis or Bosnia.; I explain how that cause would turn a quarrel into a war, using the word because.; I show that I know the other three causes existed, even though I have chosen one.
Why: Any of the four can be argued for, as long as the argument is built properly: name the cause, give evidence from the lesson, and explain how it would turn a quarrel into a war. The strongest answers also admit that the four causes worked together.
Model answer: I think the system of alliances was the long-term cause most likely to lead to war. By 1914 Europe was divided into two armed groups: France and Russia had signed an alliance in 1894, Britain joined them in 1907 to make the Triple Entente, and Germany, Austria-Hungary and Italy had the Triple Alliance. This made war more likely because a quarrel between any two countries could no longer stay between them; each one would call on its partners, and a local dispute would become a European war. Militarism, imperialism and nationalism all raised the temperature, and I would not argue that alliances worked alone. However, it was the alliances that turned a crisis in the Balkans into a war that pulled in empires on the other side of the world.
Success criteria: I name one long-term cause and say clearly that I think it was the most likely to lead to war.; I give evidence from my lesson for that cause, such as the naval race, the Entente of 1907, the Morocco Crisis or Bosnia.; I explain how that cause would turn a quarrel into a war, using the word because.; I show that I know the other three causes existed, even though I have chosen 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cause mattered most?. Reveal the answer; pupils mark their own work in a different colour, then read the "why" together. Same destination for every lane, so one answer serves the whole class.
Answer: I name one long-term cause and say clearly that I think it was the most likely to lead to war.; I give evidence from my lesson for that cause, such as the naval race, the Entente of 1907, the Morocco Crisis or Bosnia.; I explain how that cause would turn a quarrel into a war, using the word because.; I show that I know the other three causes existed, even though I have chosen one.
Why: Any of the four can be argued for, as long as the argument is built properly: name the cause, give evidence from the lesson, and explain how it would turn a quarrel into a war. The strongest answers also admit that the four causes worked together.
Model answer: I think the system of alliances was the long-term cause most likely to lead to war. By 1914 Europe was divided into two armed groups: France and Russia had signed an alliance in 1894, Britain joined them in 1907 to make the Triple Entente, and Germany, Austria-Hungary and Italy had the Triple Alliance. This made war more likely because a quarrel between any two countries could no longer stay between them; each one would call on its partners, and a local dispute would become a European war. Militarism, imperialism and nationalism all raised the temperature, and I would not argue that alliances worked alone. However, it was the alliances that turned a crisis in the Balkans into a war that pulled in empires on the other side of the world.
Success criteria: I name one long-term cause and say clearly that I think it was the most likely to lead to war.; I give evidence from my lesson for that cause, such as the naval race, the Entente of 1907, the Morocco Crisis or Bosnia.; I explain how that cause would turn a quarrel into a war, using the word because.; I show that I know the other three causes existed, even though I have chosen one.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Militarism
Why: Each of these examples is about building up armed forces in the belief that strength keeps a country safe. That belief is militarism, and the naval race between Britain and Germany is its clearest example.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the Somme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Why Europe was ready for war in 1914</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4F0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Causes of WW1</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Was the Battle of the Somme a victory or a defeat, and why have historians changed their minds about General Haig?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three countries made up the Triple Entente?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Britain, Germany and Russia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Germany, Austria-Hungary and Italy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France, Italy and Serbia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Britain, France and Russia</a:t>
            </a:r>
            <a:endParaRPr lang="en-US" sz="24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cause that had been building up for years or decades is called a ___ cause.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long-term  ·  short-term  ·  military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militarism mean?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Pride in your own country and the wish for it to be independent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agreement between countries to defend each other if one is attacked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belief that a country is safer if it has the biggest and best armed forces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Taking control of other countries in order to build an empire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EE3CD"/>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Britain, France and Russia</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three countries made up the Triple Entente?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Triple Entente was Britain, France and Russia: France and Russia signed an alliance in 1894 and Britain joined them in 1907.</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long-term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cause that had been building up for years or decades is called a ___ cause.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Long-term causes existed for years, decades or even centuries before the event. Short-term causes happened only hours, days or weeks before.</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EE3CD"/>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belief that a country is safer if it has the biggest and best armed forces</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does militarism mean?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Militarism is the belief that weapons bring safety, which pushed every country to build more of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militarism</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belief that a country is safer if it has the biggest and best armed forces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Militarism pushed one country after another to build more guns and more ships.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alliances</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agreements between countries to defend each other if one is attacked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Alliances meant that a small war could pull in many countries at once.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imperialism</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building an empire by taking control of other countries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Imperialism set Britain and Germany against each other in Africa.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nationalism</a:t>
            </a:r>
            <a:endParaRPr lang="en-US" sz="2600" dirty="0"/>
          </a:p>
        </p:txBody>
      </p:sp>
      <p:sp>
        <p:nvSpPr>
          <p:cNvPr id="11" name="word-rule"/>
          <p:cNvSpPr/>
          <p:nvPr/>
        </p:nvSpPr>
        <p:spPr>
          <a:xfrm>
            <a:off x="731520" y="2129028"/>
            <a:ext cx="5044288" cy="0"/>
          </a:xfrm>
          <a:prstGeom prst="line">
            <a:avLst/>
          </a:prstGeom>
          <a:ln w="12700">
            <a:solidFill>
              <a:srgbClr val="CCB9A8"/>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great pride in your own country, and the wish for it to be strong and independent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Nationalism made people want their country to be stronger than its neighbours.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6F3F0"/>
          </a:solidFill>
          <a:ln w="12700">
            <a:solidFill>
              <a:srgbClr val="CCB9A8"/>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long-term cause</a:t>
            </a:r>
            <a:endParaRPr lang="en-US" sz="2600" dirty="0"/>
          </a:p>
        </p:txBody>
      </p:sp>
      <p:sp>
        <p:nvSpPr>
          <p:cNvPr id="17" name="word-rule"/>
          <p:cNvSpPr/>
          <p:nvPr/>
        </p:nvSpPr>
        <p:spPr>
          <a:xfrm>
            <a:off x="6415888" y="2129028"/>
            <a:ext cx="5044288" cy="0"/>
          </a:xfrm>
          <a:prstGeom prst="line">
            <a:avLst/>
          </a:prstGeom>
          <a:ln w="12700">
            <a:solidFill>
              <a:srgbClr val="CCB9A8"/>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cause that has been building up for years, or even for decades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Imperialism was a long-term cause of the First World War.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First World War began in the summer of 1914.</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Two groups of countries faced each other.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Britain, France and Russia had an agreement called the Triple Entente.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Germany, Austria-Hungary and Italy had an agreement called the Triple Alliance.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Most people believed that any war would be short.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were wrong.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Historians look for two kinds of cause.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long-term cause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had been building for years or decades.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short-term cause happened only days or weeks before.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Your lesson studies four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long-term causes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are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militarism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alliances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imperialism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nationalism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one made Europe more dangerous long before 1914.</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fought whom?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who fought whom, name both alliances and the countries in each. Then add that Italy did not fight on Germany's side.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First World War was fought between two groups of powers.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also uses the name Central Powers for Germany's side, and it is worth being careful with it.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Almost everyone expected the war to be over quickly. Generals believed that modern weapons and railways had made warfare fast and decisive.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Long-term and short-term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Long-term means years or decades. Short-term means hours, days or weeks. Use the words in your answer, not just in your head.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blame both short-term and long-term causes for the outbreak of war.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a useful pair of ideas because it stops you blaming everything on one moment.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you write about causes, say which kind you mean and why.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Long-term and short-term causes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one long-term cause made war in Europe more likely. Use a point, evidence and an explanation.</a:t>
            </a:r>
            <a:endParaRPr lang="en-US" sz="2200" dirty="0"/>
          </a:p>
        </p:txBody>
      </p:sp>
      <p:sp>
        <p:nvSpPr>
          <p:cNvPr id="9" name="step-box"/>
          <p:cNvSpPr/>
          <p:nvPr/>
        </p:nvSpPr>
        <p:spPr>
          <a:xfrm>
            <a:off x="548640" y="2655824"/>
            <a:ext cx="5341468"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say which cause you have chosen in one sentence. One long-term cause that made war more likely was the system of alliances.</a:t>
            </a:r>
            <a:endParaRPr lang="en-US" sz="1800" dirty="0"/>
          </a:p>
        </p:txBody>
      </p:sp>
      <p:sp>
        <p:nvSpPr>
          <p:cNvPr id="13" name="arrow"/>
          <p:cNvSpPr/>
          <p:nvPr/>
        </p:nvSpPr>
        <p:spPr>
          <a:xfrm>
            <a:off x="5963260" y="3645154"/>
            <a:ext cx="274320" cy="274320"/>
          </a:xfrm>
          <a:prstGeom prst="rightArrow">
            <a:avLst/>
          </a:prstGeom>
          <a:solidFill>
            <a:srgbClr val="B8862B"/>
          </a:solidFill>
          <a:ln/>
        </p:spPr>
      </p:sp>
      <p:sp>
        <p:nvSpPr>
          <p:cNvPr id="14" name="step-box"/>
          <p:cNvSpPr/>
          <p:nvPr/>
        </p:nvSpPr>
        <p:spPr>
          <a:xfrm>
            <a:off x="6301588" y="2655824"/>
            <a:ext cx="5341468"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give the detail from your lesson. France and Russia promised to defend each other, Britain joined them in 1907, and Germany, Austria-Hungary and Italy had their own agreement.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Long-term and short-term causes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one long-term cause made war in Europe more likely. Use a point, evidence and an explanation.</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link the evidence to war. This made war more likely because an attack on one country now pulled in all of its partners.</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judgement: so a quarrel between two countries could no longer stay small.</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alliances; the two groups promised to defend each other; so an attack on one country dragged in the rest, and a local quarrel became a European war.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Militarism and alliances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Militarism is about weapons. Alliances are about promises. Keep the two apart, then show how they worked together.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Militarism is the simple idea that a country with the most and the best weapons will not be attacked.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Alliances are promises. Countries in an alliance agreed to defend each other if one of them was attacked.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Put the two causes together and you can see the danger.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Imperialism and nationalism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Imperialism is about land and resources abroad. Nationalism is about pride at home. The Balkans is where nationalism mattered most.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Imperialism is the drive to build a strong empire by taking control of other countries.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Nationalism is the wish to make your own country strong and independent.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Nationalism also fed the other two causes. A country that wants to be the proudest and strongest wants the biggest army, which is militarism, and the biggest empire, which is imperialism.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Four causes, four examples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long-term cause to the example from your lesson.</a:t>
            </a:r>
            <a:endParaRPr lang="en-US" sz="2400" dirty="0"/>
          </a:p>
        </p:txBody>
      </p:sp>
      <p:sp>
        <p:nvSpPr>
          <p:cNvPr id="11" name="match-card"/>
          <p:cNvSpPr/>
          <p:nvPr/>
        </p:nvSpPr>
        <p:spPr>
          <a:xfrm>
            <a:off x="777240" y="2468331"/>
            <a:ext cx="3081437" cy="877199"/>
          </a:xfrm>
          <a:prstGeom prst="roundRect">
            <a:avLst>
              <a:gd name="adj" fmla="val 8339"/>
            </a:avLst>
          </a:prstGeom>
          <a:solidFill>
            <a:srgbClr val="F6F3F0"/>
          </a:solidFill>
          <a:ln/>
        </p:spPr>
      </p:sp>
      <p:sp>
        <p:nvSpPr>
          <p:cNvPr id="12" name="match-hex"/>
          <p:cNvSpPr/>
          <p:nvPr/>
        </p:nvSpPr>
        <p:spPr>
          <a:xfrm>
            <a:off x="850392" y="2740638"/>
            <a:ext cx="384048" cy="332586"/>
          </a:xfrm>
          <a:prstGeom prst="hexagon">
            <a:avLst/>
          </a:prstGeom>
          <a:solidFill>
            <a:srgbClr val="7A4A1E"/>
          </a:solidFill>
          <a:ln/>
        </p:spPr>
      </p:sp>
      <p:sp>
        <p:nvSpPr>
          <p:cNvPr id="13" name="match-hex-label"/>
          <p:cNvSpPr txBox="1"/>
          <p:nvPr/>
        </p:nvSpPr>
        <p:spPr>
          <a:xfrm>
            <a:off x="85039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Militarism</a:t>
            </a:r>
            <a:endParaRPr lang="en-US" sz="2000" dirty="0"/>
          </a:p>
        </p:txBody>
      </p:sp>
      <p:sp>
        <p:nvSpPr>
          <p:cNvPr id="15" name="match-card"/>
          <p:cNvSpPr/>
          <p:nvPr/>
        </p:nvSpPr>
        <p:spPr>
          <a:xfrm>
            <a:off x="4224437" y="2468331"/>
            <a:ext cx="7190019" cy="877199"/>
          </a:xfrm>
          <a:prstGeom prst="roundRect">
            <a:avLst>
              <a:gd name="adj" fmla="val 8339"/>
            </a:avLst>
          </a:prstGeom>
          <a:solidFill>
            <a:srgbClr val="F8F2E9"/>
          </a:solidFill>
          <a:ln/>
        </p:spPr>
      </p:sp>
      <p:sp>
        <p:nvSpPr>
          <p:cNvPr id="16" name="match-hex"/>
          <p:cNvSpPr/>
          <p:nvPr/>
        </p:nvSpPr>
        <p:spPr>
          <a:xfrm>
            <a:off x="4297589" y="2740638"/>
            <a:ext cx="384048" cy="332586"/>
          </a:xfrm>
          <a:prstGeom prst="hexagon">
            <a:avLst/>
          </a:prstGeom>
          <a:solidFill>
            <a:srgbClr val="B8862B"/>
          </a:solidFill>
          <a:ln/>
        </p:spPr>
      </p:sp>
      <p:sp>
        <p:nvSpPr>
          <p:cNvPr id="17" name="match-hex-label"/>
          <p:cNvSpPr txBox="1"/>
          <p:nvPr/>
        </p:nvSpPr>
        <p:spPr>
          <a:xfrm>
            <a:off x="4297589"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France and Russia promise to defend each other, and Britain joins them in 1907</a:t>
            </a:r>
            <a:endParaRPr lang="en-US" sz="2000" dirty="0"/>
          </a:p>
        </p:txBody>
      </p:sp>
      <p:sp>
        <p:nvSpPr>
          <p:cNvPr id="19" name="match-card"/>
          <p:cNvSpPr/>
          <p:nvPr/>
        </p:nvSpPr>
        <p:spPr>
          <a:xfrm>
            <a:off x="777240" y="3436971"/>
            <a:ext cx="3081437" cy="587639"/>
          </a:xfrm>
          <a:prstGeom prst="roundRect">
            <a:avLst>
              <a:gd name="adj" fmla="val 12448"/>
            </a:avLst>
          </a:prstGeom>
          <a:solidFill>
            <a:srgbClr val="F6F3F0"/>
          </a:solidFill>
          <a:ln/>
        </p:spPr>
      </p:sp>
      <p:sp>
        <p:nvSpPr>
          <p:cNvPr id="20" name="match-hex"/>
          <p:cNvSpPr/>
          <p:nvPr/>
        </p:nvSpPr>
        <p:spPr>
          <a:xfrm>
            <a:off x="850392" y="3564497"/>
            <a:ext cx="384048" cy="332586"/>
          </a:xfrm>
          <a:prstGeom prst="hexagon">
            <a:avLst/>
          </a:prstGeom>
          <a:solidFill>
            <a:srgbClr val="7A4A1E"/>
          </a:solidFill>
          <a:ln/>
        </p:spPr>
      </p:sp>
      <p:sp>
        <p:nvSpPr>
          <p:cNvPr id="21" name="match-hex-label"/>
          <p:cNvSpPr txBox="1"/>
          <p:nvPr/>
        </p:nvSpPr>
        <p:spPr>
          <a:xfrm>
            <a:off x="850392"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36971"/>
            <a:ext cx="2487077"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Alliances</a:t>
            </a:r>
            <a:endParaRPr lang="en-US" sz="2000" dirty="0"/>
          </a:p>
        </p:txBody>
      </p:sp>
      <p:sp>
        <p:nvSpPr>
          <p:cNvPr id="23" name="match-card"/>
          <p:cNvSpPr/>
          <p:nvPr/>
        </p:nvSpPr>
        <p:spPr>
          <a:xfrm>
            <a:off x="4224437" y="3436971"/>
            <a:ext cx="7190019" cy="587639"/>
          </a:xfrm>
          <a:prstGeom prst="roundRect">
            <a:avLst>
              <a:gd name="adj" fmla="val 12448"/>
            </a:avLst>
          </a:prstGeom>
          <a:solidFill>
            <a:srgbClr val="F8F2E9"/>
          </a:solidFill>
          <a:ln/>
        </p:spPr>
      </p:sp>
      <p:sp>
        <p:nvSpPr>
          <p:cNvPr id="24" name="match-hex"/>
          <p:cNvSpPr/>
          <p:nvPr/>
        </p:nvSpPr>
        <p:spPr>
          <a:xfrm>
            <a:off x="4297589" y="3564497"/>
            <a:ext cx="384048" cy="332586"/>
          </a:xfrm>
          <a:prstGeom prst="hexagon">
            <a:avLst/>
          </a:prstGeom>
          <a:solidFill>
            <a:srgbClr val="B8862B"/>
          </a:solidFill>
          <a:ln/>
        </p:spPr>
      </p:sp>
      <p:sp>
        <p:nvSpPr>
          <p:cNvPr id="25" name="match-hex-label"/>
          <p:cNvSpPr txBox="1"/>
          <p:nvPr/>
        </p:nvSpPr>
        <p:spPr>
          <a:xfrm>
            <a:off x="4297589"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36971"/>
            <a:ext cx="6595659"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Germany challenges French control of Morocco in 1911</a:t>
            </a:r>
            <a:endParaRPr lang="en-US" sz="2000" dirty="0"/>
          </a:p>
        </p:txBody>
      </p:sp>
      <p:sp>
        <p:nvSpPr>
          <p:cNvPr id="27" name="match-card"/>
          <p:cNvSpPr/>
          <p:nvPr/>
        </p:nvSpPr>
        <p:spPr>
          <a:xfrm>
            <a:off x="777240" y="4116050"/>
            <a:ext cx="3081437" cy="877199"/>
          </a:xfrm>
          <a:prstGeom prst="roundRect">
            <a:avLst>
              <a:gd name="adj" fmla="val 8339"/>
            </a:avLst>
          </a:prstGeom>
          <a:solidFill>
            <a:srgbClr val="F6F3F0"/>
          </a:solidFill>
          <a:ln/>
        </p:spPr>
      </p:sp>
      <p:sp>
        <p:nvSpPr>
          <p:cNvPr id="28" name="match-hex"/>
          <p:cNvSpPr/>
          <p:nvPr/>
        </p:nvSpPr>
        <p:spPr>
          <a:xfrm>
            <a:off x="850392" y="4388356"/>
            <a:ext cx="384048" cy="332586"/>
          </a:xfrm>
          <a:prstGeom prst="hexagon">
            <a:avLst/>
          </a:prstGeom>
          <a:solidFill>
            <a:srgbClr val="7A4A1E"/>
          </a:solidFill>
          <a:ln/>
        </p:spPr>
      </p:sp>
      <p:sp>
        <p:nvSpPr>
          <p:cNvPr id="29" name="match-hex-label"/>
          <p:cNvSpPr txBox="1"/>
          <p:nvPr/>
        </p:nvSpPr>
        <p:spPr>
          <a:xfrm>
            <a:off x="8503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16050"/>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Imperialism</a:t>
            </a:r>
            <a:endParaRPr lang="en-US" sz="2000" dirty="0"/>
          </a:p>
        </p:txBody>
      </p:sp>
      <p:sp>
        <p:nvSpPr>
          <p:cNvPr id="31" name="match-card"/>
          <p:cNvSpPr/>
          <p:nvPr/>
        </p:nvSpPr>
        <p:spPr>
          <a:xfrm>
            <a:off x="4224437" y="4116050"/>
            <a:ext cx="7190019" cy="877199"/>
          </a:xfrm>
          <a:prstGeom prst="roundRect">
            <a:avLst>
              <a:gd name="adj" fmla="val 8339"/>
            </a:avLst>
          </a:prstGeom>
          <a:solidFill>
            <a:srgbClr val="F8F2E9"/>
          </a:solidFill>
          <a:ln/>
        </p:spPr>
      </p:sp>
      <p:sp>
        <p:nvSpPr>
          <p:cNvPr id="32" name="match-hex"/>
          <p:cNvSpPr/>
          <p:nvPr/>
        </p:nvSpPr>
        <p:spPr>
          <a:xfrm>
            <a:off x="4297589" y="4388356"/>
            <a:ext cx="384048" cy="332586"/>
          </a:xfrm>
          <a:prstGeom prst="hexagon">
            <a:avLst/>
          </a:prstGeom>
          <a:solidFill>
            <a:srgbClr val="B8862B"/>
          </a:solidFill>
          <a:ln/>
        </p:spPr>
      </p:sp>
      <p:sp>
        <p:nvSpPr>
          <p:cNvPr id="33" name="match-hex-label"/>
          <p:cNvSpPr txBox="1"/>
          <p:nvPr/>
        </p:nvSpPr>
        <p:spPr>
          <a:xfrm>
            <a:off x="4297589"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116050"/>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Serbia is furious when Austria-Hungary annexes Bosnia in 1908</a:t>
            </a:r>
            <a:endParaRPr lang="en-US" sz="2000" dirty="0"/>
          </a:p>
        </p:txBody>
      </p:sp>
      <p:sp>
        <p:nvSpPr>
          <p:cNvPr id="35" name="match-card"/>
          <p:cNvSpPr/>
          <p:nvPr/>
        </p:nvSpPr>
        <p:spPr>
          <a:xfrm>
            <a:off x="777240" y="5084689"/>
            <a:ext cx="3081437" cy="877199"/>
          </a:xfrm>
          <a:prstGeom prst="roundRect">
            <a:avLst>
              <a:gd name="adj" fmla="val 8339"/>
            </a:avLst>
          </a:prstGeom>
          <a:solidFill>
            <a:srgbClr val="F6F3F0"/>
          </a:solidFill>
          <a:ln/>
        </p:spPr>
      </p:sp>
      <p:sp>
        <p:nvSpPr>
          <p:cNvPr id="36" name="match-hex"/>
          <p:cNvSpPr/>
          <p:nvPr/>
        </p:nvSpPr>
        <p:spPr>
          <a:xfrm>
            <a:off x="850392" y="5356996"/>
            <a:ext cx="384048" cy="332586"/>
          </a:xfrm>
          <a:prstGeom prst="hexagon">
            <a:avLst/>
          </a:prstGeom>
          <a:solidFill>
            <a:srgbClr val="7A4A1E"/>
          </a:solidFill>
          <a:ln/>
        </p:spPr>
      </p:sp>
      <p:sp>
        <p:nvSpPr>
          <p:cNvPr id="37" name="match-hex-label"/>
          <p:cNvSpPr txBox="1"/>
          <p:nvPr/>
        </p:nvSpPr>
        <p:spPr>
          <a:xfrm>
            <a:off x="8503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4689"/>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Nationalism</a:t>
            </a:r>
            <a:endParaRPr lang="en-US" sz="2000" dirty="0"/>
          </a:p>
        </p:txBody>
      </p:sp>
      <p:sp>
        <p:nvSpPr>
          <p:cNvPr id="39" name="match-card"/>
          <p:cNvSpPr/>
          <p:nvPr/>
        </p:nvSpPr>
        <p:spPr>
          <a:xfrm>
            <a:off x="4224437" y="5084689"/>
            <a:ext cx="7190019" cy="877199"/>
          </a:xfrm>
          <a:prstGeom prst="roundRect">
            <a:avLst>
              <a:gd name="adj" fmla="val 8339"/>
            </a:avLst>
          </a:prstGeom>
          <a:solidFill>
            <a:srgbClr val="F8F2E9"/>
          </a:solidFill>
          <a:ln/>
        </p:spPr>
      </p:sp>
      <p:sp>
        <p:nvSpPr>
          <p:cNvPr id="40" name="match-hex"/>
          <p:cNvSpPr/>
          <p:nvPr/>
        </p:nvSpPr>
        <p:spPr>
          <a:xfrm>
            <a:off x="4297589" y="5356996"/>
            <a:ext cx="384048" cy="332586"/>
          </a:xfrm>
          <a:prstGeom prst="hexagon">
            <a:avLst/>
          </a:prstGeom>
          <a:solidFill>
            <a:srgbClr val="B8862B"/>
          </a:solidFill>
          <a:ln/>
        </p:spPr>
      </p:sp>
      <p:sp>
        <p:nvSpPr>
          <p:cNvPr id="41" name="match-hex-label"/>
          <p:cNvSpPr txBox="1"/>
          <p:nvPr/>
        </p:nvSpPr>
        <p:spPr>
          <a:xfrm>
            <a:off x="4297589"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084689"/>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Britain and Germany race each other to build the most powerful navy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Four causes, four examples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Four causes, four examples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one you are surest of: which example is about warships and weapons?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example that is about a promise between countries.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example that is about control of land outside Europe.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example left over is about pride and anger inside Europe, which is nationalism.</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Weapons, promises, land abroad, pride at home. One example for each.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two of the four causes and explain how one of them made the other worse.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cause mattered most?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Choose the long-term cause you think was most likely to lead to war. Write a PEE paragraph of four to six sentences explaining your choice.</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Which cause mattered most?</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cause mattered most?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ONE cause: militarism, alliances, imperialism or nationalism.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point: I think the cause most likely to lead to war was...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evidence: give one detail from your lesson about that 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4 and 5, explain: This made war more likely because... Then add that the other causes mattered too.</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cause, one piece of evidence, then because. End by admitting that the other three causes were also at work.</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Rank all four causes from one to four, and explain why you put your fourth choice last.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Germany builds a fleet of powerful new battleships so that no other country will dare to attack it. Which long-term cause does this show?</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Imperialism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Alliances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Nationalism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Militarism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Four causes, four examples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Militarism  →  D  Britain and Germany race each other to build the most powerful navy</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Alliances  →  A  France and Russia promise to defend each other, and Britain joins them in 1907</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Imperialism  →  B  Germany challenges French control of Morocco in 1911</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Nationalism  →  C  Serbia is furious when Austria-Hungary annexes Bosnia in 1908</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Militarism is weapons, and the naval race is the clearest example. Alliances are promises, so the Entente of 1907 belongs there. Imperialism is empire abroad, which is the Morocco Crisis of 1911. Nationalism is pride and anger at home, which is Serbia in 1908.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cause mattered most?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83056"/>
          </a:xfrm>
          <a:prstGeom prst="roundRect">
            <a:avLst>
              <a:gd name="adj" fmla="val 8443"/>
            </a:avLst>
          </a:prstGeom>
          <a:solidFill>
            <a:srgbClr val="F6F3F0"/>
          </a:solidFill>
          <a:ln/>
        </p:spPr>
      </p:sp>
      <p:sp>
        <p:nvSpPr>
          <p:cNvPr id="9" name="tickbox"/>
          <p:cNvSpPr/>
          <p:nvPr/>
        </p:nvSpPr>
        <p:spPr>
          <a:xfrm>
            <a:off x="713232" y="2379472"/>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one long-term cause and say clearly that I think it was the most likely to lead to war.</a:t>
            </a:r>
            <a:endParaRPr lang="en-US" sz="2200" dirty="0"/>
          </a:p>
        </p:txBody>
      </p:sp>
      <p:sp>
        <p:nvSpPr>
          <p:cNvPr id="11" name="crit-box"/>
          <p:cNvSpPr/>
          <p:nvPr/>
        </p:nvSpPr>
        <p:spPr>
          <a:xfrm>
            <a:off x="548640" y="3158744"/>
            <a:ext cx="11094415" cy="1083056"/>
          </a:xfrm>
          <a:prstGeom prst="roundRect">
            <a:avLst>
              <a:gd name="adj" fmla="val 8443"/>
            </a:avLst>
          </a:prstGeom>
          <a:solidFill>
            <a:srgbClr val="F6F3F0"/>
          </a:solidFill>
          <a:ln/>
        </p:spPr>
      </p:sp>
      <p:sp>
        <p:nvSpPr>
          <p:cNvPr id="12" name="tickbox"/>
          <p:cNvSpPr/>
          <p:nvPr/>
        </p:nvSpPr>
        <p:spPr>
          <a:xfrm>
            <a:off x="713232" y="3553968"/>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158744"/>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evidence from my lesson for that cause, such as the naval race, the Entente of 1907, the Morocco Crisis or Bosnia.</a:t>
            </a:r>
            <a:endParaRPr lang="en-US" sz="2200" dirty="0"/>
          </a:p>
        </p:txBody>
      </p:sp>
      <p:sp>
        <p:nvSpPr>
          <p:cNvPr id="14" name="crit-box"/>
          <p:cNvSpPr/>
          <p:nvPr/>
        </p:nvSpPr>
        <p:spPr>
          <a:xfrm>
            <a:off x="548640" y="4333240"/>
            <a:ext cx="11094415" cy="742188"/>
          </a:xfrm>
          <a:prstGeom prst="roundRect">
            <a:avLst>
              <a:gd name="adj" fmla="val 12320"/>
            </a:avLst>
          </a:prstGeom>
          <a:solidFill>
            <a:srgbClr val="F6F3F0"/>
          </a:solidFill>
          <a:ln/>
        </p:spPr>
      </p:sp>
      <p:sp>
        <p:nvSpPr>
          <p:cNvPr id="15" name="tickbox"/>
          <p:cNvSpPr/>
          <p:nvPr/>
        </p:nvSpPr>
        <p:spPr>
          <a:xfrm>
            <a:off x="713232" y="4558030"/>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4333240"/>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how that cause would turn a quarrel into a war, using the word because.</a:t>
            </a:r>
            <a:endParaRPr lang="en-US" sz="2200" dirty="0"/>
          </a:p>
        </p:txBody>
      </p:sp>
      <p:sp>
        <p:nvSpPr>
          <p:cNvPr id="17" name="crit-box"/>
          <p:cNvSpPr/>
          <p:nvPr/>
        </p:nvSpPr>
        <p:spPr>
          <a:xfrm>
            <a:off x="548640" y="5166868"/>
            <a:ext cx="11094415" cy="742188"/>
          </a:xfrm>
          <a:prstGeom prst="roundRect">
            <a:avLst>
              <a:gd name="adj" fmla="val 12320"/>
            </a:avLst>
          </a:prstGeom>
          <a:solidFill>
            <a:srgbClr val="F6F3F0"/>
          </a:solidFill>
          <a:ln/>
        </p:spPr>
      </p:sp>
      <p:sp>
        <p:nvSpPr>
          <p:cNvPr id="18" name="tickbox"/>
          <p:cNvSpPr/>
          <p:nvPr/>
        </p:nvSpPr>
        <p:spPr>
          <a:xfrm>
            <a:off x="713232" y="539165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16686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show that I know the other three causes existed, even though I have chosen 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Which cause mattered most?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 think the system of alliances was the long-term cause most likely to lead to war. By 1914 Europe was divided into two armed groups: France and Russia had signed an alliance in 1894, Britain joined them in 1907 to make the Triple Entente, and Germany, Austria-Hungary and Italy had the Triple Alliance. This made war more likely because a quarrel between any two countries could no longer stay between them; each one would call on its partners, and a local dispute would become a European war. Militarism, imperialism and nationalism all raised the temperature, and I would not argue that alliances worked alone. However, it was the alliances that turned a crisis in the Balkans into a war that pulled in empires on the other side of the world.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Germany builds a fleet of powerful new battleships so that no other country will dare to attack it. Which long-term cause does this show?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Militarism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of these examples is about building up armed forces in the belief that strength keeps a country safe. That belief is militarism, and the naval race between Britain and Germany is its clearest example.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the Somme · Chapter 1: Why Europe was ready for war in 1914</dc:title>
  <dc:subject>History · Year 8</dc:subject>
  <dc:creator>Dr Vitor Merissi de Carvalho</dc:creator>
  <cp:lastModifiedBy>Dr Vitor Merissi de Carvalho</cp:lastModifiedBy>
  <cp:revision>1</cp:revision>
  <dcterms:created xsi:type="dcterms:W3CDTF">2026-10-19T06:08:03Z</dcterms:created>
  <dcterms:modified xsi:type="dcterms:W3CDTF">2026-10-19T06:08:03Z</dcterms:modified>
</cp:coreProperties>
</file>