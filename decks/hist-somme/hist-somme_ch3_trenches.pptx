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b2e07ac-789e-a4b8-f539-382ac19dcff0}">
          <p14:sldIdLst>
            <p14:sldId id="256"/>
          </p14:sldIdLst>
        </p14:section>
        <p14:section name="Gate" id="{1995a51e-7605-4f0e-0e62-5b43de493d84}">
          <p14:sldIdLst>
            <p14:sldId id="257"/>
            <p14:sldId id="258"/>
          </p14:sldIdLst>
        </p14:section>
        <p14:section name="Pre-teach" id="{88471cfe-0146-d20b-81a3-e5e50e17d78a}">
          <p14:sldIdLst>
            <p14:sldId id="259"/>
            <p14:sldId id="260"/>
          </p14:sldIdLst>
        </p14:section>
        <p14:section name="Read-along" id="{dc7ea252-787e-0eaf-a82d-f363c65e2145}">
          <p14:sldIdLst>
            <p14:sldId id="261"/>
            <p14:sldId id="262"/>
          </p14:sldIdLst>
        </p14:section>
        <p14:section name="Teach" id="{bca7baf7-54af-6dc6-bf34-8687cc188e41}">
          <p14:sldIdLst>
            <p14:sldId id="263"/>
            <p14:sldId id="264"/>
            <p14:sldId id="265"/>
            <p14:sldId id="266"/>
            <p14:sldId id="267"/>
          </p14:sldIdLst>
        </p14:section>
        <p14:section name="Routes" id="{ec344096-dc64-9c71-d240-613c4f6bc38f}">
          <p14:sldIdLst>
            <p14:sldId id="268"/>
            <p14:sldId id="269"/>
            <p14:sldId id="270"/>
            <p14:sldId id="271"/>
            <p14:sldId id="272"/>
            <p14:sldId id="273"/>
          </p14:sldIdLst>
        </p14:section>
        <p14:section name="Close" id="{5234a8d7-685f-36ae-c7b2-57771b3b4c05}">
          <p14:sldIdLst>
            <p14:sldId id="274"/>
          </p14:sldIdLst>
        </p14:section>
        <p14:section name="Answers" id="{8f0a152e-11e7-ac76-54bc-2fcb6cc75a63}">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The Western Front and the trench system. How the Western Front came to exist, why both sides dug in, what the parts of a trench were for, and how the four lines of the trench system worked together.
This deck covers the department's lesson: 2 (Trench Warfare: Why were trenches used, and what challenges did soldiers face in them?).
Read the big question aloud: "Was the Battle of the Somme a victory or a defeat, and why have historians changed their minds about General Haig?"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did trenches zig-zag instead of running in a straight line?  →  B   So that a shell blast or enemy fire could not travel along the whole trench
2. The disputed ground between the front lines of the two armies was called ___.  →  no-man's-land
3. Which part of the trench system was the most dangerous place to be?  →  B   The front line trench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So that a shell blast or enemy fire could not travel along the whole trench. A zig-zag keeps a blast, and any enemy who gets into the trench, inside one short section instead of the whole line.
2. no-man's-land. No-man's-land is the ground between the two front line trenches, which neither army held.
3. B   The front line trench. Attacks came at the front line trench, so it was the most dangerous, and soldiers spent only 15 per cent of their time there.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Western Front: the long line of trenches running through Belgium and France. Example: "The Western Front stretched for more than 400 miles."
• trench: an area dug into the ground that is deeper than it is wide. Example: "A trench gave soldiers protection from bullets and shells."
• no-man's-land: the disputed ground between the front lines of the two armies. Example: "Nobody could cross no-man's-land in daylight without being seen."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parapet: the inner wall of a trench, topped with sandbags. Example: "A soldier looked over the parapet through a periscope."
• dugout: a hole dug into the side of a trench where men could take cover. Example: "A dugout could be used as a medical post."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Germany planned to beat France in six weeks.
2. The plan failed.
3. By December 1914, neither side could break through the other.
4. So both sides dug.
5. Their trenches ran from the Belgian coast to the Swiss border.
6. This long line was called the Western Front.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It stretched for more than 400 miles.
8. A trench is a channel dug deeper than it is wide.
9. It protected soldiers from bullets and from shell fire.
10. Trenches zig-zagged instead of running straight.
11. The ground between the two front lines was called no-man's-land.
12. Behind the front line came support, reserve and communication trenches.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the Western Front was created. Say it in your own words, then check understanding with a quick question: ask a pupil from the pre-teach group first, since they met these words and ideas before the lesson. Pupils try to recall before you re-explain.
Germany went to war with a plan. The Schlieffen Plan was designed to defeat France quickly by attacking through Belgium, so that Germany could then turn round and deal with Russia. The whole plan depended on France collapsing in about six weeks. It did not happen.
By December 1914 it had become clear that neither side could break through the other's defences. Both armies dug long lines of trenches, which ran all the way from the Belgian coast in the north to the Swiss border in the south. This area became known as the Western Front, and it stretched for more than 400 miles.
The Western Front mattered because of what a breakthrough would mean. If either alliance could push through the line, it would be into open country and could take control of the other side's territory. That is why so much was spent on so little ground, and why some of the most destructive fighting of the war happened here.
Tip: Learn the shape of it: the Schlieffen Plan fails, so neither side can advance, so both sides dig. The trenches are the result of a stalemate, not the cause of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 trench, and why dig one?. Say it in your own words, then check understanding with a quick question: ask a pupil from the pre-teach group first, since they met these words and ideas before the lesson. Pupils try to recall before you re-explain.
A trench is an area dug into the ground which is deeper than it is wide. In the First World War, trenches were dug so that soldiers had protection against the enemy in the field. A man standing in a deep trench could not be hit by rifle fire from across no-man's-land, and he had some protection from shells.
Trenches zig-zagged rather than running in a straight line. There are two good reasons for that. A straight trench lets a shell blast travel along its whole length, and it also lets an enemy who gets into one end fire down the rest of it. A zig-zag keeps both the blast and the bullets to one short section.
Underground dugouts gave more protection still, and were often used as medical posts or shelters for officers. Even so, a trench was never safe. It was protection from direct fire, not from the war.
Tip: If you are asked why trenches were used, give two reasons: protection from bullets and shells, and the stalemate that made advancing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parts of a trench. Say it in your own words, then check understanding with a quick question: ask a pupil from the pre-teach group first, since they met these words and ideas before the lesson. Pupils try to recall before you re-explain.
Each part of a trench had a job. The parapet is the inner wall on the enemy side, made of earth and wood and topped with sandbags, which protected the men behind it. The parados is the matching bank at the back, so that a soldier was not outlined against the sky. Sandbags protected soldiers from rifle fire, and could also be used at the bottom of a trench to soak up water.
The firestep ran along the bottom of the front wall so that each soldier could stand and peer over the side, through the parapet, towards the enemy line. A periscope let him do the same job without putting his head above the parapet at all. In front of the parapet lay coils of barbed wire, and beyond that no-man's-land: the disputed ground between the front lines of the two armies.
Water was a constant enemy, so trenches had a sump, a container set below the floor of the trench to drain away as much water as possible, and duckboards laid over the floor to cover the sump pits and keep men out of the mud. Dugouts were holes cut into the side of the trench where men could take cover when they needed to.
Worked example — model it step by step, thinking aloud: A definition reads: a place where each soldier could stand to look over the side of the trench towards the enemy. Which feature is it, and how do you know? (1) Look for the key action in the definition: standing in order to see over the side. (2) Rule out the features that are walls or coverings: the parapet is the wall itself, the sandbags sit on top of it, the duckboards are on the floor. (3) A soldier needs something to stand on to see over the wall, and that is the firestep. (4) Check it against the opposite feature: a periscope lets you see over without standing up at all. Answer: The firestep: the definition is about standing in order to see over the parapet, and the firestep is the step that makes that possible..
Tip: Sort the features into three groups before you learn them: walls (parapet, parados, sandbags), water (sump, duckboards), and seeing or sheltering (firestep, periscope, dugout).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parts of a trench. Say it in your own words, then check understanding with a quick question: ask a pupil from the pre-teach group first, since they met these words and ideas before the lesson. Pupils try to recall before you re-explain.
Each part of a trench had a job. The parapet is the inner wall on the enemy side, made of earth and wood and topped with sandbags, which protected the men behind it. The parados is the matching bank at the back, so that a soldier was not outlined against the sky. Sandbags protected soldiers from rifle fire, and could also be used at the bottom of a trench to soak up water.
The firestep ran along the bottom of the front wall so that each soldier could stand and peer over the side, through the parapet, towards the enemy line. A periscope let him do the same job without putting his head above the parapet at all. In front of the parapet lay coils of barbed wire, and beyond that no-man's-land: the disputed ground between the front lines of the two armies.
Water was a constant enemy, so trenches had a sump, a container set below the floor of the trench to drain away as much water as possible, and duckboards laid over the floor to cover the sump pits and keep men out of the mud. Dugouts were holes cut into the side of the trench where men could take cover when they needed to.
Worked example — model it step by step, thinking aloud: A definition reads: a place where each soldier could stand to look over the side of the trench towards the enemy. Which feature is it, and how do you know? (1) Look for the key action in the definition: standing in order to see over the side. (2) Rule out the features that are walls or coverings: the parapet is the wall itself, the sandbags sit on top of it, the duckboards are on the floor. (3) A soldier needs something to stand on to see over the wall, and that is the firestep. (4) Check it against the opposite feature: a periscope lets you see over without standing up at all. Answer: The firestep: the definition is about standing in order to see over the parapet, and the firestep is the step that makes that possible..
Tip: Sort the features into three groups before you learn them: walls (parapet, parados, sandbags), water (sump, duckboards), and seeing or sheltering (firestep, periscope, dugout).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lines, not one. Say it in your own words, then check understanding with a quick question: ask a pupil from the pre-teach group first, since they met these words and ideas before the lesson. Pupils try to recall before you re-explain.
The trench system was not a single ditch. The front line trench was where attacks came, which made it the most dangerous place to be, and your lesson gives soldiers 15 per cent of their time there. Behind it was the support trench, which your lesson puts 80 metres back and gives 10 per cent of a soldier's time: a place to fall back to if the front line was taken. Behind that again was the reserve trench, which your lesson puts 100 metres from the front and gives 30 per cent of the time.
Running between the three lines were communication trenches. These linked the system together so that troops could be moved and messages carried without crossing open ground. If you are asked which part of the system was most important, the communication trenches are a strong and surprising answer: without them the other three could not be supplied or relieved.
Add the three shares of time together and they come to 55 per cent, not 100. The rest of a soldier's time was spent out of the trench system altogether, resting, training or marching to and from the line. Soldiers were rotated so that no unit stayed in the most dangerous place for long.
Tip: Front line, support, reserve, communication. Learn the order away from the enemy, and remember that nobody stayed in the front line for the whole of their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that feature.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of the trench system to its definition.
Support — work through the steps with the group: (1) Two of the five are about water. Find the words water and mud in the definitions and match those two first. (2) One of the five is not part of a trench at all: it is the ground outside. (3) Of the two that are left, one is a wall and one is a hole. (4) Check each match by asking: could a soldier stand on it, shelter in it, or hide behind it?
Parallel worked example for Support (model it, do not give the task answer): Match these three features to their definitions: parados, firestep, periscope. Definitions: a step that lets a soldier see over the parapet; a bank of earth at the back of the trench; a device for looking over the top without raising your head. The step is the one a soldier stands on, so that is the firestep.; The bank at the back is the parados.; The device for looking over safely is the periscope.. Answer: Parados: the bank at the back. Firestep: the step for seeing over the parapet. Periscope: the device for looking over without raising your head..
Core — reveal the hint only on request: Sort them first: two about water, one about the ground outside, one wall, one hole.
Stretch — no help; when finished: Choose the feature you think saved the most lives, and explain your choice using one of the dangers of trench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that feature.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of the trench system to its definition.
Support — work through the steps with the group: (1) Two of the five are about water. Find the words water and mud in the definitions and match those two first. (2) One of the five is not part of a trench at all: it is the ground outside. (3) Of the two that are left, one is a wall and one is a hole. (4) Check each match by asking: could a soldier stand on it, shelter in it, or hide behind it?
Parallel worked example for Support (model it, do not give the task answer): Match these three features to their definitions: parados, firestep, periscope. Definitions: a step that lets a soldier see over the parapet; a bank of earth at the back of the trench; a device for looking over the top without raising your head. The step is the one a soldier stands on, so that is the firestep.; The bank at the back is the parados.; The device for looking over safely is the periscope.. Answer: Parados: the bank at the back. Firestep: the step for seeing over the parapet. Periscope: the device for looking over without raising your head..
Core — reveal the hint only on request: Sort them first: two about water, one about the ground outside, one wall, one hole.
Stretch — no help; when finished: Choose the feature you think saved the most lives, and explain your choice using one of the dangers of trench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that feature.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of the trench system to its definition.
Support — work through the steps with the group: (1) Two of the five are about water. Find the words water and mud in the definitions and match those two first. (2) One of the five is not part of a trench at all: it is the ground outside. (3) Of the two that are left, one is a wall and one is a hole. (4) Check each match by asking: could a soldier stand on it, shelter in it, or hide behind it?
Parallel worked example for Support (model it, do not give the task answer): Match these three features to their definitions: parados, firestep, periscope. Definitions: a step that lets a soldier see over the parapet; a bank of earth at the back of the trench; a device for looking over the top without raising your head. The step is the one a soldier stands on, so that is the firestep.; The bank at the back is the parados.; The device for looking over safely is the periscope.. Answer: Parados: the bank at the back. Firestep: the step for seeing over the parapet. Periscope: the device for looking over without raising your head..
Core — reveal the hint only on request: Sort them first: two about water, one about the ground outside, one wall, one hole.
Stretch — no help; when finished: Choose the feature you think saved the most lives, and explain your choice using one of the dangers of trench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that feature.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of the trench system to its definition.
Support — work through the steps with the group: (1) Two of the five are about water. Find the words water and mud in the definitions and match those two first. (2) One of the five is not part of a trench at all: it is the ground outside. (3) Of the two that are left, one is a wall and one is a hole. (4) Check each match by asking: could a soldier stand on it, shelter in it, or hide behind it?
Parallel worked example for Support (model it, do not give the task answer): Match these three features to their definitions: parados, firestep, periscope. Definitions: a step that lets a soldier see over the parapet; a bank of earth at the back of the trench; a device for looking over the top without raising your head. The step is the one a soldier stands on, so that is the firestep.; The bank at the back is the parados.; The device for looking over safely is the periscope.. Answer: Parados: the bank at the back. Firestep: the step for seeing over the parapet. Periscope: the device for looking over without raising your head..
Core — reveal the hint only on request: Sort them first: two about water, one about the ground outside, one wall, one hole.
Stretch — no help; when finished: Choose the feature you think saved the most lives, and explain your choice using one of the dangers of trench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Adding up a soldier's time.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Your lesson gives the share of a soldier's time spent in each line: 15 per cent in the front line trench, 10 per cent in the support trench and 30 per cent in the reserve trench. Add the three figures. What percentage of a soldier's time do they account for?
Support — work through the steps with the group: (1) Write the three figures down in a column: 15, 10, 30. (2) Add the first two: 15 + 10 = 25. (3) Add the third: 25 + 30 = 55. (4) Ask whether that is all of a soldier's time. It is not, so something is missing from the three figures.
Parallel worked example for Support (model it, do not give the task answer): A class spends 20 per cent of a lesson on recall, 50 per cent on new work and 20 per cent on practice. What percentage of the lesson do those three activities account for? Add the first two: 20 + 50 = 70.; Add the third: 70 + 20 = 90.; The missing 10 per cent is the start and the end of the lesson.. Answer: 90 per cent.
Core — reveal the hint only on request: Add all three. Then ask yourself what the figures do not include.
Stretch — no help; when finished: Explain why the army moved units in and out of the front line instead of leaving them there, and what the missing 45 per cent tells you about how the system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Adding up a soldier's time.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Your lesson gives the share of a soldier's time spent in each line: 15 per cent in the front line trench, 10 per cent in the support trench and 30 per cent in the reserve trench. Add the three figures. What percentage of a soldier's time do they account for?
Support — work through the steps with the group: (1) Write the three figures down in a column: 15, 10, 30. (2) Add the first two: 15 + 10 = 25. (3) Add the third: 25 + 30 = 55. (4) Ask whether that is all of a soldier's time. It is not, so something is missing from the three figures.
Parallel worked example for Support (model it, do not give the task answer): A class spends 20 per cent of a lesson on recall, 50 per cent on new work and 20 per cent on practice. What percentage of the lesson do those three activities account for? Add the first two: 20 + 50 = 70.; Add the third: 70 + 20 = 90.; The missing 10 per cent is the start and the end of the lesson.. Answer: 90 per cent.
Core — reveal the hint only on request: Add all three. Then ask yourself what the figures do not include.
Stretch — no help; when finished: Explain why the army moved units in and out of the front line instead of leaving them there, and what the missing 45 per cent tells you about how the system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did trenches zig-zag instead of running in a straight line?
Answer: A   So that a shell blast or enemy fire could not travel along the whole trench. A zig-zag keeps a blast, and any enemy who gets into the trench, inside one short section instead of the whole line.
Source of this question: gate item 1 re-asked (options rotated) — this chapter has no third quick-check module.
The ebook also holds task 3, "Why dig at all?",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Name that feature. Reveal the answer; pupils mark their own work in a different colour, then read the "why" together. Same destination for every lane, so one answer serves the whole class.
Answer: Parapet  →  E  The inner wall of a trench, made of earth and wood and topped with sandbags, to protect the soldiers; Dugout  →  A  A hole dug into the side of a trench where men could take cover when they needed to; Duckboards  →  D  Boards laid along the bottom of a trench to cover the sump pits and keep men out of the mud; Sump  →  C  A water container set below the floor of a trench, to drain away as much water as possible; No-man's-land  →  B  The disputed ground between the front lines of the two opposing armies
Why: The parapet is the protective wall; the dugout is the hole men sheltered in; the duckboards covered the sump pits; the sump drained the water; and no-man's-land is the ground between the two front lines.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Adding up a soldier's time. Reveal the answer; pupils mark their own work in a different colour, then read the "why" together. Same destination for every lane, so one answer serves the whole class.
Answer: 55 per cent
Why: 15 + 10 + 30 = 55 per cent. The three figures do not add up to all of a soldier's time, because units were rotated out of the trench system to rest, train and move. Noticing what a set of figures leaves out is a historian's habit worth having.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So that a shell blast or enemy fire could not travel along the whole trench
Why: A zig-zag keeps a blast, and any enemy who gets into the trench, inside one short section instead of the whole line.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Battle of the Somme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Battle of the Somme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Battle of the Somme · AQA KS3 → 8145</a:t>
            </a:r>
            <a:endParaRPr lang="en-US" sz="1800" dirty="0"/>
          </a:p>
        </p:txBody>
      </p:sp>
      <p:sp>
        <p:nvSpPr>
          <p:cNvPr id="10" name="deck-title"/>
          <p:cNvSpPr txBox="1"/>
          <p:nvPr/>
        </p:nvSpPr>
        <p:spPr>
          <a:xfrm>
            <a:off x="548640" y="245922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The Western Front and the trench system</a:t>
            </a:r>
            <a:endParaRPr lang="en-US" sz="3600" dirty="0"/>
          </a:p>
        </p:txBody>
      </p:sp>
      <p:sp>
        <p:nvSpPr>
          <p:cNvPr id="11" name="lessons-card"/>
          <p:cNvSpPr/>
          <p:nvPr/>
        </p:nvSpPr>
        <p:spPr>
          <a:xfrm>
            <a:off x="548640" y="4003548"/>
            <a:ext cx="5287975" cy="980440"/>
          </a:xfrm>
          <a:prstGeom prst="roundRect">
            <a:avLst>
              <a:gd name="adj" fmla="val 7461"/>
            </a:avLst>
          </a:prstGeom>
          <a:solidFill>
            <a:srgbClr val="F4F0EC"/>
          </a:solidFill>
          <a:ln/>
        </p:spPr>
      </p:sp>
      <p:sp>
        <p:nvSpPr>
          <p:cNvPr id="12" name="lessons"/>
          <p:cNvSpPr txBox="1"/>
          <p:nvPr/>
        </p:nvSpPr>
        <p:spPr>
          <a:xfrm>
            <a:off x="685800" y="409498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Trench Warfare</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Was the Battle of the Somme a victory or a defeat, and why have historians changed their minds about General Haig?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Why did trenches zig-zag instead of running in a straight line?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 that the trenches were quicker to dig</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 that a shell blast or enemy fire could not travel along the whole trench</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 that rainwater would drain away to the ends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 that soldiers could see further into no-man's-land</a:t>
            </a:r>
            <a:endParaRPr lang="en-US" sz="2000" dirty="0"/>
          </a:p>
        </p:txBody>
      </p:sp>
      <p:sp>
        <p:nvSpPr>
          <p:cNvPr id="12" name="card"/>
          <p:cNvSpPr/>
          <p:nvPr/>
        </p:nvSpPr>
        <p:spPr>
          <a:xfrm>
            <a:off x="6095848" y="1389888"/>
            <a:ext cx="2636444" cy="4754880"/>
          </a:xfrm>
          <a:prstGeom prst="roundRect">
            <a:avLst>
              <a:gd name="adj" fmla="val 2081"/>
            </a:avLst>
          </a:prstGeom>
          <a:solidFill>
            <a:srgbClr val="F8F5F3"/>
          </a:solidFill>
          <a:ln w="12700">
            <a:solidFill>
              <a:srgbClr val="D2C2B4"/>
            </a:solidFill>
            <a:prstDash val="solid"/>
          </a:ln>
        </p:spPr>
      </p:sp>
      <p:sp>
        <p:nvSpPr>
          <p:cNvPr id="13" name="card-hex"/>
          <p:cNvSpPr/>
          <p:nvPr/>
        </p:nvSpPr>
        <p:spPr>
          <a:xfrm>
            <a:off x="6278728" y="1572768"/>
            <a:ext cx="640080" cy="554309"/>
          </a:xfrm>
          <a:prstGeom prst="hexagon">
            <a:avLst/>
          </a:prstGeom>
          <a:solidFill>
            <a:srgbClr val="7A4A1E"/>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disputed ground between the front lines of the two armies was called ___.</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no-man's-land  ·  the parados  ·  the sump</a:t>
            </a:r>
            <a:endParaRPr lang="en-US" sz="2200" dirty="0"/>
          </a:p>
        </p:txBody>
      </p:sp>
      <p:sp>
        <p:nvSpPr>
          <p:cNvPr id="17" name="card"/>
          <p:cNvSpPr/>
          <p:nvPr/>
        </p:nvSpPr>
        <p:spPr>
          <a:xfrm>
            <a:off x="9006611" y="1389888"/>
            <a:ext cx="2636444" cy="4754880"/>
          </a:xfrm>
          <a:prstGeom prst="roundRect">
            <a:avLst>
              <a:gd name="adj" fmla="val 2081"/>
            </a:avLst>
          </a:prstGeom>
          <a:solidFill>
            <a:srgbClr val="F8F5F3"/>
          </a:solidFill>
          <a:ln w="12700">
            <a:solidFill>
              <a:srgbClr val="D2C2B4"/>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part of the trench system was the most dangerous place to be?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support trench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front line trench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reserve trench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communication trench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So that a shell blast or enemy fire could not travel along the whole trench</a:t>
            </a:r>
            <a:endParaRPr lang="en-US" sz="2200" dirty="0"/>
          </a:p>
        </p:txBody>
      </p:sp>
      <p:sp>
        <p:nvSpPr>
          <p:cNvPr id="13" name="card-body"/>
          <p:cNvSpPr txBox="1"/>
          <p:nvPr/>
        </p:nvSpPr>
        <p:spPr>
          <a:xfrm>
            <a:off x="731520"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Why did trenches zig-zag instead of running in a straight line?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zig-zag keeps a blast, and any enemy who gets into the trench, inside one short section instead of the whole line.</a:t>
            </a:r>
            <a:endParaRPr lang="en-US" sz="2200" dirty="0"/>
          </a:p>
        </p:txBody>
      </p:sp>
      <p:sp>
        <p:nvSpPr>
          <p:cNvPr id="14" name="card"/>
          <p:cNvSpPr/>
          <p:nvPr/>
        </p:nvSpPr>
        <p:spPr>
          <a:xfrm>
            <a:off x="6095848" y="1389888"/>
            <a:ext cx="2636444" cy="4754880"/>
          </a:xfrm>
          <a:prstGeom prst="roundRect">
            <a:avLst>
              <a:gd name="adj" fmla="val 2081"/>
            </a:avLst>
          </a:prstGeom>
          <a:solidFill>
            <a:srgbClr val="F8F5F3"/>
          </a:solidFill>
          <a:ln w="12700">
            <a:solidFill>
              <a:srgbClr val="D2C2B4"/>
            </a:solidFill>
            <a:prstDash val="solid"/>
          </a:ln>
        </p:spPr>
      </p:sp>
      <p:sp>
        <p:nvSpPr>
          <p:cNvPr id="15" name="card-hex"/>
          <p:cNvSpPr/>
          <p:nvPr/>
        </p:nvSpPr>
        <p:spPr>
          <a:xfrm>
            <a:off x="6278728" y="1572768"/>
            <a:ext cx="640080" cy="554309"/>
          </a:xfrm>
          <a:prstGeom prst="hexagon">
            <a:avLst/>
          </a:prstGeom>
          <a:solidFill>
            <a:srgbClr val="7A4A1E"/>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no-man's-land</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No-man's-land is the ground between the two front line trenches, which neither army held.</a:t>
            </a:r>
            <a:endParaRPr lang="en-US" sz="1800" dirty="0"/>
          </a:p>
        </p:txBody>
      </p:sp>
      <p:sp>
        <p:nvSpPr>
          <p:cNvPr id="21" name="card"/>
          <p:cNvSpPr/>
          <p:nvPr/>
        </p:nvSpPr>
        <p:spPr>
          <a:xfrm>
            <a:off x="9006611" y="1389888"/>
            <a:ext cx="2636444" cy="4754880"/>
          </a:xfrm>
          <a:prstGeom prst="roundRect">
            <a:avLst>
              <a:gd name="adj" fmla="val 2081"/>
            </a:avLst>
          </a:prstGeom>
          <a:solidFill>
            <a:srgbClr val="F8F5F3"/>
          </a:solidFill>
          <a:ln w="12700">
            <a:solidFill>
              <a:srgbClr val="D2C2B4"/>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955040"/>
          </a:xfrm>
          <a:prstGeom prst="roundRect">
            <a:avLst>
              <a:gd name="adj" fmla="val 11489"/>
            </a:avLst>
          </a:prstGeom>
          <a:solidFill>
            <a:srgbClr val="EEE3CD"/>
          </a:solidFill>
          <a:ln w="19050">
            <a:solidFill>
              <a:srgbClr val="B8862B"/>
            </a:solidFill>
            <a:prstDash val="solid"/>
          </a:ln>
        </p:spPr>
      </p:sp>
      <p:sp>
        <p:nvSpPr>
          <p:cNvPr id="26" name="answer"/>
          <p:cNvSpPr txBox="1"/>
          <p:nvPr/>
        </p:nvSpPr>
        <p:spPr>
          <a:xfrm>
            <a:off x="9280931" y="2428829"/>
            <a:ext cx="2087804"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front line trench</a:t>
            </a:r>
            <a:endParaRPr lang="en-US" sz="2200" dirty="0"/>
          </a:p>
        </p:txBody>
      </p:sp>
      <p:sp>
        <p:nvSpPr>
          <p:cNvPr id="27" name="card-body"/>
          <p:cNvSpPr txBox="1"/>
          <p:nvPr/>
        </p:nvSpPr>
        <p:spPr>
          <a:xfrm>
            <a:off x="9189491" y="3493597"/>
            <a:ext cx="2270684"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Attacks came at the front line trench, so it was the most dangerous, and soldiers spent only 15 per cent of their time there.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Western Front</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long line of trenches running through Belgium and France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Western Front stretched for more than 400 miles.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trench</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area dug into the ground that is deeper than it is wide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trench gave soldiers protection from bullets and shells.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no-man's-land</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disputed ground between the front lines of the two armies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Nobody could cross no-man's-land in daylight without being seen.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parapet</a:t>
            </a:r>
            <a:endParaRPr lang="en-US" sz="2600" dirty="0"/>
          </a:p>
        </p:txBody>
      </p:sp>
      <p:sp>
        <p:nvSpPr>
          <p:cNvPr id="11" name="word-rule"/>
          <p:cNvSpPr/>
          <p:nvPr/>
        </p:nvSpPr>
        <p:spPr>
          <a:xfrm>
            <a:off x="731520" y="2129028"/>
            <a:ext cx="5044288" cy="0"/>
          </a:xfrm>
          <a:prstGeom prst="line">
            <a:avLst/>
          </a:prstGeom>
          <a:ln w="12700">
            <a:solidFill>
              <a:srgbClr val="CCB9A8"/>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inner wall of a trench, topped with sandbags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soldier looked over the parapet through a periscope.</a:t>
            </a:r>
            <a:endParaRPr lang="en-US" sz="2200" dirty="0"/>
          </a:p>
        </p:txBody>
      </p:sp>
      <p:sp>
        <p:nvSpPr>
          <p:cNvPr id="13" name="word-card"/>
          <p:cNvSpPr/>
          <p:nvPr/>
        </p:nvSpPr>
        <p:spPr>
          <a:xfrm>
            <a:off x="6233008" y="1389888"/>
            <a:ext cx="5410048" cy="4754880"/>
          </a:xfrm>
          <a:prstGeom prst="roundRect">
            <a:avLst>
              <a:gd name="adj" fmla="val 1154"/>
            </a:avLst>
          </a:prstGeom>
          <a:solidFill>
            <a:srgbClr val="F6F3F0"/>
          </a:solidFill>
          <a:ln w="12700">
            <a:solidFill>
              <a:srgbClr val="CCB9A8"/>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dugout</a:t>
            </a:r>
            <a:endParaRPr lang="en-US" sz="2600" dirty="0"/>
          </a:p>
        </p:txBody>
      </p:sp>
      <p:sp>
        <p:nvSpPr>
          <p:cNvPr id="17" name="word-rule"/>
          <p:cNvSpPr/>
          <p:nvPr/>
        </p:nvSpPr>
        <p:spPr>
          <a:xfrm>
            <a:off x="6415888" y="2129028"/>
            <a:ext cx="5044288" cy="0"/>
          </a:xfrm>
          <a:prstGeom prst="line">
            <a:avLst/>
          </a:prstGeom>
          <a:ln w="12700">
            <a:solidFill>
              <a:srgbClr val="CCB9A8"/>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hole dug into the side of a trench where men could take cover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dugout could be used as a medical post.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Germany planned to beat France in six weeks.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plan failed.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By December 1914, neither side could break through the other.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 both sides dug.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Their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trenches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ran from the Belgian coast to the Swiss border.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long line was called 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Western Front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stretched for more than 400 miles.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trench</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 channel dug deeper than it is wide.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protected soldiers from bullets and from shell fire.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Trenches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zig-zagged instead of running straight.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ground between the two front lines was called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no-man's-land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Behind the front line came support, reserve and communication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trenches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the Western Front was created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shape of it: the Schlieffen Plan fails, so neither side can advance, so both sides dig. The trenches are the result of a stalemate, not the cause of one.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Germany went to war with a plan. The Schlieffen Plan was designed to defeat France quickly by attacking through Belgium, so that Germany could then turn round and deal with Russia.</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By December 1914 it had become clear that neither side could break through the other's defences.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Western Front mattered because of what a breakthrough would mean.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is a trench, and why dig one?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 are asked why trenches were used, give two reasons: protection from bullets and shells, and the stalemate that made advancing impossible.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trench is an area dug into the ground which is deeper than it is wide.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Trenches zig-zagged rather than running in a straight line. There are two good reasons for that.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Underground dugouts gave more protection still, and were often used as medical posts or shelters for officers.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parts of a trench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Sort the features into three groups before you learn them: walls (parapet, parados, sandbags), water (sump, duckboards), and seeing or sheltering (firestep, periscope, dugout).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Each part of a trench had a job. The parapet is the inner wall on the enemy side, made of earth and wood and topped with sandbags, which protected the men behind it.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firestep ran along the bottom of the front wall so that each soldier could stand and peer over the side, through the parapet, towards the enemy line.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Water was a constant enemy, so trenches had a sump, a container set below the floor of the trench to drain away as much water as possible, and duckboards laid over the floor to cover the sump pits and keep men out of the mud.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The parts of a trench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4F0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definition reads: a place where each soldier could stand to look over the side of the trench towards the enemy. Which feature is it, and how do you know?</a:t>
            </a:r>
            <a:endParaRPr lang="en-US" sz="2000" dirty="0"/>
          </a:p>
        </p:txBody>
      </p:sp>
      <p:sp>
        <p:nvSpPr>
          <p:cNvPr id="9" name="step-box"/>
          <p:cNvSpPr/>
          <p:nvPr/>
        </p:nvSpPr>
        <p:spPr>
          <a:xfrm>
            <a:off x="548640" y="2502408"/>
            <a:ext cx="11094415" cy="513080"/>
          </a:xfrm>
          <a:prstGeom prst="roundRect">
            <a:avLst>
              <a:gd name="adj" fmla="val 14257"/>
            </a:avLst>
          </a:prstGeom>
          <a:solidFill>
            <a:srgbClr val="FFFFFF"/>
          </a:solidFill>
          <a:ln w="15875">
            <a:solidFill>
              <a:srgbClr val="B69B83"/>
            </a:solidFill>
            <a:prstDash val="solid"/>
          </a:ln>
        </p:spPr>
      </p:sp>
      <p:sp>
        <p:nvSpPr>
          <p:cNvPr id="10" name="step-hex"/>
          <p:cNvSpPr/>
          <p:nvPr/>
        </p:nvSpPr>
        <p:spPr>
          <a:xfrm>
            <a:off x="685800" y="2560980"/>
            <a:ext cx="457200" cy="395935"/>
          </a:xfrm>
          <a:prstGeom prst="hexagon">
            <a:avLst/>
          </a:prstGeom>
          <a:solidFill>
            <a:srgbClr val="7A4A1E"/>
          </a:solidFill>
          <a:ln/>
        </p:spPr>
      </p:sp>
      <p:sp>
        <p:nvSpPr>
          <p:cNvPr id="11" name="step-hex-label"/>
          <p:cNvSpPr txBox="1"/>
          <p:nvPr/>
        </p:nvSpPr>
        <p:spPr>
          <a:xfrm>
            <a:off x="685800" y="25609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Look for the key action in the definition: standing in order to see over the side.</a:t>
            </a:r>
            <a:endParaRPr lang="en-US" sz="1800" dirty="0"/>
          </a:p>
        </p:txBody>
      </p:sp>
      <p:sp>
        <p:nvSpPr>
          <p:cNvPr id="13" name="step-box"/>
          <p:cNvSpPr/>
          <p:nvPr/>
        </p:nvSpPr>
        <p:spPr>
          <a:xfrm>
            <a:off x="548640" y="3088640"/>
            <a:ext cx="11094415" cy="777240"/>
          </a:xfrm>
          <a:prstGeom prst="roundRect">
            <a:avLst>
              <a:gd name="adj" fmla="val 9412"/>
            </a:avLst>
          </a:prstGeom>
          <a:solidFill>
            <a:srgbClr val="FFFFFF"/>
          </a:solidFill>
          <a:ln w="15875">
            <a:solidFill>
              <a:srgbClr val="B69B83"/>
            </a:solidFill>
            <a:prstDash val="solid"/>
          </a:ln>
        </p:spPr>
      </p:sp>
      <p:sp>
        <p:nvSpPr>
          <p:cNvPr id="14" name="step-hex"/>
          <p:cNvSpPr/>
          <p:nvPr/>
        </p:nvSpPr>
        <p:spPr>
          <a:xfrm>
            <a:off x="685800" y="3279292"/>
            <a:ext cx="457200" cy="395935"/>
          </a:xfrm>
          <a:prstGeom prst="hexagon">
            <a:avLst/>
          </a:prstGeom>
          <a:solidFill>
            <a:srgbClr val="7A4A1E"/>
          </a:solidFill>
          <a:ln/>
        </p:spPr>
      </p:sp>
      <p:sp>
        <p:nvSpPr>
          <p:cNvPr id="15" name="step-hex-label"/>
          <p:cNvSpPr txBox="1"/>
          <p:nvPr/>
        </p:nvSpPr>
        <p:spPr>
          <a:xfrm>
            <a:off x="685800" y="327929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88640"/>
            <a:ext cx="10180015" cy="77724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Rule out the features that are walls or coverings: the parapet is the wall itself, the sandbags sit on top of it, the duckboards are on the floor.</a:t>
            </a:r>
            <a:endParaRPr lang="en-US" sz="1800" dirty="0"/>
          </a:p>
        </p:txBody>
      </p:sp>
      <p:sp>
        <p:nvSpPr>
          <p:cNvPr id="17" name="step-box"/>
          <p:cNvSpPr/>
          <p:nvPr/>
        </p:nvSpPr>
        <p:spPr>
          <a:xfrm>
            <a:off x="548640" y="3939032"/>
            <a:ext cx="11094415" cy="513080"/>
          </a:xfrm>
          <a:prstGeom prst="roundRect">
            <a:avLst>
              <a:gd name="adj" fmla="val 14257"/>
            </a:avLst>
          </a:prstGeom>
          <a:solidFill>
            <a:srgbClr val="FFFFFF"/>
          </a:solidFill>
          <a:ln w="15875">
            <a:solidFill>
              <a:srgbClr val="B69B83"/>
            </a:solidFill>
            <a:prstDash val="solid"/>
          </a:ln>
        </p:spPr>
      </p:sp>
      <p:sp>
        <p:nvSpPr>
          <p:cNvPr id="18" name="step-hex"/>
          <p:cNvSpPr/>
          <p:nvPr/>
        </p:nvSpPr>
        <p:spPr>
          <a:xfrm>
            <a:off x="685800" y="3997604"/>
            <a:ext cx="457200" cy="395935"/>
          </a:xfrm>
          <a:prstGeom prst="hexagon">
            <a:avLst/>
          </a:prstGeom>
          <a:solidFill>
            <a:srgbClr val="7A4A1E"/>
          </a:solidFill>
          <a:ln/>
        </p:spPr>
      </p:sp>
      <p:sp>
        <p:nvSpPr>
          <p:cNvPr id="19" name="step-hex-label"/>
          <p:cNvSpPr txBox="1"/>
          <p:nvPr/>
        </p:nvSpPr>
        <p:spPr>
          <a:xfrm>
            <a:off x="685800" y="39976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939032"/>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soldier needs something to stand on to see over the wall, and that is the firestep.</a:t>
            </a:r>
            <a:endParaRPr lang="en-US" sz="1800" dirty="0"/>
          </a:p>
        </p:txBody>
      </p:sp>
      <p:sp>
        <p:nvSpPr>
          <p:cNvPr id="21" name="step-box"/>
          <p:cNvSpPr/>
          <p:nvPr/>
        </p:nvSpPr>
        <p:spPr>
          <a:xfrm>
            <a:off x="548640" y="4525264"/>
            <a:ext cx="11094415" cy="513080"/>
          </a:xfrm>
          <a:prstGeom prst="roundRect">
            <a:avLst>
              <a:gd name="adj" fmla="val 14257"/>
            </a:avLst>
          </a:prstGeom>
          <a:solidFill>
            <a:srgbClr val="FFFFFF"/>
          </a:solidFill>
          <a:ln w="15875">
            <a:solidFill>
              <a:srgbClr val="B69B83"/>
            </a:solidFill>
            <a:prstDash val="solid"/>
          </a:ln>
        </p:spPr>
      </p:sp>
      <p:sp>
        <p:nvSpPr>
          <p:cNvPr id="22" name="step-hex"/>
          <p:cNvSpPr/>
          <p:nvPr/>
        </p:nvSpPr>
        <p:spPr>
          <a:xfrm>
            <a:off x="685800" y="4583836"/>
            <a:ext cx="457200" cy="395935"/>
          </a:xfrm>
          <a:prstGeom prst="hexagon">
            <a:avLst/>
          </a:prstGeom>
          <a:solidFill>
            <a:srgbClr val="7A4A1E"/>
          </a:solidFill>
          <a:ln/>
        </p:spPr>
      </p:sp>
      <p:sp>
        <p:nvSpPr>
          <p:cNvPr id="23" name="step-hex-label"/>
          <p:cNvSpPr txBox="1"/>
          <p:nvPr/>
        </p:nvSpPr>
        <p:spPr>
          <a:xfrm>
            <a:off x="685800" y="45838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25264"/>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it against the opposite feature: a periscope lets you see over without standing up at all.</a:t>
            </a:r>
            <a:endParaRPr lang="en-US" sz="1800" dirty="0"/>
          </a:p>
        </p:txBody>
      </p:sp>
      <p:sp>
        <p:nvSpPr>
          <p:cNvPr id="25" name="worked-answer"/>
          <p:cNvSpPr/>
          <p:nvPr/>
        </p:nvSpPr>
        <p:spPr>
          <a:xfrm>
            <a:off x="548640" y="5221224"/>
            <a:ext cx="11094415" cy="831088"/>
          </a:xfrm>
          <a:prstGeom prst="roundRect">
            <a:avLst>
              <a:gd name="adj" fmla="val 16504"/>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firestep: the definition is about standing in order to see over the parapet, and the firestep is the step that makes that possible.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Four lines, not one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Front line, support, reserve, communication. Learn the order away from the enemy, and remember that nobody stayed in the front line for the whole of their war.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trench system was not a single ditch. The front line trench was where attacks came, which made it the most dangerous place to be, and your lesson gives soldiers 15 per cent of their time there.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Running between the three lines were communication trenches. These linked the system together so that troops could be moved and messages carried without crossing open ground.</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Add the three shares of time together and they come to 55 per cent, not 100.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Name that feature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feature of the trench system to its definition.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(1 of 2): Name that feature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feature of the trench system to its definition.</a:t>
            </a:r>
            <a:endParaRPr lang="en-US" sz="2400" dirty="0"/>
          </a:p>
        </p:txBody>
      </p:sp>
      <p:sp>
        <p:nvSpPr>
          <p:cNvPr id="11" name="match-card"/>
          <p:cNvSpPr/>
          <p:nvPr/>
        </p:nvSpPr>
        <p:spPr>
          <a:xfrm>
            <a:off x="777240" y="2468331"/>
            <a:ext cx="3081437" cy="1103559"/>
          </a:xfrm>
          <a:prstGeom prst="roundRect">
            <a:avLst>
              <a:gd name="adj" fmla="val 6629"/>
            </a:avLst>
          </a:prstGeom>
          <a:solidFill>
            <a:srgbClr val="F6F3F0"/>
          </a:solidFill>
          <a:ln/>
        </p:spPr>
      </p:sp>
      <p:sp>
        <p:nvSpPr>
          <p:cNvPr id="12" name="match-hex"/>
          <p:cNvSpPr/>
          <p:nvPr/>
        </p:nvSpPr>
        <p:spPr>
          <a:xfrm>
            <a:off x="850392" y="2853818"/>
            <a:ext cx="384048" cy="332586"/>
          </a:xfrm>
          <a:prstGeom prst="hexagon">
            <a:avLst/>
          </a:prstGeom>
          <a:solidFill>
            <a:srgbClr val="7A4A1E"/>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Parapet</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8F2E9"/>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hole dug into the side of a trench where men could take cover when they needed to</a:t>
            </a:r>
            <a:endParaRPr lang="en-US" sz="2200" dirty="0"/>
          </a:p>
        </p:txBody>
      </p:sp>
      <p:sp>
        <p:nvSpPr>
          <p:cNvPr id="19" name="match-card"/>
          <p:cNvSpPr/>
          <p:nvPr/>
        </p:nvSpPr>
        <p:spPr>
          <a:xfrm>
            <a:off x="777240" y="3663330"/>
            <a:ext cx="3081437" cy="1103559"/>
          </a:xfrm>
          <a:prstGeom prst="roundRect">
            <a:avLst>
              <a:gd name="adj" fmla="val 6629"/>
            </a:avLst>
          </a:prstGeom>
          <a:solidFill>
            <a:srgbClr val="F6F3F0"/>
          </a:solidFill>
          <a:ln/>
        </p:spPr>
      </p:sp>
      <p:sp>
        <p:nvSpPr>
          <p:cNvPr id="20" name="match-hex"/>
          <p:cNvSpPr/>
          <p:nvPr/>
        </p:nvSpPr>
        <p:spPr>
          <a:xfrm>
            <a:off x="850392" y="4048817"/>
            <a:ext cx="384048" cy="332586"/>
          </a:xfrm>
          <a:prstGeom prst="hexagon">
            <a:avLst/>
          </a:prstGeom>
          <a:solidFill>
            <a:srgbClr val="7A4A1E"/>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Dugout</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8F2E9"/>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inner wall of a trench, made of earth and wood and topped with sandbags, to protect the soldiers</a:t>
            </a:r>
            <a:endParaRPr lang="en-US" sz="2200" dirty="0"/>
          </a:p>
        </p:txBody>
      </p:sp>
      <p:sp>
        <p:nvSpPr>
          <p:cNvPr id="27" name="match-card"/>
          <p:cNvSpPr/>
          <p:nvPr/>
        </p:nvSpPr>
        <p:spPr>
          <a:xfrm>
            <a:off x="777240" y="4858329"/>
            <a:ext cx="3081437" cy="1103559"/>
          </a:xfrm>
          <a:prstGeom prst="roundRect">
            <a:avLst>
              <a:gd name="adj" fmla="val 6629"/>
            </a:avLst>
          </a:prstGeom>
          <a:solidFill>
            <a:srgbClr val="F6F3F0"/>
          </a:solidFill>
          <a:ln/>
        </p:spPr>
      </p:sp>
      <p:sp>
        <p:nvSpPr>
          <p:cNvPr id="28" name="match-hex"/>
          <p:cNvSpPr/>
          <p:nvPr/>
        </p:nvSpPr>
        <p:spPr>
          <a:xfrm>
            <a:off x="850392" y="5243816"/>
            <a:ext cx="384048" cy="332586"/>
          </a:xfrm>
          <a:prstGeom prst="hexagon">
            <a:avLst/>
          </a:prstGeom>
          <a:solidFill>
            <a:srgbClr val="7A4A1E"/>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Duckboards</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8F2E9"/>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Boards laid along the bottom of a trench to cover the sump pits and keep men out of the mud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(2 of 2): Name that feature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feature of the trench system to its definition.</a:t>
            </a:r>
            <a:endParaRPr lang="en-US" sz="2400" dirty="0"/>
          </a:p>
        </p:txBody>
      </p:sp>
      <p:sp>
        <p:nvSpPr>
          <p:cNvPr id="11" name="match-card"/>
          <p:cNvSpPr/>
          <p:nvPr/>
        </p:nvSpPr>
        <p:spPr>
          <a:xfrm>
            <a:off x="777240" y="2468331"/>
            <a:ext cx="3081437" cy="1165352"/>
          </a:xfrm>
          <a:prstGeom prst="roundRect">
            <a:avLst>
              <a:gd name="adj" fmla="val 6277"/>
            </a:avLst>
          </a:prstGeom>
          <a:solidFill>
            <a:srgbClr val="F6F3F0"/>
          </a:solidFill>
          <a:ln/>
        </p:spPr>
      </p:sp>
      <p:sp>
        <p:nvSpPr>
          <p:cNvPr id="12" name="match-hex"/>
          <p:cNvSpPr/>
          <p:nvPr/>
        </p:nvSpPr>
        <p:spPr>
          <a:xfrm>
            <a:off x="850392" y="2884715"/>
            <a:ext cx="384048" cy="332586"/>
          </a:xfrm>
          <a:prstGeom prst="hexagon">
            <a:avLst/>
          </a:prstGeom>
          <a:solidFill>
            <a:srgbClr val="7A4A1E"/>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Sump</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8F2E9"/>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disputed ground between the front lines of the two opposing armies</a:t>
            </a:r>
            <a:endParaRPr lang="en-US" sz="2200" dirty="0"/>
          </a:p>
        </p:txBody>
      </p:sp>
      <p:sp>
        <p:nvSpPr>
          <p:cNvPr id="19" name="match-card"/>
          <p:cNvSpPr/>
          <p:nvPr/>
        </p:nvSpPr>
        <p:spPr>
          <a:xfrm>
            <a:off x="777240" y="3725123"/>
            <a:ext cx="3081437" cy="1165352"/>
          </a:xfrm>
          <a:prstGeom prst="roundRect">
            <a:avLst>
              <a:gd name="adj" fmla="val 6277"/>
            </a:avLst>
          </a:prstGeom>
          <a:solidFill>
            <a:srgbClr val="F6F3F0"/>
          </a:solidFill>
          <a:ln/>
        </p:spPr>
      </p:sp>
      <p:sp>
        <p:nvSpPr>
          <p:cNvPr id="20" name="match-hex"/>
          <p:cNvSpPr/>
          <p:nvPr/>
        </p:nvSpPr>
        <p:spPr>
          <a:xfrm>
            <a:off x="850392" y="4141507"/>
            <a:ext cx="384048" cy="332586"/>
          </a:xfrm>
          <a:prstGeom prst="hexagon">
            <a:avLst/>
          </a:prstGeom>
          <a:solidFill>
            <a:srgbClr val="7A4A1E"/>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No-man's-land</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8F2E9"/>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water container set below the floor of a trench, to drain away as much water as possible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Name that feature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Name that feature</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five are about water. Find the words water and mud in the definitions and match those two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of the five is not part of a trench at all: it is the ground outside.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two that are left, one is a wall and one is a hole.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each match by asking: could a soldier stand on it, shelter in it, or hide behind it?</a:t>
            </a:r>
            <a:endParaRPr lang="en-US" sz="1800" dirty="0"/>
          </a:p>
        </p:txBody>
      </p:sp>
      <p:sp>
        <p:nvSpPr>
          <p:cNvPr id="17" name="col-Core"/>
          <p:cNvSpPr/>
          <p:nvPr/>
        </p:nvSpPr>
        <p:spPr>
          <a:xfrm>
            <a:off x="6425403" y="2395728"/>
            <a:ext cx="2471666" cy="3749040"/>
          </a:xfrm>
          <a:prstGeom prst="roundRect">
            <a:avLst>
              <a:gd name="adj" fmla="val 2220"/>
            </a:avLst>
          </a:prstGeom>
          <a:solidFill>
            <a:srgbClr val="E4DAD1"/>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Sort them first: two about water, one about the ground outside, one wall, one hole.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the feature you think saved the most lives, and explain your choice using one of the dangers of trench life.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Adding up a soldier's time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Your lesson gives the share of a soldier's time spent in each line: 15 per cent in the front line trench, 10 per cent in the support trench and 30 per cent in the reserve trench. Add the three figures. What percentage of a soldier's time do they account for?</a:t>
            </a:r>
            <a:endParaRPr lang="en-US" sz="2600" dirty="0"/>
          </a:p>
          <a:p>
            <a:pPr algn="ctr" indent="0" marL="0">
              <a:buNone/>
            </a:pPr>
            <a:r>
              <a:rPr lang="en-US" sz="2400" b="1" dirty="0">
                <a:solidFill>
                  <a:srgbClr val="7A4A1E"/>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per cent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Adding up a soldier's time</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Adding up a soldier's time</a:t>
            </a:r>
            <a:endParaRPr lang="en-US" sz="2000" dirty="0"/>
          </a:p>
        </p:txBody>
      </p:sp>
      <p:sp>
        <p:nvSpPr>
          <p:cNvPr id="12" name="col-Support"/>
          <p:cNvSpPr/>
          <p:nvPr/>
        </p:nvSpPr>
        <p:spPr>
          <a:xfrm>
            <a:off x="548640" y="2395728"/>
            <a:ext cx="3515258" cy="3749040"/>
          </a:xfrm>
          <a:prstGeom prst="roundRect">
            <a:avLst>
              <a:gd name="adj" fmla="val 1561"/>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three figures down in a column: 15, 10, 30.</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the first two: 15 + 10 = 25.</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the third: 25 + 30 = 55.</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whether that is all of a soldier's time. It is not, so something is missing from the three figures.</a:t>
            </a:r>
            <a:endParaRPr lang="en-US" sz="1800" dirty="0"/>
          </a:p>
        </p:txBody>
      </p:sp>
      <p:sp>
        <p:nvSpPr>
          <p:cNvPr id="17" name="col-Core"/>
          <p:cNvSpPr/>
          <p:nvPr/>
        </p:nvSpPr>
        <p:spPr>
          <a:xfrm>
            <a:off x="4338218" y="2395728"/>
            <a:ext cx="3515258" cy="3749040"/>
          </a:xfrm>
          <a:prstGeom prst="roundRect">
            <a:avLst>
              <a:gd name="adj" fmla="val 1561"/>
            </a:avLst>
          </a:prstGeom>
          <a:solidFill>
            <a:srgbClr val="E4DAD1"/>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Add all three. Then ask yourself what the figures do not include.</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7A4A1E"/>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army moved units in and out of the front line instead of leaving them there, and what the missing 45 per cent tells you about how the system was run.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Why did trenches zig-zag instead of running in a straight line?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 that a shell blast or enemy fire could not travel along the whole trench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 that rainwater would drain away to the ends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 that soldiers could see further into no-man's-land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 that the trenches were quicker to dig</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Name that feature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Parapet  →  E  The inner wall of a trench, made of earth and wood and topped with sandbags, to protect the soldiers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Dugout  →  A  A hole dug into the side of a trench where men could take cover when they needed to</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Duckboards  →  D  Boards laid along the bottom of a trench to cover the sump pits and keep men out of the mud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Sump  →  C  A water container set below the floor of a trench, to drain away as much water as possible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No-man's-land  →  B  The disputed ground between the front lines of the two opposing armies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parapet is the protective wall; the dugout is the hole men sheltered in; the duckboards covered the sump pits; the sump drained the water; and no-man's-land is the ground between the two front lines.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Adding up a soldier's time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Your lesson gives the share of a soldier's time spent in each line: 15 per cent in the front line trench, 10 per cent in the support trench and 30 per cent in the reserve trench. Add the three figures. What percentage of a soldier's time do they account for?</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55 per cent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15 + 10 + 30 = 55 per cent. The three figures do not add up to all of a soldier's time, because units were rotated out of the trench system to rest, train and move. Noticing what a set of figures leaves out is a historian's habit worth having.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did trenches zig-zag instead of running in a straight line?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So that a shell blast or enemy fire could not travel along the whole trench</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zig-zag keeps a blast, and any enemy who gets into the trench, inside one short section instead of the whole line.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the Somme · Chapter 3: The Western Front and the trench system</dc:title>
  <dc:subject>History · Year 8</dc:subject>
  <dc:creator>Dr Vitor Merissi de Carvalho</dc:creator>
  <cp:lastModifiedBy>Dr Vitor Merissi de Carvalho</cp:lastModifiedBy>
  <cp:revision>1</cp:revision>
  <dcterms:created xsi:type="dcterms:W3CDTF">2026-10-19T06:08:03Z</dcterms:created>
  <dcterms:modified xsi:type="dcterms:W3CDTF">2026-10-19T06:08:03Z</dcterms:modified>
</cp:coreProperties>
</file>