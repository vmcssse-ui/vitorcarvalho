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48a682f-e7aa-70c2-138a-20cfc4f09e87}">
          <p14:sldIdLst>
            <p14:sldId id="256"/>
          </p14:sldIdLst>
        </p14:section>
        <p14:section name="Gate" id="{56b2a6fe-3063-3e20-0023-b586baded46d}">
          <p14:sldIdLst>
            <p14:sldId id="257"/>
            <p14:sldId id="258"/>
            <p14:sldId id="259"/>
          </p14:sldIdLst>
        </p14:section>
        <p14:section name="Pre-teach" id="{5a56206f-caff-4c8c-e4f3-2d29189b4ce2}">
          <p14:sldIdLst>
            <p14:sldId id="260"/>
            <p14:sldId id="261"/>
          </p14:sldIdLst>
        </p14:section>
        <p14:section name="Read-along" id="{f8bd65ea-c4bd-2d4b-fae2-ce2d6ba08015}">
          <p14:sldIdLst>
            <p14:sldId id="262"/>
            <p14:sldId id="263"/>
          </p14:sldIdLst>
        </p14:section>
        <p14:section name="Teach" id="{57d296f1-4374-38af-2b00-23166e856a9f}">
          <p14:sldIdLst>
            <p14:sldId id="264"/>
            <p14:sldId id="265"/>
            <p14:sldId id="266"/>
            <p14:sldId id="267"/>
          </p14:sldIdLst>
        </p14:section>
        <p14:section name="Routes" id="{d8c86b3b-8f0e-4978-0800-c0a8668085ec}">
          <p14:sldIdLst>
            <p14:sldId id="268"/>
            <p14:sldId id="269"/>
            <p14:sldId id="270"/>
            <p14:sldId id="271"/>
          </p14:sldIdLst>
        </p14:section>
        <p14:section name="Close" id="{f6b37b36-e51b-772f-0cf6-c8d21ddb1862}">
          <p14:sldIdLst>
            <p14:sldId id="272"/>
          </p14:sldIdLst>
        </p14:section>
        <p14:section name="Answers" id="{e0c0134c-c7b9-6d55-ce78-aa3516069964}">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Life and health in the trenches. What filled a soldier's day between attacks, what the weather and the water did to the trenches, and the four medical problems the army had to solve.
This deck covers the department's lesson: 2 (Trench Warfare: Why were trenches used, and what challenges did soldiers face in them?).
Read the big question aloud: "Was the Battle of the Somme a victory or a defeat, and why have historians changed their minds about General Haig?"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Standing in cold water for too long caused trench ___.  →  foot
2. What does your lesson give as a constant problem for soldiers in the trenches?  →  B   Water, mud and the cold
3. Why did the army work so hard to find medical solutions on the Western Front?  →  C   Because every soldier too ill to fight weakened an army that was trying to wear the enemy down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Standing in cold water for too long caused trench ___.  →  foot
2. What does your lesson give as a constant problem for soldiers in the trenches?  →  B   Water, mud and the cold
3. Why did the army work so hard to find medical solutions on the Western Front?  →  C   Because every soldier too ill to fight weakened an army that was trying to wear the enemy down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foot. Trench foot was caused by cold water. Trench fever came from lice, and shell shock came from long exposure to shelling and fear.
2. B   Water, mud and the cold. Water, mud and cold were constant. They caused trench foot, ruined equipment and wore men down over weeks.
3. C   Because every soldier too ill to fight weakened an army that was trying to wear the enemy down. In a war of attrition, an army needs its men fit. Soldiers lost to trench foot or trench fever were as gone from the line as soldiers lost in an attack.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rations: the food a soldier was given each day. Example: "A soldier carried his rations, mug and knife and fork in his haversack."
• lice: tiny insects that live on skin and clothing and can spread disease. Example: "Lice were almost impossible to get rid of in a crowded trench."
• waterlogged: soaked through with water that cannot drain away. Example: "In winter the trenches were waterlogged, muddy and icy."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trench foot: a painful condition caused by standing in cold water for too long. Example: "Dry socks and whale oil were the answer to trench foot."
• shell shock: the lasting effect on a soldier's mind of long exposure to shelling and fear. Example: "Shell shock was poorly understood at the time."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Life in a trench was not one long battle.
2. Between attacks there were long, dull stretches of waiting.
3. Soldiers slept, ate from meal tins and played cards.
4. They wrote letters and diaries home.
5. Parcels arrived from their families with treats such as chocolate.
6. Dogs were a common sight, as pets and as working animals.
7. The weather was a constant enemy.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In winter the trenches were waterlogged, muddy and icy.
9. Shelling left large holes filled with churned-up mud.
10. Soldiers lived with rats, lice and the cold water.
11. Standing in that water for too long caused trench foot.
12. The army had to find answers to problems like these.
13. An army that lost men to illness could not fight.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Waiting, and what filled the time. Say it in your own words, then check understanding with a quick question: ask a pupil from the pre-teach group first, since they met these words and ideas before the lesson. Pupils try to recall before you re-explain.
Films give the impression that trench life was one attack after another. Your lesson is careful to correct that. Much of the time there was very little fighting, because neither side had a tactic that would break the deadlock, and soldiers described trench life as boring as often as they described it as frightening.
So what filled the hours? Soldiers slept whenever they could. They ate from meal tins and shared out the rations they carried in their haversacks, along with a mug, a knife and fork and a shaving kit. They played cards. They wrote letters and kept diaries, which is one reason historians know so much about them. Parcels came from home with treats such as chocolate.
Dogs were a common sight on the front line. Some were loved as pets; many were trained to work, carrying messages or finding the wounded. A periscope let a soldier watch no-man's-land without putting his head above the parapet, and watching was a large part of the job.
Tip: If a question asks what life in the trenches was like, say both things: long stretches of boredom and sudden danger. An answer that gives only one of the two is only half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Weather, water and mud. Say it in your own words, then check understanding with a quick question: ask a pupil from the pre-teach group first, since they met these words and ideas before the lesson. Pupils try to recall before you re-explain.
The ground of the Western Front held water, and the trenches cut straight into it. In winter they were waterlogged, muddy and icy. Sumps and duckboards helped, but they could not keep a trench dry for long, and a trench that had been shelled was worse still: the explosions left large holes which filled with churned-up mud.
Trenches also tended to be overcrowded, with too many men in too little space. On top of that came the things your lesson lists as constant: the fear of shell fire, bullets, exposure to the weather, cold water, rats and lice. None of these was dramatic on its own. Together, over weeks, they wore men down.
This is worth holding on to when you judge the generals later in this unit. The conditions were not an accident of one bad winter. They were what the whole Western Front was like, for four years, on both sides of no-man's-land.
Tip: Separate the weather problems (water, mud, ice, cold) from the living problems (overcrowding, rats, lice). Then say how the two made each other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medical problems, and what the army did. Say it in your own words, then check understanding with a quick question: ask a pupil from the pre-teach group first, since they met these words and ideas before the lesson. Pupils try to recall before you re-explain.
Your lesson studies four major medical problems of the Western Front. Trench foot was caused by standing in cold water for too long, and it could leave a soldier unable to walk. An effective solution was found by 1915: the army made sure soldiers changed their socks three times a day and covered their feet in whale oil, and after that it was no longer a major problem. Trench fever was spread by the lice that lived in clothing, and left men feverish and aching, unfit to fight for weeks at a time.
Gas attacks were new to this war. Poison gas was released to drift on the wind towards the enemy trench, where it attacked the eyes and the lungs. The answer was protective equipment: soldiers were issued with gas helmets and then with proper respirators, and sentries were given rattles and gongs to raise the alarm. Shell shock was the effect on a soldier's mind of long exposure to shelling, fear and noise. At the time it was badly understood, and some sufferers were treated as cowards rather than as casualties. It is now recognised as a serious injury.
Your lesson asks you to judge, for each of the four, whether an effective solution had been found by 1918, the year the war ended. Trench foot is the clearest success. Gas was answered with equipment rather than cured. Trench fever was not beaten until the cause, the lice, could be dealt with. Shell shock was barely understood at all.
Worked example — model it step by step, thinking aloud: Explain how the army reduced trench foot, and how we can tell that the solution worked. (1) Name the cause: trench foot came from standing in cold water for too long. (2) Name the measure: from 1915 soldiers had to change their socks three times a day and cover their feet in whale oil. (3) Explain why the measure attacks the cause: dry feet and a layer of oil keep the cold water off the skin. (4) Give the test of success: your lesson says it was no longer a major issue after 1915, which is how we know the measure worked. Answer: Cause, measure, link, evidence: cold water caused it; dry socks and whale oil kept the water off; and the problem stopped being a major one after 1915..
Tip: For each medical problem, learn three things: the cause, what the army did, and whether it worked. That is exactly the shape the question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medical problems, and what the army did. Say it in your own words, then check understanding with a quick question: ask a pupil from the pre-teach group first, since they met these words and ideas before the lesson. Pupils try to recall before you re-explain.
Your lesson studies four major medical problems of the Western Front. Trench foot was caused by standing in cold water for too long, and it could leave a soldier unable to walk. An effective solution was found by 1915: the army made sure soldiers changed their socks three times a day and covered their feet in whale oil, and after that it was no longer a major problem. Trench fever was spread by the lice that lived in clothing, and left men feverish and aching, unfit to fight for weeks at a time.
Gas attacks were new to this war. Poison gas was released to drift on the wind towards the enemy trench, where it attacked the eyes and the lungs. The answer was protective equipment: soldiers were issued with gas helmets and then with proper respirators, and sentries were given rattles and gongs to raise the alarm. Shell shock was the effect on a soldier's mind of long exposure to shelling, fear and noise. At the time it was badly understood, and some sufferers were treated as cowards rather than as casualties. It is now recognised as a serious injury.
Your lesson asks you to judge, for each of the four, whether an effective solution had been found by 1918, the year the war ended. Trench foot is the clearest success. Gas was answered with equipment rather than cured. Trench fever was not beaten until the cause, the lice, could be dealt with. Shell shock was barely understood at all.
Worked example — model it step by step, thinking aloud: Explain how the army reduced trench foot, and how we can tell that the solution worked. (1) Name the cause: trench foot came from standing in cold water for too long. (2) Name the measure: from 1915 soldiers had to change their socks three times a day and cover their feet in whale oil. (3) Explain why the measure attacks the cause: dry feet and a layer of oil keep the cold water off the skin. (4) Give the test of success: your lesson says it was no longer a major issue after 1915, which is how we know the measure worked. Answer: Cause, measure, link, evidence: cold water caused it; dry socks and whale oil kept the water off; and the problem stopped being a major one after 1915..
Tip: For each medical problem, learn three things: the cause, what the army did, and whether it worked. That is exactly the shape the question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problems, four causes.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medical problem to its cause or description.
Support — work through the steps with the group: (1) Two of the four are named after the trench itself. Start with those two, and sort them by cause: water or lice? (2) One of the four is a weapon rather than a condition. (3) The remaining one affects the mind rather than the body. (4) Check each match by asking what the army could do about it.
Parallel worked example for Support (model it, do not give the task answer): Match these three school problems to their causes: a cold classroom, a late start, a lost book. Causes: the boiler has failed; the bus did not come; it was left in the hall. The cold room must be the boiler.; A late start points to the bus.; That leaves the book left in the hall.. Answer: Cold classroom: the boiler has failed. Late start: the bus did not come. Lost book: left in the hall..
Core — reveal the hint only on request: Water, lice, wind, noise. One cause for each problem.
Stretch — no help; when finished: Rank the four problems by how well they had been solved by 1918, and give a reason for the one you put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problems, four causes.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medical problem to its cause or description.
Support — work through the steps with the group: (1) Two of the four are named after the trench itself. Start with those two, and sort them by cause: water or lice? (2) One of the four is a weapon rather than a condition. (3) The remaining one affects the mind rather than the body. (4) Check each match by asking what the army could do about it.
Parallel worked example for Support (model it, do not give the task answer): Match these three school problems to their causes: a cold classroom, a late start, a lost book. Causes: the boiler has failed; the bus did not come; it was left in the hall. The cold room must be the boiler.; A late start points to the bus.; That leaves the book left in the hall.. Answer: Cold classroom: the boiler has failed. Late start: the bus did not come. Lost book: left in the hall..
Core — reveal the hint only on request: Water, lice, wind, noise. One cause for each problem.
Stretch — no help; when finished: Rank the four problems by how well they had been solved by 1918, and give a reason for the one you put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medicine mattered.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it was so important for the army to find medical solutions to the problems of the Western Front. Write one paragraph of four to six sentences.
Support — work through the steps with the group: (1) Sentence 1: It was important because an army needs its soldiers fit to fight. (2) Sentences 2 and 3: name two problems and say what each one did to a soldier, using so or because. (3) Sentence 4: give one measure the army took, and say whether it worked. (4) Last sentence: name one problem that was not solved, so your answer is balanced.
Parallel worked example for Support (model it, do not give the task answer): Explain why it matters that a football club has good physiotherapists. Write four sentences, finishing with one problem they cannot fix. Start with the need: a team needs fit players to win.; Give two injuries and what each costs the team.; Give one measure that works, such as warm-up routines.; Finish with something they cannot fix, such as a broken leg.. Answer: Need, evidence, a measure that works, then an honest limit..
Core — reveal the hint only on request: Two problems as evidence, one measure that worked, and one that did not. Use so and because.
Stretch — no help; when finished: Explain how the pressure of a war of attrition could push medicine forward faster than peacetime would have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medicine mattered.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it was so important for the army to find medical solutions to the problems of the Western Front. Write one paragraph of four to six sentences.
Support — work through the steps with the group: (1) Sentence 1: It was important because an army needs its soldiers fit to fight. (2) Sentences 2 and 3: name two problems and say what each one did to a soldier, using so or because. (3) Sentence 4: give one measure the army took, and say whether it worked. (4) Last sentence: name one problem that was not solved, so your answer is balanced.
Parallel worked example for Support (model it, do not give the task answer): Explain why it matters that a football club has good physiotherapists. Write four sentences, finishing with one problem they cannot fix. Start with the need: a team needs fit players to win.; Give two injuries and what each costs the team.; Give one measure that works, such as warm-up routines.; Finish with something they cannot fix, such as a broken leg.. Answer: Need, evidence, a measure that works, then an honest limit..
Core — reveal the hint only on request: Two problems as evidence, one measure that worked, and one that did not. Use so and because.
Stretch — no help; when finished: Explain how the pressure of a war of attrition could push medicine forward faster than peacetime would have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Soldiers have stood in cold water in a flooded trench for three days, and their feet have gone numb and painful. Which of the four medical problems is this about?
Answer: D   Trench foot. Every one of these describes trench foot, from a different angle: the cause, the army's order, the date it was solved, and the daily inspection meant to prevent it. Matching cause to condition is the quickest way to tell the four problems apart.
Source of this question: module 3 task ("Which problem is this?")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Four problems, four causes. Reveal the answer; pupils mark their own work in a different colour, then read the "why" together. Same destination for every lane, so one answer serves the whole class.
Answer: Trench foot  →  C  Caused by standing in cold water for too long; the army found an effective answer by 1915; Trench fever  →  D  Spread by the lice that lived in soldiers' clothing, leaving men feverish and unfit to fight for weeks; Gas attacks  →  A  Poison released to drift on the wind, answered with gas helmets and then respirators; Shell shock  →  B  The lasting effect on a soldier's mind of long exposure to shelling, fear and noise
Why: Trench foot came from cold water and was largely solved from 1915; trench fever came from lice; gas was a weapon answered with protective equipment; and shell shock was an injury to the mind that was barely understood at the time.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medicine mattered. Reveal the answer; pupils mark their own work in a different colour, then read the "why" together. Same destination for every lane, so one answer serves the whole class.
Answer: I explain that an army fighting a war of attrition needs its soldiers fit.; I use at least two of the four problems as evidence: trench foot, trench fever, gas attacks or shell shock.; I give one measure the army actually took, and say whether it worked.; I link my points with so or because rather than listing them.
Why: A war of attrition is won by whichever side can keep more men in the line. That makes illness a military problem. The strongest answers also notice that the problems that could be seen and measured, such as trench foot, were solved far better than shell shock was.
Model answer: Finding medical solutions mattered because an army cannot wear its enemy down if it is losing its own soldiers to illness. Trench foot could leave a man unable to walk, and trench fever left men feverish and unfit to fight for weeks, so both took soldiers out of the line just as surely as an attack did. The army therefore treated them as military problems and not only as medical ones: from 1915 soldiers had to change their socks three times a day and cover their feet in whale oil, and trench foot stopped being a major issue. Gas was answered with helmets and respirators, so the weapon could not be stopped but its effects could be reduced. Shell shock, however, was still badly understood, which shows that the army solved the problems it could see and measure far better than the ones it could not.
Success criteria: I explain that an army fighting a war of attrition needs its soldiers fit.; I use at least two of the four problems as evidence: trench foot, trench fever, gas attacks or shell shock.; I give one measure the army actually took, and say whether it worked.; I link my points with so or because rather than listing them.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medicine mattered. Reveal the answer; pupils mark their own work in a different colour, then read the "why" together. Same destination for every lane, so one answer serves the whole class.
Answer: I explain that an army fighting a war of attrition needs its soldiers fit.; I use at least two of the four problems as evidence: trench foot, trench fever, gas attacks or shell shock.; I give one measure the army actually took, and say whether it worked.; I link my points with so or because rather than listing them.
Why: A war of attrition is won by whichever side can keep more men in the line. That makes illness a military problem. The strongest answers also notice that the problems that could be seen and measured, such as trench foot, were solved far better than shell shock was.
Model answer: Finding medical solutions mattered because an army cannot wear its enemy down if it is losing its own soldiers to illness. Trench foot could leave a man unable to walk, and trench fever left men feverish and unfit to fight for weeks, so both took soldiers out of the line just as surely as an attack did. The army therefore treated them as military problems and not only as medical ones: from 1915 soldiers had to change their socks three times a day and cover their feet in whale oil, and trench foot stopped being a major issue. Gas was answered with helmets and respirators, so the weapon could not be stopped but its effects could be reduced. Shell shock, however, was still badly understood, which shows that the army solved the problems it could see and measure far better than the ones it could not.
Success criteria: I explain that an army fighting a war of attrition needs its soldiers fit.; I use at least two of the four problems as evidence: trench foot, trench fever, gas attacks or shell shock.; I give one measure the army actually took, and say whether it worked.; I link my points with so or because rather than listing them.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Trench foot
Why: Every one of these describes trench foot, from a different angle: the cause, the army's order, the date it was solved, and the daily inspection meant to prevent it. Matching cause to condition is the quickest way to tell the four problems apart.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the Somme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Life and health in the trenches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4F0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Trench Warfare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Was the Battle of the Somme a victory or a defeat, and why have historians changed their minds about General Haig?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Standing in cold water for too long caused trench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foot  ·  fever  ·  shock</a:t>
            </a:r>
            <a:endParaRPr lang="en-US" sz="2400" dirty="0"/>
          </a:p>
        </p:txBody>
      </p:sp>
      <p:sp>
        <p:nvSpPr>
          <p:cNvPr id="12" name="card"/>
          <p:cNvSpPr/>
          <p:nvPr/>
        </p:nvSpPr>
        <p:spPr>
          <a:xfrm>
            <a:off x="6233008" y="1389888"/>
            <a:ext cx="541004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does your lesson give as a constant problem for soldiers in the trenches?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Heat and drought all year round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Water, mud and the cold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Too much space to defend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shortage of letters from home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did the army work so hard to find medical solutions on the Western Front?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soldiers could not be replaced once conscription had begun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the war was expected to be over within weeks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every soldier too ill to fight weakened an army that was trying to wear the enemy down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gas attacks were the only serious danger in the trenches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foot</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Standing in cold water for too long caused trench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Trench foot was caused by cold water. Trench fever came from lice, and shell shock came from long exposure to shelling and fear.</a:t>
            </a:r>
            <a:endParaRPr lang="en-US" sz="20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EE3CD"/>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Water, mud and the cold</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does your lesson give as a constant problem for soldiers in the trenches?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Water, mud and cold were constant. They caused trench foot, ruined equipment and wore men down over weeks.</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EE3CD"/>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Because every soldier too ill to fight weakened an army that was trying to wear the enemy down</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In a war of attrition, an army needs its men fit. Soldiers lost to trench foot or trench fever were as gone from the line as…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rations</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food a soldier was given each day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soldier carried his rations, mug and knife and fork in his haversack.</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lice</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tiny insects that live on skin and clothing and can spread disease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Lice were almost impossible to get rid of in a crowded trench.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waterlogged</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soaked through with water that cannot drain away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winter the trenches were waterlogged, muddy and icy.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trench foot</a:t>
            </a:r>
            <a:endParaRPr lang="en-US" sz="2600" dirty="0"/>
          </a:p>
        </p:txBody>
      </p:sp>
      <p:sp>
        <p:nvSpPr>
          <p:cNvPr id="11" name="word-rule"/>
          <p:cNvSpPr/>
          <p:nvPr/>
        </p:nvSpPr>
        <p:spPr>
          <a:xfrm>
            <a:off x="731520" y="2129028"/>
            <a:ext cx="5044288" cy="0"/>
          </a:xfrm>
          <a:prstGeom prst="line">
            <a:avLst/>
          </a:prstGeom>
          <a:ln w="12700">
            <a:solidFill>
              <a:srgbClr val="CCB9A8"/>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painful condition caused by standing in cold water for too long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Dry socks and whale oil were the answer to trench foot.</a:t>
            </a:r>
            <a:endParaRPr lang="en-US" sz="2200" dirty="0"/>
          </a:p>
        </p:txBody>
      </p:sp>
      <p:sp>
        <p:nvSpPr>
          <p:cNvPr id="13" name="word-card"/>
          <p:cNvSpPr/>
          <p:nvPr/>
        </p:nvSpPr>
        <p:spPr>
          <a:xfrm>
            <a:off x="6233008" y="1389888"/>
            <a:ext cx="5410048" cy="4754880"/>
          </a:xfrm>
          <a:prstGeom prst="roundRect">
            <a:avLst>
              <a:gd name="adj" fmla="val 1154"/>
            </a:avLst>
          </a:prstGeom>
          <a:solidFill>
            <a:srgbClr val="F6F3F0"/>
          </a:solidFill>
          <a:ln w="12700">
            <a:solidFill>
              <a:srgbClr val="CCB9A8"/>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shell shock</a:t>
            </a:r>
            <a:endParaRPr lang="en-US" sz="2600" dirty="0"/>
          </a:p>
        </p:txBody>
      </p:sp>
      <p:sp>
        <p:nvSpPr>
          <p:cNvPr id="17" name="word-rule"/>
          <p:cNvSpPr/>
          <p:nvPr/>
        </p:nvSpPr>
        <p:spPr>
          <a:xfrm>
            <a:off x="6415888" y="2129028"/>
            <a:ext cx="5044288" cy="0"/>
          </a:xfrm>
          <a:prstGeom prst="line">
            <a:avLst/>
          </a:prstGeom>
          <a:ln w="12700">
            <a:solidFill>
              <a:srgbClr val="CCB9A8"/>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lasting effect on a soldier's mind of long exposure to shelling and fear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Shell shock was poorly understood at the time.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Life in a trench was not one long battle.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Between attacks there were long, dull stretches of waiting.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Soldiers slept, ate from meal tins and played cards.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wrote letters and diaries home.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Parcels arrived from their families with treats such as chocolate.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Dogs were a common sight, as pets and as working animals.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weather was a constant enemy.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winter the trenches were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waterlogged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muddy and icy.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Shelling left large holes filled with churned-up mud.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Soldiers lived with rats,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lice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the cold water.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Standing in that water for too long caused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trench foot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army had to find answers to problems like these.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army that lost men to illness could not fight.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Waiting, and what filled the time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asks what life in the trenches was like, say both things: long stretches of boredom and sudden danger. An answer that gives only one of the two is only half right.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Films give the impression that trench life was one attack after another.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what filled the hours? Soldiers slept whenever they could.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Dogs were a common sight on the front line. Some were loved as pets; many were trained to work, carrying messages or finding the wounded.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Weather, water and mud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Separate the weather problems (water, mud, ice, cold) from the living problems (overcrowding, rats, lice). Then say how the two made each other worse.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ground of the Western Front held water, and the trenches cut straight into it.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Trenches also tended to be overcrowded, with too many men in too little space.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worth holding on to when you judge the generals later in this unit.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Four medical problems, and what the army did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each medical problem, learn three things: the cause, what the army did, and whether it worked. That is exactly the shape the question will take.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studies four major medical problems of the Western Front.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Gas attacks were new to this war. Poison gas was released to drift on the wind towards the enemy trench, where it attacked the eyes and the lungs.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asks you to judge, for each of the four, whether an effective solution had been found by 1918, the year the war ended.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Four medical problems, and what the army did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4F0EC"/>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the army reduced trench foot, and how we can tell that the solution worked.</a:t>
            </a:r>
            <a:endParaRPr lang="en-US" sz="2000" dirty="0"/>
          </a:p>
        </p:txBody>
      </p:sp>
      <p:sp>
        <p:nvSpPr>
          <p:cNvPr id="9" name="step-box"/>
          <p:cNvSpPr/>
          <p:nvPr/>
        </p:nvSpPr>
        <p:spPr>
          <a:xfrm>
            <a:off x="548640" y="2192528"/>
            <a:ext cx="11094415" cy="522224"/>
          </a:xfrm>
          <a:prstGeom prst="roundRect">
            <a:avLst>
              <a:gd name="adj" fmla="val 14008"/>
            </a:avLst>
          </a:prstGeom>
          <a:solidFill>
            <a:srgbClr val="FFFFFF"/>
          </a:solidFill>
          <a:ln w="15875">
            <a:solidFill>
              <a:srgbClr val="B69B83"/>
            </a:solidFill>
            <a:prstDash val="solid"/>
          </a:ln>
        </p:spPr>
      </p:sp>
      <p:sp>
        <p:nvSpPr>
          <p:cNvPr id="10" name="step-hex"/>
          <p:cNvSpPr/>
          <p:nvPr/>
        </p:nvSpPr>
        <p:spPr>
          <a:xfrm>
            <a:off x="685800" y="2255672"/>
            <a:ext cx="457200" cy="395935"/>
          </a:xfrm>
          <a:prstGeom prst="hexagon">
            <a:avLst/>
          </a:prstGeom>
          <a:solidFill>
            <a:srgbClr val="7A4A1E"/>
          </a:solidFill>
          <a:ln/>
        </p:spPr>
      </p:sp>
      <p:sp>
        <p:nvSpPr>
          <p:cNvPr id="11" name="step-hex-label"/>
          <p:cNvSpPr txBox="1"/>
          <p:nvPr/>
        </p:nvSpPr>
        <p:spPr>
          <a:xfrm>
            <a:off x="685800" y="225567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Name the cause: trench foot came from standing in cold water for too long.</a:t>
            </a:r>
            <a:endParaRPr lang="en-US" sz="1800" dirty="0"/>
          </a:p>
        </p:txBody>
      </p:sp>
      <p:sp>
        <p:nvSpPr>
          <p:cNvPr id="13" name="step-box"/>
          <p:cNvSpPr/>
          <p:nvPr/>
        </p:nvSpPr>
        <p:spPr>
          <a:xfrm>
            <a:off x="548640" y="2787904"/>
            <a:ext cx="11094415" cy="786384"/>
          </a:xfrm>
          <a:prstGeom prst="roundRect">
            <a:avLst>
              <a:gd name="adj" fmla="val 9302"/>
            </a:avLst>
          </a:prstGeom>
          <a:solidFill>
            <a:srgbClr val="FFFFFF"/>
          </a:solidFill>
          <a:ln w="15875">
            <a:solidFill>
              <a:srgbClr val="B69B83"/>
            </a:solidFill>
            <a:prstDash val="solid"/>
          </a:ln>
        </p:spPr>
      </p:sp>
      <p:sp>
        <p:nvSpPr>
          <p:cNvPr id="14" name="step-hex"/>
          <p:cNvSpPr/>
          <p:nvPr/>
        </p:nvSpPr>
        <p:spPr>
          <a:xfrm>
            <a:off x="685800" y="2983128"/>
            <a:ext cx="457200" cy="395935"/>
          </a:xfrm>
          <a:prstGeom prst="hexagon">
            <a:avLst/>
          </a:prstGeom>
          <a:solidFill>
            <a:srgbClr val="7A4A1E"/>
          </a:solidFill>
          <a:ln/>
        </p:spPr>
      </p:sp>
      <p:sp>
        <p:nvSpPr>
          <p:cNvPr id="15" name="step-hex-label"/>
          <p:cNvSpPr txBox="1"/>
          <p:nvPr/>
        </p:nvSpPr>
        <p:spPr>
          <a:xfrm>
            <a:off x="685800" y="298312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87904"/>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Name the measure: from 1915 soldiers had to change their socks three times a day and cover their feet in whale oil.</a:t>
            </a:r>
            <a:endParaRPr lang="en-US" sz="1800" dirty="0"/>
          </a:p>
        </p:txBody>
      </p:sp>
      <p:sp>
        <p:nvSpPr>
          <p:cNvPr id="17" name="step-box"/>
          <p:cNvSpPr/>
          <p:nvPr/>
        </p:nvSpPr>
        <p:spPr>
          <a:xfrm>
            <a:off x="548640" y="3647440"/>
            <a:ext cx="11094415" cy="522224"/>
          </a:xfrm>
          <a:prstGeom prst="roundRect">
            <a:avLst>
              <a:gd name="adj" fmla="val 14008"/>
            </a:avLst>
          </a:prstGeom>
          <a:solidFill>
            <a:srgbClr val="FFFFFF"/>
          </a:solidFill>
          <a:ln w="15875">
            <a:solidFill>
              <a:srgbClr val="B69B83"/>
            </a:solidFill>
            <a:prstDash val="solid"/>
          </a:ln>
        </p:spPr>
      </p:sp>
      <p:sp>
        <p:nvSpPr>
          <p:cNvPr id="18" name="step-hex"/>
          <p:cNvSpPr/>
          <p:nvPr/>
        </p:nvSpPr>
        <p:spPr>
          <a:xfrm>
            <a:off x="685800" y="3710584"/>
            <a:ext cx="457200" cy="395935"/>
          </a:xfrm>
          <a:prstGeom prst="hexagon">
            <a:avLst/>
          </a:prstGeom>
          <a:solidFill>
            <a:srgbClr val="7A4A1E"/>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7440"/>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why the measure attacks the cause: dry feet and a layer of oil keep the cold water off the skin.</a:t>
            </a:r>
            <a:endParaRPr lang="en-US" sz="1800" dirty="0"/>
          </a:p>
        </p:txBody>
      </p:sp>
      <p:sp>
        <p:nvSpPr>
          <p:cNvPr id="21" name="step-box"/>
          <p:cNvSpPr/>
          <p:nvPr/>
        </p:nvSpPr>
        <p:spPr>
          <a:xfrm>
            <a:off x="548640" y="4242816"/>
            <a:ext cx="11094415" cy="786384"/>
          </a:xfrm>
          <a:prstGeom prst="roundRect">
            <a:avLst>
              <a:gd name="adj" fmla="val 9302"/>
            </a:avLst>
          </a:prstGeom>
          <a:solidFill>
            <a:srgbClr val="FFFFFF"/>
          </a:solidFill>
          <a:ln w="15875">
            <a:solidFill>
              <a:srgbClr val="B69B83"/>
            </a:solidFill>
            <a:prstDash val="solid"/>
          </a:ln>
        </p:spPr>
      </p:sp>
      <p:sp>
        <p:nvSpPr>
          <p:cNvPr id="22" name="step-hex"/>
          <p:cNvSpPr/>
          <p:nvPr/>
        </p:nvSpPr>
        <p:spPr>
          <a:xfrm>
            <a:off x="685800" y="4438040"/>
            <a:ext cx="457200" cy="395935"/>
          </a:xfrm>
          <a:prstGeom prst="hexagon">
            <a:avLst/>
          </a:prstGeom>
          <a:solidFill>
            <a:srgbClr val="7A4A1E"/>
          </a:solidFill>
          <a:ln/>
        </p:spPr>
      </p:sp>
      <p:sp>
        <p:nvSpPr>
          <p:cNvPr id="23" name="step-hex-label"/>
          <p:cNvSpPr txBox="1"/>
          <p:nvPr/>
        </p:nvSpPr>
        <p:spPr>
          <a:xfrm>
            <a:off x="685800" y="443804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42816"/>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the test of success: your lesson says it was no longer a major issue after 1915, which is how we know the measure worked.</a:t>
            </a:r>
            <a:endParaRPr lang="en-US" sz="1800" dirty="0"/>
          </a:p>
        </p:txBody>
      </p:sp>
      <p:sp>
        <p:nvSpPr>
          <p:cNvPr id="25" name="worked-answer"/>
          <p:cNvSpPr/>
          <p:nvPr/>
        </p:nvSpPr>
        <p:spPr>
          <a:xfrm>
            <a:off x="548640" y="5212080"/>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Cause, measure, link, evidence: cold water caused it; dry socks and whale oil kept the water off; and the problem stopped being a major one after 1915.</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Four problems, four causes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medical problem to its cause or description.</a:t>
            </a:r>
            <a:endParaRPr lang="en-US" sz="2400" dirty="0"/>
          </a:p>
        </p:txBody>
      </p:sp>
      <p:sp>
        <p:nvSpPr>
          <p:cNvPr id="11" name="match-card"/>
          <p:cNvSpPr/>
          <p:nvPr/>
        </p:nvSpPr>
        <p:spPr>
          <a:xfrm>
            <a:off x="777240" y="2468331"/>
            <a:ext cx="3081437" cy="804809"/>
          </a:xfrm>
          <a:prstGeom prst="roundRect">
            <a:avLst>
              <a:gd name="adj" fmla="val 9089"/>
            </a:avLst>
          </a:prstGeom>
          <a:solidFill>
            <a:srgbClr val="F6F3F0"/>
          </a:solidFill>
          <a:ln/>
        </p:spPr>
      </p:sp>
      <p:sp>
        <p:nvSpPr>
          <p:cNvPr id="12" name="match-hex"/>
          <p:cNvSpPr/>
          <p:nvPr/>
        </p:nvSpPr>
        <p:spPr>
          <a:xfrm>
            <a:off x="850392" y="2704443"/>
            <a:ext cx="384048" cy="332586"/>
          </a:xfrm>
          <a:prstGeom prst="hexagon">
            <a:avLst/>
          </a:prstGeom>
          <a:solidFill>
            <a:srgbClr val="7A4A1E"/>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Trench foot</a:t>
            </a:r>
            <a:endParaRPr lang="en-US" sz="2000" dirty="0"/>
          </a:p>
        </p:txBody>
      </p:sp>
      <p:sp>
        <p:nvSpPr>
          <p:cNvPr id="15" name="match-card"/>
          <p:cNvSpPr/>
          <p:nvPr/>
        </p:nvSpPr>
        <p:spPr>
          <a:xfrm>
            <a:off x="4224437" y="2468331"/>
            <a:ext cx="7190019" cy="804809"/>
          </a:xfrm>
          <a:prstGeom prst="roundRect">
            <a:avLst>
              <a:gd name="adj" fmla="val 9089"/>
            </a:avLst>
          </a:prstGeom>
          <a:solidFill>
            <a:srgbClr val="F8F2E9"/>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Poison released to drift on the wind, answered with gas helmets and then respirators</a:t>
            </a:r>
            <a:endParaRPr lang="en-US" sz="2000" dirty="0"/>
          </a:p>
        </p:txBody>
      </p:sp>
      <p:sp>
        <p:nvSpPr>
          <p:cNvPr id="19" name="match-card"/>
          <p:cNvSpPr/>
          <p:nvPr/>
        </p:nvSpPr>
        <p:spPr>
          <a:xfrm>
            <a:off x="777240" y="3364581"/>
            <a:ext cx="3081437" cy="804809"/>
          </a:xfrm>
          <a:prstGeom prst="roundRect">
            <a:avLst>
              <a:gd name="adj" fmla="val 9089"/>
            </a:avLst>
          </a:prstGeom>
          <a:solidFill>
            <a:srgbClr val="F6F3F0"/>
          </a:solidFill>
          <a:ln/>
        </p:spPr>
      </p:sp>
      <p:sp>
        <p:nvSpPr>
          <p:cNvPr id="20" name="match-hex"/>
          <p:cNvSpPr/>
          <p:nvPr/>
        </p:nvSpPr>
        <p:spPr>
          <a:xfrm>
            <a:off x="850392" y="3600692"/>
            <a:ext cx="384048" cy="332586"/>
          </a:xfrm>
          <a:prstGeom prst="hexagon">
            <a:avLst/>
          </a:prstGeom>
          <a:solidFill>
            <a:srgbClr val="7A4A1E"/>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Trench fever</a:t>
            </a:r>
            <a:endParaRPr lang="en-US" sz="2000" dirty="0"/>
          </a:p>
        </p:txBody>
      </p:sp>
      <p:sp>
        <p:nvSpPr>
          <p:cNvPr id="23" name="match-card"/>
          <p:cNvSpPr/>
          <p:nvPr/>
        </p:nvSpPr>
        <p:spPr>
          <a:xfrm>
            <a:off x="4224437" y="3364581"/>
            <a:ext cx="7190019" cy="804809"/>
          </a:xfrm>
          <a:prstGeom prst="roundRect">
            <a:avLst>
              <a:gd name="adj" fmla="val 9089"/>
            </a:avLst>
          </a:prstGeom>
          <a:solidFill>
            <a:srgbClr val="F8F2E9"/>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lasting effect on a soldier's mind of long exposure to shelling, fear and noise</a:t>
            </a:r>
            <a:endParaRPr lang="en-US" sz="2000" dirty="0"/>
          </a:p>
        </p:txBody>
      </p:sp>
      <p:sp>
        <p:nvSpPr>
          <p:cNvPr id="27" name="match-card"/>
          <p:cNvSpPr/>
          <p:nvPr/>
        </p:nvSpPr>
        <p:spPr>
          <a:xfrm>
            <a:off x="777240" y="4260830"/>
            <a:ext cx="3081437" cy="804809"/>
          </a:xfrm>
          <a:prstGeom prst="roundRect">
            <a:avLst>
              <a:gd name="adj" fmla="val 9089"/>
            </a:avLst>
          </a:prstGeom>
          <a:solidFill>
            <a:srgbClr val="F6F3F0"/>
          </a:solidFill>
          <a:ln/>
        </p:spPr>
      </p:sp>
      <p:sp>
        <p:nvSpPr>
          <p:cNvPr id="28" name="match-hex"/>
          <p:cNvSpPr/>
          <p:nvPr/>
        </p:nvSpPr>
        <p:spPr>
          <a:xfrm>
            <a:off x="850392" y="4496941"/>
            <a:ext cx="384048" cy="332586"/>
          </a:xfrm>
          <a:prstGeom prst="hexagon">
            <a:avLst/>
          </a:prstGeom>
          <a:solidFill>
            <a:srgbClr val="7A4A1E"/>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Gas attacks</a:t>
            </a:r>
            <a:endParaRPr lang="en-US" sz="2000" dirty="0"/>
          </a:p>
        </p:txBody>
      </p:sp>
      <p:sp>
        <p:nvSpPr>
          <p:cNvPr id="31" name="match-card"/>
          <p:cNvSpPr/>
          <p:nvPr/>
        </p:nvSpPr>
        <p:spPr>
          <a:xfrm>
            <a:off x="4224437" y="4260830"/>
            <a:ext cx="7190019" cy="804809"/>
          </a:xfrm>
          <a:prstGeom prst="roundRect">
            <a:avLst>
              <a:gd name="adj" fmla="val 9089"/>
            </a:avLst>
          </a:prstGeom>
          <a:solidFill>
            <a:srgbClr val="F8F2E9"/>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Caused by standing in cold water for too long; the army found an effective answer by 1915</a:t>
            </a:r>
            <a:endParaRPr lang="en-US" sz="2000" dirty="0"/>
          </a:p>
        </p:txBody>
      </p:sp>
      <p:sp>
        <p:nvSpPr>
          <p:cNvPr id="35" name="match-card"/>
          <p:cNvSpPr/>
          <p:nvPr/>
        </p:nvSpPr>
        <p:spPr>
          <a:xfrm>
            <a:off x="777240" y="5157079"/>
            <a:ext cx="3081437" cy="804809"/>
          </a:xfrm>
          <a:prstGeom prst="roundRect">
            <a:avLst>
              <a:gd name="adj" fmla="val 9089"/>
            </a:avLst>
          </a:prstGeom>
          <a:solidFill>
            <a:srgbClr val="F6F3F0"/>
          </a:solidFill>
          <a:ln/>
        </p:spPr>
      </p:sp>
      <p:sp>
        <p:nvSpPr>
          <p:cNvPr id="36" name="match-hex"/>
          <p:cNvSpPr/>
          <p:nvPr/>
        </p:nvSpPr>
        <p:spPr>
          <a:xfrm>
            <a:off x="850392" y="5393191"/>
            <a:ext cx="384048" cy="332586"/>
          </a:xfrm>
          <a:prstGeom prst="hexagon">
            <a:avLst/>
          </a:prstGeom>
          <a:solidFill>
            <a:srgbClr val="7A4A1E"/>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Shell shock</a:t>
            </a:r>
            <a:endParaRPr lang="en-US" sz="2000" dirty="0"/>
          </a:p>
        </p:txBody>
      </p:sp>
      <p:sp>
        <p:nvSpPr>
          <p:cNvPr id="39" name="match-card"/>
          <p:cNvSpPr/>
          <p:nvPr/>
        </p:nvSpPr>
        <p:spPr>
          <a:xfrm>
            <a:off x="4224437" y="5157079"/>
            <a:ext cx="7190019" cy="804809"/>
          </a:xfrm>
          <a:prstGeom prst="roundRect">
            <a:avLst>
              <a:gd name="adj" fmla="val 9089"/>
            </a:avLst>
          </a:prstGeom>
          <a:solidFill>
            <a:srgbClr val="F8F2E9"/>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Spread by the lice that lived in soldiers' clothing, leaving men feverish and unfit to fight for weeks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Four problems, four causes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Four problems, four causes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four are named after the trench itself. Start with those two, and sort them by cause: water or lice?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of the four is a weapon rather than a condition.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remaining one affects the mind rather than the body.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each match by asking what the army could do about it.</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Water, lice, wind, noise. One cause for each problem.</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Rank the four problems by how well they had been solved by 1918, and give a reason for the one you put last.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Why medicine mattered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why it was so important for the army to find medical solutions to the problems of the Western Front. Write one paragraph of four to six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Why medicine mattered</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Why medicine mattered</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It was important because an army needs its soldiers fit to fight.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name two problems and say what each one did to a soldier, using so or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give one measure the army took, and say whether it worked.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 name one problem that was not solved, so your answer is balanced.</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problems as evidence, one measure that worked, and one that did not. Use so and because.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pressure of a war of attrition could push medicine forward faster than peacetime would have done.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Soldiers have stood in cold water in a flooded trench for three days, and their feet have gone numb and painful. Which of the four medical problems is this about?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Shell shock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Gas attack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Trench fever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Trench foot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Four problems, four causes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Trench foot  →  C  Caused by standing in cold water for too long; the army found an effective answer by 1915</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Trench fever  →  D  Spread by the lice that lived in soldiers' clothing, leaving men feverish and unfit to fight for weeks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Gas attacks  →  A  Poison released to drift on the wind, answered with gas helmets and then respirators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Shell shock  →  B  The lasting effect on a soldier's mind of long exposure to shelling, fear and noise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Trench foot came from cold water and was largely solved from 1915; trench fever came from lice; gas was a weapon answered with protective equipment; and shell shock was an injury to the mind that was barely understood at the time.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Why medicine mattered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2188"/>
          </a:xfrm>
          <a:prstGeom prst="roundRect">
            <a:avLst>
              <a:gd name="adj" fmla="val 12320"/>
            </a:avLst>
          </a:prstGeom>
          <a:solidFill>
            <a:srgbClr val="F6F3F0"/>
          </a:solidFill>
          <a:ln/>
        </p:spPr>
      </p:sp>
      <p:sp>
        <p:nvSpPr>
          <p:cNvPr id="9" name="tickbox"/>
          <p:cNvSpPr/>
          <p:nvPr/>
        </p:nvSpPr>
        <p:spPr>
          <a:xfrm>
            <a:off x="713232" y="2209038"/>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that an army fighting a war of attrition needs its soldiers fit.</a:t>
            </a:r>
            <a:endParaRPr lang="en-US" sz="2200" dirty="0"/>
          </a:p>
        </p:txBody>
      </p:sp>
      <p:sp>
        <p:nvSpPr>
          <p:cNvPr id="11" name="crit-box"/>
          <p:cNvSpPr/>
          <p:nvPr/>
        </p:nvSpPr>
        <p:spPr>
          <a:xfrm>
            <a:off x="548640" y="2817876"/>
            <a:ext cx="11094415" cy="1083056"/>
          </a:xfrm>
          <a:prstGeom prst="roundRect">
            <a:avLst>
              <a:gd name="adj" fmla="val 8443"/>
            </a:avLst>
          </a:prstGeom>
          <a:solidFill>
            <a:srgbClr val="F6F3F0"/>
          </a:solidFill>
          <a:ln/>
        </p:spPr>
      </p:sp>
      <p:sp>
        <p:nvSpPr>
          <p:cNvPr id="12" name="tickbox"/>
          <p:cNvSpPr/>
          <p:nvPr/>
        </p:nvSpPr>
        <p:spPr>
          <a:xfrm>
            <a:off x="713232" y="3213100"/>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817876"/>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two of the four problems as evidence: trench foot, trench fever, gas attacks or shell shock.</a:t>
            </a:r>
            <a:endParaRPr lang="en-US" sz="2200" dirty="0"/>
          </a:p>
        </p:txBody>
      </p:sp>
      <p:sp>
        <p:nvSpPr>
          <p:cNvPr id="14" name="crit-box"/>
          <p:cNvSpPr/>
          <p:nvPr/>
        </p:nvSpPr>
        <p:spPr>
          <a:xfrm>
            <a:off x="548640" y="3992372"/>
            <a:ext cx="11094415" cy="742188"/>
          </a:xfrm>
          <a:prstGeom prst="roundRect">
            <a:avLst>
              <a:gd name="adj" fmla="val 12320"/>
            </a:avLst>
          </a:prstGeom>
          <a:solidFill>
            <a:srgbClr val="F6F3F0"/>
          </a:solidFill>
          <a:ln/>
        </p:spPr>
      </p:sp>
      <p:sp>
        <p:nvSpPr>
          <p:cNvPr id="15" name="tickbox"/>
          <p:cNvSpPr/>
          <p:nvPr/>
        </p:nvSpPr>
        <p:spPr>
          <a:xfrm>
            <a:off x="713232" y="4217162"/>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992372"/>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one measure the army actually took, and say whether it worked.</a:t>
            </a:r>
            <a:endParaRPr lang="en-US" sz="2200" dirty="0"/>
          </a:p>
        </p:txBody>
      </p:sp>
      <p:sp>
        <p:nvSpPr>
          <p:cNvPr id="17" name="crit-box"/>
          <p:cNvSpPr/>
          <p:nvPr/>
        </p:nvSpPr>
        <p:spPr>
          <a:xfrm>
            <a:off x="548640" y="4826000"/>
            <a:ext cx="11094415" cy="742188"/>
          </a:xfrm>
          <a:prstGeom prst="roundRect">
            <a:avLst>
              <a:gd name="adj" fmla="val 12320"/>
            </a:avLst>
          </a:prstGeom>
          <a:solidFill>
            <a:srgbClr val="F6F3F0"/>
          </a:solidFill>
          <a:ln/>
        </p:spPr>
      </p:sp>
      <p:sp>
        <p:nvSpPr>
          <p:cNvPr id="18" name="tickbox"/>
          <p:cNvSpPr/>
          <p:nvPr/>
        </p:nvSpPr>
        <p:spPr>
          <a:xfrm>
            <a:off x="713232" y="5050790"/>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826000"/>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link my points with so or because rather than listing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Why medicine mattered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Finding medical solutions mattered because an army cannot wear its enemy down if it is losing its own soldiers to illness. Trench foot could leave a man unable to walk, and trench fever left men feverish and unfit to fight for weeks, so both took soldiers out of the line just as surely as an attack did. The army therefore treated them as military problems and not only as medical ones: from 1915 soldiers had to change their socks three times a day and cover their feet in whale oil, and trench foot stopped being a major issue. Gas was answered with helmets and respirators, so the weapon could not be stopped but its effects could be reduced. Shell shock, however, was still badly understood, which shows that the army solved the problems it could see and measure far better than the ones it could not.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Soldiers have stood in cold water in a flooded trench for three days, and their feet have gone numb and painful. Which of the four medical problems is this about?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Trench foot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one of these describes trench foot, from a different angle: the cause, the army's order, the date it was solved, and the daily inspection meant to prevent it. Matching cause to condition is the quickest way to tell the four problems apart.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the Somme · Chapter 4: Life and health in the trenches</dc:title>
  <dc:subject>History · Year 8</dc:subject>
  <dc:creator>Dr Vitor Merissi de Carvalho</dc:creator>
  <cp:lastModifiedBy>Dr Vitor Merissi de Carvalho</cp:lastModifiedBy>
  <cp:revision>1</cp:revision>
  <dcterms:created xsi:type="dcterms:W3CDTF">2026-10-19T16:23:14Z</dcterms:created>
  <dcterms:modified xsi:type="dcterms:W3CDTF">2026-10-19T16:23:14Z</dcterms:modified>
</cp:coreProperties>
</file>