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52f708aa-d536-1db2-dc67-c9f639279e89}">
          <p14:sldIdLst>
            <p14:sldId id="256"/>
          </p14:sldIdLst>
        </p14:section>
        <p14:section name="Gate" id="{2b88a5e7-38eb-eb30-17af-28c7a6b8a5db}">
          <p14:sldIdLst>
            <p14:sldId id="257"/>
            <p14:sldId id="258"/>
          </p14:sldIdLst>
        </p14:section>
        <p14:section name="Pre-teach" id="{7b25e053-9a79-114a-4d2e-3d983923ac3b}">
          <p14:sldIdLst>
            <p14:sldId id="259"/>
            <p14:sldId id="260"/>
          </p14:sldIdLst>
        </p14:section>
        <p14:section name="Read-along" id="{b802511d-ff47-3423-48d1-d6416f97c6e7}">
          <p14:sldIdLst>
            <p14:sldId id="261"/>
            <p14:sldId id="262"/>
          </p14:sldIdLst>
        </p14:section>
        <p14:section name="Teach" id="{80a79905-0e80-1502-edd4-d0e10596aea0}">
          <p14:sldIdLst>
            <p14:sldId id="263"/>
            <p14:sldId id="264"/>
            <p14:sldId id="265"/>
            <p14:sldId id="266"/>
            <p14:sldId id="267"/>
            <p14:sldId id="268"/>
          </p14:sldIdLst>
        </p14:section>
        <p14:section name="Routes" id="{79f0f3b3-5d05-ffda-7df4-cab547fea1d9}">
          <p14:sldIdLst>
            <p14:sldId id="269"/>
            <p14:sldId id="270"/>
            <p14:sldId id="271"/>
            <p14:sldId id="272"/>
            <p14:sldId id="273"/>
            <p14:sldId id="274"/>
          </p14:sldIdLst>
        </p14:section>
        <p14:section name="Close" id="{33f89067-0b54-704b-4b58-c7bb8571d2ee}">
          <p14:sldIdLst>
            <p14:sldId id="275"/>
          </p14:sldIdLst>
        </p14:section>
        <p14:section name="Answers" id="{5ef05aa0-f0bd-0e84-b84f-d045711080a2}">
          <p14:sldIdLst>
            <p14:sldId id="276"/>
            <p14:sldId id="277"/>
            <p14:sldId id="278"/>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Chapter 6 of 6: Butcher or hero? Interpretations of General Haig. What a historical interpretation is, the evidence on both sides of the argument about Haig, what the lions led by donkeys idea claims, and how to answer an interpretation question.
This deck covers the department's lessons: 4 (General Haig: butcher or hero?: Was General Haig the butcher of the Somme?); 5 (Review: historical interpretations: Which interpretation of General Haig do you find more convincing, and why?).
Read the big question aloud: "Was the Battle of the Somme a victory or a defeat, and why have historians changed their minds about General Haig?" We come back to it at the exit ticket.
Before this lesson the pre-teach group has heard the read-along and met the key words; today they lead the reading. Lesson shape: do now (recall before any help), key words, read-along, teach, then the same task three ways in (Support, Core, Stretch), exit ticket, answers. Every pupil works towards the same destination.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 retrieval. Silent, no notes, no help: recall comes before any support. Give about four minutes.
1. What is a historical interpretation?  →  C   A judgement a historian forms about the past, using evidence
2. Calling Haig a ___ accuses him of sending thousands of soldiers needlessly to their deaths.  →  butcher
3. What does the phrase lions led by donkeys mean?  →  A   That brave British soldiers were let down by poor commanders
Circulate: who gets 3/3 (Stretch route), 2/3 (Core), 0–1 (Support)? Use this to route pupils later in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pupils mark their own in a different colour, then hands up for 3/3, 2/3, 1/3.
1. C   A judgement a historian forms about the past, using evidence. An interpretation is a historian's judgement, built from evidence. A source is the evidence itself.
2. butcher. Butcher is the accusation about needless deaths. Donkey, from the lions led by donkeys idea, is the wider accusation of poor leadership.
3. A   That brave British soldiers were let down by poor commanders. The lions are the soldiers and the donkeys are the commanders who led them badly. Many historians now think the picture is too simple.
Say the route each score points to: 3/3 Stretch, 2/3 Core, 0–1 Support. Pupils may choose to move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interpretation: a judgement a historian forms about the past, using evidence. Example: "Two historians can read the same evidence and reach a different interpretation."
• butcher: here, a harsh word for a commander blamed for needless deaths. Example: "Calling Haig a butcher is a judgement, not a fact."
• casualties: soldiers killed, wounded or missing. Example: "The casualties of the first day were the heaviest in the army's history."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words. Ask the pre-teach group first: they met these words before the lesson, so they give the meaning before anyone else.
For each word: say it, pupils repeat it, read the meaning, then read the example sentence together.
• lions led by donkeys: the idea that brave soldiers were let down by poor commanders. Example: "The lions led by donkeys idea is popular, but many historians now reject it."
• convincing: believable, because the evidence supports it. Example: "Say which interpretation you find more convincing, and why."
Recall before help: cover the meanings and ask pupils to define one word from memory before moving 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1–7 of 13:
1. Historians use evidence to form judgements about the past.
2. These judgements are called interpretations.
3. Two historians can study the Somme and disagree.
4. That is because they choose different things to focus on.
5. One may look at the casualties of the first day.
6. Another may look at the whole war effort.
7. Some historians call General Haig a butcher.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together; pupils who were pre-taught lead. The pre-teach group heard this passage (with highlighted audio in the ebook) before the lesson, so invite them to read each sentence aloud first; everyone else follows with a finger, then echo-reads it.
Key words are in bold: pause on each and ask for its meaning.
Sentences 8–13 of 13:
8. They blame his plan and his old-fashioned tactics for needless deaths.
9. Others point out that he was told when and where to attack.
10. They add that both sides used the same methods.
11. One popular idea is called lions led by donkeys.
12. It says brave soldiers were let down by poor leaders.
13. Your job is to decide which interpretation convinces you.
In the ebook the audio highlights each sentence as it is read.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What is an interpretation?. Say it in your own words, then check understanding with a quick question: ask a pupil from the pre-teach group first, since they met these words and ideas before the lesson. Pupils try to recall before you re-explain.
Historians use evidence to form their judgements about the past, and those judgements are called interpretations. An interpretation is not the same thing as a source. A source is something left behind from the time, such as a letter or a photograph. An interpretation is what a historian makes of the sources, often many years later.
When you study an interpretation, your lesson gives you three questions. What is the historian arguing? How did they come to that judgement? Do you agree or disagree? The second question is the one pupils most often skip, and it is where the marks are.
Historians disagree about Haig because they choose different things to focus on. One may concentrate on the casualties, another on the short-term or long-term impact of the Somme, another on the overall war effort, another on the use of new technology, and another on tactics. The two interpretations on your handout, by Gary Sheffield and by John Laffin, reach opposite judgements about the same man. Interpretation 1 defends Haig.
Tip: Before you agree or disagree, say what the historian is arguing and what they have chosen to focus on. That one sentence shows you understand how interpretations are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Butcher or hero? Weighing the evidence. Say it in your own words, then check understanding with a quick question: ask a pupil from the pre-teach group first, since they met these words and ideas before the lesson. Pupils try to recall before you re-explain.
Butcher is a harsh word, and it is meant to be. It accuses Haig of needlessly sending thousands of soldiers to their deaths at the Somme, and it blames his flawed plan and old-fashioned tactics for those deaths. The case against him is strong. About 420,000 British soldiers became casualties over the course of the battle. His men were ordered to walk slowly, in daylight and in a straight line, towards wire that had not been cut and machine guns that had not been destroyed. His cavalry was useless in the mud. And he directed the battle from a headquarters a long way behind the line.
The case for him is also real, and your lesson sets the two out side by side. Haig did not choose where or when to fight: the French at Verdun were close to collapse and demanded that the attack begin. The bombardment was the heaviest in history, 1,783,000 shells, about three a second, and Haig had been told that the wire was cut and the German defenders dead. Attrition was the method both armies used, so his methods were not unusual for the time. Cavalry had been a useful weapon in every earlier war. And about 600,000 German soldiers were killed or wounded, which was the second purpose of the battle.
Notice what is happening here. The same battle, and in places the very same evidence, is being used to argue both ways. The 1,783,000 shells are evidence of carelessness if you focus on the result, and evidence of thorough preparation if you focus on the intention.
Worked example — model it step by step, thinking aloud: Take one piece of evidence, the seven-day bombardment, and show how it can be used on both sides of the argument about Haig. (1) State the evidence plainly: the German trenches were shelled for seven days, and 1,783,000 shells were fired. (2) Use it against Haig: seven days of shelling warned the Germans that an attack was coming, and still left the wire uncut. (3) Use it for Haig: no commander had ever been given such a bombardment, and he was told it had destroyed the defences. (4) Judge between them: say which use you find more convincing, and give the reason for your choice. Answer: Against Haig it shows a failed plan and a warned enemy; for Haig it shows thorough preparation and false information. A judgement has to choose, and give a reason..
Tip: If you can argue a piece of evidence both ways, you understand it. Then commit to one side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Butcher or hero? Weighing the evidence. Say it in your own words, then check understanding with a quick question: ask a pupil from the pre-teach group first, since they met these words and ideas before the lesson. Pupils try to recall before you re-explain.
Butcher is a harsh word, and it is meant to be. It accuses Haig of needlessly sending thousands of soldiers to their deaths at the Somme, and it blames his flawed plan and old-fashioned tactics for those deaths. The case against him is strong. About 420,000 British soldiers became casualties over the course of the battle. His men were ordered to walk slowly, in daylight and in a straight line, towards wire that had not been cut and machine guns that had not been destroyed. His cavalry was useless in the mud. And he directed the battle from a headquarters a long way behind the line.
The case for him is also real, and your lesson sets the two out side by side. Haig did not choose where or when to fight: the French at Verdun were close to collapse and demanded that the attack begin. The bombardment was the heaviest in history, 1,783,000 shells, about three a second, and Haig had been told that the wire was cut and the German defenders dead. Attrition was the method both armies used, so his methods were not unusual for the time. Cavalry had been a useful weapon in every earlier war. And about 600,000 German soldiers were killed or wounded, which was the second purpose of the battle.
Notice what is happening here. The same battle, and in places the very same evidence, is being used to argue both ways. The 1,783,000 shells are evidence of carelessness if you focus on the result, and evidence of thorough preparation if you focus on the intention.
Worked example — model it step by step, thinking aloud: Take one piece of evidence, the seven-day bombardment, and show how it can be used on both sides of the argument about Haig. (1) State the evidence plainly: the German trenches were shelled for seven days, and 1,783,000 shells were fired. (2) Use it against Haig: seven days of shelling warned the Germans that an attack was coming, and still left the wire uncut. (3) Use it for Haig: no commander had ever been given such a bombardment, and he was told it had destroyed the defences. (4) Judge between them: say which use you find more convincing, and give the reason for your choice. Answer: Against Haig it shows a failed plan and a warned enemy; for Haig it shows thorough preparation and false information. A judgement has to choose, and give a reason..
Tip: If you can argue a piece of evidence both ways, you understand it. Then commit to one side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Butcher or hero? Weighing the evidence. Say it in your own words, then check understanding with a quick question: ask a pupil from the pre-teach group first, since they met these words and ideas before the lesson. Pupils try to recall before you re-explain.
Butcher is a harsh word, and it is meant to be. It accuses Haig of needlessly sending thousands of soldiers to their deaths at the Somme, and it blames his flawed plan and old-fashioned tactics for those deaths. The case against him is strong. About 420,000 British soldiers became casualties over the course of the battle. His men were ordered to walk slowly, in daylight and in a straight line, towards wire that had not been cut and machine guns that had not been destroyed. His cavalry was useless in the mud. And he directed the battle from a headquarters a long way behind the line.
The case for him is also real, and your lesson sets the two out side by side. Haig did not choose where or when to fight: the French at Verdun were close to collapse and demanded that the attack begin. The bombardment was the heaviest in history, 1,783,000 shells, about three a second, and Haig had been told that the wire was cut and the German defenders dead. Attrition was the method both armies used, so his methods were not unusual for the time. Cavalry had been a useful weapon in every earlier war. And about 600,000 German soldiers were killed or wounded, which was the second purpose of the battle.
Notice what is happening here. The same battle, and in places the very same evidence, is being used to argue both ways. The 1,783,000 shells are evidence of carelessness if you focus on the result, and evidence of thorough preparation if you focus on the intention.
Worked example — model it step by step, thinking aloud: Take one piece of evidence, the seven-day bombardment, and show how it can be used on both sides of the argument about Haig. (1) State the evidence plainly: the German trenches were shelled for seven days, and 1,783,000 shells were fired. (2) Use it against Haig: seven days of shelling warned the Germans that an attack was coming, and still left the wire uncut. (3) Use it for Haig: no commander had ever been given such a bombardment, and he was told it had destroyed the defences. (4) Judge between them: say which use you find more convincing, and give the reason for your choice. Answer: Against Haig it shows a failed plan and a warned enemy; for Haig it shows thorough preparation and false information. A judgement has to choose, and give a reason..
Tip: If you can argue a piece of evidence both ways, you understand it. Then commit to one side and say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Lions led by donkeys. Say it in your own words, then check understanding with a quick question: ask a pupil from the pre-teach group first, since they met these words and ideas before the lesson. Pupils try to recall before you re-explain.
Since the war ended, some historians have argued that the First World War saw lions led by donkeys. The idea is that the soldiers of the British army were brave warriors, the lions, who were led and let down by bad commanders, the donkeys. In that picture, Haig is a donkey.
There is evidence for it. Haig's four-step plan was very simple, and he ordered his men to cross no-man's-land in broad daylight in a straight line. The bombardment did not do what he expected, and the attack went ahead anyway. The first day of the Somme remains the bloodiest in the history of the British army.
There is also evidence against it. The Conscription Act had handed Haig an army of men with almost no training, which limited what he could ask them to do: walking in line was the one thing they could be relied on to manage. He was pressed into attacking at a time and place chosen by the French crisis at Verdun. His methods were the ones both sides were using. Many historians now argue that the phrase is too simple to be useful, which is why their minds have changed over time.
Tip: When you use the phrase, explain it: lions are the soldiers, donkeys are the commanders. Then say whether you think the picture fits Haig.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Teach — How to answer an interpretation question. Say it in your own words, then check understanding with a quick question: ask a pupil from the pre-teach group first, since they met these words and ideas before the lesson. Pupils try to recall before you re-explain.
Your lesson gives five success criteria for this kind of answer, and your assessment uses the same five. State the historian's opinion. Give evidence from the interpretation. Say whether you agree, partly agree or disagree. Give examples from your own knowledge. Explain how this shows Haig in a positive or a negative way.
The sentence starters follow the same order. The interpretation argues that... The historian points to... I partly agree with this interpretation, because... From my own knowledge, I know that... This shows Haig in a positive or negative way because... You may use a short quotation from the interpretation your teacher gives you, or you may put the historian's point in your own words. Either is fine, as long as the point really is the historian's.
One warning. Partly agree is a strong answer when it is argued, and a weak one when it is used to avoid deciding. If you partly agree, say which part you accept and which part you reject.
Tip: Five criteria, in order: opinion, evidence, your view, own knowledge, explanation. Tick them off as you write.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battle in five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key events of the Battle of the Somme in order.
Support — work through the steps with the group: (1) Three of the five cards carry a month. Put those three in calendar order first: February, July, November. (2) The planning must come before the German attack on Verdun changed the plans. (3) The months of learning and new technology come after the first day and before the end. (4) Read your sequence back as a story and check it makes sense.
Parallel worked example for Support (model it, do not give the task answer): Put these stages of a school production in order: the cast is chosen; the script is read; the last performance is given; the dress rehearsal is held. The script must be read before anyone is cast.; Then the cast is chosen.; The dress rehearsal comes before the performances.; The last performance is last.. Answer: the script is read; the cast is chosen; the dress rehearsal is held; the last performance is given.
Core — reveal the hint only on request: Plan, Verdun in February, the attack on 1 July, the months that follow, the end in November.
Stretch — no help; when finished: Which of these five events would you leave out if you had only four cards, and what would your summary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1: The battle in five events.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Put the key events of the Battle of the Somme in order.
Support — work through the steps with the group: (1) Three of the five cards carry a month. Put those three in calendar order first: February, July, November. (2) The planning must come before the German attack on Verdun changed the plans. (3) The months of learning and new technology come after the first day and before the end. (4) Read your sequence back as a story and check it makes sense.
Parallel worked example for Support (model it, do not give the task answer): Put these stages of a school production in order: the cast is chosen; the script is read; the last performance is given; the dress rehearsal is held. The script must be read before anyone is cast.; Then the cast is chosen.; The dress rehearsal comes before the performances.; The last performance is last.. Answer: the script is read; the cast is chosen; the dress rehearsal is held; the last performance is given.
Core — reveal the hint only on request: Plan, Verdun in February, the attack on 1 July, the months that follow, the end in November.
Stretch — no help; when finished: Which of these five events would you leave out if you had only four cards, and what would your summary 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success criterion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an interpretation answer to the success criterion it meets.
Support — work through the steps with the group: (1) Look for the signal words at the start of each sentence. (2) The historian argues tells you the sentence is about the historian's opinion. (3) I know that tells you the sentence is own knowledge; I partly agree tells you it is your view. (4) The sentence that begins This shows is the explanation, and it always comes last.
Parallel worked example for Support (model it, do not give the task answer): Which criterion does this sentence meet: The interpretation says that the methods Haig used were normal for the time? It begins with The interpretation says.; So it is reporting something from the interpretation itself.; That is evidence from the interpretation.. Answer: Give evidence from the interpretation..
Core — reveal the hint only on request: The signal words do the work: the historian argues, the interpretation points to, I partly agree, I know that, this shows.
Stretch — no help; when finished: Write one more sentence for each of the five criteria, this time arguing the opposite case about Haig.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success criterion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an interpretation answer to the success criterion it meets.
Support — work through the steps with the group: (1) Look for the signal words at the start of each sentence. (2) The historian argues tells you the sentence is about the historian's opinion. (3) I know that tells you the sentence is own knowledge; I partly agree tells you it is your view. (4) The sentence that begins This shows is the explanation, and it always comes last.
Parallel worked example for Support (model it, do not give the task answer): Which criterion does this sentence meet: The interpretation says that the methods Haig used were normal for the time? It begins with The interpretation says.; So it is reporting something from the interpretation itself.; That is evidence from the interpretation.. Answer: Give evidence from the interpretation..
Core — reveal the hint only on request: The signal words do the work: the historian argues, the interpretation points to, I partly agree, I know that, this shows.
Stretch — no help; when finished: Write one more sentence for each of the five criteria, this time arguing the opposite case about Haig.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success criterion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an interpretation answer to the success criterion it meets.
Support — work through the steps with the group: (1) Look for the signal words at the start of each sentence. (2) The historian argues tells you the sentence is about the historian's opinion. (3) I know that tells you the sentence is own knowledge; I partly agree tells you it is your view. (4) The sentence that begins This shows is the explanation, and it always comes last.
Parallel worked example for Support (model it, do not give the task answer): Which criterion does this sentence meet: The interpretation says that the methods Haig used were normal for the time? It begins with The interpretation says.; So it is reporting something from the interpretation itself.; That is evidence from the interpretation.. Answer: Give evidence from the interpretation..
Core — reveal the hint only on request: The signal words do the work: the historian argues, the interpretation points to, I partly agree, I know that, this shows.
Stretch — no help; when finished: Write one more sentence for each of the five criteria, this time arguing the opposite case about Haig.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 2: Which success criterion is this?. Same task, three ways in: one destination for everyone; only the scaffold changes. Pupils take the lane their do-now score pointed to (3/3 Stretch, 2/3 Core, 0–1 Support) and may move up at any time.
Start the pre-teach group first: they know the words and the passage, so set them going on the task before you turn to the rest. Recall before help: every pupil tries from memory before opening a lane.
The task: Match each sentence from an interpretation answer to the success criterion it meets.
Support — work through the steps with the group: (1) Look for the signal words at the start of each sentence. (2) The historian argues tells you the sentence is about the historian's opinion. (3) I know that tells you the sentence is own knowledge; I partly agree tells you it is your view. (4) The sentence that begins This shows is the explanation, and it always comes last.
Parallel worked example for Support (model it, do not give the task answer): Which criterion does this sentence meet: The interpretation says that the methods Haig used were normal for the time? It begins with The interpretation says.; So it is reporting something from the interpretation itself.; That is evidence from the interpretation.. Answer: Give evidence from the interpretation..
Core — reveal the hint only on request: The signal words do the work: the historian argues, the interpretation points to, I partly agree, I know that, this shows.
Stretch — no help; when finished: Write one more sentence for each of the five criteria, this time arguing the opposite case about Haig.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 individual, silent, on a slip or mini-whiteboard. Recall before help: no notes, no lanes, no hints. Collect before pupils leave.
Question: What is a historical interpretation?
Answer: B   A judgement a historian forms about the past, using evidence. An interpretation is a historian's judgement, built from evidence. A source is the evidence itself.
Source of this question: gate item 1 re-asked (options rotated) — this chapter has no third quick-check module.
The ebook also holds task 3, "How far do you agree?", for homework or the next lesson's do now.
Sort the slips: correct → ready to move on; incorrect → start next lesson in the pre-teach group, with the read-along and the Support lane. Same destination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1: The battle in five events. Reveal the answer; pupils mark their own work in a different colour, then read the "why" together. Same destination for every lane, so one answer serves the whole class.
Answer: In 1916 the Allies plan a major attack to wear the German army down, as part of their war of attrition  (A); In February 1916 the Germans attack the French at Verdun, and the French demand British help  (D); On 1 July 1916 the British attack begins, and the first day is a disaster  (C); Through the months that follow, the British gain experience and try out new technology such as the tank  (E); By November 1916 the battle is over, about 7 miles of ground has been taken and the French have been saved at Verdun  (B)
Why: The Allies planned the attack; the Germans struck at Verdun in February 1916 and the French demanded help; the British attacked on 1 July 1916; the battle ground on through the autumn; and it ended in November 1916 with about 7 miles gained and Verdun relieved.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task 2: Which success criterion is this?. Reveal the answer; pupils mark their own work in a different colour, then read the "why" together. Same destination for every lane, so one answer serves the whole class.
Answer: The historian argues that Haig should not be judged only as a butcher  →  B  State the historian's opinion; The interpretation points to the shortage of trained soldiers after conscription  →  D  Give evidence from the interpretation; I partly agree with this interpretation  →  E  Say whether you agree or disagree; I know that the French at Verdun were close to collapse and demanded help  →  A  Give an example from your own knowledge; This shows Haig in a more positive light, because many of his choices were made for him  →  C  Explain how this shows Haig positively or negatively
Why: Opinion, evidence from the interpretation, your own view, own knowledge, explanation. The order matters because each step gives the next one something to work with.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 exit ticket: Exit ticket. Reveal the answer; pupils mark their own work in a different colour, then read the "why" together. Same destination for every lane, so one answer serves the whole class.
Answer: B   A judgement a historian forms about the past, using evidence
Why: An interpretation is a historian's judgement, built from evidence. A source is the evidence itself.
Ask a Support pupil to explain one step, and a Stretch pupil to share their extension.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ASTRA_TITLE">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ASTRA_CONTENT">
    <p:bg>
      <p:bgPr>
        <a:solidFill>
          <a:srgbClr val="F9F6F0"/>
        </a:solidFill>
      </p:bgPr>
    </p:bg>
    <p:spTree>
      <p:nvGrpSpPr>
        <p:cNvPr id="1" name=""/>
        <p:cNvGrpSpPr/>
        <p:nvPr/>
      </p:nvGrpSpPr>
      <p:grpSpPr>
        <a:xfrm>
          <a:off x="0" y="0"/>
          <a:ext cx="0" cy="0"/>
          <a:chOff x="0" y="0"/>
          <a:chExt cx="0" cy="0"/>
        </a:xfrm>
      </p:grpSpPr>
      <p:sp>
        <p:nvSpPr>
          <p:cNvPr id="2" name="Shape 0"/>
          <p:cNvSpPr/>
          <p:nvPr/>
        </p:nvSpPr>
        <p:spPr>
          <a:xfrm>
            <a:off x="0" y="6400800"/>
            <a:ext cx="12191695" cy="457200"/>
          </a:xfrm>
          <a:prstGeom prst="rect">
            <a:avLst/>
          </a:prstGeom>
          <a:solidFill>
            <a:srgbClr val="EEE8E3"/>
          </a:solidFill>
          <a:ln w="12700">
            <a:solidFill>
              <a:srgbClr val="EEE8E3"/>
            </a:solidFill>
            <a:prstDash val="solid"/>
          </a:ln>
        </p:spPr>
      </p:sp>
      <p:pic>
        <p:nvPicPr>
          <p:cNvPr id="3" name="Image 0" descr="Edu.AI hexagon motif">    </p:cNvPr>
          <p:cNvPicPr>
            <a:picLocks noChangeAspect="1"/>
          </p:cNvPicPr>
          <p:nvPr/>
        </p:nvPicPr>
        <p:blipFill>
          <a:blip r:embed="rId1"/>
          <a:stretch>
            <a:fillRect/>
          </a:stretch>
        </p:blipFill>
        <p:spPr>
          <a:xfrm>
            <a:off x="164592" y="6437376"/>
            <a:ext cx="438912" cy="384048"/>
          </a:xfrm>
          <a:prstGeom prst="rect">
            <a:avLst/>
          </a:prstGeom>
        </p:spPr>
      </p:pic>
      <p:sp>
        <p:nvSpPr>
          <p:cNvPr id="4" name="Text 1"/>
          <p:cNvSpPr/>
          <p:nvPr/>
        </p:nvSpPr>
        <p:spPr>
          <a:xfrm>
            <a:off x="713232" y="6446520"/>
            <a:ext cx="8138160" cy="365760"/>
          </a:xfrm>
          <a:prstGeom prst="rect">
            <a:avLst/>
          </a:prstGeom>
          <a:noFill/>
          <a:ln/>
        </p:spPr>
        <p:txBody>
          <a:bodyPr wrap="square" lIns="0" tIns="0" rIns="0" bIns="0" rtlCol="0" anchor="ctr"/>
          <a:lstStyle/>
          <a:p>
            <a:pPr indent="0" marL="0">
              <a:buNone/>
            </a:pPr>
            <a:r>
              <a:rPr lang="en-US" sz="1000" dirty="0">
                <a:solidFill>
                  <a:srgbClr val="4A505C"/>
                </a:solidFill>
                <a:latin typeface="Calibri" pitchFamily="34" charset="0"/>
                <a:ea typeface="Calibri" pitchFamily="34" charset="-122"/>
                <a:cs typeface="Calibri" pitchFamily="34" charset="-120"/>
              </a:rPr>
              <a:t>History · Year 8 · The Battle of the Somme · Ad Astra pilot exemplar — awaiting department review</a:t>
            </a:r>
            <a:endParaRPr lang="en-US" sz="1000" dirty="0"/>
          </a:p>
        </p:txBody>
      </p:sp>
      <p:sp>
        <p:nvSpPr>
          <p:cNvPr id="5" name="Text 2"/>
          <p:cNvSpPr/>
          <p:nvPr/>
        </p:nvSpPr>
        <p:spPr>
          <a:xfrm>
            <a:off x="8915400" y="6446520"/>
            <a:ext cx="2011680" cy="365760"/>
          </a:xfrm>
          <a:prstGeom prst="rect">
            <a:avLst/>
          </a:prstGeom>
          <a:noFill/>
          <a:ln/>
        </p:spPr>
        <p:txBody>
          <a:bodyPr wrap="square" lIns="0" tIns="0" rIns="0" bIns="0" rtlCol="0" anchor="ctr"/>
          <a:lstStyle/>
          <a:p>
            <a:pPr algn="r" indent="0" marL="0">
              <a:buNone/>
            </a:pPr>
            <a:r>
              <a:rPr lang="en-US" sz="1000" dirty="0">
                <a:solidFill>
                  <a:srgbClr val="4A505C"/>
                </a:solidFill>
                <a:latin typeface="Calibri" pitchFamily="34" charset="0"/>
                <a:ea typeface="Calibri" pitchFamily="34" charset="-122"/>
                <a:cs typeface="Calibri" pitchFamily="34" charset="-120"/>
              </a:rPr>
              <a:t>© 2026 Edu.Ai SV Digital</a:t>
            </a:r>
            <a:endParaRPr lang="en-US" sz="10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3" name="band-hue"/>
          <p:cNvSpPr/>
          <p:nvPr/>
        </p:nvSpPr>
        <p:spPr>
          <a:xfrm>
            <a:off x="0" y="5989320"/>
            <a:ext cx="12191695" cy="164592"/>
          </a:xfrm>
          <a:prstGeom prst="rect">
            <a:avLst/>
          </a:prstGeom>
          <a:solidFill>
            <a:srgbClr val="7A4A1E"/>
          </a:solidFill>
          <a:ln/>
        </p:spPr>
      </p:sp>
      <p:sp>
        <p:nvSpPr>
          <p:cNvPr id="4" name="band-gold"/>
          <p:cNvSpPr/>
          <p:nvPr/>
        </p:nvSpPr>
        <p:spPr>
          <a:xfrm>
            <a:off x="0" y="6208776"/>
            <a:ext cx="12191695" cy="64008"/>
          </a:xfrm>
          <a:prstGeom prst="rect">
            <a:avLst/>
          </a:prstGeom>
          <a:solidFill>
            <a:srgbClr val="B8862B"/>
          </a:solidFill>
          <a:ln/>
        </p:spPr>
      </p:sp>
      <p:sp>
        <p:nvSpPr>
          <p:cNvPr id="5" name="hex-deco1"/>
          <p:cNvSpPr/>
          <p:nvPr/>
        </p:nvSpPr>
        <p:spPr>
          <a:xfrm>
            <a:off x="1373886" y="276195"/>
            <a:ext cx="525780" cy="455325"/>
          </a:xfrm>
          <a:prstGeom prst="hexagon">
            <a:avLst/>
          </a:prstGeom>
          <a:solidFill>
            <a:srgbClr val="E6DED5"/>
          </a:solidFill>
          <a:ln/>
        </p:spPr>
      </p:sp>
      <p:sp>
        <p:nvSpPr>
          <p:cNvPr id="6" name="hex-deco2"/>
          <p:cNvSpPr/>
          <p:nvPr/>
        </p:nvSpPr>
        <p:spPr>
          <a:xfrm>
            <a:off x="1373886" y="1168557"/>
            <a:ext cx="525780" cy="455325"/>
          </a:xfrm>
          <a:prstGeom prst="hexagon">
            <a:avLst/>
          </a:prstGeom>
          <a:ln w="19050">
            <a:solidFill>
              <a:srgbClr val="B8862B"/>
            </a:solidFill>
            <a:prstDash val="solid"/>
          </a:ln>
        </p:spPr>
      </p:sp>
      <p:sp>
        <p:nvSpPr>
          <p:cNvPr id="7" name="hex-chapter"/>
          <p:cNvSpPr/>
          <p:nvPr/>
        </p:nvSpPr>
        <p:spPr>
          <a:xfrm>
            <a:off x="548640" y="457200"/>
            <a:ext cx="1051560" cy="910651"/>
          </a:xfrm>
          <a:prstGeom prst="hexagon">
            <a:avLst/>
          </a:prstGeom>
          <a:solidFill>
            <a:srgbClr val="7A4A1E"/>
          </a:solidFill>
          <a:ln/>
        </p:spPr>
      </p:sp>
      <p:sp>
        <p:nvSpPr>
          <p:cNvPr id="8" name="hex-chapter-label"/>
          <p:cNvSpPr txBox="1"/>
          <p:nvPr/>
        </p:nvSpPr>
        <p:spPr>
          <a:xfrm>
            <a:off x="548640" y="457200"/>
            <a:ext cx="1051560" cy="910651"/>
          </a:xfrm>
          <a:prstGeom prst="rect">
            <a:avLst/>
          </a:prstGeom>
          <a:noFill/>
          <a:ln/>
        </p:spPr>
        <p:txBody>
          <a:bodyPr wrap="square" lIns="0" tIns="0" rIns="0" bIns="0" rtlCol="0" anchor="ctr"/>
          <a:lstStyle/>
          <a:p>
            <a:pPr algn="ctr" indent="0" marL="0">
              <a:buNone/>
            </a:pPr>
            <a:r>
              <a:rPr lang="en-US" sz="4000" b="1" dirty="0">
                <a:solidFill>
                  <a:srgbClr val="FFFFFF"/>
                </a:solidFill>
                <a:latin typeface="Cambria" pitchFamily="34" charset="0"/>
                <a:ea typeface="Cambria" pitchFamily="34" charset="-122"/>
                <a:cs typeface="Cambria" pitchFamily="34" charset="-120"/>
              </a:rPr>
              <a:t>6</a:t>
            </a:r>
            <a:endParaRPr lang="en-US" sz="4000" dirty="0"/>
          </a:p>
        </p:txBody>
      </p:sp>
      <p:sp>
        <p:nvSpPr>
          <p:cNvPr id="9" name="kicker"/>
          <p:cNvSpPr txBox="1"/>
          <p:nvPr/>
        </p:nvSpPr>
        <p:spPr>
          <a:xfrm>
            <a:off x="2331720" y="256032"/>
            <a:ext cx="3504895" cy="1298448"/>
          </a:xfrm>
          <a:prstGeom prst="rect">
            <a:avLst/>
          </a:prstGeom>
          <a:noFill/>
          <a:ln/>
        </p:spPr>
        <p:txBody>
          <a:bodyPr wrap="square" lIns="63500" tIns="63500" rIns="63500" bIns="63500" rtlCol="0" anchor="ctr"/>
          <a:lstStyle/>
          <a:p>
            <a:pPr algn="l" indent="0" marL="0">
              <a:spcAft>
                <a:spcPts val="200"/>
              </a:spcAft>
              <a:buNone/>
            </a:pPr>
            <a:r>
              <a:rPr lang="en-US" sz="1800" b="1" dirty="0">
                <a:solidFill>
                  <a:srgbClr val="7A4A1E"/>
                </a:solidFill>
                <a:latin typeface="Calibri" pitchFamily="34" charset="0"/>
                <a:ea typeface="Calibri" pitchFamily="34" charset="-122"/>
                <a:cs typeface="Calibri" pitchFamily="34" charset="-120"/>
              </a:rPr>
              <a:t>History · Year 8</a:t>
            </a:r>
            <a:endParaRPr lang="en-US" sz="1800" dirty="0"/>
          </a:p>
          <a:p>
            <a:pPr algn="l" indent="0" marL="0">
              <a:spcAft>
                <a:spcPts val="200"/>
              </a:spcAft>
              <a:buNone/>
            </a:pPr>
            <a:r>
              <a:rPr lang="en-US" sz="1800" b="1" dirty="0">
                <a:solidFill>
                  <a:srgbClr val="936B22"/>
                </a:solidFill>
                <a:latin typeface="Calibri" pitchFamily="34" charset="0"/>
                <a:ea typeface="Calibri" pitchFamily="34" charset="-122"/>
                <a:cs typeface="Calibri" pitchFamily="34" charset="-120"/>
              </a:rPr>
              <a:t>Chapter 6/6</a:t>
            </a:r>
            <a:endParaRPr lang="en-US" sz="1800" dirty="0"/>
          </a:p>
          <a:p>
            <a:pPr algn="l" indent="0" marL="0">
              <a:buNone/>
            </a:pPr>
            <a:r>
              <a:rPr lang="en-US" sz="1800" dirty="0">
                <a:solidFill>
                  <a:srgbClr val="4A505C"/>
                </a:solidFill>
                <a:latin typeface="Calibri" pitchFamily="34" charset="0"/>
                <a:ea typeface="Calibri" pitchFamily="34" charset="-122"/>
                <a:cs typeface="Calibri" pitchFamily="34" charset="-120"/>
              </a:rPr>
              <a:t>The Battle of the Somme · AQA KS3 → 8145</a:t>
            </a:r>
            <a:endParaRPr lang="en-US" sz="1800" dirty="0"/>
          </a:p>
        </p:txBody>
      </p:sp>
      <p:sp>
        <p:nvSpPr>
          <p:cNvPr id="10" name="deck-title"/>
          <p:cNvSpPr txBox="1"/>
          <p:nvPr/>
        </p:nvSpPr>
        <p:spPr>
          <a:xfrm>
            <a:off x="548640" y="2186178"/>
            <a:ext cx="5287975" cy="1513840"/>
          </a:xfrm>
          <a:prstGeom prst="rect">
            <a:avLst/>
          </a:prstGeom>
          <a:noFill/>
          <a:ln/>
        </p:spPr>
        <p:txBody>
          <a:bodyPr wrap="square" lIns="63500" tIns="63500" rIns="63500" bIns="63500" rtlCol="0" anchor="t"/>
          <a:lstStyle/>
          <a:p>
            <a:pPr algn="l" indent="0" marL="0">
              <a:buNone/>
            </a:pPr>
            <a:r>
              <a:rPr lang="en-US" sz="2800" b="1" dirty="0">
                <a:solidFill>
                  <a:srgbClr val="1E2229"/>
                </a:solidFill>
                <a:latin typeface="Cambria" pitchFamily="34" charset="0"/>
                <a:ea typeface="Cambria" pitchFamily="34" charset="-122"/>
                <a:cs typeface="Cambria" pitchFamily="34" charset="-120"/>
              </a:rPr>
              <a:t>Butcher or hero? Interpretations of General Haig</a:t>
            </a:r>
            <a:endParaRPr lang="en-US" sz="2800" dirty="0"/>
          </a:p>
        </p:txBody>
      </p:sp>
      <p:sp>
        <p:nvSpPr>
          <p:cNvPr id="11" name="lessons-card"/>
          <p:cNvSpPr/>
          <p:nvPr/>
        </p:nvSpPr>
        <p:spPr>
          <a:xfrm>
            <a:off x="548640" y="3928618"/>
            <a:ext cx="5287975" cy="1328420"/>
          </a:xfrm>
          <a:prstGeom prst="roundRect">
            <a:avLst>
              <a:gd name="adj" fmla="val 5507"/>
            </a:avLst>
          </a:prstGeom>
          <a:solidFill>
            <a:srgbClr val="F4F0EC"/>
          </a:solidFill>
          <a:ln/>
        </p:spPr>
      </p:sp>
      <p:sp>
        <p:nvSpPr>
          <p:cNvPr id="12" name="lessons"/>
          <p:cNvSpPr txBox="1"/>
          <p:nvPr/>
        </p:nvSpPr>
        <p:spPr>
          <a:xfrm>
            <a:off x="685800" y="4020058"/>
            <a:ext cx="5013655" cy="1145540"/>
          </a:xfrm>
          <a:prstGeom prst="rect">
            <a:avLst/>
          </a:prstGeom>
          <a:noFill/>
          <a:ln/>
        </p:spPr>
        <p:txBody>
          <a:bodyPr wrap="square" lIns="63500" tIns="63500" rIns="63500" bIns="63500" rtlCol="0" anchor="t"/>
          <a:lstStyle/>
          <a:p>
            <a:pPr algn="l" indent="0" marL="0">
              <a:spcAft>
                <a:spcPts val="400"/>
              </a:spcAft>
              <a:buNone/>
            </a:pPr>
            <a:r>
              <a:rPr lang="en-US" sz="2000" b="1" dirty="0">
                <a:solidFill>
                  <a:srgbClr val="7A4A1E"/>
                </a:solidFill>
                <a:latin typeface="Calibri" pitchFamily="34" charset="0"/>
                <a:ea typeface="Calibri" pitchFamily="34" charset="-122"/>
                <a:cs typeface="Calibri" pitchFamily="34" charset="-120"/>
              </a:rPr>
              <a:t>Lessons covered</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4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General Haig: butcher or hero?</a:t>
            </a:r>
            <a:endParaRPr lang="en-US" sz="2000" dirty="0"/>
          </a:p>
          <a:p>
            <a:pPr algn="l" indent="0" marL="0">
              <a:spcAft>
                <a:spcPts val="300"/>
              </a:spcAft>
              <a:buNone/>
            </a:pPr>
            <a:r>
              <a:rPr lang="en-US" sz="2000" b="1" dirty="0">
                <a:solidFill>
                  <a:srgbClr val="9C7225"/>
                </a:solidFill>
                <a:latin typeface="Calibri" pitchFamily="34" charset="0"/>
                <a:ea typeface="Calibri" pitchFamily="34" charset="-122"/>
                <a:cs typeface="Calibri" pitchFamily="34" charset="-120"/>
              </a:rPr>
              <a:t>5  </a:t>
            </a:r>
            <a:pPr algn="l" indent="0" marL="0">
              <a:spcAft>
                <a:spcPts val="300"/>
              </a:spcAft>
              <a:buNone/>
            </a:pPr>
            <a:r>
              <a:rPr lang="en-US" sz="2000" dirty="0">
                <a:solidFill>
                  <a:srgbClr val="1E2229"/>
                </a:solidFill>
                <a:latin typeface="Calibri" pitchFamily="34" charset="0"/>
                <a:ea typeface="Calibri" pitchFamily="34" charset="-122"/>
                <a:cs typeface="Calibri" pitchFamily="34" charset="-120"/>
              </a:rPr>
              <a:t>Review: historical interpretations</a:t>
            </a:r>
            <a:endParaRPr lang="en-US" sz="2000" dirty="0"/>
          </a:p>
        </p:txBody>
      </p:sp>
      <p:sp>
        <p:nvSpPr>
          <p:cNvPr id="13" name="plate-frame"/>
          <p:cNvSpPr/>
          <p:nvPr/>
        </p:nvSpPr>
        <p:spPr>
          <a:xfrm>
            <a:off x="6248095" y="411480"/>
            <a:ext cx="5394960" cy="3130677"/>
          </a:xfrm>
          <a:prstGeom prst="rect">
            <a:avLst/>
          </a:prstGeom>
          <a:solidFill>
            <a:srgbClr val="F3EBDC"/>
          </a:solidFill>
          <a:ln w="19050">
            <a:solidFill>
              <a:srgbClr val="B8862B"/>
            </a:solidFill>
            <a:prstDash val="solid"/>
          </a:ln>
          <a:effectLst>
            <a:outerShdw sx="100000" sy="100000" kx="0" ky="0" algn="bl" rotWithShape="0" blurRad="76200" dist="25400" dir="5400000">
              <a:srgbClr val="000000">
                <a:alpha val="12000"/>
              </a:srgbClr>
            </a:outerShdw>
          </a:effectLst>
        </p:spPr>
      </p:sp>
      <p:pic>
        <p:nvPicPr>
          <p:cNvPr id="14" name="plate" descr="Ad Astra engraved plate for History, Year 8">    </p:cNvPr>
          <p:cNvPicPr>
            <a:picLocks noChangeAspect="1"/>
          </p:cNvPicPr>
          <p:nvPr/>
        </p:nvPicPr>
        <p:blipFill>
          <a:blip r:embed="rId1"/>
          <a:stretch>
            <a:fillRect/>
          </a:stretch>
        </p:blipFill>
        <p:spPr>
          <a:xfrm>
            <a:off x="6357823" y="521208"/>
            <a:ext cx="5175504" cy="2911221"/>
          </a:xfrm>
          <a:prstGeom prst="rect">
            <a:avLst/>
          </a:prstGeom>
        </p:spPr>
      </p:pic>
      <p:sp>
        <p:nvSpPr>
          <p:cNvPr id="15" name="plate-inner"/>
          <p:cNvSpPr/>
          <p:nvPr/>
        </p:nvSpPr>
        <p:spPr>
          <a:xfrm>
            <a:off x="6357823" y="521208"/>
            <a:ext cx="5175504" cy="2911221"/>
          </a:xfrm>
          <a:prstGeom prst="rect">
            <a:avLst/>
          </a:prstGeom>
          <a:ln w="9525">
            <a:solidFill>
              <a:srgbClr val="B8862B"/>
            </a:solidFill>
            <a:prstDash val="solid"/>
          </a:ln>
        </p:spPr>
      </p:sp>
      <p:sp>
        <p:nvSpPr>
          <p:cNvPr id="16" name="stud0"/>
          <p:cNvSpPr/>
          <p:nvPr/>
        </p:nvSpPr>
        <p:spPr>
          <a:xfrm>
            <a:off x="6138367" y="316456"/>
            <a:ext cx="219456" cy="190049"/>
          </a:xfrm>
          <a:prstGeom prst="hexagon">
            <a:avLst/>
          </a:prstGeom>
          <a:solidFill>
            <a:srgbClr val="B8862B"/>
          </a:solidFill>
          <a:ln w="12700">
            <a:solidFill>
              <a:srgbClr val="FFFFFF"/>
            </a:solidFill>
            <a:prstDash val="solid"/>
          </a:ln>
        </p:spPr>
      </p:sp>
      <p:sp>
        <p:nvSpPr>
          <p:cNvPr id="17" name="stud1"/>
          <p:cNvSpPr/>
          <p:nvPr/>
        </p:nvSpPr>
        <p:spPr>
          <a:xfrm>
            <a:off x="11533327" y="316456"/>
            <a:ext cx="219456" cy="190049"/>
          </a:xfrm>
          <a:prstGeom prst="hexagon">
            <a:avLst/>
          </a:prstGeom>
          <a:solidFill>
            <a:srgbClr val="B8862B"/>
          </a:solidFill>
          <a:ln w="12700">
            <a:solidFill>
              <a:srgbClr val="FFFFFF"/>
            </a:solidFill>
            <a:prstDash val="solid"/>
          </a:ln>
        </p:spPr>
      </p:sp>
      <p:sp>
        <p:nvSpPr>
          <p:cNvPr id="18" name="stud2"/>
          <p:cNvSpPr/>
          <p:nvPr/>
        </p:nvSpPr>
        <p:spPr>
          <a:xfrm>
            <a:off x="6138367" y="3447133"/>
            <a:ext cx="219456" cy="190049"/>
          </a:xfrm>
          <a:prstGeom prst="hexagon">
            <a:avLst/>
          </a:prstGeom>
          <a:solidFill>
            <a:srgbClr val="B8862B"/>
          </a:solidFill>
          <a:ln w="12700">
            <a:solidFill>
              <a:srgbClr val="FFFFFF"/>
            </a:solidFill>
            <a:prstDash val="solid"/>
          </a:ln>
        </p:spPr>
      </p:sp>
      <p:sp>
        <p:nvSpPr>
          <p:cNvPr id="19" name="stud3"/>
          <p:cNvSpPr/>
          <p:nvPr/>
        </p:nvSpPr>
        <p:spPr>
          <a:xfrm>
            <a:off x="11533327" y="3447133"/>
            <a:ext cx="219456" cy="190049"/>
          </a:xfrm>
          <a:prstGeom prst="hexagon">
            <a:avLst/>
          </a:prstGeom>
          <a:solidFill>
            <a:srgbClr val="B8862B"/>
          </a:solidFill>
          <a:ln w="12700">
            <a:solidFill>
              <a:srgbClr val="FFFFFF"/>
            </a:solidFill>
            <a:prstDash val="solid"/>
          </a:ln>
        </p:spPr>
      </p:sp>
      <p:sp>
        <p:nvSpPr>
          <p:cNvPr id="20" name="bq-card"/>
          <p:cNvSpPr/>
          <p:nvPr/>
        </p:nvSpPr>
        <p:spPr>
          <a:xfrm>
            <a:off x="6248095" y="3816477"/>
            <a:ext cx="5394960" cy="2053971"/>
          </a:xfrm>
          <a:prstGeom prst="roundRect">
            <a:avLst>
              <a:gd name="adj" fmla="val 3561"/>
            </a:avLst>
          </a:prstGeom>
          <a:solidFill>
            <a:srgbClr val="F4F0EC"/>
          </a:solidFill>
          <a:ln w="12700">
            <a:solidFill>
              <a:srgbClr val="CCB9A8"/>
            </a:solidFill>
            <a:prstDash val="solid"/>
          </a:ln>
        </p:spPr>
      </p:sp>
      <p:sp>
        <p:nvSpPr>
          <p:cNvPr id="21" name="bq-hex"/>
          <p:cNvSpPr/>
          <p:nvPr/>
        </p:nvSpPr>
        <p:spPr>
          <a:xfrm>
            <a:off x="6412687" y="3999357"/>
            <a:ext cx="621792" cy="538472"/>
          </a:xfrm>
          <a:prstGeom prst="hexagon">
            <a:avLst/>
          </a:prstGeom>
          <a:solidFill>
            <a:srgbClr val="B8862B"/>
          </a:solidFill>
          <a:ln/>
        </p:spPr>
      </p:sp>
      <p:sp>
        <p:nvSpPr>
          <p:cNvPr id="22" name="bq-hex-label"/>
          <p:cNvSpPr txBox="1"/>
          <p:nvPr/>
        </p:nvSpPr>
        <p:spPr>
          <a:xfrm>
            <a:off x="6412687" y="3999357"/>
            <a:ext cx="621792" cy="538472"/>
          </a:xfrm>
          <a:prstGeom prst="rect">
            <a:avLst/>
          </a:prstGeom>
          <a:noFill/>
          <a:ln/>
        </p:spPr>
        <p:txBody>
          <a:bodyPr wrap="square" lIns="0" tIns="0" rIns="0" bIns="0" rtlCol="0" anchor="ctr"/>
          <a:lstStyle/>
          <a:p>
            <a:pPr algn="ctr" indent="0" marL="0">
              <a:buNone/>
            </a:pPr>
            <a:r>
              <a:rPr lang="en-US" sz="2600" b="1" dirty="0">
                <a:solidFill>
                  <a:srgbClr val="FFFFFF"/>
                </a:solidFill>
                <a:latin typeface="Cambria" pitchFamily="34" charset="0"/>
                <a:ea typeface="Cambria" pitchFamily="34" charset="-122"/>
                <a:cs typeface="Cambria" pitchFamily="34" charset="-120"/>
              </a:rPr>
              <a:t>?</a:t>
            </a:r>
            <a:endParaRPr lang="en-US" sz="2600" dirty="0"/>
          </a:p>
        </p:txBody>
      </p:sp>
      <p:sp>
        <p:nvSpPr>
          <p:cNvPr id="23" name="bq"/>
          <p:cNvSpPr txBox="1"/>
          <p:nvPr/>
        </p:nvSpPr>
        <p:spPr>
          <a:xfrm>
            <a:off x="7144207" y="3907917"/>
            <a:ext cx="4389120" cy="1871091"/>
          </a:xfrm>
          <a:prstGeom prst="rect">
            <a:avLst/>
          </a:prstGeom>
          <a:noFill/>
          <a:ln/>
        </p:spPr>
        <p:txBody>
          <a:bodyPr wrap="square" lIns="63500" tIns="63500" rIns="63500" bIns="63500" rtlCol="0" anchor="ctr"/>
          <a:lstStyle/>
          <a:p>
            <a:pPr algn="l" indent="0" marL="0">
              <a:spcAft>
                <a:spcPts val="400"/>
              </a:spcAft>
              <a:buNone/>
            </a:pPr>
            <a:r>
              <a:rPr lang="en-US" sz="1800" b="1" dirty="0">
                <a:solidFill>
                  <a:srgbClr val="7A4A1E"/>
                </a:solidFill>
                <a:latin typeface="Calibri" pitchFamily="34" charset="0"/>
                <a:ea typeface="Calibri" pitchFamily="34" charset="-122"/>
                <a:cs typeface="Calibri" pitchFamily="34" charset="-120"/>
              </a:rPr>
              <a:t>Big question</a:t>
            </a:r>
            <a:endParaRPr lang="en-US" sz="1800" dirty="0"/>
          </a:p>
          <a:p>
            <a:pPr algn="l" indent="0" marL="0">
              <a:buNone/>
            </a:pPr>
            <a:r>
              <a:rPr lang="en-US" sz="2000" i="1" dirty="0">
                <a:solidFill>
                  <a:srgbClr val="1E2229"/>
                </a:solidFill>
                <a:latin typeface="Cambria" pitchFamily="34" charset="0"/>
                <a:ea typeface="Cambria" pitchFamily="34" charset="-122"/>
                <a:cs typeface="Cambria" pitchFamily="34" charset="-120"/>
              </a:rPr>
              <a:t>Was the Battle of the Somme a victory or a defeat, and why have historians changed their minds about General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Do now: three from memory</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11" name="card-body"/>
          <p:cNvSpPr txBox="1"/>
          <p:nvPr/>
        </p:nvSpPr>
        <p:spPr>
          <a:xfrm>
            <a:off x="731520"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is a historical interpretation?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rule for how to set out a paragraph</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list of events in the order they happened</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A judgement a historian forms about the past, using evidence</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Something left behind from the time, such as a letter or a photograph</a:t>
            </a:r>
            <a:endParaRPr lang="en-US" sz="1800" dirty="0"/>
          </a:p>
        </p:txBody>
      </p:sp>
      <p:sp>
        <p:nvSpPr>
          <p:cNvPr id="12"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3" name="card-hex"/>
          <p:cNvSpPr/>
          <p:nvPr/>
        </p:nvSpPr>
        <p:spPr>
          <a:xfrm>
            <a:off x="4960506" y="1572768"/>
            <a:ext cx="640080" cy="554309"/>
          </a:xfrm>
          <a:prstGeom prst="hexagon">
            <a:avLst/>
          </a:prstGeom>
          <a:solidFill>
            <a:srgbClr val="7A4A1E"/>
          </a:solidFill>
          <a:ln/>
        </p:spPr>
      </p:sp>
      <p:sp>
        <p:nvSpPr>
          <p:cNvPr id="14"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5"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Fill the gap</a:t>
            </a:r>
            <a:endParaRPr lang="en-US" sz="1800" dirty="0"/>
          </a:p>
        </p:txBody>
      </p:sp>
      <p:sp>
        <p:nvSpPr>
          <p:cNvPr id="16" name="card-body"/>
          <p:cNvSpPr txBox="1"/>
          <p:nvPr/>
        </p:nvSpPr>
        <p:spPr>
          <a:xfrm>
            <a:off x="4960506" y="2355677"/>
            <a:ext cx="2270684" cy="3651931"/>
          </a:xfrm>
          <a:prstGeom prst="rect">
            <a:avLst/>
          </a:prstGeom>
          <a:noFill/>
          <a:ln/>
        </p:spPr>
        <p:txBody>
          <a:bodyPr wrap="square" lIns="63500" tIns="63500" rIns="63500" bIns="63500" rtlCol="0" anchor="t"/>
          <a:lstStyle/>
          <a:p>
            <a:pPr algn="l" indent="0" marL="0">
              <a:spcAft>
                <a:spcPts val="1000"/>
              </a:spcAft>
              <a:buNone/>
            </a:pPr>
            <a:r>
              <a:rPr lang="en-US" sz="2000" b="1" dirty="0">
                <a:solidFill>
                  <a:srgbClr val="1E2229"/>
                </a:solidFill>
                <a:latin typeface="Calibri" pitchFamily="34" charset="0"/>
                <a:ea typeface="Calibri" pitchFamily="34" charset="-122"/>
                <a:cs typeface="Calibri" pitchFamily="34" charset="-120"/>
              </a:rPr>
              <a:t>Calling Haig a ___ accuses him of sending thousands of soldiers needlessly to their deaths.</a:t>
            </a:r>
            <a:endParaRPr lang="en-US" sz="2000" dirty="0"/>
          </a:p>
          <a:p>
            <a:pPr algn="l" indent="0" marL="0">
              <a:buNone/>
            </a:pPr>
            <a:r>
              <a:rPr lang="en-US" sz="2000" b="1" dirty="0">
                <a:solidFill>
                  <a:srgbClr val="7A4A1E"/>
                </a:solidFill>
                <a:latin typeface="Calibri" pitchFamily="34" charset="0"/>
                <a:ea typeface="Calibri" pitchFamily="34" charset="-122"/>
                <a:cs typeface="Calibri" pitchFamily="34" charset="-120"/>
              </a:rPr>
              <a:t>Word bank:  </a:t>
            </a:r>
            <a:pPr algn="l" indent="0" marL="0">
              <a:buNone/>
            </a:pPr>
            <a:r>
              <a:rPr lang="en-US" sz="2000" dirty="0">
                <a:solidFill>
                  <a:srgbClr val="1E2229"/>
                </a:solidFill>
                <a:latin typeface="Calibri" pitchFamily="34" charset="0"/>
                <a:ea typeface="Calibri" pitchFamily="34" charset="-122"/>
                <a:cs typeface="Calibri" pitchFamily="34" charset="-120"/>
              </a:rPr>
              <a:t>butcher  ·  donkey  ·  hero</a:t>
            </a:r>
            <a:endParaRPr lang="en-US" sz="2000" dirty="0"/>
          </a:p>
        </p:txBody>
      </p:sp>
      <p:sp>
        <p:nvSpPr>
          <p:cNvPr id="17"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18" name="card-hex"/>
          <p:cNvSpPr/>
          <p:nvPr/>
        </p:nvSpPr>
        <p:spPr>
          <a:xfrm>
            <a:off x="7871269" y="1572768"/>
            <a:ext cx="640080" cy="554309"/>
          </a:xfrm>
          <a:prstGeom prst="hexagon">
            <a:avLst/>
          </a:prstGeom>
          <a:solidFill>
            <a:srgbClr val="7A4A1E"/>
          </a:solidFill>
          <a:ln/>
        </p:spPr>
      </p:sp>
      <p:sp>
        <p:nvSpPr>
          <p:cNvPr id="19"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0"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Choose one</a:t>
            </a:r>
            <a:endParaRPr lang="en-US" sz="1800" dirty="0"/>
          </a:p>
        </p:txBody>
      </p:sp>
      <p:sp>
        <p:nvSpPr>
          <p:cNvPr id="21" name="card-body"/>
          <p:cNvSpPr txBox="1"/>
          <p:nvPr/>
        </p:nvSpPr>
        <p:spPr>
          <a:xfrm>
            <a:off x="7871269" y="2355677"/>
            <a:ext cx="3588906" cy="3651931"/>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1E2229"/>
                </a:solidFill>
                <a:latin typeface="Calibri" pitchFamily="34" charset="0"/>
                <a:ea typeface="Calibri" pitchFamily="34" charset="-122"/>
                <a:cs typeface="Calibri" pitchFamily="34" charset="-120"/>
              </a:rPr>
              <a:t>What does the phrase lions led by donkeys mean?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brave British soldiers were let down by poor commanders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the generals fought in the front line alongside their men</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the war was won by new technology rather than by soldiers</a:t>
            </a:r>
            <a:endParaRPr lang="en-US" sz="1800" dirty="0"/>
          </a:p>
          <a:p>
            <a:pPr algn="l" indent="0" marL="0">
              <a:spcAft>
                <a:spcPts val="600"/>
              </a:spcAft>
              <a:buNone/>
            </a:pPr>
            <a:r>
              <a:rPr lang="en-US" sz="18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That the British army was braver than the German army</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Gate</a:t>
            </a:r>
            <a:endParaRPr lang="en-US" sz="1800" dirty="0"/>
          </a:p>
        </p:txBody>
      </p:sp>
      <p:sp>
        <p:nvSpPr>
          <p:cNvPr id="7" name="card"/>
          <p:cNvSpPr/>
          <p:nvPr/>
        </p:nvSpPr>
        <p:spPr>
          <a:xfrm>
            <a:off x="548640" y="1389888"/>
            <a:ext cx="3954666" cy="4754880"/>
          </a:xfrm>
          <a:prstGeom prst="roundRect">
            <a:avLst>
              <a:gd name="adj" fmla="val 1387"/>
            </a:avLst>
          </a:prstGeom>
          <a:solidFill>
            <a:srgbClr val="F8F5F3"/>
          </a:solidFill>
          <a:ln w="12700">
            <a:solidFill>
              <a:srgbClr val="D2C2B4"/>
            </a:solidFill>
            <a:prstDash val="solid"/>
          </a:ln>
        </p:spPr>
      </p:sp>
      <p:sp>
        <p:nvSpPr>
          <p:cNvPr id="8" name="card-hex"/>
          <p:cNvSpPr/>
          <p:nvPr/>
        </p:nvSpPr>
        <p:spPr>
          <a:xfrm>
            <a:off x="731520" y="1572768"/>
            <a:ext cx="640080" cy="554309"/>
          </a:xfrm>
          <a:prstGeom prst="hexagon">
            <a:avLst/>
          </a:prstGeom>
          <a:solidFill>
            <a:srgbClr val="7A4A1E"/>
          </a:solidFill>
          <a:ln/>
        </p:spPr>
      </p:sp>
      <p:sp>
        <p:nvSpPr>
          <p:cNvPr id="9" name="card-hex-label"/>
          <p:cNvSpPr txBox="1"/>
          <p:nvPr/>
        </p:nvSpPr>
        <p:spPr>
          <a:xfrm>
            <a:off x="731520"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card-label"/>
          <p:cNvSpPr txBox="1"/>
          <p:nvPr/>
        </p:nvSpPr>
        <p:spPr>
          <a:xfrm>
            <a:off x="1463040"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1" name="answer-chip"/>
          <p:cNvSpPr/>
          <p:nvPr/>
        </p:nvSpPr>
        <p:spPr>
          <a:xfrm>
            <a:off x="731520" y="2355677"/>
            <a:ext cx="3588906" cy="1295908"/>
          </a:xfrm>
          <a:prstGeom prst="roundRect">
            <a:avLst>
              <a:gd name="adj" fmla="val 8467"/>
            </a:avLst>
          </a:prstGeom>
          <a:solidFill>
            <a:srgbClr val="EEE3CD"/>
          </a:solidFill>
          <a:ln w="19050">
            <a:solidFill>
              <a:srgbClr val="B8862B"/>
            </a:solidFill>
            <a:prstDash val="solid"/>
          </a:ln>
        </p:spPr>
      </p:sp>
      <p:sp>
        <p:nvSpPr>
          <p:cNvPr id="12" name="answer"/>
          <p:cNvSpPr txBox="1"/>
          <p:nvPr/>
        </p:nvSpPr>
        <p:spPr>
          <a:xfrm>
            <a:off x="822960"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C   A judgement a historian forms about the past, using evidence</a:t>
            </a:r>
            <a:endParaRPr lang="en-US" sz="2200" dirty="0"/>
          </a:p>
        </p:txBody>
      </p:sp>
      <p:sp>
        <p:nvSpPr>
          <p:cNvPr id="13" name="card-body"/>
          <p:cNvSpPr txBox="1"/>
          <p:nvPr/>
        </p:nvSpPr>
        <p:spPr>
          <a:xfrm>
            <a:off x="731520"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2000" dirty="0">
                <a:solidFill>
                  <a:srgbClr val="4A505C"/>
                </a:solidFill>
                <a:latin typeface="Calibri" pitchFamily="34" charset="0"/>
                <a:ea typeface="Calibri" pitchFamily="34" charset="-122"/>
                <a:cs typeface="Calibri" pitchFamily="34" charset="-120"/>
              </a:rPr>
              <a:t>What is a historical interpretation?</a:t>
            </a:r>
            <a:endParaRPr lang="en-US" sz="2000" dirty="0"/>
          </a:p>
          <a:p>
            <a:pPr algn="l" indent="0" marL="0">
              <a:buNone/>
            </a:pPr>
            <a:r>
              <a:rPr lang="en-US" sz="2000" i="1" dirty="0">
                <a:solidFill>
                  <a:srgbClr val="1E2229"/>
                </a:solidFill>
                <a:latin typeface="Calibri" pitchFamily="34" charset="0"/>
                <a:ea typeface="Calibri" pitchFamily="34" charset="-122"/>
                <a:cs typeface="Calibri" pitchFamily="34" charset="-120"/>
              </a:rPr>
              <a:t>An interpretation is a historian's judgement, built from evidence. A source is the evidence itself.</a:t>
            </a:r>
            <a:endParaRPr lang="en-US" sz="2000" dirty="0"/>
          </a:p>
        </p:txBody>
      </p:sp>
      <p:sp>
        <p:nvSpPr>
          <p:cNvPr id="14" name="card"/>
          <p:cNvSpPr/>
          <p:nvPr/>
        </p:nvSpPr>
        <p:spPr>
          <a:xfrm>
            <a:off x="4777626" y="1389888"/>
            <a:ext cx="2636444" cy="4754880"/>
          </a:xfrm>
          <a:prstGeom prst="roundRect">
            <a:avLst>
              <a:gd name="adj" fmla="val 2081"/>
            </a:avLst>
          </a:prstGeom>
          <a:solidFill>
            <a:srgbClr val="F8F5F3"/>
          </a:solidFill>
          <a:ln w="12700">
            <a:solidFill>
              <a:srgbClr val="D2C2B4"/>
            </a:solidFill>
            <a:prstDash val="solid"/>
          </a:ln>
        </p:spPr>
      </p:sp>
      <p:sp>
        <p:nvSpPr>
          <p:cNvPr id="15" name="card-hex"/>
          <p:cNvSpPr/>
          <p:nvPr/>
        </p:nvSpPr>
        <p:spPr>
          <a:xfrm>
            <a:off x="4960506" y="1572768"/>
            <a:ext cx="640080" cy="554309"/>
          </a:xfrm>
          <a:prstGeom prst="hexagon">
            <a:avLst/>
          </a:prstGeom>
          <a:solidFill>
            <a:srgbClr val="7A4A1E"/>
          </a:solidFill>
          <a:ln/>
        </p:spPr>
      </p:sp>
      <p:sp>
        <p:nvSpPr>
          <p:cNvPr id="16" name="card-hex-label"/>
          <p:cNvSpPr txBox="1"/>
          <p:nvPr/>
        </p:nvSpPr>
        <p:spPr>
          <a:xfrm>
            <a:off x="4960506"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7" name="card-label"/>
          <p:cNvSpPr txBox="1"/>
          <p:nvPr/>
        </p:nvSpPr>
        <p:spPr>
          <a:xfrm>
            <a:off x="5692026" y="1572768"/>
            <a:ext cx="1630604"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18" name="answer-chip"/>
          <p:cNvSpPr/>
          <p:nvPr/>
        </p:nvSpPr>
        <p:spPr>
          <a:xfrm>
            <a:off x="4960506" y="2355677"/>
            <a:ext cx="2270684" cy="614172"/>
          </a:xfrm>
          <a:prstGeom prst="roundRect">
            <a:avLst>
              <a:gd name="adj" fmla="val 17866"/>
            </a:avLst>
          </a:prstGeom>
          <a:solidFill>
            <a:srgbClr val="EEE3CD"/>
          </a:solidFill>
          <a:ln w="19050">
            <a:solidFill>
              <a:srgbClr val="B8862B"/>
            </a:solidFill>
            <a:prstDash val="solid"/>
          </a:ln>
        </p:spPr>
      </p:sp>
      <p:sp>
        <p:nvSpPr>
          <p:cNvPr id="19" name="answer"/>
          <p:cNvSpPr txBox="1"/>
          <p:nvPr/>
        </p:nvSpPr>
        <p:spPr>
          <a:xfrm>
            <a:off x="5051946" y="2428829"/>
            <a:ext cx="2087804" cy="467868"/>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butcher</a:t>
            </a:r>
            <a:endParaRPr lang="en-US" sz="2200" dirty="0"/>
          </a:p>
        </p:txBody>
      </p:sp>
      <p:sp>
        <p:nvSpPr>
          <p:cNvPr id="20" name="card-body"/>
          <p:cNvSpPr txBox="1"/>
          <p:nvPr/>
        </p:nvSpPr>
        <p:spPr>
          <a:xfrm>
            <a:off x="4960506" y="3152729"/>
            <a:ext cx="2270684" cy="2854879"/>
          </a:xfrm>
          <a:prstGeom prst="rect">
            <a:avLst/>
          </a:prstGeom>
          <a:noFill/>
          <a:ln/>
        </p:spPr>
        <p:txBody>
          <a:bodyPr wrap="square" lIns="63500" tIns="63500" rIns="63500" bIns="63500" rtlCol="0" anchor="t"/>
          <a:lstStyle/>
          <a:p>
            <a:pPr algn="l" indent="0" marL="0">
              <a:buNone/>
            </a:pPr>
            <a:r>
              <a:rPr lang="en-US" sz="1800" i="1" dirty="0">
                <a:solidFill>
                  <a:srgbClr val="1E2229"/>
                </a:solidFill>
                <a:latin typeface="Calibri" pitchFamily="34" charset="0"/>
                <a:ea typeface="Calibri" pitchFamily="34" charset="-122"/>
                <a:cs typeface="Calibri" pitchFamily="34" charset="-120"/>
              </a:rPr>
              <a:t>Butcher is the accusation about needless deaths. Donkey, from the lions led by donkeys idea, is the wider accusation of poor leadership.</a:t>
            </a:r>
            <a:endParaRPr lang="en-US" sz="1800" dirty="0"/>
          </a:p>
        </p:txBody>
      </p:sp>
      <p:sp>
        <p:nvSpPr>
          <p:cNvPr id="21" name="card"/>
          <p:cNvSpPr/>
          <p:nvPr/>
        </p:nvSpPr>
        <p:spPr>
          <a:xfrm>
            <a:off x="7688389" y="1389888"/>
            <a:ext cx="3954666" cy="4754880"/>
          </a:xfrm>
          <a:prstGeom prst="roundRect">
            <a:avLst>
              <a:gd name="adj" fmla="val 1387"/>
            </a:avLst>
          </a:prstGeom>
          <a:solidFill>
            <a:srgbClr val="F8F5F3"/>
          </a:solidFill>
          <a:ln w="12700">
            <a:solidFill>
              <a:srgbClr val="D2C2B4"/>
            </a:solidFill>
            <a:prstDash val="solid"/>
          </a:ln>
        </p:spPr>
      </p:sp>
      <p:sp>
        <p:nvSpPr>
          <p:cNvPr id="22" name="card-hex"/>
          <p:cNvSpPr/>
          <p:nvPr/>
        </p:nvSpPr>
        <p:spPr>
          <a:xfrm>
            <a:off x="7871269" y="1572768"/>
            <a:ext cx="640080" cy="554309"/>
          </a:xfrm>
          <a:prstGeom prst="hexagon">
            <a:avLst/>
          </a:prstGeom>
          <a:solidFill>
            <a:srgbClr val="7A4A1E"/>
          </a:solidFill>
          <a:ln/>
        </p:spPr>
      </p:sp>
      <p:sp>
        <p:nvSpPr>
          <p:cNvPr id="23" name="card-hex-label"/>
          <p:cNvSpPr txBox="1"/>
          <p:nvPr/>
        </p:nvSpPr>
        <p:spPr>
          <a:xfrm>
            <a:off x="7871269" y="1572768"/>
            <a:ext cx="640080" cy="554309"/>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4" name="card-label"/>
          <p:cNvSpPr txBox="1"/>
          <p:nvPr/>
        </p:nvSpPr>
        <p:spPr>
          <a:xfrm>
            <a:off x="8602789" y="1572768"/>
            <a:ext cx="2948826" cy="566928"/>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Answer</a:t>
            </a:r>
            <a:endParaRPr lang="en-US" sz="1800" dirty="0"/>
          </a:p>
        </p:txBody>
      </p:sp>
      <p:sp>
        <p:nvSpPr>
          <p:cNvPr id="25" name="answer-chip"/>
          <p:cNvSpPr/>
          <p:nvPr/>
        </p:nvSpPr>
        <p:spPr>
          <a:xfrm>
            <a:off x="7871269" y="2355677"/>
            <a:ext cx="3588906" cy="1295908"/>
          </a:xfrm>
          <a:prstGeom prst="roundRect">
            <a:avLst>
              <a:gd name="adj" fmla="val 8467"/>
            </a:avLst>
          </a:prstGeom>
          <a:solidFill>
            <a:srgbClr val="EEE3CD"/>
          </a:solidFill>
          <a:ln w="19050">
            <a:solidFill>
              <a:srgbClr val="B8862B"/>
            </a:solidFill>
            <a:prstDash val="solid"/>
          </a:ln>
        </p:spPr>
      </p:sp>
      <p:sp>
        <p:nvSpPr>
          <p:cNvPr id="26" name="answer"/>
          <p:cNvSpPr txBox="1"/>
          <p:nvPr/>
        </p:nvSpPr>
        <p:spPr>
          <a:xfrm>
            <a:off x="7962709" y="2428829"/>
            <a:ext cx="3406026" cy="1149604"/>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A   That brave British soldiers were let down by poor commanders</a:t>
            </a:r>
            <a:endParaRPr lang="en-US" sz="2200" dirty="0"/>
          </a:p>
        </p:txBody>
      </p:sp>
      <p:sp>
        <p:nvSpPr>
          <p:cNvPr id="27" name="card-body"/>
          <p:cNvSpPr txBox="1"/>
          <p:nvPr/>
        </p:nvSpPr>
        <p:spPr>
          <a:xfrm>
            <a:off x="7871269" y="3834465"/>
            <a:ext cx="3588906" cy="2173143"/>
          </a:xfrm>
          <a:prstGeom prst="rect">
            <a:avLst/>
          </a:prstGeom>
          <a:noFill/>
          <a:ln/>
        </p:spPr>
        <p:txBody>
          <a:bodyPr wrap="square" lIns="63500" tIns="63500" rIns="63500" bIns="63500" rtlCol="0" anchor="t"/>
          <a:lstStyle/>
          <a:p>
            <a:pPr algn="l" indent="0" marL="0">
              <a:spcAft>
                <a:spcPts val="1000"/>
              </a:spcAft>
              <a:buNone/>
            </a:pPr>
            <a:r>
              <a:rPr lang="en-US" sz="1800" dirty="0">
                <a:solidFill>
                  <a:srgbClr val="4A505C"/>
                </a:solidFill>
                <a:latin typeface="Calibri" pitchFamily="34" charset="0"/>
                <a:ea typeface="Calibri" pitchFamily="34" charset="-122"/>
                <a:cs typeface="Calibri" pitchFamily="34" charset="-120"/>
              </a:rPr>
              <a:t>What does the phrase lions led by donkeys mean?</a:t>
            </a:r>
            <a:endParaRPr lang="en-US" sz="1800" dirty="0"/>
          </a:p>
          <a:p>
            <a:pPr algn="l" indent="0" marL="0">
              <a:buNone/>
            </a:pPr>
            <a:r>
              <a:rPr lang="en-US" sz="1800" i="1" dirty="0">
                <a:solidFill>
                  <a:srgbClr val="1E2229"/>
                </a:solidFill>
                <a:latin typeface="Calibri" pitchFamily="34" charset="0"/>
                <a:ea typeface="Calibri" pitchFamily="34" charset="-122"/>
                <a:cs typeface="Calibri" pitchFamily="34" charset="-120"/>
              </a:rPr>
              <a:t>The lions are the soldiers and the donkeys are the commanders who led them badly. Many historians now think the picture is too simple.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3515258" cy="4754880"/>
          </a:xfrm>
          <a:prstGeom prst="roundRect">
            <a:avLst>
              <a:gd name="adj" fmla="val 1561"/>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0" name="word"/>
          <p:cNvSpPr txBox="1"/>
          <p:nvPr/>
        </p:nvSpPr>
        <p:spPr>
          <a:xfrm>
            <a:off x="1280160"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interpretation</a:t>
            </a:r>
            <a:endParaRPr lang="en-US" sz="2600" dirty="0"/>
          </a:p>
        </p:txBody>
      </p:sp>
      <p:sp>
        <p:nvSpPr>
          <p:cNvPr id="11" name="word-rule"/>
          <p:cNvSpPr/>
          <p:nvPr/>
        </p:nvSpPr>
        <p:spPr>
          <a:xfrm>
            <a:off x="731520" y="2129028"/>
            <a:ext cx="3149498" cy="0"/>
          </a:xfrm>
          <a:prstGeom prst="line">
            <a:avLst/>
          </a:prstGeom>
          <a:ln w="12700">
            <a:solidFill>
              <a:srgbClr val="CCB9A8"/>
            </a:solidFill>
            <a:prstDash val="solid"/>
          </a:ln>
        </p:spPr>
      </p:sp>
      <p:sp>
        <p:nvSpPr>
          <p:cNvPr id="12" name="word-body"/>
          <p:cNvSpPr txBox="1"/>
          <p:nvPr/>
        </p:nvSpPr>
        <p:spPr>
          <a:xfrm>
            <a:off x="731520"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a judgement a historian forms about the past, using evidence</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Two historians can read the same evidence and reach a different interpretation.</a:t>
            </a:r>
            <a:endParaRPr lang="en-US" sz="2200" dirty="0"/>
          </a:p>
        </p:txBody>
      </p:sp>
      <p:sp>
        <p:nvSpPr>
          <p:cNvPr id="13" name="word-card"/>
          <p:cNvSpPr/>
          <p:nvPr/>
        </p:nvSpPr>
        <p:spPr>
          <a:xfrm>
            <a:off x="4338218" y="1389888"/>
            <a:ext cx="3515258" cy="4754880"/>
          </a:xfrm>
          <a:prstGeom prst="roundRect">
            <a:avLst>
              <a:gd name="adj" fmla="val 1561"/>
            </a:avLst>
          </a:prstGeom>
          <a:solidFill>
            <a:srgbClr val="F6F3F0"/>
          </a:solidFill>
          <a:ln w="12700">
            <a:solidFill>
              <a:srgbClr val="CCB9A8"/>
            </a:solidFill>
            <a:prstDash val="solid"/>
          </a:ln>
        </p:spPr>
      </p:sp>
      <p:sp>
        <p:nvSpPr>
          <p:cNvPr id="14" name="word-hex"/>
          <p:cNvSpPr/>
          <p:nvPr/>
        </p:nvSpPr>
        <p:spPr>
          <a:xfrm>
            <a:off x="4475378" y="1587414"/>
            <a:ext cx="502920" cy="435529"/>
          </a:xfrm>
          <a:prstGeom prst="hexagon">
            <a:avLst/>
          </a:prstGeom>
          <a:solidFill>
            <a:srgbClr val="B8862B"/>
          </a:solidFill>
          <a:ln/>
        </p:spPr>
      </p:sp>
      <p:sp>
        <p:nvSpPr>
          <p:cNvPr id="15" name="word-hex-label"/>
          <p:cNvSpPr txBox="1"/>
          <p:nvPr/>
        </p:nvSpPr>
        <p:spPr>
          <a:xfrm>
            <a:off x="447537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16" name="word"/>
          <p:cNvSpPr txBox="1"/>
          <p:nvPr/>
        </p:nvSpPr>
        <p:spPr>
          <a:xfrm>
            <a:off x="5069738"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butcher</a:t>
            </a:r>
            <a:endParaRPr lang="en-US" sz="2600" dirty="0"/>
          </a:p>
        </p:txBody>
      </p:sp>
      <p:sp>
        <p:nvSpPr>
          <p:cNvPr id="17" name="word-rule"/>
          <p:cNvSpPr/>
          <p:nvPr/>
        </p:nvSpPr>
        <p:spPr>
          <a:xfrm>
            <a:off x="4521098" y="2129028"/>
            <a:ext cx="3149498" cy="0"/>
          </a:xfrm>
          <a:prstGeom prst="line">
            <a:avLst/>
          </a:prstGeom>
          <a:ln w="12700">
            <a:solidFill>
              <a:srgbClr val="CCB9A8"/>
            </a:solidFill>
            <a:prstDash val="solid"/>
          </a:ln>
        </p:spPr>
      </p:sp>
      <p:sp>
        <p:nvSpPr>
          <p:cNvPr id="18" name="word-body"/>
          <p:cNvSpPr txBox="1"/>
          <p:nvPr/>
        </p:nvSpPr>
        <p:spPr>
          <a:xfrm>
            <a:off x="4521098"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here, a harsh word for a commander blamed for needless deaths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Calling Haig a butcher is a judgement, not a fact.</a:t>
            </a:r>
            <a:endParaRPr lang="en-US" sz="2200" dirty="0"/>
          </a:p>
        </p:txBody>
      </p:sp>
      <p:sp>
        <p:nvSpPr>
          <p:cNvPr id="19" name="word-card"/>
          <p:cNvSpPr/>
          <p:nvPr/>
        </p:nvSpPr>
        <p:spPr>
          <a:xfrm>
            <a:off x="8127797" y="1389888"/>
            <a:ext cx="3515258" cy="4754880"/>
          </a:xfrm>
          <a:prstGeom prst="roundRect">
            <a:avLst>
              <a:gd name="adj" fmla="val 1561"/>
            </a:avLst>
          </a:prstGeom>
          <a:solidFill>
            <a:srgbClr val="F6F3F0"/>
          </a:solidFill>
          <a:ln w="12700">
            <a:solidFill>
              <a:srgbClr val="CCB9A8"/>
            </a:solidFill>
            <a:prstDash val="solid"/>
          </a:ln>
        </p:spPr>
      </p:sp>
      <p:sp>
        <p:nvSpPr>
          <p:cNvPr id="20" name="word-hex"/>
          <p:cNvSpPr/>
          <p:nvPr/>
        </p:nvSpPr>
        <p:spPr>
          <a:xfrm>
            <a:off x="8264957" y="1587414"/>
            <a:ext cx="502920" cy="435529"/>
          </a:xfrm>
          <a:prstGeom prst="hexagon">
            <a:avLst/>
          </a:prstGeom>
          <a:solidFill>
            <a:srgbClr val="B8862B"/>
          </a:solidFill>
          <a:ln/>
        </p:spPr>
      </p:sp>
      <p:sp>
        <p:nvSpPr>
          <p:cNvPr id="21" name="word-hex-label"/>
          <p:cNvSpPr txBox="1"/>
          <p:nvPr/>
        </p:nvSpPr>
        <p:spPr>
          <a:xfrm>
            <a:off x="8264957"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2" name="word"/>
          <p:cNvSpPr txBox="1"/>
          <p:nvPr/>
        </p:nvSpPr>
        <p:spPr>
          <a:xfrm>
            <a:off x="8859317" y="1527048"/>
            <a:ext cx="264657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casualties</a:t>
            </a:r>
            <a:endParaRPr lang="en-US" sz="2600" dirty="0"/>
          </a:p>
        </p:txBody>
      </p:sp>
      <p:sp>
        <p:nvSpPr>
          <p:cNvPr id="23" name="word-rule"/>
          <p:cNvSpPr/>
          <p:nvPr/>
        </p:nvSpPr>
        <p:spPr>
          <a:xfrm>
            <a:off x="8310677" y="2129028"/>
            <a:ext cx="3149498" cy="0"/>
          </a:xfrm>
          <a:prstGeom prst="line">
            <a:avLst/>
          </a:prstGeom>
          <a:ln w="12700">
            <a:solidFill>
              <a:srgbClr val="CCB9A8"/>
            </a:solidFill>
            <a:prstDash val="solid"/>
          </a:ln>
        </p:spPr>
      </p:sp>
      <p:sp>
        <p:nvSpPr>
          <p:cNvPr id="24" name="word-body"/>
          <p:cNvSpPr txBox="1"/>
          <p:nvPr/>
        </p:nvSpPr>
        <p:spPr>
          <a:xfrm>
            <a:off x="8310677" y="2174748"/>
            <a:ext cx="314949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soldiers killed, wounded or missing</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casualties of the first day were the heaviest in the army's history.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Key words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word-card"/>
          <p:cNvSpPr/>
          <p:nvPr/>
        </p:nvSpPr>
        <p:spPr>
          <a:xfrm>
            <a:off x="548640" y="1389888"/>
            <a:ext cx="5410048" cy="4754880"/>
          </a:xfrm>
          <a:prstGeom prst="roundRect">
            <a:avLst>
              <a:gd name="adj" fmla="val 1154"/>
            </a:avLst>
          </a:prstGeom>
          <a:solidFill>
            <a:srgbClr val="F6F3F0"/>
          </a:solidFill>
          <a:ln w="12700">
            <a:solidFill>
              <a:srgbClr val="CCB9A8"/>
            </a:solidFill>
            <a:prstDash val="solid"/>
          </a:ln>
        </p:spPr>
      </p:sp>
      <p:sp>
        <p:nvSpPr>
          <p:cNvPr id="8" name="word-hex"/>
          <p:cNvSpPr/>
          <p:nvPr/>
        </p:nvSpPr>
        <p:spPr>
          <a:xfrm>
            <a:off x="685800" y="1587414"/>
            <a:ext cx="502920" cy="435529"/>
          </a:xfrm>
          <a:prstGeom prst="hexagon">
            <a:avLst/>
          </a:prstGeom>
          <a:solidFill>
            <a:srgbClr val="B8862B"/>
          </a:solidFill>
          <a:ln/>
        </p:spPr>
      </p:sp>
      <p:sp>
        <p:nvSpPr>
          <p:cNvPr id="9" name="word-hex-label"/>
          <p:cNvSpPr txBox="1"/>
          <p:nvPr/>
        </p:nvSpPr>
        <p:spPr>
          <a:xfrm>
            <a:off x="685800"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4</a:t>
            </a:r>
            <a:endParaRPr lang="en-US" sz="1800" dirty="0"/>
          </a:p>
        </p:txBody>
      </p:sp>
      <p:sp>
        <p:nvSpPr>
          <p:cNvPr id="10" name="word"/>
          <p:cNvSpPr txBox="1"/>
          <p:nvPr/>
        </p:nvSpPr>
        <p:spPr>
          <a:xfrm>
            <a:off x="1280160"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lions led by donkeys</a:t>
            </a:r>
            <a:endParaRPr lang="en-US" sz="2600" dirty="0"/>
          </a:p>
        </p:txBody>
      </p:sp>
      <p:sp>
        <p:nvSpPr>
          <p:cNvPr id="11" name="word-rule"/>
          <p:cNvSpPr/>
          <p:nvPr/>
        </p:nvSpPr>
        <p:spPr>
          <a:xfrm>
            <a:off x="731520" y="2129028"/>
            <a:ext cx="5044288" cy="0"/>
          </a:xfrm>
          <a:prstGeom prst="line">
            <a:avLst/>
          </a:prstGeom>
          <a:ln w="12700">
            <a:solidFill>
              <a:srgbClr val="CCB9A8"/>
            </a:solidFill>
            <a:prstDash val="solid"/>
          </a:ln>
        </p:spPr>
      </p:sp>
      <p:sp>
        <p:nvSpPr>
          <p:cNvPr id="12" name="word-body"/>
          <p:cNvSpPr txBox="1"/>
          <p:nvPr/>
        </p:nvSpPr>
        <p:spPr>
          <a:xfrm>
            <a:off x="731520"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the idea that brave soldiers were let down by poor commanders</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The lions led by donkeys idea is popular, but many historians now reject it.</a:t>
            </a:r>
            <a:endParaRPr lang="en-US" sz="2200" dirty="0"/>
          </a:p>
        </p:txBody>
      </p:sp>
      <p:sp>
        <p:nvSpPr>
          <p:cNvPr id="13" name="word-card"/>
          <p:cNvSpPr/>
          <p:nvPr/>
        </p:nvSpPr>
        <p:spPr>
          <a:xfrm>
            <a:off x="6233008" y="1389888"/>
            <a:ext cx="5410048" cy="4754880"/>
          </a:xfrm>
          <a:prstGeom prst="roundRect">
            <a:avLst>
              <a:gd name="adj" fmla="val 1154"/>
            </a:avLst>
          </a:prstGeom>
          <a:solidFill>
            <a:srgbClr val="F6F3F0"/>
          </a:solidFill>
          <a:ln w="12700">
            <a:solidFill>
              <a:srgbClr val="CCB9A8"/>
            </a:solidFill>
            <a:prstDash val="solid"/>
          </a:ln>
        </p:spPr>
      </p:sp>
      <p:sp>
        <p:nvSpPr>
          <p:cNvPr id="14" name="word-hex"/>
          <p:cNvSpPr/>
          <p:nvPr/>
        </p:nvSpPr>
        <p:spPr>
          <a:xfrm>
            <a:off x="6370168" y="1587414"/>
            <a:ext cx="502920" cy="435529"/>
          </a:xfrm>
          <a:prstGeom prst="hexagon">
            <a:avLst/>
          </a:prstGeom>
          <a:solidFill>
            <a:srgbClr val="B8862B"/>
          </a:solidFill>
          <a:ln/>
        </p:spPr>
      </p:sp>
      <p:sp>
        <p:nvSpPr>
          <p:cNvPr id="15" name="word-hex-label"/>
          <p:cNvSpPr txBox="1"/>
          <p:nvPr/>
        </p:nvSpPr>
        <p:spPr>
          <a:xfrm>
            <a:off x="6370168" y="1587414"/>
            <a:ext cx="502920" cy="435529"/>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5</a:t>
            </a:r>
            <a:endParaRPr lang="en-US" sz="1800" dirty="0"/>
          </a:p>
        </p:txBody>
      </p:sp>
      <p:sp>
        <p:nvSpPr>
          <p:cNvPr id="16" name="word"/>
          <p:cNvSpPr txBox="1"/>
          <p:nvPr/>
        </p:nvSpPr>
        <p:spPr>
          <a:xfrm>
            <a:off x="6964528" y="1527048"/>
            <a:ext cx="4541368" cy="556260"/>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convincing</a:t>
            </a:r>
            <a:endParaRPr lang="en-US" sz="2600" dirty="0"/>
          </a:p>
        </p:txBody>
      </p:sp>
      <p:sp>
        <p:nvSpPr>
          <p:cNvPr id="17" name="word-rule"/>
          <p:cNvSpPr/>
          <p:nvPr/>
        </p:nvSpPr>
        <p:spPr>
          <a:xfrm>
            <a:off x="6415888" y="2129028"/>
            <a:ext cx="5044288" cy="0"/>
          </a:xfrm>
          <a:prstGeom prst="line">
            <a:avLst/>
          </a:prstGeom>
          <a:ln w="12700">
            <a:solidFill>
              <a:srgbClr val="CCB9A8"/>
            </a:solidFill>
            <a:prstDash val="solid"/>
          </a:ln>
        </p:spPr>
      </p:sp>
      <p:sp>
        <p:nvSpPr>
          <p:cNvPr id="18" name="word-body"/>
          <p:cNvSpPr txBox="1"/>
          <p:nvPr/>
        </p:nvSpPr>
        <p:spPr>
          <a:xfrm>
            <a:off x="6415888" y="2174748"/>
            <a:ext cx="5044288" cy="3832860"/>
          </a:xfrm>
          <a:prstGeom prst="rect">
            <a:avLst/>
          </a:prstGeom>
          <a:noFill/>
          <a:ln/>
        </p:spPr>
        <p:txBody>
          <a:bodyPr wrap="square" lIns="63500" tIns="63500" rIns="63500" bIns="63500" rtlCol="0" anchor="t"/>
          <a:lstStyle/>
          <a:p>
            <a:pPr algn="l" indent="0" marL="0">
              <a:spcAft>
                <a:spcPts val="800"/>
              </a:spcAft>
              <a:buNone/>
            </a:pPr>
            <a:r>
              <a:rPr lang="en-US" sz="2200" dirty="0">
                <a:solidFill>
                  <a:srgbClr val="1E2229"/>
                </a:solidFill>
                <a:latin typeface="Calibri" pitchFamily="34" charset="0"/>
                <a:ea typeface="Calibri" pitchFamily="34" charset="-122"/>
                <a:cs typeface="Calibri" pitchFamily="34" charset="-120"/>
              </a:rPr>
              <a:t>believable, because the evidence supports it</a:t>
            </a:r>
            <a:endParaRPr lang="en-US" sz="2200" dirty="0"/>
          </a:p>
          <a:p>
            <a:pPr algn="l" indent="0" marL="0">
              <a:buNone/>
            </a:pPr>
            <a:r>
              <a:rPr lang="en-US" sz="2200" i="1" dirty="0">
                <a:solidFill>
                  <a:srgbClr val="4A505C"/>
                </a:solidFill>
                <a:latin typeface="Calibri" pitchFamily="34" charset="0"/>
                <a:ea typeface="Calibri" pitchFamily="34" charset="-122"/>
                <a:cs typeface="Calibri" pitchFamily="34" charset="-120"/>
              </a:rPr>
              <a:t>Say which interpretation you find more convincing, and why.</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(1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Historians use evidence to form judgements about the past.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These judgements are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interpretations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Two historians can study the Somme and disagree.</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4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That is because they choose different things to focus on.</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5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may look at the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casualties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of the first day.</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6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Another may look at the whole war effort.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7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Some historians call General Haig a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butcher</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Read-along (2 of 2)</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Pre-teach</a:t>
            </a:r>
            <a:endParaRPr lang="en-US" sz="1800" dirty="0"/>
          </a:p>
        </p:txBody>
      </p:sp>
      <p:sp>
        <p:nvSpPr>
          <p:cNvPr id="7" name="ra-side"/>
          <p:cNvSpPr/>
          <p:nvPr/>
        </p:nvSpPr>
        <p:spPr>
          <a:xfrm>
            <a:off x="548640" y="1389888"/>
            <a:ext cx="1874520" cy="4754880"/>
          </a:xfrm>
          <a:prstGeom prst="roundRect">
            <a:avLst>
              <a:gd name="adj" fmla="val 3902"/>
            </a:avLst>
          </a:prstGeom>
          <a:solidFill>
            <a:srgbClr val="7A4A1E"/>
          </a:solidFill>
          <a:ln/>
        </p:spPr>
      </p:sp>
      <p:sp>
        <p:nvSpPr>
          <p:cNvPr id="8" name="ra-hex"/>
          <p:cNvSpPr/>
          <p:nvPr/>
        </p:nvSpPr>
        <p:spPr>
          <a:xfrm>
            <a:off x="914400" y="1709928"/>
            <a:ext cx="1143000" cy="989838"/>
          </a:xfrm>
          <a:prstGeom prst="hexagon">
            <a:avLst/>
          </a:prstGeom>
          <a:solidFill>
            <a:srgbClr val="B8862B"/>
          </a:solidFill>
          <a:ln/>
        </p:spPr>
      </p:sp>
      <p:sp>
        <p:nvSpPr>
          <p:cNvPr id="9" name="ra-hex-label"/>
          <p:cNvSpPr txBox="1"/>
          <p:nvPr/>
        </p:nvSpPr>
        <p:spPr>
          <a:xfrm>
            <a:off x="914400" y="1709928"/>
            <a:ext cx="1143000" cy="989838"/>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Read</a:t>
            </a:r>
            <a:endParaRPr lang="en-US" sz="2400" dirty="0"/>
          </a:p>
        </p:txBody>
      </p:sp>
      <p:sp>
        <p:nvSpPr>
          <p:cNvPr id="10" name="ra-note"/>
          <p:cNvSpPr txBox="1"/>
          <p:nvPr/>
        </p:nvSpPr>
        <p:spPr>
          <a:xfrm>
            <a:off x="640080" y="2898648"/>
            <a:ext cx="1691640" cy="2194560"/>
          </a:xfrm>
          <a:prstGeom prst="rect">
            <a:avLst/>
          </a:prstGeom>
          <a:noFill/>
          <a:ln/>
        </p:spPr>
        <p:txBody>
          <a:bodyPr wrap="square" lIns="63500" tIns="63500" rIns="63500" bIns="63500" rtlCol="0" anchor="t"/>
          <a:lstStyle/>
          <a:p>
            <a:pPr algn="ctr" indent="0" marL="0">
              <a:spcAft>
                <a:spcPts val="800"/>
              </a:spcAft>
              <a:buNone/>
            </a:pPr>
            <a:r>
              <a:rPr lang="en-US" sz="1800" b="1" dirty="0">
                <a:solidFill>
                  <a:srgbClr val="FFFFFF"/>
                </a:solidFill>
                <a:latin typeface="Calibri" pitchFamily="34" charset="0"/>
                <a:ea typeface="Calibri" pitchFamily="34" charset="-122"/>
                <a:cs typeface="Calibri" pitchFamily="34" charset="-120"/>
              </a:rPr>
              <a:t>Read together;</a:t>
            </a:r>
            <a:endParaRPr lang="en-US" sz="1800" dirty="0"/>
          </a:p>
          <a:p>
            <a:pPr algn="ctr" indent="0" marL="0">
              <a:buNone/>
            </a:pPr>
            <a:r>
              <a:rPr lang="en-US" sz="1800" dirty="0">
                <a:solidFill>
                  <a:srgbClr val="FFFFFF"/>
                </a:solidFill>
                <a:latin typeface="Calibri" pitchFamily="34" charset="0"/>
                <a:ea typeface="Calibri" pitchFamily="34" charset="-122"/>
                <a:cs typeface="Calibri" pitchFamily="34" charset="-120"/>
              </a:rPr>
              <a:t>pupils who were pre-taught lead</a:t>
            </a:r>
            <a:endParaRPr lang="en-US" sz="1800" dirty="0"/>
          </a:p>
        </p:txBody>
      </p:sp>
      <p:sp>
        <p:nvSpPr>
          <p:cNvPr id="11" name="ra-panel"/>
          <p:cNvSpPr/>
          <p:nvPr/>
        </p:nvSpPr>
        <p:spPr>
          <a:xfrm>
            <a:off x="2697480" y="1389888"/>
            <a:ext cx="8945575" cy="4754880"/>
          </a:xfrm>
          <a:prstGeom prst="roundRect">
            <a:avLst>
              <a:gd name="adj" fmla="val 769"/>
            </a:avLst>
          </a:prstGeom>
          <a:solidFill>
            <a:srgbClr val="F8F5F3"/>
          </a:solidFill>
          <a:ln w="12700">
            <a:solidFill>
              <a:srgbClr val="D9CBBF"/>
            </a:solidFill>
            <a:prstDash val="solid"/>
          </a:ln>
        </p:spPr>
      </p:sp>
      <p:sp>
        <p:nvSpPr>
          <p:cNvPr id="12" name="passage"/>
          <p:cNvSpPr txBox="1"/>
          <p:nvPr/>
        </p:nvSpPr>
        <p:spPr>
          <a:xfrm>
            <a:off x="2880360" y="1527048"/>
            <a:ext cx="8579815" cy="4480560"/>
          </a:xfrm>
          <a:prstGeom prst="rect">
            <a:avLst/>
          </a:prstGeom>
          <a:noFill/>
          <a:ln/>
        </p:spPr>
        <p:txBody>
          <a:bodyPr wrap="square" lIns="63500" tIns="63500" rIns="63500" bIns="63500" rtlCol="0" anchor="t"/>
          <a:lstStyle/>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8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blame his plan and his old-fashioned tactics for needless deaths.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9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Others point out that he was told when and where to attack.</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10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They add that both sides used the same methods.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11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One popular idea is called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lions led by donkeys</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12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It says brave soldiers were let down by poor leaders.</a:t>
            </a:r>
            <a:endParaRPr lang="en-US" sz="2600" dirty="0"/>
          </a:p>
          <a:p>
            <a:pPr algn="l" indent="0" marL="0">
              <a:spcAft>
                <a:spcPts val="600"/>
              </a:spcAft>
              <a:buNone/>
            </a:pPr>
            <a:r>
              <a:rPr lang="en-US" sz="2600" b="1" dirty="0">
                <a:solidFill>
                  <a:srgbClr val="B8862B"/>
                </a:solidFill>
                <a:latin typeface="Calibri" pitchFamily="34" charset="0"/>
                <a:ea typeface="Calibri" pitchFamily="34" charset="-122"/>
                <a:cs typeface="Calibri" pitchFamily="34" charset="-120"/>
              </a:rPr>
              <a:t>13  </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Your job is to decide which </a:t>
            </a:r>
            <a:pPr algn="l" indent="0" marL="0">
              <a:spcAft>
                <a:spcPts val="600"/>
              </a:spcAft>
              <a:buNone/>
            </a:pPr>
            <a:r>
              <a:rPr lang="en-US" sz="2600" b="1" dirty="0">
                <a:solidFill>
                  <a:srgbClr val="7A4A1E"/>
                </a:solidFill>
                <a:latin typeface="Calibri" pitchFamily="34" charset="0"/>
                <a:ea typeface="Calibri" pitchFamily="34" charset="-122"/>
                <a:cs typeface="Calibri" pitchFamily="34" charset="-120"/>
              </a:rPr>
              <a:t>interpretation</a:t>
            </a:r>
            <a:pPr algn="l" indent="0" marL="0">
              <a:spcAft>
                <a:spcPts val="600"/>
              </a:spcAft>
              <a:buNone/>
            </a:pPr>
            <a:r>
              <a:rPr lang="en-US" sz="2600" dirty="0">
                <a:solidFill>
                  <a:srgbClr val="1E2229"/>
                </a:solidFill>
                <a:latin typeface="Calibri" pitchFamily="34" charset="0"/>
                <a:ea typeface="Calibri" pitchFamily="34" charset="-122"/>
                <a:cs typeface="Calibri" pitchFamily="34" charset="-120"/>
              </a:rPr>
              <a:t> convinces you.</a:t>
            </a:r>
            <a:endParaRPr lang="en-US" sz="26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What is an interpretation?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Before you agree or disagree, say what the historian is arguing and what they have chosen to focus on. That one sentence shows you understand how interpretations are built.</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use evidence to form their judgements about the past, and those judgements are called interpretations.</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When you study an interpretation, your lesson gives you three questions.</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Historians disagree about Haig because they choose different things to focus on.</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Butcher or hero? Weighing the evidence</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If you can argue a piece of evidence both ways, you understand it. Then commit to one side and say why.</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Butcher is a harsh word, and it is meant to be.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case for him is also real, and your lesson sets the two out side by side.</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Notice what is happening here. The same battle, and in places the very same evidence, is being used to argue both ways.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(1 of 2): Butcher or hero? Weighing the evidence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Take one piece of evidence, the seven-day bombardment, and show how it can be used on both sides of the argument about Haig.</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1</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State the evidence plainly: the German trenches were shelled for seven days, and 1,783,000 shells were fired.</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2</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it against Haig: seven days of shelling warned the Germans that an attack was coming, and still left the wire uncut.</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400" b="1" dirty="0">
                <a:solidFill>
                  <a:srgbClr val="7A4A1E"/>
                </a:solidFill>
                <a:latin typeface="Cambria" pitchFamily="34" charset="0"/>
                <a:ea typeface="Cambria" pitchFamily="34" charset="-122"/>
                <a:cs typeface="Cambria" pitchFamily="34" charset="-120"/>
              </a:rPr>
              <a:t>Worked example (2 of 2): Butcher or hero? Weighing the evidence</a:t>
            </a:r>
            <a:endParaRPr lang="en-US" sz="24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wq-band"/>
          <p:cNvSpPr/>
          <p:nvPr/>
        </p:nvSpPr>
        <p:spPr>
          <a:xfrm>
            <a:off x="548640" y="1389888"/>
            <a:ext cx="11094415" cy="991616"/>
          </a:xfrm>
          <a:prstGeom prst="roundRect">
            <a:avLst>
              <a:gd name="adj" fmla="val 9221"/>
            </a:avLst>
          </a:prstGeom>
          <a:solidFill>
            <a:srgbClr val="F4F0EC"/>
          </a:solidFill>
          <a:ln/>
        </p:spPr>
      </p:sp>
      <p:sp>
        <p:nvSpPr>
          <p:cNvPr id="8" name="worked-q"/>
          <p:cNvSpPr txBox="1"/>
          <p:nvPr/>
        </p:nvSpPr>
        <p:spPr>
          <a:xfrm>
            <a:off x="731520" y="1481328"/>
            <a:ext cx="10728655" cy="808736"/>
          </a:xfrm>
          <a:prstGeom prst="rect">
            <a:avLst/>
          </a:prstGeom>
          <a:noFill/>
          <a:ln/>
        </p:spPr>
        <p:txBody>
          <a:bodyPr wrap="square" lIns="63500" tIns="63500" rIns="63500" bIns="63500" rtlCol="0" anchor="ctr"/>
          <a:lstStyle/>
          <a:p>
            <a:pPr algn="l" indent="0" marL="0">
              <a:buNone/>
            </a:pPr>
            <a:r>
              <a:rPr lang="en-US" sz="2200" b="1" dirty="0">
                <a:solidFill>
                  <a:srgbClr val="1E2229"/>
                </a:solidFill>
                <a:latin typeface="Calibri" pitchFamily="34" charset="0"/>
                <a:ea typeface="Calibri" pitchFamily="34" charset="-122"/>
                <a:cs typeface="Calibri" pitchFamily="34" charset="-120"/>
              </a:rPr>
              <a:t>Take one piece of evidence, the seven-day bombardment, and show how it can be used on both sides of the argument about Haig.</a:t>
            </a:r>
            <a:endParaRPr lang="en-US" sz="2200" dirty="0"/>
          </a:p>
        </p:txBody>
      </p:sp>
      <p:sp>
        <p:nvSpPr>
          <p:cNvPr id="9" name="step-box"/>
          <p:cNvSpPr/>
          <p:nvPr/>
        </p:nvSpPr>
        <p:spPr>
          <a:xfrm>
            <a:off x="548640" y="2655824"/>
            <a:ext cx="5341468" cy="1695196"/>
          </a:xfrm>
          <a:prstGeom prst="roundRect">
            <a:avLst>
              <a:gd name="adj" fmla="val 4315"/>
            </a:avLst>
          </a:prstGeom>
          <a:solidFill>
            <a:srgbClr val="FFFFFF"/>
          </a:solidFill>
          <a:ln w="15875">
            <a:solidFill>
              <a:srgbClr val="B69B83"/>
            </a:solidFill>
            <a:prstDash val="solid"/>
          </a:ln>
        </p:spPr>
      </p:sp>
      <p:sp>
        <p:nvSpPr>
          <p:cNvPr id="10" name="step-hex"/>
          <p:cNvSpPr/>
          <p:nvPr/>
        </p:nvSpPr>
        <p:spPr>
          <a:xfrm>
            <a:off x="685800" y="2765552"/>
            <a:ext cx="530352" cy="459285"/>
          </a:xfrm>
          <a:prstGeom prst="hexagon">
            <a:avLst/>
          </a:prstGeom>
          <a:solidFill>
            <a:srgbClr val="7A4A1E"/>
          </a:solidFill>
          <a:ln/>
        </p:spPr>
      </p:sp>
      <p:sp>
        <p:nvSpPr>
          <p:cNvPr id="11" name="step-hex-label"/>
          <p:cNvSpPr txBox="1"/>
          <p:nvPr/>
        </p:nvSpPr>
        <p:spPr>
          <a:xfrm>
            <a:off x="685800"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12" name="step"/>
          <p:cNvSpPr txBox="1"/>
          <p:nvPr/>
        </p:nvSpPr>
        <p:spPr>
          <a:xfrm>
            <a:off x="685800"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Use it for Haig: no commander had ever been given such a bombardment, and he was told it had destroyed the defences.</a:t>
            </a:r>
            <a:endParaRPr lang="en-US" sz="1800" dirty="0"/>
          </a:p>
        </p:txBody>
      </p:sp>
      <p:sp>
        <p:nvSpPr>
          <p:cNvPr id="13" name="arrow"/>
          <p:cNvSpPr/>
          <p:nvPr/>
        </p:nvSpPr>
        <p:spPr>
          <a:xfrm>
            <a:off x="5963260" y="3366262"/>
            <a:ext cx="274320" cy="274320"/>
          </a:xfrm>
          <a:prstGeom prst="rightArrow">
            <a:avLst/>
          </a:prstGeom>
          <a:solidFill>
            <a:srgbClr val="B8862B"/>
          </a:solidFill>
          <a:ln/>
        </p:spPr>
      </p:sp>
      <p:sp>
        <p:nvSpPr>
          <p:cNvPr id="14" name="step-box"/>
          <p:cNvSpPr/>
          <p:nvPr/>
        </p:nvSpPr>
        <p:spPr>
          <a:xfrm>
            <a:off x="6301588" y="2655824"/>
            <a:ext cx="5341468" cy="1695196"/>
          </a:xfrm>
          <a:prstGeom prst="roundRect">
            <a:avLst>
              <a:gd name="adj" fmla="val 4315"/>
            </a:avLst>
          </a:prstGeom>
          <a:solidFill>
            <a:srgbClr val="FFFFFF"/>
          </a:solidFill>
          <a:ln w="15875">
            <a:solidFill>
              <a:srgbClr val="B69B83"/>
            </a:solidFill>
            <a:prstDash val="solid"/>
          </a:ln>
        </p:spPr>
      </p:sp>
      <p:sp>
        <p:nvSpPr>
          <p:cNvPr id="15" name="step-hex"/>
          <p:cNvSpPr/>
          <p:nvPr/>
        </p:nvSpPr>
        <p:spPr>
          <a:xfrm>
            <a:off x="6438748" y="2765552"/>
            <a:ext cx="530352" cy="459285"/>
          </a:xfrm>
          <a:prstGeom prst="hexagon">
            <a:avLst/>
          </a:prstGeom>
          <a:solidFill>
            <a:srgbClr val="7A4A1E"/>
          </a:solidFill>
          <a:ln/>
        </p:spPr>
      </p:sp>
      <p:sp>
        <p:nvSpPr>
          <p:cNvPr id="16" name="step-hex-label"/>
          <p:cNvSpPr txBox="1"/>
          <p:nvPr/>
        </p:nvSpPr>
        <p:spPr>
          <a:xfrm>
            <a:off x="6438748" y="2765552"/>
            <a:ext cx="530352" cy="45928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17" name="step"/>
          <p:cNvSpPr txBox="1"/>
          <p:nvPr/>
        </p:nvSpPr>
        <p:spPr>
          <a:xfrm>
            <a:off x="6438748" y="3250184"/>
            <a:ext cx="5067148" cy="1009396"/>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Judge between them: say which use you find more convincing, and give the reason for your choice.</a:t>
            </a:r>
            <a:endParaRPr lang="en-US" sz="1800" dirty="0"/>
          </a:p>
        </p:txBody>
      </p:sp>
      <p:sp>
        <p:nvSpPr>
          <p:cNvPr id="18" name="worked-answer"/>
          <p:cNvSpPr/>
          <p:nvPr/>
        </p:nvSpPr>
        <p:spPr>
          <a:xfrm>
            <a:off x="1463040" y="5313680"/>
            <a:ext cx="9265615" cy="831088"/>
          </a:xfrm>
          <a:prstGeom prst="roundRect">
            <a:avLst>
              <a:gd name="adj" fmla="val 22005"/>
            </a:avLst>
          </a:prstGeom>
          <a:solidFill>
            <a:srgbClr val="EEE3CD"/>
          </a:solidFill>
          <a:ln w="19050">
            <a:solidFill>
              <a:srgbClr val="B8862B"/>
            </a:solid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Answer  </a:t>
            </a:r>
            <a:pPr algn="ctr" indent="0" marL="0">
              <a:buNone/>
            </a:pPr>
            <a:r>
              <a:rPr lang="en-US" sz="1800" b="1" dirty="0">
                <a:solidFill>
                  <a:srgbClr val="1E2229"/>
                </a:solidFill>
                <a:latin typeface="Calibri" pitchFamily="34" charset="0"/>
                <a:ea typeface="Calibri" pitchFamily="34" charset="-122"/>
                <a:cs typeface="Calibri" pitchFamily="34" charset="-120"/>
              </a:rPr>
              <a:t>Against Haig it shows a failed plan and a warned enemy; for Haig it shows thorough preparation and false information. A judgement has to choose, and give a reason.</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Lions led by donkeys</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When you use the phrase, explain it: lions are the soldiers, donkeys are the commanders. Then say whether you think the picture fits Haig.</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Since the war ended, some historians have argued that the First World War saw lions led by donkeys.</a:t>
            </a:r>
            <a:endParaRPr lang="en-US" sz="18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is evidence for it. Haig's four-step plan was very simple, and he ordered his men to cross no-man's-land in broad daylight in a straight line.</a:t>
            </a:r>
            <a:endParaRPr lang="en-US" sz="18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1800" dirty="0">
                <a:solidFill>
                  <a:srgbClr val="1E2229"/>
                </a:solidFill>
                <a:latin typeface="Calibri" pitchFamily="34" charset="0"/>
                <a:ea typeface="Calibri" pitchFamily="34" charset="-122"/>
                <a:cs typeface="Calibri" pitchFamily="34" charset="-120"/>
              </a:rPr>
              <a:t>There is also evidence against it. The Conscription Act had handed Haig an army of men with almost no training, which limited what he could ask them to do: walking in line was the one thing they could be relied on to manage.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How to answer an interpretation question</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Teach</a:t>
            </a:r>
            <a:endParaRPr lang="en-US" sz="1800" dirty="0"/>
          </a:p>
        </p:txBody>
      </p:sp>
      <p:sp>
        <p:nvSpPr>
          <p:cNvPr id="7" name="tip-box"/>
          <p:cNvSpPr/>
          <p:nvPr/>
        </p:nvSpPr>
        <p:spPr>
          <a:xfrm>
            <a:off x="548640" y="5350256"/>
            <a:ext cx="11094415" cy="794512"/>
          </a:xfrm>
          <a:prstGeom prst="roundRect">
            <a:avLst>
              <a:gd name="adj" fmla="val 17263"/>
            </a:avLst>
          </a:prstGeom>
          <a:solidFill>
            <a:srgbClr val="F5EFE2"/>
          </a:solidFill>
          <a:ln w="15875">
            <a:solidFill>
              <a:srgbClr val="B8862B"/>
            </a:solidFill>
            <a:prstDash val="solid"/>
          </a:ln>
        </p:spPr>
      </p:sp>
      <p:sp>
        <p:nvSpPr>
          <p:cNvPr id="8" name="tip-hex"/>
          <p:cNvSpPr/>
          <p:nvPr/>
        </p:nvSpPr>
        <p:spPr>
          <a:xfrm>
            <a:off x="685800" y="5549544"/>
            <a:ext cx="457200" cy="395935"/>
          </a:xfrm>
          <a:prstGeom prst="hexagon">
            <a:avLst/>
          </a:prstGeom>
          <a:solidFill>
            <a:srgbClr val="B8862B"/>
          </a:solidFill>
          <a:ln/>
        </p:spPr>
      </p:sp>
      <p:sp>
        <p:nvSpPr>
          <p:cNvPr id="9" name="tip-hex-label"/>
          <p:cNvSpPr txBox="1"/>
          <p:nvPr/>
        </p:nvSpPr>
        <p:spPr>
          <a:xfrm>
            <a:off x="685800" y="5549544"/>
            <a:ext cx="457200" cy="395935"/>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a:t>
            </a:r>
            <a:endParaRPr lang="en-US" sz="2000" dirty="0"/>
          </a:p>
        </p:txBody>
      </p:sp>
      <p:sp>
        <p:nvSpPr>
          <p:cNvPr id="10" name="tip"/>
          <p:cNvSpPr txBox="1"/>
          <p:nvPr/>
        </p:nvSpPr>
        <p:spPr>
          <a:xfrm>
            <a:off x="1280160" y="5405120"/>
            <a:ext cx="10225735" cy="684784"/>
          </a:xfrm>
          <a:prstGeom prst="rect">
            <a:avLst/>
          </a:prstGeom>
          <a:noFill/>
          <a:ln/>
        </p:spPr>
        <p:txBody>
          <a:bodyPr wrap="square" lIns="63500" tIns="63500" rIns="63500" bIns="63500" rtlCol="0" anchor="ctr"/>
          <a:lstStyle/>
          <a:p>
            <a:pPr algn="l" indent="0" marL="0">
              <a:buNone/>
            </a:pPr>
            <a:r>
              <a:rPr lang="en-US" sz="1800" b="1" dirty="0">
                <a:solidFill>
                  <a:srgbClr val="815E1E"/>
                </a:solidFill>
                <a:latin typeface="Calibri" pitchFamily="34" charset="0"/>
                <a:ea typeface="Calibri" pitchFamily="34" charset="-122"/>
                <a:cs typeface="Calibri" pitchFamily="34" charset="-120"/>
              </a:rPr>
              <a:t>Tip  </a:t>
            </a:r>
            <a:pPr algn="l" indent="0" marL="0">
              <a:buNone/>
            </a:pPr>
            <a:r>
              <a:rPr lang="en-US" sz="1800" dirty="0">
                <a:solidFill>
                  <a:srgbClr val="1E2229"/>
                </a:solidFill>
                <a:latin typeface="Calibri" pitchFamily="34" charset="0"/>
                <a:ea typeface="Calibri" pitchFamily="34" charset="-122"/>
                <a:cs typeface="Calibri" pitchFamily="34" charset="-120"/>
              </a:rPr>
              <a:t>Five criteria, in order: opinion, evidence, your view, own knowledge, explanation. Tick them off as you write.</a:t>
            </a:r>
            <a:endParaRPr lang="en-US" sz="1800" dirty="0"/>
          </a:p>
        </p:txBody>
      </p:sp>
      <p:sp>
        <p:nvSpPr>
          <p:cNvPr id="11" name="point-card"/>
          <p:cNvSpPr/>
          <p:nvPr/>
        </p:nvSpPr>
        <p:spPr>
          <a:xfrm>
            <a:off x="548640" y="1389888"/>
            <a:ext cx="3515258" cy="3686048"/>
          </a:xfrm>
          <a:prstGeom prst="roundRect">
            <a:avLst>
              <a:gd name="adj" fmla="val 1561"/>
            </a:avLst>
          </a:prstGeom>
          <a:solidFill>
            <a:srgbClr val="F4F0EC"/>
          </a:solidFill>
          <a:ln/>
        </p:spPr>
      </p:sp>
      <p:sp>
        <p:nvSpPr>
          <p:cNvPr id="12" name="point-hex"/>
          <p:cNvSpPr/>
          <p:nvPr/>
        </p:nvSpPr>
        <p:spPr>
          <a:xfrm>
            <a:off x="731520" y="1572768"/>
            <a:ext cx="685800" cy="593903"/>
          </a:xfrm>
          <a:prstGeom prst="hexagon">
            <a:avLst/>
          </a:prstGeom>
          <a:solidFill>
            <a:srgbClr val="7A4A1E"/>
          </a:solidFill>
          <a:ln/>
        </p:spPr>
      </p:sp>
      <p:sp>
        <p:nvSpPr>
          <p:cNvPr id="13" name="point-hex-label"/>
          <p:cNvSpPr txBox="1"/>
          <p:nvPr/>
        </p:nvSpPr>
        <p:spPr>
          <a:xfrm>
            <a:off x="731520"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4" name="point"/>
          <p:cNvSpPr txBox="1"/>
          <p:nvPr/>
        </p:nvSpPr>
        <p:spPr>
          <a:xfrm>
            <a:off x="731520"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Your lesson gives five success criteria for this kind of answer, and your assessment uses the same five.</a:t>
            </a:r>
            <a:endParaRPr lang="en-US" sz="2400" dirty="0"/>
          </a:p>
        </p:txBody>
      </p:sp>
      <p:sp>
        <p:nvSpPr>
          <p:cNvPr id="15" name="point-card"/>
          <p:cNvSpPr/>
          <p:nvPr/>
        </p:nvSpPr>
        <p:spPr>
          <a:xfrm>
            <a:off x="4338218" y="1389888"/>
            <a:ext cx="3515258" cy="3686048"/>
          </a:xfrm>
          <a:prstGeom prst="roundRect">
            <a:avLst>
              <a:gd name="adj" fmla="val 1561"/>
            </a:avLst>
          </a:prstGeom>
          <a:solidFill>
            <a:srgbClr val="F8F2E9"/>
          </a:solidFill>
          <a:ln/>
        </p:spPr>
      </p:sp>
      <p:sp>
        <p:nvSpPr>
          <p:cNvPr id="16" name="point-hex"/>
          <p:cNvSpPr/>
          <p:nvPr/>
        </p:nvSpPr>
        <p:spPr>
          <a:xfrm>
            <a:off x="4521098" y="1572768"/>
            <a:ext cx="685800" cy="593903"/>
          </a:xfrm>
          <a:prstGeom prst="hexagon">
            <a:avLst/>
          </a:prstGeom>
          <a:solidFill>
            <a:srgbClr val="B8862B"/>
          </a:solidFill>
          <a:ln/>
        </p:spPr>
      </p:sp>
      <p:sp>
        <p:nvSpPr>
          <p:cNvPr id="17" name="point-hex-label"/>
          <p:cNvSpPr txBox="1"/>
          <p:nvPr/>
        </p:nvSpPr>
        <p:spPr>
          <a:xfrm>
            <a:off x="4521098"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8" name="point"/>
          <p:cNvSpPr txBox="1"/>
          <p:nvPr/>
        </p:nvSpPr>
        <p:spPr>
          <a:xfrm>
            <a:off x="4521098"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The sentence starters follow the same order. The interpretation argues that...</a:t>
            </a:r>
            <a:endParaRPr lang="en-US" sz="2400" dirty="0"/>
          </a:p>
        </p:txBody>
      </p:sp>
      <p:sp>
        <p:nvSpPr>
          <p:cNvPr id="19" name="point-card"/>
          <p:cNvSpPr/>
          <p:nvPr/>
        </p:nvSpPr>
        <p:spPr>
          <a:xfrm>
            <a:off x="8127797" y="1389888"/>
            <a:ext cx="3515258" cy="3686048"/>
          </a:xfrm>
          <a:prstGeom prst="roundRect">
            <a:avLst>
              <a:gd name="adj" fmla="val 1561"/>
            </a:avLst>
          </a:prstGeom>
          <a:solidFill>
            <a:srgbClr val="F4F0EC"/>
          </a:solidFill>
          <a:ln/>
        </p:spPr>
      </p:sp>
      <p:sp>
        <p:nvSpPr>
          <p:cNvPr id="20" name="point-hex"/>
          <p:cNvSpPr/>
          <p:nvPr/>
        </p:nvSpPr>
        <p:spPr>
          <a:xfrm>
            <a:off x="8310677" y="1572768"/>
            <a:ext cx="685800" cy="593903"/>
          </a:xfrm>
          <a:prstGeom prst="hexagon">
            <a:avLst/>
          </a:prstGeom>
          <a:solidFill>
            <a:srgbClr val="7A4A1E"/>
          </a:solidFill>
          <a:ln/>
        </p:spPr>
      </p:sp>
      <p:sp>
        <p:nvSpPr>
          <p:cNvPr id="21" name="point-hex-label"/>
          <p:cNvSpPr txBox="1"/>
          <p:nvPr/>
        </p:nvSpPr>
        <p:spPr>
          <a:xfrm>
            <a:off x="8310677" y="1572768"/>
            <a:ext cx="685800" cy="593903"/>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3</a:t>
            </a:r>
            <a:endParaRPr lang="en-US" sz="2400" dirty="0"/>
          </a:p>
        </p:txBody>
      </p:sp>
      <p:sp>
        <p:nvSpPr>
          <p:cNvPr id="22" name="point"/>
          <p:cNvSpPr txBox="1"/>
          <p:nvPr/>
        </p:nvSpPr>
        <p:spPr>
          <a:xfrm>
            <a:off x="8310677" y="2350008"/>
            <a:ext cx="3149498" cy="2588768"/>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One warning. Partly agree is a strong answer when it is argued, and a weak one when it is used to avoid deciding.</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The battle in five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1</a:t>
            </a:r>
            <a:endParaRPr lang="en-US" sz="2800" dirty="0"/>
          </a:p>
        </p:txBody>
      </p:sp>
      <p:sp>
        <p:nvSpPr>
          <p:cNvPr id="10" name="task"/>
          <p:cNvSpPr txBox="1"/>
          <p:nvPr/>
        </p:nvSpPr>
        <p:spPr>
          <a:xfrm>
            <a:off x="1828800" y="1572768"/>
            <a:ext cx="8534095" cy="4389120"/>
          </a:xfrm>
          <a:prstGeom prst="rect">
            <a:avLst/>
          </a:prstGeom>
          <a:noFill/>
          <a:ln/>
        </p:spPr>
        <p:txBody>
          <a:bodyPr wrap="square" lIns="63500" tIns="63500" rIns="63500" bIns="63500" rtlCol="0" anchor="ctr"/>
          <a:lstStyle/>
          <a:p>
            <a:pPr algn="ctr" indent="0" marL="0">
              <a:spcAft>
                <a:spcPts val="600"/>
              </a:spcAft>
              <a:buNone/>
            </a:pPr>
            <a:r>
              <a:rPr lang="en-US" sz="2400" b="1" dirty="0">
                <a:solidFill>
                  <a:srgbClr val="1E2229"/>
                </a:solidFill>
                <a:latin typeface="Calibri" pitchFamily="34" charset="0"/>
                <a:ea typeface="Calibri" pitchFamily="34" charset="-122"/>
                <a:cs typeface="Calibri" pitchFamily="34" charset="-120"/>
              </a:rPr>
              <a:t>Put the key events of the Battle of the Somme in order.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1916 the Allies plan a major attack to wear the German army down, as part of their war of attrition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By November 1916 the battle is over, about 7 miles of ground has been taken and the French have been saved at Verdun</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On 1 July 1916 the British attack begins, and the first day is a disaster</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In February 1916 the Germans attack the French at Verdun, and the French demand British help</a:t>
            </a:r>
            <a:endParaRPr lang="en-US" sz="2400" dirty="0"/>
          </a:p>
          <a:p>
            <a:pPr algn="l" indent="0" marL="0">
              <a:spcAft>
                <a:spcPts val="200"/>
              </a:spcAft>
              <a:buNone/>
            </a:pPr>
            <a:r>
              <a:rPr lang="en-US" sz="2200" b="1" dirty="0">
                <a:solidFill>
                  <a:srgbClr val="B8862B"/>
                </a:solidFill>
                <a:latin typeface="Calibri" pitchFamily="34" charset="0"/>
                <a:ea typeface="Calibri" pitchFamily="34" charset="-122"/>
                <a:cs typeface="Calibri" pitchFamily="34" charset="-120"/>
              </a:rPr>
              <a:t>E   </a:t>
            </a:r>
            <a:pPr algn="l" indent="0" marL="0">
              <a:spcAft>
                <a:spcPts val="200"/>
              </a:spcAft>
              <a:buNone/>
            </a:pPr>
            <a:r>
              <a:rPr lang="en-US" sz="2200" dirty="0">
                <a:solidFill>
                  <a:srgbClr val="1E2229"/>
                </a:solidFill>
                <a:latin typeface="Calibri" pitchFamily="34" charset="0"/>
                <a:ea typeface="Calibri" pitchFamily="34" charset="-122"/>
                <a:cs typeface="Calibri" pitchFamily="34" charset="-120"/>
              </a:rPr>
              <a:t>Through the months that follow, the British gain experience and try out new technology such as the tank</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Same task, three ways in: The battle in five events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1</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1 (on the last slide): The battle in five events</a:t>
            </a:r>
            <a:endParaRPr lang="en-US" sz="2000" dirty="0"/>
          </a:p>
        </p:txBody>
      </p:sp>
      <p:sp>
        <p:nvSpPr>
          <p:cNvPr id="12" name="col-Support"/>
          <p:cNvSpPr/>
          <p:nvPr/>
        </p:nvSpPr>
        <p:spPr>
          <a:xfrm>
            <a:off x="548640" y="2395728"/>
            <a:ext cx="5602443"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4870923"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5328123"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Three of the five cards carry a month. Put those three in calendar order first: February, July, November.</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planning must come before the German attack on Verdun changed the plans.</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months of learning and new technology come after the first day and before the end.</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Read your sequence back as a story and check it makes sense.</a:t>
            </a:r>
            <a:endParaRPr lang="en-US" sz="1800" dirty="0"/>
          </a:p>
        </p:txBody>
      </p:sp>
      <p:sp>
        <p:nvSpPr>
          <p:cNvPr id="17" name="col-Core"/>
          <p:cNvSpPr/>
          <p:nvPr/>
        </p:nvSpPr>
        <p:spPr>
          <a:xfrm>
            <a:off x="6425403" y="2395728"/>
            <a:ext cx="2471666" cy="3749040"/>
          </a:xfrm>
          <a:prstGeom prst="roundRect">
            <a:avLst>
              <a:gd name="adj" fmla="val 2220"/>
            </a:avLst>
          </a:prstGeom>
          <a:solidFill>
            <a:srgbClr val="E4DAD1"/>
          </a:solidFill>
          <a:ln/>
        </p:spPr>
      </p:sp>
      <p:sp>
        <p:nvSpPr>
          <p:cNvPr id="18" name="col-hex"/>
          <p:cNvSpPr/>
          <p:nvPr/>
        </p:nvSpPr>
        <p:spPr>
          <a:xfrm>
            <a:off x="6535131"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6535131"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7065483"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6562563"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Plan, Verdun in February, the attack on 1 July, the months that follow, the end in November.</a:t>
            </a:r>
            <a:endParaRPr lang="en-US" sz="1800" dirty="0"/>
          </a:p>
        </p:txBody>
      </p:sp>
      <p:sp>
        <p:nvSpPr>
          <p:cNvPr id="22" name="col-Stretch"/>
          <p:cNvSpPr/>
          <p:nvPr/>
        </p:nvSpPr>
        <p:spPr>
          <a:xfrm>
            <a:off x="9171389" y="2395728"/>
            <a:ext cx="2471666" cy="3749040"/>
          </a:xfrm>
          <a:prstGeom prst="roundRect">
            <a:avLst>
              <a:gd name="adj" fmla="val 2220"/>
            </a:avLst>
          </a:prstGeom>
          <a:solidFill>
            <a:srgbClr val="7A4A1E"/>
          </a:solidFill>
          <a:ln/>
        </p:spPr>
      </p:sp>
      <p:sp>
        <p:nvSpPr>
          <p:cNvPr id="23" name="col-hex"/>
          <p:cNvSpPr/>
          <p:nvPr/>
        </p:nvSpPr>
        <p:spPr>
          <a:xfrm>
            <a:off x="928111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928111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811469" y="2432304"/>
            <a:ext cx="1740146"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9308549" y="3035808"/>
            <a:ext cx="2197346"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Which of these five events would you leave out if you had only four cards, and what would your summary lose?</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The task: Which success criterion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from an interpretation answer to the success criterion it meets.</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(1 of 2): Which success criterion is this?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from an interpretation answer to the success criterion it meets.</a:t>
            </a:r>
            <a:endParaRPr lang="en-US" sz="2400" dirty="0"/>
          </a:p>
        </p:txBody>
      </p:sp>
      <p:sp>
        <p:nvSpPr>
          <p:cNvPr id="11" name="match-card"/>
          <p:cNvSpPr/>
          <p:nvPr/>
        </p:nvSpPr>
        <p:spPr>
          <a:xfrm>
            <a:off x="777240" y="2672080"/>
            <a:ext cx="5135728" cy="922020"/>
          </a:xfrm>
          <a:prstGeom prst="roundRect">
            <a:avLst>
              <a:gd name="adj" fmla="val 7934"/>
            </a:avLst>
          </a:prstGeom>
          <a:solidFill>
            <a:srgbClr val="F6F3F0"/>
          </a:solidFill>
          <a:ln/>
        </p:spPr>
      </p:sp>
      <p:sp>
        <p:nvSpPr>
          <p:cNvPr id="12" name="match-hex"/>
          <p:cNvSpPr/>
          <p:nvPr/>
        </p:nvSpPr>
        <p:spPr>
          <a:xfrm>
            <a:off x="850392" y="2966797"/>
            <a:ext cx="384048" cy="332586"/>
          </a:xfrm>
          <a:prstGeom prst="hexagon">
            <a:avLst/>
          </a:prstGeom>
          <a:solidFill>
            <a:srgbClr val="7A4A1E"/>
          </a:solidFill>
          <a:ln/>
        </p:spPr>
      </p:sp>
      <p:sp>
        <p:nvSpPr>
          <p:cNvPr id="13" name="match-hex-label"/>
          <p:cNvSpPr txBox="1"/>
          <p:nvPr/>
        </p:nvSpPr>
        <p:spPr>
          <a:xfrm>
            <a:off x="850392" y="29667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9220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historian argues that Haig should not be judged only as a butcher</a:t>
            </a:r>
            <a:endParaRPr lang="en-US" sz="2200" dirty="0"/>
          </a:p>
        </p:txBody>
      </p:sp>
      <p:sp>
        <p:nvSpPr>
          <p:cNvPr id="15" name="match-card"/>
          <p:cNvSpPr/>
          <p:nvPr/>
        </p:nvSpPr>
        <p:spPr>
          <a:xfrm>
            <a:off x="6278728" y="2672080"/>
            <a:ext cx="5135728" cy="922020"/>
          </a:xfrm>
          <a:prstGeom prst="roundRect">
            <a:avLst>
              <a:gd name="adj" fmla="val 7934"/>
            </a:avLst>
          </a:prstGeom>
          <a:solidFill>
            <a:srgbClr val="F8F2E9"/>
          </a:solidFill>
          <a:ln/>
        </p:spPr>
      </p:sp>
      <p:sp>
        <p:nvSpPr>
          <p:cNvPr id="16" name="match-hex"/>
          <p:cNvSpPr/>
          <p:nvPr/>
        </p:nvSpPr>
        <p:spPr>
          <a:xfrm>
            <a:off x="6351880" y="2966797"/>
            <a:ext cx="384048" cy="332586"/>
          </a:xfrm>
          <a:prstGeom prst="hexagon">
            <a:avLst/>
          </a:prstGeom>
          <a:solidFill>
            <a:srgbClr val="B8862B"/>
          </a:solidFill>
          <a:ln/>
        </p:spPr>
      </p:sp>
      <p:sp>
        <p:nvSpPr>
          <p:cNvPr id="17" name="match-hex-label"/>
          <p:cNvSpPr txBox="1"/>
          <p:nvPr/>
        </p:nvSpPr>
        <p:spPr>
          <a:xfrm>
            <a:off x="6351880" y="29667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9220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State the historian's opinion</a:t>
            </a:r>
            <a:endParaRPr lang="en-US" sz="2200" dirty="0"/>
          </a:p>
        </p:txBody>
      </p:sp>
      <p:sp>
        <p:nvSpPr>
          <p:cNvPr id="19" name="match-card"/>
          <p:cNvSpPr/>
          <p:nvPr/>
        </p:nvSpPr>
        <p:spPr>
          <a:xfrm>
            <a:off x="777240" y="3685540"/>
            <a:ext cx="5135728" cy="1262888"/>
          </a:xfrm>
          <a:prstGeom prst="roundRect">
            <a:avLst>
              <a:gd name="adj" fmla="val 5792"/>
            </a:avLst>
          </a:prstGeom>
          <a:solidFill>
            <a:srgbClr val="F6F3F0"/>
          </a:solidFill>
          <a:ln/>
        </p:spPr>
      </p:sp>
      <p:sp>
        <p:nvSpPr>
          <p:cNvPr id="20" name="match-hex"/>
          <p:cNvSpPr/>
          <p:nvPr/>
        </p:nvSpPr>
        <p:spPr>
          <a:xfrm>
            <a:off x="850392" y="4150691"/>
            <a:ext cx="384048" cy="332586"/>
          </a:xfrm>
          <a:prstGeom prst="hexagon">
            <a:avLst/>
          </a:prstGeom>
          <a:solidFill>
            <a:srgbClr val="7A4A1E"/>
          </a:solidFill>
          <a:ln/>
        </p:spPr>
      </p:sp>
      <p:sp>
        <p:nvSpPr>
          <p:cNvPr id="21" name="match-hex-label"/>
          <p:cNvSpPr txBox="1"/>
          <p:nvPr/>
        </p:nvSpPr>
        <p:spPr>
          <a:xfrm>
            <a:off x="850392"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3685540"/>
            <a:ext cx="4541368" cy="12628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The interpretation points to the shortage of trained soldiers after conscription</a:t>
            </a:r>
            <a:endParaRPr lang="en-US" sz="2200" dirty="0"/>
          </a:p>
        </p:txBody>
      </p:sp>
      <p:sp>
        <p:nvSpPr>
          <p:cNvPr id="23" name="match-card"/>
          <p:cNvSpPr/>
          <p:nvPr/>
        </p:nvSpPr>
        <p:spPr>
          <a:xfrm>
            <a:off x="6278728" y="3685540"/>
            <a:ext cx="5135728" cy="1262888"/>
          </a:xfrm>
          <a:prstGeom prst="roundRect">
            <a:avLst>
              <a:gd name="adj" fmla="val 5792"/>
            </a:avLst>
          </a:prstGeom>
          <a:solidFill>
            <a:srgbClr val="F8F2E9"/>
          </a:solidFill>
          <a:ln/>
        </p:spPr>
      </p:sp>
      <p:sp>
        <p:nvSpPr>
          <p:cNvPr id="24" name="match-hex"/>
          <p:cNvSpPr/>
          <p:nvPr/>
        </p:nvSpPr>
        <p:spPr>
          <a:xfrm>
            <a:off x="6351880" y="4150691"/>
            <a:ext cx="384048" cy="332586"/>
          </a:xfrm>
          <a:prstGeom prst="hexagon">
            <a:avLst/>
          </a:prstGeom>
          <a:solidFill>
            <a:srgbClr val="B8862B"/>
          </a:solidFill>
          <a:ln/>
        </p:spPr>
      </p:sp>
      <p:sp>
        <p:nvSpPr>
          <p:cNvPr id="25" name="match-hex-label"/>
          <p:cNvSpPr txBox="1"/>
          <p:nvPr/>
        </p:nvSpPr>
        <p:spPr>
          <a:xfrm>
            <a:off x="6351880" y="4150691"/>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3685540"/>
            <a:ext cx="4541368" cy="1262888"/>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Say whether you agree or disagree</a:t>
            </a:r>
            <a:endParaRPr lang="en-US" sz="2200" dirty="0"/>
          </a:p>
        </p:txBody>
      </p:sp>
      <p:sp>
        <p:nvSpPr>
          <p:cNvPr id="27" name="match-card"/>
          <p:cNvSpPr/>
          <p:nvPr/>
        </p:nvSpPr>
        <p:spPr>
          <a:xfrm>
            <a:off x="777240" y="5039868"/>
            <a:ext cx="5135728" cy="922020"/>
          </a:xfrm>
          <a:prstGeom prst="roundRect">
            <a:avLst>
              <a:gd name="adj" fmla="val 7934"/>
            </a:avLst>
          </a:prstGeom>
          <a:solidFill>
            <a:srgbClr val="F6F3F0"/>
          </a:solidFill>
          <a:ln/>
        </p:spPr>
      </p:sp>
      <p:sp>
        <p:nvSpPr>
          <p:cNvPr id="28" name="match-hex"/>
          <p:cNvSpPr/>
          <p:nvPr/>
        </p:nvSpPr>
        <p:spPr>
          <a:xfrm>
            <a:off x="850392" y="5334585"/>
            <a:ext cx="384048" cy="332586"/>
          </a:xfrm>
          <a:prstGeom prst="hexagon">
            <a:avLst/>
          </a:prstGeom>
          <a:solidFill>
            <a:srgbClr val="7A4A1E"/>
          </a:solidFill>
          <a:ln/>
        </p:spPr>
      </p:sp>
      <p:sp>
        <p:nvSpPr>
          <p:cNvPr id="29" name="match-hex-label"/>
          <p:cNvSpPr txBox="1"/>
          <p:nvPr/>
        </p:nvSpPr>
        <p:spPr>
          <a:xfrm>
            <a:off x="850392" y="533458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30" name="match-text"/>
          <p:cNvSpPr txBox="1"/>
          <p:nvPr/>
        </p:nvSpPr>
        <p:spPr>
          <a:xfrm>
            <a:off x="1298448" y="5039868"/>
            <a:ext cx="4541368" cy="9220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partly agree with this interpretation</a:t>
            </a:r>
            <a:endParaRPr lang="en-US" sz="2200" dirty="0"/>
          </a:p>
        </p:txBody>
      </p:sp>
      <p:sp>
        <p:nvSpPr>
          <p:cNvPr id="31" name="match-card"/>
          <p:cNvSpPr/>
          <p:nvPr/>
        </p:nvSpPr>
        <p:spPr>
          <a:xfrm>
            <a:off x="6278728" y="5039868"/>
            <a:ext cx="5135728" cy="922020"/>
          </a:xfrm>
          <a:prstGeom prst="roundRect">
            <a:avLst>
              <a:gd name="adj" fmla="val 7934"/>
            </a:avLst>
          </a:prstGeom>
          <a:solidFill>
            <a:srgbClr val="F8F2E9"/>
          </a:solidFill>
          <a:ln/>
        </p:spPr>
      </p:sp>
      <p:sp>
        <p:nvSpPr>
          <p:cNvPr id="32" name="match-hex"/>
          <p:cNvSpPr/>
          <p:nvPr/>
        </p:nvSpPr>
        <p:spPr>
          <a:xfrm>
            <a:off x="6351880" y="5334585"/>
            <a:ext cx="384048" cy="332586"/>
          </a:xfrm>
          <a:prstGeom prst="hexagon">
            <a:avLst/>
          </a:prstGeom>
          <a:solidFill>
            <a:srgbClr val="B8862B"/>
          </a:solidFill>
          <a:ln/>
        </p:spPr>
      </p:sp>
      <p:sp>
        <p:nvSpPr>
          <p:cNvPr id="33" name="match-hex-label"/>
          <p:cNvSpPr txBox="1"/>
          <p:nvPr/>
        </p:nvSpPr>
        <p:spPr>
          <a:xfrm>
            <a:off x="6351880" y="5334585"/>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C</a:t>
            </a:r>
            <a:endParaRPr lang="en-US" sz="1800" dirty="0"/>
          </a:p>
        </p:txBody>
      </p:sp>
      <p:sp>
        <p:nvSpPr>
          <p:cNvPr id="34" name="match-text"/>
          <p:cNvSpPr txBox="1"/>
          <p:nvPr/>
        </p:nvSpPr>
        <p:spPr>
          <a:xfrm>
            <a:off x="6799936" y="5039868"/>
            <a:ext cx="4541368" cy="9220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Give evidence from the interpretation</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000" b="1" dirty="0">
                <a:solidFill>
                  <a:srgbClr val="7A4A1E"/>
                </a:solidFill>
                <a:latin typeface="Cambria" pitchFamily="34" charset="0"/>
                <a:ea typeface="Cambria" pitchFamily="34" charset="-122"/>
                <a:cs typeface="Cambria" pitchFamily="34" charset="-120"/>
              </a:rPr>
              <a:t>The task (2 of 2): Which success criterion is this?</a:t>
            </a:r>
            <a:endParaRPr lang="en-US" sz="30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Same task</a:t>
            </a:r>
            <a:endParaRPr lang="en-US" sz="1800" dirty="0"/>
          </a:p>
        </p:txBody>
      </p:sp>
      <p:sp>
        <p:nvSpPr>
          <p:cNvPr id="7" name="task-box"/>
          <p:cNvSpPr/>
          <p:nvPr/>
        </p:nvSpPr>
        <p:spPr>
          <a:xfrm>
            <a:off x="548640" y="1389888"/>
            <a:ext cx="11094415" cy="4754880"/>
          </a:xfrm>
          <a:prstGeom prst="roundRect">
            <a:avLst>
              <a:gd name="adj" fmla="val 962"/>
            </a:avLst>
          </a:prstGeom>
          <a:solidFill>
            <a:srgbClr val="FFFFFF"/>
          </a:solidFill>
          <a:ln w="31750">
            <a:solidFill>
              <a:srgbClr val="B8862B"/>
            </a:solidFill>
            <a:prstDash val="solid"/>
          </a:ln>
        </p:spPr>
      </p:sp>
      <p:sp>
        <p:nvSpPr>
          <p:cNvPr id="8" name="task-hex"/>
          <p:cNvSpPr/>
          <p:nvPr/>
        </p:nvSpPr>
        <p:spPr>
          <a:xfrm>
            <a:off x="822960" y="1664208"/>
            <a:ext cx="822960" cy="712683"/>
          </a:xfrm>
          <a:prstGeom prst="hexagon">
            <a:avLst/>
          </a:prstGeom>
          <a:solidFill>
            <a:srgbClr val="B8862B"/>
          </a:solidFill>
          <a:ln/>
        </p:spPr>
      </p:sp>
      <p:sp>
        <p:nvSpPr>
          <p:cNvPr id="9" name="task-hex-label"/>
          <p:cNvSpPr txBox="1"/>
          <p:nvPr/>
        </p:nvSpPr>
        <p:spPr>
          <a:xfrm>
            <a:off x="822960" y="1664208"/>
            <a:ext cx="822960" cy="712683"/>
          </a:xfrm>
          <a:prstGeom prst="rect">
            <a:avLst/>
          </a:prstGeom>
          <a:noFill/>
          <a:ln/>
        </p:spPr>
        <p:txBody>
          <a:bodyPr wrap="square" lIns="0" tIns="0" rIns="0" bIns="0" rtlCol="0" anchor="ctr"/>
          <a:lstStyle/>
          <a:p>
            <a:pPr algn="ctr" indent="0" marL="0">
              <a:buNone/>
            </a:pPr>
            <a:r>
              <a:rPr lang="en-US" sz="2800" b="1" dirty="0">
                <a:solidFill>
                  <a:srgbClr val="FFFFFF"/>
                </a:solidFill>
                <a:latin typeface="Cambria" pitchFamily="34" charset="0"/>
                <a:ea typeface="Cambria" pitchFamily="34" charset="-122"/>
                <a:cs typeface="Cambria" pitchFamily="34" charset="-120"/>
              </a:rPr>
              <a:t>2</a:t>
            </a:r>
            <a:endParaRPr lang="en-US" sz="2800" dirty="0"/>
          </a:p>
        </p:txBody>
      </p:sp>
      <p:sp>
        <p:nvSpPr>
          <p:cNvPr id="10" name="task"/>
          <p:cNvSpPr txBox="1"/>
          <p:nvPr/>
        </p:nvSpPr>
        <p:spPr>
          <a:xfrm>
            <a:off x="1828800" y="1618488"/>
            <a:ext cx="8534095" cy="870712"/>
          </a:xfrm>
          <a:prstGeom prst="rect">
            <a:avLst/>
          </a:prstGeom>
          <a:noFill/>
          <a:ln/>
        </p:spPr>
        <p:txBody>
          <a:bodyPr wrap="square" lIns="63500" tIns="63500" rIns="63500" bIns="63500" rtlCol="0" anchor="t"/>
          <a:lstStyle/>
          <a:p>
            <a:pPr algn="ctr" indent="0" marL="0">
              <a:buNone/>
            </a:pPr>
            <a:r>
              <a:rPr lang="en-US" sz="2400" b="1" dirty="0">
                <a:solidFill>
                  <a:srgbClr val="1E2229"/>
                </a:solidFill>
                <a:latin typeface="Calibri" pitchFamily="34" charset="0"/>
                <a:ea typeface="Calibri" pitchFamily="34" charset="-122"/>
                <a:cs typeface="Calibri" pitchFamily="34" charset="-120"/>
              </a:rPr>
              <a:t>Match each sentence from an interpretation answer to the success criterion it meets.</a:t>
            </a:r>
            <a:endParaRPr lang="en-US" sz="2400" dirty="0"/>
          </a:p>
        </p:txBody>
      </p:sp>
      <p:sp>
        <p:nvSpPr>
          <p:cNvPr id="11" name="match-card"/>
          <p:cNvSpPr/>
          <p:nvPr/>
        </p:nvSpPr>
        <p:spPr>
          <a:xfrm>
            <a:off x="777240" y="2672080"/>
            <a:ext cx="5135728" cy="1506220"/>
          </a:xfrm>
          <a:prstGeom prst="roundRect">
            <a:avLst>
              <a:gd name="adj" fmla="val 4857"/>
            </a:avLst>
          </a:prstGeom>
          <a:solidFill>
            <a:srgbClr val="F6F3F0"/>
          </a:solidFill>
          <a:ln/>
        </p:spPr>
      </p:sp>
      <p:sp>
        <p:nvSpPr>
          <p:cNvPr id="12" name="match-hex"/>
          <p:cNvSpPr/>
          <p:nvPr/>
        </p:nvSpPr>
        <p:spPr>
          <a:xfrm>
            <a:off x="850392" y="3258897"/>
            <a:ext cx="384048" cy="332586"/>
          </a:xfrm>
          <a:prstGeom prst="hexagon">
            <a:avLst/>
          </a:prstGeom>
          <a:solidFill>
            <a:srgbClr val="7A4A1E"/>
          </a:solidFill>
          <a:ln/>
        </p:spPr>
      </p:sp>
      <p:sp>
        <p:nvSpPr>
          <p:cNvPr id="13" name="match-hex-label"/>
          <p:cNvSpPr txBox="1"/>
          <p:nvPr/>
        </p:nvSpPr>
        <p:spPr>
          <a:xfrm>
            <a:off x="850392"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4" name="match-text"/>
          <p:cNvSpPr txBox="1"/>
          <p:nvPr/>
        </p:nvSpPr>
        <p:spPr>
          <a:xfrm>
            <a:off x="1298448" y="2672080"/>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I know that the French at Verdun were close to collapse and demanded help</a:t>
            </a:r>
            <a:endParaRPr lang="en-US" sz="2200" dirty="0"/>
          </a:p>
        </p:txBody>
      </p:sp>
      <p:sp>
        <p:nvSpPr>
          <p:cNvPr id="15" name="match-card"/>
          <p:cNvSpPr/>
          <p:nvPr/>
        </p:nvSpPr>
        <p:spPr>
          <a:xfrm>
            <a:off x="6278728" y="2672080"/>
            <a:ext cx="5135728" cy="1506220"/>
          </a:xfrm>
          <a:prstGeom prst="roundRect">
            <a:avLst>
              <a:gd name="adj" fmla="val 4857"/>
            </a:avLst>
          </a:prstGeom>
          <a:solidFill>
            <a:srgbClr val="F8F2E9"/>
          </a:solidFill>
          <a:ln/>
        </p:spPr>
      </p:sp>
      <p:sp>
        <p:nvSpPr>
          <p:cNvPr id="16" name="match-hex"/>
          <p:cNvSpPr/>
          <p:nvPr/>
        </p:nvSpPr>
        <p:spPr>
          <a:xfrm>
            <a:off x="6351880" y="3258897"/>
            <a:ext cx="384048" cy="332586"/>
          </a:xfrm>
          <a:prstGeom prst="hexagon">
            <a:avLst/>
          </a:prstGeom>
          <a:solidFill>
            <a:srgbClr val="B8862B"/>
          </a:solidFill>
          <a:ln/>
        </p:spPr>
      </p:sp>
      <p:sp>
        <p:nvSpPr>
          <p:cNvPr id="17" name="match-hex-label"/>
          <p:cNvSpPr txBox="1"/>
          <p:nvPr/>
        </p:nvSpPr>
        <p:spPr>
          <a:xfrm>
            <a:off x="6351880" y="325889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A</a:t>
            </a:r>
            <a:endParaRPr lang="en-US" sz="1800" dirty="0"/>
          </a:p>
        </p:txBody>
      </p:sp>
      <p:sp>
        <p:nvSpPr>
          <p:cNvPr id="18" name="match-text"/>
          <p:cNvSpPr txBox="1"/>
          <p:nvPr/>
        </p:nvSpPr>
        <p:spPr>
          <a:xfrm>
            <a:off x="6799936" y="2672080"/>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Explain how this shows Haig positively or negatively</a:t>
            </a:r>
            <a:endParaRPr lang="en-US" sz="2200" dirty="0"/>
          </a:p>
        </p:txBody>
      </p:sp>
      <p:sp>
        <p:nvSpPr>
          <p:cNvPr id="19" name="match-card"/>
          <p:cNvSpPr/>
          <p:nvPr/>
        </p:nvSpPr>
        <p:spPr>
          <a:xfrm>
            <a:off x="777240" y="4269740"/>
            <a:ext cx="5135728" cy="1506220"/>
          </a:xfrm>
          <a:prstGeom prst="roundRect">
            <a:avLst>
              <a:gd name="adj" fmla="val 4857"/>
            </a:avLst>
          </a:prstGeom>
          <a:solidFill>
            <a:srgbClr val="F6F3F0"/>
          </a:solidFill>
          <a:ln/>
        </p:spPr>
      </p:sp>
      <p:sp>
        <p:nvSpPr>
          <p:cNvPr id="20" name="match-hex"/>
          <p:cNvSpPr/>
          <p:nvPr/>
        </p:nvSpPr>
        <p:spPr>
          <a:xfrm>
            <a:off x="850392" y="4856557"/>
            <a:ext cx="384048" cy="332586"/>
          </a:xfrm>
          <a:prstGeom prst="hexagon">
            <a:avLst/>
          </a:prstGeom>
          <a:solidFill>
            <a:srgbClr val="7A4A1E"/>
          </a:solidFill>
          <a:ln/>
        </p:spPr>
      </p:sp>
      <p:sp>
        <p:nvSpPr>
          <p:cNvPr id="21" name="match-hex-label"/>
          <p:cNvSpPr txBox="1"/>
          <p:nvPr/>
        </p:nvSpPr>
        <p:spPr>
          <a:xfrm>
            <a:off x="850392"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2" name="match-text"/>
          <p:cNvSpPr txBox="1"/>
          <p:nvPr/>
        </p:nvSpPr>
        <p:spPr>
          <a:xfrm>
            <a:off x="1298448" y="4269740"/>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This shows Haig in a more positive light, because many of his choices were made for him</a:t>
            </a:r>
            <a:endParaRPr lang="en-US" sz="2200" dirty="0"/>
          </a:p>
        </p:txBody>
      </p:sp>
      <p:sp>
        <p:nvSpPr>
          <p:cNvPr id="23" name="match-card"/>
          <p:cNvSpPr/>
          <p:nvPr/>
        </p:nvSpPr>
        <p:spPr>
          <a:xfrm>
            <a:off x="6278728" y="4269740"/>
            <a:ext cx="5135728" cy="1506220"/>
          </a:xfrm>
          <a:prstGeom prst="roundRect">
            <a:avLst>
              <a:gd name="adj" fmla="val 4857"/>
            </a:avLst>
          </a:prstGeom>
          <a:solidFill>
            <a:srgbClr val="F8F2E9"/>
          </a:solidFill>
          <a:ln/>
        </p:spPr>
      </p:sp>
      <p:sp>
        <p:nvSpPr>
          <p:cNvPr id="24" name="match-hex"/>
          <p:cNvSpPr/>
          <p:nvPr/>
        </p:nvSpPr>
        <p:spPr>
          <a:xfrm>
            <a:off x="6351880" y="4856557"/>
            <a:ext cx="384048" cy="332586"/>
          </a:xfrm>
          <a:prstGeom prst="hexagon">
            <a:avLst/>
          </a:prstGeom>
          <a:solidFill>
            <a:srgbClr val="B8862B"/>
          </a:solidFill>
          <a:ln/>
        </p:spPr>
      </p:sp>
      <p:sp>
        <p:nvSpPr>
          <p:cNvPr id="25" name="match-hex-label"/>
          <p:cNvSpPr txBox="1"/>
          <p:nvPr/>
        </p:nvSpPr>
        <p:spPr>
          <a:xfrm>
            <a:off x="6351880" y="4856557"/>
            <a:ext cx="384048" cy="332586"/>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B</a:t>
            </a:r>
            <a:endParaRPr lang="en-US" sz="1800" dirty="0"/>
          </a:p>
        </p:txBody>
      </p:sp>
      <p:sp>
        <p:nvSpPr>
          <p:cNvPr id="26" name="match-text"/>
          <p:cNvSpPr txBox="1"/>
          <p:nvPr/>
        </p:nvSpPr>
        <p:spPr>
          <a:xfrm>
            <a:off x="6799936" y="4269740"/>
            <a:ext cx="4541368" cy="1506220"/>
          </a:xfrm>
          <a:prstGeom prst="rect">
            <a:avLst/>
          </a:prstGeom>
          <a:noFill/>
          <a:ln/>
        </p:spPr>
        <p:txBody>
          <a:bodyPr wrap="square" lIns="63500" tIns="63500" rIns="63500" bIns="63500" rtlCol="0" anchor="ctr"/>
          <a:lstStyle/>
          <a:p>
            <a:pPr algn="l" indent="0" marL="0">
              <a:buNone/>
            </a:pPr>
            <a:r>
              <a:rPr lang="en-US" sz="2200" dirty="0">
                <a:solidFill>
                  <a:srgbClr val="1E2229"/>
                </a:solidFill>
                <a:latin typeface="Calibri" pitchFamily="34" charset="0"/>
                <a:ea typeface="Calibri" pitchFamily="34" charset="-122"/>
                <a:cs typeface="Calibri" pitchFamily="34" charset="-120"/>
              </a:rPr>
              <a:t>Give an example from your own knowledge</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2600" b="1" dirty="0">
                <a:solidFill>
                  <a:srgbClr val="7A4A1E"/>
                </a:solidFill>
                <a:latin typeface="Cambria" pitchFamily="34" charset="0"/>
                <a:ea typeface="Cambria" pitchFamily="34" charset="-122"/>
                <a:cs typeface="Cambria" pitchFamily="34" charset="-120"/>
              </a:rPr>
              <a:t>Same task, three ways in: Which success criterion is this?</a:t>
            </a:r>
            <a:endParaRPr lang="en-US" sz="26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3</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Routes</a:t>
            </a:r>
            <a:endParaRPr lang="en-US" sz="1800" dirty="0"/>
          </a:p>
        </p:txBody>
      </p:sp>
      <p:sp>
        <p:nvSpPr>
          <p:cNvPr id="7" name="task-box"/>
          <p:cNvSpPr/>
          <p:nvPr/>
        </p:nvSpPr>
        <p:spPr>
          <a:xfrm>
            <a:off x="548640" y="1389888"/>
            <a:ext cx="11094415" cy="731520"/>
          </a:xfrm>
          <a:prstGeom prst="roundRect">
            <a:avLst>
              <a:gd name="adj" fmla="val 12500"/>
            </a:avLst>
          </a:prstGeom>
          <a:solidFill>
            <a:srgbClr val="FFFFFF"/>
          </a:solidFill>
          <a:ln w="31750">
            <a:solidFill>
              <a:srgbClr val="B8862B"/>
            </a:solidFill>
            <a:prstDash val="solid"/>
          </a:ln>
        </p:spPr>
      </p:sp>
      <p:sp>
        <p:nvSpPr>
          <p:cNvPr id="8" name="task-hex"/>
          <p:cNvSpPr/>
          <p:nvPr/>
        </p:nvSpPr>
        <p:spPr>
          <a:xfrm>
            <a:off x="777240" y="1438900"/>
            <a:ext cx="731520" cy="633496"/>
          </a:xfrm>
          <a:prstGeom prst="hexagon">
            <a:avLst/>
          </a:prstGeom>
          <a:solidFill>
            <a:srgbClr val="B8862B"/>
          </a:solidFill>
          <a:ln/>
        </p:spPr>
      </p:sp>
      <p:sp>
        <p:nvSpPr>
          <p:cNvPr id="9" name="task-hex-label"/>
          <p:cNvSpPr txBox="1"/>
          <p:nvPr/>
        </p:nvSpPr>
        <p:spPr>
          <a:xfrm>
            <a:off x="777240" y="1438900"/>
            <a:ext cx="731520" cy="633496"/>
          </a:xfrm>
          <a:prstGeom prst="rect">
            <a:avLst/>
          </a:prstGeom>
          <a:noFill/>
          <a:ln/>
        </p:spPr>
        <p:txBody>
          <a:bodyPr wrap="square" lIns="0" tIns="0" rIns="0" bIns="0" rtlCol="0" anchor="ctr"/>
          <a:lstStyle/>
          <a:p>
            <a:pPr algn="ctr" indent="0" marL="0">
              <a:buNone/>
            </a:pPr>
            <a:r>
              <a:rPr lang="en-US" sz="2400" b="1" dirty="0">
                <a:solidFill>
                  <a:srgbClr val="FFFFFF"/>
                </a:solidFill>
                <a:latin typeface="Cambria" pitchFamily="34" charset="0"/>
                <a:ea typeface="Cambria" pitchFamily="34" charset="-122"/>
                <a:cs typeface="Cambria" pitchFamily="34" charset="-120"/>
              </a:rPr>
              <a:t>2</a:t>
            </a:r>
            <a:endParaRPr lang="en-US" sz="2400" dirty="0"/>
          </a:p>
        </p:txBody>
      </p:sp>
      <p:sp>
        <p:nvSpPr>
          <p:cNvPr id="10" name="task-everyone"/>
          <p:cNvSpPr txBox="1"/>
          <p:nvPr/>
        </p:nvSpPr>
        <p:spPr>
          <a:xfrm>
            <a:off x="10362895" y="1481328"/>
            <a:ext cx="1188720" cy="548640"/>
          </a:xfrm>
          <a:prstGeom prst="rect">
            <a:avLst/>
          </a:prstGeom>
          <a:noFill/>
          <a:ln/>
        </p:spPr>
        <p:txBody>
          <a:bodyPr wrap="square" lIns="63500" tIns="63500" rIns="63500" bIns="63500" rtlCol="0" anchor="ctr"/>
          <a:lstStyle/>
          <a:p>
            <a:pPr algn="ctr" indent="0" marL="0">
              <a:buNone/>
            </a:pPr>
            <a:r>
              <a:rPr lang="en-US" sz="1800" b="1" dirty="0">
                <a:solidFill>
                  <a:srgbClr val="815E1E"/>
                </a:solidFill>
                <a:latin typeface="Calibri" pitchFamily="34" charset="0"/>
                <a:ea typeface="Calibri" pitchFamily="34" charset="-122"/>
                <a:cs typeface="Calibri" pitchFamily="34" charset="-120"/>
              </a:rPr>
              <a:t>Everyone</a:t>
            </a:r>
            <a:endParaRPr lang="en-US" sz="1800" dirty="0"/>
          </a:p>
        </p:txBody>
      </p:sp>
      <p:sp>
        <p:nvSpPr>
          <p:cNvPr id="11" name="task"/>
          <p:cNvSpPr txBox="1"/>
          <p:nvPr/>
        </p:nvSpPr>
        <p:spPr>
          <a:xfrm>
            <a:off x="1645920" y="1481328"/>
            <a:ext cx="8579815" cy="548640"/>
          </a:xfrm>
          <a:prstGeom prst="rect">
            <a:avLst/>
          </a:prstGeom>
          <a:noFill/>
          <a:ln/>
        </p:spPr>
        <p:txBody>
          <a:bodyPr wrap="square" lIns="63500" tIns="63500" rIns="63500" bIns="63500" rtlCol="0" anchor="ctr"/>
          <a:lstStyle/>
          <a:p>
            <a:pPr algn="ctr" indent="0" marL="0">
              <a:buNone/>
            </a:pPr>
            <a:r>
              <a:rPr lang="en-US" sz="2000" b="1" dirty="0">
                <a:solidFill>
                  <a:srgbClr val="1E2229"/>
                </a:solidFill>
                <a:latin typeface="Calibri" pitchFamily="34" charset="0"/>
                <a:ea typeface="Calibri" pitchFamily="34" charset="-122"/>
                <a:cs typeface="Calibri" pitchFamily="34" charset="-120"/>
              </a:rPr>
              <a:t>Task 2 (on the last slide): Which success criterion is this?</a:t>
            </a:r>
            <a:endParaRPr lang="en-US" sz="2000" dirty="0"/>
          </a:p>
        </p:txBody>
      </p:sp>
      <p:sp>
        <p:nvSpPr>
          <p:cNvPr id="12" name="col-Support"/>
          <p:cNvSpPr/>
          <p:nvPr/>
        </p:nvSpPr>
        <p:spPr>
          <a:xfrm>
            <a:off x="548640" y="2395728"/>
            <a:ext cx="4667802" cy="3749040"/>
          </a:xfrm>
          <a:prstGeom prst="roundRect">
            <a:avLst>
              <a:gd name="adj" fmla="val 1463"/>
            </a:avLst>
          </a:prstGeom>
          <a:solidFill>
            <a:srgbClr val="F4F0EC"/>
          </a:solidFill>
          <a:ln/>
        </p:spPr>
      </p:sp>
      <p:sp>
        <p:nvSpPr>
          <p:cNvPr id="13" name="col-hex"/>
          <p:cNvSpPr/>
          <p:nvPr/>
        </p:nvSpPr>
        <p:spPr>
          <a:xfrm>
            <a:off x="658368" y="2468880"/>
            <a:ext cx="475488" cy="411773"/>
          </a:xfrm>
          <a:prstGeom prst="hexagon">
            <a:avLst/>
          </a:prstGeom>
          <a:solidFill>
            <a:srgbClr val="B8862B"/>
          </a:solidFill>
          <a:ln w="12700">
            <a:solidFill>
              <a:srgbClr val="FFFFFF"/>
            </a:solidFill>
            <a:prstDash val="solid"/>
          </a:ln>
        </p:spPr>
      </p:sp>
      <p:sp>
        <p:nvSpPr>
          <p:cNvPr id="14" name="col-hex-label"/>
          <p:cNvSpPr txBox="1"/>
          <p:nvPr/>
        </p:nvSpPr>
        <p:spPr>
          <a:xfrm>
            <a:off x="658368"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1</a:t>
            </a:r>
            <a:endParaRPr lang="en-US" sz="1800" dirty="0"/>
          </a:p>
        </p:txBody>
      </p:sp>
      <p:sp>
        <p:nvSpPr>
          <p:cNvPr id="15" name="col-head"/>
          <p:cNvSpPr txBox="1"/>
          <p:nvPr/>
        </p:nvSpPr>
        <p:spPr>
          <a:xfrm>
            <a:off x="1188720" y="2432304"/>
            <a:ext cx="3936282"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Support</a:t>
            </a:r>
            <a:endParaRPr lang="en-US" sz="2000" dirty="0"/>
          </a:p>
        </p:txBody>
      </p:sp>
      <p:sp>
        <p:nvSpPr>
          <p:cNvPr id="16" name="col-body"/>
          <p:cNvSpPr txBox="1"/>
          <p:nvPr/>
        </p:nvSpPr>
        <p:spPr>
          <a:xfrm>
            <a:off x="685800" y="3035808"/>
            <a:ext cx="4393482" cy="2999232"/>
          </a:xfrm>
          <a:prstGeom prst="rect">
            <a:avLst/>
          </a:prstGeom>
          <a:noFill/>
          <a:ln/>
        </p:spPr>
        <p:txBody>
          <a:bodyPr wrap="square" lIns="63500" tIns="63500" rIns="63500" bIns="63500" rtlCol="0" anchor="t"/>
          <a:lstStyle/>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1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Look for the signal words at the start of each sentence.</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2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historian argues tells you the sentence is about the historian's opinion.</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3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I know that tells you the sentence is own knowledge; I partly agree tells you it is your view.</a:t>
            </a:r>
            <a:endParaRPr lang="en-US" sz="1800" dirty="0"/>
          </a:p>
          <a:p>
            <a:pPr algn="l" indent="0" marL="0">
              <a:spcAft>
                <a:spcPts val="600"/>
              </a:spcAft>
              <a:buNone/>
            </a:pPr>
            <a:r>
              <a:rPr lang="en-US" sz="1800" b="1" dirty="0">
                <a:solidFill>
                  <a:srgbClr val="7A4A1E"/>
                </a:solidFill>
                <a:latin typeface="Calibri" pitchFamily="34" charset="0"/>
                <a:ea typeface="Calibri" pitchFamily="34" charset="-122"/>
                <a:cs typeface="Calibri" pitchFamily="34" charset="-120"/>
              </a:rPr>
              <a:t>4  </a:t>
            </a:r>
            <a:pPr algn="l" indent="0" marL="0">
              <a:spcAft>
                <a:spcPts val="600"/>
              </a:spcAft>
              <a:buNone/>
            </a:pPr>
            <a:r>
              <a:rPr lang="en-US" sz="1800" dirty="0">
                <a:solidFill>
                  <a:srgbClr val="1E2229"/>
                </a:solidFill>
                <a:latin typeface="Calibri" pitchFamily="34" charset="0"/>
                <a:ea typeface="Calibri" pitchFamily="34" charset="-122"/>
                <a:cs typeface="Calibri" pitchFamily="34" charset="-120"/>
              </a:rPr>
              <a:t>The sentence that begins This shows is the explanation, and it always comes last.</a:t>
            </a:r>
            <a:endParaRPr lang="en-US" sz="1800" dirty="0"/>
          </a:p>
        </p:txBody>
      </p:sp>
      <p:sp>
        <p:nvSpPr>
          <p:cNvPr id="17" name="col-Core"/>
          <p:cNvSpPr/>
          <p:nvPr/>
        </p:nvSpPr>
        <p:spPr>
          <a:xfrm>
            <a:off x="5490762" y="2395728"/>
            <a:ext cx="2938987" cy="3749040"/>
          </a:xfrm>
          <a:prstGeom prst="roundRect">
            <a:avLst>
              <a:gd name="adj" fmla="val 1867"/>
            </a:avLst>
          </a:prstGeom>
          <a:solidFill>
            <a:srgbClr val="E4DAD1"/>
          </a:solidFill>
          <a:ln/>
        </p:spPr>
      </p:sp>
      <p:sp>
        <p:nvSpPr>
          <p:cNvPr id="18" name="col-hex"/>
          <p:cNvSpPr/>
          <p:nvPr/>
        </p:nvSpPr>
        <p:spPr>
          <a:xfrm>
            <a:off x="5600490" y="2468880"/>
            <a:ext cx="475488" cy="411773"/>
          </a:xfrm>
          <a:prstGeom prst="hexagon">
            <a:avLst/>
          </a:prstGeom>
          <a:solidFill>
            <a:srgbClr val="B8862B"/>
          </a:solidFill>
          <a:ln w="12700">
            <a:solidFill>
              <a:srgbClr val="FFFFFF"/>
            </a:solidFill>
            <a:prstDash val="solid"/>
          </a:ln>
        </p:spPr>
      </p:sp>
      <p:sp>
        <p:nvSpPr>
          <p:cNvPr id="19" name="col-hex-label"/>
          <p:cNvSpPr txBox="1"/>
          <p:nvPr/>
        </p:nvSpPr>
        <p:spPr>
          <a:xfrm>
            <a:off x="5600490"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2</a:t>
            </a:r>
            <a:endParaRPr lang="en-US" sz="1800" dirty="0"/>
          </a:p>
        </p:txBody>
      </p:sp>
      <p:sp>
        <p:nvSpPr>
          <p:cNvPr id="20" name="col-head"/>
          <p:cNvSpPr txBox="1"/>
          <p:nvPr/>
        </p:nvSpPr>
        <p:spPr>
          <a:xfrm>
            <a:off x="6130842"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553415"/>
                </a:solidFill>
                <a:latin typeface="Calibri" pitchFamily="34" charset="0"/>
                <a:ea typeface="Calibri" pitchFamily="34" charset="-122"/>
                <a:cs typeface="Calibri" pitchFamily="34" charset="-120"/>
              </a:rPr>
              <a:t>Core</a:t>
            </a:r>
            <a:endParaRPr lang="en-US" sz="2000" dirty="0"/>
          </a:p>
        </p:txBody>
      </p:sp>
      <p:sp>
        <p:nvSpPr>
          <p:cNvPr id="21" name="col-body"/>
          <p:cNvSpPr txBox="1"/>
          <p:nvPr/>
        </p:nvSpPr>
        <p:spPr>
          <a:xfrm>
            <a:off x="5627922"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623B18"/>
                </a:solidFill>
                <a:latin typeface="Calibri" pitchFamily="34" charset="0"/>
                <a:ea typeface="Calibri" pitchFamily="34" charset="-122"/>
                <a:cs typeface="Calibri" pitchFamily="34" charset="-120"/>
              </a:rPr>
              <a:t>Hint:  </a:t>
            </a:r>
            <a:pPr algn="l" indent="0" marL="0">
              <a:buNone/>
            </a:pPr>
            <a:r>
              <a:rPr lang="en-US" sz="1800" dirty="0">
                <a:solidFill>
                  <a:srgbClr val="1E2229"/>
                </a:solidFill>
                <a:latin typeface="Calibri" pitchFamily="34" charset="0"/>
                <a:ea typeface="Calibri" pitchFamily="34" charset="-122"/>
                <a:cs typeface="Calibri" pitchFamily="34" charset="-120"/>
              </a:rPr>
              <a:t>The signal words do the work: the historian argues, the interpretation points to, I partly agree, I know that, this shows.</a:t>
            </a:r>
            <a:endParaRPr lang="en-US" sz="1800" dirty="0"/>
          </a:p>
        </p:txBody>
      </p:sp>
      <p:sp>
        <p:nvSpPr>
          <p:cNvPr id="22" name="col-Stretch"/>
          <p:cNvSpPr/>
          <p:nvPr/>
        </p:nvSpPr>
        <p:spPr>
          <a:xfrm>
            <a:off x="8704069" y="2395728"/>
            <a:ext cx="2938987" cy="3749040"/>
          </a:xfrm>
          <a:prstGeom prst="roundRect">
            <a:avLst>
              <a:gd name="adj" fmla="val 1867"/>
            </a:avLst>
          </a:prstGeom>
          <a:solidFill>
            <a:srgbClr val="7A4A1E"/>
          </a:solidFill>
          <a:ln/>
        </p:spPr>
      </p:sp>
      <p:sp>
        <p:nvSpPr>
          <p:cNvPr id="23" name="col-hex"/>
          <p:cNvSpPr/>
          <p:nvPr/>
        </p:nvSpPr>
        <p:spPr>
          <a:xfrm>
            <a:off x="8813797" y="2468880"/>
            <a:ext cx="475488" cy="411773"/>
          </a:xfrm>
          <a:prstGeom prst="hexagon">
            <a:avLst/>
          </a:prstGeom>
          <a:solidFill>
            <a:srgbClr val="B8862B"/>
          </a:solidFill>
          <a:ln w="12700">
            <a:solidFill>
              <a:srgbClr val="FFFFFF"/>
            </a:solidFill>
            <a:prstDash val="solid"/>
          </a:ln>
        </p:spPr>
      </p:sp>
      <p:sp>
        <p:nvSpPr>
          <p:cNvPr id="24" name="col-hex-label"/>
          <p:cNvSpPr txBox="1"/>
          <p:nvPr/>
        </p:nvSpPr>
        <p:spPr>
          <a:xfrm>
            <a:off x="8813797" y="2468880"/>
            <a:ext cx="475488" cy="41177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3</a:t>
            </a:r>
            <a:endParaRPr lang="en-US" sz="1800" dirty="0"/>
          </a:p>
        </p:txBody>
      </p:sp>
      <p:sp>
        <p:nvSpPr>
          <p:cNvPr id="25" name="col-head"/>
          <p:cNvSpPr txBox="1"/>
          <p:nvPr/>
        </p:nvSpPr>
        <p:spPr>
          <a:xfrm>
            <a:off x="9344149" y="2432304"/>
            <a:ext cx="2207467" cy="566928"/>
          </a:xfrm>
          <a:prstGeom prst="rect">
            <a:avLst/>
          </a:prstGeom>
          <a:noFill/>
          <a:ln/>
        </p:spPr>
        <p:txBody>
          <a:bodyPr wrap="square" lIns="63500" tIns="63500" rIns="63500" bIns="63500" rtlCol="0" anchor="ctr"/>
          <a:lstStyle/>
          <a:p>
            <a:pPr algn="l" indent="0" marL="0">
              <a:buNone/>
            </a:pPr>
            <a:r>
              <a:rPr lang="en-US" sz="2000" b="1" dirty="0">
                <a:solidFill>
                  <a:srgbClr val="FFFFFF"/>
                </a:solidFill>
                <a:latin typeface="Calibri" pitchFamily="34" charset="0"/>
                <a:ea typeface="Calibri" pitchFamily="34" charset="-122"/>
                <a:cs typeface="Calibri" pitchFamily="34" charset="-120"/>
              </a:rPr>
              <a:t>Stretch</a:t>
            </a:r>
            <a:endParaRPr lang="en-US" sz="2000" dirty="0"/>
          </a:p>
        </p:txBody>
      </p:sp>
      <p:sp>
        <p:nvSpPr>
          <p:cNvPr id="26" name="col-body"/>
          <p:cNvSpPr txBox="1"/>
          <p:nvPr/>
        </p:nvSpPr>
        <p:spPr>
          <a:xfrm>
            <a:off x="8841229" y="3035808"/>
            <a:ext cx="2664667" cy="2999232"/>
          </a:xfrm>
          <a:prstGeom prst="rect">
            <a:avLst/>
          </a:prstGeom>
          <a:noFill/>
          <a:ln/>
        </p:spPr>
        <p:txBody>
          <a:bodyPr wrap="square" lIns="63500" tIns="63500" rIns="63500" bIns="63500" rtlCol="0" anchor="t"/>
          <a:lstStyle/>
          <a:p>
            <a:pPr algn="l" indent="0" marL="0">
              <a:buNone/>
            </a:pPr>
            <a:r>
              <a:rPr lang="en-US" sz="1800" b="1" dirty="0">
                <a:solidFill>
                  <a:srgbClr val="D4B680"/>
                </a:solidFill>
                <a:latin typeface="Calibri" pitchFamily="34" charset="0"/>
                <a:ea typeface="Calibri" pitchFamily="34" charset="-122"/>
                <a:cs typeface="Calibri" pitchFamily="34" charset="-120"/>
              </a:rPr>
              <a:t>Then:  </a:t>
            </a:r>
            <a:pPr algn="l" indent="0" marL="0">
              <a:buNone/>
            </a:pPr>
            <a:r>
              <a:rPr lang="en-US" sz="1800" dirty="0">
                <a:solidFill>
                  <a:srgbClr val="FFFFFF"/>
                </a:solidFill>
                <a:latin typeface="Calibri" pitchFamily="34" charset="0"/>
                <a:ea typeface="Calibri" pitchFamily="34" charset="-122"/>
                <a:cs typeface="Calibri" pitchFamily="34" charset="-120"/>
              </a:rPr>
              <a:t>Write one more sentence for each of the five criteria, this time arguing the opposite case about Haig.</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Exit ticket</a:t>
            </a:r>
            <a:endParaRPr lang="en-US" sz="3200" dirty="0"/>
          </a:p>
        </p:txBody>
      </p:sp>
      <p:sp>
        <p:nvSpPr>
          <p:cNvPr id="4" name="chip-hex"/>
          <p:cNvSpPr/>
          <p:nvPr/>
        </p:nvSpPr>
        <p:spPr>
          <a:xfrm>
            <a:off x="9677095" y="531760"/>
            <a:ext cx="566928" cy="490960"/>
          </a:xfrm>
          <a:prstGeom prst="hexagon">
            <a:avLst/>
          </a:prstGeom>
          <a:solidFill>
            <a:srgbClr val="B8862B"/>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8A6520"/>
                </a:solidFill>
                <a:latin typeface="Calibri" pitchFamily="34" charset="0"/>
                <a:ea typeface="Calibri" pitchFamily="34" charset="-122"/>
                <a:cs typeface="Calibri" pitchFamily="34" charset="-120"/>
              </a:rPr>
              <a:t>Exit</a:t>
            </a:r>
            <a:endParaRPr lang="en-US" sz="1800" dirty="0"/>
          </a:p>
        </p:txBody>
      </p:sp>
      <p:sp>
        <p:nvSpPr>
          <p:cNvPr id="7" name="exit-card"/>
          <p:cNvSpPr/>
          <p:nvPr/>
        </p:nvSpPr>
        <p:spPr>
          <a:xfrm>
            <a:off x="1645920" y="1389888"/>
            <a:ext cx="8899855" cy="4754880"/>
          </a:xfrm>
          <a:prstGeom prst="roundRect">
            <a:avLst>
              <a:gd name="adj" fmla="val 962"/>
            </a:avLst>
          </a:prstGeom>
          <a:solidFill>
            <a:srgbClr val="FFFFFF"/>
          </a:solidFill>
          <a:ln w="31750">
            <a:solidFill>
              <a:srgbClr val="7A4A1E"/>
            </a:solidFill>
            <a:prstDash val="solid"/>
          </a:ln>
          <a:effectLst>
            <a:outerShdw sx="100000" sy="100000" kx="0" ky="0" algn="bl" rotWithShape="0" blurRad="76200" dist="25400" dir="5400000">
              <a:srgbClr val="000000">
                <a:alpha val="12000"/>
              </a:srgbClr>
            </a:outerShdw>
          </a:effectLst>
        </p:spPr>
      </p:sp>
      <p:sp>
        <p:nvSpPr>
          <p:cNvPr id="8" name="exit-hex"/>
          <p:cNvSpPr/>
          <p:nvPr/>
        </p:nvSpPr>
        <p:spPr>
          <a:xfrm>
            <a:off x="1143000" y="1618488"/>
            <a:ext cx="1005840" cy="871057"/>
          </a:xfrm>
          <a:prstGeom prst="hexagon">
            <a:avLst/>
          </a:prstGeom>
          <a:solidFill>
            <a:srgbClr val="7A4A1E"/>
          </a:solidFill>
          <a:ln w="25400">
            <a:solidFill>
              <a:srgbClr val="B8862B"/>
            </a:solidFill>
            <a:prstDash val="solid"/>
          </a:ln>
        </p:spPr>
      </p:sp>
      <p:sp>
        <p:nvSpPr>
          <p:cNvPr id="9" name="exit-hex-label"/>
          <p:cNvSpPr txBox="1"/>
          <p:nvPr/>
        </p:nvSpPr>
        <p:spPr>
          <a:xfrm>
            <a:off x="1143000" y="1618488"/>
            <a:ext cx="1005840" cy="871057"/>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Exit</a:t>
            </a:r>
            <a:endParaRPr lang="en-US" sz="2000" dirty="0"/>
          </a:p>
        </p:txBody>
      </p:sp>
      <p:sp>
        <p:nvSpPr>
          <p:cNvPr id="10" name="exit-q"/>
          <p:cNvSpPr txBox="1"/>
          <p:nvPr/>
        </p:nvSpPr>
        <p:spPr>
          <a:xfrm>
            <a:off x="2286000" y="1664208"/>
            <a:ext cx="7802575" cy="2584196"/>
          </a:xfrm>
          <a:prstGeom prst="rect">
            <a:avLst/>
          </a:prstGeom>
          <a:noFill/>
          <a:ln/>
        </p:spPr>
        <p:txBody>
          <a:bodyPr wrap="square" lIns="63500" tIns="63500" rIns="63500" bIns="63500" rtlCol="0" anchor="t"/>
          <a:lstStyle/>
          <a:p>
            <a:pPr algn="l" indent="0" marL="0">
              <a:spcAft>
                <a:spcPts val="1200"/>
              </a:spcAft>
              <a:buNone/>
            </a:pPr>
            <a:r>
              <a:rPr lang="en-US" sz="2400" b="1" dirty="0">
                <a:solidFill>
                  <a:srgbClr val="1E2229"/>
                </a:solidFill>
                <a:latin typeface="Calibri" pitchFamily="34" charset="0"/>
                <a:ea typeface="Calibri" pitchFamily="34" charset="-122"/>
                <a:cs typeface="Calibri" pitchFamily="34" charset="-120"/>
              </a:rPr>
              <a:t>What is a historical interpretation?</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A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list of events in the order they happened</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B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judgement a historian forms about the past, using evidence</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C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Something left behind from the time, such as a letter or a photograph</a:t>
            </a:r>
            <a:endParaRPr lang="en-US" sz="2400" dirty="0"/>
          </a:p>
          <a:p>
            <a:pPr algn="l" indent="0" marL="0">
              <a:spcAft>
                <a:spcPts val="600"/>
              </a:spcAft>
              <a:buNone/>
            </a:pPr>
            <a:r>
              <a:rPr lang="en-US" sz="2200" b="1" dirty="0">
                <a:solidFill>
                  <a:srgbClr val="B8862B"/>
                </a:solidFill>
                <a:latin typeface="Calibri" pitchFamily="34" charset="0"/>
                <a:ea typeface="Calibri" pitchFamily="34" charset="-122"/>
                <a:cs typeface="Calibri" pitchFamily="34" charset="-120"/>
              </a:rPr>
              <a:t>D   </a:t>
            </a:r>
            <a:pPr algn="l" indent="0" marL="0">
              <a:spcAft>
                <a:spcPts val="600"/>
              </a:spcAft>
              <a:buNone/>
            </a:pPr>
            <a:r>
              <a:rPr lang="en-US" sz="2200" dirty="0">
                <a:solidFill>
                  <a:srgbClr val="1E2229"/>
                </a:solidFill>
                <a:latin typeface="Calibri" pitchFamily="34" charset="0"/>
                <a:ea typeface="Calibri" pitchFamily="34" charset="-122"/>
                <a:cs typeface="Calibri" pitchFamily="34" charset="-120"/>
              </a:rPr>
              <a:t>A rule for how to set out a paragraph</a:t>
            </a:r>
            <a:endParaRPr lang="en-US" sz="2400" dirty="0"/>
          </a:p>
        </p:txBody>
      </p:sp>
      <p:sp>
        <p:nvSpPr>
          <p:cNvPr id="11" name="exit-answer-box"/>
          <p:cNvSpPr/>
          <p:nvPr/>
        </p:nvSpPr>
        <p:spPr>
          <a:xfrm>
            <a:off x="2286000" y="5047488"/>
            <a:ext cx="7619695" cy="822960"/>
          </a:xfrm>
          <a:prstGeom prst="roundRect">
            <a:avLst>
              <a:gd name="adj" fmla="val 11111"/>
            </a:avLst>
          </a:prstGeom>
          <a:solidFill>
            <a:srgbClr val="F8F5F3"/>
          </a:solidFill>
          <a:ln w="12700">
            <a:solidFill>
              <a:srgbClr val="BEA792"/>
            </a:solidFill>
            <a:prstDash val="solid"/>
          </a:ln>
        </p:spPr>
      </p:sp>
      <p:sp>
        <p:nvSpPr>
          <p:cNvPr id="12" name="exit-answer-label"/>
          <p:cNvSpPr txBox="1"/>
          <p:nvPr/>
        </p:nvSpPr>
        <p:spPr>
          <a:xfrm>
            <a:off x="2423160" y="5047488"/>
            <a:ext cx="2926080" cy="822960"/>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My answer:</a:t>
            </a:r>
            <a:endParaRPr lang="en-US" sz="18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The battle in five events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 1916 the Allies plan a major attack to wear the German army down, as part of their war of attrition  (A)</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In February 1916 the Germans attack the French at Verdun, and the French demand British help  (D)</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On 1 July 1916 the British attack begins, and the first day is a disaster  (C)</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Through the months that follow, the British gain experience and try out new technology such as the tank  (E)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By November 1916 the battle is over, about 7 miles of ground has been taken and the French have been saved at Verdun  (B)</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200" dirty="0">
                <a:solidFill>
                  <a:srgbClr val="1E2229"/>
                </a:solidFill>
                <a:latin typeface="Calibri" pitchFamily="34" charset="0"/>
                <a:ea typeface="Calibri" pitchFamily="34" charset="-122"/>
                <a:cs typeface="Calibri" pitchFamily="34" charset="-120"/>
              </a:rPr>
              <a:t>The Allies planned the attack; the Germans struck at Verdun in February 1916 and the French demanded help; the British attacked on 1 July 1916; the battle ground on through the autumn; and it ended in November 1916 with about 7 miles gained and Verdun relieved.</a:t>
            </a:r>
            <a:endParaRPr lang="en-US" sz="22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Which success criterion is this?</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713232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6675120" cy="3840480"/>
          </a:xfrm>
          <a:prstGeom prst="rect">
            <a:avLst/>
          </a:prstGeom>
          <a:noFill/>
          <a:ln/>
        </p:spPr>
        <p:txBody>
          <a:bodyPr wrap="square" lIns="63500" tIns="63500" rIns="63500" bIns="63500" rtlCol="0" anchor="t"/>
          <a:lstStyle/>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1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historian argues that Haig should not be judged only as a butcher  →  B  State the historian's opinion</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2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The interpretation points to the shortage of trained soldiers after conscription  →  D  Give evidence from the interpretation</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3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 partly agree with this interpretation  →  E  Say whether you agree or disagree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4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I know that the French at Verdun were close to collapse and demanded help  →  A  Give an example from your own knowledge</a:t>
            </a:r>
            <a:endParaRPr lang="en-US" sz="1800" dirty="0"/>
          </a:p>
          <a:p>
            <a:pPr algn="l" indent="0" marL="0">
              <a:spcAft>
                <a:spcPts val="1000"/>
              </a:spcAft>
              <a:buNone/>
            </a:pPr>
            <a:r>
              <a:rPr lang="en-US" sz="1800" b="1" dirty="0">
                <a:solidFill>
                  <a:srgbClr val="815E1E"/>
                </a:solidFill>
                <a:latin typeface="Calibri" pitchFamily="34" charset="0"/>
                <a:ea typeface="Calibri" pitchFamily="34" charset="-122"/>
                <a:cs typeface="Calibri" pitchFamily="34" charset="-120"/>
              </a:rPr>
              <a:t>5  </a:t>
            </a:r>
            <a:pPr algn="l" indent="0" marL="0">
              <a:spcAft>
                <a:spcPts val="1000"/>
              </a:spcAft>
              <a:buNone/>
            </a:pPr>
            <a:r>
              <a:rPr lang="en-US" sz="1800" dirty="0">
                <a:solidFill>
                  <a:srgbClr val="1E2229"/>
                </a:solidFill>
                <a:latin typeface="Calibri" pitchFamily="34" charset="0"/>
                <a:ea typeface="Calibri" pitchFamily="34" charset="-122"/>
                <a:cs typeface="Calibri" pitchFamily="34" charset="-120"/>
              </a:rPr>
              <a:t>This shows Haig in a more positive light, because many of his choices were made for him  →  C  Explain how this shows Haig positively or negatively</a:t>
            </a:r>
            <a:endParaRPr lang="en-US" sz="1800" dirty="0"/>
          </a:p>
        </p:txBody>
      </p:sp>
      <p:sp>
        <p:nvSpPr>
          <p:cNvPr id="10" name="why-panel"/>
          <p:cNvSpPr/>
          <p:nvPr/>
        </p:nvSpPr>
        <p:spPr>
          <a:xfrm>
            <a:off x="7955280" y="1389888"/>
            <a:ext cx="3687775" cy="4754880"/>
          </a:xfrm>
          <a:prstGeom prst="roundRect">
            <a:avLst>
              <a:gd name="adj" fmla="val 1240"/>
            </a:avLst>
          </a:prstGeom>
          <a:solidFill>
            <a:srgbClr val="F4F0EC"/>
          </a:solidFill>
          <a:ln/>
        </p:spPr>
      </p:sp>
      <p:sp>
        <p:nvSpPr>
          <p:cNvPr id="11" name="why-hex"/>
          <p:cNvSpPr/>
          <p:nvPr/>
        </p:nvSpPr>
        <p:spPr>
          <a:xfrm>
            <a:off x="8138160" y="1572768"/>
            <a:ext cx="685800" cy="593903"/>
          </a:xfrm>
          <a:prstGeom prst="hexagon">
            <a:avLst/>
          </a:prstGeom>
          <a:solidFill>
            <a:srgbClr val="7A4A1E"/>
          </a:solidFill>
          <a:ln/>
        </p:spPr>
      </p:sp>
      <p:sp>
        <p:nvSpPr>
          <p:cNvPr id="12" name="why-hex-label"/>
          <p:cNvSpPr txBox="1"/>
          <p:nvPr/>
        </p:nvSpPr>
        <p:spPr>
          <a:xfrm>
            <a:off x="813816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8138160" y="2304288"/>
            <a:ext cx="332201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Opinion, evidence from the interpretation, your own view, own knowledge, explanation. The order matters because each step gives the next one something to work with.</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3" name="title"/>
          <p:cNvSpPr txBox="1"/>
          <p:nvPr/>
        </p:nvSpPr>
        <p:spPr>
          <a:xfrm>
            <a:off x="548640" y="292608"/>
            <a:ext cx="9052560" cy="969264"/>
          </a:xfrm>
          <a:prstGeom prst="rect">
            <a:avLst/>
          </a:prstGeom>
          <a:noFill/>
          <a:ln/>
        </p:spPr>
        <p:txBody>
          <a:bodyPr wrap="square" lIns="63500" tIns="63500" rIns="63500" bIns="63500" rtlCol="0" anchor="ctr"/>
          <a:lstStyle/>
          <a:p>
            <a:pPr algn="l" indent="0" marL="0">
              <a:buNone/>
            </a:pPr>
            <a:r>
              <a:rPr lang="en-US" sz="3200" b="1" dirty="0">
                <a:solidFill>
                  <a:srgbClr val="7A4A1E"/>
                </a:solidFill>
                <a:latin typeface="Cambria" pitchFamily="34" charset="0"/>
                <a:ea typeface="Cambria" pitchFamily="34" charset="-122"/>
                <a:cs typeface="Cambria" pitchFamily="34" charset="-120"/>
              </a:rPr>
              <a:t>Answers: Exit ticket</a:t>
            </a:r>
            <a:endParaRPr lang="en-US" sz="3200" dirty="0"/>
          </a:p>
        </p:txBody>
      </p:sp>
      <p:sp>
        <p:nvSpPr>
          <p:cNvPr id="4" name="chip-hex"/>
          <p:cNvSpPr/>
          <p:nvPr/>
        </p:nvSpPr>
        <p:spPr>
          <a:xfrm>
            <a:off x="9677095" y="531760"/>
            <a:ext cx="566928" cy="490960"/>
          </a:xfrm>
          <a:prstGeom prst="hexagon">
            <a:avLst/>
          </a:prstGeom>
          <a:solidFill>
            <a:srgbClr val="7A4A1E"/>
          </a:solidFill>
          <a:ln/>
        </p:spPr>
      </p:sp>
      <p:sp>
        <p:nvSpPr>
          <p:cNvPr id="5" name="chip-hex-label"/>
          <p:cNvSpPr txBox="1"/>
          <p:nvPr/>
        </p:nvSpPr>
        <p:spPr>
          <a:xfrm>
            <a:off x="9677095" y="531760"/>
            <a:ext cx="566928" cy="490960"/>
          </a:xfrm>
          <a:prstGeom prst="rect">
            <a:avLst/>
          </a:prstGeom>
          <a:noFill/>
          <a:ln/>
        </p:spPr>
        <p:txBody>
          <a:bodyPr wrap="square" lIns="0" tIns="0" rIns="0" bIns="0" rtlCol="0" anchor="ctr"/>
          <a:lstStyle/>
          <a:p>
            <a:pPr algn="ctr" indent="0" marL="0">
              <a:buNone/>
            </a:pPr>
            <a:r>
              <a:rPr lang="en-US" sz="2000" b="1" dirty="0">
                <a:solidFill>
                  <a:srgbClr val="FFFFFF"/>
                </a:solidFill>
                <a:latin typeface="Calibri" pitchFamily="34" charset="0"/>
                <a:ea typeface="Calibri" pitchFamily="34" charset="-122"/>
                <a:cs typeface="Calibri" pitchFamily="34" charset="-120"/>
              </a:rPr>
              <a:t>4</a:t>
            </a:r>
            <a:endParaRPr lang="en-US" sz="2000" dirty="0"/>
          </a:p>
        </p:txBody>
      </p:sp>
      <p:sp>
        <p:nvSpPr>
          <p:cNvPr id="6" name="chip-label"/>
          <p:cNvSpPr txBox="1"/>
          <p:nvPr/>
        </p:nvSpPr>
        <p:spPr>
          <a:xfrm>
            <a:off x="10317175" y="292608"/>
            <a:ext cx="1325880" cy="969264"/>
          </a:xfrm>
          <a:prstGeom prst="rect">
            <a:avLst/>
          </a:prstGeom>
          <a:noFill/>
          <a:ln/>
        </p:spPr>
        <p:txBody>
          <a:bodyPr wrap="square" lIns="63500" tIns="63500" rIns="63500" bIns="63500" rtlCol="0" anchor="ctr"/>
          <a:lstStyle/>
          <a:p>
            <a:pPr algn="l" indent="0" marL="0">
              <a:buNone/>
            </a:pPr>
            <a:r>
              <a:rPr lang="en-US" sz="1800" b="1" dirty="0">
                <a:solidFill>
                  <a:srgbClr val="7A4A1E"/>
                </a:solidFill>
                <a:latin typeface="Calibri" pitchFamily="34" charset="0"/>
                <a:ea typeface="Calibri" pitchFamily="34" charset="-122"/>
                <a:cs typeface="Calibri" pitchFamily="34" charset="-120"/>
              </a:rPr>
              <a:t>Check</a:t>
            </a:r>
            <a:endParaRPr lang="en-US" sz="1800" dirty="0"/>
          </a:p>
        </p:txBody>
      </p:sp>
      <p:sp>
        <p:nvSpPr>
          <p:cNvPr id="7" name="ans-panel"/>
          <p:cNvSpPr/>
          <p:nvPr/>
        </p:nvSpPr>
        <p:spPr>
          <a:xfrm>
            <a:off x="548640" y="1389888"/>
            <a:ext cx="6400800" cy="4754880"/>
          </a:xfrm>
          <a:prstGeom prst="roundRect">
            <a:avLst>
              <a:gd name="adj" fmla="val 962"/>
            </a:avLst>
          </a:prstGeom>
          <a:solidFill>
            <a:srgbClr val="F8F2E9"/>
          </a:solidFill>
          <a:ln w="19050">
            <a:solidFill>
              <a:srgbClr val="B8862B"/>
            </a:solidFill>
            <a:prstDash val="solid"/>
          </a:ln>
        </p:spPr>
      </p:sp>
      <p:sp>
        <p:nvSpPr>
          <p:cNvPr id="8" name="ans-tab"/>
          <p:cNvSpPr/>
          <p:nvPr/>
        </p:nvSpPr>
        <p:spPr>
          <a:xfrm>
            <a:off x="731520" y="1554480"/>
            <a:ext cx="1463040" cy="457200"/>
          </a:xfrm>
          <a:prstGeom prst="roundRect">
            <a:avLst>
              <a:gd name="adj" fmla="val 40000"/>
            </a:avLst>
          </a:prstGeom>
          <a:solidFill>
            <a:srgbClr val="9C7225"/>
          </a:solidFill>
          <a:ln/>
        </p:spPr>
        <p:txBody>
          <a:bodyPr wrap="square" lIns="63500" tIns="63500" rIns="63500" bIns="63500" rtlCol="0" anchor="ctr"/>
          <a:lstStyle/>
          <a:p>
            <a:pPr algn="l" indent="0" marL="0">
              <a:buNone/>
            </a:pPr>
            <a:r>
              <a:rPr lang="en-US" sz="1800" b="1" dirty="0">
                <a:solidFill>
                  <a:srgbClr val="FFFFFF"/>
                </a:solidFill>
                <a:latin typeface="Calibri" pitchFamily="34" charset="0"/>
                <a:ea typeface="Calibri" pitchFamily="34" charset="-122"/>
                <a:cs typeface="Calibri" pitchFamily="34" charset="-120"/>
              </a:rPr>
              <a:t>Answer</a:t>
            </a:r>
            <a:endParaRPr lang="en-US" sz="1800" dirty="0"/>
          </a:p>
        </p:txBody>
      </p:sp>
      <p:sp>
        <p:nvSpPr>
          <p:cNvPr id="9" name="ans"/>
          <p:cNvSpPr txBox="1"/>
          <p:nvPr/>
        </p:nvSpPr>
        <p:spPr>
          <a:xfrm>
            <a:off x="777240" y="2167128"/>
            <a:ext cx="5943600" cy="3840480"/>
          </a:xfrm>
          <a:prstGeom prst="rect">
            <a:avLst/>
          </a:prstGeom>
          <a:noFill/>
          <a:ln/>
        </p:spPr>
        <p:txBody>
          <a:bodyPr wrap="square" lIns="63500" tIns="63500" rIns="63500" bIns="63500" rtlCol="0" anchor="ctr"/>
          <a:lstStyle/>
          <a:p>
            <a:pPr algn="l" indent="0" marL="0">
              <a:spcAft>
                <a:spcPts val="1400"/>
              </a:spcAft>
              <a:buNone/>
            </a:pPr>
            <a:r>
              <a:rPr lang="en-US" sz="1800" dirty="0">
                <a:solidFill>
                  <a:srgbClr val="4A505C"/>
                </a:solidFill>
                <a:latin typeface="Calibri" pitchFamily="34" charset="0"/>
                <a:ea typeface="Calibri" pitchFamily="34" charset="-122"/>
                <a:cs typeface="Calibri" pitchFamily="34" charset="-120"/>
              </a:rPr>
              <a:t>What is a historical interpretation?</a:t>
            </a:r>
            <a:endParaRPr lang="en-US" sz="1800" dirty="0"/>
          </a:p>
          <a:p>
            <a:pPr algn="l" indent="0" marL="0">
              <a:buNone/>
            </a:pPr>
            <a:r>
              <a:rPr lang="en-US" sz="3200" b="1" dirty="0">
                <a:solidFill>
                  <a:srgbClr val="1E2229"/>
                </a:solidFill>
                <a:latin typeface="Cambria" pitchFamily="34" charset="0"/>
                <a:ea typeface="Cambria" pitchFamily="34" charset="-122"/>
                <a:cs typeface="Cambria" pitchFamily="34" charset="-120"/>
              </a:rPr>
              <a:t>B   A judgement a historian forms about the past, using evidence</a:t>
            </a:r>
            <a:endParaRPr lang="en-US" sz="1800" dirty="0"/>
          </a:p>
        </p:txBody>
      </p:sp>
      <p:sp>
        <p:nvSpPr>
          <p:cNvPr id="10" name="why-panel"/>
          <p:cNvSpPr/>
          <p:nvPr/>
        </p:nvSpPr>
        <p:spPr>
          <a:xfrm>
            <a:off x="7223760" y="1389888"/>
            <a:ext cx="4419295" cy="4754880"/>
          </a:xfrm>
          <a:prstGeom prst="roundRect">
            <a:avLst>
              <a:gd name="adj" fmla="val 1035"/>
            </a:avLst>
          </a:prstGeom>
          <a:solidFill>
            <a:srgbClr val="F4F0EC"/>
          </a:solidFill>
          <a:ln/>
        </p:spPr>
      </p:sp>
      <p:sp>
        <p:nvSpPr>
          <p:cNvPr id="11" name="why-hex"/>
          <p:cNvSpPr/>
          <p:nvPr/>
        </p:nvSpPr>
        <p:spPr>
          <a:xfrm>
            <a:off x="7406640" y="1572768"/>
            <a:ext cx="685800" cy="593903"/>
          </a:xfrm>
          <a:prstGeom prst="hexagon">
            <a:avLst/>
          </a:prstGeom>
          <a:solidFill>
            <a:srgbClr val="7A4A1E"/>
          </a:solidFill>
          <a:ln/>
        </p:spPr>
      </p:sp>
      <p:sp>
        <p:nvSpPr>
          <p:cNvPr id="12" name="why-hex-label"/>
          <p:cNvSpPr txBox="1"/>
          <p:nvPr/>
        </p:nvSpPr>
        <p:spPr>
          <a:xfrm>
            <a:off x="7406640" y="1572768"/>
            <a:ext cx="685800" cy="593903"/>
          </a:xfrm>
          <a:prstGeom prst="rect">
            <a:avLst/>
          </a:prstGeom>
          <a:no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Why</a:t>
            </a:r>
            <a:endParaRPr lang="en-US" sz="1800" dirty="0"/>
          </a:p>
        </p:txBody>
      </p:sp>
      <p:sp>
        <p:nvSpPr>
          <p:cNvPr id="13" name="why"/>
          <p:cNvSpPr txBox="1"/>
          <p:nvPr/>
        </p:nvSpPr>
        <p:spPr>
          <a:xfrm>
            <a:off x="7406640" y="2304288"/>
            <a:ext cx="4053535" cy="3703320"/>
          </a:xfrm>
          <a:prstGeom prst="rect">
            <a:avLst/>
          </a:prstGeom>
          <a:noFill/>
          <a:ln/>
        </p:spPr>
        <p:txBody>
          <a:bodyPr wrap="square" lIns="63500" tIns="63500" rIns="63500" bIns="63500" rtlCol="0" anchor="t"/>
          <a:lstStyle/>
          <a:p>
            <a:pPr algn="l" indent="0" marL="0">
              <a:buNone/>
            </a:pPr>
            <a:r>
              <a:rPr lang="en-US" sz="2400" dirty="0">
                <a:solidFill>
                  <a:srgbClr val="1E2229"/>
                </a:solidFill>
                <a:latin typeface="Calibri" pitchFamily="34" charset="0"/>
                <a:ea typeface="Calibri" pitchFamily="34" charset="-122"/>
                <a:cs typeface="Calibri" pitchFamily="34" charset="-120"/>
              </a:rPr>
              <a:t>An interpretation is a historian's judgement, built from evidence. A source is the evidence itself.</a:t>
            </a:r>
            <a:endParaRPr lang="en-US" sz="2400" dirty="0"/>
          </a:p>
        </p:txBody>
      </p:sp>
      <p:sp>
        <p:nvSpPr>
          <p:cNvPr id="25" name="Slide Number Placeholder 0"/>
          <p:cNvSpPr>
            <a:spLocks noGrp="1"/>
          </p:cNvSpPr>
          <p:nvPr>
            <p:ph type="sldNum" sz="quarter" idx="4294967295"/>
          </p:nvPr>
        </p:nvSpPr>
        <p:spPr>
          <a:xfrm>
            <a:off x="11018520" y="6446520"/>
            <a:ext cx="640080" cy="365760"/>
          </a:xfrm>
          <a:prstGeom prst="rect">
            <a:avLst/>
          </a:prstGeom>
          <a:extLst>
            <a:ext uri="{C572A759-6A51-4108-AA02-DFA0A04FC94B}">
              <ma14:wrappingTextBoxFlag xmlns:ma14="http://schemas.microsoft.com/office/mac/drawingml/2011/main" val="0"/>
            </a:ext>
          </a:extLst>
        </p:spPr>
        <p:txBody>
          <a:bodyPr lIns="0" tIns="0" rIns="0" bIns="0" anchor="ctr"/>
          <a:lstStyle>
            <a:lvl1pPr>
              <a:defRPr sz="1000">
                <a:solidFill>
                  <a:srgbClr val="6E431B"/>
                </a:solidFill>
                <a:latin typeface="Calibri"/>
                <a:ea typeface="Calibri"/>
                <a:cs typeface="Calibri"/>
              </a:defRPr>
            </a:lvl1pPr>
          </a:lstStyle>
          <a:p>
            <a:pPr algn="r"/>
            <a:fld id="{F7021451-1387-4CA6-816F-3879F97B5CBC}" type="slidenum">
              <a:rPr b="0" lang="en-US"/>
              <a:t>23</a:t>
            </a:fld>
            <a:endParaRPr lang="en-US"/>
          </a:p>
        </p:txBody>
      </p:sp>
    </p:spTree>
  </p:cSld>
  <p:clrMapOvr>
    <a:masterClrMapping/>
  </p:clrMapOvr>
</p:sld>
</file>

<file path=ppt/theme/theme1.xml><?xml version="1.0" encoding="utf-8"?>
<a:theme xmlns:a="http://schemas.openxmlformats.org/drawingml/2006/main" name="Ad Astra history">
  <a:themeElements>
    <a:clrScheme name="Ad Astra history">
      <a:dk1>
        <a:srgbClr val="1E2229"/>
      </a:dk1>
      <a:lt1>
        <a:srgbClr val="FFFFFF"/>
      </a:lt1>
      <a:dk2>
        <a:srgbClr val="623B18"/>
      </a:dk2>
      <a:lt2>
        <a:srgbClr val="F4F0EC"/>
      </a:lt2>
      <a:accent1>
        <a:srgbClr val="7A4A1E"/>
      </a:accent1>
      <a:accent2>
        <a:srgbClr val="B8862B"/>
      </a:accent2>
      <a:accent3>
        <a:srgbClr val="AF9278"/>
      </a:accent3>
      <a:accent4>
        <a:srgbClr val="815E1E"/>
      </a:accent4>
      <a:accent5>
        <a:srgbClr val="4A505C"/>
      </a:accent5>
      <a:accent6>
        <a:srgbClr val="DDC498"/>
      </a:accent6>
      <a:hlink>
        <a:srgbClr val="7A4A1E"/>
      </a:hlink>
      <a:folHlink>
        <a:srgbClr val="553415"/>
      </a:folHlink>
    </a:clrScheme>
    <a:fontScheme name="Ad Astra history">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Edu.Ai SV Digital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Battle of the Somme · Chapter 6: Butcher or hero? Interpretations of General Haig</dc:title>
  <dc:subject>History · Year 8</dc:subject>
  <dc:creator>Dr Vitor Merissi de Carvalho</dc:creator>
  <cp:lastModifiedBy>Dr Vitor Merissi de Carvalho</cp:lastModifiedBy>
  <cp:revision>1</cp:revision>
  <dcterms:created xsi:type="dcterms:W3CDTF">2026-10-19T16:23:15Z</dcterms:created>
  <dcterms:modified xsi:type="dcterms:W3CDTF">2026-10-19T16:23:15Z</dcterms:modified>
</cp:coreProperties>
</file>