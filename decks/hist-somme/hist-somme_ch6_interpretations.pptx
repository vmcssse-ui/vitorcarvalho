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4619bb0-f26e-4a5e-44e2-d68e798b6d9c}">
          <p14:sldIdLst>
            <p14:sldId id="256"/>
          </p14:sldIdLst>
        </p14:section>
        <p14:section name="Gate" id="{fa85fe74-9fb0-58d4-8181-4df4ae5f5881}">
          <p14:sldIdLst>
            <p14:sldId id="257"/>
            <p14:sldId id="258"/>
          </p14:sldIdLst>
        </p14:section>
        <p14:section name="Pre-teach" id="{844b5b4a-5ccb-fc62-aeb4-f1651ce5d4c2}">
          <p14:sldIdLst>
            <p14:sldId id="259"/>
            <p14:sldId id="260"/>
          </p14:sldIdLst>
        </p14:section>
        <p14:section name="Read-along" id="{d6de9658-14f8-56a6-6f3b-1acc7775ca20}">
          <p14:sldIdLst>
            <p14:sldId id="261"/>
            <p14:sldId id="262"/>
          </p14:sldIdLst>
        </p14:section>
        <p14:section name="Teach" id="{2a441dcf-608e-b54e-fe16-657098b3f279}">
          <p14:sldIdLst>
            <p14:sldId id="263"/>
            <p14:sldId id="264"/>
            <p14:sldId id="265"/>
            <p14:sldId id="266"/>
            <p14:sldId id="267"/>
            <p14:sldId id="268"/>
          </p14:sldIdLst>
        </p14:section>
        <p14:section name="Routes" id="{86161823-64df-6ece-f399-c1145ecf5f1f}">
          <p14:sldIdLst>
            <p14:sldId id="269"/>
            <p14:sldId id="270"/>
            <p14:sldId id="271"/>
            <p14:sldId id="272"/>
            <p14:sldId id="273"/>
            <p14:sldId id="274"/>
          </p14:sldIdLst>
        </p14:section>
        <p14:section name="Close" id="{c763771d-7920-ed40-af49-0ec69d4f3868}">
          <p14:sldIdLst>
            <p14:sldId id="275"/>
          </p14:sldIdLst>
        </p14:section>
        <p14:section name="Answers" id="{ceb2ea55-349d-5391-ef6d-2e4c797f6747}">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Butcher or hero? Interpretations of General Haig. What a historical interpretation is, the evidence on both sides of the argument about Haig, what the lions led by donkeys idea claims, and how to answer an interpretation question.
This deck covers the department's lessons: 4 (General Haig: butcher or hero?: Was General Haig the butcher of the Somme?); 5 (Review: historical interpretations: Which interpretation of General Haig do you find more convincing, and why?).
Read the big question aloud: "Was the Battle of the Somme a victory or a defeat, and why have historians changed their minds about General Haig?"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a historical interpretation?  →  C   A judgement a historian forms about the past, using evidence
2. Calling Haig a ___ accuses him of sending thousands of soldiers needlessly to their deaths.  →  butcher
3. What does the phrase lions led by donkeys mean?  →  A   That brave British soldiers were let down by poor commanders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A judgement a historian forms about the past, using evidence. An interpretation is a historian's judgement, built from evidence. A source is the evidence itself.
2. butcher. Butcher is the accusation about needless deaths. Donkey, from the lions led by donkeys idea, is the wider accusation of poor leadership.
3. A   That brave British soldiers were let down by poor commanders. The lions are the soldiers and the donkeys are the commanders who led them badly. Many historians now think the picture is too simple.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interpretation: a judgement a historian forms about the past, using evidence. Example: "Two historians can read the same evidence and reach a different interpretation."
• butcher: here, a harsh word for a commander blamed for needless deaths. Example: "Calling Haig a butcher is a judgement, not a fact."
• casualties: soldiers killed, wounded or missing. Example: "The casualties of the first day were the heaviest in the army's history."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lions led by donkeys: the idea that brave soldiers were let down by poor commanders. Example: "The lions led by donkeys idea is popular, but many historians now reject it."
• convincing: believable, because the evidence supports it. Example: "Say which interpretation you find more convincing, and why."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Historians use evidence to form judgements about the past.
2. These judgements are called interpretations.
3. Two historians can study the Somme and disagree.
4. That is because they choose different things to focus on.
5. One may look at the casualties of the first day.
6. Another may look at the whole war effort.
7. Some historians call General Haig a butcher.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They blame his plan and his old-fashioned tactics for needless deaths.
9. Others point out that he was told when and where to attack.
10. They add that both sides used the same methods.
11. One popular idea is called lions led by donkeys.
12. It says brave soldiers were let down by poor leaders.
13. Your job is to decide which interpretation convinces you.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an interpretation?. Say it in your own words, then check understanding with a quick question: ask a pupil from the pre-teach group first, since they met these words and ideas before the lesson. Pupils try to recall before you re-explain.
Historians use evidence to form their judgements about the past, and those judgements are called interpretations. An interpretation is not the same thing as a source. A source is something left behind from the time, such as a letter or a photograph. An interpretation is what a historian makes of the sources, often many years later.
When you study an interpretation, your lesson gives you three questions. What is the historian arguing? How did they come to that judgement? Do you agree or disagree? The second question is the one pupils most often skip, and it is where the marks are.
Historians disagree about Haig because they choose different things to focus on. One may concentrate on the casualties, another on the short-term or long-term impact of the Somme, another on the overall war effort, another on the use of new technology, and another on tactics. The two interpretations on your handout, by Gary Sheffield and by John Laffin, reach opposite judgements about the same man. Interpretation 1 defends Haig.
Tip: Before you agree or disagree, say what the historian is arguing and what they have chosen to focus on. That one sentence shows you understand how interpretations are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Butcher or hero? Weighing the evidence. Say it in your own words, then check understanding with a quick question: ask a pupil from the pre-teach group first, since they met these words and ideas before the lesson. Pupils try to recall before you re-explain.
Butcher is a harsh word, and it is meant to be. It accuses Haig of needlessly sending thousands of soldiers to their deaths at the Somme, and it blames his flawed plan and old-fashioned tactics for those deaths. The case against him is strong. About 420,000 British soldiers became casualties over the course of the battle. His men were ordered to walk slowly, in daylight and in a straight line, towards wire that had not been cut and machine guns that had not been destroyed. His cavalry was useless in the mud. And he directed the battle from a headquarters a long way behind the line.
The case for him is also real, and your lesson sets the two out side by side. Haig did not choose where or when to fight: the French at Verdun were close to collapse and demanded that the attack begin. The bombardment was the heaviest in history, 1,783,000 shells, about three a second, and Haig had been told that the wire was cut and the German defenders dead. Attrition was the method both armies used, so his methods were not unusual for the time. Cavalry had been a useful weapon in every earlier war. And about 600,000 German soldiers were killed or wounded, which was the second purpose of the battle.
Notice what is happening here. The same battle, and in places the very same evidence, is being used to argue both ways. The 1,783,000 shells are evidence of carelessness if you focus on the result, and evidence of thorough preparation if you focus on the intention.
Worked example — model it step by step, thinking aloud: Take one piece of evidence, the seven-day bombardment, and show how it can be used on both sides of the argument about Haig. (1) State the evidence plainly: the German trenches were shelled for seven days, and 1,783,000 shells were fired. (2) Use it against Haig: seven days of shelling warned the Germans that an attack was coming, and still left the wire uncut. (3) Use it for Haig: no commander had ever been given such a bombardment, and he was told it had destroyed the defences. (4) Judge between them: say which use you find more convincing, and give the reason for your choice. Answer: Against Haig it shows a failed plan and a warned enemy; for Haig it shows thorough preparation and false information. A judgement has to choose, and give a reason..
Tip: If you can argue a piece of evidence both ways, you understand it. Then commit to one side and say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Butcher or hero? Weighing the evidence. Say it in your own words, then check understanding with a quick question: ask a pupil from the pre-teach group first, since they met these words and ideas before the lesson. Pupils try to recall before you re-explain.
Butcher is a harsh word, and it is meant to be. It accuses Haig of needlessly sending thousands of soldiers to their deaths at the Somme, and it blames his flawed plan and old-fashioned tactics for those deaths. The case against him is strong. About 420,000 British soldiers became casualties over the course of the battle. His men were ordered to walk slowly, in daylight and in a straight line, towards wire that had not been cut and machine guns that had not been destroyed. His cavalry was useless in the mud. And he directed the battle from a headquarters a long way behind the line.
The case for him is also real, and your lesson sets the two out side by side. Haig did not choose where or when to fight: the French at Verdun were close to collapse and demanded that the attack begin. The bombardment was the heaviest in history, 1,783,000 shells, about three a second, and Haig had been told that the wire was cut and the German defenders dead. Attrition was the method both armies used, so his methods were not unusual for the time. Cavalry had been a useful weapon in every earlier war. And about 600,000 German soldiers were killed or wounded, which was the second purpose of the battle.
Notice what is happening here. The same battle, and in places the very same evidence, is being used to argue both ways. The 1,783,000 shells are evidence of carelessness if you focus on the result, and evidence of thorough preparation if you focus on the intention.
Worked example — model it step by step, thinking aloud: Take one piece of evidence, the seven-day bombardment, and show how it can be used on both sides of the argument about Haig. (1) State the evidence plainly: the German trenches were shelled for seven days, and 1,783,000 shells were fired. (2) Use it against Haig: seven days of shelling warned the Germans that an attack was coming, and still left the wire uncut. (3) Use it for Haig: no commander had ever been given such a bombardment, and he was told it had destroyed the defences. (4) Judge between them: say which use you find more convincing, and give the reason for your choice. Answer: Against Haig it shows a failed plan and a warned enemy; for Haig it shows thorough preparation and false information. A judgement has to choose, and give a reason..
Tip: If you can argue a piece of evidence both ways, you understand it. Then commit to one side and say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Butcher or hero? Weighing the evidence. Say it in your own words, then check understanding with a quick question: ask a pupil from the pre-teach group first, since they met these words and ideas before the lesson. Pupils try to recall before you re-explain.
Butcher is a harsh word, and it is meant to be. It accuses Haig of needlessly sending thousands of soldiers to their deaths at the Somme, and it blames his flawed plan and old-fashioned tactics for those deaths. The case against him is strong. About 420,000 British soldiers became casualties over the course of the battle. His men were ordered to walk slowly, in daylight and in a straight line, towards wire that had not been cut and machine guns that had not been destroyed. His cavalry was useless in the mud. And he directed the battle from a headquarters a long way behind the line.
The case for him is also real, and your lesson sets the two out side by side. Haig did not choose where or when to fight: the French at Verdun were close to collapse and demanded that the attack begin. The bombardment was the heaviest in history, 1,783,000 shells, about three a second, and Haig had been told that the wire was cut and the German defenders dead. Attrition was the method both armies used, so his methods were not unusual for the time. Cavalry had been a useful weapon in every earlier war. And about 600,000 German soldiers were killed or wounded, which was the second purpose of the battle.
Notice what is happening here. The same battle, and in places the very same evidence, is being used to argue both ways. The 1,783,000 shells are evidence of carelessness if you focus on the result, and evidence of thorough preparation if you focus on the intention.
Worked example — model it step by step, thinking aloud: Take one piece of evidence, the seven-day bombardment, and show how it can be used on both sides of the argument about Haig. (1) State the evidence plainly: the German trenches were shelled for seven days, and 1,783,000 shells were fired. (2) Use it against Haig: seven days of shelling warned the Germans that an attack was coming, and still left the wire uncut. (3) Use it for Haig: no commander had ever been given such a bombardment, and he was told it had destroyed the defences. (4) Judge between them: say which use you find more convincing, and give the reason for your choice. Answer: Against Haig it shows a failed plan and a warned enemy; for Haig it shows thorough preparation and false information. A judgement has to choose, and give a reason..
Tip: If you can argue a piece of evidence both ways, you understand it. Then commit to one side and say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Lions led by donkeys. Say it in your own words, then check understanding with a quick question: ask a pupil from the pre-teach group first, since they met these words and ideas before the lesson. Pupils try to recall before you re-explain.
Since the war ended, some historians have argued that the First World War saw lions led by donkeys. The idea is that the soldiers of the British army were brave warriors, the lions, who were led and let down by bad commanders, the donkeys. In that picture, Haig is a donkey.
There is evidence for it. Haig's four-step plan was very simple, and he ordered his men to cross no-man's-land in broad daylight in a straight line. The bombardment did not do what he expected, and the attack went ahead anyway. The first day of the Somme remains the bloodiest in the history of the British army.
There is also evidence against it. The Conscription Act had handed Haig an army of men with almost no training, which limited what he could ask them to do: walking in line was the one thing they could be relied on to manage. He was pressed into attacking at a time and place chosen by the French crisis at Verdun. His methods were the ones both sides were using. Many historians now argue that the phrase is too simple to be useful, which is why their minds have changed over time.
Tip: When you use the phrase, explain it: lions are the soldiers, donkeys are the commanders. Then say whether you think the picture fits Haig.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to answer an interpretation question. Say it in your own words, then check understanding with a quick question: ask a pupil from the pre-teach group first, since they met these words and ideas before the lesson. Pupils try to recall before you re-explain.
Your lesson gives five success criteria for this kind of answer, and your assessment uses the same five. State the historian's opinion. Give evidence from the interpretation. Say whether you agree, partly agree or disagree. Give examples from your own knowledge. Explain how this shows Haig in a positive or a negative way.
The sentence starters follow the same order. The interpretation argues that... The historian points to... I partly agree with this interpretation, because... From my own knowledge, I know that... This shows Haig in a positive or negative way because... You may use a short quotation from the interpretation your teacher gives you, or you may put the historian's point in your own words. Either is fine, as long as the point really is the historian's.
One warning. Partly agree is a strong answer when it is argued, and a weak one when it is used to avoid deciding. If you partly agree, say which part you accept and which part you reject.
Tip: Five criteria, in order: opinion, evidence, your view, own knowledge, explanation. Tick them off as you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battle in five events.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key events of the Battle of the Somme in order.
Support — work through the steps with the group: (1) Three of the five cards carry a month. Put those three in calendar order first: February, July, November. (2) The planning must come before the German attack on Verdun changed the plans. (3) The months of learning and new technology come after the first day and before the end. (4) Read your sequence back as a story and check it makes sense.
Parallel worked example for Support (model it, do not give the task answer): Put these stages of a school production in order: the cast is chosen; the script is read; the last performance is given; the dress rehearsal is held. The script must be read before anyone is cast.; Then the cast is chosen.; The dress rehearsal comes before the performances.; The last performance is last.. Answer: the script is read; the cast is chosen; the dress rehearsal is held; the last performance is given.
Core — reveal the hint only on request: Plan, Verdun in February, the attack on 1 July, the months that follow, the end in November.
Stretch — no help; when finished: Which of these five events would you leave out if you had only four cards, and what would your summary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battle in five events.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key events of the Battle of the Somme in order.
Support — work through the steps with the group: (1) Three of the five cards carry a month. Put those three in calendar order first: February, July, November. (2) The planning must come before the German attack on Verdun changed the plans. (3) The months of learning and new technology come after the first day and before the end. (4) Read your sequence back as a story and check it makes sense.
Parallel worked example for Support (model it, do not give the task answer): Put these stages of a school production in order: the cast is chosen; the script is read; the last performance is given; the dress rehearsal is held. The script must be read before anyone is cast.; Then the cast is chosen.; The dress rehearsal comes before the performances.; The last performance is last.. Answer: the script is read; the cast is chosen; the dress rehearsal is held; the last performance is given.
Core — reveal the hint only on request: Plan, Verdun in February, the attack on 1 July, the months that follow, the end in November.
Stretch — no help; when finished: Which of these five events would you leave out if you had only four cards, and what would your summary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success criterion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sentence from an interpretation answer to the success criterion it meets.
Support — work through the steps with the group: (1) Look for the signal words at the start of each sentence. (2) The historian argues tells you the sentence is about the historian's opinion. (3) I know that tells you the sentence is own knowledge; I partly agree tells you it is your view. (4) The sentence that begins This shows is the explanation, and it always comes last.
Parallel worked example for Support (model it, do not give the task answer): Which criterion does this sentence meet: The interpretation says that the methods Haig used were normal for the time? It begins with The interpretation says.; So it is reporting something from the interpretation itself.; That is evidence from the interpretation.. Answer: Give evidence from the interpretation..
Core — reveal the hint only on request: The signal words do the work: the historian argues, the interpretation points to, I partly agree, I know that, this shows.
Stretch — no help; when finished: Write one more sentence for each of the five criteria, this time arguing the opposite case about Haig.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success criterion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sentence from an interpretation answer to the success criterion it meets.
Support — work through the steps with the group: (1) Look for the signal words at the start of each sentence. (2) The historian argues tells you the sentence is about the historian's opinion. (3) I know that tells you the sentence is own knowledge; I partly agree tells you it is your view. (4) The sentence that begins This shows is the explanation, and it always comes last.
Parallel worked example for Support (model it, do not give the task answer): Which criterion does this sentence meet: The interpretation says that the methods Haig used were normal for the time? It begins with The interpretation says.; So it is reporting something from the interpretation itself.; That is evidence from the interpretation.. Answer: Give evidence from the interpretation..
Core — reveal the hint only on request: The signal words do the work: the historian argues, the interpretation points to, I partly agree, I know that, this shows.
Stretch — no help; when finished: Write one more sentence for each of the five criteria, this time arguing the opposite case about Haig.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success criterion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sentence from an interpretation answer to the success criterion it meets.
Support — work through the steps with the group: (1) Look for the signal words at the start of each sentence. (2) The historian argues tells you the sentence is about the historian's opinion. (3) I know that tells you the sentence is own knowledge; I partly agree tells you it is your view. (4) The sentence that begins This shows is the explanation, and it always comes last.
Parallel worked example for Support (model it, do not give the task answer): Which criterion does this sentence meet: The interpretation says that the methods Haig used were normal for the time? It begins with The interpretation says.; So it is reporting something from the interpretation itself.; That is evidence from the interpretation.. Answer: Give evidence from the interpretation..
Core — reveal the hint only on request: The signal words do the work: the historian argues, the interpretation points to, I partly agree, I know that, this shows.
Stretch — no help; when finished: Write one more sentence for each of the five criteria, this time arguing the opposite case about Haig.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success criterion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sentence from an interpretation answer to the success criterion it meets.
Support — work through the steps with the group: (1) Look for the signal words at the start of each sentence. (2) The historian argues tells you the sentence is about the historian's opinion. (3) I know that tells you the sentence is own knowledge; I partly agree tells you it is your view. (4) The sentence that begins This shows is the explanation, and it always comes last.
Parallel worked example for Support (model it, do not give the task answer): Which criterion does this sentence meet: The interpretation says that the methods Haig used were normal for the time? It begins with The interpretation says.; So it is reporting something from the interpretation itself.; That is evidence from the interpretation.. Answer: Give evidence from the interpretation..
Core — reveal the hint only on request: The signal words do the work: the historian argues, the interpretation points to, I partly agree, I know that, this shows.
Stretch — no help; when finished: Write one more sentence for each of the five criteria, this time arguing the opposite case about Haig.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is a historical interpretation?
Answer: B   A judgement a historian forms about the past, using evidence. An interpretation is a historian's judgement, built from evidence. A source is the evidence itself.
Source of this question: gate item 1 re-asked (options rotated) — this chapter has no third quick-check module.
The ebook also holds task 3, "How far do you agree?",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battle in five events. Reveal the answer; pupils mark their own work in a different colour, then read the "why" together. Same destination for every lane, so one answer serves the whole class.
Answer: In 1916 the Allies plan a major attack to wear the German army down, as part of their war of attrition  (A); In February 1916 the Germans attack the French at Verdun, and the French demand British help  (D); On 1 July 1916 the British attack begins, and the first day is a disaster  (C); Through the months that follow, the British gain experience and try out new technology such as the tank  (E); By November 1916 the battle is over, about 7 miles of ground has been taken and the French have been saved at Verdun  (B)
Why: The Allies planned the attack; the Germans struck at Verdun in February 1916 and the French demanded help; the British attacked on 1 July 1916; the battle ground on through the autumn; and it ended in November 1916 with about 7 miles gained and Verdun relieved.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success criterion is this?. Reveal the answer; pupils mark their own work in a different colour, then read the "why" together. Same destination for every lane, so one answer serves the whole class.
Answer: The historian argues that Haig should not be judged only as a butcher  →  B  State the historian's opinion; The interpretation points to the shortage of trained soldiers after conscription  →  D  Give evidence from the interpretation; I partly agree with this interpretation  →  E  Say whether you agree or disagree; I know that the French at Verdun were close to collapse and demanded help  →  A  Give an example from your own knowledge; This shows Haig in a more positive light, because many of his choices were made for him  →  C  Explain how this shows Haig positively or negatively
Why: Opinion, evidence from the interpretation, your own view, own knowledge, explanation. The order matters because each step gives the next one something to work with.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A judgement a historian forms about the past, using evidence
Why: An interpretation is a historian's judgement, built from evidence. A source is the evidence itself.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Battle of the Somme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Battle of the Somme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Battle of the Somme · AQA KS3 → 8145</a:t>
            </a:r>
            <a:endParaRPr lang="en-US" sz="1800" dirty="0"/>
          </a:p>
        </p:txBody>
      </p:sp>
      <p:sp>
        <p:nvSpPr>
          <p:cNvPr id="10" name="deck-title"/>
          <p:cNvSpPr txBox="1"/>
          <p:nvPr/>
        </p:nvSpPr>
        <p:spPr>
          <a:xfrm>
            <a:off x="548640" y="218617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Butcher or hero? Interpretations of General Haig</a:t>
            </a:r>
            <a:endParaRPr lang="en-US" sz="2800" dirty="0"/>
          </a:p>
        </p:txBody>
      </p:sp>
      <p:sp>
        <p:nvSpPr>
          <p:cNvPr id="11" name="lessons-card"/>
          <p:cNvSpPr/>
          <p:nvPr/>
        </p:nvSpPr>
        <p:spPr>
          <a:xfrm>
            <a:off x="548640" y="3928618"/>
            <a:ext cx="5287975" cy="1328420"/>
          </a:xfrm>
          <a:prstGeom prst="roundRect">
            <a:avLst>
              <a:gd name="adj" fmla="val 5507"/>
            </a:avLst>
          </a:prstGeom>
          <a:solidFill>
            <a:srgbClr val="F4F0EC"/>
          </a:solidFill>
          <a:ln/>
        </p:spPr>
      </p:sp>
      <p:sp>
        <p:nvSpPr>
          <p:cNvPr id="12" name="lessons"/>
          <p:cNvSpPr txBox="1"/>
          <p:nvPr/>
        </p:nvSpPr>
        <p:spPr>
          <a:xfrm>
            <a:off x="685800" y="402005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General Haig: butcher or hero?</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Review: historical interpretations</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Was the Battle of the Somme a victory or a defeat, and why have historians changed their minds about General Haig?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is a historical interpretation?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rule for how to set out a paragraph</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list of events in the order they happened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judgement a historian forms about the past, using evidence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Something left behind from the time, such as a letter or a photograph</a:t>
            </a:r>
            <a:endParaRPr lang="en-US" sz="1800" dirty="0"/>
          </a:p>
        </p:txBody>
      </p:sp>
      <p:sp>
        <p:nvSpPr>
          <p:cNvPr id="12" name="card"/>
          <p:cNvSpPr/>
          <p:nvPr/>
        </p:nvSpPr>
        <p:spPr>
          <a:xfrm>
            <a:off x="4777626" y="1389888"/>
            <a:ext cx="2636444" cy="4754880"/>
          </a:xfrm>
          <a:prstGeom prst="roundRect">
            <a:avLst>
              <a:gd name="adj" fmla="val 2081"/>
            </a:avLst>
          </a:prstGeom>
          <a:solidFill>
            <a:srgbClr val="F8F5F3"/>
          </a:solidFill>
          <a:ln w="12700">
            <a:solidFill>
              <a:srgbClr val="D2C2B4"/>
            </a:solidFill>
            <a:prstDash val="solid"/>
          </a:ln>
        </p:spPr>
      </p:sp>
      <p:sp>
        <p:nvSpPr>
          <p:cNvPr id="13" name="card-hex"/>
          <p:cNvSpPr/>
          <p:nvPr/>
        </p:nvSpPr>
        <p:spPr>
          <a:xfrm>
            <a:off x="4960506" y="1572768"/>
            <a:ext cx="640080" cy="554309"/>
          </a:xfrm>
          <a:prstGeom prst="hexagon">
            <a:avLst/>
          </a:prstGeom>
          <a:solidFill>
            <a:srgbClr val="7A4A1E"/>
          </a:solidFill>
          <a:ln/>
        </p:spPr>
      </p:sp>
      <p:sp>
        <p:nvSpPr>
          <p:cNvPr id="14"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960506"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Calling Haig a ___ accuses him of sending thousands of soldiers needlessly to their deaths.</a:t>
            </a:r>
            <a:endParaRPr lang="en-US" sz="2000" dirty="0"/>
          </a:p>
          <a:p>
            <a:pPr algn="l" indent="0" marL="0">
              <a:buNone/>
            </a:pPr>
            <a:r>
              <a:rPr lang="en-US" sz="2000" b="1" dirty="0">
                <a:solidFill>
                  <a:srgbClr val="7A4A1E"/>
                </a:solidFill>
                <a:latin typeface="Calibri" pitchFamily="34" charset="0"/>
                <a:ea typeface="Calibri" pitchFamily="34" charset="-122"/>
                <a:cs typeface="Calibri" pitchFamily="34" charset="-120"/>
              </a:rPr>
              <a:t>Word bank:  </a:t>
            </a:r>
            <a:pPr algn="l" indent="0" marL="0">
              <a:buNone/>
            </a:pPr>
            <a:r>
              <a:rPr lang="en-US" sz="2000" dirty="0">
                <a:solidFill>
                  <a:srgbClr val="1E2229"/>
                </a:solidFill>
                <a:latin typeface="Calibri" pitchFamily="34" charset="0"/>
                <a:ea typeface="Calibri" pitchFamily="34" charset="-122"/>
                <a:cs typeface="Calibri" pitchFamily="34" charset="-120"/>
              </a:rPr>
              <a:t>butcher  ·  donkey  ·  hero</a:t>
            </a:r>
            <a:endParaRPr lang="en-US" sz="2000" dirty="0"/>
          </a:p>
        </p:txBody>
      </p:sp>
      <p:sp>
        <p:nvSpPr>
          <p:cNvPr id="17" name="card"/>
          <p:cNvSpPr/>
          <p:nvPr/>
        </p:nvSpPr>
        <p:spPr>
          <a:xfrm>
            <a:off x="7688389" y="1389888"/>
            <a:ext cx="3954666" cy="4754880"/>
          </a:xfrm>
          <a:prstGeom prst="roundRect">
            <a:avLst>
              <a:gd name="adj" fmla="val 1387"/>
            </a:avLst>
          </a:prstGeom>
          <a:solidFill>
            <a:srgbClr val="F8F5F3"/>
          </a:solidFill>
          <a:ln w="12700">
            <a:solidFill>
              <a:srgbClr val="D2C2B4"/>
            </a:solidFill>
            <a:prstDash val="solid"/>
          </a:ln>
        </p:spPr>
      </p:sp>
      <p:sp>
        <p:nvSpPr>
          <p:cNvPr id="18" name="card-hex"/>
          <p:cNvSpPr/>
          <p:nvPr/>
        </p:nvSpPr>
        <p:spPr>
          <a:xfrm>
            <a:off x="7871269" y="1572768"/>
            <a:ext cx="640080" cy="554309"/>
          </a:xfrm>
          <a:prstGeom prst="hexagon">
            <a:avLst/>
          </a:prstGeom>
          <a:solidFill>
            <a:srgbClr val="7A4A1E"/>
          </a:solidFill>
          <a:ln/>
        </p:spPr>
      </p:sp>
      <p:sp>
        <p:nvSpPr>
          <p:cNvPr id="19"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7871269"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does the phrase lions led by donkeys mean?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That brave British soldiers were let down by poor commanders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That the generals fought in the front line alongside their men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That the war was won by new technology rather than by soldiers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That the British army was braver than the German army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588906" cy="1295908"/>
          </a:xfrm>
          <a:prstGeom prst="roundRect">
            <a:avLst>
              <a:gd name="adj" fmla="val 8467"/>
            </a:avLst>
          </a:prstGeom>
          <a:solidFill>
            <a:srgbClr val="EEE3CD"/>
          </a:solidFill>
          <a:ln w="19050">
            <a:solidFill>
              <a:srgbClr val="B8862B"/>
            </a:solidFill>
            <a:prstDash val="solid"/>
          </a:ln>
        </p:spPr>
      </p:sp>
      <p:sp>
        <p:nvSpPr>
          <p:cNvPr id="12" name="answer"/>
          <p:cNvSpPr txBox="1"/>
          <p:nvPr/>
        </p:nvSpPr>
        <p:spPr>
          <a:xfrm>
            <a:off x="822960" y="2428829"/>
            <a:ext cx="3406026"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A judgement a historian forms about the past, using evidence</a:t>
            </a:r>
            <a:endParaRPr lang="en-US" sz="2200" dirty="0"/>
          </a:p>
        </p:txBody>
      </p:sp>
      <p:sp>
        <p:nvSpPr>
          <p:cNvPr id="13" name="card-body"/>
          <p:cNvSpPr txBox="1"/>
          <p:nvPr/>
        </p:nvSpPr>
        <p:spPr>
          <a:xfrm>
            <a:off x="731520" y="3834465"/>
            <a:ext cx="3588906"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is a historical interpretation?</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An interpretation is a historian's judgement, built from evidence. A source is the evidence itself.</a:t>
            </a:r>
            <a:endParaRPr lang="en-US" sz="2000" dirty="0"/>
          </a:p>
        </p:txBody>
      </p:sp>
      <p:sp>
        <p:nvSpPr>
          <p:cNvPr id="14" name="card"/>
          <p:cNvSpPr/>
          <p:nvPr/>
        </p:nvSpPr>
        <p:spPr>
          <a:xfrm>
            <a:off x="4777626" y="1389888"/>
            <a:ext cx="2636444" cy="4754880"/>
          </a:xfrm>
          <a:prstGeom prst="roundRect">
            <a:avLst>
              <a:gd name="adj" fmla="val 2081"/>
            </a:avLst>
          </a:prstGeom>
          <a:solidFill>
            <a:srgbClr val="F8F5F3"/>
          </a:solidFill>
          <a:ln w="12700">
            <a:solidFill>
              <a:srgbClr val="D2C2B4"/>
            </a:solidFill>
            <a:prstDash val="solid"/>
          </a:ln>
        </p:spPr>
      </p:sp>
      <p:sp>
        <p:nvSpPr>
          <p:cNvPr id="15" name="card-hex"/>
          <p:cNvSpPr/>
          <p:nvPr/>
        </p:nvSpPr>
        <p:spPr>
          <a:xfrm>
            <a:off x="4960506" y="1572768"/>
            <a:ext cx="640080" cy="554309"/>
          </a:xfrm>
          <a:prstGeom prst="hexagon">
            <a:avLst/>
          </a:prstGeom>
          <a:solidFill>
            <a:srgbClr val="7A4A1E"/>
          </a:solidFill>
          <a:ln/>
        </p:spPr>
      </p:sp>
      <p:sp>
        <p:nvSpPr>
          <p:cNvPr id="16"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960506" y="2355677"/>
            <a:ext cx="2270684"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5051946"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butcher</a:t>
            </a:r>
            <a:endParaRPr lang="en-US" sz="2200" dirty="0"/>
          </a:p>
        </p:txBody>
      </p:sp>
      <p:sp>
        <p:nvSpPr>
          <p:cNvPr id="20" name="card-body"/>
          <p:cNvSpPr txBox="1"/>
          <p:nvPr/>
        </p:nvSpPr>
        <p:spPr>
          <a:xfrm>
            <a:off x="4960506"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Butcher is the accusation about needless deaths. Donkey, from the lions led by donkeys idea, is the wider accusation of poor leadership.</a:t>
            </a:r>
            <a:endParaRPr lang="en-US" sz="1800" dirty="0"/>
          </a:p>
        </p:txBody>
      </p:sp>
      <p:sp>
        <p:nvSpPr>
          <p:cNvPr id="21" name="card"/>
          <p:cNvSpPr/>
          <p:nvPr/>
        </p:nvSpPr>
        <p:spPr>
          <a:xfrm>
            <a:off x="7688389" y="1389888"/>
            <a:ext cx="3954666" cy="4754880"/>
          </a:xfrm>
          <a:prstGeom prst="roundRect">
            <a:avLst>
              <a:gd name="adj" fmla="val 1387"/>
            </a:avLst>
          </a:prstGeom>
          <a:solidFill>
            <a:srgbClr val="F8F5F3"/>
          </a:solidFill>
          <a:ln w="12700">
            <a:solidFill>
              <a:srgbClr val="D2C2B4"/>
            </a:solidFill>
            <a:prstDash val="solid"/>
          </a:ln>
        </p:spPr>
      </p:sp>
      <p:sp>
        <p:nvSpPr>
          <p:cNvPr id="22" name="card-hex"/>
          <p:cNvSpPr/>
          <p:nvPr/>
        </p:nvSpPr>
        <p:spPr>
          <a:xfrm>
            <a:off x="7871269" y="1572768"/>
            <a:ext cx="640080" cy="554309"/>
          </a:xfrm>
          <a:prstGeom prst="hexagon">
            <a:avLst/>
          </a:prstGeom>
          <a:solidFill>
            <a:srgbClr val="7A4A1E"/>
          </a:solidFill>
          <a:ln/>
        </p:spPr>
      </p:sp>
      <p:sp>
        <p:nvSpPr>
          <p:cNvPr id="23"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7871269" y="2355677"/>
            <a:ext cx="3588906" cy="1295908"/>
          </a:xfrm>
          <a:prstGeom prst="roundRect">
            <a:avLst>
              <a:gd name="adj" fmla="val 8467"/>
            </a:avLst>
          </a:prstGeom>
          <a:solidFill>
            <a:srgbClr val="EEE3CD"/>
          </a:solidFill>
          <a:ln w="19050">
            <a:solidFill>
              <a:srgbClr val="B8862B"/>
            </a:solidFill>
            <a:prstDash val="solid"/>
          </a:ln>
        </p:spPr>
      </p:sp>
      <p:sp>
        <p:nvSpPr>
          <p:cNvPr id="26" name="answer"/>
          <p:cNvSpPr txBox="1"/>
          <p:nvPr/>
        </p:nvSpPr>
        <p:spPr>
          <a:xfrm>
            <a:off x="7962709" y="2428829"/>
            <a:ext cx="3406026"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That brave British soldiers were let down by poor commanders</a:t>
            </a:r>
            <a:endParaRPr lang="en-US" sz="2200" dirty="0"/>
          </a:p>
        </p:txBody>
      </p:sp>
      <p:sp>
        <p:nvSpPr>
          <p:cNvPr id="27" name="card-body"/>
          <p:cNvSpPr txBox="1"/>
          <p:nvPr/>
        </p:nvSpPr>
        <p:spPr>
          <a:xfrm>
            <a:off x="7871269" y="3834465"/>
            <a:ext cx="3588906" cy="2173143"/>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What does the phrase lions led by donkeys mean?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lions are the soldiers and the donkeys are the commanders who led them badly. Many historians now think the picture is too simple.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interpretation</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judgement a historian forms about the past, using evidence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Two historians can read the same evidence and reach a different interpretation.</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butcher</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here, a harsh word for a commander blamed for needless deaths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Calling Haig a butcher is a judgement, not a fact.</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casualties</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soldiers killed, wounded or missing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casualties of the first day were the heaviest in the army's history.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lions led by donkeys</a:t>
            </a:r>
            <a:endParaRPr lang="en-US" sz="2600" dirty="0"/>
          </a:p>
        </p:txBody>
      </p:sp>
      <p:sp>
        <p:nvSpPr>
          <p:cNvPr id="11" name="word-rule"/>
          <p:cNvSpPr/>
          <p:nvPr/>
        </p:nvSpPr>
        <p:spPr>
          <a:xfrm>
            <a:off x="731520" y="2129028"/>
            <a:ext cx="5044288" cy="0"/>
          </a:xfrm>
          <a:prstGeom prst="line">
            <a:avLst/>
          </a:prstGeom>
          <a:ln w="12700">
            <a:solidFill>
              <a:srgbClr val="CCB9A8"/>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idea that brave soldiers were let down by poor commanders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lions led by donkeys idea is popular, but many historians now reject it.</a:t>
            </a:r>
            <a:endParaRPr lang="en-US" sz="2200" dirty="0"/>
          </a:p>
        </p:txBody>
      </p:sp>
      <p:sp>
        <p:nvSpPr>
          <p:cNvPr id="13" name="word-card"/>
          <p:cNvSpPr/>
          <p:nvPr/>
        </p:nvSpPr>
        <p:spPr>
          <a:xfrm>
            <a:off x="6233008" y="1389888"/>
            <a:ext cx="5410048" cy="4754880"/>
          </a:xfrm>
          <a:prstGeom prst="roundRect">
            <a:avLst>
              <a:gd name="adj" fmla="val 1154"/>
            </a:avLst>
          </a:prstGeom>
          <a:solidFill>
            <a:srgbClr val="F6F3F0"/>
          </a:solidFill>
          <a:ln w="12700">
            <a:solidFill>
              <a:srgbClr val="CCB9A8"/>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convincing</a:t>
            </a:r>
            <a:endParaRPr lang="en-US" sz="2600" dirty="0"/>
          </a:p>
        </p:txBody>
      </p:sp>
      <p:sp>
        <p:nvSpPr>
          <p:cNvPr id="17" name="word-rule"/>
          <p:cNvSpPr/>
          <p:nvPr/>
        </p:nvSpPr>
        <p:spPr>
          <a:xfrm>
            <a:off x="6415888" y="2129028"/>
            <a:ext cx="5044288" cy="0"/>
          </a:xfrm>
          <a:prstGeom prst="line">
            <a:avLst/>
          </a:prstGeom>
          <a:ln w="12700">
            <a:solidFill>
              <a:srgbClr val="CCB9A8"/>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believable, because the evidence supports it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Say which interpretation you find more convincing, and why.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Historians use evidence to form judgements about the past.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These judgements are called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interpretations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Two historians can study the Somme and disagree.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That is because they choose different things to focus on.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One may look at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casualties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of the first day.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Another may look at the whole war effort.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Some historians call General Haig a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butcher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blame his plan and his old-fashioned tactics for needless deaths.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Others point out that he was told when and where to attack.</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add that both sides used the same methods.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One popular idea is called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lions led by donkeys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says brave soldiers were let down by poor leaders.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Your job is to decide which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interpretation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convinces you.</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is an interpretation?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Before you agree or disagree, say what the historian is arguing and what they have chosen to focus on. That one sentence shows you understand how interpretations are built.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Historians use evidence to form their judgements about the past, and those judgements are called interpretations.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When you study an interpretation, your lesson gives you three questions.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Historians disagree about Haig because they choose different things to focus 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Butcher or hero? Weighing the evidence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you can argue a piece of evidence both ways, you understand it. Then commit to one side and say why.</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Butcher is a harsh word, and it is meant to be.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case for him is also real, and your lesson sets the two out side by side.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Notice what is happening here. The same battle, and in places the very same evidence, is being used to argue both ways.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Butcher or hero? Weighing the evidence</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F0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Take one piece of evidence, the seven-day bombardment, and show how it can be used on both sides of the argument about Haig.</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State the evidence plainly: the German trenches were shelled for seven days, and 1,783,000 shells were fired.</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Use it against Haig: seven days of shelling warned the Germans that an attack was coming, and still left the wire uncut.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Butcher or hero? Weighing the evidence</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F0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Take one piece of evidence, the seven-day bombardment, and show how it can be used on both sides of the argument about Haig.</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Use it for Haig: no commander had ever been given such a bombardment, and he was told it had destroyed the defences.</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Judge between them: say which use you find more convincing, and give the reason for your choice.</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Against Haig it shows a failed plan and a warned enemy; for Haig it shows thorough preparation and false information. A judgement has to choose, and give a reason.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Lions led by donkeys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use the phrase, explain it: lions are the soldiers, donkeys are the commanders. Then say whether you think the picture fits Haig.</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Since the war ended, some historians have argued that the First World War saw lions led by donkeys.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There is evidence for it. Haig's four-step plan was very simple, and he ordered his men to cross no-man's-land in broad daylight in a straight line.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There is also evidence against it. The Conscription Act had handed Haig an army of men with almost no training, which limited what he could ask them to do: walking in line was the one thing they could be relied on to manage.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How to answer an interpretation question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Five criteria, in order: opinion, evidence, your view, own knowledge, explanation. Tick them off as you write.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gives five success criteria for this kind of answer, and your assessment uses the same five.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sentence starters follow the same order. The interpretation argues that...</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One warning. Partly agree is a strong answer when it is argued, and a weak one when it is used to avoid deciding.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battle in five events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Put the key events of the Battle of the Somme in order.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In 1916 the Allies plan a major attack to wear the German army down, as part of their war of attrition</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By November 1916 the battle is over, about 7 miles of ground has been taken and the French have been saved at Verdun</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On 1 July 1916 the British attack begins, and the first day is a disaster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In February 1916 the Germans attack the French at Verdun, and the French demand British help</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Through the months that follow, the British gain experience and try out new technology such as the tank</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The battle in five events</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battle in five events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Three of the five cards carry a month. Put those three in calendar order first: February, July, November.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planning must come before the German attack on Verdun changed the plans.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months of learning and new technology come after the first day and before the end.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your sequence back as a story and check it makes sense.</a:t>
            </a:r>
            <a:endParaRPr lang="en-US" sz="1800" dirty="0"/>
          </a:p>
        </p:txBody>
      </p:sp>
      <p:sp>
        <p:nvSpPr>
          <p:cNvPr id="17" name="col-Core"/>
          <p:cNvSpPr/>
          <p:nvPr/>
        </p:nvSpPr>
        <p:spPr>
          <a:xfrm>
            <a:off x="6425403" y="2395728"/>
            <a:ext cx="2471666" cy="3749040"/>
          </a:xfrm>
          <a:prstGeom prst="roundRect">
            <a:avLst>
              <a:gd name="adj" fmla="val 2220"/>
            </a:avLst>
          </a:prstGeom>
          <a:solidFill>
            <a:srgbClr val="E4DAD1"/>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Plan, Verdun in February, the attack on 1 July, the months that follow, the end in November.</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Which of these five events would you leave out if you had only four cards, and what would your summary lose?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Which success criterion is this?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sentence from an interpretation answer to the success criterion it meets.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The task (1 of 2): Which success criterion is this?</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sentence from an interpretation answer to the success criterion it meets.</a:t>
            </a:r>
            <a:endParaRPr lang="en-US" sz="2400" dirty="0"/>
          </a:p>
        </p:txBody>
      </p:sp>
      <p:sp>
        <p:nvSpPr>
          <p:cNvPr id="11" name="match-card"/>
          <p:cNvSpPr/>
          <p:nvPr/>
        </p:nvSpPr>
        <p:spPr>
          <a:xfrm>
            <a:off x="777240" y="2672080"/>
            <a:ext cx="5135728" cy="922020"/>
          </a:xfrm>
          <a:prstGeom prst="roundRect">
            <a:avLst>
              <a:gd name="adj" fmla="val 7934"/>
            </a:avLst>
          </a:prstGeom>
          <a:solidFill>
            <a:srgbClr val="F6F3F0"/>
          </a:solidFill>
          <a:ln/>
        </p:spPr>
      </p:sp>
      <p:sp>
        <p:nvSpPr>
          <p:cNvPr id="12" name="match-hex"/>
          <p:cNvSpPr/>
          <p:nvPr/>
        </p:nvSpPr>
        <p:spPr>
          <a:xfrm>
            <a:off x="850392" y="2966797"/>
            <a:ext cx="384048" cy="332586"/>
          </a:xfrm>
          <a:prstGeom prst="hexagon">
            <a:avLst/>
          </a:prstGeom>
          <a:solidFill>
            <a:srgbClr val="7A4A1E"/>
          </a:solidFill>
          <a:ln/>
        </p:spPr>
      </p:sp>
      <p:sp>
        <p:nvSpPr>
          <p:cNvPr id="13" name="match-hex-label"/>
          <p:cNvSpPr txBox="1"/>
          <p:nvPr/>
        </p:nvSpPr>
        <p:spPr>
          <a:xfrm>
            <a:off x="850392" y="29667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4541368" cy="9220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historian argues that Haig should not be judged only as a butcher</a:t>
            </a:r>
            <a:endParaRPr lang="en-US" sz="2200" dirty="0"/>
          </a:p>
        </p:txBody>
      </p:sp>
      <p:sp>
        <p:nvSpPr>
          <p:cNvPr id="15" name="match-card"/>
          <p:cNvSpPr/>
          <p:nvPr/>
        </p:nvSpPr>
        <p:spPr>
          <a:xfrm>
            <a:off x="6278728" y="2672080"/>
            <a:ext cx="5135728" cy="922020"/>
          </a:xfrm>
          <a:prstGeom prst="roundRect">
            <a:avLst>
              <a:gd name="adj" fmla="val 7934"/>
            </a:avLst>
          </a:prstGeom>
          <a:solidFill>
            <a:srgbClr val="F8F2E9"/>
          </a:solidFill>
          <a:ln/>
        </p:spPr>
      </p:sp>
      <p:sp>
        <p:nvSpPr>
          <p:cNvPr id="16" name="match-hex"/>
          <p:cNvSpPr/>
          <p:nvPr/>
        </p:nvSpPr>
        <p:spPr>
          <a:xfrm>
            <a:off x="6351880" y="2966797"/>
            <a:ext cx="384048" cy="332586"/>
          </a:xfrm>
          <a:prstGeom prst="hexagon">
            <a:avLst/>
          </a:prstGeom>
          <a:solidFill>
            <a:srgbClr val="B8862B"/>
          </a:solidFill>
          <a:ln/>
        </p:spPr>
      </p:sp>
      <p:sp>
        <p:nvSpPr>
          <p:cNvPr id="17" name="match-hex-label"/>
          <p:cNvSpPr txBox="1"/>
          <p:nvPr/>
        </p:nvSpPr>
        <p:spPr>
          <a:xfrm>
            <a:off x="6351880" y="29667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672080"/>
            <a:ext cx="4541368" cy="9220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State the historian's opinion</a:t>
            </a:r>
            <a:endParaRPr lang="en-US" sz="2200" dirty="0"/>
          </a:p>
        </p:txBody>
      </p:sp>
      <p:sp>
        <p:nvSpPr>
          <p:cNvPr id="19" name="match-card"/>
          <p:cNvSpPr/>
          <p:nvPr/>
        </p:nvSpPr>
        <p:spPr>
          <a:xfrm>
            <a:off x="777240" y="3685540"/>
            <a:ext cx="5135728" cy="1262888"/>
          </a:xfrm>
          <a:prstGeom prst="roundRect">
            <a:avLst>
              <a:gd name="adj" fmla="val 5792"/>
            </a:avLst>
          </a:prstGeom>
          <a:solidFill>
            <a:srgbClr val="F6F3F0"/>
          </a:solidFill>
          <a:ln/>
        </p:spPr>
      </p:sp>
      <p:sp>
        <p:nvSpPr>
          <p:cNvPr id="20" name="match-hex"/>
          <p:cNvSpPr/>
          <p:nvPr/>
        </p:nvSpPr>
        <p:spPr>
          <a:xfrm>
            <a:off x="850392" y="4150691"/>
            <a:ext cx="384048" cy="332586"/>
          </a:xfrm>
          <a:prstGeom prst="hexagon">
            <a:avLst/>
          </a:prstGeom>
          <a:solidFill>
            <a:srgbClr val="7A4A1E"/>
          </a:solidFill>
          <a:ln/>
        </p:spPr>
      </p:sp>
      <p:sp>
        <p:nvSpPr>
          <p:cNvPr id="21" name="match-hex-label"/>
          <p:cNvSpPr txBox="1"/>
          <p:nvPr/>
        </p:nvSpPr>
        <p:spPr>
          <a:xfrm>
            <a:off x="850392" y="41506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85540"/>
            <a:ext cx="4541368" cy="12628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interpretation points to the shortage of trained soldiers after conscription</a:t>
            </a:r>
            <a:endParaRPr lang="en-US" sz="2200" dirty="0"/>
          </a:p>
        </p:txBody>
      </p:sp>
      <p:sp>
        <p:nvSpPr>
          <p:cNvPr id="23" name="match-card"/>
          <p:cNvSpPr/>
          <p:nvPr/>
        </p:nvSpPr>
        <p:spPr>
          <a:xfrm>
            <a:off x="6278728" y="3685540"/>
            <a:ext cx="5135728" cy="1262888"/>
          </a:xfrm>
          <a:prstGeom prst="roundRect">
            <a:avLst>
              <a:gd name="adj" fmla="val 5792"/>
            </a:avLst>
          </a:prstGeom>
          <a:solidFill>
            <a:srgbClr val="F8F2E9"/>
          </a:solidFill>
          <a:ln/>
        </p:spPr>
      </p:sp>
      <p:sp>
        <p:nvSpPr>
          <p:cNvPr id="24" name="match-hex"/>
          <p:cNvSpPr/>
          <p:nvPr/>
        </p:nvSpPr>
        <p:spPr>
          <a:xfrm>
            <a:off x="6351880" y="4150691"/>
            <a:ext cx="384048" cy="332586"/>
          </a:xfrm>
          <a:prstGeom prst="hexagon">
            <a:avLst/>
          </a:prstGeom>
          <a:solidFill>
            <a:srgbClr val="B8862B"/>
          </a:solidFill>
          <a:ln/>
        </p:spPr>
      </p:sp>
      <p:sp>
        <p:nvSpPr>
          <p:cNvPr id="25" name="match-hex-label"/>
          <p:cNvSpPr txBox="1"/>
          <p:nvPr/>
        </p:nvSpPr>
        <p:spPr>
          <a:xfrm>
            <a:off x="6351880" y="41506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685540"/>
            <a:ext cx="4541368" cy="12628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Say whether you agree or disagree</a:t>
            </a:r>
            <a:endParaRPr lang="en-US" sz="2200" dirty="0"/>
          </a:p>
        </p:txBody>
      </p:sp>
      <p:sp>
        <p:nvSpPr>
          <p:cNvPr id="27" name="match-card"/>
          <p:cNvSpPr/>
          <p:nvPr/>
        </p:nvSpPr>
        <p:spPr>
          <a:xfrm>
            <a:off x="777240" y="5039868"/>
            <a:ext cx="5135728" cy="922020"/>
          </a:xfrm>
          <a:prstGeom prst="roundRect">
            <a:avLst>
              <a:gd name="adj" fmla="val 7934"/>
            </a:avLst>
          </a:prstGeom>
          <a:solidFill>
            <a:srgbClr val="F6F3F0"/>
          </a:solidFill>
          <a:ln/>
        </p:spPr>
      </p:sp>
      <p:sp>
        <p:nvSpPr>
          <p:cNvPr id="28" name="match-hex"/>
          <p:cNvSpPr/>
          <p:nvPr/>
        </p:nvSpPr>
        <p:spPr>
          <a:xfrm>
            <a:off x="850392" y="5334585"/>
            <a:ext cx="384048" cy="332586"/>
          </a:xfrm>
          <a:prstGeom prst="hexagon">
            <a:avLst/>
          </a:prstGeom>
          <a:solidFill>
            <a:srgbClr val="7A4A1E"/>
          </a:solidFill>
          <a:ln/>
        </p:spPr>
      </p:sp>
      <p:sp>
        <p:nvSpPr>
          <p:cNvPr id="29" name="match-hex-label"/>
          <p:cNvSpPr txBox="1"/>
          <p:nvPr/>
        </p:nvSpPr>
        <p:spPr>
          <a:xfrm>
            <a:off x="850392" y="533458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5039868"/>
            <a:ext cx="4541368" cy="9220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partly agree with this interpretation</a:t>
            </a:r>
            <a:endParaRPr lang="en-US" sz="2200" dirty="0"/>
          </a:p>
        </p:txBody>
      </p:sp>
      <p:sp>
        <p:nvSpPr>
          <p:cNvPr id="31" name="match-card"/>
          <p:cNvSpPr/>
          <p:nvPr/>
        </p:nvSpPr>
        <p:spPr>
          <a:xfrm>
            <a:off x="6278728" y="5039868"/>
            <a:ext cx="5135728" cy="922020"/>
          </a:xfrm>
          <a:prstGeom prst="roundRect">
            <a:avLst>
              <a:gd name="adj" fmla="val 7934"/>
            </a:avLst>
          </a:prstGeom>
          <a:solidFill>
            <a:srgbClr val="F8F2E9"/>
          </a:solidFill>
          <a:ln/>
        </p:spPr>
      </p:sp>
      <p:sp>
        <p:nvSpPr>
          <p:cNvPr id="32" name="match-hex"/>
          <p:cNvSpPr/>
          <p:nvPr/>
        </p:nvSpPr>
        <p:spPr>
          <a:xfrm>
            <a:off x="6351880" y="5334585"/>
            <a:ext cx="384048" cy="332586"/>
          </a:xfrm>
          <a:prstGeom prst="hexagon">
            <a:avLst/>
          </a:prstGeom>
          <a:solidFill>
            <a:srgbClr val="B8862B"/>
          </a:solidFill>
          <a:ln/>
        </p:spPr>
      </p:sp>
      <p:sp>
        <p:nvSpPr>
          <p:cNvPr id="33" name="match-hex-label"/>
          <p:cNvSpPr txBox="1"/>
          <p:nvPr/>
        </p:nvSpPr>
        <p:spPr>
          <a:xfrm>
            <a:off x="6351880" y="533458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5039868"/>
            <a:ext cx="4541368" cy="9220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Give evidence from the interpretation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The task (2 of 2): Which success criterion is this?</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sentence from an interpretation answer to the success criterion it meets.</a:t>
            </a:r>
            <a:endParaRPr lang="en-US" sz="2400" dirty="0"/>
          </a:p>
        </p:txBody>
      </p:sp>
      <p:sp>
        <p:nvSpPr>
          <p:cNvPr id="11" name="match-card"/>
          <p:cNvSpPr/>
          <p:nvPr/>
        </p:nvSpPr>
        <p:spPr>
          <a:xfrm>
            <a:off x="777240" y="2672080"/>
            <a:ext cx="5135728" cy="1506220"/>
          </a:xfrm>
          <a:prstGeom prst="roundRect">
            <a:avLst>
              <a:gd name="adj" fmla="val 4857"/>
            </a:avLst>
          </a:prstGeom>
          <a:solidFill>
            <a:srgbClr val="F6F3F0"/>
          </a:solidFill>
          <a:ln/>
        </p:spPr>
      </p:sp>
      <p:sp>
        <p:nvSpPr>
          <p:cNvPr id="12" name="match-hex"/>
          <p:cNvSpPr/>
          <p:nvPr/>
        </p:nvSpPr>
        <p:spPr>
          <a:xfrm>
            <a:off x="850392" y="3258897"/>
            <a:ext cx="384048" cy="332586"/>
          </a:xfrm>
          <a:prstGeom prst="hexagon">
            <a:avLst/>
          </a:prstGeom>
          <a:solidFill>
            <a:srgbClr val="7A4A1E"/>
          </a:solidFill>
          <a:ln/>
        </p:spPr>
      </p:sp>
      <p:sp>
        <p:nvSpPr>
          <p:cNvPr id="13" name="match-hex-label"/>
          <p:cNvSpPr txBox="1"/>
          <p:nvPr/>
        </p:nvSpPr>
        <p:spPr>
          <a:xfrm>
            <a:off x="850392" y="32588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4541368" cy="15062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know that the French at Verdun were close to collapse and demanded help</a:t>
            </a:r>
            <a:endParaRPr lang="en-US" sz="2200" dirty="0"/>
          </a:p>
        </p:txBody>
      </p:sp>
      <p:sp>
        <p:nvSpPr>
          <p:cNvPr id="15" name="match-card"/>
          <p:cNvSpPr/>
          <p:nvPr/>
        </p:nvSpPr>
        <p:spPr>
          <a:xfrm>
            <a:off x="6278728" y="2672080"/>
            <a:ext cx="5135728" cy="1506220"/>
          </a:xfrm>
          <a:prstGeom prst="roundRect">
            <a:avLst>
              <a:gd name="adj" fmla="val 4857"/>
            </a:avLst>
          </a:prstGeom>
          <a:solidFill>
            <a:srgbClr val="F8F2E9"/>
          </a:solidFill>
          <a:ln/>
        </p:spPr>
      </p:sp>
      <p:sp>
        <p:nvSpPr>
          <p:cNvPr id="16" name="match-hex"/>
          <p:cNvSpPr/>
          <p:nvPr/>
        </p:nvSpPr>
        <p:spPr>
          <a:xfrm>
            <a:off x="6351880" y="3258897"/>
            <a:ext cx="384048" cy="332586"/>
          </a:xfrm>
          <a:prstGeom prst="hexagon">
            <a:avLst/>
          </a:prstGeom>
          <a:solidFill>
            <a:srgbClr val="B8862B"/>
          </a:solidFill>
          <a:ln/>
        </p:spPr>
      </p:sp>
      <p:sp>
        <p:nvSpPr>
          <p:cNvPr id="17" name="match-hex-label"/>
          <p:cNvSpPr txBox="1"/>
          <p:nvPr/>
        </p:nvSpPr>
        <p:spPr>
          <a:xfrm>
            <a:off x="6351880" y="32588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672080"/>
            <a:ext cx="4541368" cy="15062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Explain how this shows Haig positively or negatively</a:t>
            </a:r>
            <a:endParaRPr lang="en-US" sz="2200" dirty="0"/>
          </a:p>
        </p:txBody>
      </p:sp>
      <p:sp>
        <p:nvSpPr>
          <p:cNvPr id="19" name="match-card"/>
          <p:cNvSpPr/>
          <p:nvPr/>
        </p:nvSpPr>
        <p:spPr>
          <a:xfrm>
            <a:off x="777240" y="4269740"/>
            <a:ext cx="5135728" cy="1506220"/>
          </a:xfrm>
          <a:prstGeom prst="roundRect">
            <a:avLst>
              <a:gd name="adj" fmla="val 4857"/>
            </a:avLst>
          </a:prstGeom>
          <a:solidFill>
            <a:srgbClr val="F6F3F0"/>
          </a:solidFill>
          <a:ln/>
        </p:spPr>
      </p:sp>
      <p:sp>
        <p:nvSpPr>
          <p:cNvPr id="20" name="match-hex"/>
          <p:cNvSpPr/>
          <p:nvPr/>
        </p:nvSpPr>
        <p:spPr>
          <a:xfrm>
            <a:off x="850392" y="4856557"/>
            <a:ext cx="384048" cy="332586"/>
          </a:xfrm>
          <a:prstGeom prst="hexagon">
            <a:avLst/>
          </a:prstGeom>
          <a:solidFill>
            <a:srgbClr val="7A4A1E"/>
          </a:solidFill>
          <a:ln/>
        </p:spPr>
      </p:sp>
      <p:sp>
        <p:nvSpPr>
          <p:cNvPr id="21" name="match-hex-label"/>
          <p:cNvSpPr txBox="1"/>
          <p:nvPr/>
        </p:nvSpPr>
        <p:spPr>
          <a:xfrm>
            <a:off x="850392" y="485655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4269740"/>
            <a:ext cx="4541368" cy="15062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This shows Haig in a more positive light, because many of his choices were made for him</a:t>
            </a:r>
            <a:endParaRPr lang="en-US" sz="2200" dirty="0"/>
          </a:p>
        </p:txBody>
      </p:sp>
      <p:sp>
        <p:nvSpPr>
          <p:cNvPr id="23" name="match-card"/>
          <p:cNvSpPr/>
          <p:nvPr/>
        </p:nvSpPr>
        <p:spPr>
          <a:xfrm>
            <a:off x="6278728" y="4269740"/>
            <a:ext cx="5135728" cy="1506220"/>
          </a:xfrm>
          <a:prstGeom prst="roundRect">
            <a:avLst>
              <a:gd name="adj" fmla="val 4857"/>
            </a:avLst>
          </a:prstGeom>
          <a:solidFill>
            <a:srgbClr val="F8F2E9"/>
          </a:solidFill>
          <a:ln/>
        </p:spPr>
      </p:sp>
      <p:sp>
        <p:nvSpPr>
          <p:cNvPr id="24" name="match-hex"/>
          <p:cNvSpPr/>
          <p:nvPr/>
        </p:nvSpPr>
        <p:spPr>
          <a:xfrm>
            <a:off x="6351880" y="4856557"/>
            <a:ext cx="384048" cy="332586"/>
          </a:xfrm>
          <a:prstGeom prst="hexagon">
            <a:avLst/>
          </a:prstGeom>
          <a:solidFill>
            <a:srgbClr val="B8862B"/>
          </a:solidFill>
          <a:ln/>
        </p:spPr>
      </p:sp>
      <p:sp>
        <p:nvSpPr>
          <p:cNvPr id="25" name="match-hex-label"/>
          <p:cNvSpPr txBox="1"/>
          <p:nvPr/>
        </p:nvSpPr>
        <p:spPr>
          <a:xfrm>
            <a:off x="6351880" y="485655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4269740"/>
            <a:ext cx="4541368" cy="15062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Give an example from your own knowledge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Which success criterion is this?</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Which success criterion is this?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for the signal words at the start of each sentence.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historian argues tells you the sentence is about the historian's opinion.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 know that tells you the sentence is own knowledge; I partly agree tells you it is your view.</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sentence that begins This shows is the explanation, and it always comes last.</a:t>
            </a:r>
            <a:endParaRPr lang="en-US" sz="1800" dirty="0"/>
          </a:p>
        </p:txBody>
      </p:sp>
      <p:sp>
        <p:nvSpPr>
          <p:cNvPr id="17" name="col-Core"/>
          <p:cNvSpPr/>
          <p:nvPr/>
        </p:nvSpPr>
        <p:spPr>
          <a:xfrm>
            <a:off x="5490762" y="2395728"/>
            <a:ext cx="2938987" cy="3749040"/>
          </a:xfrm>
          <a:prstGeom prst="roundRect">
            <a:avLst>
              <a:gd name="adj" fmla="val 1867"/>
            </a:avLst>
          </a:prstGeom>
          <a:solidFill>
            <a:srgbClr val="E4DAD1"/>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signal words do the work: the historian argues, the interpretation points to, I partly agree, I know that, this shows.</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Write one more sentence for each of the five criteria, this time arguing the opposite case about Haig.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58419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is a historical interpretation?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list of events in the order they happened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judgement a historian forms about the past, using evidence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Something left behind from the time, such as a letter or a photograph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rule for how to set out a paragraph</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battle in five events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In 1916 the Allies plan a major attack to wear the German army down, as part of their war of attrition  (A)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In February 1916 the Germans attack the French at Verdun, and the French demand British help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On 1 July 1916 the British attack begins, and the first day is a disaster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Through the months that follow, the British gain experience and try out new technology such as the tank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By November 1916 the battle is over, about 7 miles of ground has been taken and the French have been saved at Verdun  (B)</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Allies planned the attack; the Germans struck at Verdun in February 1916 and the French demanded help; the British attacked on 1 July 1916; the battle ground on through the autumn; and it ended in November 1916 with about 7 miles gained and Verdun relieved.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Which success criterion is this?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713232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667512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historian argues that Haig should not be judged only as a butcher  →  B  State the historian's opinion</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interpretation points to the shortage of trained soldiers after conscription  →  D  Give evidence from the interpretation</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I partly agree with this interpretation  →  E  Say whether you agree or disagree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I know that the French at Verdun were close to collapse and demanded help  →  A  Give an example from your own knowledge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This shows Haig in a more positive light, because many of his choices were made for him  →  C  Explain how this shows Haig positively or negatively</a:t>
            </a:r>
            <a:endParaRPr lang="en-US" sz="1800" dirty="0"/>
          </a:p>
        </p:txBody>
      </p:sp>
      <p:sp>
        <p:nvSpPr>
          <p:cNvPr id="10" name="why-panel"/>
          <p:cNvSpPr/>
          <p:nvPr/>
        </p:nvSpPr>
        <p:spPr>
          <a:xfrm>
            <a:off x="7955280" y="1389888"/>
            <a:ext cx="3687775" cy="4754880"/>
          </a:xfrm>
          <a:prstGeom prst="roundRect">
            <a:avLst>
              <a:gd name="adj" fmla="val 1240"/>
            </a:avLst>
          </a:prstGeom>
          <a:solidFill>
            <a:srgbClr val="F4F0EC"/>
          </a:solidFill>
          <a:ln/>
        </p:spPr>
      </p:sp>
      <p:sp>
        <p:nvSpPr>
          <p:cNvPr id="11" name="why-hex"/>
          <p:cNvSpPr/>
          <p:nvPr/>
        </p:nvSpPr>
        <p:spPr>
          <a:xfrm>
            <a:off x="8138160" y="1572768"/>
            <a:ext cx="685800" cy="593903"/>
          </a:xfrm>
          <a:prstGeom prst="hexagon">
            <a:avLst/>
          </a:prstGeom>
          <a:solidFill>
            <a:srgbClr val="7A4A1E"/>
          </a:solidFill>
          <a:ln/>
        </p:spPr>
      </p:sp>
      <p:sp>
        <p:nvSpPr>
          <p:cNvPr id="12" name="why-hex-label"/>
          <p:cNvSpPr txBox="1"/>
          <p:nvPr/>
        </p:nvSpPr>
        <p:spPr>
          <a:xfrm>
            <a:off x="813816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8138160" y="2304288"/>
            <a:ext cx="332201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Opinion, evidence from the interpretation, your own view, own knowledge, explanation. The order matters because each step gives the next one something to work with.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is a historical interpretation?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A judgement a historian forms about the past, using evidence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 interpretation is a historian's judgement, built from evidence. A source is the evidence itself.</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Battle of the Somme · Chapter 6: Butcher or hero? Interpretations of General Haig</dc:title>
  <dc:subject>History · Year 8</dc:subject>
  <dc:creator>Dr Vitor Merissi de Carvalho</dc:creator>
  <cp:lastModifiedBy>Dr Vitor Merissi de Carvalho</cp:lastModifiedBy>
  <cp:revision>1</cp:revision>
  <dcterms:created xsi:type="dcterms:W3CDTF">2026-10-19T06:08:03Z</dcterms:created>
  <dcterms:modified xsi:type="dcterms:W3CDTF">2026-10-19T06:08:03Z</dcterms:modified>
</cp:coreProperties>
</file>