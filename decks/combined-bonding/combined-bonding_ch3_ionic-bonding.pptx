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8f88292-a8e8-9971-9d9c-eb8ccf49ba0b}">
          <p14:sldIdLst>
            <p14:sldId id="256"/>
          </p14:sldIdLst>
        </p14:section>
        <p14:section name="Gate" id="{dd1c52ba-c91d-b501-fe9d-58cd65f7e754}">
          <p14:sldIdLst>
            <p14:sldId id="257"/>
            <p14:sldId id="258"/>
          </p14:sldIdLst>
        </p14:section>
        <p14:section name="Pre-teach" id="{b4a1d93b-0c45-bb6c-fa0f-2c7ef6be4501}">
          <p14:sldIdLst>
            <p14:sldId id="259"/>
            <p14:sldId id="260"/>
          </p14:sldIdLst>
        </p14:section>
        <p14:section name="Read-along" id="{9b871e34-7e74-59a0-97df-f00dbc68ead2}">
          <p14:sldIdLst>
            <p14:sldId id="261"/>
            <p14:sldId id="262"/>
          </p14:sldIdLst>
        </p14:section>
        <p14:section name="Teach" id="{0620ea3b-79aa-d288-2524-de3130e7e12f}">
          <p14:sldIdLst>
            <p14:sldId id="263"/>
            <p14:sldId id="264"/>
            <p14:sldId id="265"/>
            <p14:sldId id="266"/>
            <p14:sldId id="267"/>
            <p14:sldId id="268"/>
          </p14:sldIdLst>
        </p14:section>
        <p14:section name="Routes" id="{dc92781e-61b3-548b-4aa6-a2ec39af67e8}">
          <p14:sldIdLst>
            <p14:sldId id="269"/>
            <p14:sldId id="270"/>
            <p14:sldId id="271"/>
            <p14:sldId id="272"/>
          </p14:sldIdLst>
        </p14:section>
        <p14:section name="Close" id="{6192b0be-a855-b74f-b481-4da880c9839a}">
          <p14:sldIdLst>
            <p14:sldId id="273"/>
          </p14:sldIdLst>
        </p14:section>
        <p14:section name="Answers" id="{66377764-40e7-8c7a-8fc3-6214e755afc0}">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of 6: Ionic bonding and giant ionic structures. This chapter explains how a metal and a non-metal bond by transferring electrons, how to work out the formula of the compound, and why ionic compounds behave the way they do.
This deck covers the department's lessons: 3 (3.3 Ionic bonding: What happens to the electrons when a metal reacts with a non-metal, and how do you work out the formula of the compound?); 4 (3.4 Giant ionic structures: Why do ionic compounds have high melting points, and when can they conduct electricity?).
Read the big question aloud: "Why does table salt melt at 801 °C while the water you dissolve it in boils at 100 °C?"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When sodium reacts with chlorine, what happens to the electrons?  →  C   Each sodium atom transfers one electron to a chlorine atom
2. Calcium ions are Ca²⁺ and chloride ions are Cl⁻. What is the formula of calcium chloride?  →  D   CaCl₂
3. Solid sodium chloride does not conduct electricity because its ions cannot ___.  →  move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Each sodium atom transfers one electron to a chlorine atom. Ionic bonding is electron transfer from the metal to the non-metal: sodium loses one electron, chlorine gains it.
2. D   CaCl₂. One 2+ ion needs two 1− ions to cancel its charge, so the formula is CaCl₂.
3. move. In the solid lattice the ions are fixed in position. A current needs charged particles that are free to move.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transfer: to move something from one place to another. Example: "Sodium transfers one electron to chlorine."
• ionic bond: the strong pull between a positive ion and a negative ion. Example: "An ionic bond holds the sodium ion and the chloride ion together."
• lattice: a huge regular pattern of ions. Example: "A grain of salt is a lattice of millions of ions."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electrostatic: to do with the pull between positive and negative charges. Example: "The electrostatic attraction between the ions is very strong."
• formula: the symbols that show which atoms or ions are in a compound and in what ratio. Example: "The formula of sodium chloride is NaCl."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A metal atom and a non-metal atom can react together.
2. The metal atom gives one or more electrons to the non-metal atom.
3. This is called electron transfer.
4. The metal becomes a positive ion.
5. The non-metal becomes a negative ion.
6. Opposite charges attract, so the ions pull towards each other.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This strong pull is called an ionic bond.
8. Millions of ions pack together in a regular pattern called a giant lattice.
9. Table salt, sodium chloride, is a giant ionic lattice.
10. It needs a lot of energy to pull the ions apart, so it melts at 801 °C.
11. Solid salt cannot conduct electricity, because its ions cannot move.
12. When salt melts or dissolves, the ions are free to move, so it conducts.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Electron transfer. Say it in your own words, then check understanding with a quick question: ask a pupil from the pre-teach group first, since they met these words and ideas before the lesson. Pupils try to recall before you re-explain.
When sodium reacts with chlorine, each sodium atom transfers its one outer electron to a chlorine atom. The sodium atom becomes a sodium ion, Na⁺, with the stable arrangement 2,8. The chlorine atom becomes a chloride ion, Cl⁻, with the stable arrangement 2,8,8. Both ions now have full outer shells.
The two ions have opposite charges, and opposite charges attract. This strong electrostatic attraction between oppositely charged ions is an ionic bond. Ionic bonding happens between metals and non-metals: the metal loses electrons and the non-metal gains them.
When a question says 'describe, in terms of electrons', it wants four things: which atom loses electrons and how many, which atom gains them and how many, the ions that form with their charges, and the attraction between them. A dot and cross diagram of the compound shows the outer shells of both ions, in square brackets, with the charges outside.
Worked example — model it step by step, thinking aloud: Describe, in terms of electrons, what happens when a lithium atom reacts with a fluorine atom to form lithium fluoride. (1) Lithium is in Group 1: it has 1 outer electron and loses it, forming a lithium ion, Li⁺. (2) Fluorine is in Group 7: it has 7 outer electrons and gains the 1 electron from lithium, forming a fluoride ion, F⁻. (3) Both ions now have full outer shells. (4) The oppositely charged ions are held together by strong electrostatic attraction: an ionic bond. Answer: Lithium loses one electron to form Li⁺; fluorine gains that electron to form F⁻; the oppositely charged ions attract strongly, forming an ionic bond..
Tip: Lose, gain, ions with charges, attraction. Four ideas, usually four 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Electron transfer. Say it in your own words, then check understanding with a quick question: ask a pupil from the pre-teach group first, since they met these words and ideas before the lesson. Pupils try to recall before you re-explain.
When sodium reacts with chlorine, each sodium atom transfers its one outer electron to a chlorine atom. The sodium atom becomes a sodium ion, Na⁺, with the stable arrangement 2,8. The chlorine atom becomes a chloride ion, Cl⁻, with the stable arrangement 2,8,8. Both ions now have full outer shells.
The two ions have opposite charges, and opposite charges attract. This strong electrostatic attraction between oppositely charged ions is an ionic bond. Ionic bonding happens between metals and non-metals: the metal loses electrons and the non-metal gains them.
When a question says 'describe, in terms of electrons', it wants four things: which atom loses electrons and how many, which atom gains them and how many, the ions that form with their charges, and the attraction between them. A dot and cross diagram of the compound shows the outer shells of both ions, in square brackets, with the charges outside.
Worked example — model it step by step, thinking aloud: Describe, in terms of electrons, what happens when a lithium atom reacts with a fluorine atom to form lithium fluoride. (1) Lithium is in Group 1: it has 1 outer electron and loses it, forming a lithium ion, Li⁺. (2) Fluorine is in Group 7: it has 7 outer electrons and gains the 1 electron from lithium, forming a fluoride ion, F⁻. (3) Both ions now have full outer shells. (4) The oppositely charged ions are held together by strong electrostatic attraction: an ionic bond. Answer: Lithium loses one electron to form Li⁺; fluorine gains that electron to form F⁻; the oppositely charged ions attract strongly, forming an ionic bond..
Tip: Lose, gain, ions with charges, attraction. Four ideas, usually four 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Working out the formula. Say it in your own words, then check understanding with a quick question: ask a pupil from the pre-teach group first, since they met these words and ideas before the lesson. Pupils try to recall before you re-explain.
An ionic compound has no overall charge, so the positive and negative charges must cancel. Sodium chloride is NaCl: one Na⁺ (1+) balances one Cl⁻ (1−). Magnesium chloride needs two chloride ions to balance one Mg²⁺, so its formula is MgCl₂. The small 2 after Cl means two chloride ions for every magnesium ion.
The method is the same every time. Write down the two ions and their charges. Find the smallest numbers of each that make the total positive charge equal to the total negative charge. Write the metal first, then the non-metal, with the numbers as subscripts. Never write the charges in the formula of the compound.
When the charges are the same size, the ions pair up one to one: Mg²⁺ and O²⁻ give MgO; Ca²⁺ and S²⁻ give CaS. When they are different, cross them over: Na⁺ and O²⁻ need two sodium ions, Na₂O; Al³⁺ and O²⁻ need two aluminium ions and three oxide ions, Al₂O₃.
Worked example — model it step by step, thinking aloud: Aluminium ions are Al³⁺ and oxide ions are O²⁻. Work out the formula of aluminium oxide. (1) Find the smallest total that both charges can reach: 3 and 2 both go into 6. (2) Positive: 2 aluminium ions give 2 × 3 = 6+. (3) Negative: 3 oxide ions give 3 × 2 = 6−. (4) 6+ and 6− cancel. Two Al and three O: Al₂O₃. Answer: Al₂O₃.
Tip: Charges must cancel. Same size: one to one. Different sizes: swap the numbers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Reading a formula. Say it in your own words, then check understanding with a quick question: ask a pupil from the pre-teach group first, since they met these words and ideas before the lesson. Pupils try to recall before you re-explain.
You can also read a formula backwards to find which ions are in a compound and how many. Na₂O contains two sodium ions and one oxide ion. Use the periodic table for the charges: sodium is in Group 1, so Na⁺; oxygen is in Group 6, so O²⁻. Check that the charges cancel: 2 × (1+) and 1 × (2−). They do.
MgBr₂ contains one magnesium ion, Mg²⁺, and two bromide ions, Br⁻. CaO contains one Ca²⁺ and one O²⁻. The formula of an ionic compound gives the ratio of ions in the lattice, not a single unit: there is no such thing as a single NaCl molecule, only a lattice in which Na⁺ and Cl⁻ ions are present one for one.
Worked example — model it step by step, thinking aloud: What ions are in lithium oxide, Li₂O, and how many of each does the formula show? (1) Elements: lithium (Li) and oxygen (O). The 2 shows two lithium ions for each oxide ion. (2) Charges from the periodic table: lithium is Group 1, Li⁺; oxygen is Group 6, O²⁻. (3) Check: 2 × (1+) = 2+ and 1 × (2−) = 2−. The charges cancel. Answer: Two Li⁺ ions and one O²⁻ ion..
Tip: A subscript number belongs to the symbol just before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Giant lattices and their properties. Say it in your own words, then check understanding with a quick question: ask a pupil from the pre-teach group first, since they met these words and ideas before the lesson. Pupils try to recall before you re-explain.
Ionic compounds do not form small molecules. The ions pack into a giant ionic lattice: a regular, repeating structure in which every positive ion is surrounded by negative ions and every negative ion by positive ions, with strong electrostatic forces acting in all directions. A single grain of salt contains millions of ions.
Because those forces are strong and act in every direction, a lot of energy is needed to pull the ions apart. So ionic compounds have high melting and boiling points: sodium chloride melts at 801 °C. The bigger the charges on the ions, the stronger the attraction: calcium oxide (Ca²⁺ and O²⁻) melts at 2572 °C, far higher than sodium oxide (Na⁺ and O²⁻) at 1132 °C.
Solid ionic compounds do not conduct electricity, because the ions are locked in place in the lattice and cannot move. When the compound melts, or dissolves in water, the lattice breaks up and the ions are free to move. Moving charged particles carry a current, so molten and dissolved (aqueous) ionic compounds do conduct. Many ionic compounds dissolve in water: the water molecules pull the ions away from the lattice and they spread out, which is why dissolved salt seems to disappear.
Worked example — model it step by step, thinking aloud: Calcium oxide melts at 2572 °C and sodium oxide at 1132 °C. How much higher is the melting point of calcium oxide, and why? (1) Difference: 2572 − 1132 = 1440 degrees. (2) Both compounds contain O²⁻ ions. The difference is the metal ion: Ca²⁺ against Na⁺. (3) A 2+ ion attracts the 2− oxide ions more strongly than a 1+ ion does. (4) Stronger electrostatic forces need more energy to overcome, so the melting point is higher. Answer: 1440 degrees higher, because the Ca²⁺ ions attract the oxide ions more strongly than Na⁺ ions do..
Tip: Solid: ions fixed, no conduction. Molten or dissolved: ions free to move, conducts.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Giant lattices and their properties. Say it in your own words, then check understanding with a quick question: ask a pupil from the pre-teach group first, since they met these words and ideas before the lesson. Pupils try to recall before you re-explain.
Ionic compounds do not form small molecules. The ions pack into a giant ionic lattice: a regular, repeating structure in which every positive ion is surrounded by negative ions and every negative ion by positive ions, with strong electrostatic forces acting in all directions. A single grain of salt contains millions of ions.
Because those forces are strong and act in every direction, a lot of energy is needed to pull the ions apart. So ionic compounds have high melting and boiling points: sodium chloride melts at 801 °C. The bigger the charges on the ions, the stronger the attraction: calcium oxide (Ca²⁺ and O²⁻) melts at 2572 °C, far higher than sodium oxide (Na⁺ and O²⁻) at 1132 °C.
Solid ionic compounds do not conduct electricity, because the ions are locked in place in the lattice and cannot move. When the compound melts, or dissolves in water, the lattice breaks up and the ions are free to move. Moving charged particles carry a current, so molten and dissolved (aqueous) ionic compounds do conduct. Many ionic compounds dissolve in water: the water molecules pull the ions away from the lattice and they spread out, which is why dissolved salt seems to disappear.
Worked example — model it step by step, thinking aloud: Calcium oxide melts at 2572 °C and sodium oxide at 1132 °C. How much higher is the melting point of calcium oxide, and why? (1) Difference: 2572 − 1132 = 1440 degrees. (2) Both compounds contain O²⁻ ions. The difference is the metal ion: Ca²⁺ against Na⁺. (3) A 2+ ion attracts the 2− oxide ions more strongly than a 1+ ion does. (4) Stronger electrostatic forces need more energy to overcome, so the melting point is higher. Answer: 1440 degrees higher, because the Ca²⁺ ions attract the oxide ions more strongly than Na⁺ ions do..
Tip: Solid: ions fixed, no conduction. Molten or dissolved: ions free to move, conducts.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Balance the charges.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Aluminium oxide contains aluminium ions with a 3+ charge and oxide ions with a 2− charge. How many oxide ions are needed to balance the charge on 2 aluminium ions?
Support — work through the steps with the group: (1) Work out the total positive charge: number of metal ions × charge on each. (2) Each negative ion cancels its own charge. Divide the positive total by the size of the negative charge. (3) Check: positive total and negative total must be equal.
Parallel worked example for Support (model it, do not give the task answer): Sodium oxide contains Na⁺ (1+) and O²⁻ (2−). How many sodium ions are needed to balance one oxide ion? One oxide ion gives 2−.; Each sodium ion gives only 1+, so 2 ÷ 1 = 2 sodium ions.; Formula: Na₂O.. Answer: 2 sodium ions.
Core — reveal the hint only on request: Total positive charge first. Then how many 2− ions does it take to cancel it?
Stretch — no help; when finished: Write the formula of aluminium oxide, then predict the formula of aluminium sulfide (sulfide is S²⁻) and of aluminium chloride (Cl⁻). Explain the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Balance the charges.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Aluminium oxide contains aluminium ions with a 3+ charge and oxide ions with a 2− charge. How many oxide ions are needed to balance the charge on 2 aluminium ions?
Support — work through the steps with the group: (1) Work out the total positive charge: number of metal ions × charge on each. (2) Each negative ion cancels its own charge. Divide the positive total by the size of the negative charge. (3) Check: positive total and negative total must be equal.
Parallel worked example for Support (model it, do not give the task answer): Sodium oxide contains Na⁺ (1+) and O²⁻ (2−). How many sodium ions are needed to balance one oxide ion? One oxide ion gives 2−.; Each sodium ion gives only 1+, so 2 ÷ 1 = 2 sodium ions.; Formula: Na₂O.. Answer: 2 sodium ions.
Core — reveal the hint only on request: Total positive charge first. Then how many 2− ions does it take to cancel it?
Stretch — no help; when finished: Write the formula of aluminium oxide, then predict the formula of aluminium sulfide (sulfide is S²⁻) and of aluminium chloride (Cl⁻). Explain the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When does salt conduct?.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Solid sodium chloride does not conduct electricity, but molten sodium chloride does. Why?
Support — work through the steps with the group: (1) A current is carried by charged particles that are free to move. (2) In a solid lattice the ions are locked in position. (3) Melting or dissolving breaks up the lattice: what can the ions do now?
Parallel worked example for Support (model it, do not give the task answer): Why does a solution of potassium fluoride in water conduct electricity? Dissolving separates the K⁺ and F⁻ ions from the lattice.; The ions spread out through the water and are free to move.; Moving charged particles carry the current.. Answer: The dissolved ions are free to move and carry charge..
Core — reveal the hint only on request: What carries the charge in an ionic compound, and what stops it in the solid?
Stretch — no help; when finished: Explain why distilled water is a poor conductor while sea water is a good one, and why the electrolysis of sodium chloride (which you will meet later) must be done on molten or dissolved salt.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When does salt conduct?.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Solid sodium chloride does not conduct electricity, but molten sodium chloride does. Why?
Support — work through the steps with the group: (1) A current is carried by charged particles that are free to move. (2) In a solid lattice the ions are locked in position. (3) Melting or dissolving breaks up the lattice: what can the ions do now?
Parallel worked example for Support (model it, do not give the task answer): Why does a solution of potassium fluoride in water conduct electricity? Dissolving separates the K⁺ and F⁻ ions from the lattice.; The ions spread out through the water and are free to move.; Moving charged particles carry the current.. Answer: The dissolved ions are free to move and carry charge..
Core — reveal the hint only on request: What carries the charge in an ionic compound, and what stops it in the solid?
Stretch — no help; when finished: Explain why distilled water is a poor conductor while sea water is a good one, and why the electrolysis of sodium chloride (which you will meet later) must be done on molten or dissolved salt.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When sodium reacts with chlorine, what happens to the electrons?
Answer: B   Each sodium atom transfers one electron to a chlorine atom. Ionic bonding is electron transfer from the metal to the non-metal: sodium loses one electron, chlorine gains it.
Source of this question: gate item 1 re-asked (options rotated) — this chapter has no third quick-check module.
The ebook also holds task 3, "Explain the properties",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Balance the charges. Reveal the answer; pupils mark their own work in a different colour, then read the "why" together. Same destination for every lane, so one answer serves the whole class.
Answer: 3 oxide ions
Why: 2 × 3 = 6+, so three 2− ions are needed: 3 × 2 = 6−. Formula Al₂O₃.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When does salt conduct?. Reveal the answer; pupils mark their own work in a different colour, then read the "why" together. Same destination for every lane, so one answer serves the whole class.
Answer: C   When molten, the ions are free to move and carry charge
Why: Molten ions are free to move. Moving charged particles carry a current; fixed ones cannot.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Each sodium atom transfers one electron to a chlorine atom
Why: Ionic bonding is electron transfer from the metal to the non-metal: sodium loses one electron, chlorine gains it.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7DBDA"/>
          </a:solidFill>
          <a:ln w="12700">
            <a:solidFill>
              <a:srgbClr val="C7DBDA"/>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Chemistry (Combined Science) · Year 10 · Structure and Bonding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7DBDA"/>
          </a:solidFill>
          <a:ln w="12700">
            <a:solidFill>
              <a:srgbClr val="C7DBDA"/>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Chemistry (Combined Science) · Year 10 · Structure and Bonding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1F6F6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BDEDD"/>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1F6F6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1F6F6A"/>
                </a:solidFill>
                <a:latin typeface="Calibri" pitchFamily="34" charset="0"/>
                <a:ea typeface="Calibri" pitchFamily="34" charset="-122"/>
                <a:cs typeface="Calibri" pitchFamily="34" charset="-120"/>
              </a:rPr>
              <a:t>Chemistry (Combined Science)</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Year 10 · Chapter 3/6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Structure and Bonding · AQA 8464</a:t>
            </a:r>
            <a:endParaRPr lang="en-US" sz="1800" dirty="0"/>
          </a:p>
        </p:txBody>
      </p:sp>
      <p:sp>
        <p:nvSpPr>
          <p:cNvPr id="10" name="deck-title"/>
          <p:cNvSpPr txBox="1"/>
          <p:nvPr/>
        </p:nvSpPr>
        <p:spPr>
          <a:xfrm>
            <a:off x="548640" y="221919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Ionic bonding and giant ionic structures</a:t>
            </a:r>
            <a:endParaRPr lang="en-US" sz="4000" dirty="0"/>
          </a:p>
        </p:txBody>
      </p:sp>
      <p:sp>
        <p:nvSpPr>
          <p:cNvPr id="11" name="lessons-card"/>
          <p:cNvSpPr/>
          <p:nvPr/>
        </p:nvSpPr>
        <p:spPr>
          <a:xfrm>
            <a:off x="548640" y="3895598"/>
            <a:ext cx="5287975" cy="1328420"/>
          </a:xfrm>
          <a:prstGeom prst="roundRect">
            <a:avLst>
              <a:gd name="adj" fmla="val 5507"/>
            </a:avLst>
          </a:prstGeom>
          <a:solidFill>
            <a:srgbClr val="E2ECEC"/>
          </a:solidFill>
          <a:ln/>
        </p:spPr>
      </p:sp>
      <p:sp>
        <p:nvSpPr>
          <p:cNvPr id="12" name="lessons"/>
          <p:cNvSpPr txBox="1"/>
          <p:nvPr/>
        </p:nvSpPr>
        <p:spPr>
          <a:xfrm>
            <a:off x="685800" y="3987038"/>
            <a:ext cx="5013655" cy="11455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1F6F6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3.3 Ionic bonding</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3.4 Giant ionic structures</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Chemistry (Combined Science),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2ECEC"/>
          </a:solidFill>
          <a:ln w="12700">
            <a:solidFill>
              <a:srgbClr val="9FC1BF"/>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1F6F6A"/>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Why does table salt melt at 801 °C while the water you dissolve it in boils at 100 °C?</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272888" cy="4754880"/>
          </a:xfrm>
          <a:prstGeom prst="roundRect">
            <a:avLst>
              <a:gd name="adj" fmla="val 1154"/>
            </a:avLst>
          </a:prstGeom>
          <a:solidFill>
            <a:srgbClr val="E9F1F0"/>
          </a:solidFill>
          <a:ln w="12700">
            <a:solidFill>
              <a:srgbClr val="AAC8C6"/>
            </a:solidFill>
            <a:prstDash val="solid"/>
          </a:ln>
        </p:spPr>
      </p:sp>
      <p:sp>
        <p:nvSpPr>
          <p:cNvPr id="8" name="card-hex"/>
          <p:cNvSpPr/>
          <p:nvPr/>
        </p:nvSpPr>
        <p:spPr>
          <a:xfrm>
            <a:off x="731520" y="1572768"/>
            <a:ext cx="640080" cy="554309"/>
          </a:xfrm>
          <a:prstGeom prst="hexagon">
            <a:avLst/>
          </a:prstGeom>
          <a:solidFill>
            <a:srgbClr val="1F6F6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When sodium reacts with chlorine, what happens to the electrons?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Sodium and chlorine share a pair of electrons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Both atoms lose electrons into a shared sea</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Each sodium atom transfers one electron to a chlorine atom</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Each chlorine atom transfers one electron to a sodium atom</a:t>
            </a:r>
            <a:endParaRPr lang="en-US" sz="1800" dirty="0"/>
          </a:p>
        </p:txBody>
      </p:sp>
      <p:sp>
        <p:nvSpPr>
          <p:cNvPr id="12" name="card"/>
          <p:cNvSpPr/>
          <p:nvPr/>
        </p:nvSpPr>
        <p:spPr>
          <a:xfrm>
            <a:off x="6095848" y="1389888"/>
            <a:ext cx="2636444" cy="4754880"/>
          </a:xfrm>
          <a:prstGeom prst="roundRect">
            <a:avLst>
              <a:gd name="adj" fmla="val 2081"/>
            </a:avLst>
          </a:prstGeom>
          <a:solidFill>
            <a:srgbClr val="E9F1F0"/>
          </a:solidFill>
          <a:ln w="12700">
            <a:solidFill>
              <a:srgbClr val="AAC8C6"/>
            </a:solidFill>
            <a:prstDash val="solid"/>
          </a:ln>
        </p:spPr>
      </p:sp>
      <p:sp>
        <p:nvSpPr>
          <p:cNvPr id="13" name="card-hex"/>
          <p:cNvSpPr/>
          <p:nvPr/>
        </p:nvSpPr>
        <p:spPr>
          <a:xfrm>
            <a:off x="6278728" y="1572768"/>
            <a:ext cx="640080" cy="554309"/>
          </a:xfrm>
          <a:prstGeom prst="hexagon">
            <a:avLst/>
          </a:prstGeom>
          <a:solidFill>
            <a:srgbClr val="1F6F6A"/>
          </a:solidFill>
          <a:ln/>
        </p:spPr>
      </p:sp>
      <p:sp>
        <p:nvSpPr>
          <p:cNvPr id="14" name="card-hex-label"/>
          <p:cNvSpPr txBox="1"/>
          <p:nvPr/>
        </p:nvSpPr>
        <p:spPr>
          <a:xfrm>
            <a:off x="627872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010248"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6278728"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Calcium ions are Ca²⁺ and chloride ions are Cl⁻. What is the formula of calcium chloride?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Ca₂Cl</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Ca₂Cl₂</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CaCl</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CaCl₂</a:t>
            </a:r>
            <a:endParaRPr lang="en-US" sz="2000" dirty="0"/>
          </a:p>
        </p:txBody>
      </p:sp>
      <p:sp>
        <p:nvSpPr>
          <p:cNvPr id="17" name="card"/>
          <p:cNvSpPr/>
          <p:nvPr/>
        </p:nvSpPr>
        <p:spPr>
          <a:xfrm>
            <a:off x="9006611" y="1389888"/>
            <a:ext cx="2636444" cy="4754880"/>
          </a:xfrm>
          <a:prstGeom prst="roundRect">
            <a:avLst>
              <a:gd name="adj" fmla="val 2081"/>
            </a:avLst>
          </a:prstGeom>
          <a:solidFill>
            <a:srgbClr val="E9F1F0"/>
          </a:solidFill>
          <a:ln w="12700">
            <a:solidFill>
              <a:srgbClr val="AAC8C6"/>
            </a:solidFill>
            <a:prstDash val="solid"/>
          </a:ln>
        </p:spPr>
      </p:sp>
      <p:sp>
        <p:nvSpPr>
          <p:cNvPr id="18" name="card-hex"/>
          <p:cNvSpPr/>
          <p:nvPr/>
        </p:nvSpPr>
        <p:spPr>
          <a:xfrm>
            <a:off x="9189491" y="1572768"/>
            <a:ext cx="640080" cy="554309"/>
          </a:xfrm>
          <a:prstGeom prst="hexagon">
            <a:avLst/>
          </a:prstGeom>
          <a:solidFill>
            <a:srgbClr val="1F6F6A"/>
          </a:solidFill>
          <a:ln/>
        </p:spPr>
      </p:sp>
      <p:sp>
        <p:nvSpPr>
          <p:cNvPr id="19"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9189491"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Solid sodium chloride does not conduct electricity because its ions cannot ___.</a:t>
            </a:r>
            <a:endParaRPr lang="en-US" sz="2200" dirty="0"/>
          </a:p>
          <a:p>
            <a:pPr algn="l" indent="0" marL="0">
              <a:buNone/>
            </a:pPr>
            <a:r>
              <a:rPr lang="en-US" sz="2200" b="1" dirty="0">
                <a:solidFill>
                  <a:srgbClr val="1F6F6A"/>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move  ·  vibrate  ·  dissolve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272888" cy="4754880"/>
          </a:xfrm>
          <a:prstGeom prst="roundRect">
            <a:avLst>
              <a:gd name="adj" fmla="val 1154"/>
            </a:avLst>
          </a:prstGeom>
          <a:solidFill>
            <a:srgbClr val="E9F1F0"/>
          </a:solidFill>
          <a:ln w="12700">
            <a:solidFill>
              <a:srgbClr val="AAC8C6"/>
            </a:solidFill>
            <a:prstDash val="solid"/>
          </a:ln>
        </p:spPr>
      </p:sp>
      <p:sp>
        <p:nvSpPr>
          <p:cNvPr id="8" name="card-hex"/>
          <p:cNvSpPr/>
          <p:nvPr/>
        </p:nvSpPr>
        <p:spPr>
          <a:xfrm>
            <a:off x="731520" y="1572768"/>
            <a:ext cx="640080" cy="554309"/>
          </a:xfrm>
          <a:prstGeom prst="hexagon">
            <a:avLst/>
          </a:prstGeom>
          <a:solidFill>
            <a:srgbClr val="1F6F6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4907128" cy="955040"/>
          </a:xfrm>
          <a:prstGeom prst="roundRect">
            <a:avLst>
              <a:gd name="adj" fmla="val 11489"/>
            </a:avLst>
          </a:prstGeom>
          <a:solidFill>
            <a:srgbClr val="EBDDC4"/>
          </a:solidFill>
          <a:ln w="19050">
            <a:solidFill>
              <a:srgbClr val="B8862B"/>
            </a:solidFill>
            <a:prstDash val="solid"/>
          </a:ln>
        </p:spPr>
      </p:sp>
      <p:sp>
        <p:nvSpPr>
          <p:cNvPr id="12" name="answer"/>
          <p:cNvSpPr txBox="1"/>
          <p:nvPr/>
        </p:nvSpPr>
        <p:spPr>
          <a:xfrm>
            <a:off x="822960" y="2428829"/>
            <a:ext cx="472424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Each sodium atom transfers one electron to a chlorine atom</a:t>
            </a:r>
            <a:endParaRPr lang="en-US" sz="2200" dirty="0"/>
          </a:p>
        </p:txBody>
      </p:sp>
      <p:sp>
        <p:nvSpPr>
          <p:cNvPr id="13" name="card-body"/>
          <p:cNvSpPr txBox="1"/>
          <p:nvPr/>
        </p:nvSpPr>
        <p:spPr>
          <a:xfrm>
            <a:off x="731520" y="3493597"/>
            <a:ext cx="4907128" cy="2514011"/>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When sodium reacts with chlorine, what happens to the electrons?</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Ionic bonding is electron transfer from the metal to the non-metal: sodium loses one electron, chlorine gains it.</a:t>
            </a:r>
            <a:endParaRPr lang="en-US" sz="2200" dirty="0"/>
          </a:p>
        </p:txBody>
      </p:sp>
      <p:sp>
        <p:nvSpPr>
          <p:cNvPr id="14" name="card"/>
          <p:cNvSpPr/>
          <p:nvPr/>
        </p:nvSpPr>
        <p:spPr>
          <a:xfrm>
            <a:off x="6095848" y="1389888"/>
            <a:ext cx="2636444" cy="4754880"/>
          </a:xfrm>
          <a:prstGeom prst="roundRect">
            <a:avLst>
              <a:gd name="adj" fmla="val 2081"/>
            </a:avLst>
          </a:prstGeom>
          <a:solidFill>
            <a:srgbClr val="E9F1F0"/>
          </a:solidFill>
          <a:ln w="12700">
            <a:solidFill>
              <a:srgbClr val="AAC8C6"/>
            </a:solidFill>
            <a:prstDash val="solid"/>
          </a:ln>
        </p:spPr>
      </p:sp>
      <p:sp>
        <p:nvSpPr>
          <p:cNvPr id="15" name="card-hex"/>
          <p:cNvSpPr/>
          <p:nvPr/>
        </p:nvSpPr>
        <p:spPr>
          <a:xfrm>
            <a:off x="6278728" y="1572768"/>
            <a:ext cx="640080" cy="554309"/>
          </a:xfrm>
          <a:prstGeom prst="hexagon">
            <a:avLst/>
          </a:prstGeom>
          <a:solidFill>
            <a:srgbClr val="1F6F6A"/>
          </a:solidFill>
          <a:ln/>
        </p:spPr>
      </p:sp>
      <p:sp>
        <p:nvSpPr>
          <p:cNvPr id="16" name="card-hex-label"/>
          <p:cNvSpPr txBox="1"/>
          <p:nvPr/>
        </p:nvSpPr>
        <p:spPr>
          <a:xfrm>
            <a:off x="627872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7010248"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6278728" y="2355677"/>
            <a:ext cx="2270684"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6370168"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CaCl₂</a:t>
            </a:r>
            <a:endParaRPr lang="en-US" sz="2200" dirty="0"/>
          </a:p>
        </p:txBody>
      </p:sp>
      <p:sp>
        <p:nvSpPr>
          <p:cNvPr id="20" name="card-body"/>
          <p:cNvSpPr txBox="1"/>
          <p:nvPr/>
        </p:nvSpPr>
        <p:spPr>
          <a:xfrm>
            <a:off x="6278728" y="3152729"/>
            <a:ext cx="2270684"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Calcium ions are Ca²⁺ and chloride ions are Cl⁻. What is the formula of calcium chloride?</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One 2+ ion needs two 1− ions to cancel its charge, so the formula is CaCl₂.</a:t>
            </a:r>
            <a:endParaRPr lang="en-US" sz="1800" dirty="0"/>
          </a:p>
        </p:txBody>
      </p:sp>
      <p:sp>
        <p:nvSpPr>
          <p:cNvPr id="21" name="card"/>
          <p:cNvSpPr/>
          <p:nvPr/>
        </p:nvSpPr>
        <p:spPr>
          <a:xfrm>
            <a:off x="9006611" y="1389888"/>
            <a:ext cx="2636444" cy="4754880"/>
          </a:xfrm>
          <a:prstGeom prst="roundRect">
            <a:avLst>
              <a:gd name="adj" fmla="val 2081"/>
            </a:avLst>
          </a:prstGeom>
          <a:solidFill>
            <a:srgbClr val="E9F1F0"/>
          </a:solidFill>
          <a:ln w="12700">
            <a:solidFill>
              <a:srgbClr val="AAC8C6"/>
            </a:solidFill>
            <a:prstDash val="solid"/>
          </a:ln>
        </p:spPr>
      </p:sp>
      <p:sp>
        <p:nvSpPr>
          <p:cNvPr id="22" name="card-hex"/>
          <p:cNvSpPr/>
          <p:nvPr/>
        </p:nvSpPr>
        <p:spPr>
          <a:xfrm>
            <a:off x="9189491" y="1572768"/>
            <a:ext cx="640080" cy="554309"/>
          </a:xfrm>
          <a:prstGeom prst="hexagon">
            <a:avLst/>
          </a:prstGeom>
          <a:solidFill>
            <a:srgbClr val="1F6F6A"/>
          </a:solidFill>
          <a:ln/>
        </p:spPr>
      </p:sp>
      <p:sp>
        <p:nvSpPr>
          <p:cNvPr id="23"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9189491" y="2355677"/>
            <a:ext cx="2270684" cy="614172"/>
          </a:xfrm>
          <a:prstGeom prst="roundRect">
            <a:avLst>
              <a:gd name="adj" fmla="val 17866"/>
            </a:avLst>
          </a:prstGeom>
          <a:solidFill>
            <a:srgbClr val="EBDDC4"/>
          </a:solidFill>
          <a:ln w="19050">
            <a:solidFill>
              <a:srgbClr val="B8862B"/>
            </a:solidFill>
            <a:prstDash val="solid"/>
          </a:ln>
        </p:spPr>
      </p:sp>
      <p:sp>
        <p:nvSpPr>
          <p:cNvPr id="26" name="answer"/>
          <p:cNvSpPr txBox="1"/>
          <p:nvPr/>
        </p:nvSpPr>
        <p:spPr>
          <a:xfrm>
            <a:off x="9280931"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move</a:t>
            </a:r>
            <a:endParaRPr lang="en-US" sz="2200" dirty="0"/>
          </a:p>
        </p:txBody>
      </p:sp>
      <p:sp>
        <p:nvSpPr>
          <p:cNvPr id="27" name="card-body"/>
          <p:cNvSpPr txBox="1"/>
          <p:nvPr/>
        </p:nvSpPr>
        <p:spPr>
          <a:xfrm>
            <a:off x="9189491"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In the solid lattice the ions are fixed in position. A current needs charged particles that are free to move.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6EFEF"/>
          </a:solidFill>
          <a:ln w="12700">
            <a:solidFill>
              <a:srgbClr val="9FC1BF"/>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transfer</a:t>
            </a:r>
            <a:endParaRPr lang="en-US" sz="2600" dirty="0"/>
          </a:p>
        </p:txBody>
      </p:sp>
      <p:sp>
        <p:nvSpPr>
          <p:cNvPr id="11" name="word-rule"/>
          <p:cNvSpPr/>
          <p:nvPr/>
        </p:nvSpPr>
        <p:spPr>
          <a:xfrm>
            <a:off x="731520" y="2129028"/>
            <a:ext cx="3149498" cy="0"/>
          </a:xfrm>
          <a:prstGeom prst="line">
            <a:avLst/>
          </a:prstGeom>
          <a:ln w="12700">
            <a:solidFill>
              <a:srgbClr val="9FC1BF"/>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to move something from one place to another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Sodium transfers one electron to chlorine.</a:t>
            </a:r>
            <a:endParaRPr lang="en-US" sz="2200" dirty="0"/>
          </a:p>
        </p:txBody>
      </p:sp>
      <p:sp>
        <p:nvSpPr>
          <p:cNvPr id="13" name="word-card"/>
          <p:cNvSpPr/>
          <p:nvPr/>
        </p:nvSpPr>
        <p:spPr>
          <a:xfrm>
            <a:off x="4338218" y="1389888"/>
            <a:ext cx="3515258" cy="4754880"/>
          </a:xfrm>
          <a:prstGeom prst="roundRect">
            <a:avLst>
              <a:gd name="adj" fmla="val 1561"/>
            </a:avLst>
          </a:prstGeom>
          <a:solidFill>
            <a:srgbClr val="E6EFEF"/>
          </a:solidFill>
          <a:ln w="12700">
            <a:solidFill>
              <a:srgbClr val="9FC1BF"/>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ionic bond</a:t>
            </a:r>
            <a:endParaRPr lang="en-US" sz="2600" dirty="0"/>
          </a:p>
        </p:txBody>
      </p:sp>
      <p:sp>
        <p:nvSpPr>
          <p:cNvPr id="17" name="word-rule"/>
          <p:cNvSpPr/>
          <p:nvPr/>
        </p:nvSpPr>
        <p:spPr>
          <a:xfrm>
            <a:off x="4521098" y="2129028"/>
            <a:ext cx="3149498" cy="0"/>
          </a:xfrm>
          <a:prstGeom prst="line">
            <a:avLst/>
          </a:prstGeom>
          <a:ln w="12700">
            <a:solidFill>
              <a:srgbClr val="9FC1BF"/>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strong pull between a positive ion and a negative ion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An ionic bond holds the sodium ion and the chloride ion together.</a:t>
            </a:r>
            <a:endParaRPr lang="en-US" sz="2200" dirty="0"/>
          </a:p>
        </p:txBody>
      </p:sp>
      <p:sp>
        <p:nvSpPr>
          <p:cNvPr id="19" name="word-card"/>
          <p:cNvSpPr/>
          <p:nvPr/>
        </p:nvSpPr>
        <p:spPr>
          <a:xfrm>
            <a:off x="8127797" y="1389888"/>
            <a:ext cx="3515258" cy="4754880"/>
          </a:xfrm>
          <a:prstGeom prst="roundRect">
            <a:avLst>
              <a:gd name="adj" fmla="val 1561"/>
            </a:avLst>
          </a:prstGeom>
          <a:solidFill>
            <a:srgbClr val="E6EFEF"/>
          </a:solidFill>
          <a:ln w="12700">
            <a:solidFill>
              <a:srgbClr val="9FC1BF"/>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lattice</a:t>
            </a:r>
            <a:endParaRPr lang="en-US" sz="2600" dirty="0"/>
          </a:p>
        </p:txBody>
      </p:sp>
      <p:sp>
        <p:nvSpPr>
          <p:cNvPr id="23" name="word-rule"/>
          <p:cNvSpPr/>
          <p:nvPr/>
        </p:nvSpPr>
        <p:spPr>
          <a:xfrm>
            <a:off x="8310677" y="2129028"/>
            <a:ext cx="3149498" cy="0"/>
          </a:xfrm>
          <a:prstGeom prst="line">
            <a:avLst/>
          </a:prstGeom>
          <a:ln w="12700">
            <a:solidFill>
              <a:srgbClr val="9FC1BF"/>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huge regular pattern of ions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grain of salt is a lattice of millions of ions.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E6EFEF"/>
          </a:solidFill>
          <a:ln w="12700">
            <a:solidFill>
              <a:srgbClr val="9FC1BF"/>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electrostatic</a:t>
            </a:r>
            <a:endParaRPr lang="en-US" sz="2600" dirty="0"/>
          </a:p>
        </p:txBody>
      </p:sp>
      <p:sp>
        <p:nvSpPr>
          <p:cNvPr id="11" name="word-rule"/>
          <p:cNvSpPr/>
          <p:nvPr/>
        </p:nvSpPr>
        <p:spPr>
          <a:xfrm>
            <a:off x="731520" y="2129028"/>
            <a:ext cx="5044288" cy="0"/>
          </a:xfrm>
          <a:prstGeom prst="line">
            <a:avLst/>
          </a:prstGeom>
          <a:ln w="12700">
            <a:solidFill>
              <a:srgbClr val="9FC1BF"/>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to do with the pull between positive and negative charges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electrostatic attraction between the ions is very strong.</a:t>
            </a:r>
            <a:endParaRPr lang="en-US" sz="2200" dirty="0"/>
          </a:p>
        </p:txBody>
      </p:sp>
      <p:sp>
        <p:nvSpPr>
          <p:cNvPr id="13" name="word-card"/>
          <p:cNvSpPr/>
          <p:nvPr/>
        </p:nvSpPr>
        <p:spPr>
          <a:xfrm>
            <a:off x="6233008" y="1389888"/>
            <a:ext cx="5410048" cy="4754880"/>
          </a:xfrm>
          <a:prstGeom prst="roundRect">
            <a:avLst>
              <a:gd name="adj" fmla="val 1154"/>
            </a:avLst>
          </a:prstGeom>
          <a:solidFill>
            <a:srgbClr val="E6EFEF"/>
          </a:solidFill>
          <a:ln w="12700">
            <a:solidFill>
              <a:srgbClr val="9FC1BF"/>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formula</a:t>
            </a:r>
            <a:endParaRPr lang="en-US" sz="2600" dirty="0"/>
          </a:p>
        </p:txBody>
      </p:sp>
      <p:sp>
        <p:nvSpPr>
          <p:cNvPr id="17" name="word-rule"/>
          <p:cNvSpPr/>
          <p:nvPr/>
        </p:nvSpPr>
        <p:spPr>
          <a:xfrm>
            <a:off x="6415888" y="2129028"/>
            <a:ext cx="5044288" cy="0"/>
          </a:xfrm>
          <a:prstGeom prst="line">
            <a:avLst/>
          </a:prstGeom>
          <a:ln w="12700">
            <a:solidFill>
              <a:srgbClr val="9FC1BF"/>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symbols that show which atoms or ions are in a compound and in what ratio</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formula of sodium chloride is NaCl.</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1F6F6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9F1F0"/>
          </a:solidFill>
          <a:ln w="12700">
            <a:solidFill>
              <a:srgbClr val="B5CF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metal atom and a non-metal atom can react together.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metal atom gives one or more electrons to the non-metal atom.</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This is called electron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transfer</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metal becomes a positive ion.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non-metal becomes a negative ion.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Opposite charges attract, so the ions pull towards each other.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1F6F6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9F1F0"/>
          </a:solidFill>
          <a:ln w="12700">
            <a:solidFill>
              <a:srgbClr val="B5CF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This strong pull is called an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ionic bond</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Millions of ions pack together in a regular pattern called a giant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lattice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Table salt, sodium chloride, is a giant ionic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lattice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needs a lot of energy to pull the ions apart, so it melts at 801 °C.</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Solid salt cannot conduct electricity, because its ions cannot move.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When salt melts or dissolves, the ions are free to move, so it conducts.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Electron transfer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Lose, gain, ions with charges, attraction. Four ideas, usually four marks.</a:t>
            </a:r>
            <a:endParaRPr lang="en-US" sz="1800" dirty="0"/>
          </a:p>
        </p:txBody>
      </p:sp>
      <p:sp>
        <p:nvSpPr>
          <p:cNvPr id="11" name="point-card"/>
          <p:cNvSpPr/>
          <p:nvPr/>
        </p:nvSpPr>
        <p:spPr>
          <a:xfrm>
            <a:off x="548640" y="1389888"/>
            <a:ext cx="3515258" cy="3964940"/>
          </a:xfrm>
          <a:prstGeom prst="roundRect">
            <a:avLst>
              <a:gd name="adj" fmla="val 1561"/>
            </a:avLst>
          </a:prstGeom>
          <a:solidFill>
            <a:srgbClr val="E2ECEC"/>
          </a:solidFill>
          <a:ln/>
        </p:spPr>
      </p:sp>
      <p:sp>
        <p:nvSpPr>
          <p:cNvPr id="12" name="point-hex"/>
          <p:cNvSpPr/>
          <p:nvPr/>
        </p:nvSpPr>
        <p:spPr>
          <a:xfrm>
            <a:off x="731520" y="1572768"/>
            <a:ext cx="685800" cy="593903"/>
          </a:xfrm>
          <a:prstGeom prst="hexagon">
            <a:avLst/>
          </a:prstGeom>
          <a:solidFill>
            <a:srgbClr val="1F6F6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When sodium reacts with chlorine, each sodium atom transfers its one outer electron to a chlorine atom.</a:t>
            </a:r>
            <a:endParaRPr lang="en-US" sz="1800" dirty="0"/>
          </a:p>
        </p:txBody>
      </p:sp>
      <p:sp>
        <p:nvSpPr>
          <p:cNvPr id="15" name="point-card"/>
          <p:cNvSpPr/>
          <p:nvPr/>
        </p:nvSpPr>
        <p:spPr>
          <a:xfrm>
            <a:off x="4338218" y="1389888"/>
            <a:ext cx="3515258" cy="3964940"/>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two ions have opposite charges, and opposite charges attract.</a:t>
            </a:r>
            <a:endParaRPr lang="en-US" sz="1800" dirty="0"/>
          </a:p>
        </p:txBody>
      </p:sp>
      <p:sp>
        <p:nvSpPr>
          <p:cNvPr id="19" name="point-card"/>
          <p:cNvSpPr/>
          <p:nvPr/>
        </p:nvSpPr>
        <p:spPr>
          <a:xfrm>
            <a:off x="8127797" y="1389888"/>
            <a:ext cx="3515258" cy="3964940"/>
          </a:xfrm>
          <a:prstGeom prst="roundRect">
            <a:avLst>
              <a:gd name="adj" fmla="val 1561"/>
            </a:avLst>
          </a:prstGeom>
          <a:solidFill>
            <a:srgbClr val="E2ECEC"/>
          </a:solidFill>
          <a:ln/>
        </p:spPr>
      </p:sp>
      <p:sp>
        <p:nvSpPr>
          <p:cNvPr id="20" name="point-hex"/>
          <p:cNvSpPr/>
          <p:nvPr/>
        </p:nvSpPr>
        <p:spPr>
          <a:xfrm>
            <a:off x="8310677" y="1572768"/>
            <a:ext cx="685800" cy="593903"/>
          </a:xfrm>
          <a:prstGeom prst="hexagon">
            <a:avLst/>
          </a:prstGeom>
          <a:solidFill>
            <a:srgbClr val="1F6F6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When a question says 'describe, in terms of electrons', it wants four things: which atom loses electrons and how many, which atom gains them and how many, the ions that form with their charges, and the attraction between them.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Worked example: Electron transfer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29640"/>
          </a:xfrm>
          <a:prstGeom prst="roundRect">
            <a:avLst>
              <a:gd name="adj" fmla="val 9836"/>
            </a:avLst>
          </a:prstGeom>
          <a:solidFill>
            <a:srgbClr val="E2ECEC"/>
          </a:solidFill>
          <a:ln/>
        </p:spPr>
      </p:sp>
      <p:sp>
        <p:nvSpPr>
          <p:cNvPr id="8" name="worked-q"/>
          <p:cNvSpPr txBox="1"/>
          <p:nvPr/>
        </p:nvSpPr>
        <p:spPr>
          <a:xfrm>
            <a:off x="731520" y="1481328"/>
            <a:ext cx="10728655" cy="74676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Describe, in terms of electrons, what happens when a lithium atom reacts with a fluorine atom to form lithium fluoride.</a:t>
            </a:r>
            <a:endParaRPr lang="en-US" sz="2000" dirty="0"/>
          </a:p>
        </p:txBody>
      </p:sp>
      <p:sp>
        <p:nvSpPr>
          <p:cNvPr id="9" name="step-box"/>
          <p:cNvSpPr/>
          <p:nvPr/>
        </p:nvSpPr>
        <p:spPr>
          <a:xfrm>
            <a:off x="548640" y="2502408"/>
            <a:ext cx="11094415" cy="513080"/>
          </a:xfrm>
          <a:prstGeom prst="roundRect">
            <a:avLst>
              <a:gd name="adj" fmla="val 14257"/>
            </a:avLst>
          </a:prstGeom>
          <a:solidFill>
            <a:srgbClr val="FFFFFF"/>
          </a:solidFill>
          <a:ln w="15875">
            <a:solidFill>
              <a:srgbClr val="84B0AD"/>
            </a:solidFill>
            <a:prstDash val="solid"/>
          </a:ln>
        </p:spPr>
      </p:sp>
      <p:sp>
        <p:nvSpPr>
          <p:cNvPr id="10" name="step-hex"/>
          <p:cNvSpPr/>
          <p:nvPr/>
        </p:nvSpPr>
        <p:spPr>
          <a:xfrm>
            <a:off x="685800" y="2560980"/>
            <a:ext cx="457200" cy="395935"/>
          </a:xfrm>
          <a:prstGeom prst="hexagon">
            <a:avLst/>
          </a:prstGeom>
          <a:solidFill>
            <a:srgbClr val="1F6F6A"/>
          </a:solidFill>
          <a:ln/>
        </p:spPr>
      </p:sp>
      <p:sp>
        <p:nvSpPr>
          <p:cNvPr id="11" name="step-hex-label"/>
          <p:cNvSpPr txBox="1"/>
          <p:nvPr/>
        </p:nvSpPr>
        <p:spPr>
          <a:xfrm>
            <a:off x="685800" y="256098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502408"/>
            <a:ext cx="10180015" cy="51308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Lithium is in Group 1: it has 1 outer electron and loses it, forming a lithium ion, Li⁺.</a:t>
            </a:r>
            <a:endParaRPr lang="en-US" sz="1800" dirty="0"/>
          </a:p>
        </p:txBody>
      </p:sp>
      <p:sp>
        <p:nvSpPr>
          <p:cNvPr id="13" name="step-box"/>
          <p:cNvSpPr/>
          <p:nvPr/>
        </p:nvSpPr>
        <p:spPr>
          <a:xfrm>
            <a:off x="548640" y="3088640"/>
            <a:ext cx="11094415" cy="777240"/>
          </a:xfrm>
          <a:prstGeom prst="roundRect">
            <a:avLst>
              <a:gd name="adj" fmla="val 9412"/>
            </a:avLst>
          </a:prstGeom>
          <a:solidFill>
            <a:srgbClr val="FFFFFF"/>
          </a:solidFill>
          <a:ln w="15875">
            <a:solidFill>
              <a:srgbClr val="84B0AD"/>
            </a:solidFill>
            <a:prstDash val="solid"/>
          </a:ln>
        </p:spPr>
      </p:sp>
      <p:sp>
        <p:nvSpPr>
          <p:cNvPr id="14" name="step-hex"/>
          <p:cNvSpPr/>
          <p:nvPr/>
        </p:nvSpPr>
        <p:spPr>
          <a:xfrm>
            <a:off x="685800" y="3279292"/>
            <a:ext cx="457200" cy="395935"/>
          </a:xfrm>
          <a:prstGeom prst="hexagon">
            <a:avLst/>
          </a:prstGeom>
          <a:solidFill>
            <a:srgbClr val="1F6F6A"/>
          </a:solidFill>
          <a:ln/>
        </p:spPr>
      </p:sp>
      <p:sp>
        <p:nvSpPr>
          <p:cNvPr id="15" name="step-hex-label"/>
          <p:cNvSpPr txBox="1"/>
          <p:nvPr/>
        </p:nvSpPr>
        <p:spPr>
          <a:xfrm>
            <a:off x="685800" y="3279292"/>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088640"/>
            <a:ext cx="10180015" cy="77724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Fluorine is in Group 7: it has 7 outer electrons and gains the 1 electron from lithium, forming a fluoride ion, F⁻.</a:t>
            </a:r>
            <a:endParaRPr lang="en-US" sz="1800" dirty="0"/>
          </a:p>
        </p:txBody>
      </p:sp>
      <p:sp>
        <p:nvSpPr>
          <p:cNvPr id="17" name="step-box"/>
          <p:cNvSpPr/>
          <p:nvPr/>
        </p:nvSpPr>
        <p:spPr>
          <a:xfrm>
            <a:off x="548640" y="3939032"/>
            <a:ext cx="11094415" cy="513080"/>
          </a:xfrm>
          <a:prstGeom prst="roundRect">
            <a:avLst>
              <a:gd name="adj" fmla="val 14257"/>
            </a:avLst>
          </a:prstGeom>
          <a:solidFill>
            <a:srgbClr val="FFFFFF"/>
          </a:solidFill>
          <a:ln w="15875">
            <a:solidFill>
              <a:srgbClr val="84B0AD"/>
            </a:solidFill>
            <a:prstDash val="solid"/>
          </a:ln>
        </p:spPr>
      </p:sp>
      <p:sp>
        <p:nvSpPr>
          <p:cNvPr id="18" name="step-hex"/>
          <p:cNvSpPr/>
          <p:nvPr/>
        </p:nvSpPr>
        <p:spPr>
          <a:xfrm>
            <a:off x="685800" y="3997604"/>
            <a:ext cx="457200" cy="395935"/>
          </a:xfrm>
          <a:prstGeom prst="hexagon">
            <a:avLst/>
          </a:prstGeom>
          <a:solidFill>
            <a:srgbClr val="1F6F6A"/>
          </a:solidFill>
          <a:ln/>
        </p:spPr>
      </p:sp>
      <p:sp>
        <p:nvSpPr>
          <p:cNvPr id="19" name="step-hex-label"/>
          <p:cNvSpPr txBox="1"/>
          <p:nvPr/>
        </p:nvSpPr>
        <p:spPr>
          <a:xfrm>
            <a:off x="685800" y="399760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939032"/>
            <a:ext cx="10180015" cy="51308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Both ions now have full outer shells.</a:t>
            </a:r>
            <a:endParaRPr lang="en-US" sz="1800" dirty="0"/>
          </a:p>
        </p:txBody>
      </p:sp>
      <p:sp>
        <p:nvSpPr>
          <p:cNvPr id="21" name="step-box"/>
          <p:cNvSpPr/>
          <p:nvPr/>
        </p:nvSpPr>
        <p:spPr>
          <a:xfrm>
            <a:off x="548640" y="4525264"/>
            <a:ext cx="11094415" cy="513080"/>
          </a:xfrm>
          <a:prstGeom prst="roundRect">
            <a:avLst>
              <a:gd name="adj" fmla="val 14257"/>
            </a:avLst>
          </a:prstGeom>
          <a:solidFill>
            <a:srgbClr val="FFFFFF"/>
          </a:solidFill>
          <a:ln w="15875">
            <a:solidFill>
              <a:srgbClr val="84B0AD"/>
            </a:solidFill>
            <a:prstDash val="solid"/>
          </a:ln>
        </p:spPr>
      </p:sp>
      <p:sp>
        <p:nvSpPr>
          <p:cNvPr id="22" name="step-hex"/>
          <p:cNvSpPr/>
          <p:nvPr/>
        </p:nvSpPr>
        <p:spPr>
          <a:xfrm>
            <a:off x="685800" y="4583836"/>
            <a:ext cx="457200" cy="395935"/>
          </a:xfrm>
          <a:prstGeom prst="hexagon">
            <a:avLst/>
          </a:prstGeom>
          <a:solidFill>
            <a:srgbClr val="1F6F6A"/>
          </a:solidFill>
          <a:ln/>
        </p:spPr>
      </p:sp>
      <p:sp>
        <p:nvSpPr>
          <p:cNvPr id="23" name="step-hex-label"/>
          <p:cNvSpPr txBox="1"/>
          <p:nvPr/>
        </p:nvSpPr>
        <p:spPr>
          <a:xfrm>
            <a:off x="685800" y="4583836"/>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525264"/>
            <a:ext cx="10180015" cy="51308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oppositely charged ions are held together by strong electrostatic attraction: an ionic bond.</a:t>
            </a:r>
            <a:endParaRPr lang="en-US" sz="1800" dirty="0"/>
          </a:p>
        </p:txBody>
      </p:sp>
      <p:sp>
        <p:nvSpPr>
          <p:cNvPr id="25" name="worked-answer"/>
          <p:cNvSpPr/>
          <p:nvPr/>
        </p:nvSpPr>
        <p:spPr>
          <a:xfrm>
            <a:off x="548640" y="5221224"/>
            <a:ext cx="11094415" cy="831088"/>
          </a:xfrm>
          <a:prstGeom prst="roundRect">
            <a:avLst>
              <a:gd name="adj" fmla="val 16504"/>
            </a:avLst>
          </a:prstGeom>
          <a:solidFill>
            <a:srgbClr val="EBDDC4"/>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Lithium loses one electron to form Li⁺; fluorine gains that electron to form F⁻; the oppositely charged ions attract strongly, forming an ionic bond.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Working out the formula</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2E9D9"/>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Charges must cancel. Same size: one to one. Different sizes: swap the numbers over.</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88B3B0"/>
            </a:solidFill>
            <a:prstDash val="solid"/>
          </a:ln>
        </p:spPr>
      </p:sp>
      <p:sp>
        <p:nvSpPr>
          <p:cNvPr id="12" name="worked-tab"/>
          <p:cNvSpPr/>
          <p:nvPr/>
        </p:nvSpPr>
        <p:spPr>
          <a:xfrm>
            <a:off x="6126480" y="1499616"/>
            <a:ext cx="2377440" cy="457200"/>
          </a:xfrm>
          <a:prstGeom prst="roundRect">
            <a:avLst>
              <a:gd name="adj" fmla="val 40000"/>
            </a:avLst>
          </a:prstGeom>
          <a:solidFill>
            <a:srgbClr val="1F6F6A"/>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Aluminium ions are Al³⁺ and oxide ions are O²⁻. Work out the formula of aluminium oxide.</a:t>
            </a:r>
            <a:endParaRPr lang="en-US" sz="1800" dirty="0"/>
          </a:p>
        </p:txBody>
      </p:sp>
      <p:sp>
        <p:nvSpPr>
          <p:cNvPr id="14" name="step-box"/>
          <p:cNvSpPr/>
          <p:nvPr/>
        </p:nvSpPr>
        <p:spPr>
          <a:xfrm>
            <a:off x="6126480" y="2888488"/>
            <a:ext cx="5379415" cy="736981"/>
          </a:xfrm>
          <a:prstGeom prst="roundRect">
            <a:avLst>
              <a:gd name="adj" fmla="val 12407"/>
            </a:avLst>
          </a:prstGeom>
          <a:solidFill>
            <a:srgbClr val="E2ECEC"/>
          </a:solidFill>
          <a:ln/>
        </p:spPr>
      </p:sp>
      <p:sp>
        <p:nvSpPr>
          <p:cNvPr id="15" name="step-hex"/>
          <p:cNvSpPr/>
          <p:nvPr/>
        </p:nvSpPr>
        <p:spPr>
          <a:xfrm>
            <a:off x="6217920" y="3074848"/>
            <a:ext cx="420624" cy="364260"/>
          </a:xfrm>
          <a:prstGeom prst="hexagon">
            <a:avLst/>
          </a:prstGeom>
          <a:solidFill>
            <a:srgbClr val="1F6F6A"/>
          </a:solidFill>
          <a:ln/>
        </p:spPr>
      </p:sp>
      <p:sp>
        <p:nvSpPr>
          <p:cNvPr id="16" name="step-hex-label"/>
          <p:cNvSpPr txBox="1"/>
          <p:nvPr/>
        </p:nvSpPr>
        <p:spPr>
          <a:xfrm>
            <a:off x="6217920" y="307484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73698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Find the smallest total that both charges can reach: 3 and 2 both go into 6.</a:t>
            </a:r>
            <a:endParaRPr lang="en-US" sz="1800" dirty="0"/>
          </a:p>
        </p:txBody>
      </p:sp>
      <p:sp>
        <p:nvSpPr>
          <p:cNvPr id="18" name="step-box"/>
          <p:cNvSpPr/>
          <p:nvPr/>
        </p:nvSpPr>
        <p:spPr>
          <a:xfrm>
            <a:off x="6126480" y="3716909"/>
            <a:ext cx="5379415" cy="509397"/>
          </a:xfrm>
          <a:prstGeom prst="roundRect">
            <a:avLst>
              <a:gd name="adj" fmla="val 17951"/>
            </a:avLst>
          </a:prstGeom>
          <a:solidFill>
            <a:srgbClr val="E2ECEC"/>
          </a:solidFill>
          <a:ln/>
        </p:spPr>
      </p:sp>
      <p:sp>
        <p:nvSpPr>
          <p:cNvPr id="19" name="step-hex"/>
          <p:cNvSpPr/>
          <p:nvPr/>
        </p:nvSpPr>
        <p:spPr>
          <a:xfrm>
            <a:off x="6217920" y="3789477"/>
            <a:ext cx="420624" cy="364260"/>
          </a:xfrm>
          <a:prstGeom prst="hexagon">
            <a:avLst/>
          </a:prstGeom>
          <a:solidFill>
            <a:srgbClr val="1F6F6A"/>
          </a:solidFill>
          <a:ln/>
        </p:spPr>
      </p:sp>
      <p:sp>
        <p:nvSpPr>
          <p:cNvPr id="20" name="step-hex-label"/>
          <p:cNvSpPr txBox="1"/>
          <p:nvPr/>
        </p:nvSpPr>
        <p:spPr>
          <a:xfrm>
            <a:off x="6217920" y="3789477"/>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716909"/>
            <a:ext cx="4739335" cy="50939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Positive: 2 aluminium ions give 2 × 3 = 6+.</a:t>
            </a:r>
            <a:endParaRPr lang="en-US" sz="1800" dirty="0"/>
          </a:p>
        </p:txBody>
      </p:sp>
      <p:sp>
        <p:nvSpPr>
          <p:cNvPr id="22" name="step-box"/>
          <p:cNvSpPr/>
          <p:nvPr/>
        </p:nvSpPr>
        <p:spPr>
          <a:xfrm>
            <a:off x="6126480" y="4317746"/>
            <a:ext cx="5379415" cy="509397"/>
          </a:xfrm>
          <a:prstGeom prst="roundRect">
            <a:avLst>
              <a:gd name="adj" fmla="val 17951"/>
            </a:avLst>
          </a:prstGeom>
          <a:solidFill>
            <a:srgbClr val="E2ECEC"/>
          </a:solidFill>
          <a:ln/>
        </p:spPr>
      </p:sp>
      <p:sp>
        <p:nvSpPr>
          <p:cNvPr id="23" name="step-hex"/>
          <p:cNvSpPr/>
          <p:nvPr/>
        </p:nvSpPr>
        <p:spPr>
          <a:xfrm>
            <a:off x="6217920" y="4390314"/>
            <a:ext cx="420624" cy="364260"/>
          </a:xfrm>
          <a:prstGeom prst="hexagon">
            <a:avLst/>
          </a:prstGeom>
          <a:solidFill>
            <a:srgbClr val="1F6F6A"/>
          </a:solidFill>
          <a:ln/>
        </p:spPr>
      </p:sp>
      <p:sp>
        <p:nvSpPr>
          <p:cNvPr id="24" name="step-hex-label"/>
          <p:cNvSpPr txBox="1"/>
          <p:nvPr/>
        </p:nvSpPr>
        <p:spPr>
          <a:xfrm>
            <a:off x="6217920" y="439031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317746"/>
            <a:ext cx="4739335" cy="50939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Negative: 3 oxide ions give 3 × 2 = 6−.</a:t>
            </a:r>
            <a:endParaRPr lang="en-US" sz="1800" dirty="0"/>
          </a:p>
        </p:txBody>
      </p:sp>
      <p:sp>
        <p:nvSpPr>
          <p:cNvPr id="26" name="step-box"/>
          <p:cNvSpPr/>
          <p:nvPr/>
        </p:nvSpPr>
        <p:spPr>
          <a:xfrm>
            <a:off x="6126480" y="4918583"/>
            <a:ext cx="5379415" cy="509397"/>
          </a:xfrm>
          <a:prstGeom prst="roundRect">
            <a:avLst>
              <a:gd name="adj" fmla="val 17951"/>
            </a:avLst>
          </a:prstGeom>
          <a:solidFill>
            <a:srgbClr val="E2ECEC"/>
          </a:solidFill>
          <a:ln/>
        </p:spPr>
      </p:sp>
      <p:sp>
        <p:nvSpPr>
          <p:cNvPr id="27" name="step-hex"/>
          <p:cNvSpPr/>
          <p:nvPr/>
        </p:nvSpPr>
        <p:spPr>
          <a:xfrm>
            <a:off x="6217920" y="4991151"/>
            <a:ext cx="420624" cy="364260"/>
          </a:xfrm>
          <a:prstGeom prst="hexagon">
            <a:avLst/>
          </a:prstGeom>
          <a:solidFill>
            <a:srgbClr val="1F6F6A"/>
          </a:solidFill>
          <a:ln/>
        </p:spPr>
      </p:sp>
      <p:sp>
        <p:nvSpPr>
          <p:cNvPr id="28" name="step-hex-label"/>
          <p:cNvSpPr txBox="1"/>
          <p:nvPr/>
        </p:nvSpPr>
        <p:spPr>
          <a:xfrm>
            <a:off x="6217920" y="4991151"/>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9" name="step"/>
          <p:cNvSpPr txBox="1"/>
          <p:nvPr/>
        </p:nvSpPr>
        <p:spPr>
          <a:xfrm>
            <a:off x="6766560" y="4918583"/>
            <a:ext cx="4739335" cy="50939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6+ and 6− cancel. Two Al and three O: Al₂O₃.</a:t>
            </a:r>
            <a:endParaRPr lang="en-US" sz="1800" dirty="0"/>
          </a:p>
        </p:txBody>
      </p:sp>
      <p:sp>
        <p:nvSpPr>
          <p:cNvPr id="30" name="worked-answer"/>
          <p:cNvSpPr/>
          <p:nvPr/>
        </p:nvSpPr>
        <p:spPr>
          <a:xfrm>
            <a:off x="6126480" y="5565140"/>
            <a:ext cx="5379415" cy="552196"/>
          </a:xfrm>
          <a:prstGeom prst="roundRect">
            <a:avLst>
              <a:gd name="adj" fmla="val 33119"/>
            </a:avLst>
          </a:prstGeom>
          <a:solidFill>
            <a:srgbClr val="EBDDC4"/>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Al₂O₃</a:t>
            </a:r>
            <a:endParaRPr lang="en-US" sz="1800" dirty="0"/>
          </a:p>
        </p:txBody>
      </p:sp>
      <p:sp>
        <p:nvSpPr>
          <p:cNvPr id="31" name="bullet-card"/>
          <p:cNvSpPr/>
          <p:nvPr/>
        </p:nvSpPr>
        <p:spPr>
          <a:xfrm>
            <a:off x="548640" y="1389888"/>
            <a:ext cx="5074920" cy="1131147"/>
          </a:xfrm>
          <a:prstGeom prst="roundRect">
            <a:avLst>
              <a:gd name="adj" fmla="val 6467"/>
            </a:avLst>
          </a:prstGeom>
          <a:solidFill>
            <a:srgbClr val="E6EFEF"/>
          </a:solidFill>
          <a:ln/>
        </p:spPr>
      </p:sp>
      <p:sp>
        <p:nvSpPr>
          <p:cNvPr id="32" name="bullet-hex"/>
          <p:cNvSpPr/>
          <p:nvPr/>
        </p:nvSpPr>
        <p:spPr>
          <a:xfrm>
            <a:off x="676656" y="1789169"/>
            <a:ext cx="384048" cy="332586"/>
          </a:xfrm>
          <a:prstGeom prst="hexagon">
            <a:avLst/>
          </a:prstGeom>
          <a:solidFill>
            <a:srgbClr val="1F6F6A"/>
          </a:solidFill>
          <a:ln/>
        </p:spPr>
      </p:sp>
      <p:sp>
        <p:nvSpPr>
          <p:cNvPr id="33" name="bullet"/>
          <p:cNvSpPr txBox="1"/>
          <p:nvPr/>
        </p:nvSpPr>
        <p:spPr>
          <a:xfrm>
            <a:off x="1143000" y="1389888"/>
            <a:ext cx="4389120" cy="113114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An ionic compound has no overall charge, so the positive and negative charges must cancel.</a:t>
            </a:r>
            <a:endParaRPr lang="en-US" sz="1800" dirty="0"/>
          </a:p>
        </p:txBody>
      </p:sp>
      <p:sp>
        <p:nvSpPr>
          <p:cNvPr id="34" name="bullet-card"/>
          <p:cNvSpPr/>
          <p:nvPr/>
        </p:nvSpPr>
        <p:spPr>
          <a:xfrm>
            <a:off x="548640" y="2667339"/>
            <a:ext cx="5074920" cy="852255"/>
          </a:xfrm>
          <a:prstGeom prst="roundRect">
            <a:avLst>
              <a:gd name="adj" fmla="val 8583"/>
            </a:avLst>
          </a:prstGeom>
          <a:solidFill>
            <a:srgbClr val="E6EFEF"/>
          </a:solidFill>
          <a:ln/>
        </p:spPr>
      </p:sp>
      <p:sp>
        <p:nvSpPr>
          <p:cNvPr id="35" name="bullet-hex"/>
          <p:cNvSpPr/>
          <p:nvPr/>
        </p:nvSpPr>
        <p:spPr>
          <a:xfrm>
            <a:off x="676656" y="2927173"/>
            <a:ext cx="384048" cy="332586"/>
          </a:xfrm>
          <a:prstGeom prst="hexagon">
            <a:avLst/>
          </a:prstGeom>
          <a:solidFill>
            <a:srgbClr val="B8862B"/>
          </a:solidFill>
          <a:ln/>
        </p:spPr>
      </p:sp>
      <p:sp>
        <p:nvSpPr>
          <p:cNvPr id="36" name="bullet"/>
          <p:cNvSpPr txBox="1"/>
          <p:nvPr/>
        </p:nvSpPr>
        <p:spPr>
          <a:xfrm>
            <a:off x="1143000" y="2667339"/>
            <a:ext cx="4389120" cy="85225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method is the same every time. Write down the two ions and their charges.</a:t>
            </a:r>
            <a:endParaRPr lang="en-US" sz="1800" dirty="0"/>
          </a:p>
        </p:txBody>
      </p:sp>
      <p:sp>
        <p:nvSpPr>
          <p:cNvPr id="37" name="bullet-card"/>
          <p:cNvSpPr/>
          <p:nvPr/>
        </p:nvSpPr>
        <p:spPr>
          <a:xfrm>
            <a:off x="548640" y="3665897"/>
            <a:ext cx="5074920" cy="1131147"/>
          </a:xfrm>
          <a:prstGeom prst="roundRect">
            <a:avLst>
              <a:gd name="adj" fmla="val 6467"/>
            </a:avLst>
          </a:prstGeom>
          <a:solidFill>
            <a:srgbClr val="E6EFEF"/>
          </a:solidFill>
          <a:ln/>
        </p:spPr>
      </p:sp>
      <p:sp>
        <p:nvSpPr>
          <p:cNvPr id="38" name="bullet-hex"/>
          <p:cNvSpPr/>
          <p:nvPr/>
        </p:nvSpPr>
        <p:spPr>
          <a:xfrm>
            <a:off x="676656" y="4065178"/>
            <a:ext cx="384048" cy="332586"/>
          </a:xfrm>
          <a:prstGeom prst="hexagon">
            <a:avLst/>
          </a:prstGeom>
          <a:solidFill>
            <a:srgbClr val="1F6F6A"/>
          </a:solidFill>
          <a:ln/>
        </p:spPr>
      </p:sp>
      <p:sp>
        <p:nvSpPr>
          <p:cNvPr id="39" name="bullet"/>
          <p:cNvSpPr txBox="1"/>
          <p:nvPr/>
        </p:nvSpPr>
        <p:spPr>
          <a:xfrm>
            <a:off x="1143000" y="3665897"/>
            <a:ext cx="4389120" cy="113114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When the charges are the same size, the ions pair up one to one: Mg²⁺ and O²⁻ give MgO; Ca²⁺ and S²⁻ give CaS.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Reading a formula</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 subscript number belongs to the symbol just before it.</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88B3B0"/>
            </a:solidFill>
            <a:prstDash val="solid"/>
          </a:ln>
        </p:spPr>
      </p:sp>
      <p:sp>
        <p:nvSpPr>
          <p:cNvPr id="12" name="worked-tab"/>
          <p:cNvSpPr/>
          <p:nvPr/>
        </p:nvSpPr>
        <p:spPr>
          <a:xfrm>
            <a:off x="6126480" y="1499616"/>
            <a:ext cx="2377440" cy="457200"/>
          </a:xfrm>
          <a:prstGeom prst="roundRect">
            <a:avLst>
              <a:gd name="adj" fmla="val 40000"/>
            </a:avLst>
          </a:prstGeom>
          <a:solidFill>
            <a:srgbClr val="1F6F6A"/>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What ions are in lithium oxide, Li₂O, and how many of each does the formula show?</a:t>
            </a:r>
            <a:endParaRPr lang="en-US" sz="1800" dirty="0"/>
          </a:p>
        </p:txBody>
      </p:sp>
      <p:sp>
        <p:nvSpPr>
          <p:cNvPr id="14" name="step-box"/>
          <p:cNvSpPr/>
          <p:nvPr/>
        </p:nvSpPr>
        <p:spPr>
          <a:xfrm>
            <a:off x="6126480" y="2888488"/>
            <a:ext cx="5379415" cy="785537"/>
          </a:xfrm>
          <a:prstGeom prst="roundRect">
            <a:avLst>
              <a:gd name="adj" fmla="val 11640"/>
            </a:avLst>
          </a:prstGeom>
          <a:solidFill>
            <a:srgbClr val="E2ECEC"/>
          </a:solidFill>
          <a:ln/>
        </p:spPr>
      </p:sp>
      <p:sp>
        <p:nvSpPr>
          <p:cNvPr id="15" name="step-hex"/>
          <p:cNvSpPr/>
          <p:nvPr/>
        </p:nvSpPr>
        <p:spPr>
          <a:xfrm>
            <a:off x="6217920" y="3099126"/>
            <a:ext cx="420624" cy="364260"/>
          </a:xfrm>
          <a:prstGeom prst="hexagon">
            <a:avLst/>
          </a:prstGeom>
          <a:solidFill>
            <a:srgbClr val="1F6F6A"/>
          </a:solidFill>
          <a:ln/>
        </p:spPr>
      </p:sp>
      <p:sp>
        <p:nvSpPr>
          <p:cNvPr id="16" name="step-hex-label"/>
          <p:cNvSpPr txBox="1"/>
          <p:nvPr/>
        </p:nvSpPr>
        <p:spPr>
          <a:xfrm>
            <a:off x="6217920" y="309912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78553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Elements: lithium (Li) and oxygen (O). The 2 shows two lithium ions for each oxide ion.</a:t>
            </a:r>
            <a:endParaRPr lang="en-US" sz="1800" dirty="0"/>
          </a:p>
        </p:txBody>
      </p:sp>
      <p:sp>
        <p:nvSpPr>
          <p:cNvPr id="18" name="step-box"/>
          <p:cNvSpPr/>
          <p:nvPr/>
        </p:nvSpPr>
        <p:spPr>
          <a:xfrm>
            <a:off x="6126480" y="3765465"/>
            <a:ext cx="5379415" cy="785537"/>
          </a:xfrm>
          <a:prstGeom prst="roundRect">
            <a:avLst>
              <a:gd name="adj" fmla="val 11640"/>
            </a:avLst>
          </a:prstGeom>
          <a:solidFill>
            <a:srgbClr val="E2ECEC"/>
          </a:solidFill>
          <a:ln/>
        </p:spPr>
      </p:sp>
      <p:sp>
        <p:nvSpPr>
          <p:cNvPr id="19" name="step-hex"/>
          <p:cNvSpPr/>
          <p:nvPr/>
        </p:nvSpPr>
        <p:spPr>
          <a:xfrm>
            <a:off x="6217920" y="3976104"/>
            <a:ext cx="420624" cy="364260"/>
          </a:xfrm>
          <a:prstGeom prst="hexagon">
            <a:avLst/>
          </a:prstGeom>
          <a:solidFill>
            <a:srgbClr val="1F6F6A"/>
          </a:solidFill>
          <a:ln/>
        </p:spPr>
      </p:sp>
      <p:sp>
        <p:nvSpPr>
          <p:cNvPr id="20" name="step-hex-label"/>
          <p:cNvSpPr txBox="1"/>
          <p:nvPr/>
        </p:nvSpPr>
        <p:spPr>
          <a:xfrm>
            <a:off x="6217920" y="397610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765465"/>
            <a:ext cx="4739335" cy="78553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Charges from the periodic table: lithium is Group 1, Li⁺; oxygen is Group 6, O²⁻.</a:t>
            </a:r>
            <a:endParaRPr lang="en-US" sz="1800" dirty="0"/>
          </a:p>
        </p:txBody>
      </p:sp>
      <p:sp>
        <p:nvSpPr>
          <p:cNvPr id="22" name="step-box"/>
          <p:cNvSpPr/>
          <p:nvPr/>
        </p:nvSpPr>
        <p:spPr>
          <a:xfrm>
            <a:off x="6126480" y="4642443"/>
            <a:ext cx="5379415" cy="785537"/>
          </a:xfrm>
          <a:prstGeom prst="roundRect">
            <a:avLst>
              <a:gd name="adj" fmla="val 11640"/>
            </a:avLst>
          </a:prstGeom>
          <a:solidFill>
            <a:srgbClr val="E2ECEC"/>
          </a:solidFill>
          <a:ln/>
        </p:spPr>
      </p:sp>
      <p:sp>
        <p:nvSpPr>
          <p:cNvPr id="23" name="step-hex"/>
          <p:cNvSpPr/>
          <p:nvPr/>
        </p:nvSpPr>
        <p:spPr>
          <a:xfrm>
            <a:off x="6217920" y="4853081"/>
            <a:ext cx="420624" cy="364260"/>
          </a:xfrm>
          <a:prstGeom prst="hexagon">
            <a:avLst/>
          </a:prstGeom>
          <a:solidFill>
            <a:srgbClr val="1F6F6A"/>
          </a:solidFill>
          <a:ln/>
        </p:spPr>
      </p:sp>
      <p:sp>
        <p:nvSpPr>
          <p:cNvPr id="24" name="step-hex-label"/>
          <p:cNvSpPr txBox="1"/>
          <p:nvPr/>
        </p:nvSpPr>
        <p:spPr>
          <a:xfrm>
            <a:off x="6217920" y="4853081"/>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642443"/>
            <a:ext cx="4739335" cy="78553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Check: 2 × (1+) = 2+ and 1 × (2−) = 2−. The charges cancel.</a:t>
            </a:r>
            <a:endParaRPr lang="en-US" sz="1800" dirty="0"/>
          </a:p>
        </p:txBody>
      </p:sp>
      <p:sp>
        <p:nvSpPr>
          <p:cNvPr id="26" name="worked-answer"/>
          <p:cNvSpPr/>
          <p:nvPr/>
        </p:nvSpPr>
        <p:spPr>
          <a:xfrm>
            <a:off x="6126480" y="5565140"/>
            <a:ext cx="5379415" cy="552196"/>
          </a:xfrm>
          <a:prstGeom prst="roundRect">
            <a:avLst>
              <a:gd name="adj" fmla="val 33119"/>
            </a:avLst>
          </a:prstGeom>
          <a:solidFill>
            <a:srgbClr val="EBDDC4"/>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Two Li⁺ ions and one O²⁻ ion.</a:t>
            </a:r>
            <a:endParaRPr lang="en-US" sz="1800" dirty="0"/>
          </a:p>
        </p:txBody>
      </p:sp>
      <p:sp>
        <p:nvSpPr>
          <p:cNvPr id="27" name="bullet-card"/>
          <p:cNvSpPr/>
          <p:nvPr/>
        </p:nvSpPr>
        <p:spPr>
          <a:xfrm>
            <a:off x="548640" y="1389888"/>
            <a:ext cx="5074920" cy="1698244"/>
          </a:xfrm>
          <a:prstGeom prst="roundRect">
            <a:avLst>
              <a:gd name="adj" fmla="val 4308"/>
            </a:avLst>
          </a:prstGeom>
          <a:solidFill>
            <a:srgbClr val="E6EFEF"/>
          </a:solidFill>
          <a:ln/>
        </p:spPr>
      </p:sp>
      <p:sp>
        <p:nvSpPr>
          <p:cNvPr id="28" name="bullet-hex"/>
          <p:cNvSpPr/>
          <p:nvPr/>
        </p:nvSpPr>
        <p:spPr>
          <a:xfrm>
            <a:off x="676656" y="2072717"/>
            <a:ext cx="384048" cy="332586"/>
          </a:xfrm>
          <a:prstGeom prst="hexagon">
            <a:avLst/>
          </a:prstGeom>
          <a:solidFill>
            <a:srgbClr val="1F6F6A"/>
          </a:solidFill>
          <a:ln/>
        </p:spPr>
      </p:sp>
      <p:sp>
        <p:nvSpPr>
          <p:cNvPr id="29" name="bullet"/>
          <p:cNvSpPr txBox="1"/>
          <p:nvPr/>
        </p:nvSpPr>
        <p:spPr>
          <a:xfrm>
            <a:off x="1143000" y="1389888"/>
            <a:ext cx="4389120" cy="169824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You can also read a formula backwards to find which ions are in a compound and how many.</a:t>
            </a:r>
            <a:endParaRPr lang="en-US" sz="2200" dirty="0"/>
          </a:p>
        </p:txBody>
      </p:sp>
      <p:sp>
        <p:nvSpPr>
          <p:cNvPr id="30" name="bullet-card"/>
          <p:cNvSpPr/>
          <p:nvPr/>
        </p:nvSpPr>
        <p:spPr>
          <a:xfrm>
            <a:off x="548640" y="3234436"/>
            <a:ext cx="5074920" cy="1698244"/>
          </a:xfrm>
          <a:prstGeom prst="roundRect">
            <a:avLst>
              <a:gd name="adj" fmla="val 4308"/>
            </a:avLst>
          </a:prstGeom>
          <a:solidFill>
            <a:srgbClr val="E6EFEF"/>
          </a:solidFill>
          <a:ln/>
        </p:spPr>
      </p:sp>
      <p:sp>
        <p:nvSpPr>
          <p:cNvPr id="31" name="bullet-hex"/>
          <p:cNvSpPr/>
          <p:nvPr/>
        </p:nvSpPr>
        <p:spPr>
          <a:xfrm>
            <a:off x="676656" y="3917265"/>
            <a:ext cx="384048" cy="332586"/>
          </a:xfrm>
          <a:prstGeom prst="hexagon">
            <a:avLst/>
          </a:prstGeom>
          <a:solidFill>
            <a:srgbClr val="B8862B"/>
          </a:solidFill>
          <a:ln/>
        </p:spPr>
      </p:sp>
      <p:sp>
        <p:nvSpPr>
          <p:cNvPr id="32" name="bullet"/>
          <p:cNvSpPr txBox="1"/>
          <p:nvPr/>
        </p:nvSpPr>
        <p:spPr>
          <a:xfrm>
            <a:off x="1143000" y="3234436"/>
            <a:ext cx="4389120" cy="169824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MgBr₂ contains one magnesium ion, Mg²⁺, and two bromide ions, Br⁻.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Giant lattices and their properties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Solid: ions fixed, no conduction. Molten or dissolved: ions free to move, conducts.</a:t>
            </a:r>
            <a:endParaRPr lang="en-US" sz="1800" dirty="0"/>
          </a:p>
        </p:txBody>
      </p:sp>
      <p:sp>
        <p:nvSpPr>
          <p:cNvPr id="11" name="bullet-card"/>
          <p:cNvSpPr/>
          <p:nvPr/>
        </p:nvSpPr>
        <p:spPr>
          <a:xfrm>
            <a:off x="548640" y="1389888"/>
            <a:ext cx="11094415" cy="1678601"/>
          </a:xfrm>
          <a:prstGeom prst="roundRect">
            <a:avLst>
              <a:gd name="adj" fmla="val 4358"/>
            </a:avLst>
          </a:prstGeom>
          <a:solidFill>
            <a:srgbClr val="E6EFEF"/>
          </a:solidFill>
          <a:ln/>
        </p:spPr>
      </p:sp>
      <p:sp>
        <p:nvSpPr>
          <p:cNvPr id="12" name="bullet-hex"/>
          <p:cNvSpPr/>
          <p:nvPr/>
        </p:nvSpPr>
        <p:spPr>
          <a:xfrm>
            <a:off x="676656" y="2062896"/>
            <a:ext cx="384048" cy="332586"/>
          </a:xfrm>
          <a:prstGeom prst="hexagon">
            <a:avLst/>
          </a:prstGeom>
          <a:solidFill>
            <a:srgbClr val="1F6F6A"/>
          </a:solidFill>
          <a:ln/>
        </p:spPr>
      </p:sp>
      <p:sp>
        <p:nvSpPr>
          <p:cNvPr id="13" name="bullet"/>
          <p:cNvSpPr txBox="1"/>
          <p:nvPr/>
        </p:nvSpPr>
        <p:spPr>
          <a:xfrm>
            <a:off x="1143000" y="1389888"/>
            <a:ext cx="10408615" cy="167860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Ionic compounds do not form small molecules. The ions pack into a giant ionic lattice: a regular, repeating structure in which every positive ion is surrounded by negative ions and every negative ion by positive ions, with strong electrostatic forces acting in all directions.</a:t>
            </a:r>
            <a:endParaRPr lang="en-US" sz="2200" dirty="0"/>
          </a:p>
        </p:txBody>
      </p:sp>
      <p:sp>
        <p:nvSpPr>
          <p:cNvPr id="14" name="bullet-card"/>
          <p:cNvSpPr/>
          <p:nvPr/>
        </p:nvSpPr>
        <p:spPr>
          <a:xfrm>
            <a:off x="548640" y="3214793"/>
            <a:ext cx="11094415" cy="996865"/>
          </a:xfrm>
          <a:prstGeom prst="roundRect">
            <a:avLst>
              <a:gd name="adj" fmla="val 7338"/>
            </a:avLst>
          </a:prstGeom>
          <a:solidFill>
            <a:srgbClr val="E6EFEF"/>
          </a:solidFill>
          <a:ln/>
        </p:spPr>
      </p:sp>
      <p:sp>
        <p:nvSpPr>
          <p:cNvPr id="15" name="bullet-hex"/>
          <p:cNvSpPr/>
          <p:nvPr/>
        </p:nvSpPr>
        <p:spPr>
          <a:xfrm>
            <a:off x="676656" y="3546933"/>
            <a:ext cx="384048" cy="332586"/>
          </a:xfrm>
          <a:prstGeom prst="hexagon">
            <a:avLst/>
          </a:prstGeom>
          <a:solidFill>
            <a:srgbClr val="B8862B"/>
          </a:solidFill>
          <a:ln/>
        </p:spPr>
      </p:sp>
      <p:sp>
        <p:nvSpPr>
          <p:cNvPr id="16" name="bullet"/>
          <p:cNvSpPr txBox="1"/>
          <p:nvPr/>
        </p:nvSpPr>
        <p:spPr>
          <a:xfrm>
            <a:off x="1143000" y="3214793"/>
            <a:ext cx="10408615" cy="99686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Because those forces are strong and act in every direction, a lot of energy is needed to pull the ions apart.</a:t>
            </a:r>
            <a:endParaRPr lang="en-US" sz="2200" dirty="0"/>
          </a:p>
        </p:txBody>
      </p:sp>
      <p:sp>
        <p:nvSpPr>
          <p:cNvPr id="17" name="bullet-card"/>
          <p:cNvSpPr/>
          <p:nvPr/>
        </p:nvSpPr>
        <p:spPr>
          <a:xfrm>
            <a:off x="548640" y="4357963"/>
            <a:ext cx="11094415" cy="996865"/>
          </a:xfrm>
          <a:prstGeom prst="roundRect">
            <a:avLst>
              <a:gd name="adj" fmla="val 7338"/>
            </a:avLst>
          </a:prstGeom>
          <a:solidFill>
            <a:srgbClr val="E6EFEF"/>
          </a:solidFill>
          <a:ln/>
        </p:spPr>
      </p:sp>
      <p:sp>
        <p:nvSpPr>
          <p:cNvPr id="18" name="bullet-hex"/>
          <p:cNvSpPr/>
          <p:nvPr/>
        </p:nvSpPr>
        <p:spPr>
          <a:xfrm>
            <a:off x="676656" y="4690103"/>
            <a:ext cx="384048" cy="332586"/>
          </a:xfrm>
          <a:prstGeom prst="hexagon">
            <a:avLst/>
          </a:prstGeom>
          <a:solidFill>
            <a:srgbClr val="1F6F6A"/>
          </a:solidFill>
          <a:ln/>
        </p:spPr>
      </p:sp>
      <p:sp>
        <p:nvSpPr>
          <p:cNvPr id="19" name="bullet"/>
          <p:cNvSpPr txBox="1"/>
          <p:nvPr/>
        </p:nvSpPr>
        <p:spPr>
          <a:xfrm>
            <a:off x="1143000" y="4357963"/>
            <a:ext cx="10408615" cy="99686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Solid ionic compounds do not conduct electricity, because the ions are locked in place in the lattice and cannot move.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1F6F6A"/>
                </a:solidFill>
                <a:latin typeface="Cambria" pitchFamily="34" charset="0"/>
                <a:ea typeface="Cambria" pitchFamily="34" charset="-122"/>
                <a:cs typeface="Cambria" pitchFamily="34" charset="-120"/>
              </a:rPr>
              <a:t>Worked example: Giant lattices and their properties</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29640"/>
          </a:xfrm>
          <a:prstGeom prst="roundRect">
            <a:avLst>
              <a:gd name="adj" fmla="val 9836"/>
            </a:avLst>
          </a:prstGeom>
          <a:solidFill>
            <a:srgbClr val="E2ECEC"/>
          </a:solidFill>
          <a:ln/>
        </p:spPr>
      </p:sp>
      <p:sp>
        <p:nvSpPr>
          <p:cNvPr id="8" name="worked-q"/>
          <p:cNvSpPr txBox="1"/>
          <p:nvPr/>
        </p:nvSpPr>
        <p:spPr>
          <a:xfrm>
            <a:off x="731520" y="1481328"/>
            <a:ext cx="10728655" cy="74676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Calcium oxide melts at 2572 °C and sodium oxide at 1132 °C. How much higher is the melting point of calcium oxide, and why?</a:t>
            </a:r>
            <a:endParaRPr lang="en-US" sz="2000" dirty="0"/>
          </a:p>
        </p:txBody>
      </p:sp>
      <p:sp>
        <p:nvSpPr>
          <p:cNvPr id="9" name="step-box"/>
          <p:cNvSpPr/>
          <p:nvPr/>
        </p:nvSpPr>
        <p:spPr>
          <a:xfrm>
            <a:off x="548640" y="2502408"/>
            <a:ext cx="11094415" cy="603504"/>
          </a:xfrm>
          <a:prstGeom prst="roundRect">
            <a:avLst>
              <a:gd name="adj" fmla="val 12121"/>
            </a:avLst>
          </a:prstGeom>
          <a:solidFill>
            <a:srgbClr val="FFFFFF"/>
          </a:solidFill>
          <a:ln w="15875">
            <a:solidFill>
              <a:srgbClr val="84B0AD"/>
            </a:solidFill>
            <a:prstDash val="solid"/>
          </a:ln>
        </p:spPr>
      </p:sp>
      <p:sp>
        <p:nvSpPr>
          <p:cNvPr id="10" name="step-hex"/>
          <p:cNvSpPr/>
          <p:nvPr/>
        </p:nvSpPr>
        <p:spPr>
          <a:xfrm>
            <a:off x="685800" y="2606192"/>
            <a:ext cx="457200" cy="395935"/>
          </a:xfrm>
          <a:prstGeom prst="hexagon">
            <a:avLst/>
          </a:prstGeom>
          <a:solidFill>
            <a:srgbClr val="1F6F6A"/>
          </a:solidFill>
          <a:ln/>
        </p:spPr>
      </p:sp>
      <p:sp>
        <p:nvSpPr>
          <p:cNvPr id="11" name="step-hex-label"/>
          <p:cNvSpPr txBox="1"/>
          <p:nvPr/>
        </p:nvSpPr>
        <p:spPr>
          <a:xfrm>
            <a:off x="685800" y="2606192"/>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502408"/>
            <a:ext cx="10180015" cy="60350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Difference: 2572 − 1132 = 1440 degrees.</a:t>
            </a:r>
            <a:endParaRPr lang="en-US" sz="1800" dirty="0"/>
          </a:p>
        </p:txBody>
      </p:sp>
      <p:sp>
        <p:nvSpPr>
          <p:cNvPr id="13" name="step-box"/>
          <p:cNvSpPr/>
          <p:nvPr/>
        </p:nvSpPr>
        <p:spPr>
          <a:xfrm>
            <a:off x="548640" y="3179064"/>
            <a:ext cx="11094415" cy="603504"/>
          </a:xfrm>
          <a:prstGeom prst="roundRect">
            <a:avLst>
              <a:gd name="adj" fmla="val 12121"/>
            </a:avLst>
          </a:prstGeom>
          <a:solidFill>
            <a:srgbClr val="FFFFFF"/>
          </a:solidFill>
          <a:ln w="15875">
            <a:solidFill>
              <a:srgbClr val="84B0AD"/>
            </a:solidFill>
            <a:prstDash val="solid"/>
          </a:ln>
        </p:spPr>
      </p:sp>
      <p:sp>
        <p:nvSpPr>
          <p:cNvPr id="14" name="step-hex"/>
          <p:cNvSpPr/>
          <p:nvPr/>
        </p:nvSpPr>
        <p:spPr>
          <a:xfrm>
            <a:off x="685800" y="3282848"/>
            <a:ext cx="457200" cy="395935"/>
          </a:xfrm>
          <a:prstGeom prst="hexagon">
            <a:avLst/>
          </a:prstGeom>
          <a:solidFill>
            <a:srgbClr val="1F6F6A"/>
          </a:solidFill>
          <a:ln/>
        </p:spPr>
      </p:sp>
      <p:sp>
        <p:nvSpPr>
          <p:cNvPr id="15" name="step-hex-label"/>
          <p:cNvSpPr txBox="1"/>
          <p:nvPr/>
        </p:nvSpPr>
        <p:spPr>
          <a:xfrm>
            <a:off x="685800" y="328284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179064"/>
            <a:ext cx="10180015" cy="60350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Both compounds contain O²⁻ ions. The difference is the metal ion: Ca²⁺ against Na⁺.</a:t>
            </a:r>
            <a:endParaRPr lang="en-US" sz="1800" dirty="0"/>
          </a:p>
        </p:txBody>
      </p:sp>
      <p:sp>
        <p:nvSpPr>
          <p:cNvPr id="17" name="step-box"/>
          <p:cNvSpPr/>
          <p:nvPr/>
        </p:nvSpPr>
        <p:spPr>
          <a:xfrm>
            <a:off x="548640" y="3855720"/>
            <a:ext cx="11094415" cy="603504"/>
          </a:xfrm>
          <a:prstGeom prst="roundRect">
            <a:avLst>
              <a:gd name="adj" fmla="val 12121"/>
            </a:avLst>
          </a:prstGeom>
          <a:solidFill>
            <a:srgbClr val="FFFFFF"/>
          </a:solidFill>
          <a:ln w="15875">
            <a:solidFill>
              <a:srgbClr val="84B0AD"/>
            </a:solidFill>
            <a:prstDash val="solid"/>
          </a:ln>
        </p:spPr>
      </p:sp>
      <p:sp>
        <p:nvSpPr>
          <p:cNvPr id="18" name="step-hex"/>
          <p:cNvSpPr/>
          <p:nvPr/>
        </p:nvSpPr>
        <p:spPr>
          <a:xfrm>
            <a:off x="685800" y="3959504"/>
            <a:ext cx="457200" cy="395935"/>
          </a:xfrm>
          <a:prstGeom prst="hexagon">
            <a:avLst/>
          </a:prstGeom>
          <a:solidFill>
            <a:srgbClr val="1F6F6A"/>
          </a:solidFill>
          <a:ln/>
        </p:spPr>
      </p:sp>
      <p:sp>
        <p:nvSpPr>
          <p:cNvPr id="19" name="step-hex-label"/>
          <p:cNvSpPr txBox="1"/>
          <p:nvPr/>
        </p:nvSpPr>
        <p:spPr>
          <a:xfrm>
            <a:off x="685800" y="395950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855720"/>
            <a:ext cx="10180015" cy="60350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2+ ion attracts the 2− oxide ions more strongly than a 1+ ion does.</a:t>
            </a:r>
            <a:endParaRPr lang="en-US" sz="1800" dirty="0"/>
          </a:p>
        </p:txBody>
      </p:sp>
      <p:sp>
        <p:nvSpPr>
          <p:cNvPr id="21" name="step-box"/>
          <p:cNvSpPr/>
          <p:nvPr/>
        </p:nvSpPr>
        <p:spPr>
          <a:xfrm>
            <a:off x="548640" y="4532376"/>
            <a:ext cx="11094415" cy="603504"/>
          </a:xfrm>
          <a:prstGeom prst="roundRect">
            <a:avLst>
              <a:gd name="adj" fmla="val 12121"/>
            </a:avLst>
          </a:prstGeom>
          <a:solidFill>
            <a:srgbClr val="FFFFFF"/>
          </a:solidFill>
          <a:ln w="15875">
            <a:solidFill>
              <a:srgbClr val="84B0AD"/>
            </a:solidFill>
            <a:prstDash val="solid"/>
          </a:ln>
        </p:spPr>
      </p:sp>
      <p:sp>
        <p:nvSpPr>
          <p:cNvPr id="22" name="step-hex"/>
          <p:cNvSpPr/>
          <p:nvPr/>
        </p:nvSpPr>
        <p:spPr>
          <a:xfrm>
            <a:off x="685800" y="4636160"/>
            <a:ext cx="457200" cy="395935"/>
          </a:xfrm>
          <a:prstGeom prst="hexagon">
            <a:avLst/>
          </a:prstGeom>
          <a:solidFill>
            <a:srgbClr val="1F6F6A"/>
          </a:solidFill>
          <a:ln/>
        </p:spPr>
      </p:sp>
      <p:sp>
        <p:nvSpPr>
          <p:cNvPr id="23" name="step-hex-label"/>
          <p:cNvSpPr txBox="1"/>
          <p:nvPr/>
        </p:nvSpPr>
        <p:spPr>
          <a:xfrm>
            <a:off x="685800" y="463616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532376"/>
            <a:ext cx="10180015" cy="60350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Stronger electrostatic forces need more energy to overcome, so the melting point is higher.</a:t>
            </a:r>
            <a:endParaRPr lang="en-US" sz="1800" dirty="0"/>
          </a:p>
        </p:txBody>
      </p:sp>
      <p:sp>
        <p:nvSpPr>
          <p:cNvPr id="25" name="worked-answer"/>
          <p:cNvSpPr/>
          <p:nvPr/>
        </p:nvSpPr>
        <p:spPr>
          <a:xfrm>
            <a:off x="548640" y="5318760"/>
            <a:ext cx="11094415" cy="552196"/>
          </a:xfrm>
          <a:prstGeom prst="roundRect">
            <a:avLst>
              <a:gd name="adj" fmla="val 24839"/>
            </a:avLst>
          </a:prstGeom>
          <a:solidFill>
            <a:srgbClr val="EBDDC4"/>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1440 degrees higher, because the Ca²⁺ ions attract the oxide ions more strongly than Na⁺ ions do.</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The task: Balance the charges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Aluminium oxide contains aluminium ions with a 3+ charge and oxide ions with a 2− charge. How many oxide ions are needed to balance the charge on 2 aluminium ions?</a:t>
            </a:r>
            <a:endParaRPr lang="en-US" sz="2600" dirty="0"/>
          </a:p>
          <a:p>
            <a:pPr algn="ctr" indent="0" marL="0">
              <a:buNone/>
            </a:pPr>
            <a:r>
              <a:rPr lang="en-US" sz="2400" b="1" dirty="0">
                <a:solidFill>
                  <a:srgbClr val="1F6F6A"/>
                </a:solidFill>
                <a:latin typeface="Calibri" pitchFamily="34" charset="0"/>
                <a:ea typeface="Calibri" pitchFamily="34" charset="-122"/>
                <a:cs typeface="Calibri" pitchFamily="34" charset="-120"/>
              </a:rPr>
              <a:t>Answer:  </a:t>
            </a:r>
            <a:pPr algn="ctr" indent="0" marL="0">
              <a:buNone/>
            </a:pPr>
            <a:r>
              <a:rPr lang="en-US" sz="2400" dirty="0">
                <a:solidFill>
                  <a:srgbClr val="1E2229"/>
                </a:solidFill>
                <a:latin typeface="Calibri" pitchFamily="34" charset="0"/>
                <a:ea typeface="Calibri" pitchFamily="34" charset="-122"/>
                <a:cs typeface="Calibri" pitchFamily="34" charset="-120"/>
              </a:rPr>
              <a:t>__________ oxide ions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Same task, three ways in: Balance the charges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39520"/>
          </a:xfrm>
          <a:prstGeom prst="roundRect">
            <a:avLst>
              <a:gd name="adj" fmla="val 7377"/>
            </a:avLst>
          </a:prstGeom>
          <a:solidFill>
            <a:srgbClr val="FFFFFF"/>
          </a:solidFill>
          <a:ln w="31750">
            <a:solidFill>
              <a:srgbClr val="B8862B"/>
            </a:solidFill>
            <a:prstDash val="solid"/>
          </a:ln>
        </p:spPr>
      </p:sp>
      <p:sp>
        <p:nvSpPr>
          <p:cNvPr id="8" name="task-hex"/>
          <p:cNvSpPr/>
          <p:nvPr/>
        </p:nvSpPr>
        <p:spPr>
          <a:xfrm>
            <a:off x="777240" y="1692900"/>
            <a:ext cx="731520" cy="633496"/>
          </a:xfrm>
          <a:prstGeom prst="hexagon">
            <a:avLst/>
          </a:prstGeom>
          <a:solidFill>
            <a:srgbClr val="B8862B"/>
          </a:solidFill>
          <a:ln/>
        </p:spPr>
      </p:sp>
      <p:sp>
        <p:nvSpPr>
          <p:cNvPr id="9" name="task-hex-label"/>
          <p:cNvSpPr txBox="1"/>
          <p:nvPr/>
        </p:nvSpPr>
        <p:spPr>
          <a:xfrm>
            <a:off x="777240" y="1692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735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05664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Aluminium oxide contains aluminium ions with a 3+ charge and oxide ions with a 2− charge. How many oxide ions are needed to balance the charge on 2 aluminium ions?</a:t>
            </a:r>
            <a:endParaRPr lang="en-US" sz="2000" dirty="0"/>
          </a:p>
        </p:txBody>
      </p:sp>
      <p:sp>
        <p:nvSpPr>
          <p:cNvPr id="12" name="col-Support"/>
          <p:cNvSpPr/>
          <p:nvPr/>
        </p:nvSpPr>
        <p:spPr>
          <a:xfrm>
            <a:off x="548640" y="2903728"/>
            <a:ext cx="4667802" cy="3241040"/>
          </a:xfrm>
          <a:prstGeom prst="roundRect">
            <a:avLst>
              <a:gd name="adj" fmla="val 1693"/>
            </a:avLst>
          </a:prstGeom>
          <a:solidFill>
            <a:srgbClr val="E2ECEC"/>
          </a:solidFill>
          <a:ln/>
        </p:spPr>
      </p:sp>
      <p:sp>
        <p:nvSpPr>
          <p:cNvPr id="13" name="col-hex"/>
          <p:cNvSpPr/>
          <p:nvPr/>
        </p:nvSpPr>
        <p:spPr>
          <a:xfrm>
            <a:off x="658368" y="2976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40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43808"/>
            <a:ext cx="4393482" cy="2491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Work out the total positive charge: number of metal ions × charge on each.</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Each negative ion cancels its own charge. Divide the positive total by the size of the negative charge.</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positive total and negative total must be equal.</a:t>
            </a:r>
            <a:endParaRPr lang="en-US" sz="1800" dirty="0"/>
          </a:p>
        </p:txBody>
      </p:sp>
      <p:sp>
        <p:nvSpPr>
          <p:cNvPr id="17" name="col-Core"/>
          <p:cNvSpPr/>
          <p:nvPr/>
        </p:nvSpPr>
        <p:spPr>
          <a:xfrm>
            <a:off x="5490762" y="2903728"/>
            <a:ext cx="2938987" cy="3241040"/>
          </a:xfrm>
          <a:prstGeom prst="roundRect">
            <a:avLst>
              <a:gd name="adj" fmla="val 1867"/>
            </a:avLst>
          </a:prstGeom>
          <a:solidFill>
            <a:srgbClr val="C7DBDA"/>
          </a:solidFill>
          <a:ln/>
        </p:spPr>
      </p:sp>
      <p:sp>
        <p:nvSpPr>
          <p:cNvPr id="18" name="col-hex"/>
          <p:cNvSpPr/>
          <p:nvPr/>
        </p:nvSpPr>
        <p:spPr>
          <a:xfrm>
            <a:off x="5600490" y="2976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940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543808"/>
            <a:ext cx="2664667" cy="2491232"/>
          </a:xfrm>
          <a:prstGeom prst="rect">
            <a:avLst/>
          </a:prstGeom>
          <a:noFill/>
          <a:ln/>
        </p:spPr>
        <p:txBody>
          <a:bodyPr wrap="square" lIns="63500" tIns="63500" rIns="63500" bIns="63500" rtlCol="0" anchor="t"/>
          <a:lstStyle/>
          <a:p>
            <a:pPr algn="l" indent="0" marL="0">
              <a:buNone/>
            </a:pPr>
            <a:r>
              <a:rPr lang="en-US" sz="1800" b="1" dirty="0">
                <a:solidFill>
                  <a:srgbClr val="195955"/>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Total positive charge first. Then how many 2− ions does it take to cancel it?</a:t>
            </a:r>
            <a:endParaRPr lang="en-US" sz="1800" dirty="0"/>
          </a:p>
        </p:txBody>
      </p:sp>
      <p:sp>
        <p:nvSpPr>
          <p:cNvPr id="22" name="col-Stretch"/>
          <p:cNvSpPr/>
          <p:nvPr/>
        </p:nvSpPr>
        <p:spPr>
          <a:xfrm>
            <a:off x="8704069" y="2903728"/>
            <a:ext cx="2938987" cy="3241040"/>
          </a:xfrm>
          <a:prstGeom prst="roundRect">
            <a:avLst>
              <a:gd name="adj" fmla="val 1867"/>
            </a:avLst>
          </a:prstGeom>
          <a:solidFill>
            <a:srgbClr val="1F6F6A"/>
          </a:solidFill>
          <a:ln/>
        </p:spPr>
      </p:sp>
      <p:sp>
        <p:nvSpPr>
          <p:cNvPr id="23" name="col-hex"/>
          <p:cNvSpPr/>
          <p:nvPr/>
        </p:nvSpPr>
        <p:spPr>
          <a:xfrm>
            <a:off x="8813797" y="2976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940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543808"/>
            <a:ext cx="2664667" cy="2491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Write the formula of aluminium oxide, then predict the formula of aluminium sulfide (sulfide is S²⁻) and of aluminium chloride (Cl⁻). Explain the pattern.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The task: When does salt conduct?</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Solid sodium chloride does not conduct electricity, but molten sodium chloride does. Why?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When molten, the ionic bonds turn into covalent bonds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When molten, the ions gain electrons and become neutral atoms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When molten, the ions are free to move and carry charge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When molten, the electrons are free to move between the ions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1F6F6A"/>
                </a:solidFill>
                <a:latin typeface="Cambria" pitchFamily="34" charset="0"/>
                <a:ea typeface="Cambria" pitchFamily="34" charset="-122"/>
                <a:cs typeface="Cambria" pitchFamily="34" charset="-120"/>
              </a:rPr>
              <a:t>Same task, three ways in: When does salt conduct?</a:t>
            </a:r>
            <a:endParaRPr lang="en-US" sz="28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Solid sodium chloride does not conduct electricity, but molten sodium chloride does. Why?</a:t>
            </a:r>
            <a:endParaRPr lang="en-US" sz="2000" dirty="0"/>
          </a:p>
        </p:txBody>
      </p:sp>
      <p:sp>
        <p:nvSpPr>
          <p:cNvPr id="12" name="col-Support"/>
          <p:cNvSpPr/>
          <p:nvPr/>
        </p:nvSpPr>
        <p:spPr>
          <a:xfrm>
            <a:off x="548640" y="2593848"/>
            <a:ext cx="3515258" cy="3550920"/>
          </a:xfrm>
          <a:prstGeom prst="roundRect">
            <a:avLst>
              <a:gd name="adj" fmla="val 1561"/>
            </a:avLst>
          </a:prstGeom>
          <a:solidFill>
            <a:srgbClr val="E2ECEC"/>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3240938" cy="2801112"/>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1F6F6A"/>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current is carried by charged particles that are free to move.</a:t>
            </a:r>
            <a:endParaRPr lang="en-US" sz="2000" dirty="0"/>
          </a:p>
          <a:p>
            <a:pPr algn="l" indent="0" marL="0">
              <a:spcAft>
                <a:spcPts val="600"/>
              </a:spcAft>
              <a:buNone/>
            </a:pPr>
            <a:r>
              <a:rPr lang="en-US" sz="2000" b="1" dirty="0">
                <a:solidFill>
                  <a:srgbClr val="1F6F6A"/>
                </a:solidFill>
                <a:latin typeface="Calibri" pitchFamily="34" charset="0"/>
                <a:ea typeface="Calibri" pitchFamily="34" charset="-122"/>
                <a:cs typeface="Calibri" pitchFamily="34" charset="-120"/>
              </a:rPr>
              <a:t>2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In a solid lattice the ions are locked in position.</a:t>
            </a:r>
            <a:endParaRPr lang="en-US" sz="2000" dirty="0"/>
          </a:p>
          <a:p>
            <a:pPr algn="l" indent="0" marL="0">
              <a:spcAft>
                <a:spcPts val="600"/>
              </a:spcAft>
              <a:buNone/>
            </a:pPr>
            <a:r>
              <a:rPr lang="en-US" sz="2000" b="1" dirty="0">
                <a:solidFill>
                  <a:srgbClr val="1F6F6A"/>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Melting or dissolving breaks up the lattice: what can the ions do now?</a:t>
            </a:r>
            <a:endParaRPr lang="en-US" sz="2000" dirty="0"/>
          </a:p>
        </p:txBody>
      </p:sp>
      <p:sp>
        <p:nvSpPr>
          <p:cNvPr id="17" name="col-Core"/>
          <p:cNvSpPr/>
          <p:nvPr/>
        </p:nvSpPr>
        <p:spPr>
          <a:xfrm>
            <a:off x="4338218" y="2593848"/>
            <a:ext cx="3515258" cy="3550920"/>
          </a:xfrm>
          <a:prstGeom prst="roundRect">
            <a:avLst>
              <a:gd name="adj" fmla="val 1561"/>
            </a:avLst>
          </a:prstGeom>
          <a:solidFill>
            <a:srgbClr val="C7DBDA"/>
          </a:solidFill>
          <a:ln/>
        </p:spPr>
      </p:sp>
      <p:sp>
        <p:nvSpPr>
          <p:cNvPr id="18" name="col-hex"/>
          <p:cNvSpPr/>
          <p:nvPr/>
        </p:nvSpPr>
        <p:spPr>
          <a:xfrm>
            <a:off x="4447946"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33928"/>
            <a:ext cx="3240938" cy="2801112"/>
          </a:xfrm>
          <a:prstGeom prst="rect">
            <a:avLst/>
          </a:prstGeom>
          <a:noFill/>
          <a:ln/>
        </p:spPr>
        <p:txBody>
          <a:bodyPr wrap="square" lIns="63500" tIns="63500" rIns="63500" bIns="63500" rtlCol="0" anchor="t"/>
          <a:lstStyle/>
          <a:p>
            <a:pPr algn="l" indent="0" marL="0">
              <a:buNone/>
            </a:pPr>
            <a:r>
              <a:rPr lang="en-US" sz="2000" b="1" dirty="0">
                <a:solidFill>
                  <a:srgbClr val="195955"/>
                </a:solidFill>
                <a:latin typeface="Calibri" pitchFamily="34" charset="0"/>
                <a:ea typeface="Calibri" pitchFamily="34" charset="-122"/>
                <a:cs typeface="Calibri" pitchFamily="34" charset="-120"/>
              </a:rPr>
              <a:t>Hint:  </a:t>
            </a:r>
            <a:pPr algn="l" indent="0" marL="0">
              <a:buNone/>
            </a:pPr>
            <a:r>
              <a:rPr lang="en-US" sz="2000" dirty="0">
                <a:solidFill>
                  <a:srgbClr val="1E2229"/>
                </a:solidFill>
                <a:latin typeface="Calibri" pitchFamily="34" charset="0"/>
                <a:ea typeface="Calibri" pitchFamily="34" charset="-122"/>
                <a:cs typeface="Calibri" pitchFamily="34" charset="-120"/>
              </a:rPr>
              <a:t>What carries the charge in an ionic compound, and what stops it in the solid?</a:t>
            </a:r>
            <a:endParaRPr lang="en-US" sz="2000" dirty="0"/>
          </a:p>
        </p:txBody>
      </p:sp>
      <p:sp>
        <p:nvSpPr>
          <p:cNvPr id="22" name="col-Stretch"/>
          <p:cNvSpPr/>
          <p:nvPr/>
        </p:nvSpPr>
        <p:spPr>
          <a:xfrm>
            <a:off x="8127797" y="2593848"/>
            <a:ext cx="3515258" cy="3550920"/>
          </a:xfrm>
          <a:prstGeom prst="roundRect">
            <a:avLst>
              <a:gd name="adj" fmla="val 1561"/>
            </a:avLst>
          </a:prstGeom>
          <a:solidFill>
            <a:srgbClr val="1F6F6A"/>
          </a:solidFill>
          <a:ln/>
        </p:spPr>
      </p:sp>
      <p:sp>
        <p:nvSpPr>
          <p:cNvPr id="23" name="col-hex"/>
          <p:cNvSpPr/>
          <p:nvPr/>
        </p:nvSpPr>
        <p:spPr>
          <a:xfrm>
            <a:off x="8237525"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33928"/>
            <a:ext cx="3240938" cy="2801112"/>
          </a:xfrm>
          <a:prstGeom prst="rect">
            <a:avLst/>
          </a:prstGeom>
          <a:noFill/>
          <a:ln/>
        </p:spPr>
        <p:txBody>
          <a:bodyPr wrap="square" lIns="63500" tIns="63500" rIns="63500" bIns="63500" rtlCol="0" anchor="t"/>
          <a:lstStyle/>
          <a:p>
            <a:pPr algn="l" indent="0" marL="0">
              <a:buNone/>
            </a:pPr>
            <a:r>
              <a:rPr lang="en-US" sz="2000" b="1" dirty="0">
                <a:solidFill>
                  <a:srgbClr val="D4B680"/>
                </a:solidFill>
                <a:latin typeface="Calibri" pitchFamily="34" charset="0"/>
                <a:ea typeface="Calibri" pitchFamily="34" charset="-122"/>
                <a:cs typeface="Calibri" pitchFamily="34" charset="-120"/>
              </a:rPr>
              <a:t>Then:  </a:t>
            </a:r>
            <a:pPr algn="l" indent="0" marL="0">
              <a:buNone/>
            </a:pPr>
            <a:r>
              <a:rPr lang="en-US" sz="2000" dirty="0">
                <a:solidFill>
                  <a:srgbClr val="FFFFFF"/>
                </a:solidFill>
                <a:latin typeface="Calibri" pitchFamily="34" charset="0"/>
                <a:ea typeface="Calibri" pitchFamily="34" charset="-122"/>
                <a:cs typeface="Calibri" pitchFamily="34" charset="-120"/>
              </a:rPr>
              <a:t>Explain why distilled water is a poor conductor while sea water is a good one, and why the electrolysis of sodium chloride (which you will meet later) must be done on molten or dissolved salt.</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1F6F6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1F6F6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When sodium reacts with chlorine, what happens to the electrons?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Both atoms lose electrons into a shared sea</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Each sodium atom transfers one electron to a chlorine atom</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Each chlorine atom transfers one electron to a sodium atom</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Sodium and chlorine share a pair of electrons</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9F1F0"/>
          </a:solidFill>
          <a:ln w="12700">
            <a:solidFill>
              <a:srgbClr val="88B3B0"/>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Balance the charges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Aluminium oxide contains aluminium ions with a 3+ charge and oxide ions with a 2− charge. How many oxide ions are needed to balance the charge on 2 aluminium ions?</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3 oxide ions</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CEC"/>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2 × 3 = 6+, so three 2− ions are needed: 3 × 2 = 6−. Formula Al₂O₃.</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When does salt conduct?</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Solid sodium chloride does not conduct electricity, but molten sodium chloride does. Why?</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When molten, the ions are free to move and carry charge</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CEC"/>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Molten ions are free to move. Moving charged particles carry a current; fixed ones cannot.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When sodium reacts with chlorine, what happens to the electrons?</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Each sodium atom transfers one electron to a chlorine atom</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CEC"/>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Ionic bonding is electron transfer from the metal to the non-metal: sodium loses one electron, chlorine gains it.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Ad Astra combined">
  <a:themeElements>
    <a:clrScheme name="Ad Astra combined">
      <a:dk1>
        <a:srgbClr val="1E2229"/>
      </a:dk1>
      <a:lt1>
        <a:srgbClr val="FFFFFF"/>
      </a:lt1>
      <a:dk2>
        <a:srgbClr val="195955"/>
      </a:dk2>
      <a:lt2>
        <a:srgbClr val="E2ECEC"/>
      </a:lt2>
      <a:accent1>
        <a:srgbClr val="1F6F6A"/>
      </a:accent1>
      <a:accent2>
        <a:srgbClr val="B8862B"/>
      </a:accent2>
      <a:accent3>
        <a:srgbClr val="79A9A6"/>
      </a:accent3>
      <a:accent4>
        <a:srgbClr val="815E1E"/>
      </a:accent4>
      <a:accent5>
        <a:srgbClr val="4A505C"/>
      </a:accent5>
      <a:accent6>
        <a:srgbClr val="D9BF8F"/>
      </a:accent6>
      <a:hlink>
        <a:srgbClr val="1F6F6A"/>
      </a:hlink>
      <a:folHlink>
        <a:srgbClr val="164E4A"/>
      </a:folHlink>
    </a:clrScheme>
    <a:fontScheme name="Ad Astra combine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Structure and Bonding · Chapter 3: Ionic bonding and giant ionic structures</dc:title>
  <dc:subject>Chemistry (Combined Science) · Year 10</dc:subject>
  <dc:creator>Dr Vitor Merissi de Carvalho</dc:creator>
  <cp:lastModifiedBy>Dr Vitor Merissi de Carvalho</cp:lastModifiedBy>
  <cp:revision>1</cp:revision>
  <dcterms:created xsi:type="dcterms:W3CDTF">2026-10-19T06:07:17Z</dcterms:created>
  <dcterms:modified xsi:type="dcterms:W3CDTF">2026-10-19T06:07:17Z</dcterms:modified>
</cp:coreProperties>
</file>