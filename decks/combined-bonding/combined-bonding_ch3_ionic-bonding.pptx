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8f2837-669d-666b-455a-fc9b02623ad5}">
          <p14:sldIdLst>
            <p14:sldId id="256"/>
          </p14:sldIdLst>
        </p14:section>
        <p14:section name="Gate" id="{79116511-c91e-352a-a660-638565b7fa6f}">
          <p14:sldIdLst>
            <p14:sldId id="257"/>
            <p14:sldId id="258"/>
          </p14:sldIdLst>
        </p14:section>
        <p14:section name="Pre-teach" id="{b3b6146d-c014-01ab-e1b2-3554fc42f0fb}">
          <p14:sldIdLst>
            <p14:sldId id="259"/>
            <p14:sldId id="260"/>
          </p14:sldIdLst>
        </p14:section>
        <p14:section name="Read-along" id="{7fba6518-8273-3b96-dfe3-0ebe1302261c}">
          <p14:sldIdLst>
            <p14:sldId id="261"/>
            <p14:sldId id="262"/>
          </p14:sldIdLst>
        </p14:section>
        <p14:section name="Teach" id="{2b3b9675-f1e3-4a44-2be2-1e6235ad324a}">
          <p14:sldIdLst>
            <p14:sldId id="263"/>
            <p14:sldId id="264"/>
            <p14:sldId id="265"/>
            <p14:sldId id="266"/>
            <p14:sldId id="267"/>
            <p14:sldId id="268"/>
          </p14:sldIdLst>
        </p14:section>
        <p14:section name="Routes" id="{d9292b55-0c02-a6d9-cd18-c8e010ca46c7}">
          <p14:sldIdLst>
            <p14:sldId id="269"/>
            <p14:sldId id="270"/>
            <p14:sldId id="271"/>
            <p14:sldId id="272"/>
          </p14:sldIdLst>
        </p14:section>
        <p14:section name="Close" id="{5f3b83cb-da70-058e-906a-c88d63139f31}">
          <p14:sldIdLst>
            <p14:sldId id="273"/>
          </p14:sldIdLst>
        </p14:section>
        <p14:section name="Answers" id="{7cd1876e-056c-b9a7-270d-ee772ae5342a}">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Ionic bonding and giant ionic structures. This chapter explains how a metal and a non-metal bond by transferring electrons, how to work out the formula of the compound, and why ionic compounds behave the way they do.
This deck covers the department's lessons: 3 (3.3 Ionic bonding: What happens to the electrons when a metal reacts with a non-metal, and how do you work out the formula of the compound?); 4 (3.4 Giant ionic structures: Why do ionic compounds have high melting points, and when can they conduct electricity?).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When sodium reacts with chlorine, what happens to the electrons?  →  A   Each sodium atom transfers one electron to a chlorine atom
2. Calcium ions are Ca²⁺ and chloride ions are Cl⁻. What is the formula of calcium chloride?  →  A   CaCl₂
3. Solid sodium chloride does not conduct electricity because its ions cannot ___.  →  move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Each sodium atom transfers one electron to a chlorine atom. Ionic bonding is electron transfer from the metal to the non-metal: sodium loses one electron, chlorine gains it.
2. A   CaCl₂. One 2+ ion needs two 1− ions to cancel its charge, so the formula is CaCl₂.
3. move. In the solid lattice the ions are fixed in position. A current needs charged particles that are free to move.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transfer: to move something from one place to another. Example: "Sodium transfers one electron to chlorine."
• ionic bond: the strong pull between a positive ion and a negative ion. Example: "An ionic bond holds the sodium ion and the chloride ion together."
• lattice: a huge regular pattern of ions. Example: "A grain of salt is a lattice of millions of 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electrostatic: to do with the pull between positive and negative charges. Example: "The electrostatic attraction between the ions is very strong."
• formula: the symbols that show which atoms or ions are in a compound and in what ratio. Example: "The formula of sodium chloride is NaCl."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metal atom and a non-metal atom can react together.
2. The metal atom gives one or more electrons to the non-metal atom.
3. This is called electron transfer.
4. The metal becomes a positive ion.
5. The non-metal becomes a negative ion.
6. Opposite charges attract, so the ions pull towards each other.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This strong pull is called an ionic bond.
8. Millions of ions pack together in a regular pattern called a giant lattice.
9. Table salt, sodium chloride, is a giant ionic lattice.
10. It needs a lot of energy to pull the ions apart, so it melts at 801 °C.
11. Solid salt cannot conduct electricity, because its ions cannot move.
12. When salt melts or dissolves, the ions are free to move, so it conducts.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Electron transfer. Say it in your own words, then check understanding with a quick question: ask a pupil from the pre-teach group first, since they met these words and ideas before the lesson. Pupils try to recall before you re-explain.
When sodium reacts with chlorine, each sodium atom transfers its one outer electron to a chlorine atom. The sodium atom becomes a sodium ion, Na⁺, with the stable arrangement 2,8. The chlorine atom becomes a chloride ion, Cl⁻, with the stable arrangement 2,8,8. Both ions now have full outer shells.
The two ions have opposite charges, and opposite charges attract. This strong electrostatic attraction between oppositely charged ions is an ionic bond. Ionic bonding happens between metals and non-metals: the metal loses electrons and the non-metal gains them.
When a question says 'describe, in terms of electrons', it wants four things: which atom loses electrons and how many, which atom gains them and how many, the ions that form with their charges, and the attraction between them. A dot and cross diagram of the compound shows the outer shells of both ions, in square brackets, with the charges outside.
Worked example — model it step by step, thinking aloud: Describe, in terms of electrons, what happens when a lithium atom reacts with a fluorine atom to form lithium fluoride. (1) Lithium is in Group 1: it has 1 outer electron and loses it, forming a lithium ion, Li⁺. (2) Fluorine is in Group 7: it has 7 outer electrons and gains the 1 electron from lithium, forming a fluoride ion, F⁻. (3) Both ions now have full outer shells. (4) The oppositely charged ions are held together by strong electrostatic attraction: an ionic bond. Answer: Lithium loses one electron to form Li⁺; fluorine gains that electron to form F⁻; the oppositely charged ions attract strongly, forming an ionic bond..
Tip: Lose, gain, ions with charges, attraction. Four ideas, usually four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Electron transfer. Say it in your own words, then check understanding with a quick question: ask a pupil from the pre-teach group first, since they met these words and ideas before the lesson. Pupils try to recall before you re-explain.
When sodium reacts with chlorine, each sodium atom transfers its one outer electron to a chlorine atom. The sodium atom becomes a sodium ion, Na⁺, with the stable arrangement 2,8. The chlorine atom becomes a chloride ion, Cl⁻, with the stable arrangement 2,8,8. Both ions now have full outer shells.
The two ions have opposite charges, and opposite charges attract. This strong electrostatic attraction between oppositely charged ions is an ionic bond. Ionic bonding happens between metals and non-metals: the metal loses electrons and the non-metal gains them.
When a question says 'describe, in terms of electrons', it wants four things: which atom loses electrons and how many, which atom gains them and how many, the ions that form with their charges, and the attraction between them. A dot and cross diagram of the compound shows the outer shells of both ions, in square brackets, with the charges outside.
Worked example — model it step by step, thinking aloud: Describe, in terms of electrons, what happens when a lithium atom reacts with a fluorine atom to form lithium fluoride. (1) Lithium is in Group 1: it has 1 outer electron and loses it, forming a lithium ion, Li⁺. (2) Fluorine is in Group 7: it has 7 outer electrons and gains the 1 electron from lithium, forming a fluoride ion, F⁻. (3) Both ions now have full outer shells. (4) The oppositely charged ions are held together by strong electrostatic attraction: an ionic bond. Answer: Lithium loses one electron to form Li⁺; fluorine gains that electron to form F⁻; the oppositely charged ions attract strongly, forming an ionic bond..
Tip: Lose, gain, ions with charges, attraction. Four ideas, usually four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Working out the formula. Say it in your own words, then check understanding with a quick question: ask a pupil from the pre-teach group first, since they met these words and ideas before the lesson. Pupils try to recall before you re-explain.
An ionic compound has no overall charge, so the positive and negative charges must cancel. Sodium chloride is NaCl: one Na⁺ (1+) balances one Cl⁻ (1−). Magnesium chloride needs two chloride ions to balance one Mg²⁺, so its formula is MgCl₂. The small 2 after Cl means two chloride ions for every magnesium ion.
The method is the same every time. Write down the two ions and their charges. Find the smallest numbers of each that make the total positive charge equal to the total negative charge. Write the metal first, then the non-metal, with the numbers as subscripts. Never write the charges in the formula of the compound.
When the charges are the same size, the ions pair up one to one: Mg²⁺ and O²⁻ give MgO; Ca²⁺ and S²⁻ give CaS. When they are different, cross them over: Na⁺ and O²⁻ need two sodium ions, Na₂O; Al³⁺ and O²⁻ need two aluminium ions and three oxide ions, Al₂O₃.
Worked example — model it step by step, thinking aloud: Aluminium ions are Al³⁺ and oxide ions are O²⁻. Work out the formula of aluminium oxide. (1) Find the smallest total that both charges can reach: 3 and 2 both go into 6. (2) Positive: 2 aluminium ions give 2 × 3 = 6+. (3) Negative: 3 oxide ions give 3 × 2 = 6−. (4) 6+ and 6− cancel. Two Al and three O: Al₂O₃. Answer: Al₂O₃.
Tip: Charges must cancel. Same size: one to one. Different sizes: swap the numbers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formula. Say it in your own words, then check understanding with a quick question: ask a pupil from the pre-teach group first, since they met these words and ideas before the lesson. Pupils try to recall before you re-explain.
You can also read a formula backwards to find which ions are in a compound and how many. Na₂O contains two sodium ions and one oxide ion. Use the periodic table for the charges: sodium is in Group 1, so Na⁺; oxygen is in Group 6, so O²⁻. Check that the charges cancel: 2 × (1+) and 1 × (2−). They do.
MgBr₂ contains one magnesium ion, Mg²⁺, and two bromide ions, Br⁻. CaO contains one Ca²⁺ and one O²⁻. The formula of an ionic compound gives the ratio of ions in the lattice, not a single unit: there is no such thing as a single NaCl molecule, only a lattice in which Na⁺ and Cl⁻ ions are present one for one.
Worked example — model it step by step, thinking aloud: What ions are in lithium oxide, Li₂O, and how many of each does the formula show? (1) Elements: lithium (Li) and oxygen (O). The 2 shows two lithium ions for each oxide ion. (2) Charges from the periodic table: lithium is Group 1, Li⁺; oxygen is Group 6, O²⁻. (3) Check: 2 × (1+) = 2+ and 1 × (2−) = 2−. The charges cancel. Answer: Two Li⁺ ions and one O²⁻ ion..
Tip: A subscript number belongs to the symbol just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Giant lattices and their properties. Say it in your own words, then check understanding with a quick question: ask a pupil from the pre-teach group first, since they met these words and ideas before the lesson. Pupils try to recall before you re-explain.
Ionic compounds do not form small molecules. The ions pack into a giant ionic lattice: a regular, repeating structure in which every positive ion is surrounded by negative ions and every negative ion by positive ions, with strong electrostatic forces acting in all directions. A single grain of salt contains millions of ions.
Because those forces are strong and act in every direction, a lot of energy is needed to pull the ions apart. So ionic compounds have high melting and boiling points: sodium chloride melts at 801 °C. The bigger the charges on the ions, the stronger the attraction: calcium oxide (Ca²⁺ and O²⁻) melts at 2572 °C, far higher than sodium oxide (Na⁺ and O²⁻) at 1132 °C.
Solid ionic compounds do not conduct electricity, because the ions are locked in place in the lattice and cannot move. When the compound melts, or dissolves in water, the lattice breaks up and the ions are free to move. Moving charged particles carry a current, so molten and dissolved (aqueous) ionic compounds do conduct. Many ionic compounds dissolve in water: the water molecules pull the ions away from the lattice and they spread out, which is why dissolved salt seems to disappear.
Worked example — model it step by step, thinking aloud: Calcium oxide melts at 2572 °C and sodium oxide at 1132 °C. How much higher is the melting point of calcium oxide, and why? (1) Difference: 2572 − 1132 = 1440 degrees. (2) Both compounds contain O²⁻ ions. The difference is the metal ion: Ca²⁺ against Na⁺. (3) A 2+ ion attracts the 2− oxide ions more strongly than a 1+ ion does. (4) Stronger electrostatic forces need more energy to overcome, so the melting point is higher. Answer: 1440 degrees higher, because the Ca²⁺ ions attract the oxide ions more strongly than Na⁺ ions do..
Tip: Solid: ions fixed, no conduction. Molten or dissolved: ions free to move, conducts.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Giant lattices and their properties. Say it in your own words, then check understanding with a quick question: ask a pupil from the pre-teach group first, since they met these words and ideas before the lesson. Pupils try to recall before you re-explain.
Ionic compounds do not form small molecules. The ions pack into a giant ionic lattice: a regular, repeating structure in which every positive ion is surrounded by negative ions and every negative ion by positive ions, with strong electrostatic forces acting in all directions. A single grain of salt contains millions of ions.
Because those forces are strong and act in every direction, a lot of energy is needed to pull the ions apart. So ionic compounds have high melting and boiling points: sodium chloride melts at 801 °C. The bigger the charges on the ions, the stronger the attraction: calcium oxide (Ca²⁺ and O²⁻) melts at 2572 °C, far higher than sodium oxide (Na⁺ and O²⁻) at 1132 °C.
Solid ionic compounds do not conduct electricity, because the ions are locked in place in the lattice and cannot move. When the compound melts, or dissolves in water, the lattice breaks up and the ions are free to move. Moving charged particles carry a current, so molten and dissolved (aqueous) ionic compounds do conduct. Many ionic compounds dissolve in water: the water molecules pull the ions away from the lattice and they spread out, which is why dissolved salt seems to disappear.
Worked example — model it step by step, thinking aloud: Calcium oxide melts at 2572 °C and sodium oxide at 1132 °C. How much higher is the melting point of calcium oxide, and why? (1) Difference: 2572 − 1132 = 1440 degrees. (2) Both compounds contain O²⁻ ions. The difference is the metal ion: Ca²⁺ against Na⁺. (3) A 2+ ion attracts the 2− oxide ions more strongly than a 1+ ion does. (4) Stronger electrostatic forces need more energy to overcome, so the melting point is higher. Answer: 1440 degrees higher, because the Ca²⁺ ions attract the oxide ions more strongly than Na⁺ ions do..
Tip: Solid: ions fixed, no conduction. Molten or dissolved: ions free to move, conducts.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Balance the charges.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Aluminium oxide contains aluminium ions with a 3+ charge and oxide ions with a 2− charge. How many oxide ions are needed to balance the charge on 2 aluminium ions?
Support — work through the steps with the group: (1) Work out the total positive charge: number of metal ions × charge on each. (2) Each negative ion cancels its own charge. Divide the positive total by the size of the negative charge. (3) Check: positive total and negative total must be equal.
Parallel worked example for Support (model it, do not give the task answer): Sodium oxide contains Na⁺ (1+) and O²⁻ (2−). How many sodium ions are needed to balance one oxide ion? One oxide ion gives 2−.; Each sodium ion gives only 1+, so 2 ÷ 1 = 2 sodium ions.; Formula: Na₂O.. Answer: 2 sodium ions.
Core — reveal the hint only on request: Total positive charge first. Then how many 2− ions does it take to cancel it?
Stretch — no help; when finished: Write the formula of aluminium oxide, then predict the formula of aluminium sulfide (sulfide is S²⁻) and of aluminium chloride (Cl⁻). Explain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Balance the charges.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Aluminium oxide contains aluminium ions with a 3+ charge and oxide ions with a 2− charge. How many oxide ions are needed to balance the charge on 2 aluminium ions?
Support — work through the steps with the group: (1) Work out the total positive charge: number of metal ions × charge on each. (2) Each negative ion cancels its own charge. Divide the positive total by the size of the negative charge. (3) Check: positive total and negative total must be equal.
Parallel worked example for Support (model it, do not give the task answer): Sodium oxide contains Na⁺ (1+) and O²⁻ (2−). How many sodium ions are needed to balance one oxide ion? One oxide ion gives 2−.; Each sodium ion gives only 1+, so 2 ÷ 1 = 2 sodium ions.; Formula: Na₂O.. Answer: 2 sodium ions.
Core — reveal the hint only on request: Total positive charge first. Then how many 2− ions does it take to cancel it?
Stretch — no help; when finished: Write the formula of aluminium oxide, then predict the formula of aluminium sulfide (sulfide is S²⁻) and of aluminium chloride (Cl⁻). Explain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When does salt conduct?.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Solid sodium chloride does not conduct electricity, but molten sodium chloride does. Why?
Support — work through the steps with the group: (1) A current is carried by charged particles that are free to move. (2) In a solid lattice the ions are locked in position. (3) Melting or dissolving breaks up the lattice: what can the ions do now?
Parallel worked example for Support (model it, do not give the task answer): Why does a solution of potassium fluoride in water conduct electricity? Dissolving separates the K⁺ and F⁻ ions from the lattice.; The ions spread out through the water and are free to move.; Moving charged particles carry the current.. Answer: The dissolved ions are free to move and carry charge..
Core — reveal the hint only on request: What carries the charge in an ionic compound, and what stops it in the solid?
Stretch — no help; when finished: Explain why distilled water is a poor conductor while sea water is a good one, and why the electrolysis of sodium chloride (which you will meet later) must be done on molten or dissolved 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When does salt conduct?.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Solid sodium chloride does not conduct electricity, but molten sodium chloride does. Why?
Support — work through the steps with the group: (1) A current is carried by charged particles that are free to move. (2) In a solid lattice the ions are locked in position. (3) Melting or dissolving breaks up the lattice: what can the ions do now?
Parallel worked example for Support (model it, do not give the task answer): Why does a solution of potassium fluoride in water conduct electricity? Dissolving separates the K⁺ and F⁻ ions from the lattice.; The ions spread out through the water and are free to move.; Moving charged particles carry the current.. Answer: The dissolved ions are free to move and carry charge..
Core — reveal the hint only on request: What carries the charge in an ionic compound, and what stops it in the solid?
Stretch — no help; when finished: Explain why distilled water is a poor conductor while sea water is a good one, and why the electrolysis of sodium chloride (which you will meet later) must be done on molten or dissolved 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When sodium reacts with chlorine, what happens to the electrons?
Answer: D   Each sodium atom transfers one electron to a chlorine atom. Ionic bonding is electron transfer from the metal to the non-metal: sodium loses one electron, chlorine gains it.
Source of this question: gate item 1 re-asked (options rotated) — this chapter has no third quick-check module.
The ebook also holds task 3, "Explain the properties",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Balance the charges. Reveal the answer; pupils mark their own work in a different colour, then read the "why" together. Same destination for every lane, so one answer serves the whole class.
Answer: 3 oxide ions
Why: 2 × 3 = 6+, so three 2− ions are needed: 3 × 2 = 6−. Formula Al₂O₃.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When does salt conduct?. Reveal the answer; pupils mark their own work in a different colour, then read the "why" together. Same destination for every lane, so one answer serves the whole class.
Answer: A   When molten, the ions are free to move and carry charge
Why: Molten ions are free to move. Moving charged particles carry a current; fixed ones cannot.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Each sodium atom transfers one electron to a chlorine atom
Why: Ionic bonding is electron transfer from the metal to the non-metal: sodium loses one electron, chlorine gains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Ionic bonding and giant ionic structures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2EC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3.3 Ionic bonding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3.4 Giant ionic structures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When sodium reacts with chlorine, what happens to the electrons?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sodium atom transfers one electron to a chlorine atom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Sodium and chlorine share a pair of electrons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chlorine atom transfers one electron to a sodium atom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Both atoms lose electrons into a shared sea</a:t>
            </a:r>
            <a:endParaRPr lang="en-US" sz="1800" dirty="0"/>
          </a:p>
        </p:txBody>
      </p:sp>
      <p:sp>
        <p:nvSpPr>
          <p:cNvPr id="12"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3" name="card-hex"/>
          <p:cNvSpPr/>
          <p:nvPr/>
        </p:nvSpPr>
        <p:spPr>
          <a:xfrm>
            <a:off x="6278728" y="1572768"/>
            <a:ext cx="640080" cy="554309"/>
          </a:xfrm>
          <a:prstGeom prst="hexagon">
            <a:avLst/>
          </a:prstGeom>
          <a:solidFill>
            <a:srgbClr val="1F6F6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Calcium ions are Ca²⁺ and chloride ions are Cl⁻. What is the formula of calcium chloride?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CaCl₂</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CaCl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Ca₂Cl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Ca₂Cl₂</a:t>
            </a:r>
            <a:endParaRPr lang="en-US" sz="2000" dirty="0"/>
          </a:p>
        </p:txBody>
      </p:sp>
      <p:sp>
        <p:nvSpPr>
          <p:cNvPr id="17"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18" name="card-hex"/>
          <p:cNvSpPr/>
          <p:nvPr/>
        </p:nvSpPr>
        <p:spPr>
          <a:xfrm>
            <a:off x="9189491" y="1572768"/>
            <a:ext cx="640080" cy="554309"/>
          </a:xfrm>
          <a:prstGeom prst="hexagon">
            <a:avLst/>
          </a:prstGeom>
          <a:solidFill>
            <a:srgbClr val="1F6F6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Solid sodium chloride does not conduct electricity because its ions cannot ___.</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move  ·  vibrate  ·  dissolve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Each sodium atom transfers one electron to a chlorine atom</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When sodium reacts with chlorine, what happens to the electrons?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Ionic bonding is electron transfer from the metal to the non-metal: sodium loses one electron, chlorine gains it.</a:t>
            </a:r>
            <a:endParaRPr lang="en-US" sz="2200" dirty="0"/>
          </a:p>
        </p:txBody>
      </p:sp>
      <p:sp>
        <p:nvSpPr>
          <p:cNvPr id="14"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5" name="card-hex"/>
          <p:cNvSpPr/>
          <p:nvPr/>
        </p:nvSpPr>
        <p:spPr>
          <a:xfrm>
            <a:off x="6278728" y="1572768"/>
            <a:ext cx="640080" cy="554309"/>
          </a:xfrm>
          <a:prstGeom prst="hexagon">
            <a:avLst/>
          </a:prstGeom>
          <a:solidFill>
            <a:srgbClr val="1F6F6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CaCl₂</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Calcium ions are Ca²⁺ and chloride ions are Cl⁻. What is the formula of calcium chloride?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One 2+ ion needs two 1− ions to cancel its charge, so the formula is CaCl₂.</a:t>
            </a:r>
            <a:endParaRPr lang="en-US" sz="1800" dirty="0"/>
          </a:p>
        </p:txBody>
      </p:sp>
      <p:sp>
        <p:nvSpPr>
          <p:cNvPr id="21"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22" name="card-hex"/>
          <p:cNvSpPr/>
          <p:nvPr/>
        </p:nvSpPr>
        <p:spPr>
          <a:xfrm>
            <a:off x="9189491" y="1572768"/>
            <a:ext cx="640080" cy="554309"/>
          </a:xfrm>
          <a:prstGeom prst="hexagon">
            <a:avLst/>
          </a:prstGeom>
          <a:solidFill>
            <a:srgbClr val="1F6F6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move</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 the solid lattice the ions are fixed in position. A current needs charged particles that are free to move.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transfer</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move something from one place to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Sodium transfers one electron to chlorine.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ionic bond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strong pull between a positive ion and a negative 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ionic bond holds the sodium ion and the chloride ion together.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lattice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regular pattern of ions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grain of salt is a lattice of millions of 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electrostatic</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do with the pull between positive and negative charges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electrostatic attraction between the ions is very strong.</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formula</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symbols that show which atoms or ions are in a compound and in what ratio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formula of sodium chloride is NaCl.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metal atom and a non-metal atom can react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metal atom gives one or more electrons to the non-metal atom.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electron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transfer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metal becomes a positive 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non-metal becomes a negative 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Opposite charges attract, so the ions pull towards each other.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strong pull is called an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ionic bond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Millions of ions pack together in a regular pattern called a giant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lattice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Table salt, sodium chloride, is a giant ionic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lattice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needs a lot of energy to pull the ions apart, so it melts at 801 °C.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Solid salt cannot conduct electricity, because its ions cannot move.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salt melts or dissolves, the ions are free to move, so it conducts.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Electron transfer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Lose, gain, ions with charges, attraction. Four ideas, usually four marks.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sodium reacts with chlorine, each sodium atom transfers its one outer electron to a chlorine atom.</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ions have opposite charges, and opposite charges attract.</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a question says 'describe, in terms of electrons', it wants four things: which atom loses electrons and how many, which atom gains them and how many, the ions that form with their charges, and the attraction between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Electron transfer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in terms of electrons, what happens when a lithium atom reacts with a fluorine atom to form lithium fluoride.</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84B0AD"/>
            </a:solidFill>
            <a:prstDash val="solid"/>
          </a:ln>
        </p:spPr>
      </p:sp>
      <p:sp>
        <p:nvSpPr>
          <p:cNvPr id="10" name="step-hex"/>
          <p:cNvSpPr/>
          <p:nvPr/>
        </p:nvSpPr>
        <p:spPr>
          <a:xfrm>
            <a:off x="685800" y="2560980"/>
            <a:ext cx="457200" cy="395935"/>
          </a:xfrm>
          <a:prstGeom prst="hexagon">
            <a:avLst/>
          </a:prstGeom>
          <a:solidFill>
            <a:srgbClr val="1F6F6A"/>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Lithium is in Group 1: it has 1 outer electron and loses it, forming a lithium ion, Li⁺.</a:t>
            </a:r>
            <a:endParaRPr lang="en-US" sz="1800" dirty="0"/>
          </a:p>
        </p:txBody>
      </p:sp>
      <p:sp>
        <p:nvSpPr>
          <p:cNvPr id="13" name="step-box"/>
          <p:cNvSpPr/>
          <p:nvPr/>
        </p:nvSpPr>
        <p:spPr>
          <a:xfrm>
            <a:off x="548640" y="3088640"/>
            <a:ext cx="11094415" cy="777240"/>
          </a:xfrm>
          <a:prstGeom prst="roundRect">
            <a:avLst>
              <a:gd name="adj" fmla="val 9412"/>
            </a:avLst>
          </a:prstGeom>
          <a:solidFill>
            <a:srgbClr val="FFFFFF"/>
          </a:solidFill>
          <a:ln w="15875">
            <a:solidFill>
              <a:srgbClr val="84B0AD"/>
            </a:solidFill>
            <a:prstDash val="solid"/>
          </a:ln>
        </p:spPr>
      </p:sp>
      <p:sp>
        <p:nvSpPr>
          <p:cNvPr id="14" name="step-hex"/>
          <p:cNvSpPr/>
          <p:nvPr/>
        </p:nvSpPr>
        <p:spPr>
          <a:xfrm>
            <a:off x="685800" y="3279292"/>
            <a:ext cx="457200" cy="395935"/>
          </a:xfrm>
          <a:prstGeom prst="hexagon">
            <a:avLst/>
          </a:prstGeom>
          <a:solidFill>
            <a:srgbClr val="1F6F6A"/>
          </a:solidFill>
          <a:ln/>
        </p:spPr>
      </p:sp>
      <p:sp>
        <p:nvSpPr>
          <p:cNvPr id="15" name="step-hex-label"/>
          <p:cNvSpPr txBox="1"/>
          <p:nvPr/>
        </p:nvSpPr>
        <p:spPr>
          <a:xfrm>
            <a:off x="685800" y="32792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Fluorine is in Group 7: it has 7 outer electrons and gains the 1 electron from lithium, forming a fluoride ion, F⁻.</a:t>
            </a:r>
            <a:endParaRPr lang="en-US" sz="1800" dirty="0"/>
          </a:p>
        </p:txBody>
      </p:sp>
      <p:sp>
        <p:nvSpPr>
          <p:cNvPr id="17" name="step-box"/>
          <p:cNvSpPr/>
          <p:nvPr/>
        </p:nvSpPr>
        <p:spPr>
          <a:xfrm>
            <a:off x="548640" y="3939032"/>
            <a:ext cx="11094415" cy="513080"/>
          </a:xfrm>
          <a:prstGeom prst="roundRect">
            <a:avLst>
              <a:gd name="adj" fmla="val 14257"/>
            </a:avLst>
          </a:prstGeom>
          <a:solidFill>
            <a:srgbClr val="FFFFFF"/>
          </a:solidFill>
          <a:ln w="15875">
            <a:solidFill>
              <a:srgbClr val="84B0AD"/>
            </a:solidFill>
            <a:prstDash val="solid"/>
          </a:ln>
        </p:spPr>
      </p:sp>
      <p:sp>
        <p:nvSpPr>
          <p:cNvPr id="18" name="step-hex"/>
          <p:cNvSpPr/>
          <p:nvPr/>
        </p:nvSpPr>
        <p:spPr>
          <a:xfrm>
            <a:off x="685800" y="3997604"/>
            <a:ext cx="457200" cy="395935"/>
          </a:xfrm>
          <a:prstGeom prst="hexagon">
            <a:avLst/>
          </a:prstGeom>
          <a:solidFill>
            <a:srgbClr val="1F6F6A"/>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3903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ions now have full outer shells.</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84B0AD"/>
            </a:solidFill>
            <a:prstDash val="solid"/>
          </a:ln>
        </p:spPr>
      </p:sp>
      <p:sp>
        <p:nvSpPr>
          <p:cNvPr id="22" name="step-hex"/>
          <p:cNvSpPr/>
          <p:nvPr/>
        </p:nvSpPr>
        <p:spPr>
          <a:xfrm>
            <a:off x="685800" y="4583836"/>
            <a:ext cx="457200" cy="395935"/>
          </a:xfrm>
          <a:prstGeom prst="hexagon">
            <a:avLst/>
          </a:prstGeom>
          <a:solidFill>
            <a:srgbClr val="1F6F6A"/>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oppositely charged ions are held together by strong electrostatic attraction: an ionic bond.</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Lithium loses one electron to form Li⁺; fluorine gains that electron to form F⁻; the oppositely charged ions attract strongly, forming an ionic bond.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Working out the formula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Charges must cancel. Same size: one to one. Different sizes: swap the numbers over.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Aluminium ions are Al³⁺ and oxide ions are O²⁻. Work out the formula of aluminium oxide.</a:t>
            </a:r>
            <a:endParaRPr lang="en-US" sz="1800" dirty="0"/>
          </a:p>
        </p:txBody>
      </p:sp>
      <p:sp>
        <p:nvSpPr>
          <p:cNvPr id="14" name="step-box"/>
          <p:cNvSpPr/>
          <p:nvPr/>
        </p:nvSpPr>
        <p:spPr>
          <a:xfrm>
            <a:off x="6126480" y="2888488"/>
            <a:ext cx="5379415" cy="736981"/>
          </a:xfrm>
          <a:prstGeom prst="roundRect">
            <a:avLst>
              <a:gd name="adj" fmla="val 12407"/>
            </a:avLst>
          </a:prstGeom>
          <a:solidFill>
            <a:srgbClr val="E2ECEC"/>
          </a:solidFill>
          <a:ln/>
        </p:spPr>
      </p:sp>
      <p:sp>
        <p:nvSpPr>
          <p:cNvPr id="15" name="step-hex"/>
          <p:cNvSpPr/>
          <p:nvPr/>
        </p:nvSpPr>
        <p:spPr>
          <a:xfrm>
            <a:off x="6217920" y="3074848"/>
            <a:ext cx="420624" cy="364260"/>
          </a:xfrm>
          <a:prstGeom prst="hexagon">
            <a:avLst/>
          </a:prstGeom>
          <a:solidFill>
            <a:srgbClr val="1F6F6A"/>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smallest total that both charges can reach: 3 and 2 both go into 6.</a:t>
            </a:r>
            <a:endParaRPr lang="en-US" sz="1800" dirty="0"/>
          </a:p>
        </p:txBody>
      </p:sp>
      <p:sp>
        <p:nvSpPr>
          <p:cNvPr id="18" name="step-box"/>
          <p:cNvSpPr/>
          <p:nvPr/>
        </p:nvSpPr>
        <p:spPr>
          <a:xfrm>
            <a:off x="6126480" y="3716909"/>
            <a:ext cx="5379415" cy="509397"/>
          </a:xfrm>
          <a:prstGeom prst="roundRect">
            <a:avLst>
              <a:gd name="adj" fmla="val 17951"/>
            </a:avLst>
          </a:prstGeom>
          <a:solidFill>
            <a:srgbClr val="E2ECEC"/>
          </a:solidFill>
          <a:ln/>
        </p:spPr>
      </p:sp>
      <p:sp>
        <p:nvSpPr>
          <p:cNvPr id="19" name="step-hex"/>
          <p:cNvSpPr/>
          <p:nvPr/>
        </p:nvSpPr>
        <p:spPr>
          <a:xfrm>
            <a:off x="6217920" y="3789477"/>
            <a:ext cx="420624" cy="364260"/>
          </a:xfrm>
          <a:prstGeom prst="hexagon">
            <a:avLst/>
          </a:prstGeom>
          <a:solidFill>
            <a:srgbClr val="1F6F6A"/>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Positive: 2 aluminium ions give 2 × 3 = 6+.</a:t>
            </a:r>
            <a:endParaRPr lang="en-US" sz="1800" dirty="0"/>
          </a:p>
        </p:txBody>
      </p:sp>
      <p:sp>
        <p:nvSpPr>
          <p:cNvPr id="22" name="step-box"/>
          <p:cNvSpPr/>
          <p:nvPr/>
        </p:nvSpPr>
        <p:spPr>
          <a:xfrm>
            <a:off x="6126480" y="4317746"/>
            <a:ext cx="5379415" cy="509397"/>
          </a:xfrm>
          <a:prstGeom prst="roundRect">
            <a:avLst>
              <a:gd name="adj" fmla="val 17951"/>
            </a:avLst>
          </a:prstGeom>
          <a:solidFill>
            <a:srgbClr val="E2ECEC"/>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Negative: 3 oxide ions give 3 × 2 = 6−.</a:t>
            </a:r>
            <a:endParaRPr lang="en-US" sz="1800" dirty="0"/>
          </a:p>
        </p:txBody>
      </p:sp>
      <p:sp>
        <p:nvSpPr>
          <p:cNvPr id="26" name="step-box"/>
          <p:cNvSpPr/>
          <p:nvPr/>
        </p:nvSpPr>
        <p:spPr>
          <a:xfrm>
            <a:off x="6126480" y="4918583"/>
            <a:ext cx="5379415" cy="509397"/>
          </a:xfrm>
          <a:prstGeom prst="roundRect">
            <a:avLst>
              <a:gd name="adj" fmla="val 17951"/>
            </a:avLst>
          </a:prstGeom>
          <a:solidFill>
            <a:srgbClr val="E2ECEC"/>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and 6− cancel. Two Al and three O: Al₂O₃.</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Al₂O₃</a:t>
            </a:r>
            <a:endParaRPr lang="en-US" sz="1800" dirty="0"/>
          </a:p>
        </p:txBody>
      </p:sp>
      <p:sp>
        <p:nvSpPr>
          <p:cNvPr id="31" name="bullet-card"/>
          <p:cNvSpPr/>
          <p:nvPr/>
        </p:nvSpPr>
        <p:spPr>
          <a:xfrm>
            <a:off x="548640" y="1389888"/>
            <a:ext cx="5074920" cy="1131147"/>
          </a:xfrm>
          <a:prstGeom prst="roundRect">
            <a:avLst>
              <a:gd name="adj" fmla="val 6467"/>
            </a:avLst>
          </a:prstGeom>
          <a:solidFill>
            <a:srgbClr val="E6EFEF"/>
          </a:solidFill>
          <a:ln/>
        </p:spPr>
      </p:sp>
      <p:sp>
        <p:nvSpPr>
          <p:cNvPr id="32" name="bullet-hex"/>
          <p:cNvSpPr/>
          <p:nvPr/>
        </p:nvSpPr>
        <p:spPr>
          <a:xfrm>
            <a:off x="676656" y="1789169"/>
            <a:ext cx="384048" cy="332586"/>
          </a:xfrm>
          <a:prstGeom prst="hexagon">
            <a:avLst/>
          </a:prstGeom>
          <a:solidFill>
            <a:srgbClr val="1F6F6A"/>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ionic compound has no overall charge, so the positive and negative charges must cancel.</a:t>
            </a:r>
            <a:endParaRPr lang="en-US" sz="1800" dirty="0"/>
          </a:p>
        </p:txBody>
      </p:sp>
      <p:sp>
        <p:nvSpPr>
          <p:cNvPr id="34" name="bullet-card"/>
          <p:cNvSpPr/>
          <p:nvPr/>
        </p:nvSpPr>
        <p:spPr>
          <a:xfrm>
            <a:off x="548640" y="2667339"/>
            <a:ext cx="5074920" cy="852255"/>
          </a:xfrm>
          <a:prstGeom prst="roundRect">
            <a:avLst>
              <a:gd name="adj" fmla="val 8583"/>
            </a:avLst>
          </a:prstGeom>
          <a:solidFill>
            <a:srgbClr val="E6EFEF"/>
          </a:solidFill>
          <a:ln/>
        </p:spPr>
      </p:sp>
      <p:sp>
        <p:nvSpPr>
          <p:cNvPr id="35" name="bullet-hex"/>
          <p:cNvSpPr/>
          <p:nvPr/>
        </p:nvSpPr>
        <p:spPr>
          <a:xfrm>
            <a:off x="676656" y="2927173"/>
            <a:ext cx="384048" cy="332586"/>
          </a:xfrm>
          <a:prstGeom prst="hexagon">
            <a:avLst/>
          </a:prstGeom>
          <a:solidFill>
            <a:srgbClr val="B8862B"/>
          </a:solidFill>
          <a:ln/>
        </p:spPr>
      </p:sp>
      <p:sp>
        <p:nvSpPr>
          <p:cNvPr id="36" name="bullet"/>
          <p:cNvSpPr txBox="1"/>
          <p:nvPr/>
        </p:nvSpPr>
        <p:spPr>
          <a:xfrm>
            <a:off x="1143000" y="2667339"/>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method is the same every time. Write down the two ions and their charges.</a:t>
            </a:r>
            <a:endParaRPr lang="en-US" sz="1800" dirty="0"/>
          </a:p>
        </p:txBody>
      </p:sp>
      <p:sp>
        <p:nvSpPr>
          <p:cNvPr id="37" name="bullet-card"/>
          <p:cNvSpPr/>
          <p:nvPr/>
        </p:nvSpPr>
        <p:spPr>
          <a:xfrm>
            <a:off x="548640" y="3665897"/>
            <a:ext cx="5074920" cy="1131147"/>
          </a:xfrm>
          <a:prstGeom prst="roundRect">
            <a:avLst>
              <a:gd name="adj" fmla="val 6467"/>
            </a:avLst>
          </a:prstGeom>
          <a:solidFill>
            <a:srgbClr val="E6EFEF"/>
          </a:solidFill>
          <a:ln/>
        </p:spPr>
      </p:sp>
      <p:sp>
        <p:nvSpPr>
          <p:cNvPr id="38" name="bullet-hex"/>
          <p:cNvSpPr/>
          <p:nvPr/>
        </p:nvSpPr>
        <p:spPr>
          <a:xfrm>
            <a:off x="676656" y="4065178"/>
            <a:ext cx="384048" cy="332586"/>
          </a:xfrm>
          <a:prstGeom prst="hexagon">
            <a:avLst/>
          </a:prstGeom>
          <a:solidFill>
            <a:srgbClr val="1F6F6A"/>
          </a:solidFill>
          <a:ln/>
        </p:spPr>
      </p:sp>
      <p:sp>
        <p:nvSpPr>
          <p:cNvPr id="39" name="bullet"/>
          <p:cNvSpPr txBox="1"/>
          <p:nvPr/>
        </p:nvSpPr>
        <p:spPr>
          <a:xfrm>
            <a:off x="1143000" y="3665897"/>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charges are the same size, the ions pair up one to one: Mg²⁺ and O²⁻ give MgO; Ca²⁺ and S²⁻ give CaS.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Reading a formula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subscript number belongs to the symbol just before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What ions are in lithium oxide, Li₂O, and how many of each does the formula show?</a:t>
            </a:r>
            <a:endParaRPr lang="en-US" sz="1800" dirty="0"/>
          </a:p>
        </p:txBody>
      </p:sp>
      <p:sp>
        <p:nvSpPr>
          <p:cNvPr id="14" name="step-box"/>
          <p:cNvSpPr/>
          <p:nvPr/>
        </p:nvSpPr>
        <p:spPr>
          <a:xfrm>
            <a:off x="6126480" y="2888488"/>
            <a:ext cx="5379415" cy="785537"/>
          </a:xfrm>
          <a:prstGeom prst="roundRect">
            <a:avLst>
              <a:gd name="adj" fmla="val 11640"/>
            </a:avLst>
          </a:prstGeom>
          <a:solidFill>
            <a:srgbClr val="E2ECEC"/>
          </a:solidFill>
          <a:ln/>
        </p:spPr>
      </p:sp>
      <p:sp>
        <p:nvSpPr>
          <p:cNvPr id="15" name="step-hex"/>
          <p:cNvSpPr/>
          <p:nvPr/>
        </p:nvSpPr>
        <p:spPr>
          <a:xfrm>
            <a:off x="6217920" y="3099126"/>
            <a:ext cx="420624" cy="364260"/>
          </a:xfrm>
          <a:prstGeom prst="hexagon">
            <a:avLst/>
          </a:prstGeom>
          <a:solidFill>
            <a:srgbClr val="1F6F6A"/>
          </a:solidFill>
          <a:ln/>
        </p:spPr>
      </p:sp>
      <p:sp>
        <p:nvSpPr>
          <p:cNvPr id="16" name="step-hex-label"/>
          <p:cNvSpPr txBox="1"/>
          <p:nvPr/>
        </p:nvSpPr>
        <p:spPr>
          <a:xfrm>
            <a:off x="6217920" y="30991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8553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Elements: lithium (Li) and oxygen (O). The 2 shows two lithium ions for each oxide ion.</a:t>
            </a:r>
            <a:endParaRPr lang="en-US" sz="1800" dirty="0"/>
          </a:p>
        </p:txBody>
      </p:sp>
      <p:sp>
        <p:nvSpPr>
          <p:cNvPr id="18" name="step-box"/>
          <p:cNvSpPr/>
          <p:nvPr/>
        </p:nvSpPr>
        <p:spPr>
          <a:xfrm>
            <a:off x="6126480" y="3765465"/>
            <a:ext cx="5379415" cy="785537"/>
          </a:xfrm>
          <a:prstGeom prst="roundRect">
            <a:avLst>
              <a:gd name="adj" fmla="val 11640"/>
            </a:avLst>
          </a:prstGeom>
          <a:solidFill>
            <a:srgbClr val="E2ECEC"/>
          </a:solidFill>
          <a:ln/>
        </p:spPr>
      </p:sp>
      <p:sp>
        <p:nvSpPr>
          <p:cNvPr id="19" name="step-hex"/>
          <p:cNvSpPr/>
          <p:nvPr/>
        </p:nvSpPr>
        <p:spPr>
          <a:xfrm>
            <a:off x="6217920" y="3976104"/>
            <a:ext cx="420624" cy="364260"/>
          </a:xfrm>
          <a:prstGeom prst="hexagon">
            <a:avLst/>
          </a:prstGeom>
          <a:solidFill>
            <a:srgbClr val="1F6F6A"/>
          </a:solidFill>
          <a:ln/>
        </p:spPr>
      </p:sp>
      <p:sp>
        <p:nvSpPr>
          <p:cNvPr id="20" name="step-hex-label"/>
          <p:cNvSpPr txBox="1"/>
          <p:nvPr/>
        </p:nvSpPr>
        <p:spPr>
          <a:xfrm>
            <a:off x="6217920" y="39761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65465"/>
            <a:ext cx="4739335" cy="78553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Charges from the periodic table: lithium is Group 1, Li⁺; oxygen is Group 6, O²⁻.</a:t>
            </a:r>
            <a:endParaRPr lang="en-US" sz="1800" dirty="0"/>
          </a:p>
        </p:txBody>
      </p:sp>
      <p:sp>
        <p:nvSpPr>
          <p:cNvPr id="22" name="step-box"/>
          <p:cNvSpPr/>
          <p:nvPr/>
        </p:nvSpPr>
        <p:spPr>
          <a:xfrm>
            <a:off x="6126480" y="4642443"/>
            <a:ext cx="5379415" cy="785537"/>
          </a:xfrm>
          <a:prstGeom prst="roundRect">
            <a:avLst>
              <a:gd name="adj" fmla="val 11640"/>
            </a:avLst>
          </a:prstGeom>
          <a:solidFill>
            <a:srgbClr val="E2ECEC"/>
          </a:solidFill>
          <a:ln/>
        </p:spPr>
      </p:sp>
      <p:sp>
        <p:nvSpPr>
          <p:cNvPr id="23" name="step-hex"/>
          <p:cNvSpPr/>
          <p:nvPr/>
        </p:nvSpPr>
        <p:spPr>
          <a:xfrm>
            <a:off x="6217920" y="4853081"/>
            <a:ext cx="420624" cy="364260"/>
          </a:xfrm>
          <a:prstGeom prst="hexagon">
            <a:avLst/>
          </a:prstGeom>
          <a:solidFill>
            <a:srgbClr val="1F6F6A"/>
          </a:solidFill>
          <a:ln/>
        </p:spPr>
      </p:sp>
      <p:sp>
        <p:nvSpPr>
          <p:cNvPr id="24" name="step-hex-label"/>
          <p:cNvSpPr txBox="1"/>
          <p:nvPr/>
        </p:nvSpPr>
        <p:spPr>
          <a:xfrm>
            <a:off x="6217920" y="485308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42443"/>
            <a:ext cx="4739335" cy="78553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2 × (1+) = 2+ and 1 × (2−) = 2−. The charges cancel.</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Two Li⁺ ions and one O²⁻ ion.</a:t>
            </a:r>
            <a:endParaRPr lang="en-US" sz="1800" dirty="0"/>
          </a:p>
        </p:txBody>
      </p:sp>
      <p:sp>
        <p:nvSpPr>
          <p:cNvPr id="27" name="bullet-card"/>
          <p:cNvSpPr/>
          <p:nvPr/>
        </p:nvSpPr>
        <p:spPr>
          <a:xfrm>
            <a:off x="548640" y="1389888"/>
            <a:ext cx="5074920" cy="1698244"/>
          </a:xfrm>
          <a:prstGeom prst="roundRect">
            <a:avLst>
              <a:gd name="adj" fmla="val 4308"/>
            </a:avLst>
          </a:prstGeom>
          <a:solidFill>
            <a:srgbClr val="E6EFEF"/>
          </a:solidFill>
          <a:ln/>
        </p:spPr>
      </p:sp>
      <p:sp>
        <p:nvSpPr>
          <p:cNvPr id="28" name="bullet-hex"/>
          <p:cNvSpPr/>
          <p:nvPr/>
        </p:nvSpPr>
        <p:spPr>
          <a:xfrm>
            <a:off x="676656" y="2072717"/>
            <a:ext cx="384048" cy="332586"/>
          </a:xfrm>
          <a:prstGeom prst="hexagon">
            <a:avLst/>
          </a:prstGeom>
          <a:solidFill>
            <a:srgbClr val="1F6F6A"/>
          </a:solidFill>
          <a:ln/>
        </p:spPr>
      </p:sp>
      <p:sp>
        <p:nvSpPr>
          <p:cNvPr id="29"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can also read a formula backwards to find which ions are in a compound and how many.</a:t>
            </a:r>
            <a:endParaRPr lang="en-US" sz="2200" dirty="0"/>
          </a:p>
        </p:txBody>
      </p:sp>
      <p:sp>
        <p:nvSpPr>
          <p:cNvPr id="30" name="bullet-card"/>
          <p:cNvSpPr/>
          <p:nvPr/>
        </p:nvSpPr>
        <p:spPr>
          <a:xfrm>
            <a:off x="548640" y="3234436"/>
            <a:ext cx="5074920" cy="1698244"/>
          </a:xfrm>
          <a:prstGeom prst="roundRect">
            <a:avLst>
              <a:gd name="adj" fmla="val 4308"/>
            </a:avLst>
          </a:prstGeom>
          <a:solidFill>
            <a:srgbClr val="E6EFEF"/>
          </a:solidFill>
          <a:ln/>
        </p:spPr>
      </p:sp>
      <p:sp>
        <p:nvSpPr>
          <p:cNvPr id="31" name="bullet-hex"/>
          <p:cNvSpPr/>
          <p:nvPr/>
        </p:nvSpPr>
        <p:spPr>
          <a:xfrm>
            <a:off x="676656" y="3917265"/>
            <a:ext cx="384048" cy="332586"/>
          </a:xfrm>
          <a:prstGeom prst="hexagon">
            <a:avLst/>
          </a:prstGeom>
          <a:solidFill>
            <a:srgbClr val="B8862B"/>
          </a:solidFill>
          <a:ln/>
        </p:spPr>
      </p:sp>
      <p:sp>
        <p:nvSpPr>
          <p:cNvPr id="32" name="bullet"/>
          <p:cNvSpPr txBox="1"/>
          <p:nvPr/>
        </p:nvSpPr>
        <p:spPr>
          <a:xfrm>
            <a:off x="1143000" y="3234436"/>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MgBr₂ contains one magnesium ion, Mg²⁺, and two bromide ions, Br⁻.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Giant lattices and their properties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Solid: ions fixed, no conduction. Molten or dissolved: ions free to move, conducts.</a:t>
            </a:r>
            <a:endParaRPr lang="en-US" sz="1800" dirty="0"/>
          </a:p>
        </p:txBody>
      </p:sp>
      <p:sp>
        <p:nvSpPr>
          <p:cNvPr id="11" name="bullet-card"/>
          <p:cNvSpPr/>
          <p:nvPr/>
        </p:nvSpPr>
        <p:spPr>
          <a:xfrm>
            <a:off x="548640" y="1389888"/>
            <a:ext cx="11094415" cy="1678601"/>
          </a:xfrm>
          <a:prstGeom prst="roundRect">
            <a:avLst>
              <a:gd name="adj" fmla="val 4358"/>
            </a:avLst>
          </a:prstGeom>
          <a:solidFill>
            <a:srgbClr val="E6EFEF"/>
          </a:solidFill>
          <a:ln/>
        </p:spPr>
      </p:sp>
      <p:sp>
        <p:nvSpPr>
          <p:cNvPr id="12" name="bullet-hex"/>
          <p:cNvSpPr/>
          <p:nvPr/>
        </p:nvSpPr>
        <p:spPr>
          <a:xfrm>
            <a:off x="676656" y="2062896"/>
            <a:ext cx="384048" cy="332586"/>
          </a:xfrm>
          <a:prstGeom prst="hexagon">
            <a:avLst/>
          </a:prstGeom>
          <a:solidFill>
            <a:srgbClr val="1F6F6A"/>
          </a:solidFill>
          <a:ln/>
        </p:spPr>
      </p:sp>
      <p:sp>
        <p:nvSpPr>
          <p:cNvPr id="13" name="bullet"/>
          <p:cNvSpPr txBox="1"/>
          <p:nvPr/>
        </p:nvSpPr>
        <p:spPr>
          <a:xfrm>
            <a:off x="1143000" y="1389888"/>
            <a:ext cx="10408615" cy="16786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Ionic compounds do not form small molecules. The ions pack into a giant ionic lattice: a regular, repeating structure in which every positive ion is surrounded by negative ions and every negative ion by positive ions, with strong electrostatic forces acting in all directions.</a:t>
            </a:r>
            <a:endParaRPr lang="en-US" sz="2200" dirty="0"/>
          </a:p>
        </p:txBody>
      </p:sp>
      <p:sp>
        <p:nvSpPr>
          <p:cNvPr id="14" name="bullet-card"/>
          <p:cNvSpPr/>
          <p:nvPr/>
        </p:nvSpPr>
        <p:spPr>
          <a:xfrm>
            <a:off x="548640" y="3214793"/>
            <a:ext cx="11094415" cy="996865"/>
          </a:xfrm>
          <a:prstGeom prst="roundRect">
            <a:avLst>
              <a:gd name="adj" fmla="val 7338"/>
            </a:avLst>
          </a:prstGeom>
          <a:solidFill>
            <a:srgbClr val="E6EFEF"/>
          </a:solidFill>
          <a:ln/>
        </p:spPr>
      </p:sp>
      <p:sp>
        <p:nvSpPr>
          <p:cNvPr id="15" name="bullet-hex"/>
          <p:cNvSpPr/>
          <p:nvPr/>
        </p:nvSpPr>
        <p:spPr>
          <a:xfrm>
            <a:off x="676656" y="3546933"/>
            <a:ext cx="384048" cy="332586"/>
          </a:xfrm>
          <a:prstGeom prst="hexagon">
            <a:avLst/>
          </a:prstGeom>
          <a:solidFill>
            <a:srgbClr val="B8862B"/>
          </a:solidFill>
          <a:ln/>
        </p:spPr>
      </p:sp>
      <p:sp>
        <p:nvSpPr>
          <p:cNvPr id="16" name="bullet"/>
          <p:cNvSpPr txBox="1"/>
          <p:nvPr/>
        </p:nvSpPr>
        <p:spPr>
          <a:xfrm>
            <a:off x="1143000" y="3214793"/>
            <a:ext cx="10408615" cy="9968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Because those forces are strong and act in every direction, a lot of energy is needed to pull the ions apart.</a:t>
            </a:r>
            <a:endParaRPr lang="en-US" sz="2200" dirty="0"/>
          </a:p>
        </p:txBody>
      </p:sp>
      <p:sp>
        <p:nvSpPr>
          <p:cNvPr id="17" name="bullet-card"/>
          <p:cNvSpPr/>
          <p:nvPr/>
        </p:nvSpPr>
        <p:spPr>
          <a:xfrm>
            <a:off x="548640" y="4357963"/>
            <a:ext cx="11094415" cy="996865"/>
          </a:xfrm>
          <a:prstGeom prst="roundRect">
            <a:avLst>
              <a:gd name="adj" fmla="val 7338"/>
            </a:avLst>
          </a:prstGeom>
          <a:solidFill>
            <a:srgbClr val="E6EFEF"/>
          </a:solidFill>
          <a:ln/>
        </p:spPr>
      </p:sp>
      <p:sp>
        <p:nvSpPr>
          <p:cNvPr id="18" name="bullet-hex"/>
          <p:cNvSpPr/>
          <p:nvPr/>
        </p:nvSpPr>
        <p:spPr>
          <a:xfrm>
            <a:off x="676656" y="4690103"/>
            <a:ext cx="384048" cy="332586"/>
          </a:xfrm>
          <a:prstGeom prst="hexagon">
            <a:avLst/>
          </a:prstGeom>
          <a:solidFill>
            <a:srgbClr val="1F6F6A"/>
          </a:solidFill>
          <a:ln/>
        </p:spPr>
      </p:sp>
      <p:sp>
        <p:nvSpPr>
          <p:cNvPr id="19" name="bullet"/>
          <p:cNvSpPr txBox="1"/>
          <p:nvPr/>
        </p:nvSpPr>
        <p:spPr>
          <a:xfrm>
            <a:off x="1143000" y="4357963"/>
            <a:ext cx="10408615" cy="9968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Solid ionic compounds do not conduct electricity, because the ions are locked in place in the lattice and cannot move.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Worked example: Giant lattices and their properties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Calcium oxide melts at 2572 °C and sodium oxide at 1132 °C. How much higher is the melting point of calcium oxide, and why?</a:t>
            </a:r>
            <a:endParaRPr lang="en-US" sz="2000" dirty="0"/>
          </a:p>
        </p:txBody>
      </p:sp>
      <p:sp>
        <p:nvSpPr>
          <p:cNvPr id="9" name="step-box"/>
          <p:cNvSpPr/>
          <p:nvPr/>
        </p:nvSpPr>
        <p:spPr>
          <a:xfrm>
            <a:off x="548640" y="2502408"/>
            <a:ext cx="11094415" cy="603504"/>
          </a:xfrm>
          <a:prstGeom prst="roundRect">
            <a:avLst>
              <a:gd name="adj" fmla="val 12121"/>
            </a:avLst>
          </a:prstGeom>
          <a:solidFill>
            <a:srgbClr val="FFFFFF"/>
          </a:solidFill>
          <a:ln w="15875">
            <a:solidFill>
              <a:srgbClr val="84B0AD"/>
            </a:solidFill>
            <a:prstDash val="solid"/>
          </a:ln>
        </p:spPr>
      </p:sp>
      <p:sp>
        <p:nvSpPr>
          <p:cNvPr id="10" name="step-hex"/>
          <p:cNvSpPr/>
          <p:nvPr/>
        </p:nvSpPr>
        <p:spPr>
          <a:xfrm>
            <a:off x="685800" y="2606192"/>
            <a:ext cx="457200" cy="395935"/>
          </a:xfrm>
          <a:prstGeom prst="hexagon">
            <a:avLst/>
          </a:prstGeom>
          <a:solidFill>
            <a:srgbClr val="1F6F6A"/>
          </a:solidFill>
          <a:ln/>
        </p:spPr>
      </p:sp>
      <p:sp>
        <p:nvSpPr>
          <p:cNvPr id="11" name="step-hex-label"/>
          <p:cNvSpPr txBox="1"/>
          <p:nvPr/>
        </p:nvSpPr>
        <p:spPr>
          <a:xfrm>
            <a:off x="685800" y="26061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Difference: 2572 − 1132 = 1440 degrees.</a:t>
            </a:r>
            <a:endParaRPr lang="en-US" sz="1800" dirty="0"/>
          </a:p>
        </p:txBody>
      </p:sp>
      <p:sp>
        <p:nvSpPr>
          <p:cNvPr id="13" name="step-box"/>
          <p:cNvSpPr/>
          <p:nvPr/>
        </p:nvSpPr>
        <p:spPr>
          <a:xfrm>
            <a:off x="548640" y="3179064"/>
            <a:ext cx="11094415" cy="603504"/>
          </a:xfrm>
          <a:prstGeom prst="roundRect">
            <a:avLst>
              <a:gd name="adj" fmla="val 12121"/>
            </a:avLst>
          </a:prstGeom>
          <a:solidFill>
            <a:srgbClr val="FFFFFF"/>
          </a:solidFill>
          <a:ln w="15875">
            <a:solidFill>
              <a:srgbClr val="84B0AD"/>
            </a:solidFill>
            <a:prstDash val="solid"/>
          </a:ln>
        </p:spPr>
      </p:sp>
      <p:sp>
        <p:nvSpPr>
          <p:cNvPr id="14" name="step-hex"/>
          <p:cNvSpPr/>
          <p:nvPr/>
        </p:nvSpPr>
        <p:spPr>
          <a:xfrm>
            <a:off x="685800" y="3282848"/>
            <a:ext cx="457200" cy="395935"/>
          </a:xfrm>
          <a:prstGeom prst="hexagon">
            <a:avLst/>
          </a:prstGeom>
          <a:solidFill>
            <a:srgbClr val="1F6F6A"/>
          </a:solidFill>
          <a:ln/>
        </p:spPr>
      </p:sp>
      <p:sp>
        <p:nvSpPr>
          <p:cNvPr id="15" name="step-hex-label"/>
          <p:cNvSpPr txBox="1"/>
          <p:nvPr/>
        </p:nvSpPr>
        <p:spPr>
          <a:xfrm>
            <a:off x="685800" y="32828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79064"/>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compounds contain O²⁻ ions. The difference is the metal ion: Ca²⁺ against Na⁺.</a:t>
            </a:r>
            <a:endParaRPr lang="en-US" sz="1800" dirty="0"/>
          </a:p>
        </p:txBody>
      </p:sp>
      <p:sp>
        <p:nvSpPr>
          <p:cNvPr id="17" name="step-box"/>
          <p:cNvSpPr/>
          <p:nvPr/>
        </p:nvSpPr>
        <p:spPr>
          <a:xfrm>
            <a:off x="548640" y="3855720"/>
            <a:ext cx="11094415" cy="603504"/>
          </a:xfrm>
          <a:prstGeom prst="roundRect">
            <a:avLst>
              <a:gd name="adj" fmla="val 12121"/>
            </a:avLst>
          </a:prstGeom>
          <a:solidFill>
            <a:srgbClr val="FFFFFF"/>
          </a:solidFill>
          <a:ln w="15875">
            <a:solidFill>
              <a:srgbClr val="84B0AD"/>
            </a:solidFill>
            <a:prstDash val="solid"/>
          </a:ln>
        </p:spPr>
      </p:sp>
      <p:sp>
        <p:nvSpPr>
          <p:cNvPr id="18" name="step-hex"/>
          <p:cNvSpPr/>
          <p:nvPr/>
        </p:nvSpPr>
        <p:spPr>
          <a:xfrm>
            <a:off x="685800" y="3959504"/>
            <a:ext cx="457200" cy="395935"/>
          </a:xfrm>
          <a:prstGeom prst="hexagon">
            <a:avLst/>
          </a:prstGeom>
          <a:solidFill>
            <a:srgbClr val="1F6F6A"/>
          </a:solidFill>
          <a:ln/>
        </p:spPr>
      </p:sp>
      <p:sp>
        <p:nvSpPr>
          <p:cNvPr id="19" name="step-hex-label"/>
          <p:cNvSpPr txBox="1"/>
          <p:nvPr/>
        </p:nvSpPr>
        <p:spPr>
          <a:xfrm>
            <a:off x="685800" y="39595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55720"/>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2+ ion attracts the 2− oxide ions more strongly than a 1+ ion does.</a:t>
            </a:r>
            <a:endParaRPr lang="en-US" sz="1800" dirty="0"/>
          </a:p>
        </p:txBody>
      </p:sp>
      <p:sp>
        <p:nvSpPr>
          <p:cNvPr id="21" name="step-box"/>
          <p:cNvSpPr/>
          <p:nvPr/>
        </p:nvSpPr>
        <p:spPr>
          <a:xfrm>
            <a:off x="548640" y="4532376"/>
            <a:ext cx="11094415" cy="603504"/>
          </a:xfrm>
          <a:prstGeom prst="roundRect">
            <a:avLst>
              <a:gd name="adj" fmla="val 12121"/>
            </a:avLst>
          </a:prstGeom>
          <a:solidFill>
            <a:srgbClr val="FFFFFF"/>
          </a:solidFill>
          <a:ln w="15875">
            <a:solidFill>
              <a:srgbClr val="84B0AD"/>
            </a:solidFill>
            <a:prstDash val="solid"/>
          </a:ln>
        </p:spPr>
      </p:sp>
      <p:sp>
        <p:nvSpPr>
          <p:cNvPr id="22" name="step-hex"/>
          <p:cNvSpPr/>
          <p:nvPr/>
        </p:nvSpPr>
        <p:spPr>
          <a:xfrm>
            <a:off x="685800" y="4636160"/>
            <a:ext cx="457200" cy="395935"/>
          </a:xfrm>
          <a:prstGeom prst="hexagon">
            <a:avLst/>
          </a:prstGeom>
          <a:solidFill>
            <a:srgbClr val="1F6F6A"/>
          </a:solidFill>
          <a:ln/>
        </p:spPr>
      </p:sp>
      <p:sp>
        <p:nvSpPr>
          <p:cNvPr id="23" name="step-hex-label"/>
          <p:cNvSpPr txBox="1"/>
          <p:nvPr/>
        </p:nvSpPr>
        <p:spPr>
          <a:xfrm>
            <a:off x="685800" y="46361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32376"/>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Stronger electrostatic forces need more energy to overcome, so the melting point is higher.</a:t>
            </a:r>
            <a:endParaRPr lang="en-US" sz="1800" dirty="0"/>
          </a:p>
        </p:txBody>
      </p:sp>
      <p:sp>
        <p:nvSpPr>
          <p:cNvPr id="25" name="worked-answer"/>
          <p:cNvSpPr/>
          <p:nvPr/>
        </p:nvSpPr>
        <p:spPr>
          <a:xfrm>
            <a:off x="548640" y="5318760"/>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1440 degrees higher, because the Ca²⁺ ions attract the oxide ions more strongly than Na⁺ ions do.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Balance the charges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Aluminium oxide contains aluminium ions with a 3+ charge and oxide ions with a 2− charge. How many oxide ions are needed to balance the charge on 2 aluminium ions?</a:t>
            </a:r>
            <a:endParaRPr lang="en-US" sz="2600" dirty="0"/>
          </a:p>
          <a:p>
            <a:pPr algn="ctr" indent="0" marL="0">
              <a:buNone/>
            </a:pPr>
            <a:r>
              <a:rPr lang="en-US" sz="2400" b="1" dirty="0">
                <a:solidFill>
                  <a:srgbClr val="1F6F6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oxide ions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Balance the charges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Aluminium oxide contains aluminium ions with a 3+ charge and oxide ions with a 2− charge. How many oxide ions are needed to balance the charge on 2 aluminium ions?</a:t>
            </a:r>
            <a:endParaRPr lang="en-US" sz="2000" dirty="0"/>
          </a:p>
        </p:txBody>
      </p:sp>
      <p:sp>
        <p:nvSpPr>
          <p:cNvPr id="12" name="col-Support"/>
          <p:cNvSpPr/>
          <p:nvPr/>
        </p:nvSpPr>
        <p:spPr>
          <a:xfrm>
            <a:off x="548640" y="2903728"/>
            <a:ext cx="4667802" cy="3241040"/>
          </a:xfrm>
          <a:prstGeom prst="roundRect">
            <a:avLst>
              <a:gd name="adj" fmla="val 1693"/>
            </a:avLst>
          </a:prstGeom>
          <a:solidFill>
            <a:srgbClr val="E2ECEC"/>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the total positive charge: number of metal ions × charge on each.</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negative ion cancels its own charge. Divide the positive total by the size of the negative charge.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positive total and negative total must be equal.</a:t>
            </a:r>
            <a:endParaRPr lang="en-US" sz="1800" dirty="0"/>
          </a:p>
        </p:txBody>
      </p:sp>
      <p:sp>
        <p:nvSpPr>
          <p:cNvPr id="17" name="col-Core"/>
          <p:cNvSpPr/>
          <p:nvPr/>
        </p:nvSpPr>
        <p:spPr>
          <a:xfrm>
            <a:off x="5490762" y="2903728"/>
            <a:ext cx="2938987" cy="3241040"/>
          </a:xfrm>
          <a:prstGeom prst="roundRect">
            <a:avLst>
              <a:gd name="adj" fmla="val 1867"/>
            </a:avLst>
          </a:prstGeom>
          <a:solidFill>
            <a:srgbClr val="C7DBDA"/>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Total positive charge first. Then how many 2− ions does it take to cancel it?</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1F6F6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formula of aluminium oxide, then predict the formula of aluminium sulfide (sulfide is S²⁻) and of aluminium chloride (Cl⁻). Explain the pattern.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When does salt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Solid sodium chloride does not conduct electricity, but molten sodium chloride does.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When molten, the ions are free to move and carry charge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When molten, the ions gain electrons and become neutral atoms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When molten, the ionic bonds turn into covalent bonds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When molten, the electrons are free to move between the ions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When does salt conduct?</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Solid sodium chloride does not conduct electricity, but molten sodium chloride does. Why?</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current is carried by charged particles that are free to move.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a solid lattice the ions are locked in position.</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Melting or dissolving breaks up the lattice: what can the ions do now?</a:t>
            </a:r>
            <a:endParaRPr lang="en-US" sz="2000" dirty="0"/>
          </a:p>
        </p:txBody>
      </p:sp>
      <p:sp>
        <p:nvSpPr>
          <p:cNvPr id="17" name="col-Core"/>
          <p:cNvSpPr/>
          <p:nvPr/>
        </p:nvSpPr>
        <p:spPr>
          <a:xfrm>
            <a:off x="4338218" y="2593848"/>
            <a:ext cx="3515258" cy="3550920"/>
          </a:xfrm>
          <a:prstGeom prst="roundRect">
            <a:avLst>
              <a:gd name="adj" fmla="val 1561"/>
            </a:avLst>
          </a:prstGeom>
          <a:solidFill>
            <a:srgbClr val="C7DBDA"/>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What carries the charge in an ionic compound, and what stops it in the solid?</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1F6F6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distilled water is a poor conductor while sea water is a good one, and why the electrolysis of sodium chloride (which you will meet later) must be done on molten or dissolved salt.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When sodium reacts with chlorine, what happens to the electrons?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Sodium and chlorine share a pair of electrons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chlorine atom transfers one electron to a sodium atom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Both atoms lose electrons into a shared sea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sodium atom transfers one electron to a chlorine atom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Balance the charges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Aluminium oxide contains aluminium ions with a 3+ charge and oxide ions with a 2− charge. How many oxide ions are needed to balance the charge on 2 aluminium ions?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oxide ions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 × 3 = 6+, so three 2− ions are needed: 3 × 2 = 6−. Formula Al₂O₃.</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When does salt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Solid sodium chloride does not conduct electricity, but molten sodium chloride does.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When molten, the ions are free to move and carry charge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Molten ions are free to move. Moving charged particles carry a current; fixed ones cannot.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When sodium reacts with chlorine, what happens to the electrons?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Each sodium atom transfers one electron to a chlorine atom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Ionic bonding is electron transfer from the metal to the non-metal: sodium loses one electron, chlorine gains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3: Ionic bonding and giant ionic structures</dc:title>
  <dc:subject>Chemistry (Combined Science) · Year 10</dc:subject>
  <dc:creator>Dr Vitor Merissi de Carvalho</dc:creator>
  <cp:lastModifiedBy>Dr Vitor Merissi de Carvalho</cp:lastModifiedBy>
  <cp:revision>1</cp:revision>
  <dcterms:created xsi:type="dcterms:W3CDTF">2026-10-18T17:47:15Z</dcterms:created>
  <dcterms:modified xsi:type="dcterms:W3CDTF">2026-10-18T17:47:15Z</dcterms:modified>
</cp:coreProperties>
</file>