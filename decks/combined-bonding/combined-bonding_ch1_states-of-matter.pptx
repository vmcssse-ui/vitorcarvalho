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6c25644-cfb9-2f59-eb89-307b6500ade6}">
          <p14:sldIdLst>
            <p14:sldId id="256"/>
          </p14:sldIdLst>
        </p14:section>
        <p14:section name="Gate" id="{68a016f8-63f3-a82a-56dd-1486c9847a51}">
          <p14:sldIdLst>
            <p14:sldId id="257"/>
            <p14:sldId id="258"/>
          </p14:sldIdLst>
        </p14:section>
        <p14:section name="Pre-teach" id="{4df03ead-be69-13fb-e584-5b37963c8d6f}">
          <p14:sldIdLst>
            <p14:sldId id="259"/>
          </p14:sldIdLst>
        </p14:section>
        <p14:section name="Read-along" id="{0522bed0-07ee-8af9-a410-8ba072e2a3ff}">
          <p14:sldIdLst>
            <p14:sldId id="260"/>
            <p14:sldId id="261"/>
          </p14:sldIdLst>
        </p14:section>
        <p14:section name="Teach" id="{d99c91a2-463e-4807-7fa2-461eea22ed1d}">
          <p14:sldIdLst>
            <p14:sldId id="262"/>
            <p14:sldId id="263"/>
            <p14:sldId id="264"/>
            <p14:sldId id="265"/>
            <p14:sldId id="266"/>
            <p14:sldId id="267"/>
          </p14:sldIdLst>
        </p14:section>
        <p14:section name="Routes" id="{3d988b8d-fc96-0b5f-f062-a4c422ef8cda}">
          <p14:sldIdLst>
            <p14:sldId id="268"/>
            <p14:sldId id="269"/>
            <p14:sldId id="270"/>
            <p14:sldId id="271"/>
          </p14:sldIdLst>
        </p14:section>
        <p14:section name="Close" id="{b2356982-56ec-898b-472a-bdfbbf4a212d}">
          <p14:sldIdLst>
            <p14:sldId id="272"/>
          </p14:sldIdLst>
        </p14:section>
        <p14:section name="Answers" id="{903237b2-1526-1e40-b829-5e5781f3b7f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States of matter. This chapter gives you the particle model: how particles are arranged and move in solids, liquids and gases, and what changes when a substance melts or boils.
This deck covers the department's lesson: 1 (3.1 States of matter: How does the particle model explain solids, liquids and gases, and what happens when a substance melts or boils?).
Read the big question aloud: "Why does table salt melt at 801 °C while the water you dissolve it in boils at 100 °C?"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description fits the particles in a solid?  →  A   Tightly packed in a regular pattern, vibrating on the spot
2. Ethanol (ethyl alcohol) melts at −114 °C and boils at 78 °C. Over how many degrees is ethanol a liquid?  →  192 °C
3. At the ___ point, a liquid turns into a gas.  →  boiling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Tightly packed in a regular pattern, vibrating on the spot. In a solid the particles are tightly packed in a regular arrangement and can only vibrate on the spot.
2. 192 °C. From −114 °C up to 78 °C is 78 − (−114) = 192 degrees. Whole-number data, so a whole-number answer.
3. boiling. Liquid to gas is boiling; solid to liquid is melting; liquid to solid is freezing.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particle: a tiny piece of a substance, far too small to see. Example: "Every drop of water is made of millions of water particles."
• arrangement: the pattern the particles are in. Example: "In a solid the arrangement is regular, like bricks in a wall."
• vibrate: to shake quickly on the spot without moving away. Example: "The particles in ice vibrate but stay in their places."
• melting point: the temperature at which a solid turns into a liquid. Example: "The melting point of ice is zero degrees Celsius."
• boiling point: the temperature at which a liquid turns into a gas. Example: "Water reaches its boiling point at one hundred degrees Celsius."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Everything around you is made of tiny particles.
2. In a solid, the particles are packed tightly in a regular pattern.
3. They cannot move about, but they vibrate on the spot.
4. In a liquid, the particles are still close together.
5. But they are in a random arrangement and can move around one another.
6. In a gas, the particles are very far apart.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They move quickly in all directions.
8. When a solid is heated, its particles vibrate faster.
9. At the melting point, the particles break free and the solid becomes a liquid.
10. At the boiling point, particles escape from the liquid and it becomes a gas.
11. The melting point of ice is 0 °C.
12. The boiling point of water is 100 °C.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Solids, liquids and gases. Say it in your own words, then check understanding with a quick question: ask a pupil from the pre-teach group first, since they met these words and ideas before the lesson. Pupils try to recall before you re-explain.
The particle model says that every substance is made of tiny particles, and that the way those particles are arranged and move decides whether the substance is a solid, a liquid or a gas. The particles themselves do not change when ice melts; only their arrangement and movement change.
In a solid the particles are tightly packed in a regular arrangement. They vibrate on the spot but cannot change places, so a solid keeps its shape and cannot be squashed. In a liquid the particles are still close together but in a random arrangement; they can move around one another, so a liquid flows and takes the shape of its container.
In a gas the particles are very far apart, in a random arrangement, and move quickly in all directions. Because there is so much empty space between them, a gas can be squashed (compressed) and it spreads out to fill any container.
Tip: Three words for each state: distance, arrangement, movement. Solid: tight, regular, vibrate. Liquid: close, random, move around one another. Gas: far apart, random, fast in all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Melting and boiling. Say it in your own words, then check understanding with a quick question: ask a pupil from the pre-teach group first, since they met these words and ideas before the lesson. Pupils try to recall before you re-explain.
When you heat a solid, you give its particles energy and they vibrate faster. At the melting point they have enough energy to overcome the forces holding them in place: the particles separate from their fixed positions and start to move around one another. The solid has become a liquid.
Keep heating the liquid and the particles move faster still. At the boiling point, particles gain enough energy to escape from the surface of the liquid and move far apart: the liquid has become a gas. Freezing and condensing are the same changes in reverse, as the particles lose energy and slow down.
Here is the surprising part. While a substance is actually melting or boiling, its temperature stays the same even though you keep heating it. All the energy you supply is being used to separate the particles from their neighbours, not to make them move faster. On a graph of temperature against time, the melting point and boiling point appear as flat steps.
Worked example — model it step by step, thinking aloud: Describe what happens to the particles when a block of ice is heated until it has all melted. (1) Start with the solid: the particles in ice are close together in a regular arrangement and vibrate on the spot. (2) Heating gives the particles energy, so they vibrate faster. (3) At 0 °C, the melting point, the particles have enough energy to overcome the forces holding them in position. (4) They separate from their fixed positions and move around one another: the ice has become liquid water. Answer: The particles vibrate faster, then at 0 °C they overcome the forces holding them in place and move around one another as a liquid..
Tip: Melting and boiling do not change the particles. The same water particles are in ice, water and steam.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Melting and boiling. Say it in your own words, then check understanding with a quick question: ask a pupil from the pre-teach group first, since they met these words and ideas before the lesson. Pupils try to recall before you re-explain.
When you heat a solid, you give its particles energy and they vibrate faster. At the melting point they have enough energy to overcome the forces holding them in place: the particles separate from their fixed positions and start to move around one another. The solid has become a liquid.
Keep heating the liquid and the particles move faster still. At the boiling point, particles gain enough energy to escape from the surface of the liquid and move far apart: the liquid has become a gas. Freezing and condensing are the same changes in reverse, as the particles lose energy and slow down.
Here is the surprising part. While a substance is actually melting or boiling, its temperature stays the same even though you keep heating it. All the energy you supply is being used to separate the particles from their neighbours, not to make them move faster. On a graph of temperature against time, the melting point and boiling point appear as flat steps.
Worked example — model it step by step, thinking aloud: Describe what happens to the particles when a block of ice is heated until it has all melted. (1) Start with the solid: the particles in ice are close together in a regular arrangement and vibrate on the spot. (2) Heating gives the particles energy, so they vibrate faster. (3) At 0 °C, the melting point, the particles have enough energy to overcome the forces holding them in position. (4) They separate from their fixed positions and move around one another: the ice has become liquid water. Answer: The particles vibrate faster, then at 0 °C they overcome the forces holding them in place and move around one another as a liquid..
Tip: Melting and boiling do not change the particles. The same water particles are in ice, water and steam.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Predicting the state from data. Say it in your own words, then check understanding with a quick question: ask a pupil from the pre-teach group first, since they met these words and ideas before the lesson. Pupils try to recall before you re-explain.
If you know a substance's melting point and boiling point, you can say what state it is in at any temperature. Below the melting point it is a solid. Between the melting point and the boiling point it is a liquid. Above the boiling point it is a gas.
Room temperature is about 25 °C. Water melts at 0 °C and boils at 100 °C, so at 25 °C it is between the two: a liquid. Iron melts at 1535 °C, far above room temperature, so iron is a solid. Hydrogen boils at −252 °C, far below room temperature, so hydrogen is a gas.
Watch the negative numbers. A melting point of −39 °C is below 25 °C, so at room temperature that substance has already melted. Draw a quick thermometer, mark the melting point and the boiling point, then mark the temperature you are asked about and read off the state.
Worked example — model it step by step, thinking aloud: Mercury melts at −39 °C and boils at 357 °C. What state is mercury in at room temperature, 25 °C? (1) Mark the melting point (−39 °C) and the boiling point (357 °C) on a thermometer sketch. (2) Mark 25 °C. It is above −39 °C, so the mercury has melted. (3) It is below 357 °C, so the mercury has not boiled. (4) Between the melting point and the boiling point the substance is a liquid. Mercury is a liquid over a range of 357 − (−39) = 396 degrees, and 25 °C sits inside it. Answer: Liquid: 25 °C is above the melting point and below the boiling point..
Tip: Below the melting point: solid. Between the two: liquid. Above the boiling point: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Predicting the state from data. Say it in your own words, then check understanding with a quick question: ask a pupil from the pre-teach group first, since they met these words and ideas before the lesson. Pupils try to recall before you re-explain.
If you know a substance's melting point and boiling point, you can say what state it is in at any temperature. Below the melting point it is a solid. Between the melting point and the boiling point it is a liquid. Above the boiling point it is a gas.
Room temperature is about 25 °C. Water melts at 0 °C and boils at 100 °C, so at 25 °C it is between the two: a liquid. Iron melts at 1535 °C, far above room temperature, so iron is a solid. Hydrogen boils at −252 °C, far below room temperature, so hydrogen is a gas.
Watch the negative numbers. A melting point of −39 °C is below 25 °C, so at room temperature that substance has already melted. Draw a quick thermometer, mark the melting point and the boiling point, then mark the temperature you are asked about and read off the state.
Worked example — model it step by step, thinking aloud: Mercury melts at −39 °C and boils at 357 °C. What state is mercury in at room temperature, 25 °C? (1) Mark the melting point (−39 °C) and the boiling point (357 °C) on a thermometer sketch. (2) Mark 25 °C. It is above −39 °C, so the mercury has melted. (3) It is below 357 °C, so the mercury has not boiled. (4) Between the melting point and the boiling point the substance is a liquid. Mercury is a liquid over a range of 357 − (−39) = 396 degrees, and 25 °C sits inside it. Answer: Liquid: 25 °C is above the melting point and below the boiling point..
Tip: Below the melting point: solid. Between the two: liquid. Above the boiling point: 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melting points differ, and the limits of the model. Say it in your own words, then check understanding with a quick question: ask a pupil from the pre-teach group first, since they met these words and ideas before the lesson. Pupils try to recall before you re-explain.
Different substances melt and boil at very different temperatures. Ethanol boils at 78 °C while iron does not even melt until 1535 °C. The difference comes from the forces between the particles. The stronger those forces, the more energy is needed to separate the particles, so the higher the melting and boiling points. The rest of this unit is about what those forces are: ionic bonds, covalent bonds, intermolecular forces and metallic bonding.
(Higher) The particle model is useful but it has limits. It draws particles as small, solid spheres, when real atoms and molecules are not solid and have different shapes and sizes. It shows no forces between the particles, so it cannot show why some substances melt at higher temperatures than others. And it leaves out the empty space inside atoms.
Chemists show the state of a substance with a state symbol after its formula: (s) for solid, (l) for liquid, (g) for gas and (aq) for aqueous, which means dissolved in water. So H₂O(s) is ice, H₂O(l) is water and H₂O(g) is steam.
Tip: State symbols: s, l, g, aq. 'Aqueous' means dissolved in water, not the same as liquid.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Solid, liquid or gas?.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substance melts at −39 °C and boils at 357 °C. What state is it in at room temperature, 25 °C?
Support — work through the steps with the group: (1) Sketch a thermometer and mark the melting point (−39 °C) and the boiling point (357 °C). (2) Mark the temperature you are asked about, 25 °C. Remember that −39 is colder than 25. (3) Below the melting point: solid. Between: liquid. Above the boiling point: gas.
Parallel worked example for Support (model it, do not give the task answer): Bromine melts at −7 °C and boils at 59 °C. What state is it in at 25 °C? 25 °C is above −7 °C, so bromine has melted.; 25 °C is below 59 °C, so it has not boiled.; Between the two points it is a liquid.. Answer: Liquid.
Core — reveal the hint only on request: Is 25 °C above or below −39 °C? Then is it above or below 357 °C?
Stretch — no help; when finished: The same substance is taken to −50 °C and then to 400 °C. Give its state at each temperature and describe how the arrangement and movement of its particles change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Solid, liquid or gas?.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substance melts at −39 °C and boils at 357 °C. What state is it in at room temperature, 25 °C?
Support — work through the steps with the group: (1) Sketch a thermometer and mark the melting point (−39 °C) and the boiling point (357 °C). (2) Mark the temperature you are asked about, 25 °C. Remember that −39 is colder than 25. (3) Below the melting point: solid. Between: liquid. Above the boiling point: gas.
Parallel worked example for Support (model it, do not give the task answer): Bromine melts at −7 °C and boils at 59 °C. What state is it in at 25 °C? 25 °C is above −7 °C, so bromine has melted.; 25 °C is below 59 °C, so it has not boiled.; Between the two points it is a liquid.. Answer: Liquid.
Core — reveal the hint only on request: Is 25 °C above or below −39 °C? Then is it above or below 357 °C?
Stretch — no help; when finished: The same substance is taken to −50 °C and then to 400 °C. Give its state at each temperature and describe how the arrangement and movement of its particles change along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ice to steam.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order, from a block of ice being heated to water boiling.
Support — work through the steps with the group: (1) Start with what the particles do in a solid: they vibrate. (2) Melting comes before boiling, so the melting stage comes next. (3) In the liquid the particles move around one another. (4) The last stage is particles escaping as a gas.
Parallel worked example for Support (model it, do not give the task answer): Put these in order for a gas being cooled until it freezes: particles lock into a regular pattern; particles slow down; particles come close together and move around one another. Cooling slows the gas particles first.; At the boiling point they come close together as a liquid.; At the melting point they lock into a regular pattern as a solid.. Answer: particles slow down; particles come close together and move around one another; particles lock into a regular pattern.
Core — reveal the hint only on request: Solid, then liquid, then gas. Which two of the stages are the actual changes of state?
Stretch — no help; when finished: Explain why the temperature of the ice-and-water mixture stays at 0 °C while the ice is melting, even though the heater is still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ice to steam.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stages in order, from a block of ice being heated to water boiling.
Support — work through the steps with the group: (1) Start with what the particles do in a solid: they vibrate. (2) Melting comes before boiling, so the melting stage comes next. (3) In the liquid the particles move around one another. (4) The last stage is particles escaping as a gas.
Parallel worked example for Support (model it, do not give the task answer): Put these in order for a gas being cooled until it freezes: particles lock into a regular pattern; particles slow down; particles come close together and move around one another. Cooling slows the gas particles first.; At the boiling point they come close together as a liquid.; At the melting point they lock into a regular pattern as a solid.. Answer: particles slow down; particles come close together and move around one another; particles lock into a regular pattern.
Core — reveal the hint only on request: Solid, then liquid, then gas. Which two of the stages are the actual changes of state?
Stretch — no help; when finished: Explain why the temperature of the ice-and-water mixture stays at 0 °C while the ice is melting, even though the heater is still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Hydrogen melts at −259 °C and boils at −252 °C. A sample of hydrogen gas is at 25 °C. By how many degrees must it be cooled before it condenses into a liquid?
Answer: 277 °C. The gas condenses at its boiling point, −252 °C. Cooling from 25 °C to −252 °C is 277 degrees.
Source of this question: module 3 task ("Cooling hydrogen")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Solid, liquid or gas?. Reveal the answer; pupils mark their own work in a different colour, then read the "why" together. Same destination for every lane, so one answer serves the whole class.
Answer: C   liquid
Why: At 25 °C the substance is above its melting point and below its boiling point, so it is a liquid.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ice to steam. Reveal the answer; pupils mark their own work in a different colour, then read the "why" together. Same destination for every lane, so one answer serves the whole class.
Answer: The particles in the solid vibrate faster and faster  (A); At the melting point the particles overcome the forces holding them in place and the solid melts  (C); The particles in the liquid move around one another, gaining more energy as the liquid is heated  (D); At the boiling point particles gain enough energy to escape from the surface and the liquid boils  (B)
Why: Heating makes the solid's particles vibrate faster; at the melting point they break free and move around one another; heating the liquid speeds them up; at the boiling point they escape as a gas.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277 °C
Why: The gas condenses at its boiling point, −252 °C. Cooling from 25 °C to −252 °C is 277 degrees.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Chemistry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Structure and Bonding · AQA 8464</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States of matter</a:t>
            </a:r>
            <a:endParaRPr lang="en-US" sz="4000" dirty="0"/>
          </a:p>
        </p:txBody>
      </p:sp>
      <p:sp>
        <p:nvSpPr>
          <p:cNvPr id="11" name="lessons-card"/>
          <p:cNvSpPr/>
          <p:nvPr/>
        </p:nvSpPr>
        <p:spPr>
          <a:xfrm>
            <a:off x="548640" y="3739388"/>
            <a:ext cx="5287975" cy="980440"/>
          </a:xfrm>
          <a:prstGeom prst="roundRect">
            <a:avLst>
              <a:gd name="adj" fmla="val 7461"/>
            </a:avLst>
          </a:prstGeom>
          <a:solidFill>
            <a:srgbClr val="E2ECEC"/>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3.1 States of matter</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hemistr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does table salt melt at 801 °C while the water you dissolve it in boils at 100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description fits the particles in a solid?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Tightly packed in a regular pattern, vibrating on the spot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Far apart, in a regular pattern, vibrating on the spot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Far apart, in a random arrangement, moving quickly in all directions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Close together, in a random arrangement, moving around one another</a:t>
            </a:r>
            <a:endParaRPr lang="en-US" sz="1800" dirty="0"/>
          </a:p>
        </p:txBody>
      </p:sp>
      <p:sp>
        <p:nvSpPr>
          <p:cNvPr id="12" name="card"/>
          <p:cNvSpPr/>
          <p:nvPr/>
        </p:nvSpPr>
        <p:spPr>
          <a:xfrm>
            <a:off x="6095848" y="1389888"/>
            <a:ext cx="2636444" cy="4754880"/>
          </a:xfrm>
          <a:prstGeom prst="roundRect">
            <a:avLst>
              <a:gd name="adj" fmla="val 2081"/>
            </a:avLst>
          </a:prstGeom>
          <a:solidFill>
            <a:srgbClr val="E9F1F0"/>
          </a:solidFill>
          <a:ln w="12700">
            <a:solidFill>
              <a:srgbClr val="AAC8C6"/>
            </a:solidFill>
            <a:prstDash val="solid"/>
          </a:ln>
        </p:spPr>
      </p:sp>
      <p:sp>
        <p:nvSpPr>
          <p:cNvPr id="13" name="card-hex"/>
          <p:cNvSpPr/>
          <p:nvPr/>
        </p:nvSpPr>
        <p:spPr>
          <a:xfrm>
            <a:off x="6278728" y="1572768"/>
            <a:ext cx="640080" cy="554309"/>
          </a:xfrm>
          <a:prstGeom prst="hexagon">
            <a:avLst/>
          </a:prstGeom>
          <a:solidFill>
            <a:srgbClr val="1F6F6A"/>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Ethanol (ethyl alcohol) melts at −114 °C and boils at 78 °C. Over how many degrees is ethanol a liquid?</a:t>
            </a:r>
            <a:endParaRPr lang="en-US" sz="2200" dirty="0"/>
          </a:p>
          <a:p>
            <a:pPr algn="l" indent="0" marL="0">
              <a:buNone/>
            </a:pPr>
            <a:r>
              <a:rPr lang="en-US" sz="2200" b="1" dirty="0">
                <a:solidFill>
                  <a:srgbClr val="1F6F6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°C</a:t>
            </a:r>
            <a:endParaRPr lang="en-US" sz="2200" dirty="0"/>
          </a:p>
        </p:txBody>
      </p:sp>
      <p:sp>
        <p:nvSpPr>
          <p:cNvPr id="17" name="card"/>
          <p:cNvSpPr/>
          <p:nvPr/>
        </p:nvSpPr>
        <p:spPr>
          <a:xfrm>
            <a:off x="9006611" y="1389888"/>
            <a:ext cx="2636444" cy="4754880"/>
          </a:xfrm>
          <a:prstGeom prst="roundRect">
            <a:avLst>
              <a:gd name="adj" fmla="val 2081"/>
            </a:avLst>
          </a:prstGeom>
          <a:solidFill>
            <a:srgbClr val="E9F1F0"/>
          </a:solidFill>
          <a:ln w="12700">
            <a:solidFill>
              <a:srgbClr val="AAC8C6"/>
            </a:solidFill>
            <a:prstDash val="solid"/>
          </a:ln>
        </p:spPr>
      </p:sp>
      <p:sp>
        <p:nvSpPr>
          <p:cNvPr id="18" name="card-hex"/>
          <p:cNvSpPr/>
          <p:nvPr/>
        </p:nvSpPr>
        <p:spPr>
          <a:xfrm>
            <a:off x="9189491" y="1572768"/>
            <a:ext cx="640080" cy="554309"/>
          </a:xfrm>
          <a:prstGeom prst="hexagon">
            <a:avLst/>
          </a:prstGeom>
          <a:solidFill>
            <a:srgbClr val="1F6F6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At the ___ point, a liquid turns into a gas.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boiling  ·  melting  ·  freezing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BDDC4"/>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Tightly packed in a regular pattern, vibrating on the spot</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description fits the particles in a solid?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In a solid the particles are tightly packed in a regular arrangement and can only vibrate on the spot.</a:t>
            </a:r>
            <a:endParaRPr lang="en-US" sz="2200" dirty="0"/>
          </a:p>
        </p:txBody>
      </p:sp>
      <p:sp>
        <p:nvSpPr>
          <p:cNvPr id="14" name="card"/>
          <p:cNvSpPr/>
          <p:nvPr/>
        </p:nvSpPr>
        <p:spPr>
          <a:xfrm>
            <a:off x="6095848" y="1389888"/>
            <a:ext cx="2636444" cy="4754880"/>
          </a:xfrm>
          <a:prstGeom prst="roundRect">
            <a:avLst>
              <a:gd name="adj" fmla="val 2081"/>
            </a:avLst>
          </a:prstGeom>
          <a:solidFill>
            <a:srgbClr val="E9F1F0"/>
          </a:solidFill>
          <a:ln w="12700">
            <a:solidFill>
              <a:srgbClr val="AAC8C6"/>
            </a:solidFill>
            <a:prstDash val="solid"/>
          </a:ln>
        </p:spPr>
      </p:sp>
      <p:sp>
        <p:nvSpPr>
          <p:cNvPr id="15" name="card-hex"/>
          <p:cNvSpPr/>
          <p:nvPr/>
        </p:nvSpPr>
        <p:spPr>
          <a:xfrm>
            <a:off x="6278728" y="1572768"/>
            <a:ext cx="640080" cy="554309"/>
          </a:xfrm>
          <a:prstGeom prst="hexagon">
            <a:avLst/>
          </a:prstGeom>
          <a:solidFill>
            <a:srgbClr val="1F6F6A"/>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192 °C</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From −114 °C up to 78 °C is 78 − (−114) = 192 degrees. Whole-number data, so a whole-number answer.</a:t>
            </a:r>
            <a:endParaRPr lang="en-US" sz="1800" dirty="0"/>
          </a:p>
        </p:txBody>
      </p:sp>
      <p:sp>
        <p:nvSpPr>
          <p:cNvPr id="21" name="card"/>
          <p:cNvSpPr/>
          <p:nvPr/>
        </p:nvSpPr>
        <p:spPr>
          <a:xfrm>
            <a:off x="9006611" y="1389888"/>
            <a:ext cx="2636444" cy="4754880"/>
          </a:xfrm>
          <a:prstGeom prst="roundRect">
            <a:avLst>
              <a:gd name="adj" fmla="val 2081"/>
            </a:avLst>
          </a:prstGeom>
          <a:solidFill>
            <a:srgbClr val="E9F1F0"/>
          </a:solidFill>
          <a:ln w="12700">
            <a:solidFill>
              <a:srgbClr val="AAC8C6"/>
            </a:solidFill>
            <a:prstDash val="solid"/>
          </a:ln>
        </p:spPr>
      </p:sp>
      <p:sp>
        <p:nvSpPr>
          <p:cNvPr id="22" name="card-hex"/>
          <p:cNvSpPr/>
          <p:nvPr/>
        </p:nvSpPr>
        <p:spPr>
          <a:xfrm>
            <a:off x="9189491" y="1572768"/>
            <a:ext cx="640080" cy="554309"/>
          </a:xfrm>
          <a:prstGeom prst="hexagon">
            <a:avLst/>
          </a:prstGeom>
          <a:solidFill>
            <a:srgbClr val="1F6F6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boiling</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At the ___ point, a liquid turns into a gas.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Liquid to gas is boiling; solid to liquid is melting; liquid to solid is freezing.</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6EFEF"/>
          </a:solidFill>
          <a:ln/>
        </p:spPr>
      </p:sp>
      <p:sp>
        <p:nvSpPr>
          <p:cNvPr id="12" name="kw-hex"/>
          <p:cNvSpPr/>
          <p:nvPr/>
        </p:nvSpPr>
        <p:spPr>
          <a:xfrm>
            <a:off x="658368" y="2135261"/>
            <a:ext cx="411480" cy="356342"/>
          </a:xfrm>
          <a:prstGeom prst="hexagon">
            <a:avLst/>
          </a:prstGeom>
          <a:solidFill>
            <a:srgbClr val="1F6F6A"/>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particle</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tiny piece of a substance, far too small to see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Every drop of water is made of millions of water particles.</a:t>
            </a:r>
            <a:endParaRPr lang="en-US" sz="1800" dirty="0"/>
          </a:p>
        </p:txBody>
      </p:sp>
      <p:sp>
        <p:nvSpPr>
          <p:cNvPr id="16" name="kw-row"/>
          <p:cNvSpPr/>
          <p:nvPr/>
        </p:nvSpPr>
        <p:spPr>
          <a:xfrm>
            <a:off x="548640" y="2779776"/>
            <a:ext cx="11094415" cy="786384"/>
          </a:xfrm>
          <a:prstGeom prst="roundRect">
            <a:avLst>
              <a:gd name="adj" fmla="val 6977"/>
            </a:avLst>
          </a:prstGeom>
          <a:solidFill>
            <a:srgbClr val="F4EDDF"/>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arrangement</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pattern the particles are in</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In a solid the arrangement is regular, like bricks in a wall.</a:t>
            </a:r>
            <a:endParaRPr lang="en-US" sz="1800" dirty="0"/>
          </a:p>
        </p:txBody>
      </p:sp>
      <p:sp>
        <p:nvSpPr>
          <p:cNvPr id="21" name="kw-row"/>
          <p:cNvSpPr/>
          <p:nvPr/>
        </p:nvSpPr>
        <p:spPr>
          <a:xfrm>
            <a:off x="548640" y="3639312"/>
            <a:ext cx="11094415" cy="786384"/>
          </a:xfrm>
          <a:prstGeom prst="roundRect">
            <a:avLst>
              <a:gd name="adj" fmla="val 6977"/>
            </a:avLst>
          </a:prstGeom>
          <a:solidFill>
            <a:srgbClr val="E6EFEF"/>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vibrate</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shake quickly on the spot without moving away</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particles in ice vibrate but stay in their places.</a:t>
            </a:r>
            <a:endParaRPr lang="en-US" sz="1800" dirty="0"/>
          </a:p>
        </p:txBody>
      </p:sp>
      <p:sp>
        <p:nvSpPr>
          <p:cNvPr id="26" name="kw-row"/>
          <p:cNvSpPr/>
          <p:nvPr/>
        </p:nvSpPr>
        <p:spPr>
          <a:xfrm>
            <a:off x="548640" y="4498848"/>
            <a:ext cx="11094415" cy="786384"/>
          </a:xfrm>
          <a:prstGeom prst="roundRect">
            <a:avLst>
              <a:gd name="adj" fmla="val 6977"/>
            </a:avLst>
          </a:prstGeom>
          <a:solidFill>
            <a:srgbClr val="F4EDDF"/>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melting point</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temperature at which a solid turns into a liquid</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melting point of ice is zero degrees Celsius.</a:t>
            </a:r>
            <a:endParaRPr lang="en-US" sz="1800" dirty="0"/>
          </a:p>
        </p:txBody>
      </p:sp>
      <p:sp>
        <p:nvSpPr>
          <p:cNvPr id="31" name="kw-row"/>
          <p:cNvSpPr/>
          <p:nvPr/>
        </p:nvSpPr>
        <p:spPr>
          <a:xfrm>
            <a:off x="548640" y="5358384"/>
            <a:ext cx="11094415" cy="786384"/>
          </a:xfrm>
          <a:prstGeom prst="roundRect">
            <a:avLst>
              <a:gd name="adj" fmla="val 6977"/>
            </a:avLst>
          </a:prstGeom>
          <a:solidFill>
            <a:srgbClr val="E6EFEF"/>
          </a:solidFill>
          <a:ln/>
        </p:spPr>
      </p:sp>
      <p:sp>
        <p:nvSpPr>
          <p:cNvPr id="32" name="kw-hex"/>
          <p:cNvSpPr/>
          <p:nvPr/>
        </p:nvSpPr>
        <p:spPr>
          <a:xfrm>
            <a:off x="658368" y="5573405"/>
            <a:ext cx="411480" cy="356342"/>
          </a:xfrm>
          <a:prstGeom prst="hexagon">
            <a:avLst/>
          </a:prstGeom>
          <a:solidFill>
            <a:srgbClr val="1F6F6A"/>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boiling point</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temperature at which a liquid turns into a gas</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Water reaches its boiling point at one hundred degrees Celsius.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Everything around you is made of tiny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a solid, 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packed tightly in a regular pattern.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cannot move about, but they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vibrate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on the spot.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a liquid, 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still close together.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But they are in a random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arrangement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and can move around one another.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a gas, 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very far apart.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move quickly in all directions.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When a solid is heated, its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vibrate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faster.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melting point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break free and the solid becomes a liquid.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boiling point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particles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escape from the liquid and it becomes a gas.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melting point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ice is 0 °C.</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1F6F6A"/>
                </a:solidFill>
                <a:latin typeface="Calibri" pitchFamily="34" charset="0"/>
                <a:ea typeface="Calibri" pitchFamily="34" charset="-122"/>
                <a:cs typeface="Calibri" pitchFamily="34" charset="-120"/>
              </a:rPr>
              <a:t>boiling point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of water is 100 °C.</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Solids, liquids and gases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Three words for each state: distance, arrangement, movement. Solid: tight, regular, vibrate. Liquid: close, random, move around one another. Gas: far apart, random, fast in all directions.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particle model says that every substance is made of tiny particles, and that the way those particles are arranged and move decides whether the substance is a solid, a liquid or a gas.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a solid the particles are tightly packed in a regular arrangement.</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a gas the particles are very far apart, in a random arrangement, and move quickly in all directions.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Melting and boiling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Melting and boiling do not change the particles. The same water particles are in ice, water and steam.</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you heat a solid, you give its particles energy and they vibrate faster.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Keep heating the liquid and the particles move faster still.</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Here is the surprising part. While a substance is actually melting or boiling, its temperature stays the same even though you keep heating 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Melting and boiling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E2EC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Describe what happens to the particles when a block of ice is heated until it has all melted.</a:t>
            </a:r>
            <a:endParaRPr lang="en-US" sz="2000" dirty="0"/>
          </a:p>
        </p:txBody>
      </p:sp>
      <p:sp>
        <p:nvSpPr>
          <p:cNvPr id="9" name="step-box"/>
          <p:cNvSpPr/>
          <p:nvPr/>
        </p:nvSpPr>
        <p:spPr>
          <a:xfrm>
            <a:off x="548640" y="2192528"/>
            <a:ext cx="11094415" cy="733552"/>
          </a:xfrm>
          <a:prstGeom prst="roundRect">
            <a:avLst>
              <a:gd name="adj" fmla="val 9972"/>
            </a:avLst>
          </a:prstGeom>
          <a:solidFill>
            <a:srgbClr val="FFFFFF"/>
          </a:solidFill>
          <a:ln w="15875">
            <a:solidFill>
              <a:srgbClr val="84B0AD"/>
            </a:solidFill>
            <a:prstDash val="solid"/>
          </a:ln>
        </p:spPr>
      </p:sp>
      <p:sp>
        <p:nvSpPr>
          <p:cNvPr id="10" name="step-hex"/>
          <p:cNvSpPr/>
          <p:nvPr/>
        </p:nvSpPr>
        <p:spPr>
          <a:xfrm>
            <a:off x="685800" y="2361336"/>
            <a:ext cx="457200" cy="395935"/>
          </a:xfrm>
          <a:prstGeom prst="hexagon">
            <a:avLst/>
          </a:prstGeom>
          <a:solidFill>
            <a:srgbClr val="1F6F6A"/>
          </a:solidFill>
          <a:ln/>
        </p:spPr>
      </p:sp>
      <p:sp>
        <p:nvSpPr>
          <p:cNvPr id="11" name="step-hex-label"/>
          <p:cNvSpPr txBox="1"/>
          <p:nvPr/>
        </p:nvSpPr>
        <p:spPr>
          <a:xfrm>
            <a:off x="685800" y="23613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Start with the solid: the particles in ice are close together in a regular arrangement and vibrate on the spot.</a:t>
            </a:r>
            <a:endParaRPr lang="en-US" sz="1800" dirty="0"/>
          </a:p>
        </p:txBody>
      </p:sp>
      <p:sp>
        <p:nvSpPr>
          <p:cNvPr id="13" name="step-box"/>
          <p:cNvSpPr/>
          <p:nvPr/>
        </p:nvSpPr>
        <p:spPr>
          <a:xfrm>
            <a:off x="548640" y="2999232"/>
            <a:ext cx="11094415" cy="469392"/>
          </a:xfrm>
          <a:prstGeom prst="roundRect">
            <a:avLst>
              <a:gd name="adj" fmla="val 15584"/>
            </a:avLst>
          </a:prstGeom>
          <a:solidFill>
            <a:srgbClr val="FFFFFF"/>
          </a:solidFill>
          <a:ln w="15875">
            <a:solidFill>
              <a:srgbClr val="84B0AD"/>
            </a:solidFill>
            <a:prstDash val="solid"/>
          </a:ln>
        </p:spPr>
      </p:sp>
      <p:sp>
        <p:nvSpPr>
          <p:cNvPr id="14" name="step-hex"/>
          <p:cNvSpPr/>
          <p:nvPr/>
        </p:nvSpPr>
        <p:spPr>
          <a:xfrm>
            <a:off x="685800" y="3035960"/>
            <a:ext cx="457200" cy="395935"/>
          </a:xfrm>
          <a:prstGeom prst="hexagon">
            <a:avLst/>
          </a:prstGeom>
          <a:solidFill>
            <a:srgbClr val="1F6F6A"/>
          </a:solidFill>
          <a:ln/>
        </p:spPr>
      </p:sp>
      <p:sp>
        <p:nvSpPr>
          <p:cNvPr id="15" name="step-hex-label"/>
          <p:cNvSpPr txBox="1"/>
          <p:nvPr/>
        </p:nvSpPr>
        <p:spPr>
          <a:xfrm>
            <a:off x="685800" y="30359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999232"/>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Heating gives the particles energy, so they vibrate faster.</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84B0AD"/>
            </a:solidFill>
            <a:prstDash val="solid"/>
          </a:ln>
        </p:spPr>
      </p:sp>
      <p:sp>
        <p:nvSpPr>
          <p:cNvPr id="18" name="step-hex"/>
          <p:cNvSpPr/>
          <p:nvPr/>
        </p:nvSpPr>
        <p:spPr>
          <a:xfrm>
            <a:off x="685800" y="3710584"/>
            <a:ext cx="457200" cy="395935"/>
          </a:xfrm>
          <a:prstGeom prst="hexagon">
            <a:avLst/>
          </a:prstGeom>
          <a:solidFill>
            <a:srgbClr val="1F6F6A"/>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 0 °C, the melting point, the particles have enough energy to overcome the forces holding them in position.</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84B0AD"/>
            </a:solidFill>
            <a:prstDash val="solid"/>
          </a:ln>
        </p:spPr>
      </p:sp>
      <p:sp>
        <p:nvSpPr>
          <p:cNvPr id="22" name="step-hex"/>
          <p:cNvSpPr/>
          <p:nvPr/>
        </p:nvSpPr>
        <p:spPr>
          <a:xfrm>
            <a:off x="685800" y="4517288"/>
            <a:ext cx="457200" cy="395935"/>
          </a:xfrm>
          <a:prstGeom prst="hexagon">
            <a:avLst/>
          </a:prstGeom>
          <a:solidFill>
            <a:srgbClr val="1F6F6A"/>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They separate from their fixed positions and move around one another: the ice has become liquid water.</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 particles vibrate faster, then at 0 °C they overcome the forces holding them in place and move around one another as a liquid.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Predicting the state from data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Below the melting point: solid. Between the two: liquid. Above the boiling point: gas.</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If you know a substance's melting point and boiling point, you can say what state it is in at any temperature.</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Room temperature is about 25 °C. Water melts at 0 °C and boils at 100 °C, so at 25 °C it is between the two: a liquid.</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Watch the negative numbers. A melting point of −39 °C is below 25 °C, so at room temperature that substance has already melted.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Worked example: Predicting the state from data</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Mercury melts at −39 °C and boils at 357 °C. What state is mercury in at room temperature, 25 °C?</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84B0AD"/>
            </a:solidFill>
            <a:prstDash val="solid"/>
          </a:ln>
        </p:spPr>
      </p:sp>
      <p:sp>
        <p:nvSpPr>
          <p:cNvPr id="10" name="step-hex"/>
          <p:cNvSpPr/>
          <p:nvPr/>
        </p:nvSpPr>
        <p:spPr>
          <a:xfrm>
            <a:off x="685800" y="2588870"/>
            <a:ext cx="457200" cy="395935"/>
          </a:xfrm>
          <a:prstGeom prst="hexagon">
            <a:avLst/>
          </a:prstGeom>
          <a:solidFill>
            <a:srgbClr val="1F6F6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Mark the melting point (−39 °C) and the boiling point (357 °C) on a thermometer sketch.</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84B0AD"/>
            </a:solidFill>
            <a:prstDash val="solid"/>
          </a:ln>
        </p:spPr>
      </p:sp>
      <p:sp>
        <p:nvSpPr>
          <p:cNvPr id="14" name="step-hex"/>
          <p:cNvSpPr/>
          <p:nvPr/>
        </p:nvSpPr>
        <p:spPr>
          <a:xfrm>
            <a:off x="685800" y="3230880"/>
            <a:ext cx="457200" cy="395935"/>
          </a:xfrm>
          <a:prstGeom prst="hexagon">
            <a:avLst/>
          </a:prstGeom>
          <a:solidFill>
            <a:srgbClr val="1F6F6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Mark 25 °C. It is above −39 °C, so the mercury has melted.</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84B0AD"/>
            </a:solidFill>
            <a:prstDash val="solid"/>
          </a:ln>
        </p:spPr>
      </p:sp>
      <p:sp>
        <p:nvSpPr>
          <p:cNvPr id="18" name="step-hex"/>
          <p:cNvSpPr/>
          <p:nvPr/>
        </p:nvSpPr>
        <p:spPr>
          <a:xfrm>
            <a:off x="685800" y="3872890"/>
            <a:ext cx="457200" cy="395935"/>
          </a:xfrm>
          <a:prstGeom prst="hexagon">
            <a:avLst/>
          </a:prstGeom>
          <a:solidFill>
            <a:srgbClr val="1F6F6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It is below 357 °C, so the mercury has not boiled.</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84B0AD"/>
            </a:solidFill>
            <a:prstDash val="solid"/>
          </a:ln>
        </p:spPr>
      </p:sp>
      <p:sp>
        <p:nvSpPr>
          <p:cNvPr id="22" name="step-hex"/>
          <p:cNvSpPr/>
          <p:nvPr/>
        </p:nvSpPr>
        <p:spPr>
          <a:xfrm>
            <a:off x="685800" y="4646981"/>
            <a:ext cx="457200" cy="395935"/>
          </a:xfrm>
          <a:prstGeom prst="hexagon">
            <a:avLst/>
          </a:prstGeom>
          <a:solidFill>
            <a:srgbClr val="1F6F6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Between the melting point and the boiling point the substance is a liquid. Mercury is a liquid over a range of 357 − (−39) = 396 degrees, and 25 °C sits inside it.</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Liquid: 25 °C is above the melting point and below the boiling point.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Why melting points differ, and the limits of the model</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State symbols: s, l, g, aq. 'Aqueous' means dissolved in water, not the same as liquid.</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Different substances melt and boil at very different temperatures. Ethanol boils at 78 °C while iron does not even melt until 1535 °C.</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(Higher) The particle model is useful but it has limits.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Chemists show the state of a substance with a state symbol after its formula: (s) for solid, (l) for liquid, (g) for gas and (aq) for aqueous, which means dissolved in water.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Solid, liquid or gas?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substance melts at −39 °C and boils at 357 °C. What state is it in at room temperature, 25 °C?</a:t>
            </a:r>
            <a:endParaRPr lang="en-US" sz="2600" dirty="0"/>
          </a:p>
          <a:p>
            <a:pPr algn="ctr" indent="0" marL="0">
              <a:buNone/>
            </a:pPr>
            <a:r>
              <a:rPr lang="en-US" sz="2400" b="1" dirty="0">
                <a:solidFill>
                  <a:srgbClr val="B8862B"/>
                </a:solidFill>
                <a:latin typeface="Calibri" pitchFamily="34" charset="0"/>
                <a:ea typeface="Calibri" pitchFamily="34" charset="-122"/>
                <a:cs typeface="Calibri" pitchFamily="34" charset="-120"/>
              </a:rPr>
              <a:t>A  </a:t>
            </a:r>
            <a:pPr algn="ctr" indent="0" marL="0">
              <a:buNone/>
            </a:pPr>
            <a:r>
              <a:rPr lang="en-US" sz="2400" dirty="0">
                <a:solidFill>
                  <a:srgbClr val="1E2229"/>
                </a:solidFill>
                <a:latin typeface="Calibri" pitchFamily="34" charset="0"/>
                <a:ea typeface="Calibri" pitchFamily="34" charset="-122"/>
                <a:cs typeface="Calibri" pitchFamily="34" charset="-120"/>
              </a:rPr>
              <a:t>solid      </a:t>
            </a:r>
            <a:pPr algn="ctr" indent="0" marL="0">
              <a:buNone/>
            </a:pPr>
            <a:r>
              <a:rPr lang="en-US" sz="2400" b="1" dirty="0">
                <a:solidFill>
                  <a:srgbClr val="B8862B"/>
                </a:solidFill>
                <a:latin typeface="Calibri" pitchFamily="34" charset="0"/>
                <a:ea typeface="Calibri" pitchFamily="34" charset="-122"/>
                <a:cs typeface="Calibri" pitchFamily="34" charset="-120"/>
              </a:rPr>
              <a:t>B  </a:t>
            </a:r>
            <a:pPr algn="ctr" indent="0" marL="0">
              <a:buNone/>
            </a:pPr>
            <a:r>
              <a:rPr lang="en-US" sz="2400" dirty="0">
                <a:solidFill>
                  <a:srgbClr val="1E2229"/>
                </a:solidFill>
                <a:latin typeface="Calibri" pitchFamily="34" charset="0"/>
                <a:ea typeface="Calibri" pitchFamily="34" charset="-122"/>
                <a:cs typeface="Calibri" pitchFamily="34" charset="-120"/>
              </a:rPr>
              <a:t>gas      </a:t>
            </a:r>
            <a:pPr algn="ctr" indent="0" marL="0">
              <a:buNone/>
            </a:pPr>
            <a:r>
              <a:rPr lang="en-US" sz="2400" b="1" dirty="0">
                <a:solidFill>
                  <a:srgbClr val="B8862B"/>
                </a:solidFill>
                <a:latin typeface="Calibri" pitchFamily="34" charset="0"/>
                <a:ea typeface="Calibri" pitchFamily="34" charset="-122"/>
                <a:cs typeface="Calibri" pitchFamily="34" charset="-120"/>
              </a:rPr>
              <a:t>C  </a:t>
            </a:r>
            <a:pPr algn="ctr" indent="0" marL="0">
              <a:buNone/>
            </a:pPr>
            <a:r>
              <a:rPr lang="en-US" sz="2400" dirty="0">
                <a:solidFill>
                  <a:srgbClr val="1E2229"/>
                </a:solidFill>
                <a:latin typeface="Calibri" pitchFamily="34" charset="0"/>
                <a:ea typeface="Calibri" pitchFamily="34" charset="-122"/>
                <a:cs typeface="Calibri" pitchFamily="34" charset="-120"/>
              </a:rPr>
              <a:t>liquid      </a:t>
            </a:r>
            <a:pPr algn="ctr" indent="0" marL="0">
              <a:buNone/>
            </a:pPr>
            <a:r>
              <a:rPr lang="en-US" sz="2400" b="1" dirty="0">
                <a:solidFill>
                  <a:srgbClr val="B8862B"/>
                </a:solidFill>
                <a:latin typeface="Calibri" pitchFamily="34" charset="0"/>
                <a:ea typeface="Calibri" pitchFamily="34" charset="-122"/>
                <a:cs typeface="Calibri" pitchFamily="34" charset="-120"/>
              </a:rPr>
              <a:t>D  </a:t>
            </a:r>
            <a:pPr algn="ctr" indent="0" marL="0">
              <a:buNone/>
            </a:pPr>
            <a:r>
              <a:rPr lang="en-US" sz="2400" dirty="0">
                <a:solidFill>
                  <a:srgbClr val="1E2229"/>
                </a:solidFill>
                <a:latin typeface="Calibri" pitchFamily="34" charset="0"/>
                <a:ea typeface="Calibri" pitchFamily="34" charset="-122"/>
                <a:cs typeface="Calibri" pitchFamily="34" charset="-120"/>
              </a:rPr>
              <a:t>a mixture of liquid and gas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Solid, liquid or gas?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substance melts at −39 °C and boils at 357 °C. What state is it in at room temperature, 25 °C?</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2EC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Sketch a thermometer and mark the melting point (−39 °C) and the boiling point (357 °C).</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Mark the temperature you are asked about, 25 °C. Remember that −39 is colder than 25.</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Below the melting point: solid. Between: liquid. Above the boiling point: gas.</a:t>
            </a:r>
            <a:endParaRPr lang="en-US" sz="1800" dirty="0"/>
          </a:p>
        </p:txBody>
      </p:sp>
      <p:sp>
        <p:nvSpPr>
          <p:cNvPr id="17" name="col-Core"/>
          <p:cNvSpPr/>
          <p:nvPr/>
        </p:nvSpPr>
        <p:spPr>
          <a:xfrm>
            <a:off x="5490762" y="2593848"/>
            <a:ext cx="2938987" cy="3550920"/>
          </a:xfrm>
          <a:prstGeom prst="roundRect">
            <a:avLst>
              <a:gd name="adj" fmla="val 1867"/>
            </a:avLst>
          </a:prstGeom>
          <a:solidFill>
            <a:srgbClr val="C7DBDA"/>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Is 25 °C above or below −39 °C? Then is it above or below 357 °C?</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1F6F6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same substance is taken to −50 °C and then to 400 °C. Give its state at each temperature and describe how the arrangement and movement of its particles change along the 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From ice to steam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these stages in order, from a block of ice being heated to water boiling.</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particles in the solid vibrate faster and faster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 the boiling point particles gain enough energy to escape from the surface and the liquid boils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At the melting point the particles overcome the forces holding them in place and the solid melts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particles in the liquid move around one another, gaining more energy as the liquid is heated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From ice to steam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these stages in order, from a block of ice being heated to water boiling.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C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what the particles do in a solid: they vibrate.</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Melting comes before boiling, so the melting stage comes next.</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 the liquid the particles move around one another.</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last stage is particles escaping as a gas.</a:t>
            </a:r>
            <a:endParaRPr lang="en-US" sz="1800" dirty="0"/>
          </a:p>
        </p:txBody>
      </p:sp>
      <p:sp>
        <p:nvSpPr>
          <p:cNvPr id="17" name="col-Core"/>
          <p:cNvSpPr/>
          <p:nvPr/>
        </p:nvSpPr>
        <p:spPr>
          <a:xfrm>
            <a:off x="5490762" y="2578608"/>
            <a:ext cx="2938987" cy="3566160"/>
          </a:xfrm>
          <a:prstGeom prst="roundRect">
            <a:avLst>
              <a:gd name="adj" fmla="val 1867"/>
            </a:avLst>
          </a:prstGeom>
          <a:solidFill>
            <a:srgbClr val="C7DBDA"/>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Solid, then liquid, then gas. Which two of the stages are the actual changes of state?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1F6F6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temperature of the ice-and-water mixture stays at 0 °C while the ice is melting, even though the heater is still 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Hydrogen melts at −259 °C and boils at −252 °C. A sample of hydrogen gas is at 25 °C. By how many degrees must it be cooled before it condenses into a liquid?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Solid, liquid or gas?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substance melts at −39 °C and boils at 357 °C. What state is it in at room temperature, 25 °C?</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liquid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25 °C the substance is above its melting point and below its boiling point, so it is a liquid.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From ice to steam</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particles in the solid vibrate faster and faster  (A)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At the melting point the particles overcome the forces holding them in place and the solid melts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 particles in the liquid move around one another, gaining more energy as the liquid is heated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At the boiling point particles gain enough energy to escape from the surface and the liquid boils  (B)</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Heating makes the solid's particles vibrate faster; at the melting point they break free and move around one another; heating the liquid speeds them up; at the boiling point they escape as a gas.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Hydrogen melts at −259 °C and boils at −252 °C. A sample of hydrogen gas is at 25 °C. By how many degrees must it be cooled before it condenses into a liquid?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277 °C</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gas condenses at its boiling point, −252 °C. Cooling from 25 °C to −252 °C is 277 degrees.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and Bonding · Chapter 1: States of matter</dc:title>
  <dc:subject>Chemistry (Combined Science) · Year 10</dc:subject>
  <dc:creator>Dr Vitor Merissi de Carvalho</dc:creator>
  <cp:lastModifiedBy>Dr Vitor Merissi de Carvalho</cp:lastModifiedBy>
  <cp:revision>1</cp:revision>
  <dcterms:created xsi:type="dcterms:W3CDTF">2026-10-19T06:07:17Z</dcterms:created>
  <dcterms:modified xsi:type="dcterms:W3CDTF">2026-10-19T06:07:17Z</dcterms:modified>
</cp:coreProperties>
</file>