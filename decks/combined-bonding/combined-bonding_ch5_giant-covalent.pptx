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31c9d8-c525-9259-3d55-0ede1a9d5e18}">
          <p14:sldIdLst>
            <p14:sldId id="256"/>
          </p14:sldIdLst>
        </p14:section>
        <p14:section name="Gate" id="{be3eac07-9cab-b42d-b713-1994885f4b7a}">
          <p14:sldIdLst>
            <p14:sldId id="257"/>
            <p14:sldId id="258"/>
          </p14:sldIdLst>
        </p14:section>
        <p14:section name="Pre-teach" id="{def9cfd2-b3b6-2876-97bd-5d3af096b0cc}">
          <p14:sldIdLst>
            <p14:sldId id="259"/>
            <p14:sldId id="260"/>
          </p14:sldIdLst>
        </p14:section>
        <p14:section name="Read-along" id="{ad0cfe7e-dd65-f69e-211a-fce2b55a7c58}">
          <p14:sldIdLst>
            <p14:sldId id="261"/>
            <p14:sldId id="262"/>
          </p14:sldIdLst>
        </p14:section>
        <p14:section name="Teach" id="{daada920-5952-895e-08cd-463760b83bd2}">
          <p14:sldIdLst>
            <p14:sldId id="263"/>
            <p14:sldId id="264"/>
            <p14:sldId id="265"/>
            <p14:sldId id="266"/>
            <p14:sldId id="267"/>
            <p14:sldId id="268"/>
          </p14:sldIdLst>
        </p14:section>
        <p14:section name="Routes" id="{09e39355-8ce2-05c0-49c1-0d0f5a58e74b}">
          <p14:sldIdLst>
            <p14:sldId id="269"/>
            <p14:sldId id="270"/>
            <p14:sldId id="271"/>
            <p14:sldId id="272"/>
          </p14:sldIdLst>
        </p14:section>
        <p14:section name="Close" id="{58427400-4f5f-23ce-b2ff-6d0655eaf6d8}">
          <p14:sldIdLst>
            <p14:sldId id="273"/>
          </p14:sldIdLst>
        </p14:section>
        <p14:section name="Answers" id="{e42a1461-6584-3932-a0ed-40884e485de4}">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Giant covalent structures. This chapter explains diamond, graphite and silicon dioxide: structures in which every atom is covalently bonded to its neighbours, and why that makes them behave so differently from small molecules.
This deck covers the department's lesson: 7 (3.7 Giant covalent structures: Why is diamond hard while graphite is soft and conducts electricity?).
Read the big question aloud: "Why does table salt melt at 801 °C while the water you dissolve it in boils at 100 °C?"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carbon atom has 4 electrons in its outer shell. In graphite each carbon atom uses 3 of them in covalent bonds. How many electrons per carbon atom are delocalised?  →  1 electron per atom
2. Which property do diamond and graphite share?  →  B   A very high melting point
3. In graphite, the ___ can slide over each other, which makes graphite soft and slippery.  →  layers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 electron per atom. 4 outer electrons, 3 used in bonds: 4 − 3 = 1 electron per atom is delocalised. Whole-number counts, so the answer is exact.
2. B   A very high melting point. Both are giant covalent structures of carbon with many strong covalent bonds to break, so both have very high melting points.
3. layers. Graphite's carbon atoms are bonded into flat layers with only weak forces between them, so the layers slide.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giant structure: a structure of millions of atoms all bonded together. Example: "Diamond is a giant structure of carbon atoms."
• diamond: a very hard form of carbon in which each atom bonds to four others. Example: "Diamond is used on the tips of drills."
• graphite: a soft form of carbon made of layers. Example: "The 'lead' in a pencil is graphite."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layer: a flat sheet of atoms. Example: "In graphite, one layer can slide over the next."
• delocalised electron: an electron that is free to move through the whole structure. Example: "Delocalised electrons let graphite conduct electricity."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Some substances are made of millions of atoms all joined by covalent bonds.
2. These are called giant covalent structures.
3. Diamond is made of carbon atoms.
4. Each carbon atom is joined to four other carbon atoms.
5. This makes diamond very hard, with a very high melting point.
6. Diamond does not conduct electricity.
7. Graphite is also made of carbon atoms.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But each carbon atom is joined to only three others.
9. The atoms form flat layers.
10. The layers can slide over each other, so graphite is soft and slippery.
11. Each carbon atom has one spare electron that is free to move.
12. These free electrons let graphite conduct electricity.
13. Sand is mostly silicon dioxide, another giant covalent structure.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makes a structure giant?. Say it in your own words, then check understanding with a quick question: ask a pupil from the pre-teach group first, since they met these words and ideas before the lesson. Pupils try to recall before you re-explain.
In a simple molecular substance, strong covalent bonds hold a few atoms together in a molecule, and weak forces hold the molecules to each other. In a giant covalent structure there are no separate molecules at all. Every atom is covalently bonded to its neighbours, and the network of bonds runs through the whole solid.
To melt a giant covalent structure you have to break those strong covalent bonds, millions of them. That needs a huge amount of energy, so giant covalent substances have very high melting and boiling points. They are also usually hard and insoluble in water, and most do not conduct electricity, because there are no charged particles free to move.
Silicon dioxide, the main substance in sand and quartz, is a giant covalent structure of silicon and oxygen atoms. It is hard, has a very high melting point, does not dissolve in water and does not conduct electricity.
Tip: Giant covalent: many strong bonds to break, so a very high melting point. Simple molecule: weak forces to overcome, so a low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Diamond. Say it in your own words, then check understanding with a quick question: ask a pupil from the pre-teach group first, since they met these words and ideas before the lesson. Pupils try to recall before you re-explain.
Diamond is a form of carbon. A carbon atom has four outer electrons, and in diamond every carbon atom uses all four to form covalent bonds to four other carbon atoms. The result is a rigid three-dimensional network in which every atom is locked in place.
Because every bond is strong and the network is rigid, diamond is extremely hard and has a very high melting point. It is used for cutting tools and drill tips. All four of each atom's outer electrons are held in bonds, so there are no free electrons and diamond does not conduct electricity.
Worked example — model it step by step, thinking aloud: Explain why diamond is very hard. (1) Diamond is a giant covalent structure of carbon atoms. (2) Each carbon atom is bonded to four others by strong covalent bonds. (3) The bonds form a rigid network in three dimensions, so the atoms cannot slide past each other. (4) A lot of force is needed to break the bonds and scratch or deform the structure. Answer: Every carbon atom is held by four strong covalent bonds in a rigid three-dimensional network, so the atoms cannot move past one another..
Tip: Diamond: 4 bonds per atom, no free electrons, hard, does not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Diamond. Say it in your own words, then check understanding with a quick question: ask a pupil from the pre-teach group first, since they met these words and ideas before the lesson. Pupils try to recall before you re-explain.
Diamond is a form of carbon. A carbon atom has four outer electrons, and in diamond every carbon atom uses all four to form covalent bonds to four other carbon atoms. The result is a rigid three-dimensional network in which every atom is locked in place.
Because every bond is strong and the network is rigid, diamond is extremely hard and has a very high melting point. It is used for cutting tools and drill tips. All four of each atom's outer electrons are held in bonds, so there are no free electrons and diamond does not conduct electricity.
Worked example — model it step by step, thinking aloud: Explain why diamond is very hard. (1) Diamond is a giant covalent structure of carbon atoms. (2) Each carbon atom is bonded to four others by strong covalent bonds. (3) The bonds form a rigid network in three dimensions, so the atoms cannot slide past each other. (4) A lot of force is needed to break the bonds and scratch or deform the structure. Answer: Every carbon atom is held by four strong covalent bonds in a rigid three-dimensional network, so the atoms cannot move past one another..
Tip: Diamond: 4 bonds per atom, no free electrons, hard, does not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Graphite. Say it in your own words, then check understanding with a quick question: ask a pupil from the pre-teach group first, since they met these words and ideas before the lesson. Pupils try to recall before you re-explain.
Graphite is also pure carbon, but arranged differently. Each carbon atom forms covalent bonds to only three other carbon atoms. The atoms join into flat layers of hexagons, like sheets of chicken wire stacked on top of one another.
Within a layer the covalent bonds are strong, so graphite still has a very high melting point. But between the layers there are no covalent bonds, only weak forces, so the layers can slide over one another. That makes graphite soft and slippery: it rubs off onto paper as pencil 'lead' and is used as a lubricant.
Each carbon atom has four outer electrons but uses only three in bonds. The fourth electron is delocalised: it is free to move along the layer. Because these delocalised electrons can move and carry charge, graphite conducts electricity, and they also carry energy, so it conducts heat. Graphite is used for electrodes for this reason.
Worked example — model it step by step, thinking aloud: A carbon atom has 4 outer electrons. In graphite each atom bonds to 3 others. Explain why graphite conducts electricity but diamond does not. (1) In graphite each carbon atom uses 3 of its 4 outer electrons in covalent bonds. (2) That leaves 4 − 3 = 1 electron per atom that is not in a bond: it is delocalised and free to move through the layer. (3) Moving electrons carry charge, so graphite conducts. (4) In diamond every atom uses all 4 electrons in bonds, leaving 4 − 4 = 0 free electrons, so diamond cannot conduct. Answer: Graphite has one delocalised electron per carbon atom, free to move and carry charge; diamond has none..
Tip: Graphite: 3 bonds per atom, layers slide, 1 delocalised electron per atom, conducts.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Graphite. Say it in your own words, then check understanding with a quick question: ask a pupil from the pre-teach group first, since they met these words and ideas before the lesson. Pupils try to recall before you re-explain.
Graphite is also pure carbon, but arranged differently. Each carbon atom forms covalent bonds to only three other carbon atoms. The atoms join into flat layers of hexagons, like sheets of chicken wire stacked on top of one another.
Within a layer the covalent bonds are strong, so graphite still has a very high melting point. But between the layers there are no covalent bonds, only weak forces, so the layers can slide over one another. That makes graphite soft and slippery: it rubs off onto paper as pencil 'lead' and is used as a lubricant.
Each carbon atom has four outer electrons but uses only three in bonds. The fourth electron is delocalised: it is free to move along the layer. Because these delocalised electrons can move and carry charge, graphite conducts electricity, and they also carry energy, so it conducts heat. Graphite is used for electrodes for this reason.
Worked example — model it step by step, thinking aloud: A carbon atom has 4 outer electrons. In graphite each atom bonds to 3 others. Explain why graphite conducts electricity but diamond does not. (1) In graphite each carbon atom uses 3 of its 4 outer electrons in covalent bonds. (2) That leaves 4 − 3 = 1 electron per atom that is not in a bond: it is delocalised and free to move through the layer. (3) Moving electrons carry charge, so graphite conducts. (4) In diamond every atom uses all 4 electrons in bonds, leaving 4 − 4 = 0 free electrons, so diamond cannot conduct. Answer: Graphite has one delocalised electron per carbon atom, free to move and carry charge; diamond has none..
Tip: Graphite: 3 bonds per atom, layers slide, 1 delocalised electron per atom, conducts.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Comparing the structures. Say it in your own words, then check understanding with a quick question: ask a pupil from the pre-teach group first, since they met these words and ideas before the lesson. Pupils try to recall before you re-explain.
Diamond and graphite are both made only of carbon, both are giant covalent structures and both have very high melting points. Everything that differs between them comes from the number of bonds each atom makes. Four bonds give a rigid 3D network: hard, no free electrons. Three bonds give layers: soft and slippery, with one delocalised electron per atom.
When you compare structures in an exam answer, deal with one property at a time and give the reason from the structure each time: 'Diamond is hard because each atom is held by four strong covalent bonds in a rigid network, whereas graphite is soft because its layers are held only by weak forces and can slide.' Models of these structures have the same limits as models of molecules: a drawing shows a few dozen atoms when the real crystal contains millions, and the sticks exaggerate the space between atoms.
Tip: Same element, different structure, different properties. Always say how many bonds each atom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graphite conducts.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can graphite conduct electricity?
Support — work through the steps with the group: (1) Conduction needs charged particles that are free to move. (2) Each carbon atom in graphite makes three bonds, using three of its four outer electrons. (3) The fourth electron is delocalised: free to move through the layer and carry charge.
Parallel worked example for Support (model it, do not give the task answer): Why does diamond not conduct electricity? Each carbon atom in diamond makes four bonds, using all four outer electrons.; There are no delocalised electrons and no ions.; No charged particles are free to move, so no current can flow.. Answer: Diamond has no delocalised electrons: all four outer electrons of each atom are in bonds..
Core — reveal the hint only on request: How many outer electrons does carbon have, and how many does each graphite atom use in bonds?
Stretch — no help; when finished: Graphite conducts electricity along its layers much better than across them. Use the structure to suggest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graphite conducts.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can graphite conduct electricity?
Support — work through the steps with the group: (1) Conduction needs charged particles that are free to move. (2) Each carbon atom in graphite makes three bonds, using three of its four outer electrons. (3) The fourth electron is delocalised: free to move through the layer and carry charge.
Parallel worked example for Support (model it, do not give the task answer): Why does diamond not conduct electricity? Each carbon atom in diamond makes four bonds, using all four outer electrons.; There are no delocalised electrons and no ions.; No charged particles are free to move, so no current can flow.. Answer: Diamond has no delocalised electrons: all four outer electrons of each atom are in bonds..
Core — reveal the hint only on request: How many outer electrons does carbon have, and how many does each graphite atom use in bonds?
Stretch — no help; when finished: Graphite conducts electricity along its layers much better than across them. Use the structure to suggest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structure.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description to the substance it describes.
Support — work through the steps with the group: (1) Two of the substances are pure carbon: four bonds means diamond, three bonds and layers means graphite. (2) Silicon dioxide is the giant structure that is not carbon. (3) The one with molecules and weak forces is the small-molecule substance.
Parallel worked example for Support (model it, do not give the task answer): Which substance is this: hard, very high melting point, made only of carbon, does not conduct? Made only of carbon: diamond or graphite.; Does not conduct: not graphite.; Hard: diamond.. Answer: diamond.
Core — reveal the hint only on request: Count the bonds per carbon atom, then look for the one that is not carbon at all.
Stretch — no help; when finished: Add a fifth row for a metal such as copper: describe its structure in one sentence and say which of the four substances it most resembles,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structure.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description to the substance it describes.
Support — work through the steps with the group: (1) Two of the substances are pure carbon: four bonds means diamond, three bonds and layers means graphite. (2) Silicon dioxide is the giant structure that is not carbon. (3) The one with molecules and weak forces is the small-molecule substance.
Parallel worked example for Support (model it, do not give the task answer): Which substance is this: hard, very high melting point, made only of carbon, does not conduct? Made only of carbon: diamond or graphite.; Does not conduct: not graphite.; Hard: diamond.. Answer: diamond.
Core — reveal the hint only on request: Count the bonds per carbon atom, then look for the one that is not carbon at all.
Stretch — no help; when finished: Add a fifth row for a metal such as copper: describe its structure in one sentence and say which of the four substances it most resembles,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carbon atom has 4 electrons in its outer shell. In graphite each carbon atom uses 3 of them in covalent bonds. How many electrons per carbon atom are delocalised?
Answer: 1 electron per atom. 4 outer electrons, 3 used in bonds: 4 − 3 = 1 electron per atom is delocalised. Whole-number counts, so the answer is exact.
Source of this question: gate item 1 re-asked (options rotated) — this chapter has no third quick-check module.
The ebook also holds task 3, "Diamond and graphite compared",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Why graphite conducts. Reveal the answer; pupils mark their own work in a different colour, then read the "why" together. Same destination for every lane, so one answer serves the whole class.
Answer: B   Each carbon atom has one delocalised electron that is free to move through the structure
Why: One delocalised electron per carbon atom moves through the structure and carries charge.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the structure. Reveal the answer; pupils mark their own work in a different colour, then read the "why" together. Same destination for every lane, so one answer serves the whole class.
Answer: Each carbon atom bonded to four others in a rigid three-dimensional network  →  D  diamond; Each carbon atom bonded to three others, in flat layers that can slide  →  B  graphite; Silicon and oxygen atoms joined in a giant covalent structure  →  A  silicon dioxide; Weak forces between small molecules, so a low boiling point  →  C  water
Why: Four bonds in a rigid network: diamond. Three bonds in sliding layers: graphite. Silicon and oxygen: silicon dioxide. Small molecules with weak forces: water.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 electron per atom
Why: 4 outer electrons, 3 used in bonds: 4 − 3 = 1 electron per atom is delocalised. Whole-number counts, so the answer is exact.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Chemistry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Structure and Bonding · AQA 8464</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Giant covalent structures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2EC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3.7 Giant covalent structures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hemistr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does table salt melt at 801 °C while the water you dissolve it in boils at 100 °C?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 carbon atom has 4 electrons in its outer shell. In graphite each carbon atom uses 3 of them in covalent bonds. How many electrons per carbon atom are delocalised?</a:t>
            </a:r>
            <a:endParaRPr lang="en-US" sz="2000" dirty="0"/>
          </a:p>
          <a:p>
            <a:pPr algn="l" indent="0" marL="0">
              <a:buNone/>
            </a:pPr>
            <a:r>
              <a:rPr lang="en-US" sz="2000" b="1" dirty="0">
                <a:solidFill>
                  <a:srgbClr val="1F6F6A"/>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 electron per atom</a:t>
            </a:r>
            <a:endParaRPr lang="en-US" sz="20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property do diamond and graphite share?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conduct electricity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very high melting point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are made of small molecules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are soft and slippery</a:t>
            </a:r>
            <a:endParaRPr lang="en-US" sz="20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graphite, the ___ can slide over each other, which makes graphite soft and slippery.</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layers  ·  electrons  ·  molecules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 electron per atom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4 outer electrons, 3 used in bonds: 4 − 3 = 1 electron per atom is delocalised. Whole-number counts, so the answer is exact.</a:t>
            </a:r>
            <a:endParaRPr lang="en-US" sz="18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BDDC4"/>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very high melting point</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property do diamond and graphite share?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Both are giant covalent structures of carbon with many strong covalent bonds to break, so both have very high melting points.</a:t>
            </a:r>
            <a:endParaRPr lang="en-US" sz="18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layers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graphite, the ___ can slide over each other, which makes graphite soft and slippery.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Graphite's carbon atoms are bonded into flat layers with only weak forces between them, so the layers slide.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giant structure</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structure of millions of atoms all bonded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Diamond is a giant structure of carbon atoms.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diamond</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very hard form of carbon in which each atom bonds to four others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Diamond is used on the tips of drills.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graphite</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soft form of carbon made of layers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'lead' in a pencil is graphite.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layer</a:t>
            </a:r>
            <a:endParaRPr lang="en-US" sz="2600" dirty="0"/>
          </a:p>
        </p:txBody>
      </p:sp>
      <p:sp>
        <p:nvSpPr>
          <p:cNvPr id="11" name="word-rule"/>
          <p:cNvSpPr/>
          <p:nvPr/>
        </p:nvSpPr>
        <p:spPr>
          <a:xfrm>
            <a:off x="731520" y="2129028"/>
            <a:ext cx="5044288" cy="0"/>
          </a:xfrm>
          <a:prstGeom prst="line">
            <a:avLst/>
          </a:prstGeom>
          <a:ln w="12700">
            <a:solidFill>
              <a:srgbClr val="9FC1BF"/>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flat sheet of atoms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graphite, one layer can slide over the next.</a:t>
            </a:r>
            <a:endParaRPr lang="en-US" sz="2200" dirty="0"/>
          </a:p>
        </p:txBody>
      </p:sp>
      <p:sp>
        <p:nvSpPr>
          <p:cNvPr id="13" name="word-card"/>
          <p:cNvSpPr/>
          <p:nvPr/>
        </p:nvSpPr>
        <p:spPr>
          <a:xfrm>
            <a:off x="6233008" y="1389888"/>
            <a:ext cx="5410048" cy="4754880"/>
          </a:xfrm>
          <a:prstGeom prst="roundRect">
            <a:avLst>
              <a:gd name="adj" fmla="val 1154"/>
            </a:avLst>
          </a:prstGeom>
          <a:solidFill>
            <a:srgbClr val="E6EFEF"/>
          </a:solidFill>
          <a:ln w="12700">
            <a:solidFill>
              <a:srgbClr val="9FC1BF"/>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delocalised electron</a:t>
            </a:r>
            <a:endParaRPr lang="en-US" sz="2600" dirty="0"/>
          </a:p>
        </p:txBody>
      </p:sp>
      <p:sp>
        <p:nvSpPr>
          <p:cNvPr id="17" name="word-rule"/>
          <p:cNvSpPr/>
          <p:nvPr/>
        </p:nvSpPr>
        <p:spPr>
          <a:xfrm>
            <a:off x="6415888" y="2129028"/>
            <a:ext cx="5044288" cy="0"/>
          </a:xfrm>
          <a:prstGeom prst="line">
            <a:avLst/>
          </a:prstGeom>
          <a:ln w="12700">
            <a:solidFill>
              <a:srgbClr val="9FC1BF"/>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electron that is free to move through the whole structure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Delocalised electrons let graphite conduct electricity.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substances are made of millions of atoms all joined by covalent bonds.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These are called giant covalent structures.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Diamond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made of carbon atoms.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carbon atom is joined to four other carbon atoms.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makes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diamond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very hard, with a very high melting point.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Diamond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does not conduct electricity.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Graphite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also made of carbon atoms.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each carbon atom is joined to only three others.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atoms form flat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layers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layers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can slide over each other, so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graphite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soft and slippery.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carbon atom has one spare electron that is free to move.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These free electrons let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graphite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conduct electricity.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Sand is mostly silicon dioxide, another giant covalent structure.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What makes a structure giant?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Giant covalent: many strong bonds to break, so a very high melting point. Simple molecule: weak forces to overcome, so a low 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a simple molecular substance, strong covalent bonds hold a few atoms together in a molecule, and weak forces hold the molecules to each other.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melt a giant covalent structure you have to break those strong covalent bonds, millions of them.</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Silicon dioxide, the main substance in sand and quartz, is a giant covalent structure of silicon and oxygen atoms.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Diamond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Diamond: 4 bonds per atom, no free electrons, hard, does not conduct.</a:t>
            </a:r>
            <a:endParaRPr lang="en-US" sz="1800" dirty="0"/>
          </a:p>
        </p:txBody>
      </p:sp>
      <p:sp>
        <p:nvSpPr>
          <p:cNvPr id="11" name="point-card"/>
          <p:cNvSpPr/>
          <p:nvPr/>
        </p:nvSpPr>
        <p:spPr>
          <a:xfrm>
            <a:off x="548640" y="1389888"/>
            <a:ext cx="5410048" cy="3964940"/>
          </a:xfrm>
          <a:prstGeom prst="roundRect">
            <a:avLst>
              <a:gd name="adj" fmla="val 1384"/>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Diamond is a form of carbon. A carbon atom has four outer electrons, and in diamond every carbon atom uses all four to form covalent bonds to four other carbon atoms.</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Because every bond is strong and the network is rigid, diamond is extremely hard and has a very high melting point.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Diamond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2EC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diamond is very hard.</a:t>
            </a:r>
            <a:endParaRPr lang="en-US" sz="2200" dirty="0"/>
          </a:p>
        </p:txBody>
      </p:sp>
      <p:sp>
        <p:nvSpPr>
          <p:cNvPr id="9" name="step-box"/>
          <p:cNvSpPr/>
          <p:nvPr/>
        </p:nvSpPr>
        <p:spPr>
          <a:xfrm>
            <a:off x="548640" y="2314956"/>
            <a:ext cx="2464994" cy="2531872"/>
          </a:xfrm>
          <a:prstGeom prst="roundRect">
            <a:avLst>
              <a:gd name="adj" fmla="val 2968"/>
            </a:avLst>
          </a:prstGeom>
          <a:solidFill>
            <a:srgbClr val="FFFFFF"/>
          </a:solidFill>
          <a:ln w="15875">
            <a:solidFill>
              <a:srgbClr val="84B0AD"/>
            </a:solidFill>
            <a:prstDash val="solid"/>
          </a:ln>
        </p:spPr>
      </p:sp>
      <p:sp>
        <p:nvSpPr>
          <p:cNvPr id="10" name="step-hex"/>
          <p:cNvSpPr/>
          <p:nvPr/>
        </p:nvSpPr>
        <p:spPr>
          <a:xfrm>
            <a:off x="685800" y="2424684"/>
            <a:ext cx="530352" cy="459285"/>
          </a:xfrm>
          <a:prstGeom prst="hexagon">
            <a:avLst/>
          </a:prstGeom>
          <a:solidFill>
            <a:srgbClr val="1F6F6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Diamond is a giant covalent structure of carbon atoms.</a:t>
            </a:r>
            <a:endParaRPr lang="en-US" sz="1800" dirty="0"/>
          </a:p>
        </p:txBody>
      </p:sp>
      <p:sp>
        <p:nvSpPr>
          <p:cNvPr id="13" name="arrow"/>
          <p:cNvSpPr/>
          <p:nvPr/>
        </p:nvSpPr>
        <p:spPr>
          <a:xfrm>
            <a:off x="3086786" y="3443732"/>
            <a:ext cx="274320" cy="274320"/>
          </a:xfrm>
          <a:prstGeom prst="rightArrow">
            <a:avLst/>
          </a:prstGeom>
          <a:solidFill>
            <a:srgbClr val="B8862B"/>
          </a:solidFill>
          <a:ln/>
        </p:spPr>
      </p:sp>
      <p:sp>
        <p:nvSpPr>
          <p:cNvPr id="14" name="step-box"/>
          <p:cNvSpPr/>
          <p:nvPr/>
        </p:nvSpPr>
        <p:spPr>
          <a:xfrm>
            <a:off x="3425114" y="2314956"/>
            <a:ext cx="2464994" cy="2531872"/>
          </a:xfrm>
          <a:prstGeom prst="roundRect">
            <a:avLst>
              <a:gd name="adj" fmla="val 2968"/>
            </a:avLst>
          </a:prstGeom>
          <a:solidFill>
            <a:srgbClr val="FFFFFF"/>
          </a:solidFill>
          <a:ln w="15875">
            <a:solidFill>
              <a:srgbClr val="84B0AD"/>
            </a:solidFill>
            <a:prstDash val="solid"/>
          </a:ln>
        </p:spPr>
      </p:sp>
      <p:sp>
        <p:nvSpPr>
          <p:cNvPr id="15" name="step-hex"/>
          <p:cNvSpPr/>
          <p:nvPr/>
        </p:nvSpPr>
        <p:spPr>
          <a:xfrm>
            <a:off x="3562274" y="2424684"/>
            <a:ext cx="530352" cy="459285"/>
          </a:xfrm>
          <a:prstGeom prst="hexagon">
            <a:avLst/>
          </a:prstGeom>
          <a:solidFill>
            <a:srgbClr val="1F6F6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carbon atom is bonded to four others by strong covalent bonds.</a:t>
            </a:r>
            <a:endParaRPr lang="en-US" sz="1800" dirty="0"/>
          </a:p>
        </p:txBody>
      </p:sp>
      <p:sp>
        <p:nvSpPr>
          <p:cNvPr id="18" name="arrow"/>
          <p:cNvSpPr/>
          <p:nvPr/>
        </p:nvSpPr>
        <p:spPr>
          <a:xfrm>
            <a:off x="5963260" y="3443732"/>
            <a:ext cx="274320" cy="274320"/>
          </a:xfrm>
          <a:prstGeom prst="rightArrow">
            <a:avLst/>
          </a:prstGeom>
          <a:solidFill>
            <a:srgbClr val="B8862B"/>
          </a:solidFill>
          <a:ln/>
        </p:spPr>
      </p:sp>
      <p:sp>
        <p:nvSpPr>
          <p:cNvPr id="19" name="step-box"/>
          <p:cNvSpPr/>
          <p:nvPr/>
        </p:nvSpPr>
        <p:spPr>
          <a:xfrm>
            <a:off x="6301588" y="2314956"/>
            <a:ext cx="2464994" cy="2531872"/>
          </a:xfrm>
          <a:prstGeom prst="roundRect">
            <a:avLst>
              <a:gd name="adj" fmla="val 2968"/>
            </a:avLst>
          </a:prstGeom>
          <a:solidFill>
            <a:srgbClr val="FFFFFF"/>
          </a:solidFill>
          <a:ln w="15875">
            <a:solidFill>
              <a:srgbClr val="84B0AD"/>
            </a:solidFill>
            <a:prstDash val="solid"/>
          </a:ln>
        </p:spPr>
      </p:sp>
      <p:sp>
        <p:nvSpPr>
          <p:cNvPr id="20" name="step-hex"/>
          <p:cNvSpPr/>
          <p:nvPr/>
        </p:nvSpPr>
        <p:spPr>
          <a:xfrm>
            <a:off x="6438748" y="2424684"/>
            <a:ext cx="530352" cy="459285"/>
          </a:xfrm>
          <a:prstGeom prst="hexagon">
            <a:avLst/>
          </a:prstGeom>
          <a:solidFill>
            <a:srgbClr val="1F6F6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bonds form a rigid network in three dimensions, so the atoms cannot slide past each other.</a:t>
            </a:r>
            <a:endParaRPr lang="en-US" sz="1800" dirty="0"/>
          </a:p>
        </p:txBody>
      </p:sp>
      <p:sp>
        <p:nvSpPr>
          <p:cNvPr id="23" name="arrow"/>
          <p:cNvSpPr/>
          <p:nvPr/>
        </p:nvSpPr>
        <p:spPr>
          <a:xfrm>
            <a:off x="8839733" y="3443732"/>
            <a:ext cx="274320" cy="274320"/>
          </a:xfrm>
          <a:prstGeom prst="rightArrow">
            <a:avLst/>
          </a:prstGeom>
          <a:solidFill>
            <a:srgbClr val="B8862B"/>
          </a:solidFill>
          <a:ln/>
        </p:spPr>
      </p:sp>
      <p:sp>
        <p:nvSpPr>
          <p:cNvPr id="24" name="step-box"/>
          <p:cNvSpPr/>
          <p:nvPr/>
        </p:nvSpPr>
        <p:spPr>
          <a:xfrm>
            <a:off x="9178061" y="2314956"/>
            <a:ext cx="2464994" cy="2531872"/>
          </a:xfrm>
          <a:prstGeom prst="roundRect">
            <a:avLst>
              <a:gd name="adj" fmla="val 2968"/>
            </a:avLst>
          </a:prstGeom>
          <a:solidFill>
            <a:srgbClr val="FFFFFF"/>
          </a:solidFill>
          <a:ln w="15875">
            <a:solidFill>
              <a:srgbClr val="84B0AD"/>
            </a:solidFill>
            <a:prstDash val="solid"/>
          </a:ln>
        </p:spPr>
      </p:sp>
      <p:sp>
        <p:nvSpPr>
          <p:cNvPr id="25" name="step-hex"/>
          <p:cNvSpPr/>
          <p:nvPr/>
        </p:nvSpPr>
        <p:spPr>
          <a:xfrm>
            <a:off x="9315221" y="2424684"/>
            <a:ext cx="530352" cy="459285"/>
          </a:xfrm>
          <a:prstGeom prst="hexagon">
            <a:avLst/>
          </a:prstGeom>
          <a:solidFill>
            <a:srgbClr val="1F6F6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lot of force is needed to break the bonds and scratch or deform the structure.</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Every carbon atom is held by four strong covalent bonds in a rigid three-dimensional network, so the atoms cannot move past one another.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Graphite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Graphite: 3 bonds per atom, layers slide, 1 delocalised electron per atom, conducts.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Graphite is also pure carbon, but arranged differently. Each carbon atom forms covalent bonds to only three other carbon atoms.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Within a layer the covalent bonds are strong, so graphite still has a very high melting point.</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carbon atom has four outer electrons but uses only three in bonds.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Graphite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carbon atom has 4 outer electrons. In graphite each atom bonds to 3 others. Explain why graphite conducts electricity but diamond does not.</a:t>
            </a:r>
            <a:endParaRPr lang="en-US" sz="2000" dirty="0"/>
          </a:p>
        </p:txBody>
      </p:sp>
      <p:sp>
        <p:nvSpPr>
          <p:cNvPr id="9" name="step-box"/>
          <p:cNvSpPr/>
          <p:nvPr/>
        </p:nvSpPr>
        <p:spPr>
          <a:xfrm>
            <a:off x="548640" y="2502408"/>
            <a:ext cx="11094415" cy="460248"/>
          </a:xfrm>
          <a:prstGeom prst="roundRect">
            <a:avLst>
              <a:gd name="adj" fmla="val 15894"/>
            </a:avLst>
          </a:prstGeom>
          <a:solidFill>
            <a:srgbClr val="FFFFFF"/>
          </a:solidFill>
          <a:ln w="15875">
            <a:solidFill>
              <a:srgbClr val="84B0AD"/>
            </a:solidFill>
            <a:prstDash val="solid"/>
          </a:ln>
        </p:spPr>
      </p:sp>
      <p:sp>
        <p:nvSpPr>
          <p:cNvPr id="10" name="step-hex"/>
          <p:cNvSpPr/>
          <p:nvPr/>
        </p:nvSpPr>
        <p:spPr>
          <a:xfrm>
            <a:off x="685800" y="2534564"/>
            <a:ext cx="457200" cy="395935"/>
          </a:xfrm>
          <a:prstGeom prst="hexagon">
            <a:avLst/>
          </a:prstGeom>
          <a:solidFill>
            <a:srgbClr val="1F6F6A"/>
          </a:solidFill>
          <a:ln/>
        </p:spPr>
      </p:sp>
      <p:sp>
        <p:nvSpPr>
          <p:cNvPr id="11" name="step-hex-label"/>
          <p:cNvSpPr txBox="1"/>
          <p:nvPr/>
        </p:nvSpPr>
        <p:spPr>
          <a:xfrm>
            <a:off x="685800" y="25345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graphite each carbon atom uses 3 of its 4 outer electrons in covalent bonds.</a:t>
            </a:r>
            <a:endParaRPr lang="en-US" sz="1800" dirty="0"/>
          </a:p>
        </p:txBody>
      </p:sp>
      <p:sp>
        <p:nvSpPr>
          <p:cNvPr id="13" name="step-box"/>
          <p:cNvSpPr/>
          <p:nvPr/>
        </p:nvSpPr>
        <p:spPr>
          <a:xfrm>
            <a:off x="548640" y="3035808"/>
            <a:ext cx="11094415" cy="724408"/>
          </a:xfrm>
          <a:prstGeom prst="roundRect">
            <a:avLst>
              <a:gd name="adj" fmla="val 10098"/>
            </a:avLst>
          </a:prstGeom>
          <a:solidFill>
            <a:srgbClr val="FFFFFF"/>
          </a:solidFill>
          <a:ln w="15875">
            <a:solidFill>
              <a:srgbClr val="84B0AD"/>
            </a:solidFill>
            <a:prstDash val="solid"/>
          </a:ln>
        </p:spPr>
      </p:sp>
      <p:sp>
        <p:nvSpPr>
          <p:cNvPr id="14" name="step-hex"/>
          <p:cNvSpPr/>
          <p:nvPr/>
        </p:nvSpPr>
        <p:spPr>
          <a:xfrm>
            <a:off x="685800" y="3200044"/>
            <a:ext cx="457200" cy="395935"/>
          </a:xfrm>
          <a:prstGeom prst="hexagon">
            <a:avLst/>
          </a:prstGeom>
          <a:solidFill>
            <a:srgbClr val="1F6F6A"/>
          </a:solidFill>
          <a:ln/>
        </p:spPr>
      </p:sp>
      <p:sp>
        <p:nvSpPr>
          <p:cNvPr id="15" name="step-hex-label"/>
          <p:cNvSpPr txBox="1"/>
          <p:nvPr/>
        </p:nvSpPr>
        <p:spPr>
          <a:xfrm>
            <a:off x="685800" y="32000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3580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That leaves 4 − 3 = 1 electron per atom that is not in a bond: it is delocalised and free to move through the layer.</a:t>
            </a:r>
            <a:endParaRPr lang="en-US" sz="1800" dirty="0"/>
          </a:p>
        </p:txBody>
      </p:sp>
      <p:sp>
        <p:nvSpPr>
          <p:cNvPr id="17" name="step-box"/>
          <p:cNvSpPr/>
          <p:nvPr/>
        </p:nvSpPr>
        <p:spPr>
          <a:xfrm>
            <a:off x="548640" y="3833368"/>
            <a:ext cx="11094415" cy="460248"/>
          </a:xfrm>
          <a:prstGeom prst="roundRect">
            <a:avLst>
              <a:gd name="adj" fmla="val 15894"/>
            </a:avLst>
          </a:prstGeom>
          <a:solidFill>
            <a:srgbClr val="FFFFFF"/>
          </a:solidFill>
          <a:ln w="15875">
            <a:solidFill>
              <a:srgbClr val="84B0AD"/>
            </a:solidFill>
            <a:prstDash val="solid"/>
          </a:ln>
        </p:spPr>
      </p:sp>
      <p:sp>
        <p:nvSpPr>
          <p:cNvPr id="18" name="step-hex"/>
          <p:cNvSpPr/>
          <p:nvPr/>
        </p:nvSpPr>
        <p:spPr>
          <a:xfrm>
            <a:off x="685800" y="3865524"/>
            <a:ext cx="457200" cy="395935"/>
          </a:xfrm>
          <a:prstGeom prst="hexagon">
            <a:avLst/>
          </a:prstGeom>
          <a:solidFill>
            <a:srgbClr val="1F6F6A"/>
          </a:solidFill>
          <a:ln/>
        </p:spPr>
      </p:sp>
      <p:sp>
        <p:nvSpPr>
          <p:cNvPr id="19" name="step-hex-label"/>
          <p:cNvSpPr txBox="1"/>
          <p:nvPr/>
        </p:nvSpPr>
        <p:spPr>
          <a:xfrm>
            <a:off x="685800" y="38655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3336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Moving electrons carry charge, so graphite conducts.</a:t>
            </a:r>
            <a:endParaRPr lang="en-US" sz="1800" dirty="0"/>
          </a:p>
        </p:txBody>
      </p:sp>
      <p:sp>
        <p:nvSpPr>
          <p:cNvPr id="21" name="step-box"/>
          <p:cNvSpPr/>
          <p:nvPr/>
        </p:nvSpPr>
        <p:spPr>
          <a:xfrm>
            <a:off x="548640" y="4366768"/>
            <a:ext cx="11094415" cy="724408"/>
          </a:xfrm>
          <a:prstGeom prst="roundRect">
            <a:avLst>
              <a:gd name="adj" fmla="val 10098"/>
            </a:avLst>
          </a:prstGeom>
          <a:solidFill>
            <a:srgbClr val="FFFFFF"/>
          </a:solidFill>
          <a:ln w="15875">
            <a:solidFill>
              <a:srgbClr val="84B0AD"/>
            </a:solidFill>
            <a:prstDash val="solid"/>
          </a:ln>
        </p:spPr>
      </p:sp>
      <p:sp>
        <p:nvSpPr>
          <p:cNvPr id="22" name="step-hex"/>
          <p:cNvSpPr/>
          <p:nvPr/>
        </p:nvSpPr>
        <p:spPr>
          <a:xfrm>
            <a:off x="685800" y="4531004"/>
            <a:ext cx="457200" cy="395935"/>
          </a:xfrm>
          <a:prstGeom prst="hexagon">
            <a:avLst/>
          </a:prstGeom>
          <a:solidFill>
            <a:srgbClr val="1F6F6A"/>
          </a:solidFill>
          <a:ln/>
        </p:spPr>
      </p:sp>
      <p:sp>
        <p:nvSpPr>
          <p:cNvPr id="23" name="step-hex-label"/>
          <p:cNvSpPr txBox="1"/>
          <p:nvPr/>
        </p:nvSpPr>
        <p:spPr>
          <a:xfrm>
            <a:off x="685800" y="45310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6676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diamond every atom uses all 4 electrons in bonds, leaving 4 − 4 = 0 free electrons, so diamond cannot conduct.</a:t>
            </a:r>
            <a:endParaRPr lang="en-US" sz="1800" dirty="0"/>
          </a:p>
        </p:txBody>
      </p:sp>
      <p:sp>
        <p:nvSpPr>
          <p:cNvPr id="25" name="worked-answer"/>
          <p:cNvSpPr/>
          <p:nvPr/>
        </p:nvSpPr>
        <p:spPr>
          <a:xfrm>
            <a:off x="548640" y="5274056"/>
            <a:ext cx="11094415" cy="831088"/>
          </a:xfrm>
          <a:prstGeom prst="roundRect">
            <a:avLst>
              <a:gd name="adj" fmla="val 16504"/>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Graphite has one delocalised electron per carbon atom, free to move and carry charge; diamond has none.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Comparing the structures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Same element, different structure, different properties. Always say how many bonds each atom makes.</a:t>
            </a:r>
            <a:endParaRPr lang="en-US" sz="1800" dirty="0"/>
          </a:p>
        </p:txBody>
      </p:sp>
      <p:sp>
        <p:nvSpPr>
          <p:cNvPr id="11" name="bullet-card"/>
          <p:cNvSpPr/>
          <p:nvPr/>
        </p:nvSpPr>
        <p:spPr>
          <a:xfrm>
            <a:off x="548640" y="1389888"/>
            <a:ext cx="11094415" cy="917702"/>
          </a:xfrm>
          <a:prstGeom prst="roundRect">
            <a:avLst>
              <a:gd name="adj" fmla="val 7971"/>
            </a:avLst>
          </a:prstGeom>
          <a:solidFill>
            <a:srgbClr val="E6EFEF"/>
          </a:solidFill>
          <a:ln/>
        </p:spPr>
      </p:sp>
      <p:sp>
        <p:nvSpPr>
          <p:cNvPr id="12" name="bullet-hex"/>
          <p:cNvSpPr/>
          <p:nvPr/>
        </p:nvSpPr>
        <p:spPr>
          <a:xfrm>
            <a:off x="676656" y="1682446"/>
            <a:ext cx="384048" cy="332586"/>
          </a:xfrm>
          <a:prstGeom prst="hexagon">
            <a:avLst/>
          </a:prstGeom>
          <a:solidFill>
            <a:srgbClr val="1F6F6A"/>
          </a:solidFill>
          <a:ln/>
        </p:spPr>
      </p:sp>
      <p:sp>
        <p:nvSpPr>
          <p:cNvPr id="13" name="bullet"/>
          <p:cNvSpPr txBox="1"/>
          <p:nvPr/>
        </p:nvSpPr>
        <p:spPr>
          <a:xfrm>
            <a:off x="1143000" y="1389888"/>
            <a:ext cx="10408615" cy="91770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Diamond and graphite are both made only of carbon, both are giant covalent structures and both have very high melting points.</a:t>
            </a:r>
            <a:endParaRPr lang="en-US" sz="2200" dirty="0"/>
          </a:p>
        </p:txBody>
      </p:sp>
      <p:sp>
        <p:nvSpPr>
          <p:cNvPr id="14" name="bullet-card"/>
          <p:cNvSpPr/>
          <p:nvPr/>
        </p:nvSpPr>
        <p:spPr>
          <a:xfrm>
            <a:off x="548640" y="2453894"/>
            <a:ext cx="11094415" cy="2622042"/>
          </a:xfrm>
          <a:prstGeom prst="roundRect">
            <a:avLst>
              <a:gd name="adj" fmla="val 2790"/>
            </a:avLst>
          </a:prstGeom>
          <a:solidFill>
            <a:srgbClr val="E6EFEF"/>
          </a:solidFill>
          <a:ln/>
        </p:spPr>
      </p:sp>
      <p:sp>
        <p:nvSpPr>
          <p:cNvPr id="15" name="bullet-hex"/>
          <p:cNvSpPr/>
          <p:nvPr/>
        </p:nvSpPr>
        <p:spPr>
          <a:xfrm>
            <a:off x="676656" y="3598622"/>
            <a:ext cx="384048" cy="332586"/>
          </a:xfrm>
          <a:prstGeom prst="hexagon">
            <a:avLst/>
          </a:prstGeom>
          <a:solidFill>
            <a:srgbClr val="B8862B"/>
          </a:solidFill>
          <a:ln/>
        </p:spPr>
      </p:sp>
      <p:sp>
        <p:nvSpPr>
          <p:cNvPr id="16" name="bullet"/>
          <p:cNvSpPr txBox="1"/>
          <p:nvPr/>
        </p:nvSpPr>
        <p:spPr>
          <a:xfrm>
            <a:off x="1143000" y="2453894"/>
            <a:ext cx="10408615" cy="262204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you compare structures in an exam answer, deal with one property at a time and give the reason from the structure each time: 'Diamond is hard because each atom is held by four strong covalent bonds in a rigid network, whereas graphite is soft because its layers are held only by weak forces and can slide.' Models of these structures have the same limits as models of molecules: a drawing shows a few dozen atoms when the real crystal contains millions, and the sticks exaggerate the space between atoms.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Why graphite conducts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Why can graphite conduct electricity?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Graphite is made of small molecules that pass electrons along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Each carbon atom has one delocalised electron that is free to move through the structure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layers of graphite slide over each other and carry the current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Graphite contains ions that are free to move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Same task, three ways in: Why graphite conducts</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Why can graphite conduct electricity?</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Conduction needs charged particles that are free to move.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carbon atom in graphite makes three bonds, using three of its four outer electrons.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fourth electron is delocalised: free to move through the layer and carry charge.</a:t>
            </a:r>
            <a:endParaRPr lang="en-US" sz="1800" dirty="0"/>
          </a:p>
        </p:txBody>
      </p:sp>
      <p:sp>
        <p:nvSpPr>
          <p:cNvPr id="17" name="col-Core"/>
          <p:cNvSpPr/>
          <p:nvPr/>
        </p:nvSpPr>
        <p:spPr>
          <a:xfrm>
            <a:off x="4338218" y="2578608"/>
            <a:ext cx="3515258" cy="3566160"/>
          </a:xfrm>
          <a:prstGeom prst="roundRect">
            <a:avLst>
              <a:gd name="adj" fmla="val 1561"/>
            </a:avLst>
          </a:prstGeom>
          <a:solidFill>
            <a:srgbClr val="C7DB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outer electrons does carbon have, and how many does each graphite atom use in bonds?</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Graphite conducts electricity along its layers much better than across them. Use the structure to suggest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Name the structure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description to the substance it describes.</a:t>
            </a:r>
            <a:endParaRPr lang="en-US" sz="2400" dirty="0"/>
          </a:p>
        </p:txBody>
      </p:sp>
      <p:sp>
        <p:nvSpPr>
          <p:cNvPr id="11" name="match-card"/>
          <p:cNvSpPr/>
          <p:nvPr/>
        </p:nvSpPr>
        <p:spPr>
          <a:xfrm>
            <a:off x="777240" y="2468331"/>
            <a:ext cx="5135728" cy="804809"/>
          </a:xfrm>
          <a:prstGeom prst="roundRect">
            <a:avLst>
              <a:gd name="adj" fmla="val 9089"/>
            </a:avLst>
          </a:prstGeom>
          <a:solidFill>
            <a:srgbClr val="E6EFEF"/>
          </a:solidFill>
          <a:ln/>
        </p:spPr>
      </p:sp>
      <p:sp>
        <p:nvSpPr>
          <p:cNvPr id="12" name="match-hex"/>
          <p:cNvSpPr/>
          <p:nvPr/>
        </p:nvSpPr>
        <p:spPr>
          <a:xfrm>
            <a:off x="850392" y="2704443"/>
            <a:ext cx="384048" cy="332586"/>
          </a:xfrm>
          <a:prstGeom prst="hexagon">
            <a:avLst/>
          </a:prstGeom>
          <a:solidFill>
            <a:srgbClr val="1F6F6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Each carbon atom bonded to four others in a rigid three-dimensional network</a:t>
            </a:r>
            <a:endParaRPr lang="en-US" sz="2000" dirty="0"/>
          </a:p>
        </p:txBody>
      </p:sp>
      <p:sp>
        <p:nvSpPr>
          <p:cNvPr id="15" name="match-card"/>
          <p:cNvSpPr/>
          <p:nvPr/>
        </p:nvSpPr>
        <p:spPr>
          <a:xfrm>
            <a:off x="6278728" y="2468331"/>
            <a:ext cx="5135728" cy="804809"/>
          </a:xfrm>
          <a:prstGeom prst="roundRect">
            <a:avLst>
              <a:gd name="adj" fmla="val 9089"/>
            </a:avLst>
          </a:prstGeom>
          <a:solidFill>
            <a:srgbClr val="F4EDDF"/>
          </a:solidFill>
          <a:ln/>
        </p:spPr>
      </p:sp>
      <p:sp>
        <p:nvSpPr>
          <p:cNvPr id="16" name="match-hex"/>
          <p:cNvSpPr/>
          <p:nvPr/>
        </p:nvSpPr>
        <p:spPr>
          <a:xfrm>
            <a:off x="6351880" y="2704443"/>
            <a:ext cx="384048" cy="332586"/>
          </a:xfrm>
          <a:prstGeom prst="hexagon">
            <a:avLst/>
          </a:prstGeom>
          <a:solidFill>
            <a:srgbClr val="B8862B"/>
          </a:solidFill>
          <a:ln/>
        </p:spPr>
      </p:sp>
      <p:sp>
        <p:nvSpPr>
          <p:cNvPr id="17" name="match-hex-label"/>
          <p:cNvSpPr txBox="1"/>
          <p:nvPr/>
        </p:nvSpPr>
        <p:spPr>
          <a:xfrm>
            <a:off x="6351880"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silicon dioxide</a:t>
            </a:r>
            <a:endParaRPr lang="en-US" sz="2000" dirty="0"/>
          </a:p>
        </p:txBody>
      </p:sp>
      <p:sp>
        <p:nvSpPr>
          <p:cNvPr id="19" name="match-card"/>
          <p:cNvSpPr/>
          <p:nvPr/>
        </p:nvSpPr>
        <p:spPr>
          <a:xfrm>
            <a:off x="777240" y="3364581"/>
            <a:ext cx="5135728" cy="804809"/>
          </a:xfrm>
          <a:prstGeom prst="roundRect">
            <a:avLst>
              <a:gd name="adj" fmla="val 9089"/>
            </a:avLst>
          </a:prstGeom>
          <a:solidFill>
            <a:srgbClr val="E6EFEF"/>
          </a:solidFill>
          <a:ln/>
        </p:spPr>
      </p:sp>
      <p:sp>
        <p:nvSpPr>
          <p:cNvPr id="20" name="match-hex"/>
          <p:cNvSpPr/>
          <p:nvPr/>
        </p:nvSpPr>
        <p:spPr>
          <a:xfrm>
            <a:off x="850392" y="3600692"/>
            <a:ext cx="384048" cy="332586"/>
          </a:xfrm>
          <a:prstGeom prst="hexagon">
            <a:avLst/>
          </a:prstGeom>
          <a:solidFill>
            <a:srgbClr val="1F6F6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Each carbon atom bonded to three others, in flat layers that can slide</a:t>
            </a:r>
            <a:endParaRPr lang="en-US" sz="2000" dirty="0"/>
          </a:p>
        </p:txBody>
      </p:sp>
      <p:sp>
        <p:nvSpPr>
          <p:cNvPr id="23" name="match-card"/>
          <p:cNvSpPr/>
          <p:nvPr/>
        </p:nvSpPr>
        <p:spPr>
          <a:xfrm>
            <a:off x="6278728" y="3364581"/>
            <a:ext cx="5135728" cy="804809"/>
          </a:xfrm>
          <a:prstGeom prst="roundRect">
            <a:avLst>
              <a:gd name="adj" fmla="val 9089"/>
            </a:avLst>
          </a:prstGeom>
          <a:solidFill>
            <a:srgbClr val="F4EDDF"/>
          </a:solidFill>
          <a:ln/>
        </p:spPr>
      </p:sp>
      <p:sp>
        <p:nvSpPr>
          <p:cNvPr id="24" name="match-hex"/>
          <p:cNvSpPr/>
          <p:nvPr/>
        </p:nvSpPr>
        <p:spPr>
          <a:xfrm>
            <a:off x="6351880" y="3600692"/>
            <a:ext cx="384048" cy="332586"/>
          </a:xfrm>
          <a:prstGeom prst="hexagon">
            <a:avLst/>
          </a:prstGeom>
          <a:solidFill>
            <a:srgbClr val="B8862B"/>
          </a:solidFill>
          <a:ln/>
        </p:spPr>
      </p:sp>
      <p:sp>
        <p:nvSpPr>
          <p:cNvPr id="25" name="match-hex-label"/>
          <p:cNvSpPr txBox="1"/>
          <p:nvPr/>
        </p:nvSpPr>
        <p:spPr>
          <a:xfrm>
            <a:off x="6351880"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36458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graphite</a:t>
            </a:r>
            <a:endParaRPr lang="en-US" sz="2000" dirty="0"/>
          </a:p>
        </p:txBody>
      </p:sp>
      <p:sp>
        <p:nvSpPr>
          <p:cNvPr id="27" name="match-card"/>
          <p:cNvSpPr/>
          <p:nvPr/>
        </p:nvSpPr>
        <p:spPr>
          <a:xfrm>
            <a:off x="777240" y="4260830"/>
            <a:ext cx="5135728" cy="804809"/>
          </a:xfrm>
          <a:prstGeom prst="roundRect">
            <a:avLst>
              <a:gd name="adj" fmla="val 9089"/>
            </a:avLst>
          </a:prstGeom>
          <a:solidFill>
            <a:srgbClr val="E6EFEF"/>
          </a:solidFill>
          <a:ln/>
        </p:spPr>
      </p:sp>
      <p:sp>
        <p:nvSpPr>
          <p:cNvPr id="28" name="match-hex"/>
          <p:cNvSpPr/>
          <p:nvPr/>
        </p:nvSpPr>
        <p:spPr>
          <a:xfrm>
            <a:off x="850392" y="4496941"/>
            <a:ext cx="384048" cy="332586"/>
          </a:xfrm>
          <a:prstGeom prst="hexagon">
            <a:avLst/>
          </a:prstGeom>
          <a:solidFill>
            <a:srgbClr val="1F6F6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Silicon and oxygen atoms joined in a giant covalent structure</a:t>
            </a:r>
            <a:endParaRPr lang="en-US" sz="2000" dirty="0"/>
          </a:p>
        </p:txBody>
      </p:sp>
      <p:sp>
        <p:nvSpPr>
          <p:cNvPr id="31" name="match-card"/>
          <p:cNvSpPr/>
          <p:nvPr/>
        </p:nvSpPr>
        <p:spPr>
          <a:xfrm>
            <a:off x="6278728" y="4260830"/>
            <a:ext cx="5135728" cy="804809"/>
          </a:xfrm>
          <a:prstGeom prst="roundRect">
            <a:avLst>
              <a:gd name="adj" fmla="val 9089"/>
            </a:avLst>
          </a:prstGeom>
          <a:solidFill>
            <a:srgbClr val="F4EDDF"/>
          </a:solidFill>
          <a:ln/>
        </p:spPr>
      </p:sp>
      <p:sp>
        <p:nvSpPr>
          <p:cNvPr id="32" name="match-hex"/>
          <p:cNvSpPr/>
          <p:nvPr/>
        </p:nvSpPr>
        <p:spPr>
          <a:xfrm>
            <a:off x="6351880" y="4496941"/>
            <a:ext cx="384048" cy="332586"/>
          </a:xfrm>
          <a:prstGeom prst="hexagon">
            <a:avLst/>
          </a:prstGeom>
          <a:solidFill>
            <a:srgbClr val="B8862B"/>
          </a:solidFill>
          <a:ln/>
        </p:spPr>
      </p:sp>
      <p:sp>
        <p:nvSpPr>
          <p:cNvPr id="33" name="match-hex-label"/>
          <p:cNvSpPr txBox="1"/>
          <p:nvPr/>
        </p:nvSpPr>
        <p:spPr>
          <a:xfrm>
            <a:off x="6351880"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260830"/>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water</a:t>
            </a:r>
            <a:endParaRPr lang="en-US" sz="2000" dirty="0"/>
          </a:p>
        </p:txBody>
      </p:sp>
      <p:sp>
        <p:nvSpPr>
          <p:cNvPr id="35" name="match-card"/>
          <p:cNvSpPr/>
          <p:nvPr/>
        </p:nvSpPr>
        <p:spPr>
          <a:xfrm>
            <a:off x="777240" y="5157079"/>
            <a:ext cx="5135728" cy="804809"/>
          </a:xfrm>
          <a:prstGeom prst="roundRect">
            <a:avLst>
              <a:gd name="adj" fmla="val 9089"/>
            </a:avLst>
          </a:prstGeom>
          <a:solidFill>
            <a:srgbClr val="E6EFEF"/>
          </a:solidFill>
          <a:ln/>
        </p:spPr>
      </p:sp>
      <p:sp>
        <p:nvSpPr>
          <p:cNvPr id="36" name="match-hex"/>
          <p:cNvSpPr/>
          <p:nvPr/>
        </p:nvSpPr>
        <p:spPr>
          <a:xfrm>
            <a:off x="850392" y="5393191"/>
            <a:ext cx="384048" cy="332586"/>
          </a:xfrm>
          <a:prstGeom prst="hexagon">
            <a:avLst/>
          </a:prstGeom>
          <a:solidFill>
            <a:srgbClr val="1F6F6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Weak forces between small molecules, so a low boiling point</a:t>
            </a:r>
            <a:endParaRPr lang="en-US" sz="2000" dirty="0"/>
          </a:p>
        </p:txBody>
      </p:sp>
      <p:sp>
        <p:nvSpPr>
          <p:cNvPr id="39" name="match-card"/>
          <p:cNvSpPr/>
          <p:nvPr/>
        </p:nvSpPr>
        <p:spPr>
          <a:xfrm>
            <a:off x="6278728" y="5157079"/>
            <a:ext cx="5135728" cy="804809"/>
          </a:xfrm>
          <a:prstGeom prst="roundRect">
            <a:avLst>
              <a:gd name="adj" fmla="val 9089"/>
            </a:avLst>
          </a:prstGeom>
          <a:solidFill>
            <a:srgbClr val="F4EDDF"/>
          </a:solidFill>
          <a:ln/>
        </p:spPr>
      </p:sp>
      <p:sp>
        <p:nvSpPr>
          <p:cNvPr id="40" name="match-hex"/>
          <p:cNvSpPr/>
          <p:nvPr/>
        </p:nvSpPr>
        <p:spPr>
          <a:xfrm>
            <a:off x="6351880" y="5393191"/>
            <a:ext cx="384048" cy="332586"/>
          </a:xfrm>
          <a:prstGeom prst="hexagon">
            <a:avLst/>
          </a:prstGeom>
          <a:solidFill>
            <a:srgbClr val="B8862B"/>
          </a:solidFill>
          <a:ln/>
        </p:spPr>
      </p:sp>
      <p:sp>
        <p:nvSpPr>
          <p:cNvPr id="41" name="match-hex-label"/>
          <p:cNvSpPr txBox="1"/>
          <p:nvPr/>
        </p:nvSpPr>
        <p:spPr>
          <a:xfrm>
            <a:off x="6351880"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157079"/>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diamond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Name the structure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description to the substance it describes.</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substances are pure carbon: four bonds means diamond, three bonds and layers means graphite.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Silicon dioxide is the giant structure that is not carbon.</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with molecules and weak forces is the small-molecule substance.</a:t>
            </a:r>
            <a:endParaRPr lang="en-US" sz="1800" dirty="0"/>
          </a:p>
        </p:txBody>
      </p:sp>
      <p:sp>
        <p:nvSpPr>
          <p:cNvPr id="17" name="col-Core"/>
          <p:cNvSpPr/>
          <p:nvPr/>
        </p:nvSpPr>
        <p:spPr>
          <a:xfrm>
            <a:off x="4338218" y="2578608"/>
            <a:ext cx="3515258" cy="3566160"/>
          </a:xfrm>
          <a:prstGeom prst="roundRect">
            <a:avLst>
              <a:gd name="adj" fmla="val 1561"/>
            </a:avLst>
          </a:prstGeom>
          <a:solidFill>
            <a:srgbClr val="C7DB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Count the bonds per carbon atom, then look for the one that is not carbon at all.</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a fifth row for a metal such as copper: describe its structure in one sentence and say which of the four substances it most resembles,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61442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carbon atom has 4 electrons in its outer shell. In graphite each carbon atom uses 3 of them in covalent bonds. How many electrons per carbon atom are delocalised?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(electron per atom):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Why graphite conducts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can graphite conduct electricity?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Each carbon atom has one delocalised electron that is free to move through the structure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One delocalised electron per carbon atom moves through the structure and carries charge.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Name the structure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Each carbon atom bonded to four others in a rigid three-dimensional network  →  D  diamond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Each carbon atom bonded to three others, in flat layers that can slide  →  B  graphite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Silicon and oxygen atoms joined in a giant covalent structure  →  A  silicon dioxide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Weak forces between small molecules, so a low boiling point  →  C  water</a:t>
            </a:r>
            <a:endParaRPr lang="en-US" sz="22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Four bonds in a rigid network: diamond. Three bonds in sliding layers: graphite. Silicon and oxygen: silicon dioxide. Small molecules with weak forces: water.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carbon atom has 4 electrons in its outer shell. In graphite each carbon atom uses 3 of them in covalent bonds. How many electrons per carbon atom are delocalised?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 electron per atom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4 outer electrons, 3 used in bonds: 4 − 3 = 1 electron per atom is delocalised. Whole-number counts, so the answer is exact.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and Bonding · Chapter 5: Giant covalent structures</dc:title>
  <dc:subject>Chemistry (Combined Science) · Year 10</dc:subject>
  <dc:creator>Dr Vitor Merissi de Carvalho</dc:creator>
  <cp:lastModifiedBy>Dr Vitor Merissi de Carvalho</cp:lastModifiedBy>
  <cp:revision>1</cp:revision>
  <dcterms:created xsi:type="dcterms:W3CDTF">2026-10-19T16:22:29Z</dcterms:created>
  <dcterms:modified xsi:type="dcterms:W3CDTF">2026-10-19T16:22:29Z</dcterms:modified>
</cp:coreProperties>
</file>