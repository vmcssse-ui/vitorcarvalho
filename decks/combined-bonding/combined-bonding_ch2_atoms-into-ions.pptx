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b737976-7ed9-4f0e-b655-f4765784747f}">
          <p14:sldIdLst>
            <p14:sldId id="256"/>
          </p14:sldIdLst>
        </p14:section>
        <p14:section name="Gate" id="{4780b285-0ec6-87d6-20db-70fd8d1d369d}">
          <p14:sldIdLst>
            <p14:sldId id="257"/>
            <p14:sldId id="258"/>
          </p14:sldIdLst>
        </p14:section>
        <p14:section name="Pre-teach" id="{189373fe-dc02-7c72-1202-f96c109fd460}">
          <p14:sldIdLst>
            <p14:sldId id="259"/>
          </p14:sldIdLst>
        </p14:section>
        <p14:section name="Read-along" id="{566a4bf0-184c-ae2d-0fb2-8aee8f1a40bd}">
          <p14:sldIdLst>
            <p14:sldId id="260"/>
            <p14:sldId id="261"/>
          </p14:sldIdLst>
        </p14:section>
        <p14:section name="Teach" id="{a87c7364-59bd-a1c2-1ebe-f5d768f4e832}">
          <p14:sldIdLst>
            <p14:sldId id="262"/>
            <p14:sldId id="263"/>
            <p14:sldId id="264"/>
            <p14:sldId id="265"/>
            <p14:sldId id="266"/>
          </p14:sldIdLst>
        </p14:section>
        <p14:section name="Routes" id="{cb464474-84bf-688f-ebba-8aa0eee31916}">
          <p14:sldIdLst>
            <p14:sldId id="267"/>
            <p14:sldId id="268"/>
            <p14:sldId id="269"/>
          </p14:sldIdLst>
        </p14:section>
        <p14:section name="Close" id="{6c16985f-5420-359a-c10e-4cb6bac5d2dd}">
          <p14:sldIdLst>
            <p14:sldId id="270"/>
          </p14:sldIdLst>
        </p14:section>
        <p14:section name="Answers" id="{8ae62191-218b-feb8-99fd-d00dfa01aa86}">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Atoms into ions. This chapter shows how an atom becomes an ion by losing or gaining electrons, and how the periodic table tells you the charge.
This deck covers the department's lesson: 2 (3.2 Atoms into ions: How does an atom become a positive or a negative ion, and how does the periodic table tell you the charge?).
Read the big question aloud: "Why does table salt melt at 801 °C while the water you dissolve it in boils at 100 °C?"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an ion?  →  A   An atom that has lost or gained electrons, so it has a charge
2. A lithium atom has 3 electrons. It loses 1 electron to form a lithium ion. How many electrons does the lithium ion have?  →  2 electrons
3. Fluorine is in Group 7, so a fluoride ion has a charge of ___.  →  1−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An atom that has lost or gained electrons, so it has a charge. Ions form when atoms lose or gain electrons. The protons stay the same, so the charges no longer cancel.
2. 2 electrons. Losing an electron takes the count down: 3 − 1 = 2 electrons. Whole-number counts, so the answer is exact.
3. 1−. Group 7 atoms have seven outer electrons and gain one, giving a charge of 1−.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electron: a tiny negative particle that moves around the nucleus of an atom. Example: "A sodium atom has eleven electrons."
• outer shell: the shell of electrons furthest from the nucleus. Example: "Sodium has just one electron in its outer shell."
• ion: an atom that has lost or gained electrons and so has a charge. Example: "When sodium loses an electron it becomes a sodium ion."
• charge: being positive or negative. Example: "A sodium ion has a positive charge."
• group: a column of the periodic table. Example: "Sodium and lithium are both in Group 1."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An atom has a nucleus in the middle and electrons in shells around it.
2. Atoms have no overall charge.
3. The number of protons equals the number of electrons.
4. Atoms are more stable with a full outer shell of electrons.
5. A metal atom can lose its outer electrons.
6. Then it has more protons than electrons, so it is positive.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A non-metal atom can gain electrons to fill its outer shell.
8. Then it has more electrons than protons, so it is negative.
9. An ion is an atom that has lost or gained electrons.
10. Sodium loses one electron to form a sodium ion, Na⁺.
11. Chlorine gains one electron to form a chloride ion, Cl⁻.
12. The group number tells you what charge the ion will have.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an ion?. Say it in your own words, then check understanding with a quick question: ask a pupil from the pre-teach group first, since they met these words and ideas before the lesson. Pupils try to recall before you re-explain.
An atom is neutral: it has the same number of positive protons in its nucleus as negative electrons in its shells, so the charges cancel. An ion is an atom that has lost or gained electrons. The number of protons does not change, so the charges no longer cancel and the ion is charged.
A sodium atom has 11 protons and 11 electrons, arranged 2,8,1. If it loses the one electron in its outer shell it still has 11 protons but only 10 electrons: one more positive than negative. It is now a sodium ion with a charge of 1+, written Na⁺.
A chlorine atom has 17 protons and 17 electrons, arranged 2,8,7. If it gains one electron it has 17 protons and 18 electrons: one more negative than positive. It is now a chloride ion with a charge of 1−, written Cl⁻. Notice the name changes: the ion of a non-metal ends in -ide.
Worked example — model it step by step, thinking aloud: A magnesium atom has 12 electrons, arranged 2,8,2. It loses its 2 outer-shell electrons to form a magnesium ion. How many electrons does the ion have, and what is its charge? (1) Electrons in the atom: 12. Electrons lost: 2. (2) Electrons in the ion: 12 − 2 = 10. (3) Protons do not change: still 12. (4) Charge = protons − electrons = 12 − 10 = 2+. The ion is Mg²⁺. Answer: 10 electrons; the charge is 2+, so the ion is Mg²⁺..
Tip: Losing electrons makes an ion positive. The electrons are negative, so taking them away leaves extra positive charge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an ion?. Say it in your own words, then check understanding with a quick question: ask a pupil from the pre-teach group first, since they met these words and ideas before the lesson. Pupils try to recall before you re-explain.
An atom is neutral: it has the same number of positive protons in its nucleus as negative electrons in its shells, so the charges cancel. An ion is an atom that has lost or gained electrons. The number of protons does not change, so the charges no longer cancel and the ion is charged.
A sodium atom has 11 protons and 11 electrons, arranged 2,8,1. If it loses the one electron in its outer shell it still has 11 protons but only 10 electrons: one more positive than negative. It is now a sodium ion with a charge of 1+, written Na⁺.
A chlorine atom has 17 protons and 17 electrons, arranged 2,8,7. If it gains one electron it has 17 protons and 18 electrons: one more negative than positive. It is now a chloride ion with a charge of 1−, written Cl⁻. Notice the name changes: the ion of a non-metal ends in -ide.
Worked example — model it step by step, thinking aloud: A magnesium atom has 12 electrons, arranged 2,8,2. It loses its 2 outer-shell electrons to form a magnesium ion. How many electrons does the ion have, and what is its charge? (1) Electrons in the atom: 12. Electrons lost: 2. (2) Electrons in the ion: 12 − 2 = 10. (3) Protons do not change: still 12. (4) Charge = protons − electrons = 12 − 10 = 2+. The ion is Mg²⁺. Answer: 10 electrons; the charge is 2+, so the ion is Mg²⁺..
Tip: Losing electrons makes an ion positive. The electrons are negative, so taking them away leaves extra positive charge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lose, why gain?. Say it in your own words, then check understanding with a quick question: ask a pupil from the pre-teach group first, since they met these words and ideas before the lesson. Pupils try to recall before you re-explain.
Atoms are more stable with a full outer shell of electrons, like the atoms of Group 0. There are two ways to get one: lose the electrons in a nearly empty outer shell, or gain electrons to fill a nearly full one. Atoms take whichever route involves fewer electrons.
Sodium has one outer electron. It is far easier to lose that one than to gain seven, so sodium loses one electron. Chlorine has seven outer electrons, so it is far easier to gain one than to lose seven. In general, metals (on the left of the periodic table) lose electrons and form positive ions; non-metals (on the right) gain electrons and form negative ions.
A dot and cross diagram shows this. Draw only the outer shell. Draw the atom's electrons as crosses, show the electron that moves with an arrow, and draw the ion in square brackets with its charge outside: [Na]⁺ with an empty outer shell, [Cl]⁻ with eight electrons, seven crosses and one dot for the electron that came from sodium.
Tip: Metals lose, non-metals gain. The number of electrons that move equals the size of the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Group number and charge. Say it in your own words, then check understanding with a quick question: ask a pupil from the pre-teach group first, since they met these words and ideas before the lesson. Pupils try to recall before you re-explain.
The group number of an element is the number of electrons in its outer shell, so it tells you what ion it forms. Group 1 atoms (lithium, sodium, potassium) have one outer electron and lose it: 1+ ions. Group 2 atoms (magnesium, calcium) lose two: 2+ ions. Aluminium, in Group 3, loses three: Al³⁺.
On the right of the table, Group 6 atoms (oxygen, sulfur) have six outer electrons and gain two: 2− ions, oxide O²⁻ and sulfide S²⁻. Group 7 atoms (fluorine, chlorine, bromine, iodine) have seven and gain one: 1− ions, fluoride, chloride, bromide, iodide. Group 0 atoms already have full outer shells, so they do not form ions.
Count carefully. The electrons an ion has is the atom's electrons minus the number lost, or plus the number gained. Oxygen has 8 electrons (2,6); the oxide ion has 8 + 2 = 10, the same as a neon atom. Sodium's ion also has 10. Ions with the same electron arrangement as a Group 0 atom are stable.
Worked example — model it step by step, thinking aloud: Oxygen is in Group 6 and an oxygen atom has 8 electrons. What ion does it form, and how many electrons does the ion have? (1) Group 6 means 6 outer electrons: it needs 2 more for a full shell of 8. (2) A non-metal gains electrons, so oxygen gains 2 and the charge is 2−. (3) Electrons in the ion: 8 + 2 = 10. (4) The ion is called oxide and written O²⁻. Answer: O²⁻, the oxide ion, with 10 electrons..
Tip: Group 1: 1+. Group 2: 2+. Group 6: 2−. Group 7: 1−. Group 0: no 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Group number and charge. Say it in your own words, then check understanding with a quick question: ask a pupil from the pre-teach group first, since they met these words and ideas before the lesson. Pupils try to recall before you re-explain.
The group number of an element is the number of electrons in its outer shell, so it tells you what ion it forms. Group 1 atoms (lithium, sodium, potassium) have one outer electron and lose it: 1+ ions. Group 2 atoms (magnesium, calcium) lose two: 2+ ions. Aluminium, in Group 3, loses three: Al³⁺.
On the right of the table, Group 6 atoms (oxygen, sulfur) have six outer electrons and gain two: 2− ions, oxide O²⁻ and sulfide S²⁻. Group 7 atoms (fluorine, chlorine, bromine, iodine) have seven and gain one: 1− ions, fluoride, chloride, bromide, iodide. Group 0 atoms already have full outer shells, so they do not form ions.
Count carefully. The electrons an ion has is the atom's electrons minus the number lost, or plus the number gained. Oxygen has 8 electrons (2,6); the oxide ion has 8 + 2 = 10, the same as a neon atom. Sodium's ion also has 10. Ions with the same electron arrangement as a Group 0 atom are stable.
Worked example — model it step by step, thinking aloud: Oxygen is in Group 6 and an oxygen atom has 8 electrons. What ion does it form, and how many electrons does the ion have? (1) Group 6 means 6 outer electrons: it needs 2 more for a full shell of 8. (2) A non-metal gains electrons, so oxygen gains 2 and the charge is 2−. (3) Electrons in the ion: 8 + 2 = 10. (4) The ion is called oxide and written O²⁻. Answer: O²⁻, the oxide ion, with 10 electrons..
Tip: Group 1: 1+. Group 2: 2+. Group 6: 2−. Group 7: 1−. Group 0: no 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Count the electrons.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chlorine atom has 17 electrons. It gains 1 electron to form a chloride ion. How many electrons does the chloride ion have?
Support — work through the steps with the group: (1) Write down the number of electrons in the atom. (2) Decide: metal (loses) or non-metal (gains). Chlorine is a non-metal. (3) Gaining means adding: atom's electrons + electrons gained.
Parallel worked example for Support (model it, do not give the task answer): A sulfur atom has 16 electrons. It gains 2 electrons to form a sulfide ion. How many electrons does the sulfide ion have? Sulfur is a non-metal, so it gains.; 16 + 2 = 18 electrons.. Answer: 18 electrons.
Core — reveal the hint only on request: Does a non-metal lose or gain electrons? Then add or subtract.
Stretch — no help; when finished: A sodium ion also has 10 electrons fewer than this chloride ion has. Explain why Na⁺ and Cl⁻ have different charges even though both have a full outer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Calcium is in Group 2 of the periodic table. Which ion does a calcium atom form?
Support — work through the steps with the group: (1) The group number tells you the number of outer electrons: Group 2 means two. (2) Decide: metal or non-metal? Calcium is a metal, so it loses electrons. (3) Losing two electrons leaves a charge of 2+.
Parallel worked example for Support (model it, do not give the task answer): Potassium is in Group 1. Which ion does it form? Group 1: one outer electron.; Potassium is a metal, so it loses it.; Losing one electron gives K⁺.. Answer: K⁺, by losing one electron.
Core — reveal the hint only on request: Metals lose electrons. How many outer electrons does a Group 2 atom have?
Stretch — no help; when finished: Explain why calcium does not simply gain six electrons to fill its outer shell, and why its ion has the same electron arrangement as an argon atom.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Calcium is in Group 2 of the periodic table. Which ion does a calcium atom form?
Support — work through the steps with the group: (1) The group number tells you the number of outer electrons: Group 2 means two. (2) Decide: metal or non-metal? Calcium is a metal, so it loses electrons. (3) Losing two electrons leaves a charge of 2+.
Parallel worked example for Support (model it, do not give the task answer): Potassium is in Group 1. Which ion does it form? Group 1: one outer electron.; Potassium is a metal, so it loses it.; Losing one electron gives K⁺.. Answer: K⁺, by losing one electron.
Core — reveal the hint only on request: Metals lose electrons. How many outer electrons does a Group 2 atom have?
Stretch — no help; when finished: Explain why calcium does not simply gain six electrons to fill its outer shell, and why its ion has the same electron arrangement as an argon atom.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is an ion?
Answer: D   An atom that has lost or gained electrons, so it has a charge. Ions form when atoms lose or gain electrons. The protons stay the same, so the charges no longer cancel.
Source of this question: gate item 1 re-asked (options rotated) — this chapter has no third quick-check module.
The ebook also holds task 3, "Group to charge",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Count the electrons. Reveal the answer; pupils mark their own work in a different colour, then read the "why" together. Same destination for every lane, so one answer serves the whole class.
Answer: 18 electrons
Why: Chlorine gains one electron: 17 + 1 = 18. With 17 protons and 18 electrons the ion's charge is 1−.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ion?. Reveal the answer; pupils mark their own work in a different colour, then read the "why" together. Same destination for every lane, so one answer serves the whole class.
Answer: A   Ca²⁺, by losing 2 electrons
Why: Group 2 means two outer electrons; a metal loses them, giving Ca²⁺.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An atom that has lost or gained electrons, so it has a charge
Why: Ions form when atoms lose or gain electrons. The protons stay the same, so the charges no longer cancel.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Chemistry (Combined Science) · Year 10 · Structure and Bonding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Chemistry (Combined Science) · Year 10 · Structure and Bonding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BDE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Chemistry (Combined Science)</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10 · 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Structure and Bonding · AQA 8464</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Atoms into ions</a:t>
            </a:r>
            <a:endParaRPr lang="en-US" sz="4000" dirty="0"/>
          </a:p>
        </p:txBody>
      </p:sp>
      <p:sp>
        <p:nvSpPr>
          <p:cNvPr id="11" name="lessons-card"/>
          <p:cNvSpPr/>
          <p:nvPr/>
        </p:nvSpPr>
        <p:spPr>
          <a:xfrm>
            <a:off x="548640" y="3739388"/>
            <a:ext cx="5287975" cy="980440"/>
          </a:xfrm>
          <a:prstGeom prst="roundRect">
            <a:avLst>
              <a:gd name="adj" fmla="val 7461"/>
            </a:avLst>
          </a:prstGeom>
          <a:solidFill>
            <a:srgbClr val="E2ECEC"/>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3.2 Atoms into ions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Chemistry (Combined Scienc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CEC"/>
          </a:solidFill>
          <a:ln w="12700">
            <a:solidFill>
              <a:srgbClr val="9FC1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Why does table salt melt at 801 °C while the water you dissolve it in boils at 100 °C?</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is an ion?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 atom that has lost or gained electrons, so it has a charge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 atom that has lost or gained protons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group of atoms with no charge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 atom with a full outer shell and no charge</a:t>
            </a:r>
            <a:endParaRPr lang="en-US" sz="1800" dirty="0"/>
          </a:p>
        </p:txBody>
      </p:sp>
      <p:sp>
        <p:nvSpPr>
          <p:cNvPr id="12"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3" name="card-hex"/>
          <p:cNvSpPr/>
          <p:nvPr/>
        </p:nvSpPr>
        <p:spPr>
          <a:xfrm>
            <a:off x="4521098" y="1572768"/>
            <a:ext cx="640080" cy="554309"/>
          </a:xfrm>
          <a:prstGeom prst="hexagon">
            <a:avLst/>
          </a:prstGeom>
          <a:solidFill>
            <a:srgbClr val="1F6F6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lithium atom has 3 electrons. It loses 1 electron to form a lithium ion. How many electrons does the lithium ion have?</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electrons</a:t>
            </a:r>
            <a:endParaRPr lang="en-US" sz="2400" dirty="0"/>
          </a:p>
        </p:txBody>
      </p:sp>
      <p:sp>
        <p:nvSpPr>
          <p:cNvPr id="17"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18" name="card-hex"/>
          <p:cNvSpPr/>
          <p:nvPr/>
        </p:nvSpPr>
        <p:spPr>
          <a:xfrm>
            <a:off x="8310677" y="1572768"/>
            <a:ext cx="640080" cy="554309"/>
          </a:xfrm>
          <a:prstGeom prst="hexagon">
            <a:avLst/>
          </a:prstGeom>
          <a:solidFill>
            <a:srgbClr val="1F6F6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Fluorine is in Group 7, so a fluoride ion has a charge of ___.</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1−  ·  1+  ·  7−</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BDDC4"/>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An atom that has lost or gained electrons, so it has a charge</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is an ion?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Ions form when atoms lose or gain electrons. The protons stay the same, so the charges no longer cancel.</a:t>
            </a:r>
            <a:endParaRPr lang="en-US" sz="2000" dirty="0"/>
          </a:p>
        </p:txBody>
      </p:sp>
      <p:sp>
        <p:nvSpPr>
          <p:cNvPr id="14"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 electrons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lithium atom has 3 electrons. It loses 1 electron to form a lithium ion. How many electrons does the lithium ion have?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Losing an electron takes the count down: 3 − 1 = 2 electrons. Whole-number counts, so the answer is exact.</a:t>
            </a:r>
            <a:endParaRPr lang="en-US" sz="1800" dirty="0"/>
          </a:p>
        </p:txBody>
      </p:sp>
      <p:sp>
        <p:nvSpPr>
          <p:cNvPr id="21"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Fluorine is in Group 7, so a fluoride ion has a charge of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Group 7 atoms have seven outer electrons and gain one, giving a charge of 1−.</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1F6F6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77418"/>
          </a:xfrm>
          <a:prstGeom prst="roundRect">
            <a:avLst>
              <a:gd name="adj" fmla="val 6253"/>
            </a:avLst>
          </a:prstGeom>
          <a:solidFill>
            <a:srgbClr val="E6EFEF"/>
          </a:solidFill>
          <a:ln/>
        </p:spPr>
      </p:sp>
      <p:sp>
        <p:nvSpPr>
          <p:cNvPr id="12" name="kw-hex"/>
          <p:cNvSpPr/>
          <p:nvPr/>
        </p:nvSpPr>
        <p:spPr>
          <a:xfrm>
            <a:off x="658368" y="2180778"/>
            <a:ext cx="411480" cy="356342"/>
          </a:xfrm>
          <a:prstGeom prst="hexagon">
            <a:avLst/>
          </a:prstGeom>
          <a:solidFill>
            <a:srgbClr val="1F6F6A"/>
          </a:solidFill>
          <a:ln/>
        </p:spPr>
      </p:sp>
      <p:sp>
        <p:nvSpPr>
          <p:cNvPr id="13" name="kw-cell"/>
          <p:cNvSpPr txBox="1"/>
          <p:nvPr/>
        </p:nvSpPr>
        <p:spPr>
          <a:xfrm>
            <a:off x="1143000" y="1920240"/>
            <a:ext cx="2331720" cy="877418"/>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electron</a:t>
            </a:r>
            <a:endParaRPr lang="en-US" sz="2000" dirty="0"/>
          </a:p>
        </p:txBody>
      </p:sp>
      <p:sp>
        <p:nvSpPr>
          <p:cNvPr id="14" name="kw-cell"/>
          <p:cNvSpPr txBox="1"/>
          <p:nvPr/>
        </p:nvSpPr>
        <p:spPr>
          <a:xfrm>
            <a:off x="3657600" y="1920240"/>
            <a:ext cx="3474720" cy="8774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tiny negative particle that moves around the nucleus of an atom</a:t>
            </a:r>
            <a:endParaRPr lang="en-US" sz="1800" dirty="0"/>
          </a:p>
        </p:txBody>
      </p:sp>
      <p:sp>
        <p:nvSpPr>
          <p:cNvPr id="15" name="kw-cell"/>
          <p:cNvSpPr txBox="1"/>
          <p:nvPr/>
        </p:nvSpPr>
        <p:spPr>
          <a:xfrm>
            <a:off x="7315200" y="1920240"/>
            <a:ext cx="4236415" cy="87741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sodium atom has eleven electrons.</a:t>
            </a:r>
            <a:endParaRPr lang="en-US" sz="1800" dirty="0"/>
          </a:p>
        </p:txBody>
      </p:sp>
      <p:sp>
        <p:nvSpPr>
          <p:cNvPr id="16" name="kw-row"/>
          <p:cNvSpPr/>
          <p:nvPr/>
        </p:nvSpPr>
        <p:spPr>
          <a:xfrm>
            <a:off x="548640" y="2870810"/>
            <a:ext cx="11094415" cy="877418"/>
          </a:xfrm>
          <a:prstGeom prst="roundRect">
            <a:avLst>
              <a:gd name="adj" fmla="val 6253"/>
            </a:avLst>
          </a:prstGeom>
          <a:solidFill>
            <a:srgbClr val="F4EDDF"/>
          </a:solidFill>
          <a:ln/>
        </p:spPr>
      </p:sp>
      <p:sp>
        <p:nvSpPr>
          <p:cNvPr id="17" name="kw-hex"/>
          <p:cNvSpPr/>
          <p:nvPr/>
        </p:nvSpPr>
        <p:spPr>
          <a:xfrm>
            <a:off x="658368" y="3131348"/>
            <a:ext cx="411480" cy="356342"/>
          </a:xfrm>
          <a:prstGeom prst="hexagon">
            <a:avLst/>
          </a:prstGeom>
          <a:solidFill>
            <a:srgbClr val="B8862B"/>
          </a:solidFill>
          <a:ln/>
        </p:spPr>
      </p:sp>
      <p:sp>
        <p:nvSpPr>
          <p:cNvPr id="18" name="kw-cell"/>
          <p:cNvSpPr txBox="1"/>
          <p:nvPr/>
        </p:nvSpPr>
        <p:spPr>
          <a:xfrm>
            <a:off x="1143000" y="2870810"/>
            <a:ext cx="2331720" cy="877418"/>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outer shell</a:t>
            </a:r>
            <a:endParaRPr lang="en-US" sz="2000" dirty="0"/>
          </a:p>
        </p:txBody>
      </p:sp>
      <p:sp>
        <p:nvSpPr>
          <p:cNvPr id="19" name="kw-cell"/>
          <p:cNvSpPr txBox="1"/>
          <p:nvPr/>
        </p:nvSpPr>
        <p:spPr>
          <a:xfrm>
            <a:off x="3657600" y="2870810"/>
            <a:ext cx="3474720" cy="8774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shell of electrons furthest from the nucleus</a:t>
            </a:r>
            <a:endParaRPr lang="en-US" sz="1800" dirty="0"/>
          </a:p>
        </p:txBody>
      </p:sp>
      <p:sp>
        <p:nvSpPr>
          <p:cNvPr id="20" name="kw-cell"/>
          <p:cNvSpPr txBox="1"/>
          <p:nvPr/>
        </p:nvSpPr>
        <p:spPr>
          <a:xfrm>
            <a:off x="7315200" y="2870810"/>
            <a:ext cx="4236415" cy="87741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Sodium has just one electron in its outer shell.</a:t>
            </a:r>
            <a:endParaRPr lang="en-US" sz="1800" dirty="0"/>
          </a:p>
        </p:txBody>
      </p:sp>
      <p:sp>
        <p:nvSpPr>
          <p:cNvPr id="21" name="kw-row"/>
          <p:cNvSpPr/>
          <p:nvPr/>
        </p:nvSpPr>
        <p:spPr>
          <a:xfrm>
            <a:off x="548640" y="3821379"/>
            <a:ext cx="11094415" cy="877418"/>
          </a:xfrm>
          <a:prstGeom prst="roundRect">
            <a:avLst>
              <a:gd name="adj" fmla="val 6253"/>
            </a:avLst>
          </a:prstGeom>
          <a:solidFill>
            <a:srgbClr val="E6EFEF"/>
          </a:solidFill>
          <a:ln/>
        </p:spPr>
      </p:sp>
      <p:sp>
        <p:nvSpPr>
          <p:cNvPr id="22" name="kw-hex"/>
          <p:cNvSpPr/>
          <p:nvPr/>
        </p:nvSpPr>
        <p:spPr>
          <a:xfrm>
            <a:off x="658368" y="4081917"/>
            <a:ext cx="411480" cy="356342"/>
          </a:xfrm>
          <a:prstGeom prst="hexagon">
            <a:avLst/>
          </a:prstGeom>
          <a:solidFill>
            <a:srgbClr val="1F6F6A"/>
          </a:solidFill>
          <a:ln/>
        </p:spPr>
      </p:sp>
      <p:sp>
        <p:nvSpPr>
          <p:cNvPr id="23" name="kw-cell"/>
          <p:cNvSpPr txBox="1"/>
          <p:nvPr/>
        </p:nvSpPr>
        <p:spPr>
          <a:xfrm>
            <a:off x="1143000" y="3821379"/>
            <a:ext cx="2331720" cy="877418"/>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ion</a:t>
            </a:r>
            <a:endParaRPr lang="en-US" sz="2000" dirty="0"/>
          </a:p>
        </p:txBody>
      </p:sp>
      <p:sp>
        <p:nvSpPr>
          <p:cNvPr id="24" name="kw-cell"/>
          <p:cNvSpPr txBox="1"/>
          <p:nvPr/>
        </p:nvSpPr>
        <p:spPr>
          <a:xfrm>
            <a:off x="3657600" y="3821379"/>
            <a:ext cx="3474720" cy="8774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 atom that has lost or gained electrons and so has a charge</a:t>
            </a:r>
            <a:endParaRPr lang="en-US" sz="1800" dirty="0"/>
          </a:p>
        </p:txBody>
      </p:sp>
      <p:sp>
        <p:nvSpPr>
          <p:cNvPr id="25" name="kw-cell"/>
          <p:cNvSpPr txBox="1"/>
          <p:nvPr/>
        </p:nvSpPr>
        <p:spPr>
          <a:xfrm>
            <a:off x="7315200" y="3821379"/>
            <a:ext cx="4236415" cy="87741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When sodium loses an electron it becomes a sodium ion.</a:t>
            </a:r>
            <a:endParaRPr lang="en-US" sz="1800" dirty="0"/>
          </a:p>
        </p:txBody>
      </p:sp>
      <p:sp>
        <p:nvSpPr>
          <p:cNvPr id="26" name="kw-row"/>
          <p:cNvSpPr/>
          <p:nvPr/>
        </p:nvSpPr>
        <p:spPr>
          <a:xfrm>
            <a:off x="548640" y="4771949"/>
            <a:ext cx="11094415" cy="649834"/>
          </a:xfrm>
          <a:prstGeom prst="roundRect">
            <a:avLst>
              <a:gd name="adj" fmla="val 8443"/>
            </a:avLst>
          </a:prstGeom>
          <a:solidFill>
            <a:srgbClr val="F4EDDF"/>
          </a:solidFill>
          <a:ln/>
        </p:spPr>
      </p:sp>
      <p:sp>
        <p:nvSpPr>
          <p:cNvPr id="27" name="kw-hex"/>
          <p:cNvSpPr/>
          <p:nvPr/>
        </p:nvSpPr>
        <p:spPr>
          <a:xfrm>
            <a:off x="658368" y="4918695"/>
            <a:ext cx="411480" cy="356342"/>
          </a:xfrm>
          <a:prstGeom prst="hexagon">
            <a:avLst/>
          </a:prstGeom>
          <a:solidFill>
            <a:srgbClr val="B8862B"/>
          </a:solidFill>
          <a:ln/>
        </p:spPr>
      </p:sp>
      <p:sp>
        <p:nvSpPr>
          <p:cNvPr id="28" name="kw-cell"/>
          <p:cNvSpPr txBox="1"/>
          <p:nvPr/>
        </p:nvSpPr>
        <p:spPr>
          <a:xfrm>
            <a:off x="1143000" y="4771949"/>
            <a:ext cx="2331720" cy="64983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charge</a:t>
            </a:r>
            <a:endParaRPr lang="en-US" sz="2000" dirty="0"/>
          </a:p>
        </p:txBody>
      </p:sp>
      <p:sp>
        <p:nvSpPr>
          <p:cNvPr id="29" name="kw-cell"/>
          <p:cNvSpPr txBox="1"/>
          <p:nvPr/>
        </p:nvSpPr>
        <p:spPr>
          <a:xfrm>
            <a:off x="3657600" y="4771949"/>
            <a:ext cx="3474720" cy="6498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being positive or negative</a:t>
            </a:r>
            <a:endParaRPr lang="en-US" sz="1800" dirty="0"/>
          </a:p>
        </p:txBody>
      </p:sp>
      <p:sp>
        <p:nvSpPr>
          <p:cNvPr id="30" name="kw-cell"/>
          <p:cNvSpPr txBox="1"/>
          <p:nvPr/>
        </p:nvSpPr>
        <p:spPr>
          <a:xfrm>
            <a:off x="7315200" y="4771949"/>
            <a:ext cx="4236415" cy="64983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sodium ion has a positive charge.</a:t>
            </a:r>
            <a:endParaRPr lang="en-US" sz="1800" dirty="0"/>
          </a:p>
        </p:txBody>
      </p:sp>
      <p:sp>
        <p:nvSpPr>
          <p:cNvPr id="31" name="kw-row"/>
          <p:cNvSpPr/>
          <p:nvPr/>
        </p:nvSpPr>
        <p:spPr>
          <a:xfrm>
            <a:off x="548640" y="5494934"/>
            <a:ext cx="11094415" cy="649834"/>
          </a:xfrm>
          <a:prstGeom prst="roundRect">
            <a:avLst>
              <a:gd name="adj" fmla="val 8443"/>
            </a:avLst>
          </a:prstGeom>
          <a:solidFill>
            <a:srgbClr val="E6EFEF"/>
          </a:solidFill>
          <a:ln/>
        </p:spPr>
      </p:sp>
      <p:sp>
        <p:nvSpPr>
          <p:cNvPr id="32" name="kw-hex"/>
          <p:cNvSpPr/>
          <p:nvPr/>
        </p:nvSpPr>
        <p:spPr>
          <a:xfrm>
            <a:off x="658368" y="5641680"/>
            <a:ext cx="411480" cy="356342"/>
          </a:xfrm>
          <a:prstGeom prst="hexagon">
            <a:avLst/>
          </a:prstGeom>
          <a:solidFill>
            <a:srgbClr val="1F6F6A"/>
          </a:solidFill>
          <a:ln/>
        </p:spPr>
      </p:sp>
      <p:sp>
        <p:nvSpPr>
          <p:cNvPr id="33" name="kw-cell"/>
          <p:cNvSpPr txBox="1"/>
          <p:nvPr/>
        </p:nvSpPr>
        <p:spPr>
          <a:xfrm>
            <a:off x="1143000" y="5494934"/>
            <a:ext cx="2331720" cy="64983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group</a:t>
            </a:r>
            <a:endParaRPr lang="en-US" sz="2000" dirty="0"/>
          </a:p>
        </p:txBody>
      </p:sp>
      <p:sp>
        <p:nvSpPr>
          <p:cNvPr id="34" name="kw-cell"/>
          <p:cNvSpPr txBox="1"/>
          <p:nvPr/>
        </p:nvSpPr>
        <p:spPr>
          <a:xfrm>
            <a:off x="3657600" y="5494934"/>
            <a:ext cx="3474720" cy="6498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column of the periodic table</a:t>
            </a:r>
            <a:endParaRPr lang="en-US" sz="1800" dirty="0"/>
          </a:p>
        </p:txBody>
      </p:sp>
      <p:sp>
        <p:nvSpPr>
          <p:cNvPr id="35" name="kw-cell"/>
          <p:cNvSpPr txBox="1"/>
          <p:nvPr/>
        </p:nvSpPr>
        <p:spPr>
          <a:xfrm>
            <a:off x="7315200" y="5494934"/>
            <a:ext cx="4236415" cy="64983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Sodium and lithium are both in Group 1.</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 atom has a nucleus in the middle and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electrons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in shells around it.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Atoms have no overall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charge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number of protons equals the number of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electrons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Atoms are more stable with a full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outer shell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of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electrons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metal atom can lose its outer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electrons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it has more protons than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electrons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so it is positive.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non-metal atom can gain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electrons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to fill its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outer shell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it has more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electrons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than protons, so it is negative.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an atom that has lost or gained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electrons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Sodium loses one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electron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to form a sodium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Na⁺.</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Chlorine gains one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electron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to form a chloride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group</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number tells you what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charge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will have.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What is an 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Losing electrons makes an ion positive. The electrons are negative, so taking them away leaves extra positive charge behind.</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atom is neutral: it has the same number of positive protons in its nucleus as negative electrons in its shells, so the charges cancel.</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sodium atom has 11 protons and 11 electrons, arranged 2,8,1.</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chlorine atom has 17 protons and 17 electrons, arranged 2,8,7.</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Worked example: What is an 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E2ECEC"/>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magnesium atom has 12 electrons, arranged 2,8,2. It loses its 2 outer-shell electrons to form a magnesium ion. How many electrons does the ion have, and what is its charge?</a:t>
            </a:r>
            <a:endParaRPr lang="en-US" sz="2200" dirty="0"/>
          </a:p>
        </p:txBody>
      </p:sp>
      <p:sp>
        <p:nvSpPr>
          <p:cNvPr id="9" name="step-box"/>
          <p:cNvSpPr/>
          <p:nvPr/>
        </p:nvSpPr>
        <p:spPr>
          <a:xfrm>
            <a:off x="548640" y="2996692"/>
            <a:ext cx="2464994" cy="1695196"/>
          </a:xfrm>
          <a:prstGeom prst="roundRect">
            <a:avLst>
              <a:gd name="adj" fmla="val 4315"/>
            </a:avLst>
          </a:prstGeom>
          <a:solidFill>
            <a:srgbClr val="FFFFFF"/>
          </a:solidFill>
          <a:ln w="15875">
            <a:solidFill>
              <a:srgbClr val="84B0AD"/>
            </a:solidFill>
            <a:prstDash val="solid"/>
          </a:ln>
        </p:spPr>
      </p:sp>
      <p:sp>
        <p:nvSpPr>
          <p:cNvPr id="10" name="step-hex"/>
          <p:cNvSpPr/>
          <p:nvPr/>
        </p:nvSpPr>
        <p:spPr>
          <a:xfrm>
            <a:off x="685800" y="3106420"/>
            <a:ext cx="530352" cy="459285"/>
          </a:xfrm>
          <a:prstGeom prst="hexagon">
            <a:avLst/>
          </a:prstGeom>
          <a:solidFill>
            <a:srgbClr val="1F6F6A"/>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591052"/>
            <a:ext cx="2190674"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Electrons in the atom: 12. Electrons lost: 2.</a:t>
            </a:r>
            <a:endParaRPr lang="en-US" sz="1800" dirty="0"/>
          </a:p>
        </p:txBody>
      </p:sp>
      <p:sp>
        <p:nvSpPr>
          <p:cNvPr id="13" name="arrow"/>
          <p:cNvSpPr/>
          <p:nvPr/>
        </p:nvSpPr>
        <p:spPr>
          <a:xfrm>
            <a:off x="3086786" y="3707130"/>
            <a:ext cx="274320" cy="274320"/>
          </a:xfrm>
          <a:prstGeom prst="rightArrow">
            <a:avLst/>
          </a:prstGeom>
          <a:solidFill>
            <a:srgbClr val="B8862B"/>
          </a:solidFill>
          <a:ln/>
        </p:spPr>
      </p:sp>
      <p:sp>
        <p:nvSpPr>
          <p:cNvPr id="14" name="step-box"/>
          <p:cNvSpPr/>
          <p:nvPr/>
        </p:nvSpPr>
        <p:spPr>
          <a:xfrm>
            <a:off x="3425114" y="2996692"/>
            <a:ext cx="2464994" cy="1695196"/>
          </a:xfrm>
          <a:prstGeom prst="roundRect">
            <a:avLst>
              <a:gd name="adj" fmla="val 4315"/>
            </a:avLst>
          </a:prstGeom>
          <a:solidFill>
            <a:srgbClr val="FFFFFF"/>
          </a:solidFill>
          <a:ln w="15875">
            <a:solidFill>
              <a:srgbClr val="84B0AD"/>
            </a:solidFill>
            <a:prstDash val="solid"/>
          </a:ln>
        </p:spPr>
      </p:sp>
      <p:sp>
        <p:nvSpPr>
          <p:cNvPr id="15" name="step-hex"/>
          <p:cNvSpPr/>
          <p:nvPr/>
        </p:nvSpPr>
        <p:spPr>
          <a:xfrm>
            <a:off x="3562274" y="3106420"/>
            <a:ext cx="530352" cy="459285"/>
          </a:xfrm>
          <a:prstGeom prst="hexagon">
            <a:avLst/>
          </a:prstGeom>
          <a:solidFill>
            <a:srgbClr val="1F6F6A"/>
          </a:solidFill>
          <a:ln/>
        </p:spPr>
      </p:sp>
      <p:sp>
        <p:nvSpPr>
          <p:cNvPr id="16" name="step-hex-label"/>
          <p:cNvSpPr txBox="1"/>
          <p:nvPr/>
        </p:nvSpPr>
        <p:spPr>
          <a:xfrm>
            <a:off x="3562274"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591052"/>
            <a:ext cx="2190674"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Electrons in the ion: 12 − 2 = 10.</a:t>
            </a:r>
            <a:endParaRPr lang="en-US" sz="1800" dirty="0"/>
          </a:p>
        </p:txBody>
      </p:sp>
      <p:sp>
        <p:nvSpPr>
          <p:cNvPr id="18" name="arrow"/>
          <p:cNvSpPr/>
          <p:nvPr/>
        </p:nvSpPr>
        <p:spPr>
          <a:xfrm>
            <a:off x="5963260" y="3707130"/>
            <a:ext cx="274320" cy="274320"/>
          </a:xfrm>
          <a:prstGeom prst="rightArrow">
            <a:avLst/>
          </a:prstGeom>
          <a:solidFill>
            <a:srgbClr val="B8862B"/>
          </a:solidFill>
          <a:ln/>
        </p:spPr>
      </p:sp>
      <p:sp>
        <p:nvSpPr>
          <p:cNvPr id="19" name="step-box"/>
          <p:cNvSpPr/>
          <p:nvPr/>
        </p:nvSpPr>
        <p:spPr>
          <a:xfrm>
            <a:off x="6301588" y="2996692"/>
            <a:ext cx="2464994" cy="1695196"/>
          </a:xfrm>
          <a:prstGeom prst="roundRect">
            <a:avLst>
              <a:gd name="adj" fmla="val 4315"/>
            </a:avLst>
          </a:prstGeom>
          <a:solidFill>
            <a:srgbClr val="FFFFFF"/>
          </a:solidFill>
          <a:ln w="15875">
            <a:solidFill>
              <a:srgbClr val="84B0AD"/>
            </a:solidFill>
            <a:prstDash val="solid"/>
          </a:ln>
        </p:spPr>
      </p:sp>
      <p:sp>
        <p:nvSpPr>
          <p:cNvPr id="20" name="step-hex"/>
          <p:cNvSpPr/>
          <p:nvPr/>
        </p:nvSpPr>
        <p:spPr>
          <a:xfrm>
            <a:off x="6438748" y="3106420"/>
            <a:ext cx="530352" cy="459285"/>
          </a:xfrm>
          <a:prstGeom prst="hexagon">
            <a:avLst/>
          </a:prstGeom>
          <a:solidFill>
            <a:srgbClr val="1F6F6A"/>
          </a:solidFill>
          <a:ln/>
        </p:spPr>
      </p:sp>
      <p:sp>
        <p:nvSpPr>
          <p:cNvPr id="21" name="step-hex-label"/>
          <p:cNvSpPr txBox="1"/>
          <p:nvPr/>
        </p:nvSpPr>
        <p:spPr>
          <a:xfrm>
            <a:off x="643874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591052"/>
            <a:ext cx="2190674"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Protons do not change: still 12.</a:t>
            </a:r>
            <a:endParaRPr lang="en-US" sz="1800" dirty="0"/>
          </a:p>
        </p:txBody>
      </p:sp>
      <p:sp>
        <p:nvSpPr>
          <p:cNvPr id="23" name="arrow"/>
          <p:cNvSpPr/>
          <p:nvPr/>
        </p:nvSpPr>
        <p:spPr>
          <a:xfrm>
            <a:off x="8839733" y="3707130"/>
            <a:ext cx="274320" cy="274320"/>
          </a:xfrm>
          <a:prstGeom prst="rightArrow">
            <a:avLst/>
          </a:prstGeom>
          <a:solidFill>
            <a:srgbClr val="B8862B"/>
          </a:solidFill>
          <a:ln/>
        </p:spPr>
      </p:sp>
      <p:sp>
        <p:nvSpPr>
          <p:cNvPr id="24" name="step-box"/>
          <p:cNvSpPr/>
          <p:nvPr/>
        </p:nvSpPr>
        <p:spPr>
          <a:xfrm>
            <a:off x="9178061" y="2996692"/>
            <a:ext cx="2464994" cy="1695196"/>
          </a:xfrm>
          <a:prstGeom prst="roundRect">
            <a:avLst>
              <a:gd name="adj" fmla="val 4315"/>
            </a:avLst>
          </a:prstGeom>
          <a:solidFill>
            <a:srgbClr val="FFFFFF"/>
          </a:solidFill>
          <a:ln w="15875">
            <a:solidFill>
              <a:srgbClr val="84B0AD"/>
            </a:solidFill>
            <a:prstDash val="solid"/>
          </a:ln>
        </p:spPr>
      </p:sp>
      <p:sp>
        <p:nvSpPr>
          <p:cNvPr id="25" name="step-hex"/>
          <p:cNvSpPr/>
          <p:nvPr/>
        </p:nvSpPr>
        <p:spPr>
          <a:xfrm>
            <a:off x="9315221" y="3106420"/>
            <a:ext cx="530352" cy="459285"/>
          </a:xfrm>
          <a:prstGeom prst="hexagon">
            <a:avLst/>
          </a:prstGeom>
          <a:solidFill>
            <a:srgbClr val="1F6F6A"/>
          </a:solidFill>
          <a:ln/>
        </p:spPr>
      </p:sp>
      <p:sp>
        <p:nvSpPr>
          <p:cNvPr id="26" name="step-hex-label"/>
          <p:cNvSpPr txBox="1"/>
          <p:nvPr/>
        </p:nvSpPr>
        <p:spPr>
          <a:xfrm>
            <a:off x="9315221"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591052"/>
            <a:ext cx="2190674"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Charge = protons − electrons = 12 − 10 = 2+. The ion is Mg²⁺.</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10 electrons; the charge is 2+, so the ion is Mg²⁺.</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Why lose, why gain?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Metals lose, non-metals gain. The number of electrons that move equals the size of the charge.</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Atoms are more stable with a full outer shell of electrons, like the atoms of Group 0.</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Sodium has one outer electron. It is far easier to lose that one than to gain seven, so sodium loses one electron.</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dot and cross diagram shows this. Draw only the outer shell.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Group number and charge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Group 1: 1+. Group 2: 2+. Group 6: 2−. Group 7: 1−. Group 0: no ions.</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group number of an element is the number of electrons in its outer shell, so it tells you what ion it forms.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 the right of the table, Group 6 atoms (oxygen, sulfur) have six outer electrons and gain two: 2− ions, oxide O²⁻ and sulfide S²⁻.</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Count carefully. The electrons an ion has is the atom's electrons minus the number lost, or plus the number gained.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Worked example: Group number and charge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2EC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Oxygen is in Group 6 and an oxygen atom has 8 electrons. What ion does it form, and how many electrons does the ion have?</a:t>
            </a:r>
            <a:endParaRPr lang="en-US" sz="2200" dirty="0"/>
          </a:p>
        </p:txBody>
      </p:sp>
      <p:sp>
        <p:nvSpPr>
          <p:cNvPr id="9" name="step-box"/>
          <p:cNvSpPr/>
          <p:nvPr/>
        </p:nvSpPr>
        <p:spPr>
          <a:xfrm>
            <a:off x="548640" y="2655824"/>
            <a:ext cx="2464994" cy="1974088"/>
          </a:xfrm>
          <a:prstGeom prst="roundRect">
            <a:avLst>
              <a:gd name="adj" fmla="val 3706"/>
            </a:avLst>
          </a:prstGeom>
          <a:solidFill>
            <a:srgbClr val="FFFFFF"/>
          </a:solidFill>
          <a:ln w="15875">
            <a:solidFill>
              <a:srgbClr val="84B0AD"/>
            </a:solidFill>
            <a:prstDash val="solid"/>
          </a:ln>
        </p:spPr>
      </p:sp>
      <p:sp>
        <p:nvSpPr>
          <p:cNvPr id="10" name="step-hex"/>
          <p:cNvSpPr/>
          <p:nvPr/>
        </p:nvSpPr>
        <p:spPr>
          <a:xfrm>
            <a:off x="685800" y="2765552"/>
            <a:ext cx="530352" cy="459285"/>
          </a:xfrm>
          <a:prstGeom prst="hexagon">
            <a:avLst/>
          </a:prstGeom>
          <a:solidFill>
            <a:srgbClr val="1F6F6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Group 6 means 6 outer electrons: it needs 2 more for a full shell of 8.</a:t>
            </a:r>
            <a:endParaRPr lang="en-US" sz="1800" dirty="0"/>
          </a:p>
        </p:txBody>
      </p:sp>
      <p:sp>
        <p:nvSpPr>
          <p:cNvPr id="13" name="arrow"/>
          <p:cNvSpPr/>
          <p:nvPr/>
        </p:nvSpPr>
        <p:spPr>
          <a:xfrm>
            <a:off x="3086786" y="3505708"/>
            <a:ext cx="274320" cy="274320"/>
          </a:xfrm>
          <a:prstGeom prst="rightArrow">
            <a:avLst/>
          </a:prstGeom>
          <a:solidFill>
            <a:srgbClr val="B8862B"/>
          </a:solidFill>
          <a:ln/>
        </p:spPr>
      </p:sp>
      <p:sp>
        <p:nvSpPr>
          <p:cNvPr id="14" name="step-box"/>
          <p:cNvSpPr/>
          <p:nvPr/>
        </p:nvSpPr>
        <p:spPr>
          <a:xfrm>
            <a:off x="3425114" y="2655824"/>
            <a:ext cx="2464994" cy="1974088"/>
          </a:xfrm>
          <a:prstGeom prst="roundRect">
            <a:avLst>
              <a:gd name="adj" fmla="val 3706"/>
            </a:avLst>
          </a:prstGeom>
          <a:solidFill>
            <a:srgbClr val="FFFFFF"/>
          </a:solidFill>
          <a:ln w="15875">
            <a:solidFill>
              <a:srgbClr val="84B0AD"/>
            </a:solidFill>
            <a:prstDash val="solid"/>
          </a:ln>
        </p:spPr>
      </p:sp>
      <p:sp>
        <p:nvSpPr>
          <p:cNvPr id="15" name="step-hex"/>
          <p:cNvSpPr/>
          <p:nvPr/>
        </p:nvSpPr>
        <p:spPr>
          <a:xfrm>
            <a:off x="3562274" y="2765552"/>
            <a:ext cx="530352" cy="459285"/>
          </a:xfrm>
          <a:prstGeom prst="hexagon">
            <a:avLst/>
          </a:prstGeom>
          <a:solidFill>
            <a:srgbClr val="1F6F6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non-metal gains electrons, so oxygen gains 2 and the charge is 2−.</a:t>
            </a:r>
            <a:endParaRPr lang="en-US" sz="1800" dirty="0"/>
          </a:p>
        </p:txBody>
      </p:sp>
      <p:sp>
        <p:nvSpPr>
          <p:cNvPr id="18" name="arrow"/>
          <p:cNvSpPr/>
          <p:nvPr/>
        </p:nvSpPr>
        <p:spPr>
          <a:xfrm>
            <a:off x="5963260" y="3505708"/>
            <a:ext cx="274320" cy="274320"/>
          </a:xfrm>
          <a:prstGeom prst="rightArrow">
            <a:avLst/>
          </a:prstGeom>
          <a:solidFill>
            <a:srgbClr val="B8862B"/>
          </a:solidFill>
          <a:ln/>
        </p:spPr>
      </p:sp>
      <p:sp>
        <p:nvSpPr>
          <p:cNvPr id="19" name="step-box"/>
          <p:cNvSpPr/>
          <p:nvPr/>
        </p:nvSpPr>
        <p:spPr>
          <a:xfrm>
            <a:off x="6301588" y="2655824"/>
            <a:ext cx="2464994" cy="1974088"/>
          </a:xfrm>
          <a:prstGeom prst="roundRect">
            <a:avLst>
              <a:gd name="adj" fmla="val 3706"/>
            </a:avLst>
          </a:prstGeom>
          <a:solidFill>
            <a:srgbClr val="FFFFFF"/>
          </a:solidFill>
          <a:ln w="15875">
            <a:solidFill>
              <a:srgbClr val="84B0AD"/>
            </a:solidFill>
            <a:prstDash val="solid"/>
          </a:ln>
        </p:spPr>
      </p:sp>
      <p:sp>
        <p:nvSpPr>
          <p:cNvPr id="20" name="step-hex"/>
          <p:cNvSpPr/>
          <p:nvPr/>
        </p:nvSpPr>
        <p:spPr>
          <a:xfrm>
            <a:off x="6438748" y="2765552"/>
            <a:ext cx="530352" cy="459285"/>
          </a:xfrm>
          <a:prstGeom prst="hexagon">
            <a:avLst/>
          </a:prstGeom>
          <a:solidFill>
            <a:srgbClr val="1F6F6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Electrons in the ion: 8 + 2 = 10.</a:t>
            </a:r>
            <a:endParaRPr lang="en-US" sz="1800" dirty="0"/>
          </a:p>
        </p:txBody>
      </p:sp>
      <p:sp>
        <p:nvSpPr>
          <p:cNvPr id="23" name="arrow"/>
          <p:cNvSpPr/>
          <p:nvPr/>
        </p:nvSpPr>
        <p:spPr>
          <a:xfrm>
            <a:off x="8839733" y="3505708"/>
            <a:ext cx="274320" cy="274320"/>
          </a:xfrm>
          <a:prstGeom prst="rightArrow">
            <a:avLst/>
          </a:prstGeom>
          <a:solidFill>
            <a:srgbClr val="B8862B"/>
          </a:solidFill>
          <a:ln/>
        </p:spPr>
      </p:sp>
      <p:sp>
        <p:nvSpPr>
          <p:cNvPr id="24" name="step-box"/>
          <p:cNvSpPr/>
          <p:nvPr/>
        </p:nvSpPr>
        <p:spPr>
          <a:xfrm>
            <a:off x="9178061" y="2655824"/>
            <a:ext cx="2464994" cy="1974088"/>
          </a:xfrm>
          <a:prstGeom prst="roundRect">
            <a:avLst>
              <a:gd name="adj" fmla="val 3706"/>
            </a:avLst>
          </a:prstGeom>
          <a:solidFill>
            <a:srgbClr val="FFFFFF"/>
          </a:solidFill>
          <a:ln w="15875">
            <a:solidFill>
              <a:srgbClr val="84B0AD"/>
            </a:solidFill>
            <a:prstDash val="solid"/>
          </a:ln>
        </p:spPr>
      </p:sp>
      <p:sp>
        <p:nvSpPr>
          <p:cNvPr id="25" name="step-hex"/>
          <p:cNvSpPr/>
          <p:nvPr/>
        </p:nvSpPr>
        <p:spPr>
          <a:xfrm>
            <a:off x="9315221" y="2765552"/>
            <a:ext cx="530352" cy="459285"/>
          </a:xfrm>
          <a:prstGeom prst="hexagon">
            <a:avLst/>
          </a:prstGeom>
          <a:solidFill>
            <a:srgbClr val="1F6F6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ion is called oxide and written O²⁻.</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O²⁻, the oxide ion, with 10 electrons.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Count the electrons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chlorine atom has 17 electrons. It gains 1 electron to form a chloride ion. How many electrons does the chloride ion have?</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electrons</a:t>
            </a:r>
            <a:endParaRPr lang="en-US" sz="2000" dirty="0"/>
          </a:p>
        </p:txBody>
      </p:sp>
      <p:sp>
        <p:nvSpPr>
          <p:cNvPr id="12" name="col-Support"/>
          <p:cNvSpPr/>
          <p:nvPr/>
        </p:nvSpPr>
        <p:spPr>
          <a:xfrm>
            <a:off x="548640" y="2948940"/>
            <a:ext cx="3515258" cy="3195828"/>
          </a:xfrm>
          <a:prstGeom prst="roundRect">
            <a:avLst>
              <a:gd name="adj" fmla="val 1717"/>
            </a:avLst>
          </a:prstGeom>
          <a:solidFill>
            <a:srgbClr val="E2EC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the number of electrons in the atom.</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Decide: metal (loses) or non-metal (gains). Chlorine is a non-metal.</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Gaining means adding: atom's electrons + electrons gained.</a:t>
            </a:r>
            <a:endParaRPr lang="en-US" sz="1800" dirty="0"/>
          </a:p>
        </p:txBody>
      </p:sp>
      <p:sp>
        <p:nvSpPr>
          <p:cNvPr id="17" name="col-Core"/>
          <p:cNvSpPr/>
          <p:nvPr/>
        </p:nvSpPr>
        <p:spPr>
          <a:xfrm>
            <a:off x="4338218" y="2948940"/>
            <a:ext cx="3515258" cy="3195828"/>
          </a:xfrm>
          <a:prstGeom prst="roundRect">
            <a:avLst>
              <a:gd name="adj" fmla="val 1717"/>
            </a:avLst>
          </a:prstGeom>
          <a:solidFill>
            <a:srgbClr val="C7DBDA"/>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Does a non-metal lose or gain electrons? Then add or subtract.</a:t>
            </a:r>
            <a:endParaRPr lang="en-US" sz="1800" dirty="0"/>
          </a:p>
        </p:txBody>
      </p:sp>
      <p:sp>
        <p:nvSpPr>
          <p:cNvPr id="22" name="col-Stretch"/>
          <p:cNvSpPr/>
          <p:nvPr/>
        </p:nvSpPr>
        <p:spPr>
          <a:xfrm>
            <a:off x="8127797" y="2948940"/>
            <a:ext cx="3515258" cy="3195828"/>
          </a:xfrm>
          <a:prstGeom prst="roundRect">
            <a:avLst>
              <a:gd name="adj" fmla="val 1717"/>
            </a:avLst>
          </a:prstGeom>
          <a:solidFill>
            <a:srgbClr val="1F6F6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 sodium ion also has 10 electrons fewer than this chloride ion has. Explain why Na⁺ and Cl⁻ have different charges even though both have a full outer shell.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Which ion?</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Calcium is in Group 2 of the periodic table. Which ion does a calcium atom form?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Ca²⁺, by losing 2 electrons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Ca²⁻, by gaining 2 electrons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Ca⁺, by losing 1 electron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Ca⁶⁻, by gaining 6 electrons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Which ion?</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Calcium is in Group 2 of the periodic table. Which ion does a calcium atom form?</a:t>
            </a:r>
            <a:endParaRPr lang="en-US" sz="2000" dirty="0"/>
          </a:p>
        </p:txBody>
      </p:sp>
      <p:sp>
        <p:nvSpPr>
          <p:cNvPr id="12" name="col-Support"/>
          <p:cNvSpPr/>
          <p:nvPr/>
        </p:nvSpPr>
        <p:spPr>
          <a:xfrm>
            <a:off x="548640" y="2593848"/>
            <a:ext cx="3515258" cy="3550920"/>
          </a:xfrm>
          <a:prstGeom prst="roundRect">
            <a:avLst>
              <a:gd name="adj" fmla="val 1561"/>
            </a:avLst>
          </a:prstGeom>
          <a:solidFill>
            <a:srgbClr val="E2ECEC"/>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group number tells you the number of outer electrons: Group 2 means two.</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Decide: metal or non-metal? Calcium is a metal, so it loses electrons.</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Losing two electrons leaves a charge of 2+.</a:t>
            </a:r>
            <a:endParaRPr lang="en-US" sz="1800" dirty="0"/>
          </a:p>
        </p:txBody>
      </p:sp>
      <p:sp>
        <p:nvSpPr>
          <p:cNvPr id="17" name="col-Core"/>
          <p:cNvSpPr/>
          <p:nvPr/>
        </p:nvSpPr>
        <p:spPr>
          <a:xfrm>
            <a:off x="4338218" y="2593848"/>
            <a:ext cx="3515258" cy="3550920"/>
          </a:xfrm>
          <a:prstGeom prst="roundRect">
            <a:avLst>
              <a:gd name="adj" fmla="val 1561"/>
            </a:avLst>
          </a:prstGeom>
          <a:solidFill>
            <a:srgbClr val="C7DBDA"/>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Metals lose electrons. How many outer electrons does a Group 2 atom have?</a:t>
            </a:r>
            <a:endParaRPr lang="en-US" sz="1800" dirty="0"/>
          </a:p>
        </p:txBody>
      </p:sp>
      <p:sp>
        <p:nvSpPr>
          <p:cNvPr id="22" name="col-Stretch"/>
          <p:cNvSpPr/>
          <p:nvPr/>
        </p:nvSpPr>
        <p:spPr>
          <a:xfrm>
            <a:off x="8127797" y="2593848"/>
            <a:ext cx="3515258" cy="3550920"/>
          </a:xfrm>
          <a:prstGeom prst="roundRect">
            <a:avLst>
              <a:gd name="adj" fmla="val 1561"/>
            </a:avLst>
          </a:prstGeom>
          <a:solidFill>
            <a:srgbClr val="1F6F6A"/>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calcium does not simply gain six electrons to fill its outer shell, and why its ion has the same electron arrangement as an argon atom.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is an 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An atom that has lost or gained protons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group of atoms with no charge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An atom with a full outer shell and no charge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An atom that has lost or gained electrons, so it has a charge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F1F0"/>
          </a:solidFill>
          <a:ln w="12700">
            <a:solidFill>
              <a:srgbClr val="88B3B0"/>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Count the electrons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chlorine atom has 17 electrons. It gains 1 electron to form a chloride ion. How many electrons does the chloride ion have?</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18 electrons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Chlorine gains one electron: 17 + 1 = 18. With 17 protons and 18 electrons the ion's charge is 1−.</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Which ion?</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Calcium is in Group 2 of the periodic table. Which ion does a calcium atom form?</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Ca²⁺, by losing 2 electrons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Group 2 means two outer electrons; a metal loses them, giving Ca²⁺.</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is an ion?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An atom that has lost or gained electrons, so it has a charge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Ions form when atoms lose or gain electrons. The protons stay the same, so the charges no longer cancel.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E2ECEC"/>
      </a:lt2>
      <a:accent1>
        <a:srgbClr val="1F6F6A"/>
      </a:accent1>
      <a:accent2>
        <a:srgbClr val="B8862B"/>
      </a:accent2>
      <a:accent3>
        <a:srgbClr val="79A9A6"/>
      </a:accent3>
      <a:accent4>
        <a:srgbClr val="815E1E"/>
      </a:accent4>
      <a:accent5>
        <a:srgbClr val="4A505C"/>
      </a:accent5>
      <a:accent6>
        <a:srgbClr val="D9BF8F"/>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 and Bonding · Chapter 2: Atoms into ions</dc:title>
  <dc:subject>Chemistry (Combined Science) · Year 10</dc:subject>
  <dc:creator>Dr Vitor Merissi de Carvalho</dc:creator>
  <cp:lastModifiedBy>Dr Vitor Merissi de Carvalho</cp:lastModifiedBy>
  <cp:revision>1</cp:revision>
  <dcterms:created xsi:type="dcterms:W3CDTF">2026-10-18T17:47:15Z</dcterms:created>
  <dcterms:modified xsi:type="dcterms:W3CDTF">2026-10-18T17:47:15Z</dcterms:modified>
</cp:coreProperties>
</file>