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c8d9b40-f104-9efb-81a9-0fd1cbc8a984}">
          <p14:sldIdLst>
            <p14:sldId id="256"/>
          </p14:sldIdLst>
        </p14:section>
        <p14:section name="Gate" id="{f0627856-c3dc-c23b-26b3-ea7f6d8067be}">
          <p14:sldIdLst>
            <p14:sldId id="257"/>
            <p14:sldId id="258"/>
          </p14:sldIdLst>
        </p14:section>
        <p14:section name="Pre-teach" id="{abff4a4c-2bbf-0b7a-2d7e-f25be5622750}">
          <p14:sldIdLst>
            <p14:sldId id="259"/>
            <p14:sldId id="260"/>
          </p14:sldIdLst>
        </p14:section>
        <p14:section name="Read-along" id="{1a3e6caf-cd82-0ef8-d172-f4a68981d4fb}">
          <p14:sldIdLst>
            <p14:sldId id="261"/>
            <p14:sldId id="262"/>
          </p14:sldIdLst>
        </p14:section>
        <p14:section name="Teach" id="{3b8b53e4-fe3f-20f5-b031-e6d1913485a3}">
          <p14:sldIdLst>
            <p14:sldId id="263"/>
            <p14:sldId id="264"/>
            <p14:sldId id="265"/>
            <p14:sldId id="266"/>
            <p14:sldId id="267"/>
            <p14:sldId id="268"/>
          </p14:sldIdLst>
        </p14:section>
        <p14:section name="Routes" id="{cdc0a913-a8fa-3f07-1093-976037f31bda}">
          <p14:sldIdLst>
            <p14:sldId id="269"/>
            <p14:sldId id="270"/>
            <p14:sldId id="271"/>
          </p14:sldIdLst>
        </p14:section>
        <p14:section name="Close" id="{91f6c7df-913e-0bf7-4f6f-7942f6e7e2e4}">
          <p14:sldIdLst>
            <p14:sldId id="272"/>
          </p14:sldIdLst>
        </p14:section>
        <p14:section name="Answers" id="{5ccdf930-e915-8cd8-aa48-bd1084e53232}">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Covalent bonding and simple molecules. This chapter shows how non-metal atoms bond by sharing electrons, how to draw the molecules they make, and why small molecules have low melting and boiling points while polymers do not.
This deck covers the department's lessons: 5 (3.5 Covalent bonding: How do non-metal atoms bond by sharing electrons, and how do you draw the bonds in a molecule?); 6 (3.6 Simple covalent structures and polymers: Why do small molecules have low melting and boiling points, and why are polymers different?).
Read the big question aloud: "Why does table salt melt at 801 °C while the water you dissolve it in boils at 100 °C?"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is a covalent bond?  →  A   A shared pair of electrons between two atoms
2. An oxygen molecule, O₂, has a double bond: 2 shared pairs of electrons. How many electrons are shared between the two atoms in total?  →  4 electrons
3. Simple molecules have low boiling points because the ___ forces between the molecules are weak.  →  intermolecular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 shared pair of electrons between two atoms. A covalent bond is a shared pair of electrons, formed between non-metal atoms.
2. 4 electrons. Each shared pair is 2 electrons, so 2 pairs are 2 × 2 = 4 electrons. Whole-number counts, so the answer is exact.
3. intermolecular. The weak forces between molecules are intermolecular forces. The covalent bonds inside the molecules are strong and are not broken when the substance boils.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share: to use together. Example: "Two hydrogen atoms share a pair of electrons."
• covalent bond: a pair of electrons shared between two atoms. Example: "A covalent bond holds the two hydrogen atoms together."
• molecule: a small group of atoms joined by covalent bonds. Example: "A water molecule has one oxygen atom and two hydrogen atoms."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intermolecular forces: the weak forces between one molecule and the next. Example: "Intermolecular forces are easy to overcome, so water boils at a low temperature."
• polymer: a very long molecule made of many small molecules joined together. Example: "A plastic bag is made of a polymer."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Non-metal atoms do not give electrons away.
2. Instead, two non-metal atoms share a pair of electrons.
3. A shared pair of electrons is a covalent bond.
4. Each atom counts the shared pair as its own, so both get a full outer shell.
5. A small group of atoms joined by covalent bonds is a molecule.
6. Water, H₂O, is a molecule: one oxygen atom shares with two hydrogen atoms.
7. Covalent bonds are strong.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But the forces between one molecule and the next are weak.
9. These weak forces are called intermolecular forces.
10. Only a little energy is needed to pull molecules apart.
11. So small molecules have low melting and boiling points.
12. Many are gases at room temperature.
13. Molecules have no charge, so they do not conduct electricity.
14. A polymer is a very long molecule made from thousands of small molecules joined together.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Sharing electrons. Say it in your own words, then check understanding with a quick question: ask a pupil from the pre-teach group first, since they met these words and ideas before the lesson. Pupils try to recall before you re-explain.
Two non-metal atoms both need electrons to fill their outer shells, and neither will give any away. Instead they share. A covalent bond is a shared pair of electrons between two atoms. Each atom counts the shared pair as part of its own outer shell, so both end up full. The atoms are held together because both nuclei attract the shared electrons.
Hydrogen has one electron and needs two for a full first shell. Two hydrogen atoms share one pair, making a hydrogen molecule, H₂, with a single covalent bond, drawn H–H. Chlorine has seven outer electrons and needs eight: two chlorine atoms share one pair to make Cl₂. In hydrogen chloride, HCl, one hydrogen shares with one chlorine.
The number of bonds an atom forms is the number of electrons it needs. Group 7 atoms need one, so they form one bond. Group 6 atoms (oxygen) need two: in water, H₂O, oxygen forms one bond to each of two hydrogen atoms. Group 5 atoms (nitrogen) need three: ammonia is NH₃. Group 4 atoms (carbon) need four: methane is CH₄. In a dot and cross diagram you draw only the outer shells, with the shared electrons in the overlap.
Worked example — model it step by step, thinking aloud: Oxygen is in Group 6. How many covalent bonds does an oxygen atom form in a water molecule, and why? (1) Group 6 means 6 outer electrons. (2) A full outer shell has 8, so oxygen needs 8 − 6 = 2 more electrons. (3) Each covalent bond gives oxygen one shared electron it can count as its own, so it forms 2 bonds. (4) In water each bond is to a hydrogen atom: H–O–H. Answer: Two bonds, one to each hydrogen atom, because oxygen needs two more electrons for a full outer shell..
Tip: Bonds needed = 8 − group number (for hydrogen, 1). Carbon 4, nitrogen 3, oxygen 2, chlorine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Sharing electrons. Say it in your own words, then check understanding with a quick question: ask a pupil from the pre-teach group first, since they met these words and ideas before the lesson. Pupils try to recall before you re-explain.
Two non-metal atoms both need electrons to fill their outer shells, and neither will give any away. Instead they share. A covalent bond is a shared pair of electrons between two atoms. Each atom counts the shared pair as part of its own outer shell, so both end up full. The atoms are held together because both nuclei attract the shared electrons.
Hydrogen has one electron and needs two for a full first shell. Two hydrogen atoms share one pair, making a hydrogen molecule, H₂, with a single covalent bond, drawn H–H. Chlorine has seven outer electrons and needs eight: two chlorine atoms share one pair to make Cl₂. In hydrogen chloride, HCl, one hydrogen shares with one chlorine.
The number of bonds an atom forms is the number of electrons it needs. Group 7 atoms need one, so they form one bond. Group 6 atoms (oxygen) need two: in water, H₂O, oxygen forms one bond to each of two hydrogen atoms. Group 5 atoms (nitrogen) need three: ammonia is NH₃. Group 4 atoms (carbon) need four: methane is CH₄. In a dot and cross diagram you draw only the outer shells, with the shared electrons in the overlap.
Worked example — model it step by step, thinking aloud: Oxygen is in Group 6. How many covalent bonds does an oxygen atom form in a water molecule, and why? (1) Group 6 means 6 outer electrons. (2) A full outer shell has 8, so oxygen needs 8 − 6 = 2 more electrons. (3) Each covalent bond gives oxygen one shared electron it can count as its own, so it forms 2 bonds. (4) In water each bond is to a hydrogen atom: H–O–H. Answer: Two bonds, one to each hydrogen atom, because oxygen needs two more electrons for a full outer shell..
Tip: Bonds needed = 8 − group number (for hydrogen, 1). Carbon 4, nitrogen 3, oxygen 2, chlorine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Double and triple bonds. Say it in your own words, then check understanding with a quick question: ask a pupil from the pre-teach group first, since they met these words and ideas before the lesson. Pupils try to recall before you re-explain.
Sometimes two atoms share more than one pair of electrons. In an oxygen molecule, O₂, each oxygen atom needs two electrons, so the two atoms share two pairs: a double bond, drawn O=O, with four electrons in the overlap. In a nitrogen molecule, N₂, each atom needs three electrons, so they share three pairs: a triple bond, N≡N, with six shared electrons.
Carbon dioxide, CO₂, has a carbon atom in the middle with a double bond to each oxygen atom: O=C=O. Carbon shares two pairs with each oxygen, four pairs in all, which gives carbon its full shell of eight.
A single line in a displayed formula always means one shared pair, two electrons. Count the lines to count the shared pairs; double the lines to count the shared electrons.
Worked example — model it step by step, thinking aloud: Nitrogen is in Group 5. Explain why a nitrogen molecule, N₂, has a triple bond, and say how many electrons are shared. (1) Group 5 means 5 outer electrons; a full shell has 8, so each atom needs 8 − 5 = 3 more. (2) The only other atom available is the second nitrogen, so each atom shares 3 of its electrons with the other. (3) Three shared pairs is a triple bond. (4) Shared electrons: 2 × 3 = 6. Answer: Each nitrogen atom needs three more electrons, so the two atoms share three pairs (a triple bond): 6 electrons in all..
Tip: Single bond: 2 electrons. Double: 4. Triple: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Double and triple bonds. Say it in your own words, then check understanding with a quick question: ask a pupil from the pre-teach group first, since they met these words and ideas before the lesson. Pupils try to recall before you re-explain.
Sometimes two atoms share more than one pair of electrons. In an oxygen molecule, O₂, each oxygen atom needs two electrons, so the two atoms share two pairs: a double bond, drawn O=O, with four electrons in the overlap. In a nitrogen molecule, N₂, each atom needs three electrons, so they share three pairs: a triple bond, N≡N, with six shared electrons.
Carbon dioxide, CO₂, has a carbon atom in the middle with a double bond to each oxygen atom: O=C=O. Carbon shares two pairs with each oxygen, four pairs in all, which gives carbon its full shell of eight.
A single line in a displayed formula always means one shared pair, two electrons. Count the lines to count the shared pairs; double the lines to count the shared electrons.
Worked example — model it step by step, thinking aloud: Nitrogen is in Group 5. Explain why a nitrogen molecule, N₂, has a triple bond, and say how many electrons are shared. (1) Group 5 means 5 outer electrons; a full shell has 8, so each atom needs 8 − 5 = 3 more. (2) The only other atom available is the second nitrogen, so each atom shares 3 of its electrons with the other. (3) Three shared pairs is a triple bond. (4) Shared electrons: 2 × 3 = 6. Answer: Each nitrogen atom needs three more electrons, so the two atoms share three pairs (a triple bond): 6 electrons in all..
Tip: Single bond: 2 electrons. Double: 4. Triple: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small molecules have low melting and boiling points. Say it in your own words, then check understanding with a quick question: ask a pupil from the pre-teach group first, since they met these words and ideas before the lesson. Pupils try to recall before you re-explain.
Substances made of small molecules, such as water, oxygen, methane and carbon dioxide, have low melting and boiling points. Many are gases at room temperature and most of the rest are liquids. The reason is not that the covalent bonds are weak. They are strong. The reason is what happens between the molecules.
Between one molecule and the next there are only weak intermolecular forces. When a molecular substance melts or boils, it is these weak forces that are overcome, so only a little energy is needed. The molecules separate from each other, but each molecule stays whole: the covalent bonds inside it are not broken. Steam is still made of H₂O molecules.
Intermolecular forces get stronger as molecules get bigger, so larger molecules have higher melting and boiling points. Molecules have no overall charge, and there are no free electrons or ions, so substances made of simple molecules do not conduct electricity, whether solid, liquid or dissolved.
Tip: Melting a molecular substance overcomes intermolecular forces. It does not break covalent bonds. Examiners look for this distinction.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Polymers, and the limits of our models. Say it in your own words, then check understanding with a quick question: ask a pupil from the pre-teach group first, since they met these words and ideas before the lesson. Pupils try to recall before you re-explain.
A polymer is a very long molecule made by joining thousands of small molecules, called monomers, into a chain. Poly(ethene), used for plastic bags, is made from ethene monomers. Within the chain, the atoms are joined by strong covalent bonds. Because the molecules are so long, the intermolecular forces between the chains add up and are relatively strong, so polymers are solids at room temperature with higher melting points than small molecules. A repeating unit shows the part of the chain that repeats over and over.
Chemists use several models for molecules, and each leaves something out. A dot and cross diagram shows which electrons are shared but not the shape of the molecule. A two-dimensional ball and stick model shows which atoms are bonded but not the true shape or the angles between the bonds. A three-dimensional model shows the shape better, but the sticks exaggerate the gaps between atoms and no model shows the electrons as they really are. Choose the model that shows what the question is asking about.
Tip: Monomer: one small molecule. Polymer: many monomers joined in a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How many bonds?.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nitrogen atom has 5 electrons in its outer shell. How many covalent bonds does it form to reach a full outer shell of 8?
Support — work through the steps with the group: (1) Write down the number of outer-shell electrons. (2) A full outer shell is 8. Subtract to find how many more electrons are needed. (3) Each bond supplies one, so bonds needed = electrons needed.
Parallel worked example for Support (model it, do not give the task answer): An oxygen atom has 6 outer-shell electrons. How many covalent bonds does it form? Needs 8 − 6 = 2 more electrons.; So it forms 2 bonds, as in water.. Answer: 2 bonds.
Core — reveal the hint only on request: How many more electrons does nitrogen need to make 8?
Stretch — no help; when finished: Nitrogen forms three single bonds in ammonia but one triple bond in N₂. Explain how both molecules give nitrogen a full outer 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is it a gas?.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Methane, CH₄, is a gas at room temperature. Which statement explains why its boiling point is so low?
Support — work through the steps with the group: (1) Ask what boiling does: it separates the molecules from each other. (2) What holds one molecule to the next? Weak intermolecular forces. (3) Weak forces need little energy to overcome, so the boiling point is low. The covalent bonds are not involved.
Parallel worked example for Support (model it, do not give the task answer): Why is chlorine, Cl₂, a gas at room temperature? Chlorine is made of small Cl₂ molecules.; Between the molecules there are only weak intermolecular forces.; Little energy is needed to overcome them, so the boiling point is low.. Answer: Weak intermolecular forces between the Cl₂ molecules are easily overcome..
Core — reveal the hint only on request: What is separated when a molecular substance boils: atoms, or molecules?
Stretch — no help; when finished: Water (H₂O) is a liquid at room temperature while methane (CH₄) is a gas, although the molecules are a similar size. Suggest what this tells you about the intermolecular forces in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is it a gas?.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Methane, CH₄, is a gas at room temperature. Which statement explains why its boiling point is so low?
Support — work through the steps with the group: (1) Ask what boiling does: it separates the molecules from each other. (2) What holds one molecule to the next? Weak intermolecular forces. (3) Weak forces need little energy to overcome, so the boiling point is low. The covalent bonds are not involved.
Parallel worked example for Support (model it, do not give the task answer): Why is chlorine, Cl₂, a gas at room temperature? Chlorine is made of small Cl₂ molecules.; Between the molecules there are only weak intermolecular forces.; Little energy is needed to overcome them, so the boiling point is low.. Answer: Weak intermolecular forces between the Cl₂ molecules are easily overcome..
Core — reveal the hint only on request: What is separated when a molecular substance boils: atoms, or molecules?
Stretch — no help; when finished: Water (H₂O) is a liquid at room temperature while methane (CH₄) is a gas, although the molecules are a similar size. Suggest what this tells you about the intermolecular forces in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is a covalent bond?
Answer: D   A shared pair of electrons between two atoms. A covalent bond is a shared pair of electrons, formed between non-metal atoms.
Source of this question: gate item 1 re-asked (options rotated) — this chapter has no third quick-check module.
The ebook also holds task 3, "Inside the molecule",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How many bonds?. Reveal the answer; pupils mark their own work in a different colour, then read the "why" together. Same destination for every lane, so one answer serves the whole class.
Answer: 3 bonds
Why: 8 − 5 = 3 electrons needed, so 3 covalent bonds.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is it a gas?. Reveal the answer; pupils mark their own work in a different colour, then read the "why" together. Same destination for every lane, so one answer serves the whole class.
Answer: A   Only weak intermolecular forces between the molecules have to be overcome
Why: Only the weak intermolecular forces between methane molecules are overcome when it boils, so little energy is needed and the boiling point is low.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A shared pair of electrons between two atoms
Why: A covalent bond is a shared pair of electrons, formed between non-metal atoms.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Chemistry (Combined Science) · Year 10 · Structure and Bonding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7DBDA"/>
          </a:solidFill>
          <a:ln w="12700">
            <a:solidFill>
              <a:srgbClr val="C7DBDA"/>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Chemistry (Combined Science) · Year 10 · Structure and Bonding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BDEDD"/>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Chemistry (Combined Science)</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10 · 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Structure and Bonding · AQA 8464</a:t>
            </a:r>
            <a:endParaRPr lang="en-US" sz="1800" dirty="0"/>
          </a:p>
        </p:txBody>
      </p:sp>
      <p:sp>
        <p:nvSpPr>
          <p:cNvPr id="10" name="deck-title"/>
          <p:cNvSpPr txBox="1"/>
          <p:nvPr/>
        </p:nvSpPr>
        <p:spPr>
          <a:xfrm>
            <a:off x="548640" y="206425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Covalent bonding and simple molecules</a:t>
            </a:r>
            <a:endParaRPr lang="en-US" sz="4000" dirty="0"/>
          </a:p>
        </p:txBody>
      </p:sp>
      <p:sp>
        <p:nvSpPr>
          <p:cNvPr id="11" name="lessons-card"/>
          <p:cNvSpPr/>
          <p:nvPr/>
        </p:nvSpPr>
        <p:spPr>
          <a:xfrm>
            <a:off x="548640" y="3740658"/>
            <a:ext cx="5287975" cy="1638300"/>
          </a:xfrm>
          <a:prstGeom prst="roundRect">
            <a:avLst>
              <a:gd name="adj" fmla="val 4465"/>
            </a:avLst>
          </a:prstGeom>
          <a:solidFill>
            <a:srgbClr val="E2ECEC"/>
          </a:solidFill>
          <a:ln/>
        </p:spPr>
      </p:sp>
      <p:sp>
        <p:nvSpPr>
          <p:cNvPr id="12" name="lessons"/>
          <p:cNvSpPr txBox="1"/>
          <p:nvPr/>
        </p:nvSpPr>
        <p:spPr>
          <a:xfrm>
            <a:off x="685800" y="383209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3.5 Covalent bonding</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3.6 Simple covalent structures and polymers</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Chemistry (Combined Science),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CEC"/>
          </a:solidFill>
          <a:ln w="12700">
            <a:solidFill>
              <a:srgbClr val="9FC1BF"/>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Why does table salt melt at 801 °C while the water you dissolve it in boils at 100 °C?</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is a covalent bond?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shared pair of electrons between two atoms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attraction between oppositely charged ions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weak force between two molecules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transfer of an electron from one atom to another</a:t>
            </a:r>
            <a:endParaRPr lang="en-US" sz="1800" dirty="0"/>
          </a:p>
        </p:txBody>
      </p:sp>
      <p:sp>
        <p:nvSpPr>
          <p:cNvPr id="12"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3" name="card-hex"/>
          <p:cNvSpPr/>
          <p:nvPr/>
        </p:nvSpPr>
        <p:spPr>
          <a:xfrm>
            <a:off x="4521098" y="1572768"/>
            <a:ext cx="640080" cy="554309"/>
          </a:xfrm>
          <a:prstGeom prst="hexagon">
            <a:avLst/>
          </a:prstGeom>
          <a:solidFill>
            <a:srgbClr val="1F6F6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An oxygen molecule, O₂, has a double bond: 2 shared pairs of electrons. How many electrons are shared between the two atoms in total?</a:t>
            </a:r>
            <a:endParaRPr lang="en-US" sz="2200" dirty="0"/>
          </a:p>
          <a:p>
            <a:pPr algn="l" indent="0" marL="0">
              <a:buNone/>
            </a:pPr>
            <a:r>
              <a:rPr lang="en-US" sz="2200" b="1" dirty="0">
                <a:solidFill>
                  <a:srgbClr val="1F6F6A"/>
                </a:solidFill>
                <a:latin typeface="Calibri" pitchFamily="34" charset="0"/>
                <a:ea typeface="Calibri" pitchFamily="34" charset="-122"/>
                <a:cs typeface="Calibri" pitchFamily="34" charset="-120"/>
              </a:rPr>
              <a:t>Answer:  </a:t>
            </a:r>
            <a:pPr algn="l" indent="0" marL="0">
              <a:buNone/>
            </a:pPr>
            <a:r>
              <a:rPr lang="en-US" sz="2200" dirty="0">
                <a:solidFill>
                  <a:srgbClr val="1E2229"/>
                </a:solidFill>
                <a:latin typeface="Calibri" pitchFamily="34" charset="0"/>
                <a:ea typeface="Calibri" pitchFamily="34" charset="-122"/>
                <a:cs typeface="Calibri" pitchFamily="34" charset="-120"/>
              </a:rPr>
              <a:t>________ electrons</a:t>
            </a:r>
            <a:endParaRPr lang="en-US" sz="2200" dirty="0"/>
          </a:p>
        </p:txBody>
      </p:sp>
      <p:sp>
        <p:nvSpPr>
          <p:cNvPr id="17"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18" name="card-hex"/>
          <p:cNvSpPr/>
          <p:nvPr/>
        </p:nvSpPr>
        <p:spPr>
          <a:xfrm>
            <a:off x="8310677" y="1572768"/>
            <a:ext cx="640080" cy="554309"/>
          </a:xfrm>
          <a:prstGeom prst="hexagon">
            <a:avLst/>
          </a:prstGeom>
          <a:solidFill>
            <a:srgbClr val="1F6F6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Simple molecules have low boiling points because the ___ forces between the molecules are weak.</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intermolecular  ·  covalent  ·  ionic</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9F1F0"/>
          </a:solidFill>
          <a:ln w="12700">
            <a:solidFill>
              <a:srgbClr val="AAC8C6"/>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BDDC4"/>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 shared pair of electrons between two atoms</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is a covalent bond?</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covalent bond is a shared pair of electrons, formed between non-metal atoms.</a:t>
            </a:r>
            <a:endParaRPr lang="en-US" sz="2200" dirty="0"/>
          </a:p>
        </p:txBody>
      </p:sp>
      <p:sp>
        <p:nvSpPr>
          <p:cNvPr id="14" name="card"/>
          <p:cNvSpPr/>
          <p:nvPr/>
        </p:nvSpPr>
        <p:spPr>
          <a:xfrm>
            <a:off x="4338218" y="1389888"/>
            <a:ext cx="3515258" cy="4754880"/>
          </a:xfrm>
          <a:prstGeom prst="roundRect">
            <a:avLst>
              <a:gd name="adj" fmla="val 1561"/>
            </a:avLst>
          </a:prstGeom>
          <a:solidFill>
            <a:srgbClr val="E9F1F0"/>
          </a:solidFill>
          <a:ln w="12700">
            <a:solidFill>
              <a:srgbClr val="AAC8C6"/>
            </a:solidFill>
            <a:prstDash val="solid"/>
          </a:ln>
        </p:spPr>
      </p:sp>
      <p:sp>
        <p:nvSpPr>
          <p:cNvPr id="15" name="card-hex"/>
          <p:cNvSpPr/>
          <p:nvPr/>
        </p:nvSpPr>
        <p:spPr>
          <a:xfrm>
            <a:off x="4521098" y="1572768"/>
            <a:ext cx="640080" cy="554309"/>
          </a:xfrm>
          <a:prstGeom prst="hexagon">
            <a:avLst/>
          </a:prstGeom>
          <a:solidFill>
            <a:srgbClr val="1F6F6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4 electrons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An oxygen molecule, O₂, has a double bond: 2 shared pairs of electrons. How many electrons are shared between the two atoms in total?</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Each shared pair is 2 electrons, so 2 pairs are 2 × 2 = 4 electrons. Whole-number counts, so the answer is exact.</a:t>
            </a:r>
            <a:endParaRPr lang="en-US" sz="1800" dirty="0"/>
          </a:p>
        </p:txBody>
      </p:sp>
      <p:sp>
        <p:nvSpPr>
          <p:cNvPr id="21" name="card"/>
          <p:cNvSpPr/>
          <p:nvPr/>
        </p:nvSpPr>
        <p:spPr>
          <a:xfrm>
            <a:off x="8127797" y="1389888"/>
            <a:ext cx="3515258" cy="4754880"/>
          </a:xfrm>
          <a:prstGeom prst="roundRect">
            <a:avLst>
              <a:gd name="adj" fmla="val 1561"/>
            </a:avLst>
          </a:prstGeom>
          <a:solidFill>
            <a:srgbClr val="E9F1F0"/>
          </a:solidFill>
          <a:ln w="12700">
            <a:solidFill>
              <a:srgbClr val="AAC8C6"/>
            </a:solidFill>
            <a:prstDash val="solid"/>
          </a:ln>
        </p:spPr>
      </p:sp>
      <p:sp>
        <p:nvSpPr>
          <p:cNvPr id="22" name="card-hex"/>
          <p:cNvSpPr/>
          <p:nvPr/>
        </p:nvSpPr>
        <p:spPr>
          <a:xfrm>
            <a:off x="8310677" y="1572768"/>
            <a:ext cx="640080" cy="554309"/>
          </a:xfrm>
          <a:prstGeom prst="hexagon">
            <a:avLst/>
          </a:prstGeom>
          <a:solidFill>
            <a:srgbClr val="1F6F6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intermolecular</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weak forces between molecules are intermolecular forces. The covalent bonds inside the molecules are strong and are not broken when the substance boils.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FEF"/>
          </a:solidFill>
          <a:ln w="12700">
            <a:solidFill>
              <a:srgbClr val="9FC1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share</a:t>
            </a:r>
            <a:endParaRPr lang="en-US" sz="2600" dirty="0"/>
          </a:p>
        </p:txBody>
      </p:sp>
      <p:sp>
        <p:nvSpPr>
          <p:cNvPr id="11" name="word-rule"/>
          <p:cNvSpPr/>
          <p:nvPr/>
        </p:nvSpPr>
        <p:spPr>
          <a:xfrm>
            <a:off x="731520" y="2129028"/>
            <a:ext cx="3149498" cy="0"/>
          </a:xfrm>
          <a:prstGeom prst="line">
            <a:avLst/>
          </a:prstGeom>
          <a:ln w="12700">
            <a:solidFill>
              <a:srgbClr val="9FC1BF"/>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use together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Two hydrogen atoms share a pair of electrons.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FEF"/>
          </a:solidFill>
          <a:ln w="12700">
            <a:solidFill>
              <a:srgbClr val="9FC1BF"/>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covalent bond</a:t>
            </a:r>
            <a:endParaRPr lang="en-US" sz="2600" dirty="0"/>
          </a:p>
        </p:txBody>
      </p:sp>
      <p:sp>
        <p:nvSpPr>
          <p:cNvPr id="17" name="word-rule"/>
          <p:cNvSpPr/>
          <p:nvPr/>
        </p:nvSpPr>
        <p:spPr>
          <a:xfrm>
            <a:off x="4521098" y="2129028"/>
            <a:ext cx="3149498" cy="0"/>
          </a:xfrm>
          <a:prstGeom prst="line">
            <a:avLst/>
          </a:prstGeom>
          <a:ln w="12700">
            <a:solidFill>
              <a:srgbClr val="9FC1BF"/>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pair of electrons shared between two atoms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covalent bond holds the two hydrogen atoms together.</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FEF"/>
          </a:solidFill>
          <a:ln w="12700">
            <a:solidFill>
              <a:srgbClr val="9FC1BF"/>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molecule</a:t>
            </a:r>
            <a:endParaRPr lang="en-US" sz="2600" dirty="0"/>
          </a:p>
        </p:txBody>
      </p:sp>
      <p:sp>
        <p:nvSpPr>
          <p:cNvPr id="23" name="word-rule"/>
          <p:cNvSpPr/>
          <p:nvPr/>
        </p:nvSpPr>
        <p:spPr>
          <a:xfrm>
            <a:off x="8310677" y="2129028"/>
            <a:ext cx="3149498" cy="0"/>
          </a:xfrm>
          <a:prstGeom prst="line">
            <a:avLst/>
          </a:prstGeom>
          <a:ln w="12700">
            <a:solidFill>
              <a:srgbClr val="9FC1BF"/>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small group of atoms joined by covalent bonds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water molecule has one oxygen atom and two hydrogen atoms.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E6EFEF"/>
          </a:solidFill>
          <a:ln w="12700">
            <a:solidFill>
              <a:srgbClr val="9FC1BF"/>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intermolecular forces</a:t>
            </a:r>
            <a:endParaRPr lang="en-US" sz="2600" dirty="0"/>
          </a:p>
        </p:txBody>
      </p:sp>
      <p:sp>
        <p:nvSpPr>
          <p:cNvPr id="11" name="word-rule"/>
          <p:cNvSpPr/>
          <p:nvPr/>
        </p:nvSpPr>
        <p:spPr>
          <a:xfrm>
            <a:off x="731520" y="2129028"/>
            <a:ext cx="5044288" cy="0"/>
          </a:xfrm>
          <a:prstGeom prst="line">
            <a:avLst/>
          </a:prstGeom>
          <a:ln w="12700">
            <a:solidFill>
              <a:srgbClr val="9FC1BF"/>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weak forces between one molecule and the next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Intermolecular forces are easy to overcome, so water boils at a low temperature.</a:t>
            </a:r>
            <a:endParaRPr lang="en-US" sz="2200" dirty="0"/>
          </a:p>
        </p:txBody>
      </p:sp>
      <p:sp>
        <p:nvSpPr>
          <p:cNvPr id="13" name="word-card"/>
          <p:cNvSpPr/>
          <p:nvPr/>
        </p:nvSpPr>
        <p:spPr>
          <a:xfrm>
            <a:off x="6233008" y="1389888"/>
            <a:ext cx="5410048" cy="4754880"/>
          </a:xfrm>
          <a:prstGeom prst="roundRect">
            <a:avLst>
              <a:gd name="adj" fmla="val 1154"/>
            </a:avLst>
          </a:prstGeom>
          <a:solidFill>
            <a:srgbClr val="E6EFEF"/>
          </a:solidFill>
          <a:ln w="12700">
            <a:solidFill>
              <a:srgbClr val="9FC1BF"/>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polymer</a:t>
            </a:r>
            <a:endParaRPr lang="en-US" sz="2600" dirty="0"/>
          </a:p>
        </p:txBody>
      </p:sp>
      <p:sp>
        <p:nvSpPr>
          <p:cNvPr id="17" name="word-rule"/>
          <p:cNvSpPr/>
          <p:nvPr/>
        </p:nvSpPr>
        <p:spPr>
          <a:xfrm>
            <a:off x="6415888" y="2129028"/>
            <a:ext cx="5044288" cy="0"/>
          </a:xfrm>
          <a:prstGeom prst="line">
            <a:avLst/>
          </a:prstGeom>
          <a:ln w="12700">
            <a:solidFill>
              <a:srgbClr val="9FC1BF"/>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very long molecule made of many small molecules joined together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plastic bag is made of a polymer.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Non-metal atoms do not give electrons away.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Instead, two non-metal atoms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share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 pair of electrons.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shared pair of electrons is a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covalent bond</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Each atom counts the shared pair as its own, so both get a full outer shell.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small group of atoms joined by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covalent bonds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molecule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Water, H₂O, is a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molecule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one oxygen atom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shares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with two hydrogen atoms.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Covalent bonds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are strong.</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9F1F0"/>
          </a:solidFill>
          <a:ln w="12700">
            <a:solidFill>
              <a:srgbClr val="B5CFCE"/>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But the forces between one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molecule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the next are weak.</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These weak forces are called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intermolecular forces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Only a little energy is needed to pull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molecules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apart.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 small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molecules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have low melting and boiling points.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are gases at room temperature.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Molecules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have no charge, so they do not conduct electricity.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polymer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very long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molecule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made from thousands of small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molecules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joined together.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Sharing electrons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Bonds needed = 8 − group number (for hydrogen, 1). Carbon 4, nitrogen 3, oxygen 2, chlorine 1.</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Two non-metal atoms both need electrons to fill their outer shells, and neither will give any away.</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Hydrogen has one electron and needs two for a full first shell.</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number of bonds an atom forms is the number of electrons it needs.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Worked example: Sharing electrons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2ECEC"/>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Oxygen is in Group 6. How many covalent bonds does an oxygen atom form in a water molecule, and why?</a:t>
            </a:r>
            <a:endParaRPr lang="en-US" sz="2200" dirty="0"/>
          </a:p>
        </p:txBody>
      </p:sp>
      <p:sp>
        <p:nvSpPr>
          <p:cNvPr id="9" name="step-box"/>
          <p:cNvSpPr/>
          <p:nvPr/>
        </p:nvSpPr>
        <p:spPr>
          <a:xfrm>
            <a:off x="548640" y="2655824"/>
            <a:ext cx="2464994" cy="2252980"/>
          </a:xfrm>
          <a:prstGeom prst="roundRect">
            <a:avLst>
              <a:gd name="adj" fmla="val 3247"/>
            </a:avLst>
          </a:prstGeom>
          <a:solidFill>
            <a:srgbClr val="FFFFFF"/>
          </a:solidFill>
          <a:ln w="15875">
            <a:solidFill>
              <a:srgbClr val="84B0AD"/>
            </a:solidFill>
            <a:prstDash val="solid"/>
          </a:ln>
        </p:spPr>
      </p:sp>
      <p:sp>
        <p:nvSpPr>
          <p:cNvPr id="10" name="step-hex"/>
          <p:cNvSpPr/>
          <p:nvPr/>
        </p:nvSpPr>
        <p:spPr>
          <a:xfrm>
            <a:off x="685800" y="2765552"/>
            <a:ext cx="530352" cy="459285"/>
          </a:xfrm>
          <a:prstGeom prst="hexagon">
            <a:avLst/>
          </a:prstGeom>
          <a:solidFill>
            <a:srgbClr val="1F6F6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Group 6 means 6 outer electrons.</a:t>
            </a:r>
            <a:endParaRPr lang="en-US" sz="1800" dirty="0"/>
          </a:p>
        </p:txBody>
      </p:sp>
      <p:sp>
        <p:nvSpPr>
          <p:cNvPr id="13" name="arrow"/>
          <p:cNvSpPr/>
          <p:nvPr/>
        </p:nvSpPr>
        <p:spPr>
          <a:xfrm>
            <a:off x="3086786" y="3645154"/>
            <a:ext cx="274320" cy="274320"/>
          </a:xfrm>
          <a:prstGeom prst="rightArrow">
            <a:avLst/>
          </a:prstGeom>
          <a:solidFill>
            <a:srgbClr val="B8862B"/>
          </a:solidFill>
          <a:ln/>
        </p:spPr>
      </p:sp>
      <p:sp>
        <p:nvSpPr>
          <p:cNvPr id="14" name="step-box"/>
          <p:cNvSpPr/>
          <p:nvPr/>
        </p:nvSpPr>
        <p:spPr>
          <a:xfrm>
            <a:off x="3425114" y="2655824"/>
            <a:ext cx="2464994" cy="2252980"/>
          </a:xfrm>
          <a:prstGeom prst="roundRect">
            <a:avLst>
              <a:gd name="adj" fmla="val 3247"/>
            </a:avLst>
          </a:prstGeom>
          <a:solidFill>
            <a:srgbClr val="FFFFFF"/>
          </a:solidFill>
          <a:ln w="15875">
            <a:solidFill>
              <a:srgbClr val="84B0AD"/>
            </a:solidFill>
            <a:prstDash val="solid"/>
          </a:ln>
        </p:spPr>
      </p:sp>
      <p:sp>
        <p:nvSpPr>
          <p:cNvPr id="15" name="step-hex"/>
          <p:cNvSpPr/>
          <p:nvPr/>
        </p:nvSpPr>
        <p:spPr>
          <a:xfrm>
            <a:off x="3562274" y="2765552"/>
            <a:ext cx="530352" cy="459285"/>
          </a:xfrm>
          <a:prstGeom prst="hexagon">
            <a:avLst/>
          </a:prstGeom>
          <a:solidFill>
            <a:srgbClr val="1F6F6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full outer shell has 8, so oxygen needs 8 − 6 = 2 more electrons.</a:t>
            </a:r>
            <a:endParaRPr lang="en-US" sz="1800" dirty="0"/>
          </a:p>
        </p:txBody>
      </p:sp>
      <p:sp>
        <p:nvSpPr>
          <p:cNvPr id="18" name="arrow"/>
          <p:cNvSpPr/>
          <p:nvPr/>
        </p:nvSpPr>
        <p:spPr>
          <a:xfrm>
            <a:off x="5963260" y="3645154"/>
            <a:ext cx="274320" cy="274320"/>
          </a:xfrm>
          <a:prstGeom prst="rightArrow">
            <a:avLst/>
          </a:prstGeom>
          <a:solidFill>
            <a:srgbClr val="B8862B"/>
          </a:solidFill>
          <a:ln/>
        </p:spPr>
      </p:sp>
      <p:sp>
        <p:nvSpPr>
          <p:cNvPr id="19" name="step-box"/>
          <p:cNvSpPr/>
          <p:nvPr/>
        </p:nvSpPr>
        <p:spPr>
          <a:xfrm>
            <a:off x="6301588" y="2655824"/>
            <a:ext cx="2464994" cy="2252980"/>
          </a:xfrm>
          <a:prstGeom prst="roundRect">
            <a:avLst>
              <a:gd name="adj" fmla="val 3247"/>
            </a:avLst>
          </a:prstGeom>
          <a:solidFill>
            <a:srgbClr val="FFFFFF"/>
          </a:solidFill>
          <a:ln w="15875">
            <a:solidFill>
              <a:srgbClr val="84B0AD"/>
            </a:solidFill>
            <a:prstDash val="solid"/>
          </a:ln>
        </p:spPr>
      </p:sp>
      <p:sp>
        <p:nvSpPr>
          <p:cNvPr id="20" name="step-hex"/>
          <p:cNvSpPr/>
          <p:nvPr/>
        </p:nvSpPr>
        <p:spPr>
          <a:xfrm>
            <a:off x="6438748" y="2765552"/>
            <a:ext cx="530352" cy="459285"/>
          </a:xfrm>
          <a:prstGeom prst="hexagon">
            <a:avLst/>
          </a:prstGeom>
          <a:solidFill>
            <a:srgbClr val="1F6F6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Each covalent bond gives oxygen one shared electron it can count as its own, so it forms 2 bonds.</a:t>
            </a:r>
            <a:endParaRPr lang="en-US" sz="1800" dirty="0"/>
          </a:p>
        </p:txBody>
      </p:sp>
      <p:sp>
        <p:nvSpPr>
          <p:cNvPr id="23" name="arrow"/>
          <p:cNvSpPr/>
          <p:nvPr/>
        </p:nvSpPr>
        <p:spPr>
          <a:xfrm>
            <a:off x="8839733" y="3645154"/>
            <a:ext cx="274320" cy="274320"/>
          </a:xfrm>
          <a:prstGeom prst="rightArrow">
            <a:avLst/>
          </a:prstGeom>
          <a:solidFill>
            <a:srgbClr val="B8862B"/>
          </a:solidFill>
          <a:ln/>
        </p:spPr>
      </p:sp>
      <p:sp>
        <p:nvSpPr>
          <p:cNvPr id="24" name="step-box"/>
          <p:cNvSpPr/>
          <p:nvPr/>
        </p:nvSpPr>
        <p:spPr>
          <a:xfrm>
            <a:off x="9178061" y="2655824"/>
            <a:ext cx="2464994" cy="2252980"/>
          </a:xfrm>
          <a:prstGeom prst="roundRect">
            <a:avLst>
              <a:gd name="adj" fmla="val 3247"/>
            </a:avLst>
          </a:prstGeom>
          <a:solidFill>
            <a:srgbClr val="FFFFFF"/>
          </a:solidFill>
          <a:ln w="15875">
            <a:solidFill>
              <a:srgbClr val="84B0AD"/>
            </a:solidFill>
            <a:prstDash val="solid"/>
          </a:ln>
        </p:spPr>
      </p:sp>
      <p:sp>
        <p:nvSpPr>
          <p:cNvPr id="25" name="step-hex"/>
          <p:cNvSpPr/>
          <p:nvPr/>
        </p:nvSpPr>
        <p:spPr>
          <a:xfrm>
            <a:off x="9315221" y="2765552"/>
            <a:ext cx="530352" cy="459285"/>
          </a:xfrm>
          <a:prstGeom prst="hexagon">
            <a:avLst/>
          </a:prstGeom>
          <a:solidFill>
            <a:srgbClr val="1F6F6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water each bond is to a hydrogen atom: H–O–H.</a:t>
            </a:r>
            <a:endParaRPr lang="en-US" sz="1800" dirty="0"/>
          </a:p>
        </p:txBody>
      </p:sp>
      <p:sp>
        <p:nvSpPr>
          <p:cNvPr id="28" name="worked-answer"/>
          <p:cNvSpPr/>
          <p:nvPr/>
        </p:nvSpPr>
        <p:spPr>
          <a:xfrm>
            <a:off x="1463040" y="5313680"/>
            <a:ext cx="9265615" cy="831088"/>
          </a:xfrm>
          <a:prstGeom prst="roundRect">
            <a:avLst>
              <a:gd name="adj" fmla="val 22005"/>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Two bonds, one to each hydrogen atom, because oxygen needs two more electrons for a full outer shell.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Double and triple bonds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Single bond: 2 electrons. Double: 4. Triple: 6.</a:t>
            </a:r>
            <a:endParaRPr lang="en-US" sz="1800" dirty="0"/>
          </a:p>
        </p:txBody>
      </p:sp>
      <p:sp>
        <p:nvSpPr>
          <p:cNvPr id="11" name="point-card"/>
          <p:cNvSpPr/>
          <p:nvPr/>
        </p:nvSpPr>
        <p:spPr>
          <a:xfrm>
            <a:off x="548640" y="1389888"/>
            <a:ext cx="3515258" cy="3964940"/>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Sometimes two atoms share more than one pair of electrons.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Carbon dioxide, CO₂, has a carbon atom in the middle with a double bond to each oxygen atom: O=C=O.</a:t>
            </a:r>
            <a:endParaRPr lang="en-US" sz="2400" dirty="0"/>
          </a:p>
        </p:txBody>
      </p:sp>
      <p:sp>
        <p:nvSpPr>
          <p:cNvPr id="19" name="point-card"/>
          <p:cNvSpPr/>
          <p:nvPr/>
        </p:nvSpPr>
        <p:spPr>
          <a:xfrm>
            <a:off x="8127797" y="1389888"/>
            <a:ext cx="3515258" cy="3964940"/>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single line in a displayed formula always means one shared pair, two electrons.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Worked example: Double and triple bonds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2ECEC"/>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Nitrogen is in Group 5. Explain why a nitrogen molecule, N₂, has a triple bond, and say how many electrons are shared.</a:t>
            </a:r>
            <a:endParaRPr lang="en-US" sz="2000" dirty="0"/>
          </a:p>
        </p:txBody>
      </p:sp>
      <p:sp>
        <p:nvSpPr>
          <p:cNvPr id="9" name="step-box"/>
          <p:cNvSpPr/>
          <p:nvPr/>
        </p:nvSpPr>
        <p:spPr>
          <a:xfrm>
            <a:off x="548640" y="2502408"/>
            <a:ext cx="11094415" cy="513080"/>
          </a:xfrm>
          <a:prstGeom prst="roundRect">
            <a:avLst>
              <a:gd name="adj" fmla="val 14257"/>
            </a:avLst>
          </a:prstGeom>
          <a:solidFill>
            <a:srgbClr val="FFFFFF"/>
          </a:solidFill>
          <a:ln w="15875">
            <a:solidFill>
              <a:srgbClr val="84B0AD"/>
            </a:solidFill>
            <a:prstDash val="solid"/>
          </a:ln>
        </p:spPr>
      </p:sp>
      <p:sp>
        <p:nvSpPr>
          <p:cNvPr id="10" name="step-hex"/>
          <p:cNvSpPr/>
          <p:nvPr/>
        </p:nvSpPr>
        <p:spPr>
          <a:xfrm>
            <a:off x="685800" y="2560980"/>
            <a:ext cx="457200" cy="395935"/>
          </a:xfrm>
          <a:prstGeom prst="hexagon">
            <a:avLst/>
          </a:prstGeom>
          <a:solidFill>
            <a:srgbClr val="1F6F6A"/>
          </a:solidFill>
          <a:ln/>
        </p:spPr>
      </p:sp>
      <p:sp>
        <p:nvSpPr>
          <p:cNvPr id="11" name="step-hex-label"/>
          <p:cNvSpPr txBox="1"/>
          <p:nvPr/>
        </p:nvSpPr>
        <p:spPr>
          <a:xfrm>
            <a:off x="685800" y="25609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Group 5 means 5 outer electrons; a full shell has 8, so each atom needs 8 − 5 = 3 more.</a:t>
            </a:r>
            <a:endParaRPr lang="en-US" sz="1800" dirty="0"/>
          </a:p>
        </p:txBody>
      </p:sp>
      <p:sp>
        <p:nvSpPr>
          <p:cNvPr id="13" name="step-box"/>
          <p:cNvSpPr/>
          <p:nvPr/>
        </p:nvSpPr>
        <p:spPr>
          <a:xfrm>
            <a:off x="548640" y="3088640"/>
            <a:ext cx="11094415" cy="777240"/>
          </a:xfrm>
          <a:prstGeom prst="roundRect">
            <a:avLst>
              <a:gd name="adj" fmla="val 9412"/>
            </a:avLst>
          </a:prstGeom>
          <a:solidFill>
            <a:srgbClr val="FFFFFF"/>
          </a:solidFill>
          <a:ln w="15875">
            <a:solidFill>
              <a:srgbClr val="84B0AD"/>
            </a:solidFill>
            <a:prstDash val="solid"/>
          </a:ln>
        </p:spPr>
      </p:sp>
      <p:sp>
        <p:nvSpPr>
          <p:cNvPr id="14" name="step-hex"/>
          <p:cNvSpPr/>
          <p:nvPr/>
        </p:nvSpPr>
        <p:spPr>
          <a:xfrm>
            <a:off x="685800" y="3279292"/>
            <a:ext cx="457200" cy="395935"/>
          </a:xfrm>
          <a:prstGeom prst="hexagon">
            <a:avLst/>
          </a:prstGeom>
          <a:solidFill>
            <a:srgbClr val="1F6F6A"/>
          </a:solidFill>
          <a:ln/>
        </p:spPr>
      </p:sp>
      <p:sp>
        <p:nvSpPr>
          <p:cNvPr id="15" name="step-hex-label"/>
          <p:cNvSpPr txBox="1"/>
          <p:nvPr/>
        </p:nvSpPr>
        <p:spPr>
          <a:xfrm>
            <a:off x="685800" y="327929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88640"/>
            <a:ext cx="10180015" cy="77724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only other atom available is the second nitrogen, so each atom shares 3 of its electrons with the other.</a:t>
            </a:r>
            <a:endParaRPr lang="en-US" sz="1800" dirty="0"/>
          </a:p>
        </p:txBody>
      </p:sp>
      <p:sp>
        <p:nvSpPr>
          <p:cNvPr id="17" name="step-box"/>
          <p:cNvSpPr/>
          <p:nvPr/>
        </p:nvSpPr>
        <p:spPr>
          <a:xfrm>
            <a:off x="548640" y="3939032"/>
            <a:ext cx="11094415" cy="513080"/>
          </a:xfrm>
          <a:prstGeom prst="roundRect">
            <a:avLst>
              <a:gd name="adj" fmla="val 14257"/>
            </a:avLst>
          </a:prstGeom>
          <a:solidFill>
            <a:srgbClr val="FFFFFF"/>
          </a:solidFill>
          <a:ln w="15875">
            <a:solidFill>
              <a:srgbClr val="84B0AD"/>
            </a:solidFill>
            <a:prstDash val="solid"/>
          </a:ln>
        </p:spPr>
      </p:sp>
      <p:sp>
        <p:nvSpPr>
          <p:cNvPr id="18" name="step-hex"/>
          <p:cNvSpPr/>
          <p:nvPr/>
        </p:nvSpPr>
        <p:spPr>
          <a:xfrm>
            <a:off x="685800" y="3997604"/>
            <a:ext cx="457200" cy="395935"/>
          </a:xfrm>
          <a:prstGeom prst="hexagon">
            <a:avLst/>
          </a:prstGeom>
          <a:solidFill>
            <a:srgbClr val="1F6F6A"/>
          </a:solidFill>
          <a:ln/>
        </p:spPr>
      </p:sp>
      <p:sp>
        <p:nvSpPr>
          <p:cNvPr id="19" name="step-hex-label"/>
          <p:cNvSpPr txBox="1"/>
          <p:nvPr/>
        </p:nvSpPr>
        <p:spPr>
          <a:xfrm>
            <a:off x="685800" y="399760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939032"/>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Three shared pairs is a triple bond.</a:t>
            </a:r>
            <a:endParaRPr lang="en-US" sz="1800" dirty="0"/>
          </a:p>
        </p:txBody>
      </p:sp>
      <p:sp>
        <p:nvSpPr>
          <p:cNvPr id="21" name="step-box"/>
          <p:cNvSpPr/>
          <p:nvPr/>
        </p:nvSpPr>
        <p:spPr>
          <a:xfrm>
            <a:off x="548640" y="4525264"/>
            <a:ext cx="11094415" cy="513080"/>
          </a:xfrm>
          <a:prstGeom prst="roundRect">
            <a:avLst>
              <a:gd name="adj" fmla="val 14257"/>
            </a:avLst>
          </a:prstGeom>
          <a:solidFill>
            <a:srgbClr val="FFFFFF"/>
          </a:solidFill>
          <a:ln w="15875">
            <a:solidFill>
              <a:srgbClr val="84B0AD"/>
            </a:solidFill>
            <a:prstDash val="solid"/>
          </a:ln>
        </p:spPr>
      </p:sp>
      <p:sp>
        <p:nvSpPr>
          <p:cNvPr id="22" name="step-hex"/>
          <p:cNvSpPr/>
          <p:nvPr/>
        </p:nvSpPr>
        <p:spPr>
          <a:xfrm>
            <a:off x="685800" y="4583836"/>
            <a:ext cx="457200" cy="395935"/>
          </a:xfrm>
          <a:prstGeom prst="hexagon">
            <a:avLst/>
          </a:prstGeom>
          <a:solidFill>
            <a:srgbClr val="1F6F6A"/>
          </a:solidFill>
          <a:ln/>
        </p:spPr>
      </p:sp>
      <p:sp>
        <p:nvSpPr>
          <p:cNvPr id="23" name="step-hex-label"/>
          <p:cNvSpPr txBox="1"/>
          <p:nvPr/>
        </p:nvSpPr>
        <p:spPr>
          <a:xfrm>
            <a:off x="685800" y="458383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525264"/>
            <a:ext cx="10180015" cy="51308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Shared electrons: 2 × 3 = 6.</a:t>
            </a:r>
            <a:endParaRPr lang="en-US" sz="1800" dirty="0"/>
          </a:p>
        </p:txBody>
      </p:sp>
      <p:sp>
        <p:nvSpPr>
          <p:cNvPr id="25" name="worked-answer"/>
          <p:cNvSpPr/>
          <p:nvPr/>
        </p:nvSpPr>
        <p:spPr>
          <a:xfrm>
            <a:off x="548640" y="5221224"/>
            <a:ext cx="11094415" cy="831088"/>
          </a:xfrm>
          <a:prstGeom prst="roundRect">
            <a:avLst>
              <a:gd name="adj" fmla="val 16504"/>
            </a:avLst>
          </a:prstGeom>
          <a:solidFill>
            <a:srgbClr val="EBDDC4"/>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Each nitrogen atom needs three more electrons, so the two atoms share three pairs (a triple bond): 6 electrons in all.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Why small molecules have low melting and boiling points</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Melting a molecular substance overcomes intermolecular forces. It does not break covalent bonds. Examiners look for this distinction.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Substances made of small molecules, such as water, oxygen, methane and carbon dioxide, have low melting and boiling points.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Between one molecule and the next there are only weak intermolecular forces.</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2ECEC"/>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Intermolecular forces get stronger as molecules get bigger, so larger molecules have higher melting and boiling points.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Polymers, and the limits of our models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Monomer: one small molecule. Polymer: many monomers joined in a chain.</a:t>
            </a:r>
            <a:endParaRPr lang="en-US" sz="1800" dirty="0"/>
          </a:p>
        </p:txBody>
      </p:sp>
      <p:sp>
        <p:nvSpPr>
          <p:cNvPr id="11" name="point-card"/>
          <p:cNvSpPr/>
          <p:nvPr/>
        </p:nvSpPr>
        <p:spPr>
          <a:xfrm>
            <a:off x="548640" y="1389888"/>
            <a:ext cx="5410048" cy="3964940"/>
          </a:xfrm>
          <a:prstGeom prst="roundRect">
            <a:avLst>
              <a:gd name="adj" fmla="val 1384"/>
            </a:avLst>
          </a:prstGeom>
          <a:solidFill>
            <a:srgbClr val="E2ECEC"/>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polymer is a very long molecule made by joining thousands of small molecules, called monomers, into a chain.</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Chemists use several models for molecules, and each leaves something out.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Same task, three ways in: How many bonds?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nitrogen atom has 5 electrons in its outer shell. How many covalent bonds does it form to reach a full outer shell of 8?</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bonds</a:t>
            </a:r>
            <a:endParaRPr lang="en-US" sz="2000" dirty="0"/>
          </a:p>
        </p:txBody>
      </p:sp>
      <p:sp>
        <p:nvSpPr>
          <p:cNvPr id="12" name="col-Support"/>
          <p:cNvSpPr/>
          <p:nvPr/>
        </p:nvSpPr>
        <p:spPr>
          <a:xfrm>
            <a:off x="548640" y="2948940"/>
            <a:ext cx="4667802" cy="3195828"/>
          </a:xfrm>
          <a:prstGeom prst="roundRect">
            <a:avLst>
              <a:gd name="adj" fmla="val 1717"/>
            </a:avLst>
          </a:prstGeom>
          <a:solidFill>
            <a:srgbClr val="E2ECEC"/>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down the number of outer-shell electrons.</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full outer shell is 8. Subtract to find how many more electrons are needed.</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Each bond supplies one, so bonds needed = electrons needed.</a:t>
            </a:r>
            <a:endParaRPr lang="en-US" sz="1800" dirty="0"/>
          </a:p>
        </p:txBody>
      </p:sp>
      <p:sp>
        <p:nvSpPr>
          <p:cNvPr id="17" name="col-Core"/>
          <p:cNvSpPr/>
          <p:nvPr/>
        </p:nvSpPr>
        <p:spPr>
          <a:xfrm>
            <a:off x="5490762" y="2948940"/>
            <a:ext cx="2938987" cy="3195828"/>
          </a:xfrm>
          <a:prstGeom prst="roundRect">
            <a:avLst>
              <a:gd name="adj" fmla="val 1867"/>
            </a:avLst>
          </a:prstGeom>
          <a:solidFill>
            <a:srgbClr val="C7DBDA"/>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How many more electrons does nitrogen need to make 8?</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1F6F6A"/>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Nitrogen forms three single bonds in ammonia but one triple bond in N₂. Explain how both molecules give nitrogen a full outer shell.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The task: Why is it a gas?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Methane, CH₄, is a gas at room temperature. Which statement explains why its boiling point is so low?</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Only weak intermolecular forces between the molecules have to be overcome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covalent bonds inside the molecules are weak and break easily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Methane has a giant structure with very few bonds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molecules carry a charge that pushes them apart</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Same task, three ways in: Why is it a gas?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Methane, CH₄, is a gas at room temperature. Which statement explains why its boiling point is so low?</a:t>
            </a:r>
            <a:endParaRPr lang="en-US" sz="2000" dirty="0"/>
          </a:p>
        </p:txBody>
      </p:sp>
      <p:sp>
        <p:nvSpPr>
          <p:cNvPr id="12" name="col-Support"/>
          <p:cNvSpPr/>
          <p:nvPr/>
        </p:nvSpPr>
        <p:spPr>
          <a:xfrm>
            <a:off x="548640" y="2593848"/>
            <a:ext cx="4667802" cy="3550920"/>
          </a:xfrm>
          <a:prstGeom prst="roundRect">
            <a:avLst>
              <a:gd name="adj" fmla="val 1545"/>
            </a:avLst>
          </a:prstGeom>
          <a:solidFill>
            <a:srgbClr val="E2ECEC"/>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boiling does: it separates the molecules from each other.</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What holds one molecule to the next? Weak intermolecular forces.</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Weak forces need little energy to overcome, so the boiling point is low. The covalent bonds are not involved.</a:t>
            </a:r>
            <a:endParaRPr lang="en-US" sz="1800" dirty="0"/>
          </a:p>
        </p:txBody>
      </p:sp>
      <p:sp>
        <p:nvSpPr>
          <p:cNvPr id="17" name="col-Core"/>
          <p:cNvSpPr/>
          <p:nvPr/>
        </p:nvSpPr>
        <p:spPr>
          <a:xfrm>
            <a:off x="5490762" y="2593848"/>
            <a:ext cx="2938987" cy="3550920"/>
          </a:xfrm>
          <a:prstGeom prst="roundRect">
            <a:avLst>
              <a:gd name="adj" fmla="val 1867"/>
            </a:avLst>
          </a:prstGeom>
          <a:solidFill>
            <a:srgbClr val="C7DBDA"/>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What is separated when a molecular substance boils: atoms, or molecules?</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1F6F6A"/>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Water (H₂O) is a liquid at room temperature while methane (CH₄) is a gas, although the molecules are a similar size. Suggest what this tells you about the intermolecular forces in water.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is a covalent bond?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attraction between oppositely charged ions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weak force between two molecules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transfer of an electron from one atom to another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shared pair of electrons between two atoms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9F1F0"/>
          </a:solidFill>
          <a:ln w="12700">
            <a:solidFill>
              <a:srgbClr val="88B3B0"/>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How many bonds?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nitrogen atom has 5 electrons in its outer shell. How many covalent bonds does it form to reach a full outer shell of 8?</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 bonds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8 − 5 = 3 electrons needed, so 3 covalent bonds.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Why is it a gas?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Methane, CH₄, is a gas at room temperature. Which statement explains why its boiling point is so low?</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Only weak intermolecular forces between the molecules have to be overcome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Only the weak intermolecular forces between methane molecules are overcome when it boils, so little energy is needed and the boiling point is low.</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is a covalent bond?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A shared pair of electrons between two atoms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CEC"/>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covalent bond is a shared pair of electrons, formed between non-metal atoms.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E2ECEC"/>
      </a:lt2>
      <a:accent1>
        <a:srgbClr val="1F6F6A"/>
      </a:accent1>
      <a:accent2>
        <a:srgbClr val="B8862B"/>
      </a:accent2>
      <a:accent3>
        <a:srgbClr val="79A9A6"/>
      </a:accent3>
      <a:accent4>
        <a:srgbClr val="815E1E"/>
      </a:accent4>
      <a:accent5>
        <a:srgbClr val="4A505C"/>
      </a:accent5>
      <a:accent6>
        <a:srgbClr val="D9BF8F"/>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 and Bonding · Chapter 4: Covalent bonding and simple molecules</dc:title>
  <dc:subject>Chemistry (Combined Science) · Year 10</dc:subject>
  <dc:creator>Dr Vitor Merissi de Carvalho</dc:creator>
  <cp:lastModifiedBy>Dr Vitor Merissi de Carvalho</cp:lastModifiedBy>
  <cp:revision>1</cp:revision>
  <dcterms:created xsi:type="dcterms:W3CDTF">2026-10-19T16:22:29Z</dcterms:created>
  <dcterms:modified xsi:type="dcterms:W3CDTF">2026-10-19T16:22:29Z</dcterms:modified>
</cp:coreProperties>
</file>