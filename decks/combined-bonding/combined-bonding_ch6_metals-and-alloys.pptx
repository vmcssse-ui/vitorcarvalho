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e504c6d-e3a1-8a4c-63e2-09dcac802fba}">
          <p14:sldIdLst>
            <p14:sldId id="256"/>
          </p14:sldIdLst>
        </p14:section>
        <p14:section name="Gate" id="{d3d03239-d354-e286-7527-14ed641fa967}">
          <p14:sldIdLst>
            <p14:sldId id="257"/>
            <p14:sldId id="258"/>
          </p14:sldIdLst>
        </p14:section>
        <p14:section name="Pre-teach" id="{18d0f99b-5682-8d11-1bee-c75048d6aaf3}">
          <p14:sldIdLst>
            <p14:sldId id="259"/>
            <p14:sldId id="260"/>
          </p14:sldIdLst>
        </p14:section>
        <p14:section name="Read-along" id="{ecc44982-4681-729c-4ccd-61e6d1c21481}">
          <p14:sldIdLst>
            <p14:sldId id="261"/>
            <p14:sldId id="262"/>
          </p14:sldIdLst>
        </p14:section>
        <p14:section name="Teach" id="{bf9af712-8a16-2f61-e270-2af35c203078}">
          <p14:sldIdLst>
            <p14:sldId id="263"/>
            <p14:sldId id="264"/>
            <p14:sldId id="265"/>
            <p14:sldId id="266"/>
            <p14:sldId id="267"/>
            <p14:sldId id="268"/>
            <p14:sldId id="269"/>
            <p14:sldId id="270"/>
          </p14:sldIdLst>
        </p14:section>
        <p14:section name="Routes" id="{f96919b8-d231-d1aa-5a1c-a3a3fa38c890}">
          <p14:sldIdLst>
            <p14:sldId id="271"/>
            <p14:sldId id="272"/>
            <p14:sldId id="273"/>
          </p14:sldIdLst>
        </p14:section>
        <p14:section name="Close" id="{fc0d9aa3-330c-f073-13e4-e7eca99ad0e0}">
          <p14:sldIdLst>
            <p14:sldId id="274"/>
          </p14:sldIdLst>
        </p14:section>
        <p14:section name="Answers" id="{38672d49-7bba-dcc2-d4a2-d29997a165d9}">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Metals and alloys. This chapter explains how the atoms in a metal are held together, why metals conduct and bend, and why mixing in other elements makes an alloy harder. It ends with nanoparticles, which are Chemistry only.
This deck covers the department's lessons: 8 (3.9 Metallic bonding and structures: How are the atoms in a metal held together, and why are alloys harder than pure metals?); 9 (3.11 Nanoparticles and their applications (Chemistry only): How small is a nanoparticle, and why does its size change what it can do?).
Read the big question aloud: "Why does table salt melt at 801 °C while the water you dissolve it in boils at 100 °C?"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metallic bonding?  →  C   The attraction between positive metal ions and a sea of delocalised electrons
2. Metals can be bent and shaped because the layers of ions can ___ over each other.  →  slide
3. What is an alloy?  →  A   A mixture of a metal with one or more other elements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The attraction between positive metal ions and a sea of delocalised electrons. In a metal the outer electrons are delocalised. The strong attraction between the positive ions left behind and those electrons is metallic bonding.
2. slide. The regular layers of ions in a pure metal slide over one another, so the metal changes shape without breaking.
3. A   A mixture of a metal with one or more other elements. An alloy is a mixture, not a compound: a metal with other elements mixed in, such as iron with carbon in steel.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metallic bonding: the attraction between metal ions and the free electrons around them. Example: "Metallic bonding holds the atoms in a copper wire together."
• delocalised: not fixed to one atom; free to move through the whole structure. Example: "The delocalised electrons in a metal carry the electric current."
• malleable: able to be hammered or pressed into a new shape without breaking. Example: "Gold is so malleable it can be beaten into thin sheets."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conductor: a material that lets electricity or heat pass through it. Example: "Copper is a very good conductor of electricity."
• alloy: a mixture of a metal with other elements. Example: "Steel is an alloy of iron and carbon."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Metals are made of giant structures of atoms arranged in layers.
2. Each metal atom lets go of its outer-shell electrons.
3. The atoms become positive metal ions.
4. The electrons are free to move through the whole metal.
5. We call them a sea of delocalised electrons.
6. The attraction between the positive ions and the electrons is metallic bonding.
7. It is strong, so most metals have high melting points.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free electrons carry charge, so metals conduct electricity.
9. They also carry energy, so metals conduct heat.
10. The layers of ions can slide over each other.
11. This is why metals can be bent and hammered into shape.
12. An alloy is a mixture of a metal with other elements.
13. The different sized atoms stop the layers sliding, so alloys are harder.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Metallic bonding. Say it in your own words, then check understanding with a quick question: ask a pupil from the pre-teach group first, since they met these words and ideas before the lesson. Pupils try to recall before you re-explain.
A piece of metal is a giant structure of atoms packed closely together in a regular pattern, in layers. Each metal atom gives up the electrons in its outer shell. Those electrons are not transferred to another atom, as in ionic bonding, and not shared between two atoms, as in covalent bonding. Instead they become delocalised: free to move anywhere through the whole structure, like a sea of electrons washing around the atoms.
Once an atom has given up its outer electrons it is a positive metal ion. The structure is therefore a regular lattice of positive ions in a sea of delocalised electrons. The strong electrostatic attraction between the positive ions and the negative electrons is metallic bonding, and it acts throughout the structure.
Because metallic bonding is strong and holds every ion in place, a lot of energy is needed to separate the ions, so most metals have high melting and boiling points. Copper melts at 1085 °C and iron at 1535 °C.
Worked example — model it step by step, thinking aloud: Describe the structure and bonding in a metal such as copper. (1) The metal atoms are arranged in a regular pattern, in layers, in a giant structure. (2) Each atom gives up its outer-shell electrons, becoming a positive ion. (3) The electrons are delocalised: free to move through the whole structure. (4) Strong electrostatic attraction between the positive ions and the delocalised electrons holds the structure together. Answer: A regular lattice of positive metal ions in layers, held together by strong electrostatic attraction to a sea of delocalised electrons..
Tip: Four words for metallic bonding: ions, layers, delocalised electrons, attraction.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Metallic bonding. Say it in your own words, then check understanding with a quick question: ask a pupil from the pre-teach group first, since they met these words and ideas before the lesson. Pupils try to recall before you re-explain.
A piece of metal is a giant structure of atoms packed closely together in a regular pattern, in layers. Each metal atom gives up the electrons in its outer shell. Those electrons are not transferred to another atom, as in ionic bonding, and not shared between two atoms, as in covalent bonding. Instead they become delocalised: free to move anywhere through the whole structure, like a sea of electrons washing around the atoms.
Once an atom has given up its outer electrons it is a positive metal ion. The structure is therefore a regular lattice of positive ions in a sea of delocalised electrons. The strong electrostatic attraction between the positive ions and the negative electrons is metallic bonding, and it acts throughout the structure.
Because metallic bonding is strong and holds every ion in place, a lot of energy is needed to separate the ions, so most metals have high melting and boiling points. Copper melts at 1085 °C and iron at 1535 °C.
Worked example — model it step by step, thinking aloud: Describe the structure and bonding in a metal such as copper. (1) The metal atoms are arranged in a regular pattern, in layers, in a giant structure. (2) Each atom gives up its outer-shell electrons, becoming a positive ion. (3) The electrons are delocalised: free to move through the whole structure. (4) Strong electrostatic attraction between the positive ions and the delocalised electrons holds the structure together. Answer: A regular lattice of positive metal ions in layers, held together by strong electrostatic attraction to a sea of delocalised electrons..
Tip: Four words for metallic bonding: ions, layers, delocalised electrons, attraction.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Properties of metals. Say it in your own words, then check understanding with a quick question: ask a pupil from the pre-teach group first, since they met these words and ideas before the lesson. Pupils try to recall before you re-explain.
Metals conduct electricity because the delocalised electrons are free to move through the structure and carry charge. They conduct heat for the same reason: the moving electrons carry energy quickly from the hot part of the metal to the cooler part. A saucepan and the wires in a plug both rely on this.
Metals are malleable (they can be hammered into shape) and ductile (they can be drawn out into wires). The ions are arranged in layers, and in a pure metal the layers can slide over one another without breaking the metallic bonding, because the sea of electrons moves with them. The metal changes shape but stays in one piece.
(Higher) Not all metals have the same melting point, and the metallic bonding explains why. Aluminium, in Group 3, gives three electrons per atom to the sea and forms Al³⁺ ions; sodium, in Group 1, gives one electron per atom and forms Na⁺ ions. Aluminium's ions have a bigger charge and there are three times as many delocalised electrons, so the attraction is much stronger and aluminium melts at 660 °C while sodium melts at 98 °C.
Worked example — model it step by step, thinking aloud: Aluminium is in Group 3 and sodium is in Group 1. Explain why aluminium has a higher melting point than sodium. (1) Each aluminium atom gives 3 electrons to the sea of delocalised electrons and forms an Al³⁺ ion; each sodium atom gives 1 and forms Na⁺. (2) Aluminium has 3 ÷ 1 = 3 times as many delocalised electrons per ion, and its ions carry a bigger charge. (3) So the electrostatic attraction between the ions and the electrons is stronger in aluminium. (4) More energy is needed to overcome the stronger attraction, so aluminium's melting point is higher. Answer: Al³⁺ ions with three delocalised electrons each attract more strongly than Na⁺ ions with one, so more energy is needed to melt aluminium..
Tip: Conducts: delocalised electrons move. Bends: layers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Properties of metals. Say it in your own words, then check understanding with a quick question: ask a pupil from the pre-teach group first, since they met these words and ideas before the lesson. Pupils try to recall before you re-explain.
Metals conduct electricity because the delocalised electrons are free to move through the structure and carry charge. They conduct heat for the same reason: the moving electrons carry energy quickly from the hot part of the metal to the cooler part. A saucepan and the wires in a plug both rely on this.
Metals are malleable (they can be hammered into shape) and ductile (they can be drawn out into wires). The ions are arranged in layers, and in a pure metal the layers can slide over one another without breaking the metallic bonding, because the sea of electrons moves with them. The metal changes shape but stays in one piece.
(Higher) Not all metals have the same melting point, and the metallic bonding explains why. Aluminium, in Group 3, gives three electrons per atom to the sea and forms Al³⁺ ions; sodium, in Group 1, gives one electron per atom and forms Na⁺ ions. Aluminium's ions have a bigger charge and there are three times as many delocalised electrons, so the attraction is much stronger and aluminium melts at 660 °C while sodium melts at 98 °C.
Worked example — model it step by step, thinking aloud: Aluminium is in Group 3 and sodium is in Group 1. Explain why aluminium has a higher melting point than sodium. (1) Each aluminium atom gives 3 electrons to the sea of delocalised electrons and forms an Al³⁺ ion; each sodium atom gives 1 and forms Na⁺. (2) Aluminium has 3 ÷ 1 = 3 times as many delocalised electrons per ion, and its ions carry a bigger charge. (3) So the electrostatic attraction between the ions and the electrons is stronger in aluminium. (4) More energy is needed to overcome the stronger attraction, so aluminium's melting point is higher. Answer: Al³⁺ ions with three delocalised electrons each attract more strongly than Na⁺ ions with one, so more energy is needed to melt aluminium..
Tip: Conducts: delocalised electrons move. Bends: layers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Alloys. Say it in your own words, then check understanding with a quick question: ask a pupil from the pre-teach group first, since they met these words and ideas before the lesson. Pupils try to recall before you re-explain.
Pure metals are often too soft for the jobs we want them to do. Pure iron bends easily and pure gold scratches. An alloy is a mixture of a metal with one or more other elements, usually other metals or carbon. Steel is iron mixed with a small amount of carbon; bronze is copper and tin; a £1 coin is made from copper, zinc and nickel.
Alloys are harder than pure metals because of the layers. In a pure metal all the ions are the same size, so the layers are regular and slide easily. In an alloy the added atoms are a different size. They distort the layers, so the layers can no longer slide over each other easily, and the alloy is harder and stronger. That is why car wheels and tools are made from alloys rather than pure metals.
Worked example — model it step by step, thinking aloud: Explain why steel is harder than pure iron. (1) Pure iron has layers of iron ions, all the same size, in a regular arrangement. (2) Those layers can slide over each other easily, so pure iron is soft and bends. (3) Steel contains carbon atoms, which are a different size from iron ions. (4) They distort the layers so the layers cannot slide as easily, which makes steel harder. Answer: Carbon atoms of a different size distort the regular layers of iron ions, so the layers cannot slide as easily..
Tip: Alloy = mixture, not compound. Different sized atoms distort the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Alloys. Say it in your own words, then check understanding with a quick question: ask a pupil from the pre-teach group first, since they met these words and ideas before the lesson. Pupils try to recall before you re-explain.
Pure metals are often too soft for the jobs we want them to do. Pure iron bends easily and pure gold scratches. An alloy is a mixture of a metal with one or more other elements, usually other metals or carbon. Steel is iron mixed with a small amount of carbon; bronze is copper and tin; a £1 coin is made from copper, zinc and nickel.
Alloys are harder than pure metals because of the layers. In a pure metal all the ions are the same size, so the layers are regular and slide easily. In an alloy the added atoms are a different size. They distort the layers, so the layers can no longer slide over each other easily, and the alloy is harder and stronger. That is why car wheels and tools are made from alloys rather than pure metals.
Worked example — model it step by step, thinking aloud: Explain why steel is harder than pure iron. (1) Pure iron has layers of iron ions, all the same size, in a regular arrangement. (2) Those layers can slide over each other easily, so pure iron is soft and bends. (3) Steel contains carbon atoms, which are a different size from iron ions. (4) They distort the layers so the layers cannot slide as easily, which makes steel harder. Answer: Carbon atoms of a different size distort the regular layers of iron ions, so the layers cannot slide as easily..
Tip: Alloy = mixture, not compound. Different sized atoms distort the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Nanoparticles (Chemistry only). Say it in your own words, then check understanding with a quick question: ask a pupil from the pre-teach group first, since they met these words and ideas before the lesson. Pupils try to recall before you re-explain.
This section is Chemistry only: it is examined in GCSE Chemistry (8462) but not in Combined Science. A nanometre, nm, is one billionth of a metre: 1 nm = 1 × 10⁻⁹ m, or 0.000000001 m. A human hair is about 80 000 nm across. Nanoparticles are between 1 nm and 100 nm in size, only a few hundred atoms each, far smaller than the fine dust in smoke but bigger than a single atom.
What makes nanoparticles special is their surface area to volume ratio. For a cube, the surface area is 6 × side × side and the volume is side × side × side. Make the side 10 times smaller and the surface area to volume ratio becomes 10 times bigger. A nanoparticle is nearly all surface, so a tiny mass of material has a huge surface for reactions, which makes nanoparticles useful as catalysts and very reactive.
Nanoparticles of titanium dioxide are used in sunscreens, because they block ultraviolet light while staying invisible on the skin, and in self-cleaning glass, where they break down dirt in sunlight. Silver nanoparticles kill bacteria and are used in wound dressings and on some fridges and clothes. Researchers are testing nanoparticles that carry medicines straight to a tumour. The possible risks are not yet fully understood: nanoparticles can be breathed in or absorbed through the skin, and their long-term effects on health and the environment need more research before some uses are approved.
Worked example — model it step by step, thinking aloud: Work out the surface area to volume ratio of a cube with sides of 1 nm and of a cube with sides of 10 nm. (1) Side 1 nm: surface area = 6 × 1 × 1 = 6; volume = 1 × 1 × 1 = 1; ratio = 6 ÷ 1 = 6. (2) Side 10 nm: surface area = 6 × 10 × 10 = 600; volume = 10 × 10 × 10 = 1000; ratio = 600 ÷ 1000 = 0.6. (3) Compare: 6 ÷ 0.6 = 10. The smaller cube's ratio is 10 times bigger. Answer: 6 for the 1 nm cube and 0.6 for the 10 nm cube: making the side 10 times smaller makes the ratio 10 times bigger..
Tip: Chemistry only. Side ÷ 10 means surface area to volume ratio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Nanoparticles (Chemistry only). Say it in your own words, then check understanding with a quick question: ask a pupil from the pre-teach group first, since they met these words and ideas before the lesson. Pupils try to recall before you re-explain.
This section is Chemistry only: it is examined in GCSE Chemistry (8462) but not in Combined Science. A nanometre, nm, is one billionth of a metre: 1 nm = 1 × 10⁻⁹ m, or 0.000000001 m. A human hair is about 80 000 nm across. Nanoparticles are between 1 nm and 100 nm in size, only a few hundred atoms each, far smaller than the fine dust in smoke but bigger than a single atom.
What makes nanoparticles special is their surface area to volume ratio. For a cube, the surface area is 6 × side × side and the volume is side × side × side. Make the side 10 times smaller and the surface area to volume ratio becomes 10 times bigger. A nanoparticle is nearly all surface, so a tiny mass of material has a huge surface for reactions, which makes nanoparticles useful as catalysts and very reactive.
Nanoparticles of titanium dioxide are used in sunscreens, because they block ultraviolet light while staying invisible on the skin, and in self-cleaning glass, where they break down dirt in sunlight. Silver nanoparticles kill bacteria and are used in wound dressings and on some fridges and clothes. Researchers are testing nanoparticles that carry medicines straight to a tumour. The possible risks are not yet fully understood: nanoparticles can be breathed in or absorbed through the skin, and their long-term effects on health and the environment need more research before some uses are approved.
Worked example — model it step by step, thinking aloud: Work out the surface area to volume ratio of a cube with sides of 1 nm and of a cube with sides of 10 nm. (1) Side 1 nm: surface area = 6 × 1 × 1 = 6; volume = 1 × 1 × 1 = 1; ratio = 6 ÷ 1 = 6. (2) Side 10 nm: surface area = 6 × 10 × 10 = 600; volume = 10 × 10 × 10 = 1000; ratio = 600 ÷ 1000 = 0.6. (3) Compare: 6 ÷ 0.6 = 10. The smaller cube's ratio is 10 times bigger. Answer: 6 for the 1 nm cube and 0.6 for the 10 nm cube: making the side 10 times smaller makes the ratio 10 times bigger..
Tip: Chemistry only. Side ÷ 10 means surface area to volume ratio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Why metals conduct.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Why do metals conduct electricity?
Support — work through the steps with the group: (1) Conduction needs charged particles that are free to move. (2) In a metal the ions are fixed in layers, so it is not them. (3) The outer electrons have left the atoms and are delocalised: they move and carry charge.
Parallel worked example for Support (model it, do not give the task answer): Why does a copper saucepan conduct heat well? The delocalised electrons are free to move through the copper.; They move quickly from the hot base and carry energy with them.; The energy is transferred through the pan.. Answer: Delocalised electrons move through the metal and carry energy from the hot part to the cooler part..
Core — reveal the hint only on request: Which particles in a metal are free to move: the ions or the electrons?
Stretch — no help; when finished: Graphite and copper both conduct because of delocalised electrons. Compare where those electrons come from in each structure, and explain why graphite is not a metal.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Why metals conduct.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Why do metals conduct electricity?
Support — work through the steps with the group: (1) Conduction needs charged particles that are free to move. (2) In a metal the ions are fixed in layers, so it is not them. (3) The outer electrons have left the atoms and are delocalised: they move and carry charge.
Parallel worked example for Support (model it, do not give the task answer): Why does a copper saucepan conduct heat well? The delocalised electrons are free to move through the copper.; They move quickly from the hot base and carry energy with them.; The energy is transferred through the pan.. Answer: Delocalised electrons move through the metal and carry energy from the hot part to the cooler part..
Core — reveal the hint only on request: Which particles in a metal are free to move: the ions or the electrons?
Stretch — no help; when finished: Graphite and copper both conduct because of delocalised electrons. Compare where those electrons come from in each structure, and explain why graphite is not a metal.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Harder than the pure metal.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Steel is an alloy of iron with a small amount of carbon. Explain why steel is harder than pure iron.
Support — work through the steps with the group: (1) Describe the layers in the pure metal and what they can do (slide). (2) Say what is different about the added atoms (their size). (3) Say what the different size does to the layers, and what that does to the hardness.
Parallel worked example for Support (model it, do not give the task answer): Explain why bronze, an alloy of copper and tin, is harder than pure copper. Pure copper has regular layers of copper ions that slide easily.; Tin atoms are a different size from copper ions.; They distort the layers so the layers cannot slide easily, making bronze harder.. Answer: Tin atoms of a different size distort the layers of copper ions so they cannot slide easily..
Core — reveal the hint only on request: Three marks: regular layers slide; different sized atoms; layers distorted so they cannot slide.
Stretch — no help; when finished: Suggest why adding too much carbon to iron can make the steel brittle rather than just harder, using the same picture of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Chemistry only. A cube-shaped nanoparticle has sides of 2 nm. Work out its surface area to volume ratio (surface area ÷ volume). Give the number only.
Answer: 3. 24 ÷ 8 = 3. For any cube the ratio is 6 ÷ side, so smaller particles have a bigger ratio.
Source of this question: module 3 task ("Surface area to volume (Chemistry only)")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Why metals conduct. Reveal the answer; pupils mark their own work in a different colour, then read the "why" together. Same destination for every lane, so one answer serves the whole class.
Answer: A   Delocalised electrons are free to move through the structure and carry charge
Why: Delocalised electrons move freely through the metal and carry the charge.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Harder than the pure metal. Reveal the answer; pupils mark their own work in a different colour, then read the "why" together. Same destination for every lane, so one answer serves the whole class.
Answer: In pure iron the ions are all the same size and arranged in regular layers that can slide over each other easily.; Carbon atoms are a different size from iron ions, so they distort the layers.; The layers can no longer slide over each other easily, so steel is harder.
Why: Different sized atoms distort the regular layers of the pure metal, so the layers cannot slide as easily and the alloy is harder.
Model answer: Pure iron is made of layers of iron ions that are all the same size, so the layers are regular and can slide over one another easily, which makes pure iron soft. In steel, carbon atoms are mixed in with the iron. They are a different size, so they distort the regular layers. The distorted layers cannot slide over each other as easily, so steel is harder than pure iron.
Success criteria: In pure iron the ions are all the same size and arranged in regular layers that can slide over each other easily.; Carbon atoms are a different size from iron ions, so they distort the layers.; The layers can no longer slide over each other easily, so steel is harder.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3
Why: 24 ÷ 8 = 3. For any cube the ratio is 6 ÷ side, so smaller particles have a bigger ratio.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Chemistry (Combined Science) · Year 10 · Structure and Bonding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Chemistry (Combined Science) · Year 10 · Structure and Bonding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Chemistry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Structure and Bonding · AQA 8464</a:t>
            </a:r>
            <a:endParaRPr lang="en-US" sz="1800" dirty="0"/>
          </a:p>
        </p:txBody>
      </p:sp>
      <p:sp>
        <p:nvSpPr>
          <p:cNvPr id="10" name="deck-title"/>
          <p:cNvSpPr txBox="1"/>
          <p:nvPr/>
        </p:nvSpPr>
        <p:spPr>
          <a:xfrm>
            <a:off x="548640" y="239445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Metals and alloys</a:t>
            </a:r>
            <a:endParaRPr lang="en-US" sz="4000" dirty="0"/>
          </a:p>
        </p:txBody>
      </p:sp>
      <p:sp>
        <p:nvSpPr>
          <p:cNvPr id="11" name="lessons-card"/>
          <p:cNvSpPr/>
          <p:nvPr/>
        </p:nvSpPr>
        <p:spPr>
          <a:xfrm>
            <a:off x="548640" y="3410458"/>
            <a:ext cx="5287975" cy="1638300"/>
          </a:xfrm>
          <a:prstGeom prst="roundRect">
            <a:avLst>
              <a:gd name="adj" fmla="val 4465"/>
            </a:avLst>
          </a:prstGeom>
          <a:solidFill>
            <a:srgbClr val="E2ECEC"/>
          </a:solidFill>
          <a:ln/>
        </p:spPr>
      </p:sp>
      <p:sp>
        <p:nvSpPr>
          <p:cNvPr id="12" name="lessons"/>
          <p:cNvSpPr txBox="1"/>
          <p:nvPr/>
        </p:nvSpPr>
        <p:spPr>
          <a:xfrm>
            <a:off x="685800" y="35018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3.9 Metallic bonding and structures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3.11 Nanoparticles and their applications (Chemistry only)</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Chemistry (Combined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Why does table salt melt at 801 °C while the water you dissolve it in boils at 100 °C?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is metallic bonding?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Weak forces between layers of metal atoms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transfer of electrons from a metal atom to a non-metal atom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attraction between positive metal ions and a sea of delocalised electrons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sharing of pairs of electrons between metal atoms</a:t>
            </a:r>
            <a:endParaRPr lang="en-US" sz="1800" dirty="0"/>
          </a:p>
        </p:txBody>
      </p:sp>
      <p:sp>
        <p:nvSpPr>
          <p:cNvPr id="12" name="card"/>
          <p:cNvSpPr/>
          <p:nvPr/>
        </p:nvSpPr>
        <p:spPr>
          <a:xfrm>
            <a:off x="4777626" y="1389888"/>
            <a:ext cx="2636444" cy="4754880"/>
          </a:xfrm>
          <a:prstGeom prst="roundRect">
            <a:avLst>
              <a:gd name="adj" fmla="val 2081"/>
            </a:avLst>
          </a:prstGeom>
          <a:solidFill>
            <a:srgbClr val="E9F1F0"/>
          </a:solidFill>
          <a:ln w="12700">
            <a:solidFill>
              <a:srgbClr val="AAC8C6"/>
            </a:solidFill>
            <a:prstDash val="solid"/>
          </a:ln>
        </p:spPr>
      </p:sp>
      <p:sp>
        <p:nvSpPr>
          <p:cNvPr id="13" name="card-hex"/>
          <p:cNvSpPr/>
          <p:nvPr/>
        </p:nvSpPr>
        <p:spPr>
          <a:xfrm>
            <a:off x="4960506" y="1572768"/>
            <a:ext cx="640080" cy="554309"/>
          </a:xfrm>
          <a:prstGeom prst="hexagon">
            <a:avLst/>
          </a:prstGeom>
          <a:solidFill>
            <a:srgbClr val="1F6F6A"/>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Metals can be bent and shaped because the layers of ions can ___ over each other.</a:t>
            </a:r>
            <a:endParaRPr lang="en-US" sz="2200" dirty="0"/>
          </a:p>
          <a:p>
            <a:pPr algn="l" indent="0" marL="0">
              <a:buNone/>
            </a:pPr>
            <a:r>
              <a:rPr lang="en-US" sz="2200" b="1" dirty="0">
                <a:solidFill>
                  <a:srgbClr val="1F6F6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slide  ·  break  ·  bond</a:t>
            </a:r>
            <a:endParaRPr lang="en-US" sz="2200" dirty="0"/>
          </a:p>
        </p:txBody>
      </p:sp>
      <p:sp>
        <p:nvSpPr>
          <p:cNvPr id="17" name="card"/>
          <p:cNvSpPr/>
          <p:nvPr/>
        </p:nvSpPr>
        <p:spPr>
          <a:xfrm>
            <a:off x="7688389" y="1389888"/>
            <a:ext cx="3954666" cy="4754880"/>
          </a:xfrm>
          <a:prstGeom prst="roundRect">
            <a:avLst>
              <a:gd name="adj" fmla="val 1387"/>
            </a:avLst>
          </a:prstGeom>
          <a:solidFill>
            <a:srgbClr val="E9F1F0"/>
          </a:solidFill>
          <a:ln w="12700">
            <a:solidFill>
              <a:srgbClr val="AAC8C6"/>
            </a:solidFill>
            <a:prstDash val="solid"/>
          </a:ln>
        </p:spPr>
      </p:sp>
      <p:sp>
        <p:nvSpPr>
          <p:cNvPr id="18" name="card-hex"/>
          <p:cNvSpPr/>
          <p:nvPr/>
        </p:nvSpPr>
        <p:spPr>
          <a:xfrm>
            <a:off x="7871269" y="1572768"/>
            <a:ext cx="640080" cy="554309"/>
          </a:xfrm>
          <a:prstGeom prst="hexagon">
            <a:avLst/>
          </a:prstGeom>
          <a:solidFill>
            <a:srgbClr val="1F6F6A"/>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is an alloy?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mixture of a metal with one or more other elements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pure metal that has been heated and cooled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metal coated in a layer of plastic</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compound of two metals joined by covalent bonds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1636776"/>
          </a:xfrm>
          <a:prstGeom prst="roundRect">
            <a:avLst>
              <a:gd name="adj" fmla="val 6704"/>
            </a:avLst>
          </a:prstGeom>
          <a:solidFill>
            <a:srgbClr val="EBDDC4"/>
          </a:solidFill>
          <a:ln w="19050">
            <a:solidFill>
              <a:srgbClr val="B8862B"/>
            </a:solidFill>
            <a:prstDash val="solid"/>
          </a:ln>
        </p:spPr>
      </p:sp>
      <p:sp>
        <p:nvSpPr>
          <p:cNvPr id="12" name="answer"/>
          <p:cNvSpPr txBox="1"/>
          <p:nvPr/>
        </p:nvSpPr>
        <p:spPr>
          <a:xfrm>
            <a:off x="822960" y="2428829"/>
            <a:ext cx="3406026"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The attraction between positive metal ions and a sea of delocalised electrons</a:t>
            </a:r>
            <a:endParaRPr lang="en-US" sz="2200" dirty="0"/>
          </a:p>
        </p:txBody>
      </p:sp>
      <p:sp>
        <p:nvSpPr>
          <p:cNvPr id="13" name="card-body"/>
          <p:cNvSpPr txBox="1"/>
          <p:nvPr/>
        </p:nvSpPr>
        <p:spPr>
          <a:xfrm>
            <a:off x="731520" y="4175333"/>
            <a:ext cx="3588906"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In a metal the outer electrons are delocalised. The strong attraction between the positive ions left behind and those electrons is metallic bonding.</a:t>
            </a:r>
            <a:endParaRPr lang="en-US" sz="1800" dirty="0"/>
          </a:p>
        </p:txBody>
      </p:sp>
      <p:sp>
        <p:nvSpPr>
          <p:cNvPr id="14" name="card"/>
          <p:cNvSpPr/>
          <p:nvPr/>
        </p:nvSpPr>
        <p:spPr>
          <a:xfrm>
            <a:off x="4777626" y="1389888"/>
            <a:ext cx="2636444" cy="4754880"/>
          </a:xfrm>
          <a:prstGeom prst="roundRect">
            <a:avLst>
              <a:gd name="adj" fmla="val 2081"/>
            </a:avLst>
          </a:prstGeom>
          <a:solidFill>
            <a:srgbClr val="E9F1F0"/>
          </a:solidFill>
          <a:ln w="12700">
            <a:solidFill>
              <a:srgbClr val="AAC8C6"/>
            </a:solidFill>
            <a:prstDash val="solid"/>
          </a:ln>
        </p:spPr>
      </p:sp>
      <p:sp>
        <p:nvSpPr>
          <p:cNvPr id="15" name="card-hex"/>
          <p:cNvSpPr/>
          <p:nvPr/>
        </p:nvSpPr>
        <p:spPr>
          <a:xfrm>
            <a:off x="4960506" y="1572768"/>
            <a:ext cx="640080" cy="554309"/>
          </a:xfrm>
          <a:prstGeom prst="hexagon">
            <a:avLst/>
          </a:prstGeom>
          <a:solidFill>
            <a:srgbClr val="1F6F6A"/>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slide</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regular layers of ions in a pure metal slide over one another, so the metal changes shape without breaking.</a:t>
            </a:r>
            <a:endParaRPr lang="en-US" sz="1800" dirty="0"/>
          </a:p>
        </p:txBody>
      </p:sp>
      <p:sp>
        <p:nvSpPr>
          <p:cNvPr id="21" name="card"/>
          <p:cNvSpPr/>
          <p:nvPr/>
        </p:nvSpPr>
        <p:spPr>
          <a:xfrm>
            <a:off x="7688389" y="1389888"/>
            <a:ext cx="3954666" cy="4754880"/>
          </a:xfrm>
          <a:prstGeom prst="roundRect">
            <a:avLst>
              <a:gd name="adj" fmla="val 1387"/>
            </a:avLst>
          </a:prstGeom>
          <a:solidFill>
            <a:srgbClr val="E9F1F0"/>
          </a:solidFill>
          <a:ln w="12700">
            <a:solidFill>
              <a:srgbClr val="AAC8C6"/>
            </a:solidFill>
            <a:prstDash val="solid"/>
          </a:ln>
        </p:spPr>
      </p:sp>
      <p:sp>
        <p:nvSpPr>
          <p:cNvPr id="22" name="card-hex"/>
          <p:cNvSpPr/>
          <p:nvPr/>
        </p:nvSpPr>
        <p:spPr>
          <a:xfrm>
            <a:off x="7871269" y="1572768"/>
            <a:ext cx="640080" cy="554309"/>
          </a:xfrm>
          <a:prstGeom prst="hexagon">
            <a:avLst/>
          </a:prstGeom>
          <a:solidFill>
            <a:srgbClr val="1F6F6A"/>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1295908"/>
          </a:xfrm>
          <a:prstGeom prst="roundRect">
            <a:avLst>
              <a:gd name="adj" fmla="val 8467"/>
            </a:avLst>
          </a:prstGeom>
          <a:solidFill>
            <a:srgbClr val="EBDDC4"/>
          </a:solidFill>
          <a:ln w="19050">
            <a:solidFill>
              <a:srgbClr val="B8862B"/>
            </a:solidFill>
            <a:prstDash val="solid"/>
          </a:ln>
        </p:spPr>
      </p:sp>
      <p:sp>
        <p:nvSpPr>
          <p:cNvPr id="26" name="answer"/>
          <p:cNvSpPr txBox="1"/>
          <p:nvPr/>
        </p:nvSpPr>
        <p:spPr>
          <a:xfrm>
            <a:off x="7962709"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mixture of a metal with one or more other elements</a:t>
            </a:r>
            <a:endParaRPr lang="en-US" sz="2200" dirty="0"/>
          </a:p>
        </p:txBody>
      </p:sp>
      <p:sp>
        <p:nvSpPr>
          <p:cNvPr id="27" name="card-body"/>
          <p:cNvSpPr txBox="1"/>
          <p:nvPr/>
        </p:nvSpPr>
        <p:spPr>
          <a:xfrm>
            <a:off x="7871269" y="3834465"/>
            <a:ext cx="3588906"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an alloy?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An alloy is a mixture, not a compound: a metal with other elements mixed in, such as iron with carbon in steel.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metallic bonding</a:t>
            </a:r>
            <a:endParaRPr lang="en-US" sz="2600" dirty="0"/>
          </a:p>
        </p:txBody>
      </p:sp>
      <p:sp>
        <p:nvSpPr>
          <p:cNvPr id="11" name="word-rule"/>
          <p:cNvSpPr/>
          <p:nvPr/>
        </p:nvSpPr>
        <p:spPr>
          <a:xfrm>
            <a:off x="731520" y="2558288"/>
            <a:ext cx="3149498" cy="0"/>
          </a:xfrm>
          <a:prstGeom prst="line">
            <a:avLst/>
          </a:prstGeom>
          <a:ln w="12700">
            <a:solidFill>
              <a:srgbClr val="9FC1BF"/>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attraction between metal ions and the free electrons around them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Metallic bonding holds the atoms in a copper wire together.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delocalised</a:t>
            </a:r>
            <a:endParaRPr lang="en-US" sz="2600" dirty="0"/>
          </a:p>
        </p:txBody>
      </p:sp>
      <p:sp>
        <p:nvSpPr>
          <p:cNvPr id="17" name="word-rule"/>
          <p:cNvSpPr/>
          <p:nvPr/>
        </p:nvSpPr>
        <p:spPr>
          <a:xfrm>
            <a:off x="4521098" y="2129028"/>
            <a:ext cx="3149498" cy="0"/>
          </a:xfrm>
          <a:prstGeom prst="line">
            <a:avLst/>
          </a:prstGeom>
          <a:ln w="12700">
            <a:solidFill>
              <a:srgbClr val="9FC1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not fixed to one atom; free to move through the whole structure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delocalised electrons in a metal carry the electric current.</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malleable</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able to be hammered or pressed into a new shape without breaking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Gold is so malleable it can be beaten into thin sheets.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conductor</a:t>
            </a:r>
            <a:endParaRPr lang="en-US" sz="2600" dirty="0"/>
          </a:p>
        </p:txBody>
      </p:sp>
      <p:sp>
        <p:nvSpPr>
          <p:cNvPr id="11" name="word-rule"/>
          <p:cNvSpPr/>
          <p:nvPr/>
        </p:nvSpPr>
        <p:spPr>
          <a:xfrm>
            <a:off x="731520" y="2129028"/>
            <a:ext cx="5044288" cy="0"/>
          </a:xfrm>
          <a:prstGeom prst="line">
            <a:avLst/>
          </a:prstGeom>
          <a:ln w="12700">
            <a:solidFill>
              <a:srgbClr val="9FC1BF"/>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material that lets electricity or heat pass through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Copper is a very good conductor of electricity.</a:t>
            </a:r>
            <a:endParaRPr lang="en-US" sz="2200" dirty="0"/>
          </a:p>
        </p:txBody>
      </p:sp>
      <p:sp>
        <p:nvSpPr>
          <p:cNvPr id="13" name="word-card"/>
          <p:cNvSpPr/>
          <p:nvPr/>
        </p:nvSpPr>
        <p:spPr>
          <a:xfrm>
            <a:off x="6233008" y="1389888"/>
            <a:ext cx="5410048" cy="4754880"/>
          </a:xfrm>
          <a:prstGeom prst="roundRect">
            <a:avLst>
              <a:gd name="adj" fmla="val 1154"/>
            </a:avLst>
          </a:prstGeom>
          <a:solidFill>
            <a:srgbClr val="E6EFEF"/>
          </a:solidFill>
          <a:ln w="12700">
            <a:solidFill>
              <a:srgbClr val="9FC1BF"/>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alloy</a:t>
            </a:r>
            <a:endParaRPr lang="en-US" sz="2600" dirty="0"/>
          </a:p>
        </p:txBody>
      </p:sp>
      <p:sp>
        <p:nvSpPr>
          <p:cNvPr id="17" name="word-rule"/>
          <p:cNvSpPr/>
          <p:nvPr/>
        </p:nvSpPr>
        <p:spPr>
          <a:xfrm>
            <a:off x="6415888" y="2129028"/>
            <a:ext cx="5044288" cy="0"/>
          </a:xfrm>
          <a:prstGeom prst="line">
            <a:avLst/>
          </a:prstGeom>
          <a:ln w="12700">
            <a:solidFill>
              <a:srgbClr val="9FC1BF"/>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mixture of a metal with other elements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Steel is an alloy of iron and carbon.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Metals are made of giant structures of atoms arranged in layers.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Each metal atom lets go of its outer-shell electrons.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atoms become positive metal ions.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electrons are free to move through the whole metal.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call them a sea of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delocalised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electrons.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attraction between the positive ions and the electrons is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metallic bonding</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is strong, so most metals have high melting points.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free electrons carry charge, so metals conduct electricity.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also carry energy, so metals conduct heat.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layers of ions can slide over each other.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is why metals can be bent and hammered into shape.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alloy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 mixture of a metal with other elements.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different sized atoms stop the layers sliding, so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alloys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are harder.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Metallic bonding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Four words for metallic bonding: ions, layers, delocalised electrons, attraction.</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piece of metal is a giant structure of atoms packed closely together in a regular pattern, in layers.</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Once an atom has given up its outer electrons it is a positive metal ion.</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Because metallic bonding is strong and holds every ion in place, a lot of energy is needed to separate the ions, so most metals have high melting and boiling points.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Worked example: Metallic bonding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2ECEC"/>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Describe the structure and bonding in a metal such as copper.</a:t>
            </a:r>
            <a:endParaRPr lang="en-US" sz="2200" dirty="0"/>
          </a:p>
        </p:txBody>
      </p:sp>
      <p:sp>
        <p:nvSpPr>
          <p:cNvPr id="9" name="step-box"/>
          <p:cNvSpPr/>
          <p:nvPr/>
        </p:nvSpPr>
        <p:spPr>
          <a:xfrm>
            <a:off x="548640" y="2314956"/>
            <a:ext cx="2464994" cy="2531872"/>
          </a:xfrm>
          <a:prstGeom prst="roundRect">
            <a:avLst>
              <a:gd name="adj" fmla="val 2968"/>
            </a:avLst>
          </a:prstGeom>
          <a:solidFill>
            <a:srgbClr val="FFFFFF"/>
          </a:solidFill>
          <a:ln w="15875">
            <a:solidFill>
              <a:srgbClr val="84B0AD"/>
            </a:solidFill>
            <a:prstDash val="solid"/>
          </a:ln>
        </p:spPr>
      </p:sp>
      <p:sp>
        <p:nvSpPr>
          <p:cNvPr id="10" name="step-hex"/>
          <p:cNvSpPr/>
          <p:nvPr/>
        </p:nvSpPr>
        <p:spPr>
          <a:xfrm>
            <a:off x="685800" y="2424684"/>
            <a:ext cx="530352" cy="459285"/>
          </a:xfrm>
          <a:prstGeom prst="hexagon">
            <a:avLst/>
          </a:prstGeom>
          <a:solidFill>
            <a:srgbClr val="1F6F6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metal atoms are arranged in a regular pattern, in layers, in a giant structure.</a:t>
            </a:r>
            <a:endParaRPr lang="en-US" sz="1800" dirty="0"/>
          </a:p>
        </p:txBody>
      </p:sp>
      <p:sp>
        <p:nvSpPr>
          <p:cNvPr id="13" name="arrow"/>
          <p:cNvSpPr/>
          <p:nvPr/>
        </p:nvSpPr>
        <p:spPr>
          <a:xfrm>
            <a:off x="3086786" y="3443732"/>
            <a:ext cx="274320" cy="274320"/>
          </a:xfrm>
          <a:prstGeom prst="rightArrow">
            <a:avLst/>
          </a:prstGeom>
          <a:solidFill>
            <a:srgbClr val="B8862B"/>
          </a:solidFill>
          <a:ln/>
        </p:spPr>
      </p:sp>
      <p:sp>
        <p:nvSpPr>
          <p:cNvPr id="14" name="step-box"/>
          <p:cNvSpPr/>
          <p:nvPr/>
        </p:nvSpPr>
        <p:spPr>
          <a:xfrm>
            <a:off x="3425114" y="2314956"/>
            <a:ext cx="2464994" cy="2531872"/>
          </a:xfrm>
          <a:prstGeom prst="roundRect">
            <a:avLst>
              <a:gd name="adj" fmla="val 2968"/>
            </a:avLst>
          </a:prstGeom>
          <a:solidFill>
            <a:srgbClr val="FFFFFF"/>
          </a:solidFill>
          <a:ln w="15875">
            <a:solidFill>
              <a:srgbClr val="84B0AD"/>
            </a:solidFill>
            <a:prstDash val="solid"/>
          </a:ln>
        </p:spPr>
      </p:sp>
      <p:sp>
        <p:nvSpPr>
          <p:cNvPr id="15" name="step-hex"/>
          <p:cNvSpPr/>
          <p:nvPr/>
        </p:nvSpPr>
        <p:spPr>
          <a:xfrm>
            <a:off x="3562274" y="2424684"/>
            <a:ext cx="530352" cy="459285"/>
          </a:xfrm>
          <a:prstGeom prst="hexagon">
            <a:avLst/>
          </a:prstGeom>
          <a:solidFill>
            <a:srgbClr val="1F6F6A"/>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Each atom gives up its outer-shell electrons, becoming a positive ion.</a:t>
            </a:r>
            <a:endParaRPr lang="en-US" sz="1800" dirty="0"/>
          </a:p>
        </p:txBody>
      </p:sp>
      <p:sp>
        <p:nvSpPr>
          <p:cNvPr id="18" name="arrow"/>
          <p:cNvSpPr/>
          <p:nvPr/>
        </p:nvSpPr>
        <p:spPr>
          <a:xfrm>
            <a:off x="5963260" y="3443732"/>
            <a:ext cx="274320" cy="274320"/>
          </a:xfrm>
          <a:prstGeom prst="rightArrow">
            <a:avLst/>
          </a:prstGeom>
          <a:solidFill>
            <a:srgbClr val="B8862B"/>
          </a:solidFill>
          <a:ln/>
        </p:spPr>
      </p:sp>
      <p:sp>
        <p:nvSpPr>
          <p:cNvPr id="19" name="step-box"/>
          <p:cNvSpPr/>
          <p:nvPr/>
        </p:nvSpPr>
        <p:spPr>
          <a:xfrm>
            <a:off x="6301588" y="2314956"/>
            <a:ext cx="2464994" cy="2531872"/>
          </a:xfrm>
          <a:prstGeom prst="roundRect">
            <a:avLst>
              <a:gd name="adj" fmla="val 2968"/>
            </a:avLst>
          </a:prstGeom>
          <a:solidFill>
            <a:srgbClr val="FFFFFF"/>
          </a:solidFill>
          <a:ln w="15875">
            <a:solidFill>
              <a:srgbClr val="84B0AD"/>
            </a:solidFill>
            <a:prstDash val="solid"/>
          </a:ln>
        </p:spPr>
      </p:sp>
      <p:sp>
        <p:nvSpPr>
          <p:cNvPr id="20" name="step-hex"/>
          <p:cNvSpPr/>
          <p:nvPr/>
        </p:nvSpPr>
        <p:spPr>
          <a:xfrm>
            <a:off x="6438748" y="2424684"/>
            <a:ext cx="530352" cy="459285"/>
          </a:xfrm>
          <a:prstGeom prst="hexagon">
            <a:avLst/>
          </a:prstGeom>
          <a:solidFill>
            <a:srgbClr val="1F6F6A"/>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electrons are delocalised: free to move through the whole structure.</a:t>
            </a:r>
            <a:endParaRPr lang="en-US" sz="1800" dirty="0"/>
          </a:p>
        </p:txBody>
      </p:sp>
      <p:sp>
        <p:nvSpPr>
          <p:cNvPr id="23" name="arrow"/>
          <p:cNvSpPr/>
          <p:nvPr/>
        </p:nvSpPr>
        <p:spPr>
          <a:xfrm>
            <a:off x="8839733" y="3443732"/>
            <a:ext cx="274320" cy="274320"/>
          </a:xfrm>
          <a:prstGeom prst="rightArrow">
            <a:avLst/>
          </a:prstGeom>
          <a:solidFill>
            <a:srgbClr val="B8862B"/>
          </a:solidFill>
          <a:ln/>
        </p:spPr>
      </p:sp>
      <p:sp>
        <p:nvSpPr>
          <p:cNvPr id="24" name="step-box"/>
          <p:cNvSpPr/>
          <p:nvPr/>
        </p:nvSpPr>
        <p:spPr>
          <a:xfrm>
            <a:off x="9178061" y="2314956"/>
            <a:ext cx="2464994" cy="2531872"/>
          </a:xfrm>
          <a:prstGeom prst="roundRect">
            <a:avLst>
              <a:gd name="adj" fmla="val 2968"/>
            </a:avLst>
          </a:prstGeom>
          <a:solidFill>
            <a:srgbClr val="FFFFFF"/>
          </a:solidFill>
          <a:ln w="15875">
            <a:solidFill>
              <a:srgbClr val="84B0AD"/>
            </a:solidFill>
            <a:prstDash val="solid"/>
          </a:ln>
        </p:spPr>
      </p:sp>
      <p:sp>
        <p:nvSpPr>
          <p:cNvPr id="25" name="step-hex"/>
          <p:cNvSpPr/>
          <p:nvPr/>
        </p:nvSpPr>
        <p:spPr>
          <a:xfrm>
            <a:off x="9315221" y="2424684"/>
            <a:ext cx="530352" cy="459285"/>
          </a:xfrm>
          <a:prstGeom prst="hexagon">
            <a:avLst/>
          </a:prstGeom>
          <a:solidFill>
            <a:srgbClr val="1F6F6A"/>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Strong electrostatic attraction between the positive ions and the delocalised electrons holds the structure together.</a:t>
            </a:r>
            <a:endParaRPr lang="en-US" sz="1800" dirty="0"/>
          </a:p>
        </p:txBody>
      </p:sp>
      <p:sp>
        <p:nvSpPr>
          <p:cNvPr id="28" name="worked-answer"/>
          <p:cNvSpPr/>
          <p:nvPr/>
        </p:nvSpPr>
        <p:spPr>
          <a:xfrm>
            <a:off x="1463040" y="5313680"/>
            <a:ext cx="9265615" cy="831088"/>
          </a:xfrm>
          <a:prstGeom prst="roundRect">
            <a:avLst>
              <a:gd name="adj" fmla="val 22005"/>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 regular lattice of positive metal ions in layers, held together by strong electrostatic attraction to a sea of delocalised electrons.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Properties of metals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Conducts: delocalised electrons move. Bends: layers slide.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Metals conduct electricity because the delocalised electrons are free to move through the structure and carry charge.</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Metals are malleable (they can be hammered into shape) and ductile (they can be drawn out into wires).</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(Higher) Not all metals have the same melting point, and the metallic bonding explains why.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Worked example: Properties of metals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2EC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Aluminium is in Group 3 and sodium is in Group 1. Explain why aluminium has a higher melting point than sodium.</a:t>
            </a:r>
            <a:endParaRPr lang="en-US" sz="2000" dirty="0"/>
          </a:p>
        </p:txBody>
      </p:sp>
      <p:sp>
        <p:nvSpPr>
          <p:cNvPr id="9" name="step-box"/>
          <p:cNvSpPr/>
          <p:nvPr/>
        </p:nvSpPr>
        <p:spPr>
          <a:xfrm>
            <a:off x="548640" y="2502408"/>
            <a:ext cx="11094415" cy="777240"/>
          </a:xfrm>
          <a:prstGeom prst="roundRect">
            <a:avLst>
              <a:gd name="adj" fmla="val 9412"/>
            </a:avLst>
          </a:prstGeom>
          <a:solidFill>
            <a:srgbClr val="FFFFFF"/>
          </a:solidFill>
          <a:ln w="15875">
            <a:solidFill>
              <a:srgbClr val="84B0AD"/>
            </a:solidFill>
            <a:prstDash val="solid"/>
          </a:ln>
        </p:spPr>
      </p:sp>
      <p:sp>
        <p:nvSpPr>
          <p:cNvPr id="10" name="step-hex"/>
          <p:cNvSpPr/>
          <p:nvPr/>
        </p:nvSpPr>
        <p:spPr>
          <a:xfrm>
            <a:off x="685800" y="2693060"/>
            <a:ext cx="457200" cy="395935"/>
          </a:xfrm>
          <a:prstGeom prst="hexagon">
            <a:avLst/>
          </a:prstGeom>
          <a:solidFill>
            <a:srgbClr val="1F6F6A"/>
          </a:solidFill>
          <a:ln/>
        </p:spPr>
      </p:sp>
      <p:sp>
        <p:nvSpPr>
          <p:cNvPr id="11" name="step-hex-label"/>
          <p:cNvSpPr txBox="1"/>
          <p:nvPr/>
        </p:nvSpPr>
        <p:spPr>
          <a:xfrm>
            <a:off x="685800" y="269306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77724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Each aluminium atom gives 3 electrons to the sea of delocalised electrons and forms an Al³⁺ ion; each sodium atom gives 1 and forms Na⁺.</a:t>
            </a:r>
            <a:endParaRPr lang="en-US" sz="1800" dirty="0"/>
          </a:p>
        </p:txBody>
      </p:sp>
      <p:sp>
        <p:nvSpPr>
          <p:cNvPr id="13" name="step-box"/>
          <p:cNvSpPr/>
          <p:nvPr/>
        </p:nvSpPr>
        <p:spPr>
          <a:xfrm>
            <a:off x="548640" y="3352800"/>
            <a:ext cx="11094415" cy="513080"/>
          </a:xfrm>
          <a:prstGeom prst="roundRect">
            <a:avLst>
              <a:gd name="adj" fmla="val 14257"/>
            </a:avLst>
          </a:prstGeom>
          <a:solidFill>
            <a:srgbClr val="FFFFFF"/>
          </a:solidFill>
          <a:ln w="15875">
            <a:solidFill>
              <a:srgbClr val="84B0AD"/>
            </a:solidFill>
            <a:prstDash val="solid"/>
          </a:ln>
        </p:spPr>
      </p:sp>
      <p:sp>
        <p:nvSpPr>
          <p:cNvPr id="14" name="step-hex"/>
          <p:cNvSpPr/>
          <p:nvPr/>
        </p:nvSpPr>
        <p:spPr>
          <a:xfrm>
            <a:off x="685800" y="3411372"/>
            <a:ext cx="457200" cy="395935"/>
          </a:xfrm>
          <a:prstGeom prst="hexagon">
            <a:avLst/>
          </a:prstGeom>
          <a:solidFill>
            <a:srgbClr val="1F6F6A"/>
          </a:solidFill>
          <a:ln/>
        </p:spPr>
      </p:sp>
      <p:sp>
        <p:nvSpPr>
          <p:cNvPr id="15" name="step-hex-label"/>
          <p:cNvSpPr txBox="1"/>
          <p:nvPr/>
        </p:nvSpPr>
        <p:spPr>
          <a:xfrm>
            <a:off x="685800" y="341137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352800"/>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Aluminium has 3 ÷ 1 = 3 times as many delocalised electrons per ion, and its ions carry a bigger charge.</a:t>
            </a:r>
            <a:endParaRPr lang="en-US" sz="1800" dirty="0"/>
          </a:p>
        </p:txBody>
      </p:sp>
      <p:sp>
        <p:nvSpPr>
          <p:cNvPr id="17" name="step-box"/>
          <p:cNvSpPr/>
          <p:nvPr/>
        </p:nvSpPr>
        <p:spPr>
          <a:xfrm>
            <a:off x="548640" y="3939032"/>
            <a:ext cx="11094415" cy="513080"/>
          </a:xfrm>
          <a:prstGeom prst="roundRect">
            <a:avLst>
              <a:gd name="adj" fmla="val 14257"/>
            </a:avLst>
          </a:prstGeom>
          <a:solidFill>
            <a:srgbClr val="FFFFFF"/>
          </a:solidFill>
          <a:ln w="15875">
            <a:solidFill>
              <a:srgbClr val="84B0AD"/>
            </a:solidFill>
            <a:prstDash val="solid"/>
          </a:ln>
        </p:spPr>
      </p:sp>
      <p:sp>
        <p:nvSpPr>
          <p:cNvPr id="18" name="step-hex"/>
          <p:cNvSpPr/>
          <p:nvPr/>
        </p:nvSpPr>
        <p:spPr>
          <a:xfrm>
            <a:off x="685800" y="3997604"/>
            <a:ext cx="457200" cy="395935"/>
          </a:xfrm>
          <a:prstGeom prst="hexagon">
            <a:avLst/>
          </a:prstGeom>
          <a:solidFill>
            <a:srgbClr val="1F6F6A"/>
          </a:solidFill>
          <a:ln/>
        </p:spPr>
      </p:sp>
      <p:sp>
        <p:nvSpPr>
          <p:cNvPr id="19" name="step-hex-label"/>
          <p:cNvSpPr txBox="1"/>
          <p:nvPr/>
        </p:nvSpPr>
        <p:spPr>
          <a:xfrm>
            <a:off x="685800" y="399760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939032"/>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 the electrostatic attraction between the ions and the electrons is stronger in aluminium.</a:t>
            </a:r>
            <a:endParaRPr lang="en-US" sz="1800" dirty="0"/>
          </a:p>
        </p:txBody>
      </p:sp>
      <p:sp>
        <p:nvSpPr>
          <p:cNvPr id="21" name="step-box"/>
          <p:cNvSpPr/>
          <p:nvPr/>
        </p:nvSpPr>
        <p:spPr>
          <a:xfrm>
            <a:off x="548640" y="4525264"/>
            <a:ext cx="11094415" cy="513080"/>
          </a:xfrm>
          <a:prstGeom prst="roundRect">
            <a:avLst>
              <a:gd name="adj" fmla="val 14257"/>
            </a:avLst>
          </a:prstGeom>
          <a:solidFill>
            <a:srgbClr val="FFFFFF"/>
          </a:solidFill>
          <a:ln w="15875">
            <a:solidFill>
              <a:srgbClr val="84B0AD"/>
            </a:solidFill>
            <a:prstDash val="solid"/>
          </a:ln>
        </p:spPr>
      </p:sp>
      <p:sp>
        <p:nvSpPr>
          <p:cNvPr id="22" name="step-hex"/>
          <p:cNvSpPr/>
          <p:nvPr/>
        </p:nvSpPr>
        <p:spPr>
          <a:xfrm>
            <a:off x="685800" y="4583836"/>
            <a:ext cx="457200" cy="395935"/>
          </a:xfrm>
          <a:prstGeom prst="hexagon">
            <a:avLst/>
          </a:prstGeom>
          <a:solidFill>
            <a:srgbClr val="1F6F6A"/>
          </a:solidFill>
          <a:ln/>
        </p:spPr>
      </p:sp>
      <p:sp>
        <p:nvSpPr>
          <p:cNvPr id="23" name="step-hex-label"/>
          <p:cNvSpPr txBox="1"/>
          <p:nvPr/>
        </p:nvSpPr>
        <p:spPr>
          <a:xfrm>
            <a:off x="685800" y="458383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25264"/>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More energy is needed to overcome the stronger attraction, so aluminium's melting point is higher.</a:t>
            </a:r>
            <a:endParaRPr lang="en-US" sz="1800" dirty="0"/>
          </a:p>
        </p:txBody>
      </p:sp>
      <p:sp>
        <p:nvSpPr>
          <p:cNvPr id="25" name="worked-answer"/>
          <p:cNvSpPr/>
          <p:nvPr/>
        </p:nvSpPr>
        <p:spPr>
          <a:xfrm>
            <a:off x="548640" y="5221224"/>
            <a:ext cx="11094415" cy="831088"/>
          </a:xfrm>
          <a:prstGeom prst="roundRect">
            <a:avLst>
              <a:gd name="adj" fmla="val 16504"/>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Al³⁺ ions with three delocalised electrons each attract more strongly than Na⁺ ions with one, so more energy is needed to melt aluminium.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Alloys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Alloy = mixture, not compound. Different sized atoms distort the layers.</a:t>
            </a:r>
            <a:endParaRPr lang="en-US" sz="1800" dirty="0"/>
          </a:p>
        </p:txBody>
      </p:sp>
      <p:sp>
        <p:nvSpPr>
          <p:cNvPr id="11" name="point-card"/>
          <p:cNvSpPr/>
          <p:nvPr/>
        </p:nvSpPr>
        <p:spPr>
          <a:xfrm>
            <a:off x="548640" y="1389888"/>
            <a:ext cx="5410048" cy="3964940"/>
          </a:xfrm>
          <a:prstGeom prst="roundRect">
            <a:avLst>
              <a:gd name="adj" fmla="val 1384"/>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Pure metals are often too soft for the jobs we want them to do.</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Alloys are harder than pure metals because of the layers.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Worked example: Alloys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2ECEC"/>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steel is harder than pure iron.</a:t>
            </a:r>
            <a:endParaRPr lang="en-US" sz="2200" dirty="0"/>
          </a:p>
        </p:txBody>
      </p:sp>
      <p:sp>
        <p:nvSpPr>
          <p:cNvPr id="9" name="step-box"/>
          <p:cNvSpPr/>
          <p:nvPr/>
        </p:nvSpPr>
        <p:spPr>
          <a:xfrm>
            <a:off x="548640" y="2314956"/>
            <a:ext cx="2464994" cy="2252980"/>
          </a:xfrm>
          <a:prstGeom prst="roundRect">
            <a:avLst>
              <a:gd name="adj" fmla="val 3247"/>
            </a:avLst>
          </a:prstGeom>
          <a:solidFill>
            <a:srgbClr val="FFFFFF"/>
          </a:solidFill>
          <a:ln w="15875">
            <a:solidFill>
              <a:srgbClr val="84B0AD"/>
            </a:solidFill>
            <a:prstDash val="solid"/>
          </a:ln>
        </p:spPr>
      </p:sp>
      <p:sp>
        <p:nvSpPr>
          <p:cNvPr id="10" name="step-hex"/>
          <p:cNvSpPr/>
          <p:nvPr/>
        </p:nvSpPr>
        <p:spPr>
          <a:xfrm>
            <a:off x="685800" y="2424684"/>
            <a:ext cx="530352" cy="459285"/>
          </a:xfrm>
          <a:prstGeom prst="hexagon">
            <a:avLst/>
          </a:prstGeom>
          <a:solidFill>
            <a:srgbClr val="1F6F6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Pure iron has layers of iron ions, all the same size, in a regular arrangement.</a:t>
            </a:r>
            <a:endParaRPr lang="en-US" sz="1800" dirty="0"/>
          </a:p>
        </p:txBody>
      </p:sp>
      <p:sp>
        <p:nvSpPr>
          <p:cNvPr id="13" name="arrow"/>
          <p:cNvSpPr/>
          <p:nvPr/>
        </p:nvSpPr>
        <p:spPr>
          <a:xfrm>
            <a:off x="3086786" y="3304286"/>
            <a:ext cx="274320" cy="274320"/>
          </a:xfrm>
          <a:prstGeom prst="rightArrow">
            <a:avLst/>
          </a:prstGeom>
          <a:solidFill>
            <a:srgbClr val="B8862B"/>
          </a:solidFill>
          <a:ln/>
        </p:spPr>
      </p:sp>
      <p:sp>
        <p:nvSpPr>
          <p:cNvPr id="14" name="step-box"/>
          <p:cNvSpPr/>
          <p:nvPr/>
        </p:nvSpPr>
        <p:spPr>
          <a:xfrm>
            <a:off x="3425114" y="2314956"/>
            <a:ext cx="2464994" cy="2252980"/>
          </a:xfrm>
          <a:prstGeom prst="roundRect">
            <a:avLst>
              <a:gd name="adj" fmla="val 3247"/>
            </a:avLst>
          </a:prstGeom>
          <a:solidFill>
            <a:srgbClr val="FFFFFF"/>
          </a:solidFill>
          <a:ln w="15875">
            <a:solidFill>
              <a:srgbClr val="84B0AD"/>
            </a:solidFill>
            <a:prstDash val="solid"/>
          </a:ln>
        </p:spPr>
      </p:sp>
      <p:sp>
        <p:nvSpPr>
          <p:cNvPr id="15" name="step-hex"/>
          <p:cNvSpPr/>
          <p:nvPr/>
        </p:nvSpPr>
        <p:spPr>
          <a:xfrm>
            <a:off x="3562274" y="2424684"/>
            <a:ext cx="530352" cy="459285"/>
          </a:xfrm>
          <a:prstGeom prst="hexagon">
            <a:avLst/>
          </a:prstGeom>
          <a:solidFill>
            <a:srgbClr val="1F6F6A"/>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Those layers can slide over each other easily, so pure iron is soft and bends.</a:t>
            </a:r>
            <a:endParaRPr lang="en-US" sz="1800" dirty="0"/>
          </a:p>
        </p:txBody>
      </p:sp>
      <p:sp>
        <p:nvSpPr>
          <p:cNvPr id="18" name="arrow"/>
          <p:cNvSpPr/>
          <p:nvPr/>
        </p:nvSpPr>
        <p:spPr>
          <a:xfrm>
            <a:off x="5963260" y="3304286"/>
            <a:ext cx="274320" cy="274320"/>
          </a:xfrm>
          <a:prstGeom prst="rightArrow">
            <a:avLst/>
          </a:prstGeom>
          <a:solidFill>
            <a:srgbClr val="B8862B"/>
          </a:solidFill>
          <a:ln/>
        </p:spPr>
      </p:sp>
      <p:sp>
        <p:nvSpPr>
          <p:cNvPr id="19" name="step-box"/>
          <p:cNvSpPr/>
          <p:nvPr/>
        </p:nvSpPr>
        <p:spPr>
          <a:xfrm>
            <a:off x="6301588" y="2314956"/>
            <a:ext cx="2464994" cy="2252980"/>
          </a:xfrm>
          <a:prstGeom prst="roundRect">
            <a:avLst>
              <a:gd name="adj" fmla="val 3247"/>
            </a:avLst>
          </a:prstGeom>
          <a:solidFill>
            <a:srgbClr val="FFFFFF"/>
          </a:solidFill>
          <a:ln w="15875">
            <a:solidFill>
              <a:srgbClr val="84B0AD"/>
            </a:solidFill>
            <a:prstDash val="solid"/>
          </a:ln>
        </p:spPr>
      </p:sp>
      <p:sp>
        <p:nvSpPr>
          <p:cNvPr id="20" name="step-hex"/>
          <p:cNvSpPr/>
          <p:nvPr/>
        </p:nvSpPr>
        <p:spPr>
          <a:xfrm>
            <a:off x="6438748" y="2424684"/>
            <a:ext cx="530352" cy="459285"/>
          </a:xfrm>
          <a:prstGeom prst="hexagon">
            <a:avLst/>
          </a:prstGeom>
          <a:solidFill>
            <a:srgbClr val="1F6F6A"/>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Steel contains carbon atoms, which are a different size from iron ions.</a:t>
            </a:r>
            <a:endParaRPr lang="en-US" sz="1800" dirty="0"/>
          </a:p>
        </p:txBody>
      </p:sp>
      <p:sp>
        <p:nvSpPr>
          <p:cNvPr id="23" name="arrow"/>
          <p:cNvSpPr/>
          <p:nvPr/>
        </p:nvSpPr>
        <p:spPr>
          <a:xfrm>
            <a:off x="8839733" y="3304286"/>
            <a:ext cx="274320" cy="274320"/>
          </a:xfrm>
          <a:prstGeom prst="rightArrow">
            <a:avLst/>
          </a:prstGeom>
          <a:solidFill>
            <a:srgbClr val="B8862B"/>
          </a:solidFill>
          <a:ln/>
        </p:spPr>
      </p:sp>
      <p:sp>
        <p:nvSpPr>
          <p:cNvPr id="24" name="step-box"/>
          <p:cNvSpPr/>
          <p:nvPr/>
        </p:nvSpPr>
        <p:spPr>
          <a:xfrm>
            <a:off x="9178061" y="2314956"/>
            <a:ext cx="2464994" cy="2252980"/>
          </a:xfrm>
          <a:prstGeom prst="roundRect">
            <a:avLst>
              <a:gd name="adj" fmla="val 3247"/>
            </a:avLst>
          </a:prstGeom>
          <a:solidFill>
            <a:srgbClr val="FFFFFF"/>
          </a:solidFill>
          <a:ln w="15875">
            <a:solidFill>
              <a:srgbClr val="84B0AD"/>
            </a:solidFill>
            <a:prstDash val="solid"/>
          </a:ln>
        </p:spPr>
      </p:sp>
      <p:sp>
        <p:nvSpPr>
          <p:cNvPr id="25" name="step-hex"/>
          <p:cNvSpPr/>
          <p:nvPr/>
        </p:nvSpPr>
        <p:spPr>
          <a:xfrm>
            <a:off x="9315221" y="2424684"/>
            <a:ext cx="530352" cy="459285"/>
          </a:xfrm>
          <a:prstGeom prst="hexagon">
            <a:avLst/>
          </a:prstGeom>
          <a:solidFill>
            <a:srgbClr val="1F6F6A"/>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They distort the layers so the layers cannot slide as easily, which makes steel harder.</a:t>
            </a:r>
            <a:endParaRPr lang="en-US" sz="1800" dirty="0"/>
          </a:p>
        </p:txBody>
      </p:sp>
      <p:sp>
        <p:nvSpPr>
          <p:cNvPr id="28" name="worked-answer"/>
          <p:cNvSpPr/>
          <p:nvPr/>
        </p:nvSpPr>
        <p:spPr>
          <a:xfrm>
            <a:off x="1463040" y="5313680"/>
            <a:ext cx="9265615" cy="831088"/>
          </a:xfrm>
          <a:prstGeom prst="roundRect">
            <a:avLst>
              <a:gd name="adj" fmla="val 22005"/>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Carbon atoms of a different size distort the regular layers of iron ions, so the layers cannot slide as easily.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Nanoparticles (Chemistry only)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Chemistry only. Side ÷ 10 means surface area to volume ratio × 10.</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This section is Chemistry only: it is examined in GCSE Chemistry (8462) but not in Combined Science.</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What makes nanoparticles special is their surface area to volume ratio.</a:t>
            </a:r>
            <a:endParaRPr lang="en-US" sz="20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Nanoparticles of titanium dioxide are used in sunscreens, because they block ultraviolet light while staying invisible on the skin, and in self-cleaning glass, where they break down dirt in sunlight.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1F6F6A"/>
                </a:solidFill>
                <a:latin typeface="Cambria" pitchFamily="34" charset="0"/>
                <a:ea typeface="Cambria" pitchFamily="34" charset="-122"/>
                <a:cs typeface="Cambria" pitchFamily="34" charset="-120"/>
              </a:rPr>
              <a:t>Worked example: Nanoparticles (Chemistry only)</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C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Work out the surface area to volume ratio of a cube with sides of 1 nm and of a cube with sides of 10 nm.</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84B0AD"/>
            </a:solidFill>
            <a:prstDash val="solid"/>
          </a:ln>
        </p:spPr>
      </p:sp>
      <p:sp>
        <p:nvSpPr>
          <p:cNvPr id="10" name="step-hex"/>
          <p:cNvSpPr/>
          <p:nvPr/>
        </p:nvSpPr>
        <p:spPr>
          <a:xfrm>
            <a:off x="685800" y="2765552"/>
            <a:ext cx="530352" cy="459285"/>
          </a:xfrm>
          <a:prstGeom prst="hexagon">
            <a:avLst/>
          </a:prstGeom>
          <a:solidFill>
            <a:srgbClr val="1F6F6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Side 1 nm: surface area = 6 × 1 × 1 = 6; volume = 1 × 1 × 1 = 1; ratio = 6 ÷ 1 = 6.</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84B0AD"/>
            </a:solidFill>
            <a:prstDash val="solid"/>
          </a:ln>
        </p:spPr>
      </p:sp>
      <p:sp>
        <p:nvSpPr>
          <p:cNvPr id="15" name="step-hex"/>
          <p:cNvSpPr/>
          <p:nvPr/>
        </p:nvSpPr>
        <p:spPr>
          <a:xfrm>
            <a:off x="4521098" y="2765552"/>
            <a:ext cx="530352" cy="459285"/>
          </a:xfrm>
          <a:prstGeom prst="hexagon">
            <a:avLst/>
          </a:prstGeom>
          <a:solidFill>
            <a:srgbClr val="1F6F6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Side 10 nm: surface area = 6 × 10 × 10 = 600; volume = 10 × 10 × 10 = 1000; ratio = 600 ÷ 1000 = 0.6.</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84B0AD"/>
            </a:solidFill>
            <a:prstDash val="solid"/>
          </a:ln>
        </p:spPr>
      </p:sp>
      <p:sp>
        <p:nvSpPr>
          <p:cNvPr id="20" name="step-hex"/>
          <p:cNvSpPr/>
          <p:nvPr/>
        </p:nvSpPr>
        <p:spPr>
          <a:xfrm>
            <a:off x="8356397" y="2765552"/>
            <a:ext cx="530352" cy="459285"/>
          </a:xfrm>
          <a:prstGeom prst="hexagon">
            <a:avLst/>
          </a:prstGeom>
          <a:solidFill>
            <a:srgbClr val="1F6F6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Compare: 6 ÷ 0.6 = 10. The smaller cube's ratio is 10 times bigger.</a:t>
            </a:r>
            <a:endParaRPr lang="en-US" sz="1800" dirty="0"/>
          </a:p>
        </p:txBody>
      </p:sp>
      <p:sp>
        <p:nvSpPr>
          <p:cNvPr id="23" name="worked-answer"/>
          <p:cNvSpPr/>
          <p:nvPr/>
        </p:nvSpPr>
        <p:spPr>
          <a:xfrm>
            <a:off x="1463040" y="5313680"/>
            <a:ext cx="9265615" cy="831088"/>
          </a:xfrm>
          <a:prstGeom prst="roundRect">
            <a:avLst>
              <a:gd name="adj" fmla="val 22005"/>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6 for the 1 nm cube and 0.6 for the 10 nm cube: making the side 10 times smaller makes the ratio 10 times bigger.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Why metals conduct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Why do metals conduct electricity?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Delocalised electrons are free to move through the structure and carry charge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metal ions are free to move and carry charge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Metals contain molecules that pass electrons from one to the next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layers of ions slide and carry the current along</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Why metals conduct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Why do metals conduct electricity?</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2EC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Conduction needs charged particles that are free to move.</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a metal the ions are fixed in layers, so it is not them.</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outer electrons have left the atoms and are delocalised: they move and carry charge.</a:t>
            </a:r>
            <a:endParaRPr lang="en-US" sz="1800" dirty="0"/>
          </a:p>
        </p:txBody>
      </p:sp>
      <p:sp>
        <p:nvSpPr>
          <p:cNvPr id="17" name="col-Core"/>
          <p:cNvSpPr/>
          <p:nvPr/>
        </p:nvSpPr>
        <p:spPr>
          <a:xfrm>
            <a:off x="4338218" y="2578608"/>
            <a:ext cx="3515258" cy="3566160"/>
          </a:xfrm>
          <a:prstGeom prst="roundRect">
            <a:avLst>
              <a:gd name="adj" fmla="val 1561"/>
            </a:avLst>
          </a:prstGeom>
          <a:solidFill>
            <a:srgbClr val="C7DBDA"/>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Which particles in a metal are free to move: the ions or the electrons?</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1F6F6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Graphite and copper both conduct because of delocalised electrons. Compare where those electrons come from in each structure, and explain why graphite is not a metal.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Same task, three ways in: Harder than the pure metal</a:t>
            </a:r>
            <a:endParaRPr lang="en-US" sz="28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Steel is an alloy of iron with a small amount of carbon. Explain why steel is harder than pure iron.</a:t>
            </a:r>
            <a:endParaRPr lang="en-US" sz="2000" dirty="0"/>
          </a:p>
          <a:p>
            <a:pPr algn="ctr" indent="0" marL="0">
              <a:buNone/>
            </a:pPr>
            <a:r>
              <a:rPr lang="en-US" sz="1800" dirty="0">
                <a:solidFill>
                  <a:srgbClr val="4A505C"/>
                </a:solidFill>
                <a:latin typeface="Calibri" pitchFamily="34" charset="0"/>
                <a:ea typeface="Calibri" pitchFamily="34" charset="-122"/>
                <a:cs typeface="Calibri" pitchFamily="34" charset="-120"/>
              </a:rPr>
              <a:t>3 marks · Write in full sentences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Describe the layers in the pure metal and what they can do (slide).</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Say what is different about the added atoms (their size).</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Say what the different size does to the layers, and what that does to the hardness.</a:t>
            </a:r>
            <a:endParaRPr lang="en-US" sz="1800" dirty="0"/>
          </a:p>
        </p:txBody>
      </p:sp>
      <p:sp>
        <p:nvSpPr>
          <p:cNvPr id="17" name="col-Core"/>
          <p:cNvSpPr/>
          <p:nvPr/>
        </p:nvSpPr>
        <p:spPr>
          <a:xfrm>
            <a:off x="5490762" y="2948940"/>
            <a:ext cx="2938987" cy="3195828"/>
          </a:xfrm>
          <a:prstGeom prst="roundRect">
            <a:avLst>
              <a:gd name="adj" fmla="val 1867"/>
            </a:avLst>
          </a:prstGeom>
          <a:solidFill>
            <a:srgbClr val="C7DBDA"/>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marks: regular layers slide; different sized atoms; layers distorted so they cannot slide.</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1F6F6A"/>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Suggest why adding too much carbon to iron can make the steel brittle rather than just harder, using the same picture of layers.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Chemistry only. A cube-shaped nanoparticle has sides of 2 nm. Work out its surface area to volume ratio (surface area ÷ volume). Give the number only.</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Why metals conduct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do metals conduct electricity?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Delocalised electrons are free to move through the structure and carry charge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Delocalised electrons move freely through the metal and carry the charge.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Harder than the pure metal</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5486400" cy="50292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5486400" cy="1409023"/>
          </a:xfrm>
          <a:prstGeom prst="roundRect">
            <a:avLst>
              <a:gd name="adj" fmla="val 6490"/>
            </a:avLst>
          </a:prstGeom>
          <a:solidFill>
            <a:srgbClr val="E6EFEF"/>
          </a:solidFill>
          <a:ln/>
        </p:spPr>
      </p:sp>
      <p:sp>
        <p:nvSpPr>
          <p:cNvPr id="9" name="tickbox"/>
          <p:cNvSpPr/>
          <p:nvPr/>
        </p:nvSpPr>
        <p:spPr>
          <a:xfrm>
            <a:off x="713232" y="2542455"/>
            <a:ext cx="292608" cy="292608"/>
          </a:xfrm>
          <a:prstGeom prst="rect">
            <a:avLst/>
          </a:prstGeom>
          <a:solidFill>
            <a:srgbClr val="FFFFFF"/>
          </a:solidFill>
          <a:ln w="19050">
            <a:solidFill>
              <a:srgbClr val="1F6F6A"/>
            </a:solidFill>
            <a:prstDash val="solid"/>
          </a:ln>
        </p:spPr>
      </p:sp>
      <p:sp>
        <p:nvSpPr>
          <p:cNvPr id="10" name="crit"/>
          <p:cNvSpPr txBox="1"/>
          <p:nvPr/>
        </p:nvSpPr>
        <p:spPr>
          <a:xfrm>
            <a:off x="1143000" y="1984248"/>
            <a:ext cx="4709160" cy="140902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pure iron the ions are all the same size and arranged in regular layers that can slide over each other easily.</a:t>
            </a:r>
            <a:endParaRPr lang="en-US" sz="2200" dirty="0"/>
          </a:p>
        </p:txBody>
      </p:sp>
      <p:sp>
        <p:nvSpPr>
          <p:cNvPr id="11" name="crit-box"/>
          <p:cNvSpPr/>
          <p:nvPr/>
        </p:nvSpPr>
        <p:spPr>
          <a:xfrm>
            <a:off x="548640" y="3484711"/>
            <a:ext cx="5486400" cy="1409023"/>
          </a:xfrm>
          <a:prstGeom prst="roundRect">
            <a:avLst>
              <a:gd name="adj" fmla="val 6490"/>
            </a:avLst>
          </a:prstGeom>
          <a:solidFill>
            <a:srgbClr val="E6EFEF"/>
          </a:solidFill>
          <a:ln/>
        </p:spPr>
      </p:sp>
      <p:sp>
        <p:nvSpPr>
          <p:cNvPr id="12" name="tickbox"/>
          <p:cNvSpPr/>
          <p:nvPr/>
        </p:nvSpPr>
        <p:spPr>
          <a:xfrm>
            <a:off x="713232" y="4042918"/>
            <a:ext cx="292608" cy="292608"/>
          </a:xfrm>
          <a:prstGeom prst="rect">
            <a:avLst/>
          </a:prstGeom>
          <a:solidFill>
            <a:srgbClr val="FFFFFF"/>
          </a:solidFill>
          <a:ln w="19050">
            <a:solidFill>
              <a:srgbClr val="1F6F6A"/>
            </a:solidFill>
            <a:prstDash val="solid"/>
          </a:ln>
        </p:spPr>
      </p:sp>
      <p:sp>
        <p:nvSpPr>
          <p:cNvPr id="13" name="crit"/>
          <p:cNvSpPr txBox="1"/>
          <p:nvPr/>
        </p:nvSpPr>
        <p:spPr>
          <a:xfrm>
            <a:off x="1143000" y="3484711"/>
            <a:ext cx="4709160" cy="140902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Carbon atoms are a different size from iron ions, so they distort the layers.</a:t>
            </a:r>
            <a:endParaRPr lang="en-US" sz="2200" dirty="0"/>
          </a:p>
        </p:txBody>
      </p:sp>
      <p:sp>
        <p:nvSpPr>
          <p:cNvPr id="14" name="crit-box"/>
          <p:cNvSpPr/>
          <p:nvPr/>
        </p:nvSpPr>
        <p:spPr>
          <a:xfrm>
            <a:off x="548640" y="4985173"/>
            <a:ext cx="5486400" cy="1068155"/>
          </a:xfrm>
          <a:prstGeom prst="roundRect">
            <a:avLst>
              <a:gd name="adj" fmla="val 8561"/>
            </a:avLst>
          </a:prstGeom>
          <a:solidFill>
            <a:srgbClr val="E6EFEF"/>
          </a:solidFill>
          <a:ln/>
        </p:spPr>
      </p:sp>
      <p:sp>
        <p:nvSpPr>
          <p:cNvPr id="15" name="tickbox"/>
          <p:cNvSpPr/>
          <p:nvPr/>
        </p:nvSpPr>
        <p:spPr>
          <a:xfrm>
            <a:off x="713232" y="5372947"/>
            <a:ext cx="292608" cy="292608"/>
          </a:xfrm>
          <a:prstGeom prst="rect">
            <a:avLst/>
          </a:prstGeom>
          <a:solidFill>
            <a:srgbClr val="FFFFFF"/>
          </a:solidFill>
          <a:ln w="19050">
            <a:solidFill>
              <a:srgbClr val="1F6F6A"/>
            </a:solidFill>
            <a:prstDash val="solid"/>
          </a:ln>
        </p:spPr>
      </p:sp>
      <p:sp>
        <p:nvSpPr>
          <p:cNvPr id="16" name="crit"/>
          <p:cNvSpPr txBox="1"/>
          <p:nvPr/>
        </p:nvSpPr>
        <p:spPr>
          <a:xfrm>
            <a:off x="1143000" y="4985173"/>
            <a:ext cx="4709160" cy="106815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layers can no longer slide over each other easily, so steel is harder.</a:t>
            </a:r>
            <a:endParaRPr lang="en-US" sz="2200" dirty="0"/>
          </a:p>
        </p:txBody>
      </p:sp>
      <p:sp>
        <p:nvSpPr>
          <p:cNvPr id="17" name="model-panel"/>
          <p:cNvSpPr/>
          <p:nvPr/>
        </p:nvSpPr>
        <p:spPr>
          <a:xfrm>
            <a:off x="6309360" y="1389888"/>
            <a:ext cx="5333695" cy="4754880"/>
          </a:xfrm>
          <a:prstGeom prst="roundRect">
            <a:avLst>
              <a:gd name="adj" fmla="val 962"/>
            </a:avLst>
          </a:prstGeom>
          <a:solidFill>
            <a:srgbClr val="F4EDDF"/>
          </a:solidFill>
          <a:ln w="19050">
            <a:solidFill>
              <a:srgbClr val="B8862B"/>
            </a:solidFill>
            <a:prstDash val="solid"/>
          </a:ln>
        </p:spPr>
      </p:sp>
      <p:sp>
        <p:nvSpPr>
          <p:cNvPr id="18" name="model-tab"/>
          <p:cNvSpPr/>
          <p:nvPr/>
        </p:nvSpPr>
        <p:spPr>
          <a:xfrm>
            <a:off x="649224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19" name="model"/>
          <p:cNvSpPr txBox="1"/>
          <p:nvPr/>
        </p:nvSpPr>
        <p:spPr>
          <a:xfrm>
            <a:off x="6537960" y="2167128"/>
            <a:ext cx="487649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Pure iron is made of layers of iron ions that are all the same size, so the layers are regular and can slide over one another easily, which makes pure iron soft. In steel, carbon atoms are mixed in with the iron. They are a different size, so they distort the regular layers. The distorted layers cannot slide over each other as easily, so steel is harder than pure iron.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Chemistry only. A cube-shaped nanoparticle has sides of 2 nm. Work out its surface area to volume ratio (surface area ÷ volume). Give the number only.</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24 ÷ 8 = 3. For any cube the ratio is 6 ÷ side, so smaller particles have a bigger ratio.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 and Bonding · Chapter 6: Metals and alloys</dc:title>
  <dc:subject>Chemistry (Combined Science) · Year 10</dc:subject>
  <dc:creator>Dr Vitor Merissi de Carvalho</dc:creator>
  <cp:lastModifiedBy>Dr Vitor Merissi de Carvalho</cp:lastModifiedBy>
  <cp:revision>1</cp:revision>
  <dcterms:created xsi:type="dcterms:W3CDTF">2026-10-19T16:22:29Z</dcterms:created>
  <dcterms:modified xsi:type="dcterms:W3CDTF">2026-10-19T16:22:29Z</dcterms:modified>
</cp:coreProperties>
</file>