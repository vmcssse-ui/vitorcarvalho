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a2beebf-d1d7-8dee-b685-0f69df9b0dca}">
          <p14:sldIdLst>
            <p14:sldId id="256"/>
          </p14:sldIdLst>
        </p14:section>
        <p14:section name="Gate" id="{decf21b5-6e60-f4d7-2d69-94080c595379}">
          <p14:sldIdLst>
            <p14:sldId id="257"/>
            <p14:sldId id="258"/>
            <p14:sldId id="259"/>
          </p14:sldIdLst>
        </p14:section>
        <p14:section name="Pre-teach" id="{f6fdf770-88e6-0d31-c8eb-bbb3b21c2c47}">
          <p14:sldIdLst>
            <p14:sldId id="260"/>
            <p14:sldId id="261"/>
          </p14:sldIdLst>
        </p14:section>
        <p14:section name="Read-along" id="{f617606d-ca90-2b2c-f3e9-912d0b5a9f01}">
          <p14:sldIdLst>
            <p14:sldId id="262"/>
            <p14:sldId id="263"/>
          </p14:sldIdLst>
        </p14:section>
        <p14:section name="Teach" id="{527f184b-c930-6b75-7edf-20334ac5db2c}">
          <p14:sldIdLst>
            <p14:sldId id="264"/>
            <p14:sldId id="265"/>
            <p14:sldId id="266"/>
            <p14:sldId id="267"/>
            <p14:sldId id="268"/>
            <p14:sldId id="269"/>
          </p14:sldIdLst>
        </p14:section>
        <p14:section name="Routes" id="{d76a88fd-0b8c-4839-29a2-c466001656c8}">
          <p14:sldIdLst>
            <p14:sldId id="270"/>
            <p14:sldId id="271"/>
            <p14:sldId id="272"/>
            <p14:sldId id="273"/>
            <p14:sldId id="274"/>
            <p14:sldId id="275"/>
          </p14:sldIdLst>
        </p14:section>
        <p14:section name="Close" id="{9fd90eaf-4602-f61e-66c2-b74ec41e6110}">
          <p14:sldIdLst>
            <p14:sldId id="276"/>
          </p14:sldIdLst>
        </p14:section>
        <p14:section name="Answers" id="{4a5b115b-4b05-d630-9f5c-0a4e06f612cb}">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Treating and caring for the sick. This chapter sorts the treatments and preventions of the Renaissance into change and continuity, and then asks who treated the sick and where they were cared for.
This deck covers the department's lessons: 4 (Treatments and Preventions: What treatments and preventions were used in the Renaissance?); 5 (Caring for the Sick: How were sick people cared for and treated?).
Read the big question aloud: "How important were individuals in driving change in medicine in Renaissance England, c1500–c1700?"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treatment carried on from the medieval period into the Renaissance?  →  B   Bloodletting, meant to rebalance the humours
2. A physician would write a wealthy patient a ___ sanitatis: a routine for keeping healthy.  →  regimen
3. What was new about pest houses in the Renaissance period?  →  C   They were buildings set aside for people with one disease, keeping them away from everyone else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treatment carried on from the medieval period into the Renaissance?  →  B   Bloodletting, meant to rebalance the humours
2. A physician would write a wealthy patient a ___ sanitatis: a routine for keeping healthy.  →  regimen
3. What was new about pest houses in the Renaissance period?  →  C   They were buildings set aside for people with one disease, keeping them away from everyone else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Bloodletting, meant to rebalance the humours. Bloodletting, purging and herbal remedies all continued, because the belief behind them, the Four Humours, continued too.
2. regimen. A regimen sanitatis covered diet, exercise and cleanliness. Only the rich could pay a physician for one.
3. C   They were buildings set aside for people with one disease, keeping them away from everyone else. A pest house took people with one disease, usually the plague or the pox, out of the community. In the medieval period a sick person generally stayed at home.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transference: the belief that an illness could be moved into an object or an animal. Example: "People used transference to try to move a wart into an onion."
• regimen sanitatis: a routine a physician wrote for one patient to keep them healthy. Example: "A rich patient paid for a regimen sanitatis covering diet and exercise."
• alchemy: an early form of chemistry in which substances were mixed to make new ones. Example: "Alchemy produced new chemical remedies for sale."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apothecary: a medic who mixed and sold medicines. Example: "The apothecary had far more remedies to learn than before."
• pest house: a building set aside for people with one particular disease. Example: "A patient with the plague might be sent to a pest house."
• dissolution: the closing down of the monasteries by Henry VIII from 1536. Example: "The dissolution of the monasteries closed most hospitals in England."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Most Renaissance treatments would have been familiar in the medieval period.
2. Bloodletting and purging carried on, meant to rebalance the humours.
3. Herbal remedies carried on too, with one new twist.
4. A remedy was often picked because its colour matched the illness.
5. Some treatments were new, such as transference.
6. People believed an illness could be moved into an object or animal.
7. Alchemy, an early chemistry, produced new chemical remedies.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book of 1618 listed over two thousand remedies for sale.
9. Prevention changed more than treatment did.
10. Streets were cleaned, swamps drained and rubbish cleared away.
11. People also moved away from places they thought were unhealthy.
12. Hospitals changed when Henry VIII closed the monasteries from 1536.
13. New pest houses kept people with one disease away from everyone else.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Treatments: what carried on, and what was new. Say it in your own words, then check understanding with a quick question: ask a pupil from the pre-teach group first, since they met these words and ideas before the lesson. Pupils try to recall before you re-explain.
Start with the continuity, because there is more of it. Keeping a careful diet was still believed to be among the best ways of staying well. Bloodletting was still used, meant to rebalance the humours, and purging was believed to do the same job from the other end: a patient was given something that would make them vomit or sweat. Herbal remedies remained popular. The one twist is that a remedy was often picked because its colour matched the illness: smallpox reddens the skin, so red things such as red wine were used against it.
Now the changes. Transference was a new idea in this period, and it became very popular. People believed that an illness could be rubbed out of a person and into an object: a wart, for example, might be rubbed with an onion so that it would pass into the onion. Someone with a fever might keep a sheep in the bedroom overnight, in the belief that the fever would move into the animal.
The second change is more important in the long run. The new science of alchemy, an early form of chemistry, developed in this period. Alchemists mixed substances to make new ones, and physicians began to hope for chemical cures rather than herbs and bloodletting alone. The ‘Pharmacopoeia Londinensis’, printed in 1618, ran to more than 2,140 remedies, and 122 of those came from chemical alchemy. Because this was also an age of exploration, new plants arrived from the Americas, and new remedies such as sarsaparilla came with them.
Tip: In a change-and-continuity answer, say what the treatment was FOR as well as what it was. Bloodletting continued because the belief behind it, the Four Humours, continued.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Preventions: cleaning the air and moving away. Say it in your own words, then check understanding with a quick question: ask a pupil from the pre-teach group first, since they met these words and ideas before the lesson. Pupils try to recall before you re-explain.
Prevention is where this period changed most, and the reason is miasma. Because most people believed bad air caused disease, more and more was done to remove it. In England a householder could be fined for leaving the street in front of his door dirty. Councils had marshes and boggy ground drained so that the smells would go. Criminals could be sentenced to clear rubbish from the streets, which tells you both how unpleasant the job was and how badly it was wanted.
Two preventions were new in a different way. People began to believe that where you lived mattered as much as how you lived. Leaving a place where disease had broken out, for somewhere thought healthier, became very popular among those who could afford it. People also began to believe that particular places and particular weather spread disease, so thermometers were used to measure the weather and set the readings against outbreaks. That is a real scientific habit applied to a mistaken idea.
Some prevention carried on unchanged. A physician would still write a patient a regimen sanitatis, a routine for keeping healthy through diet, exercise and cleanliness; only the rich could pay for one. Public bathing changed, though. Public baths, called stewes, lost their good name after a disease called the Great Pox spread in England, and many people gave them up. Instead they wiped themselves down with linen and put on clean clothes more often.
Worked example — model it step by step, thinking aloud: Sort these four into treatment or prevention, and into change or continuity: bloodletting; transference; draining a swamp; a regimen sanitatis. (1) Decide treatment or prevention first. A treatment is for someone who is already ill; a prevention is to stop them getting ill. (2) Bloodletting treats someone who is ill, and it carried on from the medieval period: treatment, continuity. (3) Transference also treats an illness someone already has, and the idea developed in this period: treatment, change. (4) Draining a swamp is to stop people getting ill and much more of it was done now: prevention, change. A regimen sanitatis is also prevention, and it carried on: prevention, continuity. Answer: Bloodletting: treatment, continuity. Transference: treatment, change. Draining a swamp: prevention, change. A regimen sanitatis: prevention,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Preventions: cleaning the air and moving away. Say it in your own words, then check understanding with a quick question: ask a pupil from the pre-teach group first, since they met these words and ideas before the lesson. Pupils try to recall before you re-explain.
Prevention is where this period changed most, and the reason is miasma. Because most people believed bad air caused disease, more and more was done to remove it. In England a householder could be fined for leaving the street in front of his door dirty. Councils had marshes and boggy ground drained so that the smells would go. Criminals could be sentenced to clear rubbish from the streets, which tells you both how unpleasant the job was and how badly it was wanted.
Two preventions were new in a different way. People began to believe that where you lived mattered as much as how you lived. Leaving a place where disease had broken out, for somewhere thought healthier, became very popular among those who could afford it. People also began to believe that particular places and particular weather spread disease, so thermometers were used to measure the weather and set the readings against outbreaks. That is a real scientific habit applied to a mistaken idea.
Some prevention carried on unchanged. A physician would still write a patient a regimen sanitatis, a routine for keeping healthy through diet, exercise and cleanliness; only the rich could pay for one. Public bathing changed, though. Public baths, called stewes, lost their good name after a disease called the Great Pox spread in England, and many people gave them up. Instead they wiped themselves down with linen and put on clean clothes more often.
Worked example — model it step by step, thinking aloud: Sort these four into treatment or prevention, and into change or continuity: bloodletting; transference; draining a swamp; a regimen sanitatis. (1) Decide treatment or prevention first. A treatment is for someone who is already ill; a prevention is to stop them getting ill. (2) Bloodletting treats someone who is ill, and it carried on from the medieval period: treatment, continuity. (3) Transference also treats an illness someone already has, and the idea developed in this period: treatment, change. (4) Draining a swamp is to stop people getting ill and much more of it was done now: prevention, change. A regimen sanitatis is also prevention, and it carried on: prevention, continuity. Answer: Bloodletting: treatment, continuity. Transference: treatment, change. Draining a swamp: prevention, change. A regimen sanitatis: prevention,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Preventions: cleaning the air and moving away. Say it in your own words, then check understanding with a quick question: ask a pupil from the pre-teach group first, since they met these words and ideas before the lesson. Pupils try to recall before you re-explain.
Prevention is where this period changed most, and the reason is miasma. Because most people believed bad air caused disease, more and more was done to remove it. In England a householder could be fined for leaving the street in front of his door dirty. Councils had marshes and boggy ground drained so that the smells would go. Criminals could be sentenced to clear rubbish from the streets, which tells you both how unpleasant the job was and how badly it was wanted.
Two preventions were new in a different way. People began to believe that where you lived mattered as much as how you lived. Leaving a place where disease had broken out, for somewhere thought healthier, became very popular among those who could afford it. People also began to believe that particular places and particular weather spread disease, so thermometers were used to measure the weather and set the readings against outbreaks. That is a real scientific habit applied to a mistaken idea.
Some prevention carried on unchanged. A physician would still write a patient a regimen sanitatis, a routine for keeping healthy through diet, exercise and cleanliness; only the rich could pay for one. Public bathing changed, though. Public baths, called stewes, lost their good name after a disease called the Great Pox spread in England, and many people gave them up. Instead they wiped themselves down with linen and put on clean clothes more often.
Worked example — model it step by step, thinking aloud: Sort these four into treatment or prevention, and into change or continuity: bloodletting; transference; draining a swamp; a regimen sanitatis. (1) Decide treatment or prevention first. A treatment is for someone who is already ill; a prevention is to stop them getting ill. (2) Bloodletting treats someone who is ill, and it carried on from the medieval period: treatment, continuity. (3) Transference also treats an illness someone already has, and the idea developed in this period: treatment, change. (4) Draining a swamp is to stop people getting ill and much more of it was done now: prevention, change. A regimen sanitatis is also prevention, and it carried on: prevention, continuity. Answer: Bloodletting: treatment, continuity. Transference: treatment, change. Draining a swamp: prevention, change. A regimen sanitatis: prevention, continuity..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Who treated the sick?. Say it in your own words, then check understanding with a quick question: ask a pupil from the pre-teach group first, since they met these words and ideas before the lesson. Pupils try to recall before you re-explain.
The four medical figures you met last unit were all still there, but two of their jobs got harder. An apothecary now had many more remedies to know, including the chemical ones in books such as the 1618 list, and a surgeon had more knowledge of the body to learn as anatomy improved. Harder jobs meant longer training, and that gradually made both more skilled and more respected, although neither held a university degree.
The physician's training shows continuity and change in one place. Dissection of human bodies was now legal, which it had not been, so medical students could in principle learn from a body. In practice it was still rarely done: very few bodies were available, since usually only those of executed criminals could be used, and many people still disliked the idea. What did change physicians' training was the printing press, which put accurate, illustrated anatomy books in front of every student.
Outside the paid medics, most care was still given by women in the household and by neighbours: community care. It remained popular for the simplest of reasons. It was free, it was close, and it was the only option for most people, since a physician's fee was out of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were the sick cared for?. Say it in your own words, then check understanding with a quick question: ask a pupil from the pre-teach group first, since they met these words and ideas before the lesson. Pupils try to recall before you re-explain.
Renaissance hospitals were for the sick poor, and mostly for people with illnesses thought likely to get better; the very infectious and the incurable were usually kept out. A patient could expect a bed, warmth, food, rest, prayers and, increasingly, a visit from a physician and medicines from an apothecary. Most of the day-to-day care was given by nuns or by hired nurses. That is a real change from the medieval hospital, which was closer to a place to rest and pray than a place to be treated.
Then came a shock. From 1536 Henry VIII closed the monasteries, a process called the dissolution of the monasteries, and because most hospitals were run by monks and nuns most of them closed too. For some years there was very little hospital care in England at all. A few were refounded with money from towns and wealthy donors: St Bartholomew's in London, one of the oldest, was closed and then reopened after the City asked the king for it.
One kind of building was completely new: the pest house. A pest house was set aside for people with one particular disease, usually the plague or the pox, so that they were kept apart from everyone else. That is different from the medieval period, when a sick person generally stayed at home. Keep it in mind for chapter 6, because isolation is the one prevention that will actually work in 1665.
Tip: The dissolution of the monasteries is an attitudes-and-beliefs factor doing something to medicine: a religious change with a medical consequence nobody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belief is this method based 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Renaissance method to the belief about disease that lay behind it.
Support — work through the steps with the group: (1) Read each method and ask: what did the person doing it think was wrong? (2) If the method attacks smells, dirt or air, the belief is miasma. (3) If the method takes something out of the body, the belief is the Four Humours. (4) That leaves the onion, which is transference, the instructions, which are about keeping healthy, and the alchemist's bottle, which is the new chemistry.
Parallel worked example for Support (model it, do not give the task answer): Practice: a family with a fever in the house keeps a sheep in the bedroom overnight. Which belief is this based on? Nothing is being taken out of the body and nothing is being cleaned.; The fever is supposed to go somewhere: into the animal.; That is the belief called transference.. Answer: Transference: the belief that an illness could be moved into an animal..
Core — reveal the hint only on request: Five methods, five beliefs. Two of them attack the body, one attacks the air, one moves the illness, and one is brand new.
Stretch — no help; when finished: Choose the two methods you think would have been most popular with ordinary people rather than physicians, and explain your choice using cost and 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belief is this method based 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Renaissance method to the belief about disease that lay behind it.
Support — work through the steps with the group: (1) Read each method and ask: what did the person doing it think was wrong? (2) If the method attacks smells, dirt or air, the belief is miasma. (3) If the method takes something out of the body, the belief is the Four Humours. (4) That leaves the onion, which is transference, the instructions, which are about keeping healthy, and the alchemist's bottle, which is the new chemistry.
Parallel worked example for Support (model it, do not give the task answer): Practice: a family with a fever in the house keeps a sheep in the bedroom overnight. Which belief is this based on? Nothing is being taken out of the body and nothing is being cleaned.; The fever is supposed to go somewhere: into the animal.; That is the belief called transference.. Answer: Transference: the belief that an illness could be moved into an animal..
Core — reveal the hint only on request: Five methods, five beliefs. Two of them attack the body, one attacks the air, one moves the illness, and one is brand new.
Stretch — no help; when finished: Choose the two methods you think would have been most popular with ordinary people rather than physicians, and explain your choice using cost and 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belief is this method based 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Renaissance method to the belief about disease that lay behind it.
Support — work through the steps with the group: (1) Read each method and ask: what did the person doing it think was wrong? (2) If the method attacks smells, dirt or air, the belief is miasma. (3) If the method takes something out of the body, the belief is the Four Humours. (4) That leaves the onion, which is transference, the instructions, which are about keeping healthy, and the alchemist's bottle, which is the new chemistry.
Parallel worked example for Support (model it, do not give the task answer): Practice: a family with a fever in the house keeps a sheep in the bedroom overnight. Which belief is this based on? Nothing is being taken out of the body and nothing is being cleaned.; The fever is supposed to go somewhere: into the animal.; That is the belief called transference.. Answer: Transference: the belief that an illness could be moved into an animal..
Core — reveal the hint only on request: Five methods, five beliefs. Two of them attack the body, one attacks the air, one moves the illness, and one is brand new.
Stretch — no help; when finished: Choose the two methods you think would have been most popular with ordinary people rather than physicians, and explain your choice using cost and 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belief is this method based 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Renaissance method to the belief about disease that lay behind it.
Support — work through the steps with the group: (1) Read each method and ask: what did the person doing it think was wrong? (2) If the method attacks smells, dirt or air, the belief is miasma. (3) If the method takes something out of the body, the belief is the Four Humours. (4) That leaves the onion, which is transference, the instructions, which are about keeping healthy, and the alchemist's bottle, which is the new chemistry.
Parallel worked example for Support (model it, do not give the task answer): Practice: a family with a fever in the house keeps a sheep in the bedroom overnight. Which belief is this based on? Nothing is being taken out of the body and nothing is being cleaned.; The fever is supposed to go somewhere: into the animal.; That is the belief called transference.. Answer: Transference: the belief that an illness could be moved into an animal..
Core — reveal the hint only on request: Five methods, five beliefs. Two of them attack the body, one attacks the air, one moves the illness, and one is brand new.
Stretch — no help; when finished: Choose the two methods you think would have been most popular with ordinary people rather than physicians, and explain your choice using cost and 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Counting the remedies of 1618.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‘Pharmacopoeia Londinensis’ of 1618 ran to more than 2,140 remedies. 122 of them came from chemical alchemy. How many of the listed remedies were not made that way?
Support — work through the steps with the group: (1) Decide what the 122 is part of. It is part of the 2,140, so this is a subtraction, not an addition. (2) Write the larger number above the smaller: 2,140 above 122, lining up the units. (3) Subtract the units: 0 − 2 needs a ten, so take one from the tens: 10 − 2 = 8. (4) Finish the tens and hundreds: the answer is 2,018.
Parallel worked example for Support (model it, do not give the task answer): Practice: a list holds 1,540 remedies, of which 140 are chemical. How many are not chemical? The 140 is part of the 1,540, so subtract.; 1,540 − 140 = 1,400.. Answer: 1,400 remedies.
Core — reveal the hint only on request: The chemical remedies are inside the total, so subtract them from it.
Stretch — no help; when finished: Work out roughly what fraction of the remedies were chemical, and say what that fraction tells you about how much treatment had really changed by 1618.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Counting the remedies of 1618.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‘Pharmacopoeia Londinensis’ of 1618 ran to more than 2,140 remedies. 122 of them came from chemical alchemy. How many of the listed remedies were not made that way?
Support — work through the steps with the group: (1) Decide what the 122 is part of. It is part of the 2,140, so this is a subtraction, not an addition. (2) Write the larger number above the smaller: 2,140 above 122, lining up the units. (3) Subtract the units: 0 − 2 needs a ten, so take one from the tens: 10 − 2 = 8. (4) Finish the tens and hundreds: the answer is 2,018.
Parallel worked example for Support (model it, do not give the task answer): Practice: a list holds 1,540 remedies, of which 140 are chemical. How many are not chemical? The 140 is part of the 1,540, so subtract.; 1,540 − 140 = 1,400.. Answer: 1,400 remedies.
Core — reveal the hint only on request: The chemical remedies are inside the total, so subtract them from it.
Stretch — no help; when finished: Work out roughly what fraction of the remedies were chemical, and say what that fraction tells you about how much treatment had really changed by 1618.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treatment carried on from the medieval period into the Renaissance?
Answer: A   Bloodletting, meant to rebalance the humours. Bloodletting, purging and herbal remedies all continued, because the belief behind them, the Four Humours, continued too.
Source of this question: gate item 1 re-asked (options rotated) — this chapter has no third quick-check module.
The ebook also holds task 3, "One way care changed",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belief is this method based on?. Reveal the answer; pupils mark their own work in a different colour, then read the "why" together. Same destination for every lane, so one answer serves the whole class.
Answer: Rubbing a wart with an onion  →  D  The belief that an illness could be moved out of a person and into an object; Sweeping the streets and draining swamps  →  B  The belief that bad air from dirt and rotting matter caused disease; Bloodletting and purging  →  A  The belief that illness came from the four liquids of the body falling out of balance; Writing a patient a regimen sanitatis  →  C  The belief that good health was kept up through diet, exercise and cleanliness; Selling a chemical remedy from an alchemist  →  E  The new idea that mixing substances could produce a cure that herbs could not
Why: Transference lay behind the onion; miasma lay behind street-cleaning and draining; the Four Humours lay behind bloodletting and purging; staying healthy by diet and cleanliness lay behind the regimen sanitatis; and the new chemistry of alchemy lay behind chemical remedies.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Counting the remedies of 1618. Reveal the answer; pupils mark their own work in a different colour, then read the "why" together. Same destination for every lane, so one answer serves the whole class.
Answer: 2018 remedies
Why: 2,140 − 122 = 2,018 remedies that were not made by alchemy. Fewer than one in sixteen entries in the book came from the new chemistry, so the book itself is evidence of continuity.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Bloodletting, meant to rebalance the humours
Why: Bloodletting, purging and herbal remedies all continued, because the belief behind them, the Four Humours, continued too.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Renaissance Medicine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Renaissance Medicine · AQA KS3 → 8145</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Treating and caring for the sick</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F2EDE9"/>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Treatments and Preventions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Caring for the Sick</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How important were individuals in driving change in medicine in Renaissance England, c1500–c1700?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Which treatment carried on from the medieval period into the Renaissance?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Isolation in a pest house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Bloodletting, meant to rebalance the humours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Chemical remedies made by alchemy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Transference of an illness into an object</a:t>
            </a:r>
            <a:endParaRPr lang="en-US" sz="22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physician would write a wealthy patient a ___ sanitatis: a routine for keeping healthy.</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regimen  ·  remedy  ·  regiment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was new about pest houses in the Renaissance period?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the first hospitals ever built in England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run by the Royal Society to test new remedies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buildings set aside for people with one disease, keeping them away from everyone else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were free hospitals where any illness could be treated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Bloodletting, meant to rebalance the humours</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Bloodletting, purging and herbal remedies all continued, because the belief behind them, the Four Humours, continued too.</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regimen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physician would write a wealthy patient a ___ sanitatis: a routine for keeping healthy.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regimen sanitatis covered diet, exercise and cleanliness. Only the rich could pay a physician for one.</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They were buildings set aside for people with one disease, keeping them away from everyone else</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pest house took people with one disease, usually the plague or the pox, out of the community. In the medieval…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transference</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belief that an illness could be moved into an object or an animal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People used transference to try to move a wart into an onion.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regimen sanitatis</a:t>
            </a:r>
            <a:endParaRPr lang="en-US" sz="2600" dirty="0"/>
          </a:p>
        </p:txBody>
      </p:sp>
      <p:sp>
        <p:nvSpPr>
          <p:cNvPr id="17" name="word-rule"/>
          <p:cNvSpPr/>
          <p:nvPr/>
        </p:nvSpPr>
        <p:spPr>
          <a:xfrm>
            <a:off x="4521098" y="2558288"/>
            <a:ext cx="3149498" cy="0"/>
          </a:xfrm>
          <a:prstGeom prst="line">
            <a:avLst/>
          </a:prstGeom>
          <a:ln w="12700">
            <a:solidFill>
              <a:srgbClr val="CAB7A5"/>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routine a physician wrote for one patient to keep them healthy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rich patient paid for a regimen sanitatis covering diet and exercise.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alchemy</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early form of chemistry in which substances were mixed to make new ones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Alchemy produced new chemical remedies for sale.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apothecary</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medic who mixed and sold medicines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apothecary had far more remedies to learn than before.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pest house</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building set aside for people with one particular disease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patient with the plague might be sent to a pest house.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dissolution</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closing down of the monasteries by Henry VIII from 1536</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dissolution of the monasteries closed most hospitals in England.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Most Renaissance treatments would have been familiar in the medieval period.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Bloodletting and purging carried on, meant to rebalance the humours.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Herbal remedies carried on too, with one new twist.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remedy was often picked because its colour matched the illness.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 treatments were new, such as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transference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believed an illness could be moved into an object or animal.</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Alchemy</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an early chemistry, produced new chemical remedies.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book of 1618 listed over two thousand remedies for sale.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Prevention changed more than treatment did.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Streets were cleaned, swamps drained and rubbish cleared away.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also moved away from places they thought were unhealthy.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Hospitals changed when Henry VIII closed the monasteries from 1536.</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New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pest houses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kept people with one disease away from everyone else.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Treatments: what carried on, and what was new</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 a change-and-continuity answer, say what the treatment was FOR as well as what it was. Bloodletting continued because the belief behind it, the Four Humours, continued.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Start with the continuity, because there is more of it.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Now the changes. Transference was a new idea in this period, and it became very popular.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second change is more important in the long run.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Preventions: cleaning the air and moving away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Prevention is where this period changed most, and the reason is miasma.</a:t>
            </a:r>
            <a:endParaRPr lang="en-US" sz="22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Two preventions were new in a different way. People began to believe that where you lived mattered as much as how you lived.</a:t>
            </a:r>
            <a:endParaRPr lang="en-US" sz="22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Some prevention carried on unchanged. A physician would still write a patient a regimen sanitatis, a routine for keeping healthy through diet, exercise and cleanliness; only the rich could pay for one.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Preventions: cleaning the air and moving away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Sort these four into treatment or prevention, and into change or continuity: bloodletting; transference; draining a swamp; a regimen sanitatis.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Decide treatment or prevention first. A treatment is for someone who is already ill; a prevention is to stop them getting ill.</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Bloodletting treats someone who is ill, and it carried on from the medieval period: treatment, continuity.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Preventions: cleaning the air and moving away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Sort these four into treatment or prevention, and into change or continuity: bloodletting; transference; draining a swamp; a regimen sanitatis.</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Transference also treats an illness someone already has, and the idea developed in this period: treatment, change.</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Draining a swamp is to stop people getting ill and much more of it was done now: prevention, change. A regimen sanitatis is also prevention, and it carried on: prevention, continuity.</a:t>
            </a:r>
            <a:endParaRPr lang="en-US" sz="1800" dirty="0"/>
          </a:p>
        </p:txBody>
      </p:sp>
      <p:sp>
        <p:nvSpPr>
          <p:cNvPr id="18" name="worked-answer"/>
          <p:cNvSpPr/>
          <p:nvPr/>
        </p:nvSpPr>
        <p:spPr>
          <a:xfrm>
            <a:off x="1463040" y="5313680"/>
            <a:ext cx="9265615" cy="831088"/>
          </a:xfrm>
          <a:prstGeom prst="roundRect">
            <a:avLst>
              <a:gd name="adj" fmla="val 22005"/>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Bloodletting: treatment, continuity. Transference: treatment, change. Draining a swamp: prevention, change. A regimen sanitatis: prevention, continuity.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Who treated the sick?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2EDE9"/>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four medical figures you met last unit were all still there, but two of their jobs got harder.</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6F0E6"/>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physician's training shows continuity and change in one place.</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2EDE9"/>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Outside the paid medics, most care was still given by women in the household and by neighbours: community care.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Where were the sick cared for?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dissolution of the monasteries is an attitudes-and-beliefs factor doing something to medicine: a religious change with a medical consequence nobody intended.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Renaissance hospitals were for the sick poor, and mostly for people with illnesses thought likely to get better; the very infectious and the incurable were usually kept out.</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Then came a shock. From 1536 Henry VIII closed the monasteries, a process called the dissolution of the monasteries, and because most hospitals were run by monks and nuns most of them closed too.</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kind of building was completely new: the pest house.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The task: Which belief is this method based on?</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Renaissance method to the belief about disease that lay behind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 task (1 of 2): Which belief is this method based on?</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Renaissance method to the belief about disease that lay behind it.</a:t>
            </a:r>
            <a:endParaRPr lang="en-US" sz="2400" dirty="0"/>
          </a:p>
        </p:txBody>
      </p:sp>
      <p:sp>
        <p:nvSpPr>
          <p:cNvPr id="11" name="match-card"/>
          <p:cNvSpPr/>
          <p:nvPr/>
        </p:nvSpPr>
        <p:spPr>
          <a:xfrm>
            <a:off x="777240" y="2672080"/>
            <a:ext cx="3496666" cy="1035643"/>
          </a:xfrm>
          <a:prstGeom prst="roundRect">
            <a:avLst>
              <a:gd name="adj" fmla="val 7063"/>
            </a:avLst>
          </a:prstGeom>
          <a:solidFill>
            <a:srgbClr val="F4F1ED"/>
          </a:solidFill>
          <a:ln/>
        </p:spPr>
      </p:sp>
      <p:sp>
        <p:nvSpPr>
          <p:cNvPr id="12" name="match-hex"/>
          <p:cNvSpPr/>
          <p:nvPr/>
        </p:nvSpPr>
        <p:spPr>
          <a:xfrm>
            <a:off x="850392" y="3023609"/>
            <a:ext cx="384048" cy="332586"/>
          </a:xfrm>
          <a:prstGeom prst="hexagon">
            <a:avLst/>
          </a:prstGeom>
          <a:solidFill>
            <a:srgbClr val="7A4A1E"/>
          </a:solidFill>
          <a:ln/>
        </p:spPr>
      </p:sp>
      <p:sp>
        <p:nvSpPr>
          <p:cNvPr id="13" name="match-hex-label"/>
          <p:cNvSpPr txBox="1"/>
          <p:nvPr/>
        </p:nvSpPr>
        <p:spPr>
          <a:xfrm>
            <a:off x="850392"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2902306"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Rubbing a wart with an onion</a:t>
            </a:r>
            <a:endParaRPr lang="en-US" sz="2200" dirty="0"/>
          </a:p>
        </p:txBody>
      </p:sp>
      <p:sp>
        <p:nvSpPr>
          <p:cNvPr id="15" name="match-card"/>
          <p:cNvSpPr/>
          <p:nvPr/>
        </p:nvSpPr>
        <p:spPr>
          <a:xfrm>
            <a:off x="4639666" y="2672080"/>
            <a:ext cx="6774790" cy="1035643"/>
          </a:xfrm>
          <a:prstGeom prst="roundRect">
            <a:avLst>
              <a:gd name="adj" fmla="val 7063"/>
            </a:avLst>
          </a:prstGeom>
          <a:solidFill>
            <a:srgbClr val="F6F0E6"/>
          </a:solidFill>
          <a:ln/>
        </p:spPr>
      </p:sp>
      <p:sp>
        <p:nvSpPr>
          <p:cNvPr id="16" name="match-hex"/>
          <p:cNvSpPr/>
          <p:nvPr/>
        </p:nvSpPr>
        <p:spPr>
          <a:xfrm>
            <a:off x="4712818" y="3023609"/>
            <a:ext cx="384048" cy="332586"/>
          </a:xfrm>
          <a:prstGeom prst="hexagon">
            <a:avLst/>
          </a:prstGeom>
          <a:solidFill>
            <a:srgbClr val="B8862B"/>
          </a:solidFill>
          <a:ln/>
        </p:spPr>
      </p:sp>
      <p:sp>
        <p:nvSpPr>
          <p:cNvPr id="17" name="match-hex-label"/>
          <p:cNvSpPr txBox="1"/>
          <p:nvPr/>
        </p:nvSpPr>
        <p:spPr>
          <a:xfrm>
            <a:off x="4712818" y="30236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160874" y="2672080"/>
            <a:ext cx="6180430"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belief that illness came from the four liquids of the body falling out of balance</a:t>
            </a:r>
            <a:endParaRPr lang="en-US" sz="2200" dirty="0"/>
          </a:p>
        </p:txBody>
      </p:sp>
      <p:sp>
        <p:nvSpPr>
          <p:cNvPr id="19" name="match-card"/>
          <p:cNvSpPr/>
          <p:nvPr/>
        </p:nvSpPr>
        <p:spPr>
          <a:xfrm>
            <a:off x="777240" y="3799163"/>
            <a:ext cx="3496666" cy="1035643"/>
          </a:xfrm>
          <a:prstGeom prst="roundRect">
            <a:avLst>
              <a:gd name="adj" fmla="val 7063"/>
            </a:avLst>
          </a:prstGeom>
          <a:solidFill>
            <a:srgbClr val="F4F1ED"/>
          </a:solidFill>
          <a:ln/>
        </p:spPr>
      </p:sp>
      <p:sp>
        <p:nvSpPr>
          <p:cNvPr id="20" name="match-hex"/>
          <p:cNvSpPr/>
          <p:nvPr/>
        </p:nvSpPr>
        <p:spPr>
          <a:xfrm>
            <a:off x="850392" y="4150691"/>
            <a:ext cx="384048" cy="332586"/>
          </a:xfrm>
          <a:prstGeom prst="hexagon">
            <a:avLst/>
          </a:prstGeom>
          <a:solidFill>
            <a:srgbClr val="7A4A1E"/>
          </a:solidFill>
          <a:ln/>
        </p:spPr>
      </p:sp>
      <p:sp>
        <p:nvSpPr>
          <p:cNvPr id="21" name="match-hex-label"/>
          <p:cNvSpPr txBox="1"/>
          <p:nvPr/>
        </p:nvSpPr>
        <p:spPr>
          <a:xfrm>
            <a:off x="850392"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99163"/>
            <a:ext cx="2902306"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Sweeping the streets and draining swamps</a:t>
            </a:r>
            <a:endParaRPr lang="en-US" sz="2200" dirty="0"/>
          </a:p>
        </p:txBody>
      </p:sp>
      <p:sp>
        <p:nvSpPr>
          <p:cNvPr id="23" name="match-card"/>
          <p:cNvSpPr/>
          <p:nvPr/>
        </p:nvSpPr>
        <p:spPr>
          <a:xfrm>
            <a:off x="4639666" y="3799163"/>
            <a:ext cx="6774790" cy="1035643"/>
          </a:xfrm>
          <a:prstGeom prst="roundRect">
            <a:avLst>
              <a:gd name="adj" fmla="val 7063"/>
            </a:avLst>
          </a:prstGeom>
          <a:solidFill>
            <a:srgbClr val="F6F0E6"/>
          </a:solidFill>
          <a:ln/>
        </p:spPr>
      </p:sp>
      <p:sp>
        <p:nvSpPr>
          <p:cNvPr id="24" name="match-hex"/>
          <p:cNvSpPr/>
          <p:nvPr/>
        </p:nvSpPr>
        <p:spPr>
          <a:xfrm>
            <a:off x="4712818" y="4150691"/>
            <a:ext cx="384048" cy="332586"/>
          </a:xfrm>
          <a:prstGeom prst="hexagon">
            <a:avLst/>
          </a:prstGeom>
          <a:solidFill>
            <a:srgbClr val="B8862B"/>
          </a:solidFill>
          <a:ln/>
        </p:spPr>
      </p:sp>
      <p:sp>
        <p:nvSpPr>
          <p:cNvPr id="25" name="match-hex-label"/>
          <p:cNvSpPr txBox="1"/>
          <p:nvPr/>
        </p:nvSpPr>
        <p:spPr>
          <a:xfrm>
            <a:off x="4712818" y="41506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160874" y="3799163"/>
            <a:ext cx="6180430"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belief that bad air from dirt and rotting matter caused disease</a:t>
            </a:r>
            <a:endParaRPr lang="en-US" sz="2200" dirty="0"/>
          </a:p>
        </p:txBody>
      </p:sp>
      <p:sp>
        <p:nvSpPr>
          <p:cNvPr id="27" name="match-card"/>
          <p:cNvSpPr/>
          <p:nvPr/>
        </p:nvSpPr>
        <p:spPr>
          <a:xfrm>
            <a:off x="777240" y="4926245"/>
            <a:ext cx="3496666" cy="1035643"/>
          </a:xfrm>
          <a:prstGeom prst="roundRect">
            <a:avLst>
              <a:gd name="adj" fmla="val 7063"/>
            </a:avLst>
          </a:prstGeom>
          <a:solidFill>
            <a:srgbClr val="F4F1ED"/>
          </a:solidFill>
          <a:ln/>
        </p:spPr>
      </p:sp>
      <p:sp>
        <p:nvSpPr>
          <p:cNvPr id="28" name="match-hex"/>
          <p:cNvSpPr/>
          <p:nvPr/>
        </p:nvSpPr>
        <p:spPr>
          <a:xfrm>
            <a:off x="850392" y="5277774"/>
            <a:ext cx="384048" cy="332586"/>
          </a:xfrm>
          <a:prstGeom prst="hexagon">
            <a:avLst/>
          </a:prstGeom>
          <a:solidFill>
            <a:srgbClr val="7A4A1E"/>
          </a:solidFill>
          <a:ln/>
        </p:spPr>
      </p:sp>
      <p:sp>
        <p:nvSpPr>
          <p:cNvPr id="29" name="match-hex-label"/>
          <p:cNvSpPr txBox="1"/>
          <p:nvPr/>
        </p:nvSpPr>
        <p:spPr>
          <a:xfrm>
            <a:off x="850392"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26245"/>
            <a:ext cx="2902306"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Bloodletting and purging</a:t>
            </a:r>
            <a:endParaRPr lang="en-US" sz="2200" dirty="0"/>
          </a:p>
        </p:txBody>
      </p:sp>
      <p:sp>
        <p:nvSpPr>
          <p:cNvPr id="31" name="match-card"/>
          <p:cNvSpPr/>
          <p:nvPr/>
        </p:nvSpPr>
        <p:spPr>
          <a:xfrm>
            <a:off x="4639666" y="4926245"/>
            <a:ext cx="6774790" cy="1035643"/>
          </a:xfrm>
          <a:prstGeom prst="roundRect">
            <a:avLst>
              <a:gd name="adj" fmla="val 7063"/>
            </a:avLst>
          </a:prstGeom>
          <a:solidFill>
            <a:srgbClr val="F6F0E6"/>
          </a:solidFill>
          <a:ln/>
        </p:spPr>
      </p:sp>
      <p:sp>
        <p:nvSpPr>
          <p:cNvPr id="32" name="match-hex"/>
          <p:cNvSpPr/>
          <p:nvPr/>
        </p:nvSpPr>
        <p:spPr>
          <a:xfrm>
            <a:off x="4712818" y="5277774"/>
            <a:ext cx="384048" cy="332586"/>
          </a:xfrm>
          <a:prstGeom prst="hexagon">
            <a:avLst/>
          </a:prstGeom>
          <a:solidFill>
            <a:srgbClr val="B8862B"/>
          </a:solidFill>
          <a:ln/>
        </p:spPr>
      </p:sp>
      <p:sp>
        <p:nvSpPr>
          <p:cNvPr id="33" name="match-hex-label"/>
          <p:cNvSpPr txBox="1"/>
          <p:nvPr/>
        </p:nvSpPr>
        <p:spPr>
          <a:xfrm>
            <a:off x="4712818" y="52777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160874" y="4926245"/>
            <a:ext cx="6180430" cy="10356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belief that an illness could be moved out of a person and into an object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The task (2 of 2): Which belief is this method based on?</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Renaissance method to the belief about disease that lay behind it.</a:t>
            </a:r>
            <a:endParaRPr lang="en-US" sz="2400" dirty="0"/>
          </a:p>
        </p:txBody>
      </p:sp>
      <p:sp>
        <p:nvSpPr>
          <p:cNvPr id="11" name="match-card"/>
          <p:cNvSpPr/>
          <p:nvPr/>
        </p:nvSpPr>
        <p:spPr>
          <a:xfrm>
            <a:off x="777240" y="2672080"/>
            <a:ext cx="3823680" cy="1165352"/>
          </a:xfrm>
          <a:prstGeom prst="roundRect">
            <a:avLst>
              <a:gd name="adj" fmla="val 6277"/>
            </a:avLst>
          </a:prstGeom>
          <a:solidFill>
            <a:srgbClr val="F4F1ED"/>
          </a:solidFill>
          <a:ln/>
        </p:spPr>
      </p:sp>
      <p:sp>
        <p:nvSpPr>
          <p:cNvPr id="12" name="match-hex"/>
          <p:cNvSpPr/>
          <p:nvPr/>
        </p:nvSpPr>
        <p:spPr>
          <a:xfrm>
            <a:off x="850392" y="3088463"/>
            <a:ext cx="384048" cy="332586"/>
          </a:xfrm>
          <a:prstGeom prst="hexagon">
            <a:avLst/>
          </a:prstGeom>
          <a:solidFill>
            <a:srgbClr val="7A4A1E"/>
          </a:solidFill>
          <a:ln/>
        </p:spPr>
      </p:sp>
      <p:sp>
        <p:nvSpPr>
          <p:cNvPr id="13" name="match-hex-label"/>
          <p:cNvSpPr txBox="1"/>
          <p:nvPr/>
        </p:nvSpPr>
        <p:spPr>
          <a:xfrm>
            <a:off x="850392"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3229320"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Writing a patient a regimen sanitatis</a:t>
            </a:r>
            <a:endParaRPr lang="en-US" sz="2200" dirty="0"/>
          </a:p>
        </p:txBody>
      </p:sp>
      <p:sp>
        <p:nvSpPr>
          <p:cNvPr id="15" name="match-card"/>
          <p:cNvSpPr/>
          <p:nvPr/>
        </p:nvSpPr>
        <p:spPr>
          <a:xfrm>
            <a:off x="4966680" y="2672080"/>
            <a:ext cx="6447775" cy="1165352"/>
          </a:xfrm>
          <a:prstGeom prst="roundRect">
            <a:avLst>
              <a:gd name="adj" fmla="val 6277"/>
            </a:avLst>
          </a:prstGeom>
          <a:solidFill>
            <a:srgbClr val="F6F0E6"/>
          </a:solidFill>
          <a:ln/>
        </p:spPr>
      </p:sp>
      <p:sp>
        <p:nvSpPr>
          <p:cNvPr id="16" name="match-hex"/>
          <p:cNvSpPr/>
          <p:nvPr/>
        </p:nvSpPr>
        <p:spPr>
          <a:xfrm>
            <a:off x="5039832" y="3088463"/>
            <a:ext cx="384048" cy="332586"/>
          </a:xfrm>
          <a:prstGeom prst="hexagon">
            <a:avLst/>
          </a:prstGeom>
          <a:solidFill>
            <a:srgbClr val="B8862B"/>
          </a:solidFill>
          <a:ln/>
        </p:spPr>
      </p:sp>
      <p:sp>
        <p:nvSpPr>
          <p:cNvPr id="17" name="match-hex-label"/>
          <p:cNvSpPr txBox="1"/>
          <p:nvPr/>
        </p:nvSpPr>
        <p:spPr>
          <a:xfrm>
            <a:off x="5039832" y="308846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487888" y="2672080"/>
            <a:ext cx="5853415"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new idea that mixing substances could produce a cure that herbs could not</a:t>
            </a:r>
            <a:endParaRPr lang="en-US" sz="2200" dirty="0"/>
          </a:p>
        </p:txBody>
      </p:sp>
      <p:sp>
        <p:nvSpPr>
          <p:cNvPr id="19" name="match-card"/>
          <p:cNvSpPr/>
          <p:nvPr/>
        </p:nvSpPr>
        <p:spPr>
          <a:xfrm>
            <a:off x="777240" y="3928872"/>
            <a:ext cx="3823680" cy="1165352"/>
          </a:xfrm>
          <a:prstGeom prst="roundRect">
            <a:avLst>
              <a:gd name="adj" fmla="val 6277"/>
            </a:avLst>
          </a:prstGeom>
          <a:solidFill>
            <a:srgbClr val="F4F1ED"/>
          </a:solidFill>
          <a:ln/>
        </p:spPr>
      </p:sp>
      <p:sp>
        <p:nvSpPr>
          <p:cNvPr id="20" name="match-hex"/>
          <p:cNvSpPr/>
          <p:nvPr/>
        </p:nvSpPr>
        <p:spPr>
          <a:xfrm>
            <a:off x="850392" y="4345255"/>
            <a:ext cx="384048" cy="332586"/>
          </a:xfrm>
          <a:prstGeom prst="hexagon">
            <a:avLst/>
          </a:prstGeom>
          <a:solidFill>
            <a:srgbClr val="7A4A1E"/>
          </a:solidFill>
          <a:ln/>
        </p:spPr>
      </p:sp>
      <p:sp>
        <p:nvSpPr>
          <p:cNvPr id="21" name="match-hex-label"/>
          <p:cNvSpPr txBox="1"/>
          <p:nvPr/>
        </p:nvSpPr>
        <p:spPr>
          <a:xfrm>
            <a:off x="850392"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928872"/>
            <a:ext cx="3229320"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Selling a chemical remedy from an alchemist</a:t>
            </a:r>
            <a:endParaRPr lang="en-US" sz="2200" dirty="0"/>
          </a:p>
        </p:txBody>
      </p:sp>
      <p:sp>
        <p:nvSpPr>
          <p:cNvPr id="23" name="match-card"/>
          <p:cNvSpPr/>
          <p:nvPr/>
        </p:nvSpPr>
        <p:spPr>
          <a:xfrm>
            <a:off x="4966680" y="3928872"/>
            <a:ext cx="6447775" cy="1165352"/>
          </a:xfrm>
          <a:prstGeom prst="roundRect">
            <a:avLst>
              <a:gd name="adj" fmla="val 6277"/>
            </a:avLst>
          </a:prstGeom>
          <a:solidFill>
            <a:srgbClr val="F6F0E6"/>
          </a:solidFill>
          <a:ln/>
        </p:spPr>
      </p:sp>
      <p:sp>
        <p:nvSpPr>
          <p:cNvPr id="24" name="match-hex"/>
          <p:cNvSpPr/>
          <p:nvPr/>
        </p:nvSpPr>
        <p:spPr>
          <a:xfrm>
            <a:off x="5039832" y="4345255"/>
            <a:ext cx="384048" cy="332586"/>
          </a:xfrm>
          <a:prstGeom prst="hexagon">
            <a:avLst/>
          </a:prstGeom>
          <a:solidFill>
            <a:srgbClr val="B8862B"/>
          </a:solidFill>
          <a:ln/>
        </p:spPr>
      </p:sp>
      <p:sp>
        <p:nvSpPr>
          <p:cNvPr id="25" name="match-hex-label"/>
          <p:cNvSpPr txBox="1"/>
          <p:nvPr/>
        </p:nvSpPr>
        <p:spPr>
          <a:xfrm>
            <a:off x="5039832" y="434525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487888" y="3928872"/>
            <a:ext cx="5853415"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belief that good health was kept up through diet, exercise and cleanliness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Which belief is this method based on?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Which belief is this method based on?</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method and ask: what did the person doing it think was wrong?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 method attacks smells, dirt or air, the belief is miasma.</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 method takes something out of the body, the belief is the Four Humours.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leaves the onion, which is transference, the instructions, which are about keeping healthy, and the alchemist's bottle, which is the new chemistry.</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Five methods, five beliefs. Two of them attack the body, one attacks the air, one moves the illness, and one is brand new.</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Choose the two methods you think would have been most popular with ordinary people rather than physicians, and explain your choice using cost and ease.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Counting the remedies of 1618</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‘Pharmacopoeia Londinensis’ of 1618 ran to more than 2,140 remedies. 122 of them came from chemical alchemy. How many of the listed remedies were not made that way?</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remedies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Counting the remedies of 1618</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Counting the remedies of 1618</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Decide what the 122 is part of. It is part of the 2,140, so this is a subtraction, not an addition.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larger number above the smaller: 2,140 above 122, lining up the units.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the units: 0 − 2 needs a ten, so take one from the tens: 10 − 2 = 8.</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Finish the tens and hundreds: the answer is 2,018.</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chemical remedies are inside the total, so subtract them from it.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Work out roughly what fraction of the remedies were chemical, and say what that fraction tells you about how much treatment had really changed by 1618.</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treatment carried on from the medieval period into the Renaissance?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Bloodletting, meant to rebalance the humours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Chemical remedies made by alchemy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Transference of an illness into an object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Isolation in a pest house</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Answers: Which belief is this method based on?</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13232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667512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Rubbing a wart with an onion  →  D  The belief that an illness could be moved out of a person and into an object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Sweeping the streets and draining swamps  →  B  The belief that bad air from dirt and rotting matter caused disease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Bloodletting and purging  →  A  The belief that illness came from the four liquids of the body falling out of balance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Writing a patient a regimen sanitatis  →  C  The belief that good health was kept up through diet, exercise and cleanliness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Selling a chemical remedy from an alchemist  →  E  The new idea that mixing substances could produce a cure that herbs could not</a:t>
            </a:r>
            <a:endParaRPr lang="en-US" sz="1800" dirty="0"/>
          </a:p>
        </p:txBody>
      </p:sp>
      <p:sp>
        <p:nvSpPr>
          <p:cNvPr id="10" name="why-panel"/>
          <p:cNvSpPr/>
          <p:nvPr/>
        </p:nvSpPr>
        <p:spPr>
          <a:xfrm>
            <a:off x="7955280" y="1389888"/>
            <a:ext cx="3687775" cy="4754880"/>
          </a:xfrm>
          <a:prstGeom prst="roundRect">
            <a:avLst>
              <a:gd name="adj" fmla="val 1240"/>
            </a:avLst>
          </a:prstGeom>
          <a:solidFill>
            <a:srgbClr val="F2EDE9"/>
          </a:solidFill>
          <a:ln/>
        </p:spPr>
      </p:sp>
      <p:sp>
        <p:nvSpPr>
          <p:cNvPr id="11" name="why-hex"/>
          <p:cNvSpPr/>
          <p:nvPr/>
        </p:nvSpPr>
        <p:spPr>
          <a:xfrm>
            <a:off x="8138160" y="1572768"/>
            <a:ext cx="685800" cy="593903"/>
          </a:xfrm>
          <a:prstGeom prst="hexagon">
            <a:avLst/>
          </a:prstGeom>
          <a:solidFill>
            <a:srgbClr val="7A4A1E"/>
          </a:solidFill>
          <a:ln/>
        </p:spPr>
      </p:sp>
      <p:sp>
        <p:nvSpPr>
          <p:cNvPr id="12" name="why-hex-label"/>
          <p:cNvSpPr txBox="1"/>
          <p:nvPr/>
        </p:nvSpPr>
        <p:spPr>
          <a:xfrm>
            <a:off x="813816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138160" y="2304288"/>
            <a:ext cx="3322015" cy="370332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Transference lay behind the onion; miasma lay behind street-cleaning and draining; the Four Humours lay behind bloodletting and purging; staying healthy by diet and cleanliness lay behind the regimen sanitatis; and the new chemistry of alchemy lay behind chemical remedies.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Counting the remedies of 1618</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‘Pharmacopoeia Londinensis’ of 1618 ran to more than 2,140 remedies. 122 of them came from chemical alchemy. How many of the listed remedies were not made that way?</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2018 remedies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2,140 − 122 = 2,018 remedies that were not made by alchemy. Fewer than one in sixteen entries in the book came from the new chemistry, so the book itself is evidence of continuity.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treatment carried on from the medieval period into the Renaissance?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Bloodletting, meant to rebalance the humours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Bloodletting, purging and herbal remedies all continued, because the belief behind them, the Four Humours, continued too.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Renaissance Medicine · Chapter 4: Treating and caring for the sick</dc:title>
  <dc:subject>History · Year 9</dc:subject>
  <dc:creator>Dr Vitor Merissi de Carvalho</dc:creator>
  <cp:lastModifiedBy>Dr Vitor Merissi de Carvalho</cp:lastModifiedBy>
  <cp:revision>1</cp:revision>
  <dcterms:created xsi:type="dcterms:W3CDTF">2026-10-19T16:23:11Z</dcterms:created>
  <dcterms:modified xsi:type="dcterms:W3CDTF">2026-10-19T16:23:11Z</dcterms:modified>
</cp:coreProperties>
</file>