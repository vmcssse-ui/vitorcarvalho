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742aa0-0f63-9662-ff3d-46f588ff749c}">
          <p14:sldIdLst>
            <p14:sldId id="256"/>
          </p14:sldIdLst>
        </p14:section>
        <p14:section name="Gate" id="{9dacb579-5e63-d3ef-ec8b-914af4de1a4e}">
          <p14:sldIdLst>
            <p14:sldId id="257"/>
            <p14:sldId id="258"/>
            <p14:sldId id="259"/>
          </p14:sldIdLst>
        </p14:section>
        <p14:section name="Pre-teach" id="{e87e8af5-33c6-8db6-f182-13fb1f7f7da6}">
          <p14:sldIdLst>
            <p14:sldId id="260"/>
            <p14:sldId id="261"/>
          </p14:sldIdLst>
        </p14:section>
        <p14:section name="Read-along" id="{fb1a5c6f-59f0-4707-67b8-97b6237c920b}">
          <p14:sldIdLst>
            <p14:sldId id="262"/>
            <p14:sldId id="263"/>
          </p14:sldIdLst>
        </p14:section>
        <p14:section name="Teach" id="{5fffe926-d141-d329-71a3-a7fb552039f6}">
          <p14:sldIdLst>
            <p14:sldId id="264"/>
            <p14:sldId id="265"/>
            <p14:sldId id="266"/>
            <p14:sldId id="267"/>
            <p14:sldId id="268"/>
            <p14:sldId id="269"/>
          </p14:sldIdLst>
        </p14:section>
        <p14:section name="Routes" id="{06f4096f-8455-feca-9729-11b0507632af}">
          <p14:sldIdLst>
            <p14:sldId id="270"/>
            <p14:sldId id="271"/>
            <p14:sldId id="272"/>
            <p14:sldId id="273"/>
            <p14:sldId id="274"/>
            <p14:sldId id="275"/>
          </p14:sldIdLst>
        </p14:section>
        <p14:section name="Close" id="{09c9ff97-b5be-e3d1-0605-cdad0482eb42}">
          <p14:sldIdLst>
            <p14:sldId id="276"/>
          </p14:sldIdLst>
        </p14:section>
        <p14:section name="Answers" id="{da3bb7de-dab9-32fc-34b5-9d0d36fbac39}">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How new ideas spread. This chapter explains the two developments that let a new medical idea travel: the printing press of about 1440 and the Royal Society of 1660.
This deck covers the department's lesson: 3 (Improved Communications: How did new ideas spread during the Renaissance?).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built the printing press in Europe, and roughly when?  →  D   Johannes Gutenberg, in about 1440
2. From 1665 the Royal Society published its journal in ___ rather than Latin, so that more readers could understand it.  →  English
3. What did the royal charter of 1662 give the Royal Society?  →  B   Standing for its members, and the freedom to investigate new ideas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built the printing press in Europe, and roughly when?  →  D   Johannes Gutenberg, in about 1440
2. From 1665 the Royal Society published its journal in ___ rather than Latin, so that more readers could understand it.  →  English
3. What did the royal charter of 1662 give the Royal Society?  →  B   Standing for its members, and the freedom to investigate new ideas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Johannes Gutenberg, in about 1440. Gutenberg built a press using movable metal letters in about 1440. By 1500 presses in Europe had printed over twenty million copies.
2. English. Publishing in English, and in straightforward language, meant that most readers could follow the research.
3. B   Standing for its members, and the freedom to investigate new ideas. The charter came from Charles II. Royal support gave the Society standing, and with it the freedom to investigate new ideas and new methods.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scribe: a person whose job was to copy books out by hand. Example: "Before printing, every book was written out by a scribe."
• printing press: a machine with movable letters that printed pages quickly. Example: "The printing press could produce hundreds of identical pages."
• literacy: being able to read and write. Example: "Literacy improved across Europe during the Renaissance."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Royal Society: a group of scientists created in 1660 to share and test ideas. Example: "The Royal Society encouraged scientists to argue over new theories."
• charter: an official document from a ruler giving a group rights or approval. Example: "A royal charter from the king gave the Royal Society credibility."
• journal: a regular publication in which scientists report their work. Example: "The Royal Society printed its journal so other scientists could read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Before printing, every book in Europe was copied out by hand.
2. A scribe could take months to copy one book.
3. Copies were expensive, and mistakes crept in with every one.
4. The Church chose which books were copied, so it controlled new ideas.
5. In about 1440 Johannes Gutenberg built a printing press in Europe.
6. It used movable metal letters, so pages could be printed quickly.
7. By 1500 printing presses had produced over twenty million copies.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Literacy was improving too, so more people could read them.
9. In 1660 scientists created the Royal Society to share ideas.
10. They encouraged questioning and argument to test new theories.
11. In 1662 King Charles II gave the Society a royal charter.
12. From 1665 it published a journal in plain English, not Latin.
13. Ideas could now travel faster than any one person could.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Before printing: the hand-copied book. Say it in your own words, then check understanding with a quick question: ask a pupil from the pre-teach group first, since they met these words and ideas before the lesson. Pupils try to recall before you re-explain.
Start with the problem. For the whole of the medieval period, every book in Europe was copied out by hand, letter by letter, usually by monks or professional scribes. A single copy could take months. It was expensive, so only the Church, universities and the very rich owned books, and every copy carried small mistakes that the next copy then repeated.
There is a second consequence, and it is the one that matters for medicine. Whoever does the copying decides what exists. The Church ran the monasteries that did most of the copying, so it was in practice in charge of which medical books were available. Galen's work was copied; anything that contradicted it was not. That is a large part of why so little changed in the period you studied last.
Hold the three weaknesses in your head: slow, expensive, and controlled. The printing press attacks all three at once.
Tip: When you explain how communications held medicine back, name the control as well as the slowness. Who decides what is copied decides what can be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printing press, about 1440. Say it in your own words, then check understanding with a quick question: ask a pupil from the pre-teach group first, since they met these words and ideas before the lesson. Pupils try to recall before you re-explain.
In about 1440 Johannes Gutenberg, working in Germany, built a printing press that used movable metal letters. A page was set up once and then printed again and again. It was fast, it was comparatively cheap, and every copy was identical. It spread with extraordinary speed: by 1500 presses in Europe had produced over twenty million copies of books.
Your lesson gives the press two key effects. First, a discovery made in Italy could be read in England within months, in the same words and with the same diagrams, because nothing was altered in the copying. Second, the Church could no longer control the copying of medical texts, so it could not keep out ideas that disagreed with its teaching.
One point of care, which your lesson does not make. Printing with movable type was invented earlier in China and Korea; what Gutenberg did was build a press that worked for European languages and could be copied by other printers. It is more accurate to say he created the printing press in Europe than to say he invented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Royal Society, 1660. Say it in your own words, then check understanding with a quick question: ask a pupil from the pre-teach group first, since they met these words and ideas before the lesson. Pupils try to recall before you re-explain.
The second development is a group of people rather than a machine. In 1660 a group of scientists in London created the Royal Society so that they could put their findings in front of each other and build up understanding together. Its habit was argument: members were expected to question each other, repeat each other's experiments and attack weak claims. That habit is what turns a clever idea into tested knowledge.
In 1662 the Society received a royal charter from King Charles II. Royal support mattered more then than it would now: it gave the Society standing, and with it the freedom to investigate new ideas and new methods, at a time when questioning accepted knowledge could look like troublemaking.
From 1665 the Society published a scientific journal for fellow scientists, called ‘Philosophical Transactions’. Two decisions about it are worth remembering. It was printed in English rather than Latin, and in plain words, so that a reader who had never studied Latin could follow it. That is what allowed one scientist to read another's work closely and then take it further.
Worked example — model it step by step, thinking aloud: Plan an answer to: ‘Explain one way in which improved communications changed medicine in the Renaissance.’ Use the Royal Society. (1) Point: improved communications changed medicine because the Royal Society let scientists read and test each other's work. (2) Evidence: created in 1660, given a royal charter by Charles II in 1662, and from 1665 publishing ‘Philosophical Transactions’ in plain English rather than Latin. (3) Explanation: this meant that a finding no longer stayed with the person who made it; others could repeat it, argue with it and build on it. (4) Link: so new medical knowledge could grow across the whole of Europe, which it could not do when books were copied by hand. Answer: Point: the Royal Society spread and tested new work. Evidence: 1660 founded, 1662 royal charter, 1665 journal in plain English. Explanation: findings could be repeated, argued over and built on. Link: knowledge could grow across Europe, which hand-copying had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Royal Society, 1660. Say it in your own words, then check understanding with a quick question: ask a pupil from the pre-teach group first, since they met these words and ideas before the lesson. Pupils try to recall before you re-explain.
The second development is a group of people rather than a machine. In 1660 a group of scientists in London created the Royal Society so that they could put their findings in front of each other and build up understanding together. Its habit was argument: members were expected to question each other, repeat each other's experiments and attack weak claims. That habit is what turns a clever idea into tested knowledge.
In 1662 the Society received a royal charter from King Charles II. Royal support mattered more then than it would now: it gave the Society standing, and with it the freedom to investigate new ideas and new methods, at a time when questioning accepted knowledge could look like troublemaking.
From 1665 the Society published a scientific journal for fellow scientists, called ‘Philosophical Transactions’. Two decisions about it are worth remembering. It was printed in English rather than Latin, and in plain words, so that a reader who had never studied Latin could follow it. That is what allowed one scientist to read another's work closely and then take it further.
Worked example — model it step by step, thinking aloud: Plan an answer to: ‘Explain one way in which improved communications changed medicine in the Renaissance.’ Use the Royal Society. (1) Point: improved communications changed medicine because the Royal Society let scientists read and test each other's work. (2) Evidence: created in 1660, given a royal charter by Charles II in 1662, and from 1665 publishing ‘Philosophical Transactions’ in plain English rather than Latin. (3) Explanation: this meant that a finding no longer stayed with the person who made it; others could repeat it, argue with it and build on it. (4) Link: so new medical knowledge could grow across the whole of Europe, which it could not do when books were copied by hand. Answer: Point: the Royal Society spread and tested new work. Evidence: 1660 founded, 1662 royal charter, 1665 journal in plain English. Explanation: findings could be repeated, argued over and built on. Link: knowledge could grow across Europe, which hand-copying had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Royal Society, 1660. Say it in your own words, then check understanding with a quick question: ask a pupil from the pre-teach group first, since they met these words and ideas before the lesson. Pupils try to recall before you re-explain.
The second development is a group of people rather than a machine. In 1660 a group of scientists in London created the Royal Society so that they could put their findings in front of each other and build up understanding together. Its habit was argument: members were expected to question each other, repeat each other's experiments and attack weak claims. That habit is what turns a clever idea into tested knowledge.
In 1662 the Society received a royal charter from King Charles II. Royal support mattered more then than it would now: it gave the Society standing, and with it the freedom to investigate new ideas and new methods, at a time when questioning accepted knowledge could look like troublemaking.
From 1665 the Society published a scientific journal for fellow scientists, called ‘Philosophical Transactions’. Two decisions about it are worth remembering. It was printed in English rather than Latin, and in plain words, so that a reader who had never studied Latin could follow it. That is what allowed one scientist to read another's work closely and then take it further.
Worked example — model it step by step, thinking aloud: Plan an answer to: ‘Explain one way in which improved communications changed medicine in the Renaissance.’ Use the Royal Society. (1) Point: improved communications changed medicine because the Royal Society let scientists read and test each other's work. (2) Evidence: created in 1660, given a royal charter by Charles II in 1662, and from 1665 publishing ‘Philosophical Transactions’ in plain English rather than Latin. (3) Explanation: this meant that a finding no longer stayed with the person who made it; others could repeat it, argue with it and build on it. (4) Link: so new medical knowledge could grow across the whole of Europe, which it could not do when books were copied by hand. Answer: Point: the Royal Society spread and tested new work. Evidence: 1660 founded, 1662 royal charter, 1665 journal in plain English. Explanation: findings could be repeated, argued over and built on. Link: knowledge could grow across Europe, which hand-copying had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Did better communication change medicine?. Say it in your own words, then check understanding with a quick question: ask a pupil from the pre-teach group first, since they met these words and ideas before the lesson. Pupils try to recall before you re-explain.
Be clear about the limits. Neither the press nor the Society cured anybody. Printing spread the Four Humours just as efficiently as it spread Vesalius, and plenty of the twenty million printed copies carried old ideas to new readers. A faster road carries traffic in both directions.
The fair judgement is that improved communications changed the conditions in which medicine could change. Without the press, Vesalius could not have put identical, detailed illustrations into the hands of physicians across Europe, and Harvey could not have expected his work to be read and checked. Without the Royal Society, there was nowhere for the checking to happen.
So when you weigh the factors at the end of the unit, put improved communications in the column of things that made individuals possible. That is a different claim from saying it changed medicine by itself, and it is the stronger one.
Tip: A factor can be important without being the cause. Improved communications is the best example in this unit: it multiplied what individuals could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1660 to the journal.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Royal Society was created in 1660 and began publishing ‘Philosophical Transactions’ in 1665. How many years later did the journal begin?
Support — work through the steps with the group: (1) Write the later date first: 1665. Then the earlier date: 1660. (2) A gap between dates is always later minus earlier. (3) 1665 − 1660. The thousands and hundreds are the same, so only the units change. (4) 5 − 0 = 5, so the answer is 5 years.
Parallel worked example for Support (model it, do not give the task answer): Practice: the Royal Society was created in 1660 and received its royal charter in 1662. How many years later was the charter? Later minus earlier: 1662 − 1660.; That is 2.. Answer: 2 years.
Core — reveal the hint only on request: Later date minus earlier date. Do not count both years as one each.
Stretch — no help; when finished: Put 1660, 1662 and 1665 in order and say, in one sentence each, why each step mattered more than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1660 to the journal.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Royal Society was created in 1660 and began publishing ‘Philosophical Transactions’ in 1665. How many years later did the journal begin?
Support — work through the steps with the group: (1) Write the later date first: 1665. Then the earlier date: 1660. (2) A gap between dates is always later minus earlier. (3) 1665 − 1660. The thousands and hundreds are the same, so only the units change. (4) 5 − 0 = 5, so the answer is 5 years.
Parallel worked example for Support (model it, do not give the task answer): Practice: the Royal Society was created in 1660 and received its royal charter in 1662. How many years later was the charter? Later minus earlier: 1662 − 1660.; That is 2.. Answer: 2 years.
Core — reveal the hint only on request: Later date minus earlier date. Do not count both years as one each.
Stretch — no help; when finished: Put 1660, 1662 and 1665 in order and say, in one sentence each, why each step mattered more than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Developments and their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 communications to the effect your lesson gives it.
Support — work through the steps with the group: (1) Look for the clue word in each effect. Which effect mentions mistakes? That belongs to copying by hand. (2) Which effect mentions the Church losing control? Only the press took copying out of the Church's hands. (3) Which effect is about repeating and arguing? That is what the Society was created for. (4) That leaves the king and the journal: one gave the Society standing, the other was printed in plain English.
Parallel worked example for Support (model it, do not give the task answer): Practice: match these two: ‘a monastery scriptorium where one monk copies a medical book over several months’ and ‘a print shop that produces two hundred identical copies in a week’. Which is slow and controlled, and which is fast and hard to control? Copying by hand takes months and happens where the Church decides.; Printing produces many identical copies quickly, in shops the Church does not run.. Answer: The scriptorium is slow and controlled; the print shop is fast and hard to control..
Core — reveal the hint only on request: Two of the five are about the Society, one about its journal, one about the press and one about the world before the press.
Stretch — no help; when finished: Rank the five from most to least important for the progress of medicine, and defend your first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Developments and their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 communications to the effect your lesson gives it.
Support — work through the steps with the group: (1) Look for the clue word in each effect. Which effect mentions mistakes? That belongs to copying by hand. (2) Which effect mentions the Church losing control? Only the press took copying out of the Church's hands. (3) Which effect is about repeating and arguing? That is what the Society was created for. (4) That leaves the king and the journal: one gave the Society standing, the other was printed in plain English.
Parallel worked example for Support (model it, do not give the task answer): Practice: match these two: ‘a monastery scriptorium where one monk copies a medical book over several months’ and ‘a print shop that produces two hundred identical copies in a week’. Which is slow and controlled, and which is fast and hard to control? Copying by hand takes months and happens where the Church decides.; Printing produces many identical copies quickly, in shops the Church does not run.. Answer: The scriptorium is slow and controlled; the print shop is fast and hard to control..
Core — reveal the hint only on request: Two of the five are about the Society, one about its journal, one about the press and one about the world before the press.
Stretch — no help; when finished: Rank the five from most to least important for the progress of medicine, and defend your first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Developments and their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 communications to the effect your lesson gives it.
Support — work through the steps with the group: (1) Look for the clue word in each effect. Which effect mentions mistakes? That belongs to copying by hand. (2) Which effect mentions the Church losing control? Only the press took copying out of the Church's hands. (3) Which effect is about repeating and arguing? That is what the Society was created for. (4) That leaves the king and the journal: one gave the Society standing, the other was printed in plain English.
Parallel worked example for Support (model it, do not give the task answer): Practice: match these two: ‘a monastery scriptorium where one monk copies a medical book over several months’ and ‘a print shop that produces two hundred identical copies in a week’. Which is slow and controlled, and which is fast and hard to control? Copying by hand takes months and happens where the Church decides.; Printing produces many identical copies quickly, in shops the Church does not run.. Answer: The scriptorium is slow and controlled; the print shop is fast and hard to control..
Core — reveal the hint only on request: Two of the five are about the Society, one about its journal, one about the press and one about the world before the press.
Stretch — no help; when finished: Rank the five from most to least important for the progress of medicine, and defend your first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Developments and their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 communications to the effect your lesson gives it.
Support — work through the steps with the group: (1) Look for the clue word in each effect. Which effect mentions mistakes? That belongs to copying by hand. (2) Which effect mentions the Church losing control? Only the press took copying out of the Church's hands. (3) Which effect is about repeating and arguing? That is what the Society was created for. (4) That leaves the king and the journal: one gave the Society standing, the other was printed in plain English.
Parallel worked example for Support (model it, do not give the task answer): Practice: match these two: ‘a monastery scriptorium where one monk copies a medical book over several months’ and ‘a print shop that produces two hundred identical copies in a week’. Which is slow and controlled, and which is fast and hard to control? Copying by hand takes months and happens where the Church decides.; Printing produces many identical copies quickly, in shops the Church does not run.. Answer: The scriptorium is slow and controlled; the print shop is fast and hard to control..
Core — reveal the hint only on request: Two of the five are about the Society, one about its journal, one about the press and one about the world before the press.
Stretch — no help; when finished: Rank the five from most to least important for the progress of medicine, and defend your first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built the printing press in Europe, and roughly when?
Answer: C   Johannes Gutenberg, in about 1440. Gutenberg built a press using movable metal letters in about 1440. By 1500 presses in Europe had printed over twenty million copies.
Source of this question: gate item 1 re-asked (options rotated) — this chapter has no third quick-check module.
The ebook also holds task 3, "One way communications changed medicine",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1660 to the journal. Reveal the answer; pupils mark their own work in a different colour, then read the "why" together. Same destination for every lane, so one answer serves the whole class.
Answer: 5 years
Why: 1665 − 1660 = 5. Five years took the Society from a group that met and argued to a group that published, which is the step that let other scientists check its work.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Developments and their effects. Reveal the answer; pupils mark their own work in a different colour, then read the "why" together. Same destination for every lane, so one answer serves the whole class.
Answer: Hand-copied books  →  D  Slow and expensive to produce, and mistakes crept in with every new copy; The printing press  →  C  Information spread quickly and accurately, and the Church could no longer copy every medical text; The Royal Society  →  A  Scientists could repeat and argue over each other's work, which is how a claim was tested; The royal charter of 1662  →  E  The king's backing gave the Society standing at a time when questioning knowledge looked like trouble; ‘Philosophical Transactions’  →  B  Research was published in plain English so that most readers could follow it
Why: Hand copying was slow, costly and error-prone; the press made information fast, accurate and beyond the Church's control; the Society tested ideas; the charter gave it standing; the journal carried research in plain English.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Johannes Gutenberg, in about 1440
Why: Gutenberg built a press using movable metal letters in about 1440. By 1500 presses in Europe had printed over twenty million copies.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new ideas spread</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Improved Communications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built the printing press in Europe, and roughly when?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Thomas Sydenham, in about 1500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King Charles II, in 1662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Robert Hooke, in about 1660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Johannes Gutenberg, in about 1440</a:t>
            </a:r>
            <a:endParaRPr lang="en-US" sz="24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From 1665 the Royal Society published its journal in ___ rather than Latin, so that more readers could understand it.</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English  ·  Greek  ·  French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did the royal charter of 1662 give the Royal Society?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Control of every university in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Standing for its members, and the freedom to investigate new ideas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right to print all medical books in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power to arrest physicians who disagreed with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Johannes Gutenberg, in about 1440</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Who built the printing press in Europe, and roughly when?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Gutenberg built a press using movable metal letters in about 1440. By 1500 presses in Europe had printed over twenty million copies.</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English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From 1665 the Royal Society published its journal in ___ rather than Latin, so that more readers could understand it.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Publishing in English, and in straightforward language, meant that most readers could follow the research.</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Standing for its members, and the freedom to investigate new ideas</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charter came from Charles II. Royal support gave the Society standing, and with it the freedom to investigate new ideas and new methods.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scribe</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whose job was to copy books out by hand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Before printing, every book was written out by a scribe.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printing press</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machine with movable letters that printed pages quickly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printing press could produce hundreds of identical pages.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literacy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able to read and write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Literacy improved across Europe during the Renaissance.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Royal Society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scientists created in 1660 to share and test ideas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Royal Society encouraged scientists to argue over new theories.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charter</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official document from a ruler giving a group rights or approval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royal charter from the king gave the Royal Society credibility.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journal</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regular publication in which scientists report their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Royal Society printed its journal so other scientists could read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Before printing, every book in Europe was copied out by hand.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scribe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could take months to copy one book.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Copies were expensive, and mistakes crept in with every one.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Church chose which books were copied, so it controlled new ideas.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about 1440 Johannes Gutenberg built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printing press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in Europe.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used movable metal letters, so pages could be printed quickly.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1500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printing presses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had produced over twenty million copies.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Literacy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was improving too, so more people could read them.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1660 scientists created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Royal Society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to share ideas.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encouraged questioning and argument to test new theories.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1662 King Charles II gave the Society a royal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charter</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From 1665 it published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journal</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in plain English, not Latin.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Ideas could now travel faster than any one person could.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Before printing: the hand-copied book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explain how communications held medicine back, name the control as well as the slowness. Who decides what is copied decides what can be known.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Start with the problem. For the whole of the medieval period, every book in Europe was copied out by hand, letter by letter, usually by monks or professional scribes.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There is a second consequence, and it is the one that matters for medicine.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Hold the three weaknesses in your head: slow, expensive, and controlled.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printing press, about 1440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about 1440 Johannes Gutenberg, working in Germany, built a printing press that used movable metal letters.</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gives the press two key effects. First, a discovery made in Italy could be read in England within months, in the same words and with the same diagrams, because nothing was altered in the copying.</a:t>
            </a:r>
            <a:endParaRPr lang="en-US" sz="22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point of care, which your lesson does not make.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Royal Society, 1660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second development is a group of people rather than a machine.</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1662 the Society received a royal charter from King Charles II.</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1665 the Society published a scientific journal for fellow scientists, called ‘Philosophical Transactions’.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(1 of 2): The Royal Society, 1660</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improved communications changed medicine in the Renaissance.’ Use the Royal Society.</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improved communications changed medicine because the Royal Society let scientists read and test each other's work.</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created in 1660, given a royal charter by Charles II in 1662, and from 1665 publishing ‘Philosophical Transactions’ in plain English rather than Latin.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(2 of 2): The Royal Society, 1660</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improved communications changed medicine in the Renaissance.’ Use the Royal Society.</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Explanation: this meant that a finding no longer stayed with the person who made it; others could repeat it, argue with it and build on it.</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so new medical knowledge could grow across the whole of Europe, which it could not do when books were copied by hand.</a:t>
            </a:r>
            <a:endParaRPr lang="en-US" sz="1800" dirty="0"/>
          </a:p>
        </p:txBody>
      </p:sp>
      <p:sp>
        <p:nvSpPr>
          <p:cNvPr id="18" name="worked-answer"/>
          <p:cNvSpPr/>
          <p:nvPr/>
        </p:nvSpPr>
        <p:spPr>
          <a:xfrm>
            <a:off x="1463040" y="4755896"/>
            <a:ext cx="9265615" cy="1388872"/>
          </a:xfrm>
          <a:prstGeom prst="roundRect">
            <a:avLst>
              <a:gd name="adj" fmla="val 13168"/>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the Royal Society spread and tested new work. Evidence: 1660 founded, 1662 royal charter, 1665 journal in plain English. Explanation: findings could be repeated, argued over and built on. Link: knowledge could grow across Europe, which hand-copying had prevented.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Did better communication change medicine?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factor can be important without being the cause. Improved communications is the best example in this unit: it multiplied what individuals could do.</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 clear about the limits. Neither the press nor the Society cured anybody.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fair judgement is that improved communications changed the conditions in which medicine could change.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when you weigh the factors at the end of the unit, put improved communications in the column of things that made individuals possible.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1660 to the journal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Royal Society was created in 1660 and began publishing ‘Philosophical Transactions’ in 1665. How many years later did the journal begin?</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From 1660 to the journal</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Royal Society was created in 1660 and began publishing ‘Philosophical Transactions’ in 1665. How many years later did the journal begin?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1665. Then the earlier date: 1660.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gap between dates is always later minus earlier.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1665 − 1660. The thousands and hundreds are the same, so only the units change.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5 − 0 = 5, so the answer is 5 years.</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Do not count both years as one each.</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Put 1660, 1662 and 1665 in order and say, in one sentence each, why each step mattered more than the one before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Developments and their effects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development in communications to the effect your lesson gives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(1 of 2): Developments and their effects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development in communications to the effect your lesson gives it.</a:t>
            </a:r>
            <a:endParaRPr lang="en-US" sz="2400" dirty="0"/>
          </a:p>
        </p:txBody>
      </p:sp>
      <p:sp>
        <p:nvSpPr>
          <p:cNvPr id="11" name="match-card"/>
          <p:cNvSpPr/>
          <p:nvPr/>
        </p:nvSpPr>
        <p:spPr>
          <a:xfrm>
            <a:off x="777240" y="2672080"/>
            <a:ext cx="3081437" cy="1035643"/>
          </a:xfrm>
          <a:prstGeom prst="roundRect">
            <a:avLst>
              <a:gd name="adj" fmla="val 7063"/>
            </a:avLst>
          </a:prstGeom>
          <a:solidFill>
            <a:srgbClr val="F4F1ED"/>
          </a:solidFill>
          <a:ln/>
        </p:spPr>
      </p:sp>
      <p:sp>
        <p:nvSpPr>
          <p:cNvPr id="12" name="match-hex"/>
          <p:cNvSpPr/>
          <p:nvPr/>
        </p:nvSpPr>
        <p:spPr>
          <a:xfrm>
            <a:off x="850392" y="3023609"/>
            <a:ext cx="384048" cy="332586"/>
          </a:xfrm>
          <a:prstGeom prst="hexagon">
            <a:avLst/>
          </a:prstGeom>
          <a:solidFill>
            <a:srgbClr val="7A4A1E"/>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Hand-copied books</a:t>
            </a:r>
            <a:endParaRPr lang="en-US" sz="2200" dirty="0"/>
          </a:p>
        </p:txBody>
      </p:sp>
      <p:sp>
        <p:nvSpPr>
          <p:cNvPr id="15" name="match-card"/>
          <p:cNvSpPr/>
          <p:nvPr/>
        </p:nvSpPr>
        <p:spPr>
          <a:xfrm>
            <a:off x="4224437" y="2672080"/>
            <a:ext cx="7190019" cy="1035643"/>
          </a:xfrm>
          <a:prstGeom prst="roundRect">
            <a:avLst>
              <a:gd name="adj" fmla="val 7063"/>
            </a:avLst>
          </a:prstGeom>
          <a:solidFill>
            <a:srgbClr val="F6F0E6"/>
          </a:solidFill>
          <a:ln/>
        </p:spPr>
      </p:sp>
      <p:sp>
        <p:nvSpPr>
          <p:cNvPr id="16" name="match-hex"/>
          <p:cNvSpPr/>
          <p:nvPr/>
        </p:nvSpPr>
        <p:spPr>
          <a:xfrm>
            <a:off x="4297589" y="3023609"/>
            <a:ext cx="384048" cy="332586"/>
          </a:xfrm>
          <a:prstGeom prst="hexagon">
            <a:avLst/>
          </a:prstGeom>
          <a:solidFill>
            <a:srgbClr val="B8862B"/>
          </a:solidFill>
          <a:ln/>
        </p:spPr>
      </p:sp>
      <p:sp>
        <p:nvSpPr>
          <p:cNvPr id="17" name="match-hex-label"/>
          <p:cNvSpPr txBox="1"/>
          <p:nvPr/>
        </p:nvSpPr>
        <p:spPr>
          <a:xfrm>
            <a:off x="4297589"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Information spread quickly and accurately, and the Church could no longer copy every medical text</a:t>
            </a:r>
            <a:endParaRPr lang="en-US" sz="2200" dirty="0"/>
          </a:p>
        </p:txBody>
      </p:sp>
      <p:sp>
        <p:nvSpPr>
          <p:cNvPr id="19" name="match-card"/>
          <p:cNvSpPr/>
          <p:nvPr/>
        </p:nvSpPr>
        <p:spPr>
          <a:xfrm>
            <a:off x="777240" y="3799163"/>
            <a:ext cx="3081437" cy="1035643"/>
          </a:xfrm>
          <a:prstGeom prst="roundRect">
            <a:avLst>
              <a:gd name="adj" fmla="val 7063"/>
            </a:avLst>
          </a:prstGeom>
          <a:solidFill>
            <a:srgbClr val="F4F1ED"/>
          </a:solidFill>
          <a:ln/>
        </p:spPr>
      </p:sp>
      <p:sp>
        <p:nvSpPr>
          <p:cNvPr id="20" name="match-hex"/>
          <p:cNvSpPr/>
          <p:nvPr/>
        </p:nvSpPr>
        <p:spPr>
          <a:xfrm>
            <a:off x="850392" y="4150691"/>
            <a:ext cx="384048" cy="332586"/>
          </a:xfrm>
          <a:prstGeom prst="hexagon">
            <a:avLst/>
          </a:prstGeom>
          <a:solidFill>
            <a:srgbClr val="7A4A1E"/>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printing press</a:t>
            </a:r>
            <a:endParaRPr lang="en-US" sz="2200" dirty="0"/>
          </a:p>
        </p:txBody>
      </p:sp>
      <p:sp>
        <p:nvSpPr>
          <p:cNvPr id="23" name="match-card"/>
          <p:cNvSpPr/>
          <p:nvPr/>
        </p:nvSpPr>
        <p:spPr>
          <a:xfrm>
            <a:off x="4224437" y="3799163"/>
            <a:ext cx="7190019" cy="1035643"/>
          </a:xfrm>
          <a:prstGeom prst="roundRect">
            <a:avLst>
              <a:gd name="adj" fmla="val 7063"/>
            </a:avLst>
          </a:prstGeom>
          <a:solidFill>
            <a:srgbClr val="F6F0E6"/>
          </a:solidFill>
          <a:ln/>
        </p:spPr>
      </p:sp>
      <p:sp>
        <p:nvSpPr>
          <p:cNvPr id="24" name="match-hex"/>
          <p:cNvSpPr/>
          <p:nvPr/>
        </p:nvSpPr>
        <p:spPr>
          <a:xfrm>
            <a:off x="4297589" y="4150691"/>
            <a:ext cx="384048" cy="332586"/>
          </a:xfrm>
          <a:prstGeom prst="hexagon">
            <a:avLst/>
          </a:prstGeom>
          <a:solidFill>
            <a:srgbClr val="B8862B"/>
          </a:solidFill>
          <a:ln/>
        </p:spPr>
      </p:sp>
      <p:sp>
        <p:nvSpPr>
          <p:cNvPr id="25" name="match-hex-label"/>
          <p:cNvSpPr txBox="1"/>
          <p:nvPr/>
        </p:nvSpPr>
        <p:spPr>
          <a:xfrm>
            <a:off x="4297589"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99163"/>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Slow and expensive to produce, and mistakes crept in with every new copy</a:t>
            </a:r>
            <a:endParaRPr lang="en-US" sz="2200" dirty="0"/>
          </a:p>
        </p:txBody>
      </p:sp>
      <p:sp>
        <p:nvSpPr>
          <p:cNvPr id="27" name="match-card"/>
          <p:cNvSpPr/>
          <p:nvPr/>
        </p:nvSpPr>
        <p:spPr>
          <a:xfrm>
            <a:off x="777240" y="4926245"/>
            <a:ext cx="3081437" cy="1035643"/>
          </a:xfrm>
          <a:prstGeom prst="roundRect">
            <a:avLst>
              <a:gd name="adj" fmla="val 7063"/>
            </a:avLst>
          </a:prstGeom>
          <a:solidFill>
            <a:srgbClr val="F4F1ED"/>
          </a:solidFill>
          <a:ln/>
        </p:spPr>
      </p:sp>
      <p:sp>
        <p:nvSpPr>
          <p:cNvPr id="28" name="match-hex"/>
          <p:cNvSpPr/>
          <p:nvPr/>
        </p:nvSpPr>
        <p:spPr>
          <a:xfrm>
            <a:off x="850392" y="5277774"/>
            <a:ext cx="384048" cy="332586"/>
          </a:xfrm>
          <a:prstGeom prst="hexagon">
            <a:avLst/>
          </a:prstGeom>
          <a:solidFill>
            <a:srgbClr val="7A4A1E"/>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Royal Society</a:t>
            </a:r>
            <a:endParaRPr lang="en-US" sz="2200" dirty="0"/>
          </a:p>
        </p:txBody>
      </p:sp>
      <p:sp>
        <p:nvSpPr>
          <p:cNvPr id="31" name="match-card"/>
          <p:cNvSpPr/>
          <p:nvPr/>
        </p:nvSpPr>
        <p:spPr>
          <a:xfrm>
            <a:off x="4224437" y="4926245"/>
            <a:ext cx="7190019" cy="1035643"/>
          </a:xfrm>
          <a:prstGeom prst="roundRect">
            <a:avLst>
              <a:gd name="adj" fmla="val 7063"/>
            </a:avLst>
          </a:prstGeom>
          <a:solidFill>
            <a:srgbClr val="F6F0E6"/>
          </a:solidFill>
          <a:ln/>
        </p:spPr>
      </p:sp>
      <p:sp>
        <p:nvSpPr>
          <p:cNvPr id="32" name="match-hex"/>
          <p:cNvSpPr/>
          <p:nvPr/>
        </p:nvSpPr>
        <p:spPr>
          <a:xfrm>
            <a:off x="4297589" y="5277774"/>
            <a:ext cx="384048" cy="332586"/>
          </a:xfrm>
          <a:prstGeom prst="hexagon">
            <a:avLst/>
          </a:prstGeom>
          <a:solidFill>
            <a:srgbClr val="B8862B"/>
          </a:solidFill>
          <a:ln/>
        </p:spPr>
      </p:sp>
      <p:sp>
        <p:nvSpPr>
          <p:cNvPr id="33" name="match-hex-label"/>
          <p:cNvSpPr txBox="1"/>
          <p:nvPr/>
        </p:nvSpPr>
        <p:spPr>
          <a:xfrm>
            <a:off x="4297589"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926245"/>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Scientists could repeat and argue over each other's work, which is how a claim was tested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(2 of 2): Developments and their effects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development in communications to the effect your lesson gives it.</a:t>
            </a:r>
            <a:endParaRPr lang="en-US" sz="2400" dirty="0"/>
          </a:p>
        </p:txBody>
      </p:sp>
      <p:sp>
        <p:nvSpPr>
          <p:cNvPr id="11" name="match-card"/>
          <p:cNvSpPr/>
          <p:nvPr/>
        </p:nvSpPr>
        <p:spPr>
          <a:xfrm>
            <a:off x="777240" y="2672080"/>
            <a:ext cx="3081437" cy="1165352"/>
          </a:xfrm>
          <a:prstGeom prst="roundRect">
            <a:avLst>
              <a:gd name="adj" fmla="val 6277"/>
            </a:avLst>
          </a:prstGeom>
          <a:solidFill>
            <a:srgbClr val="F4F1ED"/>
          </a:solidFill>
          <a:ln/>
        </p:spPr>
      </p:sp>
      <p:sp>
        <p:nvSpPr>
          <p:cNvPr id="12" name="match-hex"/>
          <p:cNvSpPr/>
          <p:nvPr/>
        </p:nvSpPr>
        <p:spPr>
          <a:xfrm>
            <a:off x="850392" y="3088463"/>
            <a:ext cx="384048" cy="332586"/>
          </a:xfrm>
          <a:prstGeom prst="hexagon">
            <a:avLst/>
          </a:prstGeom>
          <a:solidFill>
            <a:srgbClr val="7A4A1E"/>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royal charter of 1662</a:t>
            </a:r>
            <a:endParaRPr lang="en-US" sz="2200" dirty="0"/>
          </a:p>
        </p:txBody>
      </p:sp>
      <p:sp>
        <p:nvSpPr>
          <p:cNvPr id="15" name="match-card"/>
          <p:cNvSpPr/>
          <p:nvPr/>
        </p:nvSpPr>
        <p:spPr>
          <a:xfrm>
            <a:off x="4224437" y="2672080"/>
            <a:ext cx="7190019" cy="1165352"/>
          </a:xfrm>
          <a:prstGeom prst="roundRect">
            <a:avLst>
              <a:gd name="adj" fmla="val 6277"/>
            </a:avLst>
          </a:prstGeom>
          <a:solidFill>
            <a:srgbClr val="F6F0E6"/>
          </a:solidFill>
          <a:ln/>
        </p:spPr>
      </p:sp>
      <p:sp>
        <p:nvSpPr>
          <p:cNvPr id="16" name="match-hex"/>
          <p:cNvSpPr/>
          <p:nvPr/>
        </p:nvSpPr>
        <p:spPr>
          <a:xfrm>
            <a:off x="4297589" y="3088463"/>
            <a:ext cx="384048" cy="332586"/>
          </a:xfrm>
          <a:prstGeom prst="hexagon">
            <a:avLst/>
          </a:prstGeom>
          <a:solidFill>
            <a:srgbClr val="B8862B"/>
          </a:solidFill>
          <a:ln/>
        </p:spPr>
      </p:sp>
      <p:sp>
        <p:nvSpPr>
          <p:cNvPr id="17" name="match-hex-label"/>
          <p:cNvSpPr txBox="1"/>
          <p:nvPr/>
        </p:nvSpPr>
        <p:spPr>
          <a:xfrm>
            <a:off x="4297589"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Research was published in plain English so that most readers could follow it</a:t>
            </a:r>
            <a:endParaRPr lang="en-US" sz="2200" dirty="0"/>
          </a:p>
        </p:txBody>
      </p:sp>
      <p:sp>
        <p:nvSpPr>
          <p:cNvPr id="19" name="match-card"/>
          <p:cNvSpPr/>
          <p:nvPr/>
        </p:nvSpPr>
        <p:spPr>
          <a:xfrm>
            <a:off x="777240" y="3928872"/>
            <a:ext cx="3081437" cy="1165352"/>
          </a:xfrm>
          <a:prstGeom prst="roundRect">
            <a:avLst>
              <a:gd name="adj" fmla="val 6277"/>
            </a:avLst>
          </a:prstGeom>
          <a:solidFill>
            <a:srgbClr val="F4F1ED"/>
          </a:solidFill>
          <a:ln/>
        </p:spPr>
      </p:sp>
      <p:sp>
        <p:nvSpPr>
          <p:cNvPr id="20" name="match-hex"/>
          <p:cNvSpPr/>
          <p:nvPr/>
        </p:nvSpPr>
        <p:spPr>
          <a:xfrm>
            <a:off x="850392" y="4345255"/>
            <a:ext cx="384048" cy="332586"/>
          </a:xfrm>
          <a:prstGeom prst="hexagon">
            <a:avLst/>
          </a:prstGeom>
          <a:solidFill>
            <a:srgbClr val="7A4A1E"/>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‘Philosophical Transactions’</a:t>
            </a:r>
            <a:endParaRPr lang="en-US" sz="2200" dirty="0"/>
          </a:p>
        </p:txBody>
      </p:sp>
      <p:sp>
        <p:nvSpPr>
          <p:cNvPr id="23" name="match-card"/>
          <p:cNvSpPr/>
          <p:nvPr/>
        </p:nvSpPr>
        <p:spPr>
          <a:xfrm>
            <a:off x="4224437" y="3928872"/>
            <a:ext cx="7190019" cy="1165352"/>
          </a:xfrm>
          <a:prstGeom prst="roundRect">
            <a:avLst>
              <a:gd name="adj" fmla="val 6277"/>
            </a:avLst>
          </a:prstGeom>
          <a:solidFill>
            <a:srgbClr val="F6F0E6"/>
          </a:solidFill>
          <a:ln/>
        </p:spPr>
      </p:sp>
      <p:sp>
        <p:nvSpPr>
          <p:cNvPr id="24" name="match-hex"/>
          <p:cNvSpPr/>
          <p:nvPr/>
        </p:nvSpPr>
        <p:spPr>
          <a:xfrm>
            <a:off x="4297589" y="4345255"/>
            <a:ext cx="384048" cy="332586"/>
          </a:xfrm>
          <a:prstGeom prst="hexagon">
            <a:avLst/>
          </a:prstGeom>
          <a:solidFill>
            <a:srgbClr val="B8862B"/>
          </a:solidFill>
          <a:ln/>
        </p:spPr>
      </p:sp>
      <p:sp>
        <p:nvSpPr>
          <p:cNvPr id="25" name="match-hex-label"/>
          <p:cNvSpPr txBox="1"/>
          <p:nvPr/>
        </p:nvSpPr>
        <p:spPr>
          <a:xfrm>
            <a:off x="4297589"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928872"/>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king's backing gave the Society standing at a time when questioning knowledge looked like trouble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Developments and their effects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Developments and their effects</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clue word in each effect. Which effect mentions mistakes? That belongs to copying by hand.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effect mentions the Church losing control? Only the press took copying out of the Church's hands.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effect is about repeating and arguing? That is what the Society was created for.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leaves the king and the journal: one gave the Society standing, the other was printed in plain English.</a:t>
            </a:r>
            <a:endParaRPr lang="en-US" sz="1800" dirty="0"/>
          </a:p>
        </p:txBody>
      </p:sp>
      <p:sp>
        <p:nvSpPr>
          <p:cNvPr id="17" name="col-Core"/>
          <p:cNvSpPr/>
          <p:nvPr/>
        </p:nvSpPr>
        <p:spPr>
          <a:xfrm>
            <a:off x="7150425" y="2395728"/>
            <a:ext cx="2109155" cy="3749040"/>
          </a:xfrm>
          <a:prstGeom prst="roundRect">
            <a:avLst>
              <a:gd name="adj" fmla="val 2601"/>
            </a:avLst>
          </a:prstGeom>
          <a:solidFill>
            <a:srgbClr val="E2D7CE"/>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five are about the Society, one about its journal, one about the press and one about the world before the press.</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five from most to least important for the progress of medicine, and defend your first choice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built the printing press in Europe, and roughly when?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King Charles II, in 1662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Robert Hooke, in about 1660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Johannes Gutenberg, in about 1440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Thomas Sydenham, in about 1500</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1660 to the journal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Royal Society was created in 1660 and began publishing ‘Philosophical Transactions’ in 1665. How many years later did the journal begin?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1665 − 1660 = 5. Five years took the Society from a group that met and argued to a group that published, which is the step that let other scientists check its work.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Developments and their effects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Hand-copied books  →  D  Slow and expensive to produce, and mistakes crept in with every new copy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printing press  →  C  Information spread quickly and accurately, and the Church could no longer copy every medical text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Royal Society  →  A  Scientists could repeat and argue over each other's work, which is how a claim was tested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royal charter of 1662  →  E  The king's backing gave the Society standing at a time when questioning knowledge looked like trouble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‘Philosophical Transactions’  →  B  Research was published in plain English so that most readers could follow it</a:t>
            </a:r>
            <a:endParaRPr lang="en-US" sz="1800" dirty="0"/>
          </a:p>
        </p:txBody>
      </p:sp>
      <p:sp>
        <p:nvSpPr>
          <p:cNvPr id="10" name="why-panel"/>
          <p:cNvSpPr/>
          <p:nvPr/>
        </p:nvSpPr>
        <p:spPr>
          <a:xfrm>
            <a:off x="7955280" y="1389888"/>
            <a:ext cx="3687775" cy="4754880"/>
          </a:xfrm>
          <a:prstGeom prst="roundRect">
            <a:avLst>
              <a:gd name="adj" fmla="val 1240"/>
            </a:avLst>
          </a:prstGeom>
          <a:solidFill>
            <a:srgbClr val="F2EDE9"/>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Hand copying was slow, costly and error-prone; the press made information fast, accurate and beyond the Church's control; the Society tested ideas; the charter gave it standing; the journal carried research in plain English.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built the printing press in Europe, and roughly when?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Johannes Gutenberg, in about 1440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Gutenberg built a press using movable metal letters in about 1440. By 1500 presses in Europe had printed over twenty million copies.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3: How new ideas spread</dc:title>
  <dc:subject>History · Year 9</dc:subject>
  <dc:creator>Dr Vitor Merissi de Carvalho</dc:creator>
  <cp:lastModifiedBy>Dr Vitor Merissi de Carvalho</cp:lastModifiedBy>
  <cp:revision>1</cp:revision>
  <dcterms:created xsi:type="dcterms:W3CDTF">2026-10-19T06:07:59Z</dcterms:created>
  <dcterms:modified xsi:type="dcterms:W3CDTF">2026-10-19T06:07:59Z</dcterms:modified>
</cp:coreProperties>
</file>