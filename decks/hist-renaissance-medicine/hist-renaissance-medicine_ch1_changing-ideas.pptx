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f9cedb-e93c-ab9b-000f-a1ff017a9739}">
          <p14:sldIdLst>
            <p14:sldId id="256"/>
          </p14:sldIdLst>
        </p14:section>
        <p14:section name="Gate" id="{2652c764-af5f-a128-e853-b583afcdb2cd}">
          <p14:sldIdLst>
            <p14:sldId id="257"/>
            <p14:sldId id="258"/>
          </p14:sldIdLst>
        </p14:section>
        <p14:section name="Pre-teach" id="{9044af10-5123-3c45-fe2c-9b1dcfffdd3a}">
          <p14:sldIdLst>
            <p14:sldId id="259"/>
            <p14:sldId id="260"/>
          </p14:sldIdLst>
        </p14:section>
        <p14:section name="Read-along" id="{dee6534b-db2c-a404-30d5-1b93f4e087c5}">
          <p14:sldIdLst>
            <p14:sldId id="261"/>
            <p14:sldId id="262"/>
          </p14:sldIdLst>
        </p14:section>
        <p14:section name="Teach" id="{31c5c274-90c3-cc46-1c67-4d83da7f4a09}">
          <p14:sldIdLst>
            <p14:sldId id="263"/>
            <p14:sldId id="264"/>
            <p14:sldId id="265"/>
            <p14:sldId id="266"/>
            <p14:sldId id="267"/>
            <p14:sldId id="268"/>
          </p14:sldIdLst>
        </p14:section>
        <p14:section name="Routes" id="{9c6361c1-501c-1e50-2e8a-26564ac2c4c2}">
          <p14:sldIdLst>
            <p14:sldId id="269"/>
            <p14:sldId id="270"/>
            <p14:sldId id="271"/>
          </p14:sldIdLst>
        </p14:section>
        <p14:section name="Close" id="{37599a2d-404c-8376-1153-997406190243}">
          <p14:sldIdLst>
            <p14:sldId id="272"/>
          </p14:sldIdLst>
        </p14:section>
        <p14:section name="Answers" id="{073486b2-89bb-0284-ed09-9451c6792ca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Changing ideas and attitudes. This chapter sets the scene: what the Renaissance was, where humanism came from, and why the Church lost the power to decide what people believed.
This deck covers the department's lesson: 1 (Changing Ideas and Attitudes: Why were ideas and attitudes changing across Europe?).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Renaissance mean?  →  A   Rebirth
2. ___ was a new way of thinking that valued human learning and looked for answers by studying the world.  →  Humanism
3. Which two events does your lesson give as the ones that weakened the power of the Church in Europe?  →  D   The Black Death and the Reformation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Rebirth. Renaissance means rebirth. What was reborn was the learning of Ancient Greece and Rome, not medicine itself.
2. Humanism. Humanism valued human learning and observation, and refused to accept that every answer was already given by the Church.
3. D   The Black Death and the Reformation. Your lesson names the Black Death, which prayer did not stop, and the Reformation, which split the Church in two.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Renaissance: the period from about 1500 to 1700, and the new thinking that went with it. Example: "The Renaissance was a time of new ideas across Europe."
• rebirth: being born again, or starting again. Example: "The word Renaissance means rebirth."
• humanism: a way of thinking that valued human learning and looking for yourself. Example: "Humanism taught people to study the world and ask questions."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Reformation: the split in the Christian Church in the 1500s. Example: "The Reformation divided the Church into Catholic and Protestant."
• corrupt: dishonest, using power for your own gain. Example: "Many people came to think that Church leaders were corrupt."
• continuity: when things stay the same over time. Example: "There was a lot of continuity in medicine during the Renaissance."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Renaissance in England lasted from about 1500 to 1700.
2. The word Renaissance means rebirth.
3. It was a time of new art, new learning and new questions.
4. A new way of thinking called humanism spread across Europe.
5. Humanists loved learning and wanted to find things out for themselves.
6. They did not accept that every answer came from the Church.
7. Two events had already weakened the Church.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first was the Black Death, which prayer did not stop.
9. The second was the Reformation, which split the Church in two.
10. Many people had begun to think that Church leaders were dishonest.
11. So people felt freer to question old ideas about medicine.
12. But changing an idea is not the same as changing a treatment.
13. In this unit you will ask how much really changed, and who changed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Renaissance was. Say it in your own words, then check understanding with a quick question: ask a pupil from the pre-teach group first, since they met these words and ideas before the lesson. Pupils try to recall before you re-explain.
Your last unit ended in 1500, with medicine in England almost exactly where it had been in 1250. This unit picks up the story and runs to 1700. Historians call these two hundred years the Renaissance, from a French word meaning rebirth. The rebirth was of learning: scholars went back to the writings of Ancient Greece and Rome, read them in the original rather than in a copied summary, and began to argue with them.
Be careful with the word rebirth, though. It did not mean that medicine was reborn. For most of this period very little changed in what doctors actually did. What changed first was art, religion, culture and attitudes, and only then, slowly and at the very end, the way people explained and treated disease.
That gap is the heart of this unit. New ideas arrived; old practice carried on. Your job all the way through is to separate change (something is different afterwards) from continuity (it carries on as before), and to judge which of the two mattered more at each point.
Worked example — model it step by step, thinking aloud: A pupil writes: ‘In the Renaissance, medicine was reborn and doctors stopped using the Four Humours.’ Correct this sentence using what you know about change and continuity. (1) Find the part that is right. The Renaissance was a period of new ideas and new learning, so that part can stay. (2) Find the part that goes too far. Doctors did not stop using the Four Humours in this period; scientists and physicians increasingly rejected the theory, but most people still believed it and some physicians still worked by it. (3) Replace the overclaim with a change-and-continuity sentence: say what changed, then say what carried on. (4) Check your belief words: the Four Humours was an idea people held, so write ‘people still believed’, not ‘the humours were out of balance’. Answer: In the Renaissance, new ways of thinking led people to question old explanations of disease, but there was a lot of continuity in treatment: most people still believed in the Four Humours, and bloodletting and purging carried on..
Tip: Renaissance means rebirth, and in an exam answer it is worth saying what was reborn: the learning of Ancient Greece and Rome, not medicine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Renaissance was. Say it in your own words, then check understanding with a quick question: ask a pupil from the pre-teach group first, since they met these words and ideas before the lesson. Pupils try to recall before you re-explain.
Your last unit ended in 1500, with medicine in England almost exactly where it had been in 1250. This unit picks up the story and runs to 1700. Historians call these two hundred years the Renaissance, from a French word meaning rebirth. The rebirth was of learning: scholars went back to the writings of Ancient Greece and Rome, read them in the original rather than in a copied summary, and began to argue with them.
Be careful with the word rebirth, though. It did not mean that medicine was reborn. For most of this period very little changed in what doctors actually did. What changed first was art, religion, culture and attitudes, and only then, slowly and at the very end, the way people explained and treated disease.
That gap is the heart of this unit. New ideas arrived; old practice carried on. Your job all the way through is to separate change (something is different afterwards) from continuity (it carries on as before), and to judge which of the two mattered more at each point.
Worked example — model it step by step, thinking aloud: A pupil writes: ‘In the Renaissance, medicine was reborn and doctors stopped using the Four Humours.’ Correct this sentence using what you know about change and continuity. (1) Find the part that is right. The Renaissance was a period of new ideas and new learning, so that part can stay. (2) Find the part that goes too far. Doctors did not stop using the Four Humours in this period; scientists and physicians increasingly rejected the theory, but most people still believed it and some physicians still worked by it. (3) Replace the overclaim with a change-and-continuity sentence: say what changed, then say what carried on. (4) Check your belief words: the Four Humours was an idea people held, so write ‘people still believed’, not ‘the humours were out of balance’. Answer: In the Renaissance, new ways of thinking led people to question old explanations of disease, but there was a lot of continuity in treatment: most people still believed in the Four Humours, and bloodletting and purging carried on..
Tip: Renaissance means rebirth, and in an exam answer it is worth saying what was reborn: the learning of Ancient Greece and Rome, not medicine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Renaissance was. Say it in your own words, then check understanding with a quick question: ask a pupil from the pre-teach group first, since they met these words and ideas before the lesson. Pupils try to recall before you re-explain.
Your last unit ended in 1500, with medicine in England almost exactly where it had been in 1250. This unit picks up the story and runs to 1700. Historians call these two hundred years the Renaissance, from a French word meaning rebirth. The rebirth was of learning: scholars went back to the writings of Ancient Greece and Rome, read them in the original rather than in a copied summary, and began to argue with them.
Be careful with the word rebirth, though. It did not mean that medicine was reborn. For most of this period very little changed in what doctors actually did. What changed first was art, religion, culture and attitudes, and only then, slowly and at the very end, the way people explained and treated disease.
That gap is the heart of this unit. New ideas arrived; old practice carried on. Your job all the way through is to separate change (something is different afterwards) from continuity (it carries on as before), and to judge which of the two mattered more at each point.
Worked example — model it step by step, thinking aloud: A pupil writes: ‘In the Renaissance, medicine was reborn and doctors stopped using the Four Humours.’ Correct this sentence using what you know about change and continuity. (1) Find the part that is right. The Renaissance was a period of new ideas and new learning, so that part can stay. (2) Find the part that goes too far. Doctors did not stop using the Four Humours in this period; scientists and physicians increasingly rejected the theory, but most people still believed it and some physicians still worked by it. (3) Replace the overclaim with a change-and-continuity sentence: say what changed, then say what carried on. (4) Check your belief words: the Four Humours was an idea people held, so write ‘people still believed’, not ‘the humours were out of balance’. Answer: In the Renaissance, new ways of thinking led people to question old explanations of disease, but there was a lot of continuity in treatment: most people still believed in the Four Humours, and bloodletting and purging carried on..
Tip: Renaissance means rebirth, and in an exam answer it is worth saying what was reborn: the learning of Ancient Greece and Rome, not medicine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Humanism: finding out for yourself. Say it in your own words, then check understanding with a quick question: ask a pupil from the pre-teach group first, since they met these words and ideas before the lesson. Pupils try to recall before you re-explain.
Humanism is the new attitude at the centre of this unit. Humanists loved learning for its own sake. They collected and read the classical writers, they taught Greek and Latin, and above all they believed that a human being could discover things about the world by looking at it carefully, measuring it and arguing about it.
That sounds obvious to you. It was not obvious in 1500. In your last unit the normal way to settle a medical question was to ask what the Church taught, or what Galen had written a thousand years earlier. A humanist would answer: let us go and look. Humanists rejected the idea that God, or the Church, was the explanation for everything that happened, and that is a very big shift.
Humanism did not make people stop being Christian. Most humanists were devout. What they rejected was the idea that every question was already answered, and that curiosity was dangerous. Remember this when you meet Vesalius in chapter 5: he opened bodies because he wanted to see for himself whether Galen was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Church lost power: two events. Say it in your own words, then check understanding with a quick question: ask a pupil from the pre-teach group first, since they met these words and ideas before the lesson. Pupils try to recall before you re-explain.
By the 1500s people across Europe were looking for new explanations of the world. Many felt that the Church had not explained properly how the world worked, and many had come to see its leaders as greedy and dishonest. The Church's influence became much weaker going into the Renaissance, and your lesson gave two events that weakened it.
The first was the Black Death of 1348, which you studied last unit. The Church taught that the plague was God's punishment and that prayer, fasting and processions were the answer. The plague killed about one third of the population anyway, and it killed priests as readily as peasants. For many survivors, that shook their trust in the explanation and in the people giving it.
The second was the Reformation. In the 1500s the Christian Church in western Europe split: Protestant churches broke away from the Catholic Church, and in England Henry VIII broke with Rome in 1534, as you met in your last unit. Once there were rival churches, no single Church could decide what every scholar was allowed to think. That is why the Reformation matters for medicine, even though it is not about medicine at all.
Tip: Join the two events to medicine in one clause: because the Church lost authority, ideas that it had protected, such as the Four Humours, could now be questioned.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enquiry: how important were individuals?. Say it in your own words, then check understanding with a quick question: ask a pupil from the pre-teach group first, since they met these words and ideas before the lesson. Pupils try to recall before you re-explain.
The question you are answering across the whole unit is the one at the top of every lesson: how important were individuals in driving change in medicine in the Renaissance? You will meet three. Thomas Sydenham changed how patients were diagnosed. Andreas Vesalius changed what was known about the structure of the body. William Harvey changed what was known about the blood.
An enquiry question needs an argument, not a list. The historian's trick is to test the individuals against the other factors you already use: attitudes and beliefs, science and technology, government, improved communications, war and the Church. Did Vesalius change anatomy, or did the printing press? Both, probably, and your job is to weigh them.
Keep a running answer. At the end of each chapter, write one sentence on whether the change in it came mainly from an individual or mainly from another factor. By chapter 6 you will have six sentences and the essay will nearly write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the Renaissance sits.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moments in the history of medicine in chronological order, earliest first.
Support — work through the steps with the group: (1) Chronological order means earliest first. Read the dates in the brackets before you read anything else. (2) BC dates count backwards, so a BC date is always earlier than an AD date. (3) Put the two BC and early AD items first: Hippocrates, then Galen. (4) Then order the rest by their first number: c1000, 1485, 1500.
Parallel worked example for Support (model it, do not give the task answer): Practice: put these three in chronological order: the Reformation in England (1534), the Norman Conquest (1066), the Black Death in England (1348). Find the smallest year: 1066.; Next comes 1348.; The largest year, 1534, goes last.. Answer: The Norman Conquest (1066); the Black Death in England (1348); the Reformation in England (1534)..
Core — reveal the hint only on request: Two of the five are before the year 1000. The other three go c1000, then 1485, then 1500.
Stretch — no help; when finished: Say how long Galen's ideas had been taught in Europe by the time the Renaissance began, and what that length of time tells you about how hard they would be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the Renaissance sits.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moments in the history of medicine in chronological order, earliest first.
Support — work through the steps with the group: (1) Chronological order means earliest first. Read the dates in the brackets before you read anything else. (2) BC dates count backwards, so a BC date is always earlier than an AD date. (3) Put the two BC and early AD items first: Hippocrates, then Galen. (4) Then order the rest by their first number: c1000, 1485, 1500.
Parallel worked example for Support (model it, do not give the task answer): Practice: put these three in chronological order: the Reformation in England (1534), the Norman Conquest (1066), the Black Death in England (1348). Find the smallest year: 1066.; Next comes 1348.; The largest year, 1534, goes last.. Answer: The Norman Conquest (1066); the Black Death in England (1348); the Reformation in England (1534)..
Core — reveal the hint only on request: Two of the five are before the year 1000. The other three go c1000, then 1485, then 1500.
Stretch — no help; when finished: Say how long Galen's ideas had been taught in Europe by the time the Renaissance began, and what that length of time tells you about how hard they would be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was the Renaissance?.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course dates the Renaissance period in England from 1500 to 1700. How many years is that?
Support — work through the steps with the group: (1) Write the end date above the start date: 1700 over 1500. (2) Subtract: the hundreds are what change, so work in hundreds. (3) From 1500 to 1600 is 100 years. From 1600 to 1700 is another 100. (4) Add the two jumps: 100 + 100 = 200.
Parallel worked example for Support (model it, do not give the task answer): Practice: your last unit dated medieval medicine from 1250 to 1500. How many years is that? End date minus start date: 1500 − 1250.; From 1250 to 1500 is 250.. Answer: 250 years.
Core — reveal the hint only on request: End date minus start date. Count in hundreds from 1500 up to 1700.
Stretch — no help; when finished: Your medieval unit covered 250 years and this one covers 200. Say which period you expect to show more change in medicine, and give one reason from what you have read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the word Renaissance mean?
Answer: D   Rebirth. Renaissance means rebirth. What was reborn was the learning of Ancient Greece and Rome, not medicine itself.
Source of this question: gate item 1 re-asked (options rotated) — this chapter has no third quick-check module.
The ebook also holds task 3, "One way attitudes had changed",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Where the Renaissance sits. Reveal the answer; pupils mark their own work in a different colour, then read the "why" together. Same destination for every lane, so one answer serves the whole class.
Answer: Hippocrates sets out the Theory of the Four Humours in Ancient Greece (460–370 BC)  (A); Galen works as a doctor in the Roman Empire (129–216)  (C); Hippocrates and Galen are translated into Latin for European scholars (c1000)  (E); The medieval period in England ends and the Tudor dynasty begins (1485)  (B); The Renaissance period in England (1500–1700)  (D)
Why: Hippocrates (460–370 BC) comes first, then Galen (129–216), then the Latin translations that brought their work to European scholars about the year 1000, then the end of the medieval period in 1485, then the Renaissance from 1500.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was the Renaissance?. Reveal the answer; pupils mark their own work in a different colour, then read the "why" together. Same destination for every lane, so one answer serves the whole class.
Answer: 200 years
Why: 1700 − 1500 = 200 years. Two centuries of new ideas, in which the explanations of disease used by most people barely moved.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Rebirth
Why: Renaissance means rebirth. What was reborn was the learning of Ancient Greece and Rome, not medicine itself.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Changing ideas and attitudes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Changing Ideas and Attitudes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the word Renaissance mean?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Rebirth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Revolution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Reformation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Recovery</a:t>
            </a:r>
            <a:endParaRPr lang="en-US" sz="24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___ was a new way of thinking that valued human learning and looked for answers by studying the world.</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Humanism  ·  Miasma  ·  Alchemy</a:t>
            </a:r>
            <a:endParaRPr lang="en-US" sz="20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two events does your lesson give as the ones that weakened the power of the Church in Europe?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Norman Conquest and the Black Death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Black Death and the Great Plague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Reformation and the printing press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Black Death and the Reformation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Rebirth</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the word Renaissance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Renaissance means rebirth. What was reborn was the learning of Ancient Greece and Rome, not medicine itself.</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Humanism</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Humanism valued human learning and observation, and refused to accept that every answer was already given by the Church.</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Black Death and the Reformation</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two events does your lesson give as the ones that weakened the power of the Church in Europe?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Your lesson names the Black Death, which prayer did not stop, and the Reformation, which split the Church in two.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Renaissance</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period from about 1500 to 1700, and the new thinking that went with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Renaissance was a time of new ideas across Europe.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rebirth</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born again, or starting again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word Renaissance means rebirth.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humanism</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way of thinking that valued human learning and looking for yourself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Humanism taught people to study the world and ask questions.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Reformation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split in the Christian Church in the 1500s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Reformation divided the Church into Catholic and Protestant.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corrupt</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dishonest, using power for your own gain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people came to think that Church leaders were corrupt.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continuity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things stay the same over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was a lot of continuity in medicine during the Renaissance.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Renaissance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England lasted from about 1500 to 1700.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word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Renaissance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rebirth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a time of new art, new learning and new questions.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new way of thinking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humanism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spread across Europe.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Humanists loved learning and wanted to find things out for themselves.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did not accept that every answer came from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Two events had already weakened the Church.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was the Black Death, which prayer did not stop.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second was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Reformation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split the Church in two.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had begun to think that Church leaders were dishonest.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people felt freer to question old ideas about medicine.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changing an idea is not the same as changing a treatment.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this unit you will ask how much really changed, and who changed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the Renaissance was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Renaissance means rebirth, and in an exam answer it is worth saying what was reborn: the learning of Ancient Greece and Rome, not medicine itself.</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last unit ended in 1500, with medicine in England almost exactly where it had been in 1250.</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 careful with the word rebirth, though. It did not mean that medicine was reborn.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gap is the heart of this unit. New ideas arrived; old practice carried 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What the Renaissance was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2ED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‘In the Renaissance, medicine was reborn and doctors stopped using the Four Humours.’ Correct this sentence using what you know about change and continuity.</a:t>
            </a:r>
            <a:endParaRPr lang="en-US" sz="2200" dirty="0"/>
          </a:p>
        </p:txBody>
      </p:sp>
      <p:sp>
        <p:nvSpPr>
          <p:cNvPr id="9" name="step-box"/>
          <p:cNvSpPr/>
          <p:nvPr/>
        </p:nvSpPr>
        <p:spPr>
          <a:xfrm>
            <a:off x="548640" y="2996692"/>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3106420"/>
            <a:ext cx="530352" cy="459285"/>
          </a:xfrm>
          <a:prstGeom prst="hexagon">
            <a:avLst/>
          </a:prstGeom>
          <a:solidFill>
            <a:srgbClr val="7A4A1E"/>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part that is right. The Renaissance was a period of new ideas and new learning, so that part can stay.</a:t>
            </a:r>
            <a:endParaRPr lang="en-US" sz="1800" dirty="0"/>
          </a:p>
        </p:txBody>
      </p:sp>
      <p:sp>
        <p:nvSpPr>
          <p:cNvPr id="13" name="arrow"/>
          <p:cNvSpPr/>
          <p:nvPr/>
        </p:nvSpPr>
        <p:spPr>
          <a:xfrm>
            <a:off x="5963260" y="3986022"/>
            <a:ext cx="274320" cy="274320"/>
          </a:xfrm>
          <a:prstGeom prst="rightArrow">
            <a:avLst/>
          </a:prstGeom>
          <a:solidFill>
            <a:srgbClr val="B8862B"/>
          </a:solidFill>
          <a:ln/>
        </p:spPr>
      </p:sp>
      <p:sp>
        <p:nvSpPr>
          <p:cNvPr id="14" name="step-box"/>
          <p:cNvSpPr/>
          <p:nvPr/>
        </p:nvSpPr>
        <p:spPr>
          <a:xfrm>
            <a:off x="6301588" y="2996692"/>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3106420"/>
            <a:ext cx="530352" cy="459285"/>
          </a:xfrm>
          <a:prstGeom prst="hexagon">
            <a:avLst/>
          </a:prstGeom>
          <a:solidFill>
            <a:srgbClr val="7A4A1E"/>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part that goes too far. Doctors did not stop using the Four Humours in this period; scientists and physicians increasingly rejected the theory, but most people still believed it and some physicians still worked by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What the Renaissance was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2ED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‘In the Renaissance, medicine was reborn and doctors stopped using the Four Humours.’ Correct this sentence using what you know about change and continuity.</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3106420"/>
            <a:ext cx="530352" cy="459285"/>
          </a:xfrm>
          <a:prstGeom prst="hexagon">
            <a:avLst/>
          </a:prstGeom>
          <a:solidFill>
            <a:srgbClr val="7A4A1E"/>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Replace the overclaim with a change-and-continuity sentence: say what changed, then say what carried on.</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3106420"/>
            <a:ext cx="530352" cy="459285"/>
          </a:xfrm>
          <a:prstGeom prst="hexagon">
            <a:avLst/>
          </a:prstGeom>
          <a:solidFill>
            <a:srgbClr val="7A4A1E"/>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your belief words: the Four Humours was an idea people held, so write ‘people still believed’, not ‘the humours were out of balance’.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In the Renaissance, new ways of thinking led people to question old explanations of disease, but there was a lot of continuity in treatment: most people still believed in the Four Humours, and bloodletting and purging carried 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Humanism: finding out for yourself</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Humanism is the new attitude at the centre of this unit.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sounds obvious to you. It was not obvious in 1500.</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Humanism did not make people stop being Christian. Most humanists were devout.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Church lost power: two events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Join the two events to medicine in one clause: because the Church lost authority, ideas that it had protected, such as the Four Humours, could now be questioned.</a:t>
            </a:r>
            <a:endParaRPr lang="en-US" sz="1800" dirty="0"/>
          </a:p>
        </p:txBody>
      </p:sp>
      <p:sp>
        <p:nvSpPr>
          <p:cNvPr id="11" name="bullet-card"/>
          <p:cNvSpPr/>
          <p:nvPr/>
        </p:nvSpPr>
        <p:spPr>
          <a:xfrm>
            <a:off x="548640" y="1389888"/>
            <a:ext cx="11094415" cy="936921"/>
          </a:xfrm>
          <a:prstGeom prst="roundRect">
            <a:avLst>
              <a:gd name="adj" fmla="val 7808"/>
            </a:avLst>
          </a:prstGeom>
          <a:solidFill>
            <a:srgbClr val="F4F1ED"/>
          </a:solidFill>
          <a:ln/>
        </p:spPr>
      </p:sp>
      <p:sp>
        <p:nvSpPr>
          <p:cNvPr id="12" name="bullet-hex"/>
          <p:cNvSpPr/>
          <p:nvPr/>
        </p:nvSpPr>
        <p:spPr>
          <a:xfrm>
            <a:off x="676656" y="1692056"/>
            <a:ext cx="384048" cy="332586"/>
          </a:xfrm>
          <a:prstGeom prst="hexagon">
            <a:avLst/>
          </a:prstGeom>
          <a:solidFill>
            <a:srgbClr val="7A4A1E"/>
          </a:solidFill>
          <a:ln/>
        </p:spPr>
      </p:sp>
      <p:sp>
        <p:nvSpPr>
          <p:cNvPr id="13" name="bullet"/>
          <p:cNvSpPr txBox="1"/>
          <p:nvPr/>
        </p:nvSpPr>
        <p:spPr>
          <a:xfrm>
            <a:off x="1143000" y="1389888"/>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By the 1500s people across Europe were looking for new explanations of the world.</a:t>
            </a:r>
            <a:endParaRPr lang="en-US" sz="2200" dirty="0"/>
          </a:p>
        </p:txBody>
      </p:sp>
      <p:sp>
        <p:nvSpPr>
          <p:cNvPr id="14" name="bullet-card"/>
          <p:cNvSpPr/>
          <p:nvPr/>
        </p:nvSpPr>
        <p:spPr>
          <a:xfrm>
            <a:off x="548640" y="2473113"/>
            <a:ext cx="11094415" cy="936921"/>
          </a:xfrm>
          <a:prstGeom prst="roundRect">
            <a:avLst>
              <a:gd name="adj" fmla="val 7808"/>
            </a:avLst>
          </a:prstGeom>
          <a:solidFill>
            <a:srgbClr val="F4F1ED"/>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473113"/>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first was the Black Death of 1348, which you studied last unit.</a:t>
            </a:r>
            <a:endParaRPr lang="en-US" sz="2200" dirty="0"/>
          </a:p>
        </p:txBody>
      </p:sp>
      <p:sp>
        <p:nvSpPr>
          <p:cNvPr id="17" name="bullet-card"/>
          <p:cNvSpPr/>
          <p:nvPr/>
        </p:nvSpPr>
        <p:spPr>
          <a:xfrm>
            <a:off x="548640" y="3556339"/>
            <a:ext cx="11094415" cy="1519597"/>
          </a:xfrm>
          <a:prstGeom prst="roundRect">
            <a:avLst>
              <a:gd name="adj" fmla="val 4814"/>
            </a:avLst>
          </a:prstGeom>
          <a:solidFill>
            <a:srgbClr val="F4F1ED"/>
          </a:solidFill>
          <a:ln/>
        </p:spPr>
      </p:sp>
      <p:sp>
        <p:nvSpPr>
          <p:cNvPr id="18" name="bullet-hex"/>
          <p:cNvSpPr/>
          <p:nvPr/>
        </p:nvSpPr>
        <p:spPr>
          <a:xfrm>
            <a:off x="676656" y="4149845"/>
            <a:ext cx="384048" cy="332586"/>
          </a:xfrm>
          <a:prstGeom prst="hexagon">
            <a:avLst/>
          </a:prstGeom>
          <a:solidFill>
            <a:srgbClr val="7A4A1E"/>
          </a:solidFill>
          <a:ln/>
        </p:spPr>
      </p:sp>
      <p:sp>
        <p:nvSpPr>
          <p:cNvPr id="19" name="bullet"/>
          <p:cNvSpPr txBox="1"/>
          <p:nvPr/>
        </p:nvSpPr>
        <p:spPr>
          <a:xfrm>
            <a:off x="1143000" y="3556339"/>
            <a:ext cx="10408615" cy="15195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second was the Reformation. In the 1500s the Christian Church in western Europe split: Protestant churches broke away from the Catholic Church, and in England Henry VIII broke with Rome in 1534, as you met in your last unit.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enquiry: how important were individuals?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question you are answering across the whole unit is the one at the top of every lesson: how important were individuals in driving change in medicine in the Renaissance?</a:t>
            </a:r>
            <a:endParaRPr lang="en-US" sz="20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An enquiry question needs an argument, not a list. The historian's trick is to test the individuals against the other factors you already use: attitudes and beliefs, science and technology, government, improved communications, war and the Church.</a:t>
            </a:r>
            <a:endParaRPr lang="en-US" sz="20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Keep a running answer. At the end of each chapter, write one sentence on whether the change in it came mainly from an individual or mainly from another factor.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Where the Renaissance sits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five moments in the history of medicine in chronological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Hippocrates sets out the Theory of the Four Humours in Ancient Greece (460–370 BC)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medieval period in England ends and the Tudor dynasty begins (1485)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Galen works as a doctor in the Roman Empire (129–216)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Renaissance period in England (1500–1700)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Hippocrates and Galen are translated into Latin for European scholars (c1000)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Where the Renaissance sits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Where the Renaissance sits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Chronological order means earliest first. Read the dates in the brackets before you read anything else.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BC dates count backwards, so a BC date is always earlier than an AD date.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two BC and early AD items first: Hippocrates, then Galen.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order the rest by their first number: c1000, 1485, 1500.</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five are before the year 1000. The other three go c1000, then 1485, then 1500.</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Say how long Galen's ideas had been taught in Europe by the time the Renaissance began, and what that length of time tells you about how hard they would be to replace.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How long was the Renaissance?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Your course dates the Renaissance period in England from 1500 to 1700. How many years is that?</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ED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end date above the start date: 1700 over 1500.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hundreds are what change, so work in hundreds.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1500 to 1600 is 100 years. From 1600 to 1700 is another 100.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two jumps: 100 + 100 = 200.</a:t>
            </a:r>
            <a:endParaRPr lang="en-US" sz="1800" dirty="0"/>
          </a:p>
        </p:txBody>
      </p:sp>
      <p:sp>
        <p:nvSpPr>
          <p:cNvPr id="17" name="col-Core"/>
          <p:cNvSpPr/>
          <p:nvPr/>
        </p:nvSpPr>
        <p:spPr>
          <a:xfrm>
            <a:off x="5490762" y="2948940"/>
            <a:ext cx="2938987" cy="3195828"/>
          </a:xfrm>
          <a:prstGeom prst="roundRect">
            <a:avLst>
              <a:gd name="adj" fmla="val 1867"/>
            </a:avLst>
          </a:prstGeom>
          <a:solidFill>
            <a:srgbClr val="E2D7CE"/>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End date minus start date. Count in hundreds from 1500 up to 1700.</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medieval unit covered 250 years and this one covers 200. Say which period you expect to show more change in medicine, and give one reason from what you have read so far.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the word Renaissance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Revolution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Reformation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Recovery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Rebirth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Where the Renaissance sits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Hippocrates sets out the Theory of the Four Humours in Ancient Greece (460–370 BC)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Galen works as a doctor in the Roman Empire (129–216)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Hippocrates and Galen are translated into Latin for European scholars (c1000)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medieval period in England ends and the Tudor dynasty begins (1485)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Renaissance period in England (1500–1700)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Hippocrates (460–370 BC) comes first, then Galen (129–216), then the Latin translations that brought their work to European scholars about the year 1000, then the end of the medieval period in 1485, then the Renaissance from 1500.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was the Renaissance?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Your course dates the Renaissance period in England from 1500 to 1700. How many years is that?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200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1700 − 1500 = 200 years. Two centuries of new ideas, in which the explanations of disease used by most people barely moved.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the word Renaissance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Rebirth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Renaissance means rebirth. What was reborn was the learning of Ancient Greece and Rome, not medicine itself.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1: Changing ideas and attitudes</dc:title>
  <dc:subject>History · Year 9</dc:subject>
  <dc:creator>Dr Vitor Merissi de Carvalho</dc:creator>
  <cp:lastModifiedBy>Dr Vitor Merissi de Carvalho</cp:lastModifiedBy>
  <cp:revision>1</cp:revision>
  <dcterms:created xsi:type="dcterms:W3CDTF">2026-10-19T06:07:59Z</dcterms:created>
  <dcterms:modified xsi:type="dcterms:W3CDTF">2026-10-19T06:07:59Z</dcterms:modified>
</cp:coreProperties>
</file>