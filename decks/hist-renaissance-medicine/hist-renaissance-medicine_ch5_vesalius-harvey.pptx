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6adee8a-32f7-9c89-a97b-aabe3394dd9e}">
          <p14:sldIdLst>
            <p14:sldId id="256"/>
          </p14:sldIdLst>
        </p14:section>
        <p14:section name="Gate" id="{0549167e-ac8f-6789-34b7-58a5db3c45e9}">
          <p14:sldIdLst>
            <p14:sldId id="257"/>
            <p14:sldId id="258"/>
            <p14:sldId id="259"/>
          </p14:sldIdLst>
        </p14:section>
        <p14:section name="Pre-teach" id="{c5beaefc-93fa-30f4-3240-795c8a8ff62f}">
          <p14:sldIdLst>
            <p14:sldId id="260"/>
            <p14:sldId id="261"/>
          </p14:sldIdLst>
        </p14:section>
        <p14:section name="Read-along" id="{8ed02d44-8866-fc24-bdc2-ea7327af0da4}">
          <p14:sldIdLst>
            <p14:sldId id="262"/>
            <p14:sldId id="263"/>
          </p14:sldIdLst>
        </p14:section>
        <p14:section name="Teach" id="{fa2500fb-e139-f63c-3fc1-bcd261cac8ed}">
          <p14:sldIdLst>
            <p14:sldId id="264"/>
            <p14:sldId id="265"/>
            <p14:sldId id="266"/>
            <p14:sldId id="267"/>
            <p14:sldId id="268"/>
            <p14:sldId id="269"/>
            <p14:sldId id="270"/>
            <p14:sldId id="271"/>
          </p14:sldIdLst>
        </p14:section>
        <p14:section name="Routes" id="{b99829d8-4609-9554-b9cb-65f0bee6f920}">
          <p14:sldIdLst>
            <p14:sldId id="272"/>
            <p14:sldId id="273"/>
            <p14:sldId id="274"/>
            <p14:sldId id="275"/>
            <p14:sldId id="276"/>
            <p14:sldId id="277"/>
          </p14:sldIdLst>
        </p14:section>
        <p14:section name="Close" id="{ae85a1ee-c126-2c43-a6f6-35706d31dc87}">
          <p14:sldIdLst>
            <p14:sldId id="278"/>
          </p14:sldIdLst>
        </p14:section>
        <p14:section name="Answers" id="{14afd36d-ec70-e5a9-99cf-f415f305a9fb}">
          <p14:sldIdLst>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Vesalius and Harvey: two individuals and the body. This chapter covers the two men at the centre of the enquiry: what each one found out about the human body, which factors made it possible, and why their work changed knowledge far more than practice.
This deck covers the department's lessons: 6 (Andreas Vesalius: How did Andreas Vesalius improve medical knowledge?); 7 (William Harvey: How did William Harvey improve medical knowledge?).
Read the big question aloud: "How important were individuals in driving change in medicine in Renaissance England, c1500–c1700?"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different about the way Vesalius carried out dissections?  →  A   He dissected the bodies himself and taught from what he saw
2. Harvey showed that blood ___ around the body, pumped by the heart out through the arteries and back through the veins.  →  circulated
3. Why did Harvey's discoveries change medical practice so little at the time?  →  B   They explained how the body worked but offered no new treatment, and many physicians were slow to accept them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different about the way Vesalius carried out dissections?  →  A   He dissected the bodies himself and taught from what he saw
2. Harvey showed that blood ___ around the body, pumped by the heart out through the arteries and back through the veins.  →  circulated
3. Why did Harvey's discoveries change medical practice so little at the time?  →  B   They explained how the body worked but offered no new treatment, and many physicians were slow to accept them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He dissected the bodies himself and taught from what he saw. A medieval dissection was a demonstration of Galen's text. Vesalius cut himself, in front of his students, and taught from the body.
2. circulated. Circulation means moving round and round. The same blood returns to the heart instead of being made afresh in the liver.
3. B   They explained how the body worked but offered no new treatment, and many physicians were slow to accept them. Knowledge moved and practice did not. Bloodletting continued, no new treatment followed, and the missing connections between arteries and veins gave his critics a gap to attack.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anatomy: the study of the structure of the body. Example: "Vesalius studied anatomy by dissecting bodies himself."
• dissection: cutting open a dead body to study it. Example: "A public dissection drew crowds of medical students."
• illustration: a detailed drawing in a book. Example: "The illustrations in Vesalius's second book were extremely detailed."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vein: a blood vessel that carries blood towards the heart. Example: "Harvey showed that a vein carries blood to the heart."
• artery: a blood vessel that carries blood away from the heart. Example: "An artery carries blood away from the heart."
• circulation: the movement of blood round and round the body. Example: "Harvey proved the circulation of the blood."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Andreas Vesalius wanted to know what the human body was really like.
2. Medieval dissections were held to confirm what Galen had written.
3. A professor read the book aloud while someone else did the cutting.
4. Vesalius did the cutting himself and taught from what he saw.
5. In 1543 he published a book of very detailed illustrations.
6. He found more than three hundred mistakes in Galen's work.
7. Galen had made them because he dissected animals, not people.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William Harvey studied the body by dissection and observation too.
9. He showed that veins carry blood to the heart.
10. He showed that the heart pumps blood round and round the body.
11. Galen had taught that blood was made in the liver.
12. Harvey published his findings in 1628.
13. Both men changed what was known, but not what doctors did.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Andreas Vesalius and the body itself. Say it in your own words, then check understanding with a quick question: ask a pupil from the pre-teach group first, since they met these words and ideas before the lesson. Pupils try to recall before you re-explain.
Anatomy is the study of the structure of the body, and in 1500 European anatomy was Galen's anatomy. A medieval dissection was a demonstration rather than an investigation: the professor read Galen's description aloud while an assistant cut, and the point was to show the students what the book said. If the body did not match the book, the body was assumed to be unusual.
Andreas Vesalius, who taught at Padua in Italy, did it the other way round. He dissected the bodies himself, in front of his students, and taught from what was in front of him. He published a set of anatomical tables in 1538, and then in 1543 the book he is remembered for, ‘On the Fabric of the Human Body’. Its illustrations were drawn by skilled artists and were far more detailed than anything before; he checked the printing himself so that nothing was lost.
Looking carefully had a consequence. Vesalius found that Galen had been wrong about the body in more than three hundred places. The human jawbone is one bone, not two. The breastbone has three parts, not seven. There are no pores in the wall between the two sides of the heart, although Galen had taught that blood passed through them. Galen had not been careless: dissecting humans was not permitted in Rome, so he had worked on animals such as pigs and apes and assumed people were built the same way.
Tip: Vesalius did not reject Galen; he corrected him, and said so politely. That is partly why traditional physicians kept listening to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Which factors made Vesalius possible?. Say it in your own words, then check understanding with a quick question: ask a pupil from the pre-teach group first, since they met these words and ideas before the lesson. Pupils try to recall before you re-explain.
Your lesson asks you to sort the reasons into factors, and it is worth doing properly, because the enquiry question depends on it. Attitudes and beliefs: humanism encouraged him to question what he read rather than accept it, and the Reformation had loosened the Church's grip on what a physician might attempt, which lowered the danger of punishment. Improved communications: the printing press meant his work could be printed in quantity and sold from one end of Europe to the other, and his illustrations were copied into other textbooks.
Science and technology: better knives and lenses helped, and so did the skill of the artists working in Italy at the time, who could draw what he showed them. Government: a local judge in Padua allowed him to dissect the bodies of executed criminals, and the Holy Roman Emperor, Charles V, admired his work and made him his personal doctor, which raised his reputation across Europe.
And then there is Vesalius himself. He took risks that other scholars would not: as a student he once took a body down from a gallows so that he could dissect it. He was willing to cause controversy by doing his own cutting, which some physicians thought beneath them. He had money behind him, from his family and his university. Take any one factor away and he might still have managed; take several away and he could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William Harvey and the circulation of the blood. Say it in your own words, then check understanding with a quick question: ask a pupil from the pre-teach group first, since they met these words and ideas before the lesson. Pupils try to recall before you re-explain.
William Harvey was a physician who studied at Cambridge and at Padua, the same university where Vesalius had taught. In 1615 he became a lecturer in anatomy at the College of Physicians in London, and in 1618 he was appointed royal doctor to King James I of England and Scotland. His two favourite methods were dissection and observation, and he told his students to trust their own eyes before Galen's pages.
His first finding was about direction. Veins carry blood towards the heart; arteries carry it away. Vesalius had suggested that blood flowed to the heart rather than being made in the liver, as Galen had taught, and Harvey's dissections and experiments showed that Vesalius was right. A mechanical water pump gave him a model for what the heart might be doing, which is a good example of technology changing the way someone thinks.
His second finding was bigger. Harvey showed that the blood circulates: the same blood goes round and round the body, pumped by the heart out through the arteries and back through the veins. Galen had taught that blood was made in the liver, used up by the body and partly passed through pores in the wall of the heart. Harvey could see that arteries and veins must be joined somewhere, but the connections were far too small for him to find, so he could not complete the proof. He published his work in 1628.
Worked example — model it step by step, thinking aloud: A pupil writes: ‘Harvey proved Galen wrong, so physicians stopped bloodletting.’ Correct the second half of this sentence and explain the correction. (1) Check the first half. Harvey did show that Galen's account of the blood was wrong, so that part can stay. (2) Test the second half against the evidence. Bloodletting rested on the Four Humours, and most of the population still believed in them; nothing in Harvey's work told a physician what to do instead. (3) Harvey's work also suggested that taking blood out was more serious than anyone had thought, since the same blood went round and round, which makes the continuation of bloodletting even more striking. (4) Rewrite the second half as the knowledge-and-practice split that runs through this unit. Answer: Harvey proved Galen wrong about the blood, but physicians went on bloodletting for nearly two hundred years, because his work changed what was known about the body without giving anyone a new treatment to use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William Harvey and the circulation of the blood. Say it in your own words, then check understanding with a quick question: ask a pupil from the pre-teach group first, since they met these words and ideas before the lesson. Pupils try to recall before you re-explain.
William Harvey was a physician who studied at Cambridge and at Padua, the same university where Vesalius had taught. In 1615 he became a lecturer in anatomy at the College of Physicians in London, and in 1618 he was appointed royal doctor to King James I of England and Scotland. His two favourite methods were dissection and observation, and he told his students to trust their own eyes before Galen's pages.
His first finding was about direction. Veins carry blood towards the heart; arteries carry it away. Vesalius had suggested that blood flowed to the heart rather than being made in the liver, as Galen had taught, and Harvey's dissections and experiments showed that Vesalius was right. A mechanical water pump gave him a model for what the heart might be doing, which is a good example of technology changing the way someone thinks.
His second finding was bigger. Harvey showed that the blood circulates: the same blood goes round and round the body, pumped by the heart out through the arteries and back through the veins. Galen had taught that blood was made in the liver, used up by the body and partly passed through pores in the wall of the heart. Harvey could see that arteries and veins must be joined somewhere, but the connections were far too small for him to find, so he could not complete the proof. He published his work in 1628.
Worked example — model it step by step, thinking aloud: A pupil writes: ‘Harvey proved Galen wrong, so physicians stopped bloodletting.’ Correct the second half of this sentence and explain the correction. (1) Check the first half. Harvey did show that Galen's account of the blood was wrong, so that part can stay. (2) Test the second half against the evidence. Bloodletting rested on the Four Humours, and most of the population still believed in them; nothing in Harvey's work told a physician what to do instead. (3) Harvey's work also suggested that taking blood out was more serious than anyone had thought, since the same blood went round and round, which makes the continuation of bloodletting even more striking. (4) Rewrite the second half as the knowledge-and-practice split that runs through this unit. Answer: Harvey proved Galen wrong about the blood, but physicians went on bloodletting for nearly two hundred years, because his work changed what was known about the body without giving anyone a new treatment to use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William Harvey and the circulation of the blood. Say it in your own words, then check understanding with a quick question: ask a pupil from the pre-teach group first, since they met these words and ideas before the lesson. Pupils try to recall before you re-explain.
William Harvey was a physician who studied at Cambridge and at Padua, the same university where Vesalius had taught. In 1615 he became a lecturer in anatomy at the College of Physicians in London, and in 1618 he was appointed royal doctor to King James I of England and Scotland. His two favourite methods were dissection and observation, and he told his students to trust their own eyes before Galen's pages.
His first finding was about direction. Veins carry blood towards the heart; arteries carry it away. Vesalius had suggested that blood flowed to the heart rather than being made in the liver, as Galen had taught, and Harvey's dissections and experiments showed that Vesalius was right. A mechanical water pump gave him a model for what the heart might be doing, which is a good example of technology changing the way someone thinks.
His second finding was bigger. Harvey showed that the blood circulates: the same blood goes round and round the body, pumped by the heart out through the arteries and back through the veins. Galen had taught that blood was made in the liver, used up by the body and partly passed through pores in the wall of the heart. Harvey could see that arteries and veins must be joined somewhere, but the connections were far too small for him to find, so he could not complete the proof. He published his work in 1628.
Worked example — model it step by step, thinking aloud: A pupil writes: ‘Harvey proved Galen wrong, so physicians stopped bloodletting.’ Correct the second half of this sentence and explain the correction. (1) Check the first half. Harvey did show that Galen's account of the blood was wrong, so that part can stay. (2) Test the second half against the evidence. Bloodletting rested on the Four Humours, and most of the population still believed in them; nothing in Harvey's work told a physician what to do instead. (3) Harvey's work also suggested that taking blood out was more serious than anyone had thought, since the same blood went round and round, which makes the continuation of bloodletting even more striking. (4) Rewrite the second half as the knowledge-and-practice split that runs through this unit. Answer: Harvey proved Galen wrong about the blood, but physicians went on bloodletting for nearly two hundred years, because his work changed what was known about the body without giving anyone a new treatment to use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William Harvey and the circulation of the blood. Say it in your own words, then check understanding with a quick question: ask a pupil from the pre-teach group first, since they met these words and ideas before the lesson. Pupils try to recall before you re-explain.
William Harvey was a physician who studied at Cambridge and at Padua, the same university where Vesalius had taught. In 1615 he became a lecturer in anatomy at the College of Physicians in London, and in 1618 he was appointed royal doctor to King James I of England and Scotland. His two favourite methods were dissection and observation, and he told his students to trust their own eyes before Galen's pages.
His first finding was about direction. Veins carry blood towards the heart; arteries carry it away. Vesalius had suggested that blood flowed to the heart rather than being made in the liver, as Galen had taught, and Harvey's dissections and experiments showed that Vesalius was right. A mechanical water pump gave him a model for what the heart might be doing, which is a good example of technology changing the way someone thinks.
His second finding was bigger. Harvey showed that the blood circulates: the same blood goes round and round the body, pumped by the heart out through the arteries and back through the veins. Galen had taught that blood was made in the liver, used up by the body and partly passed through pores in the wall of the heart. Harvey could see that arteries and veins must be joined somewhere, but the connections were far too small for him to find, so he could not complete the proof. He published his work in 1628.
Worked example — model it step by step, thinking aloud: A pupil writes: ‘Harvey proved Galen wrong, so physicians stopped bloodletting.’ Correct the second half of this sentence and explain the correction. (1) Check the first half. Harvey did show that Galen's account of the blood was wrong, so that part can stay. (2) Test the second half against the evidence. Bloodletting rested on the Four Humours, and most of the population still believed in them; nothing in Harvey's work told a physician what to do instead. (3) Harvey's work also suggested that taking blood out was more serious than anyone had thought, since the same blood went round and round, which makes the continuation of bloodletting even more striking. (4) Rewrite the second half as the knowledge-and-practice split that runs through this unit. Answer: Harvey proved Galen wrong about the blood, but physicians went on bloodletting for nearly two hundred years, because his work changed what was known about the body without giving anyone a new treatment to use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William Harvey and the circulation of the blood. Say it in your own words, then check understanding with a quick question: ask a pupil from the pre-teach group first, since they met these words and ideas before the lesson. Pupils try to recall before you re-explain.
William Harvey was a physician who studied at Cambridge and at Padua, the same university where Vesalius had taught. In 1615 he became a lecturer in anatomy at the College of Physicians in London, and in 1618 he was appointed royal doctor to King James I of England and Scotland. His two favourite methods were dissection and observation, and he told his students to trust their own eyes before Galen's pages.
His first finding was about direction. Veins carry blood towards the heart; arteries carry it away. Vesalius had suggested that blood flowed to the heart rather than being made in the liver, as Galen had taught, and Harvey's dissections and experiments showed that Vesalius was right. A mechanical water pump gave him a model for what the heart might be doing, which is a good example of technology changing the way someone thinks.
His second finding was bigger. Harvey showed that the blood circulates: the same blood goes round and round the body, pumped by the heart out through the arteries and back through the veins. Galen had taught that blood was made in the liver, used up by the body and partly passed through pores in the wall of the heart. Harvey could see that arteries and veins must be joined somewhere, but the connections were far too small for him to find, so he could not complete the proof. He published his work in 1628.
Worked example — model it step by step, thinking aloud: A pupil writes: ‘Harvey proved Galen wrong, so physicians stopped bloodletting.’ Correct the second half of this sentence and explain the correction. (1) Check the first half. Harvey did show that Galen's account of the blood was wrong, so that part can stay. (2) Test the second half against the evidence. Bloodletting rested on the Four Humours, and most of the population still believed in them; nothing in Harvey's work told a physician what to do instead. (3) Harvey's work also suggested that taking blood out was more serious than anyone had thought, since the same blood went round and round, which makes the continuation of bloodletting even more striking. (4) Rewrite the second half as the knowledge-and-practice split that runs through this unit. Answer: Harvey proved Galen wrong about the blood, but physicians went on bloodletting for nearly two hundred years, because his work changed what was known about the body without giving anyone a new treatment to use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Did they change medicine?. Say it in your own words, then check understanding with a quick question: ask a pupil from the pre-teach group first, since they met these words and ideas before the lesson. Pupils try to recall before you re-explain.
Measure them against knowledge first, and both men are giants. After 1543 anatomy was something you checked against a body rather than a book, and medical training changed with it: students were taught from accurate illustrations and, slowly, from dissection. After 1628 the heart was a pump and the blood went round, which is the foundation of everything later: blood transfusion, surgery, the understanding of the heart.
Measure them against practice at the time, and both look small. No new treatment followed from either man's work. Bloodletting carried on. Many physicians were slow to accept findings that contradicted a thousand years of teaching, and some attacked Vesalius for it. Harvey could not fully prove his theory because he could not see the tiny connections between arteries and veins, which gave his critics a gap to point at.
That gives you the shape of your final answer to the enquiry. Individuals drove the change in medical knowledge in this period, and no other factor explains Vesalius's anatomy or Harvey's circulation. But individuals could not change practice on their own, and the factors that would have let them, better instruments and a new theory of disease, had not arrived yet.
Tip: Learn one date each: 1543 for Vesalius's great book, 1628 for Harvey's. A precise date is the cheapest mark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Factors behind the discoveries.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factor to the way it helped Vesalius or Harvey make their discoveries.
Support — work through the steps with the group: (1) Read each description and ask who or what is doing the helping. (2) Ways of thinking, such as humanism, belong to attitudes and beliefs. (3) Machines, instruments and drawing skill belong to science and technology; printing belongs to communications. (4) Judges and kings are government. One person helping another is individuals.
Parallel worked example for Support (model it, do not give the task answer): Practice: after the Reformation the Church had less say over what a physician might attempt, so Vesalius ran less risk of punishment. Which factor is this closest to? The Reformation was a religious change that altered what people accepted.; It is about authority and belief rather than tools or rulers.; So it belongs to attitudes and beliefs, with the Church behind it.. Answer: Attitudes and beliefs (the Reformation weakening the Church's authority)..
Core — reveal the hint only on request: Five factors, five descriptions. The printing press is communications, not technology, in your department's list.
Stretch — no help; when finished: Rank the five factors from most to least important for Vesalius, then do the same for Harvey, and explain one difference between your two rankings.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Factors behind the discoveries.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factor to the way it helped Vesalius or Harvey make their discoveries.
Support — work through the steps with the group: (1) Read each description and ask who or what is doing the helping. (2) Ways of thinking, such as humanism, belong to attitudes and beliefs. (3) Machines, instruments and drawing skill belong to science and technology; printing belongs to communications. (4) Judges and kings are government. One person helping another is individuals.
Parallel worked example for Support (model it, do not give the task answer): Practice: after the Reformation the Church had less say over what a physician might attempt, so Vesalius ran less risk of punishment. Which factor is this closest to? The Reformation was a religious change that altered what people accepted.; It is about authority and belief rather than tools or rulers.; So it belongs to attitudes and beliefs, with the Church behind it.. Answer: Attitudes and beliefs (the Reformation weakening the Church's authority)..
Core — reveal the hint only on request: Five factors, five descriptions. The printing press is communications, not technology, in your department's list.
Stretch — no help; when finished: Rank the five factors from most to least important for Vesalius, then do the same for Harvey, and explain one difference between your two rankings.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Factors behind the discoveries.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factor to the way it helped Vesalius or Harvey make their discoveries.
Support — work through the steps with the group: (1) Read each description and ask who or what is doing the helping. (2) Ways of thinking, such as humanism, belong to attitudes and beliefs. (3) Machines, instruments and drawing skill belong to science and technology; printing belongs to communications. (4) Judges and kings are government. One person helping another is individuals.
Parallel worked example for Support (model it, do not give the task answer): Practice: after the Reformation the Church had less say over what a physician might attempt, so Vesalius ran less risk of punishment. Which factor is this closest to? The Reformation was a religious change that altered what people accepted.; It is about authority and belief rather than tools or rulers.; So it belongs to attitudes and beliefs, with the Church behind it.. Answer: Attitudes and beliefs (the Reformation weakening the Church's authority)..
Core — reveal the hint only on request: Five factors, five descriptions. The printing press is communications, not technology, in your department's list.
Stretch — no help; when finished: Rank the five factors from most to least important for Vesalius, then do the same for Harvey, and explain one difference between your two rankings.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Factors behind the discoveries.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factor to the way it helped Vesalius or Harvey make their discoveries.
Support — work through the steps with the group: (1) Read each description and ask who or what is doing the helping. (2) Ways of thinking, such as humanism, belong to attitudes and beliefs. (3) Machines, instruments and drawing skill belong to science and technology; printing belongs to communications. (4) Judges and kings are government. One person helping another is individuals.
Parallel worked example for Support (model it, do not give the task answer): Practice: after the Reformation the Church had less say over what a physician might attempt, so Vesalius ran less risk of punishment. Which factor is this closest to? The Reformation was a religious change that altered what people accepted.; It is about authority and belief rather than tools or rulers.; So it belongs to attitudes and beliefs, with the Church behind it.. Answer: Attitudes and beliefs (the Reformation weakening the Church's authority)..
Core — reveal the hint only on request: Five factors, five descriptions. The printing press is communications, not technology, in your department's list.
Stretch — no help; when finished: Rank the five factors from most to least important for Vesalius, then do the same for Harvey, and explain one difference between your two rankings.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factor.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Vesalius stood over the printing of his book himself so that every copy carried his illustrations exactly as he had drawn them. Which factor does this belong to?
Support — work through the steps with the group: (1) Underline the thing that is actually doing the work in the sentence: the printing. (2) Ask which factor printing belongs to in your department's list of six. (3) Printing is about ideas travelling, so it is improved communications, not science and technology. (4) Check the other options for anything that appears in the sentence: no ruler, no army, no Church.
Parallel worked example for Support (model it, do not give the task answer): Practice: ‘Charles V admired Vesalius's work and made him his personal doctor, which raised his reputation.’ Which factor is this? The person acting is an emperor.; Rulers and their decisions belong to one factor.; That factor is government.. Answer: Government..
Core — reveal the hint only on request: Six factors: attitudes and beliefs, individuals, war, science and technology, government, improved communications. Which one is printing?
Stretch — no help; when finished: Write a sentence about Harvey that belongs to two factors at once, and explain how you would use it in an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factor.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Vesalius stood over the printing of his book himself so that every copy carried his illustrations exactly as he had drawn them. Which factor does this belong to?
Support — work through the steps with the group: (1) Underline the thing that is actually doing the work in the sentence: the printing. (2) Ask which factor printing belongs to in your department's list of six. (3) Printing is about ideas travelling, so it is improved communications, not science and technology. (4) Check the other options for anything that appears in the sentence: no ruler, no army, no Church.
Parallel worked example for Support (model it, do not give the task answer): Practice: ‘Charles V admired Vesalius's work and made him his personal doctor, which raised his reputation.’ Which factor is this? The person acting is an emperor.; Rulers and their decisions belong to one factor.; That factor is government.. Answer: Government..
Core — reveal the hint only on request: Six factors: attitudes and beliefs, individuals, war, science and technology, government, improved communications. Which one is printing?
Stretch — no help; when finished: Write a sentence about Harvey that belongs to two factors at once, and explain how you would use it in an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was different about the way Vesalius carried out dissections?
Answer: D   He dissected the bodies himself and taught from what he saw. A medieval dissection was a demonstration of Galen's text. Vesalius cut himself, in front of his students, and taught from the body.
Source of this question: gate item 1 re-asked (options rotated) — this chapter has no third quick-check module.
The ebook also holds task 3, "Explain why they succeeded when they did (12 marks)",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Factors behind the discoveries. Reveal the answer; pupils mark their own work in a different colour, then read the "why" together. Same destination for every lane, so one answer serves the whole class.
Answer: Attitudes and beliefs  →  B  Humanism encouraged both men to test what they read instead of accepting it; Improved communications  →  C  The printing press carried Vesalius's detailed illustrations across Europe; Science and technology  →  A  Better instruments, skilled artists and a mechanical water pump that gave Harvey a model for the heart; Government  →  D  A judge in Padua allowed dissections, and two rulers employed the men as their own doctors; Individuals  →  E  Vesalius's work on the heart gave Harvey the question he spent his career answering
Why: Humanism gave both men the habit of testing; printing spread Vesalius's illustrations; instruments, artists and the water pump gave them tools and models; a judge and two rulers gave them bodies and status; and Vesalius gave Harvey his question.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Name the factor. Reveal the answer; pupils mark their own work in a different colour, then read the "why" together. Same destination for every lane, so one answer serves the whole class.
Answer: B   Improved communications
Why: Printing identical, accurate illustrations and selling them across Europe is improved communications. Government covers rulers and judges; war covers fighting; the Church covers religious authority.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He dissected the bodies himself and taught from what he saw
Why: A medieval dissection was a demonstration of Galen's text. Vesalius cut himself, in front of his students, and taught from the body.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Renaissance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Renaissance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Renaissance Medicine · AQA KS3 → 8145</a:t>
            </a:r>
            <a:endParaRPr lang="en-US" sz="1800" dirty="0"/>
          </a:p>
        </p:txBody>
      </p:sp>
      <p:sp>
        <p:nvSpPr>
          <p:cNvPr id="10" name="deck-title"/>
          <p:cNvSpPr txBox="1"/>
          <p:nvPr/>
        </p:nvSpPr>
        <p:spPr>
          <a:xfrm>
            <a:off x="548640" y="235127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Vesalius and Harvey: two individuals and the body</a:t>
            </a:r>
            <a:endParaRPr lang="en-US" sz="3200" dirty="0"/>
          </a:p>
        </p:txBody>
      </p:sp>
      <p:sp>
        <p:nvSpPr>
          <p:cNvPr id="11" name="lessons-card"/>
          <p:cNvSpPr/>
          <p:nvPr/>
        </p:nvSpPr>
        <p:spPr>
          <a:xfrm>
            <a:off x="548640" y="3763518"/>
            <a:ext cx="5287975" cy="1328420"/>
          </a:xfrm>
          <a:prstGeom prst="roundRect">
            <a:avLst>
              <a:gd name="adj" fmla="val 5507"/>
            </a:avLst>
          </a:prstGeom>
          <a:solidFill>
            <a:srgbClr val="F2EDE9"/>
          </a:solidFill>
          <a:ln/>
        </p:spPr>
      </p:sp>
      <p:sp>
        <p:nvSpPr>
          <p:cNvPr id="12" name="lessons"/>
          <p:cNvSpPr txBox="1"/>
          <p:nvPr/>
        </p:nvSpPr>
        <p:spPr>
          <a:xfrm>
            <a:off x="685800" y="38549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Andreas Vesalius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William Harvey</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important were individuals in driving change in medicine in Renaissance England, c1500–c1700?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was different about the way Vesalius carried out dissections?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dissected the bodies himself and taught from what he saw</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refused to use bodies and worked only from drawings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was the first person ever to dissect a human body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dissected only animals, as Galen had done</a:t>
            </a:r>
            <a:endParaRPr lang="en-US" sz="18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Harvey showed that blood ___ around the body, pumped by the heart out through the arteries and back through the veins.</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circulated  ·  evaporated  ·  rested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Why did Harvey's discoveries change medical practice so little at the time?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were never published, so almost nobody read them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explained how the body worked but offered no new treatment, and many physicians were slow to accept them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was arrested by the Church for disagreeing with Galen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Royal Society refused to let him speak about them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DE1CA"/>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He dissected the bodies himself and taught from what he saw</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medieval dissection was a demonstration of Galen's text. Vesalius cut himself, in front of his students, and taught from the body.</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circulated</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Circulation means moving round and round. The same blood returns to the heart instead of being made afresh in the liver.</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2318512"/>
          </a:xfrm>
          <a:prstGeom prst="roundRect">
            <a:avLst>
              <a:gd name="adj" fmla="val 4733"/>
            </a:avLst>
          </a:prstGeom>
          <a:solidFill>
            <a:srgbClr val="EDE1CA"/>
          </a:solidFill>
          <a:ln w="19050">
            <a:solidFill>
              <a:srgbClr val="B8862B"/>
            </a:solidFill>
            <a:prstDash val="solid"/>
          </a:ln>
        </p:spPr>
      </p:sp>
      <p:sp>
        <p:nvSpPr>
          <p:cNvPr id="26" name="answer"/>
          <p:cNvSpPr txBox="1"/>
          <p:nvPr/>
        </p:nvSpPr>
        <p:spPr>
          <a:xfrm>
            <a:off x="8402117" y="2428829"/>
            <a:ext cx="2966618" cy="217220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They explained how the body worked but offered no new treatment, and many physicians were slow to accept them</a:t>
            </a:r>
            <a:endParaRPr lang="en-US" sz="2200" dirty="0"/>
          </a:p>
        </p:txBody>
      </p:sp>
      <p:sp>
        <p:nvSpPr>
          <p:cNvPr id="27" name="card-body"/>
          <p:cNvSpPr txBox="1"/>
          <p:nvPr/>
        </p:nvSpPr>
        <p:spPr>
          <a:xfrm>
            <a:off x="8310677" y="4857069"/>
            <a:ext cx="3149498" cy="115053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Knowledge moved and practice did not. Bloodletting continued, no new treatment…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anatomy</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study of the structure of the body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Vesalius studied anatomy by dissecting bodies himself.</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dissection</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cutting open a dead body to study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public dissection drew crowds of medical students.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illustration</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detailed drawing in a book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illustrations in Vesalius's second book were extremely detailed.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vein</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blood vessel that carries blood towards the heart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Harvey showed that a vein carries blood to the heart.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artery</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blood vessel that carries blood away from the heart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artery carries blood away from the heart.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circulation</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movement of blood round and round the body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Harvey proved the circulation of the blood.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Andreas Vesalius wanted to know what the human body was really like.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Medieval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dissections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were held to confirm what Galen had written.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professor read the book aloud while someone else did the cutting.</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Vesalius did the cutting himself and taught from what he saw.</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1543 he published a book of very detailed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illustrations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found more than three hundred mistakes in Galen's work.</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Galen had made them because he dissected animals, not people.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William Harvey studied the body by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dissection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and observation too.</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showed that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veins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carry blood to the heart.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showed that the heart pumps blood round and round the body.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Galen had taught that blood was made in the liver.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Harvey published his findings in 1628.</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Both men changed what was known, but not what doctors did.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Andreas Vesalius and the body itself</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Vesalius did not reject Galen; he corrected him, and said so politely. That is partly why traditional physicians kept listening to him.</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Anatomy is the study of the structure of the body, and in 1500 European anatomy was Galen's anatomy.</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Andreas Vesalius, who taught at Padua in Italy, did it the other way round.</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Looking carefully had a consequence. Vesalius found that Galen had been wrong about the body in more than three hundred places.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Which factors made Vesalius possible?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asks you to sort the reasons into factors, and it is worth doing properly, because the enquiry question depends on it.</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Science and technology: better knives and lenses helped, and so did the skill of the artists working in Italy at the time, who could draw what he showed them.</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And then there is Vesalius himself. He took risks that other scholars would not: as a student he once took a body down from a gallows so that he could dissect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William Harvey and the circulation of the blood</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William Harvey was a physician who studied at Cambridge and at Padua, the same university where Vesalius had taught.</a:t>
            </a:r>
            <a:endParaRPr lang="en-US" sz="22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His first finding was about direction. Veins carry blood towards the heart; arteries carry it away.</a:t>
            </a:r>
            <a:endParaRPr lang="en-US" sz="22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His second finding was bigger. Harvey showed that the blood circulates: the same blood goes round and round the body, pumped by the heart out through the arteries and back through the veins.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4): William Harvey and the circulation of the blood</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pupil writes: ‘Harvey proved Galen wrong, so physicians stopped bloodletting.’ Correct the second half of this sentence and explain the correction.</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the first half. Harvey did show that Galen's account of the blood was wrong, so that part can stay.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4): William Harvey and the circulation of the blood</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pupil writes: ‘Harvey proved Galen wrong, so physicians stopped bloodletting.’ Correct the second half of this sentence and explain the correction.</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Test the second half against the evidence. Bloodletting rested on the Four Humours, and most of the population still believed in them; nothing in Harvey's work told a physician what to do instead.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(3 of 4): William Harvey and the circulation of the blood</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pupil writes: ‘Harvey proved Galen wrong, so physicians stopped bloodletting.’ Correct the second half of this sentence and explain the correction.</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Harvey's work also suggested that taking blood out was more serious than anyone had thought, since the same blood went round and round, which makes the continuation of bloodletting even more striking.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(4 of 4): William Harvey and the circulation of the blood</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pupil writes: ‘Harvey proved Galen wrong, so physicians stopped bloodletting.’ Correct the second half of this sentence and explain the correction.</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Rewrite the second half as the knowledge-and-practice split that runs through this unit.</a:t>
            </a:r>
            <a:endParaRPr lang="en-US" sz="1800" dirty="0"/>
          </a:p>
        </p:txBody>
      </p:sp>
      <p:sp>
        <p:nvSpPr>
          <p:cNvPr id="13"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Harvey proved Galen wrong about the blood, but physicians went on bloodletting for nearly two hundred years, because his work changed what was known about the body without giving anyone a new treatment to use instead.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Did they change medicine?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one date each: 1543 for Vesalius's great book, 1628 for Harvey's. A precise date is the cheapest mark in the paper.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Measure them against knowledge first, and both men are giants.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Measure them against practice at the time, and both look small.</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gives you the shape of your final answer to the enquiry.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Factors behind the discoveries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factor to the way it helped Vesalius or Harvey make their discoveries.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(1 of 2): Factors behind the discoveries</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factor to the way it helped Vesalius or Harvey make their discoveries.</a:t>
            </a:r>
            <a:endParaRPr lang="en-US" sz="2400" dirty="0"/>
          </a:p>
        </p:txBody>
      </p:sp>
      <p:sp>
        <p:nvSpPr>
          <p:cNvPr id="11" name="match-card"/>
          <p:cNvSpPr/>
          <p:nvPr/>
        </p:nvSpPr>
        <p:spPr>
          <a:xfrm>
            <a:off x="777240" y="2672080"/>
            <a:ext cx="3081437" cy="1035643"/>
          </a:xfrm>
          <a:prstGeom prst="roundRect">
            <a:avLst>
              <a:gd name="adj" fmla="val 7063"/>
            </a:avLst>
          </a:prstGeom>
          <a:solidFill>
            <a:srgbClr val="F4F1ED"/>
          </a:solidFill>
          <a:ln/>
        </p:spPr>
      </p:sp>
      <p:sp>
        <p:nvSpPr>
          <p:cNvPr id="12" name="match-hex"/>
          <p:cNvSpPr/>
          <p:nvPr/>
        </p:nvSpPr>
        <p:spPr>
          <a:xfrm>
            <a:off x="850392" y="3023609"/>
            <a:ext cx="384048" cy="332586"/>
          </a:xfrm>
          <a:prstGeom prst="hexagon">
            <a:avLst/>
          </a:prstGeom>
          <a:solidFill>
            <a:srgbClr val="7A4A1E"/>
          </a:solidFill>
          <a:ln/>
        </p:spPr>
      </p:sp>
      <p:sp>
        <p:nvSpPr>
          <p:cNvPr id="13" name="match-hex-label"/>
          <p:cNvSpPr txBox="1"/>
          <p:nvPr/>
        </p:nvSpPr>
        <p:spPr>
          <a:xfrm>
            <a:off x="850392" y="30236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487077"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Attitudes and beliefs</a:t>
            </a:r>
            <a:endParaRPr lang="en-US" sz="2200" dirty="0"/>
          </a:p>
        </p:txBody>
      </p:sp>
      <p:sp>
        <p:nvSpPr>
          <p:cNvPr id="15" name="match-card"/>
          <p:cNvSpPr/>
          <p:nvPr/>
        </p:nvSpPr>
        <p:spPr>
          <a:xfrm>
            <a:off x="4224437" y="2672080"/>
            <a:ext cx="7190019" cy="1035643"/>
          </a:xfrm>
          <a:prstGeom prst="roundRect">
            <a:avLst>
              <a:gd name="adj" fmla="val 7063"/>
            </a:avLst>
          </a:prstGeom>
          <a:solidFill>
            <a:srgbClr val="F6F0E6"/>
          </a:solidFill>
          <a:ln/>
        </p:spPr>
      </p:sp>
      <p:sp>
        <p:nvSpPr>
          <p:cNvPr id="16" name="match-hex"/>
          <p:cNvSpPr/>
          <p:nvPr/>
        </p:nvSpPr>
        <p:spPr>
          <a:xfrm>
            <a:off x="4297589" y="3023609"/>
            <a:ext cx="384048" cy="332586"/>
          </a:xfrm>
          <a:prstGeom prst="hexagon">
            <a:avLst/>
          </a:prstGeom>
          <a:solidFill>
            <a:srgbClr val="B8862B"/>
          </a:solidFill>
          <a:ln/>
        </p:spPr>
      </p:sp>
      <p:sp>
        <p:nvSpPr>
          <p:cNvPr id="17" name="match-hex-label"/>
          <p:cNvSpPr txBox="1"/>
          <p:nvPr/>
        </p:nvSpPr>
        <p:spPr>
          <a:xfrm>
            <a:off x="4297589" y="30236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672080"/>
            <a:ext cx="6595659"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Better instruments, skilled artists and a mechanical water pump that gave Harvey a model for the heart</a:t>
            </a:r>
            <a:endParaRPr lang="en-US" sz="2200" dirty="0"/>
          </a:p>
        </p:txBody>
      </p:sp>
      <p:sp>
        <p:nvSpPr>
          <p:cNvPr id="19" name="match-card"/>
          <p:cNvSpPr/>
          <p:nvPr/>
        </p:nvSpPr>
        <p:spPr>
          <a:xfrm>
            <a:off x="777240" y="3799163"/>
            <a:ext cx="3081437" cy="1035643"/>
          </a:xfrm>
          <a:prstGeom prst="roundRect">
            <a:avLst>
              <a:gd name="adj" fmla="val 7063"/>
            </a:avLst>
          </a:prstGeom>
          <a:solidFill>
            <a:srgbClr val="F4F1ED"/>
          </a:solidFill>
          <a:ln/>
        </p:spPr>
      </p:sp>
      <p:sp>
        <p:nvSpPr>
          <p:cNvPr id="20" name="match-hex"/>
          <p:cNvSpPr/>
          <p:nvPr/>
        </p:nvSpPr>
        <p:spPr>
          <a:xfrm>
            <a:off x="850392" y="4150691"/>
            <a:ext cx="384048" cy="332586"/>
          </a:xfrm>
          <a:prstGeom prst="hexagon">
            <a:avLst/>
          </a:prstGeom>
          <a:solidFill>
            <a:srgbClr val="7A4A1E"/>
          </a:solidFill>
          <a:ln/>
        </p:spPr>
      </p:sp>
      <p:sp>
        <p:nvSpPr>
          <p:cNvPr id="21" name="match-hex-label"/>
          <p:cNvSpPr txBox="1"/>
          <p:nvPr/>
        </p:nvSpPr>
        <p:spPr>
          <a:xfrm>
            <a:off x="850392"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99163"/>
            <a:ext cx="2487077"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Improved communications</a:t>
            </a:r>
            <a:endParaRPr lang="en-US" sz="2200" dirty="0"/>
          </a:p>
        </p:txBody>
      </p:sp>
      <p:sp>
        <p:nvSpPr>
          <p:cNvPr id="23" name="match-card"/>
          <p:cNvSpPr/>
          <p:nvPr/>
        </p:nvSpPr>
        <p:spPr>
          <a:xfrm>
            <a:off x="4224437" y="3799163"/>
            <a:ext cx="7190019" cy="1035643"/>
          </a:xfrm>
          <a:prstGeom prst="roundRect">
            <a:avLst>
              <a:gd name="adj" fmla="val 7063"/>
            </a:avLst>
          </a:prstGeom>
          <a:solidFill>
            <a:srgbClr val="F6F0E6"/>
          </a:solidFill>
          <a:ln/>
        </p:spPr>
      </p:sp>
      <p:sp>
        <p:nvSpPr>
          <p:cNvPr id="24" name="match-hex"/>
          <p:cNvSpPr/>
          <p:nvPr/>
        </p:nvSpPr>
        <p:spPr>
          <a:xfrm>
            <a:off x="4297589" y="4150691"/>
            <a:ext cx="384048" cy="332586"/>
          </a:xfrm>
          <a:prstGeom prst="hexagon">
            <a:avLst/>
          </a:prstGeom>
          <a:solidFill>
            <a:srgbClr val="B8862B"/>
          </a:solidFill>
          <a:ln/>
        </p:spPr>
      </p:sp>
      <p:sp>
        <p:nvSpPr>
          <p:cNvPr id="25" name="match-hex-label"/>
          <p:cNvSpPr txBox="1"/>
          <p:nvPr/>
        </p:nvSpPr>
        <p:spPr>
          <a:xfrm>
            <a:off x="4297589"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99163"/>
            <a:ext cx="6595659"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Humanism encouraged both men to test what they read instead of accepting it</a:t>
            </a:r>
            <a:endParaRPr lang="en-US" sz="2200" dirty="0"/>
          </a:p>
        </p:txBody>
      </p:sp>
      <p:sp>
        <p:nvSpPr>
          <p:cNvPr id="27" name="match-card"/>
          <p:cNvSpPr/>
          <p:nvPr/>
        </p:nvSpPr>
        <p:spPr>
          <a:xfrm>
            <a:off x="777240" y="4926245"/>
            <a:ext cx="3081437" cy="1035643"/>
          </a:xfrm>
          <a:prstGeom prst="roundRect">
            <a:avLst>
              <a:gd name="adj" fmla="val 7063"/>
            </a:avLst>
          </a:prstGeom>
          <a:solidFill>
            <a:srgbClr val="F4F1ED"/>
          </a:solidFill>
          <a:ln/>
        </p:spPr>
      </p:sp>
      <p:sp>
        <p:nvSpPr>
          <p:cNvPr id="28" name="match-hex"/>
          <p:cNvSpPr/>
          <p:nvPr/>
        </p:nvSpPr>
        <p:spPr>
          <a:xfrm>
            <a:off x="850392" y="5277774"/>
            <a:ext cx="384048" cy="332586"/>
          </a:xfrm>
          <a:prstGeom prst="hexagon">
            <a:avLst/>
          </a:prstGeom>
          <a:solidFill>
            <a:srgbClr val="7A4A1E"/>
          </a:solidFill>
          <a:ln/>
        </p:spPr>
      </p:sp>
      <p:sp>
        <p:nvSpPr>
          <p:cNvPr id="29" name="match-hex-label"/>
          <p:cNvSpPr txBox="1"/>
          <p:nvPr/>
        </p:nvSpPr>
        <p:spPr>
          <a:xfrm>
            <a:off x="850392" y="52777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926245"/>
            <a:ext cx="2487077"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Science and technology</a:t>
            </a:r>
            <a:endParaRPr lang="en-US" sz="2200" dirty="0"/>
          </a:p>
        </p:txBody>
      </p:sp>
      <p:sp>
        <p:nvSpPr>
          <p:cNvPr id="31" name="match-card"/>
          <p:cNvSpPr/>
          <p:nvPr/>
        </p:nvSpPr>
        <p:spPr>
          <a:xfrm>
            <a:off x="4224437" y="4926245"/>
            <a:ext cx="7190019" cy="1035643"/>
          </a:xfrm>
          <a:prstGeom prst="roundRect">
            <a:avLst>
              <a:gd name="adj" fmla="val 7063"/>
            </a:avLst>
          </a:prstGeom>
          <a:solidFill>
            <a:srgbClr val="F6F0E6"/>
          </a:solidFill>
          <a:ln/>
        </p:spPr>
      </p:sp>
      <p:sp>
        <p:nvSpPr>
          <p:cNvPr id="32" name="match-hex"/>
          <p:cNvSpPr/>
          <p:nvPr/>
        </p:nvSpPr>
        <p:spPr>
          <a:xfrm>
            <a:off x="4297589" y="5277774"/>
            <a:ext cx="384048" cy="332586"/>
          </a:xfrm>
          <a:prstGeom prst="hexagon">
            <a:avLst/>
          </a:prstGeom>
          <a:solidFill>
            <a:srgbClr val="B8862B"/>
          </a:solidFill>
          <a:ln/>
        </p:spPr>
      </p:sp>
      <p:sp>
        <p:nvSpPr>
          <p:cNvPr id="33" name="match-hex-label"/>
          <p:cNvSpPr txBox="1"/>
          <p:nvPr/>
        </p:nvSpPr>
        <p:spPr>
          <a:xfrm>
            <a:off x="4297589" y="52777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926245"/>
            <a:ext cx="6595659"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printing press carried Vesalius's detailed illustrations across Europe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(2 of 2): Factors behind the discoveries</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factor to the way it helped Vesalius or Harvey make their discoveries.</a:t>
            </a:r>
            <a:endParaRPr lang="en-US" sz="2400" dirty="0"/>
          </a:p>
        </p:txBody>
      </p:sp>
      <p:sp>
        <p:nvSpPr>
          <p:cNvPr id="11" name="match-card"/>
          <p:cNvSpPr/>
          <p:nvPr/>
        </p:nvSpPr>
        <p:spPr>
          <a:xfrm>
            <a:off x="777240" y="2672080"/>
            <a:ext cx="3081437" cy="1165352"/>
          </a:xfrm>
          <a:prstGeom prst="roundRect">
            <a:avLst>
              <a:gd name="adj" fmla="val 6277"/>
            </a:avLst>
          </a:prstGeom>
          <a:solidFill>
            <a:srgbClr val="F4F1ED"/>
          </a:solidFill>
          <a:ln/>
        </p:spPr>
      </p:sp>
      <p:sp>
        <p:nvSpPr>
          <p:cNvPr id="12" name="match-hex"/>
          <p:cNvSpPr/>
          <p:nvPr/>
        </p:nvSpPr>
        <p:spPr>
          <a:xfrm>
            <a:off x="850392" y="3088463"/>
            <a:ext cx="384048" cy="332586"/>
          </a:xfrm>
          <a:prstGeom prst="hexagon">
            <a:avLst/>
          </a:prstGeom>
          <a:solidFill>
            <a:srgbClr val="7A4A1E"/>
          </a:solidFill>
          <a:ln/>
        </p:spPr>
      </p:sp>
      <p:sp>
        <p:nvSpPr>
          <p:cNvPr id="13" name="match-hex-label"/>
          <p:cNvSpPr txBox="1"/>
          <p:nvPr/>
        </p:nvSpPr>
        <p:spPr>
          <a:xfrm>
            <a:off x="850392" y="308846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Government</a:t>
            </a:r>
            <a:endParaRPr lang="en-US" sz="2200" dirty="0"/>
          </a:p>
        </p:txBody>
      </p:sp>
      <p:sp>
        <p:nvSpPr>
          <p:cNvPr id="15" name="match-card"/>
          <p:cNvSpPr/>
          <p:nvPr/>
        </p:nvSpPr>
        <p:spPr>
          <a:xfrm>
            <a:off x="4224437" y="2672080"/>
            <a:ext cx="7190019" cy="1165352"/>
          </a:xfrm>
          <a:prstGeom prst="roundRect">
            <a:avLst>
              <a:gd name="adj" fmla="val 6277"/>
            </a:avLst>
          </a:prstGeom>
          <a:solidFill>
            <a:srgbClr val="F6F0E6"/>
          </a:solidFill>
          <a:ln/>
        </p:spPr>
      </p:sp>
      <p:sp>
        <p:nvSpPr>
          <p:cNvPr id="16" name="match-hex"/>
          <p:cNvSpPr/>
          <p:nvPr/>
        </p:nvSpPr>
        <p:spPr>
          <a:xfrm>
            <a:off x="4297589" y="3088463"/>
            <a:ext cx="384048" cy="332586"/>
          </a:xfrm>
          <a:prstGeom prst="hexagon">
            <a:avLst/>
          </a:prstGeom>
          <a:solidFill>
            <a:srgbClr val="B8862B"/>
          </a:solidFill>
          <a:ln/>
        </p:spPr>
      </p:sp>
      <p:sp>
        <p:nvSpPr>
          <p:cNvPr id="17" name="match-hex-label"/>
          <p:cNvSpPr txBox="1"/>
          <p:nvPr/>
        </p:nvSpPr>
        <p:spPr>
          <a:xfrm>
            <a:off x="4297589" y="308846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672080"/>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Vesalius's work on the heart gave Harvey the question he spent his career answering</a:t>
            </a:r>
            <a:endParaRPr lang="en-US" sz="2200" dirty="0"/>
          </a:p>
        </p:txBody>
      </p:sp>
      <p:sp>
        <p:nvSpPr>
          <p:cNvPr id="19" name="match-card"/>
          <p:cNvSpPr/>
          <p:nvPr/>
        </p:nvSpPr>
        <p:spPr>
          <a:xfrm>
            <a:off x="777240" y="3928872"/>
            <a:ext cx="3081437" cy="1165352"/>
          </a:xfrm>
          <a:prstGeom prst="roundRect">
            <a:avLst>
              <a:gd name="adj" fmla="val 6277"/>
            </a:avLst>
          </a:prstGeom>
          <a:solidFill>
            <a:srgbClr val="F4F1ED"/>
          </a:solidFill>
          <a:ln/>
        </p:spPr>
      </p:sp>
      <p:sp>
        <p:nvSpPr>
          <p:cNvPr id="20" name="match-hex"/>
          <p:cNvSpPr/>
          <p:nvPr/>
        </p:nvSpPr>
        <p:spPr>
          <a:xfrm>
            <a:off x="850392" y="4345255"/>
            <a:ext cx="384048" cy="332586"/>
          </a:xfrm>
          <a:prstGeom prst="hexagon">
            <a:avLst/>
          </a:prstGeom>
          <a:solidFill>
            <a:srgbClr val="7A4A1E"/>
          </a:solidFill>
          <a:ln/>
        </p:spPr>
      </p:sp>
      <p:sp>
        <p:nvSpPr>
          <p:cNvPr id="21" name="match-hex-label"/>
          <p:cNvSpPr txBox="1"/>
          <p:nvPr/>
        </p:nvSpPr>
        <p:spPr>
          <a:xfrm>
            <a:off x="850392" y="434525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928872"/>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Individuals</a:t>
            </a:r>
            <a:endParaRPr lang="en-US" sz="2200" dirty="0"/>
          </a:p>
        </p:txBody>
      </p:sp>
      <p:sp>
        <p:nvSpPr>
          <p:cNvPr id="23" name="match-card"/>
          <p:cNvSpPr/>
          <p:nvPr/>
        </p:nvSpPr>
        <p:spPr>
          <a:xfrm>
            <a:off x="4224437" y="3928872"/>
            <a:ext cx="7190019" cy="1165352"/>
          </a:xfrm>
          <a:prstGeom prst="roundRect">
            <a:avLst>
              <a:gd name="adj" fmla="val 6277"/>
            </a:avLst>
          </a:prstGeom>
          <a:solidFill>
            <a:srgbClr val="F6F0E6"/>
          </a:solidFill>
          <a:ln/>
        </p:spPr>
      </p:sp>
      <p:sp>
        <p:nvSpPr>
          <p:cNvPr id="24" name="match-hex"/>
          <p:cNvSpPr/>
          <p:nvPr/>
        </p:nvSpPr>
        <p:spPr>
          <a:xfrm>
            <a:off x="4297589" y="4345255"/>
            <a:ext cx="384048" cy="332586"/>
          </a:xfrm>
          <a:prstGeom prst="hexagon">
            <a:avLst/>
          </a:prstGeom>
          <a:solidFill>
            <a:srgbClr val="B8862B"/>
          </a:solidFill>
          <a:ln/>
        </p:spPr>
      </p:sp>
      <p:sp>
        <p:nvSpPr>
          <p:cNvPr id="25" name="match-hex-label"/>
          <p:cNvSpPr txBox="1"/>
          <p:nvPr/>
        </p:nvSpPr>
        <p:spPr>
          <a:xfrm>
            <a:off x="4297589" y="434525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928872"/>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judge in Padua allowed dissections, and two rulers employed the men as their own doctors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Factors behind the discoveries</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Factors behind the discoveries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each description and ask who or what is doing the helping.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Ways of thinking, such as humanism, belong to attitudes and beliefs.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Machines, instruments and drawing skill belong to science and technology; printing belongs to communications.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Judges and kings are government. One person helping another is individuals.</a:t>
            </a:r>
            <a:endParaRPr lang="en-US" sz="1800" dirty="0"/>
          </a:p>
        </p:txBody>
      </p:sp>
      <p:sp>
        <p:nvSpPr>
          <p:cNvPr id="17" name="col-Core"/>
          <p:cNvSpPr/>
          <p:nvPr/>
        </p:nvSpPr>
        <p:spPr>
          <a:xfrm>
            <a:off x="5490762" y="2395728"/>
            <a:ext cx="2938987" cy="3749040"/>
          </a:xfrm>
          <a:prstGeom prst="roundRect">
            <a:avLst>
              <a:gd name="adj" fmla="val 1867"/>
            </a:avLst>
          </a:prstGeom>
          <a:solidFill>
            <a:srgbClr val="E2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Five factors, five descriptions. The printing press is communications, not technology, in your department's list.</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Rank the five factors from most to least important for Vesalius, then do the same for Harvey, and explain one difference between your two rankings.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Name the factor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Vesalius stood over the printing of his book himself so that every copy carried his illustrations exactly as he had drawn them. Which factor does this belong to?</a:t>
            </a:r>
            <a:endParaRPr lang="en-US" sz="2600" dirty="0"/>
          </a:p>
          <a:p>
            <a:pPr algn="ctr" indent="0" marL="0">
              <a:buNone/>
            </a:pPr>
            <a:r>
              <a:rPr lang="en-US" sz="2400" b="1" dirty="0">
                <a:solidFill>
                  <a:srgbClr val="B8862B"/>
                </a:solidFill>
                <a:latin typeface="Calibri" pitchFamily="34" charset="0"/>
                <a:ea typeface="Calibri" pitchFamily="34" charset="-122"/>
                <a:cs typeface="Calibri" pitchFamily="34" charset="-120"/>
              </a:rPr>
              <a:t>A  </a:t>
            </a:r>
            <a:pPr algn="ctr" indent="0" marL="0">
              <a:buNone/>
            </a:pPr>
            <a:r>
              <a:rPr lang="en-US" sz="2400" dirty="0">
                <a:solidFill>
                  <a:srgbClr val="1E2229"/>
                </a:solidFill>
                <a:latin typeface="Calibri" pitchFamily="34" charset="0"/>
                <a:ea typeface="Calibri" pitchFamily="34" charset="-122"/>
                <a:cs typeface="Calibri" pitchFamily="34" charset="-120"/>
              </a:rPr>
              <a:t>Government      </a:t>
            </a:r>
            <a:pPr algn="ctr" indent="0" marL="0">
              <a:buNone/>
            </a:pPr>
            <a:r>
              <a:rPr lang="en-US" sz="2400" b="1" dirty="0">
                <a:solidFill>
                  <a:srgbClr val="B8862B"/>
                </a:solidFill>
                <a:latin typeface="Calibri" pitchFamily="34" charset="0"/>
                <a:ea typeface="Calibri" pitchFamily="34" charset="-122"/>
                <a:cs typeface="Calibri" pitchFamily="34" charset="-120"/>
              </a:rPr>
              <a:t>B  </a:t>
            </a:r>
            <a:pPr algn="ctr" indent="0" marL="0">
              <a:buNone/>
            </a:pPr>
            <a:r>
              <a:rPr lang="en-US" sz="2400" dirty="0">
                <a:solidFill>
                  <a:srgbClr val="1E2229"/>
                </a:solidFill>
                <a:latin typeface="Calibri" pitchFamily="34" charset="0"/>
                <a:ea typeface="Calibri" pitchFamily="34" charset="-122"/>
                <a:cs typeface="Calibri" pitchFamily="34" charset="-120"/>
              </a:rPr>
              <a:t>Improved communications      </a:t>
            </a:r>
            <a:pPr algn="ctr" indent="0" marL="0">
              <a:buNone/>
            </a:pPr>
            <a:r>
              <a:rPr lang="en-US" sz="2400" b="1" dirty="0">
                <a:solidFill>
                  <a:srgbClr val="B8862B"/>
                </a:solidFill>
                <a:latin typeface="Calibri" pitchFamily="34" charset="0"/>
                <a:ea typeface="Calibri" pitchFamily="34" charset="-122"/>
                <a:cs typeface="Calibri" pitchFamily="34" charset="-120"/>
              </a:rPr>
              <a:t>C  </a:t>
            </a:r>
            <a:pPr algn="ctr" indent="0" marL="0">
              <a:buNone/>
            </a:pPr>
            <a:r>
              <a:rPr lang="en-US" sz="2400" dirty="0">
                <a:solidFill>
                  <a:srgbClr val="1E2229"/>
                </a:solidFill>
                <a:latin typeface="Calibri" pitchFamily="34" charset="0"/>
                <a:ea typeface="Calibri" pitchFamily="34" charset="-122"/>
                <a:cs typeface="Calibri" pitchFamily="34" charset="-120"/>
              </a:rPr>
              <a:t>The Church      </a:t>
            </a:r>
            <a:pPr algn="ctr" indent="0" marL="0">
              <a:buNone/>
            </a:pPr>
            <a:r>
              <a:rPr lang="en-US" sz="2400" b="1" dirty="0">
                <a:solidFill>
                  <a:srgbClr val="B8862B"/>
                </a:solidFill>
                <a:latin typeface="Calibri" pitchFamily="34" charset="0"/>
                <a:ea typeface="Calibri" pitchFamily="34" charset="-122"/>
                <a:cs typeface="Calibri" pitchFamily="34" charset="-120"/>
              </a:rPr>
              <a:t>D  </a:t>
            </a:r>
            <a:pPr algn="ctr" indent="0" marL="0">
              <a:buNone/>
            </a:pPr>
            <a:r>
              <a:rPr lang="en-US" sz="2400" dirty="0">
                <a:solidFill>
                  <a:srgbClr val="1E2229"/>
                </a:solidFill>
                <a:latin typeface="Calibri" pitchFamily="34" charset="0"/>
                <a:ea typeface="Calibri" pitchFamily="34" charset="-122"/>
                <a:cs typeface="Calibri" pitchFamily="34" charset="-120"/>
              </a:rPr>
              <a:t>War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Name the factor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Name the factor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Underline the thing that is actually doing the work in the sentence: the printing.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which factor printing belongs to in your department's list of six.</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Printing is about ideas travelling, so it is improved communications, not science and technology.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other options for anything that appears in the sentence: no ruler, no army, no Church.</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Six factors: attitudes and beliefs, individuals, war, science and technology, government, improved communications. Which one is printing?</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a sentence about Harvey that belongs to two factors at once, and explain how you would use it in an essay.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was different about the way Vesalius carried out dissections?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refused to use bodies and worked only from drawings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was the first person ever to dissect a human body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dissected only animals, as Galen had done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dissected the bodies himself and taught from what he saw</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Factors behind the discoveries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Attitudes and beliefs  →  B  Humanism encouraged both men to test what they read instead of accepting it</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Improved communications  →  C  The printing press carried Vesalius's detailed illustrations across Europe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Science and technology  →  A  Better instruments, skilled artists and a mechanical water pump that gave Harvey a model for the heart</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Government  →  D  A judge in Padua allowed dissections, and two rulers employed the men as their own doctors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Individuals  →  E  Vesalius's work on the heart gave Harvey the question he spent his career answering</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Humanism gave both men the habit of testing; printing spread Vesalius's illustrations; instruments, artists and the water pump gave them tools and models; a judge and two rulers gave them bodies and status; and Vesalius gave Harvey his question.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Name the factor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Vesalius stood over the printing of his book himself so that every copy carried his illustrations exactly as he had drawn them. Which factor does this belong to?</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Improved communications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Printing identical, accurate illustrations and selling them across Europe is improved communications. Government covers rulers and judges; war covers fighting; the Church covers religious authority.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was different about the way Vesalius carried out dissections?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He dissected the bodies himself and taught from what he saw</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medieval dissection was a demonstration of Galen's text. Vesalius cut himself, in front of his students, and taught from the body.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Renaissance Medicine · Chapter 5: Vesalius and Harvey: two individuals and the body</dc:title>
  <dc:subject>History · Year 9</dc:subject>
  <dc:creator>Dr Vitor Merissi de Carvalho</dc:creator>
  <cp:lastModifiedBy>Dr Vitor Merissi de Carvalho</cp:lastModifiedBy>
  <cp:revision>1</cp:revision>
  <dcterms:created xsi:type="dcterms:W3CDTF">2026-10-19T06:07:59Z</dcterms:created>
  <dcterms:modified xsi:type="dcterms:W3CDTF">2026-10-19T06:07:59Z</dcterms:modified>
</cp:coreProperties>
</file>