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4ace12d-5276-bd6e-7334-0725175fabc3}">
          <p14:sldIdLst>
            <p14:sldId id="256"/>
          </p14:sldIdLst>
        </p14:section>
        <p14:section name="Gate" id="{35fc055c-dc0e-380c-830e-e6a74d8180c7}">
          <p14:sldIdLst>
            <p14:sldId id="257"/>
            <p14:sldId id="258"/>
            <p14:sldId id="259"/>
          </p14:sldIdLst>
        </p14:section>
        <p14:section name="Pre-teach" id="{c44f6e36-4e03-2f77-2e62-3cc59d1771b7}">
          <p14:sldIdLst>
            <p14:sldId id="260"/>
          </p14:sldIdLst>
        </p14:section>
        <p14:section name="Read-along" id="{cb0e2ce2-74a5-93f3-a841-3a30bafddcfc}">
          <p14:sldIdLst>
            <p14:sldId id="261"/>
            <p14:sldId id="262"/>
          </p14:sldIdLst>
        </p14:section>
        <p14:section name="Teach" id="{bb993ba8-3a1a-66dc-2b93-cdd8caf93461}">
          <p14:sldIdLst>
            <p14:sldId id="263"/>
            <p14:sldId id="264"/>
            <p14:sldId id="265"/>
            <p14:sldId id="266"/>
            <p14:sldId id="267"/>
            <p14:sldId id="268"/>
          </p14:sldIdLst>
        </p14:section>
        <p14:section name="Routes" id="{9099cbf0-b7a9-3e69-9107-23220cbefe17}">
          <p14:sldIdLst>
            <p14:sldId id="269"/>
            <p14:sldId id="270"/>
            <p14:sldId id="271"/>
            <p14:sldId id="272"/>
          </p14:sldIdLst>
        </p14:section>
        <p14:section name="Close" id="{b686af3d-176c-7174-5a8b-48091fe589a0}">
          <p14:sldIdLst>
            <p14:sldId id="273"/>
          </p14:sldIdLst>
        </p14:section>
        <p14:section name="Answers" id="{d5af865f-484c-b436-2638-3d90311786d6}">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Causes of disease, and a new way of diagnosing. This chapter covers what people in Renaissance England believed made them ill, why those beliefs barely moved, and how Thomas Sydenham changed the way a patient was examined.
This deck covers the department's lesson: 2 (Thomas Sydenham: How did Thomas Sydenham change the way patients were diagnosed?).
Read the big question aloud: "How important were individuals in driving change in medicine in Renaissance England, c1500–c1700?"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idea about the cause of disease was the most widely believed in Renaissance England?  →  C   Miasma: that bad air from dirt and rotting matter made people ill
2. Sydenham diagnosed a patient by watching carefully and writing down their ___ rather than starting from a theory about that person.  →  symptoms
3. Why did new ideas about the causes of disease have so little impact in this period?  →  C   Medical instruments were not good enough, there was no new theory to replace the Four Humours, and the public still believed in them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idea about the cause of disease was the most widely believed in Renaissance England?  →  C   Miasma: that bad air from dirt and rotting matter made people ill
2. Sydenham diagnosed a patient by watching carefully and writing down their ___ rather than starting from a theory about that person.  →  symptoms
3. Why did new ideas about the causes of disease have so little impact in this period?  →  C   Medical instruments were not good enough, there was no new theory to replace the Four Humours, and the public still believed in them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Miasma: that bad air from dirt and rotting matter made people ill. Miasma was the most popular belief. People thought bad air from rotting matter and dirty places would unbalance the humours.
2. symptoms. Sydenham's method was to record the symptoms he could observe, group the disease with others like it, and treat the disease.
3. C   Medical instruments were not good enough, there was no new theory to replace the Four Humours, and the public still believed in them. Your lesson names poor instruments and a gap in knowledge, with the public's continued belief in the Four Humours behind both.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miasma: the belief that bad air from dirt and rotting matter caused disease. Example: "Most people believed that miasma made them ill."
• diagnosis: working out which illness a patient has. Example: "A physician began with a diagnosis before choosing a treatment."
• symptom: a sign of illness, such as a rash, a cough or a fever. Example: "Sydenham wrote down every symptom he could see."
• observation: watching and recording something carefully. Example: "Observation of the patient was Sydenham's main method."
• discredited: shown to be wrong, so people stop trusting it. Example: "Scientists discredited the Theory of the Four Humours."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People in Renaissance England still wanted to know why they got ill.
2. The most popular idea was miasma, or bad air.
3. People believed that rotting rubbish and dirty places made the air harmful.
4. The Four Humours was still believed by most ordinary people.
5. By 1700 many scientists and physicians had rejected that theory.
6. But nothing new had been found to put in its place.
7. There were no instruments good enough to show what really caused disease.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Robert Hooke built a much better microscope in this period.
9. In 1683 Antonie van Leeuwenhoek saw tiny living things through a lens.
10. Nobody linked them to disease for another two hundred years.
11. Thomas Sydenham changed something else: the way patients were examined.
12. He watched his patients closely and wrote down their symptoms.
13. He treated the disease, not each symptom on its own.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people believed caused disease. Say it in your own words, then check understanding with a quick question: ask a pupil from the pre-teach group first, since they met these words and ideas before the lesson. Pupils try to recall before you re-explain.
Open a Renaissance medical book and you will not find germs. You will find the same explanations you met last unit. Miasma was the most popular: most people believed that bad air, rising from rotting food, dead animals or anywhere filthy, would unbalance the humours and make a person ill. Religion was still there, and so was astrology. Your lesson sums the period up with three headings: the Four Humours, miasma and religion.
The one change is interesting. By the end of the Renaissance most scientists and physicians no longer trusted the Theory of the Four Humours: it had been argued over for a century and largely abandoned. But it was still widely believed by the population of Britain, so some physicians went on using it with their patients, because that was what the patients expected.
Keep your belief words going here. People believed in miasma; physicians thought that the humours could fall out of balance. Neither statement is a fact about disease. Both are facts about what people believed, which is exactly what you are being asked about.
Tip: An examiner's favourite question is what stayed the same. For causes of disease in this period, the short answer is: almost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new ideas about cause changed so little. Say it in your own words, then check understanding with a quick question: ask a pupil from the pre-teach group first, since they met these words and ideas before the lesson. Pupils try to recall before you re-explain.
Your lesson gives two reasons, and they are both worth learning. The first is science and technology: there was a lack of good quality medical instruments, especially microscopes. The second is a gap in knowledge: there was no new theory ready to replace the Four Humours. And behind both sat attitudes and beliefs, because the general public in Britain went on believing in the humours whatever the scientists said.
Instruments were improving, though. Robert Hooke, an English scientist, developed a much better microscope and used it to draw what he saw. In 1683 Antonie van Leeuwenhoek, working in the Netherlands with his own lenses, observed tiny living things far too small for the eye. We now know these were bacteria.
So why did that not solve everything? Because seeing something is not the same as explaining it. Nobody at the time connected those tiny creatures with illness. Nobody had the lenses, the chemistry or the experiments to test the link, and the idea that disease was caused by living things was not accepted for roughly another two hundred years. A discovery with no theory to hold it does not change medicine.
Worked example — model it step by step, thinking aloud: Is the microscope in this period an example of change or of continuity in medicine? Explain your judgement. (1) Decide what actually altered. Better microscopes existed, and in 1683 tiny living things were observed for the first time: that is a real change in what could be seen. (2) Decide what did not alter. Nobody linked those creatures to disease, so explanations of illness and the treatments based on them carried on as before. (3) Separate knowledge from practice. The change is in knowledge and equipment; the continuity is in what physicians believed and did. (4) Write a judgement that holds both halves, and say which was greater at the time. Answer: It is a change in knowledge but not yet in medicine: better microscopes let scientists see tiny living things in 1683, but because nobody connected them to disease, explanations and treatments showed continuity. At the time the continuity mattered more; the change mattered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new ideas about cause changed so little. Say it in your own words, then check understanding with a quick question: ask a pupil from the pre-teach group first, since they met these words and ideas before the lesson. Pupils try to recall before you re-explain.
Your lesson gives two reasons, and they are both worth learning. The first is science and technology: there was a lack of good quality medical instruments, especially microscopes. The second is a gap in knowledge: there was no new theory ready to replace the Four Humours. And behind both sat attitudes and beliefs, because the general public in Britain went on believing in the humours whatever the scientists said.
Instruments were improving, though. Robert Hooke, an English scientist, developed a much better microscope and used it to draw what he saw. In 1683 Antonie van Leeuwenhoek, working in the Netherlands with his own lenses, observed tiny living things far too small for the eye. We now know these were bacteria.
So why did that not solve everything? Because seeing something is not the same as explaining it. Nobody at the time connected those tiny creatures with illness. Nobody had the lenses, the chemistry or the experiments to test the link, and the idea that disease was caused by living things was not accepted for roughly another two hundred years. A discovery with no theory to hold it does not change medicine.
Worked example — model it step by step, thinking aloud: Is the microscope in this period an example of change or of continuity in medicine? Explain your judgement. (1) Decide what actually altered. Better microscopes existed, and in 1683 tiny living things were observed for the first time: that is a real change in what could be seen. (2) Decide what did not alter. Nobody linked those creatures to disease, so explanations of illness and the treatments based on them carried on as before. (3) Separate knowledge from practice. The change is in knowledge and equipment; the continuity is in what physicians believed and did. (4) Write a judgement that holds both halves, and say which was greater at the time. Answer: It is a change in knowledge but not yet in medicine: better microscopes let scientists see tiny living things in 1683, but because nobody connected them to disease, explanations and treatments showed continuity. At the time the continuity mattered more; the change mattered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new ideas about cause changed so little. Say it in your own words, then check understanding with a quick question: ask a pupil from the pre-teach group first, since they met these words and ideas before the lesson. Pupils try to recall before you re-explain.
Your lesson gives two reasons, and they are both worth learning. The first is science and technology: there was a lack of good quality medical instruments, especially microscopes. The second is a gap in knowledge: there was no new theory ready to replace the Four Humours. And behind both sat attitudes and beliefs, because the general public in Britain went on believing in the humours whatever the scientists said.
Instruments were improving, though. Robert Hooke, an English scientist, developed a much better microscope and used it to draw what he saw. In 1683 Antonie van Leeuwenhoek, working in the Netherlands with his own lenses, observed tiny living things far too small for the eye. We now know these were bacteria.
So why did that not solve everything? Because seeing something is not the same as explaining it. Nobody at the time connected those tiny creatures with illness. Nobody had the lenses, the chemistry or the experiments to test the link, and the idea that disease was caused by living things was not accepted for roughly another two hundred years. A discovery with no theory to hold it does not change medicine.
Worked example — model it step by step, thinking aloud: Is the microscope in this period an example of change or of continuity in medicine? Explain your judgement. (1) Decide what actually altered. Better microscopes existed, and in 1683 tiny living things were observed for the first time: that is a real change in what could be seen. (2) Decide what did not alter. Nobody linked those creatures to disease, so explanations of illness and the treatments based on them carried on as before. (3) Separate knowledge from practice. The change is in knowledge and equipment; the continuity is in what physicians believed and did. (4) Write a judgement that holds both halves, and say which was greater at the time. Answer: It is a change in knowledge but not yet in medicine: better microscopes let scientists see tiny living things in 1683, but because nobody connected them to disease, explanations and treatments showed continuity. At the time the continuity mattered more; the change mattered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Thomas Sydenham: a scientific approach to diagnosis. Say it in your own words, then check understanding with a quick question: ask a pupil from the pre-teach group first, since they met these words and ideas before the lesson. Pupils try to recall before you re-explain.
Thomas Sydenham was an English physician, and the first of the three individuals in this unit. Humanists had begun to study Hippocrates and Galen again rather than simply trust what the Church said about them, and some scientists had started to examine patients closely instead of relying on the authority of a book. Sydenham took that further than anyone in England.
His key idea was simple to say and hard to do. Diagnose the patient by observing the symptoms closely, and then treat the disease that is producing them rather than each symptom on its own. He believed that a disease could be put into a group with others like it, and that if two patients had the same symptoms they should have the same treatment. He wrote down what he saw in detail and compared one patient with another.
Hold that against the medieval approach you studied last unit. A medieval healer worked from the individual: the balance of that person's humours, their diet, their urine, the zodiac sign under which they fell. Each symptom was treated separately, because each was thought to be a separate imbalance. For Sydenham the disease was the thing to identify, and the person was the patient who had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much did diagnosis really change?. Say it in your own words, then check understanding with a quick question: ask a pupil from the pre-teach group first, since they met these words and ideas before the lesson. Pupils try to recall before you re-explain.
Sydenham's method is genuine change, and it is the ancestor of what a doctor does with you now: ask, look, listen, record, name the illness, treat the illness. It is also the reason he is in your lesson at all, because it is a change that came from one individual rather than from a machine or a government.
But his methods did not spread far at the time. Most physicians went on diagnosing as they always had, partly because their patients expected it, partly because there was no training that required anything else, and partly because a new method that produces the same old treatments does not look very impressive. Observation told Sydenham precisely which disease a patient had; it did not give him a cure for it.
That is the pattern of this whole unit, and it is worth writing on the inside of your book: in the Renaissance, knowledge changes faster than practice. Hold it ready for Vesalius and Harvey.
Tip: If you are asked how much changed, answer in two halves: the method of diagnosis changed, the treatments that followed it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Sydenham's method, step by step.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steps of Sydenham's approach to diagnosis in the order he would follow them.
Support — work through the steps with the group: (1) Ask what has to happen first. You cannot compare anything until you have recorded one patient carefully. (2) Next comes comparing: Sydenham believed the symptoms of a disease would be much the same in most people. (3) Comparing lets you put the illness into a group, which is how you name it. (4) Only once you have named the disease can you treat the disease rather than the separate symptoms.
Parallel worked example for Support (model it, do not give the task answer): Practice: put these three steps of a medieval physician's visit in order: consult the zodiac for the patient's star sign; observe the patient and ask about their diet; treat the patient to rebalance the humours. The visit begins with the patient: observe and ask.; The zodiac is consulted next, as part of working out the cause.; Treatment comes last.. Answer: Observe the patient and ask about their diet; consult the zodiac for the patient's star sign; treat the patient to rebalance the humours..
Core — reveal the hint only on request: Record, compare, group, treat. Each step needs the one before it.
Stretch — no help; when finished: Say which of the four steps a medieval healer would have found strangest, and explain why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Sydenham's method, step by step.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steps of Sydenham's approach to diagnosis in the order he would follow them.
Support — work through the steps with the group: (1) Ask what has to happen first. You cannot compare anything until you have recorded one patient carefully. (2) Next comes comparing: Sydenham believed the symptoms of a disease would be much the same in most people. (3) Comparing lets you put the illness into a group, which is how you name it. (4) Only once you have named the disease can you treat the disease rather than the separate symptoms.
Parallel worked example for Support (model it, do not give the task answer): Practice: put these three steps of a medieval physician's visit in order: consult the zodiac for the patient's star sign; observe the patient and ask about their diet; treat the patient to rebalance the humours. The visit begins with the patient: observe and ask.; The zodiac is consulted next, as part of working out the cause.; Treatment comes last.. Answer: Observe the patient and ask about their diet; consult the zodiac for the patient's star sign; treat the patient to rebalance the humours..
Core — reveal the hint only on request: Record, compare, group, treat. Each step needs the one before it.
Stretch — no help; when finished: Say which of the four steps a medieval healer would have found strangest, and explain why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Whose approach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physician sees three patients in one week with the same cough and the same fever. He writes down exactly what he observes in each, decides that all three have the same disease, and gives all three the same treatment. Whose approach to diagnosis is this closest to?
Support — work through the steps with the group: (1) Find out where the physician starts. Does he start with the symptoms, or with the individual person? (2) Look for grouping. If several patients are treated as having one disease, that is Sydenham. (3) Look for the older signs: the Four Humours, urine, diet, the zodiac, prayer. Any of these points away from Sydenham. (4) Choose the option that matches the starting point, not the one that sounds most scientific.
Parallel worked example for Support (model it, do not give the task answer): Practice: a physician treats a patient's headache with one remedy and the same patient's fever with another, because he believes each one shows a different imbalance. Whose approach is this? He starts with the separate symptoms of one person.; He explains each by an imbalance of the humours.; That is the older, medieval approach.. Answer: The medieval approach: each symptom treated separately according to the humours..
Core — reveal the hint only on request: Sydenham starts with the symptoms and ends with one named disease. The older approach starts with the person and ends with several separate treatments.
Stretch — no help; when finished: Write a short case of your own that a pupil could mistake for Sydenham's method but which is really the older approach, and say what gives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Whose approach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physician sees three patients in one week with the same cough and the same fever. He writes down exactly what he observes in each, decides that all three have the same disease, and gives all three the same treatment. Whose approach to diagnosis is this closest to?
Support — work through the steps with the group: (1) Find out where the physician starts. Does he start with the symptoms, or with the individual person? (2) Look for grouping. If several patients are treated as having one disease, that is Sydenham. (3) Look for the older signs: the Four Humours, urine, diet, the zodiac, prayer. Any of these points away from Sydenham. (4) Choose the option that matches the starting point, not the one that sounds most scientific.
Parallel worked example for Support (model it, do not give the task answer): Practice: a physician treats a patient's headache with one remedy and the same patient's fever with another, because he believes each one shows a different imbalance. Whose approach is this? He starts with the separate symptoms of one person.; He explains each by an imbalance of the humours.; That is the older, medieval approach.. Answer: The medieval approach: each symptom treated separately according to the humours..
Core — reveal the hint only on request: Sydenham starts with the symptoms and ends with one named disease. The older approach starts with the person and ends with several separate treatments.
Stretch — no help; when finished: Write a short case of your own that a pupil could mistake for Sydenham's method but which is really the older approach, and say what gives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idea about the cause of disease was the most widely believed in Renaissance England?
Answer: B   Miasma: that bad air from dirt and rotting matter made people ill. Miasma was the most popular belief. People thought bad air from rotting matter and dirty places would unbalance the humours.
Source of this question: gate item 1 re-asked (options rotated) — this chapter has no third quick-check module.
The ebook also holds task 3, "One thing that did not change",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Sydenham's method, step by step. Reveal the answer; pupils mark their own work in a different colour, then read the "why" together. Same destination for every lane, so one answer serves the whole class.
Answer: Observe the patient closely and record every symptom you can see  (C); Compare these symptoms with those of other patients you have seen  (B); Group the illness with the other diseases whose symptoms match it  (A); Treat the disease as a whole, not each symptom on its own  (D)
Why: Sydenham observed and recorded symptoms, compared patients, grouped diseases whose symptoms matched, and then treated the disease rather than each symptom separately.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Whose approach is this?. Reveal the answer; pupils mark their own work in a different colour, then read the "why" together. Same destination for every lane, so one answer serves the whole class.
Answer: D   Sydenham's: group diseases by their symptoms and treat the disease
Why: Sydenham began with observed symptoms, grouped patients whose symptoms matched and treated the disease. The older approach began with the individual, explained each symptom as a separate imbalance and treated each one.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Miasma: that bad air from dirt and rotting matter made people ill
Why: Miasma was the most popular belief. People thought bad air from rotting matter and dirty places would unbalance the humours.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Renaissance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Renaissance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Renaissance Medicine · AQA KS3 → 8145</a:t>
            </a:r>
            <a:endParaRPr lang="en-US" sz="1800" dirty="0"/>
          </a:p>
        </p:txBody>
      </p:sp>
      <p:sp>
        <p:nvSpPr>
          <p:cNvPr id="10" name="deck-title"/>
          <p:cNvSpPr txBox="1"/>
          <p:nvPr/>
        </p:nvSpPr>
        <p:spPr>
          <a:xfrm>
            <a:off x="548640" y="245922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Causes of disease, and a new way of diagnosing</a:t>
            </a:r>
            <a:endParaRPr lang="en-US" sz="3600" dirty="0"/>
          </a:p>
        </p:txBody>
      </p:sp>
      <p:sp>
        <p:nvSpPr>
          <p:cNvPr id="11" name="lessons-card"/>
          <p:cNvSpPr/>
          <p:nvPr/>
        </p:nvSpPr>
        <p:spPr>
          <a:xfrm>
            <a:off x="548640" y="4003548"/>
            <a:ext cx="5287975" cy="980440"/>
          </a:xfrm>
          <a:prstGeom prst="roundRect">
            <a:avLst>
              <a:gd name="adj" fmla="val 7461"/>
            </a:avLst>
          </a:prstGeom>
          <a:solidFill>
            <a:srgbClr val="F2EDE9"/>
          </a:solidFill>
          <a:ln/>
        </p:spPr>
      </p:sp>
      <p:sp>
        <p:nvSpPr>
          <p:cNvPr id="12" name="lessons"/>
          <p:cNvSpPr txBox="1"/>
          <p:nvPr/>
        </p:nvSpPr>
        <p:spPr>
          <a:xfrm>
            <a:off x="685800" y="409498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Thomas Sydenham</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How important were individuals in driving change in medicine in Renaissance England, c1500–c1700?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idea about the cause of disease was the most widely believed in Renaissance England?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That tiny living things seen under a microscope made people ill</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That disease was spread by dirty drinking water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Miasma: that bad air from dirt and rotting matter made people ill</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That disease was carried by fleas living on rats</a:t>
            </a:r>
            <a:endParaRPr lang="en-US" sz="1800" dirty="0"/>
          </a:p>
        </p:txBody>
      </p:sp>
      <p:sp>
        <p:nvSpPr>
          <p:cNvPr id="12" name="card"/>
          <p:cNvSpPr/>
          <p:nvPr/>
        </p:nvSpPr>
        <p:spPr>
          <a:xfrm>
            <a:off x="6233008" y="1389888"/>
            <a:ext cx="5410048" cy="4754880"/>
          </a:xfrm>
          <a:prstGeom prst="roundRect">
            <a:avLst>
              <a:gd name="adj" fmla="val 1154"/>
            </a:avLst>
          </a:prstGeom>
          <a:solidFill>
            <a:srgbClr val="F6F2EF"/>
          </a:solidFill>
          <a:ln w="12700">
            <a:solidFill>
              <a:srgbClr val="D0C0B0"/>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Sydenham diagnosed a patient by watching carefully and writing down their ___ rather than starting from a theory about that person.</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symptoms  ·  humours  ·  star sign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Why did new ideas about the causes of disease have so little impact in this period?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Physicians were forbidden by law to write about the causes of disease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printing press had not yet been invented, so nothing could be published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Medical instruments were not good enough, there was no new theory to replace the Four Humours, and the public still believed in them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There were no scientists in Britain interested in medicine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DE1CA"/>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Miasma: that bad air from dirt and rotting matter made people ill</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Miasma was the most popular belief. People thought bad air from rotting matter and dirty places would unbalance the humours.</a:t>
            </a:r>
            <a:endParaRPr lang="en-US" sz="1800" dirty="0"/>
          </a:p>
        </p:txBody>
      </p:sp>
      <p:sp>
        <p:nvSpPr>
          <p:cNvPr id="14"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symptoms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Sydenham's method was to record the symptoms he could observe, group the disease with others like it, and treat the disease.</a:t>
            </a:r>
            <a:endParaRPr lang="en-US" sz="1800" dirty="0"/>
          </a:p>
        </p:txBody>
      </p:sp>
      <p:sp>
        <p:nvSpPr>
          <p:cNvPr id="21"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2659380"/>
          </a:xfrm>
          <a:prstGeom prst="roundRect">
            <a:avLst>
              <a:gd name="adj" fmla="val 4126"/>
            </a:avLst>
          </a:prstGeom>
          <a:solidFill>
            <a:srgbClr val="EDE1CA"/>
          </a:solidFill>
          <a:ln w="19050">
            <a:solidFill>
              <a:srgbClr val="B8862B"/>
            </a:solidFill>
            <a:prstDash val="solid"/>
          </a:ln>
        </p:spPr>
      </p:sp>
      <p:sp>
        <p:nvSpPr>
          <p:cNvPr id="26" name="answer"/>
          <p:cNvSpPr txBox="1"/>
          <p:nvPr/>
        </p:nvSpPr>
        <p:spPr>
          <a:xfrm>
            <a:off x="8402117" y="2428829"/>
            <a:ext cx="2966618" cy="251307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Medical instruments were not good enough, there was no new theory to replace the Four Humours, and the public still believed in them</a:t>
            </a:r>
            <a:endParaRPr lang="en-US" sz="2200" dirty="0"/>
          </a:p>
        </p:txBody>
      </p:sp>
      <p:sp>
        <p:nvSpPr>
          <p:cNvPr id="27" name="card-body"/>
          <p:cNvSpPr txBox="1"/>
          <p:nvPr/>
        </p:nvSpPr>
        <p:spPr>
          <a:xfrm>
            <a:off x="8310677" y="5197937"/>
            <a:ext cx="3149498" cy="809671"/>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Your lesson names poor instruments and a gap in…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7A4A1E"/>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4F1ED"/>
          </a:solidFill>
          <a:ln/>
        </p:spPr>
      </p:sp>
      <p:sp>
        <p:nvSpPr>
          <p:cNvPr id="12" name="kw-hex"/>
          <p:cNvSpPr/>
          <p:nvPr/>
        </p:nvSpPr>
        <p:spPr>
          <a:xfrm>
            <a:off x="658368" y="2135261"/>
            <a:ext cx="411480" cy="356342"/>
          </a:xfrm>
          <a:prstGeom prst="hexagon">
            <a:avLst/>
          </a:prstGeom>
          <a:solidFill>
            <a:srgbClr val="7A4A1E"/>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miasma</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belief that bad air from dirt and rotting matter caused disease</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Most people believed that miasma made them ill.</a:t>
            </a:r>
            <a:endParaRPr lang="en-US" sz="1800" dirty="0"/>
          </a:p>
        </p:txBody>
      </p:sp>
      <p:sp>
        <p:nvSpPr>
          <p:cNvPr id="16" name="kw-row"/>
          <p:cNvSpPr/>
          <p:nvPr/>
        </p:nvSpPr>
        <p:spPr>
          <a:xfrm>
            <a:off x="548640" y="2779776"/>
            <a:ext cx="11094415" cy="786384"/>
          </a:xfrm>
          <a:prstGeom prst="roundRect">
            <a:avLst>
              <a:gd name="adj" fmla="val 6977"/>
            </a:avLst>
          </a:prstGeom>
          <a:solidFill>
            <a:srgbClr val="F6F0E6"/>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diagnosis</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working out which illness a patient has</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physician began with a diagnosis before choosing a treatment.</a:t>
            </a:r>
            <a:endParaRPr lang="en-US" sz="1800" dirty="0"/>
          </a:p>
        </p:txBody>
      </p:sp>
      <p:sp>
        <p:nvSpPr>
          <p:cNvPr id="21" name="kw-row"/>
          <p:cNvSpPr/>
          <p:nvPr/>
        </p:nvSpPr>
        <p:spPr>
          <a:xfrm>
            <a:off x="548640" y="3639312"/>
            <a:ext cx="11094415" cy="786384"/>
          </a:xfrm>
          <a:prstGeom prst="roundRect">
            <a:avLst>
              <a:gd name="adj" fmla="val 6977"/>
            </a:avLst>
          </a:prstGeom>
          <a:solidFill>
            <a:srgbClr val="F4F1ED"/>
          </a:solidFill>
          <a:ln/>
        </p:spPr>
      </p:sp>
      <p:sp>
        <p:nvSpPr>
          <p:cNvPr id="22" name="kw-hex"/>
          <p:cNvSpPr/>
          <p:nvPr/>
        </p:nvSpPr>
        <p:spPr>
          <a:xfrm>
            <a:off x="658368" y="3854333"/>
            <a:ext cx="411480" cy="356342"/>
          </a:xfrm>
          <a:prstGeom prst="hexagon">
            <a:avLst/>
          </a:prstGeom>
          <a:solidFill>
            <a:srgbClr val="7A4A1E"/>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symptom</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sign of illness, such as a rash, a cough or a fever</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Sydenham wrote down every symptom he could see.</a:t>
            </a:r>
            <a:endParaRPr lang="en-US" sz="1800" dirty="0"/>
          </a:p>
        </p:txBody>
      </p:sp>
      <p:sp>
        <p:nvSpPr>
          <p:cNvPr id="26" name="kw-row"/>
          <p:cNvSpPr/>
          <p:nvPr/>
        </p:nvSpPr>
        <p:spPr>
          <a:xfrm>
            <a:off x="548640" y="4498848"/>
            <a:ext cx="11094415" cy="786384"/>
          </a:xfrm>
          <a:prstGeom prst="roundRect">
            <a:avLst>
              <a:gd name="adj" fmla="val 6977"/>
            </a:avLst>
          </a:prstGeom>
          <a:solidFill>
            <a:srgbClr val="F6F0E6"/>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observation</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watching and recording something carefully</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Observation of the patient was Sydenham's main method.</a:t>
            </a:r>
            <a:endParaRPr lang="en-US" sz="1800" dirty="0"/>
          </a:p>
        </p:txBody>
      </p:sp>
      <p:sp>
        <p:nvSpPr>
          <p:cNvPr id="31" name="kw-row"/>
          <p:cNvSpPr/>
          <p:nvPr/>
        </p:nvSpPr>
        <p:spPr>
          <a:xfrm>
            <a:off x="548640" y="5358384"/>
            <a:ext cx="11094415" cy="786384"/>
          </a:xfrm>
          <a:prstGeom prst="roundRect">
            <a:avLst>
              <a:gd name="adj" fmla="val 6977"/>
            </a:avLst>
          </a:prstGeom>
          <a:solidFill>
            <a:srgbClr val="F4F1ED"/>
          </a:solidFill>
          <a:ln/>
        </p:spPr>
      </p:sp>
      <p:sp>
        <p:nvSpPr>
          <p:cNvPr id="32" name="kw-hex"/>
          <p:cNvSpPr/>
          <p:nvPr/>
        </p:nvSpPr>
        <p:spPr>
          <a:xfrm>
            <a:off x="658368" y="5573405"/>
            <a:ext cx="411480" cy="356342"/>
          </a:xfrm>
          <a:prstGeom prst="hexagon">
            <a:avLst/>
          </a:prstGeom>
          <a:solidFill>
            <a:srgbClr val="7A4A1E"/>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discredited</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shown to be wrong, so people stop trusting it</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Scientists discredited the Theory of the Four Humours.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People in Renaissance England still wanted to know why they got ill.</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most popular idea was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miasma</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or bad air.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People believed that rotting rubbish and dirty places made the air harmful.</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Four Humours was still believed by most ordinary people.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By 1700 many scientists and physicians had rejected that theory.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But nothing new had been found to put in its place.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There were no instruments good enough to show what really caused disease.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Robert Hooke built a much better microscope in this period.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1683 Antonie van Leeuwenhoek saw tiny living things through a lens.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Nobody linked them to disease for another two hundred years.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Thomas Sydenham changed something else: the way patients were examined.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watched his patients closely and wrote down their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symptoms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treated the disease, not each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symptom</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on its own.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people believed caused disease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An examiner's favourite question is what stayed the same. For causes of disease in this period, the short answer is: almost everything.</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Open a Renaissance medical book and you will not find germs.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one change is interesting. By the end of the Renaissance most scientists and physicians no longer trusted the Theory of the Four Humours: it had been argued over for a century and largely abandoned.</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Keep your belief words going here. People believed in miasma; physicians thought that the humours could fall out of balance.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Why new ideas about cause changed so little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EDE9"/>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gives two reasons, and they are both worth learning.</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6F0E6"/>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Instruments were improving, though. Robert Hooke, an English scientist, developed a much better microscope and used it to draw what he saw.</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2EDE9"/>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 why did that not solve everything? Because seeing something is not the same as explaining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Why new ideas about cause changed so little</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Is the microscope in this period an example of change or of continuity in medicine? Explain your judgement.</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Decide what actually altered. Better microscopes existed, and in 1683 tiny living things were observed for the first time: that is a real change in what could be seen.</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Decide what did not alter. Nobody linked those creatures to disease, so explanations of illness and the treatments based on them carried on as before.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Why new ideas about cause changed so little</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Is the microscope in this period an example of change or of continuity in medicine? Explain your judgement.</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Separate knowledge from practice. The change is in knowledge and equipment; the continuity is in what physicians believed and did.</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a judgement that holds both halves, and say which was greater at the time.</a:t>
            </a:r>
            <a:endParaRPr lang="en-US" sz="1800" dirty="0"/>
          </a:p>
        </p:txBody>
      </p:sp>
      <p:sp>
        <p:nvSpPr>
          <p:cNvPr id="18" name="worked-answer"/>
          <p:cNvSpPr/>
          <p:nvPr/>
        </p:nvSpPr>
        <p:spPr>
          <a:xfrm>
            <a:off x="1463040" y="4755896"/>
            <a:ext cx="9265615" cy="1388872"/>
          </a:xfrm>
          <a:prstGeom prst="roundRect">
            <a:avLst>
              <a:gd name="adj" fmla="val 13168"/>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It is a change in knowledge but not yet in medicine: better microscopes let scientists see tiny living things in 1683, but because nobody connected them to disease, explanations and treatments showed continuity. At the time the continuity mattered more; the change mattered later.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Thomas Sydenham: a scientific approach to diagnosis</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EDE9"/>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Thomas Sydenham was an English physician, and the first of the three individuals in this unit.</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6F0E6"/>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His key idea was simple to say and hard to do.</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2EDE9"/>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Hold that against the medieval approach you studied last unit.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How much did diagnosis really change?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you are asked how much changed, answer in two halves: the method of diagnosis changed, the treatments that followed it did not.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Sydenham's method is genuine change, and it is the ancestor of what a doctor does with you now: ask, look, listen, record, name the illness, treat the illness.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But his methods did not spread far at the time.</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That is the pattern of this whole unit, and it is worth writing on the inside of your book: in the Renaissance, knowledge changes faster than practice.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Sydenham's method, step by step</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steps of Sydenham's approach to diagnosis in the order he would follow them.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Group the illness with the other diseases whose symptoms match it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Compare these symptoms with those of other patients you have seen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Observe the patient closely and record every symptom you can see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Treat the disease as a whole, not each symptom on its own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Sydenham's method, step by step</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Sydenham's method, step by step</a:t>
            </a:r>
            <a:endParaRPr lang="en-US" sz="2000" dirty="0"/>
          </a:p>
        </p:txBody>
      </p:sp>
      <p:sp>
        <p:nvSpPr>
          <p:cNvPr id="12" name="col-Support"/>
          <p:cNvSpPr/>
          <p:nvPr/>
        </p:nvSpPr>
        <p:spPr>
          <a:xfrm>
            <a:off x="548640" y="2395728"/>
            <a:ext cx="6327465"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559594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6053145"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has to happen first. You cannot compare anything until you have recorded one patient carefully.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Next comes comparing: Sydenham believed the symptoms of a disease would be much the same in most people.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Comparing lets you put the illness into a group, which is how you name it.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Only once you have named the disease can you treat the disease rather than the separate symptoms.</a:t>
            </a:r>
            <a:endParaRPr lang="en-US" sz="1800" dirty="0"/>
          </a:p>
        </p:txBody>
      </p:sp>
      <p:sp>
        <p:nvSpPr>
          <p:cNvPr id="17" name="col-Core"/>
          <p:cNvSpPr/>
          <p:nvPr/>
        </p:nvSpPr>
        <p:spPr>
          <a:xfrm>
            <a:off x="7150425" y="2395728"/>
            <a:ext cx="2109155" cy="3749040"/>
          </a:xfrm>
          <a:prstGeom prst="roundRect">
            <a:avLst>
              <a:gd name="adj" fmla="val 2601"/>
            </a:avLst>
          </a:prstGeom>
          <a:solidFill>
            <a:srgbClr val="E2D7CE"/>
          </a:solidFill>
          <a:ln/>
        </p:spPr>
      </p:sp>
      <p:sp>
        <p:nvSpPr>
          <p:cNvPr id="18" name="col-hex"/>
          <p:cNvSpPr/>
          <p:nvPr/>
        </p:nvSpPr>
        <p:spPr>
          <a:xfrm>
            <a:off x="7260153"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7260153"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790505"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7287585"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Record, compare, group, treat. Each step needs the one before it.</a:t>
            </a:r>
            <a:endParaRPr lang="en-US" sz="1800" dirty="0"/>
          </a:p>
        </p:txBody>
      </p:sp>
      <p:sp>
        <p:nvSpPr>
          <p:cNvPr id="22" name="col-Stretch"/>
          <p:cNvSpPr/>
          <p:nvPr/>
        </p:nvSpPr>
        <p:spPr>
          <a:xfrm>
            <a:off x="9533900" y="2395728"/>
            <a:ext cx="2109155" cy="3749040"/>
          </a:xfrm>
          <a:prstGeom prst="roundRect">
            <a:avLst>
              <a:gd name="adj" fmla="val 2601"/>
            </a:avLst>
          </a:prstGeom>
          <a:solidFill>
            <a:srgbClr val="7A4A1E"/>
          </a:solidFill>
          <a:ln/>
        </p:spPr>
      </p:sp>
      <p:sp>
        <p:nvSpPr>
          <p:cNvPr id="23" name="col-hex"/>
          <p:cNvSpPr/>
          <p:nvPr/>
        </p:nvSpPr>
        <p:spPr>
          <a:xfrm>
            <a:off x="9643628"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64362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10173980"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671060"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Say which of the four steps a medieval healer would have found strangest, and explain why in two sentences.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Whose approach is this?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200" b="1" dirty="0">
                <a:solidFill>
                  <a:srgbClr val="1E2229"/>
                </a:solidFill>
                <a:latin typeface="Calibri" pitchFamily="34" charset="0"/>
                <a:ea typeface="Calibri" pitchFamily="34" charset="-122"/>
                <a:cs typeface="Calibri" pitchFamily="34" charset="-120"/>
              </a:rPr>
              <a:t>A physician sees three patients in one week with the same cough and the same fever. He writes down exactly what he observes in each, decides that all three have the same disease, and gives all three the same treatment. Whose approach to diagnosis is this closest to?</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The Church's approach: treat illness as a punishment to be answered with prayer</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The astrologer's approach: match the treatment to the patient's star sign</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The medieval approach: treat each symptom separately according to that patient's humours</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Sydenham's: group diseases by their symptoms and treat the disease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Whose approach is this?</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Whose approach is this?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out where the physician starts. Does he start with the symptoms, or with the individual person?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for grouping. If several patients are treated as having one disease, that is Sydenham.</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for the older signs: the Four Humours, urine, diet, the zodiac, prayer. Any of these points away from Sydenham.</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Choose the option that matches the starting point, not the one that sounds most scientific.</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Sydenham starts with the symptoms and ends with one named disease. The older approach starts with the person and ends with several separate treatments.</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Write a short case of your own that a pupil could mistake for Sydenham's method but which is really the older approach, and say what gives it away.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5605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idea about the cause of disease was the most widely believed in Renaissance England?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That disease was spread by dirty drinking water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Miasma: that bad air from dirt and rotting matter made people ill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That disease was carried by fleas living on rats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That tiny living things seen under a microscope made people ill</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Sydenham's method, step by step</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Observe the patient closely and record every symptom you can see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Compare these symptoms with those of other patients you have seen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Group the illness with the other diseases whose symptoms match it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Treat the disease as a whole, not each symptom on its own  (D)</a:t>
            </a:r>
            <a:endParaRPr lang="en-US" sz="24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Sydenham observed and recorded symptoms, compared patients, grouped diseases whose symptoms matched, and then treated the disease rather than each symptom separately.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Whose approach is this?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physician sees three patients in one week with the same cough and the same fever. He writes down exactly what he observes in each, decides that all three have the same disease, and gives all three the same treatment. Whose approach to diagnosis is this closest to?</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Sydenham's: group diseases by their symptoms and treat the disease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Sydenham began with observed symptoms, grouped patients whose symptoms matched and treated the disease. The older approach began with the individual, explained each symptom as a separate imbalance and treated each one.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idea about the cause of disease was the most widely believed in Renaissance England?</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Miasma: that bad air from dirt and rotting matter made people ill</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Miasma was the most popular belief. People thought bad air from rotting matter and dirty places would unbalance the humours.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Renaissance Medicine · Chapter 2: Causes of disease, and a new way of diagnosing</dc:title>
  <dc:subject>History · Year 9</dc:subject>
  <dc:creator>Dr Vitor Merissi de Carvalho</dc:creator>
  <cp:lastModifiedBy>Dr Vitor Merissi de Carvalho</cp:lastModifiedBy>
  <cp:revision>1</cp:revision>
  <dcterms:created xsi:type="dcterms:W3CDTF">2026-10-19T06:07:59Z</dcterms:created>
  <dcterms:modified xsi:type="dcterms:W3CDTF">2026-10-19T06:07:59Z</dcterms:modified>
</cp:coreProperties>
</file>