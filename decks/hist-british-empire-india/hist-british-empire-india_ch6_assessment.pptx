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cd5f1f9-4bfa-da73-62ff-c4cad743eafa}">
          <p14:sldIdLst>
            <p14:sldId id="256"/>
          </p14:sldIdLst>
        </p14:section>
        <p14:section name="Gate" id="{a402fc08-83a3-a6eb-131a-eb66dbaccce5}">
          <p14:sldIdLst>
            <p14:sldId id="257"/>
            <p14:sldId id="258"/>
            <p14:sldId id="259"/>
            <p14:sldId id="260"/>
          </p14:sldIdLst>
        </p14:section>
        <p14:section name="Pre-teach" id="{87a36fe0-1186-e4ff-1447-574a03d61447}">
          <p14:sldIdLst>
            <p14:sldId id="261"/>
          </p14:sldIdLst>
        </p14:section>
        <p14:section name="Read-along" id="{b19faa36-7b9b-b789-7f75-4fc386268d93}">
          <p14:sldIdLst>
            <p14:sldId id="262"/>
            <p14:sldId id="263"/>
          </p14:sldIdLst>
        </p14:section>
        <p14:section name="Teach" id="{78cd2069-c5e0-6235-1776-fd2ac424718c}">
          <p14:sldIdLst>
            <p14:sldId id="264"/>
            <p14:sldId id="265"/>
            <p14:sldId id="266"/>
            <p14:sldId id="267"/>
            <p14:sldId id="268"/>
            <p14:sldId id="269"/>
            <p14:sldId id="270"/>
            <p14:sldId id="271"/>
          </p14:sldIdLst>
        </p14:section>
        <p14:section name="Routes" id="{ca01885e-cd8f-eaa9-c39c-c5f584744724}">
          <p14:sldIdLst>
            <p14:sldId id="272"/>
            <p14:sldId id="273"/>
            <p14:sldId id="274"/>
            <p14:sldId id="275"/>
          </p14:sldIdLst>
        </p14:section>
        <p14:section name="Close" id="{b74cb76e-085d-6652-84c6-83f5a8a02486}">
          <p14:sldIdLst>
            <p14:sldId id="276"/>
          </p14:sldIdLst>
        </p14:section>
        <p14:section name="Answers" id="{950a64a8-e1da-5f86-e6fa-246e5d6dee76}">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Review and assessment: how did British rule change India?. How to pull five lessons into one answer: what change and continuity mean, a review grid of political, economic and social change across three periods, and how to answer each section of the end-of-topic assessment.
This deck covers the department's lesson: 6 (Assessment: How did British rule change India?).
Read the big question aloud: "How much change did the British Empire bring to India?"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The key concept for this unit is change and ___: being able to describe how and explain why some things stayed the same.  →  continuity
2. What does Section D of the assessment ask you to do?  →  A   Write two paragraphs giving both sides of the argument, then a conclusion with an overall judgement
3. Section A is worth 10 marks, Section B 5 marks, Section C 5 marks and Section D 12 marks. How many marks is the whole assessment worth?  →  32 marks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The key concept for this unit is change and ___: being able to describe how and explain why some things stayed the same.  →  continuity
2. What does Section D of the assessment ask you to do?  →  A   Write two paragraphs giving both sides of the argument, then a conclusion with an overall judgement
3. Section A is worth 10 marks, Section B 5 marks, Section C 5 marks and Section D 12 marks. How many marks is the whole assessment worth?  →  32 marks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The key concept for this unit is change and ___: being able to describe how and explain why some things stayed the same.  →  continuity
2. What does Section D of the assessment ask you to do?  →  A   Write two paragraphs giving both sides of the argument, then a conclusion with an overall judgement
3. Section A is worth 10 marks, Section B 5 marks, Section C 5 marks and Section D 12 marks. How many marks is the whole assessment worth?  →  32 marks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continuity. Change and continuity is the pair of ideas behind the whole unit. Continuity is what stayed the same, such as most Indians working the land, or the caste system.
2. A   Write two paragraphs giving both sides of the argument, then a conclusion with an overall judgement. Section D is the 12-mark essay. Your lesson sets the shape: one paragraph agreeing, one disagreeing, then a conclusion that weighs the evidence and judges.
3. 32 marks. 10 + 5 + 5 + 12 = 32. Section D alone is worth more than a third of the paper, which is why the essay deserves most of your 45 minutes.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continuity: when things stay the same instead of changing. Example: "Farming was a continuity: most Indians still worked the land in 1947."
• chronology: the order in which events happened. Example: "Section B asks you to put events into the right chronology."
• evidence: the facts and examples you use to prove a point. Example: "A date or a figure is your strongest evidence."
• judgement: your overall decision, with reasons for it. Example: "Your conclusion must give a judgement, not just a list."
• conclusion: the last part of an essay, where you weigh up both sides. Example: "Write your conclusion after both paragraphs."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Your assessment asks one question.
2. How did British rule change India?
3. You have five lessons of knowledge to answer it.
4. Change means something became different.
5. Continuity means something stayed the same.
6. Historians sort change into three kinds.
7. Political change is about power and government.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Economic change is about money, trade and work.
9. Social change is about people, religion and how they live.
10. The paper has four parts.
11. You answer quick questions, then put events in order.
12. Then you give evidence for three statements.
13. Last you write an essay with two sides and a conclusion.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Change and continuity: the question behind the whole unit. Say it in your own words, then check understanding with a quick question: ask a pupil from the pre-teach group first, since they met these words and ideas before the lesson. Pupils try to recall before you re-explain.
The key concept for this unit is change and continuity. Change means being able to describe how something became different and explain why. Continuity means being able to describe how and why something stayed the same. You have used this pair of ideas before: in Year 7 you judged how much William the Conqueror changed England, and how much the Plantagenets changed it between 1154 and 1399. Your enquiry question here is the same shape: how much change did the British Empire bring to India?
Strong answers find continuity as well as change. Four continuities run through this unit. Most Indians worked the land at the start and at the end, and de-industrialisation under the Company pushed even more of them back to farming. Famine was already a common part of life in India before 1770, which is why historians have to ask what the Company added to it. The caste system was there before the British came, and both the Company and the Raj used it. And for almost the whole period Indians did not choose their own rulers: Mughal emperors, then Nawabs, then the Company, then the Crown, until 1947.
Change is sorted into three kinds, and your assessment uses all three. Political change is about power and government: who rules, who makes the laws, who is allowed into government. Economic change is about money and wealth: trade, taxes, industry, work and food. Social change is about people and society: religion, schools, culture and how people are treated. Keep the three words in your head as three boxes, and drop every fact you know into one of them.
Tip: Every question in this assessment is really asking: what changed, how much, and for whom? Name the kind of change before you give the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review grid: three periods, three kinds of change. Say it in your own words, then check understanding with a quick question: ask a pupil from the pre-teach group first, since they met these words and ideas before the lesson. Pupils try to recall before you re-explain.
Your review task sets out a grid: three periods down the side and the three kinds of change across the top. Fill the top row first, Company rule from 1757 to 1858. Political: a private business became the ruler of Bengal after Plassey in 1757 and took charge of all tax collection in 1765, a job that belongs to rulers. Economic: cloth sent from India to Britain fell from 1.2 million in 1814 to 306,000 in 1835 while British cloth sent to India rose to 52 million; the Great Bengal Famine of 1770 killed an estimated 7 to 10 million people, and the Company's taxes made it deadlier. Social: in the 1830s Macaulay set up English-language schools for the children of wealthy families.
The middle row is the early Raj, 1858 to 1918. Political: the Crown took India from the Company in 1858, Victoria was made Empress of India in 1877, the Indian National Congress was formed in 1885, and Lord Curzon partitioned Bengal to divide the independence movement. Economic: by 1900 the British had built nearly 80,000 km of road, railways and nearly 12,000 km of canal, mainly to move goods for trade and troops at speed. Social: Victoria's Proclamation promised to respect Indian religions, Britain pushed Victorian ideals onto India, and Indian soldiers such as Awal Nur and Pratap Singh served across the Empire in the First World War.
The bottom row is the end of the Raj, 1918 to 1947. Political: the Amritsar Massacre of 1919 turned reformers into supporters of independence, the Government of India Act of 1935 gave India limited self-government, Quit India in 1942 led to over 100,000 imprisonments, and independence came in 1947. Economic: the salt tax, the boycott of British cloth, and a Britain too poor after the Second World War to hold on. Social: satyagraha gave the movement a method, the Muslim League asked for a separate country for Indian Muslims, and partition forced enormous numbers of people to move and set off violence between religious groups.
Tip: Work one box at a time, and for each box make sure you can name an event, a date and the people it affected. A box with no date in it will not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Section A and Section B: recall and chronology. Say it in your own words, then check understanding with a quick question: ask a pupil from the pre-teach group first, since they met these words and ideas before the lesson. Pupils try to recall before you re-explain.
Section A is worth 10 marks and is made up of multiple-choice questions. These test the key words and the facts, so the arcade and the gate questions in this unit are your revision: Empire, colony, monopoly, Nawab, sepoy, mutiny, British Raj, Proclamation, Viceroy, boycott, Swadeshi, satyagraha, de-industrialisation, famine, divide and rule and partition. Learn each word with its definition and one example from the unit.
Section B is worth 5 marks and asks you to put events in order. Do not try to remember the whole list at once. Find your anchors first: 1757 Plassey, 1858 the start of the Raj, 1947 independence. Then ask of each remaining event whether it belongs to Company rule, the early Raj or the end of the Raj, and slot it into that stretch of the timeline.
Four pairs catch pupils out every year. 1857 is when the First War of Independence began; 1858 is when the Act took India from the Company. 1770 is the famine, which is after Plassey, not before it. 1905 is the partition of Bengal; 1947 is the partition of India. And 1930 is the Salt March, which comes after Amritsar in 1919 and before the Act of 1935.
Worked example — model it step by step, thinking aloud: From the Battle of Plassey in 1757 to independence in 1947, how many years did British rule of India last? (1) Write the later date first: 1947. (2) Subtract the earlier date: 1947 − 1757. (3) Do it in parts: 1947 − 1700 = 247, then 247 − 57 = 190. (4) Check it makes sense: 190 years is almost two centuries, which is why your lesson says British rule shaped generations. Answer: 190 years..
Tip: In Section B, write your three anchor dates in the margin before you start ordering. It turns a hard task into three small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Section A and Section B: recall and chronology. Say it in your own words, then check understanding with a quick question: ask a pupil from the pre-teach group first, since they met these words and ideas before the lesson. Pupils try to recall before you re-explain.
Section A is worth 10 marks and is made up of multiple-choice questions. These test the key words and the facts, so the arcade and the gate questions in this unit are your revision: Empire, colony, monopoly, Nawab, sepoy, mutiny, British Raj, Proclamation, Viceroy, boycott, Swadeshi, satyagraha, de-industrialisation, famine, divide and rule and partition. Learn each word with its definition and one example from the unit.
Section B is worth 5 marks and asks you to put events in order. Do not try to remember the whole list at once. Find your anchors first: 1757 Plassey, 1858 the start of the Raj, 1947 independence. Then ask of each remaining event whether it belongs to Company rule, the early Raj or the end of the Raj, and slot it into that stretch of the timeline.
Four pairs catch pupils out every year. 1857 is when the First War of Independence began; 1858 is when the Act took India from the Company. 1770 is the famine, which is after Plassey, not before it. 1905 is the partition of Bengal; 1947 is the partition of India. And 1930 is the Salt March, which comes after Amritsar in 1919 and before the Act of 1935.
Worked example — model it step by step, thinking aloud: From the Battle of Plassey in 1757 to independence in 1947, how many years did British rule of India last? (1) Write the later date first: 1947. (2) Subtract the earlier date: 1947 − 1757. (3) Do it in parts: 1947 − 1700 = 247, then 247 − 57 = 190. (4) Check it makes sense: 190 years is almost two centuries, which is why your lesson says British rule shaped generations. Answer: 190 years..
Tip: In Section B, write your three anchor dates in the margin before you start ordering. It turns a hard task into three small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Section C and Section D: evidence and the essay. Say it in your own words, then check understanding with a quick question: ask a pupil from the pre-teach group first, since they met these words and ideas before the lesson. Pupils try to recall before you re-explain.
Section C is worth 5 marks. You are given statements and asked for the specific evidence that proves each one. Your lesson's examples are: the end of British rule had a big political impact; the British did not give Indian people freedom after the First World War; and railways were used to exploit India, which means to take advantage of it. Specific means a name, a date or a figure. Saying that the British were unfair scores nothing; saying that by 1900 the British had built nearly 80,000 km of road, mainly to move goods for trade and troops, scores.
Section D is worth 12 marks and is an essay on how British rule changed India. Your lesson sets the shape: one paragraph agreeing with the statement, one paragraph disagreeing, and a conclusion that weighs up the evidence and gives an overall judgement. Each paragraph follows the success criteria you have used all year. Agree or disagree and give a reason; support it with specific examples and knowledge; explain how your examples show political, economic or social change, and how big that change was; then link back to the question.
The conclusion is where most marks are won and lost. A conclusion is not a summary. Do not list both sides again: choose one and say why it beats the other, using a test of significance. How many people did it affect? Did it change the whole country? Did it last? You have 45 minutes for the whole paper, so plan the essay in two minutes and spend the rest writing it.
Worked example — model it step by step, thinking aloud: Section C practice. Give specific evidence for the statement: the British did not give Indian people freedom after the First World War. (1) Ask what the statement claims: that the promise made for wartime service was not kept. (2) Find a fact that proves the promise: Indians fought for Britain from 1914 to 1918 and were promised reforms for their efforts. (3) Find a fact that proves it was not kept: Indians still lived under harsh laws such as the Rowlatt Act, which limited their rights. (4) Find the strongest single piece of evidence: in 1919, at Amritsar, British soldiers under Colonel Dyer blocked the only exit of a walled garden holding between 10,000 and 20,000 people and opened fire. (5) Write it as evidence, not opinion: three dated facts, in order, with no adjectives. Answer: Indians fought for Britain from 1914 to 1918 and were promised reforms; instead the Rowlatt Act limited their rights, and in 1919 soldiers fired on a trapped crowd at Amritsar. Pratap Singh was even refused permission to represent India at the peace conference in 1919..
Tip: Highlight the key word in each Section C statement (political, freedom, exploit). Your evidence must prove that word, not the sentence in general.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Section C and Section D: evidence and the essay. Say it in your own words, then check understanding with a quick question: ask a pupil from the pre-teach group first, since they met these words and ideas before the lesson. Pupils try to recall before you re-explain.
Section C is worth 5 marks. You are given statements and asked for the specific evidence that proves each one. Your lesson's examples are: the end of British rule had a big political impact; the British did not give Indian people freedom after the First World War; and railways were used to exploit India, which means to take advantage of it. Specific means a name, a date or a figure. Saying that the British were unfair scores nothing; saying that by 1900 the British had built nearly 80,000 km of road, mainly to move goods for trade and troops, scores.
Section D is worth 12 marks and is an essay on how British rule changed India. Your lesson sets the shape: one paragraph agreeing with the statement, one paragraph disagreeing, and a conclusion that weighs up the evidence and gives an overall judgement. Each paragraph follows the success criteria you have used all year. Agree or disagree and give a reason; support it with specific examples and knowledge; explain how your examples show political, economic or social change, and how big that change was; then link back to the question.
The conclusion is where most marks are won and lost. A conclusion is not a summary. Do not list both sides again: choose one and say why it beats the other, using a test of significance. How many people did it affect? Did it change the whole country? Did it last? You have 45 minutes for the whole paper, so plan the essay in two minutes and spend the rest writing it.
Worked example — model it step by step, thinking aloud: Section C practice. Give specific evidence for the statement: the British did not give Indian people freedom after the First World War. (1) Ask what the statement claims: that the promise made for wartime service was not kept. (2) Find a fact that proves the promise: Indians fought for Britain from 1914 to 1918 and were promised reforms for their efforts. (3) Find a fact that proves it was not kept: Indians still lived under harsh laws such as the Rowlatt Act, which limited their rights. (4) Find the strongest single piece of evidence: in 1919, at Amritsar, British soldiers under Colonel Dyer blocked the only exit of a walled garden holding between 10,000 and 20,000 people and opened fire. (5) Write it as evidence, not opinion: three dated facts, in order, with no adjectives. Answer: Indians fought for Britain from 1914 to 1918 and were promised reforms; instead the Rowlatt Act limited their rights, and in 1919 soldiers fired on a trapped crowd at Amritsar. Pratap Singh was even refused permission to represent India at the peace conference in 1919..
Tip: Highlight the key word in each Section C statement (political, freedom, exploit). Your evidence must prove that word, not the sentence in general.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Section C and Section D: evidence and the essay. Say it in your own words, then check understanding with a quick question: ask a pupil from the pre-teach group first, since they met these words and ideas before the lesson. Pupils try to recall before you re-explain.
Section C is worth 5 marks. You are given statements and asked for the specific evidence that proves each one. Your lesson's examples are: the end of British rule had a big political impact; the British did not give Indian people freedom after the First World War; and railways were used to exploit India, which means to take advantage of it. Specific means a name, a date or a figure. Saying that the British were unfair scores nothing; saying that by 1900 the British had built nearly 80,000 km of road, mainly to move goods for trade and troops, scores.
Section D is worth 12 marks and is an essay on how British rule changed India. Your lesson sets the shape: one paragraph agreeing with the statement, one paragraph disagreeing, and a conclusion that weighs up the evidence and gives an overall judgement. Each paragraph follows the success criteria you have used all year. Agree or disagree and give a reason; support it with specific examples and knowledge; explain how your examples show political, economic or social change, and how big that change was; then link back to the question.
The conclusion is where most marks are won and lost. A conclusion is not a summary. Do not list both sides again: choose one and say why it beats the other, using a test of significance. How many people did it affect? Did it change the whole country? Did it last? You have 45 minutes for the whole paper, so plan the essay in two minutes and spend the rest writing it.
Worked example — model it step by step, thinking aloud: Section C practice. Give specific evidence for the statement: the British did not give Indian people freedom after the First World War. (1) Ask what the statement claims: that the promise made for wartime service was not kept. (2) Find a fact that proves the promise: Indians fought for Britain from 1914 to 1918 and were promised reforms for their efforts. (3) Find a fact that proves it was not kept: Indians still lived under harsh laws such as the Rowlatt Act, which limited their rights. (4) Find the strongest single piece of evidence: in 1919, at Amritsar, British soldiers under Colonel Dyer blocked the only exit of a walled garden holding between 10,000 and 20,000 people and opened fire. (5) Write it as evidence, not opinion: three dated facts, in order, with no adjectives. Answer: Indians fought for Britain from 1914 to 1918 and were promised reforms; instead the Rowlatt Act limited their rights, and in 1919 soldiers fired on a trapped crowd at Amritsar. Pratap Singh was even refused permission to represent India at the peace conference in 1919..
Tip: Highlight the key word in each Section C statement (political, freedom, exploit). Your evidence must prove that word, not the sentence in general.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Section C and Section D: evidence and the essay. Say it in your own words, then check understanding with a quick question: ask a pupil from the pre-teach group first, since they met these words and ideas before the lesson. Pupils try to recall before you re-explain.
Section C is worth 5 marks. You are given statements and asked for the specific evidence that proves each one. Your lesson's examples are: the end of British rule had a big political impact; the British did not give Indian people freedom after the First World War; and railways were used to exploit India, which means to take advantage of it. Specific means a name, a date or a figure. Saying that the British were unfair scores nothing; saying that by 1900 the British had built nearly 80,000 km of road, mainly to move goods for trade and troops, scores.
Section D is worth 12 marks and is an essay on how British rule changed India. Your lesson sets the shape: one paragraph agreeing with the statement, one paragraph disagreeing, and a conclusion that weighs up the evidence and gives an overall judgement. Each paragraph follows the success criteria you have used all year. Agree or disagree and give a reason; support it with specific examples and knowledge; explain how your examples show political, economic or social change, and how big that change was; then link back to the question.
The conclusion is where most marks are won and lost. A conclusion is not a summary. Do not list both sides again: choose one and say why it beats the other, using a test of significance. How many people did it affect? Did it change the whole country? Did it last? You have 45 minutes for the whole paper, so plan the essay in two minutes and spend the rest writing it.
Worked example — model it step by step, thinking aloud: Section C practice. Give specific evidence for the statement: the British did not give Indian people freedom after the First World War. (1) Ask what the statement claims: that the promise made for wartime service was not kept. (2) Find a fact that proves the promise: Indians fought for Britain from 1914 to 1918 and were promised reforms for their efforts. (3) Find a fact that proves it was not kept: Indians still lived under harsh laws such as the Rowlatt Act, which limited their rights. (4) Find the strongest single piece of evidence: in 1919, at Amritsar, British soldiers under Colonel Dyer blocked the only exit of a walled garden holding between 10,000 and 20,000 people and opened fire. (5) Write it as evidence, not opinion: three dated facts, in order, with no adjectives. Answer: Indians fought for Britain from 1914 to 1918 and were promised reforms; instead the Rowlatt Act limited their rights, and in 1919 soldiers fired on a trapped crowd at Amritsar. Pratap Singh was even refused permission to represent India at the peace conference in 1919..
Tip: Highlight the key word in each Section C statement (political, freedom, exploit). Your evidence must prove that word, not the sentence in general.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Section B practice: the whole unit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events from across the whole unit in the order they happened.
Support — work through the steps with the group: (1) Sort the seven events into three piles first: before Company rule, under Company rule, and under the Raj. (2) Only the Charter comes before Company rule, so that is first. (3) Plassey, the famine and the First War of Independence all belong to Company rule, in that order: the Company had to rule Bengal before its taxes could worsen a famine. (4) The Empress, Amritsar and independence belong to the Raj, and independence ends the unit.
Parallel worked example for Support (model it, do not give the task answer): Put these Year 7 events in order: the Plantagenet kings' rule ends (1399); William of Normandy wins at Hastings (1066); the Plantagenets begin to rule England (1154). Hastings is the earliest of the three: 1066.; The Plantagenets came after the Normans: 1154.; Their rule ended last: 1399.. Answer: William of Normandy wins at Hastings (1066); the Plantagenets begin to rule England (1154); the Plantagenet kings' rule ends (1399).
Core — reveal the hint only on request: Charter, Plassey, famine, rising, Empress, massacre, independence. Your anchors are 1757 and 1947.
Stretch — no help; when finished: Choose the two events in this list that you would call turning points, and explain in two sentences each what changed because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Section B practice: the whole unit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events from across the whole unit in the order they happened.
Support — work through the steps with the group: (1) Sort the seven events into three piles first: before Company rule, under Company rule, and under the Raj. (2) Only the Charter comes before Company rule, so that is first. (3) Plassey, the famine and the First War of Independence all belong to Company rule, in that order: the Company had to rule Bengal before its taxes could worsen a famine. (4) The Empress, Amritsar and independence belong to the Raj, and independence ends the unit.
Parallel worked example for Support (model it, do not give the task answer): Put these Year 7 events in order: the Plantagenet kings' rule ends (1399); William of Normandy wins at Hastings (1066); the Plantagenets begin to rule England (1154). Hastings is the earliest of the three: 1066.; The Plantagenets came after the Normans: 1154.; Their rule ended last: 1399.. Answer: William of Normandy wins at Hastings (1066); the Plantagenets begin to rule England (1154); the Plantagenet kings' rule ends (1399).
Core — reveal the hint only on request: Charter, Plassey, famine, rising, Empress, massacre, independence. Your anchors are 1757 and 1947.
Stretch — no help; when finished: Choose the two events in this list that you would call turning points, and explain in two sentences each what changed because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kind of change?.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Under Company rule, Indian cloth makers were taxed so heavily that their cloth could not sell, and India's cloth industry collapsed. Which kind of change does this show?
Support — work through the steps with the group: (1) Ask what the change is mostly about: power, money, or people and beliefs? (2) If it is about who governs, who votes or who holds power, it is political. (3) If it is about taxes, trade, industry, work or food, it is economic. (4) If it is about religion, schools, language, culture or how people are treated, it is social.
Parallel worked example for Support (model it, do not give the task answer): Macaulay's new schools in the 1830s taught the children of wealthy Indian families in English and ignored Indian languages. Which kind of change does this show? What is this mostly about? Schools and language.; Schools, language and culture belong to people and society.; So this is social change, even though the Company set the schools up to get clerks for its offices.. Answer: Social change.
Core — reveal the hint only on request: Follow the money. If the sentence is about taxes, trade, industry or food, the answer is economic.
Stretch — no help; when finished: Some changes belong in two boxes at once. Explain in three sentences why Macaulay's schools could be argued to be an economic change as well as a social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kind of change?.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Under Company rule, Indian cloth makers were taxed so heavily that their cloth could not sell, and India's cloth industry collapsed. Which kind of change does this show?
Support — work through the steps with the group: (1) Ask what the change is mostly about: power, money, or people and beliefs? (2) If it is about who governs, who votes or who holds power, it is political. (3) If it is about taxes, trade, industry, work or food, it is economic. (4) If it is about religion, schools, language, culture or how people are treated, it is social.
Parallel worked example for Support (model it, do not give the task answer): Macaulay's new schools in the 1830s taught the children of wealthy Indian families in English and ignored Indian languages. Which kind of change does this show? What is this mostly about? Schools and language.; Schools, language and culture belong to people and society.; So this is social change, even though the Company set the schools up to get clerks for its offices.. Answer: Social change.
Core — reveal the hint only on request: Follow the money. If the sentence is about taxes, trade, industry or food, the answer is economic.
Stretch — no help; when finished: Some changes belong in two boxes at once. Explain in three sentences why Macaulay's schools could be argued to be an economic change as well as a social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The key concept for this unit is change and ___: being able to describe how and explain why some things stayed the same.
Answer: The key concept for this unit is change and continuity: being able to describe how and explain why some things stayed the same.. Change and continuity is the pair of ideas behind the whole unit. Continuity is what stayed the same, such as most Indians working the land, or the caste system.
Source of this question: gate item 1 re-asked (options rotated) — this chapter has no third quick-check module.
The ebook also holds task 3, "Section D practice: the end-of-topic essay",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Section B practice: the whole unit in order. Reveal the answer; pupils mark their own work in a different colour, then read the "why" together. Same destination for every lane, so one answer serves the whole class.
Answer: Queen Elizabeth I grants the East India Company a Royal Charter (1600)  (D); Robert Clive wins the Battle of Plassey (1757)  (B); The Great Bengal Famine (1770)  (A); The First War of Independence begins (1857)  (E); Queen Victoria is made Empress of India (1877)  (F); The Amritsar Massacre (1919)  (C); India becomes independent and is partitioned (1947)  (G)
Why: 1600 Charter; 1757 Plassey; 1770 famine; 1857 the First War of Independence; 1877 Empress of India; 1919 Amritsar; 1947 independence and partition. Three events belong to the Company and three to the Raj, with 1857 and 1858 as the hinge between them.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Which kind of change?. Reveal the answer; pupils mark their own work in a different colour, then read the "why" together. Same destination for every lane, so one answer serves the whole class.
Answer: C   Economic change
Why: Economic change is about money and wealth: taxes, trade, industry, work and food. Sorting each fact into political, economic or social before you write is what Sections C and D of your assessment reward.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The key concept for this unit is change and continuity: being able to describe how and explain why some things stayed the same.
Why: Change and continuity is the pair of ideas behind the whole unit. Continuity is what stayed the same, such as most Indians working the land, or the caste system.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The British Empire: India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The British Empire: India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6DE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6/6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British Empire: India · AQA KS3 → 8145</a:t>
            </a:r>
            <a:endParaRPr lang="en-US" sz="1800" dirty="0"/>
          </a:p>
        </p:txBody>
      </p:sp>
      <p:sp>
        <p:nvSpPr>
          <p:cNvPr id="10" name="deck-title"/>
          <p:cNvSpPr txBox="1"/>
          <p:nvPr/>
        </p:nvSpPr>
        <p:spPr>
          <a:xfrm>
            <a:off x="548640" y="2591308"/>
            <a:ext cx="5287975" cy="105156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Review and assessment: how did British rule change India?</a:t>
            </a:r>
            <a:endParaRPr lang="en-US" sz="2800" dirty="0"/>
          </a:p>
        </p:txBody>
      </p:sp>
      <p:sp>
        <p:nvSpPr>
          <p:cNvPr id="11" name="lessons-card"/>
          <p:cNvSpPr/>
          <p:nvPr/>
        </p:nvSpPr>
        <p:spPr>
          <a:xfrm>
            <a:off x="548640" y="3871468"/>
            <a:ext cx="5287975" cy="980440"/>
          </a:xfrm>
          <a:prstGeom prst="roundRect">
            <a:avLst>
              <a:gd name="adj" fmla="val 7461"/>
            </a:avLst>
          </a:prstGeom>
          <a:solidFill>
            <a:srgbClr val="F4F0EC"/>
          </a:solidFill>
          <a:ln/>
        </p:spPr>
      </p:sp>
      <p:sp>
        <p:nvSpPr>
          <p:cNvPr id="12" name="lessons"/>
          <p:cNvSpPr txBox="1"/>
          <p:nvPr/>
        </p:nvSpPr>
        <p:spPr>
          <a:xfrm>
            <a:off x="685800" y="396290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Assessment</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4F0EC"/>
          </a:solidFill>
          <a:ln w="12700">
            <a:solidFill>
              <a:srgbClr val="CCB9A8"/>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How much change did the British Empire bring to India?</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(1 of 3)</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11094415" cy="4754880"/>
          </a:xfrm>
          <a:prstGeom prst="roundRect">
            <a:avLst>
              <a:gd name="adj" fmla="val 1154"/>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0088575"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1" name="card-body"/>
          <p:cNvSpPr txBox="1"/>
          <p:nvPr/>
        </p:nvSpPr>
        <p:spPr>
          <a:xfrm>
            <a:off x="731520" y="2355677"/>
            <a:ext cx="10728655"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key concept for this unit is change and ___: being able to describe how and explain why some things stayed the same.</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continuity  ·  chronology  ·  conclusion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(2 of 3)</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11094415" cy="4754880"/>
          </a:xfrm>
          <a:prstGeom prst="roundRect">
            <a:avLst>
              <a:gd name="adj" fmla="val 1154"/>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card-label"/>
          <p:cNvSpPr txBox="1"/>
          <p:nvPr/>
        </p:nvSpPr>
        <p:spPr>
          <a:xfrm>
            <a:off x="1463040" y="1572768"/>
            <a:ext cx="10088575"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10728655"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What does Section D of the assessment ask you to do?</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Write two paragraphs giving both sides of the argument, then a conclusion with an overall judgement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Write everything you can remember about India in one long paragraph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Answer multiple-choice questions about the key words and facts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Put the key events of the unit into the right order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(3 of 3)</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11094415" cy="4754880"/>
          </a:xfrm>
          <a:prstGeom prst="roundRect">
            <a:avLst>
              <a:gd name="adj" fmla="val 1154"/>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0" name="card-label"/>
          <p:cNvSpPr txBox="1"/>
          <p:nvPr/>
        </p:nvSpPr>
        <p:spPr>
          <a:xfrm>
            <a:off x="1463040" y="1572768"/>
            <a:ext cx="10088575"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10728655"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Section A is worth 10 marks, Section B 5 marks, Section C 5 marks and Section D 12 marks. How many marks is the whole assessment worth?</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marks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EE3CD"/>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continuity</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Change and continuity is the pair of ideas behind the whole unit. Continuity is what stayed the same, such as most Indians working the land, or the caste system.</a:t>
            </a:r>
            <a:endParaRPr lang="en-US" sz="1800" dirty="0"/>
          </a:p>
        </p:txBody>
      </p:sp>
      <p:sp>
        <p:nvSpPr>
          <p:cNvPr id="14" name="card"/>
          <p:cNvSpPr/>
          <p:nvPr/>
        </p:nvSpPr>
        <p:spPr>
          <a:xfrm>
            <a:off x="4338218" y="1389888"/>
            <a:ext cx="3515258" cy="4754880"/>
          </a:xfrm>
          <a:prstGeom prst="roundRect">
            <a:avLst>
              <a:gd name="adj" fmla="val 1561"/>
            </a:avLst>
          </a:prstGeom>
          <a:solidFill>
            <a:srgbClr val="F8F5F3"/>
          </a:solidFill>
          <a:ln w="12700">
            <a:solidFill>
              <a:srgbClr val="D2C2B4"/>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1977644"/>
          </a:xfrm>
          <a:prstGeom prst="roundRect">
            <a:avLst>
              <a:gd name="adj" fmla="val 5548"/>
            </a:avLst>
          </a:prstGeom>
          <a:solidFill>
            <a:srgbClr val="EEE3CD"/>
          </a:solidFill>
          <a:ln w="19050">
            <a:solidFill>
              <a:srgbClr val="B8862B"/>
            </a:solidFill>
            <a:prstDash val="solid"/>
          </a:ln>
        </p:spPr>
      </p:sp>
      <p:sp>
        <p:nvSpPr>
          <p:cNvPr id="19" name="answer"/>
          <p:cNvSpPr txBox="1"/>
          <p:nvPr/>
        </p:nvSpPr>
        <p:spPr>
          <a:xfrm>
            <a:off x="4612538" y="2428829"/>
            <a:ext cx="2966618" cy="1831340"/>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Write two paragraphs giving both sides of the argument, then a conclusion with an overall judgement</a:t>
            </a:r>
            <a:endParaRPr lang="en-US" sz="2200" dirty="0"/>
          </a:p>
        </p:txBody>
      </p:sp>
      <p:sp>
        <p:nvSpPr>
          <p:cNvPr id="20" name="card-body"/>
          <p:cNvSpPr txBox="1"/>
          <p:nvPr/>
        </p:nvSpPr>
        <p:spPr>
          <a:xfrm>
            <a:off x="4521098" y="4516201"/>
            <a:ext cx="3149498" cy="1491407"/>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Section D is the 12-mark essay. Your lesson sets the shape: one paragraph agreeing, one disagreeing, then a…</a:t>
            </a:r>
            <a:endParaRPr lang="en-US" sz="1800" dirty="0"/>
          </a:p>
        </p:txBody>
      </p:sp>
      <p:sp>
        <p:nvSpPr>
          <p:cNvPr id="21" name="card"/>
          <p:cNvSpPr/>
          <p:nvPr/>
        </p:nvSpPr>
        <p:spPr>
          <a:xfrm>
            <a:off x="8127797" y="1389888"/>
            <a:ext cx="3515258" cy="4754880"/>
          </a:xfrm>
          <a:prstGeom prst="roundRect">
            <a:avLst>
              <a:gd name="adj" fmla="val 1561"/>
            </a:avLst>
          </a:prstGeom>
          <a:solidFill>
            <a:srgbClr val="F8F5F3"/>
          </a:solidFill>
          <a:ln w="12700">
            <a:solidFill>
              <a:srgbClr val="D2C2B4"/>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EE3CD"/>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32 marks</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10 + 5 + 5 + 12 = 32. Section D alone is worth more than a third of the paper, which is why the essay deserves most of your 45 minutes.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7A4A1E"/>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F6F3F0"/>
          </a:solidFill>
          <a:ln/>
        </p:spPr>
      </p:sp>
      <p:sp>
        <p:nvSpPr>
          <p:cNvPr id="12" name="kw-hex"/>
          <p:cNvSpPr/>
          <p:nvPr/>
        </p:nvSpPr>
        <p:spPr>
          <a:xfrm>
            <a:off x="658368" y="2135261"/>
            <a:ext cx="411480" cy="356342"/>
          </a:xfrm>
          <a:prstGeom prst="hexagon">
            <a:avLst/>
          </a:prstGeom>
          <a:solidFill>
            <a:srgbClr val="7A4A1E"/>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continuity</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when things stay the same instead of changing</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Farming was a continuity: most Indians still worked the land in 1947.</a:t>
            </a:r>
            <a:endParaRPr lang="en-US" sz="1800" dirty="0"/>
          </a:p>
        </p:txBody>
      </p:sp>
      <p:sp>
        <p:nvSpPr>
          <p:cNvPr id="16" name="kw-row"/>
          <p:cNvSpPr/>
          <p:nvPr/>
        </p:nvSpPr>
        <p:spPr>
          <a:xfrm>
            <a:off x="548640" y="2779776"/>
            <a:ext cx="11094415" cy="786384"/>
          </a:xfrm>
          <a:prstGeom prst="roundRect">
            <a:avLst>
              <a:gd name="adj" fmla="val 6977"/>
            </a:avLst>
          </a:prstGeom>
          <a:solidFill>
            <a:srgbClr val="F8F2E9"/>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chronology</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order in which events happened</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Section B asks you to put events into the right chronology.</a:t>
            </a:r>
            <a:endParaRPr lang="en-US" sz="1800" dirty="0"/>
          </a:p>
        </p:txBody>
      </p:sp>
      <p:sp>
        <p:nvSpPr>
          <p:cNvPr id="21" name="kw-row"/>
          <p:cNvSpPr/>
          <p:nvPr/>
        </p:nvSpPr>
        <p:spPr>
          <a:xfrm>
            <a:off x="548640" y="3639312"/>
            <a:ext cx="11094415" cy="786384"/>
          </a:xfrm>
          <a:prstGeom prst="roundRect">
            <a:avLst>
              <a:gd name="adj" fmla="val 6977"/>
            </a:avLst>
          </a:prstGeom>
          <a:solidFill>
            <a:srgbClr val="F6F3F0"/>
          </a:solidFill>
          <a:ln/>
        </p:spPr>
      </p:sp>
      <p:sp>
        <p:nvSpPr>
          <p:cNvPr id="22" name="kw-hex"/>
          <p:cNvSpPr/>
          <p:nvPr/>
        </p:nvSpPr>
        <p:spPr>
          <a:xfrm>
            <a:off x="658368" y="3854333"/>
            <a:ext cx="411480" cy="356342"/>
          </a:xfrm>
          <a:prstGeom prst="hexagon">
            <a:avLst/>
          </a:prstGeom>
          <a:solidFill>
            <a:srgbClr val="7A4A1E"/>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evidence</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facts and examples you use to prove a point</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date or a figure is your strongest evidence.</a:t>
            </a:r>
            <a:endParaRPr lang="en-US" sz="1800" dirty="0"/>
          </a:p>
        </p:txBody>
      </p:sp>
      <p:sp>
        <p:nvSpPr>
          <p:cNvPr id="26" name="kw-row"/>
          <p:cNvSpPr/>
          <p:nvPr/>
        </p:nvSpPr>
        <p:spPr>
          <a:xfrm>
            <a:off x="548640" y="4498848"/>
            <a:ext cx="11094415" cy="786384"/>
          </a:xfrm>
          <a:prstGeom prst="roundRect">
            <a:avLst>
              <a:gd name="adj" fmla="val 6977"/>
            </a:avLst>
          </a:prstGeom>
          <a:solidFill>
            <a:srgbClr val="F8F2E9"/>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judgement</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your overall decision, with reasons for it</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Your conclusion must give a judgement, not just a list.</a:t>
            </a:r>
            <a:endParaRPr lang="en-US" sz="1800" dirty="0"/>
          </a:p>
        </p:txBody>
      </p:sp>
      <p:sp>
        <p:nvSpPr>
          <p:cNvPr id="31" name="kw-row"/>
          <p:cNvSpPr/>
          <p:nvPr/>
        </p:nvSpPr>
        <p:spPr>
          <a:xfrm>
            <a:off x="548640" y="5358384"/>
            <a:ext cx="11094415" cy="786384"/>
          </a:xfrm>
          <a:prstGeom prst="roundRect">
            <a:avLst>
              <a:gd name="adj" fmla="val 6977"/>
            </a:avLst>
          </a:prstGeom>
          <a:solidFill>
            <a:srgbClr val="F6F3F0"/>
          </a:solidFill>
          <a:ln/>
        </p:spPr>
      </p:sp>
      <p:sp>
        <p:nvSpPr>
          <p:cNvPr id="32" name="kw-hex"/>
          <p:cNvSpPr/>
          <p:nvPr/>
        </p:nvSpPr>
        <p:spPr>
          <a:xfrm>
            <a:off x="658368" y="5573405"/>
            <a:ext cx="411480" cy="356342"/>
          </a:xfrm>
          <a:prstGeom prst="hexagon">
            <a:avLst/>
          </a:prstGeom>
          <a:solidFill>
            <a:srgbClr val="7A4A1E"/>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conclusion</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last part of an essay, where you weigh up both sides</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Write your conclusion after both paragraphs.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Your assessment asks one question.</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How did British rule change India?</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You have five lessons of knowledge to answer it.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Change means something became different.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Continuity</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means something stayed the same.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Historians sort change into three kinds.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Political change is about power and government.</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Economic change is about money, trade and work.</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Social change is about people, religion and how they live.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paper has four parts.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You answer quick questions, then put events in order.</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Then you give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evidence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for three statements.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Last you write an essay with two sides and a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conclusion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Change and continuity: the question behind the whole unit</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Every question in this assessment is really asking: what changed, how much, and for whom? Name the kind of change before you give the example.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key concept for this unit is change and continuity.</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Strong answers find continuity as well as change. Four continuities run through this unit.</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Change is sorted into three kinds, and your assessment uses all three.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The review grid: three periods, three kinds of change</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Work one box at a time, and for each box make sure you can name an event, a date and the people it affected. A box with no date in it will not score.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review task sets out a grid: three periods down the side and the three kinds of change across the top.</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middle row is the early Raj, 1858 to 1918.</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bottom row is the end of the Raj, 1918 to 1947.</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Section A and Section B: recall and chronology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In Section B, write your three anchor dates in the margin before you start ordering. It turns a hard task into three small ones.</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Section A is worth 10 marks and is made up of multiple-choice questions.</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Section B is worth 5 marks and asks you to put events in order.</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Four pairs catch pupils out every year. 1857 is when the First War of Independence began; 1858 is when the Act took India from the Company.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Section A and Section B: recall and chronology</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29640"/>
          </a:xfrm>
          <a:prstGeom prst="roundRect">
            <a:avLst>
              <a:gd name="adj" fmla="val 9836"/>
            </a:avLst>
          </a:prstGeom>
          <a:solidFill>
            <a:srgbClr val="F4F0EC"/>
          </a:solidFill>
          <a:ln/>
        </p:spPr>
      </p:sp>
      <p:sp>
        <p:nvSpPr>
          <p:cNvPr id="8" name="worked-q"/>
          <p:cNvSpPr txBox="1"/>
          <p:nvPr/>
        </p:nvSpPr>
        <p:spPr>
          <a:xfrm>
            <a:off x="731520" y="1481328"/>
            <a:ext cx="10728655" cy="74676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From the Battle of Plassey in 1757 to independence in 1947, how many years did British rule of India last?</a:t>
            </a:r>
            <a:endParaRPr lang="en-US" sz="2000" dirty="0"/>
          </a:p>
        </p:txBody>
      </p:sp>
      <p:sp>
        <p:nvSpPr>
          <p:cNvPr id="9" name="step-box"/>
          <p:cNvSpPr/>
          <p:nvPr/>
        </p:nvSpPr>
        <p:spPr>
          <a:xfrm>
            <a:off x="548640" y="2502408"/>
            <a:ext cx="11094415" cy="568858"/>
          </a:xfrm>
          <a:prstGeom prst="roundRect">
            <a:avLst>
              <a:gd name="adj" fmla="val 12859"/>
            </a:avLst>
          </a:prstGeom>
          <a:solidFill>
            <a:srgbClr val="FFFFFF"/>
          </a:solidFill>
          <a:ln w="15875">
            <a:solidFill>
              <a:srgbClr val="B69B83"/>
            </a:solidFill>
            <a:prstDash val="solid"/>
          </a:ln>
        </p:spPr>
      </p:sp>
      <p:sp>
        <p:nvSpPr>
          <p:cNvPr id="10" name="step-hex"/>
          <p:cNvSpPr/>
          <p:nvPr/>
        </p:nvSpPr>
        <p:spPr>
          <a:xfrm>
            <a:off x="685800" y="2588870"/>
            <a:ext cx="457200" cy="395935"/>
          </a:xfrm>
          <a:prstGeom prst="hexagon">
            <a:avLst/>
          </a:prstGeom>
          <a:solidFill>
            <a:srgbClr val="7A4A1E"/>
          </a:solidFill>
          <a:ln/>
        </p:spPr>
      </p:sp>
      <p:sp>
        <p:nvSpPr>
          <p:cNvPr id="11" name="step-hex-label"/>
          <p:cNvSpPr txBox="1"/>
          <p:nvPr/>
        </p:nvSpPr>
        <p:spPr>
          <a:xfrm>
            <a:off x="685800" y="258887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502408"/>
            <a:ext cx="10180015" cy="56885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Write the later date first: 1947.</a:t>
            </a:r>
            <a:endParaRPr lang="en-US" sz="1800" dirty="0"/>
          </a:p>
        </p:txBody>
      </p:sp>
      <p:sp>
        <p:nvSpPr>
          <p:cNvPr id="13" name="step-box"/>
          <p:cNvSpPr/>
          <p:nvPr/>
        </p:nvSpPr>
        <p:spPr>
          <a:xfrm>
            <a:off x="548640" y="3144418"/>
            <a:ext cx="11094415" cy="568858"/>
          </a:xfrm>
          <a:prstGeom prst="roundRect">
            <a:avLst>
              <a:gd name="adj" fmla="val 12859"/>
            </a:avLst>
          </a:prstGeom>
          <a:solidFill>
            <a:srgbClr val="FFFFFF"/>
          </a:solidFill>
          <a:ln w="15875">
            <a:solidFill>
              <a:srgbClr val="B69B83"/>
            </a:solidFill>
            <a:prstDash val="solid"/>
          </a:ln>
        </p:spPr>
      </p:sp>
      <p:sp>
        <p:nvSpPr>
          <p:cNvPr id="14" name="step-hex"/>
          <p:cNvSpPr/>
          <p:nvPr/>
        </p:nvSpPr>
        <p:spPr>
          <a:xfrm>
            <a:off x="685800" y="3230880"/>
            <a:ext cx="457200" cy="395935"/>
          </a:xfrm>
          <a:prstGeom prst="hexagon">
            <a:avLst/>
          </a:prstGeom>
          <a:solidFill>
            <a:srgbClr val="7A4A1E"/>
          </a:solidFill>
          <a:ln/>
        </p:spPr>
      </p:sp>
      <p:sp>
        <p:nvSpPr>
          <p:cNvPr id="15" name="step-hex-label"/>
          <p:cNvSpPr txBox="1"/>
          <p:nvPr/>
        </p:nvSpPr>
        <p:spPr>
          <a:xfrm>
            <a:off x="685800" y="323088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144418"/>
            <a:ext cx="10180015" cy="56885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Subtract the earlier date: 1947 − 1757.</a:t>
            </a:r>
            <a:endParaRPr lang="en-US" sz="1800" dirty="0"/>
          </a:p>
        </p:txBody>
      </p:sp>
      <p:sp>
        <p:nvSpPr>
          <p:cNvPr id="17" name="step-box"/>
          <p:cNvSpPr/>
          <p:nvPr/>
        </p:nvSpPr>
        <p:spPr>
          <a:xfrm>
            <a:off x="548640" y="3786429"/>
            <a:ext cx="11094415" cy="568858"/>
          </a:xfrm>
          <a:prstGeom prst="roundRect">
            <a:avLst>
              <a:gd name="adj" fmla="val 12859"/>
            </a:avLst>
          </a:prstGeom>
          <a:solidFill>
            <a:srgbClr val="FFFFFF"/>
          </a:solidFill>
          <a:ln w="15875">
            <a:solidFill>
              <a:srgbClr val="B69B83"/>
            </a:solidFill>
            <a:prstDash val="solid"/>
          </a:ln>
        </p:spPr>
      </p:sp>
      <p:sp>
        <p:nvSpPr>
          <p:cNvPr id="18" name="step-hex"/>
          <p:cNvSpPr/>
          <p:nvPr/>
        </p:nvSpPr>
        <p:spPr>
          <a:xfrm>
            <a:off x="685800" y="3872890"/>
            <a:ext cx="457200" cy="395935"/>
          </a:xfrm>
          <a:prstGeom prst="hexagon">
            <a:avLst/>
          </a:prstGeom>
          <a:solidFill>
            <a:srgbClr val="7A4A1E"/>
          </a:solidFill>
          <a:ln/>
        </p:spPr>
      </p:sp>
      <p:sp>
        <p:nvSpPr>
          <p:cNvPr id="19" name="step-hex-label"/>
          <p:cNvSpPr txBox="1"/>
          <p:nvPr/>
        </p:nvSpPr>
        <p:spPr>
          <a:xfrm>
            <a:off x="685800" y="387289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786429"/>
            <a:ext cx="10180015" cy="56885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Do it in parts: 1947 − 1700 = 247, then 247 − 57 = 190.</a:t>
            </a:r>
            <a:endParaRPr lang="en-US" sz="1800" dirty="0"/>
          </a:p>
        </p:txBody>
      </p:sp>
      <p:sp>
        <p:nvSpPr>
          <p:cNvPr id="21" name="step-box"/>
          <p:cNvSpPr/>
          <p:nvPr/>
        </p:nvSpPr>
        <p:spPr>
          <a:xfrm>
            <a:off x="548640" y="4428439"/>
            <a:ext cx="11094415" cy="833018"/>
          </a:xfrm>
          <a:prstGeom prst="roundRect">
            <a:avLst>
              <a:gd name="adj" fmla="val 8782"/>
            </a:avLst>
          </a:prstGeom>
          <a:solidFill>
            <a:srgbClr val="FFFFFF"/>
          </a:solidFill>
          <a:ln w="15875">
            <a:solidFill>
              <a:srgbClr val="B69B83"/>
            </a:solidFill>
            <a:prstDash val="solid"/>
          </a:ln>
        </p:spPr>
      </p:sp>
      <p:sp>
        <p:nvSpPr>
          <p:cNvPr id="22" name="step-hex"/>
          <p:cNvSpPr/>
          <p:nvPr/>
        </p:nvSpPr>
        <p:spPr>
          <a:xfrm>
            <a:off x="685800" y="4646981"/>
            <a:ext cx="457200" cy="395935"/>
          </a:xfrm>
          <a:prstGeom prst="hexagon">
            <a:avLst/>
          </a:prstGeom>
          <a:solidFill>
            <a:srgbClr val="7A4A1E"/>
          </a:solidFill>
          <a:ln/>
        </p:spPr>
      </p:sp>
      <p:sp>
        <p:nvSpPr>
          <p:cNvPr id="23" name="step-hex-label"/>
          <p:cNvSpPr txBox="1"/>
          <p:nvPr/>
        </p:nvSpPr>
        <p:spPr>
          <a:xfrm>
            <a:off x="685800" y="4646981"/>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428439"/>
            <a:ext cx="10180015" cy="83301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Check it makes sense: 190 years is almost two centuries, which is why your lesson says British rule shaped generations.</a:t>
            </a:r>
            <a:endParaRPr lang="en-US" sz="1800" dirty="0"/>
          </a:p>
        </p:txBody>
      </p:sp>
      <p:sp>
        <p:nvSpPr>
          <p:cNvPr id="25" name="worked-answer"/>
          <p:cNvSpPr/>
          <p:nvPr/>
        </p:nvSpPr>
        <p:spPr>
          <a:xfrm>
            <a:off x="548640" y="5444338"/>
            <a:ext cx="11094415" cy="552196"/>
          </a:xfrm>
          <a:prstGeom prst="roundRect">
            <a:avLst>
              <a:gd name="adj" fmla="val 24839"/>
            </a:avLst>
          </a:prstGeom>
          <a:solidFill>
            <a:srgbClr val="EEE3CD"/>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190 years.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Section C and Section D: evidence and the essay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Highlight the key word in each Section C statement (political, freedom, exploit). Your evidence must prove that word, not the sentence in general.</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Section C is worth 5 marks. You are given statements and asked for the specific evidence that proves each one.</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Section D is worth 12 marks and is an essay on how British rule changed India.</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conclusion is where most marks are won and lost.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(1 of 3): Section C and Section D: evidence and the essay</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4F0EC"/>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Section C practice. Give specific evidence for the statement: the British did not give Indian people freedom after the First World War.</a:t>
            </a:r>
            <a:endParaRPr lang="en-US" sz="2200" dirty="0"/>
          </a:p>
        </p:txBody>
      </p:sp>
      <p:sp>
        <p:nvSpPr>
          <p:cNvPr id="9" name="step-box"/>
          <p:cNvSpPr/>
          <p:nvPr/>
        </p:nvSpPr>
        <p:spPr>
          <a:xfrm>
            <a:off x="548640" y="2655824"/>
            <a:ext cx="5341468" cy="1695196"/>
          </a:xfrm>
          <a:prstGeom prst="roundRect">
            <a:avLst>
              <a:gd name="adj" fmla="val 4315"/>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Ask what the statement claims: that the promise made for wartime service was not kept.</a:t>
            </a:r>
            <a:endParaRPr lang="en-US" sz="1800" dirty="0"/>
          </a:p>
        </p:txBody>
      </p:sp>
      <p:sp>
        <p:nvSpPr>
          <p:cNvPr id="13" name="arrow"/>
          <p:cNvSpPr/>
          <p:nvPr/>
        </p:nvSpPr>
        <p:spPr>
          <a:xfrm>
            <a:off x="5963260" y="3366262"/>
            <a:ext cx="274320" cy="274320"/>
          </a:xfrm>
          <a:prstGeom prst="rightArrow">
            <a:avLst/>
          </a:prstGeom>
          <a:solidFill>
            <a:srgbClr val="B8862B"/>
          </a:solidFill>
          <a:ln/>
        </p:spPr>
      </p:sp>
      <p:sp>
        <p:nvSpPr>
          <p:cNvPr id="14" name="step-box"/>
          <p:cNvSpPr/>
          <p:nvPr/>
        </p:nvSpPr>
        <p:spPr>
          <a:xfrm>
            <a:off x="6301588" y="2655824"/>
            <a:ext cx="5341468" cy="1695196"/>
          </a:xfrm>
          <a:prstGeom prst="roundRect">
            <a:avLst>
              <a:gd name="adj" fmla="val 4315"/>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Find a fact that proves the promise: Indians fought for Britain from 1914 to 1918 and were promised reforms for their efforts.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(2 of 3): Section C and Section D: evidence and the essay</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4F0EC"/>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Section C practice. Give specific evidence for the statement: the British did not give Indian people freedom after the First World War.</a:t>
            </a:r>
            <a:endParaRPr lang="en-US" sz="2200" dirty="0"/>
          </a:p>
        </p:txBody>
      </p:sp>
      <p:sp>
        <p:nvSpPr>
          <p:cNvPr id="9" name="step-box"/>
          <p:cNvSpPr/>
          <p:nvPr/>
        </p:nvSpPr>
        <p:spPr>
          <a:xfrm>
            <a:off x="548640" y="2655824"/>
            <a:ext cx="5341468" cy="2252980"/>
          </a:xfrm>
          <a:prstGeom prst="roundRect">
            <a:avLst>
              <a:gd name="adj" fmla="val 3247"/>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3250184"/>
            <a:ext cx="5067148"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Find a fact that proves it was not kept: Indians still lived under harsh laws such as the Rowlatt Act, which limited their rights.</a:t>
            </a:r>
            <a:endParaRPr lang="en-US" sz="1800" dirty="0"/>
          </a:p>
        </p:txBody>
      </p:sp>
      <p:sp>
        <p:nvSpPr>
          <p:cNvPr id="13" name="arrow"/>
          <p:cNvSpPr/>
          <p:nvPr/>
        </p:nvSpPr>
        <p:spPr>
          <a:xfrm>
            <a:off x="5963260" y="3645154"/>
            <a:ext cx="274320" cy="274320"/>
          </a:xfrm>
          <a:prstGeom prst="rightArrow">
            <a:avLst/>
          </a:prstGeom>
          <a:solidFill>
            <a:srgbClr val="B8862B"/>
          </a:solidFill>
          <a:ln/>
        </p:spPr>
      </p:sp>
      <p:sp>
        <p:nvSpPr>
          <p:cNvPr id="14" name="step-box"/>
          <p:cNvSpPr/>
          <p:nvPr/>
        </p:nvSpPr>
        <p:spPr>
          <a:xfrm>
            <a:off x="6301588" y="2655824"/>
            <a:ext cx="5341468" cy="2252980"/>
          </a:xfrm>
          <a:prstGeom prst="roundRect">
            <a:avLst>
              <a:gd name="adj" fmla="val 3247"/>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3250184"/>
            <a:ext cx="5067148"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Find the strongest single piece of evidence: in 1919, at Amritsar, British soldiers under Colonel Dyer blocked the only exit of a walled garden holding between 10,000 and 20,000 people and opened fire.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(3 of 3): Section C and Section D: evidence and the essay</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4F0EC"/>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Section C practice. Give specific evidence for the statement: the British did not give Indian people freedom after the First World War.</a:t>
            </a:r>
            <a:endParaRPr lang="en-US" sz="2200" dirty="0"/>
          </a:p>
        </p:txBody>
      </p:sp>
      <p:sp>
        <p:nvSpPr>
          <p:cNvPr id="9" name="step-box"/>
          <p:cNvSpPr/>
          <p:nvPr/>
        </p:nvSpPr>
        <p:spPr>
          <a:xfrm>
            <a:off x="548640" y="2655824"/>
            <a:ext cx="11094415" cy="1463040"/>
          </a:xfrm>
          <a:prstGeom prst="roundRect">
            <a:avLst>
              <a:gd name="adj" fmla="val 5000"/>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12" name="step"/>
          <p:cNvSpPr txBox="1"/>
          <p:nvPr/>
        </p:nvSpPr>
        <p:spPr>
          <a:xfrm>
            <a:off x="685800" y="3250184"/>
            <a:ext cx="10820095"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Write it as evidence, not opinion: three dated facts, in order, with no adjectives.</a:t>
            </a:r>
            <a:endParaRPr lang="en-US" sz="1800" dirty="0"/>
          </a:p>
        </p:txBody>
      </p:sp>
      <p:sp>
        <p:nvSpPr>
          <p:cNvPr id="13" name="worked-answer"/>
          <p:cNvSpPr/>
          <p:nvPr/>
        </p:nvSpPr>
        <p:spPr>
          <a:xfrm>
            <a:off x="1463040" y="4755896"/>
            <a:ext cx="9265615" cy="1388872"/>
          </a:xfrm>
          <a:prstGeom prst="roundRect">
            <a:avLst>
              <a:gd name="adj" fmla="val 13168"/>
            </a:avLst>
          </a:prstGeom>
          <a:solidFill>
            <a:srgbClr val="EEE3CD"/>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Indians fought for Britain from 1914 to 1918 and were promised reforms; instead the Rowlatt Act limited their rights, and in 1919 soldiers fired on a trapped crowd at Amritsar. Pratap Singh was even refused permission to represent India at the peace conference in 1919.</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The task: Section B practice: the whole unit in order</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these events from across the whole unit in the order they happened.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Great Bengal Famine (1770)</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Robert Clive wins the Battle of Plassey (1757)</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Amritsar Massacre (1919)</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Queen Elizabeth I grants the East India Company a Royal Charter (1600)</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First War of Independence begins (1857)</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F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Queen Victoria is made Empress of India (1877)</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G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India becomes independent and is partitioned (1947)</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Section B practice: the whole unit in order</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Section B practice: the whole unit in order</a:t>
            </a:r>
            <a:endParaRPr lang="en-US" sz="2000" dirty="0"/>
          </a:p>
        </p:txBody>
      </p:sp>
      <p:sp>
        <p:nvSpPr>
          <p:cNvPr id="12" name="col-Support"/>
          <p:cNvSpPr/>
          <p:nvPr/>
        </p:nvSpPr>
        <p:spPr>
          <a:xfrm>
            <a:off x="548640" y="2395728"/>
            <a:ext cx="6327465" cy="3749040"/>
          </a:xfrm>
          <a:prstGeom prst="roundRect">
            <a:avLst>
              <a:gd name="adj" fmla="val 1463"/>
            </a:avLst>
          </a:prstGeom>
          <a:solidFill>
            <a:srgbClr val="F4F0EC"/>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5595945"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6053145"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Sort the seven events into three piles first: before Company rule, under Company rule, and under the Raj.</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Only the Charter comes before Company rule, so that is first.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Plassey, the famine and the First War of Independence all belong to Company rule, in that order: the Company had to rule Bengal before its taxes could worsen a famine.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Empress, Amritsar and independence belong to the Raj, and independence ends the unit.</a:t>
            </a:r>
            <a:endParaRPr lang="en-US" sz="1800" dirty="0"/>
          </a:p>
        </p:txBody>
      </p:sp>
      <p:sp>
        <p:nvSpPr>
          <p:cNvPr id="17" name="col-Core"/>
          <p:cNvSpPr/>
          <p:nvPr/>
        </p:nvSpPr>
        <p:spPr>
          <a:xfrm>
            <a:off x="7150425" y="2395728"/>
            <a:ext cx="2109155" cy="3749040"/>
          </a:xfrm>
          <a:prstGeom prst="roundRect">
            <a:avLst>
              <a:gd name="adj" fmla="val 2601"/>
            </a:avLst>
          </a:prstGeom>
          <a:solidFill>
            <a:srgbClr val="E4DAD1"/>
          </a:solidFill>
          <a:ln/>
        </p:spPr>
      </p:sp>
      <p:sp>
        <p:nvSpPr>
          <p:cNvPr id="18" name="col-hex"/>
          <p:cNvSpPr/>
          <p:nvPr/>
        </p:nvSpPr>
        <p:spPr>
          <a:xfrm>
            <a:off x="7260153"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7260153"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790505" y="2432304"/>
            <a:ext cx="1377635"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7287585" y="3035808"/>
            <a:ext cx="1834835"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Charter, Plassey, famine, rising, Empress, massacre, independence. Your anchors are 1757 and 1947.</a:t>
            </a:r>
            <a:endParaRPr lang="en-US" sz="1800" dirty="0"/>
          </a:p>
        </p:txBody>
      </p:sp>
      <p:sp>
        <p:nvSpPr>
          <p:cNvPr id="22" name="col-Stretch"/>
          <p:cNvSpPr/>
          <p:nvPr/>
        </p:nvSpPr>
        <p:spPr>
          <a:xfrm>
            <a:off x="9533900" y="2395728"/>
            <a:ext cx="2109155" cy="3749040"/>
          </a:xfrm>
          <a:prstGeom prst="roundRect">
            <a:avLst>
              <a:gd name="adj" fmla="val 2601"/>
            </a:avLst>
          </a:prstGeom>
          <a:solidFill>
            <a:srgbClr val="7A4A1E"/>
          </a:solidFill>
          <a:ln/>
        </p:spPr>
      </p:sp>
      <p:sp>
        <p:nvSpPr>
          <p:cNvPr id="23" name="col-hex"/>
          <p:cNvSpPr/>
          <p:nvPr/>
        </p:nvSpPr>
        <p:spPr>
          <a:xfrm>
            <a:off x="9643628"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64362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10173980" y="2432304"/>
            <a:ext cx="1377635"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671060" y="3035808"/>
            <a:ext cx="1834835"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Choose the two events in this list that you would call turning points, and explain in two sentences each what changed because of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Which kind of change?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Under Company rule, Indian cloth makers were taxed so heavily that their cloth could not sell, and India's cloth industry collapsed. Which kind of change does this show?</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Political change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Social change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Economic change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Continuity: nothing changed</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Same task, three ways in: Which kind of change?</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Which kind of change?</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4F0EC"/>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what the change is mostly about: power, money, or people and beliefs?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If it is about who governs, who votes or who holds power, it is political.</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If it is about taxes, trade, industry, work or food, it is economic.</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If it is about religion, schools, language, culture or how people are treated, it is social.</a:t>
            </a:r>
            <a:endParaRPr lang="en-US" sz="1800" dirty="0"/>
          </a:p>
        </p:txBody>
      </p:sp>
      <p:sp>
        <p:nvSpPr>
          <p:cNvPr id="17" name="col-Core"/>
          <p:cNvSpPr/>
          <p:nvPr/>
        </p:nvSpPr>
        <p:spPr>
          <a:xfrm>
            <a:off x="5490762" y="2395728"/>
            <a:ext cx="2938987" cy="3749040"/>
          </a:xfrm>
          <a:prstGeom prst="roundRect">
            <a:avLst>
              <a:gd name="adj" fmla="val 1867"/>
            </a:avLst>
          </a:prstGeom>
          <a:solidFill>
            <a:srgbClr val="E4DAD1"/>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Follow the money. If the sentence is about taxes, trade, industry or food, the answer is economic.</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Some changes belong in two boxes at once. Explain in three sentences why Macaulay's schools could be argued to be an economic change as well as a social one.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1735836"/>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The key concept for this unit is change and ___: being able to describe how and explain why some things stayed the same.</a:t>
            </a:r>
            <a:endParaRPr lang="en-US" sz="2400" dirty="0"/>
          </a:p>
          <a:p>
            <a:pPr algn="l" indent="0" marL="0">
              <a:buNone/>
            </a:pPr>
            <a:r>
              <a:rPr lang="en-US" sz="2200" b="1" dirty="0">
                <a:solidFill>
                  <a:srgbClr val="7A4A1E"/>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continuity   ·   chronology   ·   conclusion</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8F5F3"/>
          </a:solidFill>
          <a:ln w="12700">
            <a:solidFill>
              <a:srgbClr val="BEA792"/>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Answers: Section B practice: the whole unit in order</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Queen Elizabeth I grants the East India Company a Royal Charter (1600)  (D)</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Robert Clive wins the Battle of Plassey (1757)  (B)</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Great Bengal Famine (1770)  (A)</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First War of Independence begins (1857)  (E)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Queen Victoria is made Empress of India (1877)  (F)</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6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Amritsar Massacre (1919)  (C)</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7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India becomes independent and is partitioned (1947)  (G)</a:t>
            </a:r>
            <a:endParaRPr lang="en-US" sz="20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1600 Charter; 1757 Plassey; 1770 famine; 1857 the First War of Independence; 1877 Empress of India; 1919 Amritsar; 1947 independence and partition. Three events belong to the Company and three to the Raj, with 1857 and 1858 as the hinge between them.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Which kind of change?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Under Company rule, Indian cloth makers were taxed so heavily that their cloth could not sell, and India's cloth industry collapsed. Which kind of change does this show?</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Economic change</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Economic change is about money and wealth: taxes, trade, industry, work and food. Sorting each fact into political, economic or social before you write is what Sections C and D of your assessment reward.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The key concept for this unit is change and ___: being able to describe how and explain why some things stayed the same.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The key concept for this unit is change and continuity: being able to describe how and explain why some things stayed the same.</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Change and continuity is the pair of ideas behind the whole unit. Continuity is what stayed the same, such as most Indians working the land, or the caste system.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4F0EC"/>
      </a:lt2>
      <a:accent1>
        <a:srgbClr val="7A4A1E"/>
      </a:accent1>
      <a:accent2>
        <a:srgbClr val="B8862B"/>
      </a:accent2>
      <a:accent3>
        <a:srgbClr val="AF9278"/>
      </a:accent3>
      <a:accent4>
        <a:srgbClr val="815E1E"/>
      </a:accent4>
      <a:accent5>
        <a:srgbClr val="4A505C"/>
      </a:accent5>
      <a:accent6>
        <a:srgbClr val="DDC498"/>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British Empire: India · Chapter 6: Review and assessment: how did British rule change India?</dc:title>
  <dc:subject>History · Year 8</dc:subject>
  <dc:creator>Dr Vitor Merissi de Carvalho</dc:creator>
  <cp:lastModifiedBy>Dr Vitor Merissi de Carvalho</cp:lastModifiedBy>
  <cp:revision>1</cp:revision>
  <dcterms:created xsi:type="dcterms:W3CDTF">2026-10-19T06:07:51Z</dcterms:created>
  <dcterms:modified xsi:type="dcterms:W3CDTF">2026-10-19T06:07:51Z</dcterms:modified>
</cp:coreProperties>
</file>