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7a63122-eded-f4bf-d67e-0fc9d2d479b5}">
          <p14:sldIdLst>
            <p14:sldId id="256"/>
          </p14:sldIdLst>
        </p14:section>
        <p14:section name="Gate" id="{00bee893-51a7-7e66-6efb-1f885e637cdd}">
          <p14:sldIdLst>
            <p14:sldId id="257"/>
            <p14:sldId id="258"/>
            <p14:sldId id="259"/>
          </p14:sldIdLst>
        </p14:section>
        <p14:section name="Pre-teach" id="{6319ed80-276a-abff-4bdf-0246f52b1e71}">
          <p14:sldIdLst>
            <p14:sldId id="260"/>
            <p14:sldId id="261"/>
          </p14:sldIdLst>
        </p14:section>
        <p14:section name="Read-along" id="{1f1dba73-9049-8048-703c-f6ced567e3cd}">
          <p14:sldIdLst>
            <p14:sldId id="262"/>
            <p14:sldId id="263"/>
          </p14:sldIdLst>
        </p14:section>
        <p14:section name="Teach" id="{7455fc06-1a4d-9083-c798-9e0eb63b9a1a}">
          <p14:sldIdLst>
            <p14:sldId id="264"/>
            <p14:sldId id="265"/>
            <p14:sldId id="266"/>
            <p14:sldId id="267"/>
            <p14:sldId id="268"/>
            <p14:sldId id="269"/>
          </p14:sldIdLst>
        </p14:section>
        <p14:section name="Routes" id="{81b70050-4cbd-ad13-cc5e-b3806f86eb7a}">
          <p14:sldIdLst>
            <p14:sldId id="270"/>
            <p14:sldId id="271"/>
            <p14:sldId id="272"/>
            <p14:sldId id="273"/>
          </p14:sldIdLst>
        </p14:section>
        <p14:section name="Close" id="{20b754f5-3edf-a439-1bc3-491ec4864ced}">
          <p14:sldIdLst>
            <p14:sldId id="274"/>
          </p14:sldIdLst>
        </p14:section>
        <p14:section name="Answers" id="{05527b3a-4538-a0b6-f4ab-cef7676958d0}">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The First War of Independence, 1857–58, and the birth of the Raj. Who the sepoys were, what sparked the rising of 1857 and the deeper causes behind it, how the Company lost control, and how the British Government took India for itself.
This deck covers the department's lesson: 3 (First War of Independence, 1857–1858: What were the causes and consequences of the First War of Independence?).
Read the big question aloud: "How much change did the British Empire bring to India?"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Who were the sepoys?  →  C   Indian soldiers who fought in the East India Company's army
2. A ___ is when soldiers refuse to follow the orders of their commanders.  →  mutiny
3. What was the main consequence of the First War of Independence?  →  A   From 1858 the British Government took control of India away from the Company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Who were the sepoys?  →  C   Indian soldiers who fought in the East India Company's army
2. A ___ is when soldiers refuse to follow the orders of their commanders.  →  mutiny
3. What was the main consequence of the First War of Independence?  →  A   From 1858 the British Government took control of India away from the Company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Indian soldiers who fought in the East India Company's army. Sepoys were the Indian soldiers who made up most of the Company's army and conquered most of India for it.
2. mutiny. Mutiny means soldiers refusing orders. The rising of 1857 began as a mutiny in the Bengal division of the Company's army.
3. A   From 1858 the British Government took control of India away from the Company. The rising destroyed the Company's reputation. In 1858 the British Government took over and India became the British Raj.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sepoy: an Indian soldier who fought in the East India Company's army. Example: "Most of the Company's soldiers were sepoys."
• caste system: a way of ordering people in Indian society by the group they were born into. Example: "The Company recruited sepoys from the higher castes."
• mutiny: when soldiers refuse to follow their commanders' orders. Example: "The rising began as a mutiny in the Bengal army."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cartridge: the packet of powder and bullet loaded into a rifle. Example: "The new cartridge was said to be greased with animal fat."
• suppress: to put down a rising by force. Example: "The British Army was called in to suppress the rising."
• Raj: the Hindi word for rule; the British Raj was direct British rule of India. Example: "The British Raj began in 1858."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Company's army was mostly made up of Indian soldiers called sepoys.
2. For years the sepoys fought loyally for the Company.
3. Most came from the higher castes in Indian society.
4. In 1857 the sepoys were given a new rifle.
5. Its cartridges were said to be greased with fat from cows and pigs.
6. This offended Hindu and Muslim soldiers deeply.
7. There were deeper causes too.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Indians were kept out of government, and Company rule had made many people poorer.
9. In 1857 sepoys in Bengal refused to follow orders, and the rising spread.
10. The Company had to call in the British Army to crush it.
11. By 1858 the rising was over.
12. The British Government took India away from the Company.
13. India was now ruled by Queen Victoria: the British Raj had begun.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Company's army. Say it in your own words, then check understanding with a quick question: ask a pupil from the pre-teach group first, since they met these words and ideas before the lesson. Pupils try to recall before you re-explain.
The East India Company's army was mostly made up of Indian soldiers. These soldiers were known as sepoys. For a hundred years the sepoys fought loyally for the Company as it ruled over and conquered most of India. Without them the Company, a business run from London, could never have held so much land.
Most sepoys came from the upper groups in the Indian caste system. The caste system was a way of organising people by the group they were born into, a little like the feudal system you met in Year 7. Your lesson asked why the Company recruited only high-caste Hindus for so long: it wanted soldiers from the groups that already held respect in Indian society, and it believed they would be the most reliable.
This mattered in 1857. Soldiers from the higher castes followed strict rules about food and purity. Anything that forced them to break those rules was not a small matter; it threatened their place in their own society.
Tip: Sepoy is the key word of this chapter. Say it with the definition every time: sepoy, an Indian soldier in the Company's army.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spark and the deeper causes. Say it in your own words, then check understanding with a quick question: ask a pupil from the pre-teach group first, since they met these words and ideas before the lesson. Pupils try to recall before you re-explain.
The spark that started the rising was the Enfield rifle cartridge. In 1857 the sepoys were issued with a new rifle whose cartridges had to be bitten open before loading. The sepoys were told that the grease on the cartridges contained fat from cows and from pigs. Cows are sacred to Hindus, and pigs are forbidden to Muslims, so for both the cartridge was an insult to their religion. Your lesson's quiz makes the point: the cartridge angered the sepoys not because it was hard to use but because it was offensive.
A spark is not the whole fire. Your lesson sorts the deeper causes into four factors. Political: India was governed by British people and Indians were blocked from positions in government. Economic: the Company had destroyed Indian industries and replaced them with British goods, and the people of India had become poorer. Military: the cartridge itself, and growing anger inside the army about pay, promotion and who was recruited. Social: the Company did not respect India's culture and religion.
The sepoy Mangal Pandey is the subject of your homework. In 1857 his actions against his British officers helped to spark the rebellion, and he paid for it with his life. Your fact-file asks where he was from, what he did and why, what happened to him, and how India remembers him today, including on a postage stamp.
Tip: Sort causes with PEMS: Political, Economic, Military, Social. In the assessment you may be asked which factor was the main cause; always name the factor before the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Mutiny, uprising or war? What happened in 1857–58. Say it in your own words, then check understanding with a quick question: ask a pupil from the pre-teach group first, since they met these words and ideas before the lesson. Pupils try to recall before you re-explain.
In 1857 sepoys in the Bengal division of the Company's army refused to follow the orders of their British commanders. A mutiny is exactly this: soldiers refusing orders. The sepoys killed their commanders, and the rising spread across northern India. The soldiers the Company had relied on for a century were turning against it.
The Company's own army lost control of the situation. It was forced to call in troops from the British Army, and soldiers came from across the Empire to suppress the uprisings. They succeeded, and by 1858 the rising was over. Many sepoys who were captured were executed, and some of the punishments were deliberately designed to insult the religions of the men being punished.
The event has three names, and the name you choose says something about your view. In Britain it was long called the Sepoy Mutiny, which makes it sound like soldiers breaking rules. In India it is known as the First War of Independence, which makes it the first great fight to free India from British rule. Historians often call it the Uprising of 1857. Your lesson uses the Indian name in its title, and so does this chapter.
Worked example — model it step by step, thinking aloud: Explain one cause of the First War of Independence in a PEEL paragraph. (1) Point: One cause of the First War of Independence was social: the Company's failure to respect Indian religion. (2) Evidence: For example, in 1857 the sepoys were issued with Enfield cartridges they were told were greased with cow and pig fat, which they had to bite open. (3) Explain: This caused the rising because cows are sacred to Hindus and pigs forbidden to Muslims, so the sepoys felt the Company was forcing them to break their faith. (4) Link: Therefore disrespect for religion turned loyal soldiers into rebels, which is why the rising began in the army. Answer: Point (social cause), Evidence (the cartridge, 1857), Explain (sacred cow, forbidden pig, forced to break faith), Link (loyal soldiers became rebels)..
Tip: Your literacy focus is explaining WHY an event happened. Every Explain sentence should contain because, so or this meant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Mutiny, uprising or war? What happened in 1857–58. Say it in your own words, then check understanding with a quick question: ask a pupil from the pre-teach group first, since they met these words and ideas before the lesson. Pupils try to recall before you re-explain.
In 1857 sepoys in the Bengal division of the Company's army refused to follow the orders of their British commanders. A mutiny is exactly this: soldiers refusing orders. The sepoys killed their commanders, and the rising spread across northern India. The soldiers the Company had relied on for a century were turning against it.
The Company's own army lost control of the situation. It was forced to call in troops from the British Army, and soldiers came from across the Empire to suppress the uprisings. They succeeded, and by 1858 the rising was over. Many sepoys who were captured were executed, and some of the punishments were deliberately designed to insult the religions of the men being punished.
The event has three names, and the name you choose says something about your view. In Britain it was long called the Sepoy Mutiny, which makes it sound like soldiers breaking rules. In India it is known as the First War of Independence, which makes it the first great fight to free India from British rule. Historians often call it the Uprising of 1857. Your lesson uses the Indian name in its title, and so does this chapter.
Worked example — model it step by step, thinking aloud: Explain one cause of the First War of Independence in a PEEL paragraph. (1) Point: One cause of the First War of Independence was social: the Company's failure to respect Indian religion. (2) Evidence: For example, in 1857 the sepoys were issued with Enfield cartridges they were told were greased with cow and pig fat, which they had to bite open. (3) Explain: This caused the rising because cows are sacred to Hindus and pigs forbidden to Muslims, so the sepoys felt the Company was forcing them to break their faith. (4) Link: Therefore disrespect for religion turned loyal soldiers into rebels, which is why the rising began in the army. Answer: Point (social cause), Evidence (the cartridge, 1857), Explain (sacred cow, forbidden pig, forced to break faith), Link (loyal soldiers became rebels)..
Tip: Your literacy focus is explaining WHY an event happened. Every Explain sentence should contain because, so or this meant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Mutiny, uprising or war? What happened in 1857–58. Say it in your own words, then check understanding with a quick question: ask a pupil from the pre-teach group first, since they met these words and ideas before the lesson. Pupils try to recall before you re-explain.
In 1857 sepoys in the Bengal division of the Company's army refused to follow the orders of their British commanders. A mutiny is exactly this: soldiers refusing orders. The sepoys killed their commanders, and the rising spread across northern India. The soldiers the Company had relied on for a century were turning against it.
The Company's own army lost control of the situation. It was forced to call in troops from the British Army, and soldiers came from across the Empire to suppress the uprisings. They succeeded, and by 1858 the rising was over. Many sepoys who were captured were executed, and some of the punishments were deliberately designed to insult the religions of the men being punished.
The event has three names, and the name you choose says something about your view. In Britain it was long called the Sepoy Mutiny, which makes it sound like soldiers breaking rules. In India it is known as the First War of Independence, which makes it the first great fight to free India from British rule. Historians often call it the Uprising of 1857. Your lesson uses the Indian name in its title, and so does this chapter.
Worked example — model it step by step, thinking aloud: Explain one cause of the First War of Independence in a PEEL paragraph. (1) Point: One cause of the First War of Independence was social: the Company's failure to respect Indian religion. (2) Evidence: For example, in 1857 the sepoys were issued with Enfield cartridges they were told were greased with cow and pig fat, which they had to bite open. (3) Explain: This caused the rising because cows are sacred to Hindus and pigs forbidden to Muslims, so the sepoys felt the Company was forcing them to break their faith. (4) Link: Therefore disrespect for religion turned loyal soldiers into rebels, which is why the rising began in the army. Answer: Point (social cause), Evidence (the cartridge, 1857), Explain (sacred cow, forbidden pig, forced to break faith), Link (loyal soldiers became rebels)..
Tip: Your literacy focus is explaining WHY an event happened. Every Explain sentence should contain because, so or this meant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Consequences: the British Government takes India. Say it in your own words, then check understanding with a quick question: ask a pupil from the pre-teach group first, since they met these words and ideas before the lesson. Pupils try to recall before you re-explain.
The Company won the fighting but lost its reputation. Many people in Britain believed the Company had caused the rising by refusing to respect India, its culture, its religion and its people. In 1858 Parliament passed the Act for the Better Government of India, and the Company was stripped of its control. From 1858 the British Government officially ruled India, with Queen Victoria as its ruler. This period of direct rule by Britain and the Crown is called the British Raj. Raj means rule in Hindi.
To show that the Raj would be different from the Company, Queen Victoria issued a Proclamation in 1858. In it she promised that Britain would not seek new territory in India and would respect the rights of the local Nawabs; that Britain would respect the religious affairs of Indian people and not force Christianity on them; that all religions would have equal protection under the law; and that all Indian people would be able to work in the Indian Government and Civil Service.
Your lesson asked you to test these promises against what the British had just done. Sepoys had been punished in ways designed to insult their religion while the fighting was still going on. So the Proclamation was a promise for the future that the recent past did not support. Whether the Raj kept its word is the question for the next chapter.
Tip: Consequence words: as a result, this meant that, from 1858. The Company lost India; the Crown gained it; the Proclamation made promises.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long did the Company rule?.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Company became the ruler of Bengal after Plassey in 1757 and lost control of India to the British Government in 1858. For how many years was the Company a ruler in India?
Support — work through the steps with the group: (1) Write the later date first: 1858. (2) Subtract the earlier date: 1858 − 1757. (3) Do it in parts: 1858 − 1700 = 158, then 158 − 57 = 101. (4) Check it makes sense: a little over one hundred years, one century.
Parallel worked example for Support (model it, do not give the task answer): The Company received its Royal Charter in 1600 and its first ships reached India in 1608. How many years apart were these events? Later date first: 1608.; Subtract: 1608 − 1600.; 1608 − 1600 = 8.. Answer: 8 years.
Core — reveal the hint only on request: Later date minus earlier date. Use 1858, the Act, not 1857, the rising.
Stretch — no help; when finished: Explain in two sentences why it matters that a private company, rather than a government, ruled Bengal for 101 years. Use the famine or the cloth trade as your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long did the Company rule?.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Company became the ruler of Bengal after Plassey in 1757 and lost control of India to the British Government in 1858. For how many years was the Company a ruler in India?
Support — work through the steps with the group: (1) Write the later date first: 1858. (2) Subtract the earlier date: 1858 − 1757. (3) Do it in parts: 1858 − 1700 = 158, then 158 − 57 = 101. (4) Check it makes sense: a little over one hundred years, one century.
Parallel worked example for Support (model it, do not give the task answer): The Company received its Royal Charter in 1600 and its first ships reached India in 1608. How many years apart were these events? Later date first: 1608.; Subtract: 1608 − 1600.; 1608 − 1600 = 8.. Answer: 8 years.
Core — reveal the hint only on request: Later date minus earlier date. Use 1858, the Act, not 1857, the rising.
Stretch — no help; when finished: Explain in two sentences why it matters that a private company, rather than a government, ruled Bengal for 101 years. Use the famine or the cloth trade as your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Sorting the causes.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cause of the First War of Independence to the factor it belongs to.
Support — work through the steps with the group: (1) Political is about who holds power: look for the word government. (2) Economic is about money: look for industries, trade, poorer or richer. (3) Military is about the army: look for soldiers, weapons or cartridges. (4) Social is about people and how they are treated: look for culture and religion.
Parallel worked example for Support (model it, do not give the task answer): Sort these causes of the Norman invasion: Harold took the crown William believed was his (which factor?); England was rich in farmland and silver (which factor?). Taking the crown is about who holds power: political.; Rich farmland and silver is about wealth: economic.. Answer: Harold and the crown: political. Farmland and silver: economic..
Core — reveal the hint only on request: Government = political. Industries and poverty = economic. Cartridges = military. Culture and religion = social.
Stretch — no help; when finished: Your lesson's extension asked which factor was the MAIN cause. Choose one and explain in three sentences why it mattered more than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Sorting the causes.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cause of the First War of Independence to the factor it belongs to.
Support — work through the steps with the group: (1) Political is about who holds power: look for the word government. (2) Economic is about money: look for industries, trade, poorer or richer. (3) Military is about the army: look for soldiers, weapons or cartridges. (4) Social is about people and how they are treated: look for culture and religion.
Parallel worked example for Support (model it, do not give the task answer): Sort these causes of the Norman invasion: Harold took the crown William believed was his (which factor?); England was rich in farmland and silver (which factor?). Taking the crown is about who holds power: political.; Rich farmland and silver is about wealth: economic.. Answer: Harold and the crown: political. Farmland and silver: economic..
Core — reveal the hint only on request: Government = political. Industries and poverty = economic. Cartridges = military. Culture and religion = social.
Stretch — no help; when finished: Your lesson's extension asked which factor was the MAIN cause. Choose one and explain in three sentences why it mattered more than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Who were the sepoys?
Answer: B   Indian soldiers who fought in the East India Company's army. Sepoys were the Indian soldiers who made up most of the Company's army and conquered most of India for it.
Source of this question: gate item 1 re-asked (options rotated) — this chapter has no third quick-check module.
The ebook also holds task 3, "Why did the First War of Independence begin?",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long did the Company rule?. Reveal the answer; pupils mark their own work in a different colour, then read the "why" together. Same destination for every lane, so one answer serves the whole class.
Answer: 101 years
Why: 1858 − 1757 = 101 years. The rising began in 1857, but the Company lost India in 1858, when the Act for the Better Government of India was passed.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Sorting the causes. Reveal the answer; pupils mark their own work in a different colour, then read the "why" together. Same destination for every lane, so one answer serves the whole class.
Answer: Indian people were blocked from positions in government  →  D  Political: power and government; The Company destroyed Indian industries and people became poorer  →  B  Economic: money and wealth; The new Enfield cartridges were said to be greased with cow and pig fat  →  C  Military: the army and its weapons; The Company did not respect Indian culture and religion  →  A  Social: people and society
Why: Government jobs are political; destroyed industries are economic; the cartridge is military; disrespect for religion and culture is social. The spark lit a fire that the other three had been building for years.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Indian soldiers who fought in the East India Company's army
Why: Sepoys were the Indian soldiers who made up most of the Company's army and conquered most of India for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British Empire: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British Empire: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British Empire: India · AQA KS3 → 8145</a:t>
            </a:r>
            <a:endParaRPr lang="en-US" sz="1800" dirty="0"/>
          </a:p>
        </p:txBody>
      </p:sp>
      <p:sp>
        <p:nvSpPr>
          <p:cNvPr id="10" name="deck-title"/>
          <p:cNvSpPr txBox="1"/>
          <p:nvPr/>
        </p:nvSpPr>
        <p:spPr>
          <a:xfrm>
            <a:off x="548640" y="236016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The First War of Independence, 1857–58, and the birth of the Raj</a:t>
            </a:r>
            <a:endParaRPr lang="en-US" sz="2800" dirty="0"/>
          </a:p>
        </p:txBody>
      </p:sp>
      <p:sp>
        <p:nvSpPr>
          <p:cNvPr id="11" name="lessons-card"/>
          <p:cNvSpPr/>
          <p:nvPr/>
        </p:nvSpPr>
        <p:spPr>
          <a:xfrm>
            <a:off x="548640" y="4102608"/>
            <a:ext cx="5287975" cy="980440"/>
          </a:xfrm>
          <a:prstGeom prst="roundRect">
            <a:avLst>
              <a:gd name="adj" fmla="val 7461"/>
            </a:avLst>
          </a:prstGeom>
          <a:solidFill>
            <a:srgbClr val="F4F0EC"/>
          </a:solidFill>
          <a:ln/>
        </p:spPr>
      </p:sp>
      <p:sp>
        <p:nvSpPr>
          <p:cNvPr id="12" name="lessons"/>
          <p:cNvSpPr txBox="1"/>
          <p:nvPr/>
        </p:nvSpPr>
        <p:spPr>
          <a:xfrm>
            <a:off x="685800" y="419404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First War of Independence, 1857–1858</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much change did the British Empire bring to India?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Who were the sepoys?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Company officials who collected taxes in Bengal</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Indian princes who ruled regions after the Mughals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Indian soldiers who fought in the East India Company's army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British soldiers sent out to India from Britain</a:t>
            </a:r>
            <a:endParaRPr lang="en-US" sz="2200" dirty="0"/>
          </a:p>
        </p:txBody>
      </p:sp>
      <p:sp>
        <p:nvSpPr>
          <p:cNvPr id="12" name="card"/>
          <p:cNvSpPr/>
          <p:nvPr/>
        </p:nvSpPr>
        <p:spPr>
          <a:xfrm>
            <a:off x="6233008" y="1389888"/>
            <a:ext cx="5410048" cy="4754880"/>
          </a:xfrm>
          <a:prstGeom prst="roundRect">
            <a:avLst>
              <a:gd name="adj" fmla="val 1154"/>
            </a:avLst>
          </a:prstGeom>
          <a:solidFill>
            <a:srgbClr val="F8F5F3"/>
          </a:solidFill>
          <a:ln w="12700">
            <a:solidFill>
              <a:srgbClr val="D2C2B4"/>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___ is when soldiers refuse to follow the orders of their commanders.</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mutiny  ·  massacre  ·  proclamation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was the main consequence of the First War of Independence?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From 1858 the British Government took control of India away from the Company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India became an independent country in 1858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Company's army won and the Company became more powerful than ever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Mughal Empire was restored to power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EE3CD"/>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Indian soldiers who fought in the East India Company's army</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Who were the sepoys?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Sepoys were the Indian soldiers who made up most of the Company's army and conquered most of India for it.</a:t>
            </a:r>
            <a:endParaRPr lang="en-US" sz="20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mutiny</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___ is when soldiers refuse to follow the orders of their commanders.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Mutiny means soldiers refusing orders. The rising of 1857 began as a mutiny in the Bengal division of the Company's army.</a:t>
            </a:r>
            <a:endParaRPr lang="en-US" sz="20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977644"/>
          </a:xfrm>
          <a:prstGeom prst="roundRect">
            <a:avLst>
              <a:gd name="adj" fmla="val 5548"/>
            </a:avLst>
          </a:prstGeom>
          <a:solidFill>
            <a:srgbClr val="EEE3CD"/>
          </a:solidFill>
          <a:ln w="19050">
            <a:solidFill>
              <a:srgbClr val="B8862B"/>
            </a:solidFill>
            <a:prstDash val="solid"/>
          </a:ln>
        </p:spPr>
      </p:sp>
      <p:sp>
        <p:nvSpPr>
          <p:cNvPr id="26" name="answer"/>
          <p:cNvSpPr txBox="1"/>
          <p:nvPr/>
        </p:nvSpPr>
        <p:spPr>
          <a:xfrm>
            <a:off x="8402117"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From 1858 the British Government took control of India away from the Company</a:t>
            </a:r>
            <a:endParaRPr lang="en-US" sz="2200" dirty="0"/>
          </a:p>
        </p:txBody>
      </p:sp>
      <p:sp>
        <p:nvSpPr>
          <p:cNvPr id="27" name="card-body"/>
          <p:cNvSpPr txBox="1"/>
          <p:nvPr/>
        </p:nvSpPr>
        <p:spPr>
          <a:xfrm>
            <a:off x="8310677"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rising destroyed the Company's reputation. In 1858 the British Government took over and India became the…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sepoy</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Indian soldier who fought in the East India Company's army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Most of the Company's soldiers were sepoys.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caste system</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way of ordering people in Indian society by the group they were born into</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Company recruited sepoys from the higher castes.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mutiny</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soldiers refuse to follow their commanders' orders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rising began as a mutiny in the Bengal army.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cartridge</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packet of powder and bullet loaded into a rifle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new cartridge was said to be greased with animal fat.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suppress</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put down a rising by force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British Army was called in to suppress the rising.</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Raj</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Hindi word for rule; the British Raj was direct British rule of India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British Raj began in 1858.</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Company's army was mostly made up of Indian soldiers called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sepoys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For years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sepoys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fought loyally for the Company.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Most came from the higher castes in Indian society.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1857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sepoys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were given a new rifle.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Its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cartridges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were said to be greased with fat from cows and pigs.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offended Hindu and Muslim soldiers deeply.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were deeper causes too.</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Indians were kept out of government, and Company rule had made many people poorer.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1857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sepoys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Bengal refused to follow orders, and the rising spread.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Company had to call in the British Army to crush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By 1858 the rising was over.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British Government took India away from the Company.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India was now ruled by Queen Victoria: the British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Raj</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had begun.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Company's army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Sepoy is the key word of this chapter. Say it with the definition every time: sepoy, an Indian soldier in the Company's army.</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East India Company's army was mostly made up of Indian soldiers.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Most sepoys came from the upper groups in the Indian caste system.</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mattered in 1857. Soldiers from the higher castes followed strict rules about food and purity.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spark and the deeper causes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Sort causes with PEMS: Political, Economic, Military, Social. In the assessment you may be asked which factor was the main cause; always name the factor before the example.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spark that started the rising was the Enfield rifle cartridge.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spark is not the whole fire. Your lesson sorts the deeper causes into four factors.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sepoy Mangal Pandey is the subject of your homework.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Mutiny, uprising or war? What happened in 1857–58</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Your literacy focus is explaining WHY an event happened. Every Explain sentence should contain because, so or this meant that.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In 1857 sepoys in the Bengal division of the Company's army refused to follow the orders of their British commanders.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Company's own army lost control of the situation. It was forced to call in troops from the British Army, and soldiers came from across the Empire to suppress the uprisings.</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event has three names, and the name you choose says something about your view.</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Mutiny, uprising or war? What happened in 1857–58</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4F0EC"/>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cause of the First War of Independence in a PEEL paragraph.</a:t>
            </a:r>
            <a:endParaRPr lang="en-US" sz="2200" dirty="0"/>
          </a:p>
        </p:txBody>
      </p:sp>
      <p:sp>
        <p:nvSpPr>
          <p:cNvPr id="9" name="step-box"/>
          <p:cNvSpPr/>
          <p:nvPr/>
        </p:nvSpPr>
        <p:spPr>
          <a:xfrm>
            <a:off x="548640" y="2314956"/>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One cause of the First War of Independence was social: the Company's failure to respect Indian religion.</a:t>
            </a:r>
            <a:endParaRPr lang="en-US" sz="1800" dirty="0"/>
          </a:p>
        </p:txBody>
      </p:sp>
      <p:sp>
        <p:nvSpPr>
          <p:cNvPr id="13" name="arrow"/>
          <p:cNvSpPr/>
          <p:nvPr/>
        </p:nvSpPr>
        <p:spPr>
          <a:xfrm>
            <a:off x="5963260" y="3164840"/>
            <a:ext cx="274320" cy="274320"/>
          </a:xfrm>
          <a:prstGeom prst="rightArrow">
            <a:avLst/>
          </a:prstGeom>
          <a:solidFill>
            <a:srgbClr val="B8862B"/>
          </a:solidFill>
          <a:ln/>
        </p:spPr>
      </p:sp>
      <p:sp>
        <p:nvSpPr>
          <p:cNvPr id="14" name="step-box"/>
          <p:cNvSpPr/>
          <p:nvPr/>
        </p:nvSpPr>
        <p:spPr>
          <a:xfrm>
            <a:off x="6301588" y="2314956"/>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For example, in 1857 the sepoys were issued with Enfield cartridges they were told were greased with cow and pig fat, which they had to bite open.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Mutiny, uprising or war? What happened in 1857–58</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4F0EC"/>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cause of the First War of Independence in a PEEL paragraph.</a:t>
            </a:r>
            <a:endParaRPr lang="en-US" sz="2200" dirty="0"/>
          </a:p>
        </p:txBody>
      </p:sp>
      <p:sp>
        <p:nvSpPr>
          <p:cNvPr id="9" name="step-box"/>
          <p:cNvSpPr/>
          <p:nvPr/>
        </p:nvSpPr>
        <p:spPr>
          <a:xfrm>
            <a:off x="548640" y="2314956"/>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This caused the rising because cows are sacred to Hindus and pigs forbidden to Muslims, so the sepoys felt the Company was forcing them to break their faith.</a:t>
            </a:r>
            <a:endParaRPr lang="en-US" sz="1800" dirty="0"/>
          </a:p>
        </p:txBody>
      </p:sp>
      <p:sp>
        <p:nvSpPr>
          <p:cNvPr id="13" name="arrow"/>
          <p:cNvSpPr/>
          <p:nvPr/>
        </p:nvSpPr>
        <p:spPr>
          <a:xfrm>
            <a:off x="5963260" y="3164840"/>
            <a:ext cx="274320" cy="274320"/>
          </a:xfrm>
          <a:prstGeom prst="rightArrow">
            <a:avLst/>
          </a:prstGeom>
          <a:solidFill>
            <a:srgbClr val="B8862B"/>
          </a:solidFill>
          <a:ln/>
        </p:spPr>
      </p:sp>
      <p:sp>
        <p:nvSpPr>
          <p:cNvPr id="14" name="step-box"/>
          <p:cNvSpPr/>
          <p:nvPr/>
        </p:nvSpPr>
        <p:spPr>
          <a:xfrm>
            <a:off x="6301588" y="2314956"/>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Link: Therefore disrespect for religion turned loyal soldiers into rebels, which is why the rising began in the army.</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Point (social cause), Evidence (the cartridge, 1857), Explain (sacred cow, forbidden pig, forced to break faith), Link (loyal soldiers became rebels).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Consequences: the British Government takes India</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Consequence words: as a result, this meant that, from 1858. The Company lost India; the Crown gained it; the Proclamation made promises.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Company won the fighting but lost its reputation. Many people in Britain believed the Company had caused the rising by refusing to respect India, its culture, its religion and its people.</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To show that the Raj would be different from the Company, Queen Victoria issued a Proclamation in 1858.</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asked you to test these promises against what the British had just done.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How long did the Company rule?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Company became the ruler of Bengal after Plassey in 1757 and lost control of India to the British Government in 1858. For how many years was the Company a ruler in India?</a:t>
            </a:r>
            <a:endParaRPr lang="en-US" sz="2600" dirty="0"/>
          </a:p>
          <a:p>
            <a:pPr algn="ctr" indent="0" marL="0">
              <a:buNone/>
            </a:pPr>
            <a:r>
              <a:rPr lang="en-US" sz="2400" b="1" dirty="0">
                <a:solidFill>
                  <a:srgbClr val="7A4A1E"/>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years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How long did the Company rule?</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The Company became the ruler of Bengal after Plassey in 1757 and lost control of India to the British Government in 1858. For how many years was the Company a ruler in India?</a:t>
            </a:r>
            <a:endParaRPr lang="en-US" sz="2000" dirty="0"/>
          </a:p>
        </p:txBody>
      </p:sp>
      <p:sp>
        <p:nvSpPr>
          <p:cNvPr id="12" name="col-Support"/>
          <p:cNvSpPr/>
          <p:nvPr/>
        </p:nvSpPr>
        <p:spPr>
          <a:xfrm>
            <a:off x="548640" y="2903728"/>
            <a:ext cx="4667802" cy="3241040"/>
          </a:xfrm>
          <a:prstGeom prst="roundRect">
            <a:avLst>
              <a:gd name="adj" fmla="val 1693"/>
            </a:avLst>
          </a:prstGeom>
          <a:solidFill>
            <a:srgbClr val="F4F0EC"/>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4393482"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later date first: 1858.</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earlier date: 1858 − 1757.</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Do it in parts: 1858 − 1700 = 158, then 158 − 57 = 101.</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it makes sense: a little over one hundred years, one century.</a:t>
            </a:r>
            <a:endParaRPr lang="en-US" sz="1800" dirty="0"/>
          </a:p>
        </p:txBody>
      </p:sp>
      <p:sp>
        <p:nvSpPr>
          <p:cNvPr id="17" name="col-Core"/>
          <p:cNvSpPr/>
          <p:nvPr/>
        </p:nvSpPr>
        <p:spPr>
          <a:xfrm>
            <a:off x="5490762" y="2903728"/>
            <a:ext cx="2938987" cy="3241040"/>
          </a:xfrm>
          <a:prstGeom prst="roundRect">
            <a:avLst>
              <a:gd name="adj" fmla="val 1867"/>
            </a:avLst>
          </a:prstGeom>
          <a:solidFill>
            <a:srgbClr val="E4DAD1"/>
          </a:solidFill>
          <a:ln/>
        </p:spPr>
      </p:sp>
      <p:sp>
        <p:nvSpPr>
          <p:cNvPr id="18" name="col-hex"/>
          <p:cNvSpPr/>
          <p:nvPr/>
        </p:nvSpPr>
        <p:spPr>
          <a:xfrm>
            <a:off x="5600490"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Later date minus earlier date. Use 1858, the Act, not 1857, the rising.</a:t>
            </a:r>
            <a:endParaRPr lang="en-US" sz="1800" dirty="0"/>
          </a:p>
        </p:txBody>
      </p:sp>
      <p:sp>
        <p:nvSpPr>
          <p:cNvPr id="22" name="col-Stretch"/>
          <p:cNvSpPr/>
          <p:nvPr/>
        </p:nvSpPr>
        <p:spPr>
          <a:xfrm>
            <a:off x="8704069" y="2903728"/>
            <a:ext cx="2938987" cy="3241040"/>
          </a:xfrm>
          <a:prstGeom prst="roundRect">
            <a:avLst>
              <a:gd name="adj" fmla="val 1867"/>
            </a:avLst>
          </a:prstGeom>
          <a:solidFill>
            <a:srgbClr val="7A4A1E"/>
          </a:solidFill>
          <a:ln/>
        </p:spPr>
      </p:sp>
      <p:sp>
        <p:nvSpPr>
          <p:cNvPr id="23" name="col-hex"/>
          <p:cNvSpPr/>
          <p:nvPr/>
        </p:nvSpPr>
        <p:spPr>
          <a:xfrm>
            <a:off x="8813797" y="2976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in two sentences why it matters that a private company, rather than a government, ruled Bengal for 101 years. Use the famine or the cloth trade as your evidence.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Sorting the causes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cause of the First War of Independence to the factor it belongs to.</a:t>
            </a:r>
            <a:endParaRPr lang="en-US" sz="2400" dirty="0"/>
          </a:p>
        </p:txBody>
      </p:sp>
      <p:sp>
        <p:nvSpPr>
          <p:cNvPr id="11" name="match-card"/>
          <p:cNvSpPr/>
          <p:nvPr/>
        </p:nvSpPr>
        <p:spPr>
          <a:xfrm>
            <a:off x="777240" y="2672080"/>
            <a:ext cx="5135728" cy="753872"/>
          </a:xfrm>
          <a:prstGeom prst="roundRect">
            <a:avLst>
              <a:gd name="adj" fmla="val 9704"/>
            </a:avLst>
          </a:prstGeom>
          <a:solidFill>
            <a:srgbClr val="F6F3F0"/>
          </a:solidFill>
          <a:ln/>
        </p:spPr>
      </p:sp>
      <p:sp>
        <p:nvSpPr>
          <p:cNvPr id="12" name="match-hex"/>
          <p:cNvSpPr/>
          <p:nvPr/>
        </p:nvSpPr>
        <p:spPr>
          <a:xfrm>
            <a:off x="850392" y="2882723"/>
            <a:ext cx="384048" cy="332586"/>
          </a:xfrm>
          <a:prstGeom prst="hexagon">
            <a:avLst/>
          </a:prstGeom>
          <a:solidFill>
            <a:srgbClr val="7A4A1E"/>
          </a:solidFill>
          <a:ln/>
        </p:spPr>
      </p:sp>
      <p:sp>
        <p:nvSpPr>
          <p:cNvPr id="13" name="match-hex-label"/>
          <p:cNvSpPr txBox="1"/>
          <p:nvPr/>
        </p:nvSpPr>
        <p:spPr>
          <a:xfrm>
            <a:off x="850392" y="28827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4541368"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Indian people were blocked from positions in government</a:t>
            </a:r>
            <a:endParaRPr lang="en-US" sz="1800" dirty="0"/>
          </a:p>
        </p:txBody>
      </p:sp>
      <p:sp>
        <p:nvSpPr>
          <p:cNvPr id="15" name="match-card"/>
          <p:cNvSpPr/>
          <p:nvPr/>
        </p:nvSpPr>
        <p:spPr>
          <a:xfrm>
            <a:off x="6278728" y="2672080"/>
            <a:ext cx="5135728" cy="753872"/>
          </a:xfrm>
          <a:prstGeom prst="roundRect">
            <a:avLst>
              <a:gd name="adj" fmla="val 9704"/>
            </a:avLst>
          </a:prstGeom>
          <a:solidFill>
            <a:srgbClr val="F8F2E9"/>
          </a:solidFill>
          <a:ln/>
        </p:spPr>
      </p:sp>
      <p:sp>
        <p:nvSpPr>
          <p:cNvPr id="16" name="match-hex"/>
          <p:cNvSpPr/>
          <p:nvPr/>
        </p:nvSpPr>
        <p:spPr>
          <a:xfrm>
            <a:off x="6351880" y="2882723"/>
            <a:ext cx="384048" cy="332586"/>
          </a:xfrm>
          <a:prstGeom prst="hexagon">
            <a:avLst/>
          </a:prstGeom>
          <a:solidFill>
            <a:srgbClr val="B8862B"/>
          </a:solidFill>
          <a:ln/>
        </p:spPr>
      </p:sp>
      <p:sp>
        <p:nvSpPr>
          <p:cNvPr id="17" name="match-hex-label"/>
          <p:cNvSpPr txBox="1"/>
          <p:nvPr/>
        </p:nvSpPr>
        <p:spPr>
          <a:xfrm>
            <a:off x="6351880" y="28827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672080"/>
            <a:ext cx="4541368"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Social: people and society</a:t>
            </a:r>
            <a:endParaRPr lang="en-US" sz="1800" dirty="0"/>
          </a:p>
        </p:txBody>
      </p:sp>
      <p:sp>
        <p:nvSpPr>
          <p:cNvPr id="19" name="match-card"/>
          <p:cNvSpPr/>
          <p:nvPr/>
        </p:nvSpPr>
        <p:spPr>
          <a:xfrm>
            <a:off x="777240" y="3517392"/>
            <a:ext cx="5135728" cy="753872"/>
          </a:xfrm>
          <a:prstGeom prst="roundRect">
            <a:avLst>
              <a:gd name="adj" fmla="val 9704"/>
            </a:avLst>
          </a:prstGeom>
          <a:solidFill>
            <a:srgbClr val="F6F3F0"/>
          </a:solidFill>
          <a:ln/>
        </p:spPr>
      </p:sp>
      <p:sp>
        <p:nvSpPr>
          <p:cNvPr id="20" name="match-hex"/>
          <p:cNvSpPr/>
          <p:nvPr/>
        </p:nvSpPr>
        <p:spPr>
          <a:xfrm>
            <a:off x="850392" y="3728035"/>
            <a:ext cx="384048" cy="332586"/>
          </a:xfrm>
          <a:prstGeom prst="hexagon">
            <a:avLst/>
          </a:prstGeom>
          <a:solidFill>
            <a:srgbClr val="7A4A1E"/>
          </a:solidFill>
          <a:ln/>
        </p:spPr>
      </p:sp>
      <p:sp>
        <p:nvSpPr>
          <p:cNvPr id="21" name="match-hex-label"/>
          <p:cNvSpPr txBox="1"/>
          <p:nvPr/>
        </p:nvSpPr>
        <p:spPr>
          <a:xfrm>
            <a:off x="850392" y="37280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17392"/>
            <a:ext cx="4541368"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Company destroyed Indian industries and people became poorer</a:t>
            </a:r>
            <a:endParaRPr lang="en-US" sz="1800" dirty="0"/>
          </a:p>
        </p:txBody>
      </p:sp>
      <p:sp>
        <p:nvSpPr>
          <p:cNvPr id="23" name="match-card"/>
          <p:cNvSpPr/>
          <p:nvPr/>
        </p:nvSpPr>
        <p:spPr>
          <a:xfrm>
            <a:off x="6278728" y="3517392"/>
            <a:ext cx="5135728" cy="753872"/>
          </a:xfrm>
          <a:prstGeom prst="roundRect">
            <a:avLst>
              <a:gd name="adj" fmla="val 9704"/>
            </a:avLst>
          </a:prstGeom>
          <a:solidFill>
            <a:srgbClr val="F8F2E9"/>
          </a:solidFill>
          <a:ln/>
        </p:spPr>
      </p:sp>
      <p:sp>
        <p:nvSpPr>
          <p:cNvPr id="24" name="match-hex"/>
          <p:cNvSpPr/>
          <p:nvPr/>
        </p:nvSpPr>
        <p:spPr>
          <a:xfrm>
            <a:off x="6351880" y="3728035"/>
            <a:ext cx="384048" cy="332586"/>
          </a:xfrm>
          <a:prstGeom prst="hexagon">
            <a:avLst/>
          </a:prstGeom>
          <a:solidFill>
            <a:srgbClr val="B8862B"/>
          </a:solidFill>
          <a:ln/>
        </p:spPr>
      </p:sp>
      <p:sp>
        <p:nvSpPr>
          <p:cNvPr id="25" name="match-hex-label"/>
          <p:cNvSpPr txBox="1"/>
          <p:nvPr/>
        </p:nvSpPr>
        <p:spPr>
          <a:xfrm>
            <a:off x="6351880" y="37280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517392"/>
            <a:ext cx="4541368"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Economic: money and wealth</a:t>
            </a:r>
            <a:endParaRPr lang="en-US" sz="1800" dirty="0"/>
          </a:p>
        </p:txBody>
      </p:sp>
      <p:sp>
        <p:nvSpPr>
          <p:cNvPr id="27" name="match-card"/>
          <p:cNvSpPr/>
          <p:nvPr/>
        </p:nvSpPr>
        <p:spPr>
          <a:xfrm>
            <a:off x="777240" y="4362704"/>
            <a:ext cx="5135728" cy="753872"/>
          </a:xfrm>
          <a:prstGeom prst="roundRect">
            <a:avLst>
              <a:gd name="adj" fmla="val 9704"/>
            </a:avLst>
          </a:prstGeom>
          <a:solidFill>
            <a:srgbClr val="F6F3F0"/>
          </a:solidFill>
          <a:ln/>
        </p:spPr>
      </p:sp>
      <p:sp>
        <p:nvSpPr>
          <p:cNvPr id="28" name="match-hex"/>
          <p:cNvSpPr/>
          <p:nvPr/>
        </p:nvSpPr>
        <p:spPr>
          <a:xfrm>
            <a:off x="850392" y="4573347"/>
            <a:ext cx="384048" cy="332586"/>
          </a:xfrm>
          <a:prstGeom prst="hexagon">
            <a:avLst/>
          </a:prstGeom>
          <a:solidFill>
            <a:srgbClr val="7A4A1E"/>
          </a:solidFill>
          <a:ln/>
        </p:spPr>
      </p:sp>
      <p:sp>
        <p:nvSpPr>
          <p:cNvPr id="29" name="match-hex-label"/>
          <p:cNvSpPr txBox="1"/>
          <p:nvPr/>
        </p:nvSpPr>
        <p:spPr>
          <a:xfrm>
            <a:off x="850392" y="457334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362704"/>
            <a:ext cx="4541368"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new Enfield cartridges were said to be greased with cow and pig fat</a:t>
            </a:r>
            <a:endParaRPr lang="en-US" sz="1800" dirty="0"/>
          </a:p>
        </p:txBody>
      </p:sp>
      <p:sp>
        <p:nvSpPr>
          <p:cNvPr id="31" name="match-card"/>
          <p:cNvSpPr/>
          <p:nvPr/>
        </p:nvSpPr>
        <p:spPr>
          <a:xfrm>
            <a:off x="6278728" y="4362704"/>
            <a:ext cx="5135728" cy="753872"/>
          </a:xfrm>
          <a:prstGeom prst="roundRect">
            <a:avLst>
              <a:gd name="adj" fmla="val 9704"/>
            </a:avLst>
          </a:prstGeom>
          <a:solidFill>
            <a:srgbClr val="F8F2E9"/>
          </a:solidFill>
          <a:ln/>
        </p:spPr>
      </p:sp>
      <p:sp>
        <p:nvSpPr>
          <p:cNvPr id="32" name="match-hex"/>
          <p:cNvSpPr/>
          <p:nvPr/>
        </p:nvSpPr>
        <p:spPr>
          <a:xfrm>
            <a:off x="6351880" y="4573347"/>
            <a:ext cx="384048" cy="332586"/>
          </a:xfrm>
          <a:prstGeom prst="hexagon">
            <a:avLst/>
          </a:prstGeom>
          <a:solidFill>
            <a:srgbClr val="B8862B"/>
          </a:solidFill>
          <a:ln/>
        </p:spPr>
      </p:sp>
      <p:sp>
        <p:nvSpPr>
          <p:cNvPr id="33" name="match-hex-label"/>
          <p:cNvSpPr txBox="1"/>
          <p:nvPr/>
        </p:nvSpPr>
        <p:spPr>
          <a:xfrm>
            <a:off x="6351880" y="457334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362704"/>
            <a:ext cx="4541368"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Military: the army and its weapons</a:t>
            </a:r>
            <a:endParaRPr lang="en-US" sz="1800" dirty="0"/>
          </a:p>
        </p:txBody>
      </p:sp>
      <p:sp>
        <p:nvSpPr>
          <p:cNvPr id="35" name="match-card"/>
          <p:cNvSpPr/>
          <p:nvPr/>
        </p:nvSpPr>
        <p:spPr>
          <a:xfrm>
            <a:off x="777240" y="5208016"/>
            <a:ext cx="5135728" cy="753872"/>
          </a:xfrm>
          <a:prstGeom prst="roundRect">
            <a:avLst>
              <a:gd name="adj" fmla="val 9704"/>
            </a:avLst>
          </a:prstGeom>
          <a:solidFill>
            <a:srgbClr val="F6F3F0"/>
          </a:solidFill>
          <a:ln/>
        </p:spPr>
      </p:sp>
      <p:sp>
        <p:nvSpPr>
          <p:cNvPr id="36" name="match-hex"/>
          <p:cNvSpPr/>
          <p:nvPr/>
        </p:nvSpPr>
        <p:spPr>
          <a:xfrm>
            <a:off x="850392" y="5418659"/>
            <a:ext cx="384048" cy="332586"/>
          </a:xfrm>
          <a:prstGeom prst="hexagon">
            <a:avLst/>
          </a:prstGeom>
          <a:solidFill>
            <a:srgbClr val="7A4A1E"/>
          </a:solidFill>
          <a:ln/>
        </p:spPr>
      </p:sp>
      <p:sp>
        <p:nvSpPr>
          <p:cNvPr id="37" name="match-hex-label"/>
          <p:cNvSpPr txBox="1"/>
          <p:nvPr/>
        </p:nvSpPr>
        <p:spPr>
          <a:xfrm>
            <a:off x="850392" y="541865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208016"/>
            <a:ext cx="4541368"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Company did not respect Indian culture and religion</a:t>
            </a:r>
            <a:endParaRPr lang="en-US" sz="1800" dirty="0"/>
          </a:p>
        </p:txBody>
      </p:sp>
      <p:sp>
        <p:nvSpPr>
          <p:cNvPr id="39" name="match-card"/>
          <p:cNvSpPr/>
          <p:nvPr/>
        </p:nvSpPr>
        <p:spPr>
          <a:xfrm>
            <a:off x="6278728" y="5208016"/>
            <a:ext cx="5135728" cy="753872"/>
          </a:xfrm>
          <a:prstGeom prst="roundRect">
            <a:avLst>
              <a:gd name="adj" fmla="val 9704"/>
            </a:avLst>
          </a:prstGeom>
          <a:solidFill>
            <a:srgbClr val="F8F2E9"/>
          </a:solidFill>
          <a:ln/>
        </p:spPr>
      </p:sp>
      <p:sp>
        <p:nvSpPr>
          <p:cNvPr id="40" name="match-hex"/>
          <p:cNvSpPr/>
          <p:nvPr/>
        </p:nvSpPr>
        <p:spPr>
          <a:xfrm>
            <a:off x="6351880" y="5418659"/>
            <a:ext cx="384048" cy="332586"/>
          </a:xfrm>
          <a:prstGeom prst="hexagon">
            <a:avLst/>
          </a:prstGeom>
          <a:solidFill>
            <a:srgbClr val="B8862B"/>
          </a:solidFill>
          <a:ln/>
        </p:spPr>
      </p:sp>
      <p:sp>
        <p:nvSpPr>
          <p:cNvPr id="41" name="match-hex-label"/>
          <p:cNvSpPr txBox="1"/>
          <p:nvPr/>
        </p:nvSpPr>
        <p:spPr>
          <a:xfrm>
            <a:off x="6351880" y="541865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5208016"/>
            <a:ext cx="4541368"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Political: power and government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Sorting the causes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cause of the First War of Independence to the factor it belongs to.</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4F0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Political is about who holds power: look for the word government.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Economic is about money: look for industries, trade, poorer or richer.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Military is about the army: look for soldiers, weapons or cartridges.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Social is about people and how they are treated: look for culture and religion.</a:t>
            </a:r>
            <a:endParaRPr lang="en-US" sz="1800" dirty="0"/>
          </a:p>
        </p:txBody>
      </p:sp>
      <p:sp>
        <p:nvSpPr>
          <p:cNvPr id="17" name="col-Core"/>
          <p:cNvSpPr/>
          <p:nvPr/>
        </p:nvSpPr>
        <p:spPr>
          <a:xfrm>
            <a:off x="5490762" y="2593848"/>
            <a:ext cx="2938987" cy="3550920"/>
          </a:xfrm>
          <a:prstGeom prst="roundRect">
            <a:avLst>
              <a:gd name="adj" fmla="val 1867"/>
            </a:avLst>
          </a:prstGeom>
          <a:solidFill>
            <a:srgbClr val="E4DAD1"/>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Government = political. Industries and poverty = economic. Cartridges = military. Culture and religion = social.</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Your lesson's extension asked which factor was the MAIN cause. Choose one and explain in three sentences why it mattered more than the others.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Who were the sepoys?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Indian princes who ruled regions after the Mughals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Indian soldiers who fought in the East India Company's army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British soldiers sent out to India from Britain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Company officials who collected taxes in Bengal</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How long did the Company rule?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Company became the ruler of Bengal after Plassey in 1757 and lost control of India to the British Government in 1858. For how many years was the Company a ruler in India?</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101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1858 − 1757 = 101 years. The rising began in 1857, but the Company lost India in 1858, when the Act for the Better Government of India was passed.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Sorting the causes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Indian people were blocked from positions in government  →  D  Political: power and government</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Company destroyed Indian industries and people became poorer  →  B  Economic: money and wealth</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new Enfield cartridges were said to be greased with cow and pig fat  →  C  Military: the army and its weapons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Company did not respect Indian culture and religion  →  A  Social: people and society</a:t>
            </a:r>
            <a:endParaRPr lang="en-US" sz="20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Government jobs are political; destroyed industries are economic; the cartridge is military; disrespect for religion and culture is social. The spark lit a fire that the other three had been building for years.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Who were the sepoys?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Indian soldiers who fought in the East India Company's army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Sepoys were the Indian soldiers who made up most of the Company's army and conquered most of India for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British Empire: India · Chapter 3: The First War of Independence, 1857–58, and the birth of the Raj</dc:title>
  <dc:subject>History · Year 8</dc:subject>
  <dc:creator>Dr Vitor Merissi de Carvalho</dc:creator>
  <cp:lastModifiedBy>Dr Vitor Merissi de Carvalho</cp:lastModifiedBy>
  <cp:revision>1</cp:revision>
  <dcterms:created xsi:type="dcterms:W3CDTF">2026-10-19T16:23:03Z</dcterms:created>
  <dcterms:modified xsi:type="dcterms:W3CDTF">2026-10-19T16:23:03Z</dcterms:modified>
</cp:coreProperties>
</file>