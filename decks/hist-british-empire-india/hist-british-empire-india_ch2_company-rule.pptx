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0b47bdd-32f1-a0fb-45a3-5a4b28eb6f35}">
          <p14:sldIdLst>
            <p14:sldId id="256"/>
          </p14:sldIdLst>
        </p14:section>
        <p14:section name="Gate" id="{6ce00cbf-fc48-228a-861d-e96bc58165ed}">
          <p14:sldIdLst>
            <p14:sldId id="257"/>
            <p14:sldId id="258"/>
          </p14:sldIdLst>
        </p14:section>
        <p14:section name="Pre-teach" id="{1517efe4-197d-458e-edc5-b9c80418f7c0}">
          <p14:sldIdLst>
            <p14:sldId id="259"/>
            <p14:sldId id="260"/>
          </p14:sldIdLst>
        </p14:section>
        <p14:section name="Read-along" id="{fa83db27-4e0d-10a4-1fc0-729d1baaad2b}">
          <p14:sldIdLst>
            <p14:sldId id="261"/>
            <p14:sldId id="262"/>
          </p14:sldIdLst>
        </p14:section>
        <p14:section name="Teach" id="{ed295646-e011-b00e-cf71-2707d5cfe6d3}">
          <p14:sldIdLst>
            <p14:sldId id="263"/>
            <p14:sldId id="264"/>
            <p14:sldId id="265"/>
            <p14:sldId id="266"/>
            <p14:sldId id="267"/>
          </p14:sldIdLst>
        </p14:section>
        <p14:section name="Routes" id="{343fb245-8b14-c025-0dc9-d4e12c051770}">
          <p14:sldIdLst>
            <p14:sldId id="268"/>
            <p14:sldId id="269"/>
            <p14:sldId id="270"/>
            <p14:sldId id="271"/>
          </p14:sldIdLst>
        </p14:section>
        <p14:section name="Close" id="{d4b6663f-1728-f93f-ab1c-dabd62b7653d}">
          <p14:sldIdLst>
            <p14:sldId id="272"/>
          </p14:sldIdLst>
        </p14:section>
        <p14:section name="Answers" id="{3e45395e-6304-94bf-e6bb-fb326671244b}">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Company rule, 1757–1857: trade, famine and schools. What happened to Indian trade and cloth making once no one could stop the Company, the Great Bengal Famine of 1770, the Company's schools, and how to judge economic against social change.
This deck covers the department's lesson: 2 (Company Rule in India, 1757–1857: How did the East India Company rule India, and did it bring more economic or social change?).
Read the big question aloud: "How much change did the British Empire bring to India?"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the Great Bengal Famine happen?  →  1770
2. What does de-industrialisation mean?  →  D   A country loses its industries, so people go back to farming the land
3. Under Company rule, Indian cloth makers had to pay very high ___, so that their cloth became too expensive to buy.  →  taxes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1770. The Great Bengal Famine struck in 1770, when the Company had ruled Bengal for thirteen years and had collected its taxes since 1765.
2. D   A country loses its industries, so people go back to farming the land. De-industrialisation is the loss of industry. Tharoor argues that when India's cloth industry was destroyed, its workers had to go back to village farming to survive.
3. taxes. Tharoor argues the Company made Indian producers pay taxes of up to about 80 per cent, pricing their cloth out of the market so that British cloth would sell instead.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profit: the money a business keeps after paying its costs. Example: "The Company sold British cloth in India at a huge profit."
• raw materials: natural materials, such as cotton, that are made into products. Example: "Raw materials were shipped from India to factories in Britain."
• de-industrialisation: when a country loses its industries and people go back to farming. Example: "The loss of India's cloth industry is called de-industrialisation."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famine: when there is not enough food, so many people starve. Example: "The Great Bengal Famine of 1770 killed millions of people."
• interpretation: a historian's view of what happened and why. Example: "Shashi Tharoor's interpretation is that the Company looted India."
• social change: change to how people live, learn and are treated. Example: "New schools were a social change; new taxes were an economic one."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After 1757 the Company ruled Bengal, one of India's richest regions.
2. Before, the Mughal emperors had made the Company follow rules and pay taxes.
3. Now no one could stop the Company.
4. It took raw materials such as cotton from India to Britain.
5. British factories turned them into cloth.
6. The Company then sold that cloth back to people in India.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Indian cloth makers were taxed so heavily that their cloth became too expensive.
8. Many lost their work and went back to farming.
9. In 1770 a terrible famine struck Bengal.
10. Historians think between 7 and 10 million people died.
11. Many historians argue that the Company's taxes made it worse.
12. In the 1830s the Company set up British-style schools for wealthy Indian children.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No one to stop them. Say it in your own words, then check understanding with a quick question: ask a pupil from the pre-teach group first, since they met these words and ideas before the lesson. Pupils try to recall before you re-explain.
In chapter 1 you saw that while the Mughals were strong, the Company had to follow their rules and pay its taxes. After Plassey in 1757, and especially after it took over tax collection in Bengal in 1765, the Company was acting like a country rather than a business. But there was a difference: a country has rulers who can be held to account. Now that the Company controlled Bengal, there was no one to make sure it acted properly. It could set the rules itself, and no one could stop it making as much money as it wanted.
Trade under the Company worked in two steps. First, the Company took raw materials from India, such as cotton, to Britain, where new factories turned them into finished products. Britain was going through the industrial revolution, when machines in factories began to make goods far faster than people could by hand. Second, the Company sold those factory-made products back to the people of India, making a massive profit.
Think about who gained at each step. India supplied the raw materials and then bought the finished goods. Britain's factories had the work and the Company had the profit. This is the pattern you will need when you write about the economic impact of Company rule.
Tip: Economic = money and wealth. When you see raw materials, factories, taxes, profit or trade, you are looking at economic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happened to India's cloth?. Say it in your own words, then check understanding with a quick question: ask a pupil from the pre-teach group first, since they met these words and ideas before the lesson. Pupils try to recall before you re-explain.
Your lesson's Source A gives the figures for the cloth trade between Britain and India. In 1814 India sent 1.2 million cloths to Britain and Britain sent 818,000 to India. By 1821 India sent 534,000 and Britain sent 19.1 million. In 1828 the figures were 422,500 from India and 42.8 million from Britain. By 1835 India sent only 306,000 cloths to Britain, while Britain sent 52 million to India. In twenty-one years the flow of cloth had reversed completely.
Source B is an interpretation by the historian and Indian politician Shashi Tharoor. An interpretation is a historian's view, so your literacy focus this lesson is to understand what he argues and to notice his opinion. Tharoor argues that India held about 25 per cent of the world's wealth in 1700, under Aurangzeb, largely because of its cloth and cotton industry. After 1757, he says, the Company set out to replace cheap Indian cloth with cloth made in England. It destroyed workshops and made Indian cloth makers pay taxes of up to about 80 per cent, so that their cloth became too expensive for anyone to buy.
Tharoor calls the result de-industrialisation: India lost the industry it had, and many cloth workers were left with no work but farming in the villages as poor peasants. His opinion of the Company is clearly negative; the title of his chapter speaks of looting. When you use his interpretation, say that it is his view and show what in the figures supports it.
Worked example — model it step by step, thinking aloud: Use Source A. By how many cloths did the amount Britain sent to India rise between 1814 and 1821? (1) Find the two figures for cloth from Britain to India: 818,000 in 1814 and 19.1 million in 1821. (2) Write 19.1 million in full: 19,100,000. (3) Subtract the earlier figure from the later one: 19,100,000 − 818,000. (4) 19,100,000 − 818,000 = 18,282,000. The rise was 18,282,000 cloths in seven years. Answer: A rise of 18,282,000 cloths..
Tip: When a question says ‘according to Source A’, quote the figures. When it says ‘according to Tharoor’, say ‘Tharoor argues that…’ so your reader knows it is an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happened to India's cloth?. Say it in your own words, then check understanding with a quick question: ask a pupil from the pre-teach group first, since they met these words and ideas before the lesson. Pupils try to recall before you re-explain.
Your lesson's Source A gives the figures for the cloth trade between Britain and India. In 1814 India sent 1.2 million cloths to Britain and Britain sent 818,000 to India. By 1821 India sent 534,000 and Britain sent 19.1 million. In 1828 the figures were 422,500 from India and 42.8 million from Britain. By 1835 India sent only 306,000 cloths to Britain, while Britain sent 52 million to India. In twenty-one years the flow of cloth had reversed completely.
Source B is an interpretation by the historian and Indian politician Shashi Tharoor. An interpretation is a historian's view, so your literacy focus this lesson is to understand what he argues and to notice his opinion. Tharoor argues that India held about 25 per cent of the world's wealth in 1700, under Aurangzeb, largely because of its cloth and cotton industry. After 1757, he says, the Company set out to replace cheap Indian cloth with cloth made in England. It destroyed workshops and made Indian cloth makers pay taxes of up to about 80 per cent, so that their cloth became too expensive for anyone to buy.
Tharoor calls the result de-industrialisation: India lost the industry it had, and many cloth workers were left with no work but farming in the villages as poor peasants. His opinion of the Company is clearly negative; the title of his chapter speaks of looting. When you use his interpretation, say that it is his view and show what in the figures supports it.
Worked example — model it step by step, thinking aloud: Use Source A. By how many cloths did the amount Britain sent to India rise between 1814 and 1821? (1) Find the two figures for cloth from Britain to India: 818,000 in 1814 and 19.1 million in 1821. (2) Write 19.1 million in full: 19,100,000. (3) Subtract the earlier figure from the later one: 19,100,000 − 818,000. (4) 19,100,000 − 818,000 = 18,282,000. The rise was 18,282,000 cloths in seven years. Answer: A rise of 18,282,000 cloths..
Tip: When a question says ‘according to Source A’, quote the figures. When it says ‘according to Tharoor’, say ‘Tharoor argues that…’ so your reader knows it is an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Great Bengal Famine, 1770. Say it in your own words, then check understanding with a quick question: ask a pupil from the pre-teach group first, since they met these words and ideas before the lesson. Pupils try to recall before you re-explain.
A famine is when there is not enough food for the people, so many starve and die. In 1770, when the Company ruled Bengal, a terrible famine struck. Historians disagree about the numbers, but your lesson says that around 7 to 10 million people are thought to have died. People simply did not have enough to eat, and not enough food was being produced.
Famines are usually caused by the weather, for example when the rains fail and the harvest is poor. Famine had been a common part of life in India before. So historians ask why this one was so deadly, and whether the Company, which was responsible for running Bengal, made it worse.
The evidence your lesson gives points to two Company decisions. The Company increased the taxes farmers had to pay, even as the harvest failed. And it did not allow people to keep stocks of food that could have fed them through the shortage. Your task in the lesson was to sort statements into natural causes and Company causes. The judgement most historians reach is that the famine began with the weather, but Company rule made it far deadlier than it needed to be.
Tip: Separate the cause of the shortage (the weather) from the causes of the deaths (taxes, no food stocks). That is how you show the Company's responsibility without saying it caused the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Schools, English and ‘British values’: economic or social change?. Say it in your own words, then check understanding with a quick question: ask a pupil from the pre-teach group first, since they met these words and ideas before the lesson. Pupils try to recall before you re-explain.
In the 1830s the British government gave the Company money to educate the people it had ruled since 1757. It hired Thomas Babington Macaulay to set up a British-style education system in India. Lessons were to be in English, and Macaulay focused on bringing what he called British values to India. He wanted the children of wealthy families educated, in the hope that they would one day work for the Company.
Your lesson asked you to weigh this up. A benefit for some Indians was access to schooling and to jobs in the Company's offices. A disadvantage was that the system ignored Indian languages and culture, served the Company's needs rather than India's, and reached only the children of the rich. The schools are a social change: they changed how people learned and how they were treated.
To decide whether the Company brought more economic or more social change, your lesson gives four tests of how significant a change was: its impact on ordinary people, their health and wealth; its impact on the whole country; its longer-term impact; and its impact on the wider world. De-industrialisation and the famine hit millions of ordinary people across Bengal and lasted for generations. The schools reached a small, wealthy group. Most pupils conclude that the economic changes were bigger, but you must give your own reasons.
Tip: Social = people and society: schools, religion, culture, how people are treated. Economic = money: trade, taxes, industry, famine.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Reading the cloth figures.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Use Source A. In 1814 India sent 1.2 million cloths to Britain. In 1835 it sent 306,000. By how many cloths did the amount India sent to Britain fall?
Support — work through the steps with the group: (1) Write 1.2 million in full: 1,200,000. (2) Find the 1835 figure for cloth from India to Britain: 306,000. (3) A fall means take the smaller, later figure away from the larger, earlier one: 1,200,000 − 306,000. (4) Subtract in parts: 1,200,000 − 300,000 = 900,000, then 900,000 − 6,000 = 894,000.
Parallel worked example for Support (model it, do not give the task answer): Use Source A. India sent 534,000 cloths to Britain in 1821 and 422,500 in 1828. By how many cloths did the amount fall? Earlier figure: 534,000. Later figure: 422,500.; Fall = earlier − later: 534,000 − 422,500.; 534,000 − 422,500 = 111,500.. Answer: 111,500 cloths.
Core — reveal the hint only on request: Write both numbers in full first. A fall is the earlier figure minus the later one.
Stretch — no help; when finished: Now compare the other direction: cloth from Britain to India rose from 818,000 to 52 million. Explain, in two sentences, what the two changes together tell you about who gained from Company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Reading the cloth figures.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Use Source A. In 1814 India sent 1.2 million cloths to Britain. In 1835 it sent 306,000. By how many cloths did the amount India sent to Britain fall?
Support — work through the steps with the group: (1) Write 1.2 million in full: 1,200,000. (2) Find the 1835 figure for cloth from India to Britain: 306,000. (3) A fall means take the smaller, later figure away from the larger, earlier one: 1,200,000 − 306,000. (4) Subtract in parts: 1,200,000 − 300,000 = 900,000, then 900,000 − 6,000 = 894,000.
Parallel worked example for Support (model it, do not give the task answer): Use Source A. India sent 534,000 cloths to Britain in 1821 and 422,500 in 1828. By how many cloths did the amount fall? Earlier figure: 534,000. Later figure: 422,500.; Fall = earlier − later: 534,000 − 422,500.; 534,000 − 422,500 = 111,500.. Answer: 111,500 cloths.
Core — reveal the hint only on request: Write both numbers in full first. A fall is the earlier figure minus the later one.
Stretch — no help; when finished: Now compare the other direction: cloth from Britain to India rose from 818,000 to 52 million. Explain, in two sentences, what the two changes together tell you about who gained from Company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gained from this trade?.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Between 1814 and 1835 cloth from India to Britain fell from 1.2 million to 306,000, while cloth from Britain to India rose from 818,000 to 52 million. Who gained most from this trade?
Support — work through the steps with the group: (1) Ask: who is selling more at the end than at the start? (2) Ask: who keeps the profit from the sales? (3) Ask: who has lost work or money? (4) The side selling more and keeping the profit is the side that gained.
Parallel worked example for Support (model it, do not give the task answer): A village shop used to sell home-made bread. A big company opened a store that sold cheaper factory bread, and the village bakery closed. Who gained most from this trade? Who sells more at the end? The big company.; Who keeps the profit? The big company.; Who lost work? The village baker.. Answer: The big company.
Core — reveal the hint only on request: Follow the cloth and follow the money. Whoever is selling 52 million cloths is the one who gained.
Stretch — no help; when finished: Tharoor argues that India was the first country in the world to lose an industry in this way. Explain in two sentences why losing an industry is worse for a country than one bad year of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 gained from this trade?.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Between 1814 and 1835 cloth from India to Britain fell from 1.2 million to 306,000, while cloth from Britain to India rose from 818,000 to 52 million. Who gained most from this trade?
Support — work through the steps with the group: (1) Ask: who is selling more at the end than at the start? (2) Ask: who keeps the profit from the sales? (3) Ask: who has lost work or money? (4) The side selling more and keeping the profit is the side that gained.
Parallel worked example for Support (model it, do not give the task answer): A village shop used to sell home-made bread. A big company opened a store that sold cheaper factory bread, and the village bakery closed. Who gained most from this trade? Who sells more at the end? The big company.; Who keeps the profit? The big company.; Who lost work? The village baker.. Answer: The big company.
Core — reveal the hint only on request: Follow the cloth and follow the money. Whoever is selling 52 million cloths is the one who gained.
Stretch — no help; when finished: Tharoor argues that India was the first country in the world to lose an industry in this way. Explain in two sentences why losing an industry is worse for a country than one bad year of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did the Great Bengal Famine happen?
Answer: 1770. The Great Bengal Famine struck in 1770, when the Company had ruled Bengal for thirteen years and had collected its taxes since 1765.
Source of this question: gate item 1 re-asked (options rotated) — this chapter has no third quick-check module.
The ebook also holds task 3, "Economic or social change?",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Reading the cloth figures. Reveal the answer; pupils mark their own work in a different colour, then read the "why" together. Same destination for every lane, so one answer serves the whole class.
Answer: 894 000 cloths
Why: 1,200,000 − 306,000 = 894,000. The fall in Indian cloth going to Britain, set beside the rise in British cloth going to India, is the clearest evidence of de-industrialisation in your lesson.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Who gained from this trade?. Reveal the answer; pupils mark their own work in a different colour, then read the "why" together. Same destination for every lane, so one answer serves the whole class.
Answer: C   Britain
Why: In every version of the story the Company and British factories sold more and kept the profit, while Indian producers lost their market. That is why historians describe Company rule as economic exploitation.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1770
Why: The Great Bengal Famine struck in 1770, when the Company had ruled Bengal for thirteen years and had collected its taxes since 1765.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British Empire: India · AQA KS3 → 8145</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Company rule, 1757–1857: trade, famine and schools</a:t>
            </a:r>
            <a:endParaRPr lang="en-US" sz="3200" dirty="0"/>
          </a:p>
        </p:txBody>
      </p:sp>
      <p:sp>
        <p:nvSpPr>
          <p:cNvPr id="11" name="lessons-card"/>
          <p:cNvSpPr/>
          <p:nvPr/>
        </p:nvSpPr>
        <p:spPr>
          <a:xfrm>
            <a:off x="548640" y="3937508"/>
            <a:ext cx="5287975" cy="980440"/>
          </a:xfrm>
          <a:prstGeom prst="roundRect">
            <a:avLst>
              <a:gd name="adj" fmla="val 7461"/>
            </a:avLst>
          </a:prstGeom>
          <a:solidFill>
            <a:srgbClr val="F4F0EC"/>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Company Rule in India, 1757–1857</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much change did the British Empire bring to India?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Great Bengal Famine happen?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527288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does de-industrialisation mean?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country's farmers move into towns to find work</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country builds new factories and railways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country starts trading with new partners overseas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country loses its industries, so people go back to farming the land</a:t>
            </a:r>
            <a:endParaRPr lang="en-US" sz="2200" dirty="0"/>
          </a:p>
        </p:txBody>
      </p:sp>
      <p:sp>
        <p:nvSpPr>
          <p:cNvPr id="17"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Under Company rule, Indian cloth makers had to pay very high ___, so that their cloth became too expensive to buy.</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taxes  ·  wages  ·  rents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1770</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Great Bengal Famine struck in 1770, when the Company had ruled Bengal for thirteen years and had collected its taxes since 1765.</a:t>
            </a:r>
            <a:endParaRPr lang="en-US" sz="1800" dirty="0"/>
          </a:p>
        </p:txBody>
      </p:sp>
      <p:sp>
        <p:nvSpPr>
          <p:cNvPr id="14" name="card"/>
          <p:cNvSpPr/>
          <p:nvPr/>
        </p:nvSpPr>
        <p:spPr>
          <a:xfrm>
            <a:off x="3459404" y="1389888"/>
            <a:ext cx="5272888" cy="4754880"/>
          </a:xfrm>
          <a:prstGeom prst="roundRect">
            <a:avLst>
              <a:gd name="adj" fmla="val 1154"/>
            </a:avLst>
          </a:prstGeom>
          <a:solidFill>
            <a:srgbClr val="F8F5F3"/>
          </a:solidFill>
          <a:ln w="12700">
            <a:solidFill>
              <a:srgbClr val="D2C2B4"/>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EE3CD"/>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country loses its industries, so people go back to farming the land</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de-industrialisation mean?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De-industrialisation is the loss of industry. Tharoor argues that when India's cloth industry was destroyed, its workers had to go back to village farming to survive.</a:t>
            </a:r>
            <a:endParaRPr lang="en-US" sz="2200" dirty="0"/>
          </a:p>
        </p:txBody>
      </p:sp>
      <p:sp>
        <p:nvSpPr>
          <p:cNvPr id="21"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taxes</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Tharoor argues the Company made Indian producers pay taxes of up to about 80 per cent, pricing their cloth out of the market so that British cloth would sell instead.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profit</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money a business keeps after paying its costs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Company sold British cloth in India at a huge profit.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raw materials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natural materials, such as cotton, that are made into products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Raw materials were shipped from India to factories in Britain.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de-industrialisation</a:t>
            </a:r>
            <a:endParaRPr lang="en-US" sz="2600" dirty="0"/>
          </a:p>
        </p:txBody>
      </p:sp>
      <p:sp>
        <p:nvSpPr>
          <p:cNvPr id="23" name="word-rule"/>
          <p:cNvSpPr/>
          <p:nvPr/>
        </p:nvSpPr>
        <p:spPr>
          <a:xfrm>
            <a:off x="8310677" y="2558288"/>
            <a:ext cx="3149498" cy="0"/>
          </a:xfrm>
          <a:prstGeom prst="line">
            <a:avLst/>
          </a:prstGeom>
          <a:ln w="12700">
            <a:solidFill>
              <a:srgbClr val="CCB9A8"/>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country loses its industries and people go back to farming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loss of India's cloth industry is called de-industrialisation.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famine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there is not enough food, so many people starve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Great Bengal Famine of 1770 killed millions of people.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interpretation</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historian's view of what happened and why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Shashi Tharoor's interpretation is that the Company looted India.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social change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change to how people live, learn and are treated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New schools were a social change; new taxes were an economic 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After 1757 the Company ruled Bengal, one of India's richest regions.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Before, the Mughal emperors had made the Company follow rules and pay taxes.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Now no one could stop the Company.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took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raw materials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such as cotton from India to Britain.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British factories turned them into cloth.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Company then sold that cloth back to people in India.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Indian cloth makers were taxed so heavily that their cloth became too expensive.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lost their work and went back to farming.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1770 a terrible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famine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struck Bengal.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think between 7 and 10 million people died.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historians argue that the Company's taxes made it worse.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1830s the Company set up British-style schools for wealthy Indian children.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No one to stop them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Economic = money and wealth. When you see raw materials, factories, taxes, profit or trade, you are looking at economic change.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chapter 1 you saw that while the Mughals were strong, the Company had to follow their rules and pay its taxes.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Trade under the Company worked in two steps. First, the Company took raw materials from India, such as cotton, to Britain, where new factories turned them into finished products.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Think about who gained at each step. India supplied the raw materials and then bought the finished goods.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happened to India's cloth?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says ‘according to Source A’, quote the figures. When it says ‘according to Tharoor’, say ‘Tharoor argues that…’ so your reader knows it is an interpretation.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Source A gives the figures for the cloth trade between Britain and India.</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Source B is an interpretation by the historian and Indian politician Shashi Tharoor.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Tharoor calls the result de-industrialisation: India lost the industry it had, and many cloth workers were left with no work but farming in the villages as poor peasants.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What happened to India's cloth?</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Use Source A. By how many cloths did the amount Britain sent to India rise between 1814 and 1821?</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two figures for cloth from Britain to India: 818,000 in 1814 and 19.1 million in 1821.</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765552"/>
            <a:ext cx="530352" cy="459285"/>
          </a:xfrm>
          <a:prstGeom prst="hexagon">
            <a:avLst/>
          </a:prstGeom>
          <a:solidFill>
            <a:srgbClr val="7A4A1E"/>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19.1 million in full: 19,100,000.</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765552"/>
            <a:ext cx="530352" cy="459285"/>
          </a:xfrm>
          <a:prstGeom prst="hexagon">
            <a:avLst/>
          </a:prstGeom>
          <a:solidFill>
            <a:srgbClr val="7A4A1E"/>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figure from the later one: 19,100,000 − 818,000.</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765552"/>
            <a:ext cx="530352" cy="459285"/>
          </a:xfrm>
          <a:prstGeom prst="hexagon">
            <a:avLst/>
          </a:prstGeom>
          <a:solidFill>
            <a:srgbClr val="7A4A1E"/>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19,100,000 − 818,000 = 18,282,000. The rise was 18,282,000 cloths in seven years.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rise of 18,282,000 cloths.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Great Bengal Famine, 1770</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Separate the cause of the shortage (the weather) from the causes of the deaths (taxes, no food stocks). That is how you show the Company's responsibility without saying it caused the drought.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famine is when there is not enough food for the people, so many starve and die.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Famines are usually caused by the weather, for example when the rains fail and the harvest is poor.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evidence your lesson gives points to two Company decisions.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Schools, English and ‘British values’: economic or social change?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Social = people and society: schools, religion, culture, how people are treated. Economic = money: trade, taxes, industry, famine.</a:t>
            </a:r>
            <a:endParaRPr lang="en-US" sz="1800" dirty="0"/>
          </a:p>
        </p:txBody>
      </p:sp>
      <p:sp>
        <p:nvSpPr>
          <p:cNvPr id="11" name="bullet-card"/>
          <p:cNvSpPr/>
          <p:nvPr/>
        </p:nvSpPr>
        <p:spPr>
          <a:xfrm>
            <a:off x="548640" y="1389888"/>
            <a:ext cx="11094415" cy="903901"/>
          </a:xfrm>
          <a:prstGeom prst="roundRect">
            <a:avLst>
              <a:gd name="adj" fmla="val 8093"/>
            </a:avLst>
          </a:prstGeom>
          <a:solidFill>
            <a:srgbClr val="F6F3F0"/>
          </a:solidFill>
          <a:ln/>
        </p:spPr>
      </p:sp>
      <p:sp>
        <p:nvSpPr>
          <p:cNvPr id="12" name="bullet-hex"/>
          <p:cNvSpPr/>
          <p:nvPr/>
        </p:nvSpPr>
        <p:spPr>
          <a:xfrm>
            <a:off x="676656" y="1675546"/>
            <a:ext cx="384048" cy="332586"/>
          </a:xfrm>
          <a:prstGeom prst="hexagon">
            <a:avLst/>
          </a:prstGeom>
          <a:solidFill>
            <a:srgbClr val="7A4A1E"/>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1830s the British government gave the Company money to educate the people it had ruled since 1757.</a:t>
            </a:r>
            <a:endParaRPr lang="en-US" sz="2200" dirty="0"/>
          </a:p>
        </p:txBody>
      </p:sp>
      <p:sp>
        <p:nvSpPr>
          <p:cNvPr id="14" name="bullet-card"/>
          <p:cNvSpPr/>
          <p:nvPr/>
        </p:nvSpPr>
        <p:spPr>
          <a:xfrm>
            <a:off x="548640" y="2440093"/>
            <a:ext cx="11094415" cy="903901"/>
          </a:xfrm>
          <a:prstGeom prst="roundRect">
            <a:avLst>
              <a:gd name="adj" fmla="val 8093"/>
            </a:avLst>
          </a:prstGeom>
          <a:solidFill>
            <a:srgbClr val="F6F3F0"/>
          </a:solidFill>
          <a:ln/>
        </p:spPr>
      </p:sp>
      <p:sp>
        <p:nvSpPr>
          <p:cNvPr id="15" name="bullet-hex"/>
          <p:cNvSpPr/>
          <p:nvPr/>
        </p:nvSpPr>
        <p:spPr>
          <a:xfrm>
            <a:off x="676656" y="2725751"/>
            <a:ext cx="384048" cy="332586"/>
          </a:xfrm>
          <a:prstGeom prst="hexagon">
            <a:avLst/>
          </a:prstGeom>
          <a:solidFill>
            <a:srgbClr val="B8862B"/>
          </a:solidFill>
          <a:ln/>
        </p:spPr>
      </p:sp>
      <p:sp>
        <p:nvSpPr>
          <p:cNvPr id="16" name="bullet"/>
          <p:cNvSpPr txBox="1"/>
          <p:nvPr/>
        </p:nvSpPr>
        <p:spPr>
          <a:xfrm>
            <a:off x="1143000" y="2440093"/>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asked you to weigh this up. A benefit for some Indians was access to schooling and to jobs in the Company's offices.</a:t>
            </a:r>
            <a:endParaRPr lang="en-US" sz="2200" dirty="0"/>
          </a:p>
        </p:txBody>
      </p:sp>
      <p:sp>
        <p:nvSpPr>
          <p:cNvPr id="17" name="bullet-card"/>
          <p:cNvSpPr/>
          <p:nvPr/>
        </p:nvSpPr>
        <p:spPr>
          <a:xfrm>
            <a:off x="548640" y="3490299"/>
            <a:ext cx="11094415" cy="1585637"/>
          </a:xfrm>
          <a:prstGeom prst="roundRect">
            <a:avLst>
              <a:gd name="adj" fmla="val 4613"/>
            </a:avLst>
          </a:prstGeom>
          <a:solidFill>
            <a:srgbClr val="F6F3F0"/>
          </a:solidFill>
          <a:ln/>
        </p:spPr>
      </p:sp>
      <p:sp>
        <p:nvSpPr>
          <p:cNvPr id="18" name="bullet-hex"/>
          <p:cNvSpPr/>
          <p:nvPr/>
        </p:nvSpPr>
        <p:spPr>
          <a:xfrm>
            <a:off x="676656" y="4116825"/>
            <a:ext cx="384048" cy="332586"/>
          </a:xfrm>
          <a:prstGeom prst="hexagon">
            <a:avLst/>
          </a:prstGeom>
          <a:solidFill>
            <a:srgbClr val="7A4A1E"/>
          </a:solidFill>
          <a:ln/>
        </p:spPr>
      </p:sp>
      <p:sp>
        <p:nvSpPr>
          <p:cNvPr id="19" name="bullet"/>
          <p:cNvSpPr txBox="1"/>
          <p:nvPr/>
        </p:nvSpPr>
        <p:spPr>
          <a:xfrm>
            <a:off x="1143000" y="3490299"/>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decide whether the Company brought more economic or more social change, your lesson gives four tests of how significant a change was: its impact on ordinary people, their health and wealth; its impact on the whole country; its longer-term impact; and its impact on the wider world.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Reading the cloth figures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Use Source A. In 1814 India sent 1.2 million cloths to Britain. In 1835 it sent 306,000. By how many cloths did the amount India sent to Britain fall?</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cloths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Reading the cloth figures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Use Source A. In 1814 India sent 1.2 million cloths to Britain. In 1835 it sent 306,000. By how many cloths did the amount India sent to Britain fall?</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1.2 million in full: 1,200,000.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1835 figure for cloth from India to Britain: 306,000.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fall means take the smaller, later figure away from the larger, earlier one: 1,200,000 − 306,000.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in parts: 1,200,000 − 300,000 = 900,000, then 900,000 − 6,000 = 894,000.</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Write both numbers in full first. A fall is the earlier figure minus the later one.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Now compare the other direction: cloth from Britain to India rose from 818,000 to 52 million. Explain, in two sentences, what the two changes together tell you about who gained from Company rule.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 gained from this trade?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Between 1814 and 1835 cloth from India to Britain fell from 1.2 million to 306,000, while cloth from Britain to India rose from 818,000 to 52 million. Who gained most from this trade?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India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Neither: trade fell on both sides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Britain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gained equally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Who gained from this trade?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Between 1814 and 1835 cloth from India to Britain fell from 1.2 million to 306,000, while cloth from Britain to India rose from 818,000 to 52 million. Who gained most from this trade?</a:t>
            </a:r>
            <a:endParaRPr lang="en-US" sz="2000" dirty="0"/>
          </a:p>
        </p:txBody>
      </p:sp>
      <p:sp>
        <p:nvSpPr>
          <p:cNvPr id="12" name="col-Support"/>
          <p:cNvSpPr/>
          <p:nvPr/>
        </p:nvSpPr>
        <p:spPr>
          <a:xfrm>
            <a:off x="548640" y="2903728"/>
            <a:ext cx="4667802" cy="3241040"/>
          </a:xfrm>
          <a:prstGeom prst="roundRect">
            <a:avLst>
              <a:gd name="adj" fmla="val 1693"/>
            </a:avLst>
          </a:prstGeom>
          <a:solidFill>
            <a:srgbClr val="F4F0EC"/>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is selling more at the end than at the start?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keeps the profit from the sales?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has lost work or money?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side selling more and keeping the profit is the side that gained.</a:t>
            </a:r>
            <a:endParaRPr lang="en-US" sz="1800" dirty="0"/>
          </a:p>
        </p:txBody>
      </p:sp>
      <p:sp>
        <p:nvSpPr>
          <p:cNvPr id="17" name="col-Core"/>
          <p:cNvSpPr/>
          <p:nvPr/>
        </p:nvSpPr>
        <p:spPr>
          <a:xfrm>
            <a:off x="5490762" y="2903728"/>
            <a:ext cx="2938987" cy="3241040"/>
          </a:xfrm>
          <a:prstGeom prst="roundRect">
            <a:avLst>
              <a:gd name="adj" fmla="val 1867"/>
            </a:avLst>
          </a:prstGeom>
          <a:solidFill>
            <a:srgbClr val="E4DAD1"/>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Follow the cloth and follow the money. Whoever is selling 52 million cloths is the one who gained.</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7A4A1E"/>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Tharoor argues that India was the first country in the world to lose an industry in this way. Explain in two sentences why losing an industry is worse for a country than one bad year of trade.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did the Great Bengal Famine happen?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Reading the cloth figures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Use Source A. In 1814 India sent 1.2 million cloths to Britain. In 1835 it sent 306,000. By how many cloths did the amount India sent to Britain fall?</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894 000 cloths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1,200,000 − 306,000 = 894,000. The fall in Indian cloth going to Britain, set beside the rise in British cloth going to India, is the clearest evidence of de-industrialisation in your lesson.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 gained from this trade?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Between 1814 and 1835 cloth from India to Britain fell from 1.2 million to 306,000, while cloth from Britain to India rose from 818,000 to 52 million. Who gained most from this trade?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Britain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every version of the story the Company and British factories sold more and kept the profit, while Indian producers lost their market. That is why historians describe Company rule as economic exploitation.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did the Great Bengal Famine happen?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1770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Great Bengal Famine struck in 1770, when the Company had ruled Bengal for thirteen years and had collected its taxes since 1765.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British Empire: India · Chapter 2: Company rule, 1757–1857: trade, famine and schools</dc:title>
  <dc:subject>History · Year 8</dc:subject>
  <dc:creator>Dr Vitor Merissi de Carvalho</dc:creator>
  <cp:lastModifiedBy>Dr Vitor Merissi de Carvalho</cp:lastModifiedBy>
  <cp:revision>1</cp:revision>
  <dcterms:created xsi:type="dcterms:W3CDTF">2026-10-19T16:23:02Z</dcterms:created>
  <dcterms:modified xsi:type="dcterms:W3CDTF">2026-10-19T16:23:02Z</dcterms:modified>
</cp:coreProperties>
</file>