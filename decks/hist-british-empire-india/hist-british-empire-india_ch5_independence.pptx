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a5c31be-132a-c911-d0fb-e6ed11a28975}">
          <p14:sldIdLst>
            <p14:sldId id="256"/>
          </p14:sldIdLst>
        </p14:section>
        <p14:section name="Gate" id="{e1a5c228-c040-8a3e-3769-e062d2b9ef0b}">
          <p14:sldIdLst>
            <p14:sldId id="257"/>
            <p14:sldId id="258"/>
          </p14:sldIdLst>
        </p14:section>
        <p14:section name="Pre-teach" id="{5cc71621-63d2-f957-b458-a86827d05651}">
          <p14:sldIdLst>
            <p14:sldId id="259"/>
            <p14:sldId id="260"/>
          </p14:sldIdLst>
        </p14:section>
        <p14:section name="Read-along" id="{7a524c1e-5a5b-74a7-a321-05e2b0286ebf}">
          <p14:sldIdLst>
            <p14:sldId id="261"/>
            <p14:sldId id="262"/>
          </p14:sldIdLst>
        </p14:section>
        <p14:section name="Teach" id="{55ef1722-88c1-78ee-de98-59da0c9f061e}">
          <p14:sldIdLst>
            <p14:sldId id="263"/>
            <p14:sldId id="264"/>
            <p14:sldId id="265"/>
            <p14:sldId id="266"/>
            <p14:sldId id="267"/>
          </p14:sldIdLst>
        </p14:section>
        <p14:section name="Routes" id="{f87dfd06-e500-37ad-cf52-a4e406c66fc5}">
          <p14:sldIdLst>
            <p14:sldId id="268"/>
            <p14:sldId id="269"/>
            <p14:sldId id="270"/>
            <p14:sldId id="271"/>
          </p14:sldIdLst>
        </p14:section>
        <p14:section name="Close" id="{4140b19b-fe23-6b41-982c-d8663702a35a}">
          <p14:sldIdLst>
            <p14:sldId id="272"/>
          </p14:sldIdLst>
        </p14:section>
        <p14:section name="Answers" id="{de6c1834-f6dc-0514-edb7-263b5ef77d38}">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The road to independence and partition, 1919–1947. Why Britain clung to India, the Amritsar Massacre, Gandhi and the Salt March, the Muslim League, the Second World War and Quit India, and the independence and partition of 1947.
This deck covers the department's lesson: 5 (The Road to Independence and Partition, 1919–1947: Why did British rule come to an end in 1947?).
Read the big question aloud: "How much change did the British Empire bring to India?"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did Gandhi lead the Salt March?  →  1930
2. What did the Muslim League, led by Mohammed Ali Jinnah, call for?  →  B   A separate country of their own for India's Muslims
3. Gandhi called his method of non-violent protest ___, which roughly means truth force.  →  satyagraha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1930. The Salt March took place in 1930. Gandhi and 78 leaders marched to the coast to make salt, and around 60,000 people were arrested across India.
2. B   A separate country of their own for India's Muslims. The Muslim League wanted a country of its own for India's Muslims. In 1947 that country, Pakistan, was created when India was partitioned.
3. satyagraha. Satyagraha, roughly truth force, was Gandhi's name for non-violent protest, often called passive resistance today.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massacre: the killing of many defenceless people. Example: "The Amritsar Massacre of 1919 turned many Indians against British rule."
• satyagraha: Gandhi's name for non-violent protest, roughly truth force. Example: "Gandhi believed satyagraha could win independence without violence."
• Salt March: Gandhi's 1930 protest march to the sea to make salt against British law. Example: "Thousands joined the Salt March."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Muslim League: the group that wanted a country of its own for India's Muslims. Example: "The Muslim League was led by Mohammed Ali Jinnah."
• Quit India: Gandhi's 1942 demand that the British leave India at once. Example: "The British answered Quit India with mass arrests."
• partition: splitting a country into separate parts. Example: "In 1947 the partition of India created two countries."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Indian soldiers fought for Britain in the First World War.
2. Britain promised reforms in return, but little changed.
3. In 1919, at Amritsar, British soldiers fired on a trapped crowd.
4. Many people were killed.
5. The massacre turned many Indians against British rule for good.
6. In the 1920s Mohandas Gandhi led the independence movement.
7. He believed in protest without violence.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In 1930 he marched to the sea to make salt, breaking British law.
9. Around 60,000 people were arrested.
10. During the Second World War, Gandhi told the British to quit India.
11. By 1946 Britain was too weak and too poor to hold on.
12. In 1947 India became independent, but it was partitioned.
13. Terrible violence between religious groups followed.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Britain held on, and Amritsar, 1919. Say it in your own words, then check understanding with a quick question: ask a pupil from the pre-teach group first, since they met these words and ideas before the lesson. Pupils try to recall before you re-explain.
Your lesson opens with the words of Lord Curzon, Viceroy from 1899 to 1905, who said that as long as Britain ruled India it was the greatest power in the world, and that losing India would drop it to a third-rate power. His words answer the question of why Britain clung to India: India made Britain great. Your lesson asks who needed whom more. Under the Raj, the British also used the Hindu caste system as a divide and rule tool, keeping Indians divided so they could not unite against British rule.
The Amritsar Massacre took place in 1919, a year after the end of the First World War. The British had promised Indians reforms in return for their brave efforts in the war, but not much changed. Instead many Indians suffered under harsh laws, such as the Rowlatt Act, which limited their rights and freedoms and was enforced especially hard in the Punjab. In Amritsar, in 1919, between 10,000 and 20,000 people gathered in a walled garden with only one small exit. Most had come to celebrate a religious holiday; some had come to protest against British rule.
Gatherings had been banned to stop anti-British protests. British soldiers under Colonel Dyer entered the garden, blocked the exit, and were ordered to break up the crowd. They began firing. The people were trapped. Many were killed and many more were wounded. Your lesson asks how the British reacted to Dyer afterwards, and why the massacre was a turning point for Indian politicians: after Amritsar, many who had hoped for reform within the Empire decided that only independence would do.
Quotation: "As long as we rule India, we are the greatest power in the world. If we lose it, we shall drop straightaway to a third-rate power" (Lord Curzon, Viceroy of India 1899–1905, as printed in your lesson). Read it aloud; ask what it shows.
Tip: A turning point changes what people believe is possible. Before Amritsar, reform; after Amritsar, independence.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Gandhi and the Salt March. Say it in your own words, then check understanding with a quick question: ask a pupil from the pre-teach group first, since they met these words and ideas before the lesson. Pupils try to recall before you re-explain.
In the 1920s the independence movement gained support under Mohandas Gandhi, a Hindu and a former lawyer. He believed independence could be won through non-violent protest, which today is often called passive resistance. Gandhi called it satyagraha, which roughly means truth force. Leaders who came later, among them Martin Luther King and Nelson Mandela, took up his ideas.
The most famous protest was the Salt March of 1930. Indians were forbidden to make their own salt: they had to buy it, and the British government taxed it heavily. Gandhi and 78 leaders of the independence movement led thousands of protesters on a march to the sea, and there they made their own salt out of the seawater. Across India, thousands copied them, and around 60,000 people were arrested, including Gandhi himself.
The march worked in a way the British had not expected. After Gandhi was released from prison, the British accepted that they could no longer brush the demand for independence aside, and they invited him to London to speak there for the Indian National Congress. A protest about salt had put independence on the table.
Tip: Link the Salt March back to Swadeshi: boycotting British salt from Cheshire in 1905 became making Indian salt from seawater in 1930. The method grew.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Towards independence: the 1935 Act, the Muslim League and the war. Say it in your own words, then check understanding with a quick question: ask a pupil from the pre-teach group first, since they met these words and ideas before the lesson. Pupils try to recall before you re-explain.
In 1935 the Government of India Act gave India some self-government. Some elections were brought in, and a small number of women were allowed to vote. But India was still part of the British Empire and still ruled by a Viceroy chosen by the British. Gandhi and the INC continued to demand complete independence. Many Muslims had formed their own group, the Muslim League, whose leader Mohammed Ali Jinnah wanted a separate country of their own for India's Muslims.
In 1939 Britain declared war on Germany, and declared war on India's behalf too, without consulting Indian leaders. Even so, as in the First World War, Indians joined up in huge numbers: 2.5 million Indians fought, the largest volunteer army ever raised. The Muslim League supported the war. Many in the INC would support it only in exchange for full independence, and some refused to fight at all because of their non-violent beliefs. By 1942 Japanese forces were close to India's border and discontent was widespread. The British sent Sir Stafford Cripps to offer more self-government after the war in return for full cooperation now, but the INC wanted full independence, and no agreement was reached.
In August 1942 Gandhi called on the British to Quit India immediately, and on all Indians to resist British rule peacefully. The British arrested Gandhi and almost all the INC's leaders at once and banned public meetings. The arrests set off mass demonstrations, strikes and disruption, and over 100,000 people were imprisoned. Quit India did not bring independence straight away, but it showed the British how many Indians stood against them.
Worked example — model it step by step, thinking aloud: Explain how the Second World War led to Indian independence. (1) Point: The war led to independence because it left Britain unable to hold India and showed how strongly Indians opposed British rule. (2) Evidence: 2.5 million Indians fought for Britain, yet in 1942 the Quit India movement led to over 100,000 arrests; by the end of the war Britain was exhausted and short of money. (3) Explain: Britain no longer had the military strength or the wealth to hold on, and most British people wanted to rebuild Britain, not fight to keep distant colonies. (4) Link: So by 1946 the British government had agreed that India would become independent. Answer: The war weakened Britain (strength, wealth, priorities at home) and strengthened the independence movement (Quit India), so Britain agreed by 1946 to leave..
Tip: Two sides to every war answer: what the war did to Britain, and what it did to the independence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Towards independence: the 1935 Act, the Muslim League and the war. Say it in your own words, then check understanding with a quick question: ask a pupil from the pre-teach group first, since they met these words and ideas before the lesson. Pupils try to recall before you re-explain.
In 1935 the Government of India Act gave India some self-government. Some elections were brought in, and a small number of women were allowed to vote. But India was still part of the British Empire and still ruled by a Viceroy chosen by the British. Gandhi and the INC continued to demand complete independence. Many Muslims had formed their own group, the Muslim League, whose leader Mohammed Ali Jinnah wanted a separate country of their own for India's Muslims.
In 1939 Britain declared war on Germany, and declared war on India's behalf too, without consulting Indian leaders. Even so, as in the First World War, Indians joined up in huge numbers: 2.5 million Indians fought, the largest volunteer army ever raised. The Muslim League supported the war. Many in the INC would support it only in exchange for full independence, and some refused to fight at all because of their non-violent beliefs. By 1942 Japanese forces were close to India's border and discontent was widespread. The British sent Sir Stafford Cripps to offer more self-government after the war in return for full cooperation now, but the INC wanted full independence, and no agreement was reached.
In August 1942 Gandhi called on the British to Quit India immediately, and on all Indians to resist British rule peacefully. The British arrested Gandhi and almost all the INC's leaders at once and banned public meetings. The arrests set off mass demonstrations, strikes and disruption, and over 100,000 people were imprisoned. Quit India did not bring independence straight away, but it showed the British how many Indians stood against them.
Worked example — model it step by step, thinking aloud: Explain how the Second World War led to Indian independence. (1) Point: The war led to independence because it left Britain unable to hold India and showed how strongly Indians opposed British rule. (2) Evidence: 2.5 million Indians fought for Britain, yet in 1942 the Quit India movement led to over 100,000 arrests; by the end of the war Britain was exhausted and short of money. (3) Explain: Britain no longer had the military strength or the wealth to hold on, and most British people wanted to rebuild Britain, not fight to keep distant colonies. (4) Link: So by 1946 the British government had agreed that India would become independent. Answer: The war weakened Britain (strength, wealth, priorities at home) and strengthened the independence movement (Quit India), so Britain agreed by 1946 to leave..
Tip: Two sides to every war answer: what the war did to Britain, and what it did to the independence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Independence and partition, 1947. Say it in your own words, then check understanding with a quick question: ask a pupil from the pre-teach group first, since they met these words and ideas before the lesson. Pupils try to recall before you re-explain.
By the end of the war, India and many other British colonies were demanding the right to rule themselves. Britain no longer had the soldiers or the money to hold on to them, and many British people felt that rebuilding Britain at home mattered far more than keeping colonies far away. By 1946 the British government had agreed that India would become independent.
In 1947 India became independent. But the country was partitioned, split into two: India, with a Hindu majority, and a new country for Muslims, Pakistan, as the Muslim League had demanded. Your lesson's video asks how the British had categorised Indians by religion and why that was a problem. Partition meant that enormous numbers of people had to leave their homes to cross the new border, and terrible violence broke out between religious groups.
Your plenary lists the impacts of the end of the Raj: independence was granted; India was partitioned; there was violence between religious groups; and a long-term conflict began over Kashmir, a region both new countries claimed. Divide and rule had helped Britain hold India for almost two centuries. Its legacy was a divided subcontinent.
Tip: When you write about 1947, give both sides: independence was a victory for the movement, and partition was a disaster for millions of ordinary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road to 1947: the order of events.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on the road to independence in the order they happened.
Support — work through the steps with the group: (1) Start with the event a year after the First World War ended: Amritsar. (2) Gandhi's great protest comes next, and it forces the British to offer something: the 1935 Act. (3) The Second World War begins after that, and Quit India happens during the war. (4) Independence comes last, two years after the war ended.
Parallel worked example for Support (model it, do not give the task answer): Put these in order: Domesday Book (1086); Battle of Hastings (1066); Harrying of the North (1069). Hastings, 1066, first.; The Harrying, 1069.; Domesday, 1086, last.. Answer: Battle of Hastings (1066); Harrying of the North (1069); Domesday Book (1086).
Core — reveal the hint only on request: Massacre, march, Act, war, Quit India, independence. The two wars are your anchors: 1918 just before Amritsar, 1939 for the declaration.
Stretch — no help; when finished: Explain how each event in this list helped to cause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road to 1947: the order of events.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on the road to independence in the order they happened.
Support — work through the steps with the group: (1) Start with the event a year after the First World War ended: Amritsar. (2) Gandhi's great protest comes next, and it forces the British to offer something: the 1935 Act. (3) The Second World War begins after that, and Quit India happens during the war. (4) Independence comes last, two years after the war ended.
Parallel worked example for Support (model it, do not give the task answer): Put these in order: Domesday Book (1086); Battle of Hastings (1066); Harrying of the North (1069). Hastings, 1066, first.; The Harrying, 1069.; Domesday, 1086, last.. Answer: Battle of Hastings (1066); Harrying of the North (1069); Domesday Book (1086).
Core — reveal the hint only on request: Massacre, march, Act, war, Quit India, independence. The two wars are your anchors: 1918 just before Amritsar, 1939 for the declaration.
Stretch — no help; when finished: Explain how each event in this list helped to cause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did Britain agree to leave?.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Why had the British government agreed, by 1946, that India would become independent?
Support — work through the steps with the group: (1) Ask: what had just happened to Britain by 1946? Six years of war. (2) What does a long war cost? Soldiers, ships and money. (3) What did British people want after the war? To rebuild their own country. (4) Which option puts those three things together?
Parallel worked example for Support (model it, do not give the task answer): Why did the East India Company lose control of India in 1858: because it had grown too rich, or because the rising of 1857 had destroyed its reputation and it needed the British Army to survive? Being rich was not the problem; the Company had always been rich.; The rising showed the Company could not hold India alone and had lost trust in Britain.; So the rising, not the wealth, is the reason.. Answer: Because the rising destroyed its reputation and showed it could not hold India alone..
Core — reveal the hint only on request: Think about Britain in 1946, not India. What could Britain no longer afford?
Stretch — no help; when finished: Explain how Quit India in 1942 and Britain's weakness in 1946 worked together: could either alone have brought independence by 1947?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did Britain agree to leave?.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Why had the British government agreed, by 1946, that India would become independent?
Support — work through the steps with the group: (1) Ask: what had just happened to Britain by 1946? Six years of war. (2) What does a long war cost? Soldiers, ships and money. (3) What did British people want after the war? To rebuild their own country. (4) Which option puts those three things together?
Parallel worked example for Support (model it, do not give the task answer): Why did the East India Company lose control of India in 1858: because it had grown too rich, or because the rising of 1857 had destroyed its reputation and it needed the British Army to survive? Being rich was not the problem; the Company had always been rich.; The rising showed the Company could not hold India alone and had lost trust in Britain.; So the rising, not the wealth, is the reason.. Answer: Because the rising destroyed its reputation and showed it could not hold India alone..
Core — reveal the hint only on request: Think about Britain in 1946, not India. What could Britain no longer afford?
Stretch — no help; when finished: Explain how Quit India in 1942 and Britain's weakness in 1946 worked together: could either alone have brought independence by 1947?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year did Gandhi lead the Salt March?
Answer: 1930. The Salt March took place in 1930. Gandhi and 78 leaders marched to the coast to make salt, and around 60,000 people were arrested across India.
Source of this question: gate item 1 re-asked (options rotated) — this chapter has no third quick-check module.
The ebook also holds task 3, "One impact of the end of the Raj",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road to 1947: the order of events. Reveal the answer; pupils mark their own work in a different colour, then read the "why" together. Same destination for every lane, so one answer serves the whole class.
Answer: The Amritsar Massacre (1919)  (F); Gandhi leads the Salt March (1930)  (B); The Government of India Act gives India some self-government (1935)  (C); Britain declares war on Germany on India's behalf (1939)  (E); Gandhi calls on the British to Quit India (1942)  (A); India becomes independent and is partitioned (1947)  (D)
Why: 1919 Amritsar; 1930 Salt March; 1935 Act; 1939 war; 1942 Quit India; 1947 independence. Each protest pushed the British a step further than they wanted to go.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did Britain agree to leave?. Reveal the answer; pupils mark their own work in a different colour, then read the "why" together. Same destination for every lane, so one answer serves the whole class.
Answer: C   After the war Britain no longer had the military strength or wealth to hold India, and rebuilding at home came first
Why: The war drained Britain's military strength and wealth, and British people wanted to rebuild at home. Combined with the strength of feeling shown by Quit India, this made holding India impossible.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1930
Why: The Salt March took place in 1930. Gandhi and 78 leaders marched to the coast to make salt, and around 60,000 people were arrested across India.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British Empire: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British Empire: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British Empire: India · AQA KS3 → 8145</a:t>
            </a:r>
            <a:endParaRPr lang="en-US" sz="1800" dirty="0"/>
          </a:p>
        </p:txBody>
      </p:sp>
      <p:sp>
        <p:nvSpPr>
          <p:cNvPr id="10" name="deck-title"/>
          <p:cNvSpPr txBox="1"/>
          <p:nvPr/>
        </p:nvSpPr>
        <p:spPr>
          <a:xfrm>
            <a:off x="548640" y="237032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The road to independence and partition, 1919–1947</a:t>
            </a:r>
            <a:endParaRPr lang="en-US" sz="3200" dirty="0"/>
          </a:p>
        </p:txBody>
      </p:sp>
      <p:sp>
        <p:nvSpPr>
          <p:cNvPr id="11" name="lessons-card"/>
          <p:cNvSpPr/>
          <p:nvPr/>
        </p:nvSpPr>
        <p:spPr>
          <a:xfrm>
            <a:off x="548640" y="3782568"/>
            <a:ext cx="5287975" cy="1290320"/>
          </a:xfrm>
          <a:prstGeom prst="roundRect">
            <a:avLst>
              <a:gd name="adj" fmla="val 5669"/>
            </a:avLst>
          </a:prstGeom>
          <a:solidFill>
            <a:srgbClr val="F4F0EC"/>
          </a:solidFill>
          <a:ln/>
        </p:spPr>
      </p:sp>
      <p:sp>
        <p:nvSpPr>
          <p:cNvPr id="12" name="lessons"/>
          <p:cNvSpPr txBox="1"/>
          <p:nvPr/>
        </p:nvSpPr>
        <p:spPr>
          <a:xfrm>
            <a:off x="685800" y="387400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Road to Independence and Partition, 1919–1947</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much change did the British Empire bring to India?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Gandhi lead the Salt March?</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3459404" y="1389888"/>
            <a:ext cx="527288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did the Muslim League, led by Mohammed Ali Jinnah, call for?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return of East India Company rule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separate country of their own for India's Muslims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Bengal to be partitioned again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India to stay in the British Empire for ever</a:t>
            </a:r>
            <a:endParaRPr lang="en-US" sz="2200" dirty="0"/>
          </a:p>
        </p:txBody>
      </p:sp>
      <p:sp>
        <p:nvSpPr>
          <p:cNvPr id="17" name="card"/>
          <p:cNvSpPr/>
          <p:nvPr/>
        </p:nvSpPr>
        <p:spPr>
          <a:xfrm>
            <a:off x="9006611" y="1389888"/>
            <a:ext cx="2636444" cy="4754880"/>
          </a:xfrm>
          <a:prstGeom prst="roundRect">
            <a:avLst>
              <a:gd name="adj" fmla="val 2081"/>
            </a:avLst>
          </a:prstGeom>
          <a:solidFill>
            <a:srgbClr val="F8F5F3"/>
          </a:solidFill>
          <a:ln w="12700">
            <a:solidFill>
              <a:srgbClr val="D2C2B4"/>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Gandhi called his method of non-violent protest ___, which roughly means truth force.</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satyagraha  ·  Swadeshi  ·  partition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1930</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Salt March took place in 1930. Gandhi and 78 leaders marched to the coast to make salt, and around 60,000 people were arrested across India.</a:t>
            </a:r>
            <a:endParaRPr lang="en-US" sz="1800" dirty="0"/>
          </a:p>
        </p:txBody>
      </p:sp>
      <p:sp>
        <p:nvSpPr>
          <p:cNvPr id="14" name="card"/>
          <p:cNvSpPr/>
          <p:nvPr/>
        </p:nvSpPr>
        <p:spPr>
          <a:xfrm>
            <a:off x="3459404" y="1389888"/>
            <a:ext cx="5272888" cy="4754880"/>
          </a:xfrm>
          <a:prstGeom prst="roundRect">
            <a:avLst>
              <a:gd name="adj" fmla="val 1154"/>
            </a:avLst>
          </a:prstGeom>
          <a:solidFill>
            <a:srgbClr val="F8F5F3"/>
          </a:solidFill>
          <a:ln w="12700">
            <a:solidFill>
              <a:srgbClr val="D2C2B4"/>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955040"/>
          </a:xfrm>
          <a:prstGeom prst="roundRect">
            <a:avLst>
              <a:gd name="adj" fmla="val 11489"/>
            </a:avLst>
          </a:prstGeom>
          <a:solidFill>
            <a:srgbClr val="EEE3CD"/>
          </a:solidFill>
          <a:ln w="19050">
            <a:solidFill>
              <a:srgbClr val="B8862B"/>
            </a:solidFill>
            <a:prstDash val="solid"/>
          </a:ln>
        </p:spPr>
      </p:sp>
      <p:sp>
        <p:nvSpPr>
          <p:cNvPr id="19" name="answer"/>
          <p:cNvSpPr txBox="1"/>
          <p:nvPr/>
        </p:nvSpPr>
        <p:spPr>
          <a:xfrm>
            <a:off x="3733724"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 separate country of their own for India's Muslims</a:t>
            </a:r>
            <a:endParaRPr lang="en-US" sz="2200" dirty="0"/>
          </a:p>
        </p:txBody>
      </p:sp>
      <p:sp>
        <p:nvSpPr>
          <p:cNvPr id="20" name="card-body"/>
          <p:cNvSpPr txBox="1"/>
          <p:nvPr/>
        </p:nvSpPr>
        <p:spPr>
          <a:xfrm>
            <a:off x="3642284"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did the Muslim League, led by Mohammed Ali Jinnah, call for?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Muslim League wanted a country of its own for India's Muslims. In 1947 that country, Pakistan, was created when India was partitioned.</a:t>
            </a:r>
            <a:endParaRPr lang="en-US" sz="2200" dirty="0"/>
          </a:p>
        </p:txBody>
      </p:sp>
      <p:sp>
        <p:nvSpPr>
          <p:cNvPr id="21" name="card"/>
          <p:cNvSpPr/>
          <p:nvPr/>
        </p:nvSpPr>
        <p:spPr>
          <a:xfrm>
            <a:off x="9006611" y="1389888"/>
            <a:ext cx="2636444" cy="4754880"/>
          </a:xfrm>
          <a:prstGeom prst="roundRect">
            <a:avLst>
              <a:gd name="adj" fmla="val 2081"/>
            </a:avLst>
          </a:prstGeom>
          <a:solidFill>
            <a:srgbClr val="F8F5F3"/>
          </a:solidFill>
          <a:ln w="12700">
            <a:solidFill>
              <a:srgbClr val="D2C2B4"/>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satyagraha</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Satyagraha, roughly truth force, was Gandhi's name for non-violent protest, often called passive resistance today.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massacre</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killing of many defenceless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Amritsar Massacre of 1919 turned many Indians against British rule.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satyagraha</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Gandhi's name for non-violent protest, roughly truth force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Gandhi believed satyagraha could win independence without violence.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Salt March</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Gandhi's 1930 protest march to the sea to make salt against British law</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Thousands joined the Salt March.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Muslim League</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group that wanted a country of its own for India's Muslims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Muslim League was led by Mohammed Ali Jinnah.</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Quit India</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Gandhi's 1942 demand that the British leave India at once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British answered Quit India with mass arrests.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partition</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splitting a country into separate parts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1947 the partition of India created two countries.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Indian soldiers fought for Britain in the First World War.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Britain promised reforms in return, but little changed.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1919, at Amritsar, British soldiers fired on a trapped crowd.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people were killed.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massacre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turned many Indians against British rule for good.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1920s Mohandas Gandhi led the independence movement.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believed in protest without violence.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1930 he marched to the sea to make salt, breaking British law.</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Around 60,000 people were arrested.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During the Second World War, Gandhi told the British to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quit India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By 1946 Britain was too weak and too poor to hold 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1947 India became independent, but it was partitioned.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Terrible violence between religious groups followed.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Britain held on, and Amritsar, 1919</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5EFE2"/>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turning point changes what people believe is possible. Before Amritsar, reform; after Amritsar, independence.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4F0EC"/>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As long as we rule India, we are the greatest power in the world. If we lose it, we shall drop straightaway to a third-rate power</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Lord Curzon, Viceroy of India 1899–1905, as printed in your lesson</a:t>
            </a:r>
            <a:endParaRPr lang="en-US" sz="2600" dirty="0"/>
          </a:p>
        </p:txBody>
      </p:sp>
      <p:sp>
        <p:nvSpPr>
          <p:cNvPr id="14" name="bullet-card"/>
          <p:cNvSpPr/>
          <p:nvPr/>
        </p:nvSpPr>
        <p:spPr>
          <a:xfrm>
            <a:off x="548640" y="1389888"/>
            <a:ext cx="5074920" cy="2095246"/>
          </a:xfrm>
          <a:prstGeom prst="roundRect">
            <a:avLst>
              <a:gd name="adj" fmla="val 3491"/>
            </a:avLst>
          </a:prstGeom>
          <a:solidFill>
            <a:srgbClr val="F6F3F0"/>
          </a:solidFill>
          <a:ln/>
        </p:spPr>
      </p:sp>
      <p:sp>
        <p:nvSpPr>
          <p:cNvPr id="15" name="bullet-hex"/>
          <p:cNvSpPr/>
          <p:nvPr/>
        </p:nvSpPr>
        <p:spPr>
          <a:xfrm>
            <a:off x="676656" y="2271218"/>
            <a:ext cx="384048" cy="332586"/>
          </a:xfrm>
          <a:prstGeom prst="hexagon">
            <a:avLst/>
          </a:prstGeom>
          <a:solidFill>
            <a:srgbClr val="7A4A1E"/>
          </a:solidFill>
          <a:ln/>
        </p:spPr>
      </p:sp>
      <p:sp>
        <p:nvSpPr>
          <p:cNvPr id="16" name="bullet"/>
          <p:cNvSpPr txBox="1"/>
          <p:nvPr/>
        </p:nvSpPr>
        <p:spPr>
          <a:xfrm>
            <a:off x="1143000" y="1389888"/>
            <a:ext cx="4389120" cy="209524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Your lesson opens with the words of Lord Curzon, Viceroy from 1899 to 1905, who said that as long as Britain ruled India it was the greatest power in the world, and that losing India would drop it to a third-rate power.</a:t>
            </a:r>
            <a:endParaRPr lang="en-US" sz="2000" dirty="0"/>
          </a:p>
        </p:txBody>
      </p:sp>
      <p:sp>
        <p:nvSpPr>
          <p:cNvPr id="17" name="bullet-card"/>
          <p:cNvSpPr/>
          <p:nvPr/>
        </p:nvSpPr>
        <p:spPr>
          <a:xfrm>
            <a:off x="548640" y="3631438"/>
            <a:ext cx="5074920" cy="1165606"/>
          </a:xfrm>
          <a:prstGeom prst="roundRect">
            <a:avLst>
              <a:gd name="adj" fmla="val 6276"/>
            </a:avLst>
          </a:prstGeom>
          <a:solidFill>
            <a:srgbClr val="F6F3F0"/>
          </a:solidFill>
          <a:ln/>
        </p:spPr>
      </p:sp>
      <p:sp>
        <p:nvSpPr>
          <p:cNvPr id="18" name="bullet-hex"/>
          <p:cNvSpPr/>
          <p:nvPr/>
        </p:nvSpPr>
        <p:spPr>
          <a:xfrm>
            <a:off x="676656" y="4047948"/>
            <a:ext cx="384048" cy="332586"/>
          </a:xfrm>
          <a:prstGeom prst="hexagon">
            <a:avLst/>
          </a:prstGeom>
          <a:solidFill>
            <a:srgbClr val="B8862B"/>
          </a:solidFill>
          <a:ln/>
        </p:spPr>
      </p:sp>
      <p:sp>
        <p:nvSpPr>
          <p:cNvPr id="19" name="bullet"/>
          <p:cNvSpPr txBox="1"/>
          <p:nvPr/>
        </p:nvSpPr>
        <p:spPr>
          <a:xfrm>
            <a:off x="1143000" y="3631438"/>
            <a:ext cx="4389120" cy="116560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Amritsar Massacre took place in 1919, a year after the end of the First World War.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Gandhi and the Salt March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Link the Salt March back to Swadeshi: boycotting British salt from Cheshire in 1905 became making Indian salt from seawater in 1930. The method grew.</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the 1920s the independence movement gained support under Mohandas Gandhi, a Hindu and a former lawyer.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most famous protest was the Salt March of 1930.</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march worked in a way the British had not expected.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Towards independence: the 1935 Act, the Muslim League and the war</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sides to every war answer: what the war did to Britain, and what it did to the independence movement.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1935 the Government of India Act gave India some self-government.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1939 Britain declared war on Germany, and declared war on India's behalf too, without consulting Indian leaders.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August 1942 Gandhi called on the British to Quit India immediately, and on all Indians to resist British rule peacefully.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Towards independence: the 1935 Act, the Muslim League and the war</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4F0EC"/>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the Second World War led to Indian independence.</a:t>
            </a:r>
            <a:endParaRPr lang="en-US" sz="2000" dirty="0"/>
          </a:p>
        </p:txBody>
      </p:sp>
      <p:sp>
        <p:nvSpPr>
          <p:cNvPr id="9" name="step-box"/>
          <p:cNvSpPr/>
          <p:nvPr/>
        </p:nvSpPr>
        <p:spPr>
          <a:xfrm>
            <a:off x="548640" y="2192528"/>
            <a:ext cx="11094415" cy="733552"/>
          </a:xfrm>
          <a:prstGeom prst="roundRect">
            <a:avLst>
              <a:gd name="adj" fmla="val 9972"/>
            </a:avLst>
          </a:prstGeom>
          <a:solidFill>
            <a:srgbClr val="FFFFFF"/>
          </a:solidFill>
          <a:ln w="15875">
            <a:solidFill>
              <a:srgbClr val="B69B83"/>
            </a:solidFill>
            <a:prstDash val="solid"/>
          </a:ln>
        </p:spPr>
      </p:sp>
      <p:sp>
        <p:nvSpPr>
          <p:cNvPr id="10" name="step-hex"/>
          <p:cNvSpPr/>
          <p:nvPr/>
        </p:nvSpPr>
        <p:spPr>
          <a:xfrm>
            <a:off x="685800" y="2361336"/>
            <a:ext cx="457200" cy="395935"/>
          </a:xfrm>
          <a:prstGeom prst="hexagon">
            <a:avLst/>
          </a:prstGeom>
          <a:solidFill>
            <a:srgbClr val="7A4A1E"/>
          </a:solidFill>
          <a:ln/>
        </p:spPr>
      </p:sp>
      <p:sp>
        <p:nvSpPr>
          <p:cNvPr id="11" name="step-hex-label"/>
          <p:cNvSpPr txBox="1"/>
          <p:nvPr/>
        </p:nvSpPr>
        <p:spPr>
          <a:xfrm>
            <a:off x="685800" y="23613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Point: The war led to independence because it left Britain unable to hold India and showed how strongly Indians opposed British rule.</a:t>
            </a:r>
            <a:endParaRPr lang="en-US" sz="1800" dirty="0"/>
          </a:p>
        </p:txBody>
      </p:sp>
      <p:sp>
        <p:nvSpPr>
          <p:cNvPr id="13" name="step-box"/>
          <p:cNvSpPr/>
          <p:nvPr/>
        </p:nvSpPr>
        <p:spPr>
          <a:xfrm>
            <a:off x="548640" y="2999232"/>
            <a:ext cx="11094415" cy="733552"/>
          </a:xfrm>
          <a:prstGeom prst="roundRect">
            <a:avLst>
              <a:gd name="adj" fmla="val 9972"/>
            </a:avLst>
          </a:prstGeom>
          <a:solidFill>
            <a:srgbClr val="FFFFFF"/>
          </a:solidFill>
          <a:ln w="15875">
            <a:solidFill>
              <a:srgbClr val="B69B83"/>
            </a:solidFill>
            <a:prstDash val="solid"/>
          </a:ln>
        </p:spPr>
      </p:sp>
      <p:sp>
        <p:nvSpPr>
          <p:cNvPr id="14" name="step-hex"/>
          <p:cNvSpPr/>
          <p:nvPr/>
        </p:nvSpPr>
        <p:spPr>
          <a:xfrm>
            <a:off x="685800" y="3168040"/>
            <a:ext cx="457200" cy="395935"/>
          </a:xfrm>
          <a:prstGeom prst="hexagon">
            <a:avLst/>
          </a:prstGeom>
          <a:solidFill>
            <a:srgbClr val="7A4A1E"/>
          </a:solidFill>
          <a:ln/>
        </p:spPr>
      </p:sp>
      <p:sp>
        <p:nvSpPr>
          <p:cNvPr id="15" name="step-hex-label"/>
          <p:cNvSpPr txBox="1"/>
          <p:nvPr/>
        </p:nvSpPr>
        <p:spPr>
          <a:xfrm>
            <a:off x="685800" y="316804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999232"/>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Evidence: 2.5 million Indians fought for Britain, yet in 1942 the Quit India movement led to over 100,000 arrests; by the end of the war Britain was exhausted and short of money.</a:t>
            </a:r>
            <a:endParaRPr lang="en-US" sz="1800" dirty="0"/>
          </a:p>
        </p:txBody>
      </p:sp>
      <p:sp>
        <p:nvSpPr>
          <p:cNvPr id="17" name="step-box"/>
          <p:cNvSpPr/>
          <p:nvPr/>
        </p:nvSpPr>
        <p:spPr>
          <a:xfrm>
            <a:off x="548640" y="3805936"/>
            <a:ext cx="11094415" cy="733552"/>
          </a:xfrm>
          <a:prstGeom prst="roundRect">
            <a:avLst>
              <a:gd name="adj" fmla="val 9972"/>
            </a:avLst>
          </a:prstGeom>
          <a:solidFill>
            <a:srgbClr val="FFFFFF"/>
          </a:solidFill>
          <a:ln w="15875">
            <a:solidFill>
              <a:srgbClr val="B69B83"/>
            </a:solidFill>
            <a:prstDash val="solid"/>
          </a:ln>
        </p:spPr>
      </p:sp>
      <p:sp>
        <p:nvSpPr>
          <p:cNvPr id="18" name="step-hex"/>
          <p:cNvSpPr/>
          <p:nvPr/>
        </p:nvSpPr>
        <p:spPr>
          <a:xfrm>
            <a:off x="685800" y="3974744"/>
            <a:ext cx="457200" cy="395935"/>
          </a:xfrm>
          <a:prstGeom prst="hexagon">
            <a:avLst/>
          </a:prstGeom>
          <a:solidFill>
            <a:srgbClr val="7A4A1E"/>
          </a:solidFill>
          <a:ln/>
        </p:spPr>
      </p:sp>
      <p:sp>
        <p:nvSpPr>
          <p:cNvPr id="19" name="step-hex-label"/>
          <p:cNvSpPr txBox="1"/>
          <p:nvPr/>
        </p:nvSpPr>
        <p:spPr>
          <a:xfrm>
            <a:off x="685800" y="39747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05936"/>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Britain no longer had the military strength or the wealth to hold on, and most British people wanted to rebuild Britain, not fight to keep distant colonies.</a:t>
            </a:r>
            <a:endParaRPr lang="en-US" sz="1800" dirty="0"/>
          </a:p>
        </p:txBody>
      </p:sp>
      <p:sp>
        <p:nvSpPr>
          <p:cNvPr id="21" name="step-box"/>
          <p:cNvSpPr/>
          <p:nvPr/>
        </p:nvSpPr>
        <p:spPr>
          <a:xfrm>
            <a:off x="548640" y="4612640"/>
            <a:ext cx="11094415" cy="469392"/>
          </a:xfrm>
          <a:prstGeom prst="roundRect">
            <a:avLst>
              <a:gd name="adj" fmla="val 15584"/>
            </a:avLst>
          </a:prstGeom>
          <a:solidFill>
            <a:srgbClr val="FFFFFF"/>
          </a:solidFill>
          <a:ln w="15875">
            <a:solidFill>
              <a:srgbClr val="B69B83"/>
            </a:solidFill>
            <a:prstDash val="solid"/>
          </a:ln>
        </p:spPr>
      </p:sp>
      <p:sp>
        <p:nvSpPr>
          <p:cNvPr id="22" name="step-hex"/>
          <p:cNvSpPr/>
          <p:nvPr/>
        </p:nvSpPr>
        <p:spPr>
          <a:xfrm>
            <a:off x="685800" y="4649368"/>
            <a:ext cx="457200" cy="395935"/>
          </a:xfrm>
          <a:prstGeom prst="hexagon">
            <a:avLst/>
          </a:prstGeom>
          <a:solidFill>
            <a:srgbClr val="7A4A1E"/>
          </a:solidFill>
          <a:ln/>
        </p:spPr>
      </p:sp>
      <p:sp>
        <p:nvSpPr>
          <p:cNvPr id="23" name="step-hex-label"/>
          <p:cNvSpPr txBox="1"/>
          <p:nvPr/>
        </p:nvSpPr>
        <p:spPr>
          <a:xfrm>
            <a:off x="685800" y="464936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612640"/>
            <a:ext cx="10180015" cy="46939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Link: So by 1946 the British government had agreed that India would become independent.</a:t>
            </a:r>
            <a:endParaRPr lang="en-US" sz="1800" dirty="0"/>
          </a:p>
        </p:txBody>
      </p:sp>
      <p:sp>
        <p:nvSpPr>
          <p:cNvPr id="25" name="worked-answer"/>
          <p:cNvSpPr/>
          <p:nvPr/>
        </p:nvSpPr>
        <p:spPr>
          <a:xfrm>
            <a:off x="548640" y="5264912"/>
            <a:ext cx="11094415" cy="831088"/>
          </a:xfrm>
          <a:prstGeom prst="roundRect">
            <a:avLst>
              <a:gd name="adj" fmla="val 16504"/>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war weakened Britain (strength, wealth, priorities at home) and strengthened the independence movement (Quit India), so Britain agreed by 1946 to leave.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Independence and partition, 1947</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1947, give both sides: independence was a victory for the movement, and partition was a disaster for millions of ordinary people.</a:t>
            </a:r>
            <a:endParaRPr lang="en-US" sz="1800" dirty="0"/>
          </a:p>
        </p:txBody>
      </p:sp>
      <p:sp>
        <p:nvSpPr>
          <p:cNvPr id="11" name="bullet-card"/>
          <p:cNvSpPr/>
          <p:nvPr/>
        </p:nvSpPr>
        <p:spPr>
          <a:xfrm>
            <a:off x="548640" y="1389888"/>
            <a:ext cx="11094415" cy="903901"/>
          </a:xfrm>
          <a:prstGeom prst="roundRect">
            <a:avLst>
              <a:gd name="adj" fmla="val 8093"/>
            </a:avLst>
          </a:prstGeom>
          <a:solidFill>
            <a:srgbClr val="F6F3F0"/>
          </a:solidFill>
          <a:ln/>
        </p:spPr>
      </p:sp>
      <p:sp>
        <p:nvSpPr>
          <p:cNvPr id="12" name="bullet-hex"/>
          <p:cNvSpPr/>
          <p:nvPr/>
        </p:nvSpPr>
        <p:spPr>
          <a:xfrm>
            <a:off x="676656" y="1675546"/>
            <a:ext cx="384048" cy="332586"/>
          </a:xfrm>
          <a:prstGeom prst="hexagon">
            <a:avLst/>
          </a:prstGeom>
          <a:solidFill>
            <a:srgbClr val="7A4A1E"/>
          </a:solidFill>
          <a:ln/>
        </p:spPr>
      </p:sp>
      <p:sp>
        <p:nvSpPr>
          <p:cNvPr id="13" name="bullet"/>
          <p:cNvSpPr txBox="1"/>
          <p:nvPr/>
        </p:nvSpPr>
        <p:spPr>
          <a:xfrm>
            <a:off x="1143000" y="1389888"/>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By the end of the war, India and many other British colonies were demanding the right to rule themselves.</a:t>
            </a:r>
            <a:endParaRPr lang="en-US" sz="2200" dirty="0"/>
          </a:p>
        </p:txBody>
      </p:sp>
      <p:sp>
        <p:nvSpPr>
          <p:cNvPr id="14" name="bullet-card"/>
          <p:cNvSpPr/>
          <p:nvPr/>
        </p:nvSpPr>
        <p:spPr>
          <a:xfrm>
            <a:off x="548640" y="2440093"/>
            <a:ext cx="11094415" cy="1244769"/>
          </a:xfrm>
          <a:prstGeom prst="roundRect">
            <a:avLst>
              <a:gd name="adj" fmla="val 5877"/>
            </a:avLst>
          </a:prstGeom>
          <a:solidFill>
            <a:srgbClr val="F6F3F0"/>
          </a:solidFill>
          <a:ln/>
        </p:spPr>
      </p:sp>
      <p:sp>
        <p:nvSpPr>
          <p:cNvPr id="15" name="bullet-hex"/>
          <p:cNvSpPr/>
          <p:nvPr/>
        </p:nvSpPr>
        <p:spPr>
          <a:xfrm>
            <a:off x="676656" y="2896185"/>
            <a:ext cx="384048" cy="332586"/>
          </a:xfrm>
          <a:prstGeom prst="hexagon">
            <a:avLst/>
          </a:prstGeom>
          <a:solidFill>
            <a:srgbClr val="B8862B"/>
          </a:solidFill>
          <a:ln/>
        </p:spPr>
      </p:sp>
      <p:sp>
        <p:nvSpPr>
          <p:cNvPr id="16" name="bullet"/>
          <p:cNvSpPr txBox="1"/>
          <p:nvPr/>
        </p:nvSpPr>
        <p:spPr>
          <a:xfrm>
            <a:off x="1143000" y="2440093"/>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1947 India became independent. But the country was partitioned, split into two: India, with a Hindu majority, and a new country for Muslims, Pakistan, as the Muslim League had demanded.</a:t>
            </a:r>
            <a:endParaRPr lang="en-US" sz="2200" dirty="0"/>
          </a:p>
        </p:txBody>
      </p:sp>
      <p:sp>
        <p:nvSpPr>
          <p:cNvPr id="17" name="bullet-card"/>
          <p:cNvSpPr/>
          <p:nvPr/>
        </p:nvSpPr>
        <p:spPr>
          <a:xfrm>
            <a:off x="548640" y="3831167"/>
            <a:ext cx="11094415" cy="1244769"/>
          </a:xfrm>
          <a:prstGeom prst="roundRect">
            <a:avLst>
              <a:gd name="adj" fmla="val 5877"/>
            </a:avLst>
          </a:prstGeom>
          <a:solidFill>
            <a:srgbClr val="F6F3F0"/>
          </a:solidFill>
          <a:ln/>
        </p:spPr>
      </p:sp>
      <p:sp>
        <p:nvSpPr>
          <p:cNvPr id="18" name="bullet-hex"/>
          <p:cNvSpPr/>
          <p:nvPr/>
        </p:nvSpPr>
        <p:spPr>
          <a:xfrm>
            <a:off x="676656" y="4287259"/>
            <a:ext cx="384048" cy="332586"/>
          </a:xfrm>
          <a:prstGeom prst="hexagon">
            <a:avLst/>
          </a:prstGeom>
          <a:solidFill>
            <a:srgbClr val="7A4A1E"/>
          </a:solidFill>
          <a:ln/>
        </p:spPr>
      </p:sp>
      <p:sp>
        <p:nvSpPr>
          <p:cNvPr id="19" name="bullet"/>
          <p:cNvSpPr txBox="1"/>
          <p:nvPr/>
        </p:nvSpPr>
        <p:spPr>
          <a:xfrm>
            <a:off x="1143000" y="3831167"/>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plenary lists the impacts of the end of the Raj: independence was granted; India was partitioned; there was violence between religious groups; and a long-term conflict began over Kashmir, a region both new countries claimed.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road to 1947: the order of events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on the road to independence in the order they happened.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Gandhi calls on the British to Quit India (1942)</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Gandhi leads the Salt March (1930)</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Government of India Act gives India some self-government (1935)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India becomes independent and is partitioned (1947)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Britain declares war on Germany on India's behalf (1939)</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Amritsar Massacre (1919)</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The road to 1947: the order of events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road to 1947: the order of events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event a year after the First World War ended: Amritsar.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Gandhi's great protest comes next, and it forces the British to offer something: the 1935 Act.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Second World War begins after that, and Quit India happens during the war.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Independence comes last, two years after the war ended.</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Massacre, march, Act, war, Quit India, independence. The two wars are your anchors: 1918 just before Amritsar, 1939 for the declaration.</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each event in this list helped to cause the next 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Why did Britain agree to leave?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Why had the British government agreed, by 1946, that India would become independent?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Viceroy decided that India no longer had any value to Britain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Muslim League had asked Britain to leave and the British agreed at once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After the war Britain no longer had the military strength or wealth to hold India, and rebuilding at home came first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Japan had conquered India during the war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Why did Britain agree to leave?</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Why had the British government agreed, by 1946, that India would become independent?</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4F0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had just happened to Britain by 1946? Six years of war.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does a long war cost? Soldiers, ships and money.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did British people want after the war? To rebuild their own country.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option puts those three things together?</a:t>
            </a:r>
            <a:endParaRPr lang="en-US" sz="1800" dirty="0"/>
          </a:p>
        </p:txBody>
      </p:sp>
      <p:sp>
        <p:nvSpPr>
          <p:cNvPr id="17" name="col-Core"/>
          <p:cNvSpPr/>
          <p:nvPr/>
        </p:nvSpPr>
        <p:spPr>
          <a:xfrm>
            <a:off x="5490762" y="2593848"/>
            <a:ext cx="2938987" cy="3550920"/>
          </a:xfrm>
          <a:prstGeom prst="roundRect">
            <a:avLst>
              <a:gd name="adj" fmla="val 1867"/>
            </a:avLst>
          </a:prstGeom>
          <a:solidFill>
            <a:srgbClr val="E4DAD1"/>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Think about Britain in 1946, not India. What could Britain no longer afford?</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Quit India in 1942 and Britain's weakness in 1946 worked together: could either alone have brought independence by 1947?</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49885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year did Gandhi lead the Salt March?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road to 1947: the order of events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Amritsar Massacre (1919)  (F)</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Gandhi leads the Salt March (1930)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Government of India Act gives India some self-government (1935)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Britain declares war on Germany on India's behalf (1939)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Gandhi calls on the British to Quit India (1942)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India becomes independent and is partitioned (1947)  (D)</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1919 Amritsar; 1930 Salt March; 1935 Act; 1939 war; 1942 Quit India; 1947 independence. Each protest pushed the British a step further than they wanted to go.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Why did Britain agree to leave?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had the British government agreed, by 1946, that India would become independent?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After the war Britain no longer had the military strength or wealth to hold India, and rebuilding at home came first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war drained Britain's military strength and wealth, and British people wanted to rebuild at home. Combined with the strength of feeling shown by Quit India, this made holding India impossible.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year did Gandhi lead the Salt March?</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1930</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Salt March took place in 1930. Gandhi and 78 leaders marched to the coast to make salt, and around 60,000 people were arrested across India.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British Empire: India · Chapter 5: The road to independence and partition, 1919–1947</dc:title>
  <dc:subject>History · Year 8</dc:subject>
  <dc:creator>Dr Vitor Merissi de Carvalho</dc:creator>
  <cp:lastModifiedBy>Dr Vitor Merissi de Carvalho</cp:lastModifiedBy>
  <cp:revision>1</cp:revision>
  <dcterms:created xsi:type="dcterms:W3CDTF">2026-10-19T16:23:03Z</dcterms:created>
  <dcterms:modified xsi:type="dcterms:W3CDTF">2026-10-19T16:23:03Z</dcterms:modified>
</cp:coreProperties>
</file>