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0c29278-8a1b-3e44-c01e-a626f6981d9f}">
          <p14:sldIdLst>
            <p14:sldId id="256"/>
          </p14:sldIdLst>
        </p14:section>
        <p14:section name="Gate" id="{26ecafc9-8628-ee3e-a6fd-16ef49a427ff}">
          <p14:sldIdLst>
            <p14:sldId id="257"/>
            <p14:sldId id="258"/>
          </p14:sldIdLst>
        </p14:section>
        <p14:section name="Pre-teach" id="{d1a4b695-fdac-b775-3993-96ea9c45de81}">
          <p14:sldIdLst>
            <p14:sldId id="259"/>
            <p14:sldId id="260"/>
          </p14:sldIdLst>
        </p14:section>
        <p14:section name="Read-along" id="{8f24aa9e-d892-f95e-c8e3-e1f81c160e4e}">
          <p14:sldIdLst>
            <p14:sldId id="261"/>
            <p14:sldId id="262"/>
          </p14:sldIdLst>
        </p14:section>
        <p14:section name="Teach" id="{2df03f15-838b-36ad-3633-20bc9c395fed}">
          <p14:sldIdLst>
            <p14:sldId id="263"/>
            <p14:sldId id="264"/>
            <p14:sldId id="265"/>
            <p14:sldId id="266"/>
            <p14:sldId id="267"/>
          </p14:sldIdLst>
        </p14:section>
        <p14:section name="Routes" id="{667fcc9c-4863-8a77-7bd9-3feec7a01cbb}">
          <p14:sldIdLst>
            <p14:sldId id="268"/>
            <p14:sldId id="269"/>
            <p14:sldId id="270"/>
            <p14:sldId id="271"/>
          </p14:sldIdLst>
        </p14:section>
        <p14:section name="Close" id="{1fa215c2-c66e-f34d-f569-f3ac95cdf635}">
          <p14:sldIdLst>
            <p14:sldId id="272"/>
          </p14:sldIdLst>
        </p14:section>
        <p14:section name="Answers" id="{62936cee-5321-7e7a-020d-547955fbaa73}">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5: Inside the Earth. How old the Earth is, what its layers are made of, and why the rock deep inside it never stops moving.
This deck covers the department's lesson: 1 (Structure of the Earth: layers, two types of crust, lava and magma, convection currents: What is the Earth made of, and how do convection currents in the mantle move its plates?).
Read the big question aloud: "What moves the ground beneath our feet, where do earthquakes and volcanoes happen, and why do millions of people choose to live near them?"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layer of the Earth is the thin, solid outer layer that we live on?  →  A   Crust
2. Melted rock that is still under the ground is called ___.  →  magma
3. The Earth is about 4.54 billion years old. Write this age in millions of years.  →  4540 million years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Crust. The crust is the thin outer layer of solid rock. The mantle and the two parts of the core lie underneath it.
2. magma. Magma is melted rock underground. Once it comes out at the surface it is called lava.
3. 4540 million years. One billion is one thousand million, so 4.54 billion is 4.54 × 1,000 = 4,540 million.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crust: the thin, solid outer layer of the Earth. Example: "We live on the crust, the thin outer layer of the Earth."
• mantle: the thick layer of very hot rock under the crust. Example: "The mantle is so hot that its rock moves very slowly."
• core: the centre of the Earth, the hottest part. Example: "The core is at the very centre of the Earth."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magma: melted rock that is still under the ground. Example: "Magma is melted rock that has not reached the surface yet."
• lava: melted rock that has come out onto the surface. Example: "Lava poured down the side of the volcano."
• convection current: the slow rising, spreading, cooling and sinking of hot rock. Example: "A convection current in the mantle drags the plates along."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The Earth is about 4.54 billion years old.
2. Scientists work this out by studying rocks.
3. The Earth is made of layers, a bit like an onion.
4. The thin outer layer is the crust, and we live on it.
5. Under the crust is the mantle, a thick layer of very hot rock.
6. At the centre is the core, which has an outer part and an inner part.
7. The core is the hottest part of the Earth.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Melted rock under the ground is called magma.
9. When magma comes out at the surface, we call it lava.
10. Heat from the core makes the rock in the mantle move very slowly.
11. Hot rock rises, spreads out, cools and sinks again.
12. These slow movements are called convection currents.
13. They drag the pieces of crust above them along, a few centimetres a year.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How old is the Earth?. Say it in your own words, then check understanding with a quick question: ask a pupil from the pre-teach group first, since they met these words and ideas before the lesson. Pupils try to recall before you re-explain.
How old is the Earth? For most of history people could only guess. Today scientists put the answer at about 4.54 billion years. That is 4,540 million years, far longer than any human mind can picture.
The evidence comes from rocks. Rocks form in layers over huge stretches of time, and by studying those layers scientists have built up a geological timescale, a kind of calendar of the Earth's past. Rocks also hold tiny clues inside them that let scientists measure their age.
That raises a harder question. If the Earth is so old, what has changed in all that time? The answer, as this unit will show, is almost everything: the oceans, the continents and even the mountains have moved.
Tip: Billion and million are easy to mix up. One billion is one thousand million, so 4.54 billion years is 4,540 million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layers of the Earth. Say it in your own words, then check understanding with a quick question: ask a pupil from the pre-teach group first, since they met these words and ideas before the lesson. Pupils try to recall before you re-explain.
The Earth is not the same all the way through. It is made of layers. The outside layer is the crust: the solid rock we live on. Compared with the whole Earth it is very thin, like the shell of an egg.
Under the crust is the mantle. This is a very thick layer of hot rock. It is mostly solid, but it is so hot that over long periods it can flow very slowly, like thick treacle. Below the mantle is the core, which has two parts: the outer core and the inner core. The core is the hottest part of the Earth.
Nobody has ever seen these layers. The deepest hole people have drilled only scratches the crust. Scientists know about the mantle and the core from the way earthquake waves travel through the Earth and from rocks that volcanoes bring up from deep down.
Worked example — model it step by step, thinking aloud: Describe the structure of the Earth. (3 marks) (1) Start at the outside and work inwards, so the order is clear. (2) Name each layer and say one thing about it: the crust is the thin, solid outer layer; the mantle is the thick layer of hot rock under the crust. (3) Finish at the centre: the core, with an outer core and an inner core, is the hottest part. Answer: The Earth has three main layers. The crust is the thin, solid outer layer we live on. Under it is the mantle, a thick layer of very hot rock that moves slowly. At the centre is the core, made of an outer core and an inner core, which is the hottest part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layers of the Earth. Say it in your own words, then check understanding with a quick question: ask a pupil from the pre-teach group first, since they met these words and ideas before the lesson. Pupils try to recall before you re-explain.
The Earth is not the same all the way through. It is made of layers. The outside layer is the crust: the solid rock we live on. Compared with the whole Earth it is very thin, like the shell of an egg.
Under the crust is the mantle. This is a very thick layer of hot rock. It is mostly solid, but it is so hot that over long periods it can flow very slowly, like thick treacle. Below the mantle is the core, which has two parts: the outer core and the inner core. The core is the hottest part of the Earth.
Nobody has ever seen these layers. The deepest hole people have drilled only scratches the crust. Scientists know about the mantle and the core from the way earthquake waves travel through the Earth and from rocks that volcanoes bring up from deep down.
Worked example — model it step by step, thinking aloud: Describe the structure of the Earth. (3 marks) (1) Start at the outside and work inwards, so the order is clear. (2) Name each layer and say one thing about it: the crust is the thin, solid outer layer; the mantle is the thick layer of hot rock under the crust. (3) Finish at the centre: the core, with an outer core and an inner core, is the hottest part. Answer: The Earth has three main layers. The crust is the thin, solid outer layer we live on. Under it is the mantle, a thick layer of very hot rock that moves slowly. At the centre is the core, made of an outer core and an inner core, which is the hottest part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Two kinds of crust. Say it in your own words, then check understanding with a quick question: ask a pupil from the pre-teach group first, since they met these words and ideas before the lesson. Pupils try to recall before you re-explain.
The crust is not all the same. There are two kinds. Oceanic crust is the crust under the oceans. Continental crust is the crust that makes up the land, the continents.
The two behave differently. Oceanic crust is thinner and denser (heavier for its size). Continental crust is thicker and less dense. This difference matters in Chapter 3, because when the two kinds meet, it is the denser oceanic crust that is forced down.
Most tectonic plates carry some of each: a continent and the ocean floor around it. The Pacific Plate is the exception. It is almost all oceanic crust.
Tip: Oceanic: thin, dense, under the sea. Continental: thick, less dense, makes the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Magma, lava and convection currents. Say it in your own words, then check understanding with a quick question: ask a pupil from the pre-teach group first, since they met these words and ideas before the lesson. Pupils try to recall before you re-explain.
Deep in the Earth, rock gets hot enough to melt. Melted rock that is still underground is called magma. When magma reaches the surface and pours out of a volcano, we call it lava. Same stuff, different place.
The heat of the core does something else. It warms the rock at the bottom of the mantle, and hot rock is less dense, so it slowly rises. Near the top of the mantle it spreads out sideways, cools, becomes denser and sinks back down. Then it is warmed again and the loop repeats. This slow loop is called a convection current.
You can see the same thing in a pan of soup on a hob: the hot soup rises in the middle, spreads to the edges, cools and sinks. In the mantle the loop takes millions of years, but it is strong enough to drag the pieces of crust above it along. That is what moves the tectonic plates, and it is why the Earth has earthquakes and volcanoes.
Tip: Magma is underground; lava is on the surface. If you can see it, it is lava.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Layer by layer.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Earth's layers in order, starting from the surface and going down to the centre.
Support — work through the steps with the group: (1) Start with the layer you are standing on. That is the outside. (2) The next layer down is the thick layer of hot rock. (3) The core comes last, and it has two parts. The outer part is reached before the inner part. (4) Check: the hottest part, the inner core, should be at the very end.
Parallel worked example for Support (model it, do not give the task answer): Put the parts of a boiled egg in order from the outside to the middle: yolk, shell, white. The shell is on the outside, so it comes first.; The white is under the shell.; The yolk is in the middle, so it comes last.. Answer: shell, white, yolk.
Core — reveal the hint only on request: Outside to centre: the layer you live on first, the hottest layer last. Outer comes before inner.
Stretch — no help; when finished: Explain why the crust is often compared to the shell of an egg, and say one way the comparison is not quite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Layer by layer.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Earth's layers in order, starting from the surface and going down to the centre.
Support — work through the steps with the group: (1) Start with the layer you are standing on. That is the outside. (2) The next layer down is the thick layer of hot rock. (3) The core comes last, and it has two parts. The outer part is reached before the inner part. (4) Check: the hottest part, the inner core, should be at the very end.
Parallel worked example for Support (model it, do not give the task answer): Put the parts of a boiled egg in order from the outside to the middle: yolk, shell, white. The shell is on the outside, so it comes first.; The white is under the shell.; The yolk is in the middle, so it comes last.. Answer: shell, white, yolk.
Core — reveal the hint only on request: Outside to centre: the layer you live on first, the hottest layer last. Outer comes before inner.
Stretch — no help; when finished: Explain why the crust is often compared to the shell of an egg, and say one way the comparison is not quite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Magma or lava?.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statement about magma and lava is correct?
Support — work through the steps with the group: (1) Both words mean melted rock. The difference is where the melted rock is. (2) Ask: has it come out at the surface yet? (3) Underground means magma. At the surface means lava. (4) Pick the option that puts magma underground and lava on the surface.
Parallel worked example for Support (model it, do not give the task answer): Water falls as rain, then collects in a lake. Is it still called rain once it is in the lake? It is the same water, but the name depends on where it is.; Falling from the sky it is rain; sitting in the lake it is lake water.; Magma and lava work the same way: same melted rock, different place.. Answer: No. The water is the same, but the name changes with the place, just as magma becomes lava when it reaches the surface..
Core — reveal the hint only on request: Same melted rock, different place. Which place goes with which word?
Stretch — no help; when finished: A volcano erupts and the lava cools into solid rock. Explain, in two sentences, what that rock was before the eruption and where it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Magma or lava?.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Which statement about magma and lava is correct?
Support — work through the steps with the group: (1) Both words mean melted rock. The difference is where the melted rock is. (2) Ask: has it come out at the surface yet? (3) Underground means magma. At the surface means lava. (4) Pick the option that puts magma underground and lava on the surface.
Parallel worked example for Support (model it, do not give the task answer): Water falls as rain, then collects in a lake. Is it still called rain once it is in the lake? It is the same water, but the name depends on where it is.; Falling from the sky it is rain; sitting in the lake it is lake water.; Magma and lava work the same way: same melted rock, different place.. Answer: No. The water is the same, but the name changes with the place, just as magma becomes lava when it reaches the surface..
Core — reveal the hint only on request: Same melted rock, different place. Which place goes with which word?
Stretch — no help; when finished: A volcano erupts and the lava cools into solid rock. Explain, in two sentences, what that rock was before the eruption and where it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layer of the Earth is the thin, solid outer layer that we live on?
Answer: D   Crust. The crust is the thin outer layer of solid rock. The mantle and the two parts of the core lie underneath it.
Source of this question: gate item 1 re-asked (options rotated) — this chapter has no third quick-check module.
The ebook also holds task 3, "What moves the plates?",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Layer by layer. Reveal the answer; pupils mark their own work in a different colour, then read the "why" together. Same destination for every lane, so one answer serves the whole class.
Answer: Crust  (A); Mantle  (D); Outer core  (B); Inner core  (C)
Why: From the surface down: the crust (thin, solid), the mantle (thick, hot rock), the outer core and then the inner core at the centre.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Magma or lava?. Reveal the answer; pupils mark their own work in a different colour, then read the "why" together. Same destination for every lane, so one answer serves the whole class.
Answer: A   Magma is melted rock underground; lava is melted rock that has reached the surface
Why: Magma and lava are the same melted rock. Underground it is magma; once it reaches the surface it is lava.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Crust
Why: The crust is the thin outer layer of solid rock. The mantle and the two parts of the core lie underneath it.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EDE8"/>
          </a:solidFill>
          <a:ln w="12700">
            <a:solidFill>
              <a:srgbClr val="E7EDE8"/>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8 · Tectonic Processes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7EDE8"/>
          </a:solidFill>
          <a:ln w="12700">
            <a:solidFill>
              <a:srgbClr val="E7EDE8"/>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8 · Tectonic Processes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4DE"/>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1/5</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Tectonic Processes · AQA KS3 → 8035</a:t>
            </a:r>
            <a:endParaRPr lang="en-US" sz="1800" dirty="0"/>
          </a:p>
        </p:txBody>
      </p:sp>
      <p:sp>
        <p:nvSpPr>
          <p:cNvPr id="10" name="deck-title"/>
          <p:cNvSpPr txBox="1"/>
          <p:nvPr/>
        </p:nvSpPr>
        <p:spPr>
          <a:xfrm>
            <a:off x="548640" y="2568448"/>
            <a:ext cx="5287975" cy="7874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Inside the Earth</a:t>
            </a:r>
            <a:endParaRPr lang="en-US" sz="4000" dirty="0"/>
          </a:p>
        </p:txBody>
      </p:sp>
      <p:sp>
        <p:nvSpPr>
          <p:cNvPr id="11" name="lessons-card"/>
          <p:cNvSpPr/>
          <p:nvPr/>
        </p:nvSpPr>
        <p:spPr>
          <a:xfrm>
            <a:off x="548640" y="3584448"/>
            <a:ext cx="5287975" cy="1290320"/>
          </a:xfrm>
          <a:prstGeom prst="roundRect">
            <a:avLst>
              <a:gd name="adj" fmla="val 5669"/>
            </a:avLst>
          </a:prstGeom>
          <a:solidFill>
            <a:srgbClr val="EFF2F0"/>
          </a:solidFill>
          <a:ln/>
        </p:spPr>
      </p:sp>
      <p:sp>
        <p:nvSpPr>
          <p:cNvPr id="12" name="lessons"/>
          <p:cNvSpPr txBox="1"/>
          <p:nvPr/>
        </p:nvSpPr>
        <p:spPr>
          <a:xfrm>
            <a:off x="685800" y="3675888"/>
            <a:ext cx="5013655" cy="11074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Structure of the Earth: layers, two types of crust, lava and magma, convection currents</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FF2F0"/>
          </a:solidFill>
          <a:ln w="12700">
            <a:solidFill>
              <a:srgbClr val="B5C6B9"/>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moves the ground beneath our feet, where do earthquakes and volcanoes happen, and why do millions of people choose to live near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7F5"/>
          </a:solidFill>
          <a:ln w="12700">
            <a:solidFill>
              <a:srgbClr val="BFCDC2"/>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layer of the Earth is the thin, solid outer layer that we live on?</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Crust</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Mantle</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Outer core</a:t>
            </a:r>
            <a:endParaRPr lang="en-US" sz="24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Inner core</a:t>
            </a:r>
            <a:endParaRPr lang="en-US" sz="2400" dirty="0"/>
          </a:p>
        </p:txBody>
      </p:sp>
      <p:sp>
        <p:nvSpPr>
          <p:cNvPr id="12" name="card"/>
          <p:cNvSpPr/>
          <p:nvPr/>
        </p:nvSpPr>
        <p:spPr>
          <a:xfrm>
            <a:off x="4338218" y="1389888"/>
            <a:ext cx="3515258" cy="4754880"/>
          </a:xfrm>
          <a:prstGeom prst="roundRect">
            <a:avLst>
              <a:gd name="adj" fmla="val 1561"/>
            </a:avLst>
          </a:prstGeom>
          <a:solidFill>
            <a:srgbClr val="F4F7F5"/>
          </a:solidFill>
          <a:ln w="12700">
            <a:solidFill>
              <a:srgbClr val="BFCDC2"/>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Melted rock that is still under the ground is called ___.</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magma  ·  lava  ·  crust</a:t>
            </a:r>
            <a:endParaRPr lang="en-US" sz="2400" dirty="0"/>
          </a:p>
        </p:txBody>
      </p:sp>
      <p:sp>
        <p:nvSpPr>
          <p:cNvPr id="17" name="card"/>
          <p:cNvSpPr/>
          <p:nvPr/>
        </p:nvSpPr>
        <p:spPr>
          <a:xfrm>
            <a:off x="8127797" y="1389888"/>
            <a:ext cx="3515258" cy="4754880"/>
          </a:xfrm>
          <a:prstGeom prst="roundRect">
            <a:avLst>
              <a:gd name="adj" fmla="val 1561"/>
            </a:avLst>
          </a:prstGeom>
          <a:solidFill>
            <a:srgbClr val="F4F7F5"/>
          </a:solidFill>
          <a:ln w="12700">
            <a:solidFill>
              <a:srgbClr val="BFCDC2"/>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 Earth is about 4.54 billion years old. Write this age in millions of years.</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million years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7F5"/>
          </a:solidFill>
          <a:ln w="12700">
            <a:solidFill>
              <a:srgbClr val="BFCDC2"/>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EE3CD"/>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Crust</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Which layer of the Earth is the thin, solid outer layer that we live on?</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crust is the thin outer layer of solid rock. The mantle and the two parts of the core lie underneath it.</a:t>
            </a:r>
            <a:endParaRPr lang="en-US" sz="2000" dirty="0"/>
          </a:p>
        </p:txBody>
      </p:sp>
      <p:sp>
        <p:nvSpPr>
          <p:cNvPr id="14" name="card"/>
          <p:cNvSpPr/>
          <p:nvPr/>
        </p:nvSpPr>
        <p:spPr>
          <a:xfrm>
            <a:off x="4338218" y="1389888"/>
            <a:ext cx="3515258" cy="4754880"/>
          </a:xfrm>
          <a:prstGeom prst="roundRect">
            <a:avLst>
              <a:gd name="adj" fmla="val 1561"/>
            </a:avLst>
          </a:prstGeom>
          <a:solidFill>
            <a:srgbClr val="F4F7F5"/>
          </a:solidFill>
          <a:ln w="12700">
            <a:solidFill>
              <a:srgbClr val="BFCDC2"/>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magma</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Melted rock that is still under the ground is called ___.</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Magma is melted rock underground. Once it comes out at the surface it is called lava.</a:t>
            </a:r>
            <a:endParaRPr lang="en-US" sz="2200" dirty="0"/>
          </a:p>
        </p:txBody>
      </p:sp>
      <p:sp>
        <p:nvSpPr>
          <p:cNvPr id="21" name="card"/>
          <p:cNvSpPr/>
          <p:nvPr/>
        </p:nvSpPr>
        <p:spPr>
          <a:xfrm>
            <a:off x="8127797" y="1389888"/>
            <a:ext cx="3515258" cy="4754880"/>
          </a:xfrm>
          <a:prstGeom prst="roundRect">
            <a:avLst>
              <a:gd name="adj" fmla="val 1561"/>
            </a:avLst>
          </a:prstGeom>
          <a:solidFill>
            <a:srgbClr val="F4F7F5"/>
          </a:solidFill>
          <a:ln w="12700">
            <a:solidFill>
              <a:srgbClr val="BFCDC2"/>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EE3CD"/>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4540 million years</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The Earth is about 4.54 billion years old. Write this age in millions of years.</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One billion is one thousand million, so 4.54 billion is 4.54 × 1,000 = 4,540 million.</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3F5F3"/>
          </a:solidFill>
          <a:ln w="12700">
            <a:solidFill>
              <a:srgbClr val="B5C6B9"/>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crust</a:t>
            </a:r>
            <a:endParaRPr lang="en-US" sz="2600" dirty="0"/>
          </a:p>
        </p:txBody>
      </p:sp>
      <p:sp>
        <p:nvSpPr>
          <p:cNvPr id="11" name="word-rule"/>
          <p:cNvSpPr/>
          <p:nvPr/>
        </p:nvSpPr>
        <p:spPr>
          <a:xfrm>
            <a:off x="731520" y="2129028"/>
            <a:ext cx="3149498" cy="0"/>
          </a:xfrm>
          <a:prstGeom prst="line">
            <a:avLst/>
          </a:prstGeom>
          <a:ln w="12700">
            <a:solidFill>
              <a:srgbClr val="B5C6B9"/>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thin, solid outer layer of the Earth</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We live on the crust, the thin outer layer of the Earth.</a:t>
            </a:r>
            <a:endParaRPr lang="en-US" sz="2200" dirty="0"/>
          </a:p>
        </p:txBody>
      </p:sp>
      <p:sp>
        <p:nvSpPr>
          <p:cNvPr id="13" name="word-card"/>
          <p:cNvSpPr/>
          <p:nvPr/>
        </p:nvSpPr>
        <p:spPr>
          <a:xfrm>
            <a:off x="4338218" y="1389888"/>
            <a:ext cx="3515258" cy="4754880"/>
          </a:xfrm>
          <a:prstGeom prst="roundRect">
            <a:avLst>
              <a:gd name="adj" fmla="val 1561"/>
            </a:avLst>
          </a:prstGeom>
          <a:solidFill>
            <a:srgbClr val="F3F5F3"/>
          </a:solidFill>
          <a:ln w="12700">
            <a:solidFill>
              <a:srgbClr val="B5C6B9"/>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mantle</a:t>
            </a:r>
            <a:endParaRPr lang="en-US" sz="2600" dirty="0"/>
          </a:p>
        </p:txBody>
      </p:sp>
      <p:sp>
        <p:nvSpPr>
          <p:cNvPr id="17" name="word-rule"/>
          <p:cNvSpPr/>
          <p:nvPr/>
        </p:nvSpPr>
        <p:spPr>
          <a:xfrm>
            <a:off x="4521098" y="2129028"/>
            <a:ext cx="3149498" cy="0"/>
          </a:xfrm>
          <a:prstGeom prst="line">
            <a:avLst/>
          </a:prstGeom>
          <a:ln w="12700">
            <a:solidFill>
              <a:srgbClr val="B5C6B9"/>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thick layer of very hot rock under the crust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mantle is so hot that its rock moves very slowly.</a:t>
            </a:r>
            <a:endParaRPr lang="en-US" sz="2200" dirty="0"/>
          </a:p>
        </p:txBody>
      </p:sp>
      <p:sp>
        <p:nvSpPr>
          <p:cNvPr id="19" name="word-card"/>
          <p:cNvSpPr/>
          <p:nvPr/>
        </p:nvSpPr>
        <p:spPr>
          <a:xfrm>
            <a:off x="8127797" y="1389888"/>
            <a:ext cx="3515258" cy="4754880"/>
          </a:xfrm>
          <a:prstGeom prst="roundRect">
            <a:avLst>
              <a:gd name="adj" fmla="val 1561"/>
            </a:avLst>
          </a:prstGeom>
          <a:solidFill>
            <a:srgbClr val="F3F5F3"/>
          </a:solidFill>
          <a:ln w="12700">
            <a:solidFill>
              <a:srgbClr val="B5C6B9"/>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core</a:t>
            </a:r>
            <a:endParaRPr lang="en-US" sz="2600" dirty="0"/>
          </a:p>
        </p:txBody>
      </p:sp>
      <p:sp>
        <p:nvSpPr>
          <p:cNvPr id="23" name="word-rule"/>
          <p:cNvSpPr/>
          <p:nvPr/>
        </p:nvSpPr>
        <p:spPr>
          <a:xfrm>
            <a:off x="8310677" y="2129028"/>
            <a:ext cx="3149498" cy="0"/>
          </a:xfrm>
          <a:prstGeom prst="line">
            <a:avLst/>
          </a:prstGeom>
          <a:ln w="12700">
            <a:solidFill>
              <a:srgbClr val="B5C6B9"/>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centre of the Earth, the hottest part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core is at the very centre of the Earth.</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3F5F3"/>
          </a:solidFill>
          <a:ln w="12700">
            <a:solidFill>
              <a:srgbClr val="B5C6B9"/>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magma</a:t>
            </a:r>
            <a:endParaRPr lang="en-US" sz="2600" dirty="0"/>
          </a:p>
        </p:txBody>
      </p:sp>
      <p:sp>
        <p:nvSpPr>
          <p:cNvPr id="11" name="word-rule"/>
          <p:cNvSpPr/>
          <p:nvPr/>
        </p:nvSpPr>
        <p:spPr>
          <a:xfrm>
            <a:off x="731520" y="2129028"/>
            <a:ext cx="3149498" cy="0"/>
          </a:xfrm>
          <a:prstGeom prst="line">
            <a:avLst/>
          </a:prstGeom>
          <a:ln w="12700">
            <a:solidFill>
              <a:srgbClr val="B5C6B9"/>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melted rock that is still under the ground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Magma is melted rock that has not reached the surface yet.</a:t>
            </a:r>
            <a:endParaRPr lang="en-US" sz="2200" dirty="0"/>
          </a:p>
        </p:txBody>
      </p:sp>
      <p:sp>
        <p:nvSpPr>
          <p:cNvPr id="13" name="word-card"/>
          <p:cNvSpPr/>
          <p:nvPr/>
        </p:nvSpPr>
        <p:spPr>
          <a:xfrm>
            <a:off x="4338218" y="1389888"/>
            <a:ext cx="3515258" cy="4754880"/>
          </a:xfrm>
          <a:prstGeom prst="roundRect">
            <a:avLst>
              <a:gd name="adj" fmla="val 1561"/>
            </a:avLst>
          </a:prstGeom>
          <a:solidFill>
            <a:srgbClr val="F3F5F3"/>
          </a:solidFill>
          <a:ln w="12700">
            <a:solidFill>
              <a:srgbClr val="B5C6B9"/>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lava</a:t>
            </a:r>
            <a:endParaRPr lang="en-US" sz="2600" dirty="0"/>
          </a:p>
        </p:txBody>
      </p:sp>
      <p:sp>
        <p:nvSpPr>
          <p:cNvPr id="17" name="word-rule"/>
          <p:cNvSpPr/>
          <p:nvPr/>
        </p:nvSpPr>
        <p:spPr>
          <a:xfrm>
            <a:off x="4521098" y="2129028"/>
            <a:ext cx="3149498" cy="0"/>
          </a:xfrm>
          <a:prstGeom prst="line">
            <a:avLst/>
          </a:prstGeom>
          <a:ln w="12700">
            <a:solidFill>
              <a:srgbClr val="B5C6B9"/>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melted rock that has come out onto the surface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Lava poured down the side of the volcano.</a:t>
            </a:r>
            <a:endParaRPr lang="en-US" sz="2200" dirty="0"/>
          </a:p>
        </p:txBody>
      </p:sp>
      <p:sp>
        <p:nvSpPr>
          <p:cNvPr id="19" name="word-card"/>
          <p:cNvSpPr/>
          <p:nvPr/>
        </p:nvSpPr>
        <p:spPr>
          <a:xfrm>
            <a:off x="8127797" y="1389888"/>
            <a:ext cx="3515258" cy="4754880"/>
          </a:xfrm>
          <a:prstGeom prst="roundRect">
            <a:avLst>
              <a:gd name="adj" fmla="val 1561"/>
            </a:avLst>
          </a:prstGeom>
          <a:solidFill>
            <a:srgbClr val="F3F5F3"/>
          </a:solidFill>
          <a:ln w="12700">
            <a:solidFill>
              <a:srgbClr val="B5C6B9"/>
            </a:solidFill>
            <a:prstDash val="solid"/>
          </a:ln>
        </p:spPr>
      </p:sp>
      <p:sp>
        <p:nvSpPr>
          <p:cNvPr id="20" name="word-hex"/>
          <p:cNvSpPr/>
          <p:nvPr/>
        </p:nvSpPr>
        <p:spPr>
          <a:xfrm>
            <a:off x="8264957" y="1802044"/>
            <a:ext cx="502920" cy="435529"/>
          </a:xfrm>
          <a:prstGeom prst="hexagon">
            <a:avLst/>
          </a:prstGeom>
          <a:solidFill>
            <a:srgbClr val="B8862B"/>
          </a:solidFill>
          <a:ln/>
        </p:spPr>
      </p:sp>
      <p:sp>
        <p:nvSpPr>
          <p:cNvPr id="21" name="word-hex-label"/>
          <p:cNvSpPr txBox="1"/>
          <p:nvPr/>
        </p:nvSpPr>
        <p:spPr>
          <a:xfrm>
            <a:off x="8264957"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convection current</a:t>
            </a:r>
            <a:endParaRPr lang="en-US" sz="2600" dirty="0"/>
          </a:p>
        </p:txBody>
      </p:sp>
      <p:sp>
        <p:nvSpPr>
          <p:cNvPr id="23" name="word-rule"/>
          <p:cNvSpPr/>
          <p:nvPr/>
        </p:nvSpPr>
        <p:spPr>
          <a:xfrm>
            <a:off x="8310677" y="2558288"/>
            <a:ext cx="3149498" cy="0"/>
          </a:xfrm>
          <a:prstGeom prst="line">
            <a:avLst/>
          </a:prstGeom>
          <a:ln w="12700">
            <a:solidFill>
              <a:srgbClr val="B5C6B9"/>
            </a:solidFill>
            <a:prstDash val="solid"/>
          </a:ln>
        </p:spPr>
      </p:sp>
      <p:sp>
        <p:nvSpPr>
          <p:cNvPr id="24" name="word-body"/>
          <p:cNvSpPr txBox="1"/>
          <p:nvPr/>
        </p:nvSpPr>
        <p:spPr>
          <a:xfrm>
            <a:off x="8310677"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slow rising, spreading, cooling and sinking of hot rock</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convection current in the mantle drags the plates along.</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7F5"/>
          </a:solidFill>
          <a:ln w="12700">
            <a:solidFill>
              <a:srgbClr val="C8D5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Earth is about 4.54 billion years old.</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Scientists work this out by studying rocks.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Earth is made of layers, a bit like an onion.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thin outer layer is the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crust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and we live on it.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Under the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crust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the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mantle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 thick layer of very hot rock.</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the centre is the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core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which has an outer part and an inner part.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core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the hottest part of the Earth.</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7F5"/>
          </a:solidFill>
          <a:ln w="12700">
            <a:solidFill>
              <a:srgbClr val="C8D5CB"/>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Melted rock under the ground is called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magma</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When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magma</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comes out at the surface, we call it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lava</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Heat from the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core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makes the rock in the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mantle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move very slowly.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Hot rock rises, spreads out, cools and sinks again.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These slow movements are called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convection currents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drag the pieces of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crust</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above them along, a few centimetres a year.</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How old is the Earth?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Billion and million are easy to mix up. One billion is one thousand million, so 4.54 billion years is 4,540 million years.</a:t>
            </a:r>
            <a:endParaRPr lang="en-US" sz="1800" dirty="0"/>
          </a:p>
        </p:txBody>
      </p:sp>
      <p:sp>
        <p:nvSpPr>
          <p:cNvPr id="11" name="point-card"/>
          <p:cNvSpPr/>
          <p:nvPr/>
        </p:nvSpPr>
        <p:spPr>
          <a:xfrm>
            <a:off x="548640" y="1389888"/>
            <a:ext cx="3515258" cy="3686048"/>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How old is the Earth? For most of history people could only guess.</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evidence comes from rocks. Rocks form in layers over huge stretches of time, and by studying those layers scientists have built up a geological timescale, a kind of calendar of the Earth's past.</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That raises a harder question. If the Earth is so old, what has changed in all that time?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layers of the Earth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EFF2F0"/>
          </a:solidFill>
          <a:ln/>
        </p:spPr>
      </p:sp>
      <p:sp>
        <p:nvSpPr>
          <p:cNvPr id="8" name="point-hex"/>
          <p:cNvSpPr/>
          <p:nvPr/>
        </p:nvSpPr>
        <p:spPr>
          <a:xfrm>
            <a:off x="731520" y="1572768"/>
            <a:ext cx="685800" cy="593903"/>
          </a:xfrm>
          <a:prstGeom prst="hexagon">
            <a:avLst/>
          </a:prstGeom>
          <a:solidFill>
            <a:srgbClr val="3F6B4A"/>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Earth is not the same all the way through.</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8F2E9"/>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Under the crust is the mantle. This is a very thick layer of hot rock.</a:t>
            </a:r>
            <a:endParaRPr lang="en-US" sz="2400" dirty="0"/>
          </a:p>
        </p:txBody>
      </p:sp>
      <p:sp>
        <p:nvSpPr>
          <p:cNvPr id="15" name="point-card"/>
          <p:cNvSpPr/>
          <p:nvPr/>
        </p:nvSpPr>
        <p:spPr>
          <a:xfrm>
            <a:off x="8127797" y="1389888"/>
            <a:ext cx="3515258" cy="4754880"/>
          </a:xfrm>
          <a:prstGeom prst="roundRect">
            <a:avLst>
              <a:gd name="adj" fmla="val 1561"/>
            </a:avLst>
          </a:prstGeom>
          <a:solidFill>
            <a:srgbClr val="EFF2F0"/>
          </a:solidFill>
          <a:ln/>
        </p:spPr>
      </p:sp>
      <p:sp>
        <p:nvSpPr>
          <p:cNvPr id="16" name="point-hex"/>
          <p:cNvSpPr/>
          <p:nvPr/>
        </p:nvSpPr>
        <p:spPr>
          <a:xfrm>
            <a:off x="8310677" y="1572768"/>
            <a:ext cx="685800" cy="593903"/>
          </a:xfrm>
          <a:prstGeom prst="hexagon">
            <a:avLst/>
          </a:prstGeom>
          <a:solidFill>
            <a:srgbClr val="3F6B4A"/>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Nobody has ever seen these layers. The deepest hole people have drilled only scratches the crust.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Worked example: The layers of the Earth</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EFF2F0"/>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Describe the structure of the Earth. (3 marks)</a:t>
            </a:r>
            <a:endParaRPr lang="en-US" sz="2200" dirty="0"/>
          </a:p>
        </p:txBody>
      </p:sp>
      <p:sp>
        <p:nvSpPr>
          <p:cNvPr id="9" name="step-box"/>
          <p:cNvSpPr/>
          <p:nvPr/>
        </p:nvSpPr>
        <p:spPr>
          <a:xfrm>
            <a:off x="548640" y="2314956"/>
            <a:ext cx="3423818" cy="2252980"/>
          </a:xfrm>
          <a:prstGeom prst="roundRect">
            <a:avLst>
              <a:gd name="adj" fmla="val 3247"/>
            </a:avLst>
          </a:prstGeom>
          <a:solidFill>
            <a:srgbClr val="FFFFFF"/>
          </a:solidFill>
          <a:ln w="15875">
            <a:solidFill>
              <a:srgbClr val="95AE9B"/>
            </a:solidFill>
            <a:prstDash val="solid"/>
          </a:ln>
        </p:spPr>
      </p:sp>
      <p:sp>
        <p:nvSpPr>
          <p:cNvPr id="10" name="step-hex"/>
          <p:cNvSpPr/>
          <p:nvPr/>
        </p:nvSpPr>
        <p:spPr>
          <a:xfrm>
            <a:off x="685800" y="2424684"/>
            <a:ext cx="530352" cy="459285"/>
          </a:xfrm>
          <a:prstGeom prst="hexagon">
            <a:avLst/>
          </a:prstGeom>
          <a:solidFill>
            <a:srgbClr val="3F6B4A"/>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3149498"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Start at the outside and work inwards, so the order is clear.</a:t>
            </a:r>
            <a:endParaRPr lang="en-US" sz="1800" dirty="0"/>
          </a:p>
        </p:txBody>
      </p:sp>
      <p:sp>
        <p:nvSpPr>
          <p:cNvPr id="13" name="arrow"/>
          <p:cNvSpPr/>
          <p:nvPr/>
        </p:nvSpPr>
        <p:spPr>
          <a:xfrm>
            <a:off x="4045610" y="3304286"/>
            <a:ext cx="274320" cy="274320"/>
          </a:xfrm>
          <a:prstGeom prst="rightArrow">
            <a:avLst/>
          </a:prstGeom>
          <a:solidFill>
            <a:srgbClr val="B8862B"/>
          </a:solidFill>
          <a:ln/>
        </p:spPr>
      </p:sp>
      <p:sp>
        <p:nvSpPr>
          <p:cNvPr id="14" name="step-box"/>
          <p:cNvSpPr/>
          <p:nvPr/>
        </p:nvSpPr>
        <p:spPr>
          <a:xfrm>
            <a:off x="4383938" y="2314956"/>
            <a:ext cx="3423818" cy="2252980"/>
          </a:xfrm>
          <a:prstGeom prst="roundRect">
            <a:avLst>
              <a:gd name="adj" fmla="val 3247"/>
            </a:avLst>
          </a:prstGeom>
          <a:solidFill>
            <a:srgbClr val="FFFFFF"/>
          </a:solidFill>
          <a:ln w="15875">
            <a:solidFill>
              <a:srgbClr val="95AE9B"/>
            </a:solidFill>
            <a:prstDash val="solid"/>
          </a:ln>
        </p:spPr>
      </p:sp>
      <p:sp>
        <p:nvSpPr>
          <p:cNvPr id="15" name="step-hex"/>
          <p:cNvSpPr/>
          <p:nvPr/>
        </p:nvSpPr>
        <p:spPr>
          <a:xfrm>
            <a:off x="4521098" y="2424684"/>
            <a:ext cx="530352" cy="459285"/>
          </a:xfrm>
          <a:prstGeom prst="hexagon">
            <a:avLst/>
          </a:prstGeom>
          <a:solidFill>
            <a:srgbClr val="3F6B4A"/>
          </a:solidFill>
          <a:ln/>
        </p:spPr>
      </p:sp>
      <p:sp>
        <p:nvSpPr>
          <p:cNvPr id="16" name="step-hex-label"/>
          <p:cNvSpPr txBox="1"/>
          <p:nvPr/>
        </p:nvSpPr>
        <p:spPr>
          <a:xfrm>
            <a:off x="452109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2909316"/>
            <a:ext cx="3149498"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Name each layer and say one thing about it: the crust is the thin, solid outer layer; the mantle is the thick layer of hot rock under the crust.</a:t>
            </a:r>
            <a:endParaRPr lang="en-US" sz="1800" dirty="0"/>
          </a:p>
        </p:txBody>
      </p:sp>
      <p:sp>
        <p:nvSpPr>
          <p:cNvPr id="18" name="arrow"/>
          <p:cNvSpPr/>
          <p:nvPr/>
        </p:nvSpPr>
        <p:spPr>
          <a:xfrm>
            <a:off x="7880909" y="3304286"/>
            <a:ext cx="274320" cy="274320"/>
          </a:xfrm>
          <a:prstGeom prst="rightArrow">
            <a:avLst/>
          </a:prstGeom>
          <a:solidFill>
            <a:srgbClr val="B8862B"/>
          </a:solidFill>
          <a:ln/>
        </p:spPr>
      </p:sp>
      <p:sp>
        <p:nvSpPr>
          <p:cNvPr id="19" name="step-box"/>
          <p:cNvSpPr/>
          <p:nvPr/>
        </p:nvSpPr>
        <p:spPr>
          <a:xfrm>
            <a:off x="8219237" y="2314956"/>
            <a:ext cx="3423818" cy="2252980"/>
          </a:xfrm>
          <a:prstGeom prst="roundRect">
            <a:avLst>
              <a:gd name="adj" fmla="val 3247"/>
            </a:avLst>
          </a:prstGeom>
          <a:solidFill>
            <a:srgbClr val="FFFFFF"/>
          </a:solidFill>
          <a:ln w="15875">
            <a:solidFill>
              <a:srgbClr val="95AE9B"/>
            </a:solidFill>
            <a:prstDash val="solid"/>
          </a:ln>
        </p:spPr>
      </p:sp>
      <p:sp>
        <p:nvSpPr>
          <p:cNvPr id="20" name="step-hex"/>
          <p:cNvSpPr/>
          <p:nvPr/>
        </p:nvSpPr>
        <p:spPr>
          <a:xfrm>
            <a:off x="8356397" y="2424684"/>
            <a:ext cx="530352" cy="459285"/>
          </a:xfrm>
          <a:prstGeom prst="hexagon">
            <a:avLst/>
          </a:prstGeom>
          <a:solidFill>
            <a:srgbClr val="3F6B4A"/>
          </a:solidFill>
          <a:ln/>
        </p:spPr>
      </p:sp>
      <p:sp>
        <p:nvSpPr>
          <p:cNvPr id="21" name="step-hex-label"/>
          <p:cNvSpPr txBox="1"/>
          <p:nvPr/>
        </p:nvSpPr>
        <p:spPr>
          <a:xfrm>
            <a:off x="8356397"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2909316"/>
            <a:ext cx="3149498"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Finish at the centre: the core, with an outer core and an inner core, is the hottest part.</a:t>
            </a:r>
            <a:endParaRPr lang="en-US" sz="1800" dirty="0"/>
          </a:p>
        </p:txBody>
      </p:sp>
      <p:sp>
        <p:nvSpPr>
          <p:cNvPr id="23" name="worked-answer"/>
          <p:cNvSpPr/>
          <p:nvPr/>
        </p:nvSpPr>
        <p:spPr>
          <a:xfrm>
            <a:off x="1463040" y="5034788"/>
            <a:ext cx="9265615" cy="1109980"/>
          </a:xfrm>
          <a:prstGeom prst="roundRect">
            <a:avLst>
              <a:gd name="adj" fmla="val 16476"/>
            </a:avLst>
          </a:prstGeom>
          <a:solidFill>
            <a:srgbClr val="EEE3CD"/>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The Earth has three main layers. The crust is the thin, solid outer layer we live on. Under it is the mantle, a thick layer of very hot rock that moves slowly. At the centre is the core, made of an outer core and an inner core, which is the hottest part of the Earth.</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Two kinds of crust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Oceanic: thin, dense, under the sea. Continental: thick, less dense, makes the land.</a:t>
            </a:r>
            <a:endParaRPr lang="en-US" sz="1800" dirty="0"/>
          </a:p>
        </p:txBody>
      </p:sp>
      <p:sp>
        <p:nvSpPr>
          <p:cNvPr id="11" name="point-card"/>
          <p:cNvSpPr/>
          <p:nvPr/>
        </p:nvSpPr>
        <p:spPr>
          <a:xfrm>
            <a:off x="548640" y="1389888"/>
            <a:ext cx="3515258" cy="3964940"/>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crust is not all the same. There are two kinds.</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two behave differently. Oceanic crust is thinner and denser (heavier for its size).</a:t>
            </a:r>
            <a:endParaRPr lang="en-US" sz="2400" dirty="0"/>
          </a:p>
        </p:txBody>
      </p:sp>
      <p:sp>
        <p:nvSpPr>
          <p:cNvPr id="19" name="point-card"/>
          <p:cNvSpPr/>
          <p:nvPr/>
        </p:nvSpPr>
        <p:spPr>
          <a:xfrm>
            <a:off x="8127797" y="1389888"/>
            <a:ext cx="3515258" cy="3964940"/>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Most tectonic plates carry some of each: a continent and the ocean floor around 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Magma, lava and convection currents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5EFE2"/>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Magma is underground; lava is on the surface. If you can see it, it is lava.</a:t>
            </a:r>
            <a:endParaRPr lang="en-US" sz="1800" dirty="0"/>
          </a:p>
        </p:txBody>
      </p:sp>
      <p:sp>
        <p:nvSpPr>
          <p:cNvPr id="11" name="point-card"/>
          <p:cNvSpPr/>
          <p:nvPr/>
        </p:nvSpPr>
        <p:spPr>
          <a:xfrm>
            <a:off x="548640" y="1389888"/>
            <a:ext cx="3515258" cy="3964940"/>
          </a:xfrm>
          <a:prstGeom prst="roundRect">
            <a:avLst>
              <a:gd name="adj" fmla="val 1561"/>
            </a:avLst>
          </a:prstGeom>
          <a:solidFill>
            <a:srgbClr val="EFF2F0"/>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Deep in the Earth, rock gets hot enough to melt.</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heat of the core does something else. It warms the rock at the bottom of the mantle, and hot rock is less dense, so it slowly rises.</a:t>
            </a:r>
            <a:endParaRPr lang="en-US" sz="2400" dirty="0"/>
          </a:p>
        </p:txBody>
      </p:sp>
      <p:sp>
        <p:nvSpPr>
          <p:cNvPr id="19" name="point-card"/>
          <p:cNvSpPr/>
          <p:nvPr/>
        </p:nvSpPr>
        <p:spPr>
          <a:xfrm>
            <a:off x="8127797" y="1389888"/>
            <a:ext cx="3515258" cy="3964940"/>
          </a:xfrm>
          <a:prstGeom prst="roundRect">
            <a:avLst>
              <a:gd name="adj" fmla="val 1561"/>
            </a:avLst>
          </a:prstGeom>
          <a:solidFill>
            <a:srgbClr val="EFF2F0"/>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 can see the same thing in a pan of soup on a hob: the hot soup rises in the middle, spreads to the edges, cools and sinks.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Layer by layer</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Earth's layers in order, starting from the surface and going down to the centre.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Crust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Outer core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Inner core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Mantle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Layer by layer</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Layer by layer</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FF2F0"/>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the layer you are standing on. That is the outside.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next layer down is the thick layer of hot rock.</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core comes last, and it has two parts. The outer part is reached before the inner part.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the hottest part, the inner core, should be at the very end.</a:t>
            </a:r>
            <a:endParaRPr lang="en-US" sz="1800" dirty="0"/>
          </a:p>
        </p:txBody>
      </p:sp>
      <p:sp>
        <p:nvSpPr>
          <p:cNvPr id="17" name="col-Core"/>
          <p:cNvSpPr/>
          <p:nvPr/>
        </p:nvSpPr>
        <p:spPr>
          <a:xfrm>
            <a:off x="5490762" y="2395728"/>
            <a:ext cx="2938987" cy="3749040"/>
          </a:xfrm>
          <a:prstGeom prst="roundRect">
            <a:avLst>
              <a:gd name="adj" fmla="val 1867"/>
            </a:avLst>
          </a:prstGeom>
          <a:solidFill>
            <a:srgbClr val="D8E1DA"/>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Outside to centre: the layer you live on first, the hottest layer last. Outer comes before inner.</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the crust is often compared to the shell of an egg, and say one way the comparison is not quite right.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Magma or lava?</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Which statement about magma and lava is correct?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Magma is melted rock underground; lava is melted rock that has reached the surface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Lava is melted rock underground; magma is melted rock that has reached the surface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Magma and lava are two names for the solid rock of the crust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Lava is the hot rock found in the Earth's core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Magma or lava?</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Which statement about magma and lava is correct?</a:t>
            </a:r>
            <a:endParaRPr lang="en-US" sz="2000" dirty="0"/>
          </a:p>
        </p:txBody>
      </p:sp>
      <p:sp>
        <p:nvSpPr>
          <p:cNvPr id="12" name="col-Support"/>
          <p:cNvSpPr/>
          <p:nvPr/>
        </p:nvSpPr>
        <p:spPr>
          <a:xfrm>
            <a:off x="548640" y="2578608"/>
            <a:ext cx="4667802" cy="3566160"/>
          </a:xfrm>
          <a:prstGeom prst="roundRect">
            <a:avLst>
              <a:gd name="adj" fmla="val 1538"/>
            </a:avLst>
          </a:prstGeom>
          <a:solidFill>
            <a:srgbClr val="EFF2F0"/>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Both words mean melted rock. The difference is where the melted rock is.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has it come out at the surface yet?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Underground means magma. At the surface means lava.</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Pick the option that puts magma underground and lava on the surface.</a:t>
            </a:r>
            <a:endParaRPr lang="en-US" sz="1800" dirty="0"/>
          </a:p>
        </p:txBody>
      </p:sp>
      <p:sp>
        <p:nvSpPr>
          <p:cNvPr id="17" name="col-Core"/>
          <p:cNvSpPr/>
          <p:nvPr/>
        </p:nvSpPr>
        <p:spPr>
          <a:xfrm>
            <a:off x="5490762" y="2578608"/>
            <a:ext cx="2938987" cy="3566160"/>
          </a:xfrm>
          <a:prstGeom prst="roundRect">
            <a:avLst>
              <a:gd name="adj" fmla="val 1867"/>
            </a:avLst>
          </a:prstGeom>
          <a:solidFill>
            <a:srgbClr val="D8E1DA"/>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Same melted rock, different place. Which place goes with which word?</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3F6B4A"/>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A volcano erupts and the lava cools into solid rock. Explain, in two sentences, what that rock was before the eruption and where it came from.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layer of the Earth is the thin, solid outer layer that we live 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Mantle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Outer core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Inner core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Crust</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F7F5"/>
          </a:solidFill>
          <a:ln w="12700">
            <a:solidFill>
              <a:srgbClr val="A2B7A7"/>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Layer by layer</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Crust  (A)</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Mantle  (D)</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Outer core  (B)</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Inner core  (C)</a:t>
            </a:r>
            <a:endParaRPr lang="en-US" sz="24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From the surface down: the crust (thin, solid), the mantle (thick, hot rock), the outer core and then the inner core at the centre.</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Magma or lava?</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statement about magma and lava is correct?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Magma is melted rock underground; lava is melted rock that has reached the surface</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Magma and lava are the same melted rock. Underground it is magma; once it reaches the surface it is lava.</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layer of the Earth is the thin, solid outer layer that we live on?</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Crust</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F2F0"/>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crust is the thin outer layer of solid rock. The mantle and the two parts of the core lie underneath 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FF2F0"/>
      </a:lt2>
      <a:accent1>
        <a:srgbClr val="3F6B4A"/>
      </a:accent1>
      <a:accent2>
        <a:srgbClr val="B8862B"/>
      </a:accent2>
      <a:accent3>
        <a:srgbClr val="8CA692"/>
      </a:accent3>
      <a:accent4>
        <a:srgbClr val="815E1E"/>
      </a:accent4>
      <a:accent5>
        <a:srgbClr val="4A505C"/>
      </a:accent5>
      <a:accent6>
        <a:srgbClr val="DDC498"/>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Tectonic Processes · Chapter 1: Inside the Earth</dc:title>
  <dc:subject>Geography · Year 8</dc:subject>
  <dc:creator>Dr Vitor Merissi de Carvalho</dc:creator>
  <cp:lastModifiedBy>Dr Vitor Merissi de Carvalho</cp:lastModifiedBy>
  <cp:revision>1</cp:revision>
  <dcterms:created xsi:type="dcterms:W3CDTF">2026-10-18T21:47:49Z</dcterms:created>
  <dcterms:modified xsi:type="dcterms:W3CDTF">2026-10-18T21:47:49Z</dcterms:modified>
</cp:coreProperties>
</file>