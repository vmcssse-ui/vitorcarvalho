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Lst>
  <p:notesMasterIdLst>
    <p:notesMasterId r:id="rId22"/>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pening" id="{b3ac1963-e9c3-5f5d-9ff0-86f30aba2d63}">
          <p14:sldIdLst>
            <p14:sldId id="256"/>
          </p14:sldIdLst>
        </p14:section>
        <p14:section name="Gate" id="{d1e4b54f-308b-4ad2-eba4-a24c3fba6fa0}">
          <p14:sldIdLst>
            <p14:sldId id="257"/>
            <p14:sldId id="258"/>
          </p14:sldIdLst>
        </p14:section>
        <p14:section name="Pre-teach" id="{ce7aaa2a-9cb9-4a27-e3ef-bbda3aa4c99b}">
          <p14:sldIdLst>
            <p14:sldId id="259"/>
            <p14:sldId id="260"/>
          </p14:sldIdLst>
        </p14:section>
        <p14:section name="Read-along" id="{44025eac-a941-354e-d2a2-0c718759bcc0}">
          <p14:sldIdLst>
            <p14:sldId id="261"/>
            <p14:sldId id="262"/>
          </p14:sldIdLst>
        </p14:section>
        <p14:section name="Teach" id="{b22138c5-9e39-bcb0-70fc-c45e1097a14d}">
          <p14:sldIdLst>
            <p14:sldId id="263"/>
            <p14:sldId id="264"/>
            <p14:sldId id="265"/>
            <p14:sldId id="266"/>
            <p14:sldId id="267"/>
          </p14:sldIdLst>
        </p14:section>
        <p14:section name="Routes" id="{48bc5a35-e038-40e9-8dba-d49a48b998ca}">
          <p14:sldIdLst>
            <p14:sldId id="268"/>
            <p14:sldId id="269"/>
            <p14:sldId id="270"/>
            <p14:sldId id="271"/>
          </p14:sldIdLst>
        </p14:section>
        <p14:section name="Close" id="{1ab534ff-0454-addb-544f-13fc35c221c2}">
          <p14:sldIdLst>
            <p14:sldId id="272"/>
          </p14:sldIdLst>
        </p14:section>
        <p14:section name="Answers" id="{ce1ee9e5-babe-0689-3c81-a79e928bceca}">
          <p14:sldIdLst>
            <p14:sldId id="273"/>
            <p14:sldId id="274"/>
            <p14:sldId id="275"/>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notesMaster" Target="notesMasters/notesMaster1.xml"/><Relationship Id="rId23" Type="http://schemas.openxmlformats.org/officeDocument/2006/relationships/presProps" Target="presProps.xml"/><Relationship Id="rId24" Type="http://schemas.openxmlformats.org/officeDocument/2006/relationships/viewProps" Target="viewProps.xml"/><Relationship Id="rId25" Type="http://schemas.openxmlformats.org/officeDocument/2006/relationships/theme" Target="theme/theme1.xml"/><Relationship Id="rId2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Chapter 1 of 5: Inside the Earth. How old the Earth is, what its layers are made of, and why the rock deep inside it never stops moving.
This deck covers the department's lesson: 1 (Structure of the Earth: layers, two types of crust, lava and magma, convection currents: What is the Earth made of, and how do convection currents in the mantle move its plates?).
Read the big question aloud: "What moves the ground beneath our feet, where do earthquakes and volcanoes happen, and why do millions of people choose to live near them?" We come back to it at the exit ticket.
Before this lesson the pre-teach group has heard the read-along and met the key words; today they lead the reading. Lesson shape: do now (recall before any help), key words, read-along, teach, then the same task three ways in (Support, Core, Stretch), exit ticket, answers. Every pupil works towards the same destination.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 now — retrieval. Silent, no notes, no help: recall comes before any support. Give about four minutes.
1. Which layer of the Earth is the thin, solid outer layer that we live on?  →  C   Crust
2. Melted rock that is still under the ground is called ___.  →  magma
3. The Earth is about 4.54 billion years old. Write this age in millions of years.  →  4540 million years
Circulate: who gets 3/3 (Stretch route), 2/3 (Core), 0–1 (Support)? Use this to route pupils later in the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 pupils mark their own in a different colour, then hands up for 3/3, 2/3, 1/3.
1. C   Crust. The crust is the thin outer layer of solid rock. The mantle and the two parts of the core lie underneath it.
2. magma. Magma is melted rock underground. Once it comes out at the surface it is called lava.
3. 4540 million years. One billion is one thousand million, so 4.54 billion is 4.54 × 1,000 = 4,540 million.
Say the route each score points to: 3/3 Stretch, 2/3 Core, 0–1 Support. Pupils may choose to move up.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words. Ask the pre-teach group first: they met these words before the lesson, so they give the meaning before anyone else.
For each word: say it, pupils repeat it, read the meaning, then read the example sentence together.
• crust: the thin, solid outer layer of the Earth. Example: "We live on the crust, the thin outer layer of the Earth."
• mantle: the thick layer of very hot rock under the crust. Example: "The mantle is so hot that its rock moves very slowly."
• core: the centre of the Earth, the hottest part. Example: "The core is at the very centre of the Earth."
Recall before help: cover the meanings and ask pupils to define one word from memory before moving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words. Ask the pre-teach group first: they met these words before the lesson, so they give the meaning before anyone else.
For each word: say it, pupils repeat it, read the meaning, then read the example sentence together.
• magma: melted rock that is still under the ground. Example: "Magma is melted rock that has not reached the surface yet."
• lava: melted rock that has come out onto the surface. Example: "Lava poured down the side of the volcano."
• convection current: the slow rising, spreading, cooling and sinking of hot rock. Example: "A convection current in the mantle drags the plates along."
Recall before help: cover the meanings and ask pupils to define one word from memory before moving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together; pupils who were pre-taught lead. The pre-teach group heard this passage (with highlighted audio in the ebook) before the lesson, so invite them to read each sentence aloud first; everyone else follows with a finger, then echo-reads it.
Key words are in bold: pause on each and ask for its meaning.
Sentences 1–7 of 13:
1. The Earth is about 4.54 billion years old.
2. Scientists work this out by studying rocks.
3. The Earth is made of layers, a bit like an onion.
4. The thin outer layer is the crust, and we live on it.
5. Under the crust is the mantle, a thick layer of very hot rock.
6. At the centre is the core, which has an outer part and an inner part.
7. The core is the hottest part of the Earth.
In the ebook the audio highlights each sentence as it is read.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together; pupils who were pre-taught lead. The pre-teach group heard this passage (with highlighted audio in the ebook) before the lesson, so invite them to read each sentence aloud first; everyone else follows with a finger, then echo-reads it.
Key words are in bold: pause on each and ask for its meaning.
Sentences 8–13 of 13:
8. Melted rock under the ground is called magma.
9. When magma comes out at the surface, we call it lava.
10. Heat from the core makes the rock in the mantle move very slowly.
11. Hot rock rises, spreads out, cools and sinks again.
12. These slow movements are called convection currents.
13. They drag the pieces of crust above them along, a few centimetres a year.
In the ebook the audio highlights each sentence as it is read.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 — How old is the Earth?. Say it in your own words, then check understanding with a quick question: ask a pupil from the pre-teach group first, since they met these words and ideas before the lesson. Pupils try to recall before you re-explain.
How old is the Earth? For most of history people could only guess. Today scientists put the answer at about 4.54 billion years. That is 4,540 million years, far longer than any human mind can picture.
The evidence comes from rocks. Rocks form in layers over huge stretches of time, and by studying those layers scientists have built up a geological timescale, a kind of calendar of the Earth's past. Rocks also hold tiny clues inside them that let scientists measure their age.
That raises a harder question. If the Earth is so old, what has changed in all that time? The answer, as this unit will show, is almost everything: the oceans, the continents and even the mountains have moved.
Tip: Billion and million are easy to mix up. One billion is one thousand million, so 4.54 billion years is 4,540 million years.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 — The layers of the Earth. Say it in your own words, then check understanding with a quick question: ask a pupil from the pre-teach group first, since they met these words and ideas before the lesson. Pupils try to recall before you re-explain.
The Earth is not the same all the way through. It is made of layers. The outside layer is the crust: the solid rock we live on. Compared with the whole Earth it is very thin, like the shell of an egg.
Under the crust is the mantle. This is a very thick layer of hot rock. It is mostly solid, but it is so hot that over long periods it can flow very slowly, like thick treacle. Below the mantle is the core, which has two parts: the outer core and the inner core. The core is the hottest part of the Earth.
Nobody has ever seen these layers. The deepest hole people have drilled only scratches the crust. Scientists know about the mantle and the core from the way earthquake waves travel through the Earth and from rocks that volcanoes bring up from deep down.
Worked example — model it step by step, thinking aloud: Describe the structure of the Earth. (3 marks) (1) Start at the outside and work inwards, so the order is clear. (2) Name each layer and say one thing about it: the crust is the thin, solid outer layer; the mantle is the thick layer of hot rock under the crust. (3) Finish at the centre: the core, with an outer core and an inner core, is the hottest part. Answer: The Earth has three main layers. The crust is the thin, solid outer layer we live on. Under it is the mantle, a thick layer of very hot rock that moves slowly. At the centre is the core, made of an outer core and an inner core, which is the hottest part of the Earth..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 — The layers of the Earth. Say it in your own words, then check understanding with a quick question: ask a pupil from the pre-teach group first, since they met these words and ideas before the lesson. Pupils try to recall before you re-explain.
The Earth is not the same all the way through. It is made of layers. The outside layer is the crust: the solid rock we live on. Compared with the whole Earth it is very thin, like the shell of an egg.
Under the crust is the mantle. This is a very thick layer of hot rock. It is mostly solid, but it is so hot that over long periods it can flow very slowly, like thick treacle. Below the mantle is the core, which has two parts: the outer core and the inner core. The core is the hottest part of the Earth.
Nobody has ever seen these layers. The deepest hole people have drilled only scratches the crust. Scientists know about the mantle and the core from the way earthquake waves travel through the Earth and from rocks that volcanoes bring up from deep down.
Worked example — model it step by step, thinking aloud: Describe the structure of the Earth. (3 marks) (1) Start at the outside and work inwards, so the order is clear. (2) Name each layer and say one thing about it: the crust is the thin, solid outer layer; the mantle is the thick layer of hot rock under the crust. (3) Finish at the centre: the core, with an outer core and an inner core, is the hottest part. Answer: The Earth has three main layers. The crust is the thin, solid outer layer we live on. Under it is the mantle, a thick layer of very hot rock that moves slowly. At the centre is the core, made of an outer core and an inner core, which is the hottest part of the Earth..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 — Two kinds of crust. Say it in your own words, then check understanding with a quick question: ask a pupil from the pre-teach group first, since they met these words and ideas before the lesson. Pupils try to recall before you re-explain.
The crust is not all the same. There are two kinds. Oceanic crust is the crust under the oceans. Continental crust is the crust that makes up the land, the continents.
The two behave differently. Oceanic crust is thinner and denser (heavier for its size). Continental crust is thicker and less dense. This difference matters in Chapter 3, because when the two kinds meet, it is the denser oceanic crust that is forced down.
Most tectonic plates carry some of each: a continent and the ocean floor around it. The Pacific Plate is the exception. It is almost all oceanic crust.
Tip: Oceanic: thin, dense, under the sea. Continental: thick, less dense, makes the land.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 — Magma, lava and convection currents. Say it in your own words, then check understanding with a quick question: ask a pupil from the pre-teach group first, since they met these words and ideas before the lesson. Pupils try to recall before you re-explain.
Deep in the Earth, rock gets hot enough to melt. Melted rock that is still underground is called magma. When magma reaches the surface and pours out of a volcano, we call it lava. Same stuff, different place.
The heat of the core does something else. It warms the rock at the bottom of the mantle, and hot rock is less dense, so it slowly rises. Near the top of the mantle it spreads out sideways, cools, becomes denser and sinks back down. Then it is warmed again and the loop repeats. This slow loop is called a convection current.
You can see the same thing in a pan of soup on a hob: the hot soup rises in the middle, spreads to the edges, cools and sinks. In the mantle the loop takes millions of years, but it is strong enough to drag the pieces of crust above it along. That is what moves the tectonic plates, and it is why the Earth has earthquakes and volcanoes.
Tip: Magma is underground; lava is on the surface. If you can see it, it is lava.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Task 1: Layer by layer. Same task, three ways in: one destination for everyone; only the scaffold changes. Pupils take the lane their do-now score pointed to (3/3 Stretch, 2/3 Core, 0–1 Support) and may move up at any time.
Start the pre-teach group first: they know the words and the passage, so set them going on the task before you turn to the rest. Recall before help: every pupil tries from memory before opening a lane.
The task: Put the Earth's layers in order, starting from the surface and going down to the centre.
Support — work through the steps with the group: (1) Start with the layer you are standing on. That is the outside. (2) The next layer down is the thick layer of hot rock. (3) The core comes last, and it has two parts. The outer part is reached before the inner part. (4) Check: the hottest part, the inner core, should be at the very end.
Parallel worked example for Support (model it, do not give the task answer): Put the parts of a boiled egg in order from the outside to the middle: yolk, shell, white. The shell is on the outside, so it comes first.; The white is under the shell.; The yolk is in the middle, so it comes last.. Answer: shell, white, yolk.
Core — reveal the hint only on request: Outside to centre: the layer you live on first, the hottest layer last. Outer comes before inner.
Stretch — no help; when finished: Explain why the crust is often compared to the shell of an egg, and say one way the comparison is not quite right.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Task 1: Layer by layer. Same task, three ways in: one destination for everyone; only the scaffold changes. Pupils take the lane their do-now score pointed to (3/3 Stretch, 2/3 Core, 0–1 Support) and may move up at any time.
Start the pre-teach group first: they know the words and the passage, so set them going on the task before you turn to the rest. Recall before help: every pupil tries from memory before opening a lane.
The task: Put the Earth's layers in order, starting from the surface and going down to the centre.
Support — work through the steps with the group: (1) Start with the layer you are standing on. That is the outside. (2) The next layer down is the thick layer of hot rock. (3) The core comes last, and it has two parts. The outer part is reached before the inner part. (4) Check: the hottest part, the inner core, should be at the very end.
Parallel worked example for Support (model it, do not give the task answer): Put the parts of a boiled egg in order from the outside to the middle: yolk, shell, white. The shell is on the outside, so it comes first.; The white is under the shell.; The yolk is in the middle, so it comes last.. Answer: shell, white, yolk.
Core — reveal the hint only on request: Outside to centre: the layer you live on first, the hottest layer last. Outer comes before inner.
Stretch — no help; when finished: Explain why the crust is often compared to the shell of an egg, and say one way the comparison is not quite right.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Task 2: Magma or lava?. Same task, three ways in: one destination for everyone; only the scaffold changes. Pupils take the lane their do-now score pointed to (3/3 Stretch, 2/3 Core, 0–1 Support) and may move up at any time.
Start the pre-teach group first: they know the words and the passage, so set them going on the task before you turn to the rest. Recall before help: every pupil tries from memory before opening a lane.
The task: Which statement about magma and lava is correct?
Support — work through the steps with the group: (1) Both words mean melted rock. The difference is where the melted rock is. (2) Ask: has it come out at the surface yet? (3) Underground means magma. At the surface means lava. (4) Pick the option that puts magma underground and lava on the surface.
Parallel worked example for Support (model it, do not give the task answer): Water falls as rain, then collects in a lake. Is it still called rain once it is in the lake? It is the same water, but the name depends on where it is.; Falling from the sky it is rain; sitting in the lake it is lake water.; Magma and lava work the same way: same melted rock, different place.. Answer: No. The water is the same, but the name changes with the place, just as magma becomes lava when it reaches the surface..
Core — reveal the hint only on request: Same melted rock, different place. Which place goes with which word?
Stretch — no help; when finished: A volcano erupts and the lava cools into solid rock. Explain, in two sentences, what that rock was before the eruption and where it came from.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Task 2: Magma or lava?. Same task, three ways in: one destination for everyone; only the scaffold changes. Pupils take the lane their do-now score pointed to (3/3 Stretch, 2/3 Core, 0–1 Support) and may move up at any time.
Start the pre-teach group first: they know the words and the passage, so set them going on the task before you turn to the rest. Recall before help: every pupil tries from memory before opening a lane.
The task: Which statement about magma and lava is correct?
Support — work through the steps with the group: (1) Both words mean melted rock. The difference is where the melted rock is. (2) Ask: has it come out at the surface yet? (3) Underground means magma. At the surface means lava. (4) Pick the option that puts magma underground and lava on the surface.
Parallel worked example for Support (model it, do not give the task answer): Water falls as rain, then collects in a lake. Is it still called rain once it is in the lake? It is the same water, but the name depends on where it is.; Falling from the sky it is rain; sitting in the lake it is lake water.; Magma and lava work the same way: same melted rock, different place.. Answer: No. The water is the same, but the name changes with the place, just as magma becomes lava when it reaches the surface..
Core — reveal the hint only on request: Same melted rock, different place. Which place goes with which word?
Stretch — no help; when finished: A volcano erupts and the lava cools into solid rock. Explain, in two sentences, what that rock was before the eruption and where it came from.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Exit ticket — individual, silent, on a slip or mini-whiteboard. Recall before help: no notes, no lanes, no hints. Collect before pupils leave.
Question: Which layer of the Earth is the thin, solid outer layer that we live on?
Answer: B   Crust. The crust is the thin outer layer of solid rock. The mantle and the two parts of the core lie underneath it.
Source of this question: gate item 1 re-asked (options rotated) — this chapter has no third quick-check module.
The ebook also holds task 3, "What moves the plates?", for homework or the next lesson's do now.
Sort the slips: correct → ready to move on; incorrect → start next lesson in the pre-teach group, with the read-along and the Support lane. Same destination next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 task 1: Layer by layer. Reveal the answer; pupils mark their own work in a different colour, then read the "why" together. Same destination for every lane, so one answer serves the whole class.
Answer: Crust  (A); Mantle  (D); Outer core  (B); Inner core  (C)
Why: From the surface down: the crust (thin, solid), the mantle (thick, hot rock), the outer core and then the inner core at the centre.
Ask a Support pupil to explain one step, and a Stretch pupil to share their extension.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 task 2: Magma or lava?. Reveal the answer; pupils mark their own work in a different colour, then read the "why" together. Same destination for every lane, so one answer serves the whole class.
Answer: B   Magma is melted rock underground; lava is melted rock that has reached the surface
Why: Magma and lava are the same melted rock. Underground it is magma; once it reaches the surface it is lava.
Ask a Support pupil to explain one step, and a Stretch pupil to share their extension.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 exit ticket: Exit ticket. Reveal the answer; pupils mark their own work in a different colour, then read the "why" together. Same destination for every lane, so one answer serves the whole class.
Answer: B   Crust
Why: The crust is the thin outer layer of solid rock. The mantle and the two parts of the core lie underneath it.
Ask a Support pupil to explain one step, and a Stretch pupil to share their extension.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image" Target="../media/image-1002-1.png"/><Relationship Id="rId2"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ASTRA_TITLE">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6400800"/>
            <a:ext cx="12191695" cy="457200"/>
          </a:xfrm>
          <a:prstGeom prst="rect">
            <a:avLst/>
          </a:prstGeom>
          <a:solidFill>
            <a:srgbClr val="E7EDE8"/>
          </a:solidFill>
          <a:ln w="12700">
            <a:solidFill>
              <a:srgbClr val="E7EDE8"/>
            </a:solidFill>
            <a:prstDash val="solid"/>
          </a:ln>
        </p:spPr>
      </p:sp>
      <p:pic>
        <p:nvPicPr>
          <p:cNvPr id="3" name="Image 0" descr="Edu.AI hexagon motif">    </p:cNvPr>
          <p:cNvPicPr>
            <a:picLocks noChangeAspect="1"/>
          </p:cNvPicPr>
          <p:nvPr/>
        </p:nvPicPr>
        <p:blipFill>
          <a:blip r:embed="rId1"/>
          <a:stretch>
            <a:fillRect/>
          </a:stretch>
        </p:blipFill>
        <p:spPr>
          <a:xfrm>
            <a:off x="164592" y="6437376"/>
            <a:ext cx="438912" cy="384048"/>
          </a:xfrm>
          <a:prstGeom prst="rect">
            <a:avLst/>
          </a:prstGeom>
        </p:spPr>
      </p:pic>
      <p:sp>
        <p:nvSpPr>
          <p:cNvPr id="4" name="Text 1"/>
          <p:cNvSpPr/>
          <p:nvPr/>
        </p:nvSpPr>
        <p:spPr>
          <a:xfrm>
            <a:off x="713232" y="6446520"/>
            <a:ext cx="8138160" cy="365760"/>
          </a:xfrm>
          <a:prstGeom prst="rect">
            <a:avLst/>
          </a:prstGeom>
          <a:noFill/>
          <a:ln/>
        </p:spPr>
        <p:txBody>
          <a:bodyPr wrap="square" lIns="0" tIns="0" rIns="0" bIns="0" rtlCol="0" anchor="ctr"/>
          <a:lstStyle/>
          <a:p>
            <a:pPr indent="0" marL="0">
              <a:buNone/>
            </a:pPr>
            <a:r>
              <a:rPr lang="en-US" sz="1000" dirty="0">
                <a:solidFill>
                  <a:srgbClr val="4A505C"/>
                </a:solidFill>
                <a:latin typeface="Calibri" pitchFamily="34" charset="0"/>
                <a:ea typeface="Calibri" pitchFamily="34" charset="-122"/>
                <a:cs typeface="Calibri" pitchFamily="34" charset="-120"/>
              </a:rPr>
              <a:t>Geography · Year 8 · Tectonic Processes · Ad Astra pilot exemplar — awaiting department review</a:t>
            </a:r>
            <a:endParaRPr lang="en-US" sz="1000" dirty="0"/>
          </a:p>
        </p:txBody>
      </p:sp>
      <p:sp>
        <p:nvSpPr>
          <p:cNvPr id="5" name="Text 2"/>
          <p:cNvSpPr/>
          <p:nvPr/>
        </p:nvSpPr>
        <p:spPr>
          <a:xfrm>
            <a:off x="8915400" y="6446520"/>
            <a:ext cx="2011680" cy="365760"/>
          </a:xfrm>
          <a:prstGeom prst="rect">
            <a:avLst/>
          </a:prstGeom>
          <a:noFill/>
          <a:ln/>
        </p:spPr>
        <p:txBody>
          <a:bodyPr wrap="square" lIns="0" tIns="0" rIns="0" bIns="0" rtlCol="0" anchor="ctr"/>
          <a:lstStyle/>
          <a:p>
            <a:pPr algn="r" indent="0" marL="0">
              <a:buNone/>
            </a:pPr>
            <a:r>
              <a:rPr lang="en-US" sz="1000" dirty="0">
                <a:solidFill>
                  <a:srgbClr val="4A505C"/>
                </a:solidFill>
                <a:latin typeface="Calibri" pitchFamily="34" charset="0"/>
                <a:ea typeface="Calibri" pitchFamily="34" charset="-122"/>
                <a:cs typeface="Calibri" pitchFamily="34" charset="-120"/>
              </a:rPr>
              <a:t>© 2026 Edu.Ai SV Digital</a:t>
            </a:r>
            <a:endParaRPr lang="en-US" sz="10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ASTRA_CONTENT">
    <p:bg>
      <p:bgPr>
        <a:solidFill>
          <a:srgbClr val="F9F6F0"/>
        </a:solidFill>
      </p:bgPr>
    </p:bg>
    <p:spTree>
      <p:nvGrpSpPr>
        <p:cNvPr id="1" name=""/>
        <p:cNvGrpSpPr/>
        <p:nvPr/>
      </p:nvGrpSpPr>
      <p:grpSpPr>
        <a:xfrm>
          <a:off x="0" y="0"/>
          <a:ext cx="0" cy="0"/>
          <a:chOff x="0" y="0"/>
          <a:chExt cx="0" cy="0"/>
        </a:xfrm>
      </p:grpSpPr>
      <p:sp>
        <p:nvSpPr>
          <p:cNvPr id="2" name="Shape 0"/>
          <p:cNvSpPr/>
          <p:nvPr/>
        </p:nvSpPr>
        <p:spPr>
          <a:xfrm>
            <a:off x="0" y="6400800"/>
            <a:ext cx="12191695" cy="457200"/>
          </a:xfrm>
          <a:prstGeom prst="rect">
            <a:avLst/>
          </a:prstGeom>
          <a:solidFill>
            <a:srgbClr val="E7EDE8"/>
          </a:solidFill>
          <a:ln w="12700">
            <a:solidFill>
              <a:srgbClr val="E7EDE8"/>
            </a:solidFill>
            <a:prstDash val="solid"/>
          </a:ln>
        </p:spPr>
      </p:sp>
      <p:pic>
        <p:nvPicPr>
          <p:cNvPr id="3" name="Image 0" descr="Edu.AI hexagon motif">    </p:cNvPr>
          <p:cNvPicPr>
            <a:picLocks noChangeAspect="1"/>
          </p:cNvPicPr>
          <p:nvPr/>
        </p:nvPicPr>
        <p:blipFill>
          <a:blip r:embed="rId1"/>
          <a:stretch>
            <a:fillRect/>
          </a:stretch>
        </p:blipFill>
        <p:spPr>
          <a:xfrm>
            <a:off x="164592" y="6437376"/>
            <a:ext cx="438912" cy="384048"/>
          </a:xfrm>
          <a:prstGeom prst="rect">
            <a:avLst/>
          </a:prstGeom>
        </p:spPr>
      </p:pic>
      <p:sp>
        <p:nvSpPr>
          <p:cNvPr id="4" name="Text 1"/>
          <p:cNvSpPr/>
          <p:nvPr/>
        </p:nvSpPr>
        <p:spPr>
          <a:xfrm>
            <a:off x="713232" y="6446520"/>
            <a:ext cx="8138160" cy="365760"/>
          </a:xfrm>
          <a:prstGeom prst="rect">
            <a:avLst/>
          </a:prstGeom>
          <a:noFill/>
          <a:ln/>
        </p:spPr>
        <p:txBody>
          <a:bodyPr wrap="square" lIns="0" tIns="0" rIns="0" bIns="0" rtlCol="0" anchor="ctr"/>
          <a:lstStyle/>
          <a:p>
            <a:pPr indent="0" marL="0">
              <a:buNone/>
            </a:pPr>
            <a:r>
              <a:rPr lang="en-US" sz="1000" dirty="0">
                <a:solidFill>
                  <a:srgbClr val="4A505C"/>
                </a:solidFill>
                <a:latin typeface="Calibri" pitchFamily="34" charset="0"/>
                <a:ea typeface="Calibri" pitchFamily="34" charset="-122"/>
                <a:cs typeface="Calibri" pitchFamily="34" charset="-120"/>
              </a:rPr>
              <a:t>Geography · Year 8 · Tectonic Processes · Ad Astra pilot exemplar — awaiting department review</a:t>
            </a:r>
            <a:endParaRPr lang="en-US" sz="1000" dirty="0"/>
          </a:p>
        </p:txBody>
      </p:sp>
      <p:sp>
        <p:nvSpPr>
          <p:cNvPr id="5" name="Text 2"/>
          <p:cNvSpPr/>
          <p:nvPr/>
        </p:nvSpPr>
        <p:spPr>
          <a:xfrm>
            <a:off x="8915400" y="6446520"/>
            <a:ext cx="2011680" cy="365760"/>
          </a:xfrm>
          <a:prstGeom prst="rect">
            <a:avLst/>
          </a:prstGeom>
          <a:noFill/>
          <a:ln/>
        </p:spPr>
        <p:txBody>
          <a:bodyPr wrap="square" lIns="0" tIns="0" rIns="0" bIns="0" rtlCol="0" anchor="ctr"/>
          <a:lstStyle/>
          <a:p>
            <a:pPr algn="r" indent="0" marL="0">
              <a:buNone/>
            </a:pPr>
            <a:r>
              <a:rPr lang="en-US" sz="1000" dirty="0">
                <a:solidFill>
                  <a:srgbClr val="4A505C"/>
                </a:solidFill>
                <a:latin typeface="Calibri" pitchFamily="34" charset="0"/>
                <a:ea typeface="Calibri" pitchFamily="34" charset="-122"/>
                <a:cs typeface="Calibri" pitchFamily="34" charset="-120"/>
              </a:rPr>
              <a:t>© 2026 Edu.Ai SV Digital</a:t>
            </a:r>
            <a:endParaRPr lang="en-US" sz="10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3" name="band-hue"/>
          <p:cNvSpPr/>
          <p:nvPr/>
        </p:nvSpPr>
        <p:spPr>
          <a:xfrm>
            <a:off x="0" y="5989320"/>
            <a:ext cx="12191695" cy="164592"/>
          </a:xfrm>
          <a:prstGeom prst="rect">
            <a:avLst/>
          </a:prstGeom>
          <a:solidFill>
            <a:srgbClr val="3F6B4A"/>
          </a:solidFill>
          <a:ln/>
        </p:spPr>
      </p:sp>
      <p:sp>
        <p:nvSpPr>
          <p:cNvPr id="4" name="band-gold"/>
          <p:cNvSpPr/>
          <p:nvPr/>
        </p:nvSpPr>
        <p:spPr>
          <a:xfrm>
            <a:off x="0" y="6208776"/>
            <a:ext cx="12191695" cy="64008"/>
          </a:xfrm>
          <a:prstGeom prst="rect">
            <a:avLst/>
          </a:prstGeom>
          <a:solidFill>
            <a:srgbClr val="B8862B"/>
          </a:solidFill>
          <a:ln/>
        </p:spPr>
      </p:sp>
      <p:sp>
        <p:nvSpPr>
          <p:cNvPr id="5" name="hex-deco1"/>
          <p:cNvSpPr/>
          <p:nvPr/>
        </p:nvSpPr>
        <p:spPr>
          <a:xfrm>
            <a:off x="1373886" y="276195"/>
            <a:ext cx="525780" cy="455325"/>
          </a:xfrm>
          <a:prstGeom prst="hexagon">
            <a:avLst/>
          </a:prstGeom>
          <a:solidFill>
            <a:srgbClr val="DBE4DE"/>
          </a:solidFill>
          <a:ln/>
        </p:spPr>
      </p:sp>
      <p:sp>
        <p:nvSpPr>
          <p:cNvPr id="6" name="hex-deco2"/>
          <p:cNvSpPr/>
          <p:nvPr/>
        </p:nvSpPr>
        <p:spPr>
          <a:xfrm>
            <a:off x="1373886" y="1168557"/>
            <a:ext cx="525780" cy="455325"/>
          </a:xfrm>
          <a:prstGeom prst="hexagon">
            <a:avLst/>
          </a:prstGeom>
          <a:ln w="19050">
            <a:solidFill>
              <a:srgbClr val="B8862B"/>
            </a:solidFill>
            <a:prstDash val="solid"/>
          </a:ln>
        </p:spPr>
      </p:sp>
      <p:sp>
        <p:nvSpPr>
          <p:cNvPr id="7" name="hex-chapter"/>
          <p:cNvSpPr/>
          <p:nvPr/>
        </p:nvSpPr>
        <p:spPr>
          <a:xfrm>
            <a:off x="548640" y="457200"/>
            <a:ext cx="1051560" cy="910651"/>
          </a:xfrm>
          <a:prstGeom prst="hexagon">
            <a:avLst/>
          </a:prstGeom>
          <a:solidFill>
            <a:srgbClr val="3F6B4A"/>
          </a:solidFill>
          <a:ln/>
        </p:spPr>
      </p:sp>
      <p:sp>
        <p:nvSpPr>
          <p:cNvPr id="8" name="hex-chapter-label"/>
          <p:cNvSpPr txBox="1"/>
          <p:nvPr/>
        </p:nvSpPr>
        <p:spPr>
          <a:xfrm>
            <a:off x="548640" y="457200"/>
            <a:ext cx="1051560" cy="910651"/>
          </a:xfrm>
          <a:prstGeom prst="rect">
            <a:avLst/>
          </a:prstGeom>
          <a:noFill/>
          <a:ln/>
        </p:spPr>
        <p:txBody>
          <a:bodyPr wrap="square" lIns="0" tIns="0" rIns="0" bIns="0" rtlCol="0" anchor="ctr"/>
          <a:lstStyle/>
          <a:p>
            <a:pPr algn="ctr" indent="0" marL="0">
              <a:buNone/>
            </a:pPr>
            <a:r>
              <a:rPr lang="en-US" sz="4000" b="1" dirty="0">
                <a:solidFill>
                  <a:srgbClr val="FFFFFF"/>
                </a:solidFill>
                <a:latin typeface="Cambria" pitchFamily="34" charset="0"/>
                <a:ea typeface="Cambria" pitchFamily="34" charset="-122"/>
                <a:cs typeface="Cambria" pitchFamily="34" charset="-120"/>
              </a:rPr>
              <a:t>1</a:t>
            </a:r>
            <a:endParaRPr lang="en-US" sz="4000" dirty="0"/>
          </a:p>
        </p:txBody>
      </p:sp>
      <p:sp>
        <p:nvSpPr>
          <p:cNvPr id="9" name="kicker"/>
          <p:cNvSpPr txBox="1"/>
          <p:nvPr/>
        </p:nvSpPr>
        <p:spPr>
          <a:xfrm>
            <a:off x="2331720" y="256032"/>
            <a:ext cx="3504895" cy="1298448"/>
          </a:xfrm>
          <a:prstGeom prst="rect">
            <a:avLst/>
          </a:prstGeom>
          <a:noFill/>
          <a:ln/>
        </p:spPr>
        <p:txBody>
          <a:bodyPr wrap="square" lIns="63500" tIns="63500" rIns="63500" bIns="63500" rtlCol="0" anchor="ctr"/>
          <a:lstStyle/>
          <a:p>
            <a:pPr algn="l" indent="0" marL="0">
              <a:spcAft>
                <a:spcPts val="200"/>
              </a:spcAft>
              <a:buNone/>
            </a:pPr>
            <a:r>
              <a:rPr lang="en-US" sz="1800" b="1" dirty="0">
                <a:solidFill>
                  <a:srgbClr val="3F6B4A"/>
                </a:solidFill>
                <a:latin typeface="Calibri" pitchFamily="34" charset="0"/>
                <a:ea typeface="Calibri" pitchFamily="34" charset="-122"/>
                <a:cs typeface="Calibri" pitchFamily="34" charset="-120"/>
              </a:rPr>
              <a:t>Geography · Year 8</a:t>
            </a:r>
            <a:endParaRPr lang="en-US" sz="1800" dirty="0"/>
          </a:p>
          <a:p>
            <a:pPr algn="l" indent="0" marL="0">
              <a:spcAft>
                <a:spcPts val="200"/>
              </a:spcAft>
              <a:buNone/>
            </a:pPr>
            <a:r>
              <a:rPr lang="en-US" sz="1800" b="1" dirty="0">
                <a:solidFill>
                  <a:srgbClr val="936B22"/>
                </a:solidFill>
                <a:latin typeface="Calibri" pitchFamily="34" charset="0"/>
                <a:ea typeface="Calibri" pitchFamily="34" charset="-122"/>
                <a:cs typeface="Calibri" pitchFamily="34" charset="-120"/>
              </a:rPr>
              <a:t>Chapter 1/5</a:t>
            </a:r>
            <a:endParaRPr lang="en-US" sz="1800" dirty="0"/>
          </a:p>
          <a:p>
            <a:pPr algn="l" indent="0" marL="0">
              <a:buNone/>
            </a:pPr>
            <a:r>
              <a:rPr lang="en-US" sz="1800" dirty="0">
                <a:solidFill>
                  <a:srgbClr val="4A505C"/>
                </a:solidFill>
                <a:latin typeface="Calibri" pitchFamily="34" charset="0"/>
                <a:ea typeface="Calibri" pitchFamily="34" charset="-122"/>
                <a:cs typeface="Calibri" pitchFamily="34" charset="-120"/>
              </a:rPr>
              <a:t>Tectonic Processes · AQA KS3 → 8035</a:t>
            </a:r>
            <a:endParaRPr lang="en-US" sz="1800" dirty="0"/>
          </a:p>
        </p:txBody>
      </p:sp>
      <p:sp>
        <p:nvSpPr>
          <p:cNvPr id="10" name="deck-title"/>
          <p:cNvSpPr txBox="1"/>
          <p:nvPr/>
        </p:nvSpPr>
        <p:spPr>
          <a:xfrm>
            <a:off x="548640" y="2568448"/>
            <a:ext cx="5287975" cy="787400"/>
          </a:xfrm>
          <a:prstGeom prst="rect">
            <a:avLst/>
          </a:prstGeom>
          <a:noFill/>
          <a:ln/>
        </p:spPr>
        <p:txBody>
          <a:bodyPr wrap="square" lIns="63500" tIns="63500" rIns="63500" bIns="63500" rtlCol="0" anchor="t"/>
          <a:lstStyle/>
          <a:p>
            <a:pPr algn="l" indent="0" marL="0">
              <a:buNone/>
            </a:pPr>
            <a:r>
              <a:rPr lang="en-US" sz="4000" b="1" dirty="0">
                <a:solidFill>
                  <a:srgbClr val="1E2229"/>
                </a:solidFill>
                <a:latin typeface="Cambria" pitchFamily="34" charset="0"/>
                <a:ea typeface="Cambria" pitchFamily="34" charset="-122"/>
                <a:cs typeface="Cambria" pitchFamily="34" charset="-120"/>
              </a:rPr>
              <a:t>Inside the Earth</a:t>
            </a:r>
            <a:endParaRPr lang="en-US" sz="4000" dirty="0"/>
          </a:p>
        </p:txBody>
      </p:sp>
      <p:sp>
        <p:nvSpPr>
          <p:cNvPr id="11" name="lessons-card"/>
          <p:cNvSpPr/>
          <p:nvPr/>
        </p:nvSpPr>
        <p:spPr>
          <a:xfrm>
            <a:off x="548640" y="3584448"/>
            <a:ext cx="5287975" cy="1290320"/>
          </a:xfrm>
          <a:prstGeom prst="roundRect">
            <a:avLst>
              <a:gd name="adj" fmla="val 5669"/>
            </a:avLst>
          </a:prstGeom>
          <a:solidFill>
            <a:srgbClr val="EFF2F0"/>
          </a:solidFill>
          <a:ln/>
        </p:spPr>
      </p:sp>
      <p:sp>
        <p:nvSpPr>
          <p:cNvPr id="12" name="lessons"/>
          <p:cNvSpPr txBox="1"/>
          <p:nvPr/>
        </p:nvSpPr>
        <p:spPr>
          <a:xfrm>
            <a:off x="685800" y="3675888"/>
            <a:ext cx="5013655" cy="1107440"/>
          </a:xfrm>
          <a:prstGeom prst="rect">
            <a:avLst/>
          </a:prstGeom>
          <a:noFill/>
          <a:ln/>
        </p:spPr>
        <p:txBody>
          <a:bodyPr wrap="square" lIns="63500" tIns="63500" rIns="63500" bIns="63500" rtlCol="0" anchor="t"/>
          <a:lstStyle/>
          <a:p>
            <a:pPr algn="l" indent="0" marL="0">
              <a:spcAft>
                <a:spcPts val="400"/>
              </a:spcAft>
              <a:buNone/>
            </a:pPr>
            <a:r>
              <a:rPr lang="en-US" sz="2000" b="1" dirty="0">
                <a:solidFill>
                  <a:srgbClr val="3F6B4A"/>
                </a:solidFill>
                <a:latin typeface="Calibri" pitchFamily="34" charset="0"/>
                <a:ea typeface="Calibri" pitchFamily="34" charset="-122"/>
                <a:cs typeface="Calibri" pitchFamily="34" charset="-120"/>
              </a:rPr>
              <a:t>Lessons covered</a:t>
            </a:r>
            <a:endParaRPr lang="en-US" sz="2000" dirty="0"/>
          </a:p>
          <a:p>
            <a:pPr algn="l" indent="0" marL="0">
              <a:spcAft>
                <a:spcPts val="300"/>
              </a:spcAft>
              <a:buNone/>
            </a:pPr>
            <a:r>
              <a:rPr lang="en-US" sz="2000" b="1" dirty="0">
                <a:solidFill>
                  <a:srgbClr val="9C7225"/>
                </a:solidFill>
                <a:latin typeface="Calibri" pitchFamily="34" charset="0"/>
                <a:ea typeface="Calibri" pitchFamily="34" charset="-122"/>
                <a:cs typeface="Calibri" pitchFamily="34" charset="-120"/>
              </a:rPr>
              <a:t>1  </a:t>
            </a:r>
            <a:pPr algn="l" indent="0" marL="0">
              <a:spcAft>
                <a:spcPts val="300"/>
              </a:spcAft>
              <a:buNone/>
            </a:pPr>
            <a:r>
              <a:rPr lang="en-US" sz="2000" dirty="0">
                <a:solidFill>
                  <a:srgbClr val="1E2229"/>
                </a:solidFill>
                <a:latin typeface="Calibri" pitchFamily="34" charset="0"/>
                <a:ea typeface="Calibri" pitchFamily="34" charset="-122"/>
                <a:cs typeface="Calibri" pitchFamily="34" charset="-120"/>
              </a:rPr>
              <a:t>Structure of the Earth: layers, two types of crust, lava and magma, convection currents</a:t>
            </a:r>
            <a:endParaRPr lang="en-US" sz="2000" dirty="0"/>
          </a:p>
        </p:txBody>
      </p:sp>
      <p:sp>
        <p:nvSpPr>
          <p:cNvPr id="13" name="plate-frame"/>
          <p:cNvSpPr/>
          <p:nvPr/>
        </p:nvSpPr>
        <p:spPr>
          <a:xfrm>
            <a:off x="6248095" y="411480"/>
            <a:ext cx="5394960" cy="3130677"/>
          </a:xfrm>
          <a:prstGeom prst="rect">
            <a:avLst/>
          </a:prstGeom>
          <a:solidFill>
            <a:srgbClr val="F3EBDC"/>
          </a:solidFill>
          <a:ln w="19050">
            <a:solidFill>
              <a:srgbClr val="B8862B"/>
            </a:solidFill>
            <a:prstDash val="solid"/>
          </a:ln>
          <a:effectLst>
            <a:outerShdw sx="100000" sy="100000" kx="0" ky="0" algn="bl" rotWithShape="0" blurRad="76200" dist="25400" dir="5400000">
              <a:srgbClr val="000000">
                <a:alpha val="12000"/>
              </a:srgbClr>
            </a:outerShdw>
          </a:effectLst>
        </p:spPr>
      </p:sp>
      <p:pic>
        <p:nvPicPr>
          <p:cNvPr id="14" name="plate" descr="Ad Astra engraved plate for Geography, Year 8">    </p:cNvPr>
          <p:cNvPicPr>
            <a:picLocks noChangeAspect="1"/>
          </p:cNvPicPr>
          <p:nvPr/>
        </p:nvPicPr>
        <p:blipFill>
          <a:blip r:embed="rId1"/>
          <a:stretch>
            <a:fillRect/>
          </a:stretch>
        </p:blipFill>
        <p:spPr>
          <a:xfrm>
            <a:off x="6357823" y="521208"/>
            <a:ext cx="5175504" cy="2911221"/>
          </a:xfrm>
          <a:prstGeom prst="rect">
            <a:avLst/>
          </a:prstGeom>
        </p:spPr>
      </p:pic>
      <p:sp>
        <p:nvSpPr>
          <p:cNvPr id="15" name="plate-inner"/>
          <p:cNvSpPr/>
          <p:nvPr/>
        </p:nvSpPr>
        <p:spPr>
          <a:xfrm>
            <a:off x="6357823" y="521208"/>
            <a:ext cx="5175504" cy="2911221"/>
          </a:xfrm>
          <a:prstGeom prst="rect">
            <a:avLst/>
          </a:prstGeom>
          <a:ln w="9525">
            <a:solidFill>
              <a:srgbClr val="B8862B"/>
            </a:solidFill>
            <a:prstDash val="solid"/>
          </a:ln>
        </p:spPr>
      </p:sp>
      <p:sp>
        <p:nvSpPr>
          <p:cNvPr id="16" name="stud0"/>
          <p:cNvSpPr/>
          <p:nvPr/>
        </p:nvSpPr>
        <p:spPr>
          <a:xfrm>
            <a:off x="6138367" y="316456"/>
            <a:ext cx="219456" cy="190049"/>
          </a:xfrm>
          <a:prstGeom prst="hexagon">
            <a:avLst/>
          </a:prstGeom>
          <a:solidFill>
            <a:srgbClr val="B8862B"/>
          </a:solidFill>
          <a:ln w="12700">
            <a:solidFill>
              <a:srgbClr val="FFFFFF"/>
            </a:solidFill>
            <a:prstDash val="solid"/>
          </a:ln>
        </p:spPr>
      </p:sp>
      <p:sp>
        <p:nvSpPr>
          <p:cNvPr id="17" name="stud1"/>
          <p:cNvSpPr/>
          <p:nvPr/>
        </p:nvSpPr>
        <p:spPr>
          <a:xfrm>
            <a:off x="11533327" y="316456"/>
            <a:ext cx="219456" cy="190049"/>
          </a:xfrm>
          <a:prstGeom prst="hexagon">
            <a:avLst/>
          </a:prstGeom>
          <a:solidFill>
            <a:srgbClr val="B8862B"/>
          </a:solidFill>
          <a:ln w="12700">
            <a:solidFill>
              <a:srgbClr val="FFFFFF"/>
            </a:solidFill>
            <a:prstDash val="solid"/>
          </a:ln>
        </p:spPr>
      </p:sp>
      <p:sp>
        <p:nvSpPr>
          <p:cNvPr id="18" name="stud2"/>
          <p:cNvSpPr/>
          <p:nvPr/>
        </p:nvSpPr>
        <p:spPr>
          <a:xfrm>
            <a:off x="6138367" y="3447133"/>
            <a:ext cx="219456" cy="190049"/>
          </a:xfrm>
          <a:prstGeom prst="hexagon">
            <a:avLst/>
          </a:prstGeom>
          <a:solidFill>
            <a:srgbClr val="B8862B"/>
          </a:solidFill>
          <a:ln w="12700">
            <a:solidFill>
              <a:srgbClr val="FFFFFF"/>
            </a:solidFill>
            <a:prstDash val="solid"/>
          </a:ln>
        </p:spPr>
      </p:sp>
      <p:sp>
        <p:nvSpPr>
          <p:cNvPr id="19" name="stud3"/>
          <p:cNvSpPr/>
          <p:nvPr/>
        </p:nvSpPr>
        <p:spPr>
          <a:xfrm>
            <a:off x="11533327" y="3447133"/>
            <a:ext cx="219456" cy="190049"/>
          </a:xfrm>
          <a:prstGeom prst="hexagon">
            <a:avLst/>
          </a:prstGeom>
          <a:solidFill>
            <a:srgbClr val="B8862B"/>
          </a:solidFill>
          <a:ln w="12700">
            <a:solidFill>
              <a:srgbClr val="FFFFFF"/>
            </a:solidFill>
            <a:prstDash val="solid"/>
          </a:ln>
        </p:spPr>
      </p:sp>
      <p:sp>
        <p:nvSpPr>
          <p:cNvPr id="20" name="bq-card"/>
          <p:cNvSpPr/>
          <p:nvPr/>
        </p:nvSpPr>
        <p:spPr>
          <a:xfrm>
            <a:off x="6248095" y="3816477"/>
            <a:ext cx="5394960" cy="2053971"/>
          </a:xfrm>
          <a:prstGeom prst="roundRect">
            <a:avLst>
              <a:gd name="adj" fmla="val 3561"/>
            </a:avLst>
          </a:prstGeom>
          <a:solidFill>
            <a:srgbClr val="EFF2F0"/>
          </a:solidFill>
          <a:ln w="12700">
            <a:solidFill>
              <a:srgbClr val="B5C6B9"/>
            </a:solidFill>
            <a:prstDash val="solid"/>
          </a:ln>
        </p:spPr>
      </p:sp>
      <p:sp>
        <p:nvSpPr>
          <p:cNvPr id="21" name="bq-hex"/>
          <p:cNvSpPr/>
          <p:nvPr/>
        </p:nvSpPr>
        <p:spPr>
          <a:xfrm>
            <a:off x="6412687" y="3999357"/>
            <a:ext cx="621792" cy="538472"/>
          </a:xfrm>
          <a:prstGeom prst="hexagon">
            <a:avLst/>
          </a:prstGeom>
          <a:solidFill>
            <a:srgbClr val="B8862B"/>
          </a:solidFill>
          <a:ln/>
        </p:spPr>
      </p:sp>
      <p:sp>
        <p:nvSpPr>
          <p:cNvPr id="22" name="bq-hex-label"/>
          <p:cNvSpPr txBox="1"/>
          <p:nvPr/>
        </p:nvSpPr>
        <p:spPr>
          <a:xfrm>
            <a:off x="6412687" y="3999357"/>
            <a:ext cx="621792" cy="538472"/>
          </a:xfrm>
          <a:prstGeom prst="rect">
            <a:avLst/>
          </a:prstGeom>
          <a:noFill/>
          <a:ln/>
        </p:spPr>
        <p:txBody>
          <a:bodyPr wrap="square" lIns="0" tIns="0" rIns="0" bIns="0" rtlCol="0" anchor="ctr"/>
          <a:lstStyle/>
          <a:p>
            <a:pPr algn="ctr" indent="0" marL="0">
              <a:buNone/>
            </a:pPr>
            <a:r>
              <a:rPr lang="en-US" sz="2600" b="1" dirty="0">
                <a:solidFill>
                  <a:srgbClr val="FFFFFF"/>
                </a:solidFill>
                <a:latin typeface="Cambria" pitchFamily="34" charset="0"/>
                <a:ea typeface="Cambria" pitchFamily="34" charset="-122"/>
                <a:cs typeface="Cambria" pitchFamily="34" charset="-120"/>
              </a:rPr>
              <a:t>?</a:t>
            </a:r>
            <a:endParaRPr lang="en-US" sz="2600" dirty="0"/>
          </a:p>
        </p:txBody>
      </p:sp>
      <p:sp>
        <p:nvSpPr>
          <p:cNvPr id="23" name="bq"/>
          <p:cNvSpPr txBox="1"/>
          <p:nvPr/>
        </p:nvSpPr>
        <p:spPr>
          <a:xfrm>
            <a:off x="7144207" y="3907917"/>
            <a:ext cx="4389120" cy="1871091"/>
          </a:xfrm>
          <a:prstGeom prst="rect">
            <a:avLst/>
          </a:prstGeom>
          <a:noFill/>
          <a:ln/>
        </p:spPr>
        <p:txBody>
          <a:bodyPr wrap="square" lIns="63500" tIns="63500" rIns="63500" bIns="63500" rtlCol="0" anchor="ctr"/>
          <a:lstStyle/>
          <a:p>
            <a:pPr algn="l" indent="0" marL="0">
              <a:spcAft>
                <a:spcPts val="400"/>
              </a:spcAft>
              <a:buNone/>
            </a:pPr>
            <a:r>
              <a:rPr lang="en-US" sz="1800" b="1" dirty="0">
                <a:solidFill>
                  <a:srgbClr val="3F6B4A"/>
                </a:solidFill>
                <a:latin typeface="Calibri" pitchFamily="34" charset="0"/>
                <a:ea typeface="Calibri" pitchFamily="34" charset="-122"/>
                <a:cs typeface="Calibri" pitchFamily="34" charset="-120"/>
              </a:rPr>
              <a:t>Big question</a:t>
            </a:r>
            <a:endParaRPr lang="en-US" sz="1800" dirty="0"/>
          </a:p>
          <a:p>
            <a:pPr algn="l" indent="0" marL="0">
              <a:buNone/>
            </a:pPr>
            <a:r>
              <a:rPr lang="en-US" sz="2000" i="1" dirty="0">
                <a:solidFill>
                  <a:srgbClr val="1E2229"/>
                </a:solidFill>
                <a:latin typeface="Cambria" pitchFamily="34" charset="0"/>
                <a:ea typeface="Cambria" pitchFamily="34" charset="-122"/>
                <a:cs typeface="Cambria" pitchFamily="34" charset="-120"/>
              </a:rPr>
              <a:t>What moves the ground beneath our feet, where do earthquakes and volcanoes happen, and why do millions of people choose to live near them?</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1</a:t>
            </a:fld>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3F6B4A"/>
                </a:solidFill>
                <a:latin typeface="Cambria" pitchFamily="34" charset="0"/>
                <a:ea typeface="Cambria" pitchFamily="34" charset="-122"/>
                <a:cs typeface="Cambria" pitchFamily="34" charset="-120"/>
              </a:rPr>
              <a:t>Do now: three from memory</a:t>
            </a:r>
            <a:endParaRPr lang="en-US" sz="3200" dirty="0"/>
          </a:p>
        </p:txBody>
      </p:sp>
      <p:sp>
        <p:nvSpPr>
          <p:cNvPr id="4" name="chip-hex"/>
          <p:cNvSpPr/>
          <p:nvPr/>
        </p:nvSpPr>
        <p:spPr>
          <a:xfrm>
            <a:off x="9677095" y="531760"/>
            <a:ext cx="566928" cy="490960"/>
          </a:xfrm>
          <a:prstGeom prst="hexagon">
            <a:avLst/>
          </a:prstGeom>
          <a:solidFill>
            <a:srgbClr val="3F6B4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2</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Gate</a:t>
            </a:r>
            <a:endParaRPr lang="en-US" sz="1800" dirty="0"/>
          </a:p>
        </p:txBody>
      </p:sp>
      <p:sp>
        <p:nvSpPr>
          <p:cNvPr id="7" name="card"/>
          <p:cNvSpPr/>
          <p:nvPr/>
        </p:nvSpPr>
        <p:spPr>
          <a:xfrm>
            <a:off x="548640" y="1389888"/>
            <a:ext cx="3515258" cy="4754880"/>
          </a:xfrm>
          <a:prstGeom prst="roundRect">
            <a:avLst>
              <a:gd name="adj" fmla="val 1561"/>
            </a:avLst>
          </a:prstGeom>
          <a:solidFill>
            <a:srgbClr val="F4F7F5"/>
          </a:solidFill>
          <a:ln w="12700">
            <a:solidFill>
              <a:srgbClr val="BFCDC2"/>
            </a:solidFill>
            <a:prstDash val="solid"/>
          </a:ln>
        </p:spPr>
      </p:sp>
      <p:sp>
        <p:nvSpPr>
          <p:cNvPr id="8" name="card-hex"/>
          <p:cNvSpPr/>
          <p:nvPr/>
        </p:nvSpPr>
        <p:spPr>
          <a:xfrm>
            <a:off x="731520" y="1572768"/>
            <a:ext cx="640080" cy="554309"/>
          </a:xfrm>
          <a:prstGeom prst="hexagon">
            <a:avLst/>
          </a:prstGeom>
          <a:solidFill>
            <a:srgbClr val="3F6B4A"/>
          </a:solidFill>
          <a:ln/>
        </p:spPr>
      </p:sp>
      <p:sp>
        <p:nvSpPr>
          <p:cNvPr id="9" name="card-hex-label"/>
          <p:cNvSpPr txBox="1"/>
          <p:nvPr/>
        </p:nvSpPr>
        <p:spPr>
          <a:xfrm>
            <a:off x="731520"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0" name="card-label"/>
          <p:cNvSpPr txBox="1"/>
          <p:nvPr/>
        </p:nvSpPr>
        <p:spPr>
          <a:xfrm>
            <a:off x="1463040" y="1572768"/>
            <a:ext cx="2509418" cy="566928"/>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Choose one</a:t>
            </a:r>
            <a:endParaRPr lang="en-US" sz="1800" dirty="0"/>
          </a:p>
        </p:txBody>
      </p:sp>
      <p:sp>
        <p:nvSpPr>
          <p:cNvPr id="11" name="card-body"/>
          <p:cNvSpPr txBox="1"/>
          <p:nvPr/>
        </p:nvSpPr>
        <p:spPr>
          <a:xfrm>
            <a:off x="731520" y="2355677"/>
            <a:ext cx="3149498" cy="3651931"/>
          </a:xfrm>
          <a:prstGeom prst="rect">
            <a:avLst/>
          </a:prstGeom>
          <a:noFill/>
          <a:ln/>
        </p:spPr>
        <p:txBody>
          <a:bodyPr wrap="square" lIns="63500" tIns="63500" rIns="63500" bIns="63500" rtlCol="0" anchor="t"/>
          <a:lstStyle/>
          <a:p>
            <a:pPr algn="l" indent="0" marL="0">
              <a:spcAft>
                <a:spcPts val="1000"/>
              </a:spcAft>
              <a:buNone/>
            </a:pPr>
            <a:r>
              <a:rPr lang="en-US" sz="2400" b="1" dirty="0">
                <a:solidFill>
                  <a:srgbClr val="1E2229"/>
                </a:solidFill>
                <a:latin typeface="Calibri" pitchFamily="34" charset="0"/>
                <a:ea typeface="Calibri" pitchFamily="34" charset="-122"/>
                <a:cs typeface="Calibri" pitchFamily="34" charset="-120"/>
              </a:rPr>
              <a:t>Which layer of the Earth is the thin, solid outer layer that we live on?</a:t>
            </a:r>
            <a:endParaRPr lang="en-US" sz="2400" dirty="0"/>
          </a:p>
          <a:p>
            <a:pPr algn="l" indent="0" marL="0">
              <a:spcAft>
                <a:spcPts val="200"/>
              </a:spcAft>
              <a:buNone/>
            </a:pPr>
            <a:r>
              <a:rPr lang="en-US" sz="2400" b="1" dirty="0">
                <a:solidFill>
                  <a:srgbClr val="B8862B"/>
                </a:solidFill>
                <a:latin typeface="Calibri" pitchFamily="34" charset="0"/>
                <a:ea typeface="Calibri" pitchFamily="34" charset="-122"/>
                <a:cs typeface="Calibri" pitchFamily="34" charset="-120"/>
              </a:rPr>
              <a:t>A   </a:t>
            </a:r>
            <a:pPr algn="l" indent="0" marL="0">
              <a:spcAft>
                <a:spcPts val="200"/>
              </a:spcAft>
              <a:buNone/>
            </a:pPr>
            <a:r>
              <a:rPr lang="en-US" sz="2400" dirty="0">
                <a:solidFill>
                  <a:srgbClr val="1E2229"/>
                </a:solidFill>
                <a:latin typeface="Calibri" pitchFamily="34" charset="0"/>
                <a:ea typeface="Calibri" pitchFamily="34" charset="-122"/>
                <a:cs typeface="Calibri" pitchFamily="34" charset="-120"/>
              </a:rPr>
              <a:t>Inner core</a:t>
            </a:r>
            <a:endParaRPr lang="en-US" sz="2400" dirty="0"/>
          </a:p>
          <a:p>
            <a:pPr algn="l" indent="0" marL="0">
              <a:spcAft>
                <a:spcPts val="200"/>
              </a:spcAft>
              <a:buNone/>
            </a:pPr>
            <a:r>
              <a:rPr lang="en-US" sz="2400" b="1" dirty="0">
                <a:solidFill>
                  <a:srgbClr val="B8862B"/>
                </a:solidFill>
                <a:latin typeface="Calibri" pitchFamily="34" charset="0"/>
                <a:ea typeface="Calibri" pitchFamily="34" charset="-122"/>
                <a:cs typeface="Calibri" pitchFamily="34" charset="-120"/>
              </a:rPr>
              <a:t>B   </a:t>
            </a:r>
            <a:pPr algn="l" indent="0" marL="0">
              <a:spcAft>
                <a:spcPts val="200"/>
              </a:spcAft>
              <a:buNone/>
            </a:pPr>
            <a:r>
              <a:rPr lang="en-US" sz="2400" dirty="0">
                <a:solidFill>
                  <a:srgbClr val="1E2229"/>
                </a:solidFill>
                <a:latin typeface="Calibri" pitchFamily="34" charset="0"/>
                <a:ea typeface="Calibri" pitchFamily="34" charset="-122"/>
                <a:cs typeface="Calibri" pitchFamily="34" charset="-120"/>
              </a:rPr>
              <a:t>Outer core</a:t>
            </a:r>
            <a:endParaRPr lang="en-US" sz="2400" dirty="0"/>
          </a:p>
          <a:p>
            <a:pPr algn="l" indent="0" marL="0">
              <a:spcAft>
                <a:spcPts val="200"/>
              </a:spcAft>
              <a:buNone/>
            </a:pPr>
            <a:r>
              <a:rPr lang="en-US" sz="2400" b="1" dirty="0">
                <a:solidFill>
                  <a:srgbClr val="B8862B"/>
                </a:solidFill>
                <a:latin typeface="Calibri" pitchFamily="34" charset="0"/>
                <a:ea typeface="Calibri" pitchFamily="34" charset="-122"/>
                <a:cs typeface="Calibri" pitchFamily="34" charset="-120"/>
              </a:rPr>
              <a:t>C   </a:t>
            </a:r>
            <a:pPr algn="l" indent="0" marL="0">
              <a:spcAft>
                <a:spcPts val="200"/>
              </a:spcAft>
              <a:buNone/>
            </a:pPr>
            <a:r>
              <a:rPr lang="en-US" sz="2400" dirty="0">
                <a:solidFill>
                  <a:srgbClr val="1E2229"/>
                </a:solidFill>
                <a:latin typeface="Calibri" pitchFamily="34" charset="0"/>
                <a:ea typeface="Calibri" pitchFamily="34" charset="-122"/>
                <a:cs typeface="Calibri" pitchFamily="34" charset="-120"/>
              </a:rPr>
              <a:t>Crust</a:t>
            </a:r>
            <a:endParaRPr lang="en-US" sz="2400" dirty="0"/>
          </a:p>
          <a:p>
            <a:pPr algn="l" indent="0" marL="0">
              <a:spcAft>
                <a:spcPts val="200"/>
              </a:spcAft>
              <a:buNone/>
            </a:pPr>
            <a:r>
              <a:rPr lang="en-US" sz="2400" b="1" dirty="0">
                <a:solidFill>
                  <a:srgbClr val="B8862B"/>
                </a:solidFill>
                <a:latin typeface="Calibri" pitchFamily="34" charset="0"/>
                <a:ea typeface="Calibri" pitchFamily="34" charset="-122"/>
                <a:cs typeface="Calibri" pitchFamily="34" charset="-120"/>
              </a:rPr>
              <a:t>D   </a:t>
            </a:r>
            <a:pPr algn="l" indent="0" marL="0">
              <a:spcAft>
                <a:spcPts val="200"/>
              </a:spcAft>
              <a:buNone/>
            </a:pPr>
            <a:r>
              <a:rPr lang="en-US" sz="2400" dirty="0">
                <a:solidFill>
                  <a:srgbClr val="1E2229"/>
                </a:solidFill>
                <a:latin typeface="Calibri" pitchFamily="34" charset="0"/>
                <a:ea typeface="Calibri" pitchFamily="34" charset="-122"/>
                <a:cs typeface="Calibri" pitchFamily="34" charset="-120"/>
              </a:rPr>
              <a:t>Mantle</a:t>
            </a:r>
            <a:endParaRPr lang="en-US" sz="2400" dirty="0"/>
          </a:p>
        </p:txBody>
      </p:sp>
      <p:sp>
        <p:nvSpPr>
          <p:cNvPr id="12" name="card"/>
          <p:cNvSpPr/>
          <p:nvPr/>
        </p:nvSpPr>
        <p:spPr>
          <a:xfrm>
            <a:off x="4338218" y="1389888"/>
            <a:ext cx="3515258" cy="4754880"/>
          </a:xfrm>
          <a:prstGeom prst="roundRect">
            <a:avLst>
              <a:gd name="adj" fmla="val 1561"/>
            </a:avLst>
          </a:prstGeom>
          <a:solidFill>
            <a:srgbClr val="F4F7F5"/>
          </a:solidFill>
          <a:ln w="12700">
            <a:solidFill>
              <a:srgbClr val="BFCDC2"/>
            </a:solidFill>
            <a:prstDash val="solid"/>
          </a:ln>
        </p:spPr>
      </p:sp>
      <p:sp>
        <p:nvSpPr>
          <p:cNvPr id="13" name="card-hex"/>
          <p:cNvSpPr/>
          <p:nvPr/>
        </p:nvSpPr>
        <p:spPr>
          <a:xfrm>
            <a:off x="4521098" y="1572768"/>
            <a:ext cx="640080" cy="554309"/>
          </a:xfrm>
          <a:prstGeom prst="hexagon">
            <a:avLst/>
          </a:prstGeom>
          <a:solidFill>
            <a:srgbClr val="3F6B4A"/>
          </a:solidFill>
          <a:ln/>
        </p:spPr>
      </p:sp>
      <p:sp>
        <p:nvSpPr>
          <p:cNvPr id="14" name="card-hex-label"/>
          <p:cNvSpPr txBox="1"/>
          <p:nvPr/>
        </p:nvSpPr>
        <p:spPr>
          <a:xfrm>
            <a:off x="4521098"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5" name="card-label"/>
          <p:cNvSpPr txBox="1"/>
          <p:nvPr/>
        </p:nvSpPr>
        <p:spPr>
          <a:xfrm>
            <a:off x="5252618" y="1572768"/>
            <a:ext cx="2509418" cy="566928"/>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Fill the gap</a:t>
            </a:r>
            <a:endParaRPr lang="en-US" sz="1800" dirty="0"/>
          </a:p>
        </p:txBody>
      </p:sp>
      <p:sp>
        <p:nvSpPr>
          <p:cNvPr id="16" name="card-body"/>
          <p:cNvSpPr txBox="1"/>
          <p:nvPr/>
        </p:nvSpPr>
        <p:spPr>
          <a:xfrm>
            <a:off x="4521098" y="2355677"/>
            <a:ext cx="3149498" cy="3651931"/>
          </a:xfrm>
          <a:prstGeom prst="rect">
            <a:avLst/>
          </a:prstGeom>
          <a:noFill/>
          <a:ln/>
        </p:spPr>
        <p:txBody>
          <a:bodyPr wrap="square" lIns="63500" tIns="63500" rIns="63500" bIns="63500" rtlCol="0" anchor="t"/>
          <a:lstStyle/>
          <a:p>
            <a:pPr algn="l" indent="0" marL="0">
              <a:spcAft>
                <a:spcPts val="1000"/>
              </a:spcAft>
              <a:buNone/>
            </a:pPr>
            <a:r>
              <a:rPr lang="en-US" sz="2400" b="1" dirty="0">
                <a:solidFill>
                  <a:srgbClr val="1E2229"/>
                </a:solidFill>
                <a:latin typeface="Calibri" pitchFamily="34" charset="0"/>
                <a:ea typeface="Calibri" pitchFamily="34" charset="-122"/>
                <a:cs typeface="Calibri" pitchFamily="34" charset="-120"/>
              </a:rPr>
              <a:t>Melted rock that is still under the ground is called ___.</a:t>
            </a:r>
            <a:endParaRPr lang="en-US" sz="2400" dirty="0"/>
          </a:p>
          <a:p>
            <a:pPr algn="l" indent="0" marL="0">
              <a:buNone/>
            </a:pPr>
            <a:r>
              <a:rPr lang="en-US" sz="2400" b="1" dirty="0">
                <a:solidFill>
                  <a:srgbClr val="3F6B4A"/>
                </a:solidFill>
                <a:latin typeface="Calibri" pitchFamily="34" charset="0"/>
                <a:ea typeface="Calibri" pitchFamily="34" charset="-122"/>
                <a:cs typeface="Calibri" pitchFamily="34" charset="-120"/>
              </a:rPr>
              <a:t>Word bank:  </a:t>
            </a:r>
            <a:pPr algn="l" indent="0" marL="0">
              <a:buNone/>
            </a:pPr>
            <a:r>
              <a:rPr lang="en-US" sz="2400" dirty="0">
                <a:solidFill>
                  <a:srgbClr val="1E2229"/>
                </a:solidFill>
                <a:latin typeface="Calibri" pitchFamily="34" charset="0"/>
                <a:ea typeface="Calibri" pitchFamily="34" charset="-122"/>
                <a:cs typeface="Calibri" pitchFamily="34" charset="-120"/>
              </a:rPr>
              <a:t>magma  ·  lava  ·  crust</a:t>
            </a:r>
            <a:endParaRPr lang="en-US" sz="2400" dirty="0"/>
          </a:p>
        </p:txBody>
      </p:sp>
      <p:sp>
        <p:nvSpPr>
          <p:cNvPr id="17" name="card"/>
          <p:cNvSpPr/>
          <p:nvPr/>
        </p:nvSpPr>
        <p:spPr>
          <a:xfrm>
            <a:off x="8127797" y="1389888"/>
            <a:ext cx="3515258" cy="4754880"/>
          </a:xfrm>
          <a:prstGeom prst="roundRect">
            <a:avLst>
              <a:gd name="adj" fmla="val 1561"/>
            </a:avLst>
          </a:prstGeom>
          <a:solidFill>
            <a:srgbClr val="F4F7F5"/>
          </a:solidFill>
          <a:ln w="12700">
            <a:solidFill>
              <a:srgbClr val="BFCDC2"/>
            </a:solidFill>
            <a:prstDash val="solid"/>
          </a:ln>
        </p:spPr>
      </p:sp>
      <p:sp>
        <p:nvSpPr>
          <p:cNvPr id="18" name="card-hex"/>
          <p:cNvSpPr/>
          <p:nvPr/>
        </p:nvSpPr>
        <p:spPr>
          <a:xfrm>
            <a:off x="8310677" y="1572768"/>
            <a:ext cx="640080" cy="554309"/>
          </a:xfrm>
          <a:prstGeom prst="hexagon">
            <a:avLst/>
          </a:prstGeom>
          <a:solidFill>
            <a:srgbClr val="3F6B4A"/>
          </a:solidFill>
          <a:ln/>
        </p:spPr>
      </p:sp>
      <p:sp>
        <p:nvSpPr>
          <p:cNvPr id="19" name="card-hex-label"/>
          <p:cNvSpPr txBox="1"/>
          <p:nvPr/>
        </p:nvSpPr>
        <p:spPr>
          <a:xfrm>
            <a:off x="8310677"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3</a:t>
            </a:r>
            <a:endParaRPr lang="en-US" sz="2400" dirty="0"/>
          </a:p>
        </p:txBody>
      </p:sp>
      <p:sp>
        <p:nvSpPr>
          <p:cNvPr id="20" name="card-label"/>
          <p:cNvSpPr txBox="1"/>
          <p:nvPr/>
        </p:nvSpPr>
        <p:spPr>
          <a:xfrm>
            <a:off x="9042197" y="1572768"/>
            <a:ext cx="2509418" cy="566928"/>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Work it out</a:t>
            </a:r>
            <a:endParaRPr lang="en-US" sz="1800" dirty="0"/>
          </a:p>
        </p:txBody>
      </p:sp>
      <p:sp>
        <p:nvSpPr>
          <p:cNvPr id="21" name="card-body"/>
          <p:cNvSpPr txBox="1"/>
          <p:nvPr/>
        </p:nvSpPr>
        <p:spPr>
          <a:xfrm>
            <a:off x="8310677" y="2355677"/>
            <a:ext cx="3149498" cy="3651931"/>
          </a:xfrm>
          <a:prstGeom prst="rect">
            <a:avLst/>
          </a:prstGeom>
          <a:noFill/>
          <a:ln/>
        </p:spPr>
        <p:txBody>
          <a:bodyPr wrap="square" lIns="63500" tIns="63500" rIns="63500" bIns="63500" rtlCol="0" anchor="t"/>
          <a:lstStyle/>
          <a:p>
            <a:pPr algn="l" indent="0" marL="0">
              <a:spcAft>
                <a:spcPts val="1000"/>
              </a:spcAft>
              <a:buNone/>
            </a:pPr>
            <a:r>
              <a:rPr lang="en-US" sz="2400" b="1" dirty="0">
                <a:solidFill>
                  <a:srgbClr val="1E2229"/>
                </a:solidFill>
                <a:latin typeface="Calibri" pitchFamily="34" charset="0"/>
                <a:ea typeface="Calibri" pitchFamily="34" charset="-122"/>
                <a:cs typeface="Calibri" pitchFamily="34" charset="-120"/>
              </a:rPr>
              <a:t>The Earth is about 4.54 billion years old. Write this age in millions of years.</a:t>
            </a:r>
            <a:endParaRPr lang="en-US" sz="2400" dirty="0"/>
          </a:p>
          <a:p>
            <a:pPr algn="l" indent="0" marL="0">
              <a:buNone/>
            </a:pPr>
            <a:r>
              <a:rPr lang="en-US" sz="2400" b="1" dirty="0">
                <a:solidFill>
                  <a:srgbClr val="3F6B4A"/>
                </a:solidFill>
                <a:latin typeface="Calibri" pitchFamily="34" charset="0"/>
                <a:ea typeface="Calibri" pitchFamily="34" charset="-122"/>
                <a:cs typeface="Calibri" pitchFamily="34" charset="-120"/>
              </a:rPr>
              <a:t>Answer:  </a:t>
            </a:r>
            <a:pPr algn="l" indent="0" marL="0">
              <a:buNone/>
            </a:pPr>
            <a:r>
              <a:rPr lang="en-US" sz="2400" dirty="0">
                <a:solidFill>
                  <a:srgbClr val="1E2229"/>
                </a:solidFill>
                <a:latin typeface="Calibri" pitchFamily="34" charset="0"/>
                <a:ea typeface="Calibri" pitchFamily="34" charset="-122"/>
                <a:cs typeface="Calibri" pitchFamily="34" charset="-120"/>
              </a:rPr>
              <a:t>________ million years</a:t>
            </a:r>
            <a:endParaRPr lang="en-US" sz="24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3F6B4A"/>
                </a:solidFill>
                <a:latin typeface="Cambria" pitchFamily="34" charset="0"/>
                <a:ea typeface="Cambria" pitchFamily="34" charset="-122"/>
                <a:cs typeface="Cambria" pitchFamily="34" charset="-120"/>
              </a:rPr>
              <a:t>Answers</a:t>
            </a:r>
            <a:endParaRPr lang="en-US" sz="3200" dirty="0"/>
          </a:p>
        </p:txBody>
      </p:sp>
      <p:sp>
        <p:nvSpPr>
          <p:cNvPr id="4" name="chip-hex"/>
          <p:cNvSpPr/>
          <p:nvPr/>
        </p:nvSpPr>
        <p:spPr>
          <a:xfrm>
            <a:off x="9677095" y="531760"/>
            <a:ext cx="566928" cy="490960"/>
          </a:xfrm>
          <a:prstGeom prst="hexagon">
            <a:avLst/>
          </a:prstGeom>
          <a:solidFill>
            <a:srgbClr val="3F6B4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2</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Gate</a:t>
            </a:r>
            <a:endParaRPr lang="en-US" sz="1800" dirty="0"/>
          </a:p>
        </p:txBody>
      </p:sp>
      <p:sp>
        <p:nvSpPr>
          <p:cNvPr id="7" name="card"/>
          <p:cNvSpPr/>
          <p:nvPr/>
        </p:nvSpPr>
        <p:spPr>
          <a:xfrm>
            <a:off x="548640" y="1389888"/>
            <a:ext cx="3515258" cy="4754880"/>
          </a:xfrm>
          <a:prstGeom prst="roundRect">
            <a:avLst>
              <a:gd name="adj" fmla="val 1561"/>
            </a:avLst>
          </a:prstGeom>
          <a:solidFill>
            <a:srgbClr val="F4F7F5"/>
          </a:solidFill>
          <a:ln w="12700">
            <a:solidFill>
              <a:srgbClr val="BFCDC2"/>
            </a:solidFill>
            <a:prstDash val="solid"/>
          </a:ln>
        </p:spPr>
      </p:sp>
      <p:sp>
        <p:nvSpPr>
          <p:cNvPr id="8" name="card-hex"/>
          <p:cNvSpPr/>
          <p:nvPr/>
        </p:nvSpPr>
        <p:spPr>
          <a:xfrm>
            <a:off x="731520" y="1572768"/>
            <a:ext cx="640080" cy="554309"/>
          </a:xfrm>
          <a:prstGeom prst="hexagon">
            <a:avLst/>
          </a:prstGeom>
          <a:solidFill>
            <a:srgbClr val="3F6B4A"/>
          </a:solidFill>
          <a:ln/>
        </p:spPr>
      </p:sp>
      <p:sp>
        <p:nvSpPr>
          <p:cNvPr id="9" name="card-hex-label"/>
          <p:cNvSpPr txBox="1"/>
          <p:nvPr/>
        </p:nvSpPr>
        <p:spPr>
          <a:xfrm>
            <a:off x="731520"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0" name="card-label"/>
          <p:cNvSpPr txBox="1"/>
          <p:nvPr/>
        </p:nvSpPr>
        <p:spPr>
          <a:xfrm>
            <a:off x="1463040" y="1572768"/>
            <a:ext cx="2509418" cy="566928"/>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Answer</a:t>
            </a:r>
            <a:endParaRPr lang="en-US" sz="1800" dirty="0"/>
          </a:p>
        </p:txBody>
      </p:sp>
      <p:sp>
        <p:nvSpPr>
          <p:cNvPr id="11" name="answer-chip"/>
          <p:cNvSpPr/>
          <p:nvPr/>
        </p:nvSpPr>
        <p:spPr>
          <a:xfrm>
            <a:off x="731520" y="2355677"/>
            <a:ext cx="3149498" cy="614172"/>
          </a:xfrm>
          <a:prstGeom prst="roundRect">
            <a:avLst>
              <a:gd name="adj" fmla="val 17866"/>
            </a:avLst>
          </a:prstGeom>
          <a:solidFill>
            <a:srgbClr val="EEE3CD"/>
          </a:solidFill>
          <a:ln w="19050">
            <a:solidFill>
              <a:srgbClr val="B8862B"/>
            </a:solidFill>
            <a:prstDash val="solid"/>
          </a:ln>
        </p:spPr>
      </p:sp>
      <p:sp>
        <p:nvSpPr>
          <p:cNvPr id="12" name="answer"/>
          <p:cNvSpPr txBox="1"/>
          <p:nvPr/>
        </p:nvSpPr>
        <p:spPr>
          <a:xfrm>
            <a:off x="822960" y="2428829"/>
            <a:ext cx="2966618" cy="467868"/>
          </a:xfrm>
          <a:prstGeom prst="rect">
            <a:avLst/>
          </a:prstGeom>
          <a:noFill/>
          <a:ln/>
        </p:spPr>
        <p:txBody>
          <a:bodyPr wrap="square" lIns="63500" tIns="63500" rIns="63500" bIns="63500" rtlCol="0" anchor="ctr"/>
          <a:lstStyle/>
          <a:p>
            <a:pPr algn="l" indent="0" marL="0">
              <a:buNone/>
            </a:pPr>
            <a:r>
              <a:rPr lang="en-US" sz="2200" b="1" dirty="0">
                <a:solidFill>
                  <a:srgbClr val="1E2229"/>
                </a:solidFill>
                <a:latin typeface="Calibri" pitchFamily="34" charset="0"/>
                <a:ea typeface="Calibri" pitchFamily="34" charset="-122"/>
                <a:cs typeface="Calibri" pitchFamily="34" charset="-120"/>
              </a:rPr>
              <a:t>C   Crust</a:t>
            </a:r>
            <a:endParaRPr lang="en-US" sz="2200" dirty="0"/>
          </a:p>
        </p:txBody>
      </p:sp>
      <p:sp>
        <p:nvSpPr>
          <p:cNvPr id="13" name="card-body"/>
          <p:cNvSpPr txBox="1"/>
          <p:nvPr/>
        </p:nvSpPr>
        <p:spPr>
          <a:xfrm>
            <a:off x="731520" y="3152729"/>
            <a:ext cx="3149498" cy="2854879"/>
          </a:xfrm>
          <a:prstGeom prst="rect">
            <a:avLst/>
          </a:prstGeom>
          <a:noFill/>
          <a:ln/>
        </p:spPr>
        <p:txBody>
          <a:bodyPr wrap="square" lIns="63500" tIns="63500" rIns="63500" bIns="63500" rtlCol="0" anchor="t"/>
          <a:lstStyle/>
          <a:p>
            <a:pPr algn="l" indent="0" marL="0">
              <a:spcAft>
                <a:spcPts val="1000"/>
              </a:spcAft>
              <a:buNone/>
            </a:pPr>
            <a:r>
              <a:rPr lang="en-US" sz="2000" dirty="0">
                <a:solidFill>
                  <a:srgbClr val="4A505C"/>
                </a:solidFill>
                <a:latin typeface="Calibri" pitchFamily="34" charset="0"/>
                <a:ea typeface="Calibri" pitchFamily="34" charset="-122"/>
                <a:cs typeface="Calibri" pitchFamily="34" charset="-120"/>
              </a:rPr>
              <a:t>Which layer of the Earth is the thin, solid outer layer that we live on?</a:t>
            </a:r>
            <a:endParaRPr lang="en-US" sz="2000" dirty="0"/>
          </a:p>
          <a:p>
            <a:pPr algn="l" indent="0" marL="0">
              <a:buNone/>
            </a:pPr>
            <a:r>
              <a:rPr lang="en-US" sz="2000" i="1" dirty="0">
                <a:solidFill>
                  <a:srgbClr val="1E2229"/>
                </a:solidFill>
                <a:latin typeface="Calibri" pitchFamily="34" charset="0"/>
                <a:ea typeface="Calibri" pitchFamily="34" charset="-122"/>
                <a:cs typeface="Calibri" pitchFamily="34" charset="-120"/>
              </a:rPr>
              <a:t>The crust is the thin outer layer of solid rock. The mantle and the two parts of the core lie underneath it.</a:t>
            </a:r>
            <a:endParaRPr lang="en-US" sz="2000" dirty="0"/>
          </a:p>
        </p:txBody>
      </p:sp>
      <p:sp>
        <p:nvSpPr>
          <p:cNvPr id="14" name="card"/>
          <p:cNvSpPr/>
          <p:nvPr/>
        </p:nvSpPr>
        <p:spPr>
          <a:xfrm>
            <a:off x="4338218" y="1389888"/>
            <a:ext cx="3515258" cy="4754880"/>
          </a:xfrm>
          <a:prstGeom prst="roundRect">
            <a:avLst>
              <a:gd name="adj" fmla="val 1561"/>
            </a:avLst>
          </a:prstGeom>
          <a:solidFill>
            <a:srgbClr val="F4F7F5"/>
          </a:solidFill>
          <a:ln w="12700">
            <a:solidFill>
              <a:srgbClr val="BFCDC2"/>
            </a:solidFill>
            <a:prstDash val="solid"/>
          </a:ln>
        </p:spPr>
      </p:sp>
      <p:sp>
        <p:nvSpPr>
          <p:cNvPr id="15" name="card-hex"/>
          <p:cNvSpPr/>
          <p:nvPr/>
        </p:nvSpPr>
        <p:spPr>
          <a:xfrm>
            <a:off x="4521098" y="1572768"/>
            <a:ext cx="640080" cy="554309"/>
          </a:xfrm>
          <a:prstGeom prst="hexagon">
            <a:avLst/>
          </a:prstGeom>
          <a:solidFill>
            <a:srgbClr val="3F6B4A"/>
          </a:solidFill>
          <a:ln/>
        </p:spPr>
      </p:sp>
      <p:sp>
        <p:nvSpPr>
          <p:cNvPr id="16" name="card-hex-label"/>
          <p:cNvSpPr txBox="1"/>
          <p:nvPr/>
        </p:nvSpPr>
        <p:spPr>
          <a:xfrm>
            <a:off x="4521098"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7" name="card-label"/>
          <p:cNvSpPr txBox="1"/>
          <p:nvPr/>
        </p:nvSpPr>
        <p:spPr>
          <a:xfrm>
            <a:off x="5252618" y="1572768"/>
            <a:ext cx="2509418" cy="566928"/>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Answer</a:t>
            </a:r>
            <a:endParaRPr lang="en-US" sz="1800" dirty="0"/>
          </a:p>
        </p:txBody>
      </p:sp>
      <p:sp>
        <p:nvSpPr>
          <p:cNvPr id="18" name="answer-chip"/>
          <p:cNvSpPr/>
          <p:nvPr/>
        </p:nvSpPr>
        <p:spPr>
          <a:xfrm>
            <a:off x="4521098" y="2355677"/>
            <a:ext cx="3149498" cy="614172"/>
          </a:xfrm>
          <a:prstGeom prst="roundRect">
            <a:avLst>
              <a:gd name="adj" fmla="val 17866"/>
            </a:avLst>
          </a:prstGeom>
          <a:solidFill>
            <a:srgbClr val="EEE3CD"/>
          </a:solidFill>
          <a:ln w="19050">
            <a:solidFill>
              <a:srgbClr val="B8862B"/>
            </a:solidFill>
            <a:prstDash val="solid"/>
          </a:ln>
        </p:spPr>
      </p:sp>
      <p:sp>
        <p:nvSpPr>
          <p:cNvPr id="19" name="answer"/>
          <p:cNvSpPr txBox="1"/>
          <p:nvPr/>
        </p:nvSpPr>
        <p:spPr>
          <a:xfrm>
            <a:off x="4612538" y="2428829"/>
            <a:ext cx="2966618" cy="467868"/>
          </a:xfrm>
          <a:prstGeom prst="rect">
            <a:avLst/>
          </a:prstGeom>
          <a:noFill/>
          <a:ln/>
        </p:spPr>
        <p:txBody>
          <a:bodyPr wrap="square" lIns="63500" tIns="63500" rIns="63500" bIns="63500" rtlCol="0" anchor="ctr"/>
          <a:lstStyle/>
          <a:p>
            <a:pPr algn="l" indent="0" marL="0">
              <a:buNone/>
            </a:pPr>
            <a:r>
              <a:rPr lang="en-US" sz="2200" b="1" dirty="0">
                <a:solidFill>
                  <a:srgbClr val="1E2229"/>
                </a:solidFill>
                <a:latin typeface="Calibri" pitchFamily="34" charset="0"/>
                <a:ea typeface="Calibri" pitchFamily="34" charset="-122"/>
                <a:cs typeface="Calibri" pitchFamily="34" charset="-120"/>
              </a:rPr>
              <a:t>magma</a:t>
            </a:r>
            <a:endParaRPr lang="en-US" sz="2200" dirty="0"/>
          </a:p>
        </p:txBody>
      </p:sp>
      <p:sp>
        <p:nvSpPr>
          <p:cNvPr id="20" name="card-body"/>
          <p:cNvSpPr txBox="1"/>
          <p:nvPr/>
        </p:nvSpPr>
        <p:spPr>
          <a:xfrm>
            <a:off x="4521098" y="3152729"/>
            <a:ext cx="3149498" cy="2854879"/>
          </a:xfrm>
          <a:prstGeom prst="rect">
            <a:avLst/>
          </a:prstGeom>
          <a:noFill/>
          <a:ln/>
        </p:spPr>
        <p:txBody>
          <a:bodyPr wrap="square" lIns="63500" tIns="63500" rIns="63500" bIns="63500" rtlCol="0" anchor="t"/>
          <a:lstStyle/>
          <a:p>
            <a:pPr algn="l" indent="0" marL="0">
              <a:spcAft>
                <a:spcPts val="1000"/>
              </a:spcAft>
              <a:buNone/>
            </a:pPr>
            <a:r>
              <a:rPr lang="en-US" sz="2200" dirty="0">
                <a:solidFill>
                  <a:srgbClr val="4A505C"/>
                </a:solidFill>
                <a:latin typeface="Calibri" pitchFamily="34" charset="0"/>
                <a:ea typeface="Calibri" pitchFamily="34" charset="-122"/>
                <a:cs typeface="Calibri" pitchFamily="34" charset="-120"/>
              </a:rPr>
              <a:t>Melted rock that is still under the ground is called ___.</a:t>
            </a:r>
            <a:endParaRPr lang="en-US" sz="2200" dirty="0"/>
          </a:p>
          <a:p>
            <a:pPr algn="l" indent="0" marL="0">
              <a:buNone/>
            </a:pPr>
            <a:r>
              <a:rPr lang="en-US" sz="2200" i="1" dirty="0">
                <a:solidFill>
                  <a:srgbClr val="1E2229"/>
                </a:solidFill>
                <a:latin typeface="Calibri" pitchFamily="34" charset="0"/>
                <a:ea typeface="Calibri" pitchFamily="34" charset="-122"/>
                <a:cs typeface="Calibri" pitchFamily="34" charset="-120"/>
              </a:rPr>
              <a:t>Magma is melted rock underground. Once it comes out at the surface it is called lava.</a:t>
            </a:r>
            <a:endParaRPr lang="en-US" sz="2200" dirty="0"/>
          </a:p>
        </p:txBody>
      </p:sp>
      <p:sp>
        <p:nvSpPr>
          <p:cNvPr id="21" name="card"/>
          <p:cNvSpPr/>
          <p:nvPr/>
        </p:nvSpPr>
        <p:spPr>
          <a:xfrm>
            <a:off x="8127797" y="1389888"/>
            <a:ext cx="3515258" cy="4754880"/>
          </a:xfrm>
          <a:prstGeom prst="roundRect">
            <a:avLst>
              <a:gd name="adj" fmla="val 1561"/>
            </a:avLst>
          </a:prstGeom>
          <a:solidFill>
            <a:srgbClr val="F4F7F5"/>
          </a:solidFill>
          <a:ln w="12700">
            <a:solidFill>
              <a:srgbClr val="BFCDC2"/>
            </a:solidFill>
            <a:prstDash val="solid"/>
          </a:ln>
        </p:spPr>
      </p:sp>
      <p:sp>
        <p:nvSpPr>
          <p:cNvPr id="22" name="card-hex"/>
          <p:cNvSpPr/>
          <p:nvPr/>
        </p:nvSpPr>
        <p:spPr>
          <a:xfrm>
            <a:off x="8310677" y="1572768"/>
            <a:ext cx="640080" cy="554309"/>
          </a:xfrm>
          <a:prstGeom prst="hexagon">
            <a:avLst/>
          </a:prstGeom>
          <a:solidFill>
            <a:srgbClr val="3F6B4A"/>
          </a:solidFill>
          <a:ln/>
        </p:spPr>
      </p:sp>
      <p:sp>
        <p:nvSpPr>
          <p:cNvPr id="23" name="card-hex-label"/>
          <p:cNvSpPr txBox="1"/>
          <p:nvPr/>
        </p:nvSpPr>
        <p:spPr>
          <a:xfrm>
            <a:off x="8310677"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3</a:t>
            </a:r>
            <a:endParaRPr lang="en-US" sz="2400" dirty="0"/>
          </a:p>
        </p:txBody>
      </p:sp>
      <p:sp>
        <p:nvSpPr>
          <p:cNvPr id="24" name="card-label"/>
          <p:cNvSpPr txBox="1"/>
          <p:nvPr/>
        </p:nvSpPr>
        <p:spPr>
          <a:xfrm>
            <a:off x="9042197" y="1572768"/>
            <a:ext cx="2509418" cy="566928"/>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Answer</a:t>
            </a:r>
            <a:endParaRPr lang="en-US" sz="1800" dirty="0"/>
          </a:p>
        </p:txBody>
      </p:sp>
      <p:sp>
        <p:nvSpPr>
          <p:cNvPr id="25" name="answer-chip"/>
          <p:cNvSpPr/>
          <p:nvPr/>
        </p:nvSpPr>
        <p:spPr>
          <a:xfrm>
            <a:off x="8310677" y="2355677"/>
            <a:ext cx="3149498" cy="614172"/>
          </a:xfrm>
          <a:prstGeom prst="roundRect">
            <a:avLst>
              <a:gd name="adj" fmla="val 17866"/>
            </a:avLst>
          </a:prstGeom>
          <a:solidFill>
            <a:srgbClr val="EEE3CD"/>
          </a:solidFill>
          <a:ln w="19050">
            <a:solidFill>
              <a:srgbClr val="B8862B"/>
            </a:solidFill>
            <a:prstDash val="solid"/>
          </a:ln>
        </p:spPr>
      </p:sp>
      <p:sp>
        <p:nvSpPr>
          <p:cNvPr id="26" name="answer"/>
          <p:cNvSpPr txBox="1"/>
          <p:nvPr/>
        </p:nvSpPr>
        <p:spPr>
          <a:xfrm>
            <a:off x="8402117" y="2428829"/>
            <a:ext cx="2966618" cy="467868"/>
          </a:xfrm>
          <a:prstGeom prst="rect">
            <a:avLst/>
          </a:prstGeom>
          <a:noFill/>
          <a:ln/>
        </p:spPr>
        <p:txBody>
          <a:bodyPr wrap="square" lIns="63500" tIns="63500" rIns="63500" bIns="63500" rtlCol="0" anchor="ctr"/>
          <a:lstStyle/>
          <a:p>
            <a:pPr algn="l" indent="0" marL="0">
              <a:buNone/>
            </a:pPr>
            <a:r>
              <a:rPr lang="en-US" sz="2200" b="1" dirty="0">
                <a:solidFill>
                  <a:srgbClr val="1E2229"/>
                </a:solidFill>
                <a:latin typeface="Calibri" pitchFamily="34" charset="0"/>
                <a:ea typeface="Calibri" pitchFamily="34" charset="-122"/>
                <a:cs typeface="Calibri" pitchFamily="34" charset="-120"/>
              </a:rPr>
              <a:t>4540 million years</a:t>
            </a:r>
            <a:endParaRPr lang="en-US" sz="2200" dirty="0"/>
          </a:p>
        </p:txBody>
      </p:sp>
      <p:sp>
        <p:nvSpPr>
          <p:cNvPr id="27" name="card-body"/>
          <p:cNvSpPr txBox="1"/>
          <p:nvPr/>
        </p:nvSpPr>
        <p:spPr>
          <a:xfrm>
            <a:off x="8310677" y="3152729"/>
            <a:ext cx="3149498" cy="2854879"/>
          </a:xfrm>
          <a:prstGeom prst="rect">
            <a:avLst/>
          </a:prstGeom>
          <a:noFill/>
          <a:ln/>
        </p:spPr>
        <p:txBody>
          <a:bodyPr wrap="square" lIns="63500" tIns="63500" rIns="63500" bIns="63500" rtlCol="0" anchor="t"/>
          <a:lstStyle/>
          <a:p>
            <a:pPr algn="l" indent="0" marL="0">
              <a:spcAft>
                <a:spcPts val="1000"/>
              </a:spcAft>
              <a:buNone/>
            </a:pPr>
            <a:r>
              <a:rPr lang="en-US" sz="2000" dirty="0">
                <a:solidFill>
                  <a:srgbClr val="4A505C"/>
                </a:solidFill>
                <a:latin typeface="Calibri" pitchFamily="34" charset="0"/>
                <a:ea typeface="Calibri" pitchFamily="34" charset="-122"/>
                <a:cs typeface="Calibri" pitchFamily="34" charset="-120"/>
              </a:rPr>
              <a:t>The Earth is about 4.54 billion years old. Write this age in millions of years.</a:t>
            </a:r>
            <a:endParaRPr lang="en-US" sz="2000" dirty="0"/>
          </a:p>
          <a:p>
            <a:pPr algn="l" indent="0" marL="0">
              <a:buNone/>
            </a:pPr>
            <a:r>
              <a:rPr lang="en-US" sz="2000" i="1" dirty="0">
                <a:solidFill>
                  <a:srgbClr val="1E2229"/>
                </a:solidFill>
                <a:latin typeface="Calibri" pitchFamily="34" charset="0"/>
                <a:ea typeface="Calibri" pitchFamily="34" charset="-122"/>
                <a:cs typeface="Calibri" pitchFamily="34" charset="-120"/>
              </a:rPr>
              <a:t>One billion is one thousand million, so 4.54 billion is 4.54 × 1,000 = 4,540 million.</a:t>
            </a:r>
            <a:endParaRPr lang="en-US" sz="20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3F6B4A"/>
                </a:solidFill>
                <a:latin typeface="Cambria" pitchFamily="34" charset="0"/>
                <a:ea typeface="Cambria" pitchFamily="34" charset="-122"/>
                <a:cs typeface="Cambria" pitchFamily="34" charset="-120"/>
              </a:rPr>
              <a:t>Key words (1 of 2)</a:t>
            </a:r>
            <a:endParaRPr lang="en-US" sz="3200" dirty="0"/>
          </a:p>
        </p:txBody>
      </p:sp>
      <p:sp>
        <p:nvSpPr>
          <p:cNvPr id="4" name="chip-hex"/>
          <p:cNvSpPr/>
          <p:nvPr/>
        </p:nvSpPr>
        <p:spPr>
          <a:xfrm>
            <a:off x="9677095" y="531760"/>
            <a:ext cx="566928" cy="490960"/>
          </a:xfrm>
          <a:prstGeom prst="hexagon">
            <a:avLst/>
          </a:prstGeom>
          <a:solidFill>
            <a:srgbClr val="3F6B4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1</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Pre-teach</a:t>
            </a:r>
            <a:endParaRPr lang="en-US" sz="1800" dirty="0"/>
          </a:p>
        </p:txBody>
      </p:sp>
      <p:sp>
        <p:nvSpPr>
          <p:cNvPr id="7" name="word-card"/>
          <p:cNvSpPr/>
          <p:nvPr/>
        </p:nvSpPr>
        <p:spPr>
          <a:xfrm>
            <a:off x="548640" y="1389888"/>
            <a:ext cx="3515258" cy="4754880"/>
          </a:xfrm>
          <a:prstGeom prst="roundRect">
            <a:avLst>
              <a:gd name="adj" fmla="val 1561"/>
            </a:avLst>
          </a:prstGeom>
          <a:solidFill>
            <a:srgbClr val="F3F5F3"/>
          </a:solidFill>
          <a:ln w="12700">
            <a:solidFill>
              <a:srgbClr val="B5C6B9"/>
            </a:solidFill>
            <a:prstDash val="solid"/>
          </a:ln>
        </p:spPr>
      </p:sp>
      <p:sp>
        <p:nvSpPr>
          <p:cNvPr id="8" name="word-hex"/>
          <p:cNvSpPr/>
          <p:nvPr/>
        </p:nvSpPr>
        <p:spPr>
          <a:xfrm>
            <a:off x="685800" y="1587414"/>
            <a:ext cx="502920" cy="435529"/>
          </a:xfrm>
          <a:prstGeom prst="hexagon">
            <a:avLst/>
          </a:prstGeom>
          <a:solidFill>
            <a:srgbClr val="B8862B"/>
          </a:solidFill>
          <a:ln/>
        </p:spPr>
      </p:sp>
      <p:sp>
        <p:nvSpPr>
          <p:cNvPr id="9" name="word-hex-label"/>
          <p:cNvSpPr txBox="1"/>
          <p:nvPr/>
        </p:nvSpPr>
        <p:spPr>
          <a:xfrm>
            <a:off x="685800" y="1587414"/>
            <a:ext cx="502920" cy="435529"/>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10" name="word"/>
          <p:cNvSpPr txBox="1"/>
          <p:nvPr/>
        </p:nvSpPr>
        <p:spPr>
          <a:xfrm>
            <a:off x="1280160" y="1527048"/>
            <a:ext cx="2646578" cy="556260"/>
          </a:xfrm>
          <a:prstGeom prst="rect">
            <a:avLst/>
          </a:prstGeom>
          <a:noFill/>
          <a:ln/>
        </p:spPr>
        <p:txBody>
          <a:bodyPr wrap="square" lIns="63500" tIns="63500" rIns="63500" bIns="63500" rtlCol="0" anchor="ctr"/>
          <a:lstStyle/>
          <a:p>
            <a:pPr algn="l" indent="0" marL="0">
              <a:buNone/>
            </a:pPr>
            <a:r>
              <a:rPr lang="en-US" sz="2600" b="1" dirty="0">
                <a:solidFill>
                  <a:srgbClr val="3F6B4A"/>
                </a:solidFill>
                <a:latin typeface="Cambria" pitchFamily="34" charset="0"/>
                <a:ea typeface="Cambria" pitchFamily="34" charset="-122"/>
                <a:cs typeface="Cambria" pitchFamily="34" charset="-120"/>
              </a:rPr>
              <a:t>crust</a:t>
            </a:r>
            <a:endParaRPr lang="en-US" sz="2600" dirty="0"/>
          </a:p>
        </p:txBody>
      </p:sp>
      <p:sp>
        <p:nvSpPr>
          <p:cNvPr id="11" name="word-rule"/>
          <p:cNvSpPr/>
          <p:nvPr/>
        </p:nvSpPr>
        <p:spPr>
          <a:xfrm>
            <a:off x="731520" y="2129028"/>
            <a:ext cx="3149498" cy="0"/>
          </a:xfrm>
          <a:prstGeom prst="line">
            <a:avLst/>
          </a:prstGeom>
          <a:ln w="12700">
            <a:solidFill>
              <a:srgbClr val="B5C6B9"/>
            </a:solidFill>
            <a:prstDash val="solid"/>
          </a:ln>
        </p:spPr>
      </p:sp>
      <p:sp>
        <p:nvSpPr>
          <p:cNvPr id="12" name="word-body"/>
          <p:cNvSpPr txBox="1"/>
          <p:nvPr/>
        </p:nvSpPr>
        <p:spPr>
          <a:xfrm>
            <a:off x="731520" y="2174748"/>
            <a:ext cx="3149498" cy="3832860"/>
          </a:xfrm>
          <a:prstGeom prst="rect">
            <a:avLst/>
          </a:prstGeom>
          <a:noFill/>
          <a:ln/>
        </p:spPr>
        <p:txBody>
          <a:bodyPr wrap="square" lIns="63500" tIns="63500" rIns="63500" bIns="63500" rtlCol="0" anchor="t"/>
          <a:lstStyle/>
          <a:p>
            <a:pPr algn="l" indent="0" marL="0">
              <a:spcAft>
                <a:spcPts val="800"/>
              </a:spcAft>
              <a:buNone/>
            </a:pPr>
            <a:r>
              <a:rPr lang="en-US" sz="2200" dirty="0">
                <a:solidFill>
                  <a:srgbClr val="1E2229"/>
                </a:solidFill>
                <a:latin typeface="Calibri" pitchFamily="34" charset="0"/>
                <a:ea typeface="Calibri" pitchFamily="34" charset="-122"/>
                <a:cs typeface="Calibri" pitchFamily="34" charset="-120"/>
              </a:rPr>
              <a:t>the thin, solid outer layer of the Earth</a:t>
            </a:r>
            <a:endParaRPr lang="en-US" sz="2200" dirty="0"/>
          </a:p>
          <a:p>
            <a:pPr algn="l" indent="0" marL="0">
              <a:buNone/>
            </a:pPr>
            <a:r>
              <a:rPr lang="en-US" sz="2200" i="1" dirty="0">
                <a:solidFill>
                  <a:srgbClr val="4A505C"/>
                </a:solidFill>
                <a:latin typeface="Calibri" pitchFamily="34" charset="0"/>
                <a:ea typeface="Calibri" pitchFamily="34" charset="-122"/>
                <a:cs typeface="Calibri" pitchFamily="34" charset="-120"/>
              </a:rPr>
              <a:t>We live on the crust, the thin outer layer of the Earth.</a:t>
            </a:r>
            <a:endParaRPr lang="en-US" sz="2200" dirty="0"/>
          </a:p>
        </p:txBody>
      </p:sp>
      <p:sp>
        <p:nvSpPr>
          <p:cNvPr id="13" name="word-card"/>
          <p:cNvSpPr/>
          <p:nvPr/>
        </p:nvSpPr>
        <p:spPr>
          <a:xfrm>
            <a:off x="4338218" y="1389888"/>
            <a:ext cx="3515258" cy="4754880"/>
          </a:xfrm>
          <a:prstGeom prst="roundRect">
            <a:avLst>
              <a:gd name="adj" fmla="val 1561"/>
            </a:avLst>
          </a:prstGeom>
          <a:solidFill>
            <a:srgbClr val="F3F5F3"/>
          </a:solidFill>
          <a:ln w="12700">
            <a:solidFill>
              <a:srgbClr val="B5C6B9"/>
            </a:solidFill>
            <a:prstDash val="solid"/>
          </a:ln>
        </p:spPr>
      </p:sp>
      <p:sp>
        <p:nvSpPr>
          <p:cNvPr id="14" name="word-hex"/>
          <p:cNvSpPr/>
          <p:nvPr/>
        </p:nvSpPr>
        <p:spPr>
          <a:xfrm>
            <a:off x="4475378" y="1587414"/>
            <a:ext cx="502920" cy="435529"/>
          </a:xfrm>
          <a:prstGeom prst="hexagon">
            <a:avLst/>
          </a:prstGeom>
          <a:solidFill>
            <a:srgbClr val="B8862B"/>
          </a:solidFill>
          <a:ln/>
        </p:spPr>
      </p:sp>
      <p:sp>
        <p:nvSpPr>
          <p:cNvPr id="15" name="word-hex-label"/>
          <p:cNvSpPr txBox="1"/>
          <p:nvPr/>
        </p:nvSpPr>
        <p:spPr>
          <a:xfrm>
            <a:off x="4475378" y="1587414"/>
            <a:ext cx="502920" cy="435529"/>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16" name="word"/>
          <p:cNvSpPr txBox="1"/>
          <p:nvPr/>
        </p:nvSpPr>
        <p:spPr>
          <a:xfrm>
            <a:off x="5069738" y="1527048"/>
            <a:ext cx="2646578" cy="556260"/>
          </a:xfrm>
          <a:prstGeom prst="rect">
            <a:avLst/>
          </a:prstGeom>
          <a:noFill/>
          <a:ln/>
        </p:spPr>
        <p:txBody>
          <a:bodyPr wrap="square" lIns="63500" tIns="63500" rIns="63500" bIns="63500" rtlCol="0" anchor="ctr"/>
          <a:lstStyle/>
          <a:p>
            <a:pPr algn="l" indent="0" marL="0">
              <a:buNone/>
            </a:pPr>
            <a:r>
              <a:rPr lang="en-US" sz="2600" b="1" dirty="0">
                <a:solidFill>
                  <a:srgbClr val="3F6B4A"/>
                </a:solidFill>
                <a:latin typeface="Cambria" pitchFamily="34" charset="0"/>
                <a:ea typeface="Cambria" pitchFamily="34" charset="-122"/>
                <a:cs typeface="Cambria" pitchFamily="34" charset="-120"/>
              </a:rPr>
              <a:t>mantle</a:t>
            </a:r>
            <a:endParaRPr lang="en-US" sz="2600" dirty="0"/>
          </a:p>
        </p:txBody>
      </p:sp>
      <p:sp>
        <p:nvSpPr>
          <p:cNvPr id="17" name="word-rule"/>
          <p:cNvSpPr/>
          <p:nvPr/>
        </p:nvSpPr>
        <p:spPr>
          <a:xfrm>
            <a:off x="4521098" y="2129028"/>
            <a:ext cx="3149498" cy="0"/>
          </a:xfrm>
          <a:prstGeom prst="line">
            <a:avLst/>
          </a:prstGeom>
          <a:ln w="12700">
            <a:solidFill>
              <a:srgbClr val="B5C6B9"/>
            </a:solidFill>
            <a:prstDash val="solid"/>
          </a:ln>
        </p:spPr>
      </p:sp>
      <p:sp>
        <p:nvSpPr>
          <p:cNvPr id="18" name="word-body"/>
          <p:cNvSpPr txBox="1"/>
          <p:nvPr/>
        </p:nvSpPr>
        <p:spPr>
          <a:xfrm>
            <a:off x="4521098" y="2174748"/>
            <a:ext cx="3149498" cy="3832860"/>
          </a:xfrm>
          <a:prstGeom prst="rect">
            <a:avLst/>
          </a:prstGeom>
          <a:noFill/>
          <a:ln/>
        </p:spPr>
        <p:txBody>
          <a:bodyPr wrap="square" lIns="63500" tIns="63500" rIns="63500" bIns="63500" rtlCol="0" anchor="t"/>
          <a:lstStyle/>
          <a:p>
            <a:pPr algn="l" indent="0" marL="0">
              <a:spcAft>
                <a:spcPts val="800"/>
              </a:spcAft>
              <a:buNone/>
            </a:pPr>
            <a:r>
              <a:rPr lang="en-US" sz="2200" dirty="0">
                <a:solidFill>
                  <a:srgbClr val="1E2229"/>
                </a:solidFill>
                <a:latin typeface="Calibri" pitchFamily="34" charset="0"/>
                <a:ea typeface="Calibri" pitchFamily="34" charset="-122"/>
                <a:cs typeface="Calibri" pitchFamily="34" charset="-120"/>
              </a:rPr>
              <a:t>the thick layer of very hot rock under the crust</a:t>
            </a:r>
            <a:endParaRPr lang="en-US" sz="2200" dirty="0"/>
          </a:p>
          <a:p>
            <a:pPr algn="l" indent="0" marL="0">
              <a:buNone/>
            </a:pPr>
            <a:r>
              <a:rPr lang="en-US" sz="2200" i="1" dirty="0">
                <a:solidFill>
                  <a:srgbClr val="4A505C"/>
                </a:solidFill>
                <a:latin typeface="Calibri" pitchFamily="34" charset="0"/>
                <a:ea typeface="Calibri" pitchFamily="34" charset="-122"/>
                <a:cs typeface="Calibri" pitchFamily="34" charset="-120"/>
              </a:rPr>
              <a:t>The mantle is so hot that its rock moves very slowly.</a:t>
            </a:r>
            <a:endParaRPr lang="en-US" sz="2200" dirty="0"/>
          </a:p>
        </p:txBody>
      </p:sp>
      <p:sp>
        <p:nvSpPr>
          <p:cNvPr id="19" name="word-card"/>
          <p:cNvSpPr/>
          <p:nvPr/>
        </p:nvSpPr>
        <p:spPr>
          <a:xfrm>
            <a:off x="8127797" y="1389888"/>
            <a:ext cx="3515258" cy="4754880"/>
          </a:xfrm>
          <a:prstGeom prst="roundRect">
            <a:avLst>
              <a:gd name="adj" fmla="val 1561"/>
            </a:avLst>
          </a:prstGeom>
          <a:solidFill>
            <a:srgbClr val="F3F5F3"/>
          </a:solidFill>
          <a:ln w="12700">
            <a:solidFill>
              <a:srgbClr val="B5C6B9"/>
            </a:solidFill>
            <a:prstDash val="solid"/>
          </a:ln>
        </p:spPr>
      </p:sp>
      <p:sp>
        <p:nvSpPr>
          <p:cNvPr id="20" name="word-hex"/>
          <p:cNvSpPr/>
          <p:nvPr/>
        </p:nvSpPr>
        <p:spPr>
          <a:xfrm>
            <a:off x="8264957" y="1587414"/>
            <a:ext cx="502920" cy="435529"/>
          </a:xfrm>
          <a:prstGeom prst="hexagon">
            <a:avLst/>
          </a:prstGeom>
          <a:solidFill>
            <a:srgbClr val="B8862B"/>
          </a:solidFill>
          <a:ln/>
        </p:spPr>
      </p:sp>
      <p:sp>
        <p:nvSpPr>
          <p:cNvPr id="21" name="word-hex-label"/>
          <p:cNvSpPr txBox="1"/>
          <p:nvPr/>
        </p:nvSpPr>
        <p:spPr>
          <a:xfrm>
            <a:off x="8264957" y="1587414"/>
            <a:ext cx="502920" cy="435529"/>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22" name="word"/>
          <p:cNvSpPr txBox="1"/>
          <p:nvPr/>
        </p:nvSpPr>
        <p:spPr>
          <a:xfrm>
            <a:off x="8859317" y="1527048"/>
            <a:ext cx="2646578" cy="556260"/>
          </a:xfrm>
          <a:prstGeom prst="rect">
            <a:avLst/>
          </a:prstGeom>
          <a:noFill/>
          <a:ln/>
        </p:spPr>
        <p:txBody>
          <a:bodyPr wrap="square" lIns="63500" tIns="63500" rIns="63500" bIns="63500" rtlCol="0" anchor="ctr"/>
          <a:lstStyle/>
          <a:p>
            <a:pPr algn="l" indent="0" marL="0">
              <a:buNone/>
            </a:pPr>
            <a:r>
              <a:rPr lang="en-US" sz="2600" b="1" dirty="0">
                <a:solidFill>
                  <a:srgbClr val="3F6B4A"/>
                </a:solidFill>
                <a:latin typeface="Cambria" pitchFamily="34" charset="0"/>
                <a:ea typeface="Cambria" pitchFamily="34" charset="-122"/>
                <a:cs typeface="Cambria" pitchFamily="34" charset="-120"/>
              </a:rPr>
              <a:t>core</a:t>
            </a:r>
            <a:endParaRPr lang="en-US" sz="2600" dirty="0"/>
          </a:p>
        </p:txBody>
      </p:sp>
      <p:sp>
        <p:nvSpPr>
          <p:cNvPr id="23" name="word-rule"/>
          <p:cNvSpPr/>
          <p:nvPr/>
        </p:nvSpPr>
        <p:spPr>
          <a:xfrm>
            <a:off x="8310677" y="2129028"/>
            <a:ext cx="3149498" cy="0"/>
          </a:xfrm>
          <a:prstGeom prst="line">
            <a:avLst/>
          </a:prstGeom>
          <a:ln w="12700">
            <a:solidFill>
              <a:srgbClr val="B5C6B9"/>
            </a:solidFill>
            <a:prstDash val="solid"/>
          </a:ln>
        </p:spPr>
      </p:sp>
      <p:sp>
        <p:nvSpPr>
          <p:cNvPr id="24" name="word-body"/>
          <p:cNvSpPr txBox="1"/>
          <p:nvPr/>
        </p:nvSpPr>
        <p:spPr>
          <a:xfrm>
            <a:off x="8310677" y="2174748"/>
            <a:ext cx="3149498" cy="3832860"/>
          </a:xfrm>
          <a:prstGeom prst="rect">
            <a:avLst/>
          </a:prstGeom>
          <a:noFill/>
          <a:ln/>
        </p:spPr>
        <p:txBody>
          <a:bodyPr wrap="square" lIns="63500" tIns="63500" rIns="63500" bIns="63500" rtlCol="0" anchor="t"/>
          <a:lstStyle/>
          <a:p>
            <a:pPr algn="l" indent="0" marL="0">
              <a:spcAft>
                <a:spcPts val="800"/>
              </a:spcAft>
              <a:buNone/>
            </a:pPr>
            <a:r>
              <a:rPr lang="en-US" sz="2200" dirty="0">
                <a:solidFill>
                  <a:srgbClr val="1E2229"/>
                </a:solidFill>
                <a:latin typeface="Calibri" pitchFamily="34" charset="0"/>
                <a:ea typeface="Calibri" pitchFamily="34" charset="-122"/>
                <a:cs typeface="Calibri" pitchFamily="34" charset="-120"/>
              </a:rPr>
              <a:t>the centre of the Earth, the hottest part</a:t>
            </a:r>
            <a:endParaRPr lang="en-US" sz="2200" dirty="0"/>
          </a:p>
          <a:p>
            <a:pPr algn="l" indent="0" marL="0">
              <a:buNone/>
            </a:pPr>
            <a:r>
              <a:rPr lang="en-US" sz="2200" i="1" dirty="0">
                <a:solidFill>
                  <a:srgbClr val="4A505C"/>
                </a:solidFill>
                <a:latin typeface="Calibri" pitchFamily="34" charset="0"/>
                <a:ea typeface="Calibri" pitchFamily="34" charset="-122"/>
                <a:cs typeface="Calibri" pitchFamily="34" charset="-120"/>
              </a:rPr>
              <a:t>The core is at the very centre of the Earth.</a:t>
            </a:r>
            <a:endParaRPr lang="en-US" sz="22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3F6B4A"/>
                </a:solidFill>
                <a:latin typeface="Cambria" pitchFamily="34" charset="0"/>
                <a:ea typeface="Cambria" pitchFamily="34" charset="-122"/>
                <a:cs typeface="Cambria" pitchFamily="34" charset="-120"/>
              </a:rPr>
              <a:t>Key words (2 of 2)</a:t>
            </a:r>
            <a:endParaRPr lang="en-US" sz="3200" dirty="0"/>
          </a:p>
        </p:txBody>
      </p:sp>
      <p:sp>
        <p:nvSpPr>
          <p:cNvPr id="4" name="chip-hex"/>
          <p:cNvSpPr/>
          <p:nvPr/>
        </p:nvSpPr>
        <p:spPr>
          <a:xfrm>
            <a:off x="9677095" y="531760"/>
            <a:ext cx="566928" cy="490960"/>
          </a:xfrm>
          <a:prstGeom prst="hexagon">
            <a:avLst/>
          </a:prstGeom>
          <a:solidFill>
            <a:srgbClr val="3F6B4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1</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Pre-teach</a:t>
            </a:r>
            <a:endParaRPr lang="en-US" sz="1800" dirty="0"/>
          </a:p>
        </p:txBody>
      </p:sp>
      <p:sp>
        <p:nvSpPr>
          <p:cNvPr id="7" name="word-card"/>
          <p:cNvSpPr/>
          <p:nvPr/>
        </p:nvSpPr>
        <p:spPr>
          <a:xfrm>
            <a:off x="548640" y="1389888"/>
            <a:ext cx="3515258" cy="4754880"/>
          </a:xfrm>
          <a:prstGeom prst="roundRect">
            <a:avLst>
              <a:gd name="adj" fmla="val 1561"/>
            </a:avLst>
          </a:prstGeom>
          <a:solidFill>
            <a:srgbClr val="F3F5F3"/>
          </a:solidFill>
          <a:ln w="12700">
            <a:solidFill>
              <a:srgbClr val="B5C6B9"/>
            </a:solidFill>
            <a:prstDash val="solid"/>
          </a:ln>
        </p:spPr>
      </p:sp>
      <p:sp>
        <p:nvSpPr>
          <p:cNvPr id="8" name="word-hex"/>
          <p:cNvSpPr/>
          <p:nvPr/>
        </p:nvSpPr>
        <p:spPr>
          <a:xfrm>
            <a:off x="685800" y="1587414"/>
            <a:ext cx="502920" cy="435529"/>
          </a:xfrm>
          <a:prstGeom prst="hexagon">
            <a:avLst/>
          </a:prstGeom>
          <a:solidFill>
            <a:srgbClr val="B8862B"/>
          </a:solidFill>
          <a:ln/>
        </p:spPr>
      </p:sp>
      <p:sp>
        <p:nvSpPr>
          <p:cNvPr id="9" name="word-hex-label"/>
          <p:cNvSpPr txBox="1"/>
          <p:nvPr/>
        </p:nvSpPr>
        <p:spPr>
          <a:xfrm>
            <a:off x="685800" y="1587414"/>
            <a:ext cx="502920" cy="435529"/>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4</a:t>
            </a:r>
            <a:endParaRPr lang="en-US" sz="1800" dirty="0"/>
          </a:p>
        </p:txBody>
      </p:sp>
      <p:sp>
        <p:nvSpPr>
          <p:cNvPr id="10" name="word"/>
          <p:cNvSpPr txBox="1"/>
          <p:nvPr/>
        </p:nvSpPr>
        <p:spPr>
          <a:xfrm>
            <a:off x="1280160" y="1527048"/>
            <a:ext cx="2646578" cy="556260"/>
          </a:xfrm>
          <a:prstGeom prst="rect">
            <a:avLst/>
          </a:prstGeom>
          <a:noFill/>
          <a:ln/>
        </p:spPr>
        <p:txBody>
          <a:bodyPr wrap="square" lIns="63500" tIns="63500" rIns="63500" bIns="63500" rtlCol="0" anchor="ctr"/>
          <a:lstStyle/>
          <a:p>
            <a:pPr algn="l" indent="0" marL="0">
              <a:buNone/>
            </a:pPr>
            <a:r>
              <a:rPr lang="en-US" sz="2600" b="1" dirty="0">
                <a:solidFill>
                  <a:srgbClr val="3F6B4A"/>
                </a:solidFill>
                <a:latin typeface="Cambria" pitchFamily="34" charset="0"/>
                <a:ea typeface="Cambria" pitchFamily="34" charset="-122"/>
                <a:cs typeface="Cambria" pitchFamily="34" charset="-120"/>
              </a:rPr>
              <a:t>magma</a:t>
            </a:r>
            <a:endParaRPr lang="en-US" sz="2600" dirty="0"/>
          </a:p>
        </p:txBody>
      </p:sp>
      <p:sp>
        <p:nvSpPr>
          <p:cNvPr id="11" name="word-rule"/>
          <p:cNvSpPr/>
          <p:nvPr/>
        </p:nvSpPr>
        <p:spPr>
          <a:xfrm>
            <a:off x="731520" y="2129028"/>
            <a:ext cx="3149498" cy="0"/>
          </a:xfrm>
          <a:prstGeom prst="line">
            <a:avLst/>
          </a:prstGeom>
          <a:ln w="12700">
            <a:solidFill>
              <a:srgbClr val="B5C6B9"/>
            </a:solidFill>
            <a:prstDash val="solid"/>
          </a:ln>
        </p:spPr>
      </p:sp>
      <p:sp>
        <p:nvSpPr>
          <p:cNvPr id="12" name="word-body"/>
          <p:cNvSpPr txBox="1"/>
          <p:nvPr/>
        </p:nvSpPr>
        <p:spPr>
          <a:xfrm>
            <a:off x="731520" y="2174748"/>
            <a:ext cx="3149498" cy="3832860"/>
          </a:xfrm>
          <a:prstGeom prst="rect">
            <a:avLst/>
          </a:prstGeom>
          <a:noFill/>
          <a:ln/>
        </p:spPr>
        <p:txBody>
          <a:bodyPr wrap="square" lIns="63500" tIns="63500" rIns="63500" bIns="63500" rtlCol="0" anchor="t"/>
          <a:lstStyle/>
          <a:p>
            <a:pPr algn="l" indent="0" marL="0">
              <a:spcAft>
                <a:spcPts val="800"/>
              </a:spcAft>
              <a:buNone/>
            </a:pPr>
            <a:r>
              <a:rPr lang="en-US" sz="2200" dirty="0">
                <a:solidFill>
                  <a:srgbClr val="1E2229"/>
                </a:solidFill>
                <a:latin typeface="Calibri" pitchFamily="34" charset="0"/>
                <a:ea typeface="Calibri" pitchFamily="34" charset="-122"/>
                <a:cs typeface="Calibri" pitchFamily="34" charset="-120"/>
              </a:rPr>
              <a:t>melted rock that is still under the ground</a:t>
            </a:r>
            <a:endParaRPr lang="en-US" sz="2200" dirty="0"/>
          </a:p>
          <a:p>
            <a:pPr algn="l" indent="0" marL="0">
              <a:buNone/>
            </a:pPr>
            <a:r>
              <a:rPr lang="en-US" sz="2200" i="1" dirty="0">
                <a:solidFill>
                  <a:srgbClr val="4A505C"/>
                </a:solidFill>
                <a:latin typeface="Calibri" pitchFamily="34" charset="0"/>
                <a:ea typeface="Calibri" pitchFamily="34" charset="-122"/>
                <a:cs typeface="Calibri" pitchFamily="34" charset="-120"/>
              </a:rPr>
              <a:t>Magma is melted rock that has not reached the surface yet.</a:t>
            </a:r>
            <a:endParaRPr lang="en-US" sz="2200" dirty="0"/>
          </a:p>
        </p:txBody>
      </p:sp>
      <p:sp>
        <p:nvSpPr>
          <p:cNvPr id="13" name="word-card"/>
          <p:cNvSpPr/>
          <p:nvPr/>
        </p:nvSpPr>
        <p:spPr>
          <a:xfrm>
            <a:off x="4338218" y="1389888"/>
            <a:ext cx="3515258" cy="4754880"/>
          </a:xfrm>
          <a:prstGeom prst="roundRect">
            <a:avLst>
              <a:gd name="adj" fmla="val 1561"/>
            </a:avLst>
          </a:prstGeom>
          <a:solidFill>
            <a:srgbClr val="F3F5F3"/>
          </a:solidFill>
          <a:ln w="12700">
            <a:solidFill>
              <a:srgbClr val="B5C6B9"/>
            </a:solidFill>
            <a:prstDash val="solid"/>
          </a:ln>
        </p:spPr>
      </p:sp>
      <p:sp>
        <p:nvSpPr>
          <p:cNvPr id="14" name="word-hex"/>
          <p:cNvSpPr/>
          <p:nvPr/>
        </p:nvSpPr>
        <p:spPr>
          <a:xfrm>
            <a:off x="4475378" y="1587414"/>
            <a:ext cx="502920" cy="435529"/>
          </a:xfrm>
          <a:prstGeom prst="hexagon">
            <a:avLst/>
          </a:prstGeom>
          <a:solidFill>
            <a:srgbClr val="B8862B"/>
          </a:solidFill>
          <a:ln/>
        </p:spPr>
      </p:sp>
      <p:sp>
        <p:nvSpPr>
          <p:cNvPr id="15" name="word-hex-label"/>
          <p:cNvSpPr txBox="1"/>
          <p:nvPr/>
        </p:nvSpPr>
        <p:spPr>
          <a:xfrm>
            <a:off x="4475378" y="1587414"/>
            <a:ext cx="502920" cy="435529"/>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5</a:t>
            </a:r>
            <a:endParaRPr lang="en-US" sz="1800" dirty="0"/>
          </a:p>
        </p:txBody>
      </p:sp>
      <p:sp>
        <p:nvSpPr>
          <p:cNvPr id="16" name="word"/>
          <p:cNvSpPr txBox="1"/>
          <p:nvPr/>
        </p:nvSpPr>
        <p:spPr>
          <a:xfrm>
            <a:off x="5069738" y="1527048"/>
            <a:ext cx="2646578" cy="556260"/>
          </a:xfrm>
          <a:prstGeom prst="rect">
            <a:avLst/>
          </a:prstGeom>
          <a:noFill/>
          <a:ln/>
        </p:spPr>
        <p:txBody>
          <a:bodyPr wrap="square" lIns="63500" tIns="63500" rIns="63500" bIns="63500" rtlCol="0" anchor="ctr"/>
          <a:lstStyle/>
          <a:p>
            <a:pPr algn="l" indent="0" marL="0">
              <a:buNone/>
            </a:pPr>
            <a:r>
              <a:rPr lang="en-US" sz="2600" b="1" dirty="0">
                <a:solidFill>
                  <a:srgbClr val="3F6B4A"/>
                </a:solidFill>
                <a:latin typeface="Cambria" pitchFamily="34" charset="0"/>
                <a:ea typeface="Cambria" pitchFamily="34" charset="-122"/>
                <a:cs typeface="Cambria" pitchFamily="34" charset="-120"/>
              </a:rPr>
              <a:t>lava</a:t>
            </a:r>
            <a:endParaRPr lang="en-US" sz="2600" dirty="0"/>
          </a:p>
        </p:txBody>
      </p:sp>
      <p:sp>
        <p:nvSpPr>
          <p:cNvPr id="17" name="word-rule"/>
          <p:cNvSpPr/>
          <p:nvPr/>
        </p:nvSpPr>
        <p:spPr>
          <a:xfrm>
            <a:off x="4521098" y="2129028"/>
            <a:ext cx="3149498" cy="0"/>
          </a:xfrm>
          <a:prstGeom prst="line">
            <a:avLst/>
          </a:prstGeom>
          <a:ln w="12700">
            <a:solidFill>
              <a:srgbClr val="B5C6B9"/>
            </a:solidFill>
            <a:prstDash val="solid"/>
          </a:ln>
        </p:spPr>
      </p:sp>
      <p:sp>
        <p:nvSpPr>
          <p:cNvPr id="18" name="word-body"/>
          <p:cNvSpPr txBox="1"/>
          <p:nvPr/>
        </p:nvSpPr>
        <p:spPr>
          <a:xfrm>
            <a:off x="4521098" y="2174748"/>
            <a:ext cx="3149498" cy="3832860"/>
          </a:xfrm>
          <a:prstGeom prst="rect">
            <a:avLst/>
          </a:prstGeom>
          <a:noFill/>
          <a:ln/>
        </p:spPr>
        <p:txBody>
          <a:bodyPr wrap="square" lIns="63500" tIns="63500" rIns="63500" bIns="63500" rtlCol="0" anchor="t"/>
          <a:lstStyle/>
          <a:p>
            <a:pPr algn="l" indent="0" marL="0">
              <a:spcAft>
                <a:spcPts val="800"/>
              </a:spcAft>
              <a:buNone/>
            </a:pPr>
            <a:r>
              <a:rPr lang="en-US" sz="2200" dirty="0">
                <a:solidFill>
                  <a:srgbClr val="1E2229"/>
                </a:solidFill>
                <a:latin typeface="Calibri" pitchFamily="34" charset="0"/>
                <a:ea typeface="Calibri" pitchFamily="34" charset="-122"/>
                <a:cs typeface="Calibri" pitchFamily="34" charset="-120"/>
              </a:rPr>
              <a:t>melted rock that has come out onto the surface</a:t>
            </a:r>
            <a:endParaRPr lang="en-US" sz="2200" dirty="0"/>
          </a:p>
          <a:p>
            <a:pPr algn="l" indent="0" marL="0">
              <a:buNone/>
            </a:pPr>
            <a:r>
              <a:rPr lang="en-US" sz="2200" i="1" dirty="0">
                <a:solidFill>
                  <a:srgbClr val="4A505C"/>
                </a:solidFill>
                <a:latin typeface="Calibri" pitchFamily="34" charset="0"/>
                <a:ea typeface="Calibri" pitchFamily="34" charset="-122"/>
                <a:cs typeface="Calibri" pitchFamily="34" charset="-120"/>
              </a:rPr>
              <a:t>Lava poured down the side of the volcano.</a:t>
            </a:r>
            <a:endParaRPr lang="en-US" sz="2200" dirty="0"/>
          </a:p>
        </p:txBody>
      </p:sp>
      <p:sp>
        <p:nvSpPr>
          <p:cNvPr id="19" name="word-card"/>
          <p:cNvSpPr/>
          <p:nvPr/>
        </p:nvSpPr>
        <p:spPr>
          <a:xfrm>
            <a:off x="8127797" y="1389888"/>
            <a:ext cx="3515258" cy="4754880"/>
          </a:xfrm>
          <a:prstGeom prst="roundRect">
            <a:avLst>
              <a:gd name="adj" fmla="val 1561"/>
            </a:avLst>
          </a:prstGeom>
          <a:solidFill>
            <a:srgbClr val="F3F5F3"/>
          </a:solidFill>
          <a:ln w="12700">
            <a:solidFill>
              <a:srgbClr val="B5C6B9"/>
            </a:solidFill>
            <a:prstDash val="solid"/>
          </a:ln>
        </p:spPr>
      </p:sp>
      <p:sp>
        <p:nvSpPr>
          <p:cNvPr id="20" name="word-hex"/>
          <p:cNvSpPr/>
          <p:nvPr/>
        </p:nvSpPr>
        <p:spPr>
          <a:xfrm>
            <a:off x="8264957" y="1802044"/>
            <a:ext cx="502920" cy="435529"/>
          </a:xfrm>
          <a:prstGeom prst="hexagon">
            <a:avLst/>
          </a:prstGeom>
          <a:solidFill>
            <a:srgbClr val="B8862B"/>
          </a:solidFill>
          <a:ln/>
        </p:spPr>
      </p:sp>
      <p:sp>
        <p:nvSpPr>
          <p:cNvPr id="21" name="word-hex-label"/>
          <p:cNvSpPr txBox="1"/>
          <p:nvPr/>
        </p:nvSpPr>
        <p:spPr>
          <a:xfrm>
            <a:off x="8264957" y="1802044"/>
            <a:ext cx="502920" cy="435529"/>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6</a:t>
            </a:r>
            <a:endParaRPr lang="en-US" sz="1800" dirty="0"/>
          </a:p>
        </p:txBody>
      </p:sp>
      <p:sp>
        <p:nvSpPr>
          <p:cNvPr id="22" name="word"/>
          <p:cNvSpPr txBox="1"/>
          <p:nvPr/>
        </p:nvSpPr>
        <p:spPr>
          <a:xfrm>
            <a:off x="8859317" y="1527048"/>
            <a:ext cx="2646578" cy="985520"/>
          </a:xfrm>
          <a:prstGeom prst="rect">
            <a:avLst/>
          </a:prstGeom>
          <a:noFill/>
          <a:ln/>
        </p:spPr>
        <p:txBody>
          <a:bodyPr wrap="square" lIns="63500" tIns="63500" rIns="63500" bIns="63500" rtlCol="0" anchor="ctr"/>
          <a:lstStyle/>
          <a:p>
            <a:pPr algn="l" indent="0" marL="0">
              <a:buNone/>
            </a:pPr>
            <a:r>
              <a:rPr lang="en-US" sz="2600" b="1" dirty="0">
                <a:solidFill>
                  <a:srgbClr val="3F6B4A"/>
                </a:solidFill>
                <a:latin typeface="Cambria" pitchFamily="34" charset="0"/>
                <a:ea typeface="Cambria" pitchFamily="34" charset="-122"/>
                <a:cs typeface="Cambria" pitchFamily="34" charset="-120"/>
              </a:rPr>
              <a:t>convection current</a:t>
            </a:r>
            <a:endParaRPr lang="en-US" sz="2600" dirty="0"/>
          </a:p>
        </p:txBody>
      </p:sp>
      <p:sp>
        <p:nvSpPr>
          <p:cNvPr id="23" name="word-rule"/>
          <p:cNvSpPr/>
          <p:nvPr/>
        </p:nvSpPr>
        <p:spPr>
          <a:xfrm>
            <a:off x="8310677" y="2558288"/>
            <a:ext cx="3149498" cy="0"/>
          </a:xfrm>
          <a:prstGeom prst="line">
            <a:avLst/>
          </a:prstGeom>
          <a:ln w="12700">
            <a:solidFill>
              <a:srgbClr val="B5C6B9"/>
            </a:solidFill>
            <a:prstDash val="solid"/>
          </a:ln>
        </p:spPr>
      </p:sp>
      <p:sp>
        <p:nvSpPr>
          <p:cNvPr id="24" name="word-body"/>
          <p:cNvSpPr txBox="1"/>
          <p:nvPr/>
        </p:nvSpPr>
        <p:spPr>
          <a:xfrm>
            <a:off x="8310677" y="2604008"/>
            <a:ext cx="3149498" cy="3403600"/>
          </a:xfrm>
          <a:prstGeom prst="rect">
            <a:avLst/>
          </a:prstGeom>
          <a:noFill/>
          <a:ln/>
        </p:spPr>
        <p:txBody>
          <a:bodyPr wrap="square" lIns="63500" tIns="63500" rIns="63500" bIns="63500" rtlCol="0" anchor="t"/>
          <a:lstStyle/>
          <a:p>
            <a:pPr algn="l" indent="0" marL="0">
              <a:spcAft>
                <a:spcPts val="800"/>
              </a:spcAft>
              <a:buNone/>
            </a:pPr>
            <a:r>
              <a:rPr lang="en-US" sz="2200" dirty="0">
                <a:solidFill>
                  <a:srgbClr val="1E2229"/>
                </a:solidFill>
                <a:latin typeface="Calibri" pitchFamily="34" charset="0"/>
                <a:ea typeface="Calibri" pitchFamily="34" charset="-122"/>
                <a:cs typeface="Calibri" pitchFamily="34" charset="-120"/>
              </a:rPr>
              <a:t>the slow rising, spreading, cooling and sinking of hot rock</a:t>
            </a:r>
            <a:endParaRPr lang="en-US" sz="2200" dirty="0"/>
          </a:p>
          <a:p>
            <a:pPr algn="l" indent="0" marL="0">
              <a:buNone/>
            </a:pPr>
            <a:r>
              <a:rPr lang="en-US" sz="2200" i="1" dirty="0">
                <a:solidFill>
                  <a:srgbClr val="4A505C"/>
                </a:solidFill>
                <a:latin typeface="Calibri" pitchFamily="34" charset="0"/>
                <a:ea typeface="Calibri" pitchFamily="34" charset="-122"/>
                <a:cs typeface="Calibri" pitchFamily="34" charset="-120"/>
              </a:rPr>
              <a:t>A convection current in the mantle drags the plates along.</a:t>
            </a:r>
            <a:endParaRPr lang="en-US" sz="22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3F6B4A"/>
                </a:solidFill>
                <a:latin typeface="Cambria" pitchFamily="34" charset="0"/>
                <a:ea typeface="Cambria" pitchFamily="34" charset="-122"/>
                <a:cs typeface="Cambria" pitchFamily="34" charset="-120"/>
              </a:rPr>
              <a:t>Read-along (1 of 2)</a:t>
            </a:r>
            <a:endParaRPr lang="en-US" sz="3200" dirty="0"/>
          </a:p>
        </p:txBody>
      </p:sp>
      <p:sp>
        <p:nvSpPr>
          <p:cNvPr id="4" name="chip-hex"/>
          <p:cNvSpPr/>
          <p:nvPr/>
        </p:nvSpPr>
        <p:spPr>
          <a:xfrm>
            <a:off x="9677095" y="531760"/>
            <a:ext cx="566928" cy="490960"/>
          </a:xfrm>
          <a:prstGeom prst="hexagon">
            <a:avLst/>
          </a:prstGeom>
          <a:solidFill>
            <a:srgbClr val="3F6B4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1</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Pre-teach</a:t>
            </a:r>
            <a:endParaRPr lang="en-US" sz="1800" dirty="0"/>
          </a:p>
        </p:txBody>
      </p:sp>
      <p:sp>
        <p:nvSpPr>
          <p:cNvPr id="7" name="ra-side"/>
          <p:cNvSpPr/>
          <p:nvPr/>
        </p:nvSpPr>
        <p:spPr>
          <a:xfrm>
            <a:off x="548640" y="1389888"/>
            <a:ext cx="1874520" cy="4754880"/>
          </a:xfrm>
          <a:prstGeom prst="roundRect">
            <a:avLst>
              <a:gd name="adj" fmla="val 3902"/>
            </a:avLst>
          </a:prstGeom>
          <a:solidFill>
            <a:srgbClr val="3F6B4A"/>
          </a:solidFill>
          <a:ln/>
        </p:spPr>
      </p:sp>
      <p:sp>
        <p:nvSpPr>
          <p:cNvPr id="8" name="ra-hex"/>
          <p:cNvSpPr/>
          <p:nvPr/>
        </p:nvSpPr>
        <p:spPr>
          <a:xfrm>
            <a:off x="914400" y="1709928"/>
            <a:ext cx="1143000" cy="989838"/>
          </a:xfrm>
          <a:prstGeom prst="hexagon">
            <a:avLst/>
          </a:prstGeom>
          <a:solidFill>
            <a:srgbClr val="B8862B"/>
          </a:solidFill>
          <a:ln/>
        </p:spPr>
      </p:sp>
      <p:sp>
        <p:nvSpPr>
          <p:cNvPr id="9" name="ra-hex-label"/>
          <p:cNvSpPr txBox="1"/>
          <p:nvPr/>
        </p:nvSpPr>
        <p:spPr>
          <a:xfrm>
            <a:off x="914400" y="1709928"/>
            <a:ext cx="1143000" cy="989838"/>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Read</a:t>
            </a:r>
            <a:endParaRPr lang="en-US" sz="2400" dirty="0"/>
          </a:p>
        </p:txBody>
      </p:sp>
      <p:sp>
        <p:nvSpPr>
          <p:cNvPr id="10" name="ra-note"/>
          <p:cNvSpPr txBox="1"/>
          <p:nvPr/>
        </p:nvSpPr>
        <p:spPr>
          <a:xfrm>
            <a:off x="640080" y="2898648"/>
            <a:ext cx="1691640" cy="2194560"/>
          </a:xfrm>
          <a:prstGeom prst="rect">
            <a:avLst/>
          </a:prstGeom>
          <a:noFill/>
          <a:ln/>
        </p:spPr>
        <p:txBody>
          <a:bodyPr wrap="square" lIns="63500" tIns="63500" rIns="63500" bIns="63500" rtlCol="0" anchor="t"/>
          <a:lstStyle/>
          <a:p>
            <a:pPr algn="ctr" indent="0" marL="0">
              <a:spcAft>
                <a:spcPts val="800"/>
              </a:spcAft>
              <a:buNone/>
            </a:pPr>
            <a:r>
              <a:rPr lang="en-US" sz="1800" b="1" dirty="0">
                <a:solidFill>
                  <a:srgbClr val="FFFFFF"/>
                </a:solidFill>
                <a:latin typeface="Calibri" pitchFamily="34" charset="0"/>
                <a:ea typeface="Calibri" pitchFamily="34" charset="-122"/>
                <a:cs typeface="Calibri" pitchFamily="34" charset="-120"/>
              </a:rPr>
              <a:t>Read together;</a:t>
            </a:r>
            <a:endParaRPr lang="en-US" sz="1800" dirty="0"/>
          </a:p>
          <a:p>
            <a:pPr algn="ctr" indent="0" marL="0">
              <a:buNone/>
            </a:pPr>
            <a:r>
              <a:rPr lang="en-US" sz="1800" dirty="0">
                <a:solidFill>
                  <a:srgbClr val="FFFFFF"/>
                </a:solidFill>
                <a:latin typeface="Calibri" pitchFamily="34" charset="0"/>
                <a:ea typeface="Calibri" pitchFamily="34" charset="-122"/>
                <a:cs typeface="Calibri" pitchFamily="34" charset="-120"/>
              </a:rPr>
              <a:t>pupils who were pre-taught lead</a:t>
            </a:r>
            <a:endParaRPr lang="en-US" sz="1800" dirty="0"/>
          </a:p>
        </p:txBody>
      </p:sp>
      <p:sp>
        <p:nvSpPr>
          <p:cNvPr id="11" name="ra-panel"/>
          <p:cNvSpPr/>
          <p:nvPr/>
        </p:nvSpPr>
        <p:spPr>
          <a:xfrm>
            <a:off x="2697480" y="1389888"/>
            <a:ext cx="8945575" cy="4754880"/>
          </a:xfrm>
          <a:prstGeom prst="roundRect">
            <a:avLst>
              <a:gd name="adj" fmla="val 769"/>
            </a:avLst>
          </a:prstGeom>
          <a:solidFill>
            <a:srgbClr val="F4F7F5"/>
          </a:solidFill>
          <a:ln w="12700">
            <a:solidFill>
              <a:srgbClr val="C8D5CB"/>
            </a:solidFill>
            <a:prstDash val="solid"/>
          </a:ln>
        </p:spPr>
      </p:sp>
      <p:sp>
        <p:nvSpPr>
          <p:cNvPr id="12" name="passage"/>
          <p:cNvSpPr txBox="1"/>
          <p:nvPr/>
        </p:nvSpPr>
        <p:spPr>
          <a:xfrm>
            <a:off x="2880360" y="1527048"/>
            <a:ext cx="8579815" cy="4480560"/>
          </a:xfrm>
          <a:prstGeom prst="rect">
            <a:avLst/>
          </a:prstGeom>
          <a:noFill/>
          <a:ln/>
        </p:spPr>
        <p:txBody>
          <a:bodyPr wrap="square" lIns="63500" tIns="63500" rIns="63500" bIns="63500" rtlCol="0" anchor="t"/>
          <a:lstStyle/>
          <a:p>
            <a:pPr algn="l" indent="0" marL="0">
              <a:spcAft>
                <a:spcPts val="600"/>
              </a:spcAft>
              <a:buNone/>
            </a:pPr>
            <a:r>
              <a:rPr lang="en-US" sz="2600" b="1" dirty="0">
                <a:solidFill>
                  <a:srgbClr val="B8862B"/>
                </a:solidFill>
                <a:latin typeface="Calibri" pitchFamily="34" charset="0"/>
                <a:ea typeface="Calibri" pitchFamily="34" charset="-122"/>
                <a:cs typeface="Calibri" pitchFamily="34" charset="-120"/>
              </a:rPr>
              <a:t>1  </a:t>
            </a:r>
            <a:pPr algn="l" indent="0" marL="0">
              <a:spcAft>
                <a:spcPts val="600"/>
              </a:spcAft>
              <a:buNone/>
            </a:pPr>
            <a:r>
              <a:rPr lang="en-US" sz="2600" dirty="0">
                <a:solidFill>
                  <a:srgbClr val="1E2229"/>
                </a:solidFill>
                <a:latin typeface="Calibri" pitchFamily="34" charset="0"/>
                <a:ea typeface="Calibri" pitchFamily="34" charset="-122"/>
                <a:cs typeface="Calibri" pitchFamily="34" charset="-120"/>
              </a:rPr>
              <a:t>The Earth is about 4.54 billion years old.</a:t>
            </a:r>
            <a:endParaRPr lang="en-US" sz="2600" dirty="0"/>
          </a:p>
          <a:p>
            <a:pPr algn="l" indent="0" marL="0">
              <a:spcAft>
                <a:spcPts val="600"/>
              </a:spcAft>
              <a:buNone/>
            </a:pPr>
            <a:r>
              <a:rPr lang="en-US" sz="2600" b="1" dirty="0">
                <a:solidFill>
                  <a:srgbClr val="B8862B"/>
                </a:solidFill>
                <a:latin typeface="Calibri" pitchFamily="34" charset="0"/>
                <a:ea typeface="Calibri" pitchFamily="34" charset="-122"/>
                <a:cs typeface="Calibri" pitchFamily="34" charset="-120"/>
              </a:rPr>
              <a:t>2  </a:t>
            </a:r>
            <a:pPr algn="l" indent="0" marL="0">
              <a:spcAft>
                <a:spcPts val="600"/>
              </a:spcAft>
              <a:buNone/>
            </a:pPr>
            <a:r>
              <a:rPr lang="en-US" sz="2600" dirty="0">
                <a:solidFill>
                  <a:srgbClr val="1E2229"/>
                </a:solidFill>
                <a:latin typeface="Calibri" pitchFamily="34" charset="0"/>
                <a:ea typeface="Calibri" pitchFamily="34" charset="-122"/>
                <a:cs typeface="Calibri" pitchFamily="34" charset="-120"/>
              </a:rPr>
              <a:t>Scientists work this out by studying rocks.</a:t>
            </a:r>
            <a:endParaRPr lang="en-US" sz="2600" dirty="0"/>
          </a:p>
          <a:p>
            <a:pPr algn="l" indent="0" marL="0">
              <a:spcAft>
                <a:spcPts val="600"/>
              </a:spcAft>
              <a:buNone/>
            </a:pPr>
            <a:r>
              <a:rPr lang="en-US" sz="2600" b="1" dirty="0">
                <a:solidFill>
                  <a:srgbClr val="B8862B"/>
                </a:solidFill>
                <a:latin typeface="Calibri" pitchFamily="34" charset="0"/>
                <a:ea typeface="Calibri" pitchFamily="34" charset="-122"/>
                <a:cs typeface="Calibri" pitchFamily="34" charset="-120"/>
              </a:rPr>
              <a:t>3  </a:t>
            </a:r>
            <a:pPr algn="l" indent="0" marL="0">
              <a:spcAft>
                <a:spcPts val="600"/>
              </a:spcAft>
              <a:buNone/>
            </a:pPr>
            <a:r>
              <a:rPr lang="en-US" sz="2600" dirty="0">
                <a:solidFill>
                  <a:srgbClr val="1E2229"/>
                </a:solidFill>
                <a:latin typeface="Calibri" pitchFamily="34" charset="0"/>
                <a:ea typeface="Calibri" pitchFamily="34" charset="-122"/>
                <a:cs typeface="Calibri" pitchFamily="34" charset="-120"/>
              </a:rPr>
              <a:t>The Earth is made of layers, a bit like an onion.</a:t>
            </a:r>
            <a:endParaRPr lang="en-US" sz="2600" dirty="0"/>
          </a:p>
          <a:p>
            <a:pPr algn="l" indent="0" marL="0">
              <a:spcAft>
                <a:spcPts val="600"/>
              </a:spcAft>
              <a:buNone/>
            </a:pPr>
            <a:r>
              <a:rPr lang="en-US" sz="2600" b="1" dirty="0">
                <a:solidFill>
                  <a:srgbClr val="B8862B"/>
                </a:solidFill>
                <a:latin typeface="Calibri" pitchFamily="34" charset="0"/>
                <a:ea typeface="Calibri" pitchFamily="34" charset="-122"/>
                <a:cs typeface="Calibri" pitchFamily="34" charset="-120"/>
              </a:rPr>
              <a:t>4  </a:t>
            </a:r>
            <a:pPr algn="l" indent="0" marL="0">
              <a:spcAft>
                <a:spcPts val="600"/>
              </a:spcAft>
              <a:buNone/>
            </a:pPr>
            <a:r>
              <a:rPr lang="en-US" sz="2600" dirty="0">
                <a:solidFill>
                  <a:srgbClr val="1E2229"/>
                </a:solidFill>
                <a:latin typeface="Calibri" pitchFamily="34" charset="0"/>
                <a:ea typeface="Calibri" pitchFamily="34" charset="-122"/>
                <a:cs typeface="Calibri" pitchFamily="34" charset="-120"/>
              </a:rPr>
              <a:t>The thin outer layer is the </a:t>
            </a:r>
            <a:pPr algn="l" indent="0" marL="0">
              <a:spcAft>
                <a:spcPts val="600"/>
              </a:spcAft>
              <a:buNone/>
            </a:pPr>
            <a:r>
              <a:rPr lang="en-US" sz="2600" b="1" dirty="0">
                <a:solidFill>
                  <a:srgbClr val="3F6B4A"/>
                </a:solidFill>
                <a:latin typeface="Calibri" pitchFamily="34" charset="0"/>
                <a:ea typeface="Calibri" pitchFamily="34" charset="-122"/>
                <a:cs typeface="Calibri" pitchFamily="34" charset="-120"/>
              </a:rPr>
              <a:t>crust</a:t>
            </a:r>
            <a:pPr algn="l" indent="0" marL="0">
              <a:spcAft>
                <a:spcPts val="600"/>
              </a:spcAft>
              <a:buNone/>
            </a:pPr>
            <a:r>
              <a:rPr lang="en-US" sz="2600" dirty="0">
                <a:solidFill>
                  <a:srgbClr val="1E2229"/>
                </a:solidFill>
                <a:latin typeface="Calibri" pitchFamily="34" charset="0"/>
                <a:ea typeface="Calibri" pitchFamily="34" charset="-122"/>
                <a:cs typeface="Calibri" pitchFamily="34" charset="-120"/>
              </a:rPr>
              <a:t>, and we live on it.</a:t>
            </a:r>
            <a:endParaRPr lang="en-US" sz="2600" dirty="0"/>
          </a:p>
          <a:p>
            <a:pPr algn="l" indent="0" marL="0">
              <a:spcAft>
                <a:spcPts val="600"/>
              </a:spcAft>
              <a:buNone/>
            </a:pPr>
            <a:r>
              <a:rPr lang="en-US" sz="2600" b="1" dirty="0">
                <a:solidFill>
                  <a:srgbClr val="B8862B"/>
                </a:solidFill>
                <a:latin typeface="Calibri" pitchFamily="34" charset="0"/>
                <a:ea typeface="Calibri" pitchFamily="34" charset="-122"/>
                <a:cs typeface="Calibri" pitchFamily="34" charset="-120"/>
              </a:rPr>
              <a:t>5  </a:t>
            </a:r>
            <a:pPr algn="l" indent="0" marL="0">
              <a:spcAft>
                <a:spcPts val="600"/>
              </a:spcAft>
              <a:buNone/>
            </a:pPr>
            <a:r>
              <a:rPr lang="en-US" sz="2600" dirty="0">
                <a:solidFill>
                  <a:srgbClr val="1E2229"/>
                </a:solidFill>
                <a:latin typeface="Calibri" pitchFamily="34" charset="0"/>
                <a:ea typeface="Calibri" pitchFamily="34" charset="-122"/>
                <a:cs typeface="Calibri" pitchFamily="34" charset="-120"/>
              </a:rPr>
              <a:t>Under the </a:t>
            </a:r>
            <a:pPr algn="l" indent="0" marL="0">
              <a:spcAft>
                <a:spcPts val="600"/>
              </a:spcAft>
              <a:buNone/>
            </a:pPr>
            <a:r>
              <a:rPr lang="en-US" sz="2600" b="1" dirty="0">
                <a:solidFill>
                  <a:srgbClr val="3F6B4A"/>
                </a:solidFill>
                <a:latin typeface="Calibri" pitchFamily="34" charset="0"/>
                <a:ea typeface="Calibri" pitchFamily="34" charset="-122"/>
                <a:cs typeface="Calibri" pitchFamily="34" charset="-120"/>
              </a:rPr>
              <a:t>crust</a:t>
            </a:r>
            <a:pPr algn="l" indent="0" marL="0">
              <a:spcAft>
                <a:spcPts val="600"/>
              </a:spcAft>
              <a:buNone/>
            </a:pPr>
            <a:r>
              <a:rPr lang="en-US" sz="2600" dirty="0">
                <a:solidFill>
                  <a:srgbClr val="1E2229"/>
                </a:solidFill>
                <a:latin typeface="Calibri" pitchFamily="34" charset="0"/>
                <a:ea typeface="Calibri" pitchFamily="34" charset="-122"/>
                <a:cs typeface="Calibri" pitchFamily="34" charset="-120"/>
              </a:rPr>
              <a:t> is the </a:t>
            </a:r>
            <a:pPr algn="l" indent="0" marL="0">
              <a:spcAft>
                <a:spcPts val="600"/>
              </a:spcAft>
              <a:buNone/>
            </a:pPr>
            <a:r>
              <a:rPr lang="en-US" sz="2600" b="1" dirty="0">
                <a:solidFill>
                  <a:srgbClr val="3F6B4A"/>
                </a:solidFill>
                <a:latin typeface="Calibri" pitchFamily="34" charset="0"/>
                <a:ea typeface="Calibri" pitchFamily="34" charset="-122"/>
                <a:cs typeface="Calibri" pitchFamily="34" charset="-120"/>
              </a:rPr>
              <a:t>mantle</a:t>
            </a:r>
            <a:pPr algn="l" indent="0" marL="0">
              <a:spcAft>
                <a:spcPts val="600"/>
              </a:spcAft>
              <a:buNone/>
            </a:pPr>
            <a:r>
              <a:rPr lang="en-US" sz="2600" dirty="0">
                <a:solidFill>
                  <a:srgbClr val="1E2229"/>
                </a:solidFill>
                <a:latin typeface="Calibri" pitchFamily="34" charset="0"/>
                <a:ea typeface="Calibri" pitchFamily="34" charset="-122"/>
                <a:cs typeface="Calibri" pitchFamily="34" charset="-120"/>
              </a:rPr>
              <a:t>, a thick layer of very hot rock.</a:t>
            </a:r>
            <a:endParaRPr lang="en-US" sz="2600" dirty="0"/>
          </a:p>
          <a:p>
            <a:pPr algn="l" indent="0" marL="0">
              <a:spcAft>
                <a:spcPts val="600"/>
              </a:spcAft>
              <a:buNone/>
            </a:pPr>
            <a:r>
              <a:rPr lang="en-US" sz="2600" b="1" dirty="0">
                <a:solidFill>
                  <a:srgbClr val="B8862B"/>
                </a:solidFill>
                <a:latin typeface="Calibri" pitchFamily="34" charset="0"/>
                <a:ea typeface="Calibri" pitchFamily="34" charset="-122"/>
                <a:cs typeface="Calibri" pitchFamily="34" charset="-120"/>
              </a:rPr>
              <a:t>6  </a:t>
            </a:r>
            <a:pPr algn="l" indent="0" marL="0">
              <a:spcAft>
                <a:spcPts val="600"/>
              </a:spcAft>
              <a:buNone/>
            </a:pPr>
            <a:r>
              <a:rPr lang="en-US" sz="2600" dirty="0">
                <a:solidFill>
                  <a:srgbClr val="1E2229"/>
                </a:solidFill>
                <a:latin typeface="Calibri" pitchFamily="34" charset="0"/>
                <a:ea typeface="Calibri" pitchFamily="34" charset="-122"/>
                <a:cs typeface="Calibri" pitchFamily="34" charset="-120"/>
              </a:rPr>
              <a:t>At the centre is the </a:t>
            </a:r>
            <a:pPr algn="l" indent="0" marL="0">
              <a:spcAft>
                <a:spcPts val="600"/>
              </a:spcAft>
              <a:buNone/>
            </a:pPr>
            <a:r>
              <a:rPr lang="en-US" sz="2600" b="1" dirty="0">
                <a:solidFill>
                  <a:srgbClr val="3F6B4A"/>
                </a:solidFill>
                <a:latin typeface="Calibri" pitchFamily="34" charset="0"/>
                <a:ea typeface="Calibri" pitchFamily="34" charset="-122"/>
                <a:cs typeface="Calibri" pitchFamily="34" charset="-120"/>
              </a:rPr>
              <a:t>core</a:t>
            </a:r>
            <a:pPr algn="l" indent="0" marL="0">
              <a:spcAft>
                <a:spcPts val="600"/>
              </a:spcAft>
              <a:buNone/>
            </a:pPr>
            <a:r>
              <a:rPr lang="en-US" sz="2600" dirty="0">
                <a:solidFill>
                  <a:srgbClr val="1E2229"/>
                </a:solidFill>
                <a:latin typeface="Calibri" pitchFamily="34" charset="0"/>
                <a:ea typeface="Calibri" pitchFamily="34" charset="-122"/>
                <a:cs typeface="Calibri" pitchFamily="34" charset="-120"/>
              </a:rPr>
              <a:t>, which has an outer part and an inner part.</a:t>
            </a:r>
            <a:endParaRPr lang="en-US" sz="2600" dirty="0"/>
          </a:p>
          <a:p>
            <a:pPr algn="l" indent="0" marL="0">
              <a:spcAft>
                <a:spcPts val="600"/>
              </a:spcAft>
              <a:buNone/>
            </a:pPr>
            <a:r>
              <a:rPr lang="en-US" sz="2600" b="1" dirty="0">
                <a:solidFill>
                  <a:srgbClr val="B8862B"/>
                </a:solidFill>
                <a:latin typeface="Calibri" pitchFamily="34" charset="0"/>
                <a:ea typeface="Calibri" pitchFamily="34" charset="-122"/>
                <a:cs typeface="Calibri" pitchFamily="34" charset="-120"/>
              </a:rPr>
              <a:t>7  </a:t>
            </a:r>
            <a:pPr algn="l" indent="0" marL="0">
              <a:spcAft>
                <a:spcPts val="600"/>
              </a:spcAft>
              <a:buNone/>
            </a:pPr>
            <a:r>
              <a:rPr lang="en-US" sz="2600" dirty="0">
                <a:solidFill>
                  <a:srgbClr val="1E2229"/>
                </a:solidFill>
                <a:latin typeface="Calibri" pitchFamily="34" charset="0"/>
                <a:ea typeface="Calibri" pitchFamily="34" charset="-122"/>
                <a:cs typeface="Calibri" pitchFamily="34" charset="-120"/>
              </a:rPr>
              <a:t>The </a:t>
            </a:r>
            <a:pPr algn="l" indent="0" marL="0">
              <a:spcAft>
                <a:spcPts val="600"/>
              </a:spcAft>
              <a:buNone/>
            </a:pPr>
            <a:r>
              <a:rPr lang="en-US" sz="2600" b="1" dirty="0">
                <a:solidFill>
                  <a:srgbClr val="3F6B4A"/>
                </a:solidFill>
                <a:latin typeface="Calibri" pitchFamily="34" charset="0"/>
                <a:ea typeface="Calibri" pitchFamily="34" charset="-122"/>
                <a:cs typeface="Calibri" pitchFamily="34" charset="-120"/>
              </a:rPr>
              <a:t>core</a:t>
            </a:r>
            <a:pPr algn="l" indent="0" marL="0">
              <a:spcAft>
                <a:spcPts val="600"/>
              </a:spcAft>
              <a:buNone/>
            </a:pPr>
            <a:r>
              <a:rPr lang="en-US" sz="2600" dirty="0">
                <a:solidFill>
                  <a:srgbClr val="1E2229"/>
                </a:solidFill>
                <a:latin typeface="Calibri" pitchFamily="34" charset="0"/>
                <a:ea typeface="Calibri" pitchFamily="34" charset="-122"/>
                <a:cs typeface="Calibri" pitchFamily="34" charset="-120"/>
              </a:rPr>
              <a:t> is the hottest part of the Earth.</a:t>
            </a:r>
            <a:endParaRPr lang="en-US" sz="26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3F6B4A"/>
                </a:solidFill>
                <a:latin typeface="Cambria" pitchFamily="34" charset="0"/>
                <a:ea typeface="Cambria" pitchFamily="34" charset="-122"/>
                <a:cs typeface="Cambria" pitchFamily="34" charset="-120"/>
              </a:rPr>
              <a:t>Read-along (2 of 2)</a:t>
            </a:r>
            <a:endParaRPr lang="en-US" sz="3200" dirty="0"/>
          </a:p>
        </p:txBody>
      </p:sp>
      <p:sp>
        <p:nvSpPr>
          <p:cNvPr id="4" name="chip-hex"/>
          <p:cNvSpPr/>
          <p:nvPr/>
        </p:nvSpPr>
        <p:spPr>
          <a:xfrm>
            <a:off x="9677095" y="531760"/>
            <a:ext cx="566928" cy="490960"/>
          </a:xfrm>
          <a:prstGeom prst="hexagon">
            <a:avLst/>
          </a:prstGeom>
          <a:solidFill>
            <a:srgbClr val="3F6B4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1</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Pre-teach</a:t>
            </a:r>
            <a:endParaRPr lang="en-US" sz="1800" dirty="0"/>
          </a:p>
        </p:txBody>
      </p:sp>
      <p:sp>
        <p:nvSpPr>
          <p:cNvPr id="7" name="ra-side"/>
          <p:cNvSpPr/>
          <p:nvPr/>
        </p:nvSpPr>
        <p:spPr>
          <a:xfrm>
            <a:off x="548640" y="1389888"/>
            <a:ext cx="1874520" cy="4754880"/>
          </a:xfrm>
          <a:prstGeom prst="roundRect">
            <a:avLst>
              <a:gd name="adj" fmla="val 3902"/>
            </a:avLst>
          </a:prstGeom>
          <a:solidFill>
            <a:srgbClr val="3F6B4A"/>
          </a:solidFill>
          <a:ln/>
        </p:spPr>
      </p:sp>
      <p:sp>
        <p:nvSpPr>
          <p:cNvPr id="8" name="ra-hex"/>
          <p:cNvSpPr/>
          <p:nvPr/>
        </p:nvSpPr>
        <p:spPr>
          <a:xfrm>
            <a:off x="914400" y="1709928"/>
            <a:ext cx="1143000" cy="989838"/>
          </a:xfrm>
          <a:prstGeom prst="hexagon">
            <a:avLst/>
          </a:prstGeom>
          <a:solidFill>
            <a:srgbClr val="B8862B"/>
          </a:solidFill>
          <a:ln/>
        </p:spPr>
      </p:sp>
      <p:sp>
        <p:nvSpPr>
          <p:cNvPr id="9" name="ra-hex-label"/>
          <p:cNvSpPr txBox="1"/>
          <p:nvPr/>
        </p:nvSpPr>
        <p:spPr>
          <a:xfrm>
            <a:off x="914400" y="1709928"/>
            <a:ext cx="1143000" cy="989838"/>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Read</a:t>
            </a:r>
            <a:endParaRPr lang="en-US" sz="2400" dirty="0"/>
          </a:p>
        </p:txBody>
      </p:sp>
      <p:sp>
        <p:nvSpPr>
          <p:cNvPr id="10" name="ra-note"/>
          <p:cNvSpPr txBox="1"/>
          <p:nvPr/>
        </p:nvSpPr>
        <p:spPr>
          <a:xfrm>
            <a:off x="640080" y="2898648"/>
            <a:ext cx="1691640" cy="2194560"/>
          </a:xfrm>
          <a:prstGeom prst="rect">
            <a:avLst/>
          </a:prstGeom>
          <a:noFill/>
          <a:ln/>
        </p:spPr>
        <p:txBody>
          <a:bodyPr wrap="square" lIns="63500" tIns="63500" rIns="63500" bIns="63500" rtlCol="0" anchor="t"/>
          <a:lstStyle/>
          <a:p>
            <a:pPr algn="ctr" indent="0" marL="0">
              <a:spcAft>
                <a:spcPts val="800"/>
              </a:spcAft>
              <a:buNone/>
            </a:pPr>
            <a:r>
              <a:rPr lang="en-US" sz="1800" b="1" dirty="0">
                <a:solidFill>
                  <a:srgbClr val="FFFFFF"/>
                </a:solidFill>
                <a:latin typeface="Calibri" pitchFamily="34" charset="0"/>
                <a:ea typeface="Calibri" pitchFamily="34" charset="-122"/>
                <a:cs typeface="Calibri" pitchFamily="34" charset="-120"/>
              </a:rPr>
              <a:t>Read together;</a:t>
            </a:r>
            <a:endParaRPr lang="en-US" sz="1800" dirty="0"/>
          </a:p>
          <a:p>
            <a:pPr algn="ctr" indent="0" marL="0">
              <a:buNone/>
            </a:pPr>
            <a:r>
              <a:rPr lang="en-US" sz="1800" dirty="0">
                <a:solidFill>
                  <a:srgbClr val="FFFFFF"/>
                </a:solidFill>
                <a:latin typeface="Calibri" pitchFamily="34" charset="0"/>
                <a:ea typeface="Calibri" pitchFamily="34" charset="-122"/>
                <a:cs typeface="Calibri" pitchFamily="34" charset="-120"/>
              </a:rPr>
              <a:t>pupils who were pre-taught lead</a:t>
            </a:r>
            <a:endParaRPr lang="en-US" sz="1800" dirty="0"/>
          </a:p>
        </p:txBody>
      </p:sp>
      <p:sp>
        <p:nvSpPr>
          <p:cNvPr id="11" name="ra-panel"/>
          <p:cNvSpPr/>
          <p:nvPr/>
        </p:nvSpPr>
        <p:spPr>
          <a:xfrm>
            <a:off x="2697480" y="1389888"/>
            <a:ext cx="8945575" cy="4754880"/>
          </a:xfrm>
          <a:prstGeom prst="roundRect">
            <a:avLst>
              <a:gd name="adj" fmla="val 769"/>
            </a:avLst>
          </a:prstGeom>
          <a:solidFill>
            <a:srgbClr val="F4F7F5"/>
          </a:solidFill>
          <a:ln w="12700">
            <a:solidFill>
              <a:srgbClr val="C8D5CB"/>
            </a:solidFill>
            <a:prstDash val="solid"/>
          </a:ln>
        </p:spPr>
      </p:sp>
      <p:sp>
        <p:nvSpPr>
          <p:cNvPr id="12" name="passage"/>
          <p:cNvSpPr txBox="1"/>
          <p:nvPr/>
        </p:nvSpPr>
        <p:spPr>
          <a:xfrm>
            <a:off x="2880360" y="1527048"/>
            <a:ext cx="8579815" cy="4480560"/>
          </a:xfrm>
          <a:prstGeom prst="rect">
            <a:avLst/>
          </a:prstGeom>
          <a:noFill/>
          <a:ln/>
        </p:spPr>
        <p:txBody>
          <a:bodyPr wrap="square" lIns="63500" tIns="63500" rIns="63500" bIns="63500" rtlCol="0" anchor="t"/>
          <a:lstStyle/>
          <a:p>
            <a:pPr algn="l" indent="0" marL="0">
              <a:spcAft>
                <a:spcPts val="600"/>
              </a:spcAft>
              <a:buNone/>
            </a:pPr>
            <a:r>
              <a:rPr lang="en-US" sz="2600" b="1" dirty="0">
                <a:solidFill>
                  <a:srgbClr val="B8862B"/>
                </a:solidFill>
                <a:latin typeface="Calibri" pitchFamily="34" charset="0"/>
                <a:ea typeface="Calibri" pitchFamily="34" charset="-122"/>
                <a:cs typeface="Calibri" pitchFamily="34" charset="-120"/>
              </a:rPr>
              <a:t>8  </a:t>
            </a:r>
            <a:pPr algn="l" indent="0" marL="0">
              <a:spcAft>
                <a:spcPts val="600"/>
              </a:spcAft>
              <a:buNone/>
            </a:pPr>
            <a:r>
              <a:rPr lang="en-US" sz="2600" dirty="0">
                <a:solidFill>
                  <a:srgbClr val="1E2229"/>
                </a:solidFill>
                <a:latin typeface="Calibri" pitchFamily="34" charset="0"/>
                <a:ea typeface="Calibri" pitchFamily="34" charset="-122"/>
                <a:cs typeface="Calibri" pitchFamily="34" charset="-120"/>
              </a:rPr>
              <a:t>Melted rock under the ground is called </a:t>
            </a:r>
            <a:pPr algn="l" indent="0" marL="0">
              <a:spcAft>
                <a:spcPts val="600"/>
              </a:spcAft>
              <a:buNone/>
            </a:pPr>
            <a:r>
              <a:rPr lang="en-US" sz="2600" b="1" dirty="0">
                <a:solidFill>
                  <a:srgbClr val="3F6B4A"/>
                </a:solidFill>
                <a:latin typeface="Calibri" pitchFamily="34" charset="0"/>
                <a:ea typeface="Calibri" pitchFamily="34" charset="-122"/>
                <a:cs typeface="Calibri" pitchFamily="34" charset="-120"/>
              </a:rPr>
              <a:t>magma</a:t>
            </a:r>
            <a:pPr algn="l" indent="0" marL="0">
              <a:spcAft>
                <a:spcPts val="600"/>
              </a:spcAft>
              <a:buNone/>
            </a:pPr>
            <a:r>
              <a:rPr lang="en-US" sz="2600" dirty="0">
                <a:solidFill>
                  <a:srgbClr val="1E2229"/>
                </a:solidFill>
                <a:latin typeface="Calibri" pitchFamily="34" charset="0"/>
                <a:ea typeface="Calibri" pitchFamily="34" charset="-122"/>
                <a:cs typeface="Calibri" pitchFamily="34" charset="-120"/>
              </a:rPr>
              <a:t>.</a:t>
            </a:r>
            <a:endParaRPr lang="en-US" sz="2600" dirty="0"/>
          </a:p>
          <a:p>
            <a:pPr algn="l" indent="0" marL="0">
              <a:spcAft>
                <a:spcPts val="600"/>
              </a:spcAft>
              <a:buNone/>
            </a:pPr>
            <a:r>
              <a:rPr lang="en-US" sz="2600" b="1" dirty="0">
                <a:solidFill>
                  <a:srgbClr val="B8862B"/>
                </a:solidFill>
                <a:latin typeface="Calibri" pitchFamily="34" charset="0"/>
                <a:ea typeface="Calibri" pitchFamily="34" charset="-122"/>
                <a:cs typeface="Calibri" pitchFamily="34" charset="-120"/>
              </a:rPr>
              <a:t>9  </a:t>
            </a:r>
            <a:pPr algn="l" indent="0" marL="0">
              <a:spcAft>
                <a:spcPts val="600"/>
              </a:spcAft>
              <a:buNone/>
            </a:pPr>
            <a:r>
              <a:rPr lang="en-US" sz="2600" dirty="0">
                <a:solidFill>
                  <a:srgbClr val="1E2229"/>
                </a:solidFill>
                <a:latin typeface="Calibri" pitchFamily="34" charset="0"/>
                <a:ea typeface="Calibri" pitchFamily="34" charset="-122"/>
                <a:cs typeface="Calibri" pitchFamily="34" charset="-120"/>
              </a:rPr>
              <a:t>When </a:t>
            </a:r>
            <a:pPr algn="l" indent="0" marL="0">
              <a:spcAft>
                <a:spcPts val="600"/>
              </a:spcAft>
              <a:buNone/>
            </a:pPr>
            <a:r>
              <a:rPr lang="en-US" sz="2600" b="1" dirty="0">
                <a:solidFill>
                  <a:srgbClr val="3F6B4A"/>
                </a:solidFill>
                <a:latin typeface="Calibri" pitchFamily="34" charset="0"/>
                <a:ea typeface="Calibri" pitchFamily="34" charset="-122"/>
                <a:cs typeface="Calibri" pitchFamily="34" charset="-120"/>
              </a:rPr>
              <a:t>magma</a:t>
            </a:r>
            <a:pPr algn="l" indent="0" marL="0">
              <a:spcAft>
                <a:spcPts val="600"/>
              </a:spcAft>
              <a:buNone/>
            </a:pPr>
            <a:r>
              <a:rPr lang="en-US" sz="2600" dirty="0">
                <a:solidFill>
                  <a:srgbClr val="1E2229"/>
                </a:solidFill>
                <a:latin typeface="Calibri" pitchFamily="34" charset="0"/>
                <a:ea typeface="Calibri" pitchFamily="34" charset="-122"/>
                <a:cs typeface="Calibri" pitchFamily="34" charset="-120"/>
              </a:rPr>
              <a:t> comes out at the surface, we call it </a:t>
            </a:r>
            <a:pPr algn="l" indent="0" marL="0">
              <a:spcAft>
                <a:spcPts val="600"/>
              </a:spcAft>
              <a:buNone/>
            </a:pPr>
            <a:r>
              <a:rPr lang="en-US" sz="2600" b="1" dirty="0">
                <a:solidFill>
                  <a:srgbClr val="3F6B4A"/>
                </a:solidFill>
                <a:latin typeface="Calibri" pitchFamily="34" charset="0"/>
                <a:ea typeface="Calibri" pitchFamily="34" charset="-122"/>
                <a:cs typeface="Calibri" pitchFamily="34" charset="-120"/>
              </a:rPr>
              <a:t>lava</a:t>
            </a:r>
            <a:pPr algn="l" indent="0" marL="0">
              <a:spcAft>
                <a:spcPts val="600"/>
              </a:spcAft>
              <a:buNone/>
            </a:pPr>
            <a:r>
              <a:rPr lang="en-US" sz="2600" dirty="0">
                <a:solidFill>
                  <a:srgbClr val="1E2229"/>
                </a:solidFill>
                <a:latin typeface="Calibri" pitchFamily="34" charset="0"/>
                <a:ea typeface="Calibri" pitchFamily="34" charset="-122"/>
                <a:cs typeface="Calibri" pitchFamily="34" charset="-120"/>
              </a:rPr>
              <a:t>.</a:t>
            </a:r>
            <a:endParaRPr lang="en-US" sz="2600" dirty="0"/>
          </a:p>
          <a:p>
            <a:pPr algn="l" indent="0" marL="0">
              <a:spcAft>
                <a:spcPts val="600"/>
              </a:spcAft>
              <a:buNone/>
            </a:pPr>
            <a:r>
              <a:rPr lang="en-US" sz="2600" b="1" dirty="0">
                <a:solidFill>
                  <a:srgbClr val="B8862B"/>
                </a:solidFill>
                <a:latin typeface="Calibri" pitchFamily="34" charset="0"/>
                <a:ea typeface="Calibri" pitchFamily="34" charset="-122"/>
                <a:cs typeface="Calibri" pitchFamily="34" charset="-120"/>
              </a:rPr>
              <a:t>10  </a:t>
            </a:r>
            <a:pPr algn="l" indent="0" marL="0">
              <a:spcAft>
                <a:spcPts val="600"/>
              </a:spcAft>
              <a:buNone/>
            </a:pPr>
            <a:r>
              <a:rPr lang="en-US" sz="2600" dirty="0">
                <a:solidFill>
                  <a:srgbClr val="1E2229"/>
                </a:solidFill>
                <a:latin typeface="Calibri" pitchFamily="34" charset="0"/>
                <a:ea typeface="Calibri" pitchFamily="34" charset="-122"/>
                <a:cs typeface="Calibri" pitchFamily="34" charset="-120"/>
              </a:rPr>
              <a:t>Heat from the </a:t>
            </a:r>
            <a:pPr algn="l" indent="0" marL="0">
              <a:spcAft>
                <a:spcPts val="600"/>
              </a:spcAft>
              <a:buNone/>
            </a:pPr>
            <a:r>
              <a:rPr lang="en-US" sz="2600" b="1" dirty="0">
                <a:solidFill>
                  <a:srgbClr val="3F6B4A"/>
                </a:solidFill>
                <a:latin typeface="Calibri" pitchFamily="34" charset="0"/>
                <a:ea typeface="Calibri" pitchFamily="34" charset="-122"/>
                <a:cs typeface="Calibri" pitchFamily="34" charset="-120"/>
              </a:rPr>
              <a:t>core</a:t>
            </a:r>
            <a:pPr algn="l" indent="0" marL="0">
              <a:spcAft>
                <a:spcPts val="600"/>
              </a:spcAft>
              <a:buNone/>
            </a:pPr>
            <a:r>
              <a:rPr lang="en-US" sz="2600" dirty="0">
                <a:solidFill>
                  <a:srgbClr val="1E2229"/>
                </a:solidFill>
                <a:latin typeface="Calibri" pitchFamily="34" charset="0"/>
                <a:ea typeface="Calibri" pitchFamily="34" charset="-122"/>
                <a:cs typeface="Calibri" pitchFamily="34" charset="-120"/>
              </a:rPr>
              <a:t> makes the rock in the </a:t>
            </a:r>
            <a:pPr algn="l" indent="0" marL="0">
              <a:spcAft>
                <a:spcPts val="600"/>
              </a:spcAft>
              <a:buNone/>
            </a:pPr>
            <a:r>
              <a:rPr lang="en-US" sz="2600" b="1" dirty="0">
                <a:solidFill>
                  <a:srgbClr val="3F6B4A"/>
                </a:solidFill>
                <a:latin typeface="Calibri" pitchFamily="34" charset="0"/>
                <a:ea typeface="Calibri" pitchFamily="34" charset="-122"/>
                <a:cs typeface="Calibri" pitchFamily="34" charset="-120"/>
              </a:rPr>
              <a:t>mantle</a:t>
            </a:r>
            <a:pPr algn="l" indent="0" marL="0">
              <a:spcAft>
                <a:spcPts val="600"/>
              </a:spcAft>
              <a:buNone/>
            </a:pPr>
            <a:r>
              <a:rPr lang="en-US" sz="2600" dirty="0">
                <a:solidFill>
                  <a:srgbClr val="1E2229"/>
                </a:solidFill>
                <a:latin typeface="Calibri" pitchFamily="34" charset="0"/>
                <a:ea typeface="Calibri" pitchFamily="34" charset="-122"/>
                <a:cs typeface="Calibri" pitchFamily="34" charset="-120"/>
              </a:rPr>
              <a:t> move very slowly.</a:t>
            </a:r>
            <a:endParaRPr lang="en-US" sz="2600" dirty="0"/>
          </a:p>
          <a:p>
            <a:pPr algn="l" indent="0" marL="0">
              <a:spcAft>
                <a:spcPts val="600"/>
              </a:spcAft>
              <a:buNone/>
            </a:pPr>
            <a:r>
              <a:rPr lang="en-US" sz="2600" b="1" dirty="0">
                <a:solidFill>
                  <a:srgbClr val="B8862B"/>
                </a:solidFill>
                <a:latin typeface="Calibri" pitchFamily="34" charset="0"/>
                <a:ea typeface="Calibri" pitchFamily="34" charset="-122"/>
                <a:cs typeface="Calibri" pitchFamily="34" charset="-120"/>
              </a:rPr>
              <a:t>11  </a:t>
            </a:r>
            <a:pPr algn="l" indent="0" marL="0">
              <a:spcAft>
                <a:spcPts val="600"/>
              </a:spcAft>
              <a:buNone/>
            </a:pPr>
            <a:r>
              <a:rPr lang="en-US" sz="2600" dirty="0">
                <a:solidFill>
                  <a:srgbClr val="1E2229"/>
                </a:solidFill>
                <a:latin typeface="Calibri" pitchFamily="34" charset="0"/>
                <a:ea typeface="Calibri" pitchFamily="34" charset="-122"/>
                <a:cs typeface="Calibri" pitchFamily="34" charset="-120"/>
              </a:rPr>
              <a:t>Hot rock rises, spreads out, cools and sinks again.</a:t>
            </a:r>
            <a:endParaRPr lang="en-US" sz="2600" dirty="0"/>
          </a:p>
          <a:p>
            <a:pPr algn="l" indent="0" marL="0">
              <a:spcAft>
                <a:spcPts val="600"/>
              </a:spcAft>
              <a:buNone/>
            </a:pPr>
            <a:r>
              <a:rPr lang="en-US" sz="2600" b="1" dirty="0">
                <a:solidFill>
                  <a:srgbClr val="B8862B"/>
                </a:solidFill>
                <a:latin typeface="Calibri" pitchFamily="34" charset="0"/>
                <a:ea typeface="Calibri" pitchFamily="34" charset="-122"/>
                <a:cs typeface="Calibri" pitchFamily="34" charset="-120"/>
              </a:rPr>
              <a:t>12  </a:t>
            </a:r>
            <a:pPr algn="l" indent="0" marL="0">
              <a:spcAft>
                <a:spcPts val="600"/>
              </a:spcAft>
              <a:buNone/>
            </a:pPr>
            <a:r>
              <a:rPr lang="en-US" sz="2600" dirty="0">
                <a:solidFill>
                  <a:srgbClr val="1E2229"/>
                </a:solidFill>
                <a:latin typeface="Calibri" pitchFamily="34" charset="0"/>
                <a:ea typeface="Calibri" pitchFamily="34" charset="-122"/>
                <a:cs typeface="Calibri" pitchFamily="34" charset="-120"/>
              </a:rPr>
              <a:t>These slow movements are called </a:t>
            </a:r>
            <a:pPr algn="l" indent="0" marL="0">
              <a:spcAft>
                <a:spcPts val="600"/>
              </a:spcAft>
              <a:buNone/>
            </a:pPr>
            <a:r>
              <a:rPr lang="en-US" sz="2600" b="1" dirty="0">
                <a:solidFill>
                  <a:srgbClr val="3F6B4A"/>
                </a:solidFill>
                <a:latin typeface="Calibri" pitchFamily="34" charset="0"/>
                <a:ea typeface="Calibri" pitchFamily="34" charset="-122"/>
                <a:cs typeface="Calibri" pitchFamily="34" charset="-120"/>
              </a:rPr>
              <a:t>convection currents</a:t>
            </a:r>
            <a:pPr algn="l" indent="0" marL="0">
              <a:spcAft>
                <a:spcPts val="600"/>
              </a:spcAft>
              <a:buNone/>
            </a:pPr>
            <a:r>
              <a:rPr lang="en-US" sz="2600" dirty="0">
                <a:solidFill>
                  <a:srgbClr val="1E2229"/>
                </a:solidFill>
                <a:latin typeface="Calibri" pitchFamily="34" charset="0"/>
                <a:ea typeface="Calibri" pitchFamily="34" charset="-122"/>
                <a:cs typeface="Calibri" pitchFamily="34" charset="-120"/>
              </a:rPr>
              <a:t>.</a:t>
            </a:r>
            <a:endParaRPr lang="en-US" sz="2600" dirty="0"/>
          </a:p>
          <a:p>
            <a:pPr algn="l" indent="0" marL="0">
              <a:spcAft>
                <a:spcPts val="600"/>
              </a:spcAft>
              <a:buNone/>
            </a:pPr>
            <a:r>
              <a:rPr lang="en-US" sz="2600" b="1" dirty="0">
                <a:solidFill>
                  <a:srgbClr val="B8862B"/>
                </a:solidFill>
                <a:latin typeface="Calibri" pitchFamily="34" charset="0"/>
                <a:ea typeface="Calibri" pitchFamily="34" charset="-122"/>
                <a:cs typeface="Calibri" pitchFamily="34" charset="-120"/>
              </a:rPr>
              <a:t>13  </a:t>
            </a:r>
            <a:pPr algn="l" indent="0" marL="0">
              <a:spcAft>
                <a:spcPts val="600"/>
              </a:spcAft>
              <a:buNone/>
            </a:pPr>
            <a:r>
              <a:rPr lang="en-US" sz="2600" dirty="0">
                <a:solidFill>
                  <a:srgbClr val="1E2229"/>
                </a:solidFill>
                <a:latin typeface="Calibri" pitchFamily="34" charset="0"/>
                <a:ea typeface="Calibri" pitchFamily="34" charset="-122"/>
                <a:cs typeface="Calibri" pitchFamily="34" charset="-120"/>
              </a:rPr>
              <a:t>They drag the pieces of </a:t>
            </a:r>
            <a:pPr algn="l" indent="0" marL="0">
              <a:spcAft>
                <a:spcPts val="600"/>
              </a:spcAft>
              <a:buNone/>
            </a:pPr>
            <a:r>
              <a:rPr lang="en-US" sz="2600" b="1" dirty="0">
                <a:solidFill>
                  <a:srgbClr val="3F6B4A"/>
                </a:solidFill>
                <a:latin typeface="Calibri" pitchFamily="34" charset="0"/>
                <a:ea typeface="Calibri" pitchFamily="34" charset="-122"/>
                <a:cs typeface="Calibri" pitchFamily="34" charset="-120"/>
              </a:rPr>
              <a:t>crust</a:t>
            </a:r>
            <a:pPr algn="l" indent="0" marL="0">
              <a:spcAft>
                <a:spcPts val="600"/>
              </a:spcAft>
              <a:buNone/>
            </a:pPr>
            <a:r>
              <a:rPr lang="en-US" sz="2600" dirty="0">
                <a:solidFill>
                  <a:srgbClr val="1E2229"/>
                </a:solidFill>
                <a:latin typeface="Calibri" pitchFamily="34" charset="0"/>
                <a:ea typeface="Calibri" pitchFamily="34" charset="-122"/>
                <a:cs typeface="Calibri" pitchFamily="34" charset="-120"/>
              </a:rPr>
              <a:t> above them along, a few centimetres a year.</a:t>
            </a:r>
            <a:endParaRPr lang="en-US" sz="26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3F6B4A"/>
                </a:solidFill>
                <a:latin typeface="Cambria" pitchFamily="34" charset="0"/>
                <a:ea typeface="Cambria" pitchFamily="34" charset="-122"/>
                <a:cs typeface="Cambria" pitchFamily="34" charset="-120"/>
              </a:rPr>
              <a:t>How old is the Earth?</a:t>
            </a:r>
            <a:endParaRPr lang="en-US" sz="32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Teach</a:t>
            </a:r>
            <a:endParaRPr lang="en-US" sz="1800" dirty="0"/>
          </a:p>
        </p:txBody>
      </p:sp>
      <p:sp>
        <p:nvSpPr>
          <p:cNvPr id="7" name="tip-box"/>
          <p:cNvSpPr/>
          <p:nvPr/>
        </p:nvSpPr>
        <p:spPr>
          <a:xfrm>
            <a:off x="548640" y="5350256"/>
            <a:ext cx="11094415" cy="794512"/>
          </a:xfrm>
          <a:prstGeom prst="roundRect">
            <a:avLst>
              <a:gd name="adj" fmla="val 17263"/>
            </a:avLst>
          </a:prstGeom>
          <a:solidFill>
            <a:srgbClr val="F5EFE2"/>
          </a:solidFill>
          <a:ln w="15875">
            <a:solidFill>
              <a:srgbClr val="B8862B"/>
            </a:solidFill>
            <a:prstDash val="solid"/>
          </a:ln>
        </p:spPr>
      </p:sp>
      <p:sp>
        <p:nvSpPr>
          <p:cNvPr id="8" name="tip-hex"/>
          <p:cNvSpPr/>
          <p:nvPr/>
        </p:nvSpPr>
        <p:spPr>
          <a:xfrm>
            <a:off x="685800" y="5549544"/>
            <a:ext cx="457200" cy="395935"/>
          </a:xfrm>
          <a:prstGeom prst="hexagon">
            <a:avLst/>
          </a:prstGeom>
          <a:solidFill>
            <a:srgbClr val="B8862B"/>
          </a:solidFill>
          <a:ln/>
        </p:spPr>
      </p:sp>
      <p:sp>
        <p:nvSpPr>
          <p:cNvPr id="9" name="tip-hex-label"/>
          <p:cNvSpPr txBox="1"/>
          <p:nvPr/>
        </p:nvSpPr>
        <p:spPr>
          <a:xfrm>
            <a:off x="685800" y="5549544"/>
            <a:ext cx="457200" cy="395935"/>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a:t>
            </a:r>
            <a:endParaRPr lang="en-US" sz="2000" dirty="0"/>
          </a:p>
        </p:txBody>
      </p:sp>
      <p:sp>
        <p:nvSpPr>
          <p:cNvPr id="10" name="tip"/>
          <p:cNvSpPr txBox="1"/>
          <p:nvPr/>
        </p:nvSpPr>
        <p:spPr>
          <a:xfrm>
            <a:off x="1280160" y="5405120"/>
            <a:ext cx="10225735" cy="684784"/>
          </a:xfrm>
          <a:prstGeom prst="rect">
            <a:avLst/>
          </a:prstGeom>
          <a:noFill/>
          <a:ln/>
        </p:spPr>
        <p:txBody>
          <a:bodyPr wrap="square" lIns="63500" tIns="63500" rIns="63500" bIns="63500" rtlCol="0" anchor="ctr"/>
          <a:lstStyle/>
          <a:p>
            <a:pPr algn="l" indent="0" marL="0">
              <a:buNone/>
            </a:pPr>
            <a:r>
              <a:rPr lang="en-US" sz="1800" b="1" dirty="0">
                <a:solidFill>
                  <a:srgbClr val="815E1E"/>
                </a:solidFill>
                <a:latin typeface="Calibri" pitchFamily="34" charset="0"/>
                <a:ea typeface="Calibri" pitchFamily="34" charset="-122"/>
                <a:cs typeface="Calibri" pitchFamily="34" charset="-120"/>
              </a:rPr>
              <a:t>Tip  </a:t>
            </a:r>
            <a:pPr algn="l" indent="0" marL="0">
              <a:buNone/>
            </a:pPr>
            <a:r>
              <a:rPr lang="en-US" sz="1800" dirty="0">
                <a:solidFill>
                  <a:srgbClr val="1E2229"/>
                </a:solidFill>
                <a:latin typeface="Calibri" pitchFamily="34" charset="0"/>
                <a:ea typeface="Calibri" pitchFamily="34" charset="-122"/>
                <a:cs typeface="Calibri" pitchFamily="34" charset="-120"/>
              </a:rPr>
              <a:t>Billion and million are easy to mix up. One billion is one thousand million, so 4.54 billion years is 4,540 million years.</a:t>
            </a:r>
            <a:endParaRPr lang="en-US" sz="1800" dirty="0"/>
          </a:p>
        </p:txBody>
      </p:sp>
      <p:sp>
        <p:nvSpPr>
          <p:cNvPr id="11" name="point-card"/>
          <p:cNvSpPr/>
          <p:nvPr/>
        </p:nvSpPr>
        <p:spPr>
          <a:xfrm>
            <a:off x="548640" y="1389888"/>
            <a:ext cx="3515258" cy="3686048"/>
          </a:xfrm>
          <a:prstGeom prst="roundRect">
            <a:avLst>
              <a:gd name="adj" fmla="val 1561"/>
            </a:avLst>
          </a:prstGeom>
          <a:solidFill>
            <a:srgbClr val="EFF2F0"/>
          </a:solidFill>
          <a:ln/>
        </p:spPr>
      </p:sp>
      <p:sp>
        <p:nvSpPr>
          <p:cNvPr id="12" name="point-hex"/>
          <p:cNvSpPr/>
          <p:nvPr/>
        </p:nvSpPr>
        <p:spPr>
          <a:xfrm>
            <a:off x="731520" y="1572768"/>
            <a:ext cx="685800" cy="593903"/>
          </a:xfrm>
          <a:prstGeom prst="hexagon">
            <a:avLst/>
          </a:prstGeom>
          <a:solidFill>
            <a:srgbClr val="3F6B4A"/>
          </a:solidFill>
          <a:ln/>
        </p:spPr>
      </p:sp>
      <p:sp>
        <p:nvSpPr>
          <p:cNvPr id="13" name="point-hex-label"/>
          <p:cNvSpPr txBox="1"/>
          <p:nvPr/>
        </p:nvSpPr>
        <p:spPr>
          <a:xfrm>
            <a:off x="731520"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4" name="point"/>
          <p:cNvSpPr txBox="1"/>
          <p:nvPr/>
        </p:nvSpPr>
        <p:spPr>
          <a:xfrm>
            <a:off x="731520" y="2350008"/>
            <a:ext cx="3149498" cy="2588768"/>
          </a:xfrm>
          <a:prstGeom prst="rect">
            <a:avLst/>
          </a:prstGeom>
          <a:noFill/>
          <a:ln/>
        </p:spPr>
        <p:txBody>
          <a:bodyPr wrap="square" lIns="63500" tIns="63500" rIns="63500" bIns="63500" rtlCol="0" anchor="t"/>
          <a:lstStyle/>
          <a:p>
            <a:pPr algn="l" indent="0" marL="0">
              <a:buNone/>
            </a:pPr>
            <a:r>
              <a:rPr lang="en-US" sz="1800" dirty="0">
                <a:solidFill>
                  <a:srgbClr val="1E2229"/>
                </a:solidFill>
                <a:latin typeface="Calibri" pitchFamily="34" charset="0"/>
                <a:ea typeface="Calibri" pitchFamily="34" charset="-122"/>
                <a:cs typeface="Calibri" pitchFamily="34" charset="-120"/>
              </a:rPr>
              <a:t>How old is the Earth? For most of history people could only guess.</a:t>
            </a:r>
            <a:endParaRPr lang="en-US" sz="1800" dirty="0"/>
          </a:p>
        </p:txBody>
      </p:sp>
      <p:sp>
        <p:nvSpPr>
          <p:cNvPr id="15" name="point-card"/>
          <p:cNvSpPr/>
          <p:nvPr/>
        </p:nvSpPr>
        <p:spPr>
          <a:xfrm>
            <a:off x="4338218" y="1389888"/>
            <a:ext cx="3515258" cy="3686048"/>
          </a:xfrm>
          <a:prstGeom prst="roundRect">
            <a:avLst>
              <a:gd name="adj" fmla="val 1561"/>
            </a:avLst>
          </a:prstGeom>
          <a:solidFill>
            <a:srgbClr val="F8F2E9"/>
          </a:solidFill>
          <a:ln/>
        </p:spPr>
      </p:sp>
      <p:sp>
        <p:nvSpPr>
          <p:cNvPr id="16" name="point-hex"/>
          <p:cNvSpPr/>
          <p:nvPr/>
        </p:nvSpPr>
        <p:spPr>
          <a:xfrm>
            <a:off x="4521098" y="1572768"/>
            <a:ext cx="685800" cy="593903"/>
          </a:xfrm>
          <a:prstGeom prst="hexagon">
            <a:avLst/>
          </a:prstGeom>
          <a:solidFill>
            <a:srgbClr val="B8862B"/>
          </a:solidFill>
          <a:ln/>
        </p:spPr>
      </p:sp>
      <p:sp>
        <p:nvSpPr>
          <p:cNvPr id="17" name="point-hex-label"/>
          <p:cNvSpPr txBox="1"/>
          <p:nvPr/>
        </p:nvSpPr>
        <p:spPr>
          <a:xfrm>
            <a:off x="4521098"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8" name="point"/>
          <p:cNvSpPr txBox="1"/>
          <p:nvPr/>
        </p:nvSpPr>
        <p:spPr>
          <a:xfrm>
            <a:off x="4521098" y="2350008"/>
            <a:ext cx="3149498" cy="2588768"/>
          </a:xfrm>
          <a:prstGeom prst="rect">
            <a:avLst/>
          </a:prstGeom>
          <a:noFill/>
          <a:ln/>
        </p:spPr>
        <p:txBody>
          <a:bodyPr wrap="square" lIns="63500" tIns="63500" rIns="63500" bIns="63500" rtlCol="0" anchor="t"/>
          <a:lstStyle/>
          <a:p>
            <a:pPr algn="l" indent="0" marL="0">
              <a:buNone/>
            </a:pPr>
            <a:r>
              <a:rPr lang="en-US" sz="1800" dirty="0">
                <a:solidFill>
                  <a:srgbClr val="1E2229"/>
                </a:solidFill>
                <a:latin typeface="Calibri" pitchFamily="34" charset="0"/>
                <a:ea typeface="Calibri" pitchFamily="34" charset="-122"/>
                <a:cs typeface="Calibri" pitchFamily="34" charset="-120"/>
              </a:rPr>
              <a:t>The evidence comes from rocks. Rocks form in layers over huge stretches of time, and by studying those layers scientists have built up a geological timescale, a kind of calendar of the Earth's past.</a:t>
            </a:r>
            <a:endParaRPr lang="en-US" sz="1800" dirty="0"/>
          </a:p>
        </p:txBody>
      </p:sp>
      <p:sp>
        <p:nvSpPr>
          <p:cNvPr id="19" name="point-card"/>
          <p:cNvSpPr/>
          <p:nvPr/>
        </p:nvSpPr>
        <p:spPr>
          <a:xfrm>
            <a:off x="8127797" y="1389888"/>
            <a:ext cx="3515258" cy="3686048"/>
          </a:xfrm>
          <a:prstGeom prst="roundRect">
            <a:avLst>
              <a:gd name="adj" fmla="val 1561"/>
            </a:avLst>
          </a:prstGeom>
          <a:solidFill>
            <a:srgbClr val="EFF2F0"/>
          </a:solidFill>
          <a:ln/>
        </p:spPr>
      </p:sp>
      <p:sp>
        <p:nvSpPr>
          <p:cNvPr id="20" name="point-hex"/>
          <p:cNvSpPr/>
          <p:nvPr/>
        </p:nvSpPr>
        <p:spPr>
          <a:xfrm>
            <a:off x="8310677" y="1572768"/>
            <a:ext cx="685800" cy="593903"/>
          </a:xfrm>
          <a:prstGeom prst="hexagon">
            <a:avLst/>
          </a:prstGeom>
          <a:solidFill>
            <a:srgbClr val="3F6B4A"/>
          </a:solidFill>
          <a:ln/>
        </p:spPr>
      </p:sp>
      <p:sp>
        <p:nvSpPr>
          <p:cNvPr id="21" name="point-hex-label"/>
          <p:cNvSpPr txBox="1"/>
          <p:nvPr/>
        </p:nvSpPr>
        <p:spPr>
          <a:xfrm>
            <a:off x="8310677"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3</a:t>
            </a:r>
            <a:endParaRPr lang="en-US" sz="2400" dirty="0"/>
          </a:p>
        </p:txBody>
      </p:sp>
      <p:sp>
        <p:nvSpPr>
          <p:cNvPr id="22" name="point"/>
          <p:cNvSpPr txBox="1"/>
          <p:nvPr/>
        </p:nvSpPr>
        <p:spPr>
          <a:xfrm>
            <a:off x="8310677" y="2350008"/>
            <a:ext cx="3149498" cy="2588768"/>
          </a:xfrm>
          <a:prstGeom prst="rect">
            <a:avLst/>
          </a:prstGeom>
          <a:noFill/>
          <a:ln/>
        </p:spPr>
        <p:txBody>
          <a:bodyPr wrap="square" lIns="63500" tIns="63500" rIns="63500" bIns="63500" rtlCol="0" anchor="t"/>
          <a:lstStyle/>
          <a:p>
            <a:pPr algn="l" indent="0" marL="0">
              <a:buNone/>
            </a:pPr>
            <a:r>
              <a:rPr lang="en-US" sz="1800" dirty="0">
                <a:solidFill>
                  <a:srgbClr val="1E2229"/>
                </a:solidFill>
                <a:latin typeface="Calibri" pitchFamily="34" charset="0"/>
                <a:ea typeface="Calibri" pitchFamily="34" charset="-122"/>
                <a:cs typeface="Calibri" pitchFamily="34" charset="-120"/>
              </a:rPr>
              <a:t>That raises a harder question. If the Earth is so old, what has changed in all that time?</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3F6B4A"/>
                </a:solidFill>
                <a:latin typeface="Cambria" pitchFamily="34" charset="0"/>
                <a:ea typeface="Cambria" pitchFamily="34" charset="-122"/>
                <a:cs typeface="Cambria" pitchFamily="34" charset="-120"/>
              </a:rPr>
              <a:t>The layers of the Earth</a:t>
            </a:r>
            <a:endParaRPr lang="en-US" sz="32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Teach</a:t>
            </a:r>
            <a:endParaRPr lang="en-US" sz="1800" dirty="0"/>
          </a:p>
        </p:txBody>
      </p:sp>
      <p:sp>
        <p:nvSpPr>
          <p:cNvPr id="7" name="point-card"/>
          <p:cNvSpPr/>
          <p:nvPr/>
        </p:nvSpPr>
        <p:spPr>
          <a:xfrm>
            <a:off x="548640" y="1389888"/>
            <a:ext cx="3515258" cy="4754880"/>
          </a:xfrm>
          <a:prstGeom prst="roundRect">
            <a:avLst>
              <a:gd name="adj" fmla="val 1561"/>
            </a:avLst>
          </a:prstGeom>
          <a:solidFill>
            <a:srgbClr val="EFF2F0"/>
          </a:solidFill>
          <a:ln/>
        </p:spPr>
      </p:sp>
      <p:sp>
        <p:nvSpPr>
          <p:cNvPr id="8" name="point-hex"/>
          <p:cNvSpPr/>
          <p:nvPr/>
        </p:nvSpPr>
        <p:spPr>
          <a:xfrm>
            <a:off x="731520" y="1572768"/>
            <a:ext cx="685800" cy="593903"/>
          </a:xfrm>
          <a:prstGeom prst="hexagon">
            <a:avLst/>
          </a:prstGeom>
          <a:solidFill>
            <a:srgbClr val="3F6B4A"/>
          </a:solidFill>
          <a:ln/>
        </p:spPr>
      </p:sp>
      <p:sp>
        <p:nvSpPr>
          <p:cNvPr id="9" name="point-hex-label"/>
          <p:cNvSpPr txBox="1"/>
          <p:nvPr/>
        </p:nvSpPr>
        <p:spPr>
          <a:xfrm>
            <a:off x="731520"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0" name="point"/>
          <p:cNvSpPr txBox="1"/>
          <p:nvPr/>
        </p:nvSpPr>
        <p:spPr>
          <a:xfrm>
            <a:off x="731520" y="2350008"/>
            <a:ext cx="3149498" cy="3657600"/>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The Earth is not the same all the way through.</a:t>
            </a:r>
            <a:endParaRPr lang="en-US" sz="2400" dirty="0"/>
          </a:p>
        </p:txBody>
      </p:sp>
      <p:sp>
        <p:nvSpPr>
          <p:cNvPr id="11" name="point-card"/>
          <p:cNvSpPr/>
          <p:nvPr/>
        </p:nvSpPr>
        <p:spPr>
          <a:xfrm>
            <a:off x="4338218" y="1389888"/>
            <a:ext cx="3515258" cy="4754880"/>
          </a:xfrm>
          <a:prstGeom prst="roundRect">
            <a:avLst>
              <a:gd name="adj" fmla="val 1561"/>
            </a:avLst>
          </a:prstGeom>
          <a:solidFill>
            <a:srgbClr val="F8F2E9"/>
          </a:solidFill>
          <a:ln/>
        </p:spPr>
      </p:sp>
      <p:sp>
        <p:nvSpPr>
          <p:cNvPr id="12" name="point-hex"/>
          <p:cNvSpPr/>
          <p:nvPr/>
        </p:nvSpPr>
        <p:spPr>
          <a:xfrm>
            <a:off x="4521098" y="1572768"/>
            <a:ext cx="685800" cy="593903"/>
          </a:xfrm>
          <a:prstGeom prst="hexagon">
            <a:avLst/>
          </a:prstGeom>
          <a:solidFill>
            <a:srgbClr val="B8862B"/>
          </a:solidFill>
          <a:ln/>
        </p:spPr>
      </p:sp>
      <p:sp>
        <p:nvSpPr>
          <p:cNvPr id="13" name="point-hex-label"/>
          <p:cNvSpPr txBox="1"/>
          <p:nvPr/>
        </p:nvSpPr>
        <p:spPr>
          <a:xfrm>
            <a:off x="4521098"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4" name="point"/>
          <p:cNvSpPr txBox="1"/>
          <p:nvPr/>
        </p:nvSpPr>
        <p:spPr>
          <a:xfrm>
            <a:off x="4521098" y="2350008"/>
            <a:ext cx="3149498" cy="3657600"/>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Under the crust is the mantle. This is a very thick layer of hot rock.</a:t>
            </a:r>
            <a:endParaRPr lang="en-US" sz="2400" dirty="0"/>
          </a:p>
        </p:txBody>
      </p:sp>
      <p:sp>
        <p:nvSpPr>
          <p:cNvPr id="15" name="point-card"/>
          <p:cNvSpPr/>
          <p:nvPr/>
        </p:nvSpPr>
        <p:spPr>
          <a:xfrm>
            <a:off x="8127797" y="1389888"/>
            <a:ext cx="3515258" cy="4754880"/>
          </a:xfrm>
          <a:prstGeom prst="roundRect">
            <a:avLst>
              <a:gd name="adj" fmla="val 1561"/>
            </a:avLst>
          </a:prstGeom>
          <a:solidFill>
            <a:srgbClr val="EFF2F0"/>
          </a:solidFill>
          <a:ln/>
        </p:spPr>
      </p:sp>
      <p:sp>
        <p:nvSpPr>
          <p:cNvPr id="16" name="point-hex"/>
          <p:cNvSpPr/>
          <p:nvPr/>
        </p:nvSpPr>
        <p:spPr>
          <a:xfrm>
            <a:off x="8310677" y="1572768"/>
            <a:ext cx="685800" cy="593903"/>
          </a:xfrm>
          <a:prstGeom prst="hexagon">
            <a:avLst/>
          </a:prstGeom>
          <a:solidFill>
            <a:srgbClr val="3F6B4A"/>
          </a:solidFill>
          <a:ln/>
        </p:spPr>
      </p:sp>
      <p:sp>
        <p:nvSpPr>
          <p:cNvPr id="17" name="point-hex-label"/>
          <p:cNvSpPr txBox="1"/>
          <p:nvPr/>
        </p:nvSpPr>
        <p:spPr>
          <a:xfrm>
            <a:off x="8310677"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3</a:t>
            </a:r>
            <a:endParaRPr lang="en-US" sz="2400" dirty="0"/>
          </a:p>
        </p:txBody>
      </p:sp>
      <p:sp>
        <p:nvSpPr>
          <p:cNvPr id="18" name="point"/>
          <p:cNvSpPr txBox="1"/>
          <p:nvPr/>
        </p:nvSpPr>
        <p:spPr>
          <a:xfrm>
            <a:off x="8310677" y="2350008"/>
            <a:ext cx="3149498" cy="3657600"/>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Nobody has ever seen these layers. The deepest hole people have drilled only scratches the crust.</a:t>
            </a:r>
            <a:endParaRPr lang="en-US" sz="24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3F6B4A"/>
                </a:solidFill>
                <a:latin typeface="Cambria" pitchFamily="34" charset="0"/>
                <a:ea typeface="Cambria" pitchFamily="34" charset="-122"/>
                <a:cs typeface="Cambria" pitchFamily="34" charset="-120"/>
              </a:rPr>
              <a:t>Worked example: The layers of the Earth</a:t>
            </a:r>
            <a:endParaRPr lang="en-US" sz="32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Teach</a:t>
            </a:r>
            <a:endParaRPr lang="en-US" sz="1800" dirty="0"/>
          </a:p>
        </p:txBody>
      </p:sp>
      <p:sp>
        <p:nvSpPr>
          <p:cNvPr id="7" name="wq-band"/>
          <p:cNvSpPr/>
          <p:nvPr/>
        </p:nvSpPr>
        <p:spPr>
          <a:xfrm>
            <a:off x="548640" y="1389888"/>
            <a:ext cx="11094415" cy="650748"/>
          </a:xfrm>
          <a:prstGeom prst="roundRect">
            <a:avLst>
              <a:gd name="adj" fmla="val 14052"/>
            </a:avLst>
          </a:prstGeom>
          <a:solidFill>
            <a:srgbClr val="EFF2F0"/>
          </a:solidFill>
          <a:ln/>
        </p:spPr>
      </p:sp>
      <p:sp>
        <p:nvSpPr>
          <p:cNvPr id="8" name="worked-q"/>
          <p:cNvSpPr txBox="1"/>
          <p:nvPr/>
        </p:nvSpPr>
        <p:spPr>
          <a:xfrm>
            <a:off x="731520" y="1481328"/>
            <a:ext cx="10728655" cy="467868"/>
          </a:xfrm>
          <a:prstGeom prst="rect">
            <a:avLst/>
          </a:prstGeom>
          <a:noFill/>
          <a:ln/>
        </p:spPr>
        <p:txBody>
          <a:bodyPr wrap="square" lIns="63500" tIns="63500" rIns="63500" bIns="63500" rtlCol="0" anchor="ctr"/>
          <a:lstStyle/>
          <a:p>
            <a:pPr algn="l" indent="0" marL="0">
              <a:buNone/>
            </a:pPr>
            <a:r>
              <a:rPr lang="en-US" sz="2200" b="1" dirty="0">
                <a:solidFill>
                  <a:srgbClr val="1E2229"/>
                </a:solidFill>
                <a:latin typeface="Calibri" pitchFamily="34" charset="0"/>
                <a:ea typeface="Calibri" pitchFamily="34" charset="-122"/>
                <a:cs typeface="Calibri" pitchFamily="34" charset="-120"/>
              </a:rPr>
              <a:t>Describe the structure of the Earth. (3 marks)</a:t>
            </a:r>
            <a:endParaRPr lang="en-US" sz="2200" dirty="0"/>
          </a:p>
        </p:txBody>
      </p:sp>
      <p:sp>
        <p:nvSpPr>
          <p:cNvPr id="9" name="step-box"/>
          <p:cNvSpPr/>
          <p:nvPr/>
        </p:nvSpPr>
        <p:spPr>
          <a:xfrm>
            <a:off x="548640" y="2314956"/>
            <a:ext cx="3423818" cy="2252980"/>
          </a:xfrm>
          <a:prstGeom prst="roundRect">
            <a:avLst>
              <a:gd name="adj" fmla="val 3247"/>
            </a:avLst>
          </a:prstGeom>
          <a:solidFill>
            <a:srgbClr val="FFFFFF"/>
          </a:solidFill>
          <a:ln w="15875">
            <a:solidFill>
              <a:srgbClr val="95AE9B"/>
            </a:solidFill>
            <a:prstDash val="solid"/>
          </a:ln>
        </p:spPr>
      </p:sp>
      <p:sp>
        <p:nvSpPr>
          <p:cNvPr id="10" name="step-hex"/>
          <p:cNvSpPr/>
          <p:nvPr/>
        </p:nvSpPr>
        <p:spPr>
          <a:xfrm>
            <a:off x="685800" y="2424684"/>
            <a:ext cx="530352" cy="459285"/>
          </a:xfrm>
          <a:prstGeom prst="hexagon">
            <a:avLst/>
          </a:prstGeom>
          <a:solidFill>
            <a:srgbClr val="3F6B4A"/>
          </a:solidFill>
          <a:ln/>
        </p:spPr>
      </p:sp>
      <p:sp>
        <p:nvSpPr>
          <p:cNvPr id="11" name="step-hex-label"/>
          <p:cNvSpPr txBox="1"/>
          <p:nvPr/>
        </p:nvSpPr>
        <p:spPr>
          <a:xfrm>
            <a:off x="685800" y="2424684"/>
            <a:ext cx="530352" cy="459285"/>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1</a:t>
            </a:r>
            <a:endParaRPr lang="en-US" sz="2000" dirty="0"/>
          </a:p>
        </p:txBody>
      </p:sp>
      <p:sp>
        <p:nvSpPr>
          <p:cNvPr id="12" name="step"/>
          <p:cNvSpPr txBox="1"/>
          <p:nvPr/>
        </p:nvSpPr>
        <p:spPr>
          <a:xfrm>
            <a:off x="685800" y="2909316"/>
            <a:ext cx="3149498" cy="1567180"/>
          </a:xfrm>
          <a:prstGeom prst="rect">
            <a:avLst/>
          </a:prstGeom>
          <a:noFill/>
          <a:ln/>
        </p:spPr>
        <p:txBody>
          <a:bodyPr wrap="square" lIns="63500" tIns="63500" rIns="63500" bIns="63500" rtlCol="0" anchor="t"/>
          <a:lstStyle/>
          <a:p>
            <a:pPr algn="l" indent="0" marL="0">
              <a:buNone/>
            </a:pPr>
            <a:r>
              <a:rPr lang="en-US" sz="1800" dirty="0">
                <a:solidFill>
                  <a:srgbClr val="1E2229"/>
                </a:solidFill>
                <a:latin typeface="Calibri" pitchFamily="34" charset="0"/>
                <a:ea typeface="Calibri" pitchFamily="34" charset="-122"/>
                <a:cs typeface="Calibri" pitchFamily="34" charset="-120"/>
              </a:rPr>
              <a:t>Start at the outside and work inwards, so the order is clear.</a:t>
            </a:r>
            <a:endParaRPr lang="en-US" sz="1800" dirty="0"/>
          </a:p>
        </p:txBody>
      </p:sp>
      <p:sp>
        <p:nvSpPr>
          <p:cNvPr id="13" name="arrow"/>
          <p:cNvSpPr/>
          <p:nvPr/>
        </p:nvSpPr>
        <p:spPr>
          <a:xfrm>
            <a:off x="4045610" y="3304286"/>
            <a:ext cx="274320" cy="274320"/>
          </a:xfrm>
          <a:prstGeom prst="rightArrow">
            <a:avLst/>
          </a:prstGeom>
          <a:solidFill>
            <a:srgbClr val="B8862B"/>
          </a:solidFill>
          <a:ln/>
        </p:spPr>
      </p:sp>
      <p:sp>
        <p:nvSpPr>
          <p:cNvPr id="14" name="step-box"/>
          <p:cNvSpPr/>
          <p:nvPr/>
        </p:nvSpPr>
        <p:spPr>
          <a:xfrm>
            <a:off x="4383938" y="2314956"/>
            <a:ext cx="3423818" cy="2252980"/>
          </a:xfrm>
          <a:prstGeom prst="roundRect">
            <a:avLst>
              <a:gd name="adj" fmla="val 3247"/>
            </a:avLst>
          </a:prstGeom>
          <a:solidFill>
            <a:srgbClr val="FFFFFF"/>
          </a:solidFill>
          <a:ln w="15875">
            <a:solidFill>
              <a:srgbClr val="95AE9B"/>
            </a:solidFill>
            <a:prstDash val="solid"/>
          </a:ln>
        </p:spPr>
      </p:sp>
      <p:sp>
        <p:nvSpPr>
          <p:cNvPr id="15" name="step-hex"/>
          <p:cNvSpPr/>
          <p:nvPr/>
        </p:nvSpPr>
        <p:spPr>
          <a:xfrm>
            <a:off x="4521098" y="2424684"/>
            <a:ext cx="530352" cy="459285"/>
          </a:xfrm>
          <a:prstGeom prst="hexagon">
            <a:avLst/>
          </a:prstGeom>
          <a:solidFill>
            <a:srgbClr val="3F6B4A"/>
          </a:solidFill>
          <a:ln/>
        </p:spPr>
      </p:sp>
      <p:sp>
        <p:nvSpPr>
          <p:cNvPr id="16" name="step-hex-label"/>
          <p:cNvSpPr txBox="1"/>
          <p:nvPr/>
        </p:nvSpPr>
        <p:spPr>
          <a:xfrm>
            <a:off x="4521098" y="2424684"/>
            <a:ext cx="530352" cy="459285"/>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2</a:t>
            </a:r>
            <a:endParaRPr lang="en-US" sz="2000" dirty="0"/>
          </a:p>
        </p:txBody>
      </p:sp>
      <p:sp>
        <p:nvSpPr>
          <p:cNvPr id="17" name="step"/>
          <p:cNvSpPr txBox="1"/>
          <p:nvPr/>
        </p:nvSpPr>
        <p:spPr>
          <a:xfrm>
            <a:off x="4521098" y="2909316"/>
            <a:ext cx="3149498" cy="1567180"/>
          </a:xfrm>
          <a:prstGeom prst="rect">
            <a:avLst/>
          </a:prstGeom>
          <a:noFill/>
          <a:ln/>
        </p:spPr>
        <p:txBody>
          <a:bodyPr wrap="square" lIns="63500" tIns="63500" rIns="63500" bIns="63500" rtlCol="0" anchor="t"/>
          <a:lstStyle/>
          <a:p>
            <a:pPr algn="l" indent="0" marL="0">
              <a:buNone/>
            </a:pPr>
            <a:r>
              <a:rPr lang="en-US" sz="1800" dirty="0">
                <a:solidFill>
                  <a:srgbClr val="1E2229"/>
                </a:solidFill>
                <a:latin typeface="Calibri" pitchFamily="34" charset="0"/>
                <a:ea typeface="Calibri" pitchFamily="34" charset="-122"/>
                <a:cs typeface="Calibri" pitchFamily="34" charset="-120"/>
              </a:rPr>
              <a:t>Name each layer and say one thing about it: the crust is the thin, solid outer layer; the mantle is the thick layer of hot rock under the crust.</a:t>
            </a:r>
            <a:endParaRPr lang="en-US" sz="1800" dirty="0"/>
          </a:p>
        </p:txBody>
      </p:sp>
      <p:sp>
        <p:nvSpPr>
          <p:cNvPr id="18" name="arrow"/>
          <p:cNvSpPr/>
          <p:nvPr/>
        </p:nvSpPr>
        <p:spPr>
          <a:xfrm>
            <a:off x="7880909" y="3304286"/>
            <a:ext cx="274320" cy="274320"/>
          </a:xfrm>
          <a:prstGeom prst="rightArrow">
            <a:avLst/>
          </a:prstGeom>
          <a:solidFill>
            <a:srgbClr val="B8862B"/>
          </a:solidFill>
          <a:ln/>
        </p:spPr>
      </p:sp>
      <p:sp>
        <p:nvSpPr>
          <p:cNvPr id="19" name="step-box"/>
          <p:cNvSpPr/>
          <p:nvPr/>
        </p:nvSpPr>
        <p:spPr>
          <a:xfrm>
            <a:off x="8219237" y="2314956"/>
            <a:ext cx="3423818" cy="2252980"/>
          </a:xfrm>
          <a:prstGeom prst="roundRect">
            <a:avLst>
              <a:gd name="adj" fmla="val 3247"/>
            </a:avLst>
          </a:prstGeom>
          <a:solidFill>
            <a:srgbClr val="FFFFFF"/>
          </a:solidFill>
          <a:ln w="15875">
            <a:solidFill>
              <a:srgbClr val="95AE9B"/>
            </a:solidFill>
            <a:prstDash val="solid"/>
          </a:ln>
        </p:spPr>
      </p:sp>
      <p:sp>
        <p:nvSpPr>
          <p:cNvPr id="20" name="step-hex"/>
          <p:cNvSpPr/>
          <p:nvPr/>
        </p:nvSpPr>
        <p:spPr>
          <a:xfrm>
            <a:off x="8356397" y="2424684"/>
            <a:ext cx="530352" cy="459285"/>
          </a:xfrm>
          <a:prstGeom prst="hexagon">
            <a:avLst/>
          </a:prstGeom>
          <a:solidFill>
            <a:srgbClr val="3F6B4A"/>
          </a:solidFill>
          <a:ln/>
        </p:spPr>
      </p:sp>
      <p:sp>
        <p:nvSpPr>
          <p:cNvPr id="21" name="step-hex-label"/>
          <p:cNvSpPr txBox="1"/>
          <p:nvPr/>
        </p:nvSpPr>
        <p:spPr>
          <a:xfrm>
            <a:off x="8356397" y="2424684"/>
            <a:ext cx="530352" cy="459285"/>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3</a:t>
            </a:r>
            <a:endParaRPr lang="en-US" sz="2000" dirty="0"/>
          </a:p>
        </p:txBody>
      </p:sp>
      <p:sp>
        <p:nvSpPr>
          <p:cNvPr id="22" name="step"/>
          <p:cNvSpPr txBox="1"/>
          <p:nvPr/>
        </p:nvSpPr>
        <p:spPr>
          <a:xfrm>
            <a:off x="8356397" y="2909316"/>
            <a:ext cx="3149498" cy="1567180"/>
          </a:xfrm>
          <a:prstGeom prst="rect">
            <a:avLst/>
          </a:prstGeom>
          <a:noFill/>
          <a:ln/>
        </p:spPr>
        <p:txBody>
          <a:bodyPr wrap="square" lIns="63500" tIns="63500" rIns="63500" bIns="63500" rtlCol="0" anchor="t"/>
          <a:lstStyle/>
          <a:p>
            <a:pPr algn="l" indent="0" marL="0">
              <a:buNone/>
            </a:pPr>
            <a:r>
              <a:rPr lang="en-US" sz="1800" dirty="0">
                <a:solidFill>
                  <a:srgbClr val="1E2229"/>
                </a:solidFill>
                <a:latin typeface="Calibri" pitchFamily="34" charset="0"/>
                <a:ea typeface="Calibri" pitchFamily="34" charset="-122"/>
                <a:cs typeface="Calibri" pitchFamily="34" charset="-120"/>
              </a:rPr>
              <a:t>Finish at the centre: the core, with an outer core and an inner core, is the hottest part.</a:t>
            </a:r>
            <a:endParaRPr lang="en-US" sz="1800" dirty="0"/>
          </a:p>
        </p:txBody>
      </p:sp>
      <p:sp>
        <p:nvSpPr>
          <p:cNvPr id="23" name="worked-answer"/>
          <p:cNvSpPr/>
          <p:nvPr/>
        </p:nvSpPr>
        <p:spPr>
          <a:xfrm>
            <a:off x="1463040" y="5034788"/>
            <a:ext cx="9265615" cy="1109980"/>
          </a:xfrm>
          <a:prstGeom prst="roundRect">
            <a:avLst>
              <a:gd name="adj" fmla="val 16476"/>
            </a:avLst>
          </a:prstGeom>
          <a:solidFill>
            <a:srgbClr val="EEE3CD"/>
          </a:solidFill>
          <a:ln w="19050">
            <a:solidFill>
              <a:srgbClr val="B8862B"/>
            </a:solidFill>
          </a:ln>
        </p:spPr>
        <p:txBody>
          <a:bodyPr wrap="square" lIns="63500" tIns="63500" rIns="63500" bIns="63500" rtlCol="0" anchor="ctr"/>
          <a:lstStyle/>
          <a:p>
            <a:pPr algn="ctr" indent="0" marL="0">
              <a:buNone/>
            </a:pPr>
            <a:r>
              <a:rPr lang="en-US" sz="1800" b="1" dirty="0">
                <a:solidFill>
                  <a:srgbClr val="815E1E"/>
                </a:solidFill>
                <a:latin typeface="Calibri" pitchFamily="34" charset="0"/>
                <a:ea typeface="Calibri" pitchFamily="34" charset="-122"/>
                <a:cs typeface="Calibri" pitchFamily="34" charset="-120"/>
              </a:rPr>
              <a:t>Answer  </a:t>
            </a:r>
            <a:pPr algn="ctr" indent="0" marL="0">
              <a:buNone/>
            </a:pPr>
            <a:r>
              <a:rPr lang="en-US" sz="1800" b="1" dirty="0">
                <a:solidFill>
                  <a:srgbClr val="1E2229"/>
                </a:solidFill>
                <a:latin typeface="Calibri" pitchFamily="34" charset="0"/>
                <a:ea typeface="Calibri" pitchFamily="34" charset="-122"/>
                <a:cs typeface="Calibri" pitchFamily="34" charset="-120"/>
              </a:rPr>
              <a:t>The Earth has three main layers. The crust is the thin, solid outer layer we live on. Under it is the mantle, a thick layer of very hot rock that moves slowly. At the centre is the core, made of an outer core and an inner core, which is the hottest part of the Earth.</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3F6B4A"/>
                </a:solidFill>
                <a:latin typeface="Cambria" pitchFamily="34" charset="0"/>
                <a:ea typeface="Cambria" pitchFamily="34" charset="-122"/>
                <a:cs typeface="Cambria" pitchFamily="34" charset="-120"/>
              </a:rPr>
              <a:t>Two kinds of crust</a:t>
            </a:r>
            <a:endParaRPr lang="en-US" sz="32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Teach</a:t>
            </a:r>
            <a:endParaRPr lang="en-US" sz="1800" dirty="0"/>
          </a:p>
        </p:txBody>
      </p:sp>
      <p:sp>
        <p:nvSpPr>
          <p:cNvPr id="7" name="tip-box"/>
          <p:cNvSpPr/>
          <p:nvPr/>
        </p:nvSpPr>
        <p:spPr>
          <a:xfrm>
            <a:off x="548640" y="5629148"/>
            <a:ext cx="11094415" cy="515620"/>
          </a:xfrm>
          <a:prstGeom prst="roundRect">
            <a:avLst>
              <a:gd name="adj" fmla="val 26601"/>
            </a:avLst>
          </a:prstGeom>
          <a:solidFill>
            <a:srgbClr val="F5EFE2"/>
          </a:solidFill>
          <a:ln w="15875">
            <a:solidFill>
              <a:srgbClr val="B8862B"/>
            </a:solidFill>
            <a:prstDash val="solid"/>
          </a:ln>
        </p:spPr>
      </p:sp>
      <p:sp>
        <p:nvSpPr>
          <p:cNvPr id="8" name="tip-hex"/>
          <p:cNvSpPr/>
          <p:nvPr/>
        </p:nvSpPr>
        <p:spPr>
          <a:xfrm>
            <a:off x="685800" y="5688990"/>
            <a:ext cx="457200" cy="395935"/>
          </a:xfrm>
          <a:prstGeom prst="hexagon">
            <a:avLst/>
          </a:prstGeom>
          <a:solidFill>
            <a:srgbClr val="B8862B"/>
          </a:solidFill>
          <a:ln/>
        </p:spPr>
      </p:sp>
      <p:sp>
        <p:nvSpPr>
          <p:cNvPr id="9" name="tip-hex-label"/>
          <p:cNvSpPr txBox="1"/>
          <p:nvPr/>
        </p:nvSpPr>
        <p:spPr>
          <a:xfrm>
            <a:off x="685800" y="5688990"/>
            <a:ext cx="457200" cy="395935"/>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a:t>
            </a:r>
            <a:endParaRPr lang="en-US" sz="2000" dirty="0"/>
          </a:p>
        </p:txBody>
      </p:sp>
      <p:sp>
        <p:nvSpPr>
          <p:cNvPr id="10" name="tip"/>
          <p:cNvSpPr txBox="1"/>
          <p:nvPr/>
        </p:nvSpPr>
        <p:spPr>
          <a:xfrm>
            <a:off x="1280160" y="5684012"/>
            <a:ext cx="10225735" cy="405892"/>
          </a:xfrm>
          <a:prstGeom prst="rect">
            <a:avLst/>
          </a:prstGeom>
          <a:noFill/>
          <a:ln/>
        </p:spPr>
        <p:txBody>
          <a:bodyPr wrap="square" lIns="63500" tIns="63500" rIns="63500" bIns="63500" rtlCol="0" anchor="ctr"/>
          <a:lstStyle/>
          <a:p>
            <a:pPr algn="l" indent="0" marL="0">
              <a:buNone/>
            </a:pPr>
            <a:r>
              <a:rPr lang="en-US" sz="1800" b="1" dirty="0">
                <a:solidFill>
                  <a:srgbClr val="815E1E"/>
                </a:solidFill>
                <a:latin typeface="Calibri" pitchFamily="34" charset="0"/>
                <a:ea typeface="Calibri" pitchFamily="34" charset="-122"/>
                <a:cs typeface="Calibri" pitchFamily="34" charset="-120"/>
              </a:rPr>
              <a:t>Tip  </a:t>
            </a:r>
            <a:pPr algn="l" indent="0" marL="0">
              <a:buNone/>
            </a:pPr>
            <a:r>
              <a:rPr lang="en-US" sz="1800" dirty="0">
                <a:solidFill>
                  <a:srgbClr val="1E2229"/>
                </a:solidFill>
                <a:latin typeface="Calibri" pitchFamily="34" charset="0"/>
                <a:ea typeface="Calibri" pitchFamily="34" charset="-122"/>
                <a:cs typeface="Calibri" pitchFamily="34" charset="-120"/>
              </a:rPr>
              <a:t>Oceanic: thin, dense, under the sea. Continental: thick, less dense, makes the land.</a:t>
            </a:r>
            <a:endParaRPr lang="en-US" sz="1800" dirty="0"/>
          </a:p>
        </p:txBody>
      </p:sp>
      <p:sp>
        <p:nvSpPr>
          <p:cNvPr id="11" name="point-card"/>
          <p:cNvSpPr/>
          <p:nvPr/>
        </p:nvSpPr>
        <p:spPr>
          <a:xfrm>
            <a:off x="548640" y="1389888"/>
            <a:ext cx="3515258" cy="3964940"/>
          </a:xfrm>
          <a:prstGeom prst="roundRect">
            <a:avLst>
              <a:gd name="adj" fmla="val 1561"/>
            </a:avLst>
          </a:prstGeom>
          <a:solidFill>
            <a:srgbClr val="EFF2F0"/>
          </a:solidFill>
          <a:ln/>
        </p:spPr>
      </p:sp>
      <p:sp>
        <p:nvSpPr>
          <p:cNvPr id="12" name="point-hex"/>
          <p:cNvSpPr/>
          <p:nvPr/>
        </p:nvSpPr>
        <p:spPr>
          <a:xfrm>
            <a:off x="731520" y="1572768"/>
            <a:ext cx="685800" cy="593903"/>
          </a:xfrm>
          <a:prstGeom prst="hexagon">
            <a:avLst/>
          </a:prstGeom>
          <a:solidFill>
            <a:srgbClr val="3F6B4A"/>
          </a:solidFill>
          <a:ln/>
        </p:spPr>
      </p:sp>
      <p:sp>
        <p:nvSpPr>
          <p:cNvPr id="13" name="point-hex-label"/>
          <p:cNvSpPr txBox="1"/>
          <p:nvPr/>
        </p:nvSpPr>
        <p:spPr>
          <a:xfrm>
            <a:off x="731520"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4" name="point"/>
          <p:cNvSpPr txBox="1"/>
          <p:nvPr/>
        </p:nvSpPr>
        <p:spPr>
          <a:xfrm>
            <a:off x="731520" y="2350008"/>
            <a:ext cx="3149498" cy="2867660"/>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The crust is not all the same. There are two kinds.</a:t>
            </a:r>
            <a:endParaRPr lang="en-US" sz="2400" dirty="0"/>
          </a:p>
        </p:txBody>
      </p:sp>
      <p:sp>
        <p:nvSpPr>
          <p:cNvPr id="15" name="point-card"/>
          <p:cNvSpPr/>
          <p:nvPr/>
        </p:nvSpPr>
        <p:spPr>
          <a:xfrm>
            <a:off x="4338218" y="1389888"/>
            <a:ext cx="3515258" cy="3964940"/>
          </a:xfrm>
          <a:prstGeom prst="roundRect">
            <a:avLst>
              <a:gd name="adj" fmla="val 1561"/>
            </a:avLst>
          </a:prstGeom>
          <a:solidFill>
            <a:srgbClr val="F8F2E9"/>
          </a:solidFill>
          <a:ln/>
        </p:spPr>
      </p:sp>
      <p:sp>
        <p:nvSpPr>
          <p:cNvPr id="16" name="point-hex"/>
          <p:cNvSpPr/>
          <p:nvPr/>
        </p:nvSpPr>
        <p:spPr>
          <a:xfrm>
            <a:off x="4521098" y="1572768"/>
            <a:ext cx="685800" cy="593903"/>
          </a:xfrm>
          <a:prstGeom prst="hexagon">
            <a:avLst/>
          </a:prstGeom>
          <a:solidFill>
            <a:srgbClr val="B8862B"/>
          </a:solidFill>
          <a:ln/>
        </p:spPr>
      </p:sp>
      <p:sp>
        <p:nvSpPr>
          <p:cNvPr id="17" name="point-hex-label"/>
          <p:cNvSpPr txBox="1"/>
          <p:nvPr/>
        </p:nvSpPr>
        <p:spPr>
          <a:xfrm>
            <a:off x="4521098"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8" name="point"/>
          <p:cNvSpPr txBox="1"/>
          <p:nvPr/>
        </p:nvSpPr>
        <p:spPr>
          <a:xfrm>
            <a:off x="4521098" y="2350008"/>
            <a:ext cx="3149498" cy="2867660"/>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The two behave differently. Oceanic crust is thinner and denser (heavier for its size).</a:t>
            </a:r>
            <a:endParaRPr lang="en-US" sz="2400" dirty="0"/>
          </a:p>
        </p:txBody>
      </p:sp>
      <p:sp>
        <p:nvSpPr>
          <p:cNvPr id="19" name="point-card"/>
          <p:cNvSpPr/>
          <p:nvPr/>
        </p:nvSpPr>
        <p:spPr>
          <a:xfrm>
            <a:off x="8127797" y="1389888"/>
            <a:ext cx="3515258" cy="3964940"/>
          </a:xfrm>
          <a:prstGeom prst="roundRect">
            <a:avLst>
              <a:gd name="adj" fmla="val 1561"/>
            </a:avLst>
          </a:prstGeom>
          <a:solidFill>
            <a:srgbClr val="EFF2F0"/>
          </a:solidFill>
          <a:ln/>
        </p:spPr>
      </p:sp>
      <p:sp>
        <p:nvSpPr>
          <p:cNvPr id="20" name="point-hex"/>
          <p:cNvSpPr/>
          <p:nvPr/>
        </p:nvSpPr>
        <p:spPr>
          <a:xfrm>
            <a:off x="8310677" y="1572768"/>
            <a:ext cx="685800" cy="593903"/>
          </a:xfrm>
          <a:prstGeom prst="hexagon">
            <a:avLst/>
          </a:prstGeom>
          <a:solidFill>
            <a:srgbClr val="3F6B4A"/>
          </a:solidFill>
          <a:ln/>
        </p:spPr>
      </p:sp>
      <p:sp>
        <p:nvSpPr>
          <p:cNvPr id="21" name="point-hex-label"/>
          <p:cNvSpPr txBox="1"/>
          <p:nvPr/>
        </p:nvSpPr>
        <p:spPr>
          <a:xfrm>
            <a:off x="8310677"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3</a:t>
            </a:r>
            <a:endParaRPr lang="en-US" sz="2400" dirty="0"/>
          </a:p>
        </p:txBody>
      </p:sp>
      <p:sp>
        <p:nvSpPr>
          <p:cNvPr id="22" name="point"/>
          <p:cNvSpPr txBox="1"/>
          <p:nvPr/>
        </p:nvSpPr>
        <p:spPr>
          <a:xfrm>
            <a:off x="8310677" y="2350008"/>
            <a:ext cx="3149498" cy="2867660"/>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Most tectonic plates carry some of each: a continent and the ocean floor around it.</a:t>
            </a:r>
            <a:endParaRPr lang="en-US" sz="24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3F6B4A"/>
                </a:solidFill>
                <a:latin typeface="Cambria" pitchFamily="34" charset="0"/>
                <a:ea typeface="Cambria" pitchFamily="34" charset="-122"/>
                <a:cs typeface="Cambria" pitchFamily="34" charset="-120"/>
              </a:rPr>
              <a:t>Magma, lava and convection currents</a:t>
            </a:r>
            <a:endParaRPr lang="en-US" sz="32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Teach</a:t>
            </a:r>
            <a:endParaRPr lang="en-US" sz="1800" dirty="0"/>
          </a:p>
        </p:txBody>
      </p:sp>
      <p:sp>
        <p:nvSpPr>
          <p:cNvPr id="7" name="tip-box"/>
          <p:cNvSpPr/>
          <p:nvPr/>
        </p:nvSpPr>
        <p:spPr>
          <a:xfrm>
            <a:off x="548640" y="5629148"/>
            <a:ext cx="11094415" cy="515620"/>
          </a:xfrm>
          <a:prstGeom prst="roundRect">
            <a:avLst>
              <a:gd name="adj" fmla="val 26601"/>
            </a:avLst>
          </a:prstGeom>
          <a:solidFill>
            <a:srgbClr val="F5EFE2"/>
          </a:solidFill>
          <a:ln w="15875">
            <a:solidFill>
              <a:srgbClr val="B8862B"/>
            </a:solidFill>
            <a:prstDash val="solid"/>
          </a:ln>
        </p:spPr>
      </p:sp>
      <p:sp>
        <p:nvSpPr>
          <p:cNvPr id="8" name="tip-hex"/>
          <p:cNvSpPr/>
          <p:nvPr/>
        </p:nvSpPr>
        <p:spPr>
          <a:xfrm>
            <a:off x="685800" y="5688990"/>
            <a:ext cx="457200" cy="395935"/>
          </a:xfrm>
          <a:prstGeom prst="hexagon">
            <a:avLst/>
          </a:prstGeom>
          <a:solidFill>
            <a:srgbClr val="B8862B"/>
          </a:solidFill>
          <a:ln/>
        </p:spPr>
      </p:sp>
      <p:sp>
        <p:nvSpPr>
          <p:cNvPr id="9" name="tip-hex-label"/>
          <p:cNvSpPr txBox="1"/>
          <p:nvPr/>
        </p:nvSpPr>
        <p:spPr>
          <a:xfrm>
            <a:off x="685800" y="5688990"/>
            <a:ext cx="457200" cy="395935"/>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a:t>
            </a:r>
            <a:endParaRPr lang="en-US" sz="2000" dirty="0"/>
          </a:p>
        </p:txBody>
      </p:sp>
      <p:sp>
        <p:nvSpPr>
          <p:cNvPr id="10" name="tip"/>
          <p:cNvSpPr txBox="1"/>
          <p:nvPr/>
        </p:nvSpPr>
        <p:spPr>
          <a:xfrm>
            <a:off x="1280160" y="5684012"/>
            <a:ext cx="10225735" cy="405892"/>
          </a:xfrm>
          <a:prstGeom prst="rect">
            <a:avLst/>
          </a:prstGeom>
          <a:noFill/>
          <a:ln/>
        </p:spPr>
        <p:txBody>
          <a:bodyPr wrap="square" lIns="63500" tIns="63500" rIns="63500" bIns="63500" rtlCol="0" anchor="ctr"/>
          <a:lstStyle/>
          <a:p>
            <a:pPr algn="l" indent="0" marL="0">
              <a:buNone/>
            </a:pPr>
            <a:r>
              <a:rPr lang="en-US" sz="1800" b="1" dirty="0">
                <a:solidFill>
                  <a:srgbClr val="815E1E"/>
                </a:solidFill>
                <a:latin typeface="Calibri" pitchFamily="34" charset="0"/>
                <a:ea typeface="Calibri" pitchFamily="34" charset="-122"/>
                <a:cs typeface="Calibri" pitchFamily="34" charset="-120"/>
              </a:rPr>
              <a:t>Tip  </a:t>
            </a:r>
            <a:pPr algn="l" indent="0" marL="0">
              <a:buNone/>
            </a:pPr>
            <a:r>
              <a:rPr lang="en-US" sz="1800" dirty="0">
                <a:solidFill>
                  <a:srgbClr val="1E2229"/>
                </a:solidFill>
                <a:latin typeface="Calibri" pitchFamily="34" charset="0"/>
                <a:ea typeface="Calibri" pitchFamily="34" charset="-122"/>
                <a:cs typeface="Calibri" pitchFamily="34" charset="-120"/>
              </a:rPr>
              <a:t>Magma is underground; lava is on the surface. If you can see it, it is lava.</a:t>
            </a:r>
            <a:endParaRPr lang="en-US" sz="1800" dirty="0"/>
          </a:p>
        </p:txBody>
      </p:sp>
      <p:sp>
        <p:nvSpPr>
          <p:cNvPr id="11" name="point-card"/>
          <p:cNvSpPr/>
          <p:nvPr/>
        </p:nvSpPr>
        <p:spPr>
          <a:xfrm>
            <a:off x="548640" y="1389888"/>
            <a:ext cx="3515258" cy="3964940"/>
          </a:xfrm>
          <a:prstGeom prst="roundRect">
            <a:avLst>
              <a:gd name="adj" fmla="val 1561"/>
            </a:avLst>
          </a:prstGeom>
          <a:solidFill>
            <a:srgbClr val="EFF2F0"/>
          </a:solidFill>
          <a:ln/>
        </p:spPr>
      </p:sp>
      <p:sp>
        <p:nvSpPr>
          <p:cNvPr id="12" name="point-hex"/>
          <p:cNvSpPr/>
          <p:nvPr/>
        </p:nvSpPr>
        <p:spPr>
          <a:xfrm>
            <a:off x="731520" y="1572768"/>
            <a:ext cx="685800" cy="593903"/>
          </a:xfrm>
          <a:prstGeom prst="hexagon">
            <a:avLst/>
          </a:prstGeom>
          <a:solidFill>
            <a:srgbClr val="3F6B4A"/>
          </a:solidFill>
          <a:ln/>
        </p:spPr>
      </p:sp>
      <p:sp>
        <p:nvSpPr>
          <p:cNvPr id="13" name="point-hex-label"/>
          <p:cNvSpPr txBox="1"/>
          <p:nvPr/>
        </p:nvSpPr>
        <p:spPr>
          <a:xfrm>
            <a:off x="731520"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4" name="point"/>
          <p:cNvSpPr txBox="1"/>
          <p:nvPr/>
        </p:nvSpPr>
        <p:spPr>
          <a:xfrm>
            <a:off x="731520" y="2350008"/>
            <a:ext cx="3149498" cy="2867660"/>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Deep in the Earth, rock gets hot enough to melt.</a:t>
            </a:r>
            <a:endParaRPr lang="en-US" sz="2400" dirty="0"/>
          </a:p>
        </p:txBody>
      </p:sp>
      <p:sp>
        <p:nvSpPr>
          <p:cNvPr id="15" name="point-card"/>
          <p:cNvSpPr/>
          <p:nvPr/>
        </p:nvSpPr>
        <p:spPr>
          <a:xfrm>
            <a:off x="4338218" y="1389888"/>
            <a:ext cx="3515258" cy="3964940"/>
          </a:xfrm>
          <a:prstGeom prst="roundRect">
            <a:avLst>
              <a:gd name="adj" fmla="val 1561"/>
            </a:avLst>
          </a:prstGeom>
          <a:solidFill>
            <a:srgbClr val="F8F2E9"/>
          </a:solidFill>
          <a:ln/>
        </p:spPr>
      </p:sp>
      <p:sp>
        <p:nvSpPr>
          <p:cNvPr id="16" name="point-hex"/>
          <p:cNvSpPr/>
          <p:nvPr/>
        </p:nvSpPr>
        <p:spPr>
          <a:xfrm>
            <a:off x="4521098" y="1572768"/>
            <a:ext cx="685800" cy="593903"/>
          </a:xfrm>
          <a:prstGeom prst="hexagon">
            <a:avLst/>
          </a:prstGeom>
          <a:solidFill>
            <a:srgbClr val="B8862B"/>
          </a:solidFill>
          <a:ln/>
        </p:spPr>
      </p:sp>
      <p:sp>
        <p:nvSpPr>
          <p:cNvPr id="17" name="point-hex-label"/>
          <p:cNvSpPr txBox="1"/>
          <p:nvPr/>
        </p:nvSpPr>
        <p:spPr>
          <a:xfrm>
            <a:off x="4521098"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8" name="point"/>
          <p:cNvSpPr txBox="1"/>
          <p:nvPr/>
        </p:nvSpPr>
        <p:spPr>
          <a:xfrm>
            <a:off x="4521098" y="2350008"/>
            <a:ext cx="3149498" cy="2867660"/>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The heat of the core does something else. It warms the rock at the bottom of the mantle, and hot rock is less dense, so it slowly rises.</a:t>
            </a:r>
            <a:endParaRPr lang="en-US" sz="2400" dirty="0"/>
          </a:p>
        </p:txBody>
      </p:sp>
      <p:sp>
        <p:nvSpPr>
          <p:cNvPr id="19" name="point-card"/>
          <p:cNvSpPr/>
          <p:nvPr/>
        </p:nvSpPr>
        <p:spPr>
          <a:xfrm>
            <a:off x="8127797" y="1389888"/>
            <a:ext cx="3515258" cy="3964940"/>
          </a:xfrm>
          <a:prstGeom prst="roundRect">
            <a:avLst>
              <a:gd name="adj" fmla="val 1561"/>
            </a:avLst>
          </a:prstGeom>
          <a:solidFill>
            <a:srgbClr val="EFF2F0"/>
          </a:solidFill>
          <a:ln/>
        </p:spPr>
      </p:sp>
      <p:sp>
        <p:nvSpPr>
          <p:cNvPr id="20" name="point-hex"/>
          <p:cNvSpPr/>
          <p:nvPr/>
        </p:nvSpPr>
        <p:spPr>
          <a:xfrm>
            <a:off x="8310677" y="1572768"/>
            <a:ext cx="685800" cy="593903"/>
          </a:xfrm>
          <a:prstGeom prst="hexagon">
            <a:avLst/>
          </a:prstGeom>
          <a:solidFill>
            <a:srgbClr val="3F6B4A"/>
          </a:solidFill>
          <a:ln/>
        </p:spPr>
      </p:sp>
      <p:sp>
        <p:nvSpPr>
          <p:cNvPr id="21" name="point-hex-label"/>
          <p:cNvSpPr txBox="1"/>
          <p:nvPr/>
        </p:nvSpPr>
        <p:spPr>
          <a:xfrm>
            <a:off x="8310677"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3</a:t>
            </a:r>
            <a:endParaRPr lang="en-US" sz="2400" dirty="0"/>
          </a:p>
        </p:txBody>
      </p:sp>
      <p:sp>
        <p:nvSpPr>
          <p:cNvPr id="22" name="point"/>
          <p:cNvSpPr txBox="1"/>
          <p:nvPr/>
        </p:nvSpPr>
        <p:spPr>
          <a:xfrm>
            <a:off x="8310677" y="2350008"/>
            <a:ext cx="3149498" cy="2867660"/>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You can see the same thing in a pan of soup on a hob: the hot soup rises in the middle, spreads to the edges, cools and sinks.</a:t>
            </a:r>
            <a:endParaRPr lang="en-US" sz="24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3F6B4A"/>
                </a:solidFill>
                <a:latin typeface="Cambria" pitchFamily="34" charset="0"/>
                <a:ea typeface="Cambria" pitchFamily="34" charset="-122"/>
                <a:cs typeface="Cambria" pitchFamily="34" charset="-120"/>
              </a:rPr>
              <a:t>The task: Layer by layer</a:t>
            </a:r>
            <a:endParaRPr lang="en-US" sz="3200" dirty="0"/>
          </a:p>
        </p:txBody>
      </p:sp>
      <p:sp>
        <p:nvSpPr>
          <p:cNvPr id="4" name="chip-hex"/>
          <p:cNvSpPr/>
          <p:nvPr/>
        </p:nvSpPr>
        <p:spPr>
          <a:xfrm>
            <a:off x="9677095" y="531760"/>
            <a:ext cx="566928" cy="490960"/>
          </a:xfrm>
          <a:prstGeom prst="hexagon">
            <a:avLst/>
          </a:prstGeom>
          <a:solidFill>
            <a:srgbClr val="3F6B4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Same task</a:t>
            </a:r>
            <a:endParaRPr lang="en-US" sz="1800" dirty="0"/>
          </a:p>
        </p:txBody>
      </p:sp>
      <p:sp>
        <p:nvSpPr>
          <p:cNvPr id="7" name="task-box"/>
          <p:cNvSpPr/>
          <p:nvPr/>
        </p:nvSpPr>
        <p:spPr>
          <a:xfrm>
            <a:off x="548640" y="1389888"/>
            <a:ext cx="11094415" cy="4754880"/>
          </a:xfrm>
          <a:prstGeom prst="roundRect">
            <a:avLst>
              <a:gd name="adj" fmla="val 962"/>
            </a:avLst>
          </a:prstGeom>
          <a:solidFill>
            <a:srgbClr val="FFFFFF"/>
          </a:solidFill>
          <a:ln w="31750">
            <a:solidFill>
              <a:srgbClr val="B8862B"/>
            </a:solidFill>
            <a:prstDash val="solid"/>
          </a:ln>
        </p:spPr>
      </p:sp>
      <p:sp>
        <p:nvSpPr>
          <p:cNvPr id="8" name="task-hex"/>
          <p:cNvSpPr/>
          <p:nvPr/>
        </p:nvSpPr>
        <p:spPr>
          <a:xfrm>
            <a:off x="822960" y="1664208"/>
            <a:ext cx="822960" cy="712683"/>
          </a:xfrm>
          <a:prstGeom prst="hexagon">
            <a:avLst/>
          </a:prstGeom>
          <a:solidFill>
            <a:srgbClr val="B8862B"/>
          </a:solidFill>
          <a:ln/>
        </p:spPr>
      </p:sp>
      <p:sp>
        <p:nvSpPr>
          <p:cNvPr id="9" name="task-hex-label"/>
          <p:cNvSpPr txBox="1"/>
          <p:nvPr/>
        </p:nvSpPr>
        <p:spPr>
          <a:xfrm>
            <a:off x="822960" y="1664208"/>
            <a:ext cx="822960" cy="712683"/>
          </a:xfrm>
          <a:prstGeom prst="rect">
            <a:avLst/>
          </a:prstGeom>
          <a:noFill/>
          <a:ln/>
        </p:spPr>
        <p:txBody>
          <a:bodyPr wrap="square" lIns="0" tIns="0" rIns="0" bIns="0" rtlCol="0" anchor="ctr"/>
          <a:lstStyle/>
          <a:p>
            <a:pPr algn="ctr" indent="0" marL="0">
              <a:buNone/>
            </a:pPr>
            <a:r>
              <a:rPr lang="en-US" sz="2800" b="1" dirty="0">
                <a:solidFill>
                  <a:srgbClr val="FFFFFF"/>
                </a:solidFill>
                <a:latin typeface="Cambria" pitchFamily="34" charset="0"/>
                <a:ea typeface="Cambria" pitchFamily="34" charset="-122"/>
                <a:cs typeface="Cambria" pitchFamily="34" charset="-120"/>
              </a:rPr>
              <a:t>1</a:t>
            </a:r>
            <a:endParaRPr lang="en-US" sz="2800" dirty="0"/>
          </a:p>
        </p:txBody>
      </p:sp>
      <p:sp>
        <p:nvSpPr>
          <p:cNvPr id="10" name="task"/>
          <p:cNvSpPr txBox="1"/>
          <p:nvPr/>
        </p:nvSpPr>
        <p:spPr>
          <a:xfrm>
            <a:off x="1828800" y="1572768"/>
            <a:ext cx="8534095" cy="4389120"/>
          </a:xfrm>
          <a:prstGeom prst="rect">
            <a:avLst/>
          </a:prstGeom>
          <a:noFill/>
          <a:ln/>
        </p:spPr>
        <p:txBody>
          <a:bodyPr wrap="square" lIns="63500" tIns="63500" rIns="63500" bIns="63500" rtlCol="0" anchor="ctr"/>
          <a:lstStyle/>
          <a:p>
            <a:pPr algn="ctr" indent="0" marL="0">
              <a:spcAft>
                <a:spcPts val="600"/>
              </a:spcAft>
              <a:buNone/>
            </a:pPr>
            <a:r>
              <a:rPr lang="en-US" sz="2600" b="1" dirty="0">
                <a:solidFill>
                  <a:srgbClr val="1E2229"/>
                </a:solidFill>
                <a:latin typeface="Calibri" pitchFamily="34" charset="0"/>
                <a:ea typeface="Calibri" pitchFamily="34" charset="-122"/>
                <a:cs typeface="Calibri" pitchFamily="34" charset="-120"/>
              </a:rPr>
              <a:t>Put the Earth's layers in order, starting from the surface and going down to the centre.</a:t>
            </a:r>
            <a:endParaRPr lang="en-US" sz="2600" dirty="0"/>
          </a:p>
          <a:p>
            <a:pPr algn="l" indent="0" marL="0">
              <a:spcAft>
                <a:spcPts val="200"/>
              </a:spcAft>
              <a:buNone/>
            </a:pPr>
            <a:r>
              <a:rPr lang="en-US" sz="2400" b="1" dirty="0">
                <a:solidFill>
                  <a:srgbClr val="B8862B"/>
                </a:solidFill>
                <a:latin typeface="Calibri" pitchFamily="34" charset="0"/>
                <a:ea typeface="Calibri" pitchFamily="34" charset="-122"/>
                <a:cs typeface="Calibri" pitchFamily="34" charset="-120"/>
              </a:rPr>
              <a:t>A   </a:t>
            </a:r>
            <a:pPr algn="l" indent="0" marL="0">
              <a:spcAft>
                <a:spcPts val="200"/>
              </a:spcAft>
              <a:buNone/>
            </a:pPr>
            <a:r>
              <a:rPr lang="en-US" sz="2400" dirty="0">
                <a:solidFill>
                  <a:srgbClr val="1E2229"/>
                </a:solidFill>
                <a:latin typeface="Calibri" pitchFamily="34" charset="0"/>
                <a:ea typeface="Calibri" pitchFamily="34" charset="-122"/>
                <a:cs typeface="Calibri" pitchFamily="34" charset="-120"/>
              </a:rPr>
              <a:t>Crust</a:t>
            </a:r>
            <a:endParaRPr lang="en-US" sz="2600" dirty="0"/>
          </a:p>
          <a:p>
            <a:pPr algn="l" indent="0" marL="0">
              <a:spcAft>
                <a:spcPts val="200"/>
              </a:spcAft>
              <a:buNone/>
            </a:pPr>
            <a:r>
              <a:rPr lang="en-US" sz="2400" b="1" dirty="0">
                <a:solidFill>
                  <a:srgbClr val="B8862B"/>
                </a:solidFill>
                <a:latin typeface="Calibri" pitchFamily="34" charset="0"/>
                <a:ea typeface="Calibri" pitchFamily="34" charset="-122"/>
                <a:cs typeface="Calibri" pitchFamily="34" charset="-120"/>
              </a:rPr>
              <a:t>B   </a:t>
            </a:r>
            <a:pPr algn="l" indent="0" marL="0">
              <a:spcAft>
                <a:spcPts val="200"/>
              </a:spcAft>
              <a:buNone/>
            </a:pPr>
            <a:r>
              <a:rPr lang="en-US" sz="2400" dirty="0">
                <a:solidFill>
                  <a:srgbClr val="1E2229"/>
                </a:solidFill>
                <a:latin typeface="Calibri" pitchFamily="34" charset="0"/>
                <a:ea typeface="Calibri" pitchFamily="34" charset="-122"/>
                <a:cs typeface="Calibri" pitchFamily="34" charset="-120"/>
              </a:rPr>
              <a:t>Outer core</a:t>
            </a:r>
            <a:endParaRPr lang="en-US" sz="2600" dirty="0"/>
          </a:p>
          <a:p>
            <a:pPr algn="l" indent="0" marL="0">
              <a:spcAft>
                <a:spcPts val="200"/>
              </a:spcAft>
              <a:buNone/>
            </a:pPr>
            <a:r>
              <a:rPr lang="en-US" sz="2400" b="1" dirty="0">
                <a:solidFill>
                  <a:srgbClr val="B8862B"/>
                </a:solidFill>
                <a:latin typeface="Calibri" pitchFamily="34" charset="0"/>
                <a:ea typeface="Calibri" pitchFamily="34" charset="-122"/>
                <a:cs typeface="Calibri" pitchFamily="34" charset="-120"/>
              </a:rPr>
              <a:t>C   </a:t>
            </a:r>
            <a:pPr algn="l" indent="0" marL="0">
              <a:spcAft>
                <a:spcPts val="200"/>
              </a:spcAft>
              <a:buNone/>
            </a:pPr>
            <a:r>
              <a:rPr lang="en-US" sz="2400" dirty="0">
                <a:solidFill>
                  <a:srgbClr val="1E2229"/>
                </a:solidFill>
                <a:latin typeface="Calibri" pitchFamily="34" charset="0"/>
                <a:ea typeface="Calibri" pitchFamily="34" charset="-122"/>
                <a:cs typeface="Calibri" pitchFamily="34" charset="-120"/>
              </a:rPr>
              <a:t>Inner core</a:t>
            </a:r>
            <a:endParaRPr lang="en-US" sz="2600" dirty="0"/>
          </a:p>
          <a:p>
            <a:pPr algn="l" indent="0" marL="0">
              <a:spcAft>
                <a:spcPts val="200"/>
              </a:spcAft>
              <a:buNone/>
            </a:pPr>
            <a:r>
              <a:rPr lang="en-US" sz="2400" b="1" dirty="0">
                <a:solidFill>
                  <a:srgbClr val="B8862B"/>
                </a:solidFill>
                <a:latin typeface="Calibri" pitchFamily="34" charset="0"/>
                <a:ea typeface="Calibri" pitchFamily="34" charset="-122"/>
                <a:cs typeface="Calibri" pitchFamily="34" charset="-120"/>
              </a:rPr>
              <a:t>D   </a:t>
            </a:r>
            <a:pPr algn="l" indent="0" marL="0">
              <a:spcAft>
                <a:spcPts val="200"/>
              </a:spcAft>
              <a:buNone/>
            </a:pPr>
            <a:r>
              <a:rPr lang="en-US" sz="2400" dirty="0">
                <a:solidFill>
                  <a:srgbClr val="1E2229"/>
                </a:solidFill>
                <a:latin typeface="Calibri" pitchFamily="34" charset="0"/>
                <a:ea typeface="Calibri" pitchFamily="34" charset="-122"/>
                <a:cs typeface="Calibri" pitchFamily="34" charset="-120"/>
              </a:rPr>
              <a:t>Mantle</a:t>
            </a:r>
            <a:endParaRPr lang="en-US" sz="26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3F6B4A"/>
                </a:solidFill>
                <a:latin typeface="Cambria" pitchFamily="34" charset="0"/>
                <a:ea typeface="Cambria" pitchFamily="34" charset="-122"/>
                <a:cs typeface="Cambria" pitchFamily="34" charset="-120"/>
              </a:rPr>
              <a:t>Same task, three ways in: Layer by layer</a:t>
            </a:r>
            <a:endParaRPr lang="en-US" sz="3200" dirty="0"/>
          </a:p>
        </p:txBody>
      </p:sp>
      <p:sp>
        <p:nvSpPr>
          <p:cNvPr id="4" name="chip-hex"/>
          <p:cNvSpPr/>
          <p:nvPr/>
        </p:nvSpPr>
        <p:spPr>
          <a:xfrm>
            <a:off x="9677095" y="531760"/>
            <a:ext cx="566928" cy="490960"/>
          </a:xfrm>
          <a:prstGeom prst="hexagon">
            <a:avLst/>
          </a:prstGeom>
          <a:solidFill>
            <a:srgbClr val="3F6B4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3</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Routes</a:t>
            </a:r>
            <a:endParaRPr lang="en-US" sz="1800" dirty="0"/>
          </a:p>
        </p:txBody>
      </p:sp>
      <p:sp>
        <p:nvSpPr>
          <p:cNvPr id="7" name="task-box"/>
          <p:cNvSpPr/>
          <p:nvPr/>
        </p:nvSpPr>
        <p:spPr>
          <a:xfrm>
            <a:off x="548640" y="1389888"/>
            <a:ext cx="11094415" cy="731520"/>
          </a:xfrm>
          <a:prstGeom prst="roundRect">
            <a:avLst>
              <a:gd name="adj" fmla="val 12500"/>
            </a:avLst>
          </a:prstGeom>
          <a:solidFill>
            <a:srgbClr val="FFFFFF"/>
          </a:solidFill>
          <a:ln w="31750">
            <a:solidFill>
              <a:srgbClr val="B8862B"/>
            </a:solidFill>
            <a:prstDash val="solid"/>
          </a:ln>
        </p:spPr>
      </p:sp>
      <p:sp>
        <p:nvSpPr>
          <p:cNvPr id="8" name="task-hex"/>
          <p:cNvSpPr/>
          <p:nvPr/>
        </p:nvSpPr>
        <p:spPr>
          <a:xfrm>
            <a:off x="777240" y="1438900"/>
            <a:ext cx="731520" cy="633496"/>
          </a:xfrm>
          <a:prstGeom prst="hexagon">
            <a:avLst/>
          </a:prstGeom>
          <a:solidFill>
            <a:srgbClr val="B8862B"/>
          </a:solidFill>
          <a:ln/>
        </p:spPr>
      </p:sp>
      <p:sp>
        <p:nvSpPr>
          <p:cNvPr id="9" name="task-hex-label"/>
          <p:cNvSpPr txBox="1"/>
          <p:nvPr/>
        </p:nvSpPr>
        <p:spPr>
          <a:xfrm>
            <a:off x="777240" y="1438900"/>
            <a:ext cx="731520" cy="633496"/>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0" name="task-everyone"/>
          <p:cNvSpPr txBox="1"/>
          <p:nvPr/>
        </p:nvSpPr>
        <p:spPr>
          <a:xfrm>
            <a:off x="10362895" y="1481328"/>
            <a:ext cx="1188720" cy="548640"/>
          </a:xfrm>
          <a:prstGeom prst="rect">
            <a:avLst/>
          </a:prstGeom>
          <a:noFill/>
          <a:ln/>
        </p:spPr>
        <p:txBody>
          <a:bodyPr wrap="square" lIns="63500" tIns="63500" rIns="63500" bIns="63500" rtlCol="0" anchor="ctr"/>
          <a:lstStyle/>
          <a:p>
            <a:pPr algn="ctr" indent="0" marL="0">
              <a:buNone/>
            </a:pPr>
            <a:r>
              <a:rPr lang="en-US" sz="1800" b="1" dirty="0">
                <a:solidFill>
                  <a:srgbClr val="815E1E"/>
                </a:solidFill>
                <a:latin typeface="Calibri" pitchFamily="34" charset="0"/>
                <a:ea typeface="Calibri" pitchFamily="34" charset="-122"/>
                <a:cs typeface="Calibri" pitchFamily="34" charset="-120"/>
              </a:rPr>
              <a:t>Everyone</a:t>
            </a:r>
            <a:endParaRPr lang="en-US" sz="1800" dirty="0"/>
          </a:p>
        </p:txBody>
      </p:sp>
      <p:sp>
        <p:nvSpPr>
          <p:cNvPr id="11" name="task"/>
          <p:cNvSpPr txBox="1"/>
          <p:nvPr/>
        </p:nvSpPr>
        <p:spPr>
          <a:xfrm>
            <a:off x="1645920" y="1481328"/>
            <a:ext cx="8579815" cy="548640"/>
          </a:xfrm>
          <a:prstGeom prst="rect">
            <a:avLst/>
          </a:prstGeom>
          <a:noFill/>
          <a:ln/>
        </p:spPr>
        <p:txBody>
          <a:bodyPr wrap="square" lIns="63500" tIns="63500" rIns="63500" bIns="63500" rtlCol="0" anchor="ctr"/>
          <a:lstStyle/>
          <a:p>
            <a:pPr algn="ctr" indent="0" marL="0">
              <a:buNone/>
            </a:pPr>
            <a:r>
              <a:rPr lang="en-US" sz="2000" b="1" dirty="0">
                <a:solidFill>
                  <a:srgbClr val="1E2229"/>
                </a:solidFill>
                <a:latin typeface="Calibri" pitchFamily="34" charset="0"/>
                <a:ea typeface="Calibri" pitchFamily="34" charset="-122"/>
                <a:cs typeface="Calibri" pitchFamily="34" charset="-120"/>
              </a:rPr>
              <a:t>Task 1 (on the last slide): Layer by layer</a:t>
            </a:r>
            <a:endParaRPr lang="en-US" sz="2000" dirty="0"/>
          </a:p>
        </p:txBody>
      </p:sp>
      <p:sp>
        <p:nvSpPr>
          <p:cNvPr id="12" name="col-Support"/>
          <p:cNvSpPr/>
          <p:nvPr/>
        </p:nvSpPr>
        <p:spPr>
          <a:xfrm>
            <a:off x="548640" y="2395728"/>
            <a:ext cx="4667802" cy="3749040"/>
          </a:xfrm>
          <a:prstGeom prst="roundRect">
            <a:avLst>
              <a:gd name="adj" fmla="val 1463"/>
            </a:avLst>
          </a:prstGeom>
          <a:solidFill>
            <a:srgbClr val="EFF2F0"/>
          </a:solidFill>
          <a:ln/>
        </p:spPr>
      </p:sp>
      <p:sp>
        <p:nvSpPr>
          <p:cNvPr id="13" name="col-hex"/>
          <p:cNvSpPr/>
          <p:nvPr/>
        </p:nvSpPr>
        <p:spPr>
          <a:xfrm>
            <a:off x="658368" y="2468880"/>
            <a:ext cx="475488" cy="411773"/>
          </a:xfrm>
          <a:prstGeom prst="hexagon">
            <a:avLst/>
          </a:prstGeom>
          <a:solidFill>
            <a:srgbClr val="B8862B"/>
          </a:solidFill>
          <a:ln w="12700">
            <a:solidFill>
              <a:srgbClr val="FFFFFF"/>
            </a:solidFill>
            <a:prstDash val="solid"/>
          </a:ln>
        </p:spPr>
      </p:sp>
      <p:sp>
        <p:nvSpPr>
          <p:cNvPr id="14" name="col-hex-label"/>
          <p:cNvSpPr txBox="1"/>
          <p:nvPr/>
        </p:nvSpPr>
        <p:spPr>
          <a:xfrm>
            <a:off x="658368" y="2468880"/>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15" name="col-head"/>
          <p:cNvSpPr txBox="1"/>
          <p:nvPr/>
        </p:nvSpPr>
        <p:spPr>
          <a:xfrm>
            <a:off x="1188720" y="2432304"/>
            <a:ext cx="3936282" cy="566928"/>
          </a:xfrm>
          <a:prstGeom prst="rect">
            <a:avLst/>
          </a:prstGeom>
          <a:noFill/>
          <a:ln/>
        </p:spPr>
        <p:txBody>
          <a:bodyPr wrap="square" lIns="63500" tIns="63500" rIns="63500" bIns="63500" rtlCol="0" anchor="ctr"/>
          <a:lstStyle/>
          <a:p>
            <a:pPr algn="l" indent="0" marL="0">
              <a:buNone/>
            </a:pPr>
            <a:r>
              <a:rPr lang="en-US" sz="2000" b="1" dirty="0">
                <a:solidFill>
                  <a:srgbClr val="2C4B34"/>
                </a:solidFill>
                <a:latin typeface="Calibri" pitchFamily="34" charset="0"/>
                <a:ea typeface="Calibri" pitchFamily="34" charset="-122"/>
                <a:cs typeface="Calibri" pitchFamily="34" charset="-120"/>
              </a:rPr>
              <a:t>Support</a:t>
            </a:r>
            <a:endParaRPr lang="en-US" sz="2000" dirty="0"/>
          </a:p>
        </p:txBody>
      </p:sp>
      <p:sp>
        <p:nvSpPr>
          <p:cNvPr id="16" name="col-body"/>
          <p:cNvSpPr txBox="1"/>
          <p:nvPr/>
        </p:nvSpPr>
        <p:spPr>
          <a:xfrm>
            <a:off x="685800" y="3035808"/>
            <a:ext cx="4393482" cy="2999232"/>
          </a:xfrm>
          <a:prstGeom prst="rect">
            <a:avLst/>
          </a:prstGeom>
          <a:noFill/>
          <a:ln/>
        </p:spPr>
        <p:txBody>
          <a:bodyPr wrap="square" lIns="63500" tIns="63500" rIns="63500" bIns="63500" rtlCol="0" anchor="t"/>
          <a:lstStyle/>
          <a:p>
            <a:pPr algn="l" indent="0" marL="0">
              <a:spcAft>
                <a:spcPts val="600"/>
              </a:spcAft>
              <a:buNone/>
            </a:pPr>
            <a:r>
              <a:rPr lang="en-US" sz="1800" b="1" dirty="0">
                <a:solidFill>
                  <a:srgbClr val="3F6B4A"/>
                </a:solidFill>
                <a:latin typeface="Calibri" pitchFamily="34" charset="0"/>
                <a:ea typeface="Calibri" pitchFamily="34" charset="-122"/>
                <a:cs typeface="Calibri" pitchFamily="34" charset="-120"/>
              </a:rPr>
              <a:t>1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Start with the layer you are standing on. That is the outside.</a:t>
            </a:r>
            <a:endParaRPr lang="en-US" sz="1800" dirty="0"/>
          </a:p>
          <a:p>
            <a:pPr algn="l" indent="0" marL="0">
              <a:spcAft>
                <a:spcPts val="600"/>
              </a:spcAft>
              <a:buNone/>
            </a:pPr>
            <a:r>
              <a:rPr lang="en-US" sz="1800" b="1" dirty="0">
                <a:solidFill>
                  <a:srgbClr val="3F6B4A"/>
                </a:solidFill>
                <a:latin typeface="Calibri" pitchFamily="34" charset="0"/>
                <a:ea typeface="Calibri" pitchFamily="34" charset="-122"/>
                <a:cs typeface="Calibri" pitchFamily="34" charset="-120"/>
              </a:rPr>
              <a:t>2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The next layer down is the thick layer of hot rock.</a:t>
            </a:r>
            <a:endParaRPr lang="en-US" sz="1800" dirty="0"/>
          </a:p>
          <a:p>
            <a:pPr algn="l" indent="0" marL="0">
              <a:spcAft>
                <a:spcPts val="600"/>
              </a:spcAft>
              <a:buNone/>
            </a:pPr>
            <a:r>
              <a:rPr lang="en-US" sz="1800" b="1" dirty="0">
                <a:solidFill>
                  <a:srgbClr val="3F6B4A"/>
                </a:solidFill>
                <a:latin typeface="Calibri" pitchFamily="34" charset="0"/>
                <a:ea typeface="Calibri" pitchFamily="34" charset="-122"/>
                <a:cs typeface="Calibri" pitchFamily="34" charset="-120"/>
              </a:rPr>
              <a:t>3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The core comes last, and it has two parts. The outer part is reached before the inner part.</a:t>
            </a:r>
            <a:endParaRPr lang="en-US" sz="1800" dirty="0"/>
          </a:p>
          <a:p>
            <a:pPr algn="l" indent="0" marL="0">
              <a:spcAft>
                <a:spcPts val="600"/>
              </a:spcAft>
              <a:buNone/>
            </a:pPr>
            <a:r>
              <a:rPr lang="en-US" sz="1800" b="1" dirty="0">
                <a:solidFill>
                  <a:srgbClr val="3F6B4A"/>
                </a:solidFill>
                <a:latin typeface="Calibri" pitchFamily="34" charset="0"/>
                <a:ea typeface="Calibri" pitchFamily="34" charset="-122"/>
                <a:cs typeface="Calibri" pitchFamily="34" charset="-120"/>
              </a:rPr>
              <a:t>4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Check: the hottest part, the inner core, should be at the very end.</a:t>
            </a:r>
            <a:endParaRPr lang="en-US" sz="1800" dirty="0"/>
          </a:p>
        </p:txBody>
      </p:sp>
      <p:sp>
        <p:nvSpPr>
          <p:cNvPr id="17" name="col-Core"/>
          <p:cNvSpPr/>
          <p:nvPr/>
        </p:nvSpPr>
        <p:spPr>
          <a:xfrm>
            <a:off x="5490762" y="2395728"/>
            <a:ext cx="2938987" cy="3749040"/>
          </a:xfrm>
          <a:prstGeom prst="roundRect">
            <a:avLst>
              <a:gd name="adj" fmla="val 1867"/>
            </a:avLst>
          </a:prstGeom>
          <a:solidFill>
            <a:srgbClr val="D8E1DA"/>
          </a:solidFill>
          <a:ln/>
        </p:spPr>
      </p:sp>
      <p:sp>
        <p:nvSpPr>
          <p:cNvPr id="18" name="col-hex"/>
          <p:cNvSpPr/>
          <p:nvPr/>
        </p:nvSpPr>
        <p:spPr>
          <a:xfrm>
            <a:off x="5600490" y="2468880"/>
            <a:ext cx="475488" cy="411773"/>
          </a:xfrm>
          <a:prstGeom prst="hexagon">
            <a:avLst/>
          </a:prstGeom>
          <a:solidFill>
            <a:srgbClr val="B8862B"/>
          </a:solidFill>
          <a:ln w="12700">
            <a:solidFill>
              <a:srgbClr val="FFFFFF"/>
            </a:solidFill>
            <a:prstDash val="solid"/>
          </a:ln>
        </p:spPr>
      </p:sp>
      <p:sp>
        <p:nvSpPr>
          <p:cNvPr id="19" name="col-hex-label"/>
          <p:cNvSpPr txBox="1"/>
          <p:nvPr/>
        </p:nvSpPr>
        <p:spPr>
          <a:xfrm>
            <a:off x="5600490" y="2468880"/>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20" name="col-head"/>
          <p:cNvSpPr txBox="1"/>
          <p:nvPr/>
        </p:nvSpPr>
        <p:spPr>
          <a:xfrm>
            <a:off x="6130842" y="2432304"/>
            <a:ext cx="2207467" cy="566928"/>
          </a:xfrm>
          <a:prstGeom prst="rect">
            <a:avLst/>
          </a:prstGeom>
          <a:noFill/>
          <a:ln/>
        </p:spPr>
        <p:txBody>
          <a:bodyPr wrap="square" lIns="63500" tIns="63500" rIns="63500" bIns="63500" rtlCol="0" anchor="ctr"/>
          <a:lstStyle/>
          <a:p>
            <a:pPr algn="l" indent="0" marL="0">
              <a:buNone/>
            </a:pPr>
            <a:r>
              <a:rPr lang="en-US" sz="2000" b="1" dirty="0">
                <a:solidFill>
                  <a:srgbClr val="2C4B34"/>
                </a:solidFill>
                <a:latin typeface="Calibri" pitchFamily="34" charset="0"/>
                <a:ea typeface="Calibri" pitchFamily="34" charset="-122"/>
                <a:cs typeface="Calibri" pitchFamily="34" charset="-120"/>
              </a:rPr>
              <a:t>Core</a:t>
            </a:r>
            <a:endParaRPr lang="en-US" sz="2000" dirty="0"/>
          </a:p>
        </p:txBody>
      </p:sp>
      <p:sp>
        <p:nvSpPr>
          <p:cNvPr id="21" name="col-body"/>
          <p:cNvSpPr txBox="1"/>
          <p:nvPr/>
        </p:nvSpPr>
        <p:spPr>
          <a:xfrm>
            <a:off x="5627922" y="3035808"/>
            <a:ext cx="2664667" cy="2999232"/>
          </a:xfrm>
          <a:prstGeom prst="rect">
            <a:avLst/>
          </a:prstGeom>
          <a:noFill/>
          <a:ln/>
        </p:spPr>
        <p:txBody>
          <a:bodyPr wrap="square" lIns="63500" tIns="63500" rIns="63500" bIns="63500" rtlCol="0" anchor="t"/>
          <a:lstStyle/>
          <a:p>
            <a:pPr algn="l" indent="0" marL="0">
              <a:buNone/>
            </a:pPr>
            <a:r>
              <a:rPr lang="en-US" sz="1800" b="1" dirty="0">
                <a:solidFill>
                  <a:srgbClr val="32563B"/>
                </a:solidFill>
                <a:latin typeface="Calibri" pitchFamily="34" charset="0"/>
                <a:ea typeface="Calibri" pitchFamily="34" charset="-122"/>
                <a:cs typeface="Calibri" pitchFamily="34" charset="-120"/>
              </a:rPr>
              <a:t>Hint:  </a:t>
            </a:r>
            <a:pPr algn="l" indent="0" marL="0">
              <a:buNone/>
            </a:pPr>
            <a:r>
              <a:rPr lang="en-US" sz="1800" dirty="0">
                <a:solidFill>
                  <a:srgbClr val="1E2229"/>
                </a:solidFill>
                <a:latin typeface="Calibri" pitchFamily="34" charset="0"/>
                <a:ea typeface="Calibri" pitchFamily="34" charset="-122"/>
                <a:cs typeface="Calibri" pitchFamily="34" charset="-120"/>
              </a:rPr>
              <a:t>Outside to centre: the layer you live on first, the hottest layer last. Outer comes before inner.</a:t>
            </a:r>
            <a:endParaRPr lang="en-US" sz="1800" dirty="0"/>
          </a:p>
        </p:txBody>
      </p:sp>
      <p:sp>
        <p:nvSpPr>
          <p:cNvPr id="22" name="col-Stretch"/>
          <p:cNvSpPr/>
          <p:nvPr/>
        </p:nvSpPr>
        <p:spPr>
          <a:xfrm>
            <a:off x="8704069" y="2395728"/>
            <a:ext cx="2938987" cy="3749040"/>
          </a:xfrm>
          <a:prstGeom prst="roundRect">
            <a:avLst>
              <a:gd name="adj" fmla="val 1867"/>
            </a:avLst>
          </a:prstGeom>
          <a:solidFill>
            <a:srgbClr val="3F6B4A"/>
          </a:solidFill>
          <a:ln/>
        </p:spPr>
      </p:sp>
      <p:sp>
        <p:nvSpPr>
          <p:cNvPr id="23" name="col-hex"/>
          <p:cNvSpPr/>
          <p:nvPr/>
        </p:nvSpPr>
        <p:spPr>
          <a:xfrm>
            <a:off x="8813797" y="2468880"/>
            <a:ext cx="475488" cy="411773"/>
          </a:xfrm>
          <a:prstGeom prst="hexagon">
            <a:avLst/>
          </a:prstGeom>
          <a:solidFill>
            <a:srgbClr val="B8862B"/>
          </a:solidFill>
          <a:ln w="12700">
            <a:solidFill>
              <a:srgbClr val="FFFFFF"/>
            </a:solidFill>
            <a:prstDash val="solid"/>
          </a:ln>
        </p:spPr>
      </p:sp>
      <p:sp>
        <p:nvSpPr>
          <p:cNvPr id="24" name="col-hex-label"/>
          <p:cNvSpPr txBox="1"/>
          <p:nvPr/>
        </p:nvSpPr>
        <p:spPr>
          <a:xfrm>
            <a:off x="8813797" y="2468880"/>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25" name="col-head"/>
          <p:cNvSpPr txBox="1"/>
          <p:nvPr/>
        </p:nvSpPr>
        <p:spPr>
          <a:xfrm>
            <a:off x="9344149" y="2432304"/>
            <a:ext cx="2207467" cy="566928"/>
          </a:xfrm>
          <a:prstGeom prst="rect">
            <a:avLst/>
          </a:prstGeom>
          <a:noFill/>
          <a:ln/>
        </p:spPr>
        <p:txBody>
          <a:bodyPr wrap="square" lIns="63500" tIns="63500" rIns="63500" bIns="63500" rtlCol="0" anchor="ctr"/>
          <a:lstStyle/>
          <a:p>
            <a:pPr algn="l" indent="0" marL="0">
              <a:buNone/>
            </a:pPr>
            <a:r>
              <a:rPr lang="en-US" sz="2000" b="1" dirty="0">
                <a:solidFill>
                  <a:srgbClr val="FFFFFF"/>
                </a:solidFill>
                <a:latin typeface="Calibri" pitchFamily="34" charset="0"/>
                <a:ea typeface="Calibri" pitchFamily="34" charset="-122"/>
                <a:cs typeface="Calibri" pitchFamily="34" charset="-120"/>
              </a:rPr>
              <a:t>Stretch</a:t>
            </a:r>
            <a:endParaRPr lang="en-US" sz="2000" dirty="0"/>
          </a:p>
        </p:txBody>
      </p:sp>
      <p:sp>
        <p:nvSpPr>
          <p:cNvPr id="26" name="col-body"/>
          <p:cNvSpPr txBox="1"/>
          <p:nvPr/>
        </p:nvSpPr>
        <p:spPr>
          <a:xfrm>
            <a:off x="8841229" y="3035808"/>
            <a:ext cx="2664667" cy="2999232"/>
          </a:xfrm>
          <a:prstGeom prst="rect">
            <a:avLst/>
          </a:prstGeom>
          <a:noFill/>
          <a:ln/>
        </p:spPr>
        <p:txBody>
          <a:bodyPr wrap="square" lIns="63500" tIns="63500" rIns="63500" bIns="63500" rtlCol="0" anchor="t"/>
          <a:lstStyle/>
          <a:p>
            <a:pPr algn="l" indent="0" marL="0">
              <a:buNone/>
            </a:pPr>
            <a:r>
              <a:rPr lang="en-US" sz="1800" b="1" dirty="0">
                <a:solidFill>
                  <a:srgbClr val="D4B680"/>
                </a:solidFill>
                <a:latin typeface="Calibri" pitchFamily="34" charset="0"/>
                <a:ea typeface="Calibri" pitchFamily="34" charset="-122"/>
                <a:cs typeface="Calibri" pitchFamily="34" charset="-120"/>
              </a:rPr>
              <a:t>Then:  </a:t>
            </a:r>
            <a:pPr algn="l" indent="0" marL="0">
              <a:buNone/>
            </a:pPr>
            <a:r>
              <a:rPr lang="en-US" sz="1800" dirty="0">
                <a:solidFill>
                  <a:srgbClr val="FFFFFF"/>
                </a:solidFill>
                <a:latin typeface="Calibri" pitchFamily="34" charset="0"/>
                <a:ea typeface="Calibri" pitchFamily="34" charset="-122"/>
                <a:cs typeface="Calibri" pitchFamily="34" charset="-120"/>
              </a:rPr>
              <a:t>Explain why the crust is often compared to the shell of an egg, and say one way the comparison is not quite right.</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3F6B4A"/>
                </a:solidFill>
                <a:latin typeface="Cambria" pitchFamily="34" charset="0"/>
                <a:ea typeface="Cambria" pitchFamily="34" charset="-122"/>
                <a:cs typeface="Cambria" pitchFamily="34" charset="-120"/>
              </a:rPr>
              <a:t>The task: Magma or lava?</a:t>
            </a:r>
            <a:endParaRPr lang="en-US" sz="3200" dirty="0"/>
          </a:p>
        </p:txBody>
      </p:sp>
      <p:sp>
        <p:nvSpPr>
          <p:cNvPr id="4" name="chip-hex"/>
          <p:cNvSpPr/>
          <p:nvPr/>
        </p:nvSpPr>
        <p:spPr>
          <a:xfrm>
            <a:off x="9677095" y="531760"/>
            <a:ext cx="566928" cy="490960"/>
          </a:xfrm>
          <a:prstGeom prst="hexagon">
            <a:avLst/>
          </a:prstGeom>
          <a:solidFill>
            <a:srgbClr val="3F6B4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Same task</a:t>
            </a:r>
            <a:endParaRPr lang="en-US" sz="1800" dirty="0"/>
          </a:p>
        </p:txBody>
      </p:sp>
      <p:sp>
        <p:nvSpPr>
          <p:cNvPr id="7" name="task-box"/>
          <p:cNvSpPr/>
          <p:nvPr/>
        </p:nvSpPr>
        <p:spPr>
          <a:xfrm>
            <a:off x="548640" y="1389888"/>
            <a:ext cx="11094415" cy="4754880"/>
          </a:xfrm>
          <a:prstGeom prst="roundRect">
            <a:avLst>
              <a:gd name="adj" fmla="val 962"/>
            </a:avLst>
          </a:prstGeom>
          <a:solidFill>
            <a:srgbClr val="FFFFFF"/>
          </a:solidFill>
          <a:ln w="31750">
            <a:solidFill>
              <a:srgbClr val="B8862B"/>
            </a:solidFill>
            <a:prstDash val="solid"/>
          </a:ln>
        </p:spPr>
      </p:sp>
      <p:sp>
        <p:nvSpPr>
          <p:cNvPr id="8" name="task-hex"/>
          <p:cNvSpPr/>
          <p:nvPr/>
        </p:nvSpPr>
        <p:spPr>
          <a:xfrm>
            <a:off x="822960" y="1664208"/>
            <a:ext cx="822960" cy="712683"/>
          </a:xfrm>
          <a:prstGeom prst="hexagon">
            <a:avLst/>
          </a:prstGeom>
          <a:solidFill>
            <a:srgbClr val="B8862B"/>
          </a:solidFill>
          <a:ln/>
        </p:spPr>
      </p:sp>
      <p:sp>
        <p:nvSpPr>
          <p:cNvPr id="9" name="task-hex-label"/>
          <p:cNvSpPr txBox="1"/>
          <p:nvPr/>
        </p:nvSpPr>
        <p:spPr>
          <a:xfrm>
            <a:off x="822960" y="1664208"/>
            <a:ext cx="822960" cy="712683"/>
          </a:xfrm>
          <a:prstGeom prst="rect">
            <a:avLst/>
          </a:prstGeom>
          <a:noFill/>
          <a:ln/>
        </p:spPr>
        <p:txBody>
          <a:bodyPr wrap="square" lIns="0" tIns="0" rIns="0" bIns="0" rtlCol="0" anchor="ctr"/>
          <a:lstStyle/>
          <a:p>
            <a:pPr algn="ctr" indent="0" marL="0">
              <a:buNone/>
            </a:pPr>
            <a:r>
              <a:rPr lang="en-US" sz="2800" b="1" dirty="0">
                <a:solidFill>
                  <a:srgbClr val="FFFFFF"/>
                </a:solidFill>
                <a:latin typeface="Cambria" pitchFamily="34" charset="0"/>
                <a:ea typeface="Cambria" pitchFamily="34" charset="-122"/>
                <a:cs typeface="Cambria" pitchFamily="34" charset="-120"/>
              </a:rPr>
              <a:t>2</a:t>
            </a:r>
            <a:endParaRPr lang="en-US" sz="2800" dirty="0"/>
          </a:p>
        </p:txBody>
      </p:sp>
      <p:sp>
        <p:nvSpPr>
          <p:cNvPr id="10" name="task"/>
          <p:cNvSpPr txBox="1"/>
          <p:nvPr/>
        </p:nvSpPr>
        <p:spPr>
          <a:xfrm>
            <a:off x="1828800" y="1572768"/>
            <a:ext cx="8534095" cy="4389120"/>
          </a:xfrm>
          <a:prstGeom prst="rect">
            <a:avLst/>
          </a:prstGeom>
          <a:noFill/>
          <a:ln/>
        </p:spPr>
        <p:txBody>
          <a:bodyPr wrap="square" lIns="63500" tIns="63500" rIns="63500" bIns="63500" rtlCol="0" anchor="ctr"/>
          <a:lstStyle/>
          <a:p>
            <a:pPr algn="ctr" indent="0" marL="0">
              <a:spcAft>
                <a:spcPts val="600"/>
              </a:spcAft>
              <a:buNone/>
            </a:pPr>
            <a:r>
              <a:rPr lang="en-US" sz="2600" b="1" dirty="0">
                <a:solidFill>
                  <a:srgbClr val="1E2229"/>
                </a:solidFill>
                <a:latin typeface="Calibri" pitchFamily="34" charset="0"/>
                <a:ea typeface="Calibri" pitchFamily="34" charset="-122"/>
                <a:cs typeface="Calibri" pitchFamily="34" charset="-120"/>
              </a:rPr>
              <a:t>Which statement about magma and lava is correct?</a:t>
            </a:r>
            <a:endParaRPr lang="en-US" sz="2600" dirty="0"/>
          </a:p>
          <a:p>
            <a:pPr algn="l" indent="0" marL="0">
              <a:spcAft>
                <a:spcPts val="200"/>
              </a:spcAft>
              <a:buNone/>
            </a:pPr>
            <a:r>
              <a:rPr lang="en-US" sz="2400" b="1" dirty="0">
                <a:solidFill>
                  <a:srgbClr val="B8862B"/>
                </a:solidFill>
                <a:latin typeface="Calibri" pitchFamily="34" charset="0"/>
                <a:ea typeface="Calibri" pitchFamily="34" charset="-122"/>
                <a:cs typeface="Calibri" pitchFamily="34" charset="-120"/>
              </a:rPr>
              <a:t>A   </a:t>
            </a:r>
            <a:pPr algn="l" indent="0" marL="0">
              <a:spcAft>
                <a:spcPts val="200"/>
              </a:spcAft>
              <a:buNone/>
            </a:pPr>
            <a:r>
              <a:rPr lang="en-US" sz="2400" dirty="0">
                <a:solidFill>
                  <a:srgbClr val="1E2229"/>
                </a:solidFill>
                <a:latin typeface="Calibri" pitchFamily="34" charset="0"/>
                <a:ea typeface="Calibri" pitchFamily="34" charset="-122"/>
                <a:cs typeface="Calibri" pitchFamily="34" charset="-120"/>
              </a:rPr>
              <a:t>Lava is the hot rock found in the Earth's core</a:t>
            </a:r>
            <a:endParaRPr lang="en-US" sz="2600" dirty="0"/>
          </a:p>
          <a:p>
            <a:pPr algn="l" indent="0" marL="0">
              <a:spcAft>
                <a:spcPts val="200"/>
              </a:spcAft>
              <a:buNone/>
            </a:pPr>
            <a:r>
              <a:rPr lang="en-US" sz="2400" b="1" dirty="0">
                <a:solidFill>
                  <a:srgbClr val="B8862B"/>
                </a:solidFill>
                <a:latin typeface="Calibri" pitchFamily="34" charset="0"/>
                <a:ea typeface="Calibri" pitchFamily="34" charset="-122"/>
                <a:cs typeface="Calibri" pitchFamily="34" charset="-120"/>
              </a:rPr>
              <a:t>B   </a:t>
            </a:r>
            <a:pPr algn="l" indent="0" marL="0">
              <a:spcAft>
                <a:spcPts val="200"/>
              </a:spcAft>
              <a:buNone/>
            </a:pPr>
            <a:r>
              <a:rPr lang="en-US" sz="2400" dirty="0">
                <a:solidFill>
                  <a:srgbClr val="1E2229"/>
                </a:solidFill>
                <a:latin typeface="Calibri" pitchFamily="34" charset="0"/>
                <a:ea typeface="Calibri" pitchFamily="34" charset="-122"/>
                <a:cs typeface="Calibri" pitchFamily="34" charset="-120"/>
              </a:rPr>
              <a:t>Magma is melted rock underground; lava is melted rock that has reached the surface</a:t>
            </a:r>
            <a:endParaRPr lang="en-US" sz="2600" dirty="0"/>
          </a:p>
          <a:p>
            <a:pPr algn="l" indent="0" marL="0">
              <a:spcAft>
                <a:spcPts val="200"/>
              </a:spcAft>
              <a:buNone/>
            </a:pPr>
            <a:r>
              <a:rPr lang="en-US" sz="2400" b="1" dirty="0">
                <a:solidFill>
                  <a:srgbClr val="B8862B"/>
                </a:solidFill>
                <a:latin typeface="Calibri" pitchFamily="34" charset="0"/>
                <a:ea typeface="Calibri" pitchFamily="34" charset="-122"/>
                <a:cs typeface="Calibri" pitchFamily="34" charset="-120"/>
              </a:rPr>
              <a:t>C   </a:t>
            </a:r>
            <a:pPr algn="l" indent="0" marL="0">
              <a:spcAft>
                <a:spcPts val="200"/>
              </a:spcAft>
              <a:buNone/>
            </a:pPr>
            <a:r>
              <a:rPr lang="en-US" sz="2400" dirty="0">
                <a:solidFill>
                  <a:srgbClr val="1E2229"/>
                </a:solidFill>
                <a:latin typeface="Calibri" pitchFamily="34" charset="0"/>
                <a:ea typeface="Calibri" pitchFamily="34" charset="-122"/>
                <a:cs typeface="Calibri" pitchFamily="34" charset="-120"/>
              </a:rPr>
              <a:t>Lava is melted rock underground; magma is melted rock that has reached the surface</a:t>
            </a:r>
            <a:endParaRPr lang="en-US" sz="2600" dirty="0"/>
          </a:p>
          <a:p>
            <a:pPr algn="l" indent="0" marL="0">
              <a:spcAft>
                <a:spcPts val="200"/>
              </a:spcAft>
              <a:buNone/>
            </a:pPr>
            <a:r>
              <a:rPr lang="en-US" sz="2400" b="1" dirty="0">
                <a:solidFill>
                  <a:srgbClr val="B8862B"/>
                </a:solidFill>
                <a:latin typeface="Calibri" pitchFamily="34" charset="0"/>
                <a:ea typeface="Calibri" pitchFamily="34" charset="-122"/>
                <a:cs typeface="Calibri" pitchFamily="34" charset="-120"/>
              </a:rPr>
              <a:t>D   </a:t>
            </a:r>
            <a:pPr algn="l" indent="0" marL="0">
              <a:spcAft>
                <a:spcPts val="200"/>
              </a:spcAft>
              <a:buNone/>
            </a:pPr>
            <a:r>
              <a:rPr lang="en-US" sz="2400" dirty="0">
                <a:solidFill>
                  <a:srgbClr val="1E2229"/>
                </a:solidFill>
                <a:latin typeface="Calibri" pitchFamily="34" charset="0"/>
                <a:ea typeface="Calibri" pitchFamily="34" charset="-122"/>
                <a:cs typeface="Calibri" pitchFamily="34" charset="-120"/>
              </a:rPr>
              <a:t>Magma and lava are two names for the solid rock of the crust</a:t>
            </a:r>
            <a:endParaRPr lang="en-US" sz="26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3F6B4A"/>
                </a:solidFill>
                <a:latin typeface="Cambria" pitchFamily="34" charset="0"/>
                <a:ea typeface="Cambria" pitchFamily="34" charset="-122"/>
                <a:cs typeface="Cambria" pitchFamily="34" charset="-120"/>
              </a:rPr>
              <a:t>Same task, three ways in: Magma or lava?</a:t>
            </a:r>
            <a:endParaRPr lang="en-US" sz="3200" dirty="0"/>
          </a:p>
        </p:txBody>
      </p:sp>
      <p:sp>
        <p:nvSpPr>
          <p:cNvPr id="4" name="chip-hex"/>
          <p:cNvSpPr/>
          <p:nvPr/>
        </p:nvSpPr>
        <p:spPr>
          <a:xfrm>
            <a:off x="9677095" y="531760"/>
            <a:ext cx="566928" cy="490960"/>
          </a:xfrm>
          <a:prstGeom prst="hexagon">
            <a:avLst/>
          </a:prstGeom>
          <a:solidFill>
            <a:srgbClr val="3F6B4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3</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Routes</a:t>
            </a:r>
            <a:endParaRPr lang="en-US" sz="1800" dirty="0"/>
          </a:p>
        </p:txBody>
      </p:sp>
      <p:sp>
        <p:nvSpPr>
          <p:cNvPr id="7" name="task-box"/>
          <p:cNvSpPr/>
          <p:nvPr/>
        </p:nvSpPr>
        <p:spPr>
          <a:xfrm>
            <a:off x="548640" y="1389888"/>
            <a:ext cx="11094415" cy="914400"/>
          </a:xfrm>
          <a:prstGeom prst="roundRect">
            <a:avLst>
              <a:gd name="adj" fmla="val 10000"/>
            </a:avLst>
          </a:prstGeom>
          <a:solidFill>
            <a:srgbClr val="FFFFFF"/>
          </a:solidFill>
          <a:ln w="31750">
            <a:solidFill>
              <a:srgbClr val="B8862B"/>
            </a:solidFill>
            <a:prstDash val="solid"/>
          </a:ln>
        </p:spPr>
      </p:sp>
      <p:sp>
        <p:nvSpPr>
          <p:cNvPr id="8" name="task-hex"/>
          <p:cNvSpPr/>
          <p:nvPr/>
        </p:nvSpPr>
        <p:spPr>
          <a:xfrm>
            <a:off x="777240" y="1530340"/>
            <a:ext cx="731520" cy="633496"/>
          </a:xfrm>
          <a:prstGeom prst="hexagon">
            <a:avLst/>
          </a:prstGeom>
          <a:solidFill>
            <a:srgbClr val="B8862B"/>
          </a:solidFill>
          <a:ln/>
        </p:spPr>
      </p:sp>
      <p:sp>
        <p:nvSpPr>
          <p:cNvPr id="9" name="task-hex-label"/>
          <p:cNvSpPr txBox="1"/>
          <p:nvPr/>
        </p:nvSpPr>
        <p:spPr>
          <a:xfrm>
            <a:off x="777240" y="1530340"/>
            <a:ext cx="731520" cy="633496"/>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0" name="task-everyone"/>
          <p:cNvSpPr txBox="1"/>
          <p:nvPr/>
        </p:nvSpPr>
        <p:spPr>
          <a:xfrm>
            <a:off x="10362895" y="1572768"/>
            <a:ext cx="1188720" cy="548640"/>
          </a:xfrm>
          <a:prstGeom prst="rect">
            <a:avLst/>
          </a:prstGeom>
          <a:noFill/>
          <a:ln/>
        </p:spPr>
        <p:txBody>
          <a:bodyPr wrap="square" lIns="63500" tIns="63500" rIns="63500" bIns="63500" rtlCol="0" anchor="ctr"/>
          <a:lstStyle/>
          <a:p>
            <a:pPr algn="ctr" indent="0" marL="0">
              <a:buNone/>
            </a:pPr>
            <a:r>
              <a:rPr lang="en-US" sz="1800" b="1" dirty="0">
                <a:solidFill>
                  <a:srgbClr val="815E1E"/>
                </a:solidFill>
                <a:latin typeface="Calibri" pitchFamily="34" charset="0"/>
                <a:ea typeface="Calibri" pitchFamily="34" charset="-122"/>
                <a:cs typeface="Calibri" pitchFamily="34" charset="-120"/>
              </a:rPr>
              <a:t>Everyone</a:t>
            </a:r>
            <a:endParaRPr lang="en-US" sz="1800" dirty="0"/>
          </a:p>
        </p:txBody>
      </p:sp>
      <p:sp>
        <p:nvSpPr>
          <p:cNvPr id="11" name="task"/>
          <p:cNvSpPr txBox="1"/>
          <p:nvPr/>
        </p:nvSpPr>
        <p:spPr>
          <a:xfrm>
            <a:off x="1645920" y="1481328"/>
            <a:ext cx="8579815" cy="731520"/>
          </a:xfrm>
          <a:prstGeom prst="rect">
            <a:avLst/>
          </a:prstGeom>
          <a:noFill/>
          <a:ln/>
        </p:spPr>
        <p:txBody>
          <a:bodyPr wrap="square" lIns="63500" tIns="63500" rIns="63500" bIns="63500" rtlCol="0" anchor="ctr"/>
          <a:lstStyle/>
          <a:p>
            <a:pPr algn="ctr" indent="0" marL="0">
              <a:spcAft>
                <a:spcPts val="600"/>
              </a:spcAft>
              <a:buNone/>
            </a:pPr>
            <a:r>
              <a:rPr lang="en-US" sz="2000" b="1" dirty="0">
                <a:solidFill>
                  <a:srgbClr val="1E2229"/>
                </a:solidFill>
                <a:latin typeface="Calibri" pitchFamily="34" charset="0"/>
                <a:ea typeface="Calibri" pitchFamily="34" charset="-122"/>
                <a:cs typeface="Calibri" pitchFamily="34" charset="-120"/>
              </a:rPr>
              <a:t>Which statement about magma and lava is correct?</a:t>
            </a:r>
            <a:endParaRPr lang="en-US" sz="2000" dirty="0"/>
          </a:p>
        </p:txBody>
      </p:sp>
      <p:sp>
        <p:nvSpPr>
          <p:cNvPr id="12" name="col-Support"/>
          <p:cNvSpPr/>
          <p:nvPr/>
        </p:nvSpPr>
        <p:spPr>
          <a:xfrm>
            <a:off x="548640" y="2578608"/>
            <a:ext cx="4667802" cy="3566160"/>
          </a:xfrm>
          <a:prstGeom prst="roundRect">
            <a:avLst>
              <a:gd name="adj" fmla="val 1538"/>
            </a:avLst>
          </a:prstGeom>
          <a:solidFill>
            <a:srgbClr val="EFF2F0"/>
          </a:solidFill>
          <a:ln/>
        </p:spPr>
      </p:sp>
      <p:sp>
        <p:nvSpPr>
          <p:cNvPr id="13" name="col-hex"/>
          <p:cNvSpPr/>
          <p:nvPr/>
        </p:nvSpPr>
        <p:spPr>
          <a:xfrm>
            <a:off x="658368" y="2651760"/>
            <a:ext cx="475488" cy="411773"/>
          </a:xfrm>
          <a:prstGeom prst="hexagon">
            <a:avLst/>
          </a:prstGeom>
          <a:solidFill>
            <a:srgbClr val="B8862B"/>
          </a:solidFill>
          <a:ln w="12700">
            <a:solidFill>
              <a:srgbClr val="FFFFFF"/>
            </a:solidFill>
            <a:prstDash val="solid"/>
          </a:ln>
        </p:spPr>
      </p:sp>
      <p:sp>
        <p:nvSpPr>
          <p:cNvPr id="14" name="col-hex-label"/>
          <p:cNvSpPr txBox="1"/>
          <p:nvPr/>
        </p:nvSpPr>
        <p:spPr>
          <a:xfrm>
            <a:off x="658368" y="2651760"/>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15" name="col-head"/>
          <p:cNvSpPr txBox="1"/>
          <p:nvPr/>
        </p:nvSpPr>
        <p:spPr>
          <a:xfrm>
            <a:off x="1188720" y="2615184"/>
            <a:ext cx="3936282" cy="566928"/>
          </a:xfrm>
          <a:prstGeom prst="rect">
            <a:avLst/>
          </a:prstGeom>
          <a:noFill/>
          <a:ln/>
        </p:spPr>
        <p:txBody>
          <a:bodyPr wrap="square" lIns="63500" tIns="63500" rIns="63500" bIns="63500" rtlCol="0" anchor="ctr"/>
          <a:lstStyle/>
          <a:p>
            <a:pPr algn="l" indent="0" marL="0">
              <a:buNone/>
            </a:pPr>
            <a:r>
              <a:rPr lang="en-US" sz="2000" b="1" dirty="0">
                <a:solidFill>
                  <a:srgbClr val="2C4B34"/>
                </a:solidFill>
                <a:latin typeface="Calibri" pitchFamily="34" charset="0"/>
                <a:ea typeface="Calibri" pitchFamily="34" charset="-122"/>
                <a:cs typeface="Calibri" pitchFamily="34" charset="-120"/>
              </a:rPr>
              <a:t>Support</a:t>
            </a:r>
            <a:endParaRPr lang="en-US" sz="2000" dirty="0"/>
          </a:p>
        </p:txBody>
      </p:sp>
      <p:sp>
        <p:nvSpPr>
          <p:cNvPr id="16" name="col-body"/>
          <p:cNvSpPr txBox="1"/>
          <p:nvPr/>
        </p:nvSpPr>
        <p:spPr>
          <a:xfrm>
            <a:off x="685800" y="3218688"/>
            <a:ext cx="4393482" cy="2816352"/>
          </a:xfrm>
          <a:prstGeom prst="rect">
            <a:avLst/>
          </a:prstGeom>
          <a:noFill/>
          <a:ln/>
        </p:spPr>
        <p:txBody>
          <a:bodyPr wrap="square" lIns="63500" tIns="63500" rIns="63500" bIns="63500" rtlCol="0" anchor="t"/>
          <a:lstStyle/>
          <a:p>
            <a:pPr algn="l" indent="0" marL="0">
              <a:spcAft>
                <a:spcPts val="600"/>
              </a:spcAft>
              <a:buNone/>
            </a:pPr>
            <a:r>
              <a:rPr lang="en-US" sz="1800" b="1" dirty="0">
                <a:solidFill>
                  <a:srgbClr val="3F6B4A"/>
                </a:solidFill>
                <a:latin typeface="Calibri" pitchFamily="34" charset="0"/>
                <a:ea typeface="Calibri" pitchFamily="34" charset="-122"/>
                <a:cs typeface="Calibri" pitchFamily="34" charset="-120"/>
              </a:rPr>
              <a:t>1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Both words mean melted rock. The difference is where the melted rock is.</a:t>
            </a:r>
            <a:endParaRPr lang="en-US" sz="1800" dirty="0"/>
          </a:p>
          <a:p>
            <a:pPr algn="l" indent="0" marL="0">
              <a:spcAft>
                <a:spcPts val="600"/>
              </a:spcAft>
              <a:buNone/>
            </a:pPr>
            <a:r>
              <a:rPr lang="en-US" sz="1800" b="1" dirty="0">
                <a:solidFill>
                  <a:srgbClr val="3F6B4A"/>
                </a:solidFill>
                <a:latin typeface="Calibri" pitchFamily="34" charset="0"/>
                <a:ea typeface="Calibri" pitchFamily="34" charset="-122"/>
                <a:cs typeface="Calibri" pitchFamily="34" charset="-120"/>
              </a:rPr>
              <a:t>2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Ask: has it come out at the surface yet?</a:t>
            </a:r>
            <a:endParaRPr lang="en-US" sz="1800" dirty="0"/>
          </a:p>
          <a:p>
            <a:pPr algn="l" indent="0" marL="0">
              <a:spcAft>
                <a:spcPts val="600"/>
              </a:spcAft>
              <a:buNone/>
            </a:pPr>
            <a:r>
              <a:rPr lang="en-US" sz="1800" b="1" dirty="0">
                <a:solidFill>
                  <a:srgbClr val="3F6B4A"/>
                </a:solidFill>
                <a:latin typeface="Calibri" pitchFamily="34" charset="0"/>
                <a:ea typeface="Calibri" pitchFamily="34" charset="-122"/>
                <a:cs typeface="Calibri" pitchFamily="34" charset="-120"/>
              </a:rPr>
              <a:t>3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Underground means magma. At the surface means lava.</a:t>
            </a:r>
            <a:endParaRPr lang="en-US" sz="1800" dirty="0"/>
          </a:p>
          <a:p>
            <a:pPr algn="l" indent="0" marL="0">
              <a:spcAft>
                <a:spcPts val="600"/>
              </a:spcAft>
              <a:buNone/>
            </a:pPr>
            <a:r>
              <a:rPr lang="en-US" sz="1800" b="1" dirty="0">
                <a:solidFill>
                  <a:srgbClr val="3F6B4A"/>
                </a:solidFill>
                <a:latin typeface="Calibri" pitchFamily="34" charset="0"/>
                <a:ea typeface="Calibri" pitchFamily="34" charset="-122"/>
                <a:cs typeface="Calibri" pitchFamily="34" charset="-120"/>
              </a:rPr>
              <a:t>4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Pick the option that puts magma underground and lava on the surface.</a:t>
            </a:r>
            <a:endParaRPr lang="en-US" sz="1800" dirty="0"/>
          </a:p>
        </p:txBody>
      </p:sp>
      <p:sp>
        <p:nvSpPr>
          <p:cNvPr id="17" name="col-Core"/>
          <p:cNvSpPr/>
          <p:nvPr/>
        </p:nvSpPr>
        <p:spPr>
          <a:xfrm>
            <a:off x="5490762" y="2578608"/>
            <a:ext cx="2938987" cy="3566160"/>
          </a:xfrm>
          <a:prstGeom prst="roundRect">
            <a:avLst>
              <a:gd name="adj" fmla="val 1867"/>
            </a:avLst>
          </a:prstGeom>
          <a:solidFill>
            <a:srgbClr val="D8E1DA"/>
          </a:solidFill>
          <a:ln/>
        </p:spPr>
      </p:sp>
      <p:sp>
        <p:nvSpPr>
          <p:cNvPr id="18" name="col-hex"/>
          <p:cNvSpPr/>
          <p:nvPr/>
        </p:nvSpPr>
        <p:spPr>
          <a:xfrm>
            <a:off x="5600490" y="2651760"/>
            <a:ext cx="475488" cy="411773"/>
          </a:xfrm>
          <a:prstGeom prst="hexagon">
            <a:avLst/>
          </a:prstGeom>
          <a:solidFill>
            <a:srgbClr val="B8862B"/>
          </a:solidFill>
          <a:ln w="12700">
            <a:solidFill>
              <a:srgbClr val="FFFFFF"/>
            </a:solidFill>
            <a:prstDash val="solid"/>
          </a:ln>
        </p:spPr>
      </p:sp>
      <p:sp>
        <p:nvSpPr>
          <p:cNvPr id="19" name="col-hex-label"/>
          <p:cNvSpPr txBox="1"/>
          <p:nvPr/>
        </p:nvSpPr>
        <p:spPr>
          <a:xfrm>
            <a:off x="5600490" y="2651760"/>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20" name="col-head"/>
          <p:cNvSpPr txBox="1"/>
          <p:nvPr/>
        </p:nvSpPr>
        <p:spPr>
          <a:xfrm>
            <a:off x="6130842" y="2615184"/>
            <a:ext cx="2207467" cy="566928"/>
          </a:xfrm>
          <a:prstGeom prst="rect">
            <a:avLst/>
          </a:prstGeom>
          <a:noFill/>
          <a:ln/>
        </p:spPr>
        <p:txBody>
          <a:bodyPr wrap="square" lIns="63500" tIns="63500" rIns="63500" bIns="63500" rtlCol="0" anchor="ctr"/>
          <a:lstStyle/>
          <a:p>
            <a:pPr algn="l" indent="0" marL="0">
              <a:buNone/>
            </a:pPr>
            <a:r>
              <a:rPr lang="en-US" sz="2000" b="1" dirty="0">
                <a:solidFill>
                  <a:srgbClr val="2C4B34"/>
                </a:solidFill>
                <a:latin typeface="Calibri" pitchFamily="34" charset="0"/>
                <a:ea typeface="Calibri" pitchFamily="34" charset="-122"/>
                <a:cs typeface="Calibri" pitchFamily="34" charset="-120"/>
              </a:rPr>
              <a:t>Core</a:t>
            </a:r>
            <a:endParaRPr lang="en-US" sz="2000" dirty="0"/>
          </a:p>
        </p:txBody>
      </p:sp>
      <p:sp>
        <p:nvSpPr>
          <p:cNvPr id="21" name="col-body"/>
          <p:cNvSpPr txBox="1"/>
          <p:nvPr/>
        </p:nvSpPr>
        <p:spPr>
          <a:xfrm>
            <a:off x="5627922" y="3218688"/>
            <a:ext cx="2664667" cy="2816352"/>
          </a:xfrm>
          <a:prstGeom prst="rect">
            <a:avLst/>
          </a:prstGeom>
          <a:noFill/>
          <a:ln/>
        </p:spPr>
        <p:txBody>
          <a:bodyPr wrap="square" lIns="63500" tIns="63500" rIns="63500" bIns="63500" rtlCol="0" anchor="t"/>
          <a:lstStyle/>
          <a:p>
            <a:pPr algn="l" indent="0" marL="0">
              <a:buNone/>
            </a:pPr>
            <a:r>
              <a:rPr lang="en-US" sz="1800" b="1" dirty="0">
                <a:solidFill>
                  <a:srgbClr val="32563B"/>
                </a:solidFill>
                <a:latin typeface="Calibri" pitchFamily="34" charset="0"/>
                <a:ea typeface="Calibri" pitchFamily="34" charset="-122"/>
                <a:cs typeface="Calibri" pitchFamily="34" charset="-120"/>
              </a:rPr>
              <a:t>Hint:  </a:t>
            </a:r>
            <a:pPr algn="l" indent="0" marL="0">
              <a:buNone/>
            </a:pPr>
            <a:r>
              <a:rPr lang="en-US" sz="1800" dirty="0">
                <a:solidFill>
                  <a:srgbClr val="1E2229"/>
                </a:solidFill>
                <a:latin typeface="Calibri" pitchFamily="34" charset="0"/>
                <a:ea typeface="Calibri" pitchFamily="34" charset="-122"/>
                <a:cs typeface="Calibri" pitchFamily="34" charset="-120"/>
              </a:rPr>
              <a:t>Same melted rock, different place. Which place goes with which word?</a:t>
            </a:r>
            <a:endParaRPr lang="en-US" sz="1800" dirty="0"/>
          </a:p>
        </p:txBody>
      </p:sp>
      <p:sp>
        <p:nvSpPr>
          <p:cNvPr id="22" name="col-Stretch"/>
          <p:cNvSpPr/>
          <p:nvPr/>
        </p:nvSpPr>
        <p:spPr>
          <a:xfrm>
            <a:off x="8704069" y="2578608"/>
            <a:ext cx="2938987" cy="3566160"/>
          </a:xfrm>
          <a:prstGeom prst="roundRect">
            <a:avLst>
              <a:gd name="adj" fmla="val 1867"/>
            </a:avLst>
          </a:prstGeom>
          <a:solidFill>
            <a:srgbClr val="3F6B4A"/>
          </a:solidFill>
          <a:ln/>
        </p:spPr>
      </p:sp>
      <p:sp>
        <p:nvSpPr>
          <p:cNvPr id="23" name="col-hex"/>
          <p:cNvSpPr/>
          <p:nvPr/>
        </p:nvSpPr>
        <p:spPr>
          <a:xfrm>
            <a:off x="8813797" y="2651760"/>
            <a:ext cx="475488" cy="411773"/>
          </a:xfrm>
          <a:prstGeom prst="hexagon">
            <a:avLst/>
          </a:prstGeom>
          <a:solidFill>
            <a:srgbClr val="B8862B"/>
          </a:solidFill>
          <a:ln w="12700">
            <a:solidFill>
              <a:srgbClr val="FFFFFF"/>
            </a:solidFill>
            <a:prstDash val="solid"/>
          </a:ln>
        </p:spPr>
      </p:sp>
      <p:sp>
        <p:nvSpPr>
          <p:cNvPr id="24" name="col-hex-label"/>
          <p:cNvSpPr txBox="1"/>
          <p:nvPr/>
        </p:nvSpPr>
        <p:spPr>
          <a:xfrm>
            <a:off x="8813797" y="2651760"/>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25" name="col-head"/>
          <p:cNvSpPr txBox="1"/>
          <p:nvPr/>
        </p:nvSpPr>
        <p:spPr>
          <a:xfrm>
            <a:off x="9344149" y="2615184"/>
            <a:ext cx="2207467" cy="566928"/>
          </a:xfrm>
          <a:prstGeom prst="rect">
            <a:avLst/>
          </a:prstGeom>
          <a:noFill/>
          <a:ln/>
        </p:spPr>
        <p:txBody>
          <a:bodyPr wrap="square" lIns="63500" tIns="63500" rIns="63500" bIns="63500" rtlCol="0" anchor="ctr"/>
          <a:lstStyle/>
          <a:p>
            <a:pPr algn="l" indent="0" marL="0">
              <a:buNone/>
            </a:pPr>
            <a:r>
              <a:rPr lang="en-US" sz="2000" b="1" dirty="0">
                <a:solidFill>
                  <a:srgbClr val="FFFFFF"/>
                </a:solidFill>
                <a:latin typeface="Calibri" pitchFamily="34" charset="0"/>
                <a:ea typeface="Calibri" pitchFamily="34" charset="-122"/>
                <a:cs typeface="Calibri" pitchFamily="34" charset="-120"/>
              </a:rPr>
              <a:t>Stretch</a:t>
            </a:r>
            <a:endParaRPr lang="en-US" sz="2000" dirty="0"/>
          </a:p>
        </p:txBody>
      </p:sp>
      <p:sp>
        <p:nvSpPr>
          <p:cNvPr id="26" name="col-body"/>
          <p:cNvSpPr txBox="1"/>
          <p:nvPr/>
        </p:nvSpPr>
        <p:spPr>
          <a:xfrm>
            <a:off x="8841229" y="3218688"/>
            <a:ext cx="2664667" cy="2816352"/>
          </a:xfrm>
          <a:prstGeom prst="rect">
            <a:avLst/>
          </a:prstGeom>
          <a:noFill/>
          <a:ln/>
        </p:spPr>
        <p:txBody>
          <a:bodyPr wrap="square" lIns="63500" tIns="63500" rIns="63500" bIns="63500" rtlCol="0" anchor="t"/>
          <a:lstStyle/>
          <a:p>
            <a:pPr algn="l" indent="0" marL="0">
              <a:buNone/>
            </a:pPr>
            <a:r>
              <a:rPr lang="en-US" sz="1800" b="1" dirty="0">
                <a:solidFill>
                  <a:srgbClr val="D4B680"/>
                </a:solidFill>
                <a:latin typeface="Calibri" pitchFamily="34" charset="0"/>
                <a:ea typeface="Calibri" pitchFamily="34" charset="-122"/>
                <a:cs typeface="Calibri" pitchFamily="34" charset="-120"/>
              </a:rPr>
              <a:t>Then:  </a:t>
            </a:r>
            <a:pPr algn="l" indent="0" marL="0">
              <a:buNone/>
            </a:pPr>
            <a:r>
              <a:rPr lang="en-US" sz="1800" dirty="0">
                <a:solidFill>
                  <a:srgbClr val="FFFFFF"/>
                </a:solidFill>
                <a:latin typeface="Calibri" pitchFamily="34" charset="0"/>
                <a:ea typeface="Calibri" pitchFamily="34" charset="-122"/>
                <a:cs typeface="Calibri" pitchFamily="34" charset="-120"/>
              </a:rPr>
              <a:t>A volcano erupts and the lava cools into solid rock. Explain, in two sentences, what that rock was before the eruption and where it came from.</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3F6B4A"/>
                </a:solidFill>
                <a:latin typeface="Cambria" pitchFamily="34" charset="0"/>
                <a:ea typeface="Cambria" pitchFamily="34" charset="-122"/>
                <a:cs typeface="Cambria" pitchFamily="34" charset="-120"/>
              </a:rPr>
              <a:t>Exit ticket</a:t>
            </a:r>
            <a:endParaRPr lang="en-US" sz="32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Exit</a:t>
            </a:r>
            <a:endParaRPr lang="en-US" sz="1800" dirty="0"/>
          </a:p>
        </p:txBody>
      </p:sp>
      <p:sp>
        <p:nvSpPr>
          <p:cNvPr id="7" name="exit-card"/>
          <p:cNvSpPr/>
          <p:nvPr/>
        </p:nvSpPr>
        <p:spPr>
          <a:xfrm>
            <a:off x="1645920" y="1389888"/>
            <a:ext cx="8899855" cy="4754880"/>
          </a:xfrm>
          <a:prstGeom prst="roundRect">
            <a:avLst>
              <a:gd name="adj" fmla="val 962"/>
            </a:avLst>
          </a:prstGeom>
          <a:solidFill>
            <a:srgbClr val="FFFFFF"/>
          </a:solidFill>
          <a:ln w="31750">
            <a:solidFill>
              <a:srgbClr val="3F6B4A"/>
            </a:solidFill>
            <a:prstDash val="solid"/>
          </a:ln>
          <a:effectLst>
            <a:outerShdw sx="100000" sy="100000" kx="0" ky="0" algn="bl" rotWithShape="0" blurRad="76200" dist="25400" dir="5400000">
              <a:srgbClr val="000000">
                <a:alpha val="12000"/>
              </a:srgbClr>
            </a:outerShdw>
          </a:effectLst>
        </p:spPr>
      </p:sp>
      <p:sp>
        <p:nvSpPr>
          <p:cNvPr id="8" name="exit-hex"/>
          <p:cNvSpPr/>
          <p:nvPr/>
        </p:nvSpPr>
        <p:spPr>
          <a:xfrm>
            <a:off x="1143000" y="1618488"/>
            <a:ext cx="1005840" cy="871057"/>
          </a:xfrm>
          <a:prstGeom prst="hexagon">
            <a:avLst/>
          </a:prstGeom>
          <a:solidFill>
            <a:srgbClr val="3F6B4A"/>
          </a:solidFill>
          <a:ln w="25400">
            <a:solidFill>
              <a:srgbClr val="B8862B"/>
            </a:solidFill>
            <a:prstDash val="solid"/>
          </a:ln>
        </p:spPr>
      </p:sp>
      <p:sp>
        <p:nvSpPr>
          <p:cNvPr id="9" name="exit-hex-label"/>
          <p:cNvSpPr txBox="1"/>
          <p:nvPr/>
        </p:nvSpPr>
        <p:spPr>
          <a:xfrm>
            <a:off x="1143000" y="1618488"/>
            <a:ext cx="1005840" cy="871057"/>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Exit</a:t>
            </a:r>
            <a:endParaRPr lang="en-US" sz="2000" dirty="0"/>
          </a:p>
        </p:txBody>
      </p:sp>
      <p:sp>
        <p:nvSpPr>
          <p:cNvPr id="10" name="exit-q"/>
          <p:cNvSpPr txBox="1"/>
          <p:nvPr/>
        </p:nvSpPr>
        <p:spPr>
          <a:xfrm>
            <a:off x="2286000" y="1664208"/>
            <a:ext cx="7802575" cy="2615184"/>
          </a:xfrm>
          <a:prstGeom prst="rect">
            <a:avLst/>
          </a:prstGeom>
          <a:noFill/>
          <a:ln/>
        </p:spPr>
        <p:txBody>
          <a:bodyPr wrap="square" lIns="63500" tIns="63500" rIns="63500" bIns="63500" rtlCol="0" anchor="t"/>
          <a:lstStyle/>
          <a:p>
            <a:pPr algn="l" indent="0" marL="0">
              <a:spcAft>
                <a:spcPts val="1200"/>
              </a:spcAft>
              <a:buNone/>
            </a:pPr>
            <a:r>
              <a:rPr lang="en-US" sz="2400" b="1" dirty="0">
                <a:solidFill>
                  <a:srgbClr val="1E2229"/>
                </a:solidFill>
                <a:latin typeface="Calibri" pitchFamily="34" charset="0"/>
                <a:ea typeface="Calibri" pitchFamily="34" charset="-122"/>
                <a:cs typeface="Calibri" pitchFamily="34" charset="-120"/>
              </a:rPr>
              <a:t>Which layer of the Earth is the thin, solid outer layer that we live on?</a:t>
            </a:r>
            <a:endParaRPr lang="en-US" sz="2400" dirty="0"/>
          </a:p>
          <a:p>
            <a:pPr algn="l" indent="0" marL="0">
              <a:spcAft>
                <a:spcPts val="600"/>
              </a:spcAft>
              <a:buNone/>
            </a:pPr>
            <a:r>
              <a:rPr lang="en-US" sz="2200" b="1" dirty="0">
                <a:solidFill>
                  <a:srgbClr val="B8862B"/>
                </a:solidFill>
                <a:latin typeface="Calibri" pitchFamily="34" charset="0"/>
                <a:ea typeface="Calibri" pitchFamily="34" charset="-122"/>
                <a:cs typeface="Calibri" pitchFamily="34" charset="-120"/>
              </a:rPr>
              <a:t>A   </a:t>
            </a:r>
            <a:pPr algn="l" indent="0" marL="0">
              <a:spcAft>
                <a:spcPts val="600"/>
              </a:spcAft>
              <a:buNone/>
            </a:pPr>
            <a:r>
              <a:rPr lang="en-US" sz="2200" dirty="0">
                <a:solidFill>
                  <a:srgbClr val="1E2229"/>
                </a:solidFill>
                <a:latin typeface="Calibri" pitchFamily="34" charset="0"/>
                <a:ea typeface="Calibri" pitchFamily="34" charset="-122"/>
                <a:cs typeface="Calibri" pitchFamily="34" charset="-120"/>
              </a:rPr>
              <a:t>Outer core</a:t>
            </a:r>
            <a:endParaRPr lang="en-US" sz="2400" dirty="0"/>
          </a:p>
          <a:p>
            <a:pPr algn="l" indent="0" marL="0">
              <a:spcAft>
                <a:spcPts val="600"/>
              </a:spcAft>
              <a:buNone/>
            </a:pPr>
            <a:r>
              <a:rPr lang="en-US" sz="2200" b="1" dirty="0">
                <a:solidFill>
                  <a:srgbClr val="B8862B"/>
                </a:solidFill>
                <a:latin typeface="Calibri" pitchFamily="34" charset="0"/>
                <a:ea typeface="Calibri" pitchFamily="34" charset="-122"/>
                <a:cs typeface="Calibri" pitchFamily="34" charset="-120"/>
              </a:rPr>
              <a:t>B   </a:t>
            </a:r>
            <a:pPr algn="l" indent="0" marL="0">
              <a:spcAft>
                <a:spcPts val="600"/>
              </a:spcAft>
              <a:buNone/>
            </a:pPr>
            <a:r>
              <a:rPr lang="en-US" sz="2200" dirty="0">
                <a:solidFill>
                  <a:srgbClr val="1E2229"/>
                </a:solidFill>
                <a:latin typeface="Calibri" pitchFamily="34" charset="0"/>
                <a:ea typeface="Calibri" pitchFamily="34" charset="-122"/>
                <a:cs typeface="Calibri" pitchFamily="34" charset="-120"/>
              </a:rPr>
              <a:t>Crust</a:t>
            </a:r>
            <a:endParaRPr lang="en-US" sz="2400" dirty="0"/>
          </a:p>
          <a:p>
            <a:pPr algn="l" indent="0" marL="0">
              <a:spcAft>
                <a:spcPts val="600"/>
              </a:spcAft>
              <a:buNone/>
            </a:pPr>
            <a:r>
              <a:rPr lang="en-US" sz="2200" b="1" dirty="0">
                <a:solidFill>
                  <a:srgbClr val="B8862B"/>
                </a:solidFill>
                <a:latin typeface="Calibri" pitchFamily="34" charset="0"/>
                <a:ea typeface="Calibri" pitchFamily="34" charset="-122"/>
                <a:cs typeface="Calibri" pitchFamily="34" charset="-120"/>
              </a:rPr>
              <a:t>C   </a:t>
            </a:r>
            <a:pPr algn="l" indent="0" marL="0">
              <a:spcAft>
                <a:spcPts val="600"/>
              </a:spcAft>
              <a:buNone/>
            </a:pPr>
            <a:r>
              <a:rPr lang="en-US" sz="2200" dirty="0">
                <a:solidFill>
                  <a:srgbClr val="1E2229"/>
                </a:solidFill>
                <a:latin typeface="Calibri" pitchFamily="34" charset="0"/>
                <a:ea typeface="Calibri" pitchFamily="34" charset="-122"/>
                <a:cs typeface="Calibri" pitchFamily="34" charset="-120"/>
              </a:rPr>
              <a:t>Mantle</a:t>
            </a:r>
            <a:endParaRPr lang="en-US" sz="2400" dirty="0"/>
          </a:p>
          <a:p>
            <a:pPr algn="l" indent="0" marL="0">
              <a:spcAft>
                <a:spcPts val="600"/>
              </a:spcAft>
              <a:buNone/>
            </a:pPr>
            <a:r>
              <a:rPr lang="en-US" sz="2200" b="1" dirty="0">
                <a:solidFill>
                  <a:srgbClr val="B8862B"/>
                </a:solidFill>
                <a:latin typeface="Calibri" pitchFamily="34" charset="0"/>
                <a:ea typeface="Calibri" pitchFamily="34" charset="-122"/>
                <a:cs typeface="Calibri" pitchFamily="34" charset="-120"/>
              </a:rPr>
              <a:t>D   </a:t>
            </a:r>
            <a:pPr algn="l" indent="0" marL="0">
              <a:spcAft>
                <a:spcPts val="600"/>
              </a:spcAft>
              <a:buNone/>
            </a:pPr>
            <a:r>
              <a:rPr lang="en-US" sz="2200" dirty="0">
                <a:solidFill>
                  <a:srgbClr val="1E2229"/>
                </a:solidFill>
                <a:latin typeface="Calibri" pitchFamily="34" charset="0"/>
                <a:ea typeface="Calibri" pitchFamily="34" charset="-122"/>
                <a:cs typeface="Calibri" pitchFamily="34" charset="-120"/>
              </a:rPr>
              <a:t>Inner core</a:t>
            </a:r>
            <a:endParaRPr lang="en-US" sz="2400" dirty="0"/>
          </a:p>
        </p:txBody>
      </p:sp>
      <p:sp>
        <p:nvSpPr>
          <p:cNvPr id="11" name="exit-answer-box"/>
          <p:cNvSpPr/>
          <p:nvPr/>
        </p:nvSpPr>
        <p:spPr>
          <a:xfrm>
            <a:off x="2286000" y="5047488"/>
            <a:ext cx="7619695" cy="822960"/>
          </a:xfrm>
          <a:prstGeom prst="roundRect">
            <a:avLst>
              <a:gd name="adj" fmla="val 11111"/>
            </a:avLst>
          </a:prstGeom>
          <a:solidFill>
            <a:srgbClr val="F4F7F5"/>
          </a:solidFill>
          <a:ln w="12700">
            <a:solidFill>
              <a:srgbClr val="A2B7A7"/>
            </a:solidFill>
            <a:prstDash val="solid"/>
          </a:ln>
        </p:spPr>
      </p:sp>
      <p:sp>
        <p:nvSpPr>
          <p:cNvPr id="12" name="exit-answer-label"/>
          <p:cNvSpPr txBox="1"/>
          <p:nvPr/>
        </p:nvSpPr>
        <p:spPr>
          <a:xfrm>
            <a:off x="2423160" y="5047488"/>
            <a:ext cx="2926080" cy="822960"/>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My answer:</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3F6B4A"/>
                </a:solidFill>
                <a:latin typeface="Cambria" pitchFamily="34" charset="0"/>
                <a:ea typeface="Cambria" pitchFamily="34" charset="-122"/>
                <a:cs typeface="Cambria" pitchFamily="34" charset="-120"/>
              </a:rPr>
              <a:t>Answers: Layer by layer</a:t>
            </a:r>
            <a:endParaRPr lang="en-US" sz="3200" dirty="0"/>
          </a:p>
        </p:txBody>
      </p:sp>
      <p:sp>
        <p:nvSpPr>
          <p:cNvPr id="4" name="chip-hex"/>
          <p:cNvSpPr/>
          <p:nvPr/>
        </p:nvSpPr>
        <p:spPr>
          <a:xfrm>
            <a:off x="9677095" y="531760"/>
            <a:ext cx="566928" cy="490960"/>
          </a:xfrm>
          <a:prstGeom prst="hexagon">
            <a:avLst/>
          </a:prstGeom>
          <a:solidFill>
            <a:srgbClr val="3F6B4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Check</a:t>
            </a:r>
            <a:endParaRPr lang="en-US" sz="1800" dirty="0"/>
          </a:p>
        </p:txBody>
      </p:sp>
      <p:sp>
        <p:nvSpPr>
          <p:cNvPr id="7" name="ans-panel"/>
          <p:cNvSpPr/>
          <p:nvPr/>
        </p:nvSpPr>
        <p:spPr>
          <a:xfrm>
            <a:off x="548640" y="1389888"/>
            <a:ext cx="6400800" cy="4754880"/>
          </a:xfrm>
          <a:prstGeom prst="roundRect">
            <a:avLst>
              <a:gd name="adj" fmla="val 962"/>
            </a:avLst>
          </a:prstGeom>
          <a:solidFill>
            <a:srgbClr val="F8F2E9"/>
          </a:solidFill>
          <a:ln w="19050">
            <a:solidFill>
              <a:srgbClr val="B8862B"/>
            </a:solidFill>
            <a:prstDash val="solid"/>
          </a:ln>
        </p:spPr>
      </p:sp>
      <p:sp>
        <p:nvSpPr>
          <p:cNvPr id="8" name="ans-tab"/>
          <p:cNvSpPr/>
          <p:nvPr/>
        </p:nvSpPr>
        <p:spPr>
          <a:xfrm>
            <a:off x="731520" y="1554480"/>
            <a:ext cx="1463040" cy="457200"/>
          </a:xfrm>
          <a:prstGeom prst="roundRect">
            <a:avLst>
              <a:gd name="adj" fmla="val 40000"/>
            </a:avLst>
          </a:prstGeom>
          <a:solidFill>
            <a:srgbClr val="9C7225"/>
          </a:solidFill>
          <a:ln/>
        </p:spPr>
        <p:txBody>
          <a:bodyPr wrap="square" lIns="63500" tIns="63500" rIns="63500" bIns="63500" rtlCol="0" anchor="ctr"/>
          <a:lstStyle/>
          <a:p>
            <a:pPr algn="l" indent="0" marL="0">
              <a:buNone/>
            </a:pPr>
            <a:r>
              <a:rPr lang="en-US" sz="1800" b="1" dirty="0">
                <a:solidFill>
                  <a:srgbClr val="FFFFFF"/>
                </a:solidFill>
                <a:latin typeface="Calibri" pitchFamily="34" charset="0"/>
                <a:ea typeface="Calibri" pitchFamily="34" charset="-122"/>
                <a:cs typeface="Calibri" pitchFamily="34" charset="-120"/>
              </a:rPr>
              <a:t>Answer</a:t>
            </a:r>
            <a:endParaRPr lang="en-US" sz="1800" dirty="0"/>
          </a:p>
        </p:txBody>
      </p:sp>
      <p:sp>
        <p:nvSpPr>
          <p:cNvPr id="9" name="ans"/>
          <p:cNvSpPr txBox="1"/>
          <p:nvPr/>
        </p:nvSpPr>
        <p:spPr>
          <a:xfrm>
            <a:off x="777240" y="2167128"/>
            <a:ext cx="5943600" cy="3840480"/>
          </a:xfrm>
          <a:prstGeom prst="rect">
            <a:avLst/>
          </a:prstGeom>
          <a:noFill/>
          <a:ln/>
        </p:spPr>
        <p:txBody>
          <a:bodyPr wrap="square" lIns="63500" tIns="63500" rIns="63500" bIns="63500" rtlCol="0" anchor="t"/>
          <a:lstStyle/>
          <a:p>
            <a:pPr algn="l" indent="0" marL="0">
              <a:spcAft>
                <a:spcPts val="1000"/>
              </a:spcAft>
              <a:buNone/>
            </a:pPr>
            <a:r>
              <a:rPr lang="en-US" sz="2400" b="1" dirty="0">
                <a:solidFill>
                  <a:srgbClr val="815E1E"/>
                </a:solidFill>
                <a:latin typeface="Calibri" pitchFamily="34" charset="0"/>
                <a:ea typeface="Calibri" pitchFamily="34" charset="-122"/>
                <a:cs typeface="Calibri" pitchFamily="34" charset="-120"/>
              </a:rPr>
              <a:t>1  </a:t>
            </a:r>
            <a:pPr algn="l" indent="0" marL="0">
              <a:spcAft>
                <a:spcPts val="1000"/>
              </a:spcAft>
              <a:buNone/>
            </a:pPr>
            <a:r>
              <a:rPr lang="en-US" sz="2400" dirty="0">
                <a:solidFill>
                  <a:srgbClr val="1E2229"/>
                </a:solidFill>
                <a:latin typeface="Calibri" pitchFamily="34" charset="0"/>
                <a:ea typeface="Calibri" pitchFamily="34" charset="-122"/>
                <a:cs typeface="Calibri" pitchFamily="34" charset="-120"/>
              </a:rPr>
              <a:t>Crust  (A)</a:t>
            </a:r>
            <a:endParaRPr lang="en-US" sz="2400" dirty="0"/>
          </a:p>
          <a:p>
            <a:pPr algn="l" indent="0" marL="0">
              <a:spcAft>
                <a:spcPts val="1000"/>
              </a:spcAft>
              <a:buNone/>
            </a:pPr>
            <a:r>
              <a:rPr lang="en-US" sz="2400" b="1" dirty="0">
                <a:solidFill>
                  <a:srgbClr val="815E1E"/>
                </a:solidFill>
                <a:latin typeface="Calibri" pitchFamily="34" charset="0"/>
                <a:ea typeface="Calibri" pitchFamily="34" charset="-122"/>
                <a:cs typeface="Calibri" pitchFamily="34" charset="-120"/>
              </a:rPr>
              <a:t>2  </a:t>
            </a:r>
            <a:pPr algn="l" indent="0" marL="0">
              <a:spcAft>
                <a:spcPts val="1000"/>
              </a:spcAft>
              <a:buNone/>
            </a:pPr>
            <a:r>
              <a:rPr lang="en-US" sz="2400" dirty="0">
                <a:solidFill>
                  <a:srgbClr val="1E2229"/>
                </a:solidFill>
                <a:latin typeface="Calibri" pitchFamily="34" charset="0"/>
                <a:ea typeface="Calibri" pitchFamily="34" charset="-122"/>
                <a:cs typeface="Calibri" pitchFamily="34" charset="-120"/>
              </a:rPr>
              <a:t>Mantle  (D)</a:t>
            </a:r>
            <a:endParaRPr lang="en-US" sz="2400" dirty="0"/>
          </a:p>
          <a:p>
            <a:pPr algn="l" indent="0" marL="0">
              <a:spcAft>
                <a:spcPts val="1000"/>
              </a:spcAft>
              <a:buNone/>
            </a:pPr>
            <a:r>
              <a:rPr lang="en-US" sz="2400" b="1" dirty="0">
                <a:solidFill>
                  <a:srgbClr val="815E1E"/>
                </a:solidFill>
                <a:latin typeface="Calibri" pitchFamily="34" charset="0"/>
                <a:ea typeface="Calibri" pitchFamily="34" charset="-122"/>
                <a:cs typeface="Calibri" pitchFamily="34" charset="-120"/>
              </a:rPr>
              <a:t>3  </a:t>
            </a:r>
            <a:pPr algn="l" indent="0" marL="0">
              <a:spcAft>
                <a:spcPts val="1000"/>
              </a:spcAft>
              <a:buNone/>
            </a:pPr>
            <a:r>
              <a:rPr lang="en-US" sz="2400" dirty="0">
                <a:solidFill>
                  <a:srgbClr val="1E2229"/>
                </a:solidFill>
                <a:latin typeface="Calibri" pitchFamily="34" charset="0"/>
                <a:ea typeface="Calibri" pitchFamily="34" charset="-122"/>
                <a:cs typeface="Calibri" pitchFamily="34" charset="-120"/>
              </a:rPr>
              <a:t>Outer core  (B)</a:t>
            </a:r>
            <a:endParaRPr lang="en-US" sz="2400" dirty="0"/>
          </a:p>
          <a:p>
            <a:pPr algn="l" indent="0" marL="0">
              <a:spcAft>
                <a:spcPts val="1000"/>
              </a:spcAft>
              <a:buNone/>
            </a:pPr>
            <a:r>
              <a:rPr lang="en-US" sz="2400" b="1" dirty="0">
                <a:solidFill>
                  <a:srgbClr val="815E1E"/>
                </a:solidFill>
                <a:latin typeface="Calibri" pitchFamily="34" charset="0"/>
                <a:ea typeface="Calibri" pitchFamily="34" charset="-122"/>
                <a:cs typeface="Calibri" pitchFamily="34" charset="-120"/>
              </a:rPr>
              <a:t>4  </a:t>
            </a:r>
            <a:pPr algn="l" indent="0" marL="0">
              <a:spcAft>
                <a:spcPts val="1000"/>
              </a:spcAft>
              <a:buNone/>
            </a:pPr>
            <a:r>
              <a:rPr lang="en-US" sz="2400" dirty="0">
                <a:solidFill>
                  <a:srgbClr val="1E2229"/>
                </a:solidFill>
                <a:latin typeface="Calibri" pitchFamily="34" charset="0"/>
                <a:ea typeface="Calibri" pitchFamily="34" charset="-122"/>
                <a:cs typeface="Calibri" pitchFamily="34" charset="-120"/>
              </a:rPr>
              <a:t>Inner core  (C)</a:t>
            </a:r>
            <a:endParaRPr lang="en-US" sz="2400" dirty="0"/>
          </a:p>
        </p:txBody>
      </p:sp>
      <p:sp>
        <p:nvSpPr>
          <p:cNvPr id="10" name="why-panel"/>
          <p:cNvSpPr/>
          <p:nvPr/>
        </p:nvSpPr>
        <p:spPr>
          <a:xfrm>
            <a:off x="7223760" y="1389888"/>
            <a:ext cx="4419295" cy="4754880"/>
          </a:xfrm>
          <a:prstGeom prst="roundRect">
            <a:avLst>
              <a:gd name="adj" fmla="val 1035"/>
            </a:avLst>
          </a:prstGeom>
          <a:solidFill>
            <a:srgbClr val="EFF2F0"/>
          </a:solidFill>
          <a:ln/>
        </p:spPr>
      </p:sp>
      <p:sp>
        <p:nvSpPr>
          <p:cNvPr id="11" name="why-hex"/>
          <p:cNvSpPr/>
          <p:nvPr/>
        </p:nvSpPr>
        <p:spPr>
          <a:xfrm>
            <a:off x="7406640" y="1572768"/>
            <a:ext cx="685800" cy="593903"/>
          </a:xfrm>
          <a:prstGeom prst="hexagon">
            <a:avLst/>
          </a:prstGeom>
          <a:solidFill>
            <a:srgbClr val="3F6B4A"/>
          </a:solidFill>
          <a:ln/>
        </p:spPr>
      </p:sp>
      <p:sp>
        <p:nvSpPr>
          <p:cNvPr id="12" name="why-hex-label"/>
          <p:cNvSpPr txBox="1"/>
          <p:nvPr/>
        </p:nvSpPr>
        <p:spPr>
          <a:xfrm>
            <a:off x="7406640" y="1572768"/>
            <a:ext cx="685800" cy="59390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Why</a:t>
            </a:r>
            <a:endParaRPr lang="en-US" sz="1800" dirty="0"/>
          </a:p>
        </p:txBody>
      </p:sp>
      <p:sp>
        <p:nvSpPr>
          <p:cNvPr id="13" name="why"/>
          <p:cNvSpPr txBox="1"/>
          <p:nvPr/>
        </p:nvSpPr>
        <p:spPr>
          <a:xfrm>
            <a:off x="7406640" y="2304288"/>
            <a:ext cx="4053535" cy="3703320"/>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From the surface down: the crust (thin, solid), the mantle (thick, hot rock), the outer core and then the inner core at the centre.</a:t>
            </a:r>
            <a:endParaRPr lang="en-US" sz="24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3F6B4A"/>
                </a:solidFill>
                <a:latin typeface="Cambria" pitchFamily="34" charset="0"/>
                <a:ea typeface="Cambria" pitchFamily="34" charset="-122"/>
                <a:cs typeface="Cambria" pitchFamily="34" charset="-120"/>
              </a:rPr>
              <a:t>Answers: Magma or lava?</a:t>
            </a:r>
            <a:endParaRPr lang="en-US" sz="3200" dirty="0"/>
          </a:p>
        </p:txBody>
      </p:sp>
      <p:sp>
        <p:nvSpPr>
          <p:cNvPr id="4" name="chip-hex"/>
          <p:cNvSpPr/>
          <p:nvPr/>
        </p:nvSpPr>
        <p:spPr>
          <a:xfrm>
            <a:off x="9677095" y="531760"/>
            <a:ext cx="566928" cy="490960"/>
          </a:xfrm>
          <a:prstGeom prst="hexagon">
            <a:avLst/>
          </a:prstGeom>
          <a:solidFill>
            <a:srgbClr val="3F6B4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Check</a:t>
            </a:r>
            <a:endParaRPr lang="en-US" sz="1800" dirty="0"/>
          </a:p>
        </p:txBody>
      </p:sp>
      <p:sp>
        <p:nvSpPr>
          <p:cNvPr id="7" name="ans-panel"/>
          <p:cNvSpPr/>
          <p:nvPr/>
        </p:nvSpPr>
        <p:spPr>
          <a:xfrm>
            <a:off x="548640" y="1389888"/>
            <a:ext cx="6400800" cy="4754880"/>
          </a:xfrm>
          <a:prstGeom prst="roundRect">
            <a:avLst>
              <a:gd name="adj" fmla="val 962"/>
            </a:avLst>
          </a:prstGeom>
          <a:solidFill>
            <a:srgbClr val="F8F2E9"/>
          </a:solidFill>
          <a:ln w="19050">
            <a:solidFill>
              <a:srgbClr val="B8862B"/>
            </a:solidFill>
            <a:prstDash val="solid"/>
          </a:ln>
        </p:spPr>
      </p:sp>
      <p:sp>
        <p:nvSpPr>
          <p:cNvPr id="8" name="ans-tab"/>
          <p:cNvSpPr/>
          <p:nvPr/>
        </p:nvSpPr>
        <p:spPr>
          <a:xfrm>
            <a:off x="731520" y="1554480"/>
            <a:ext cx="1463040" cy="457200"/>
          </a:xfrm>
          <a:prstGeom prst="roundRect">
            <a:avLst>
              <a:gd name="adj" fmla="val 40000"/>
            </a:avLst>
          </a:prstGeom>
          <a:solidFill>
            <a:srgbClr val="9C7225"/>
          </a:solidFill>
          <a:ln/>
        </p:spPr>
        <p:txBody>
          <a:bodyPr wrap="square" lIns="63500" tIns="63500" rIns="63500" bIns="63500" rtlCol="0" anchor="ctr"/>
          <a:lstStyle/>
          <a:p>
            <a:pPr algn="l" indent="0" marL="0">
              <a:buNone/>
            </a:pPr>
            <a:r>
              <a:rPr lang="en-US" sz="1800" b="1" dirty="0">
                <a:solidFill>
                  <a:srgbClr val="FFFFFF"/>
                </a:solidFill>
                <a:latin typeface="Calibri" pitchFamily="34" charset="0"/>
                <a:ea typeface="Calibri" pitchFamily="34" charset="-122"/>
                <a:cs typeface="Calibri" pitchFamily="34" charset="-120"/>
              </a:rPr>
              <a:t>Answer</a:t>
            </a:r>
            <a:endParaRPr lang="en-US" sz="1800" dirty="0"/>
          </a:p>
        </p:txBody>
      </p:sp>
      <p:sp>
        <p:nvSpPr>
          <p:cNvPr id="9" name="ans"/>
          <p:cNvSpPr txBox="1"/>
          <p:nvPr/>
        </p:nvSpPr>
        <p:spPr>
          <a:xfrm>
            <a:off x="777240" y="2167128"/>
            <a:ext cx="5943600" cy="3840480"/>
          </a:xfrm>
          <a:prstGeom prst="rect">
            <a:avLst/>
          </a:prstGeom>
          <a:noFill/>
          <a:ln/>
        </p:spPr>
        <p:txBody>
          <a:bodyPr wrap="square" lIns="63500" tIns="63500" rIns="63500" bIns="63500" rtlCol="0" anchor="ctr"/>
          <a:lstStyle/>
          <a:p>
            <a:pPr algn="l" indent="0" marL="0">
              <a:spcAft>
                <a:spcPts val="1400"/>
              </a:spcAft>
              <a:buNone/>
            </a:pPr>
            <a:r>
              <a:rPr lang="en-US" sz="1800" dirty="0">
                <a:solidFill>
                  <a:srgbClr val="4A505C"/>
                </a:solidFill>
                <a:latin typeface="Calibri" pitchFamily="34" charset="0"/>
                <a:ea typeface="Calibri" pitchFamily="34" charset="-122"/>
                <a:cs typeface="Calibri" pitchFamily="34" charset="-120"/>
              </a:rPr>
              <a:t>Which statement about magma and lava is correct?</a:t>
            </a:r>
            <a:endParaRPr lang="en-US" sz="1800" dirty="0"/>
          </a:p>
          <a:p>
            <a:pPr algn="l" indent="0" marL="0">
              <a:buNone/>
            </a:pPr>
            <a:r>
              <a:rPr lang="en-US" sz="3200" b="1" dirty="0">
                <a:solidFill>
                  <a:srgbClr val="1E2229"/>
                </a:solidFill>
                <a:latin typeface="Cambria" pitchFamily="34" charset="0"/>
                <a:ea typeface="Cambria" pitchFamily="34" charset="-122"/>
                <a:cs typeface="Cambria" pitchFamily="34" charset="-120"/>
              </a:rPr>
              <a:t>B   Magma is melted rock underground; lava is melted rock that has reached the surface</a:t>
            </a:r>
            <a:endParaRPr lang="en-US" sz="1800" dirty="0"/>
          </a:p>
        </p:txBody>
      </p:sp>
      <p:sp>
        <p:nvSpPr>
          <p:cNvPr id="10" name="why-panel"/>
          <p:cNvSpPr/>
          <p:nvPr/>
        </p:nvSpPr>
        <p:spPr>
          <a:xfrm>
            <a:off x="7223760" y="1389888"/>
            <a:ext cx="4419295" cy="4754880"/>
          </a:xfrm>
          <a:prstGeom prst="roundRect">
            <a:avLst>
              <a:gd name="adj" fmla="val 1035"/>
            </a:avLst>
          </a:prstGeom>
          <a:solidFill>
            <a:srgbClr val="EFF2F0"/>
          </a:solidFill>
          <a:ln/>
        </p:spPr>
      </p:sp>
      <p:sp>
        <p:nvSpPr>
          <p:cNvPr id="11" name="why-hex"/>
          <p:cNvSpPr/>
          <p:nvPr/>
        </p:nvSpPr>
        <p:spPr>
          <a:xfrm>
            <a:off x="7406640" y="1572768"/>
            <a:ext cx="685800" cy="593903"/>
          </a:xfrm>
          <a:prstGeom prst="hexagon">
            <a:avLst/>
          </a:prstGeom>
          <a:solidFill>
            <a:srgbClr val="3F6B4A"/>
          </a:solidFill>
          <a:ln/>
        </p:spPr>
      </p:sp>
      <p:sp>
        <p:nvSpPr>
          <p:cNvPr id="12" name="why-hex-label"/>
          <p:cNvSpPr txBox="1"/>
          <p:nvPr/>
        </p:nvSpPr>
        <p:spPr>
          <a:xfrm>
            <a:off x="7406640" y="1572768"/>
            <a:ext cx="685800" cy="59390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Why</a:t>
            </a:r>
            <a:endParaRPr lang="en-US" sz="1800" dirty="0"/>
          </a:p>
        </p:txBody>
      </p:sp>
      <p:sp>
        <p:nvSpPr>
          <p:cNvPr id="13" name="why"/>
          <p:cNvSpPr txBox="1"/>
          <p:nvPr/>
        </p:nvSpPr>
        <p:spPr>
          <a:xfrm>
            <a:off x="7406640" y="2304288"/>
            <a:ext cx="4053535" cy="3703320"/>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Magma and lava are the same melted rock. Underground it is magma; once it reaches the surface it is lava.</a:t>
            </a:r>
            <a:endParaRPr lang="en-US" sz="24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3F6B4A"/>
                </a:solidFill>
                <a:latin typeface="Cambria" pitchFamily="34" charset="0"/>
                <a:ea typeface="Cambria" pitchFamily="34" charset="-122"/>
                <a:cs typeface="Cambria" pitchFamily="34" charset="-120"/>
              </a:rPr>
              <a:t>Answers: Exit ticket</a:t>
            </a:r>
            <a:endParaRPr lang="en-US" sz="3200" dirty="0"/>
          </a:p>
        </p:txBody>
      </p:sp>
      <p:sp>
        <p:nvSpPr>
          <p:cNvPr id="4" name="chip-hex"/>
          <p:cNvSpPr/>
          <p:nvPr/>
        </p:nvSpPr>
        <p:spPr>
          <a:xfrm>
            <a:off x="9677095" y="531760"/>
            <a:ext cx="566928" cy="490960"/>
          </a:xfrm>
          <a:prstGeom prst="hexagon">
            <a:avLst/>
          </a:prstGeom>
          <a:solidFill>
            <a:srgbClr val="3F6B4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Check</a:t>
            </a:r>
            <a:endParaRPr lang="en-US" sz="1800" dirty="0"/>
          </a:p>
        </p:txBody>
      </p:sp>
      <p:sp>
        <p:nvSpPr>
          <p:cNvPr id="7" name="ans-panel"/>
          <p:cNvSpPr/>
          <p:nvPr/>
        </p:nvSpPr>
        <p:spPr>
          <a:xfrm>
            <a:off x="548640" y="1389888"/>
            <a:ext cx="6400800" cy="4754880"/>
          </a:xfrm>
          <a:prstGeom prst="roundRect">
            <a:avLst>
              <a:gd name="adj" fmla="val 962"/>
            </a:avLst>
          </a:prstGeom>
          <a:solidFill>
            <a:srgbClr val="F8F2E9"/>
          </a:solidFill>
          <a:ln w="19050">
            <a:solidFill>
              <a:srgbClr val="B8862B"/>
            </a:solidFill>
            <a:prstDash val="solid"/>
          </a:ln>
        </p:spPr>
      </p:sp>
      <p:sp>
        <p:nvSpPr>
          <p:cNvPr id="8" name="ans-tab"/>
          <p:cNvSpPr/>
          <p:nvPr/>
        </p:nvSpPr>
        <p:spPr>
          <a:xfrm>
            <a:off x="731520" y="1554480"/>
            <a:ext cx="1463040" cy="457200"/>
          </a:xfrm>
          <a:prstGeom prst="roundRect">
            <a:avLst>
              <a:gd name="adj" fmla="val 40000"/>
            </a:avLst>
          </a:prstGeom>
          <a:solidFill>
            <a:srgbClr val="9C7225"/>
          </a:solidFill>
          <a:ln/>
        </p:spPr>
        <p:txBody>
          <a:bodyPr wrap="square" lIns="63500" tIns="63500" rIns="63500" bIns="63500" rtlCol="0" anchor="ctr"/>
          <a:lstStyle/>
          <a:p>
            <a:pPr algn="l" indent="0" marL="0">
              <a:buNone/>
            </a:pPr>
            <a:r>
              <a:rPr lang="en-US" sz="1800" b="1" dirty="0">
                <a:solidFill>
                  <a:srgbClr val="FFFFFF"/>
                </a:solidFill>
                <a:latin typeface="Calibri" pitchFamily="34" charset="0"/>
                <a:ea typeface="Calibri" pitchFamily="34" charset="-122"/>
                <a:cs typeface="Calibri" pitchFamily="34" charset="-120"/>
              </a:rPr>
              <a:t>Answer</a:t>
            </a:r>
            <a:endParaRPr lang="en-US" sz="1800" dirty="0"/>
          </a:p>
        </p:txBody>
      </p:sp>
      <p:sp>
        <p:nvSpPr>
          <p:cNvPr id="9" name="ans"/>
          <p:cNvSpPr txBox="1"/>
          <p:nvPr/>
        </p:nvSpPr>
        <p:spPr>
          <a:xfrm>
            <a:off x="777240" y="2167128"/>
            <a:ext cx="5943600" cy="3840480"/>
          </a:xfrm>
          <a:prstGeom prst="rect">
            <a:avLst/>
          </a:prstGeom>
          <a:noFill/>
          <a:ln/>
        </p:spPr>
        <p:txBody>
          <a:bodyPr wrap="square" lIns="63500" tIns="63500" rIns="63500" bIns="63500" rtlCol="0" anchor="ctr"/>
          <a:lstStyle/>
          <a:p>
            <a:pPr algn="l" indent="0" marL="0">
              <a:spcAft>
                <a:spcPts val="1400"/>
              </a:spcAft>
              <a:buNone/>
            </a:pPr>
            <a:r>
              <a:rPr lang="en-US" sz="1800" dirty="0">
                <a:solidFill>
                  <a:srgbClr val="4A505C"/>
                </a:solidFill>
                <a:latin typeface="Calibri" pitchFamily="34" charset="0"/>
                <a:ea typeface="Calibri" pitchFamily="34" charset="-122"/>
                <a:cs typeface="Calibri" pitchFamily="34" charset="-120"/>
              </a:rPr>
              <a:t>Which layer of the Earth is the thin, solid outer layer that we live on?</a:t>
            </a:r>
            <a:endParaRPr lang="en-US" sz="1800" dirty="0"/>
          </a:p>
          <a:p>
            <a:pPr algn="l" indent="0" marL="0">
              <a:buNone/>
            </a:pPr>
            <a:r>
              <a:rPr lang="en-US" sz="3200" b="1" dirty="0">
                <a:solidFill>
                  <a:srgbClr val="1E2229"/>
                </a:solidFill>
                <a:latin typeface="Cambria" pitchFamily="34" charset="0"/>
                <a:ea typeface="Cambria" pitchFamily="34" charset="-122"/>
                <a:cs typeface="Cambria" pitchFamily="34" charset="-120"/>
              </a:rPr>
              <a:t>B   Crust</a:t>
            </a:r>
            <a:endParaRPr lang="en-US" sz="1800" dirty="0"/>
          </a:p>
        </p:txBody>
      </p:sp>
      <p:sp>
        <p:nvSpPr>
          <p:cNvPr id="10" name="why-panel"/>
          <p:cNvSpPr/>
          <p:nvPr/>
        </p:nvSpPr>
        <p:spPr>
          <a:xfrm>
            <a:off x="7223760" y="1389888"/>
            <a:ext cx="4419295" cy="4754880"/>
          </a:xfrm>
          <a:prstGeom prst="roundRect">
            <a:avLst>
              <a:gd name="adj" fmla="val 1035"/>
            </a:avLst>
          </a:prstGeom>
          <a:solidFill>
            <a:srgbClr val="EFF2F0"/>
          </a:solidFill>
          <a:ln/>
        </p:spPr>
      </p:sp>
      <p:sp>
        <p:nvSpPr>
          <p:cNvPr id="11" name="why-hex"/>
          <p:cNvSpPr/>
          <p:nvPr/>
        </p:nvSpPr>
        <p:spPr>
          <a:xfrm>
            <a:off x="7406640" y="1572768"/>
            <a:ext cx="685800" cy="593903"/>
          </a:xfrm>
          <a:prstGeom prst="hexagon">
            <a:avLst/>
          </a:prstGeom>
          <a:solidFill>
            <a:srgbClr val="3F6B4A"/>
          </a:solidFill>
          <a:ln/>
        </p:spPr>
      </p:sp>
      <p:sp>
        <p:nvSpPr>
          <p:cNvPr id="12" name="why-hex-label"/>
          <p:cNvSpPr txBox="1"/>
          <p:nvPr/>
        </p:nvSpPr>
        <p:spPr>
          <a:xfrm>
            <a:off x="7406640" y="1572768"/>
            <a:ext cx="685800" cy="59390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Why</a:t>
            </a:r>
            <a:endParaRPr lang="en-US" sz="1800" dirty="0"/>
          </a:p>
        </p:txBody>
      </p:sp>
      <p:sp>
        <p:nvSpPr>
          <p:cNvPr id="13" name="why"/>
          <p:cNvSpPr txBox="1"/>
          <p:nvPr/>
        </p:nvSpPr>
        <p:spPr>
          <a:xfrm>
            <a:off x="7406640" y="2304288"/>
            <a:ext cx="4053535" cy="3703320"/>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The crust is the thin outer layer of solid rock. The mantle and the two parts of the core lie underneath it.</a:t>
            </a:r>
            <a:endParaRPr lang="en-US" sz="24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20</a:t>
            </a:fld>
            <a:endParaRPr lang="en-US"/>
          </a:p>
        </p:txBody>
      </p:sp>
    </p:spTree>
  </p:cSld>
  <p:clrMapOvr>
    <a:masterClrMapping/>
  </p:clrMapOvr>
</p:sld>
</file>

<file path=ppt/theme/theme1.xml><?xml version="1.0" encoding="utf-8"?>
<a:theme xmlns:a="http://schemas.openxmlformats.org/drawingml/2006/main" name="Ad Astra geography">
  <a:themeElements>
    <a:clrScheme name="Ad Astra geography">
      <a:dk1>
        <a:srgbClr val="1E2229"/>
      </a:dk1>
      <a:lt1>
        <a:srgbClr val="FFFFFF"/>
      </a:lt1>
      <a:dk2>
        <a:srgbClr val="32563B"/>
      </a:dk2>
      <a:lt2>
        <a:srgbClr val="EFF2F0"/>
      </a:lt2>
      <a:accent1>
        <a:srgbClr val="3F6B4A"/>
      </a:accent1>
      <a:accent2>
        <a:srgbClr val="B8862B"/>
      </a:accent2>
      <a:accent3>
        <a:srgbClr val="8CA692"/>
      </a:accent3>
      <a:accent4>
        <a:srgbClr val="815E1E"/>
      </a:accent4>
      <a:accent5>
        <a:srgbClr val="4A505C"/>
      </a:accent5>
      <a:accent6>
        <a:srgbClr val="DDC498"/>
      </a:accent6>
      <a:hlink>
        <a:srgbClr val="3F6B4A"/>
      </a:hlink>
      <a:folHlink>
        <a:srgbClr val="2C4B34"/>
      </a:folHlink>
    </a:clrScheme>
    <a:fontScheme name="Ad Astra geography">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20</Slides>
  <Notes>20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20</vt:i4>
      </vt:variant>
    </vt:vector>
  </HeadingPairs>
  <TitlesOfParts>
    <vt:vector size="2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vector>
  </TitlesOfParts>
  <Company>Edu.Ai SV Digital</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Tectonic Processes · Chapter 1: Inside the Earth</dc:title>
  <dc:subject>Geography · Year 8</dc:subject>
  <dc:creator>Dr Vitor Merissi de Carvalho</dc:creator>
  <cp:lastModifiedBy>Dr Vitor Merissi de Carvalho</cp:lastModifiedBy>
  <cp:revision>1</cp:revision>
  <dcterms:created xsi:type="dcterms:W3CDTF">2026-10-19T16:22:58Z</dcterms:created>
  <dcterms:modified xsi:type="dcterms:W3CDTF">2026-10-19T16:22:58Z</dcterms:modified>
</cp:coreProperties>
</file>