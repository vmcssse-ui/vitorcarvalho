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457dab2-3f62-41e2-03e7-84da6fa0e80c}">
          <p14:sldIdLst>
            <p14:sldId id="256"/>
          </p14:sldIdLst>
        </p14:section>
        <p14:section name="Gate" id="{feb32b46-8bfb-2fa1-b1d6-ce26600e8d4b}">
          <p14:sldIdLst>
            <p14:sldId id="257"/>
            <p14:sldId id="258"/>
          </p14:sldIdLst>
        </p14:section>
        <p14:section name="Pre-teach" id="{19d6fdee-d910-d007-adb8-760428684ab4}">
          <p14:sldIdLst>
            <p14:sldId id="259"/>
            <p14:sldId id="260"/>
          </p14:sldIdLst>
        </p14:section>
        <p14:section name="Read-along" id="{785ad1f8-6e12-bbe3-fc8a-eb78d7b59373}">
          <p14:sldIdLst>
            <p14:sldId id="261"/>
            <p14:sldId id="262"/>
          </p14:sldIdLst>
        </p14:section>
        <p14:section name="Teach" id="{064e913f-032d-ec6a-253b-77e5faa0a8e3}">
          <p14:sldIdLst>
            <p14:sldId id="263"/>
            <p14:sldId id="264"/>
            <p14:sldId id="265"/>
            <p14:sldId id="266"/>
            <p14:sldId id="267"/>
          </p14:sldIdLst>
        </p14:section>
        <p14:section name="Routes" id="{06ea6099-6f7f-2e07-9b45-8e62ec2fcb73}">
          <p14:sldIdLst>
            <p14:sldId id="268"/>
            <p14:sldId id="269"/>
            <p14:sldId id="270"/>
            <p14:sldId id="271"/>
          </p14:sldIdLst>
        </p14:section>
        <p14:section name="Close" id="{922d32e3-adb3-2214-24a3-67394acdd0c0}">
          <p14:sldIdLst>
            <p14:sldId id="272"/>
          </p14:sldIdLst>
        </p14:section>
        <p14:section name="Answers" id="{7a16d914-deb8-1ecc-e1a3-3fc3052c6160}">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5: Four kinds of plate boundary. Constructive, destructive, conservative and collision boundaries: how the plates move at each one and what that does to the ground.
This deck covers the department's lesson: 2 (Plate tectonic theory: tectonic plates and plate boundaries: Where are earthquakes and volcanoes in the world, and why do they occur in these places?).
Read the big question aloud: "What moves the ground beneath our feet, where do earthquakes and volcanoes happen, and why do millions of people choose to live near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At which type of plate boundary do two plates move apart, so that magma rises and forms new crust?  →  A   Constructive
2. At a ___ boundary two plates slide past each other along a fault, and the plates are not changed.  →  conservative
3. Which type of plate boundary formed the Himalayas?  →  B   Collision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Constructive. Constructive boundaries build new crust as the plates move apart and magma rises to fill the gap.
2. conservative. Conservative boundaries conserve the plates: they slide past each other sideways with no crust made or destroyed.
3. B   Collision. Two continental plates, the Indo-Australian and the Eurasian, met head on and pushed the land up into the Himalayas.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plate boundary: the place where two plates meet, also called a plate margin. Example: "Most volcanoes are found along a plate boundary."
• constructive: a boundary where two plates move apart and new crust is made. Example: "Iceland sits on a constructive boundary."
• destructive: a boundary where two plates move together and one is forced under the other. Example: "At a destructive boundary the oceanic plate is destroyed."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conservative: a boundary where two plates slide past each other. Example: "At a conservative boundary the plates are not changed."
• collision: a boundary where two continental plates meet head on and push up mountains. Example: "The Himalayas were made at a collision boundary."
• fault: a crack in the crust where the rock on each side has moved. Example: "The plates slide past each other along a fault."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Where two plates meet is called a plate boundary, or plate margin.
2. There are four types of plate boundary.
3. At a constructive boundary, two plates move apart.
4. Magma rises up from below, makes volcanoes, and forms new crust.
5. At a destructive boundary, two plates move towards each other.
6. One plate is forced under the other and is destroyed.
7. At a conservative boundary, two plates slide past each other along a fault.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plates are not changed, but the ground shakes.
9. At a collision boundary, two continental plates meet head on.
10. The land is pushed upwards into mountains.
11. The Himalayas were made like this.
12. Earthquakes happen at all four types of boundary.
13. Volcanoes happen where magma can rise: at constructive and destructive boundaries.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Constructive: plates move apart. Say it in your own words, then check understanding with a quick question: ask a pupil from the pre-teach group first, since they met these words and ideas before the lesson. Pupils try to recall before you re-explain.
At a constructive boundary two plates move away from each other. As they separate, a gap opens and magma rises up from the mantle to fill it. The magma cools and hardens into new rock. New crust is being built, which is why the boundary is called constructive.
Some of the rising magma breaks through as volcanoes, so constructive boundaries have volcanoes and earthquakes, though the eruptions are usually gentler than at destructive boundaries. Most constructive boundaries run along the middle of the ocean floor.
Iceland is one place where a constructive boundary comes up above the sea. It sits where the North American Plate and the Eurasian Plate are moving apart, and the island is slowly growing wider.
Tip: Constructive = constructing (building) new crust. Think apart, magma rises, new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Destructive: plates move together. Say it in your own words, then check understanding with a quick question: ask a pupil from the pre-teach group first, since they met these words and ideas before the lesson. Pupils try to recall before you re-explain.
At a destructive boundary two plates move towards each other. Something has to give. The denser plate, which is the oceanic one, is forced down underneath the other plate and back into the mantle, where it melts and is destroyed. That is why the boundary is called destructive.
Forcing one plate under another is not smooth. The plates stick, pressure builds up and then releases suddenly, which causes strong earthquakes. The melting plate also makes magma, which rises through the crust above and erupts as volcanoes. These are often violent, explosive eruptions.
So a destructive boundary gives you both main tectonic hazards: large earthquakes and dangerous volcanoes.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Conservative: plates slide past. Say it in your own words, then check understanding with a quick question: ask a pupil from the pre-teach group first, since they met these words and ideas before the lesson. Pupils try to recall before you re-explain.
At a conservative boundary two plates slide past each other sideways along a fault. No crust is made and none is destroyed; the plates are conserved, which gives the boundary its name.
The sliding is not smooth. The two edges catch and lock, pressure builds up over years, and then the rock suddenly jerks free. That jerk is an earthquake, and because the plates are moving a long way at once, these earthquakes can be very strong.
There are no volcanoes at a conservative boundary, because no magma rises: the plates are moving sideways, not apart or down. The San Andreas Fault in the western United States is the most famous conservative boundary.
Tip: Conservative: slide past, no volcanoes, big earthquakes. If a question mentions a fault, think conservative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Collision: two continents meet. Say it in your own words, then check understanding with a quick question: ask a pupil from the pre-teach group first, since they met these words and ideas before the lesson. Pupils try to recall before you re-explain.
At a collision boundary two continental plates move towards each other and meet head on. Neither can sink, because continental crust is too thick and not dense enough to be forced down into the mantle. Instead the rock is crumpled, folded and pushed upwards.
This is how the world's highest mountains were made. The Himalayas, with Mount Everest, were pushed up where the Indo-Australian Plate collided with the Eurasian Plate. The plates are still pushing, so the mountains are still rising, very slowly, and the region has frequent earthquakes.
Compare this with a destructive boundary. Both involve plates moving together. The difference is what kind of crust meets: oceanic against continental gives destructive; continental against continental gives collision.
Worked example — model it step by step, thinking aloud: Explain how the Himalayas were formed. (3 marks) (1) Name the boundary and the plates: a collision boundary where the Indo-Australian Plate meets the Eurasian Plate. (2) Say what happens to the crust: both plates are continental, so neither sinks; the rock is pushed upwards instead. (3) Finish with the result: the crumpled, folded rock forms the Himalayan mountains, which are still rising. Answer: The Himalayas are at a collision boundary, where the Indo-Australian Plate moves towards the Eurasian Plate. Both plates are continental, so neither is forced down into the mantle. Instead the rock between them is crumpled, folded and pushed upwards, forming the mountains, which are still slowly rising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Collision: two continents meet. Say it in your own words, then check understanding with a quick question: ask a pupil from the pre-teach group first, since they met these words and ideas before the lesson. Pupils try to recall before you re-explain.
At a collision boundary two continental plates move towards each other and meet head on. Neither can sink, because continental crust is too thick and not dense enough to be forced down into the mantle. Instead the rock is crumpled, folded and pushed upwards.
This is how the world's highest mountains were made. The Himalayas, with Mount Everest, were pushed up where the Indo-Australian Plate collided with the Eurasian Plate. The plates are still pushing, so the mountains are still rising, very slowly, and the region has frequent earthquakes.
Compare this with a destructive boundary. Both involve plates moving together. The difference is what kind of crust meets: oceanic against continental gives destructive; continental against continental gives collision.
Worked example — model it step by step, thinking aloud: Explain how the Himalayas were formed. (3 marks) (1) Name the boundary and the plates: a collision boundary where the Indo-Australian Plate meets the Eurasian Plate. (2) Say what happens to the crust: both plates are continental, so neither sinks; the rock is pushed upwards instead. (3) Finish with the result: the crumpled, folded rock forms the Himalayan mountains, which are still rising. Answer: The Himalayas are at a collision boundary, where the Indo-Australian Plate moves towards the Eurasian Plate. Both plates are continental, so neither is forced down into the mantle. Instead the rock between them is crumpled, folded and pushed upwards, forming the mountains, which are still slowly rising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that boundary.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plate boundary to how the plates move there.
Support — work through the steps with the group: (1) Use the names. Constructive builds; destructive destroys; conservative keeps things the same. (2) Collision is the odd one: think of two cars meeting head on and crumpling upwards. (3) Match the two that are about moving together first (destructive, collision), then apart (constructive). (4) The one left, sliding past, is conservative.
Parallel worked example for Support (model it, do not give the task answer): Match the word to its meaning: construct, destroy, conserve. Meanings: to keep the same; to build; to break down. Construct means to build.; Destroy means to break down.; Conserve means to keep the same.. Answer: construct: to build; destroy: to break down; conserve: to keep the same.
Core — reveal the hint only on request: Apart, together with sinking, sideways, together without sinking. Which name fits each?
Stretch — no help; when finished: Explain why volcanoes are found at constructive and destructive boundaries but not at conservative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that boundary.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plate boundary to how the plates move there.
Support — work through the steps with the group: (1) Use the names. Constructive builds; destructive destroys; conservative keeps things the same. (2) Collision is the odd one: think of two cars meeting head on and crumpling upwards. (3) Match the two that are about moving together first (destructive, collision), then apart (constructive). (4) The one left, sliding past, is conservative.
Parallel worked example for Support (model it, do not give the task answer): Match the word to its meaning: construct, destroy, conserve. Meanings: to keep the same; to build; to break down. Construct means to build.; Destroy means to break down.; Conserve means to keep the same.. Answer: construct: to build; destroy: to break down; conserve: to keep the same.
Core — reveal the hint only on request: Apart, together with sinking, sideways, together without sinking. Which name fits each?
Stretch — no help; when finished: Explain why volcanoes are found at constructive and destructive boundaries but not at conservative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Reading the diagram.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diagram shows two plates moving towards each other. The oceanic plate is being forced down under the other plate and into the mantle. What type of plate boundary is this?
Support — work through the steps with the group: (1) First decide the direction: are the plates moving apart, together, or sideways? Here they move together. (2) Together gives two options: destructive or collision. (3) Ask: does one plate sink? If an oceanic plate goes down and is destroyed, it is destructive. (4) Collision is only when two continental plates meet and neither sinks.
Parallel worked example for Support (model it, do not give the task answer): A diagram shows two plates moving apart, with magma rising in the gap between them. What type of boundary is it? Direction first: apart.; Only one boundary type has plates moving apart.; Magma rising to make new crust confirms it: constructive.. Answer: Constructive.
Core — reveal the hint only on request: Direction first, then ask whether a plate sinks. Together plus sinking means one particular type.
Stretch — no help; when finished: Explain why it is always the oceanic plate, never the continental plate, that is forced down at this type of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Reading the diagram.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diagram shows two plates moving towards each other. The oceanic plate is being forced down under the other plate and into the mantle. What type of plate boundary is this?
Support — work through the steps with the group: (1) First decide the direction: are the plates moving apart, together, or sideways? Here they move together. (2) Together gives two options: destructive or collision. (3) Ask: does one plate sink? If an oceanic plate goes down and is destroyed, it is destructive. (4) Collision is only when two continental plates meet and neither sinks.
Parallel worked example for Support (model it, do not give the task answer): A diagram shows two plates moving apart, with magma rising in the gap between them. What type of boundary is it? Direction first: apart.; Only one boundary type has plates moving apart.; Magma rising to make new crust confirms it: constructive.. Answer: Constructive.
Core — reveal the hint only on request: Direction first, then ask whether a plate sinks. Together plus sinking means one particular type.
Stretch — no help; when finished: Explain why it is always the oceanic plate, never the continental plate, that is forced down at this type of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At which type of plate boundary do two plates move apart, so that magma rises and forms new crust?
Answer: D   Constructive. Constructive boundaries build new crust as the plates move apart and magma rises to fill the gap.
Source of this question: gate item 1 re-asked (options rotated) — this chapter has no third quick-check module.
The ebook also holds task 3, "Constructive versus conservative",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Name that boundary. Reveal the answer; pupils mark their own work in a different colour, then read the "why" together. Same destination for every lane, so one answer serves the whole class.
Answer: Constructive  →  D  Two plates move apart and magma rises to form new crust; Destructive  →  B  Two plates move together and one is forced under the other and destroyed; Conservative  →  A  Two plates slide past each other along a fault and are not changed; Collision  →  C  Two continental plates meet head on and the land is pushed upwards
Why: Constructive: apart, new crust. Destructive: together, one plate forced under and destroyed. Conservative: slide past along a fault, unchanged. Collision: two continental plates meet and push up mountains.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Reading the diagram. Reveal the answer; pupils mark their own work in a different colour, then read the "why" together. Same destination for every lane, so one answer serves the whole class.
Answer: D   Destructive
Why: Plates moving together with the oceanic plate forced down and destroyed is the definition of a destructive boundary. Collision has no sinking plate.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Constructive
Why: Constructive boundaries build new crust as the plates move apart and magma rises to fill the gap.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Tectonic Processes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Tectonic Processes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Tectonic Processes · AQA KS3 → 8035</a:t>
            </a:r>
            <a:endParaRPr lang="en-US" sz="1800" dirty="0"/>
          </a:p>
        </p:txBody>
      </p:sp>
      <p:sp>
        <p:nvSpPr>
          <p:cNvPr id="10" name="deck-title"/>
          <p:cNvSpPr txBox="1"/>
          <p:nvPr/>
        </p:nvSpPr>
        <p:spPr>
          <a:xfrm>
            <a:off x="548640" y="223824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Four kinds of plate boundary</a:t>
            </a:r>
            <a:endParaRPr lang="en-US" sz="4000" dirty="0"/>
          </a:p>
        </p:txBody>
      </p:sp>
      <p:sp>
        <p:nvSpPr>
          <p:cNvPr id="11" name="lessons-card"/>
          <p:cNvSpPr/>
          <p:nvPr/>
        </p:nvSpPr>
        <p:spPr>
          <a:xfrm>
            <a:off x="548640" y="3914648"/>
            <a:ext cx="5287975" cy="1290320"/>
          </a:xfrm>
          <a:prstGeom prst="roundRect">
            <a:avLst>
              <a:gd name="adj" fmla="val 5669"/>
            </a:avLst>
          </a:prstGeom>
          <a:solidFill>
            <a:srgbClr val="EFF2F0"/>
          </a:solidFill>
          <a:ln/>
        </p:spPr>
      </p:sp>
      <p:sp>
        <p:nvSpPr>
          <p:cNvPr id="12" name="lessons"/>
          <p:cNvSpPr txBox="1"/>
          <p:nvPr/>
        </p:nvSpPr>
        <p:spPr>
          <a:xfrm>
            <a:off x="685800" y="400608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Plate tectonic theory: tectonic plates and plate boundaries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moves the ground beneath our feet, where do earthquakes and volcanoes happen, and why do millions of people choose to live near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At which type of plate boundary do two plates move apart, so that magma rises and forms new crust?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Constructive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Conservative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Destructive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Collision</a:t>
            </a:r>
            <a:endParaRPr lang="en-US" sz="22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At a ___ boundary two plates slide past each other along a fault, and the plates are not changed.</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conservative  ·  constructive  ·  collision</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type of plate boundary formed the Himalayas?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Constructive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Collision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Destructive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Conservative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Constructive</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At which type of plate boundary do two plates move apart, so that magma rises and forms new crust?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Constructive boundaries build new crust as the plates move apart and magma rises to fill the gap.</a:t>
            </a:r>
            <a:endParaRPr lang="en-US" sz="20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conservative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At a ___ boundary two plates slide past each other along a fault, and the plates are not changed.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Conservative boundaries conserve the plates: they slide past each other sideways with no crust made or destroyed.</a:t>
            </a:r>
            <a:endParaRPr lang="en-US" sz="18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Collision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type of plate boundary formed the Himalayas?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Two continental plates, the Indo-Australian and the Eurasian, met head on and pushed the land up into the Himalayas.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plate boundary</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place where two plates meet, also called a plate margin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Most volcanoes are found along a plate boundary.</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constructive</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boundary where two plates move apart and new crust is made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Iceland sits on a constructive boundary.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destructive</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boundary where two plates move together and one is forced under the other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At a destructive boundary the oceanic plate is destroyed.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conservative</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boundary where two plates slide past each other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At a conservative boundary the plates are not changed.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collision</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boundary where two continental plates meet head on and push up mountains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Himalayas were made at a collision boundary.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fault</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crack in the crust where the rock on each side has moved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plates slide past each other along a fault.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Where two plates meet is called a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plate boundary</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or plate margin.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There are four types of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plate boundary</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constructive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boundary, two plates move apart.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Magma rises up from below, makes volcanoes, and forms new crust.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destructive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boundary, two plates move towards each other.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One plate is forced under the other and is destroyed.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conservative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boundary, two plates slide past each other along a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fault</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plates are not changed, but the ground shakes.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collision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boundary, two continental plates meet head on.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land is pushed upwards into mountains.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Himalayas were made like this.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Earthquakes happen at all four types of boundary.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Volcanoes happen where magma can rise: at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constructive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and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destructive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boundaries.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Constructive: plates move apart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Constructive = constructing (building) new crust. Think apart, magma rises, new rock.</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At a constructive boundary two plates move away from each other.</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Some of the rising magma breaks through as volcanoes, so constructive boundaries have volcanoes and earthquakes, though the eruptions are usually gentler than at destructive boundaries.</a:t>
            </a:r>
            <a:endParaRPr lang="en-US" sz="20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Iceland is one place where a constructive boundary comes up above the sea.</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Destructive: plates move together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EFF2F0"/>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 a destructive boundary two plates move towards each other.</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8F2E9"/>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Forcing one plate under another is not smooth. The plates stick, pressure builds up and then releases suddenly, which causes strong earthquakes.</a:t>
            </a:r>
            <a:endParaRPr lang="en-US" sz="2400" dirty="0"/>
          </a:p>
        </p:txBody>
      </p:sp>
      <p:sp>
        <p:nvSpPr>
          <p:cNvPr id="15" name="point-card"/>
          <p:cNvSpPr/>
          <p:nvPr/>
        </p:nvSpPr>
        <p:spPr>
          <a:xfrm>
            <a:off x="8127797" y="1389888"/>
            <a:ext cx="3515258" cy="4754880"/>
          </a:xfrm>
          <a:prstGeom prst="roundRect">
            <a:avLst>
              <a:gd name="adj" fmla="val 1561"/>
            </a:avLst>
          </a:prstGeom>
          <a:solidFill>
            <a:srgbClr val="EFF2F0"/>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a destructive boundary gives you both main tectonic hazards: large earthquakes and dangerous volcanoes.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Conservative: plates slide past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Conservative: slide past, no volcanoes, big earthquakes. If a question mentions a fault, think conservative first.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At a conservative boundary two plates slide past each other sideways along a fault.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sliding is not smooth. The two edges catch and lock, pressure builds up over years, and then the rock suddenly jerks free.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There are no volcanoes at a conservative boundary, because no magma rises: the plates are moving sideways, not apart or down.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Collision: two continents meet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EFF2F0"/>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 a collision boundary two continental plates move towards each other and meet head on.</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8F2E9"/>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is how the world's highest mountains were made. The Himalayas, with Mount Everest, were pushed up where the Indo-Australian Plate collided with the Eurasian Plate.</a:t>
            </a:r>
            <a:endParaRPr lang="en-US" sz="2400" dirty="0"/>
          </a:p>
        </p:txBody>
      </p:sp>
      <p:sp>
        <p:nvSpPr>
          <p:cNvPr id="15" name="point-card"/>
          <p:cNvSpPr/>
          <p:nvPr/>
        </p:nvSpPr>
        <p:spPr>
          <a:xfrm>
            <a:off x="8127797" y="1389888"/>
            <a:ext cx="3515258" cy="4754880"/>
          </a:xfrm>
          <a:prstGeom prst="roundRect">
            <a:avLst>
              <a:gd name="adj" fmla="val 1561"/>
            </a:avLst>
          </a:prstGeom>
          <a:solidFill>
            <a:srgbClr val="EFF2F0"/>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Compare this with a destructive boundary. Both involve plates moving together.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Worked example: Collision: two continents meet</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FF2F0"/>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the Himalayas were formed. (3 marks)</a:t>
            </a:r>
            <a:endParaRPr lang="en-US" sz="2200" dirty="0"/>
          </a:p>
        </p:txBody>
      </p:sp>
      <p:sp>
        <p:nvSpPr>
          <p:cNvPr id="9" name="step-box"/>
          <p:cNvSpPr/>
          <p:nvPr/>
        </p:nvSpPr>
        <p:spPr>
          <a:xfrm>
            <a:off x="548640" y="2314956"/>
            <a:ext cx="342381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Name the boundary and the plates: a collision boundary where the Indo-Australian Plate meets the Eurasian Plate.</a:t>
            </a:r>
            <a:endParaRPr lang="en-US" sz="1800" dirty="0"/>
          </a:p>
        </p:txBody>
      </p:sp>
      <p:sp>
        <p:nvSpPr>
          <p:cNvPr id="13" name="arrow"/>
          <p:cNvSpPr/>
          <p:nvPr/>
        </p:nvSpPr>
        <p:spPr>
          <a:xfrm>
            <a:off x="4045610" y="3164840"/>
            <a:ext cx="274320" cy="274320"/>
          </a:xfrm>
          <a:prstGeom prst="rightArrow">
            <a:avLst/>
          </a:prstGeom>
          <a:solidFill>
            <a:srgbClr val="B8862B"/>
          </a:solidFill>
          <a:ln/>
        </p:spPr>
      </p:sp>
      <p:sp>
        <p:nvSpPr>
          <p:cNvPr id="14" name="step-box"/>
          <p:cNvSpPr/>
          <p:nvPr/>
        </p:nvSpPr>
        <p:spPr>
          <a:xfrm>
            <a:off x="4383938" y="2314956"/>
            <a:ext cx="342381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4521098" y="2424684"/>
            <a:ext cx="530352" cy="459285"/>
          </a:xfrm>
          <a:prstGeom prst="hexagon">
            <a:avLst/>
          </a:prstGeom>
          <a:solidFill>
            <a:srgbClr val="3F6B4A"/>
          </a:solidFill>
          <a:ln/>
        </p:spPr>
      </p:sp>
      <p:sp>
        <p:nvSpPr>
          <p:cNvPr id="16" name="step-hex-label"/>
          <p:cNvSpPr txBox="1"/>
          <p:nvPr/>
        </p:nvSpPr>
        <p:spPr>
          <a:xfrm>
            <a:off x="452109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happens to the crust: both plates are continental, so neither sinks; the rock is pushed upwards instead.</a:t>
            </a:r>
            <a:endParaRPr lang="en-US" sz="1800" dirty="0"/>
          </a:p>
        </p:txBody>
      </p:sp>
      <p:sp>
        <p:nvSpPr>
          <p:cNvPr id="18" name="arrow"/>
          <p:cNvSpPr/>
          <p:nvPr/>
        </p:nvSpPr>
        <p:spPr>
          <a:xfrm>
            <a:off x="7880909" y="3164840"/>
            <a:ext cx="274320" cy="274320"/>
          </a:xfrm>
          <a:prstGeom prst="rightArrow">
            <a:avLst/>
          </a:prstGeom>
          <a:solidFill>
            <a:srgbClr val="B8862B"/>
          </a:solidFill>
          <a:ln/>
        </p:spPr>
      </p:sp>
      <p:sp>
        <p:nvSpPr>
          <p:cNvPr id="19" name="step-box"/>
          <p:cNvSpPr/>
          <p:nvPr/>
        </p:nvSpPr>
        <p:spPr>
          <a:xfrm>
            <a:off x="8219237" y="2314956"/>
            <a:ext cx="3423818"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8356397" y="2424684"/>
            <a:ext cx="530352" cy="459285"/>
          </a:xfrm>
          <a:prstGeom prst="hexagon">
            <a:avLst/>
          </a:prstGeom>
          <a:solidFill>
            <a:srgbClr val="3F6B4A"/>
          </a:solidFill>
          <a:ln/>
        </p:spPr>
      </p:sp>
      <p:sp>
        <p:nvSpPr>
          <p:cNvPr id="21" name="step-hex-label"/>
          <p:cNvSpPr txBox="1"/>
          <p:nvPr/>
        </p:nvSpPr>
        <p:spPr>
          <a:xfrm>
            <a:off x="8356397"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with the result: the crumpled, folded rock forms the Himalayan mountains, which are still rising.</a:t>
            </a:r>
            <a:endParaRPr lang="en-US" sz="1800" dirty="0"/>
          </a:p>
        </p:txBody>
      </p:sp>
      <p:sp>
        <p:nvSpPr>
          <p:cNvPr id="23" name="worked-answer"/>
          <p:cNvSpPr/>
          <p:nvPr/>
        </p:nvSpPr>
        <p:spPr>
          <a:xfrm>
            <a:off x="1463040" y="4755896"/>
            <a:ext cx="9265615" cy="1388872"/>
          </a:xfrm>
          <a:prstGeom prst="roundRect">
            <a:avLst>
              <a:gd name="adj" fmla="val 13168"/>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Himalayas are at a collision boundary, where the Indo-Australian Plate moves towards the Eurasian Plate. Both plates are continental, so neither is forced down into the mantle. Instead the rock between them is crumpled, folded and pushed upwards, forming the mountains, which are still slowly rising today.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Name that boundary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type of plate boundary to how the plates move there.</a:t>
            </a:r>
            <a:endParaRPr lang="en-US" sz="2200" dirty="0"/>
          </a:p>
        </p:txBody>
      </p:sp>
      <p:sp>
        <p:nvSpPr>
          <p:cNvPr id="11" name="match-card"/>
          <p:cNvSpPr/>
          <p:nvPr/>
        </p:nvSpPr>
        <p:spPr>
          <a:xfrm>
            <a:off x="777240" y="2468331"/>
            <a:ext cx="3081437" cy="877199"/>
          </a:xfrm>
          <a:prstGeom prst="roundRect">
            <a:avLst>
              <a:gd name="adj" fmla="val 8339"/>
            </a:avLst>
          </a:prstGeom>
          <a:solidFill>
            <a:srgbClr val="F3F5F3"/>
          </a:solidFill>
          <a:ln/>
        </p:spPr>
      </p:sp>
      <p:sp>
        <p:nvSpPr>
          <p:cNvPr id="12" name="match-hex"/>
          <p:cNvSpPr/>
          <p:nvPr/>
        </p:nvSpPr>
        <p:spPr>
          <a:xfrm>
            <a:off x="850392" y="2740638"/>
            <a:ext cx="384048" cy="332586"/>
          </a:xfrm>
          <a:prstGeom prst="hexagon">
            <a:avLst/>
          </a:prstGeom>
          <a:solidFill>
            <a:srgbClr val="3F6B4A"/>
          </a:solidFill>
          <a:ln/>
        </p:spPr>
      </p:sp>
      <p:sp>
        <p:nvSpPr>
          <p:cNvPr id="13" name="match-hex-label"/>
          <p:cNvSpPr txBox="1"/>
          <p:nvPr/>
        </p:nvSpPr>
        <p:spPr>
          <a:xfrm>
            <a:off x="850392" y="27406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Constructive</a:t>
            </a:r>
            <a:endParaRPr lang="en-US" sz="2000" dirty="0"/>
          </a:p>
        </p:txBody>
      </p:sp>
      <p:sp>
        <p:nvSpPr>
          <p:cNvPr id="15" name="match-card"/>
          <p:cNvSpPr/>
          <p:nvPr/>
        </p:nvSpPr>
        <p:spPr>
          <a:xfrm>
            <a:off x="4224437" y="2468331"/>
            <a:ext cx="7190019" cy="877199"/>
          </a:xfrm>
          <a:prstGeom prst="roundRect">
            <a:avLst>
              <a:gd name="adj" fmla="val 8339"/>
            </a:avLst>
          </a:prstGeom>
          <a:solidFill>
            <a:srgbClr val="F8F2E9"/>
          </a:solidFill>
          <a:ln/>
        </p:spPr>
      </p:sp>
      <p:sp>
        <p:nvSpPr>
          <p:cNvPr id="16" name="match-hex"/>
          <p:cNvSpPr/>
          <p:nvPr/>
        </p:nvSpPr>
        <p:spPr>
          <a:xfrm>
            <a:off x="4297589" y="2740638"/>
            <a:ext cx="384048" cy="332586"/>
          </a:xfrm>
          <a:prstGeom prst="hexagon">
            <a:avLst/>
          </a:prstGeom>
          <a:solidFill>
            <a:srgbClr val="B8862B"/>
          </a:solidFill>
          <a:ln/>
        </p:spPr>
      </p:sp>
      <p:sp>
        <p:nvSpPr>
          <p:cNvPr id="17" name="match-hex-label"/>
          <p:cNvSpPr txBox="1"/>
          <p:nvPr/>
        </p:nvSpPr>
        <p:spPr>
          <a:xfrm>
            <a:off x="4297589" y="27406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Two plates slide past each other along a fault and are not changed</a:t>
            </a:r>
            <a:endParaRPr lang="en-US" sz="2000" dirty="0"/>
          </a:p>
        </p:txBody>
      </p:sp>
      <p:sp>
        <p:nvSpPr>
          <p:cNvPr id="19" name="match-card"/>
          <p:cNvSpPr/>
          <p:nvPr/>
        </p:nvSpPr>
        <p:spPr>
          <a:xfrm>
            <a:off x="777240" y="3436971"/>
            <a:ext cx="3081437" cy="877199"/>
          </a:xfrm>
          <a:prstGeom prst="roundRect">
            <a:avLst>
              <a:gd name="adj" fmla="val 8339"/>
            </a:avLst>
          </a:prstGeom>
          <a:solidFill>
            <a:srgbClr val="F3F5F3"/>
          </a:solidFill>
          <a:ln/>
        </p:spPr>
      </p:sp>
      <p:sp>
        <p:nvSpPr>
          <p:cNvPr id="20" name="match-hex"/>
          <p:cNvSpPr/>
          <p:nvPr/>
        </p:nvSpPr>
        <p:spPr>
          <a:xfrm>
            <a:off x="850392" y="3709277"/>
            <a:ext cx="384048" cy="332586"/>
          </a:xfrm>
          <a:prstGeom prst="hexagon">
            <a:avLst/>
          </a:prstGeom>
          <a:solidFill>
            <a:srgbClr val="3F6B4A"/>
          </a:solidFill>
          <a:ln/>
        </p:spPr>
      </p:sp>
      <p:sp>
        <p:nvSpPr>
          <p:cNvPr id="21" name="match-hex-label"/>
          <p:cNvSpPr txBox="1"/>
          <p:nvPr/>
        </p:nvSpPr>
        <p:spPr>
          <a:xfrm>
            <a:off x="850392" y="370927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36971"/>
            <a:ext cx="24870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Destructive</a:t>
            </a:r>
            <a:endParaRPr lang="en-US" sz="2000" dirty="0"/>
          </a:p>
        </p:txBody>
      </p:sp>
      <p:sp>
        <p:nvSpPr>
          <p:cNvPr id="23" name="match-card"/>
          <p:cNvSpPr/>
          <p:nvPr/>
        </p:nvSpPr>
        <p:spPr>
          <a:xfrm>
            <a:off x="4224437" y="3436971"/>
            <a:ext cx="7190019" cy="877199"/>
          </a:xfrm>
          <a:prstGeom prst="roundRect">
            <a:avLst>
              <a:gd name="adj" fmla="val 8339"/>
            </a:avLst>
          </a:prstGeom>
          <a:solidFill>
            <a:srgbClr val="F8F2E9"/>
          </a:solidFill>
          <a:ln/>
        </p:spPr>
      </p:sp>
      <p:sp>
        <p:nvSpPr>
          <p:cNvPr id="24" name="match-hex"/>
          <p:cNvSpPr/>
          <p:nvPr/>
        </p:nvSpPr>
        <p:spPr>
          <a:xfrm>
            <a:off x="4297589" y="3709277"/>
            <a:ext cx="384048" cy="332586"/>
          </a:xfrm>
          <a:prstGeom prst="hexagon">
            <a:avLst/>
          </a:prstGeom>
          <a:solidFill>
            <a:srgbClr val="B8862B"/>
          </a:solidFill>
          <a:ln/>
        </p:spPr>
      </p:sp>
      <p:sp>
        <p:nvSpPr>
          <p:cNvPr id="25" name="match-hex-label"/>
          <p:cNvSpPr txBox="1"/>
          <p:nvPr/>
        </p:nvSpPr>
        <p:spPr>
          <a:xfrm>
            <a:off x="4297589" y="370927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436971"/>
            <a:ext cx="6595659"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Two plates move together and one is forced under the other and destroyed</a:t>
            </a:r>
            <a:endParaRPr lang="en-US" sz="2000" dirty="0"/>
          </a:p>
        </p:txBody>
      </p:sp>
      <p:sp>
        <p:nvSpPr>
          <p:cNvPr id="27" name="match-card"/>
          <p:cNvSpPr/>
          <p:nvPr/>
        </p:nvSpPr>
        <p:spPr>
          <a:xfrm>
            <a:off x="777240" y="4405610"/>
            <a:ext cx="3081437" cy="877199"/>
          </a:xfrm>
          <a:prstGeom prst="roundRect">
            <a:avLst>
              <a:gd name="adj" fmla="val 8339"/>
            </a:avLst>
          </a:prstGeom>
          <a:solidFill>
            <a:srgbClr val="F3F5F3"/>
          </a:solidFill>
          <a:ln/>
        </p:spPr>
      </p:sp>
      <p:sp>
        <p:nvSpPr>
          <p:cNvPr id="28" name="match-hex"/>
          <p:cNvSpPr/>
          <p:nvPr/>
        </p:nvSpPr>
        <p:spPr>
          <a:xfrm>
            <a:off x="850392" y="4677916"/>
            <a:ext cx="384048" cy="332586"/>
          </a:xfrm>
          <a:prstGeom prst="hexagon">
            <a:avLst/>
          </a:prstGeom>
          <a:solidFill>
            <a:srgbClr val="3F6B4A"/>
          </a:solidFill>
          <a:ln/>
        </p:spPr>
      </p:sp>
      <p:sp>
        <p:nvSpPr>
          <p:cNvPr id="29" name="match-hex-label"/>
          <p:cNvSpPr txBox="1"/>
          <p:nvPr/>
        </p:nvSpPr>
        <p:spPr>
          <a:xfrm>
            <a:off x="850392" y="46779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405610"/>
            <a:ext cx="24870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Conservative</a:t>
            </a:r>
            <a:endParaRPr lang="en-US" sz="2000" dirty="0"/>
          </a:p>
        </p:txBody>
      </p:sp>
      <p:sp>
        <p:nvSpPr>
          <p:cNvPr id="31" name="match-card"/>
          <p:cNvSpPr/>
          <p:nvPr/>
        </p:nvSpPr>
        <p:spPr>
          <a:xfrm>
            <a:off x="4224437" y="4405610"/>
            <a:ext cx="7190019" cy="877199"/>
          </a:xfrm>
          <a:prstGeom prst="roundRect">
            <a:avLst>
              <a:gd name="adj" fmla="val 8339"/>
            </a:avLst>
          </a:prstGeom>
          <a:solidFill>
            <a:srgbClr val="F8F2E9"/>
          </a:solidFill>
          <a:ln/>
        </p:spPr>
      </p:sp>
      <p:sp>
        <p:nvSpPr>
          <p:cNvPr id="32" name="match-hex"/>
          <p:cNvSpPr/>
          <p:nvPr/>
        </p:nvSpPr>
        <p:spPr>
          <a:xfrm>
            <a:off x="4297589" y="4677916"/>
            <a:ext cx="384048" cy="332586"/>
          </a:xfrm>
          <a:prstGeom prst="hexagon">
            <a:avLst/>
          </a:prstGeom>
          <a:solidFill>
            <a:srgbClr val="B8862B"/>
          </a:solidFill>
          <a:ln/>
        </p:spPr>
      </p:sp>
      <p:sp>
        <p:nvSpPr>
          <p:cNvPr id="33" name="match-hex-label"/>
          <p:cNvSpPr txBox="1"/>
          <p:nvPr/>
        </p:nvSpPr>
        <p:spPr>
          <a:xfrm>
            <a:off x="4297589" y="46779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405610"/>
            <a:ext cx="6595659"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Two continental plates meet head on and the land is pushed upwards</a:t>
            </a:r>
            <a:endParaRPr lang="en-US" sz="2000" dirty="0"/>
          </a:p>
        </p:txBody>
      </p:sp>
      <p:sp>
        <p:nvSpPr>
          <p:cNvPr id="35" name="match-card"/>
          <p:cNvSpPr/>
          <p:nvPr/>
        </p:nvSpPr>
        <p:spPr>
          <a:xfrm>
            <a:off x="777240" y="5374249"/>
            <a:ext cx="3081437" cy="587639"/>
          </a:xfrm>
          <a:prstGeom prst="roundRect">
            <a:avLst>
              <a:gd name="adj" fmla="val 12448"/>
            </a:avLst>
          </a:prstGeom>
          <a:solidFill>
            <a:srgbClr val="F3F5F3"/>
          </a:solidFill>
          <a:ln/>
        </p:spPr>
      </p:sp>
      <p:sp>
        <p:nvSpPr>
          <p:cNvPr id="36" name="match-hex"/>
          <p:cNvSpPr/>
          <p:nvPr/>
        </p:nvSpPr>
        <p:spPr>
          <a:xfrm>
            <a:off x="850392" y="5501776"/>
            <a:ext cx="384048" cy="332586"/>
          </a:xfrm>
          <a:prstGeom prst="hexagon">
            <a:avLst/>
          </a:prstGeom>
          <a:solidFill>
            <a:srgbClr val="3F6B4A"/>
          </a:solidFill>
          <a:ln/>
        </p:spPr>
      </p:sp>
      <p:sp>
        <p:nvSpPr>
          <p:cNvPr id="37" name="match-hex-label"/>
          <p:cNvSpPr txBox="1"/>
          <p:nvPr/>
        </p:nvSpPr>
        <p:spPr>
          <a:xfrm>
            <a:off x="850392" y="550177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374249"/>
            <a:ext cx="2487077"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Collision</a:t>
            </a:r>
            <a:endParaRPr lang="en-US" sz="2000" dirty="0"/>
          </a:p>
        </p:txBody>
      </p:sp>
      <p:sp>
        <p:nvSpPr>
          <p:cNvPr id="39" name="match-card"/>
          <p:cNvSpPr/>
          <p:nvPr/>
        </p:nvSpPr>
        <p:spPr>
          <a:xfrm>
            <a:off x="4224437" y="5374249"/>
            <a:ext cx="7190019" cy="587639"/>
          </a:xfrm>
          <a:prstGeom prst="roundRect">
            <a:avLst>
              <a:gd name="adj" fmla="val 12448"/>
            </a:avLst>
          </a:prstGeom>
          <a:solidFill>
            <a:srgbClr val="F8F2E9"/>
          </a:solidFill>
          <a:ln/>
        </p:spPr>
      </p:sp>
      <p:sp>
        <p:nvSpPr>
          <p:cNvPr id="40" name="match-hex"/>
          <p:cNvSpPr/>
          <p:nvPr/>
        </p:nvSpPr>
        <p:spPr>
          <a:xfrm>
            <a:off x="4297589" y="5501776"/>
            <a:ext cx="384048" cy="332586"/>
          </a:xfrm>
          <a:prstGeom prst="hexagon">
            <a:avLst/>
          </a:prstGeom>
          <a:solidFill>
            <a:srgbClr val="B8862B"/>
          </a:solidFill>
          <a:ln/>
        </p:spPr>
      </p:sp>
      <p:sp>
        <p:nvSpPr>
          <p:cNvPr id="41" name="match-hex-label"/>
          <p:cNvSpPr txBox="1"/>
          <p:nvPr/>
        </p:nvSpPr>
        <p:spPr>
          <a:xfrm>
            <a:off x="4297589" y="550177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374249"/>
            <a:ext cx="6595659"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Two plates move apart and magma rises to form new crust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Name that boundary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Name that boundary</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Use the names. Constructive builds; destructive destroys; conservative keeps things the same.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Collision is the odd one: think of two cars meeting head on and crumpling upwards.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the two that are about moving together first (destructive, collision), then apart (constructive).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sliding past, is conservative.</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Apart, together with sinking, sideways, together without sinking. Which name fits each?</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volcanoes are found at constructive and destructive boundaries but not at conservative ones.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Reading the diagram</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diagram shows two plates moving towards each other. The oceanic plate is being forced down under the other plate and into the mantle. What type of plate boundary is this?</a:t>
            </a:r>
            <a:endParaRPr lang="en-US" sz="2600" dirty="0"/>
          </a:p>
          <a:p>
            <a:pPr algn="ctr" indent="0" marL="0">
              <a:buNone/>
            </a:pPr>
            <a:r>
              <a:rPr lang="en-US" sz="2400" b="1" dirty="0">
                <a:solidFill>
                  <a:srgbClr val="B8862B"/>
                </a:solidFill>
                <a:latin typeface="Calibri" pitchFamily="34" charset="0"/>
                <a:ea typeface="Calibri" pitchFamily="34" charset="-122"/>
                <a:cs typeface="Calibri" pitchFamily="34" charset="-120"/>
              </a:rPr>
              <a:t>A  </a:t>
            </a:r>
            <a:pPr algn="ctr" indent="0" marL="0">
              <a:buNone/>
            </a:pPr>
            <a:r>
              <a:rPr lang="en-US" sz="2400" dirty="0">
                <a:solidFill>
                  <a:srgbClr val="1E2229"/>
                </a:solidFill>
                <a:latin typeface="Calibri" pitchFamily="34" charset="0"/>
                <a:ea typeface="Calibri" pitchFamily="34" charset="-122"/>
                <a:cs typeface="Calibri" pitchFamily="34" charset="-120"/>
              </a:rPr>
              <a:t>Conservative      </a:t>
            </a:r>
            <a:pPr algn="ctr" indent="0" marL="0">
              <a:buNone/>
            </a:pPr>
            <a:r>
              <a:rPr lang="en-US" sz="2400" b="1" dirty="0">
                <a:solidFill>
                  <a:srgbClr val="B8862B"/>
                </a:solidFill>
                <a:latin typeface="Calibri" pitchFamily="34" charset="0"/>
                <a:ea typeface="Calibri" pitchFamily="34" charset="-122"/>
                <a:cs typeface="Calibri" pitchFamily="34" charset="-120"/>
              </a:rPr>
              <a:t>B  </a:t>
            </a:r>
            <a:pPr algn="ctr" indent="0" marL="0">
              <a:buNone/>
            </a:pPr>
            <a:r>
              <a:rPr lang="en-US" sz="2400" dirty="0">
                <a:solidFill>
                  <a:srgbClr val="1E2229"/>
                </a:solidFill>
                <a:latin typeface="Calibri" pitchFamily="34" charset="0"/>
                <a:ea typeface="Calibri" pitchFamily="34" charset="-122"/>
                <a:cs typeface="Calibri" pitchFamily="34" charset="-120"/>
              </a:rPr>
              <a:t>Constructive      </a:t>
            </a:r>
            <a:pPr algn="ctr" indent="0" marL="0">
              <a:buNone/>
            </a:pPr>
            <a:r>
              <a:rPr lang="en-US" sz="2400" b="1" dirty="0">
                <a:solidFill>
                  <a:srgbClr val="B8862B"/>
                </a:solidFill>
                <a:latin typeface="Calibri" pitchFamily="34" charset="0"/>
                <a:ea typeface="Calibri" pitchFamily="34" charset="-122"/>
                <a:cs typeface="Calibri" pitchFamily="34" charset="-120"/>
              </a:rPr>
              <a:t>C  </a:t>
            </a:r>
            <a:pPr algn="ctr" indent="0" marL="0">
              <a:buNone/>
            </a:pPr>
            <a:r>
              <a:rPr lang="en-US" sz="2400" dirty="0">
                <a:solidFill>
                  <a:srgbClr val="1E2229"/>
                </a:solidFill>
                <a:latin typeface="Calibri" pitchFamily="34" charset="0"/>
                <a:ea typeface="Calibri" pitchFamily="34" charset="-122"/>
                <a:cs typeface="Calibri" pitchFamily="34" charset="-120"/>
              </a:rPr>
              <a:t>Collision      </a:t>
            </a:r>
            <a:pPr algn="ctr" indent="0" marL="0">
              <a:buNone/>
            </a:pPr>
            <a:r>
              <a:rPr lang="en-US" sz="2400" b="1" dirty="0">
                <a:solidFill>
                  <a:srgbClr val="B8862B"/>
                </a:solidFill>
                <a:latin typeface="Calibri" pitchFamily="34" charset="0"/>
                <a:ea typeface="Calibri" pitchFamily="34" charset="-122"/>
                <a:cs typeface="Calibri" pitchFamily="34" charset="-120"/>
              </a:rPr>
              <a:t>D  </a:t>
            </a:r>
            <a:pPr algn="ctr" indent="0" marL="0">
              <a:buNone/>
            </a:pPr>
            <a:r>
              <a:rPr lang="en-US" sz="2400" dirty="0">
                <a:solidFill>
                  <a:srgbClr val="1E2229"/>
                </a:solidFill>
                <a:latin typeface="Calibri" pitchFamily="34" charset="0"/>
                <a:ea typeface="Calibri" pitchFamily="34" charset="-122"/>
                <a:cs typeface="Calibri" pitchFamily="34" charset="-120"/>
              </a:rPr>
              <a:t>Destructive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Reading the diagram</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Reading the diagram</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First decide the direction: are the plates moving apart, together, or sideways? Here they move together.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Together gives two options: destructive or collision.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does one plate sink? If an oceanic plate goes down and is destroyed, it is destructive.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Collision is only when two continental plates meet and neither sinks.</a:t>
            </a:r>
            <a:endParaRPr lang="en-US" sz="1800" dirty="0"/>
          </a:p>
        </p:txBody>
      </p:sp>
      <p:sp>
        <p:nvSpPr>
          <p:cNvPr id="17" name="col-Core"/>
          <p:cNvSpPr/>
          <p:nvPr/>
        </p:nvSpPr>
        <p:spPr>
          <a:xfrm>
            <a:off x="6425403" y="2395728"/>
            <a:ext cx="2471666" cy="3749040"/>
          </a:xfrm>
          <a:prstGeom prst="roundRect">
            <a:avLst>
              <a:gd name="adj" fmla="val 2220"/>
            </a:avLst>
          </a:prstGeom>
          <a:solidFill>
            <a:srgbClr val="D8E1DA"/>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Direction first, then ask whether a plate sinks. Together plus sinking means one particular type.</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it is always the oceanic plate, never the continental plate, that is forced down at this type of boundary.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At which type of plate boundary do two plates move apart, so that magma rises and forms new crust?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Conservative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Destructive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Collision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Constructive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Name that boundary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Constructive  →  D  Two plates move apart and magma rises to form new crust</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Destructive  →  B  Two plates move together and one is forced under the other and destroyed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Conservative  →  A  Two plates slide past each other along a fault and are not changed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Collision  →  C  Two continental plates meet head on and the land is pushed upwards</a:t>
            </a:r>
            <a:endParaRPr lang="en-US" sz="22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Constructive: apart, new crust. Destructive: together, one plate forced under and destroyed. Conservative: slide past along a fault, unchanged. Collision: two continental plates meet and push up mountains.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Reading the diagram</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diagram shows two plates moving towards each other. The oceanic plate is being forced down under the other plate and into the mantle. What type of plate boundary is this?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Destructive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Plates moving together with the oceanic plate forced down and destroyed is the definition of a destructive boundary. Collision has no sinking plate.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At which type of plate boundary do two plates move apart, so that magma rises and forms new crust?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Constructive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Constructive boundaries build new crust as the plates move apart and magma rises to fill the gap.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Tectonic Processes · Chapter 3: Four kinds of plate boundary</dc:title>
  <dc:subject>Geography · Year 8</dc:subject>
  <dc:creator>Dr Vitor Merissi de Carvalho</dc:creator>
  <cp:lastModifiedBy>Dr Vitor Merissi de Carvalho</cp:lastModifiedBy>
  <cp:revision>1</cp:revision>
  <dcterms:created xsi:type="dcterms:W3CDTF">2026-10-19T16:22:58Z</dcterms:created>
  <dcterms:modified xsi:type="dcterms:W3CDTF">2026-10-19T16:22:58Z</dcterms:modified>
</cp:coreProperties>
</file>