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811fe8-1980-af68-9933-d90351c5a7ed}">
          <p14:sldIdLst>
            <p14:sldId id="256"/>
          </p14:sldIdLst>
        </p14:section>
        <p14:section name="Gate" id="{c9f2c05d-359d-c66d-800e-424ddd634f99}">
          <p14:sldIdLst>
            <p14:sldId id="257"/>
            <p14:sldId id="258"/>
          </p14:sldIdLst>
        </p14:section>
        <p14:section name="Pre-teach" id="{d5719e41-92fe-b575-8ce2-68392e5f1b53}">
          <p14:sldIdLst>
            <p14:sldId id="259"/>
            <p14:sldId id="260"/>
          </p14:sldIdLst>
        </p14:section>
        <p14:section name="Read-along" id="{0508b681-792c-ff5f-4ace-f743a4eabe44}">
          <p14:sldIdLst>
            <p14:sldId id="261"/>
            <p14:sldId id="262"/>
          </p14:sldIdLst>
        </p14:section>
        <p14:section name="Teach" id="{aec688c0-7ffe-01a2-67db-5a2494153649}">
          <p14:sldIdLst>
            <p14:sldId id="263"/>
            <p14:sldId id="264"/>
            <p14:sldId id="265"/>
            <p14:sldId id="266"/>
            <p14:sldId id="267"/>
          </p14:sldIdLst>
        </p14:section>
        <p14:section name="Routes" id="{6c86ef10-8b99-910b-4f2f-99b3d099eeb0}">
          <p14:sldIdLst>
            <p14:sldId id="268"/>
            <p14:sldId id="269"/>
            <p14:sldId id="270"/>
            <p14:sldId id="271"/>
          </p14:sldIdLst>
        </p14:section>
        <p14:section name="Close" id="{492d76dd-24db-2d52-56e6-4a993b29ce81}">
          <p14:sldIdLst>
            <p14:sldId id="272"/>
          </p14:sldIdLst>
        </p14:section>
        <p14:section name="Answers" id="{caea86ff-d985-3a0b-9241-d057b02c057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5: Earthquakes: what, where and why. What an earthquake is, how locked plates cause one, the words geographers use to describe it, and how an undersea earthquake becomes a tsunami.
This deck covers the department's lesson: 3 (What is an earthquake? What is a tsunami?: What is an earthquake, where do earthquakes happen, and why do they happen there?).
Read the big question aloud: "What moves the ground beneath our feet, where do earthquakes and volcanoes happen, and why do millions of people choose to live near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focus of an earthquake?  →  C   The point deep underground where the earthquake starts
2. The point on the surface directly above the focus is called the ___.  →  epicentre
3. What causes a tsunami?  →  B   An earthquake under the sea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point deep underground where the earthquake starts. The focus is the point below the surface where the rocks first move. The point above it on the surface is the epicentre.
2. epicentre. The epicentre is on the surface, directly above the focus, and is where the shaking is strongest.
3. B   An earthquake under the sea. An undersea earthquake moves the sea floor suddenly, pushing the water above it into a huge wave that travels to the coast.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earthquake: the shaking of the Earth's crust caused by moving plates. Example: "The earthquake shook the buildings for nearly a minute."
• focus: the point deep underground where an earthquake starts. Example: "The focus of the earthquake was many kilometres below the ground."
• epicentre: the point on the surface directly above the focus. Example: "The town at the epicentre felt the strongest shaking."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seismic waves: the shaking that spreads out from the focus through the ground. Example: "Seismic waves travelled out from the focus in every direction."
• magnitude: how strong an earthquake is. Example: "A high magnitude earthquake can knock down buildings."
• tsunami: a huge sea wave caused by an earthquake under the sea. Example: "The tsunami reached the coast about an hour after the earthquake."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earthquake is the shaking of the Earth's crust.
2. It is caused by the movement of the Earth's plates.
3. At a plate boundary, the plates do not move smoothly past each other.
4. Sometimes they lock together.
5. Pressure builds up between the locked plates, year after year.
6. Then the pressure is suddenly released in a jerky movement.
7. That sudden release is the earthquake.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point underground where the earthquake starts is the focus.
9. The point on the surface directly above the focus is the epicentre.
10. Shaking spreads out from the focus as seismic waves.
11. The strongest shaking is felt at the epicentre.
12. How strong an earthquake is, is called its magnitude.
13. If an earthquake happens under the sea, it can cause a huge wave called a tsunami.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earthquake, and why does it happen?. Say it in your own words, then check understanding with a quick question: ask a pupil from the pre-teach group first, since they met these words and ideas before the lesson. Pupils try to recall before you re-explain.
An earthquake is the shaking and vibration of the Earth's crust. It is caused by the movement of the Earth's plates. At a plate boundary the plates are always moving, but the movement is not smooth: the rough edges catch and lock together.
While the plates are locked, pressure builds up in the rock, sometimes for many years. Eventually the rock cannot hold any more. It snaps free in one sudden, jerky movement, and the stored pressure is released all at once. That release of pressure is the earthquake.
Most earthquakes happen like this, at plate boundaries. A few have other causes. Volcanic eruptions can shake the ground; so can the collapse of old mines, large explosions, and the weight of water pressing down behind a reservoir dam.
Worked example — model it step by step, thinking aloud: Explain how the movement of plates causes an earthquake. (3 marks) (1) Start with the movement: the plates at a boundary move, but not smoothly. (2) Describe the locking: the plates stick, and pressure builds up in the rock. (3) Finish with the release: the pressure is suddenly released in a jerky movement, and this shaking is the earthquake. Answer: At a plate boundary the plates move past each other, but the movement is not smooth. The plates lock together and pressure builds up in the rock over time. When the rock can no longer hold, the pressure is suddenly released in a jerky movement, and the shaking this causes is the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earthquake, and why does it happen?. Say it in your own words, then check understanding with a quick question: ask a pupil from the pre-teach group first, since they met these words and ideas before the lesson. Pupils try to recall before you re-explain.
An earthquake is the shaking and vibration of the Earth's crust. It is caused by the movement of the Earth's plates. At a plate boundary the plates are always moving, but the movement is not smooth: the rough edges catch and lock together.
While the plates are locked, pressure builds up in the rock, sometimes for many years. Eventually the rock cannot hold any more. It snaps free in one sudden, jerky movement, and the stored pressure is released all at once. That release of pressure is the earthquake.
Most earthquakes happen like this, at plate boundaries. A few have other causes. Volcanic eruptions can shake the ground; so can the collapse of old mines, large explosions, and the weight of water pressing down behind a reservoir dam.
Worked example — model it step by step, thinking aloud: Explain how the movement of plates causes an earthquake. (3 marks) (1) Start with the movement: the plates at a boundary move, but not smoothly. (2) Describe the locking: the plates stick, and pressure builds up in the rock. (3) Finish with the release: the pressure is suddenly released in a jerky movement, and this shaking is the earthquake. Answer: At a plate boundary the plates move past each other, but the movement is not smooth. The plates lock together and pressure builds up in the rock over time. When the rock can no longer hold, the pressure is suddenly released in a jerky movement, and the shaking this causes is the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Focus and epicentre. Say it in your own words, then check understanding with a quick question: ask a pupil from the pre-teach group first, since they met these words and ideas before the lesson. Pupils try to recall before you re-explain.
Geographers use two words for where an earthquake is. The focus is the point deep below the surface where the earthquake actually starts: the place in the Earth where the rocks suddenly move.
The epicentre is the point on the surface directly above the focus. It is the place on the ground nearest to the focus, so it is where the shaking is felt most strongly and where the damage is usually worst.
From the focus, the shaking spreads out in every direction through the ground as seismic waves. Imagine a stone dropped into a pond: the focus is where the stone lands, and the seismic waves are the ripples. The further the waves travel, the weaker they become.
Tip: Focus is below, epicentre is above. The epicentre is on the surface, where people are, so that is where the damage is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an earthquake. Say it in your own words, then check understanding with a quick question: ask a pupil from the pre-teach group first, since they met these words and ideas before the lesson. Pupils try to recall before you re-explain.
How strong an earthquake is, is called its magnitude. Scientists measure it with an instrument called a seismometer, which records the shaking of the ground. The strength is then given as a number on a scale. The scale your textbook uses is the Richter scale.
Earthquakes with a high magnitude release far more energy than those with a low one, so even a small step up the scale means much stronger shaking. Low magnitude earthquakes happen every day and are hardly noticed. High magnitude ones can bring down buildings.
A large earthquake is often followed by aftershocks: smaller earthquakes that happen after the main one as the rocks settle. Aftershocks can bring down buildings that the main earthquake had already weakened, which makes rescue work dangerous.
Tip: Magnitude is the measurement; the seismometer is the instrument; the Richter scale is the scale the number is read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earthquakes happen, and tsunamis. Say it in your own words, then check understanding with a quick question: ask a pupil from the pre-teach group first, since they met these words and ideas before the lesson. Pupils try to recall before you re-explain.
Earthquakes can happen at any of the four types of plate boundary, because at all four the plates move against each other. Earthquakes between two plates, at a boundary, are called interplate earthquakes. The rarer earthquakes that happen within a plate are called intraplate earthquakes.
When a large earthquake happens under the sea, the sudden movement of the sea floor pushes the water above it. This starts a huge wave, a tsunami. The wave travels, or propagates, across the open ocean, where it is low and fast and hardly noticed by ships.
As the tsunami reaches shallow water near a coast it slows down and piles up, becoming a wall of water that floods far inland. Your unit names the Indian Ocean tsunami of 2004 as an example of how deadly this can be.
Tip: Tsunami in three steps: undersea earthquake, wave travels across the ocean, wave arrives at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an earthquake happens.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statements in the correct order to explain how an earthquake happens.
Support — work through the steps with the group: (1) Start with where: the statement about plate boundaries sets the scene. (2) Then the movement: the plates move, but not smoothly. (3) Next, what the rough movement leads to: locking and building pressure. (4) Then what pressure does when it cannot build any more: sudden release. Finally, name that release.
Parallel worked example for Support (model it, do not give the task answer): Put in order: the balloon pops; you blow more air in; the rubber stretches tight; you tie the balloon and squeeze it. Blow air in first.; The rubber stretches tight (pressure builds).; You tie it and squeeze (more pressure).; It pops (sudden release).. Answer: you blow more air in; the rubber stretches tight; you tie the balloon and squeeze it; the balloon pops.
Core — reveal the hint only on request: Where, then movement, then locking and pressure, then release, then the name for the release.
Stretch — no help; when finished: Explain why the longer two plates stay locked, the stronger the earthquake is likely to be when they finally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an earthquake happens.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statements in the correct order to explain how an earthquake happens.
Support — work through the steps with the group: (1) Start with where: the statement about plate boundaries sets the scene. (2) Then the movement: the plates move, but not smoothly. (3) Next, what the rough movement leads to: locking and building pressure. (4) Then what pressure does when it cannot build any more: sudden release. Finally, name that release.
Parallel worked example for Support (model it, do not give the task answer): Put in order: the balloon pops; you blow more air in; the rubber stretches tight; you tie the balloon and squeeze it. Blow air in first.; The rubber stretches tight (pressure builds).; You tie it and squeeze (more pressure).; It pops (sudden release).. Answer: you blow more air in; the rubber stretches tight; you tie the balloon and squeeze it; the balloon pops.
Core — reveal the hint only on request: Where, then movement, then locking and pressure, then release, then the name for the release.
Stretch — no help; when finished: Explain why the longer two plates stay locked, the stronger the earthquake is likely to be when they finally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Earthquake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earthquake word to its meaning.
Support — work through the steps with the group: (1) Sort the words first: which are places, which are measurements, which are instruments, which are events? (2) Epicentre is a place. Aftershock is an event (a smaller earthquake). (3) Magnitude is the measurement itself; the seismometer is the instrument; the Richter scale is the scale. (4) Think of a thermometer: the instrument measures, the number is read off a scale.
Parallel worked example for Support (model it, do not give the task answer): Match: thermometer, temperature, degrees Celsius. Meanings: the scale the number is given on; how hot something is; the instrument that measures it. Temperature is how hot something is: the measurement.; The thermometer is the instrument.; Degrees Celsius is the scale.. Answer: temperature: how hot something is; thermometer: the instrument; degrees Celsius: the scale.
Core — reveal the hint only on request: Measurement, instrument, scale, place, event. Each word is exactly one of these.
Stretch — no help; when finished: Explain why aftershocks make rescue work after a big earthquake more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Earthquake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earthquake word to its meaning.
Support — work through the steps with the group: (1) Sort the words first: which are places, which are measurements, which are instruments, which are events? (2) Epicentre is a place. Aftershock is an event (a smaller earthquake). (3) Magnitude is the measurement itself; the seismometer is the instrument; the Richter scale is the scale. (4) Think of a thermometer: the instrument measures, the number is read off a scale.
Parallel worked example for Support (model it, do not give the task answer): Match: thermometer, temperature, degrees Celsius. Meanings: the scale the number is given on; how hot something is; the instrument that measures it. Temperature is how hot something is: the measurement.; The thermometer is the instrument.; Degrees Celsius is the scale.. Answer: temperature: how hot something is; thermometer: the instrument; degrees Celsius: the scale.
Core — reveal the hint only on request: Measurement, instrument, scale, place, event. Each word is exactly one of these.
Stretch — no help; when finished: Explain why aftershocks make rescue work after a big earthquake more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During an earthquake, which place on the surface feels the strongest shaking?
Answer: B   The epicentre, directly above the focus. Seismic waves weaken as they spread from the focus, so the nearest surface point, the epicentre directly above the focus, shakes most.
Source of this question: module 3 task ("Who feels it most?")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an earthquake happens. Reveal the answer; pupils mark their own work in a different colour, then read the "why" together. Same destination for every lane, so one answer serves the whole class.
Answer: Earthquakes happen at plate boundaries, where two plates meet  (A); As the plates move past each other, the movement is not smooth  (C); The plates sometimes lock together, and pressure builds up  (B); The pressure is suddenly released in a jerky movement  (D); This sudden release of pressure is the earthquake  (E)
Why: Boundary first, then rough movement, then locking and pressure, then the sudden jerky release, which is the earthquake.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Earthquake words. Reveal the answer; pupils mark their own work in a different colour, then read the "why" together. Same destination for every lane, so one answer serves the whole class.
Answer: Magnitude  →  A  How strong an earthquake is; Seismometer  →  B  An instrument that measures the shaking of the ground; Richter scale  →  D  The scale on which the strength of an earthquake is given; Epicentre  →  C  The point on the surface directly above the focus; Aftershock  →  E  A smaller earthquake that comes after the main one
Why: Magnitude is the strength; the seismometer measures it; the Richter scale is the scale the strength is given on; the epicentre is the surface point above the focus; an aftershock is a smaller earthquake afterwards.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epicentre, directly above the focus
Why: Seismic waves weaken as they spread from the focus, so the nearest surface point, the epicentre directly above the focus, shakes most.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Tectonic Processes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Earthquakes: what, where and why</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FF2F0"/>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an earthquake? What is a tsunami?</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moves the ground beneath our feet, where do earthquakes and volcanoes happen, and why do millions of people choose to live near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the focus of an earthquake?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smaller earthquake after the main one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instrument that measures the shaking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point deep underground where the earthquake starts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point on the surface directly above where it starts</a:t>
            </a:r>
            <a:endParaRPr lang="en-US" sz="18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point on the surface directly above the focus is called the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epicentre  ·  focus  ·  magnitude</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causes a tsunami?</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Heavy rain over the ocean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An earthquake under the sea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Strong winds blowing across the sea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volcano erupting on 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point deep underground where the earthquake starts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the focus of an earthquake?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focus is the point below the surface where the rocks first move. The point above it on the surface is the epicentre.</a:t>
            </a:r>
            <a:endParaRPr lang="en-US" sz="18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epicentre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point on the surface directly above the focus is called the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epicentre is on the surface, directly above the focus, and is where the shaking is strongest.</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An earthquake under the sea</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causes a tsunami?</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undersea earthquake moves the sea floor suddenly, pushing the water above it into a huge wave that travels to the coast.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earthquake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shaking of the Earth's crust caused by moving plates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earthquake shook the buildings for nearly a minute.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focus</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point deep underground where an earthquake starts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focus of the earthquake was many kilometres below the ground.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epicentre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point on the surface directly above the focus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town at the epicentre felt the strongest shaking.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seismic waves</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shaking that spreads out from the focus through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Seismic waves travelled out from the focus in every direction.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magnitude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strong an earthquake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high magnitude earthquake can knock down buildings.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tsunami</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sea wave caused by an earthquake under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tsunami reached the coast about an hour after the earthquake.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earthquake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shaking of the Earth's crust.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caused by the movement of the Earth's plates.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 plate boundary, the plates do not move smoothly past each 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Sometimes they lock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Pressure builds up between the locked plates, year after year.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the pressure is suddenly released in a jerky movement.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sudden release is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earthquake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point underground where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earthquake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starts is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point on the surface directly above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epicentre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Shaking spreads out from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seismic waves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strongest shaking is felt at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epicentre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How strong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earthquake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is called its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magnitude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earthquake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happens under the sea, it can cause a huge wave called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tsunami</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What is an earthquake, and why does it happen?</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earthquake is the shaking and vibration of the Earth's crust.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While the plates are locked, pressure builds up in the rock, sometimes for many years.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earthquakes happen like this, at plate boundaries. A few have other causes.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What is an earthquake, and why does it happen?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the movement of plates causes an earthquake. (3 marks)</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movement: the plates at a boundary move, but not smoothly.</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locking: the plates stick, and pressure builds up in the rock.</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release: the pressure is suddenly released in a jerky movement, and this shaking is the earthquake.</a:t>
            </a:r>
            <a:endParaRPr lang="en-US" sz="1800" dirty="0"/>
          </a:p>
        </p:txBody>
      </p:sp>
      <p:sp>
        <p:nvSpPr>
          <p:cNvPr id="23" name="worked-answer"/>
          <p:cNvSpPr/>
          <p:nvPr/>
        </p:nvSpPr>
        <p:spPr>
          <a:xfrm>
            <a:off x="1463040" y="4755896"/>
            <a:ext cx="9265615" cy="1388872"/>
          </a:xfrm>
          <a:prstGeom prst="roundRect">
            <a:avLst>
              <a:gd name="adj" fmla="val 13168"/>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At a plate boundary the plates move past each other, but the movement is not smooth. The plates lock together and pressure builds up in the rock over time. When the rock can no longer hold, the pressure is suddenly released in a jerky movement, and the shaking this causes is the earthquake.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Focus and epicentre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Focus is below, epicentre is above. The epicentre is on the surface, where people are, so that is where the damage is worst.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Geographers use two words for where an earthquake is. The focus is the point deep below the surface where the earthquake actually starts: the place in the Earth where the rocks suddenly move.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epicentre is the point on the surface directly above the focus.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From the focus, the shaking spreads out in every direction through the ground as seismic waves.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Measuring an earthquake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Magnitude is the measurement; the seismometer is the instrument; the Richter scale is the scale the number is read 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How strong an earthquake is, is called its magnitude. Scientists measure it with an instrument called a seismometer, which records the shaking of the ground.</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Earthquakes with a high magnitude release far more energy than those with a low one, so even a small step up the scale means much stronger shaking.</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large earthquake is often followed by aftershocks: smaller earthquakes that happen after the main one as the rocks settle.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earthquakes happen, and tsunamis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Tsunami in three steps: undersea earthquake, wave travels across the ocean, wave arrives at the coast.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Earthquakes can happen at any of the four types of plate boundary, because at all four the plates move against each 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a large earthquake happens under the sea, the sudden movement of the sea floor pushes the water above it.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As the tsunami reaches shallow water near a coast it slows down and piles up, becoming a wall of water that floods far inland.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an earthquake happens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statements in the correct order to explain how an earthquake happens.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Earthquakes happen at plate boundaries, where two plates meet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plates sometimes lock together, and pressure builds up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As the plates move past each other, the movement is not smooth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pressure is suddenly released in a jerky movement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This sudden release of pressure is the earthquake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How an earthquake happens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an earthquake happens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where: the statement about plate boundaries sets the scene.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movement: the plates move, but not smoothly.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what the rough movement leads to: locking and building pressure.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what pressure does when it cannot build any more: sudden release. Finally, name that release.</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then movement, then locking and pressure, then release, then the name for the release.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longer two plates stay locked, the stronger the earthquake is likely to be when they finally move.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earthquake word to its meaning.</a:t>
            </a:r>
            <a:endParaRPr lang="en-US" sz="2400" dirty="0"/>
          </a:p>
        </p:txBody>
      </p:sp>
      <p:sp>
        <p:nvSpPr>
          <p:cNvPr id="11" name="match-card"/>
          <p:cNvSpPr/>
          <p:nvPr/>
        </p:nvSpPr>
        <p:spPr>
          <a:xfrm>
            <a:off x="777240" y="2468331"/>
            <a:ext cx="3081437" cy="625559"/>
          </a:xfrm>
          <a:prstGeom prst="roundRect">
            <a:avLst>
              <a:gd name="adj" fmla="val 11694"/>
            </a:avLst>
          </a:prstGeom>
          <a:solidFill>
            <a:srgbClr val="F3F5F3"/>
          </a:solidFill>
          <a:ln/>
        </p:spPr>
      </p:sp>
      <p:sp>
        <p:nvSpPr>
          <p:cNvPr id="12" name="match-hex"/>
          <p:cNvSpPr/>
          <p:nvPr/>
        </p:nvSpPr>
        <p:spPr>
          <a:xfrm>
            <a:off x="850392" y="2614818"/>
            <a:ext cx="384048" cy="332586"/>
          </a:xfrm>
          <a:prstGeom prst="hexagon">
            <a:avLst/>
          </a:prstGeom>
          <a:solidFill>
            <a:srgbClr val="3F6B4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Magnitude</a:t>
            </a:r>
            <a:endParaRPr lang="en-US" sz="2000" dirty="0"/>
          </a:p>
        </p:txBody>
      </p:sp>
      <p:sp>
        <p:nvSpPr>
          <p:cNvPr id="15" name="match-card"/>
          <p:cNvSpPr/>
          <p:nvPr/>
        </p:nvSpPr>
        <p:spPr>
          <a:xfrm>
            <a:off x="4224437" y="2468331"/>
            <a:ext cx="7190019" cy="625559"/>
          </a:xfrm>
          <a:prstGeom prst="roundRect">
            <a:avLst>
              <a:gd name="adj" fmla="val 11694"/>
            </a:avLst>
          </a:prstGeom>
          <a:solidFill>
            <a:srgbClr val="F8F2E9"/>
          </a:solidFill>
          <a:ln/>
        </p:spPr>
      </p:sp>
      <p:sp>
        <p:nvSpPr>
          <p:cNvPr id="16" name="match-hex"/>
          <p:cNvSpPr/>
          <p:nvPr/>
        </p:nvSpPr>
        <p:spPr>
          <a:xfrm>
            <a:off x="4297589" y="2614818"/>
            <a:ext cx="384048" cy="332586"/>
          </a:xfrm>
          <a:prstGeom prst="hexagon">
            <a:avLst/>
          </a:prstGeom>
          <a:solidFill>
            <a:srgbClr val="B8862B"/>
          </a:solidFill>
          <a:ln/>
        </p:spPr>
      </p:sp>
      <p:sp>
        <p:nvSpPr>
          <p:cNvPr id="17" name="match-hex-label"/>
          <p:cNvSpPr txBox="1"/>
          <p:nvPr/>
        </p:nvSpPr>
        <p:spPr>
          <a:xfrm>
            <a:off x="4297589"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How strong an earthquake is</a:t>
            </a:r>
            <a:endParaRPr lang="en-US" sz="2000" dirty="0"/>
          </a:p>
        </p:txBody>
      </p:sp>
      <p:sp>
        <p:nvSpPr>
          <p:cNvPr id="19" name="match-card"/>
          <p:cNvSpPr/>
          <p:nvPr/>
        </p:nvSpPr>
        <p:spPr>
          <a:xfrm>
            <a:off x="777240" y="3185331"/>
            <a:ext cx="3081437" cy="625559"/>
          </a:xfrm>
          <a:prstGeom prst="roundRect">
            <a:avLst>
              <a:gd name="adj" fmla="val 11694"/>
            </a:avLst>
          </a:prstGeom>
          <a:solidFill>
            <a:srgbClr val="F3F5F3"/>
          </a:solidFill>
          <a:ln/>
        </p:spPr>
      </p:sp>
      <p:sp>
        <p:nvSpPr>
          <p:cNvPr id="20" name="match-hex"/>
          <p:cNvSpPr/>
          <p:nvPr/>
        </p:nvSpPr>
        <p:spPr>
          <a:xfrm>
            <a:off x="850392" y="3331818"/>
            <a:ext cx="384048" cy="332586"/>
          </a:xfrm>
          <a:prstGeom prst="hexagon">
            <a:avLst/>
          </a:prstGeom>
          <a:solidFill>
            <a:srgbClr val="3F6B4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Seismometer</a:t>
            </a:r>
            <a:endParaRPr lang="en-US" sz="2000" dirty="0"/>
          </a:p>
        </p:txBody>
      </p:sp>
      <p:sp>
        <p:nvSpPr>
          <p:cNvPr id="23" name="match-card"/>
          <p:cNvSpPr/>
          <p:nvPr/>
        </p:nvSpPr>
        <p:spPr>
          <a:xfrm>
            <a:off x="4224437" y="3185331"/>
            <a:ext cx="7190019" cy="625559"/>
          </a:xfrm>
          <a:prstGeom prst="roundRect">
            <a:avLst>
              <a:gd name="adj" fmla="val 11694"/>
            </a:avLst>
          </a:prstGeom>
          <a:solidFill>
            <a:srgbClr val="F8F2E9"/>
          </a:solidFill>
          <a:ln/>
        </p:spPr>
      </p:sp>
      <p:sp>
        <p:nvSpPr>
          <p:cNvPr id="24" name="match-hex"/>
          <p:cNvSpPr/>
          <p:nvPr/>
        </p:nvSpPr>
        <p:spPr>
          <a:xfrm>
            <a:off x="4297589" y="3331818"/>
            <a:ext cx="384048" cy="332586"/>
          </a:xfrm>
          <a:prstGeom prst="hexagon">
            <a:avLst/>
          </a:prstGeom>
          <a:solidFill>
            <a:srgbClr val="B8862B"/>
          </a:solidFill>
          <a:ln/>
        </p:spPr>
      </p:sp>
      <p:sp>
        <p:nvSpPr>
          <p:cNvPr id="25" name="match-hex-label"/>
          <p:cNvSpPr txBox="1"/>
          <p:nvPr/>
        </p:nvSpPr>
        <p:spPr>
          <a:xfrm>
            <a:off x="4297589"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5331"/>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 instrument that measures the shaking of the ground</a:t>
            </a:r>
            <a:endParaRPr lang="en-US" sz="2000" dirty="0"/>
          </a:p>
        </p:txBody>
      </p:sp>
      <p:sp>
        <p:nvSpPr>
          <p:cNvPr id="27" name="match-card"/>
          <p:cNvSpPr/>
          <p:nvPr/>
        </p:nvSpPr>
        <p:spPr>
          <a:xfrm>
            <a:off x="777240" y="3902330"/>
            <a:ext cx="3081437" cy="625559"/>
          </a:xfrm>
          <a:prstGeom prst="roundRect">
            <a:avLst>
              <a:gd name="adj" fmla="val 11694"/>
            </a:avLst>
          </a:prstGeom>
          <a:solidFill>
            <a:srgbClr val="F3F5F3"/>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Richter scale</a:t>
            </a:r>
            <a:endParaRPr lang="en-US" sz="2000" dirty="0"/>
          </a:p>
        </p:txBody>
      </p:sp>
      <p:sp>
        <p:nvSpPr>
          <p:cNvPr id="31" name="match-card"/>
          <p:cNvSpPr/>
          <p:nvPr/>
        </p:nvSpPr>
        <p:spPr>
          <a:xfrm>
            <a:off x="4224437" y="3902330"/>
            <a:ext cx="7190019" cy="625559"/>
          </a:xfrm>
          <a:prstGeom prst="roundRect">
            <a:avLst>
              <a:gd name="adj" fmla="val 11694"/>
            </a:avLst>
          </a:prstGeom>
          <a:solidFill>
            <a:srgbClr val="F8F2E9"/>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02330"/>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point on the surface directly above the focus</a:t>
            </a:r>
            <a:endParaRPr lang="en-US" sz="2000" dirty="0"/>
          </a:p>
        </p:txBody>
      </p:sp>
      <p:sp>
        <p:nvSpPr>
          <p:cNvPr id="35" name="match-card"/>
          <p:cNvSpPr/>
          <p:nvPr/>
        </p:nvSpPr>
        <p:spPr>
          <a:xfrm>
            <a:off x="777240" y="4619329"/>
            <a:ext cx="3081437" cy="625559"/>
          </a:xfrm>
          <a:prstGeom prst="roundRect">
            <a:avLst>
              <a:gd name="adj" fmla="val 11694"/>
            </a:avLst>
          </a:prstGeom>
          <a:solidFill>
            <a:srgbClr val="F3F5F3"/>
          </a:solidFill>
          <a:ln/>
        </p:spPr>
      </p:sp>
      <p:sp>
        <p:nvSpPr>
          <p:cNvPr id="36" name="match-hex"/>
          <p:cNvSpPr/>
          <p:nvPr/>
        </p:nvSpPr>
        <p:spPr>
          <a:xfrm>
            <a:off x="850392" y="4765816"/>
            <a:ext cx="384048" cy="332586"/>
          </a:xfrm>
          <a:prstGeom prst="hexagon">
            <a:avLst/>
          </a:prstGeom>
          <a:solidFill>
            <a:srgbClr val="3F6B4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Epicentre</a:t>
            </a:r>
            <a:endParaRPr lang="en-US" sz="2000" dirty="0"/>
          </a:p>
        </p:txBody>
      </p:sp>
      <p:sp>
        <p:nvSpPr>
          <p:cNvPr id="39" name="match-card"/>
          <p:cNvSpPr/>
          <p:nvPr/>
        </p:nvSpPr>
        <p:spPr>
          <a:xfrm>
            <a:off x="4224437" y="4619329"/>
            <a:ext cx="7190019" cy="625559"/>
          </a:xfrm>
          <a:prstGeom prst="roundRect">
            <a:avLst>
              <a:gd name="adj" fmla="val 11694"/>
            </a:avLst>
          </a:prstGeom>
          <a:solidFill>
            <a:srgbClr val="F8F2E9"/>
          </a:solidFill>
          <a:ln/>
        </p:spPr>
      </p:sp>
      <p:sp>
        <p:nvSpPr>
          <p:cNvPr id="40" name="match-hex"/>
          <p:cNvSpPr/>
          <p:nvPr/>
        </p:nvSpPr>
        <p:spPr>
          <a:xfrm>
            <a:off x="4297589" y="4765816"/>
            <a:ext cx="384048" cy="332586"/>
          </a:xfrm>
          <a:prstGeom prst="hexagon">
            <a:avLst/>
          </a:prstGeom>
          <a:solidFill>
            <a:srgbClr val="B8862B"/>
          </a:solidFill>
          <a:ln/>
        </p:spPr>
      </p:sp>
      <p:sp>
        <p:nvSpPr>
          <p:cNvPr id="41" name="match-hex-label"/>
          <p:cNvSpPr txBox="1"/>
          <p:nvPr/>
        </p:nvSpPr>
        <p:spPr>
          <a:xfrm>
            <a:off x="4297589"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19329"/>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scale on which the strength of an earthquake is given</a:t>
            </a:r>
            <a:endParaRPr lang="en-US" sz="2000" dirty="0"/>
          </a:p>
        </p:txBody>
      </p:sp>
      <p:sp>
        <p:nvSpPr>
          <p:cNvPr id="43" name="match-card"/>
          <p:cNvSpPr/>
          <p:nvPr/>
        </p:nvSpPr>
        <p:spPr>
          <a:xfrm>
            <a:off x="777240" y="5336329"/>
            <a:ext cx="3081437" cy="625559"/>
          </a:xfrm>
          <a:prstGeom prst="roundRect">
            <a:avLst>
              <a:gd name="adj" fmla="val 11694"/>
            </a:avLst>
          </a:prstGeom>
          <a:solidFill>
            <a:srgbClr val="F3F5F3"/>
          </a:solidFill>
          <a:ln/>
        </p:spPr>
      </p:sp>
      <p:sp>
        <p:nvSpPr>
          <p:cNvPr id="44" name="match-hex"/>
          <p:cNvSpPr/>
          <p:nvPr/>
        </p:nvSpPr>
        <p:spPr>
          <a:xfrm>
            <a:off x="850392" y="5482816"/>
            <a:ext cx="384048" cy="332586"/>
          </a:xfrm>
          <a:prstGeom prst="hexagon">
            <a:avLst/>
          </a:prstGeom>
          <a:solidFill>
            <a:srgbClr val="3F6B4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2487077"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Aftershock</a:t>
            </a:r>
            <a:endParaRPr lang="en-US" sz="2000" dirty="0"/>
          </a:p>
        </p:txBody>
      </p:sp>
      <p:sp>
        <p:nvSpPr>
          <p:cNvPr id="47" name="match-card"/>
          <p:cNvSpPr/>
          <p:nvPr/>
        </p:nvSpPr>
        <p:spPr>
          <a:xfrm>
            <a:off x="4224437" y="5336329"/>
            <a:ext cx="7190019" cy="625559"/>
          </a:xfrm>
          <a:prstGeom prst="roundRect">
            <a:avLst>
              <a:gd name="adj" fmla="val 11694"/>
            </a:avLst>
          </a:prstGeom>
          <a:solidFill>
            <a:srgbClr val="F8F2E9"/>
          </a:solidFill>
          <a:ln/>
        </p:spPr>
      </p:sp>
      <p:sp>
        <p:nvSpPr>
          <p:cNvPr id="48" name="match-hex"/>
          <p:cNvSpPr/>
          <p:nvPr/>
        </p:nvSpPr>
        <p:spPr>
          <a:xfrm>
            <a:off x="4297589" y="5482816"/>
            <a:ext cx="384048" cy="332586"/>
          </a:xfrm>
          <a:prstGeom prst="hexagon">
            <a:avLst/>
          </a:prstGeom>
          <a:solidFill>
            <a:srgbClr val="B8862B"/>
          </a:solidFill>
          <a:ln/>
        </p:spPr>
      </p:sp>
      <p:sp>
        <p:nvSpPr>
          <p:cNvPr id="49" name="match-hex-label"/>
          <p:cNvSpPr txBox="1"/>
          <p:nvPr/>
        </p:nvSpPr>
        <p:spPr>
          <a:xfrm>
            <a:off x="4297589"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36329"/>
            <a:ext cx="6595659" cy="62555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smaller earthquake that comes after the main one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Earthquake words</a:t>
            </a:r>
            <a:endParaRPr lang="en-US" sz="2000" dirty="0"/>
          </a:p>
        </p:txBody>
      </p:sp>
      <p:sp>
        <p:nvSpPr>
          <p:cNvPr id="12" name="col-Support"/>
          <p:cNvSpPr/>
          <p:nvPr/>
        </p:nvSpPr>
        <p:spPr>
          <a:xfrm>
            <a:off x="548640" y="2395728"/>
            <a:ext cx="6327465"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words first: which are places, which are measurements, which are instruments, which are events?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Epicentre is a place. Aftershock is an event (a smaller earthquake).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Magnitude is the measurement itself; the seismometer is the instrument; the Richter scale is the scale.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of a thermometer: the instrument measures, the number is read off a scale.</a:t>
            </a:r>
            <a:endParaRPr lang="en-US" sz="1800" dirty="0"/>
          </a:p>
        </p:txBody>
      </p:sp>
      <p:sp>
        <p:nvSpPr>
          <p:cNvPr id="17" name="col-Core"/>
          <p:cNvSpPr/>
          <p:nvPr/>
        </p:nvSpPr>
        <p:spPr>
          <a:xfrm>
            <a:off x="7150425" y="2395728"/>
            <a:ext cx="2109155" cy="3749040"/>
          </a:xfrm>
          <a:prstGeom prst="roundRect">
            <a:avLst>
              <a:gd name="adj" fmla="val 2601"/>
            </a:avLst>
          </a:prstGeom>
          <a:solidFill>
            <a:srgbClr val="D8E1DA"/>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Measurement, instrument, scale, place, event. Each word is exactly one of these.</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3F6B4A"/>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aftershocks make rescue work after a big earthquake more dangerous.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During an earthquake, which place on the surface feels the strongest shaking?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place furthest away from the focus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epicentre, directly above the focus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coast, because that is where the tsunami arrives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focus itself, because that is where people live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an earthquake happens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Earthquakes happen at plate boundaries, where two plates meet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As the plates move past each other, the movement is not smooth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plates sometimes lock together, and pressure builds up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pressure is suddenly released in a jerky movement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This sudden release of pressure is the earthquake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Boundary first, then rough movement, then locking and pressure, then the sudden jerky release, which is the earthquake.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Earthquake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Magnitude  →  A  How strong an earthquake is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Seismometer  →  B  An instrument that measures the shaking of the ground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Richter scale  →  D  The scale on which the strength of an earthquake is given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Epicentre  →  C  The point on the surface directly above the focus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Aftershock  →  E  A smaller earthquake that comes after the main one</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Magnitude is the strength; the seismometer measures it; the Richter scale is the scale the strength is given on; the epicentre is the surface point above the focus; an aftershock is a smaller earthquake afterwards.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During an earthquake, which place on the surface feels the strongest shaking?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epicentre, directly above the focus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Seismic waves weaken as they spread from the focus, so the nearest surface point, the epicentre directly above the focus, shakes most.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Tectonic Processes · Chapter 4: Earthquakes: what, where and why</dc:title>
  <dc:subject>Geography · Year 8</dc:subject>
  <dc:creator>Dr Vitor Merissi de Carvalho</dc:creator>
  <cp:lastModifiedBy>Dr Vitor Merissi de Carvalho</cp:lastModifiedBy>
  <cp:revision>1</cp:revision>
  <dcterms:created xsi:type="dcterms:W3CDTF">2026-10-19T06:07:46Z</dcterms:created>
  <dcterms:modified xsi:type="dcterms:W3CDTF">2026-10-19T06:07:46Z</dcterms:modified>
</cp:coreProperties>
</file>