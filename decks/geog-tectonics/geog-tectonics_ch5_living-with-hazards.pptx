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slideMasters/slideMaster4.xml" ContentType="application/vnd.openxmlformats-officedocument.presentationml.slideMaster+xml"/>
  <Override PartName="/ppt/slides/slide4.xml" ContentType="application/vnd.openxmlformats-officedocument.presentationml.slide+xml"/>
  <Override PartName="/ppt/slideMasters/slideMaster5.xml" ContentType="application/vnd.openxmlformats-officedocument.presentationml.slideMaster+xml"/>
  <Override PartName="/ppt/slides/slide5.xml" ContentType="application/vnd.openxmlformats-officedocument.presentationml.slide+xml"/>
  <Override PartName="/ppt/slideMasters/slideMaster6.xml" ContentType="application/vnd.openxmlformats-officedocument.presentationml.slideMaster+xml"/>
  <Override PartName="/ppt/slides/slide6.xml" ContentType="application/vnd.openxmlformats-officedocument.presentationml.slide+xml"/>
  <Override PartName="/ppt/slideMasters/slideMaster7.xml" ContentType="application/vnd.openxmlformats-officedocument.presentationml.slideMaster+xml"/>
  <Override PartName="/ppt/slides/slide7.xml" ContentType="application/vnd.openxmlformats-officedocument.presentationml.slide+xml"/>
  <Override PartName="/ppt/slideMasters/slideMaster8.xml" ContentType="application/vnd.openxmlformats-officedocument.presentationml.slideMaster+xml"/>
  <Override PartName="/ppt/slides/slide8.xml" ContentType="application/vnd.openxmlformats-officedocument.presentationml.slide+xml"/>
  <Override PartName="/ppt/slideMasters/slideMaster9.xml" ContentType="application/vnd.openxmlformats-officedocument.presentationml.slideMaster+xml"/>
  <Override PartName="/ppt/slides/slide9.xml" ContentType="application/vnd.openxmlformats-officedocument.presentationml.slide+xml"/>
  <Override PartName="/ppt/slideMasters/slideMaster10.xml" ContentType="application/vnd.openxmlformats-officedocument.presentationml.slideMaster+xml"/>
  <Override PartName="/ppt/slides/slide10.xml" ContentType="application/vnd.openxmlformats-officedocument.presentationml.slide+xml"/>
  <Override PartName="/ppt/slideMasters/slideMaster11.xml" ContentType="application/vnd.openxmlformats-officedocument.presentationml.slideMaster+xml"/>
  <Override PartName="/ppt/slides/slide11.xml" ContentType="application/vnd.openxmlformats-officedocument.presentationml.slide+xml"/>
  <Override PartName="/ppt/slideMasters/slideMaster12.xml" ContentType="application/vnd.openxmlformats-officedocument.presentationml.slideMaster+xml"/>
  <Override PartName="/ppt/slides/slide12.xml" ContentType="application/vnd.openxmlformats-officedocument.presentationml.slide+xml"/>
  <Override PartName="/ppt/slideMasters/slideMaster13.xml" ContentType="application/vnd.openxmlformats-officedocument.presentationml.slideMaster+xml"/>
  <Override PartName="/ppt/slides/slide13.xml" ContentType="application/vnd.openxmlformats-officedocument.presentationml.slide+xml"/>
  <Override PartName="/ppt/slideMasters/slideMaster14.xml" ContentType="application/vnd.openxmlformats-officedocument.presentationml.slideMaster+xml"/>
  <Override PartName="/ppt/slides/slide14.xml" ContentType="application/vnd.openxmlformats-officedocument.presentationml.slide+xml"/>
  <Override PartName="/ppt/slideMasters/slideMaster15.xml" ContentType="application/vnd.openxmlformats-officedocument.presentationml.slideMaster+xml"/>
  <Override PartName="/ppt/slides/slide15.xml" ContentType="application/vnd.openxmlformats-officedocument.presentationml.slide+xml"/>
  <Override PartName="/ppt/slideMasters/slideMaster16.xml" ContentType="application/vnd.openxmlformats-officedocument.presentationml.slideMaster+xml"/>
  <Override PartName="/ppt/slides/slide16.xml" ContentType="application/vnd.openxmlformats-officedocument.presentationml.slide+xml"/>
  <Override PartName="/ppt/slideMasters/slideMaster17.xml" ContentType="application/vnd.openxmlformats-officedocument.presentationml.slideMaster+xml"/>
  <Override PartName="/ppt/slides/slide17.xml" ContentType="application/vnd.openxmlformats-officedocument.presentationml.slide+xml"/>
  <Override PartName="/ppt/slideMasters/slideMaster18.xml" ContentType="application/vnd.openxmlformats-officedocument.presentationml.slideMaster+xml"/>
  <Override PartName="/ppt/slides/slide18.xml" ContentType="application/vnd.openxmlformats-officedocument.presentationml.slide+xml"/>
  <Override PartName="/ppt/slideMasters/slideMaster19.xml" ContentType="application/vnd.openxmlformats-officedocument.presentationml.slideMaster+xml"/>
  <Override PartName="/ppt/slides/slide19.xml" ContentType="application/vnd.openxmlformats-officedocument.presentationml.slide+xml"/>
  <Override PartName="/ppt/slideMasters/slideMaster20.xml" ContentType="application/vnd.openxmlformats-officedocument.presentationml.slideMaster+xml"/>
  <Override PartName="/ppt/slides/slide20.xml" ContentType="application/vnd.openxmlformats-officedocument.presentationml.slide+xml"/>
  <Override PartName="/ppt/slideMasters/slideMaster21.xml" ContentType="application/vnd.openxmlformats-officedocument.presentationml.slideMaster+xml"/>
  <Override PartName="/ppt/slides/slide21.xml" ContentType="application/vnd.openxmlformats-officedocument.presentationml.slide+xml"/>
  <Override PartName="/ppt/slideMasters/slideMaster22.xml" ContentType="application/vnd.openxmlformats-officedocument.presentationml.slideMaster+xml"/>
  <Override PartName="/ppt/slides/slide22.xml" ContentType="application/vnd.openxmlformats-officedocument.presentationml.slide+xml"/>
  <Override PartName="/ppt/slideMasters/slideMaster23.xml" ContentType="application/vnd.openxmlformats-officedocument.presentationml.slideMaster+xml"/>
  <Override PartName="/ppt/slides/slide23.xml" ContentType="application/vnd.openxmlformats-officedocument.presentationml.slide+xml"/>
  <Override PartName="/ppt/slideMasters/slideMaster24.xml" ContentType="application/vnd.openxmlformats-officedocument.presentationml.slideMaster+xml"/>
  <Override PartName="/ppt/slides/slide24.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ppt/notesSlides/notesSlide24.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 id="270" r:id="rId16"/>
    <p:sldId id="271" r:id="rId17"/>
    <p:sldId id="272" r:id="rId18"/>
    <p:sldId id="273" r:id="rId19"/>
    <p:sldId id="274" r:id="rId20"/>
    <p:sldId id="275" r:id="rId21"/>
    <p:sldId id="276" r:id="rId22"/>
    <p:sldId id="277" r:id="rId23"/>
    <p:sldId id="278" r:id="rId24"/>
    <p:sldId id="279" r:id="rId25"/>
  </p:sldIdLst>
  <p:notesMasterIdLst>
    <p:notesMasterId r:id="rId26"/>
  </p:notesMasterIdLst>
  <p:sldSz cx="12192000" cy="6858000"/>
  <p:notesSz cx="6858000" cy="12192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extLst>
    <p:ext uri="{521415D9-36F7-43E2-AB2F-B90AF26B5E84}">
      <p14:sectionLst xmlns:p14="http://schemas.microsoft.com/office/powerpoint/2010/main">
        <p14:section name="Opening" id="{36864c44-eb8c-9775-460c-b884eba15b84}">
          <p14:sldIdLst>
            <p14:sldId id="256"/>
          </p14:sldIdLst>
        </p14:section>
        <p14:section name="Gate" id="{e68eef0b-4f28-3a1c-8c51-7f74b20f296e}">
          <p14:sldIdLst>
            <p14:sldId id="257"/>
            <p14:sldId id="258"/>
          </p14:sldIdLst>
        </p14:section>
        <p14:section name="Pre-teach" id="{77dad687-acc9-aaba-23e3-a357a7a758ea}">
          <p14:sldIdLst>
            <p14:sldId id="259"/>
            <p14:sldId id="260"/>
          </p14:sldIdLst>
        </p14:section>
        <p14:section name="Read-along" id="{cc0b68d5-6a66-76f8-4c59-3645b28d6b39}">
          <p14:sldIdLst>
            <p14:sldId id="261"/>
            <p14:sldId id="262"/>
          </p14:sldIdLst>
        </p14:section>
        <p14:section name="Teach" id="{721f1866-3c17-5f9d-7d04-bcb0799eb2f9}">
          <p14:sldIdLst>
            <p14:sldId id="263"/>
            <p14:sldId id="264"/>
            <p14:sldId id="265"/>
            <p14:sldId id="266"/>
            <p14:sldId id="267"/>
            <p14:sldId id="268"/>
            <p14:sldId id="269"/>
            <p14:sldId id="270"/>
          </p14:sldIdLst>
        </p14:section>
        <p14:section name="Routes" id="{5a914ad6-4888-fd0e-317b-803e6cee8858}">
          <p14:sldIdLst>
            <p14:sldId id="271"/>
            <p14:sldId id="272"/>
            <p14:sldId id="273"/>
            <p14:sldId id="274"/>
          </p14:sldIdLst>
        </p14:section>
        <p14:section name="Close" id="{58cc8f9b-b4a5-e3cb-4ffb-3f4e7ecb5b3a}">
          <p14:sldIdLst>
            <p14:sldId id="275"/>
          </p14:sldIdLst>
        </p14:section>
        <p14:section name="Answers" id="{9b058e4f-3ee2-ba14-8fa8-4365a07fdb4b}">
          <p14:sldIdLst>
            <p14:sldId id="276"/>
            <p14:sldId id="277"/>
            <p14:sldId id="278"/>
            <p14:sldId id="279"/>
          </p14:sldIdLst>
        </p14:section>
      </p14:sectionLst>
    </p:ext>
    <p:ext uri="{EFAFB233-063F-42B5-8137-9DF3F51BA10A}">
      <p15:sldGuideLst xmlns:p15="http://schemas.microsoft.com/office/powerpoint/2012/main"/>
    </p:ext>
  </p:extLst>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slide" Target="slides/slide12.xml"/><Relationship Id="rId14" Type="http://schemas.openxmlformats.org/officeDocument/2006/relationships/slide" Target="slides/slide13.xml"/><Relationship Id="rId15" Type="http://schemas.openxmlformats.org/officeDocument/2006/relationships/slide" Target="slides/slide14.xml"/><Relationship Id="rId16" Type="http://schemas.openxmlformats.org/officeDocument/2006/relationships/slide" Target="slides/slide15.xml"/><Relationship Id="rId17" Type="http://schemas.openxmlformats.org/officeDocument/2006/relationships/slide" Target="slides/slide16.xml"/><Relationship Id="rId18" Type="http://schemas.openxmlformats.org/officeDocument/2006/relationships/slide" Target="slides/slide17.xml"/><Relationship Id="rId19" Type="http://schemas.openxmlformats.org/officeDocument/2006/relationships/slide" Target="slides/slide18.xml"/><Relationship Id="rId20" Type="http://schemas.openxmlformats.org/officeDocument/2006/relationships/slide" Target="slides/slide19.xml"/><Relationship Id="rId21" Type="http://schemas.openxmlformats.org/officeDocument/2006/relationships/slide" Target="slides/slide20.xml"/><Relationship Id="rId22" Type="http://schemas.openxmlformats.org/officeDocument/2006/relationships/slide" Target="slides/slide21.xml"/><Relationship Id="rId23" Type="http://schemas.openxmlformats.org/officeDocument/2006/relationships/slide" Target="slides/slide22.xml"/><Relationship Id="rId24" Type="http://schemas.openxmlformats.org/officeDocument/2006/relationships/slide" Target="slides/slide23.xml"/><Relationship Id="rId25" Type="http://schemas.openxmlformats.org/officeDocument/2006/relationships/slide" Target="slides/slide24.xml"/><Relationship Id="rId26" Type="http://schemas.openxmlformats.org/officeDocument/2006/relationships/notesMaster" Target="notesMasters/notesMaster1.xml"/><Relationship Id="rId27" Type="http://schemas.openxmlformats.org/officeDocument/2006/relationships/presProps" Target="presProps.xml"/><Relationship Id="rId28" Type="http://schemas.openxmlformats.org/officeDocument/2006/relationships/viewProps" Target="viewProps.xml"/><Relationship Id="rId29" Type="http://schemas.openxmlformats.org/officeDocument/2006/relationships/theme" Target="theme/theme1.xml"/><Relationship Id="rId30" Type="http://schemas.openxmlformats.org/officeDocument/2006/relationships/tableStyles" Target="tableStyles.xml"/></Relationships>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_rels/notesSlide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xml"/>
		</Relationships>
</file>

<file path=ppt/notesSlides/_rels/notesSlide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xml"/>
		</Relationships>
</file>

<file path=ppt/notesSlides/_rels/notesSlide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xml"/>
		</Relationships>
</file>

<file path=ppt/notesSlides/_rels/notesSlide1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xml"/>
		</Relationships>
</file>

<file path=ppt/notesSlides/_rels/notesSlide1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1.xml"/>
		</Relationships>
</file>

<file path=ppt/notesSlides/_rels/notesSlide1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2.xml"/>
		</Relationships>
</file>

<file path=ppt/notesSlides/_rels/notesSlide1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3.xml"/>
		</Relationships>
</file>

<file path=ppt/notesSlides/_rels/notesSlide1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4.xml"/>
		</Relationships>
</file>

<file path=ppt/notesSlides/_rels/notesSlide1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5.xml"/>
		</Relationships>
</file>

<file path=ppt/notesSlides/_rels/notesSlide1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6.xml"/>
		</Relationships>
</file>

<file path=ppt/notesSlides/_rels/notesSlide1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7.xml"/>
		</Relationships>
</file>

<file path=ppt/notesSlides/_rels/notesSlide1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8.xml"/>
		</Relationships>
</file>

<file path=ppt/notesSlides/_rels/notesSlide1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9.xml"/>
		</Relationships>
</file>

<file path=ppt/notesSlides/_rels/notesSlide2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0.xml"/>
		</Relationships>
</file>

<file path=ppt/notesSlides/_rels/notesSlide2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1.xml"/>
		</Relationships>
</file>

<file path=ppt/notesSlides/_rels/notesSlide2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2.xml"/>
		</Relationships>
</file>

<file path=ppt/notesSlides/_rels/notesSlide2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3.xml"/>
		</Relationships>
</file>

<file path=ppt/notesSlides/_rels/notesSlide2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4.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Chapter 5 of 5: Living with earthquakes and volcanoes. How geographers study a real earthquake as a case study, why the same earthquake can hurt one country more than another, and why people choose to live beside volcanoes.
This deck covers the department's lessons: 4 (Case study: the Sichuan earthquake, 2008 (an NEE): What caused the Sichuan earthquake, what were its effects, and how did people respond?); 5 (Living in the shadow of volcanoes: Vesuvius, Hawaii and Iceland: If volcanoes are so dangerous, why do people live near them?).
Read the big question aloud: "What moves the ground beneath our feet, where do earthquakes and volcanoes happen, and why do millions of people choose to live near them?" We come back to it at the exit ticket.
Before this lesson the pre-teach group has heard the read-along and met the key words; today they lead the reading. Lesson shape: do now (recall before any help), key words, read-along, teach, then the same task three ways in (Support, Core, Stretch), exit ticket, answers. Every pupil works towards the same destination.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Do now — retrieval. Silent, no notes, no help: recall comes before any support. Give about four minutes.
1. Which of these is a benefit of living near a volcano?  →  C   Fertile soil for growing crops
2. The Indian Ocean tsunami happened in 2004 and the Sichuan earthquake in 2008. How many years apart were the two events?  →  4 years
3. A place where very hot rock rises from deep in the mantle and makes volcanoes away from a plate boundary is called a ___.  →  hot spot
Circulate: who gets 3/3 (Stretch route), 2/3 (Core), 0–1 (Support)? Use this to route pupils later in the lesson.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Answers — pupils mark their own in a different colour, then hands up for 3/3, 2/3, 1/3.
1. C   Fertile soil for growing crops. Volcanic ash is rich in minerals, so the soil around a volcano is fertile and good for farming.
2. 4 years. 2008 − 2004 = 4 years.
3. hot spot. Hawaii sits on a hot spot in the middle of the Pacific Plate, far from any boundary.
Say the route each score points to: 3/3 Stretch, 2/3 Core, 0–1 Support. Pupils may choose to move up.</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Key words. Ask the pre-teach group first: they met these words before the lesson, so they give the meaning before anyone else.
For each word: say it, pupils repeat it, read the meaning, then read the example sentence together.
• case study: a real example studied in detail to understand a topic. Example: "Our case study of an earthquake is Sichuan, China, in 2008."
• NEE: a newly emerging economy: a country that is getting richer quickly. Example: "China is an NEE, a country whose economy is growing fast."
• effect: something that happens because of an event. Example: "One effect of the earthquake was that many people lost their homes."
Recall before help: cover the meanings and ask pupils to define one word from memory before moving 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Key words. Ask the pre-teach group first: they met these words before the lesson, so they give the meaning before anyone else.
For each word: say it, pupils repeat it, read the meaning, then read the example sentence together.
• response: what people do to help after a disaster. Example: "Sending rescue teams was the first response to the earthquake."
• fertile: good for growing crops. Example: "Volcanic ash makes the soil fertile."
• hot spot: a place where very hot rock rises from deep in the mantle and makes volcanoes. Example: "Hawaii sits on a hot spot in the middle of the Pacific Plate."
Recall before help: cover the meanings and ask pupils to define one word from memory before moving 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Read together; pupils who were pre-taught lead. The pre-teach group heard this passage (with highlighted audio in the ebook) before the lesson, so invite them to read each sentence aloud first; everyone else follows with a finger, then echo-reads it.
Key words are in bold: pause on each and ask for its meaning.
Sentences 1–7 of 14:
1. Geographers learn about hazards by studying real events in detail.
2. This is called a case study.
3. Our case study is the Sichuan earthquake in China, in 2008.
4. China is an NEE, a country whose economy is growing fast.
5. A case study asks what caused the event and when it happened.
6. It asks what the effects were on people, on money and on the land.
7. It asks how people responded and what help was given.
In the ebook the audio highlights each sentence as it is read.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Read together; pupils who were pre-taught lead. The pre-teach group heard this passage (with highlighted audio in the ebook) before the lesson, so invite them to read each sentence aloud first; everyone else follows with a finger, then echo-reads it.
Key words are in bold: pause on each and ask for its meaning.
Sentences 8–14 of 14:
8. Earthquakes do not kill people directly.
9. Falling buildings, landslides and fires do.
10. So the time of day and the strength of the buildings matter a great deal.
11. Volcanoes are dangerous too, yet millions of people live near them.
12. Volcanic ash makes the soil fertile, so crops grow well.
13. Heat from under the ground can make cheap electricity.
14. Volcanic rock makes strong building material, and tourists bring jobs.
In the ebook the audio highlights each sentence as it is read.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Teach — A case study: the Sichuan earthquake, 2008. Say it in your own words, then check understanding with a quick question: ask a pupil from the pre-teach group first, since they met these words and ideas before the lesson. Pupils try to recall before you re-explain.
A case study is a real event studied in detail. For earthquakes, your case study is the Sichuan earthquake, which struck Sichuan province in China in 2008. China is an NEE, a newly emerging economy: a country that is becoming richer quickly but still has many poorer areas.
Every earthquake case study answers the same set of questions. What caused it? The movement of plates, releasing pressure that had built up. When did it happen, on what date and at what time of day? What were the effects: how many people died, were injured or lost their homes, and what happened to buildings, roads, businesses and the land? And what was the response: what help was given, by whom, and how quickly?
Geographers sort effects into three groups. Social effects are about people: deaths, injuries, lost homes, closed schools. Economic effects are about money: damaged factories, roads and shops, and the cost of rebuilding. Environmental effects are about the land: landslides, blocked rivers, damaged farmland. The figures for Sichuan are in your textbook, in the case study pages, and you will need them for the progress check.
Tip: Case study answers need specific detail. Always give the place, the year and at least one real figure from your textbook.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Teach — Do earthquakes kill people?. Say it in your own words, then check understanding with a quick question: ask a pupil from the pre-teach group first, since they met these words and ideas before the lesson. Pupils try to recall before you re-explain.
It sounds like an odd question, but it is an important one. The shaking of the ground does not itself kill anyone. People are killed by what the shaking does: buildings that collapse on top of them, landslides that bury roads and villages, fires that start from broken gas pipes, and, near the coast, tsunamis.
That is why the same magnitude of earthquake can kill a handful of people in one country and tens of thousands in another. In a richer country, an HIC, buildings are often designed to sway rather than fall, and emergency services arrive quickly. In an NEE such as China, cities may have strong modern buildings while poorer rural areas have older ones that collapse. In the poorest countries, LICs, weak buildings and slow rescue make the death toll far higher.
Time of day matters too. Think about where people are at different hours. In the middle of the afternoon, children are in school and adults are at work or in the fields. In the middle of the night, almost everyone is asleep indoors. Which buildings people are inside, and whether rescuers can see what they are doing, changes how many are hurt and how many are found in time.
Worked example — model it step by step, thinking aloud: Explain why an earthquake of the same magnitude can cause more deaths in one country than in another. (4 marks) (1) Make the key point first: the shaking does not kill directly; collapsing buildings do. (2) Compare building quality: richer countries can afford buildings designed not to collapse. (3) Compare the response: richer countries have more rescue teams, hospitals and equipment, so help arrives faster. (4) Finish with a link: so a poorer country suffers more deaths from the same shaking. Answer: The shaking itself does not kill people; collapsing buildings, landslides and fires do. A richer country can afford buildings designed to withstand shaking, so fewer collapse. It also has more rescue teams, hospitals and equipment, so trapped people are found and treated faster. In a poorer country buildings are weaker and help is slower to arrive, so the same magnitude of earthquake causes far more deaths..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Teach — Do earthquakes kill people?. Say it in your own words, then check understanding with a quick question: ask a pupil from the pre-teach group first, since they met these words and ideas before the lesson. Pupils try to recall before you re-explain.
It sounds like an odd question, but it is an important one. The shaking of the ground does not itself kill anyone. People are killed by what the shaking does: buildings that collapse on top of them, landslides that bury roads and villages, fires that start from broken gas pipes, and, near the coast, tsunamis.
That is why the same magnitude of earthquake can kill a handful of people in one country and tens of thousands in another. In a richer country, an HIC, buildings are often designed to sway rather than fall, and emergency services arrive quickly. In an NEE such as China, cities may have strong modern buildings while poorer rural areas have older ones that collapse. In the poorest countries, LICs, weak buildings and slow rescue make the death toll far higher.
Time of day matters too. Think about where people are at different hours. In the middle of the afternoon, children are in school and adults are at work or in the fields. In the middle of the night, almost everyone is asleep indoors. Which buildings people are inside, and whether rescuers can see what they are doing, changes how many are hurt and how many are found in time.
Worked example — model it step by step, thinking aloud: Explain why an earthquake of the same magnitude can cause more deaths in one country than in another. (4 marks) (1) Make the key point first: the shaking does not kill directly; collapsing buildings do. (2) Compare building quality: richer countries can afford buildings designed not to collapse. (3) Compare the response: richer countries have more rescue teams, hospitals and equipment, so help arrives faster. (4) Finish with a link: so a poorer country suffers more deaths from the same shaking. Answer: The shaking itself does not kill people; collapsing buildings, landslides and fires do. A richer country can afford buildings designed to withstand shaking, so fewer collapse. It also has more rescue teams, hospitals and equipment, so trapped people are found and treated faster. In a poorer country buildings are weaker and help is slower to arrive, so the same magnitude of earthquake causes far more deaths..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Teach — Do earthquakes kill people?. Say it in your own words, then check understanding with a quick question: ask a pupil from the pre-teach group first, since they met these words and ideas before the lesson. Pupils try to recall before you re-explain.
It sounds like an odd question, but it is an important one. The shaking of the ground does not itself kill anyone. People are killed by what the shaking does: buildings that collapse on top of them, landslides that bury roads and villages, fires that start from broken gas pipes, and, near the coast, tsunamis.
That is why the same magnitude of earthquake can kill a handful of people in one country and tens of thousands in another. In a richer country, an HIC, buildings are often designed to sway rather than fall, and emergency services arrive quickly. In an NEE such as China, cities may have strong modern buildings while poorer rural areas have older ones that collapse. In the poorest countries, LICs, weak buildings and slow rescue make the death toll far higher.
Time of day matters too. Think about where people are at different hours. In the middle of the afternoon, children are in school and adults are at work or in the fields. In the middle of the night, almost everyone is asleep indoors. Which buildings people are inside, and whether rescuers can see what they are doing, changes how many are hurt and how many are found in time.
Worked example — model it step by step, thinking aloud: Explain why an earthquake of the same magnitude can cause more deaths in one country than in another. (4 marks) (1) Make the key point first: the shaking does not kill directly; collapsing buildings do. (2) Compare building quality: richer countries can afford buildings designed not to collapse. (3) Compare the response: richer countries have more rescue teams, hospitals and equipment, so help arrives faster. (4) Finish with a link: so a poorer country suffers more deaths from the same shaking. Answer: The shaking itself does not kill people; collapsing buildings, landslides and fires do. A richer country can afford buildings designed to withstand shaking, so fewer collapse. It also has more rescue teams, hospitals and equipment, so trapped people are found and treated faster. In a poorer country buildings are weaker and help is slower to arrive, so the same magnitude of earthquake causes far more deaths..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Teach — Do earthquakes kill people?. Say it in your own words, then check understanding with a quick question: ask a pupil from the pre-teach group first, since they met these words and ideas before the lesson. Pupils try to recall before you re-explain.
It sounds like an odd question, but it is an important one. The shaking of the ground does not itself kill anyone. People are killed by what the shaking does: buildings that collapse on top of them, landslides that bury roads and villages, fires that start from broken gas pipes, and, near the coast, tsunamis.
That is why the same magnitude of earthquake can kill a handful of people in one country and tens of thousands in another. In a richer country, an HIC, buildings are often designed to sway rather than fall, and emergency services arrive quickly. In an NEE such as China, cities may have strong modern buildings while poorer rural areas have older ones that collapse. In the poorest countries, LICs, weak buildings and slow rescue make the death toll far higher.
Time of day matters too. Think about where people are at different hours. In the middle of the afternoon, children are in school and adults are at work or in the fields. In the middle of the night, almost everyone is asleep indoors. Which buildings people are inside, and whether rescuers can see what they are doing, changes how many are hurt and how many are found in time.
Worked example — model it step by step, thinking aloud: Explain why an earthquake of the same magnitude can cause more deaths in one country than in another. (4 marks) (1) Make the key point first: the shaking does not kill directly; collapsing buildings do. (2) Compare building quality: richer countries can afford buildings designed not to collapse. (3) Compare the response: richer countries have more rescue teams, hospitals and equipment, so help arrives faster. (4) Finish with a link: so a poorer country suffers more deaths from the same shaking. Answer: The shaking itself does not kill people; collapsing buildings, landslides and fires do. A richer country can afford buildings designed to withstand shaking, so fewer collapse. It also has more rescue teams, hospitals and equipment, so trapped people are found and treated faster. In a poorer country buildings are weaker and help is slower to arrive, so the same magnitude of earthquake causes far more deaths..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Teach — Do earthquakes kill people?. Say it in your own words, then check understanding with a quick question: ask a pupil from the pre-teach group first, since they met these words and ideas before the lesson. Pupils try to recall before you re-explain.
It sounds like an odd question, but it is an important one. The shaking of the ground does not itself kill anyone. People are killed by what the shaking does: buildings that collapse on top of them, landslides that bury roads and villages, fires that start from broken gas pipes, and, near the coast, tsunamis.
That is why the same magnitude of earthquake can kill a handful of people in one country and tens of thousands in another. In a richer country, an HIC, buildings are often designed to sway rather than fall, and emergency services arrive quickly. In an NEE such as China, cities may have strong modern buildings while poorer rural areas have older ones that collapse. In the poorest countries, LICs, weak buildings and slow rescue make the death toll far higher.
Time of day matters too. Think about where people are at different hours. In the middle of the afternoon, children are in school and adults are at work or in the fields. In the middle of the night, almost everyone is asleep indoors. Which buildings people are inside, and whether rescuers can see what they are doing, changes how many are hurt and how many are found in time.
Worked example — model it step by step, thinking aloud: Explain why an earthquake of the same magnitude can cause more deaths in one country than in another. (4 marks) (1) Make the key point first: the shaking does not kill directly; collapsing buildings do. (2) Compare building quality: richer countries can afford buildings designed not to collapse. (3) Compare the response: richer countries have more rescue teams, hospitals and equipment, so help arrives faster. (4) Finish with a link: so a poorer country suffers more deaths from the same shaking. Answer: The shaking itself does not kill people; collapsing buildings, landslides and fires do. A richer country can afford buildings designed to withstand shaking, so fewer collapse. It also has more rescue teams, hospitals and equipment, so trapped people are found and treated faster. In a poorer country buildings are weaker and help is slower to arrive, so the same magnitude of earthquake causes far more deaths..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Teach — Living in the shadow of a volcano. Say it in your own words, then check understanding with a quick question: ask a pupil from the pre-teach group first, since they met these words and ideas before the lesson. Pupils try to recall before you re-explain.
Volcanoes can destroy towns, yet millions of people live beside them. Around Mount Vesuvius in Italy, farmers grow tomatoes on the slopes of a volcano that buried a Roman city. Why take the risk? Because living near a volcano brings real benefits.
There are four main ones. Fertile soil: volcanic ash is full of minerals, so crops grow well. Energy: heat from under the ground can be used to make electricity, which is renewable and cheaper than importing fuel. Building materials: volcanic rock is hard and lasting, so it makes durable houses and roads. Jobs: tourists come to see the volcano, the hot springs and the dramatic scenery, and that brings work to hotels, shops and guides.
For many families, these benefits every day outweigh a danger that may come once in a lifetime, or never. Geographers call this weighing up of risk and reward living with the hazard.
Tip: Four benefits, remember SEBT: Soil, Energy, Building materials, Tourism.</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Teach — Hot spots: Hawaii and Iceland. Say it in your own words, then check understanding with a quick question: ask a pupil from the pre-teach group first, since they met these words and ideas before the lesson. Pupils try to recall before you re-explain.
Most volcanoes sit on plate boundaries, but Hawaii is in the middle of the Pacific Plate, thousands of kilometres from any boundary. Its volcanoes come from a hot spot: a place where unusually hot rock rises from deep in the mantle, melts through the plate above and feeds volcanoes at the surface.
Iceland is doubly volcanic. It sits on the constructive boundary where the North American Plate and the Eurasian Plate are moving apart (Chapter 3), and it also sits on a hot spot. Together they give Iceland frequent eruptions, hot springs and steaming ground.
Both places show the benefits of living near volcanoes. Iceland uses its underground heat to warm homes and make electricity, and its volcanic landscape draws visitors from around the world. Hawaii's rich volcanic soil and spectacular scenery support farming and tourism.
Tip: Hawaii: hot spot only, mid-plate. Iceland: constructive boundary plus hot spot.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Task 1: Sorting a case study. Same task, three ways in: one destination for everyone; only the scaffold changes. Pupils take the lane their do-now score pointed to (3/3 Stretch, 2/3 Core, 0–1 Support) and may move up at any time.
Start the pre-teach group first: they know the words and the passage, so set them going on the task before you turn to the rest. Recall before help: every pupil tries from memory before opening a lane.
The task: Match each heading of an earthquake case study to the example that belongs under it.
Support — work through the steps with the group: (1) Cause is what made it happen; everything else is what happened afterwards. (2) Effects are sorted by what they hit: people (social), money (economic) or the land (environmental). (3) Response is what people did to help after the event. (4) Read each example and ask: is this before (cause), what was hit (effect), or help afterwards (response)?
Parallel worked example for Support (model it, do not give the task answer): Sort these for a flood: heavy rain for a week; a bridge washed away; sandbags handed out. Headings: cause, economic effect, response. The rain came before and made it happen: cause.; The bridge is costly to replace: economic effect.; Sandbags are help given afterwards: response.. Answer: heavy rain: cause; bridge washed away: economic effect; sandbags: response.
Core — reveal the hint only on request: Before, what was hit (people, money or land), and help afterwards.
Stretch — no help; when finished: Many effects fit more than one heading. Explain why a destroyed school could count as both a social and an economic effect.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Task 1: Sorting a case study. Same task, three ways in: one destination for everyone; only the scaffold changes. Pupils take the lane their do-now score pointed to (3/3 Stretch, 2/3 Core, 0–1 Support) and may move up at any time.
Start the pre-teach group first: they know the words and the passage, so set them going on the task before you turn to the rest. Recall before help: every pupil tries from memory before opening a lane.
The task: Match each heading of an earthquake case study to the example that belongs under it.
Support — work through the steps with the group: (1) Cause is what made it happen; everything else is what happened afterwards. (2) Effects are sorted by what they hit: people (social), money (economic) or the land (environmental). (3) Response is what people did to help after the event. (4) Read each example and ask: is this before (cause), what was hit (effect), or help afterwards (response)?
Parallel worked example for Support (model it, do not give the task answer): Sort these for a flood: heavy rain for a week; a bridge washed away; sandbags handed out. Headings: cause, economic effect, response. The rain came before and made it happen: cause.; The bridge is costly to replace: economic effect.; Sandbags are help given afterwards: response.. Answer: heavy rain: cause; bridge washed away: economic effect; sandbags: response.
Core — reveal the hint only on request: Before, what was hit (people, money or land), and help afterwards.
Stretch — no help; when finished: Many effects fit more than one heading. Explain why a destroyed school could count as both a social and an economic effect.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Task 2: Twelve hours later. Same task, three ways in: one destination for everyone; only the scaffold changes. Pupils take the lane their do-now score pointed to (3/3 Stretch, 2/3 Core, 0–1 Support) and may move up at any time.
Start the pre-teach group first: they know the words and the passage, so set them going on the task before you turn to the rest. Recall before help: every pupil tries from memory before opening a lane.
The task: An earthquake strikes a city in the middle of the afternoon. Explain how the damage and loss of life might have been different if it had struck 12 hours later, in the middle of the night. (4 marks)
Support — work through the steps with the group: (1) Sentence 1: where are people in the afternoon? Schools, workplaces, outside. (2) Sentence 2: where are people at night? Asleep at home. Say what that means for the buildings they are in. (3) Sentence 3: think about the rescuers. What is harder in the dark? (4) Sentence 4: decide. More or less loss of life at night? Give your reason.
Parallel worked example for Support (model it, do not give the task answer): A big storm hits a seaside town on a Sunday in summer. Explain how the effects might have been different on a weekday in winter. (3 marks) Where are people? On a summer Sunday, crowds are on the beach and the promenade; on a winter weekday, most are at work or school indoors.; Link to danger: people outside in a storm are at more risk than people indoors.; Judgement: the summer Sunday is likely to see more injuries, because more people are outside and exposed.. Answer: On a summer Sunday the beach and promenade are crowded, so many people are outside when the storm hits and are at risk from wind and waves. On a winter weekday most people are indoors at work or school, where they are safer. So the summer Sunday storm would probably cause more injuries, because more people are exposed to it..
Core — reveal the hint only on request: Where people are, what buildings they are in, how rescue is affected, then your judgement.
Stretch — no help; when finished: Explain why the answer to this question might be different for a rich country and a poor one, using the idea that earthquakes do not kill people directly.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Task 2: Twelve hours later. Same task, three ways in: one destination for everyone; only the scaffold changes. Pupils take the lane their do-now score pointed to (3/3 Stretch, 2/3 Core, 0–1 Support) and may move up at any time.
Start the pre-teach group first: they know the words and the passage, so set them going on the task before you turn to the rest. Recall before help: every pupil tries from memory before opening a lane.
The task: An earthquake strikes a city in the middle of the afternoon. Explain how the damage and loss of life might have been different if it had struck 12 hours later, in the middle of the night. (4 marks)
Support — work through the steps with the group: (1) Sentence 1: where are people in the afternoon? Schools, workplaces, outside. (2) Sentence 2: where are people at night? Asleep at home. Say what that means for the buildings they are in. (3) Sentence 3: think about the rescuers. What is harder in the dark? (4) Sentence 4: decide. More or less loss of life at night? Give your reason.
Parallel worked example for Support (model it, do not give the task answer): A big storm hits a seaside town on a Sunday in summer. Explain how the effects might have been different on a weekday in winter. (3 marks) Where are people? On a summer Sunday, crowds are on the beach and the promenade; on a winter weekday, most are at work or school indoors.; Link to danger: people outside in a storm are at more risk than people indoors.; Judgement: the summer Sunday is likely to see more injuries, because more people are outside and exposed.. Answer: On a summer Sunday the beach and promenade are crowded, so many people are outside when the storm hits and are at risk from wind and waves. On a winter weekday most people are indoors at work or school, where they are safer. So the summer Sunday storm would probably cause more injuries, because more people are exposed to it..
Core — reveal the hint only on request: Where people are, what buildings they are in, how rescue is affected, then your judgement.
Stretch — no help; when finished: Explain why the answer to this question might be different for a rich country and a poor one, using the idea that earthquakes do not kill people directly.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Exit ticket — individual, silent, on a slip or mini-whiteboard. Recall before help: no notes, no lanes, no hints. Collect before pupils leave.
Question: Farmers grow tomatoes on the slopes of Mount Vesuvius in Italy, even though it is an active volcano. Why?
Answer: C   Volcanic ash has made the soil very fertile, so crops grow well. Volcanic ash breaks down into mineral-rich, fertile soil, so the slopes of Vesuvius are excellent farmland despite the risk.
Source of this question: module 3 task ("Why farm on a volcano?") from the manifest.
Sort the slips: correct → ready to move on; incorrect → start next lesson in the pre-teach group, with the read-along and the Support lane. Same destination next time.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Answers — task 1: Sorting a case study. Reveal the answer; pupils mark their own work in a different colour, then read the "why" together. Same destination for every lane, so one answer serves the whole class.
Answer: Cause  →  E  Moving plates released pressure that had built up between them; Social effect  →  D  Thousands of people lost their homes and schools were destroyed; Economic effect  →  B  Factories, roads and shops were damaged and cost a great deal to rebuild; Environmental effect  →  C  Landslides buried hillsides and blocked rivers; Response  →  A  Rescue teams, tents and medical help were sent to the affected area
Why: Cause comes first; social effects are on people, economic on money and property, environmental on the land; the response is the help given afterwards.
Ask a Support pupil to explain one step, and a Stretch pupil to share their extension.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Answers — task 2: Twelve hours later. Reveal the answer; pupils mark their own work in a different colour, then read the "why" together. Same destination for every lane, so one answer serves the whole class.
Answer: Says where people are at each time: in the afternoon at school, at work or outside; at night asleep at home; Links where people are to the buildings they are in and how those buildings cope with shaking; Considers the rescue: darkness makes it harder to find and reach trapped people; Reaches a clear judgement (more or less loss of life) and gives a reason for it
Why: A strong answer follows people through the day, links where they are to the buildings around them, remembers that rescuers work less well in the dark, and ends with a reasoned judgement rather than a guess.
Model answer: In the middle of the afternoon most children are in school and many adults are at work or outside, so whether people are hurt depends on how well schools, offices and factories stand up to shaking. Twelve hours later, in the middle of the night, almost everyone is asleep at home, so it is the strength of houses that matters most, and people are slower to react because they are woken suddenly. Rescue is also harder in the dark, as teams cannot see collapsed buildings or trapped people easily. Overall I think a night-time earthquake could cause more loss of life if homes are weaker than the daytime buildings, but if schools were poorly built the afternoon would be worse, so the answer depends on which buildings are the weakest.
Success criteria: Says where people are at each time: in the afternoon at school, at work or outside; at night asleep at home; Links where people are to the buildings they are in and how those buildings cope with shaking; Considers the rescue: darkness makes it harder to find and reach trapped people; Reaches a clear judgement (more or less loss of life) and gives a reason for it
Ask a Support pupil to explain one step, and a Stretch pupil to share their extension.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Answers — task 2: Twelve hours later. Reveal the answer; pupils mark their own work in a different colour, then read the "why" together. Same destination for every lane, so one answer serves the whole class.
Answer: Says where people are at each time: in the afternoon at school, at work or outside; at night asleep at home; Links where people are to the buildings they are in and how those buildings cope with shaking; Considers the rescue: darkness makes it harder to find and reach trapped people; Reaches a clear judgement (more or less loss of life) and gives a reason for it
Why: A strong answer follows people through the day, links where they are to the buildings around them, remembers that rescuers work less well in the dark, and ends with a reasoned judgement rather than a guess.
Model answer: In the middle of the afternoon most children are in school and many adults are at work or outside, so whether people are hurt depends on how well schools, offices and factories stand up to shaking. Twelve hours later, in the middle of the night, almost everyone is asleep at home, so it is the strength of houses that matters most, and people are slower to react because they are woken suddenly. Rescue is also harder in the dark, as teams cannot see collapsed buildings or trapped people easily. Overall I think a night-time earthquake could cause more loss of life if homes are weaker than the daytime buildings, but if schools were poorly built the afternoon would be worse, so the answer depends on which buildings are the weakest.
Success criteria: Says where people are at each time: in the afternoon at school, at work or outside; at night asleep at home; Links where people are to the buildings they are in and how those buildings cope with shaking; Considers the rescue: darkness makes it harder to find and reach trapped people; Reaches a clear judgement (more or less loss of life) and gives a reason for it
Ask a Support pupil to explain one step, and a Stretch pupil to share their extension.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Answers — exit ticket: Exit ticket. Reveal the answer; pupils mark their own work in a different colour, then read the "why" together. Same destination for every lane, so one answer serves the whole class.
Answer: C   Volcanic ash has made the soil very fertile, so crops grow well
Why: Volcanic ash breaks down into mineral-rich, fertile soil, so the slopes of Vesuvius are excellent farmland despite the risk.
Ask a Support pupil to explain one step, and a Stretch pupil to share their extension.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24</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image" Target="../media/image-1002-1.png"/><Relationship Id="rId2"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image" Target="../media/image-1003-1.png"/><Relationship Id="rId2"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preserve="1">
  <p:cSld name="ASTRA_TITLE">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0" y="6400800"/>
            <a:ext cx="12191695" cy="457200"/>
          </a:xfrm>
          <a:prstGeom prst="rect">
            <a:avLst/>
          </a:prstGeom>
          <a:solidFill>
            <a:srgbClr val="E7EDE8"/>
          </a:solidFill>
          <a:ln w="12700">
            <a:solidFill>
              <a:srgbClr val="E7EDE8"/>
            </a:solidFill>
            <a:prstDash val="solid"/>
          </a:ln>
        </p:spPr>
      </p:sp>
      <p:pic>
        <p:nvPicPr>
          <p:cNvPr id="3" name="Image 0" descr="Edu.AI hexagon motif">    </p:cNvPr>
          <p:cNvPicPr>
            <a:picLocks noChangeAspect="1"/>
          </p:cNvPicPr>
          <p:nvPr/>
        </p:nvPicPr>
        <p:blipFill>
          <a:blip r:embed="rId1"/>
          <a:stretch>
            <a:fillRect/>
          </a:stretch>
        </p:blipFill>
        <p:spPr>
          <a:xfrm>
            <a:off x="164592" y="6437376"/>
            <a:ext cx="438912" cy="384048"/>
          </a:xfrm>
          <a:prstGeom prst="rect">
            <a:avLst/>
          </a:prstGeom>
        </p:spPr>
      </p:pic>
      <p:sp>
        <p:nvSpPr>
          <p:cNvPr id="4" name="Text 1"/>
          <p:cNvSpPr/>
          <p:nvPr/>
        </p:nvSpPr>
        <p:spPr>
          <a:xfrm>
            <a:off x="713232" y="6446520"/>
            <a:ext cx="8138160" cy="365760"/>
          </a:xfrm>
          <a:prstGeom prst="rect">
            <a:avLst/>
          </a:prstGeom>
          <a:noFill/>
          <a:ln/>
        </p:spPr>
        <p:txBody>
          <a:bodyPr wrap="square" lIns="0" tIns="0" rIns="0" bIns="0" rtlCol="0" anchor="ctr"/>
          <a:lstStyle/>
          <a:p>
            <a:pPr indent="0" marL="0">
              <a:buNone/>
            </a:pPr>
            <a:r>
              <a:rPr lang="en-US" sz="1000" dirty="0">
                <a:solidFill>
                  <a:srgbClr val="4A505C"/>
                </a:solidFill>
                <a:latin typeface="Calibri" pitchFamily="34" charset="0"/>
                <a:ea typeface="Calibri" pitchFamily="34" charset="-122"/>
                <a:cs typeface="Calibri" pitchFamily="34" charset="-120"/>
              </a:rPr>
              <a:t>Geography · Year 8 · Tectonic Processes · Ad Astra pilot exemplar — awaiting department review</a:t>
            </a:r>
            <a:endParaRPr lang="en-US" sz="1000" dirty="0"/>
          </a:p>
        </p:txBody>
      </p:sp>
      <p:sp>
        <p:nvSpPr>
          <p:cNvPr id="5" name="Text 2"/>
          <p:cNvSpPr/>
          <p:nvPr/>
        </p:nvSpPr>
        <p:spPr>
          <a:xfrm>
            <a:off x="8915400" y="6446520"/>
            <a:ext cx="2011680" cy="365760"/>
          </a:xfrm>
          <a:prstGeom prst="rect">
            <a:avLst/>
          </a:prstGeom>
          <a:noFill/>
          <a:ln/>
        </p:spPr>
        <p:txBody>
          <a:bodyPr wrap="square" lIns="0" tIns="0" rIns="0" bIns="0" rtlCol="0" anchor="ctr"/>
          <a:lstStyle/>
          <a:p>
            <a:pPr algn="r" indent="0" marL="0">
              <a:buNone/>
            </a:pPr>
            <a:r>
              <a:rPr lang="en-US" sz="1000" dirty="0">
                <a:solidFill>
                  <a:srgbClr val="4A505C"/>
                </a:solidFill>
                <a:latin typeface="Calibri" pitchFamily="34" charset="0"/>
                <a:ea typeface="Calibri" pitchFamily="34" charset="-122"/>
                <a:cs typeface="Calibri" pitchFamily="34" charset="-120"/>
              </a:rPr>
              <a:t>© 2026 Edu.Ai SV Digital</a:t>
            </a:r>
            <a:endParaRPr lang="en-US" sz="1000" dirty="0"/>
          </a:p>
        </p:txBody>
      </p:sp>
      <p:sp>
        <p:nvSpPr>
          <p:cNvPr id="25" name="Slide Number Placeholder 0"/>
          <p:cNvSpPr>
            <a:spLocks noGrp="1"/>
          </p:cNvSpPr>
          <p:nvPr>
            <p:ph type="sldNum" sz="quarter" idx="4294967295"/>
          </p:nvPr>
        </p:nvSpPr>
        <p:spPr>
          <a:xfrm>
            <a:off x="11018520" y="6446520"/>
            <a:ext cx="640080" cy="365760"/>
          </a:xfrm>
          <a:prstGeom prst="rect">
            <a:avLst/>
          </a:prstGeom>
          <a:extLst>
            <a:ext uri="{C572A759-6A51-4108-AA02-DFA0A04FC94B}">
              <ma14:wrappingTextBoxFlag xmlns:ma14="http://schemas.microsoft.com/office/mac/drawingml/2011/main" val="0"/>
            </a:ext>
          </a:extLst>
        </p:spPr>
        <p:txBody>
          <a:bodyPr lIns="0" tIns="0" rIns="0" bIns="0" anchor="ctr"/>
          <a:lstStyle>
            <a:lvl1pPr>
              <a:defRPr sz="1000">
                <a:solidFill>
                  <a:srgbClr val="396043"/>
                </a:solidFill>
                <a:latin typeface="Calibri"/>
                <a:ea typeface="Calibri"/>
                <a:cs typeface="Calibri"/>
              </a:defRPr>
            </a:lvl1pPr>
          </a:lstStyle>
          <a:p>
            <a:pPr algn="r"/>
            <a:fld id="{F7021451-1387-4CA6-816F-3879F97B5CBC}" type="slidenum">
              <a:rPr b="0" lang="en-US"/>
              <a:t>1002</a:t>
            </a:fld>
            <a:endParaRPr lang="en-US"/>
          </a:p>
        </p:txBody>
      </p:sp>
    </p:spTree>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preserve="1">
  <p:cSld name="ASTRA_CONTENT">
    <p:bg>
      <p:bgPr>
        <a:solidFill>
          <a:srgbClr val="F9F6F0"/>
        </a:solidFill>
      </p:bgPr>
    </p:bg>
    <p:spTree>
      <p:nvGrpSpPr>
        <p:cNvPr id="1" name=""/>
        <p:cNvGrpSpPr/>
        <p:nvPr/>
      </p:nvGrpSpPr>
      <p:grpSpPr>
        <a:xfrm>
          <a:off x="0" y="0"/>
          <a:ext cx="0" cy="0"/>
          <a:chOff x="0" y="0"/>
          <a:chExt cx="0" cy="0"/>
        </a:xfrm>
      </p:grpSpPr>
      <p:sp>
        <p:nvSpPr>
          <p:cNvPr id="2" name="Shape 0"/>
          <p:cNvSpPr/>
          <p:nvPr/>
        </p:nvSpPr>
        <p:spPr>
          <a:xfrm>
            <a:off x="0" y="6400800"/>
            <a:ext cx="12191695" cy="457200"/>
          </a:xfrm>
          <a:prstGeom prst="rect">
            <a:avLst/>
          </a:prstGeom>
          <a:solidFill>
            <a:srgbClr val="E7EDE8"/>
          </a:solidFill>
          <a:ln w="12700">
            <a:solidFill>
              <a:srgbClr val="E7EDE8"/>
            </a:solidFill>
            <a:prstDash val="solid"/>
          </a:ln>
        </p:spPr>
      </p:sp>
      <p:pic>
        <p:nvPicPr>
          <p:cNvPr id="3" name="Image 0" descr="Edu.AI hexagon motif">    </p:cNvPr>
          <p:cNvPicPr>
            <a:picLocks noChangeAspect="1"/>
          </p:cNvPicPr>
          <p:nvPr/>
        </p:nvPicPr>
        <p:blipFill>
          <a:blip r:embed="rId1"/>
          <a:stretch>
            <a:fillRect/>
          </a:stretch>
        </p:blipFill>
        <p:spPr>
          <a:xfrm>
            <a:off x="164592" y="6437376"/>
            <a:ext cx="438912" cy="384048"/>
          </a:xfrm>
          <a:prstGeom prst="rect">
            <a:avLst/>
          </a:prstGeom>
        </p:spPr>
      </p:pic>
      <p:sp>
        <p:nvSpPr>
          <p:cNvPr id="4" name="Text 1"/>
          <p:cNvSpPr/>
          <p:nvPr/>
        </p:nvSpPr>
        <p:spPr>
          <a:xfrm>
            <a:off x="713232" y="6446520"/>
            <a:ext cx="8138160" cy="365760"/>
          </a:xfrm>
          <a:prstGeom prst="rect">
            <a:avLst/>
          </a:prstGeom>
          <a:noFill/>
          <a:ln/>
        </p:spPr>
        <p:txBody>
          <a:bodyPr wrap="square" lIns="0" tIns="0" rIns="0" bIns="0" rtlCol="0" anchor="ctr"/>
          <a:lstStyle/>
          <a:p>
            <a:pPr indent="0" marL="0">
              <a:buNone/>
            </a:pPr>
            <a:r>
              <a:rPr lang="en-US" sz="1000" dirty="0">
                <a:solidFill>
                  <a:srgbClr val="4A505C"/>
                </a:solidFill>
                <a:latin typeface="Calibri" pitchFamily="34" charset="0"/>
                <a:ea typeface="Calibri" pitchFamily="34" charset="-122"/>
                <a:cs typeface="Calibri" pitchFamily="34" charset="-120"/>
              </a:rPr>
              <a:t>Geography · Year 8 · Tectonic Processes · Ad Astra pilot exemplar — awaiting department review</a:t>
            </a:r>
            <a:endParaRPr lang="en-US" sz="1000" dirty="0"/>
          </a:p>
        </p:txBody>
      </p:sp>
      <p:sp>
        <p:nvSpPr>
          <p:cNvPr id="5" name="Text 2"/>
          <p:cNvSpPr/>
          <p:nvPr/>
        </p:nvSpPr>
        <p:spPr>
          <a:xfrm>
            <a:off x="8915400" y="6446520"/>
            <a:ext cx="2011680" cy="365760"/>
          </a:xfrm>
          <a:prstGeom prst="rect">
            <a:avLst/>
          </a:prstGeom>
          <a:noFill/>
          <a:ln/>
        </p:spPr>
        <p:txBody>
          <a:bodyPr wrap="square" lIns="0" tIns="0" rIns="0" bIns="0" rtlCol="0" anchor="ctr"/>
          <a:lstStyle/>
          <a:p>
            <a:pPr algn="r" indent="0" marL="0">
              <a:buNone/>
            </a:pPr>
            <a:r>
              <a:rPr lang="en-US" sz="1000" dirty="0">
                <a:solidFill>
                  <a:srgbClr val="4A505C"/>
                </a:solidFill>
                <a:latin typeface="Calibri" pitchFamily="34" charset="0"/>
                <a:ea typeface="Calibri" pitchFamily="34" charset="-122"/>
                <a:cs typeface="Calibri" pitchFamily="34" charset="-120"/>
              </a:rPr>
              <a:t>© 2026 Edu.Ai SV Digital</a:t>
            </a:r>
            <a:endParaRPr lang="en-US" sz="1000" dirty="0"/>
          </a:p>
        </p:txBody>
      </p:sp>
      <p:sp>
        <p:nvSpPr>
          <p:cNvPr id="25" name="Slide Number Placeholder 0"/>
          <p:cNvSpPr>
            <a:spLocks noGrp="1"/>
          </p:cNvSpPr>
          <p:nvPr>
            <p:ph type="sldNum" sz="quarter" idx="4294967295"/>
          </p:nvPr>
        </p:nvSpPr>
        <p:spPr>
          <a:xfrm>
            <a:off x="11018520" y="6446520"/>
            <a:ext cx="640080" cy="365760"/>
          </a:xfrm>
          <a:prstGeom prst="rect">
            <a:avLst/>
          </a:prstGeom>
          <a:extLst>
            <a:ext uri="{C572A759-6A51-4108-AA02-DFA0A04FC94B}">
              <ma14:wrappingTextBoxFlag xmlns:ma14="http://schemas.microsoft.com/office/mac/drawingml/2011/main" val="0"/>
            </a:ext>
          </a:extLst>
        </p:spPr>
        <p:txBody>
          <a:bodyPr lIns="0" tIns="0" rIns="0" bIns="0" anchor="ctr"/>
          <a:lstStyle>
            <a:lvl1pPr>
              <a:defRPr sz="1000">
                <a:solidFill>
                  <a:srgbClr val="396043"/>
                </a:solidFill>
                <a:latin typeface="Calibri"/>
                <a:ea typeface="Calibri"/>
                <a:cs typeface="Calibri"/>
              </a:defRPr>
            </a:lvl1pPr>
          </a:lstStyle>
          <a:p>
            <a:pPr algn="r"/>
            <a:fld id="{F7021451-1387-4CA6-816F-3879F97B5CBC}" type="slidenum">
              <a:rPr b="0" lang="en-US"/>
              <a:t>1003</a:t>
            </a:fld>
            <a:endParaRPr lang="en-US"/>
          </a:p>
        </p:txBody>
      </p:sp>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5" name="Slide Number Placeholder 0"/>
          <p:cNvSpPr>
            <a:spLocks noGrp="1"/>
          </p:cNvSpPr>
          <p:nvPr>
            <p:ph type="sldNum" sz="quarter" idx="4294967295"/>
          </p:nvPr>
        </p:nvSpPr>
        <p:spPr>
          <a:xfrm>
            <a:off x="11018520" y="6446520"/>
            <a:ext cx="640080" cy="365760"/>
          </a:xfrm>
          <a:prstGeom prst="rect">
            <a:avLst/>
          </a:prstGeom>
          <a:extLst>
            <a:ext uri="{C572A759-6A51-4108-AA02-DFA0A04FC94B}">
              <ma14:wrappingTextBoxFlag xmlns:ma14="http://schemas.microsoft.com/office/mac/drawingml/2011/main" val="0"/>
            </a:ext>
          </a:extLst>
        </p:spPr>
        <p:txBody>
          <a:bodyPr lIns="0" tIns="0" rIns="0" bIns="0" anchor="ctr"/>
          <a:lstStyle>
            <a:lvl1pPr>
              <a:defRPr sz="1000">
                <a:solidFill>
                  <a:srgbClr val="396043"/>
                </a:solidFill>
                <a:latin typeface="Calibri"/>
                <a:ea typeface="Calibri"/>
                <a:cs typeface="Calibri"/>
              </a:defRPr>
            </a:lvl1pPr>
          </a:lstStyle>
          <a:p>
            <a:pPr algn="r"/>
            <a:fld id="{F7021451-1387-4CA6-816F-3879F97B5CBC}" type="slidenum">
              <a:rPr b="0" lang="en-US"/>
              <a:t>null</a:t>
            </a:fld>
            <a:endParaRPr lang="en-US"/>
          </a:p>
        </p:txBody>
      </p:sp>
    </p:spTree>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image" Target="../media/image-1-1.png"/><Relationship Id="rId2" Type="http://schemas.openxmlformats.org/officeDocument/2006/relationships/slideLayout" Target="../slideLayouts/slideLayout2.xml"/><Relationship Id="rId3"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17.xm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18.xml"/></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19.xml"/></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20.xml"/></Relationships>
</file>

<file path=ppt/slides/_rels/slide21.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21.xml"/></Relationships>
</file>

<file path=ppt/slides/_rels/slide22.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22.xml"/></Relationships>
</file>

<file path=ppt/slides/_rels/slide23.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23.xml"/></Relationships>
</file>

<file path=ppt/slides/_rels/slide24.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24.xml"/></Relationships>
</file>

<file path=ppt/slides/slide1.xml><?xml version="1.0" encoding="utf-8"?>
<p:sld xmlns:a="http://schemas.openxmlformats.org/drawingml/2006/main" xmlns:r="http://schemas.openxmlformats.org/officeDocument/2006/relationships" xmlns:p="http://schemas.openxmlformats.org/presentationml/2006/main">
  <p:cSld name="Slide 1">
    <p:spTree>
      <p:nvGrpSpPr>
        <p:cNvPr id="1" name=""/>
        <p:cNvGrpSpPr/>
        <p:nvPr/>
      </p:nvGrpSpPr>
      <p:grpSpPr>
        <a:xfrm>
          <a:off x="0" y="0"/>
          <a:ext cx="0" cy="0"/>
          <a:chOff x="0" y="0"/>
          <a:chExt cx="0" cy="0"/>
        </a:xfrm>
      </p:grpSpPr>
      <p:sp>
        <p:nvSpPr>
          <p:cNvPr id="3" name="band-hue"/>
          <p:cNvSpPr/>
          <p:nvPr/>
        </p:nvSpPr>
        <p:spPr>
          <a:xfrm>
            <a:off x="0" y="5989320"/>
            <a:ext cx="12191695" cy="164592"/>
          </a:xfrm>
          <a:prstGeom prst="rect">
            <a:avLst/>
          </a:prstGeom>
          <a:solidFill>
            <a:srgbClr val="3F6B4A"/>
          </a:solidFill>
          <a:ln/>
        </p:spPr>
      </p:sp>
      <p:sp>
        <p:nvSpPr>
          <p:cNvPr id="4" name="band-gold"/>
          <p:cNvSpPr/>
          <p:nvPr/>
        </p:nvSpPr>
        <p:spPr>
          <a:xfrm>
            <a:off x="0" y="6208776"/>
            <a:ext cx="12191695" cy="64008"/>
          </a:xfrm>
          <a:prstGeom prst="rect">
            <a:avLst/>
          </a:prstGeom>
          <a:solidFill>
            <a:srgbClr val="B8862B"/>
          </a:solidFill>
          <a:ln/>
        </p:spPr>
      </p:sp>
      <p:sp>
        <p:nvSpPr>
          <p:cNvPr id="5" name="hex-deco1"/>
          <p:cNvSpPr/>
          <p:nvPr/>
        </p:nvSpPr>
        <p:spPr>
          <a:xfrm>
            <a:off x="1373886" y="276195"/>
            <a:ext cx="525780" cy="455325"/>
          </a:xfrm>
          <a:prstGeom prst="hexagon">
            <a:avLst/>
          </a:prstGeom>
          <a:solidFill>
            <a:srgbClr val="DBE4DE"/>
          </a:solidFill>
          <a:ln/>
        </p:spPr>
      </p:sp>
      <p:sp>
        <p:nvSpPr>
          <p:cNvPr id="6" name="hex-deco2"/>
          <p:cNvSpPr/>
          <p:nvPr/>
        </p:nvSpPr>
        <p:spPr>
          <a:xfrm>
            <a:off x="1373886" y="1168557"/>
            <a:ext cx="525780" cy="455325"/>
          </a:xfrm>
          <a:prstGeom prst="hexagon">
            <a:avLst/>
          </a:prstGeom>
          <a:ln w="19050">
            <a:solidFill>
              <a:srgbClr val="B8862B"/>
            </a:solidFill>
            <a:prstDash val="solid"/>
          </a:ln>
        </p:spPr>
      </p:sp>
      <p:sp>
        <p:nvSpPr>
          <p:cNvPr id="7" name="hex-chapter"/>
          <p:cNvSpPr/>
          <p:nvPr/>
        </p:nvSpPr>
        <p:spPr>
          <a:xfrm>
            <a:off x="548640" y="457200"/>
            <a:ext cx="1051560" cy="910651"/>
          </a:xfrm>
          <a:prstGeom prst="hexagon">
            <a:avLst/>
          </a:prstGeom>
          <a:solidFill>
            <a:srgbClr val="3F6B4A"/>
          </a:solidFill>
          <a:ln/>
        </p:spPr>
      </p:sp>
      <p:sp>
        <p:nvSpPr>
          <p:cNvPr id="8" name="hex-chapter-label"/>
          <p:cNvSpPr txBox="1"/>
          <p:nvPr/>
        </p:nvSpPr>
        <p:spPr>
          <a:xfrm>
            <a:off x="548640" y="457200"/>
            <a:ext cx="1051560" cy="910651"/>
          </a:xfrm>
          <a:prstGeom prst="rect">
            <a:avLst/>
          </a:prstGeom>
          <a:noFill/>
          <a:ln/>
        </p:spPr>
        <p:txBody>
          <a:bodyPr wrap="square" lIns="0" tIns="0" rIns="0" bIns="0" rtlCol="0" anchor="ctr"/>
          <a:lstStyle/>
          <a:p>
            <a:pPr algn="ctr" indent="0" marL="0">
              <a:buNone/>
            </a:pPr>
            <a:r>
              <a:rPr lang="en-US" sz="4000" b="1" dirty="0">
                <a:solidFill>
                  <a:srgbClr val="FFFFFF"/>
                </a:solidFill>
                <a:latin typeface="Cambria" pitchFamily="34" charset="0"/>
                <a:ea typeface="Cambria" pitchFamily="34" charset="-122"/>
                <a:cs typeface="Cambria" pitchFamily="34" charset="-120"/>
              </a:rPr>
              <a:t>5</a:t>
            </a:r>
            <a:endParaRPr lang="en-US" sz="4000" dirty="0"/>
          </a:p>
        </p:txBody>
      </p:sp>
      <p:sp>
        <p:nvSpPr>
          <p:cNvPr id="9" name="kicker"/>
          <p:cNvSpPr txBox="1"/>
          <p:nvPr/>
        </p:nvSpPr>
        <p:spPr>
          <a:xfrm>
            <a:off x="2331720" y="256032"/>
            <a:ext cx="3504895" cy="1298448"/>
          </a:xfrm>
          <a:prstGeom prst="rect">
            <a:avLst/>
          </a:prstGeom>
          <a:noFill/>
          <a:ln/>
        </p:spPr>
        <p:txBody>
          <a:bodyPr wrap="square" lIns="63500" tIns="63500" rIns="63500" bIns="63500" rtlCol="0" anchor="ctr"/>
          <a:lstStyle/>
          <a:p>
            <a:pPr algn="l" indent="0" marL="0">
              <a:spcAft>
                <a:spcPts val="200"/>
              </a:spcAft>
              <a:buNone/>
            </a:pPr>
            <a:r>
              <a:rPr lang="en-US" sz="1800" b="1" dirty="0">
                <a:solidFill>
                  <a:srgbClr val="3F6B4A"/>
                </a:solidFill>
                <a:latin typeface="Calibri" pitchFamily="34" charset="0"/>
                <a:ea typeface="Calibri" pitchFamily="34" charset="-122"/>
                <a:cs typeface="Calibri" pitchFamily="34" charset="-120"/>
              </a:rPr>
              <a:t>Geography · Year 8</a:t>
            </a:r>
            <a:endParaRPr lang="en-US" sz="1800" dirty="0"/>
          </a:p>
          <a:p>
            <a:pPr algn="l" indent="0" marL="0">
              <a:spcAft>
                <a:spcPts val="200"/>
              </a:spcAft>
              <a:buNone/>
            </a:pPr>
            <a:r>
              <a:rPr lang="en-US" sz="1800" b="1" dirty="0">
                <a:solidFill>
                  <a:srgbClr val="936B22"/>
                </a:solidFill>
                <a:latin typeface="Calibri" pitchFamily="34" charset="0"/>
                <a:ea typeface="Calibri" pitchFamily="34" charset="-122"/>
                <a:cs typeface="Calibri" pitchFamily="34" charset="-120"/>
              </a:rPr>
              <a:t>Chapter 5/5</a:t>
            </a:r>
            <a:endParaRPr lang="en-US" sz="1800" dirty="0"/>
          </a:p>
          <a:p>
            <a:pPr algn="l" indent="0" marL="0">
              <a:buNone/>
            </a:pPr>
            <a:r>
              <a:rPr lang="en-US" sz="1800" dirty="0">
                <a:solidFill>
                  <a:srgbClr val="4A505C"/>
                </a:solidFill>
                <a:latin typeface="Calibri" pitchFamily="34" charset="0"/>
                <a:ea typeface="Calibri" pitchFamily="34" charset="-122"/>
                <a:cs typeface="Calibri" pitchFamily="34" charset="-120"/>
              </a:rPr>
              <a:t>Tectonic Processes · AQA KS3 → 8035</a:t>
            </a:r>
            <a:endParaRPr lang="en-US" sz="1800" dirty="0"/>
          </a:p>
        </p:txBody>
      </p:sp>
      <p:sp>
        <p:nvSpPr>
          <p:cNvPr id="10" name="deck-title"/>
          <p:cNvSpPr txBox="1"/>
          <p:nvPr/>
        </p:nvSpPr>
        <p:spPr>
          <a:xfrm>
            <a:off x="548640" y="2041398"/>
            <a:ext cx="5287975" cy="1183640"/>
          </a:xfrm>
          <a:prstGeom prst="rect">
            <a:avLst/>
          </a:prstGeom>
          <a:noFill/>
          <a:ln/>
        </p:spPr>
        <p:txBody>
          <a:bodyPr wrap="square" lIns="63500" tIns="63500" rIns="63500" bIns="63500" rtlCol="0" anchor="t"/>
          <a:lstStyle/>
          <a:p>
            <a:pPr algn="l" indent="0" marL="0">
              <a:buNone/>
            </a:pPr>
            <a:r>
              <a:rPr lang="en-US" sz="3200" b="1" dirty="0">
                <a:solidFill>
                  <a:srgbClr val="1E2229"/>
                </a:solidFill>
                <a:latin typeface="Cambria" pitchFamily="34" charset="0"/>
                <a:ea typeface="Cambria" pitchFamily="34" charset="-122"/>
                <a:cs typeface="Cambria" pitchFamily="34" charset="-120"/>
              </a:rPr>
              <a:t>Living with earthquakes and volcanoes</a:t>
            </a:r>
            <a:endParaRPr lang="en-US" sz="3200" dirty="0"/>
          </a:p>
        </p:txBody>
      </p:sp>
      <p:sp>
        <p:nvSpPr>
          <p:cNvPr id="11" name="lessons-card"/>
          <p:cNvSpPr/>
          <p:nvPr/>
        </p:nvSpPr>
        <p:spPr>
          <a:xfrm>
            <a:off x="548640" y="3453638"/>
            <a:ext cx="5287975" cy="1948180"/>
          </a:xfrm>
          <a:prstGeom prst="roundRect">
            <a:avLst>
              <a:gd name="adj" fmla="val 3755"/>
            </a:avLst>
          </a:prstGeom>
          <a:solidFill>
            <a:srgbClr val="EFF2F0"/>
          </a:solidFill>
          <a:ln/>
        </p:spPr>
      </p:sp>
      <p:sp>
        <p:nvSpPr>
          <p:cNvPr id="12" name="lessons"/>
          <p:cNvSpPr txBox="1"/>
          <p:nvPr/>
        </p:nvSpPr>
        <p:spPr>
          <a:xfrm>
            <a:off x="685800" y="3545078"/>
            <a:ext cx="5013655" cy="1765300"/>
          </a:xfrm>
          <a:prstGeom prst="rect">
            <a:avLst/>
          </a:prstGeom>
          <a:noFill/>
          <a:ln/>
        </p:spPr>
        <p:txBody>
          <a:bodyPr wrap="square" lIns="63500" tIns="63500" rIns="63500" bIns="63500" rtlCol="0" anchor="t"/>
          <a:lstStyle/>
          <a:p>
            <a:pPr algn="l" indent="0" marL="0">
              <a:spcAft>
                <a:spcPts val="400"/>
              </a:spcAft>
              <a:buNone/>
            </a:pPr>
            <a:r>
              <a:rPr lang="en-US" sz="2000" b="1" dirty="0">
                <a:solidFill>
                  <a:srgbClr val="3F6B4A"/>
                </a:solidFill>
                <a:latin typeface="Calibri" pitchFamily="34" charset="0"/>
                <a:ea typeface="Calibri" pitchFamily="34" charset="-122"/>
                <a:cs typeface="Calibri" pitchFamily="34" charset="-120"/>
              </a:rPr>
              <a:t>Lessons covered</a:t>
            </a:r>
            <a:endParaRPr lang="en-US" sz="2000" dirty="0"/>
          </a:p>
          <a:p>
            <a:pPr algn="l" indent="0" marL="0">
              <a:spcAft>
                <a:spcPts val="300"/>
              </a:spcAft>
              <a:buNone/>
            </a:pPr>
            <a:r>
              <a:rPr lang="en-US" sz="2000" b="1" dirty="0">
                <a:solidFill>
                  <a:srgbClr val="9C7225"/>
                </a:solidFill>
                <a:latin typeface="Calibri" pitchFamily="34" charset="0"/>
                <a:ea typeface="Calibri" pitchFamily="34" charset="-122"/>
                <a:cs typeface="Calibri" pitchFamily="34" charset="-120"/>
              </a:rPr>
              <a:t>4  </a:t>
            </a:r>
            <a:pPr algn="l" indent="0" marL="0">
              <a:spcAft>
                <a:spcPts val="300"/>
              </a:spcAft>
              <a:buNone/>
            </a:pPr>
            <a:r>
              <a:rPr lang="en-US" sz="2000" dirty="0">
                <a:solidFill>
                  <a:srgbClr val="1E2229"/>
                </a:solidFill>
                <a:latin typeface="Calibri" pitchFamily="34" charset="0"/>
                <a:ea typeface="Calibri" pitchFamily="34" charset="-122"/>
                <a:cs typeface="Calibri" pitchFamily="34" charset="-120"/>
              </a:rPr>
              <a:t>Case study: the Sichuan earthquake, 2008 (an NEE)</a:t>
            </a:r>
            <a:endParaRPr lang="en-US" sz="2000" dirty="0"/>
          </a:p>
          <a:p>
            <a:pPr algn="l" indent="0" marL="0">
              <a:spcAft>
                <a:spcPts val="300"/>
              </a:spcAft>
              <a:buNone/>
            </a:pPr>
            <a:r>
              <a:rPr lang="en-US" sz="2000" b="1" dirty="0">
                <a:solidFill>
                  <a:srgbClr val="9C7225"/>
                </a:solidFill>
                <a:latin typeface="Calibri" pitchFamily="34" charset="0"/>
                <a:ea typeface="Calibri" pitchFamily="34" charset="-122"/>
                <a:cs typeface="Calibri" pitchFamily="34" charset="-120"/>
              </a:rPr>
              <a:t>5  </a:t>
            </a:r>
            <a:pPr algn="l" indent="0" marL="0">
              <a:spcAft>
                <a:spcPts val="300"/>
              </a:spcAft>
              <a:buNone/>
            </a:pPr>
            <a:r>
              <a:rPr lang="en-US" sz="2000" dirty="0">
                <a:solidFill>
                  <a:srgbClr val="1E2229"/>
                </a:solidFill>
                <a:latin typeface="Calibri" pitchFamily="34" charset="0"/>
                <a:ea typeface="Calibri" pitchFamily="34" charset="-122"/>
                <a:cs typeface="Calibri" pitchFamily="34" charset="-120"/>
              </a:rPr>
              <a:t>Living in the shadow of volcanoes: Vesuvius, Hawaii and Iceland</a:t>
            </a:r>
            <a:endParaRPr lang="en-US" sz="2000" dirty="0"/>
          </a:p>
        </p:txBody>
      </p:sp>
      <p:sp>
        <p:nvSpPr>
          <p:cNvPr id="13" name="plate-frame"/>
          <p:cNvSpPr/>
          <p:nvPr/>
        </p:nvSpPr>
        <p:spPr>
          <a:xfrm>
            <a:off x="6248095" y="411480"/>
            <a:ext cx="5394960" cy="3130677"/>
          </a:xfrm>
          <a:prstGeom prst="rect">
            <a:avLst/>
          </a:prstGeom>
          <a:solidFill>
            <a:srgbClr val="F3EBDC"/>
          </a:solidFill>
          <a:ln w="19050">
            <a:solidFill>
              <a:srgbClr val="B8862B"/>
            </a:solidFill>
            <a:prstDash val="solid"/>
          </a:ln>
          <a:effectLst>
            <a:outerShdw sx="100000" sy="100000" kx="0" ky="0" algn="bl" rotWithShape="0" blurRad="76200" dist="25400" dir="5400000">
              <a:srgbClr val="000000">
                <a:alpha val="12000"/>
              </a:srgbClr>
            </a:outerShdw>
          </a:effectLst>
        </p:spPr>
      </p:sp>
      <p:pic>
        <p:nvPicPr>
          <p:cNvPr id="14" name="plate" descr="Ad Astra engraved plate for Geography, Year 8">    </p:cNvPr>
          <p:cNvPicPr>
            <a:picLocks noChangeAspect="1"/>
          </p:cNvPicPr>
          <p:nvPr/>
        </p:nvPicPr>
        <p:blipFill>
          <a:blip r:embed="rId1"/>
          <a:stretch>
            <a:fillRect/>
          </a:stretch>
        </p:blipFill>
        <p:spPr>
          <a:xfrm>
            <a:off x="6357823" y="521208"/>
            <a:ext cx="5175504" cy="2911221"/>
          </a:xfrm>
          <a:prstGeom prst="rect">
            <a:avLst/>
          </a:prstGeom>
        </p:spPr>
      </p:pic>
      <p:sp>
        <p:nvSpPr>
          <p:cNvPr id="15" name="plate-inner"/>
          <p:cNvSpPr/>
          <p:nvPr/>
        </p:nvSpPr>
        <p:spPr>
          <a:xfrm>
            <a:off x="6357823" y="521208"/>
            <a:ext cx="5175504" cy="2911221"/>
          </a:xfrm>
          <a:prstGeom prst="rect">
            <a:avLst/>
          </a:prstGeom>
          <a:ln w="9525">
            <a:solidFill>
              <a:srgbClr val="B8862B"/>
            </a:solidFill>
            <a:prstDash val="solid"/>
          </a:ln>
        </p:spPr>
      </p:sp>
      <p:sp>
        <p:nvSpPr>
          <p:cNvPr id="16" name="stud0"/>
          <p:cNvSpPr/>
          <p:nvPr/>
        </p:nvSpPr>
        <p:spPr>
          <a:xfrm>
            <a:off x="6138367" y="316456"/>
            <a:ext cx="219456" cy="190049"/>
          </a:xfrm>
          <a:prstGeom prst="hexagon">
            <a:avLst/>
          </a:prstGeom>
          <a:solidFill>
            <a:srgbClr val="B8862B"/>
          </a:solidFill>
          <a:ln w="12700">
            <a:solidFill>
              <a:srgbClr val="FFFFFF"/>
            </a:solidFill>
            <a:prstDash val="solid"/>
          </a:ln>
        </p:spPr>
      </p:sp>
      <p:sp>
        <p:nvSpPr>
          <p:cNvPr id="17" name="stud1"/>
          <p:cNvSpPr/>
          <p:nvPr/>
        </p:nvSpPr>
        <p:spPr>
          <a:xfrm>
            <a:off x="11533327" y="316456"/>
            <a:ext cx="219456" cy="190049"/>
          </a:xfrm>
          <a:prstGeom prst="hexagon">
            <a:avLst/>
          </a:prstGeom>
          <a:solidFill>
            <a:srgbClr val="B8862B"/>
          </a:solidFill>
          <a:ln w="12700">
            <a:solidFill>
              <a:srgbClr val="FFFFFF"/>
            </a:solidFill>
            <a:prstDash val="solid"/>
          </a:ln>
        </p:spPr>
      </p:sp>
      <p:sp>
        <p:nvSpPr>
          <p:cNvPr id="18" name="stud2"/>
          <p:cNvSpPr/>
          <p:nvPr/>
        </p:nvSpPr>
        <p:spPr>
          <a:xfrm>
            <a:off x="6138367" y="3447133"/>
            <a:ext cx="219456" cy="190049"/>
          </a:xfrm>
          <a:prstGeom prst="hexagon">
            <a:avLst/>
          </a:prstGeom>
          <a:solidFill>
            <a:srgbClr val="B8862B"/>
          </a:solidFill>
          <a:ln w="12700">
            <a:solidFill>
              <a:srgbClr val="FFFFFF"/>
            </a:solidFill>
            <a:prstDash val="solid"/>
          </a:ln>
        </p:spPr>
      </p:sp>
      <p:sp>
        <p:nvSpPr>
          <p:cNvPr id="19" name="stud3"/>
          <p:cNvSpPr/>
          <p:nvPr/>
        </p:nvSpPr>
        <p:spPr>
          <a:xfrm>
            <a:off x="11533327" y="3447133"/>
            <a:ext cx="219456" cy="190049"/>
          </a:xfrm>
          <a:prstGeom prst="hexagon">
            <a:avLst/>
          </a:prstGeom>
          <a:solidFill>
            <a:srgbClr val="B8862B"/>
          </a:solidFill>
          <a:ln w="12700">
            <a:solidFill>
              <a:srgbClr val="FFFFFF"/>
            </a:solidFill>
            <a:prstDash val="solid"/>
          </a:ln>
        </p:spPr>
      </p:sp>
      <p:sp>
        <p:nvSpPr>
          <p:cNvPr id="20" name="bq-card"/>
          <p:cNvSpPr/>
          <p:nvPr/>
        </p:nvSpPr>
        <p:spPr>
          <a:xfrm>
            <a:off x="6248095" y="3816477"/>
            <a:ext cx="5394960" cy="2053971"/>
          </a:xfrm>
          <a:prstGeom prst="roundRect">
            <a:avLst>
              <a:gd name="adj" fmla="val 3561"/>
            </a:avLst>
          </a:prstGeom>
          <a:solidFill>
            <a:srgbClr val="EFF2F0"/>
          </a:solidFill>
          <a:ln w="12700">
            <a:solidFill>
              <a:srgbClr val="B5C6B9"/>
            </a:solidFill>
            <a:prstDash val="solid"/>
          </a:ln>
        </p:spPr>
      </p:sp>
      <p:sp>
        <p:nvSpPr>
          <p:cNvPr id="21" name="bq-hex"/>
          <p:cNvSpPr/>
          <p:nvPr/>
        </p:nvSpPr>
        <p:spPr>
          <a:xfrm>
            <a:off x="6412687" y="3999357"/>
            <a:ext cx="621792" cy="538472"/>
          </a:xfrm>
          <a:prstGeom prst="hexagon">
            <a:avLst/>
          </a:prstGeom>
          <a:solidFill>
            <a:srgbClr val="B8862B"/>
          </a:solidFill>
          <a:ln/>
        </p:spPr>
      </p:sp>
      <p:sp>
        <p:nvSpPr>
          <p:cNvPr id="22" name="bq-hex-label"/>
          <p:cNvSpPr txBox="1"/>
          <p:nvPr/>
        </p:nvSpPr>
        <p:spPr>
          <a:xfrm>
            <a:off x="6412687" y="3999357"/>
            <a:ext cx="621792" cy="538472"/>
          </a:xfrm>
          <a:prstGeom prst="rect">
            <a:avLst/>
          </a:prstGeom>
          <a:noFill/>
          <a:ln/>
        </p:spPr>
        <p:txBody>
          <a:bodyPr wrap="square" lIns="0" tIns="0" rIns="0" bIns="0" rtlCol="0" anchor="ctr"/>
          <a:lstStyle/>
          <a:p>
            <a:pPr algn="ctr" indent="0" marL="0">
              <a:buNone/>
            </a:pPr>
            <a:r>
              <a:rPr lang="en-US" sz="2600" b="1" dirty="0">
                <a:solidFill>
                  <a:srgbClr val="FFFFFF"/>
                </a:solidFill>
                <a:latin typeface="Cambria" pitchFamily="34" charset="0"/>
                <a:ea typeface="Cambria" pitchFamily="34" charset="-122"/>
                <a:cs typeface="Cambria" pitchFamily="34" charset="-120"/>
              </a:rPr>
              <a:t>?</a:t>
            </a:r>
            <a:endParaRPr lang="en-US" sz="2600" dirty="0"/>
          </a:p>
        </p:txBody>
      </p:sp>
      <p:sp>
        <p:nvSpPr>
          <p:cNvPr id="23" name="bq"/>
          <p:cNvSpPr txBox="1"/>
          <p:nvPr/>
        </p:nvSpPr>
        <p:spPr>
          <a:xfrm>
            <a:off x="7144207" y="3907917"/>
            <a:ext cx="4389120" cy="1871091"/>
          </a:xfrm>
          <a:prstGeom prst="rect">
            <a:avLst/>
          </a:prstGeom>
          <a:noFill/>
          <a:ln/>
        </p:spPr>
        <p:txBody>
          <a:bodyPr wrap="square" lIns="63500" tIns="63500" rIns="63500" bIns="63500" rtlCol="0" anchor="ctr"/>
          <a:lstStyle/>
          <a:p>
            <a:pPr algn="l" indent="0" marL="0">
              <a:spcAft>
                <a:spcPts val="400"/>
              </a:spcAft>
              <a:buNone/>
            </a:pPr>
            <a:r>
              <a:rPr lang="en-US" sz="1800" b="1" dirty="0">
                <a:solidFill>
                  <a:srgbClr val="3F6B4A"/>
                </a:solidFill>
                <a:latin typeface="Calibri" pitchFamily="34" charset="0"/>
                <a:ea typeface="Calibri" pitchFamily="34" charset="-122"/>
                <a:cs typeface="Calibri" pitchFamily="34" charset="-120"/>
              </a:rPr>
              <a:t>Big question</a:t>
            </a:r>
            <a:endParaRPr lang="en-US" sz="1800" dirty="0"/>
          </a:p>
          <a:p>
            <a:pPr algn="l" indent="0" marL="0">
              <a:buNone/>
            </a:pPr>
            <a:r>
              <a:rPr lang="en-US" sz="2000" i="1" dirty="0">
                <a:solidFill>
                  <a:srgbClr val="1E2229"/>
                </a:solidFill>
                <a:latin typeface="Cambria" pitchFamily="34" charset="0"/>
                <a:ea typeface="Cambria" pitchFamily="34" charset="-122"/>
                <a:cs typeface="Cambria" pitchFamily="34" charset="-120"/>
              </a:rPr>
              <a:t>What moves the ground beneath our feet, where do earthquakes and volcanoes happen, and why do millions of people choose to live near them?</a:t>
            </a:r>
            <a:endParaRPr lang="en-US" sz="1800" dirty="0"/>
          </a:p>
        </p:txBody>
      </p:sp>
      <p:sp>
        <p:nvSpPr>
          <p:cNvPr id="25" name="Slide Number Placeholder 0"/>
          <p:cNvSpPr>
            <a:spLocks noGrp="1"/>
          </p:cNvSpPr>
          <p:nvPr>
            <p:ph type="sldNum" sz="quarter" idx="4294967295"/>
          </p:nvPr>
        </p:nvSpPr>
        <p:spPr>
          <a:xfrm>
            <a:off x="11018520" y="6446520"/>
            <a:ext cx="640080" cy="365760"/>
          </a:xfrm>
          <a:prstGeom prst="rect">
            <a:avLst/>
          </a:prstGeom>
          <a:extLst>
            <a:ext uri="{C572A759-6A51-4108-AA02-DFA0A04FC94B}">
              <ma14:wrappingTextBoxFlag xmlns:ma14="http://schemas.microsoft.com/office/mac/drawingml/2011/main" val="0"/>
            </a:ext>
          </a:extLst>
        </p:spPr>
        <p:txBody>
          <a:bodyPr lIns="0" tIns="0" rIns="0" bIns="0" anchor="ctr"/>
          <a:lstStyle>
            <a:lvl1pPr>
              <a:defRPr sz="1000">
                <a:solidFill>
                  <a:srgbClr val="396043"/>
                </a:solidFill>
                <a:latin typeface="Calibri"/>
                <a:ea typeface="Calibri"/>
                <a:cs typeface="Calibri"/>
              </a:defRPr>
            </a:lvl1pPr>
          </a:lstStyle>
          <a:p>
            <a:pPr algn="r"/>
            <a:fld id="{F7021451-1387-4CA6-816F-3879F97B5CBC}" type="slidenum">
              <a:rPr b="0" lang="en-US"/>
              <a:t>1</a:t>
            </a:fld>
            <a:endParaRPr lang="en-US"/>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spTree>
      <p:nvGrpSpPr>
        <p:cNvPr id="1" name=""/>
        <p:cNvGrpSpPr/>
        <p:nvPr/>
      </p:nvGrpSpPr>
      <p:grpSpPr>
        <a:xfrm>
          <a:off x="0" y="0"/>
          <a:ext cx="0" cy="0"/>
          <a:chOff x="0" y="0"/>
          <a:chExt cx="0" cy="0"/>
        </a:xfrm>
      </p:grpSpPr>
      <p:sp>
        <p:nvSpPr>
          <p:cNvPr id="3" name="title"/>
          <p:cNvSpPr txBox="1"/>
          <p:nvPr/>
        </p:nvSpPr>
        <p:spPr>
          <a:xfrm>
            <a:off x="548640" y="292608"/>
            <a:ext cx="9052560" cy="969264"/>
          </a:xfrm>
          <a:prstGeom prst="rect">
            <a:avLst/>
          </a:prstGeom>
          <a:noFill/>
          <a:ln/>
        </p:spPr>
        <p:txBody>
          <a:bodyPr wrap="square" lIns="63500" tIns="63500" rIns="63500" bIns="63500" rtlCol="0" anchor="ctr"/>
          <a:lstStyle/>
          <a:p>
            <a:pPr algn="l" indent="0" marL="0">
              <a:buNone/>
            </a:pPr>
            <a:r>
              <a:rPr lang="en-US" sz="3200" b="1" dirty="0">
                <a:solidFill>
                  <a:srgbClr val="3F6B4A"/>
                </a:solidFill>
                <a:latin typeface="Cambria" pitchFamily="34" charset="0"/>
                <a:ea typeface="Cambria" pitchFamily="34" charset="-122"/>
                <a:cs typeface="Cambria" pitchFamily="34" charset="-120"/>
              </a:rPr>
              <a:t>Do now: three from memory</a:t>
            </a:r>
            <a:endParaRPr lang="en-US" sz="3200" dirty="0"/>
          </a:p>
        </p:txBody>
      </p:sp>
      <p:sp>
        <p:nvSpPr>
          <p:cNvPr id="4" name="chip-hex"/>
          <p:cNvSpPr/>
          <p:nvPr/>
        </p:nvSpPr>
        <p:spPr>
          <a:xfrm>
            <a:off x="9677095" y="531760"/>
            <a:ext cx="566928" cy="490960"/>
          </a:xfrm>
          <a:prstGeom prst="hexagon">
            <a:avLst/>
          </a:prstGeom>
          <a:solidFill>
            <a:srgbClr val="3F6B4A"/>
          </a:solidFill>
          <a:ln/>
        </p:spPr>
      </p:sp>
      <p:sp>
        <p:nvSpPr>
          <p:cNvPr id="5" name="chip-hex-label"/>
          <p:cNvSpPr txBox="1"/>
          <p:nvPr/>
        </p:nvSpPr>
        <p:spPr>
          <a:xfrm>
            <a:off x="9677095" y="531760"/>
            <a:ext cx="566928" cy="490960"/>
          </a:xfrm>
          <a:prstGeom prst="rect">
            <a:avLst/>
          </a:prstGeom>
          <a:noFill/>
          <a:ln/>
        </p:spPr>
        <p:txBody>
          <a:bodyPr wrap="square" lIns="0" tIns="0" rIns="0" bIns="0" rtlCol="0" anchor="ctr"/>
          <a:lstStyle/>
          <a:p>
            <a:pPr algn="ctr" indent="0" marL="0">
              <a:buNone/>
            </a:pPr>
            <a:r>
              <a:rPr lang="en-US" sz="2000" b="1" dirty="0">
                <a:solidFill>
                  <a:srgbClr val="FFFFFF"/>
                </a:solidFill>
                <a:latin typeface="Calibri" pitchFamily="34" charset="0"/>
                <a:ea typeface="Calibri" pitchFamily="34" charset="-122"/>
                <a:cs typeface="Calibri" pitchFamily="34" charset="-120"/>
              </a:rPr>
              <a:t>2</a:t>
            </a:r>
            <a:endParaRPr lang="en-US" sz="2000" dirty="0"/>
          </a:p>
        </p:txBody>
      </p:sp>
      <p:sp>
        <p:nvSpPr>
          <p:cNvPr id="6" name="chip-label"/>
          <p:cNvSpPr txBox="1"/>
          <p:nvPr/>
        </p:nvSpPr>
        <p:spPr>
          <a:xfrm>
            <a:off x="10317175" y="292608"/>
            <a:ext cx="1325880" cy="969264"/>
          </a:xfrm>
          <a:prstGeom prst="rect">
            <a:avLst/>
          </a:prstGeom>
          <a:noFill/>
          <a:ln/>
        </p:spPr>
        <p:txBody>
          <a:bodyPr wrap="square" lIns="63500" tIns="63500" rIns="63500" bIns="63500" rtlCol="0" anchor="ctr"/>
          <a:lstStyle/>
          <a:p>
            <a:pPr algn="l" indent="0" marL="0">
              <a:buNone/>
            </a:pPr>
            <a:r>
              <a:rPr lang="en-US" sz="1800" b="1" dirty="0">
                <a:solidFill>
                  <a:srgbClr val="3F6B4A"/>
                </a:solidFill>
                <a:latin typeface="Calibri" pitchFamily="34" charset="0"/>
                <a:ea typeface="Calibri" pitchFamily="34" charset="-122"/>
                <a:cs typeface="Calibri" pitchFamily="34" charset="-120"/>
              </a:rPr>
              <a:t>Gate</a:t>
            </a:r>
            <a:endParaRPr lang="en-US" sz="1800" dirty="0"/>
          </a:p>
        </p:txBody>
      </p:sp>
      <p:sp>
        <p:nvSpPr>
          <p:cNvPr id="7" name="card"/>
          <p:cNvSpPr/>
          <p:nvPr/>
        </p:nvSpPr>
        <p:spPr>
          <a:xfrm>
            <a:off x="548640" y="1389888"/>
            <a:ext cx="3515258" cy="4754880"/>
          </a:xfrm>
          <a:prstGeom prst="roundRect">
            <a:avLst>
              <a:gd name="adj" fmla="val 1561"/>
            </a:avLst>
          </a:prstGeom>
          <a:solidFill>
            <a:srgbClr val="F4F7F5"/>
          </a:solidFill>
          <a:ln w="12700">
            <a:solidFill>
              <a:srgbClr val="BFCDC2"/>
            </a:solidFill>
            <a:prstDash val="solid"/>
          </a:ln>
        </p:spPr>
      </p:sp>
      <p:sp>
        <p:nvSpPr>
          <p:cNvPr id="8" name="card-hex"/>
          <p:cNvSpPr/>
          <p:nvPr/>
        </p:nvSpPr>
        <p:spPr>
          <a:xfrm>
            <a:off x="731520" y="1572768"/>
            <a:ext cx="640080" cy="554309"/>
          </a:xfrm>
          <a:prstGeom prst="hexagon">
            <a:avLst/>
          </a:prstGeom>
          <a:solidFill>
            <a:srgbClr val="3F6B4A"/>
          </a:solidFill>
          <a:ln/>
        </p:spPr>
      </p:sp>
      <p:sp>
        <p:nvSpPr>
          <p:cNvPr id="9" name="card-hex-label"/>
          <p:cNvSpPr txBox="1"/>
          <p:nvPr/>
        </p:nvSpPr>
        <p:spPr>
          <a:xfrm>
            <a:off x="731520" y="1572768"/>
            <a:ext cx="640080" cy="554309"/>
          </a:xfrm>
          <a:prstGeom prst="rect">
            <a:avLst/>
          </a:prstGeom>
          <a:noFill/>
          <a:ln/>
        </p:spPr>
        <p:txBody>
          <a:bodyPr wrap="square" lIns="0" tIns="0" rIns="0" bIns="0" rtlCol="0" anchor="ctr"/>
          <a:lstStyle/>
          <a:p>
            <a:pPr algn="ctr" indent="0" marL="0">
              <a:buNone/>
            </a:pPr>
            <a:r>
              <a:rPr lang="en-US" sz="2400" b="1" dirty="0">
                <a:solidFill>
                  <a:srgbClr val="FFFFFF"/>
                </a:solidFill>
                <a:latin typeface="Cambria" pitchFamily="34" charset="0"/>
                <a:ea typeface="Cambria" pitchFamily="34" charset="-122"/>
                <a:cs typeface="Cambria" pitchFamily="34" charset="-120"/>
              </a:rPr>
              <a:t>1</a:t>
            </a:r>
            <a:endParaRPr lang="en-US" sz="2400" dirty="0"/>
          </a:p>
        </p:txBody>
      </p:sp>
      <p:sp>
        <p:nvSpPr>
          <p:cNvPr id="10" name="card-label"/>
          <p:cNvSpPr txBox="1"/>
          <p:nvPr/>
        </p:nvSpPr>
        <p:spPr>
          <a:xfrm>
            <a:off x="1463040" y="1572768"/>
            <a:ext cx="2509418" cy="566928"/>
          </a:xfrm>
          <a:prstGeom prst="rect">
            <a:avLst/>
          </a:prstGeom>
          <a:noFill/>
          <a:ln/>
        </p:spPr>
        <p:txBody>
          <a:bodyPr wrap="square" lIns="63500" tIns="63500" rIns="63500" bIns="63500" rtlCol="0" anchor="ctr"/>
          <a:lstStyle/>
          <a:p>
            <a:pPr algn="l" indent="0" marL="0">
              <a:buNone/>
            </a:pPr>
            <a:r>
              <a:rPr lang="en-US" sz="1800" b="1" dirty="0">
                <a:solidFill>
                  <a:srgbClr val="3F6B4A"/>
                </a:solidFill>
                <a:latin typeface="Calibri" pitchFamily="34" charset="0"/>
                <a:ea typeface="Calibri" pitchFamily="34" charset="-122"/>
                <a:cs typeface="Calibri" pitchFamily="34" charset="-120"/>
              </a:rPr>
              <a:t>Choose one</a:t>
            </a:r>
            <a:endParaRPr lang="en-US" sz="1800" dirty="0"/>
          </a:p>
        </p:txBody>
      </p:sp>
      <p:sp>
        <p:nvSpPr>
          <p:cNvPr id="11" name="card-body"/>
          <p:cNvSpPr txBox="1"/>
          <p:nvPr/>
        </p:nvSpPr>
        <p:spPr>
          <a:xfrm>
            <a:off x="731520" y="2355677"/>
            <a:ext cx="3149498" cy="3651931"/>
          </a:xfrm>
          <a:prstGeom prst="rect">
            <a:avLst/>
          </a:prstGeom>
          <a:noFill/>
          <a:ln/>
        </p:spPr>
        <p:txBody>
          <a:bodyPr wrap="square" lIns="63500" tIns="63500" rIns="63500" bIns="63500" rtlCol="0" anchor="t"/>
          <a:lstStyle/>
          <a:p>
            <a:pPr algn="l" indent="0" marL="0">
              <a:spcAft>
                <a:spcPts val="1000"/>
              </a:spcAft>
              <a:buNone/>
            </a:pPr>
            <a:r>
              <a:rPr lang="en-US" sz="2200" b="1" dirty="0">
                <a:solidFill>
                  <a:srgbClr val="1E2229"/>
                </a:solidFill>
                <a:latin typeface="Calibri" pitchFamily="34" charset="0"/>
                <a:ea typeface="Calibri" pitchFamily="34" charset="-122"/>
                <a:cs typeface="Calibri" pitchFamily="34" charset="-120"/>
              </a:rPr>
              <a:t>Which of these is a benefit of living near a volcano?</a:t>
            </a:r>
            <a:endParaRPr lang="en-US" sz="2200" dirty="0"/>
          </a:p>
          <a:p>
            <a:pPr algn="l" indent="0" marL="0">
              <a:spcAft>
                <a:spcPts val="200"/>
              </a:spcAft>
              <a:buNone/>
            </a:pPr>
            <a:r>
              <a:rPr lang="en-US" sz="2200" b="1" dirty="0">
                <a:solidFill>
                  <a:srgbClr val="B8862B"/>
                </a:solidFill>
                <a:latin typeface="Calibri" pitchFamily="34" charset="0"/>
                <a:ea typeface="Calibri" pitchFamily="34" charset="-122"/>
                <a:cs typeface="Calibri" pitchFamily="34" charset="-120"/>
              </a:rPr>
              <a:t>A   </a:t>
            </a:r>
            <a:pPr algn="l" indent="0" marL="0">
              <a:spcAft>
                <a:spcPts val="200"/>
              </a:spcAft>
              <a:buNone/>
            </a:pPr>
            <a:r>
              <a:rPr lang="en-US" sz="2200" dirty="0">
                <a:solidFill>
                  <a:srgbClr val="1E2229"/>
                </a:solidFill>
                <a:latin typeface="Calibri" pitchFamily="34" charset="0"/>
                <a:ea typeface="Calibri" pitchFamily="34" charset="-122"/>
                <a:cs typeface="Calibri" pitchFamily="34" charset="-120"/>
              </a:rPr>
              <a:t>Lava that destroys homes</a:t>
            </a:r>
            <a:endParaRPr lang="en-US" sz="2200" dirty="0"/>
          </a:p>
          <a:p>
            <a:pPr algn="l" indent="0" marL="0">
              <a:spcAft>
                <a:spcPts val="200"/>
              </a:spcAft>
              <a:buNone/>
            </a:pPr>
            <a:r>
              <a:rPr lang="en-US" sz="2200" b="1" dirty="0">
                <a:solidFill>
                  <a:srgbClr val="B8862B"/>
                </a:solidFill>
                <a:latin typeface="Calibri" pitchFamily="34" charset="0"/>
                <a:ea typeface="Calibri" pitchFamily="34" charset="-122"/>
                <a:cs typeface="Calibri" pitchFamily="34" charset="-120"/>
              </a:rPr>
              <a:t>B   </a:t>
            </a:r>
            <a:pPr algn="l" indent="0" marL="0">
              <a:spcAft>
                <a:spcPts val="200"/>
              </a:spcAft>
              <a:buNone/>
            </a:pPr>
            <a:r>
              <a:rPr lang="en-US" sz="2200" dirty="0">
                <a:solidFill>
                  <a:srgbClr val="1E2229"/>
                </a:solidFill>
                <a:latin typeface="Calibri" pitchFamily="34" charset="0"/>
                <a:ea typeface="Calibri" pitchFamily="34" charset="-122"/>
                <a:cs typeface="Calibri" pitchFamily="34" charset="-120"/>
              </a:rPr>
              <a:t>Frequent earthquakes</a:t>
            </a:r>
            <a:endParaRPr lang="en-US" sz="2200" dirty="0"/>
          </a:p>
          <a:p>
            <a:pPr algn="l" indent="0" marL="0">
              <a:spcAft>
                <a:spcPts val="200"/>
              </a:spcAft>
              <a:buNone/>
            </a:pPr>
            <a:r>
              <a:rPr lang="en-US" sz="2200" b="1" dirty="0">
                <a:solidFill>
                  <a:srgbClr val="B8862B"/>
                </a:solidFill>
                <a:latin typeface="Calibri" pitchFamily="34" charset="0"/>
                <a:ea typeface="Calibri" pitchFamily="34" charset="-122"/>
                <a:cs typeface="Calibri" pitchFamily="34" charset="-120"/>
              </a:rPr>
              <a:t>C   </a:t>
            </a:r>
            <a:pPr algn="l" indent="0" marL="0">
              <a:spcAft>
                <a:spcPts val="200"/>
              </a:spcAft>
              <a:buNone/>
            </a:pPr>
            <a:r>
              <a:rPr lang="en-US" sz="2200" dirty="0">
                <a:solidFill>
                  <a:srgbClr val="1E2229"/>
                </a:solidFill>
                <a:latin typeface="Calibri" pitchFamily="34" charset="0"/>
                <a:ea typeface="Calibri" pitchFamily="34" charset="-122"/>
                <a:cs typeface="Calibri" pitchFamily="34" charset="-120"/>
              </a:rPr>
              <a:t>Fertile soil for growing crops</a:t>
            </a:r>
            <a:endParaRPr lang="en-US" sz="2200" dirty="0"/>
          </a:p>
          <a:p>
            <a:pPr algn="l" indent="0" marL="0">
              <a:spcAft>
                <a:spcPts val="200"/>
              </a:spcAft>
              <a:buNone/>
            </a:pPr>
            <a:r>
              <a:rPr lang="en-US" sz="2200" b="1" dirty="0">
                <a:solidFill>
                  <a:srgbClr val="B8862B"/>
                </a:solidFill>
                <a:latin typeface="Calibri" pitchFamily="34" charset="0"/>
                <a:ea typeface="Calibri" pitchFamily="34" charset="-122"/>
                <a:cs typeface="Calibri" pitchFamily="34" charset="-120"/>
              </a:rPr>
              <a:t>D   </a:t>
            </a:r>
            <a:pPr algn="l" indent="0" marL="0">
              <a:spcAft>
                <a:spcPts val="200"/>
              </a:spcAft>
              <a:buNone/>
            </a:pPr>
            <a:r>
              <a:rPr lang="en-US" sz="2200" dirty="0">
                <a:solidFill>
                  <a:srgbClr val="1E2229"/>
                </a:solidFill>
                <a:latin typeface="Calibri" pitchFamily="34" charset="0"/>
                <a:ea typeface="Calibri" pitchFamily="34" charset="-122"/>
                <a:cs typeface="Calibri" pitchFamily="34" charset="-120"/>
              </a:rPr>
              <a:t>Ash that blocks roads</a:t>
            </a:r>
            <a:endParaRPr lang="en-US" sz="2200" dirty="0"/>
          </a:p>
        </p:txBody>
      </p:sp>
      <p:sp>
        <p:nvSpPr>
          <p:cNvPr id="12" name="card"/>
          <p:cNvSpPr/>
          <p:nvPr/>
        </p:nvSpPr>
        <p:spPr>
          <a:xfrm>
            <a:off x="4338218" y="1389888"/>
            <a:ext cx="3515258" cy="4754880"/>
          </a:xfrm>
          <a:prstGeom prst="roundRect">
            <a:avLst>
              <a:gd name="adj" fmla="val 1561"/>
            </a:avLst>
          </a:prstGeom>
          <a:solidFill>
            <a:srgbClr val="F4F7F5"/>
          </a:solidFill>
          <a:ln w="12700">
            <a:solidFill>
              <a:srgbClr val="BFCDC2"/>
            </a:solidFill>
            <a:prstDash val="solid"/>
          </a:ln>
        </p:spPr>
      </p:sp>
      <p:sp>
        <p:nvSpPr>
          <p:cNvPr id="13" name="card-hex"/>
          <p:cNvSpPr/>
          <p:nvPr/>
        </p:nvSpPr>
        <p:spPr>
          <a:xfrm>
            <a:off x="4521098" y="1572768"/>
            <a:ext cx="640080" cy="554309"/>
          </a:xfrm>
          <a:prstGeom prst="hexagon">
            <a:avLst/>
          </a:prstGeom>
          <a:solidFill>
            <a:srgbClr val="3F6B4A"/>
          </a:solidFill>
          <a:ln/>
        </p:spPr>
      </p:sp>
      <p:sp>
        <p:nvSpPr>
          <p:cNvPr id="14" name="card-hex-label"/>
          <p:cNvSpPr txBox="1"/>
          <p:nvPr/>
        </p:nvSpPr>
        <p:spPr>
          <a:xfrm>
            <a:off x="4521098" y="1572768"/>
            <a:ext cx="640080" cy="554309"/>
          </a:xfrm>
          <a:prstGeom prst="rect">
            <a:avLst/>
          </a:prstGeom>
          <a:noFill/>
          <a:ln/>
        </p:spPr>
        <p:txBody>
          <a:bodyPr wrap="square" lIns="0" tIns="0" rIns="0" bIns="0" rtlCol="0" anchor="ctr"/>
          <a:lstStyle/>
          <a:p>
            <a:pPr algn="ctr" indent="0" marL="0">
              <a:buNone/>
            </a:pPr>
            <a:r>
              <a:rPr lang="en-US" sz="2400" b="1" dirty="0">
                <a:solidFill>
                  <a:srgbClr val="FFFFFF"/>
                </a:solidFill>
                <a:latin typeface="Cambria" pitchFamily="34" charset="0"/>
                <a:ea typeface="Cambria" pitchFamily="34" charset="-122"/>
                <a:cs typeface="Cambria" pitchFamily="34" charset="-120"/>
              </a:rPr>
              <a:t>2</a:t>
            </a:r>
            <a:endParaRPr lang="en-US" sz="2400" dirty="0"/>
          </a:p>
        </p:txBody>
      </p:sp>
      <p:sp>
        <p:nvSpPr>
          <p:cNvPr id="15" name="card-label"/>
          <p:cNvSpPr txBox="1"/>
          <p:nvPr/>
        </p:nvSpPr>
        <p:spPr>
          <a:xfrm>
            <a:off x="5252618" y="1572768"/>
            <a:ext cx="2509418" cy="566928"/>
          </a:xfrm>
          <a:prstGeom prst="rect">
            <a:avLst/>
          </a:prstGeom>
          <a:noFill/>
          <a:ln/>
        </p:spPr>
        <p:txBody>
          <a:bodyPr wrap="square" lIns="63500" tIns="63500" rIns="63500" bIns="63500" rtlCol="0" anchor="ctr"/>
          <a:lstStyle/>
          <a:p>
            <a:pPr algn="l" indent="0" marL="0">
              <a:buNone/>
            </a:pPr>
            <a:r>
              <a:rPr lang="en-US" sz="1800" b="1" dirty="0">
                <a:solidFill>
                  <a:srgbClr val="3F6B4A"/>
                </a:solidFill>
                <a:latin typeface="Calibri" pitchFamily="34" charset="0"/>
                <a:ea typeface="Calibri" pitchFamily="34" charset="-122"/>
                <a:cs typeface="Calibri" pitchFamily="34" charset="-120"/>
              </a:rPr>
              <a:t>Work it out</a:t>
            </a:r>
            <a:endParaRPr lang="en-US" sz="1800" dirty="0"/>
          </a:p>
        </p:txBody>
      </p:sp>
      <p:sp>
        <p:nvSpPr>
          <p:cNvPr id="16" name="card-body"/>
          <p:cNvSpPr txBox="1"/>
          <p:nvPr/>
        </p:nvSpPr>
        <p:spPr>
          <a:xfrm>
            <a:off x="4521098" y="2355677"/>
            <a:ext cx="3149498" cy="3651931"/>
          </a:xfrm>
          <a:prstGeom prst="rect">
            <a:avLst/>
          </a:prstGeom>
          <a:noFill/>
          <a:ln/>
        </p:spPr>
        <p:txBody>
          <a:bodyPr wrap="square" lIns="63500" tIns="63500" rIns="63500" bIns="63500" rtlCol="0" anchor="t"/>
          <a:lstStyle/>
          <a:p>
            <a:pPr algn="l" indent="0" marL="0">
              <a:spcAft>
                <a:spcPts val="1000"/>
              </a:spcAft>
              <a:buNone/>
            </a:pPr>
            <a:r>
              <a:rPr lang="en-US" sz="2400" b="1" dirty="0">
                <a:solidFill>
                  <a:srgbClr val="1E2229"/>
                </a:solidFill>
                <a:latin typeface="Calibri" pitchFamily="34" charset="0"/>
                <a:ea typeface="Calibri" pitchFamily="34" charset="-122"/>
                <a:cs typeface="Calibri" pitchFamily="34" charset="-120"/>
              </a:rPr>
              <a:t>The Indian Ocean tsunami happened in 2004 and the Sichuan earthquake in 2008. How many years apart were the two events?</a:t>
            </a:r>
            <a:endParaRPr lang="en-US" sz="2400" dirty="0"/>
          </a:p>
          <a:p>
            <a:pPr algn="l" indent="0" marL="0">
              <a:buNone/>
            </a:pPr>
            <a:r>
              <a:rPr lang="en-US" sz="2400" b="1" dirty="0">
                <a:solidFill>
                  <a:srgbClr val="3F6B4A"/>
                </a:solidFill>
                <a:latin typeface="Calibri" pitchFamily="34" charset="0"/>
                <a:ea typeface="Calibri" pitchFamily="34" charset="-122"/>
                <a:cs typeface="Calibri" pitchFamily="34" charset="-120"/>
              </a:rPr>
              <a:t>Answer:  </a:t>
            </a:r>
            <a:pPr algn="l" indent="0" marL="0">
              <a:buNone/>
            </a:pPr>
            <a:r>
              <a:rPr lang="en-US" sz="2400" dirty="0">
                <a:solidFill>
                  <a:srgbClr val="1E2229"/>
                </a:solidFill>
                <a:latin typeface="Calibri" pitchFamily="34" charset="0"/>
                <a:ea typeface="Calibri" pitchFamily="34" charset="-122"/>
                <a:cs typeface="Calibri" pitchFamily="34" charset="-120"/>
              </a:rPr>
              <a:t>________ years</a:t>
            </a:r>
            <a:endParaRPr lang="en-US" sz="2400" dirty="0"/>
          </a:p>
        </p:txBody>
      </p:sp>
      <p:sp>
        <p:nvSpPr>
          <p:cNvPr id="17" name="card"/>
          <p:cNvSpPr/>
          <p:nvPr/>
        </p:nvSpPr>
        <p:spPr>
          <a:xfrm>
            <a:off x="8127797" y="1389888"/>
            <a:ext cx="3515258" cy="4754880"/>
          </a:xfrm>
          <a:prstGeom prst="roundRect">
            <a:avLst>
              <a:gd name="adj" fmla="val 1561"/>
            </a:avLst>
          </a:prstGeom>
          <a:solidFill>
            <a:srgbClr val="F4F7F5"/>
          </a:solidFill>
          <a:ln w="12700">
            <a:solidFill>
              <a:srgbClr val="BFCDC2"/>
            </a:solidFill>
            <a:prstDash val="solid"/>
          </a:ln>
        </p:spPr>
      </p:sp>
      <p:sp>
        <p:nvSpPr>
          <p:cNvPr id="18" name="card-hex"/>
          <p:cNvSpPr/>
          <p:nvPr/>
        </p:nvSpPr>
        <p:spPr>
          <a:xfrm>
            <a:off x="8310677" y="1572768"/>
            <a:ext cx="640080" cy="554309"/>
          </a:xfrm>
          <a:prstGeom prst="hexagon">
            <a:avLst/>
          </a:prstGeom>
          <a:solidFill>
            <a:srgbClr val="3F6B4A"/>
          </a:solidFill>
          <a:ln/>
        </p:spPr>
      </p:sp>
      <p:sp>
        <p:nvSpPr>
          <p:cNvPr id="19" name="card-hex-label"/>
          <p:cNvSpPr txBox="1"/>
          <p:nvPr/>
        </p:nvSpPr>
        <p:spPr>
          <a:xfrm>
            <a:off x="8310677" y="1572768"/>
            <a:ext cx="640080" cy="554309"/>
          </a:xfrm>
          <a:prstGeom prst="rect">
            <a:avLst/>
          </a:prstGeom>
          <a:noFill/>
          <a:ln/>
        </p:spPr>
        <p:txBody>
          <a:bodyPr wrap="square" lIns="0" tIns="0" rIns="0" bIns="0" rtlCol="0" anchor="ctr"/>
          <a:lstStyle/>
          <a:p>
            <a:pPr algn="ctr" indent="0" marL="0">
              <a:buNone/>
            </a:pPr>
            <a:r>
              <a:rPr lang="en-US" sz="2400" b="1" dirty="0">
                <a:solidFill>
                  <a:srgbClr val="FFFFFF"/>
                </a:solidFill>
                <a:latin typeface="Cambria" pitchFamily="34" charset="0"/>
                <a:ea typeface="Cambria" pitchFamily="34" charset="-122"/>
                <a:cs typeface="Cambria" pitchFamily="34" charset="-120"/>
              </a:rPr>
              <a:t>3</a:t>
            </a:r>
            <a:endParaRPr lang="en-US" sz="2400" dirty="0"/>
          </a:p>
        </p:txBody>
      </p:sp>
      <p:sp>
        <p:nvSpPr>
          <p:cNvPr id="20" name="card-label"/>
          <p:cNvSpPr txBox="1"/>
          <p:nvPr/>
        </p:nvSpPr>
        <p:spPr>
          <a:xfrm>
            <a:off x="9042197" y="1572768"/>
            <a:ext cx="2509418" cy="566928"/>
          </a:xfrm>
          <a:prstGeom prst="rect">
            <a:avLst/>
          </a:prstGeom>
          <a:noFill/>
          <a:ln/>
        </p:spPr>
        <p:txBody>
          <a:bodyPr wrap="square" lIns="63500" tIns="63500" rIns="63500" bIns="63500" rtlCol="0" anchor="ctr"/>
          <a:lstStyle/>
          <a:p>
            <a:pPr algn="l" indent="0" marL="0">
              <a:buNone/>
            </a:pPr>
            <a:r>
              <a:rPr lang="en-US" sz="1800" b="1" dirty="0">
                <a:solidFill>
                  <a:srgbClr val="3F6B4A"/>
                </a:solidFill>
                <a:latin typeface="Calibri" pitchFamily="34" charset="0"/>
                <a:ea typeface="Calibri" pitchFamily="34" charset="-122"/>
                <a:cs typeface="Calibri" pitchFamily="34" charset="-120"/>
              </a:rPr>
              <a:t>Fill the gap</a:t>
            </a:r>
            <a:endParaRPr lang="en-US" sz="1800" dirty="0"/>
          </a:p>
        </p:txBody>
      </p:sp>
      <p:sp>
        <p:nvSpPr>
          <p:cNvPr id="21" name="card-body"/>
          <p:cNvSpPr txBox="1"/>
          <p:nvPr/>
        </p:nvSpPr>
        <p:spPr>
          <a:xfrm>
            <a:off x="8310677" y="2355677"/>
            <a:ext cx="3149498" cy="3651931"/>
          </a:xfrm>
          <a:prstGeom prst="rect">
            <a:avLst/>
          </a:prstGeom>
          <a:noFill/>
          <a:ln/>
        </p:spPr>
        <p:txBody>
          <a:bodyPr wrap="square" lIns="63500" tIns="63500" rIns="63500" bIns="63500" rtlCol="0" anchor="t"/>
          <a:lstStyle/>
          <a:p>
            <a:pPr algn="l" indent="0" marL="0">
              <a:spcAft>
                <a:spcPts val="1000"/>
              </a:spcAft>
              <a:buNone/>
            </a:pPr>
            <a:r>
              <a:rPr lang="en-US" sz="2200" b="1" dirty="0">
                <a:solidFill>
                  <a:srgbClr val="1E2229"/>
                </a:solidFill>
                <a:latin typeface="Calibri" pitchFamily="34" charset="0"/>
                <a:ea typeface="Calibri" pitchFamily="34" charset="-122"/>
                <a:cs typeface="Calibri" pitchFamily="34" charset="-120"/>
              </a:rPr>
              <a:t>A place where very hot rock rises from deep in the mantle and makes volcanoes away from a plate boundary is called a ___.</a:t>
            </a:r>
            <a:endParaRPr lang="en-US" sz="2200" dirty="0"/>
          </a:p>
          <a:p>
            <a:pPr algn="l" indent="0" marL="0">
              <a:buNone/>
            </a:pPr>
            <a:r>
              <a:rPr lang="en-US" sz="2200" b="1" dirty="0">
                <a:solidFill>
                  <a:srgbClr val="3F6B4A"/>
                </a:solidFill>
                <a:latin typeface="Calibri" pitchFamily="34" charset="0"/>
                <a:ea typeface="Calibri" pitchFamily="34" charset="-122"/>
                <a:cs typeface="Calibri" pitchFamily="34" charset="-120"/>
              </a:rPr>
              <a:t>Word bank:  </a:t>
            </a:r>
            <a:pPr algn="l" indent="0" marL="0">
              <a:buNone/>
            </a:pPr>
            <a:r>
              <a:rPr lang="en-US" sz="2200" dirty="0">
                <a:solidFill>
                  <a:srgbClr val="1E2229"/>
                </a:solidFill>
                <a:latin typeface="Calibri" pitchFamily="34" charset="0"/>
                <a:ea typeface="Calibri" pitchFamily="34" charset="-122"/>
                <a:cs typeface="Calibri" pitchFamily="34" charset="-120"/>
              </a:rPr>
              <a:t>hot spot  ·  fault  ·  epicentre</a:t>
            </a:r>
            <a:endParaRPr lang="en-US" sz="2200" dirty="0"/>
          </a:p>
        </p:txBody>
      </p:sp>
      <p:sp>
        <p:nvSpPr>
          <p:cNvPr id="25" name="Slide Number Placeholder 0"/>
          <p:cNvSpPr>
            <a:spLocks noGrp="1"/>
          </p:cNvSpPr>
          <p:nvPr>
            <p:ph type="sldNum" sz="quarter" idx="4294967295"/>
          </p:nvPr>
        </p:nvSpPr>
        <p:spPr>
          <a:xfrm>
            <a:off x="11018520" y="6446520"/>
            <a:ext cx="640080" cy="365760"/>
          </a:xfrm>
          <a:prstGeom prst="rect">
            <a:avLst/>
          </a:prstGeom>
          <a:extLst>
            <a:ext uri="{C572A759-6A51-4108-AA02-DFA0A04FC94B}">
              <ma14:wrappingTextBoxFlag xmlns:ma14="http://schemas.microsoft.com/office/mac/drawingml/2011/main" val="0"/>
            </a:ext>
          </a:extLst>
        </p:spPr>
        <p:txBody>
          <a:bodyPr lIns="0" tIns="0" rIns="0" bIns="0" anchor="ctr"/>
          <a:lstStyle>
            <a:lvl1pPr>
              <a:defRPr sz="1000">
                <a:solidFill>
                  <a:srgbClr val="396043"/>
                </a:solidFill>
                <a:latin typeface="Calibri"/>
                <a:ea typeface="Calibri"/>
                <a:cs typeface="Calibri"/>
              </a:defRPr>
            </a:lvl1pPr>
          </a:lstStyle>
          <a:p>
            <a:pPr algn="r"/>
            <a:fld id="{F7021451-1387-4CA6-816F-3879F97B5CBC}" type="slidenum">
              <a:rPr b="0" lang="en-US"/>
              <a:t>2</a:t>
            </a:fld>
            <a:endParaRPr lang="en-US"/>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spTree>
      <p:nvGrpSpPr>
        <p:cNvPr id="1" name=""/>
        <p:cNvGrpSpPr/>
        <p:nvPr/>
      </p:nvGrpSpPr>
      <p:grpSpPr>
        <a:xfrm>
          <a:off x="0" y="0"/>
          <a:ext cx="0" cy="0"/>
          <a:chOff x="0" y="0"/>
          <a:chExt cx="0" cy="0"/>
        </a:xfrm>
      </p:grpSpPr>
      <p:sp>
        <p:nvSpPr>
          <p:cNvPr id="3" name="title"/>
          <p:cNvSpPr txBox="1"/>
          <p:nvPr/>
        </p:nvSpPr>
        <p:spPr>
          <a:xfrm>
            <a:off x="548640" y="292608"/>
            <a:ext cx="9052560" cy="969264"/>
          </a:xfrm>
          <a:prstGeom prst="rect">
            <a:avLst/>
          </a:prstGeom>
          <a:noFill/>
          <a:ln/>
        </p:spPr>
        <p:txBody>
          <a:bodyPr wrap="square" lIns="63500" tIns="63500" rIns="63500" bIns="63500" rtlCol="0" anchor="ctr"/>
          <a:lstStyle/>
          <a:p>
            <a:pPr algn="l" indent="0" marL="0">
              <a:buNone/>
            </a:pPr>
            <a:r>
              <a:rPr lang="en-US" sz="3200" b="1" dirty="0">
                <a:solidFill>
                  <a:srgbClr val="3F6B4A"/>
                </a:solidFill>
                <a:latin typeface="Cambria" pitchFamily="34" charset="0"/>
                <a:ea typeface="Cambria" pitchFamily="34" charset="-122"/>
                <a:cs typeface="Cambria" pitchFamily="34" charset="-120"/>
              </a:rPr>
              <a:t>Answers</a:t>
            </a:r>
            <a:endParaRPr lang="en-US" sz="3200" dirty="0"/>
          </a:p>
        </p:txBody>
      </p:sp>
      <p:sp>
        <p:nvSpPr>
          <p:cNvPr id="4" name="chip-hex"/>
          <p:cNvSpPr/>
          <p:nvPr/>
        </p:nvSpPr>
        <p:spPr>
          <a:xfrm>
            <a:off x="9677095" y="531760"/>
            <a:ext cx="566928" cy="490960"/>
          </a:xfrm>
          <a:prstGeom prst="hexagon">
            <a:avLst/>
          </a:prstGeom>
          <a:solidFill>
            <a:srgbClr val="3F6B4A"/>
          </a:solidFill>
          <a:ln/>
        </p:spPr>
      </p:sp>
      <p:sp>
        <p:nvSpPr>
          <p:cNvPr id="5" name="chip-hex-label"/>
          <p:cNvSpPr txBox="1"/>
          <p:nvPr/>
        </p:nvSpPr>
        <p:spPr>
          <a:xfrm>
            <a:off x="9677095" y="531760"/>
            <a:ext cx="566928" cy="490960"/>
          </a:xfrm>
          <a:prstGeom prst="rect">
            <a:avLst/>
          </a:prstGeom>
          <a:noFill/>
          <a:ln/>
        </p:spPr>
        <p:txBody>
          <a:bodyPr wrap="square" lIns="0" tIns="0" rIns="0" bIns="0" rtlCol="0" anchor="ctr"/>
          <a:lstStyle/>
          <a:p>
            <a:pPr algn="ctr" indent="0" marL="0">
              <a:buNone/>
            </a:pPr>
            <a:r>
              <a:rPr lang="en-US" sz="2000" b="1" dirty="0">
                <a:solidFill>
                  <a:srgbClr val="FFFFFF"/>
                </a:solidFill>
                <a:latin typeface="Calibri" pitchFamily="34" charset="0"/>
                <a:ea typeface="Calibri" pitchFamily="34" charset="-122"/>
                <a:cs typeface="Calibri" pitchFamily="34" charset="-120"/>
              </a:rPr>
              <a:t>2</a:t>
            </a:r>
            <a:endParaRPr lang="en-US" sz="2000" dirty="0"/>
          </a:p>
        </p:txBody>
      </p:sp>
      <p:sp>
        <p:nvSpPr>
          <p:cNvPr id="6" name="chip-label"/>
          <p:cNvSpPr txBox="1"/>
          <p:nvPr/>
        </p:nvSpPr>
        <p:spPr>
          <a:xfrm>
            <a:off x="10317175" y="292608"/>
            <a:ext cx="1325880" cy="969264"/>
          </a:xfrm>
          <a:prstGeom prst="rect">
            <a:avLst/>
          </a:prstGeom>
          <a:noFill/>
          <a:ln/>
        </p:spPr>
        <p:txBody>
          <a:bodyPr wrap="square" lIns="63500" tIns="63500" rIns="63500" bIns="63500" rtlCol="0" anchor="ctr"/>
          <a:lstStyle/>
          <a:p>
            <a:pPr algn="l" indent="0" marL="0">
              <a:buNone/>
            </a:pPr>
            <a:r>
              <a:rPr lang="en-US" sz="1800" b="1" dirty="0">
                <a:solidFill>
                  <a:srgbClr val="3F6B4A"/>
                </a:solidFill>
                <a:latin typeface="Calibri" pitchFamily="34" charset="0"/>
                <a:ea typeface="Calibri" pitchFamily="34" charset="-122"/>
                <a:cs typeface="Calibri" pitchFamily="34" charset="-120"/>
              </a:rPr>
              <a:t>Gate</a:t>
            </a:r>
            <a:endParaRPr lang="en-US" sz="1800" dirty="0"/>
          </a:p>
        </p:txBody>
      </p:sp>
      <p:sp>
        <p:nvSpPr>
          <p:cNvPr id="7" name="card"/>
          <p:cNvSpPr/>
          <p:nvPr/>
        </p:nvSpPr>
        <p:spPr>
          <a:xfrm>
            <a:off x="548640" y="1389888"/>
            <a:ext cx="3515258" cy="4754880"/>
          </a:xfrm>
          <a:prstGeom prst="roundRect">
            <a:avLst>
              <a:gd name="adj" fmla="val 1561"/>
            </a:avLst>
          </a:prstGeom>
          <a:solidFill>
            <a:srgbClr val="F4F7F5"/>
          </a:solidFill>
          <a:ln w="12700">
            <a:solidFill>
              <a:srgbClr val="BFCDC2"/>
            </a:solidFill>
            <a:prstDash val="solid"/>
          </a:ln>
        </p:spPr>
      </p:sp>
      <p:sp>
        <p:nvSpPr>
          <p:cNvPr id="8" name="card-hex"/>
          <p:cNvSpPr/>
          <p:nvPr/>
        </p:nvSpPr>
        <p:spPr>
          <a:xfrm>
            <a:off x="731520" y="1572768"/>
            <a:ext cx="640080" cy="554309"/>
          </a:xfrm>
          <a:prstGeom prst="hexagon">
            <a:avLst/>
          </a:prstGeom>
          <a:solidFill>
            <a:srgbClr val="3F6B4A"/>
          </a:solidFill>
          <a:ln/>
        </p:spPr>
      </p:sp>
      <p:sp>
        <p:nvSpPr>
          <p:cNvPr id="9" name="card-hex-label"/>
          <p:cNvSpPr txBox="1"/>
          <p:nvPr/>
        </p:nvSpPr>
        <p:spPr>
          <a:xfrm>
            <a:off x="731520" y="1572768"/>
            <a:ext cx="640080" cy="554309"/>
          </a:xfrm>
          <a:prstGeom prst="rect">
            <a:avLst/>
          </a:prstGeom>
          <a:noFill/>
          <a:ln/>
        </p:spPr>
        <p:txBody>
          <a:bodyPr wrap="square" lIns="0" tIns="0" rIns="0" bIns="0" rtlCol="0" anchor="ctr"/>
          <a:lstStyle/>
          <a:p>
            <a:pPr algn="ctr" indent="0" marL="0">
              <a:buNone/>
            </a:pPr>
            <a:r>
              <a:rPr lang="en-US" sz="2400" b="1" dirty="0">
                <a:solidFill>
                  <a:srgbClr val="FFFFFF"/>
                </a:solidFill>
                <a:latin typeface="Cambria" pitchFamily="34" charset="0"/>
                <a:ea typeface="Cambria" pitchFamily="34" charset="-122"/>
                <a:cs typeface="Cambria" pitchFamily="34" charset="-120"/>
              </a:rPr>
              <a:t>1</a:t>
            </a:r>
            <a:endParaRPr lang="en-US" sz="2400" dirty="0"/>
          </a:p>
        </p:txBody>
      </p:sp>
      <p:sp>
        <p:nvSpPr>
          <p:cNvPr id="10" name="card-label"/>
          <p:cNvSpPr txBox="1"/>
          <p:nvPr/>
        </p:nvSpPr>
        <p:spPr>
          <a:xfrm>
            <a:off x="1463040" y="1572768"/>
            <a:ext cx="2509418" cy="566928"/>
          </a:xfrm>
          <a:prstGeom prst="rect">
            <a:avLst/>
          </a:prstGeom>
          <a:noFill/>
          <a:ln/>
        </p:spPr>
        <p:txBody>
          <a:bodyPr wrap="square" lIns="63500" tIns="63500" rIns="63500" bIns="63500" rtlCol="0" anchor="ctr"/>
          <a:lstStyle/>
          <a:p>
            <a:pPr algn="l" indent="0" marL="0">
              <a:buNone/>
            </a:pPr>
            <a:r>
              <a:rPr lang="en-US" sz="1800" b="1" dirty="0">
                <a:solidFill>
                  <a:srgbClr val="3F6B4A"/>
                </a:solidFill>
                <a:latin typeface="Calibri" pitchFamily="34" charset="0"/>
                <a:ea typeface="Calibri" pitchFamily="34" charset="-122"/>
                <a:cs typeface="Calibri" pitchFamily="34" charset="-120"/>
              </a:rPr>
              <a:t>Answer</a:t>
            </a:r>
            <a:endParaRPr lang="en-US" sz="1800" dirty="0"/>
          </a:p>
        </p:txBody>
      </p:sp>
      <p:sp>
        <p:nvSpPr>
          <p:cNvPr id="11" name="answer-chip"/>
          <p:cNvSpPr/>
          <p:nvPr/>
        </p:nvSpPr>
        <p:spPr>
          <a:xfrm>
            <a:off x="731520" y="2355677"/>
            <a:ext cx="3149498" cy="955040"/>
          </a:xfrm>
          <a:prstGeom prst="roundRect">
            <a:avLst>
              <a:gd name="adj" fmla="val 11489"/>
            </a:avLst>
          </a:prstGeom>
          <a:solidFill>
            <a:srgbClr val="EEE3CD"/>
          </a:solidFill>
          <a:ln w="19050">
            <a:solidFill>
              <a:srgbClr val="B8862B"/>
            </a:solidFill>
            <a:prstDash val="solid"/>
          </a:ln>
        </p:spPr>
      </p:sp>
      <p:sp>
        <p:nvSpPr>
          <p:cNvPr id="12" name="answer"/>
          <p:cNvSpPr txBox="1"/>
          <p:nvPr/>
        </p:nvSpPr>
        <p:spPr>
          <a:xfrm>
            <a:off x="822960" y="2428829"/>
            <a:ext cx="2966618" cy="808736"/>
          </a:xfrm>
          <a:prstGeom prst="rect">
            <a:avLst/>
          </a:prstGeom>
          <a:noFill/>
          <a:ln/>
        </p:spPr>
        <p:txBody>
          <a:bodyPr wrap="square" lIns="63500" tIns="63500" rIns="63500" bIns="63500" rtlCol="0" anchor="ctr"/>
          <a:lstStyle/>
          <a:p>
            <a:pPr algn="l" indent="0" marL="0">
              <a:buNone/>
            </a:pPr>
            <a:r>
              <a:rPr lang="en-US" sz="2200" b="1" dirty="0">
                <a:solidFill>
                  <a:srgbClr val="1E2229"/>
                </a:solidFill>
                <a:latin typeface="Calibri" pitchFamily="34" charset="0"/>
                <a:ea typeface="Calibri" pitchFamily="34" charset="-122"/>
                <a:cs typeface="Calibri" pitchFamily="34" charset="-120"/>
              </a:rPr>
              <a:t>C   Fertile soil for growing crops</a:t>
            </a:r>
            <a:endParaRPr lang="en-US" sz="2200" dirty="0"/>
          </a:p>
        </p:txBody>
      </p:sp>
      <p:sp>
        <p:nvSpPr>
          <p:cNvPr id="13" name="card-body"/>
          <p:cNvSpPr txBox="1"/>
          <p:nvPr/>
        </p:nvSpPr>
        <p:spPr>
          <a:xfrm>
            <a:off x="731520" y="3493597"/>
            <a:ext cx="3149498" cy="2514011"/>
          </a:xfrm>
          <a:prstGeom prst="rect">
            <a:avLst/>
          </a:prstGeom>
          <a:noFill/>
          <a:ln/>
        </p:spPr>
        <p:txBody>
          <a:bodyPr wrap="square" lIns="63500" tIns="63500" rIns="63500" bIns="63500" rtlCol="0" anchor="t"/>
          <a:lstStyle/>
          <a:p>
            <a:pPr algn="l" indent="0" marL="0">
              <a:spcAft>
                <a:spcPts val="1000"/>
              </a:spcAft>
              <a:buNone/>
            </a:pPr>
            <a:r>
              <a:rPr lang="en-US" sz="2000" dirty="0">
                <a:solidFill>
                  <a:srgbClr val="4A505C"/>
                </a:solidFill>
                <a:latin typeface="Calibri" pitchFamily="34" charset="0"/>
                <a:ea typeface="Calibri" pitchFamily="34" charset="-122"/>
                <a:cs typeface="Calibri" pitchFamily="34" charset="-120"/>
              </a:rPr>
              <a:t>Which of these is a benefit of living near a volcano?</a:t>
            </a:r>
            <a:endParaRPr lang="en-US" sz="2000" dirty="0"/>
          </a:p>
          <a:p>
            <a:pPr algn="l" indent="0" marL="0">
              <a:buNone/>
            </a:pPr>
            <a:r>
              <a:rPr lang="en-US" sz="2000" i="1" dirty="0">
                <a:solidFill>
                  <a:srgbClr val="1E2229"/>
                </a:solidFill>
                <a:latin typeface="Calibri" pitchFamily="34" charset="0"/>
                <a:ea typeface="Calibri" pitchFamily="34" charset="-122"/>
                <a:cs typeface="Calibri" pitchFamily="34" charset="-120"/>
              </a:rPr>
              <a:t>Volcanic ash is rich in minerals, so the soil around a volcano is fertile and good for farming.</a:t>
            </a:r>
            <a:endParaRPr lang="en-US" sz="2000" dirty="0"/>
          </a:p>
        </p:txBody>
      </p:sp>
      <p:sp>
        <p:nvSpPr>
          <p:cNvPr id="14" name="card"/>
          <p:cNvSpPr/>
          <p:nvPr/>
        </p:nvSpPr>
        <p:spPr>
          <a:xfrm>
            <a:off x="4338218" y="1389888"/>
            <a:ext cx="3515258" cy="4754880"/>
          </a:xfrm>
          <a:prstGeom prst="roundRect">
            <a:avLst>
              <a:gd name="adj" fmla="val 1561"/>
            </a:avLst>
          </a:prstGeom>
          <a:solidFill>
            <a:srgbClr val="F4F7F5"/>
          </a:solidFill>
          <a:ln w="12700">
            <a:solidFill>
              <a:srgbClr val="BFCDC2"/>
            </a:solidFill>
            <a:prstDash val="solid"/>
          </a:ln>
        </p:spPr>
      </p:sp>
      <p:sp>
        <p:nvSpPr>
          <p:cNvPr id="15" name="card-hex"/>
          <p:cNvSpPr/>
          <p:nvPr/>
        </p:nvSpPr>
        <p:spPr>
          <a:xfrm>
            <a:off x="4521098" y="1572768"/>
            <a:ext cx="640080" cy="554309"/>
          </a:xfrm>
          <a:prstGeom prst="hexagon">
            <a:avLst/>
          </a:prstGeom>
          <a:solidFill>
            <a:srgbClr val="3F6B4A"/>
          </a:solidFill>
          <a:ln/>
        </p:spPr>
      </p:sp>
      <p:sp>
        <p:nvSpPr>
          <p:cNvPr id="16" name="card-hex-label"/>
          <p:cNvSpPr txBox="1"/>
          <p:nvPr/>
        </p:nvSpPr>
        <p:spPr>
          <a:xfrm>
            <a:off x="4521098" y="1572768"/>
            <a:ext cx="640080" cy="554309"/>
          </a:xfrm>
          <a:prstGeom prst="rect">
            <a:avLst/>
          </a:prstGeom>
          <a:noFill/>
          <a:ln/>
        </p:spPr>
        <p:txBody>
          <a:bodyPr wrap="square" lIns="0" tIns="0" rIns="0" bIns="0" rtlCol="0" anchor="ctr"/>
          <a:lstStyle/>
          <a:p>
            <a:pPr algn="ctr" indent="0" marL="0">
              <a:buNone/>
            </a:pPr>
            <a:r>
              <a:rPr lang="en-US" sz="2400" b="1" dirty="0">
                <a:solidFill>
                  <a:srgbClr val="FFFFFF"/>
                </a:solidFill>
                <a:latin typeface="Cambria" pitchFamily="34" charset="0"/>
                <a:ea typeface="Cambria" pitchFamily="34" charset="-122"/>
                <a:cs typeface="Cambria" pitchFamily="34" charset="-120"/>
              </a:rPr>
              <a:t>2</a:t>
            </a:r>
            <a:endParaRPr lang="en-US" sz="2400" dirty="0"/>
          </a:p>
        </p:txBody>
      </p:sp>
      <p:sp>
        <p:nvSpPr>
          <p:cNvPr id="17" name="card-label"/>
          <p:cNvSpPr txBox="1"/>
          <p:nvPr/>
        </p:nvSpPr>
        <p:spPr>
          <a:xfrm>
            <a:off x="5252618" y="1572768"/>
            <a:ext cx="2509418" cy="566928"/>
          </a:xfrm>
          <a:prstGeom prst="rect">
            <a:avLst/>
          </a:prstGeom>
          <a:noFill/>
          <a:ln/>
        </p:spPr>
        <p:txBody>
          <a:bodyPr wrap="square" lIns="63500" tIns="63500" rIns="63500" bIns="63500" rtlCol="0" anchor="ctr"/>
          <a:lstStyle/>
          <a:p>
            <a:pPr algn="l" indent="0" marL="0">
              <a:buNone/>
            </a:pPr>
            <a:r>
              <a:rPr lang="en-US" sz="1800" b="1" dirty="0">
                <a:solidFill>
                  <a:srgbClr val="3F6B4A"/>
                </a:solidFill>
                <a:latin typeface="Calibri" pitchFamily="34" charset="0"/>
                <a:ea typeface="Calibri" pitchFamily="34" charset="-122"/>
                <a:cs typeface="Calibri" pitchFamily="34" charset="-120"/>
              </a:rPr>
              <a:t>Answer</a:t>
            </a:r>
            <a:endParaRPr lang="en-US" sz="1800" dirty="0"/>
          </a:p>
        </p:txBody>
      </p:sp>
      <p:sp>
        <p:nvSpPr>
          <p:cNvPr id="18" name="answer-chip"/>
          <p:cNvSpPr/>
          <p:nvPr/>
        </p:nvSpPr>
        <p:spPr>
          <a:xfrm>
            <a:off x="4521098" y="2355677"/>
            <a:ext cx="3149498" cy="614172"/>
          </a:xfrm>
          <a:prstGeom prst="roundRect">
            <a:avLst>
              <a:gd name="adj" fmla="val 17866"/>
            </a:avLst>
          </a:prstGeom>
          <a:solidFill>
            <a:srgbClr val="EEE3CD"/>
          </a:solidFill>
          <a:ln w="19050">
            <a:solidFill>
              <a:srgbClr val="B8862B"/>
            </a:solidFill>
            <a:prstDash val="solid"/>
          </a:ln>
        </p:spPr>
      </p:sp>
      <p:sp>
        <p:nvSpPr>
          <p:cNvPr id="19" name="answer"/>
          <p:cNvSpPr txBox="1"/>
          <p:nvPr/>
        </p:nvSpPr>
        <p:spPr>
          <a:xfrm>
            <a:off x="4612538" y="2428829"/>
            <a:ext cx="2966618" cy="467868"/>
          </a:xfrm>
          <a:prstGeom prst="rect">
            <a:avLst/>
          </a:prstGeom>
          <a:noFill/>
          <a:ln/>
        </p:spPr>
        <p:txBody>
          <a:bodyPr wrap="square" lIns="63500" tIns="63500" rIns="63500" bIns="63500" rtlCol="0" anchor="ctr"/>
          <a:lstStyle/>
          <a:p>
            <a:pPr algn="l" indent="0" marL="0">
              <a:buNone/>
            </a:pPr>
            <a:r>
              <a:rPr lang="en-US" sz="2200" b="1" dirty="0">
                <a:solidFill>
                  <a:srgbClr val="1E2229"/>
                </a:solidFill>
                <a:latin typeface="Calibri" pitchFamily="34" charset="0"/>
                <a:ea typeface="Calibri" pitchFamily="34" charset="-122"/>
                <a:cs typeface="Calibri" pitchFamily="34" charset="-120"/>
              </a:rPr>
              <a:t>4 years</a:t>
            </a:r>
            <a:endParaRPr lang="en-US" sz="2200" dirty="0"/>
          </a:p>
        </p:txBody>
      </p:sp>
      <p:sp>
        <p:nvSpPr>
          <p:cNvPr id="20" name="card-body"/>
          <p:cNvSpPr txBox="1"/>
          <p:nvPr/>
        </p:nvSpPr>
        <p:spPr>
          <a:xfrm>
            <a:off x="4521098" y="3152729"/>
            <a:ext cx="3149498" cy="2854879"/>
          </a:xfrm>
          <a:prstGeom prst="rect">
            <a:avLst/>
          </a:prstGeom>
          <a:noFill/>
          <a:ln/>
        </p:spPr>
        <p:txBody>
          <a:bodyPr wrap="square" lIns="63500" tIns="63500" rIns="63500" bIns="63500" rtlCol="0" anchor="t"/>
          <a:lstStyle/>
          <a:p>
            <a:pPr algn="l" indent="0" marL="0">
              <a:spcAft>
                <a:spcPts val="1000"/>
              </a:spcAft>
              <a:buNone/>
            </a:pPr>
            <a:r>
              <a:rPr lang="en-US" sz="2200" dirty="0">
                <a:solidFill>
                  <a:srgbClr val="4A505C"/>
                </a:solidFill>
                <a:latin typeface="Calibri" pitchFamily="34" charset="0"/>
                <a:ea typeface="Calibri" pitchFamily="34" charset="-122"/>
                <a:cs typeface="Calibri" pitchFamily="34" charset="-120"/>
              </a:rPr>
              <a:t>The Indian Ocean tsunami happened in 2004 and the Sichuan earthquake in 2008. How many years apart were the two events?</a:t>
            </a:r>
            <a:endParaRPr lang="en-US" sz="2200" dirty="0"/>
          </a:p>
          <a:p>
            <a:pPr algn="l" indent="0" marL="0">
              <a:buNone/>
            </a:pPr>
            <a:r>
              <a:rPr lang="en-US" sz="2200" i="1" dirty="0">
                <a:solidFill>
                  <a:srgbClr val="1E2229"/>
                </a:solidFill>
                <a:latin typeface="Calibri" pitchFamily="34" charset="0"/>
                <a:ea typeface="Calibri" pitchFamily="34" charset="-122"/>
                <a:cs typeface="Calibri" pitchFamily="34" charset="-120"/>
              </a:rPr>
              <a:t>2008 − 2004 = 4 years.</a:t>
            </a:r>
            <a:endParaRPr lang="en-US" sz="2200" dirty="0"/>
          </a:p>
        </p:txBody>
      </p:sp>
      <p:sp>
        <p:nvSpPr>
          <p:cNvPr id="21" name="card"/>
          <p:cNvSpPr/>
          <p:nvPr/>
        </p:nvSpPr>
        <p:spPr>
          <a:xfrm>
            <a:off x="8127797" y="1389888"/>
            <a:ext cx="3515258" cy="4754880"/>
          </a:xfrm>
          <a:prstGeom prst="roundRect">
            <a:avLst>
              <a:gd name="adj" fmla="val 1561"/>
            </a:avLst>
          </a:prstGeom>
          <a:solidFill>
            <a:srgbClr val="F4F7F5"/>
          </a:solidFill>
          <a:ln w="12700">
            <a:solidFill>
              <a:srgbClr val="BFCDC2"/>
            </a:solidFill>
            <a:prstDash val="solid"/>
          </a:ln>
        </p:spPr>
      </p:sp>
      <p:sp>
        <p:nvSpPr>
          <p:cNvPr id="22" name="card-hex"/>
          <p:cNvSpPr/>
          <p:nvPr/>
        </p:nvSpPr>
        <p:spPr>
          <a:xfrm>
            <a:off x="8310677" y="1572768"/>
            <a:ext cx="640080" cy="554309"/>
          </a:xfrm>
          <a:prstGeom prst="hexagon">
            <a:avLst/>
          </a:prstGeom>
          <a:solidFill>
            <a:srgbClr val="3F6B4A"/>
          </a:solidFill>
          <a:ln/>
        </p:spPr>
      </p:sp>
      <p:sp>
        <p:nvSpPr>
          <p:cNvPr id="23" name="card-hex-label"/>
          <p:cNvSpPr txBox="1"/>
          <p:nvPr/>
        </p:nvSpPr>
        <p:spPr>
          <a:xfrm>
            <a:off x="8310677" y="1572768"/>
            <a:ext cx="640080" cy="554309"/>
          </a:xfrm>
          <a:prstGeom prst="rect">
            <a:avLst/>
          </a:prstGeom>
          <a:noFill/>
          <a:ln/>
        </p:spPr>
        <p:txBody>
          <a:bodyPr wrap="square" lIns="0" tIns="0" rIns="0" bIns="0" rtlCol="0" anchor="ctr"/>
          <a:lstStyle/>
          <a:p>
            <a:pPr algn="ctr" indent="0" marL="0">
              <a:buNone/>
            </a:pPr>
            <a:r>
              <a:rPr lang="en-US" sz="2400" b="1" dirty="0">
                <a:solidFill>
                  <a:srgbClr val="FFFFFF"/>
                </a:solidFill>
                <a:latin typeface="Cambria" pitchFamily="34" charset="0"/>
                <a:ea typeface="Cambria" pitchFamily="34" charset="-122"/>
                <a:cs typeface="Cambria" pitchFamily="34" charset="-120"/>
              </a:rPr>
              <a:t>3</a:t>
            </a:r>
            <a:endParaRPr lang="en-US" sz="2400" dirty="0"/>
          </a:p>
        </p:txBody>
      </p:sp>
      <p:sp>
        <p:nvSpPr>
          <p:cNvPr id="24" name="card-label"/>
          <p:cNvSpPr txBox="1"/>
          <p:nvPr/>
        </p:nvSpPr>
        <p:spPr>
          <a:xfrm>
            <a:off x="9042197" y="1572768"/>
            <a:ext cx="2509418" cy="566928"/>
          </a:xfrm>
          <a:prstGeom prst="rect">
            <a:avLst/>
          </a:prstGeom>
          <a:noFill/>
          <a:ln/>
        </p:spPr>
        <p:txBody>
          <a:bodyPr wrap="square" lIns="63500" tIns="63500" rIns="63500" bIns="63500" rtlCol="0" anchor="ctr"/>
          <a:lstStyle/>
          <a:p>
            <a:pPr algn="l" indent="0" marL="0">
              <a:buNone/>
            </a:pPr>
            <a:r>
              <a:rPr lang="en-US" sz="1800" b="1" dirty="0">
                <a:solidFill>
                  <a:srgbClr val="3F6B4A"/>
                </a:solidFill>
                <a:latin typeface="Calibri" pitchFamily="34" charset="0"/>
                <a:ea typeface="Calibri" pitchFamily="34" charset="-122"/>
                <a:cs typeface="Calibri" pitchFamily="34" charset="-120"/>
              </a:rPr>
              <a:t>Answer</a:t>
            </a:r>
            <a:endParaRPr lang="en-US" sz="1800" dirty="0"/>
          </a:p>
        </p:txBody>
      </p:sp>
      <p:sp>
        <p:nvSpPr>
          <p:cNvPr id="25" name="answer-chip"/>
          <p:cNvSpPr/>
          <p:nvPr/>
        </p:nvSpPr>
        <p:spPr>
          <a:xfrm>
            <a:off x="8310677" y="2355677"/>
            <a:ext cx="3149498" cy="614172"/>
          </a:xfrm>
          <a:prstGeom prst="roundRect">
            <a:avLst>
              <a:gd name="adj" fmla="val 17866"/>
            </a:avLst>
          </a:prstGeom>
          <a:solidFill>
            <a:srgbClr val="EEE3CD"/>
          </a:solidFill>
          <a:ln w="19050">
            <a:solidFill>
              <a:srgbClr val="B8862B"/>
            </a:solidFill>
            <a:prstDash val="solid"/>
          </a:ln>
        </p:spPr>
      </p:sp>
      <p:sp>
        <p:nvSpPr>
          <p:cNvPr id="26" name="answer"/>
          <p:cNvSpPr txBox="1"/>
          <p:nvPr/>
        </p:nvSpPr>
        <p:spPr>
          <a:xfrm>
            <a:off x="8402117" y="2428829"/>
            <a:ext cx="2966618" cy="467868"/>
          </a:xfrm>
          <a:prstGeom prst="rect">
            <a:avLst/>
          </a:prstGeom>
          <a:noFill/>
          <a:ln/>
        </p:spPr>
        <p:txBody>
          <a:bodyPr wrap="square" lIns="63500" tIns="63500" rIns="63500" bIns="63500" rtlCol="0" anchor="ctr"/>
          <a:lstStyle/>
          <a:p>
            <a:pPr algn="l" indent="0" marL="0">
              <a:buNone/>
            </a:pPr>
            <a:r>
              <a:rPr lang="en-US" sz="2200" b="1" dirty="0">
                <a:solidFill>
                  <a:srgbClr val="1E2229"/>
                </a:solidFill>
                <a:latin typeface="Calibri" pitchFamily="34" charset="0"/>
                <a:ea typeface="Calibri" pitchFamily="34" charset="-122"/>
                <a:cs typeface="Calibri" pitchFamily="34" charset="-120"/>
              </a:rPr>
              <a:t>hot spot</a:t>
            </a:r>
            <a:endParaRPr lang="en-US" sz="2200" dirty="0"/>
          </a:p>
        </p:txBody>
      </p:sp>
      <p:sp>
        <p:nvSpPr>
          <p:cNvPr id="27" name="card-body"/>
          <p:cNvSpPr txBox="1"/>
          <p:nvPr/>
        </p:nvSpPr>
        <p:spPr>
          <a:xfrm>
            <a:off x="8310677" y="3152729"/>
            <a:ext cx="3149498" cy="2854879"/>
          </a:xfrm>
          <a:prstGeom prst="rect">
            <a:avLst/>
          </a:prstGeom>
          <a:noFill/>
          <a:ln/>
        </p:spPr>
        <p:txBody>
          <a:bodyPr wrap="square" lIns="63500" tIns="63500" rIns="63500" bIns="63500" rtlCol="0" anchor="t"/>
          <a:lstStyle/>
          <a:p>
            <a:pPr algn="l" indent="0" marL="0">
              <a:spcAft>
                <a:spcPts val="1000"/>
              </a:spcAft>
              <a:buNone/>
            </a:pPr>
            <a:r>
              <a:rPr lang="en-US" sz="1800" dirty="0">
                <a:solidFill>
                  <a:srgbClr val="4A505C"/>
                </a:solidFill>
                <a:latin typeface="Calibri" pitchFamily="34" charset="0"/>
                <a:ea typeface="Calibri" pitchFamily="34" charset="-122"/>
                <a:cs typeface="Calibri" pitchFamily="34" charset="-120"/>
              </a:rPr>
              <a:t>A place where very hot rock rises from deep in the mantle and makes volcanoes away from a plate boundary is called a ___.</a:t>
            </a:r>
            <a:endParaRPr lang="en-US" sz="1800" dirty="0"/>
          </a:p>
          <a:p>
            <a:pPr algn="l" indent="0" marL="0">
              <a:buNone/>
            </a:pPr>
            <a:r>
              <a:rPr lang="en-US" sz="1800" i="1" dirty="0">
                <a:solidFill>
                  <a:srgbClr val="1E2229"/>
                </a:solidFill>
                <a:latin typeface="Calibri" pitchFamily="34" charset="0"/>
                <a:ea typeface="Calibri" pitchFamily="34" charset="-122"/>
                <a:cs typeface="Calibri" pitchFamily="34" charset="-120"/>
              </a:rPr>
              <a:t>Hawaii sits on a hot spot in the middle of the Pacific Plate, far from any boundary.</a:t>
            </a:r>
            <a:endParaRPr lang="en-US" sz="1800" dirty="0"/>
          </a:p>
        </p:txBody>
      </p:sp>
      <p:sp>
        <p:nvSpPr>
          <p:cNvPr id="25" name="Slide Number Placeholder 0"/>
          <p:cNvSpPr>
            <a:spLocks noGrp="1"/>
          </p:cNvSpPr>
          <p:nvPr>
            <p:ph type="sldNum" sz="quarter" idx="4294967295"/>
          </p:nvPr>
        </p:nvSpPr>
        <p:spPr>
          <a:xfrm>
            <a:off x="11018520" y="6446520"/>
            <a:ext cx="640080" cy="365760"/>
          </a:xfrm>
          <a:prstGeom prst="rect">
            <a:avLst/>
          </a:prstGeom>
          <a:extLst>
            <a:ext uri="{C572A759-6A51-4108-AA02-DFA0A04FC94B}">
              <ma14:wrappingTextBoxFlag xmlns:ma14="http://schemas.microsoft.com/office/mac/drawingml/2011/main" val="0"/>
            </a:ext>
          </a:extLst>
        </p:spPr>
        <p:txBody>
          <a:bodyPr lIns="0" tIns="0" rIns="0" bIns="0" anchor="ctr"/>
          <a:lstStyle>
            <a:lvl1pPr>
              <a:defRPr sz="1000">
                <a:solidFill>
                  <a:srgbClr val="396043"/>
                </a:solidFill>
                <a:latin typeface="Calibri"/>
                <a:ea typeface="Calibri"/>
                <a:cs typeface="Calibri"/>
              </a:defRPr>
            </a:lvl1pPr>
          </a:lstStyle>
          <a:p>
            <a:pPr algn="r"/>
            <a:fld id="{F7021451-1387-4CA6-816F-3879F97B5CBC}" type="slidenum">
              <a:rPr b="0" lang="en-US"/>
              <a:t>3</a:t>
            </a:fld>
            <a:endParaRPr lang="en-US"/>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spTree>
      <p:nvGrpSpPr>
        <p:cNvPr id="1" name=""/>
        <p:cNvGrpSpPr/>
        <p:nvPr/>
      </p:nvGrpSpPr>
      <p:grpSpPr>
        <a:xfrm>
          <a:off x="0" y="0"/>
          <a:ext cx="0" cy="0"/>
          <a:chOff x="0" y="0"/>
          <a:chExt cx="0" cy="0"/>
        </a:xfrm>
      </p:grpSpPr>
      <p:sp>
        <p:nvSpPr>
          <p:cNvPr id="3" name="title"/>
          <p:cNvSpPr txBox="1"/>
          <p:nvPr/>
        </p:nvSpPr>
        <p:spPr>
          <a:xfrm>
            <a:off x="548640" y="292608"/>
            <a:ext cx="9052560" cy="969264"/>
          </a:xfrm>
          <a:prstGeom prst="rect">
            <a:avLst/>
          </a:prstGeom>
          <a:noFill/>
          <a:ln/>
        </p:spPr>
        <p:txBody>
          <a:bodyPr wrap="square" lIns="63500" tIns="63500" rIns="63500" bIns="63500" rtlCol="0" anchor="ctr"/>
          <a:lstStyle/>
          <a:p>
            <a:pPr algn="l" indent="0" marL="0">
              <a:buNone/>
            </a:pPr>
            <a:r>
              <a:rPr lang="en-US" sz="3200" b="1" dirty="0">
                <a:solidFill>
                  <a:srgbClr val="3F6B4A"/>
                </a:solidFill>
                <a:latin typeface="Cambria" pitchFamily="34" charset="0"/>
                <a:ea typeface="Cambria" pitchFamily="34" charset="-122"/>
                <a:cs typeface="Cambria" pitchFamily="34" charset="-120"/>
              </a:rPr>
              <a:t>Key words (1 of 2)</a:t>
            </a:r>
            <a:endParaRPr lang="en-US" sz="3200" dirty="0"/>
          </a:p>
        </p:txBody>
      </p:sp>
      <p:sp>
        <p:nvSpPr>
          <p:cNvPr id="4" name="chip-hex"/>
          <p:cNvSpPr/>
          <p:nvPr/>
        </p:nvSpPr>
        <p:spPr>
          <a:xfrm>
            <a:off x="9677095" y="531760"/>
            <a:ext cx="566928" cy="490960"/>
          </a:xfrm>
          <a:prstGeom prst="hexagon">
            <a:avLst/>
          </a:prstGeom>
          <a:solidFill>
            <a:srgbClr val="3F6B4A"/>
          </a:solidFill>
          <a:ln/>
        </p:spPr>
      </p:sp>
      <p:sp>
        <p:nvSpPr>
          <p:cNvPr id="5" name="chip-hex-label"/>
          <p:cNvSpPr txBox="1"/>
          <p:nvPr/>
        </p:nvSpPr>
        <p:spPr>
          <a:xfrm>
            <a:off x="9677095" y="531760"/>
            <a:ext cx="566928" cy="490960"/>
          </a:xfrm>
          <a:prstGeom prst="rect">
            <a:avLst/>
          </a:prstGeom>
          <a:noFill/>
          <a:ln/>
        </p:spPr>
        <p:txBody>
          <a:bodyPr wrap="square" lIns="0" tIns="0" rIns="0" bIns="0" rtlCol="0" anchor="ctr"/>
          <a:lstStyle/>
          <a:p>
            <a:pPr algn="ctr" indent="0" marL="0">
              <a:buNone/>
            </a:pPr>
            <a:r>
              <a:rPr lang="en-US" sz="2000" b="1" dirty="0">
                <a:solidFill>
                  <a:srgbClr val="FFFFFF"/>
                </a:solidFill>
                <a:latin typeface="Calibri" pitchFamily="34" charset="0"/>
                <a:ea typeface="Calibri" pitchFamily="34" charset="-122"/>
                <a:cs typeface="Calibri" pitchFamily="34" charset="-120"/>
              </a:rPr>
              <a:t>1</a:t>
            </a:r>
            <a:endParaRPr lang="en-US" sz="2000" dirty="0"/>
          </a:p>
        </p:txBody>
      </p:sp>
      <p:sp>
        <p:nvSpPr>
          <p:cNvPr id="6" name="chip-label"/>
          <p:cNvSpPr txBox="1"/>
          <p:nvPr/>
        </p:nvSpPr>
        <p:spPr>
          <a:xfrm>
            <a:off x="10317175" y="292608"/>
            <a:ext cx="1325880" cy="969264"/>
          </a:xfrm>
          <a:prstGeom prst="rect">
            <a:avLst/>
          </a:prstGeom>
          <a:noFill/>
          <a:ln/>
        </p:spPr>
        <p:txBody>
          <a:bodyPr wrap="square" lIns="63500" tIns="63500" rIns="63500" bIns="63500" rtlCol="0" anchor="ctr"/>
          <a:lstStyle/>
          <a:p>
            <a:pPr algn="l" indent="0" marL="0">
              <a:buNone/>
            </a:pPr>
            <a:r>
              <a:rPr lang="en-US" sz="1800" b="1" dirty="0">
                <a:solidFill>
                  <a:srgbClr val="3F6B4A"/>
                </a:solidFill>
                <a:latin typeface="Calibri" pitchFamily="34" charset="0"/>
                <a:ea typeface="Calibri" pitchFamily="34" charset="-122"/>
                <a:cs typeface="Calibri" pitchFamily="34" charset="-120"/>
              </a:rPr>
              <a:t>Pre-teach</a:t>
            </a:r>
            <a:endParaRPr lang="en-US" sz="1800" dirty="0"/>
          </a:p>
        </p:txBody>
      </p:sp>
      <p:sp>
        <p:nvSpPr>
          <p:cNvPr id="7" name="word-card"/>
          <p:cNvSpPr/>
          <p:nvPr/>
        </p:nvSpPr>
        <p:spPr>
          <a:xfrm>
            <a:off x="548640" y="1389888"/>
            <a:ext cx="3515258" cy="4754880"/>
          </a:xfrm>
          <a:prstGeom prst="roundRect">
            <a:avLst>
              <a:gd name="adj" fmla="val 1561"/>
            </a:avLst>
          </a:prstGeom>
          <a:solidFill>
            <a:srgbClr val="F3F5F3"/>
          </a:solidFill>
          <a:ln w="12700">
            <a:solidFill>
              <a:srgbClr val="B5C6B9"/>
            </a:solidFill>
            <a:prstDash val="solid"/>
          </a:ln>
        </p:spPr>
      </p:sp>
      <p:sp>
        <p:nvSpPr>
          <p:cNvPr id="8" name="word-hex"/>
          <p:cNvSpPr/>
          <p:nvPr/>
        </p:nvSpPr>
        <p:spPr>
          <a:xfrm>
            <a:off x="685800" y="1587414"/>
            <a:ext cx="502920" cy="435529"/>
          </a:xfrm>
          <a:prstGeom prst="hexagon">
            <a:avLst/>
          </a:prstGeom>
          <a:solidFill>
            <a:srgbClr val="B8862B"/>
          </a:solidFill>
          <a:ln/>
        </p:spPr>
      </p:sp>
      <p:sp>
        <p:nvSpPr>
          <p:cNvPr id="9" name="word-hex-label"/>
          <p:cNvSpPr txBox="1"/>
          <p:nvPr/>
        </p:nvSpPr>
        <p:spPr>
          <a:xfrm>
            <a:off x="685800" y="1587414"/>
            <a:ext cx="502920" cy="435529"/>
          </a:xfrm>
          <a:prstGeom prst="rect">
            <a:avLst/>
          </a:prstGeom>
          <a:noFill/>
          <a:ln/>
        </p:spPr>
        <p:txBody>
          <a:bodyPr wrap="square" lIns="0" tIns="0" rIns="0" bIns="0" rtlCol="0" anchor="ctr"/>
          <a:lstStyle/>
          <a:p>
            <a:pPr algn="ctr" indent="0" marL="0">
              <a:buNone/>
            </a:pPr>
            <a:r>
              <a:rPr lang="en-US" sz="1800" b="1" dirty="0">
                <a:solidFill>
                  <a:srgbClr val="FFFFFF"/>
                </a:solidFill>
                <a:latin typeface="Calibri" pitchFamily="34" charset="0"/>
                <a:ea typeface="Calibri" pitchFamily="34" charset="-122"/>
                <a:cs typeface="Calibri" pitchFamily="34" charset="-120"/>
              </a:rPr>
              <a:t>1</a:t>
            </a:r>
            <a:endParaRPr lang="en-US" sz="1800" dirty="0"/>
          </a:p>
        </p:txBody>
      </p:sp>
      <p:sp>
        <p:nvSpPr>
          <p:cNvPr id="10" name="word"/>
          <p:cNvSpPr txBox="1"/>
          <p:nvPr/>
        </p:nvSpPr>
        <p:spPr>
          <a:xfrm>
            <a:off x="1280160" y="1527048"/>
            <a:ext cx="2646578" cy="556260"/>
          </a:xfrm>
          <a:prstGeom prst="rect">
            <a:avLst/>
          </a:prstGeom>
          <a:noFill/>
          <a:ln/>
        </p:spPr>
        <p:txBody>
          <a:bodyPr wrap="square" lIns="63500" tIns="63500" rIns="63500" bIns="63500" rtlCol="0" anchor="ctr"/>
          <a:lstStyle/>
          <a:p>
            <a:pPr algn="l" indent="0" marL="0">
              <a:buNone/>
            </a:pPr>
            <a:r>
              <a:rPr lang="en-US" sz="2600" b="1" dirty="0">
                <a:solidFill>
                  <a:srgbClr val="3F6B4A"/>
                </a:solidFill>
                <a:latin typeface="Cambria" pitchFamily="34" charset="0"/>
                <a:ea typeface="Cambria" pitchFamily="34" charset="-122"/>
                <a:cs typeface="Cambria" pitchFamily="34" charset="-120"/>
              </a:rPr>
              <a:t>case study</a:t>
            </a:r>
            <a:endParaRPr lang="en-US" sz="2600" dirty="0"/>
          </a:p>
        </p:txBody>
      </p:sp>
      <p:sp>
        <p:nvSpPr>
          <p:cNvPr id="11" name="word-rule"/>
          <p:cNvSpPr/>
          <p:nvPr/>
        </p:nvSpPr>
        <p:spPr>
          <a:xfrm>
            <a:off x="731520" y="2129028"/>
            <a:ext cx="3149498" cy="0"/>
          </a:xfrm>
          <a:prstGeom prst="line">
            <a:avLst/>
          </a:prstGeom>
          <a:ln w="12700">
            <a:solidFill>
              <a:srgbClr val="B5C6B9"/>
            </a:solidFill>
            <a:prstDash val="solid"/>
          </a:ln>
        </p:spPr>
      </p:sp>
      <p:sp>
        <p:nvSpPr>
          <p:cNvPr id="12" name="word-body"/>
          <p:cNvSpPr txBox="1"/>
          <p:nvPr/>
        </p:nvSpPr>
        <p:spPr>
          <a:xfrm>
            <a:off x="731520" y="2174748"/>
            <a:ext cx="3149498" cy="3832860"/>
          </a:xfrm>
          <a:prstGeom prst="rect">
            <a:avLst/>
          </a:prstGeom>
          <a:noFill/>
          <a:ln/>
        </p:spPr>
        <p:txBody>
          <a:bodyPr wrap="square" lIns="63500" tIns="63500" rIns="63500" bIns="63500" rtlCol="0" anchor="t"/>
          <a:lstStyle/>
          <a:p>
            <a:pPr algn="l" indent="0" marL="0">
              <a:spcAft>
                <a:spcPts val="800"/>
              </a:spcAft>
              <a:buNone/>
            </a:pPr>
            <a:r>
              <a:rPr lang="en-US" sz="2200" dirty="0">
                <a:solidFill>
                  <a:srgbClr val="1E2229"/>
                </a:solidFill>
                <a:latin typeface="Calibri" pitchFamily="34" charset="0"/>
                <a:ea typeface="Calibri" pitchFamily="34" charset="-122"/>
                <a:cs typeface="Calibri" pitchFamily="34" charset="-120"/>
              </a:rPr>
              <a:t>a real example studied in detail to understand a topic</a:t>
            </a:r>
            <a:endParaRPr lang="en-US" sz="2200" dirty="0"/>
          </a:p>
          <a:p>
            <a:pPr algn="l" indent="0" marL="0">
              <a:buNone/>
            </a:pPr>
            <a:r>
              <a:rPr lang="en-US" sz="2200" i="1" dirty="0">
                <a:solidFill>
                  <a:srgbClr val="4A505C"/>
                </a:solidFill>
                <a:latin typeface="Calibri" pitchFamily="34" charset="0"/>
                <a:ea typeface="Calibri" pitchFamily="34" charset="-122"/>
                <a:cs typeface="Calibri" pitchFamily="34" charset="-120"/>
              </a:rPr>
              <a:t>Our case study of an earthquake is Sichuan, China, in 2008.</a:t>
            </a:r>
            <a:endParaRPr lang="en-US" sz="2200" dirty="0"/>
          </a:p>
        </p:txBody>
      </p:sp>
      <p:sp>
        <p:nvSpPr>
          <p:cNvPr id="13" name="word-card"/>
          <p:cNvSpPr/>
          <p:nvPr/>
        </p:nvSpPr>
        <p:spPr>
          <a:xfrm>
            <a:off x="4338218" y="1389888"/>
            <a:ext cx="3515258" cy="4754880"/>
          </a:xfrm>
          <a:prstGeom prst="roundRect">
            <a:avLst>
              <a:gd name="adj" fmla="val 1561"/>
            </a:avLst>
          </a:prstGeom>
          <a:solidFill>
            <a:srgbClr val="F3F5F3"/>
          </a:solidFill>
          <a:ln w="12700">
            <a:solidFill>
              <a:srgbClr val="B5C6B9"/>
            </a:solidFill>
            <a:prstDash val="solid"/>
          </a:ln>
        </p:spPr>
      </p:sp>
      <p:sp>
        <p:nvSpPr>
          <p:cNvPr id="14" name="word-hex"/>
          <p:cNvSpPr/>
          <p:nvPr/>
        </p:nvSpPr>
        <p:spPr>
          <a:xfrm>
            <a:off x="4475378" y="1587414"/>
            <a:ext cx="502920" cy="435529"/>
          </a:xfrm>
          <a:prstGeom prst="hexagon">
            <a:avLst/>
          </a:prstGeom>
          <a:solidFill>
            <a:srgbClr val="B8862B"/>
          </a:solidFill>
          <a:ln/>
        </p:spPr>
      </p:sp>
      <p:sp>
        <p:nvSpPr>
          <p:cNvPr id="15" name="word-hex-label"/>
          <p:cNvSpPr txBox="1"/>
          <p:nvPr/>
        </p:nvSpPr>
        <p:spPr>
          <a:xfrm>
            <a:off x="4475378" y="1587414"/>
            <a:ext cx="502920" cy="435529"/>
          </a:xfrm>
          <a:prstGeom prst="rect">
            <a:avLst/>
          </a:prstGeom>
          <a:noFill/>
          <a:ln/>
        </p:spPr>
        <p:txBody>
          <a:bodyPr wrap="square" lIns="0" tIns="0" rIns="0" bIns="0" rtlCol="0" anchor="ctr"/>
          <a:lstStyle/>
          <a:p>
            <a:pPr algn="ctr" indent="0" marL="0">
              <a:buNone/>
            </a:pPr>
            <a:r>
              <a:rPr lang="en-US" sz="1800" b="1" dirty="0">
                <a:solidFill>
                  <a:srgbClr val="FFFFFF"/>
                </a:solidFill>
                <a:latin typeface="Calibri" pitchFamily="34" charset="0"/>
                <a:ea typeface="Calibri" pitchFamily="34" charset="-122"/>
                <a:cs typeface="Calibri" pitchFamily="34" charset="-120"/>
              </a:rPr>
              <a:t>2</a:t>
            </a:r>
            <a:endParaRPr lang="en-US" sz="1800" dirty="0"/>
          </a:p>
        </p:txBody>
      </p:sp>
      <p:sp>
        <p:nvSpPr>
          <p:cNvPr id="16" name="word"/>
          <p:cNvSpPr txBox="1"/>
          <p:nvPr/>
        </p:nvSpPr>
        <p:spPr>
          <a:xfrm>
            <a:off x="5069738" y="1527048"/>
            <a:ext cx="2646578" cy="556260"/>
          </a:xfrm>
          <a:prstGeom prst="rect">
            <a:avLst/>
          </a:prstGeom>
          <a:noFill/>
          <a:ln/>
        </p:spPr>
        <p:txBody>
          <a:bodyPr wrap="square" lIns="63500" tIns="63500" rIns="63500" bIns="63500" rtlCol="0" anchor="ctr"/>
          <a:lstStyle/>
          <a:p>
            <a:pPr algn="l" indent="0" marL="0">
              <a:buNone/>
            </a:pPr>
            <a:r>
              <a:rPr lang="en-US" sz="2600" b="1" dirty="0">
                <a:solidFill>
                  <a:srgbClr val="3F6B4A"/>
                </a:solidFill>
                <a:latin typeface="Cambria" pitchFamily="34" charset="0"/>
                <a:ea typeface="Cambria" pitchFamily="34" charset="-122"/>
                <a:cs typeface="Cambria" pitchFamily="34" charset="-120"/>
              </a:rPr>
              <a:t>NEE</a:t>
            </a:r>
            <a:endParaRPr lang="en-US" sz="2600" dirty="0"/>
          </a:p>
        </p:txBody>
      </p:sp>
      <p:sp>
        <p:nvSpPr>
          <p:cNvPr id="17" name="word-rule"/>
          <p:cNvSpPr/>
          <p:nvPr/>
        </p:nvSpPr>
        <p:spPr>
          <a:xfrm>
            <a:off x="4521098" y="2129028"/>
            <a:ext cx="3149498" cy="0"/>
          </a:xfrm>
          <a:prstGeom prst="line">
            <a:avLst/>
          </a:prstGeom>
          <a:ln w="12700">
            <a:solidFill>
              <a:srgbClr val="B5C6B9"/>
            </a:solidFill>
            <a:prstDash val="solid"/>
          </a:ln>
        </p:spPr>
      </p:sp>
      <p:sp>
        <p:nvSpPr>
          <p:cNvPr id="18" name="word-body"/>
          <p:cNvSpPr txBox="1"/>
          <p:nvPr/>
        </p:nvSpPr>
        <p:spPr>
          <a:xfrm>
            <a:off x="4521098" y="2174748"/>
            <a:ext cx="3149498" cy="3832860"/>
          </a:xfrm>
          <a:prstGeom prst="rect">
            <a:avLst/>
          </a:prstGeom>
          <a:noFill/>
          <a:ln/>
        </p:spPr>
        <p:txBody>
          <a:bodyPr wrap="square" lIns="63500" tIns="63500" rIns="63500" bIns="63500" rtlCol="0" anchor="t"/>
          <a:lstStyle/>
          <a:p>
            <a:pPr algn="l" indent="0" marL="0">
              <a:spcAft>
                <a:spcPts val="800"/>
              </a:spcAft>
              <a:buNone/>
            </a:pPr>
            <a:r>
              <a:rPr lang="en-US" sz="2200" dirty="0">
                <a:solidFill>
                  <a:srgbClr val="1E2229"/>
                </a:solidFill>
                <a:latin typeface="Calibri" pitchFamily="34" charset="0"/>
                <a:ea typeface="Calibri" pitchFamily="34" charset="-122"/>
                <a:cs typeface="Calibri" pitchFamily="34" charset="-120"/>
              </a:rPr>
              <a:t>a newly emerging economy: a country that is getting richer quickly</a:t>
            </a:r>
            <a:endParaRPr lang="en-US" sz="2200" dirty="0"/>
          </a:p>
          <a:p>
            <a:pPr algn="l" indent="0" marL="0">
              <a:buNone/>
            </a:pPr>
            <a:r>
              <a:rPr lang="en-US" sz="2200" i="1" dirty="0">
                <a:solidFill>
                  <a:srgbClr val="4A505C"/>
                </a:solidFill>
                <a:latin typeface="Calibri" pitchFamily="34" charset="0"/>
                <a:ea typeface="Calibri" pitchFamily="34" charset="-122"/>
                <a:cs typeface="Calibri" pitchFamily="34" charset="-120"/>
              </a:rPr>
              <a:t>China is an NEE, a country whose economy is growing fast.</a:t>
            </a:r>
            <a:endParaRPr lang="en-US" sz="2200" dirty="0"/>
          </a:p>
        </p:txBody>
      </p:sp>
      <p:sp>
        <p:nvSpPr>
          <p:cNvPr id="19" name="word-card"/>
          <p:cNvSpPr/>
          <p:nvPr/>
        </p:nvSpPr>
        <p:spPr>
          <a:xfrm>
            <a:off x="8127797" y="1389888"/>
            <a:ext cx="3515258" cy="4754880"/>
          </a:xfrm>
          <a:prstGeom prst="roundRect">
            <a:avLst>
              <a:gd name="adj" fmla="val 1561"/>
            </a:avLst>
          </a:prstGeom>
          <a:solidFill>
            <a:srgbClr val="F3F5F3"/>
          </a:solidFill>
          <a:ln w="12700">
            <a:solidFill>
              <a:srgbClr val="B5C6B9"/>
            </a:solidFill>
            <a:prstDash val="solid"/>
          </a:ln>
        </p:spPr>
      </p:sp>
      <p:sp>
        <p:nvSpPr>
          <p:cNvPr id="20" name="word-hex"/>
          <p:cNvSpPr/>
          <p:nvPr/>
        </p:nvSpPr>
        <p:spPr>
          <a:xfrm>
            <a:off x="8264957" y="1587414"/>
            <a:ext cx="502920" cy="435529"/>
          </a:xfrm>
          <a:prstGeom prst="hexagon">
            <a:avLst/>
          </a:prstGeom>
          <a:solidFill>
            <a:srgbClr val="B8862B"/>
          </a:solidFill>
          <a:ln/>
        </p:spPr>
      </p:sp>
      <p:sp>
        <p:nvSpPr>
          <p:cNvPr id="21" name="word-hex-label"/>
          <p:cNvSpPr txBox="1"/>
          <p:nvPr/>
        </p:nvSpPr>
        <p:spPr>
          <a:xfrm>
            <a:off x="8264957" y="1587414"/>
            <a:ext cx="502920" cy="435529"/>
          </a:xfrm>
          <a:prstGeom prst="rect">
            <a:avLst/>
          </a:prstGeom>
          <a:noFill/>
          <a:ln/>
        </p:spPr>
        <p:txBody>
          <a:bodyPr wrap="square" lIns="0" tIns="0" rIns="0" bIns="0" rtlCol="0" anchor="ctr"/>
          <a:lstStyle/>
          <a:p>
            <a:pPr algn="ctr" indent="0" marL="0">
              <a:buNone/>
            </a:pPr>
            <a:r>
              <a:rPr lang="en-US" sz="1800" b="1" dirty="0">
                <a:solidFill>
                  <a:srgbClr val="FFFFFF"/>
                </a:solidFill>
                <a:latin typeface="Calibri" pitchFamily="34" charset="0"/>
                <a:ea typeface="Calibri" pitchFamily="34" charset="-122"/>
                <a:cs typeface="Calibri" pitchFamily="34" charset="-120"/>
              </a:rPr>
              <a:t>3</a:t>
            </a:r>
            <a:endParaRPr lang="en-US" sz="1800" dirty="0"/>
          </a:p>
        </p:txBody>
      </p:sp>
      <p:sp>
        <p:nvSpPr>
          <p:cNvPr id="22" name="word"/>
          <p:cNvSpPr txBox="1"/>
          <p:nvPr/>
        </p:nvSpPr>
        <p:spPr>
          <a:xfrm>
            <a:off x="8859317" y="1527048"/>
            <a:ext cx="2646578" cy="556260"/>
          </a:xfrm>
          <a:prstGeom prst="rect">
            <a:avLst/>
          </a:prstGeom>
          <a:noFill/>
          <a:ln/>
        </p:spPr>
        <p:txBody>
          <a:bodyPr wrap="square" lIns="63500" tIns="63500" rIns="63500" bIns="63500" rtlCol="0" anchor="ctr"/>
          <a:lstStyle/>
          <a:p>
            <a:pPr algn="l" indent="0" marL="0">
              <a:buNone/>
            </a:pPr>
            <a:r>
              <a:rPr lang="en-US" sz="2600" b="1" dirty="0">
                <a:solidFill>
                  <a:srgbClr val="3F6B4A"/>
                </a:solidFill>
                <a:latin typeface="Cambria" pitchFamily="34" charset="0"/>
                <a:ea typeface="Cambria" pitchFamily="34" charset="-122"/>
                <a:cs typeface="Cambria" pitchFamily="34" charset="-120"/>
              </a:rPr>
              <a:t>effect</a:t>
            </a:r>
            <a:endParaRPr lang="en-US" sz="2600" dirty="0"/>
          </a:p>
        </p:txBody>
      </p:sp>
      <p:sp>
        <p:nvSpPr>
          <p:cNvPr id="23" name="word-rule"/>
          <p:cNvSpPr/>
          <p:nvPr/>
        </p:nvSpPr>
        <p:spPr>
          <a:xfrm>
            <a:off x="8310677" y="2129028"/>
            <a:ext cx="3149498" cy="0"/>
          </a:xfrm>
          <a:prstGeom prst="line">
            <a:avLst/>
          </a:prstGeom>
          <a:ln w="12700">
            <a:solidFill>
              <a:srgbClr val="B5C6B9"/>
            </a:solidFill>
            <a:prstDash val="solid"/>
          </a:ln>
        </p:spPr>
      </p:sp>
      <p:sp>
        <p:nvSpPr>
          <p:cNvPr id="24" name="word-body"/>
          <p:cNvSpPr txBox="1"/>
          <p:nvPr/>
        </p:nvSpPr>
        <p:spPr>
          <a:xfrm>
            <a:off x="8310677" y="2174748"/>
            <a:ext cx="3149498" cy="3832860"/>
          </a:xfrm>
          <a:prstGeom prst="rect">
            <a:avLst/>
          </a:prstGeom>
          <a:noFill/>
          <a:ln/>
        </p:spPr>
        <p:txBody>
          <a:bodyPr wrap="square" lIns="63500" tIns="63500" rIns="63500" bIns="63500" rtlCol="0" anchor="t"/>
          <a:lstStyle/>
          <a:p>
            <a:pPr algn="l" indent="0" marL="0">
              <a:spcAft>
                <a:spcPts val="800"/>
              </a:spcAft>
              <a:buNone/>
            </a:pPr>
            <a:r>
              <a:rPr lang="en-US" sz="2200" dirty="0">
                <a:solidFill>
                  <a:srgbClr val="1E2229"/>
                </a:solidFill>
                <a:latin typeface="Calibri" pitchFamily="34" charset="0"/>
                <a:ea typeface="Calibri" pitchFamily="34" charset="-122"/>
                <a:cs typeface="Calibri" pitchFamily="34" charset="-120"/>
              </a:rPr>
              <a:t>something that happens because of an event</a:t>
            </a:r>
            <a:endParaRPr lang="en-US" sz="2200" dirty="0"/>
          </a:p>
          <a:p>
            <a:pPr algn="l" indent="0" marL="0">
              <a:buNone/>
            </a:pPr>
            <a:r>
              <a:rPr lang="en-US" sz="2200" i="1" dirty="0">
                <a:solidFill>
                  <a:srgbClr val="4A505C"/>
                </a:solidFill>
                <a:latin typeface="Calibri" pitchFamily="34" charset="0"/>
                <a:ea typeface="Calibri" pitchFamily="34" charset="-122"/>
                <a:cs typeface="Calibri" pitchFamily="34" charset="-120"/>
              </a:rPr>
              <a:t>One effect of the earthquake was that many people lost their homes.</a:t>
            </a:r>
            <a:endParaRPr lang="en-US" sz="2200" dirty="0"/>
          </a:p>
        </p:txBody>
      </p:sp>
      <p:sp>
        <p:nvSpPr>
          <p:cNvPr id="25" name="Slide Number Placeholder 0"/>
          <p:cNvSpPr>
            <a:spLocks noGrp="1"/>
          </p:cNvSpPr>
          <p:nvPr>
            <p:ph type="sldNum" sz="quarter" idx="4294967295"/>
          </p:nvPr>
        </p:nvSpPr>
        <p:spPr>
          <a:xfrm>
            <a:off x="11018520" y="6446520"/>
            <a:ext cx="640080" cy="365760"/>
          </a:xfrm>
          <a:prstGeom prst="rect">
            <a:avLst/>
          </a:prstGeom>
          <a:extLst>
            <a:ext uri="{C572A759-6A51-4108-AA02-DFA0A04FC94B}">
              <ma14:wrappingTextBoxFlag xmlns:ma14="http://schemas.microsoft.com/office/mac/drawingml/2011/main" val="0"/>
            </a:ext>
          </a:extLst>
        </p:spPr>
        <p:txBody>
          <a:bodyPr lIns="0" tIns="0" rIns="0" bIns="0" anchor="ctr"/>
          <a:lstStyle>
            <a:lvl1pPr>
              <a:defRPr sz="1000">
                <a:solidFill>
                  <a:srgbClr val="396043"/>
                </a:solidFill>
                <a:latin typeface="Calibri"/>
                <a:ea typeface="Calibri"/>
                <a:cs typeface="Calibri"/>
              </a:defRPr>
            </a:lvl1pPr>
          </a:lstStyle>
          <a:p>
            <a:pPr algn="r"/>
            <a:fld id="{F7021451-1387-4CA6-816F-3879F97B5CBC}" type="slidenum">
              <a:rPr b="0" lang="en-US"/>
              <a:t>4</a:t>
            </a:fld>
            <a:endParaRPr lang="en-US"/>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spTree>
      <p:nvGrpSpPr>
        <p:cNvPr id="1" name=""/>
        <p:cNvGrpSpPr/>
        <p:nvPr/>
      </p:nvGrpSpPr>
      <p:grpSpPr>
        <a:xfrm>
          <a:off x="0" y="0"/>
          <a:ext cx="0" cy="0"/>
          <a:chOff x="0" y="0"/>
          <a:chExt cx="0" cy="0"/>
        </a:xfrm>
      </p:grpSpPr>
      <p:sp>
        <p:nvSpPr>
          <p:cNvPr id="3" name="title"/>
          <p:cNvSpPr txBox="1"/>
          <p:nvPr/>
        </p:nvSpPr>
        <p:spPr>
          <a:xfrm>
            <a:off x="548640" y="292608"/>
            <a:ext cx="9052560" cy="969264"/>
          </a:xfrm>
          <a:prstGeom prst="rect">
            <a:avLst/>
          </a:prstGeom>
          <a:noFill/>
          <a:ln/>
        </p:spPr>
        <p:txBody>
          <a:bodyPr wrap="square" lIns="63500" tIns="63500" rIns="63500" bIns="63500" rtlCol="0" anchor="ctr"/>
          <a:lstStyle/>
          <a:p>
            <a:pPr algn="l" indent="0" marL="0">
              <a:buNone/>
            </a:pPr>
            <a:r>
              <a:rPr lang="en-US" sz="3200" b="1" dirty="0">
                <a:solidFill>
                  <a:srgbClr val="3F6B4A"/>
                </a:solidFill>
                <a:latin typeface="Cambria" pitchFamily="34" charset="0"/>
                <a:ea typeface="Cambria" pitchFamily="34" charset="-122"/>
                <a:cs typeface="Cambria" pitchFamily="34" charset="-120"/>
              </a:rPr>
              <a:t>Key words (2 of 2)</a:t>
            </a:r>
            <a:endParaRPr lang="en-US" sz="3200" dirty="0"/>
          </a:p>
        </p:txBody>
      </p:sp>
      <p:sp>
        <p:nvSpPr>
          <p:cNvPr id="4" name="chip-hex"/>
          <p:cNvSpPr/>
          <p:nvPr/>
        </p:nvSpPr>
        <p:spPr>
          <a:xfrm>
            <a:off x="9677095" y="531760"/>
            <a:ext cx="566928" cy="490960"/>
          </a:xfrm>
          <a:prstGeom prst="hexagon">
            <a:avLst/>
          </a:prstGeom>
          <a:solidFill>
            <a:srgbClr val="3F6B4A"/>
          </a:solidFill>
          <a:ln/>
        </p:spPr>
      </p:sp>
      <p:sp>
        <p:nvSpPr>
          <p:cNvPr id="5" name="chip-hex-label"/>
          <p:cNvSpPr txBox="1"/>
          <p:nvPr/>
        </p:nvSpPr>
        <p:spPr>
          <a:xfrm>
            <a:off x="9677095" y="531760"/>
            <a:ext cx="566928" cy="490960"/>
          </a:xfrm>
          <a:prstGeom prst="rect">
            <a:avLst/>
          </a:prstGeom>
          <a:noFill/>
          <a:ln/>
        </p:spPr>
        <p:txBody>
          <a:bodyPr wrap="square" lIns="0" tIns="0" rIns="0" bIns="0" rtlCol="0" anchor="ctr"/>
          <a:lstStyle/>
          <a:p>
            <a:pPr algn="ctr" indent="0" marL="0">
              <a:buNone/>
            </a:pPr>
            <a:r>
              <a:rPr lang="en-US" sz="2000" b="1" dirty="0">
                <a:solidFill>
                  <a:srgbClr val="FFFFFF"/>
                </a:solidFill>
                <a:latin typeface="Calibri" pitchFamily="34" charset="0"/>
                <a:ea typeface="Calibri" pitchFamily="34" charset="-122"/>
                <a:cs typeface="Calibri" pitchFamily="34" charset="-120"/>
              </a:rPr>
              <a:t>1</a:t>
            </a:r>
            <a:endParaRPr lang="en-US" sz="2000" dirty="0"/>
          </a:p>
        </p:txBody>
      </p:sp>
      <p:sp>
        <p:nvSpPr>
          <p:cNvPr id="6" name="chip-label"/>
          <p:cNvSpPr txBox="1"/>
          <p:nvPr/>
        </p:nvSpPr>
        <p:spPr>
          <a:xfrm>
            <a:off x="10317175" y="292608"/>
            <a:ext cx="1325880" cy="969264"/>
          </a:xfrm>
          <a:prstGeom prst="rect">
            <a:avLst/>
          </a:prstGeom>
          <a:noFill/>
          <a:ln/>
        </p:spPr>
        <p:txBody>
          <a:bodyPr wrap="square" lIns="63500" tIns="63500" rIns="63500" bIns="63500" rtlCol="0" anchor="ctr"/>
          <a:lstStyle/>
          <a:p>
            <a:pPr algn="l" indent="0" marL="0">
              <a:buNone/>
            </a:pPr>
            <a:r>
              <a:rPr lang="en-US" sz="1800" b="1" dirty="0">
                <a:solidFill>
                  <a:srgbClr val="3F6B4A"/>
                </a:solidFill>
                <a:latin typeface="Calibri" pitchFamily="34" charset="0"/>
                <a:ea typeface="Calibri" pitchFamily="34" charset="-122"/>
                <a:cs typeface="Calibri" pitchFamily="34" charset="-120"/>
              </a:rPr>
              <a:t>Pre-teach</a:t>
            </a:r>
            <a:endParaRPr lang="en-US" sz="1800" dirty="0"/>
          </a:p>
        </p:txBody>
      </p:sp>
      <p:sp>
        <p:nvSpPr>
          <p:cNvPr id="7" name="word-card"/>
          <p:cNvSpPr/>
          <p:nvPr/>
        </p:nvSpPr>
        <p:spPr>
          <a:xfrm>
            <a:off x="548640" y="1389888"/>
            <a:ext cx="3515258" cy="4754880"/>
          </a:xfrm>
          <a:prstGeom prst="roundRect">
            <a:avLst>
              <a:gd name="adj" fmla="val 1561"/>
            </a:avLst>
          </a:prstGeom>
          <a:solidFill>
            <a:srgbClr val="F3F5F3"/>
          </a:solidFill>
          <a:ln w="12700">
            <a:solidFill>
              <a:srgbClr val="B5C6B9"/>
            </a:solidFill>
            <a:prstDash val="solid"/>
          </a:ln>
        </p:spPr>
      </p:sp>
      <p:sp>
        <p:nvSpPr>
          <p:cNvPr id="8" name="word-hex"/>
          <p:cNvSpPr/>
          <p:nvPr/>
        </p:nvSpPr>
        <p:spPr>
          <a:xfrm>
            <a:off x="685800" y="1587414"/>
            <a:ext cx="502920" cy="435529"/>
          </a:xfrm>
          <a:prstGeom prst="hexagon">
            <a:avLst/>
          </a:prstGeom>
          <a:solidFill>
            <a:srgbClr val="B8862B"/>
          </a:solidFill>
          <a:ln/>
        </p:spPr>
      </p:sp>
      <p:sp>
        <p:nvSpPr>
          <p:cNvPr id="9" name="word-hex-label"/>
          <p:cNvSpPr txBox="1"/>
          <p:nvPr/>
        </p:nvSpPr>
        <p:spPr>
          <a:xfrm>
            <a:off x="685800" y="1587414"/>
            <a:ext cx="502920" cy="435529"/>
          </a:xfrm>
          <a:prstGeom prst="rect">
            <a:avLst/>
          </a:prstGeom>
          <a:noFill/>
          <a:ln/>
        </p:spPr>
        <p:txBody>
          <a:bodyPr wrap="square" lIns="0" tIns="0" rIns="0" bIns="0" rtlCol="0" anchor="ctr"/>
          <a:lstStyle/>
          <a:p>
            <a:pPr algn="ctr" indent="0" marL="0">
              <a:buNone/>
            </a:pPr>
            <a:r>
              <a:rPr lang="en-US" sz="1800" b="1" dirty="0">
                <a:solidFill>
                  <a:srgbClr val="FFFFFF"/>
                </a:solidFill>
                <a:latin typeface="Calibri" pitchFamily="34" charset="0"/>
                <a:ea typeface="Calibri" pitchFamily="34" charset="-122"/>
                <a:cs typeface="Calibri" pitchFamily="34" charset="-120"/>
              </a:rPr>
              <a:t>4</a:t>
            </a:r>
            <a:endParaRPr lang="en-US" sz="1800" dirty="0"/>
          </a:p>
        </p:txBody>
      </p:sp>
      <p:sp>
        <p:nvSpPr>
          <p:cNvPr id="10" name="word"/>
          <p:cNvSpPr txBox="1"/>
          <p:nvPr/>
        </p:nvSpPr>
        <p:spPr>
          <a:xfrm>
            <a:off x="1280160" y="1527048"/>
            <a:ext cx="2646578" cy="556260"/>
          </a:xfrm>
          <a:prstGeom prst="rect">
            <a:avLst/>
          </a:prstGeom>
          <a:noFill/>
          <a:ln/>
        </p:spPr>
        <p:txBody>
          <a:bodyPr wrap="square" lIns="63500" tIns="63500" rIns="63500" bIns="63500" rtlCol="0" anchor="ctr"/>
          <a:lstStyle/>
          <a:p>
            <a:pPr algn="l" indent="0" marL="0">
              <a:buNone/>
            </a:pPr>
            <a:r>
              <a:rPr lang="en-US" sz="2600" b="1" dirty="0">
                <a:solidFill>
                  <a:srgbClr val="3F6B4A"/>
                </a:solidFill>
                <a:latin typeface="Cambria" pitchFamily="34" charset="0"/>
                <a:ea typeface="Cambria" pitchFamily="34" charset="-122"/>
                <a:cs typeface="Cambria" pitchFamily="34" charset="-120"/>
              </a:rPr>
              <a:t>response</a:t>
            </a:r>
            <a:endParaRPr lang="en-US" sz="2600" dirty="0"/>
          </a:p>
        </p:txBody>
      </p:sp>
      <p:sp>
        <p:nvSpPr>
          <p:cNvPr id="11" name="word-rule"/>
          <p:cNvSpPr/>
          <p:nvPr/>
        </p:nvSpPr>
        <p:spPr>
          <a:xfrm>
            <a:off x="731520" y="2129028"/>
            <a:ext cx="3149498" cy="0"/>
          </a:xfrm>
          <a:prstGeom prst="line">
            <a:avLst/>
          </a:prstGeom>
          <a:ln w="12700">
            <a:solidFill>
              <a:srgbClr val="B5C6B9"/>
            </a:solidFill>
            <a:prstDash val="solid"/>
          </a:ln>
        </p:spPr>
      </p:sp>
      <p:sp>
        <p:nvSpPr>
          <p:cNvPr id="12" name="word-body"/>
          <p:cNvSpPr txBox="1"/>
          <p:nvPr/>
        </p:nvSpPr>
        <p:spPr>
          <a:xfrm>
            <a:off x="731520" y="2174748"/>
            <a:ext cx="3149498" cy="3832860"/>
          </a:xfrm>
          <a:prstGeom prst="rect">
            <a:avLst/>
          </a:prstGeom>
          <a:noFill/>
          <a:ln/>
        </p:spPr>
        <p:txBody>
          <a:bodyPr wrap="square" lIns="63500" tIns="63500" rIns="63500" bIns="63500" rtlCol="0" anchor="t"/>
          <a:lstStyle/>
          <a:p>
            <a:pPr algn="l" indent="0" marL="0">
              <a:spcAft>
                <a:spcPts val="800"/>
              </a:spcAft>
              <a:buNone/>
            </a:pPr>
            <a:r>
              <a:rPr lang="en-US" sz="2200" dirty="0">
                <a:solidFill>
                  <a:srgbClr val="1E2229"/>
                </a:solidFill>
                <a:latin typeface="Calibri" pitchFamily="34" charset="0"/>
                <a:ea typeface="Calibri" pitchFamily="34" charset="-122"/>
                <a:cs typeface="Calibri" pitchFamily="34" charset="-120"/>
              </a:rPr>
              <a:t>what people do to help after a disaster</a:t>
            </a:r>
            <a:endParaRPr lang="en-US" sz="2200" dirty="0"/>
          </a:p>
          <a:p>
            <a:pPr algn="l" indent="0" marL="0">
              <a:buNone/>
            </a:pPr>
            <a:r>
              <a:rPr lang="en-US" sz="2200" i="1" dirty="0">
                <a:solidFill>
                  <a:srgbClr val="4A505C"/>
                </a:solidFill>
                <a:latin typeface="Calibri" pitchFamily="34" charset="0"/>
                <a:ea typeface="Calibri" pitchFamily="34" charset="-122"/>
                <a:cs typeface="Calibri" pitchFamily="34" charset="-120"/>
              </a:rPr>
              <a:t>Sending rescue teams was the first response to the earthquake.</a:t>
            </a:r>
            <a:endParaRPr lang="en-US" sz="2200" dirty="0"/>
          </a:p>
        </p:txBody>
      </p:sp>
      <p:sp>
        <p:nvSpPr>
          <p:cNvPr id="13" name="word-card"/>
          <p:cNvSpPr/>
          <p:nvPr/>
        </p:nvSpPr>
        <p:spPr>
          <a:xfrm>
            <a:off x="4338218" y="1389888"/>
            <a:ext cx="3515258" cy="4754880"/>
          </a:xfrm>
          <a:prstGeom prst="roundRect">
            <a:avLst>
              <a:gd name="adj" fmla="val 1561"/>
            </a:avLst>
          </a:prstGeom>
          <a:solidFill>
            <a:srgbClr val="F3F5F3"/>
          </a:solidFill>
          <a:ln w="12700">
            <a:solidFill>
              <a:srgbClr val="B5C6B9"/>
            </a:solidFill>
            <a:prstDash val="solid"/>
          </a:ln>
        </p:spPr>
      </p:sp>
      <p:sp>
        <p:nvSpPr>
          <p:cNvPr id="14" name="word-hex"/>
          <p:cNvSpPr/>
          <p:nvPr/>
        </p:nvSpPr>
        <p:spPr>
          <a:xfrm>
            <a:off x="4475378" y="1587414"/>
            <a:ext cx="502920" cy="435529"/>
          </a:xfrm>
          <a:prstGeom prst="hexagon">
            <a:avLst/>
          </a:prstGeom>
          <a:solidFill>
            <a:srgbClr val="B8862B"/>
          </a:solidFill>
          <a:ln/>
        </p:spPr>
      </p:sp>
      <p:sp>
        <p:nvSpPr>
          <p:cNvPr id="15" name="word-hex-label"/>
          <p:cNvSpPr txBox="1"/>
          <p:nvPr/>
        </p:nvSpPr>
        <p:spPr>
          <a:xfrm>
            <a:off x="4475378" y="1587414"/>
            <a:ext cx="502920" cy="435529"/>
          </a:xfrm>
          <a:prstGeom prst="rect">
            <a:avLst/>
          </a:prstGeom>
          <a:noFill/>
          <a:ln/>
        </p:spPr>
        <p:txBody>
          <a:bodyPr wrap="square" lIns="0" tIns="0" rIns="0" bIns="0" rtlCol="0" anchor="ctr"/>
          <a:lstStyle/>
          <a:p>
            <a:pPr algn="ctr" indent="0" marL="0">
              <a:buNone/>
            </a:pPr>
            <a:r>
              <a:rPr lang="en-US" sz="1800" b="1" dirty="0">
                <a:solidFill>
                  <a:srgbClr val="FFFFFF"/>
                </a:solidFill>
                <a:latin typeface="Calibri" pitchFamily="34" charset="0"/>
                <a:ea typeface="Calibri" pitchFamily="34" charset="-122"/>
                <a:cs typeface="Calibri" pitchFamily="34" charset="-120"/>
              </a:rPr>
              <a:t>5</a:t>
            </a:r>
            <a:endParaRPr lang="en-US" sz="1800" dirty="0"/>
          </a:p>
        </p:txBody>
      </p:sp>
      <p:sp>
        <p:nvSpPr>
          <p:cNvPr id="16" name="word"/>
          <p:cNvSpPr txBox="1"/>
          <p:nvPr/>
        </p:nvSpPr>
        <p:spPr>
          <a:xfrm>
            <a:off x="5069738" y="1527048"/>
            <a:ext cx="2646578" cy="556260"/>
          </a:xfrm>
          <a:prstGeom prst="rect">
            <a:avLst/>
          </a:prstGeom>
          <a:noFill/>
          <a:ln/>
        </p:spPr>
        <p:txBody>
          <a:bodyPr wrap="square" lIns="63500" tIns="63500" rIns="63500" bIns="63500" rtlCol="0" anchor="ctr"/>
          <a:lstStyle/>
          <a:p>
            <a:pPr algn="l" indent="0" marL="0">
              <a:buNone/>
            </a:pPr>
            <a:r>
              <a:rPr lang="en-US" sz="2600" b="1" dirty="0">
                <a:solidFill>
                  <a:srgbClr val="3F6B4A"/>
                </a:solidFill>
                <a:latin typeface="Cambria" pitchFamily="34" charset="0"/>
                <a:ea typeface="Cambria" pitchFamily="34" charset="-122"/>
                <a:cs typeface="Cambria" pitchFamily="34" charset="-120"/>
              </a:rPr>
              <a:t>fertile</a:t>
            </a:r>
            <a:endParaRPr lang="en-US" sz="2600" dirty="0"/>
          </a:p>
        </p:txBody>
      </p:sp>
      <p:sp>
        <p:nvSpPr>
          <p:cNvPr id="17" name="word-rule"/>
          <p:cNvSpPr/>
          <p:nvPr/>
        </p:nvSpPr>
        <p:spPr>
          <a:xfrm>
            <a:off x="4521098" y="2129028"/>
            <a:ext cx="3149498" cy="0"/>
          </a:xfrm>
          <a:prstGeom prst="line">
            <a:avLst/>
          </a:prstGeom>
          <a:ln w="12700">
            <a:solidFill>
              <a:srgbClr val="B5C6B9"/>
            </a:solidFill>
            <a:prstDash val="solid"/>
          </a:ln>
        </p:spPr>
      </p:sp>
      <p:sp>
        <p:nvSpPr>
          <p:cNvPr id="18" name="word-body"/>
          <p:cNvSpPr txBox="1"/>
          <p:nvPr/>
        </p:nvSpPr>
        <p:spPr>
          <a:xfrm>
            <a:off x="4521098" y="2174748"/>
            <a:ext cx="3149498" cy="3832860"/>
          </a:xfrm>
          <a:prstGeom prst="rect">
            <a:avLst/>
          </a:prstGeom>
          <a:noFill/>
          <a:ln/>
        </p:spPr>
        <p:txBody>
          <a:bodyPr wrap="square" lIns="63500" tIns="63500" rIns="63500" bIns="63500" rtlCol="0" anchor="t"/>
          <a:lstStyle/>
          <a:p>
            <a:pPr algn="l" indent="0" marL="0">
              <a:spcAft>
                <a:spcPts val="800"/>
              </a:spcAft>
              <a:buNone/>
            </a:pPr>
            <a:r>
              <a:rPr lang="en-US" sz="2200" dirty="0">
                <a:solidFill>
                  <a:srgbClr val="1E2229"/>
                </a:solidFill>
                <a:latin typeface="Calibri" pitchFamily="34" charset="0"/>
                <a:ea typeface="Calibri" pitchFamily="34" charset="-122"/>
                <a:cs typeface="Calibri" pitchFamily="34" charset="-120"/>
              </a:rPr>
              <a:t>good for growing crops</a:t>
            </a:r>
            <a:endParaRPr lang="en-US" sz="2200" dirty="0"/>
          </a:p>
          <a:p>
            <a:pPr algn="l" indent="0" marL="0">
              <a:buNone/>
            </a:pPr>
            <a:r>
              <a:rPr lang="en-US" sz="2200" i="1" dirty="0">
                <a:solidFill>
                  <a:srgbClr val="4A505C"/>
                </a:solidFill>
                <a:latin typeface="Calibri" pitchFamily="34" charset="0"/>
                <a:ea typeface="Calibri" pitchFamily="34" charset="-122"/>
                <a:cs typeface="Calibri" pitchFamily="34" charset="-120"/>
              </a:rPr>
              <a:t>Volcanic ash makes the soil fertile.</a:t>
            </a:r>
            <a:endParaRPr lang="en-US" sz="2200" dirty="0"/>
          </a:p>
        </p:txBody>
      </p:sp>
      <p:sp>
        <p:nvSpPr>
          <p:cNvPr id="19" name="word-card"/>
          <p:cNvSpPr/>
          <p:nvPr/>
        </p:nvSpPr>
        <p:spPr>
          <a:xfrm>
            <a:off x="8127797" y="1389888"/>
            <a:ext cx="3515258" cy="4754880"/>
          </a:xfrm>
          <a:prstGeom prst="roundRect">
            <a:avLst>
              <a:gd name="adj" fmla="val 1561"/>
            </a:avLst>
          </a:prstGeom>
          <a:solidFill>
            <a:srgbClr val="F3F5F3"/>
          </a:solidFill>
          <a:ln w="12700">
            <a:solidFill>
              <a:srgbClr val="B5C6B9"/>
            </a:solidFill>
            <a:prstDash val="solid"/>
          </a:ln>
        </p:spPr>
      </p:sp>
      <p:sp>
        <p:nvSpPr>
          <p:cNvPr id="20" name="word-hex"/>
          <p:cNvSpPr/>
          <p:nvPr/>
        </p:nvSpPr>
        <p:spPr>
          <a:xfrm>
            <a:off x="8264957" y="1587414"/>
            <a:ext cx="502920" cy="435529"/>
          </a:xfrm>
          <a:prstGeom prst="hexagon">
            <a:avLst/>
          </a:prstGeom>
          <a:solidFill>
            <a:srgbClr val="B8862B"/>
          </a:solidFill>
          <a:ln/>
        </p:spPr>
      </p:sp>
      <p:sp>
        <p:nvSpPr>
          <p:cNvPr id="21" name="word-hex-label"/>
          <p:cNvSpPr txBox="1"/>
          <p:nvPr/>
        </p:nvSpPr>
        <p:spPr>
          <a:xfrm>
            <a:off x="8264957" y="1587414"/>
            <a:ext cx="502920" cy="435529"/>
          </a:xfrm>
          <a:prstGeom prst="rect">
            <a:avLst/>
          </a:prstGeom>
          <a:noFill/>
          <a:ln/>
        </p:spPr>
        <p:txBody>
          <a:bodyPr wrap="square" lIns="0" tIns="0" rIns="0" bIns="0" rtlCol="0" anchor="ctr"/>
          <a:lstStyle/>
          <a:p>
            <a:pPr algn="ctr" indent="0" marL="0">
              <a:buNone/>
            </a:pPr>
            <a:r>
              <a:rPr lang="en-US" sz="1800" b="1" dirty="0">
                <a:solidFill>
                  <a:srgbClr val="FFFFFF"/>
                </a:solidFill>
                <a:latin typeface="Calibri" pitchFamily="34" charset="0"/>
                <a:ea typeface="Calibri" pitchFamily="34" charset="-122"/>
                <a:cs typeface="Calibri" pitchFamily="34" charset="-120"/>
              </a:rPr>
              <a:t>6</a:t>
            </a:r>
            <a:endParaRPr lang="en-US" sz="1800" dirty="0"/>
          </a:p>
        </p:txBody>
      </p:sp>
      <p:sp>
        <p:nvSpPr>
          <p:cNvPr id="22" name="word"/>
          <p:cNvSpPr txBox="1"/>
          <p:nvPr/>
        </p:nvSpPr>
        <p:spPr>
          <a:xfrm>
            <a:off x="8859317" y="1527048"/>
            <a:ext cx="2646578" cy="556260"/>
          </a:xfrm>
          <a:prstGeom prst="rect">
            <a:avLst/>
          </a:prstGeom>
          <a:noFill/>
          <a:ln/>
        </p:spPr>
        <p:txBody>
          <a:bodyPr wrap="square" lIns="63500" tIns="63500" rIns="63500" bIns="63500" rtlCol="0" anchor="ctr"/>
          <a:lstStyle/>
          <a:p>
            <a:pPr algn="l" indent="0" marL="0">
              <a:buNone/>
            </a:pPr>
            <a:r>
              <a:rPr lang="en-US" sz="2600" b="1" dirty="0">
                <a:solidFill>
                  <a:srgbClr val="3F6B4A"/>
                </a:solidFill>
                <a:latin typeface="Cambria" pitchFamily="34" charset="0"/>
                <a:ea typeface="Cambria" pitchFamily="34" charset="-122"/>
                <a:cs typeface="Cambria" pitchFamily="34" charset="-120"/>
              </a:rPr>
              <a:t>hot spot</a:t>
            </a:r>
            <a:endParaRPr lang="en-US" sz="2600" dirty="0"/>
          </a:p>
        </p:txBody>
      </p:sp>
      <p:sp>
        <p:nvSpPr>
          <p:cNvPr id="23" name="word-rule"/>
          <p:cNvSpPr/>
          <p:nvPr/>
        </p:nvSpPr>
        <p:spPr>
          <a:xfrm>
            <a:off x="8310677" y="2129028"/>
            <a:ext cx="3149498" cy="0"/>
          </a:xfrm>
          <a:prstGeom prst="line">
            <a:avLst/>
          </a:prstGeom>
          <a:ln w="12700">
            <a:solidFill>
              <a:srgbClr val="B5C6B9"/>
            </a:solidFill>
            <a:prstDash val="solid"/>
          </a:ln>
        </p:spPr>
      </p:sp>
      <p:sp>
        <p:nvSpPr>
          <p:cNvPr id="24" name="word-body"/>
          <p:cNvSpPr txBox="1"/>
          <p:nvPr/>
        </p:nvSpPr>
        <p:spPr>
          <a:xfrm>
            <a:off x="8310677" y="2174748"/>
            <a:ext cx="3149498" cy="3832860"/>
          </a:xfrm>
          <a:prstGeom prst="rect">
            <a:avLst/>
          </a:prstGeom>
          <a:noFill/>
          <a:ln/>
        </p:spPr>
        <p:txBody>
          <a:bodyPr wrap="square" lIns="63500" tIns="63500" rIns="63500" bIns="63500" rtlCol="0" anchor="t"/>
          <a:lstStyle/>
          <a:p>
            <a:pPr algn="l" indent="0" marL="0">
              <a:spcAft>
                <a:spcPts val="800"/>
              </a:spcAft>
              <a:buNone/>
            </a:pPr>
            <a:r>
              <a:rPr lang="en-US" sz="2200" dirty="0">
                <a:solidFill>
                  <a:srgbClr val="1E2229"/>
                </a:solidFill>
                <a:latin typeface="Calibri" pitchFamily="34" charset="0"/>
                <a:ea typeface="Calibri" pitchFamily="34" charset="-122"/>
                <a:cs typeface="Calibri" pitchFamily="34" charset="-120"/>
              </a:rPr>
              <a:t>a place where very hot rock rises from deep in the mantle and makes volcanoes</a:t>
            </a:r>
            <a:endParaRPr lang="en-US" sz="2200" dirty="0"/>
          </a:p>
          <a:p>
            <a:pPr algn="l" indent="0" marL="0">
              <a:buNone/>
            </a:pPr>
            <a:r>
              <a:rPr lang="en-US" sz="2200" i="1" dirty="0">
                <a:solidFill>
                  <a:srgbClr val="4A505C"/>
                </a:solidFill>
                <a:latin typeface="Calibri" pitchFamily="34" charset="0"/>
                <a:ea typeface="Calibri" pitchFamily="34" charset="-122"/>
                <a:cs typeface="Calibri" pitchFamily="34" charset="-120"/>
              </a:rPr>
              <a:t>Hawaii sits on a hot spot in the middle of the Pacific Plate.</a:t>
            </a:r>
            <a:endParaRPr lang="en-US" sz="2200" dirty="0"/>
          </a:p>
        </p:txBody>
      </p:sp>
      <p:sp>
        <p:nvSpPr>
          <p:cNvPr id="25" name="Slide Number Placeholder 0"/>
          <p:cNvSpPr>
            <a:spLocks noGrp="1"/>
          </p:cNvSpPr>
          <p:nvPr>
            <p:ph type="sldNum" sz="quarter" idx="4294967295"/>
          </p:nvPr>
        </p:nvSpPr>
        <p:spPr>
          <a:xfrm>
            <a:off x="11018520" y="6446520"/>
            <a:ext cx="640080" cy="365760"/>
          </a:xfrm>
          <a:prstGeom prst="rect">
            <a:avLst/>
          </a:prstGeom>
          <a:extLst>
            <a:ext uri="{C572A759-6A51-4108-AA02-DFA0A04FC94B}">
              <ma14:wrappingTextBoxFlag xmlns:ma14="http://schemas.microsoft.com/office/mac/drawingml/2011/main" val="0"/>
            </a:ext>
          </a:extLst>
        </p:spPr>
        <p:txBody>
          <a:bodyPr lIns="0" tIns="0" rIns="0" bIns="0" anchor="ctr"/>
          <a:lstStyle>
            <a:lvl1pPr>
              <a:defRPr sz="1000">
                <a:solidFill>
                  <a:srgbClr val="396043"/>
                </a:solidFill>
                <a:latin typeface="Calibri"/>
                <a:ea typeface="Calibri"/>
                <a:cs typeface="Calibri"/>
              </a:defRPr>
            </a:lvl1pPr>
          </a:lstStyle>
          <a:p>
            <a:pPr algn="r"/>
            <a:fld id="{F7021451-1387-4CA6-816F-3879F97B5CBC}" type="slidenum">
              <a:rPr b="0" lang="en-US"/>
              <a:t>5</a:t>
            </a:fld>
            <a:endParaRPr lang="en-US"/>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spTree>
      <p:nvGrpSpPr>
        <p:cNvPr id="1" name=""/>
        <p:cNvGrpSpPr/>
        <p:nvPr/>
      </p:nvGrpSpPr>
      <p:grpSpPr>
        <a:xfrm>
          <a:off x="0" y="0"/>
          <a:ext cx="0" cy="0"/>
          <a:chOff x="0" y="0"/>
          <a:chExt cx="0" cy="0"/>
        </a:xfrm>
      </p:grpSpPr>
      <p:sp>
        <p:nvSpPr>
          <p:cNvPr id="3" name="title"/>
          <p:cNvSpPr txBox="1"/>
          <p:nvPr/>
        </p:nvSpPr>
        <p:spPr>
          <a:xfrm>
            <a:off x="548640" y="292608"/>
            <a:ext cx="9052560" cy="969264"/>
          </a:xfrm>
          <a:prstGeom prst="rect">
            <a:avLst/>
          </a:prstGeom>
          <a:noFill/>
          <a:ln/>
        </p:spPr>
        <p:txBody>
          <a:bodyPr wrap="square" lIns="63500" tIns="63500" rIns="63500" bIns="63500" rtlCol="0" anchor="ctr"/>
          <a:lstStyle/>
          <a:p>
            <a:pPr algn="l" indent="0" marL="0">
              <a:buNone/>
            </a:pPr>
            <a:r>
              <a:rPr lang="en-US" sz="3200" b="1" dirty="0">
                <a:solidFill>
                  <a:srgbClr val="3F6B4A"/>
                </a:solidFill>
                <a:latin typeface="Cambria" pitchFamily="34" charset="0"/>
                <a:ea typeface="Cambria" pitchFamily="34" charset="-122"/>
                <a:cs typeface="Cambria" pitchFamily="34" charset="-120"/>
              </a:rPr>
              <a:t>Read-along (1 of 2)</a:t>
            </a:r>
            <a:endParaRPr lang="en-US" sz="3200" dirty="0"/>
          </a:p>
        </p:txBody>
      </p:sp>
      <p:sp>
        <p:nvSpPr>
          <p:cNvPr id="4" name="chip-hex"/>
          <p:cNvSpPr/>
          <p:nvPr/>
        </p:nvSpPr>
        <p:spPr>
          <a:xfrm>
            <a:off x="9677095" y="531760"/>
            <a:ext cx="566928" cy="490960"/>
          </a:xfrm>
          <a:prstGeom prst="hexagon">
            <a:avLst/>
          </a:prstGeom>
          <a:solidFill>
            <a:srgbClr val="3F6B4A"/>
          </a:solidFill>
          <a:ln/>
        </p:spPr>
      </p:sp>
      <p:sp>
        <p:nvSpPr>
          <p:cNvPr id="5" name="chip-hex-label"/>
          <p:cNvSpPr txBox="1"/>
          <p:nvPr/>
        </p:nvSpPr>
        <p:spPr>
          <a:xfrm>
            <a:off x="9677095" y="531760"/>
            <a:ext cx="566928" cy="490960"/>
          </a:xfrm>
          <a:prstGeom prst="rect">
            <a:avLst/>
          </a:prstGeom>
          <a:noFill/>
          <a:ln/>
        </p:spPr>
        <p:txBody>
          <a:bodyPr wrap="square" lIns="0" tIns="0" rIns="0" bIns="0" rtlCol="0" anchor="ctr"/>
          <a:lstStyle/>
          <a:p>
            <a:pPr algn="ctr" indent="0" marL="0">
              <a:buNone/>
            </a:pPr>
            <a:r>
              <a:rPr lang="en-US" sz="2000" b="1" dirty="0">
                <a:solidFill>
                  <a:srgbClr val="FFFFFF"/>
                </a:solidFill>
                <a:latin typeface="Calibri" pitchFamily="34" charset="0"/>
                <a:ea typeface="Calibri" pitchFamily="34" charset="-122"/>
                <a:cs typeface="Calibri" pitchFamily="34" charset="-120"/>
              </a:rPr>
              <a:t>1</a:t>
            </a:r>
            <a:endParaRPr lang="en-US" sz="2000" dirty="0"/>
          </a:p>
        </p:txBody>
      </p:sp>
      <p:sp>
        <p:nvSpPr>
          <p:cNvPr id="6" name="chip-label"/>
          <p:cNvSpPr txBox="1"/>
          <p:nvPr/>
        </p:nvSpPr>
        <p:spPr>
          <a:xfrm>
            <a:off x="10317175" y="292608"/>
            <a:ext cx="1325880" cy="969264"/>
          </a:xfrm>
          <a:prstGeom prst="rect">
            <a:avLst/>
          </a:prstGeom>
          <a:noFill/>
          <a:ln/>
        </p:spPr>
        <p:txBody>
          <a:bodyPr wrap="square" lIns="63500" tIns="63500" rIns="63500" bIns="63500" rtlCol="0" anchor="ctr"/>
          <a:lstStyle/>
          <a:p>
            <a:pPr algn="l" indent="0" marL="0">
              <a:buNone/>
            </a:pPr>
            <a:r>
              <a:rPr lang="en-US" sz="1800" b="1" dirty="0">
                <a:solidFill>
                  <a:srgbClr val="3F6B4A"/>
                </a:solidFill>
                <a:latin typeface="Calibri" pitchFamily="34" charset="0"/>
                <a:ea typeface="Calibri" pitchFamily="34" charset="-122"/>
                <a:cs typeface="Calibri" pitchFamily="34" charset="-120"/>
              </a:rPr>
              <a:t>Pre-teach</a:t>
            </a:r>
            <a:endParaRPr lang="en-US" sz="1800" dirty="0"/>
          </a:p>
        </p:txBody>
      </p:sp>
      <p:sp>
        <p:nvSpPr>
          <p:cNvPr id="7" name="ra-side"/>
          <p:cNvSpPr/>
          <p:nvPr/>
        </p:nvSpPr>
        <p:spPr>
          <a:xfrm>
            <a:off x="548640" y="1389888"/>
            <a:ext cx="1874520" cy="4754880"/>
          </a:xfrm>
          <a:prstGeom prst="roundRect">
            <a:avLst>
              <a:gd name="adj" fmla="val 3902"/>
            </a:avLst>
          </a:prstGeom>
          <a:solidFill>
            <a:srgbClr val="3F6B4A"/>
          </a:solidFill>
          <a:ln/>
        </p:spPr>
      </p:sp>
      <p:sp>
        <p:nvSpPr>
          <p:cNvPr id="8" name="ra-hex"/>
          <p:cNvSpPr/>
          <p:nvPr/>
        </p:nvSpPr>
        <p:spPr>
          <a:xfrm>
            <a:off x="914400" y="1709928"/>
            <a:ext cx="1143000" cy="989838"/>
          </a:xfrm>
          <a:prstGeom prst="hexagon">
            <a:avLst/>
          </a:prstGeom>
          <a:solidFill>
            <a:srgbClr val="B8862B"/>
          </a:solidFill>
          <a:ln/>
        </p:spPr>
      </p:sp>
      <p:sp>
        <p:nvSpPr>
          <p:cNvPr id="9" name="ra-hex-label"/>
          <p:cNvSpPr txBox="1"/>
          <p:nvPr/>
        </p:nvSpPr>
        <p:spPr>
          <a:xfrm>
            <a:off x="914400" y="1709928"/>
            <a:ext cx="1143000" cy="989838"/>
          </a:xfrm>
          <a:prstGeom prst="rect">
            <a:avLst/>
          </a:prstGeom>
          <a:noFill/>
          <a:ln/>
        </p:spPr>
        <p:txBody>
          <a:bodyPr wrap="square" lIns="0" tIns="0" rIns="0" bIns="0" rtlCol="0" anchor="ctr"/>
          <a:lstStyle/>
          <a:p>
            <a:pPr algn="ctr" indent="0" marL="0">
              <a:buNone/>
            </a:pPr>
            <a:r>
              <a:rPr lang="en-US" sz="2400" b="1" dirty="0">
                <a:solidFill>
                  <a:srgbClr val="FFFFFF"/>
                </a:solidFill>
                <a:latin typeface="Cambria" pitchFamily="34" charset="0"/>
                <a:ea typeface="Cambria" pitchFamily="34" charset="-122"/>
                <a:cs typeface="Cambria" pitchFamily="34" charset="-120"/>
              </a:rPr>
              <a:t>Read</a:t>
            </a:r>
            <a:endParaRPr lang="en-US" sz="2400" dirty="0"/>
          </a:p>
        </p:txBody>
      </p:sp>
      <p:sp>
        <p:nvSpPr>
          <p:cNvPr id="10" name="ra-note"/>
          <p:cNvSpPr txBox="1"/>
          <p:nvPr/>
        </p:nvSpPr>
        <p:spPr>
          <a:xfrm>
            <a:off x="640080" y="2898648"/>
            <a:ext cx="1691640" cy="2194560"/>
          </a:xfrm>
          <a:prstGeom prst="rect">
            <a:avLst/>
          </a:prstGeom>
          <a:noFill/>
          <a:ln/>
        </p:spPr>
        <p:txBody>
          <a:bodyPr wrap="square" lIns="63500" tIns="63500" rIns="63500" bIns="63500" rtlCol="0" anchor="t"/>
          <a:lstStyle/>
          <a:p>
            <a:pPr algn="ctr" indent="0" marL="0">
              <a:spcAft>
                <a:spcPts val="800"/>
              </a:spcAft>
              <a:buNone/>
            </a:pPr>
            <a:r>
              <a:rPr lang="en-US" sz="1800" b="1" dirty="0">
                <a:solidFill>
                  <a:srgbClr val="FFFFFF"/>
                </a:solidFill>
                <a:latin typeface="Calibri" pitchFamily="34" charset="0"/>
                <a:ea typeface="Calibri" pitchFamily="34" charset="-122"/>
                <a:cs typeface="Calibri" pitchFamily="34" charset="-120"/>
              </a:rPr>
              <a:t>Read together;</a:t>
            </a:r>
            <a:endParaRPr lang="en-US" sz="1800" dirty="0"/>
          </a:p>
          <a:p>
            <a:pPr algn="ctr" indent="0" marL="0">
              <a:buNone/>
            </a:pPr>
            <a:r>
              <a:rPr lang="en-US" sz="1800" dirty="0">
                <a:solidFill>
                  <a:srgbClr val="FFFFFF"/>
                </a:solidFill>
                <a:latin typeface="Calibri" pitchFamily="34" charset="0"/>
                <a:ea typeface="Calibri" pitchFamily="34" charset="-122"/>
                <a:cs typeface="Calibri" pitchFamily="34" charset="-120"/>
              </a:rPr>
              <a:t>pupils who were pre-taught lead</a:t>
            </a:r>
            <a:endParaRPr lang="en-US" sz="1800" dirty="0"/>
          </a:p>
        </p:txBody>
      </p:sp>
      <p:sp>
        <p:nvSpPr>
          <p:cNvPr id="11" name="ra-panel"/>
          <p:cNvSpPr/>
          <p:nvPr/>
        </p:nvSpPr>
        <p:spPr>
          <a:xfrm>
            <a:off x="2697480" y="1389888"/>
            <a:ext cx="8945575" cy="4754880"/>
          </a:xfrm>
          <a:prstGeom prst="roundRect">
            <a:avLst>
              <a:gd name="adj" fmla="val 769"/>
            </a:avLst>
          </a:prstGeom>
          <a:solidFill>
            <a:srgbClr val="F4F7F5"/>
          </a:solidFill>
          <a:ln w="12700">
            <a:solidFill>
              <a:srgbClr val="C8D5CB"/>
            </a:solidFill>
            <a:prstDash val="solid"/>
          </a:ln>
        </p:spPr>
      </p:sp>
      <p:sp>
        <p:nvSpPr>
          <p:cNvPr id="12" name="passage"/>
          <p:cNvSpPr txBox="1"/>
          <p:nvPr/>
        </p:nvSpPr>
        <p:spPr>
          <a:xfrm>
            <a:off x="2880360" y="1527048"/>
            <a:ext cx="8579815" cy="4480560"/>
          </a:xfrm>
          <a:prstGeom prst="rect">
            <a:avLst/>
          </a:prstGeom>
          <a:noFill/>
          <a:ln/>
        </p:spPr>
        <p:txBody>
          <a:bodyPr wrap="square" lIns="63500" tIns="63500" rIns="63500" bIns="63500" rtlCol="0" anchor="t"/>
          <a:lstStyle/>
          <a:p>
            <a:pPr algn="l" indent="0" marL="0">
              <a:spcAft>
                <a:spcPts val="600"/>
              </a:spcAft>
              <a:buNone/>
            </a:pPr>
            <a:r>
              <a:rPr lang="en-US" sz="2400" b="1" dirty="0">
                <a:solidFill>
                  <a:srgbClr val="B8862B"/>
                </a:solidFill>
                <a:latin typeface="Calibri" pitchFamily="34" charset="0"/>
                <a:ea typeface="Calibri" pitchFamily="34" charset="-122"/>
                <a:cs typeface="Calibri" pitchFamily="34" charset="-120"/>
              </a:rPr>
              <a:t>1  </a:t>
            </a:r>
            <a:pPr algn="l" indent="0" marL="0">
              <a:spcAft>
                <a:spcPts val="600"/>
              </a:spcAft>
              <a:buNone/>
            </a:pPr>
            <a:r>
              <a:rPr lang="en-US" sz="2400" dirty="0">
                <a:solidFill>
                  <a:srgbClr val="1E2229"/>
                </a:solidFill>
                <a:latin typeface="Calibri" pitchFamily="34" charset="0"/>
                <a:ea typeface="Calibri" pitchFamily="34" charset="-122"/>
                <a:cs typeface="Calibri" pitchFamily="34" charset="-120"/>
              </a:rPr>
              <a:t>Geographers learn about hazards by studying real events in detail.</a:t>
            </a:r>
            <a:endParaRPr lang="en-US" sz="2400" dirty="0"/>
          </a:p>
          <a:p>
            <a:pPr algn="l" indent="0" marL="0">
              <a:spcAft>
                <a:spcPts val="600"/>
              </a:spcAft>
              <a:buNone/>
            </a:pPr>
            <a:r>
              <a:rPr lang="en-US" sz="2400" b="1" dirty="0">
                <a:solidFill>
                  <a:srgbClr val="B8862B"/>
                </a:solidFill>
                <a:latin typeface="Calibri" pitchFamily="34" charset="0"/>
                <a:ea typeface="Calibri" pitchFamily="34" charset="-122"/>
                <a:cs typeface="Calibri" pitchFamily="34" charset="-120"/>
              </a:rPr>
              <a:t>2  </a:t>
            </a:r>
            <a:pPr algn="l" indent="0" marL="0">
              <a:spcAft>
                <a:spcPts val="600"/>
              </a:spcAft>
              <a:buNone/>
            </a:pPr>
            <a:r>
              <a:rPr lang="en-US" sz="2400" dirty="0">
                <a:solidFill>
                  <a:srgbClr val="1E2229"/>
                </a:solidFill>
                <a:latin typeface="Calibri" pitchFamily="34" charset="0"/>
                <a:ea typeface="Calibri" pitchFamily="34" charset="-122"/>
                <a:cs typeface="Calibri" pitchFamily="34" charset="-120"/>
              </a:rPr>
              <a:t>This is called a </a:t>
            </a:r>
            <a:pPr algn="l" indent="0" marL="0">
              <a:spcAft>
                <a:spcPts val="600"/>
              </a:spcAft>
              <a:buNone/>
            </a:pPr>
            <a:r>
              <a:rPr lang="en-US" sz="2400" b="1" dirty="0">
                <a:solidFill>
                  <a:srgbClr val="3F6B4A"/>
                </a:solidFill>
                <a:latin typeface="Calibri" pitchFamily="34" charset="0"/>
                <a:ea typeface="Calibri" pitchFamily="34" charset="-122"/>
                <a:cs typeface="Calibri" pitchFamily="34" charset="-120"/>
              </a:rPr>
              <a:t>case study</a:t>
            </a:r>
            <a:pPr algn="l" indent="0" marL="0">
              <a:spcAft>
                <a:spcPts val="600"/>
              </a:spcAft>
              <a:buNone/>
            </a:pPr>
            <a:r>
              <a:rPr lang="en-US" sz="2400" dirty="0">
                <a:solidFill>
                  <a:srgbClr val="1E2229"/>
                </a:solidFill>
                <a:latin typeface="Calibri" pitchFamily="34" charset="0"/>
                <a:ea typeface="Calibri" pitchFamily="34" charset="-122"/>
                <a:cs typeface="Calibri" pitchFamily="34" charset="-120"/>
              </a:rPr>
              <a:t>.</a:t>
            </a:r>
            <a:endParaRPr lang="en-US" sz="2400" dirty="0"/>
          </a:p>
          <a:p>
            <a:pPr algn="l" indent="0" marL="0">
              <a:spcAft>
                <a:spcPts val="600"/>
              </a:spcAft>
              <a:buNone/>
            </a:pPr>
            <a:r>
              <a:rPr lang="en-US" sz="2400" b="1" dirty="0">
                <a:solidFill>
                  <a:srgbClr val="B8862B"/>
                </a:solidFill>
                <a:latin typeface="Calibri" pitchFamily="34" charset="0"/>
                <a:ea typeface="Calibri" pitchFamily="34" charset="-122"/>
                <a:cs typeface="Calibri" pitchFamily="34" charset="-120"/>
              </a:rPr>
              <a:t>3  </a:t>
            </a:r>
            <a:pPr algn="l" indent="0" marL="0">
              <a:spcAft>
                <a:spcPts val="600"/>
              </a:spcAft>
              <a:buNone/>
            </a:pPr>
            <a:r>
              <a:rPr lang="en-US" sz="2400" dirty="0">
                <a:solidFill>
                  <a:srgbClr val="1E2229"/>
                </a:solidFill>
                <a:latin typeface="Calibri" pitchFamily="34" charset="0"/>
                <a:ea typeface="Calibri" pitchFamily="34" charset="-122"/>
                <a:cs typeface="Calibri" pitchFamily="34" charset="-120"/>
              </a:rPr>
              <a:t>Our </a:t>
            </a:r>
            <a:pPr algn="l" indent="0" marL="0">
              <a:spcAft>
                <a:spcPts val="600"/>
              </a:spcAft>
              <a:buNone/>
            </a:pPr>
            <a:r>
              <a:rPr lang="en-US" sz="2400" b="1" dirty="0">
                <a:solidFill>
                  <a:srgbClr val="3F6B4A"/>
                </a:solidFill>
                <a:latin typeface="Calibri" pitchFamily="34" charset="0"/>
                <a:ea typeface="Calibri" pitchFamily="34" charset="-122"/>
                <a:cs typeface="Calibri" pitchFamily="34" charset="-120"/>
              </a:rPr>
              <a:t>case study</a:t>
            </a:r>
            <a:pPr algn="l" indent="0" marL="0">
              <a:spcAft>
                <a:spcPts val="600"/>
              </a:spcAft>
              <a:buNone/>
            </a:pPr>
            <a:r>
              <a:rPr lang="en-US" sz="2400" dirty="0">
                <a:solidFill>
                  <a:srgbClr val="1E2229"/>
                </a:solidFill>
                <a:latin typeface="Calibri" pitchFamily="34" charset="0"/>
                <a:ea typeface="Calibri" pitchFamily="34" charset="-122"/>
                <a:cs typeface="Calibri" pitchFamily="34" charset="-120"/>
              </a:rPr>
              <a:t> is the Sichuan earthquake in China, in 2008.</a:t>
            </a:r>
            <a:endParaRPr lang="en-US" sz="2400" dirty="0"/>
          </a:p>
          <a:p>
            <a:pPr algn="l" indent="0" marL="0">
              <a:spcAft>
                <a:spcPts val="600"/>
              </a:spcAft>
              <a:buNone/>
            </a:pPr>
            <a:r>
              <a:rPr lang="en-US" sz="2400" b="1" dirty="0">
                <a:solidFill>
                  <a:srgbClr val="B8862B"/>
                </a:solidFill>
                <a:latin typeface="Calibri" pitchFamily="34" charset="0"/>
                <a:ea typeface="Calibri" pitchFamily="34" charset="-122"/>
                <a:cs typeface="Calibri" pitchFamily="34" charset="-120"/>
              </a:rPr>
              <a:t>4  </a:t>
            </a:r>
            <a:pPr algn="l" indent="0" marL="0">
              <a:spcAft>
                <a:spcPts val="600"/>
              </a:spcAft>
              <a:buNone/>
            </a:pPr>
            <a:r>
              <a:rPr lang="en-US" sz="2400" dirty="0">
                <a:solidFill>
                  <a:srgbClr val="1E2229"/>
                </a:solidFill>
                <a:latin typeface="Calibri" pitchFamily="34" charset="0"/>
                <a:ea typeface="Calibri" pitchFamily="34" charset="-122"/>
                <a:cs typeface="Calibri" pitchFamily="34" charset="-120"/>
              </a:rPr>
              <a:t>China is an </a:t>
            </a:r>
            <a:pPr algn="l" indent="0" marL="0">
              <a:spcAft>
                <a:spcPts val="600"/>
              </a:spcAft>
              <a:buNone/>
            </a:pPr>
            <a:r>
              <a:rPr lang="en-US" sz="2400" b="1" dirty="0">
                <a:solidFill>
                  <a:srgbClr val="3F6B4A"/>
                </a:solidFill>
                <a:latin typeface="Calibri" pitchFamily="34" charset="0"/>
                <a:ea typeface="Calibri" pitchFamily="34" charset="-122"/>
                <a:cs typeface="Calibri" pitchFamily="34" charset="-120"/>
              </a:rPr>
              <a:t>NEE</a:t>
            </a:r>
            <a:pPr algn="l" indent="0" marL="0">
              <a:spcAft>
                <a:spcPts val="600"/>
              </a:spcAft>
              <a:buNone/>
            </a:pPr>
            <a:r>
              <a:rPr lang="en-US" sz="2400" dirty="0">
                <a:solidFill>
                  <a:srgbClr val="1E2229"/>
                </a:solidFill>
                <a:latin typeface="Calibri" pitchFamily="34" charset="0"/>
                <a:ea typeface="Calibri" pitchFamily="34" charset="-122"/>
                <a:cs typeface="Calibri" pitchFamily="34" charset="-120"/>
              </a:rPr>
              <a:t>, a country whose economy is growing fast.</a:t>
            </a:r>
            <a:endParaRPr lang="en-US" sz="2400" dirty="0"/>
          </a:p>
          <a:p>
            <a:pPr algn="l" indent="0" marL="0">
              <a:spcAft>
                <a:spcPts val="600"/>
              </a:spcAft>
              <a:buNone/>
            </a:pPr>
            <a:r>
              <a:rPr lang="en-US" sz="2400" b="1" dirty="0">
                <a:solidFill>
                  <a:srgbClr val="B8862B"/>
                </a:solidFill>
                <a:latin typeface="Calibri" pitchFamily="34" charset="0"/>
                <a:ea typeface="Calibri" pitchFamily="34" charset="-122"/>
                <a:cs typeface="Calibri" pitchFamily="34" charset="-120"/>
              </a:rPr>
              <a:t>5  </a:t>
            </a:r>
            <a:pPr algn="l" indent="0" marL="0">
              <a:spcAft>
                <a:spcPts val="600"/>
              </a:spcAft>
              <a:buNone/>
            </a:pPr>
            <a:r>
              <a:rPr lang="en-US" sz="2400" dirty="0">
                <a:solidFill>
                  <a:srgbClr val="1E2229"/>
                </a:solidFill>
                <a:latin typeface="Calibri" pitchFamily="34" charset="0"/>
                <a:ea typeface="Calibri" pitchFamily="34" charset="-122"/>
                <a:cs typeface="Calibri" pitchFamily="34" charset="-120"/>
              </a:rPr>
              <a:t>A </a:t>
            </a:r>
            <a:pPr algn="l" indent="0" marL="0">
              <a:spcAft>
                <a:spcPts val="600"/>
              </a:spcAft>
              <a:buNone/>
            </a:pPr>
            <a:r>
              <a:rPr lang="en-US" sz="2400" b="1" dirty="0">
                <a:solidFill>
                  <a:srgbClr val="3F6B4A"/>
                </a:solidFill>
                <a:latin typeface="Calibri" pitchFamily="34" charset="0"/>
                <a:ea typeface="Calibri" pitchFamily="34" charset="-122"/>
                <a:cs typeface="Calibri" pitchFamily="34" charset="-120"/>
              </a:rPr>
              <a:t>case study</a:t>
            </a:r>
            <a:pPr algn="l" indent="0" marL="0">
              <a:spcAft>
                <a:spcPts val="600"/>
              </a:spcAft>
              <a:buNone/>
            </a:pPr>
            <a:r>
              <a:rPr lang="en-US" sz="2400" dirty="0">
                <a:solidFill>
                  <a:srgbClr val="1E2229"/>
                </a:solidFill>
                <a:latin typeface="Calibri" pitchFamily="34" charset="0"/>
                <a:ea typeface="Calibri" pitchFamily="34" charset="-122"/>
                <a:cs typeface="Calibri" pitchFamily="34" charset="-120"/>
              </a:rPr>
              <a:t> asks what caused the event and when it happened.</a:t>
            </a:r>
            <a:endParaRPr lang="en-US" sz="2400" dirty="0"/>
          </a:p>
          <a:p>
            <a:pPr algn="l" indent="0" marL="0">
              <a:spcAft>
                <a:spcPts val="600"/>
              </a:spcAft>
              <a:buNone/>
            </a:pPr>
            <a:r>
              <a:rPr lang="en-US" sz="2400" b="1" dirty="0">
                <a:solidFill>
                  <a:srgbClr val="B8862B"/>
                </a:solidFill>
                <a:latin typeface="Calibri" pitchFamily="34" charset="0"/>
                <a:ea typeface="Calibri" pitchFamily="34" charset="-122"/>
                <a:cs typeface="Calibri" pitchFamily="34" charset="-120"/>
              </a:rPr>
              <a:t>6  </a:t>
            </a:r>
            <a:pPr algn="l" indent="0" marL="0">
              <a:spcAft>
                <a:spcPts val="600"/>
              </a:spcAft>
              <a:buNone/>
            </a:pPr>
            <a:r>
              <a:rPr lang="en-US" sz="2400" dirty="0">
                <a:solidFill>
                  <a:srgbClr val="1E2229"/>
                </a:solidFill>
                <a:latin typeface="Calibri" pitchFamily="34" charset="0"/>
                <a:ea typeface="Calibri" pitchFamily="34" charset="-122"/>
                <a:cs typeface="Calibri" pitchFamily="34" charset="-120"/>
              </a:rPr>
              <a:t>It asks what the </a:t>
            </a:r>
            <a:pPr algn="l" indent="0" marL="0">
              <a:spcAft>
                <a:spcPts val="600"/>
              </a:spcAft>
              <a:buNone/>
            </a:pPr>
            <a:r>
              <a:rPr lang="en-US" sz="2400" b="1" dirty="0">
                <a:solidFill>
                  <a:srgbClr val="3F6B4A"/>
                </a:solidFill>
                <a:latin typeface="Calibri" pitchFamily="34" charset="0"/>
                <a:ea typeface="Calibri" pitchFamily="34" charset="-122"/>
                <a:cs typeface="Calibri" pitchFamily="34" charset="-120"/>
              </a:rPr>
              <a:t>effects</a:t>
            </a:r>
            <a:pPr algn="l" indent="0" marL="0">
              <a:spcAft>
                <a:spcPts val="600"/>
              </a:spcAft>
              <a:buNone/>
            </a:pPr>
            <a:r>
              <a:rPr lang="en-US" sz="2400" dirty="0">
                <a:solidFill>
                  <a:srgbClr val="1E2229"/>
                </a:solidFill>
                <a:latin typeface="Calibri" pitchFamily="34" charset="0"/>
                <a:ea typeface="Calibri" pitchFamily="34" charset="-122"/>
                <a:cs typeface="Calibri" pitchFamily="34" charset="-120"/>
              </a:rPr>
              <a:t> were on people, on money and on the land.</a:t>
            </a:r>
            <a:endParaRPr lang="en-US" sz="2400" dirty="0"/>
          </a:p>
          <a:p>
            <a:pPr algn="l" indent="0" marL="0">
              <a:spcAft>
                <a:spcPts val="600"/>
              </a:spcAft>
              <a:buNone/>
            </a:pPr>
            <a:r>
              <a:rPr lang="en-US" sz="2400" b="1" dirty="0">
                <a:solidFill>
                  <a:srgbClr val="B8862B"/>
                </a:solidFill>
                <a:latin typeface="Calibri" pitchFamily="34" charset="0"/>
                <a:ea typeface="Calibri" pitchFamily="34" charset="-122"/>
                <a:cs typeface="Calibri" pitchFamily="34" charset="-120"/>
              </a:rPr>
              <a:t>7  </a:t>
            </a:r>
            <a:pPr algn="l" indent="0" marL="0">
              <a:spcAft>
                <a:spcPts val="600"/>
              </a:spcAft>
              <a:buNone/>
            </a:pPr>
            <a:r>
              <a:rPr lang="en-US" sz="2400" dirty="0">
                <a:solidFill>
                  <a:srgbClr val="1E2229"/>
                </a:solidFill>
                <a:latin typeface="Calibri" pitchFamily="34" charset="0"/>
                <a:ea typeface="Calibri" pitchFamily="34" charset="-122"/>
                <a:cs typeface="Calibri" pitchFamily="34" charset="-120"/>
              </a:rPr>
              <a:t>It asks how people responded and what help was given.</a:t>
            </a:r>
            <a:endParaRPr lang="en-US" sz="2400" dirty="0"/>
          </a:p>
        </p:txBody>
      </p:sp>
      <p:sp>
        <p:nvSpPr>
          <p:cNvPr id="25" name="Slide Number Placeholder 0"/>
          <p:cNvSpPr>
            <a:spLocks noGrp="1"/>
          </p:cNvSpPr>
          <p:nvPr>
            <p:ph type="sldNum" sz="quarter" idx="4294967295"/>
          </p:nvPr>
        </p:nvSpPr>
        <p:spPr>
          <a:xfrm>
            <a:off x="11018520" y="6446520"/>
            <a:ext cx="640080" cy="365760"/>
          </a:xfrm>
          <a:prstGeom prst="rect">
            <a:avLst/>
          </a:prstGeom>
          <a:extLst>
            <a:ext uri="{C572A759-6A51-4108-AA02-DFA0A04FC94B}">
              <ma14:wrappingTextBoxFlag xmlns:ma14="http://schemas.microsoft.com/office/mac/drawingml/2011/main" val="0"/>
            </a:ext>
          </a:extLst>
        </p:spPr>
        <p:txBody>
          <a:bodyPr lIns="0" tIns="0" rIns="0" bIns="0" anchor="ctr"/>
          <a:lstStyle>
            <a:lvl1pPr>
              <a:defRPr sz="1000">
                <a:solidFill>
                  <a:srgbClr val="396043"/>
                </a:solidFill>
                <a:latin typeface="Calibri"/>
                <a:ea typeface="Calibri"/>
                <a:cs typeface="Calibri"/>
              </a:defRPr>
            </a:lvl1pPr>
          </a:lstStyle>
          <a:p>
            <a:pPr algn="r"/>
            <a:fld id="{F7021451-1387-4CA6-816F-3879F97B5CBC}" type="slidenum">
              <a:rPr b="0" lang="en-US"/>
              <a:t>6</a:t>
            </a:fld>
            <a:endParaRPr lang="en-US"/>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spTree>
      <p:nvGrpSpPr>
        <p:cNvPr id="1" name=""/>
        <p:cNvGrpSpPr/>
        <p:nvPr/>
      </p:nvGrpSpPr>
      <p:grpSpPr>
        <a:xfrm>
          <a:off x="0" y="0"/>
          <a:ext cx="0" cy="0"/>
          <a:chOff x="0" y="0"/>
          <a:chExt cx="0" cy="0"/>
        </a:xfrm>
      </p:grpSpPr>
      <p:sp>
        <p:nvSpPr>
          <p:cNvPr id="3" name="title"/>
          <p:cNvSpPr txBox="1"/>
          <p:nvPr/>
        </p:nvSpPr>
        <p:spPr>
          <a:xfrm>
            <a:off x="548640" y="292608"/>
            <a:ext cx="9052560" cy="969264"/>
          </a:xfrm>
          <a:prstGeom prst="rect">
            <a:avLst/>
          </a:prstGeom>
          <a:noFill/>
          <a:ln/>
        </p:spPr>
        <p:txBody>
          <a:bodyPr wrap="square" lIns="63500" tIns="63500" rIns="63500" bIns="63500" rtlCol="0" anchor="ctr"/>
          <a:lstStyle/>
          <a:p>
            <a:pPr algn="l" indent="0" marL="0">
              <a:buNone/>
            </a:pPr>
            <a:r>
              <a:rPr lang="en-US" sz="3200" b="1" dirty="0">
                <a:solidFill>
                  <a:srgbClr val="3F6B4A"/>
                </a:solidFill>
                <a:latin typeface="Cambria" pitchFamily="34" charset="0"/>
                <a:ea typeface="Cambria" pitchFamily="34" charset="-122"/>
                <a:cs typeface="Cambria" pitchFamily="34" charset="-120"/>
              </a:rPr>
              <a:t>Read-along (2 of 2)</a:t>
            </a:r>
            <a:endParaRPr lang="en-US" sz="3200" dirty="0"/>
          </a:p>
        </p:txBody>
      </p:sp>
      <p:sp>
        <p:nvSpPr>
          <p:cNvPr id="4" name="chip-hex"/>
          <p:cNvSpPr/>
          <p:nvPr/>
        </p:nvSpPr>
        <p:spPr>
          <a:xfrm>
            <a:off x="9677095" y="531760"/>
            <a:ext cx="566928" cy="490960"/>
          </a:xfrm>
          <a:prstGeom prst="hexagon">
            <a:avLst/>
          </a:prstGeom>
          <a:solidFill>
            <a:srgbClr val="3F6B4A"/>
          </a:solidFill>
          <a:ln/>
        </p:spPr>
      </p:sp>
      <p:sp>
        <p:nvSpPr>
          <p:cNvPr id="5" name="chip-hex-label"/>
          <p:cNvSpPr txBox="1"/>
          <p:nvPr/>
        </p:nvSpPr>
        <p:spPr>
          <a:xfrm>
            <a:off x="9677095" y="531760"/>
            <a:ext cx="566928" cy="490960"/>
          </a:xfrm>
          <a:prstGeom prst="rect">
            <a:avLst/>
          </a:prstGeom>
          <a:noFill/>
          <a:ln/>
        </p:spPr>
        <p:txBody>
          <a:bodyPr wrap="square" lIns="0" tIns="0" rIns="0" bIns="0" rtlCol="0" anchor="ctr"/>
          <a:lstStyle/>
          <a:p>
            <a:pPr algn="ctr" indent="0" marL="0">
              <a:buNone/>
            </a:pPr>
            <a:r>
              <a:rPr lang="en-US" sz="2000" b="1" dirty="0">
                <a:solidFill>
                  <a:srgbClr val="FFFFFF"/>
                </a:solidFill>
                <a:latin typeface="Calibri" pitchFamily="34" charset="0"/>
                <a:ea typeface="Calibri" pitchFamily="34" charset="-122"/>
                <a:cs typeface="Calibri" pitchFamily="34" charset="-120"/>
              </a:rPr>
              <a:t>1</a:t>
            </a:r>
            <a:endParaRPr lang="en-US" sz="2000" dirty="0"/>
          </a:p>
        </p:txBody>
      </p:sp>
      <p:sp>
        <p:nvSpPr>
          <p:cNvPr id="6" name="chip-label"/>
          <p:cNvSpPr txBox="1"/>
          <p:nvPr/>
        </p:nvSpPr>
        <p:spPr>
          <a:xfrm>
            <a:off x="10317175" y="292608"/>
            <a:ext cx="1325880" cy="969264"/>
          </a:xfrm>
          <a:prstGeom prst="rect">
            <a:avLst/>
          </a:prstGeom>
          <a:noFill/>
          <a:ln/>
        </p:spPr>
        <p:txBody>
          <a:bodyPr wrap="square" lIns="63500" tIns="63500" rIns="63500" bIns="63500" rtlCol="0" anchor="ctr"/>
          <a:lstStyle/>
          <a:p>
            <a:pPr algn="l" indent="0" marL="0">
              <a:buNone/>
            </a:pPr>
            <a:r>
              <a:rPr lang="en-US" sz="1800" b="1" dirty="0">
                <a:solidFill>
                  <a:srgbClr val="3F6B4A"/>
                </a:solidFill>
                <a:latin typeface="Calibri" pitchFamily="34" charset="0"/>
                <a:ea typeface="Calibri" pitchFamily="34" charset="-122"/>
                <a:cs typeface="Calibri" pitchFamily="34" charset="-120"/>
              </a:rPr>
              <a:t>Pre-teach</a:t>
            </a:r>
            <a:endParaRPr lang="en-US" sz="1800" dirty="0"/>
          </a:p>
        </p:txBody>
      </p:sp>
      <p:sp>
        <p:nvSpPr>
          <p:cNvPr id="7" name="ra-side"/>
          <p:cNvSpPr/>
          <p:nvPr/>
        </p:nvSpPr>
        <p:spPr>
          <a:xfrm>
            <a:off x="548640" y="1389888"/>
            <a:ext cx="1874520" cy="4754880"/>
          </a:xfrm>
          <a:prstGeom prst="roundRect">
            <a:avLst>
              <a:gd name="adj" fmla="val 3902"/>
            </a:avLst>
          </a:prstGeom>
          <a:solidFill>
            <a:srgbClr val="3F6B4A"/>
          </a:solidFill>
          <a:ln/>
        </p:spPr>
      </p:sp>
      <p:sp>
        <p:nvSpPr>
          <p:cNvPr id="8" name="ra-hex"/>
          <p:cNvSpPr/>
          <p:nvPr/>
        </p:nvSpPr>
        <p:spPr>
          <a:xfrm>
            <a:off x="914400" y="1709928"/>
            <a:ext cx="1143000" cy="989838"/>
          </a:xfrm>
          <a:prstGeom prst="hexagon">
            <a:avLst/>
          </a:prstGeom>
          <a:solidFill>
            <a:srgbClr val="B8862B"/>
          </a:solidFill>
          <a:ln/>
        </p:spPr>
      </p:sp>
      <p:sp>
        <p:nvSpPr>
          <p:cNvPr id="9" name="ra-hex-label"/>
          <p:cNvSpPr txBox="1"/>
          <p:nvPr/>
        </p:nvSpPr>
        <p:spPr>
          <a:xfrm>
            <a:off x="914400" y="1709928"/>
            <a:ext cx="1143000" cy="989838"/>
          </a:xfrm>
          <a:prstGeom prst="rect">
            <a:avLst/>
          </a:prstGeom>
          <a:noFill/>
          <a:ln/>
        </p:spPr>
        <p:txBody>
          <a:bodyPr wrap="square" lIns="0" tIns="0" rIns="0" bIns="0" rtlCol="0" anchor="ctr"/>
          <a:lstStyle/>
          <a:p>
            <a:pPr algn="ctr" indent="0" marL="0">
              <a:buNone/>
            </a:pPr>
            <a:r>
              <a:rPr lang="en-US" sz="2400" b="1" dirty="0">
                <a:solidFill>
                  <a:srgbClr val="FFFFFF"/>
                </a:solidFill>
                <a:latin typeface="Cambria" pitchFamily="34" charset="0"/>
                <a:ea typeface="Cambria" pitchFamily="34" charset="-122"/>
                <a:cs typeface="Cambria" pitchFamily="34" charset="-120"/>
              </a:rPr>
              <a:t>Read</a:t>
            </a:r>
            <a:endParaRPr lang="en-US" sz="2400" dirty="0"/>
          </a:p>
        </p:txBody>
      </p:sp>
      <p:sp>
        <p:nvSpPr>
          <p:cNvPr id="10" name="ra-note"/>
          <p:cNvSpPr txBox="1"/>
          <p:nvPr/>
        </p:nvSpPr>
        <p:spPr>
          <a:xfrm>
            <a:off x="640080" y="2898648"/>
            <a:ext cx="1691640" cy="2194560"/>
          </a:xfrm>
          <a:prstGeom prst="rect">
            <a:avLst/>
          </a:prstGeom>
          <a:noFill/>
          <a:ln/>
        </p:spPr>
        <p:txBody>
          <a:bodyPr wrap="square" lIns="63500" tIns="63500" rIns="63500" bIns="63500" rtlCol="0" anchor="t"/>
          <a:lstStyle/>
          <a:p>
            <a:pPr algn="ctr" indent="0" marL="0">
              <a:spcAft>
                <a:spcPts val="800"/>
              </a:spcAft>
              <a:buNone/>
            </a:pPr>
            <a:r>
              <a:rPr lang="en-US" sz="1800" b="1" dirty="0">
                <a:solidFill>
                  <a:srgbClr val="FFFFFF"/>
                </a:solidFill>
                <a:latin typeface="Calibri" pitchFamily="34" charset="0"/>
                <a:ea typeface="Calibri" pitchFamily="34" charset="-122"/>
                <a:cs typeface="Calibri" pitchFamily="34" charset="-120"/>
              </a:rPr>
              <a:t>Read together;</a:t>
            </a:r>
            <a:endParaRPr lang="en-US" sz="1800" dirty="0"/>
          </a:p>
          <a:p>
            <a:pPr algn="ctr" indent="0" marL="0">
              <a:buNone/>
            </a:pPr>
            <a:r>
              <a:rPr lang="en-US" sz="1800" dirty="0">
                <a:solidFill>
                  <a:srgbClr val="FFFFFF"/>
                </a:solidFill>
                <a:latin typeface="Calibri" pitchFamily="34" charset="0"/>
                <a:ea typeface="Calibri" pitchFamily="34" charset="-122"/>
                <a:cs typeface="Calibri" pitchFamily="34" charset="-120"/>
              </a:rPr>
              <a:t>pupils who were pre-taught lead</a:t>
            </a:r>
            <a:endParaRPr lang="en-US" sz="1800" dirty="0"/>
          </a:p>
        </p:txBody>
      </p:sp>
      <p:sp>
        <p:nvSpPr>
          <p:cNvPr id="11" name="ra-panel"/>
          <p:cNvSpPr/>
          <p:nvPr/>
        </p:nvSpPr>
        <p:spPr>
          <a:xfrm>
            <a:off x="2697480" y="1389888"/>
            <a:ext cx="8945575" cy="4754880"/>
          </a:xfrm>
          <a:prstGeom prst="roundRect">
            <a:avLst>
              <a:gd name="adj" fmla="val 769"/>
            </a:avLst>
          </a:prstGeom>
          <a:solidFill>
            <a:srgbClr val="F4F7F5"/>
          </a:solidFill>
          <a:ln w="12700">
            <a:solidFill>
              <a:srgbClr val="C8D5CB"/>
            </a:solidFill>
            <a:prstDash val="solid"/>
          </a:ln>
        </p:spPr>
      </p:sp>
      <p:sp>
        <p:nvSpPr>
          <p:cNvPr id="12" name="passage"/>
          <p:cNvSpPr txBox="1"/>
          <p:nvPr/>
        </p:nvSpPr>
        <p:spPr>
          <a:xfrm>
            <a:off x="2880360" y="1527048"/>
            <a:ext cx="8579815" cy="4480560"/>
          </a:xfrm>
          <a:prstGeom prst="rect">
            <a:avLst/>
          </a:prstGeom>
          <a:noFill/>
          <a:ln/>
        </p:spPr>
        <p:txBody>
          <a:bodyPr wrap="square" lIns="63500" tIns="63500" rIns="63500" bIns="63500" rtlCol="0" anchor="t"/>
          <a:lstStyle/>
          <a:p>
            <a:pPr algn="l" indent="0" marL="0">
              <a:spcAft>
                <a:spcPts val="600"/>
              </a:spcAft>
              <a:buNone/>
            </a:pPr>
            <a:r>
              <a:rPr lang="en-US" sz="2400" b="1" dirty="0">
                <a:solidFill>
                  <a:srgbClr val="B8862B"/>
                </a:solidFill>
                <a:latin typeface="Calibri" pitchFamily="34" charset="0"/>
                <a:ea typeface="Calibri" pitchFamily="34" charset="-122"/>
                <a:cs typeface="Calibri" pitchFamily="34" charset="-120"/>
              </a:rPr>
              <a:t>8  </a:t>
            </a:r>
            <a:pPr algn="l" indent="0" marL="0">
              <a:spcAft>
                <a:spcPts val="600"/>
              </a:spcAft>
              <a:buNone/>
            </a:pPr>
            <a:r>
              <a:rPr lang="en-US" sz="2400" dirty="0">
                <a:solidFill>
                  <a:srgbClr val="1E2229"/>
                </a:solidFill>
                <a:latin typeface="Calibri" pitchFamily="34" charset="0"/>
                <a:ea typeface="Calibri" pitchFamily="34" charset="-122"/>
                <a:cs typeface="Calibri" pitchFamily="34" charset="-120"/>
              </a:rPr>
              <a:t>Earthquakes do not kill people directly.</a:t>
            </a:r>
            <a:endParaRPr lang="en-US" sz="2400" dirty="0"/>
          </a:p>
          <a:p>
            <a:pPr algn="l" indent="0" marL="0">
              <a:spcAft>
                <a:spcPts val="600"/>
              </a:spcAft>
              <a:buNone/>
            </a:pPr>
            <a:r>
              <a:rPr lang="en-US" sz="2400" b="1" dirty="0">
                <a:solidFill>
                  <a:srgbClr val="B8862B"/>
                </a:solidFill>
                <a:latin typeface="Calibri" pitchFamily="34" charset="0"/>
                <a:ea typeface="Calibri" pitchFamily="34" charset="-122"/>
                <a:cs typeface="Calibri" pitchFamily="34" charset="-120"/>
              </a:rPr>
              <a:t>9  </a:t>
            </a:r>
            <a:pPr algn="l" indent="0" marL="0">
              <a:spcAft>
                <a:spcPts val="600"/>
              </a:spcAft>
              <a:buNone/>
            </a:pPr>
            <a:r>
              <a:rPr lang="en-US" sz="2400" dirty="0">
                <a:solidFill>
                  <a:srgbClr val="1E2229"/>
                </a:solidFill>
                <a:latin typeface="Calibri" pitchFamily="34" charset="0"/>
                <a:ea typeface="Calibri" pitchFamily="34" charset="-122"/>
                <a:cs typeface="Calibri" pitchFamily="34" charset="-120"/>
              </a:rPr>
              <a:t>Falling buildings, landslides and fires do.</a:t>
            </a:r>
            <a:endParaRPr lang="en-US" sz="2400" dirty="0"/>
          </a:p>
          <a:p>
            <a:pPr algn="l" indent="0" marL="0">
              <a:spcAft>
                <a:spcPts val="600"/>
              </a:spcAft>
              <a:buNone/>
            </a:pPr>
            <a:r>
              <a:rPr lang="en-US" sz="2400" b="1" dirty="0">
                <a:solidFill>
                  <a:srgbClr val="B8862B"/>
                </a:solidFill>
                <a:latin typeface="Calibri" pitchFamily="34" charset="0"/>
                <a:ea typeface="Calibri" pitchFamily="34" charset="-122"/>
                <a:cs typeface="Calibri" pitchFamily="34" charset="-120"/>
              </a:rPr>
              <a:t>10  </a:t>
            </a:r>
            <a:pPr algn="l" indent="0" marL="0">
              <a:spcAft>
                <a:spcPts val="600"/>
              </a:spcAft>
              <a:buNone/>
            </a:pPr>
            <a:r>
              <a:rPr lang="en-US" sz="2400" dirty="0">
                <a:solidFill>
                  <a:srgbClr val="1E2229"/>
                </a:solidFill>
                <a:latin typeface="Calibri" pitchFamily="34" charset="0"/>
                <a:ea typeface="Calibri" pitchFamily="34" charset="-122"/>
                <a:cs typeface="Calibri" pitchFamily="34" charset="-120"/>
              </a:rPr>
              <a:t>So the time of day and the strength of the buildings matter a great deal.</a:t>
            </a:r>
            <a:endParaRPr lang="en-US" sz="2400" dirty="0"/>
          </a:p>
          <a:p>
            <a:pPr algn="l" indent="0" marL="0">
              <a:spcAft>
                <a:spcPts val="600"/>
              </a:spcAft>
              <a:buNone/>
            </a:pPr>
            <a:r>
              <a:rPr lang="en-US" sz="2400" b="1" dirty="0">
                <a:solidFill>
                  <a:srgbClr val="B8862B"/>
                </a:solidFill>
                <a:latin typeface="Calibri" pitchFamily="34" charset="0"/>
                <a:ea typeface="Calibri" pitchFamily="34" charset="-122"/>
                <a:cs typeface="Calibri" pitchFamily="34" charset="-120"/>
              </a:rPr>
              <a:t>11  </a:t>
            </a:r>
            <a:pPr algn="l" indent="0" marL="0">
              <a:spcAft>
                <a:spcPts val="600"/>
              </a:spcAft>
              <a:buNone/>
            </a:pPr>
            <a:r>
              <a:rPr lang="en-US" sz="2400" dirty="0">
                <a:solidFill>
                  <a:srgbClr val="1E2229"/>
                </a:solidFill>
                <a:latin typeface="Calibri" pitchFamily="34" charset="0"/>
                <a:ea typeface="Calibri" pitchFamily="34" charset="-122"/>
                <a:cs typeface="Calibri" pitchFamily="34" charset="-120"/>
              </a:rPr>
              <a:t>Volcanoes are dangerous too, yet millions of people live near them.</a:t>
            </a:r>
            <a:endParaRPr lang="en-US" sz="2400" dirty="0"/>
          </a:p>
          <a:p>
            <a:pPr algn="l" indent="0" marL="0">
              <a:spcAft>
                <a:spcPts val="600"/>
              </a:spcAft>
              <a:buNone/>
            </a:pPr>
            <a:r>
              <a:rPr lang="en-US" sz="2400" b="1" dirty="0">
                <a:solidFill>
                  <a:srgbClr val="B8862B"/>
                </a:solidFill>
                <a:latin typeface="Calibri" pitchFamily="34" charset="0"/>
                <a:ea typeface="Calibri" pitchFamily="34" charset="-122"/>
                <a:cs typeface="Calibri" pitchFamily="34" charset="-120"/>
              </a:rPr>
              <a:t>12  </a:t>
            </a:r>
            <a:pPr algn="l" indent="0" marL="0">
              <a:spcAft>
                <a:spcPts val="600"/>
              </a:spcAft>
              <a:buNone/>
            </a:pPr>
            <a:r>
              <a:rPr lang="en-US" sz="2400" dirty="0">
                <a:solidFill>
                  <a:srgbClr val="1E2229"/>
                </a:solidFill>
                <a:latin typeface="Calibri" pitchFamily="34" charset="0"/>
                <a:ea typeface="Calibri" pitchFamily="34" charset="-122"/>
                <a:cs typeface="Calibri" pitchFamily="34" charset="-120"/>
              </a:rPr>
              <a:t>Volcanic ash makes the soil </a:t>
            </a:r>
            <a:pPr algn="l" indent="0" marL="0">
              <a:spcAft>
                <a:spcPts val="600"/>
              </a:spcAft>
              <a:buNone/>
            </a:pPr>
            <a:r>
              <a:rPr lang="en-US" sz="2400" b="1" dirty="0">
                <a:solidFill>
                  <a:srgbClr val="3F6B4A"/>
                </a:solidFill>
                <a:latin typeface="Calibri" pitchFamily="34" charset="0"/>
                <a:ea typeface="Calibri" pitchFamily="34" charset="-122"/>
                <a:cs typeface="Calibri" pitchFamily="34" charset="-120"/>
              </a:rPr>
              <a:t>fertile</a:t>
            </a:r>
            <a:pPr algn="l" indent="0" marL="0">
              <a:spcAft>
                <a:spcPts val="600"/>
              </a:spcAft>
              <a:buNone/>
            </a:pPr>
            <a:r>
              <a:rPr lang="en-US" sz="2400" dirty="0">
                <a:solidFill>
                  <a:srgbClr val="1E2229"/>
                </a:solidFill>
                <a:latin typeface="Calibri" pitchFamily="34" charset="0"/>
                <a:ea typeface="Calibri" pitchFamily="34" charset="-122"/>
                <a:cs typeface="Calibri" pitchFamily="34" charset="-120"/>
              </a:rPr>
              <a:t>, so crops grow well.</a:t>
            </a:r>
            <a:endParaRPr lang="en-US" sz="2400" dirty="0"/>
          </a:p>
          <a:p>
            <a:pPr algn="l" indent="0" marL="0">
              <a:spcAft>
                <a:spcPts val="600"/>
              </a:spcAft>
              <a:buNone/>
            </a:pPr>
            <a:r>
              <a:rPr lang="en-US" sz="2400" b="1" dirty="0">
                <a:solidFill>
                  <a:srgbClr val="B8862B"/>
                </a:solidFill>
                <a:latin typeface="Calibri" pitchFamily="34" charset="0"/>
                <a:ea typeface="Calibri" pitchFamily="34" charset="-122"/>
                <a:cs typeface="Calibri" pitchFamily="34" charset="-120"/>
              </a:rPr>
              <a:t>13  </a:t>
            </a:r>
            <a:pPr algn="l" indent="0" marL="0">
              <a:spcAft>
                <a:spcPts val="600"/>
              </a:spcAft>
              <a:buNone/>
            </a:pPr>
            <a:r>
              <a:rPr lang="en-US" sz="2400" dirty="0">
                <a:solidFill>
                  <a:srgbClr val="1E2229"/>
                </a:solidFill>
                <a:latin typeface="Calibri" pitchFamily="34" charset="0"/>
                <a:ea typeface="Calibri" pitchFamily="34" charset="-122"/>
                <a:cs typeface="Calibri" pitchFamily="34" charset="-120"/>
              </a:rPr>
              <a:t>Heat from under the ground can make cheap electricity.</a:t>
            </a:r>
            <a:endParaRPr lang="en-US" sz="2400" dirty="0"/>
          </a:p>
          <a:p>
            <a:pPr algn="l" indent="0" marL="0">
              <a:spcAft>
                <a:spcPts val="600"/>
              </a:spcAft>
              <a:buNone/>
            </a:pPr>
            <a:r>
              <a:rPr lang="en-US" sz="2400" b="1" dirty="0">
                <a:solidFill>
                  <a:srgbClr val="B8862B"/>
                </a:solidFill>
                <a:latin typeface="Calibri" pitchFamily="34" charset="0"/>
                <a:ea typeface="Calibri" pitchFamily="34" charset="-122"/>
                <a:cs typeface="Calibri" pitchFamily="34" charset="-120"/>
              </a:rPr>
              <a:t>14  </a:t>
            </a:r>
            <a:pPr algn="l" indent="0" marL="0">
              <a:spcAft>
                <a:spcPts val="600"/>
              </a:spcAft>
              <a:buNone/>
            </a:pPr>
            <a:r>
              <a:rPr lang="en-US" sz="2400" dirty="0">
                <a:solidFill>
                  <a:srgbClr val="1E2229"/>
                </a:solidFill>
                <a:latin typeface="Calibri" pitchFamily="34" charset="0"/>
                <a:ea typeface="Calibri" pitchFamily="34" charset="-122"/>
                <a:cs typeface="Calibri" pitchFamily="34" charset="-120"/>
              </a:rPr>
              <a:t>Volcanic rock makes strong building material, and tourists bring jobs.</a:t>
            </a:r>
            <a:endParaRPr lang="en-US" sz="2400" dirty="0"/>
          </a:p>
        </p:txBody>
      </p:sp>
      <p:sp>
        <p:nvSpPr>
          <p:cNvPr id="25" name="Slide Number Placeholder 0"/>
          <p:cNvSpPr>
            <a:spLocks noGrp="1"/>
          </p:cNvSpPr>
          <p:nvPr>
            <p:ph type="sldNum" sz="quarter" idx="4294967295"/>
          </p:nvPr>
        </p:nvSpPr>
        <p:spPr>
          <a:xfrm>
            <a:off x="11018520" y="6446520"/>
            <a:ext cx="640080" cy="365760"/>
          </a:xfrm>
          <a:prstGeom prst="rect">
            <a:avLst/>
          </a:prstGeom>
          <a:extLst>
            <a:ext uri="{C572A759-6A51-4108-AA02-DFA0A04FC94B}">
              <ma14:wrappingTextBoxFlag xmlns:ma14="http://schemas.microsoft.com/office/mac/drawingml/2011/main" val="0"/>
            </a:ext>
          </a:extLst>
        </p:spPr>
        <p:txBody>
          <a:bodyPr lIns="0" tIns="0" rIns="0" bIns="0" anchor="ctr"/>
          <a:lstStyle>
            <a:lvl1pPr>
              <a:defRPr sz="1000">
                <a:solidFill>
                  <a:srgbClr val="396043"/>
                </a:solidFill>
                <a:latin typeface="Calibri"/>
                <a:ea typeface="Calibri"/>
                <a:cs typeface="Calibri"/>
              </a:defRPr>
            </a:lvl1pPr>
          </a:lstStyle>
          <a:p>
            <a:pPr algn="r"/>
            <a:fld id="{F7021451-1387-4CA6-816F-3879F97B5CBC}" type="slidenum">
              <a:rPr b="0" lang="en-US"/>
              <a:t>7</a:t>
            </a:fld>
            <a:endParaRPr lang="en-US"/>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spTree>
      <p:nvGrpSpPr>
        <p:cNvPr id="1" name=""/>
        <p:cNvGrpSpPr/>
        <p:nvPr/>
      </p:nvGrpSpPr>
      <p:grpSpPr>
        <a:xfrm>
          <a:off x="0" y="0"/>
          <a:ext cx="0" cy="0"/>
          <a:chOff x="0" y="0"/>
          <a:chExt cx="0" cy="0"/>
        </a:xfrm>
      </p:grpSpPr>
      <p:sp>
        <p:nvSpPr>
          <p:cNvPr id="3" name="title"/>
          <p:cNvSpPr txBox="1"/>
          <p:nvPr/>
        </p:nvSpPr>
        <p:spPr>
          <a:xfrm>
            <a:off x="548640" y="292608"/>
            <a:ext cx="9052560" cy="969264"/>
          </a:xfrm>
          <a:prstGeom prst="rect">
            <a:avLst/>
          </a:prstGeom>
          <a:noFill/>
          <a:ln/>
        </p:spPr>
        <p:txBody>
          <a:bodyPr wrap="square" lIns="63500" tIns="63500" rIns="63500" bIns="63500" rtlCol="0" anchor="ctr"/>
          <a:lstStyle/>
          <a:p>
            <a:pPr algn="l" indent="0" marL="0">
              <a:buNone/>
            </a:pPr>
            <a:r>
              <a:rPr lang="en-US" sz="3200" b="1" dirty="0">
                <a:solidFill>
                  <a:srgbClr val="3F6B4A"/>
                </a:solidFill>
                <a:latin typeface="Cambria" pitchFamily="34" charset="0"/>
                <a:ea typeface="Cambria" pitchFamily="34" charset="-122"/>
                <a:cs typeface="Cambria" pitchFamily="34" charset="-120"/>
              </a:rPr>
              <a:t>A case study: the Sichuan earthquake, 2008</a:t>
            </a:r>
            <a:endParaRPr lang="en-US" sz="3200" dirty="0"/>
          </a:p>
        </p:txBody>
      </p:sp>
      <p:sp>
        <p:nvSpPr>
          <p:cNvPr id="4" name="chip-hex"/>
          <p:cNvSpPr/>
          <p:nvPr/>
        </p:nvSpPr>
        <p:spPr>
          <a:xfrm>
            <a:off x="9677095" y="531760"/>
            <a:ext cx="566928" cy="490960"/>
          </a:xfrm>
          <a:prstGeom prst="hexagon">
            <a:avLst/>
          </a:prstGeom>
          <a:solidFill>
            <a:srgbClr val="B8862B"/>
          </a:solidFill>
          <a:ln/>
        </p:spPr>
      </p:sp>
      <p:sp>
        <p:nvSpPr>
          <p:cNvPr id="5" name="chip-hex-label"/>
          <p:cNvSpPr txBox="1"/>
          <p:nvPr/>
        </p:nvSpPr>
        <p:spPr>
          <a:xfrm>
            <a:off x="9677095" y="531760"/>
            <a:ext cx="566928" cy="490960"/>
          </a:xfrm>
          <a:prstGeom prst="rect">
            <a:avLst/>
          </a:prstGeom>
          <a:noFill/>
          <a:ln/>
        </p:spPr>
        <p:txBody>
          <a:bodyPr wrap="square" lIns="0" tIns="0" rIns="0" bIns="0" rtlCol="0" anchor="ctr"/>
          <a:lstStyle/>
          <a:p>
            <a:pPr algn="ctr" indent="0" marL="0">
              <a:buNone/>
            </a:pPr>
            <a:endParaRPr lang="en-US" sz="2000" dirty="0"/>
          </a:p>
        </p:txBody>
      </p:sp>
      <p:sp>
        <p:nvSpPr>
          <p:cNvPr id="6" name="chip-label"/>
          <p:cNvSpPr txBox="1"/>
          <p:nvPr/>
        </p:nvSpPr>
        <p:spPr>
          <a:xfrm>
            <a:off x="10317175" y="292608"/>
            <a:ext cx="1325880" cy="969264"/>
          </a:xfrm>
          <a:prstGeom prst="rect">
            <a:avLst/>
          </a:prstGeom>
          <a:noFill/>
          <a:ln/>
        </p:spPr>
        <p:txBody>
          <a:bodyPr wrap="square" lIns="63500" tIns="63500" rIns="63500" bIns="63500" rtlCol="0" anchor="ctr"/>
          <a:lstStyle/>
          <a:p>
            <a:pPr algn="l" indent="0" marL="0">
              <a:buNone/>
            </a:pPr>
            <a:r>
              <a:rPr lang="en-US" sz="1800" b="1" dirty="0">
                <a:solidFill>
                  <a:srgbClr val="8A6520"/>
                </a:solidFill>
                <a:latin typeface="Calibri" pitchFamily="34" charset="0"/>
                <a:ea typeface="Calibri" pitchFamily="34" charset="-122"/>
                <a:cs typeface="Calibri" pitchFamily="34" charset="-120"/>
              </a:rPr>
              <a:t>Teach</a:t>
            </a:r>
            <a:endParaRPr lang="en-US" sz="1800" dirty="0"/>
          </a:p>
        </p:txBody>
      </p:sp>
      <p:sp>
        <p:nvSpPr>
          <p:cNvPr id="7" name="tip-box"/>
          <p:cNvSpPr/>
          <p:nvPr/>
        </p:nvSpPr>
        <p:spPr>
          <a:xfrm>
            <a:off x="548640" y="5350256"/>
            <a:ext cx="11094415" cy="794512"/>
          </a:xfrm>
          <a:prstGeom prst="roundRect">
            <a:avLst>
              <a:gd name="adj" fmla="val 17263"/>
            </a:avLst>
          </a:prstGeom>
          <a:solidFill>
            <a:srgbClr val="F5EFE2"/>
          </a:solidFill>
          <a:ln w="15875">
            <a:solidFill>
              <a:srgbClr val="B8862B"/>
            </a:solidFill>
            <a:prstDash val="solid"/>
          </a:ln>
        </p:spPr>
      </p:sp>
      <p:sp>
        <p:nvSpPr>
          <p:cNvPr id="8" name="tip-hex"/>
          <p:cNvSpPr/>
          <p:nvPr/>
        </p:nvSpPr>
        <p:spPr>
          <a:xfrm>
            <a:off x="685800" y="5549544"/>
            <a:ext cx="457200" cy="395935"/>
          </a:xfrm>
          <a:prstGeom prst="hexagon">
            <a:avLst/>
          </a:prstGeom>
          <a:solidFill>
            <a:srgbClr val="B8862B"/>
          </a:solidFill>
          <a:ln/>
        </p:spPr>
      </p:sp>
      <p:sp>
        <p:nvSpPr>
          <p:cNvPr id="9" name="tip-hex-label"/>
          <p:cNvSpPr txBox="1"/>
          <p:nvPr/>
        </p:nvSpPr>
        <p:spPr>
          <a:xfrm>
            <a:off x="685800" y="5549544"/>
            <a:ext cx="457200" cy="395935"/>
          </a:xfrm>
          <a:prstGeom prst="rect">
            <a:avLst/>
          </a:prstGeom>
          <a:noFill/>
          <a:ln/>
        </p:spPr>
        <p:txBody>
          <a:bodyPr wrap="square" lIns="0" tIns="0" rIns="0" bIns="0" rtlCol="0" anchor="ctr"/>
          <a:lstStyle/>
          <a:p>
            <a:pPr algn="ctr" indent="0" marL="0">
              <a:buNone/>
            </a:pPr>
            <a:r>
              <a:rPr lang="en-US" sz="2000" b="1" dirty="0">
                <a:solidFill>
                  <a:srgbClr val="FFFFFF"/>
                </a:solidFill>
                <a:latin typeface="Calibri" pitchFamily="34" charset="0"/>
                <a:ea typeface="Calibri" pitchFamily="34" charset="-122"/>
                <a:cs typeface="Calibri" pitchFamily="34" charset="-120"/>
              </a:rPr>
              <a:t>!</a:t>
            </a:r>
            <a:endParaRPr lang="en-US" sz="2000" dirty="0"/>
          </a:p>
        </p:txBody>
      </p:sp>
      <p:sp>
        <p:nvSpPr>
          <p:cNvPr id="10" name="tip"/>
          <p:cNvSpPr txBox="1"/>
          <p:nvPr/>
        </p:nvSpPr>
        <p:spPr>
          <a:xfrm>
            <a:off x="1280160" y="5405120"/>
            <a:ext cx="10225735" cy="684784"/>
          </a:xfrm>
          <a:prstGeom prst="rect">
            <a:avLst/>
          </a:prstGeom>
          <a:noFill/>
          <a:ln/>
        </p:spPr>
        <p:txBody>
          <a:bodyPr wrap="square" lIns="63500" tIns="63500" rIns="63500" bIns="63500" rtlCol="0" anchor="ctr"/>
          <a:lstStyle/>
          <a:p>
            <a:pPr algn="l" indent="0" marL="0">
              <a:buNone/>
            </a:pPr>
            <a:r>
              <a:rPr lang="en-US" sz="1800" b="1" dirty="0">
                <a:solidFill>
                  <a:srgbClr val="815E1E"/>
                </a:solidFill>
                <a:latin typeface="Calibri" pitchFamily="34" charset="0"/>
                <a:ea typeface="Calibri" pitchFamily="34" charset="-122"/>
                <a:cs typeface="Calibri" pitchFamily="34" charset="-120"/>
              </a:rPr>
              <a:t>Tip  </a:t>
            </a:r>
            <a:pPr algn="l" indent="0" marL="0">
              <a:buNone/>
            </a:pPr>
            <a:r>
              <a:rPr lang="en-US" sz="1800" dirty="0">
                <a:solidFill>
                  <a:srgbClr val="1E2229"/>
                </a:solidFill>
                <a:latin typeface="Calibri" pitchFamily="34" charset="0"/>
                <a:ea typeface="Calibri" pitchFamily="34" charset="-122"/>
                <a:cs typeface="Calibri" pitchFamily="34" charset="-120"/>
              </a:rPr>
              <a:t>Case study answers need specific detail. Always give the place, the year and at least one real figure from your textbook.</a:t>
            </a:r>
            <a:endParaRPr lang="en-US" sz="1800" dirty="0"/>
          </a:p>
        </p:txBody>
      </p:sp>
      <p:sp>
        <p:nvSpPr>
          <p:cNvPr id="11" name="point-card"/>
          <p:cNvSpPr/>
          <p:nvPr/>
        </p:nvSpPr>
        <p:spPr>
          <a:xfrm>
            <a:off x="548640" y="1389888"/>
            <a:ext cx="3515258" cy="3686048"/>
          </a:xfrm>
          <a:prstGeom prst="roundRect">
            <a:avLst>
              <a:gd name="adj" fmla="val 1561"/>
            </a:avLst>
          </a:prstGeom>
          <a:solidFill>
            <a:srgbClr val="EFF2F0"/>
          </a:solidFill>
          <a:ln/>
        </p:spPr>
      </p:sp>
      <p:sp>
        <p:nvSpPr>
          <p:cNvPr id="12" name="point-hex"/>
          <p:cNvSpPr/>
          <p:nvPr/>
        </p:nvSpPr>
        <p:spPr>
          <a:xfrm>
            <a:off x="731520" y="1572768"/>
            <a:ext cx="685800" cy="593903"/>
          </a:xfrm>
          <a:prstGeom prst="hexagon">
            <a:avLst/>
          </a:prstGeom>
          <a:solidFill>
            <a:srgbClr val="3F6B4A"/>
          </a:solidFill>
          <a:ln/>
        </p:spPr>
      </p:sp>
      <p:sp>
        <p:nvSpPr>
          <p:cNvPr id="13" name="point-hex-label"/>
          <p:cNvSpPr txBox="1"/>
          <p:nvPr/>
        </p:nvSpPr>
        <p:spPr>
          <a:xfrm>
            <a:off x="731520" y="1572768"/>
            <a:ext cx="685800" cy="593903"/>
          </a:xfrm>
          <a:prstGeom prst="rect">
            <a:avLst/>
          </a:prstGeom>
          <a:noFill/>
          <a:ln/>
        </p:spPr>
        <p:txBody>
          <a:bodyPr wrap="square" lIns="0" tIns="0" rIns="0" bIns="0" rtlCol="0" anchor="ctr"/>
          <a:lstStyle/>
          <a:p>
            <a:pPr algn="ctr" indent="0" marL="0">
              <a:buNone/>
            </a:pPr>
            <a:r>
              <a:rPr lang="en-US" sz="2400" b="1" dirty="0">
                <a:solidFill>
                  <a:srgbClr val="FFFFFF"/>
                </a:solidFill>
                <a:latin typeface="Cambria" pitchFamily="34" charset="0"/>
                <a:ea typeface="Cambria" pitchFamily="34" charset="-122"/>
                <a:cs typeface="Cambria" pitchFamily="34" charset="-120"/>
              </a:rPr>
              <a:t>1</a:t>
            </a:r>
            <a:endParaRPr lang="en-US" sz="2400" dirty="0"/>
          </a:p>
        </p:txBody>
      </p:sp>
      <p:sp>
        <p:nvSpPr>
          <p:cNvPr id="14" name="point"/>
          <p:cNvSpPr txBox="1"/>
          <p:nvPr/>
        </p:nvSpPr>
        <p:spPr>
          <a:xfrm>
            <a:off x="731520" y="2350008"/>
            <a:ext cx="3149498" cy="2588768"/>
          </a:xfrm>
          <a:prstGeom prst="rect">
            <a:avLst/>
          </a:prstGeom>
          <a:noFill/>
          <a:ln/>
        </p:spPr>
        <p:txBody>
          <a:bodyPr wrap="square" lIns="63500" tIns="63500" rIns="63500" bIns="63500" rtlCol="0" anchor="t"/>
          <a:lstStyle/>
          <a:p>
            <a:pPr algn="l" indent="0" marL="0">
              <a:buNone/>
            </a:pPr>
            <a:r>
              <a:rPr lang="en-US" sz="2400" dirty="0">
                <a:solidFill>
                  <a:srgbClr val="1E2229"/>
                </a:solidFill>
                <a:latin typeface="Calibri" pitchFamily="34" charset="0"/>
                <a:ea typeface="Calibri" pitchFamily="34" charset="-122"/>
                <a:cs typeface="Calibri" pitchFamily="34" charset="-120"/>
              </a:rPr>
              <a:t>A case study is a real event studied in detail.</a:t>
            </a:r>
            <a:endParaRPr lang="en-US" sz="2400" dirty="0"/>
          </a:p>
        </p:txBody>
      </p:sp>
      <p:sp>
        <p:nvSpPr>
          <p:cNvPr id="15" name="point-card"/>
          <p:cNvSpPr/>
          <p:nvPr/>
        </p:nvSpPr>
        <p:spPr>
          <a:xfrm>
            <a:off x="4338218" y="1389888"/>
            <a:ext cx="3515258" cy="3686048"/>
          </a:xfrm>
          <a:prstGeom prst="roundRect">
            <a:avLst>
              <a:gd name="adj" fmla="val 1561"/>
            </a:avLst>
          </a:prstGeom>
          <a:solidFill>
            <a:srgbClr val="F8F2E9"/>
          </a:solidFill>
          <a:ln/>
        </p:spPr>
      </p:sp>
      <p:sp>
        <p:nvSpPr>
          <p:cNvPr id="16" name="point-hex"/>
          <p:cNvSpPr/>
          <p:nvPr/>
        </p:nvSpPr>
        <p:spPr>
          <a:xfrm>
            <a:off x="4521098" y="1572768"/>
            <a:ext cx="685800" cy="593903"/>
          </a:xfrm>
          <a:prstGeom prst="hexagon">
            <a:avLst/>
          </a:prstGeom>
          <a:solidFill>
            <a:srgbClr val="B8862B"/>
          </a:solidFill>
          <a:ln/>
        </p:spPr>
      </p:sp>
      <p:sp>
        <p:nvSpPr>
          <p:cNvPr id="17" name="point-hex-label"/>
          <p:cNvSpPr txBox="1"/>
          <p:nvPr/>
        </p:nvSpPr>
        <p:spPr>
          <a:xfrm>
            <a:off x="4521098" y="1572768"/>
            <a:ext cx="685800" cy="593903"/>
          </a:xfrm>
          <a:prstGeom prst="rect">
            <a:avLst/>
          </a:prstGeom>
          <a:noFill/>
          <a:ln/>
        </p:spPr>
        <p:txBody>
          <a:bodyPr wrap="square" lIns="0" tIns="0" rIns="0" bIns="0" rtlCol="0" anchor="ctr"/>
          <a:lstStyle/>
          <a:p>
            <a:pPr algn="ctr" indent="0" marL="0">
              <a:buNone/>
            </a:pPr>
            <a:r>
              <a:rPr lang="en-US" sz="2400" b="1" dirty="0">
                <a:solidFill>
                  <a:srgbClr val="FFFFFF"/>
                </a:solidFill>
                <a:latin typeface="Cambria" pitchFamily="34" charset="0"/>
                <a:ea typeface="Cambria" pitchFamily="34" charset="-122"/>
                <a:cs typeface="Cambria" pitchFamily="34" charset="-120"/>
              </a:rPr>
              <a:t>2</a:t>
            </a:r>
            <a:endParaRPr lang="en-US" sz="2400" dirty="0"/>
          </a:p>
        </p:txBody>
      </p:sp>
      <p:sp>
        <p:nvSpPr>
          <p:cNvPr id="18" name="point"/>
          <p:cNvSpPr txBox="1"/>
          <p:nvPr/>
        </p:nvSpPr>
        <p:spPr>
          <a:xfrm>
            <a:off x="4521098" y="2350008"/>
            <a:ext cx="3149498" cy="2588768"/>
          </a:xfrm>
          <a:prstGeom prst="rect">
            <a:avLst/>
          </a:prstGeom>
          <a:noFill/>
          <a:ln/>
        </p:spPr>
        <p:txBody>
          <a:bodyPr wrap="square" lIns="63500" tIns="63500" rIns="63500" bIns="63500" rtlCol="0" anchor="t"/>
          <a:lstStyle/>
          <a:p>
            <a:pPr algn="l" indent="0" marL="0">
              <a:buNone/>
            </a:pPr>
            <a:r>
              <a:rPr lang="en-US" sz="2400" dirty="0">
                <a:solidFill>
                  <a:srgbClr val="1E2229"/>
                </a:solidFill>
                <a:latin typeface="Calibri" pitchFamily="34" charset="0"/>
                <a:ea typeface="Calibri" pitchFamily="34" charset="-122"/>
                <a:cs typeface="Calibri" pitchFamily="34" charset="-120"/>
              </a:rPr>
              <a:t>Every earthquake case study answers the same set of questions.</a:t>
            </a:r>
            <a:endParaRPr lang="en-US" sz="2400" dirty="0"/>
          </a:p>
        </p:txBody>
      </p:sp>
      <p:sp>
        <p:nvSpPr>
          <p:cNvPr id="19" name="point-card"/>
          <p:cNvSpPr/>
          <p:nvPr/>
        </p:nvSpPr>
        <p:spPr>
          <a:xfrm>
            <a:off x="8127797" y="1389888"/>
            <a:ext cx="3515258" cy="3686048"/>
          </a:xfrm>
          <a:prstGeom prst="roundRect">
            <a:avLst>
              <a:gd name="adj" fmla="val 1561"/>
            </a:avLst>
          </a:prstGeom>
          <a:solidFill>
            <a:srgbClr val="EFF2F0"/>
          </a:solidFill>
          <a:ln/>
        </p:spPr>
      </p:sp>
      <p:sp>
        <p:nvSpPr>
          <p:cNvPr id="20" name="point-hex"/>
          <p:cNvSpPr/>
          <p:nvPr/>
        </p:nvSpPr>
        <p:spPr>
          <a:xfrm>
            <a:off x="8310677" y="1572768"/>
            <a:ext cx="685800" cy="593903"/>
          </a:xfrm>
          <a:prstGeom prst="hexagon">
            <a:avLst/>
          </a:prstGeom>
          <a:solidFill>
            <a:srgbClr val="3F6B4A"/>
          </a:solidFill>
          <a:ln/>
        </p:spPr>
      </p:sp>
      <p:sp>
        <p:nvSpPr>
          <p:cNvPr id="21" name="point-hex-label"/>
          <p:cNvSpPr txBox="1"/>
          <p:nvPr/>
        </p:nvSpPr>
        <p:spPr>
          <a:xfrm>
            <a:off x="8310677" y="1572768"/>
            <a:ext cx="685800" cy="593903"/>
          </a:xfrm>
          <a:prstGeom prst="rect">
            <a:avLst/>
          </a:prstGeom>
          <a:noFill/>
          <a:ln/>
        </p:spPr>
        <p:txBody>
          <a:bodyPr wrap="square" lIns="0" tIns="0" rIns="0" bIns="0" rtlCol="0" anchor="ctr"/>
          <a:lstStyle/>
          <a:p>
            <a:pPr algn="ctr" indent="0" marL="0">
              <a:buNone/>
            </a:pPr>
            <a:r>
              <a:rPr lang="en-US" sz="2400" b="1" dirty="0">
                <a:solidFill>
                  <a:srgbClr val="FFFFFF"/>
                </a:solidFill>
                <a:latin typeface="Cambria" pitchFamily="34" charset="0"/>
                <a:ea typeface="Cambria" pitchFamily="34" charset="-122"/>
                <a:cs typeface="Cambria" pitchFamily="34" charset="-120"/>
              </a:rPr>
              <a:t>3</a:t>
            </a:r>
            <a:endParaRPr lang="en-US" sz="2400" dirty="0"/>
          </a:p>
        </p:txBody>
      </p:sp>
      <p:sp>
        <p:nvSpPr>
          <p:cNvPr id="22" name="point"/>
          <p:cNvSpPr txBox="1"/>
          <p:nvPr/>
        </p:nvSpPr>
        <p:spPr>
          <a:xfrm>
            <a:off x="8310677" y="2350008"/>
            <a:ext cx="3149498" cy="2588768"/>
          </a:xfrm>
          <a:prstGeom prst="rect">
            <a:avLst/>
          </a:prstGeom>
          <a:noFill/>
          <a:ln/>
        </p:spPr>
        <p:txBody>
          <a:bodyPr wrap="square" lIns="63500" tIns="63500" rIns="63500" bIns="63500" rtlCol="0" anchor="t"/>
          <a:lstStyle/>
          <a:p>
            <a:pPr algn="l" indent="0" marL="0">
              <a:buNone/>
            </a:pPr>
            <a:r>
              <a:rPr lang="en-US" sz="2400" dirty="0">
                <a:solidFill>
                  <a:srgbClr val="1E2229"/>
                </a:solidFill>
                <a:latin typeface="Calibri" pitchFamily="34" charset="0"/>
                <a:ea typeface="Calibri" pitchFamily="34" charset="-122"/>
                <a:cs typeface="Calibri" pitchFamily="34" charset="-120"/>
              </a:rPr>
              <a:t>Geographers sort effects into three groups. Social effects are about people: deaths, injuries, lost homes, closed schools.</a:t>
            </a:r>
            <a:endParaRPr lang="en-US" sz="2400" dirty="0"/>
          </a:p>
        </p:txBody>
      </p:sp>
      <p:sp>
        <p:nvSpPr>
          <p:cNvPr id="25" name="Slide Number Placeholder 0"/>
          <p:cNvSpPr>
            <a:spLocks noGrp="1"/>
          </p:cNvSpPr>
          <p:nvPr>
            <p:ph type="sldNum" sz="quarter" idx="4294967295"/>
          </p:nvPr>
        </p:nvSpPr>
        <p:spPr>
          <a:xfrm>
            <a:off x="11018520" y="6446520"/>
            <a:ext cx="640080" cy="365760"/>
          </a:xfrm>
          <a:prstGeom prst="rect">
            <a:avLst/>
          </a:prstGeom>
          <a:extLst>
            <a:ext uri="{C572A759-6A51-4108-AA02-DFA0A04FC94B}">
              <ma14:wrappingTextBoxFlag xmlns:ma14="http://schemas.microsoft.com/office/mac/drawingml/2011/main" val="0"/>
            </a:ext>
          </a:extLst>
        </p:spPr>
        <p:txBody>
          <a:bodyPr lIns="0" tIns="0" rIns="0" bIns="0" anchor="ctr"/>
          <a:lstStyle>
            <a:lvl1pPr>
              <a:defRPr sz="1000">
                <a:solidFill>
                  <a:srgbClr val="396043"/>
                </a:solidFill>
                <a:latin typeface="Calibri"/>
                <a:ea typeface="Calibri"/>
                <a:cs typeface="Calibri"/>
              </a:defRPr>
            </a:lvl1pPr>
          </a:lstStyle>
          <a:p>
            <a:pPr algn="r"/>
            <a:fld id="{F7021451-1387-4CA6-816F-3879F97B5CBC}" type="slidenum">
              <a:rPr b="0" lang="en-US"/>
              <a:t>8</a:t>
            </a:fld>
            <a:endParaRPr lang="en-US"/>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spTree>
      <p:nvGrpSpPr>
        <p:cNvPr id="1" name=""/>
        <p:cNvGrpSpPr/>
        <p:nvPr/>
      </p:nvGrpSpPr>
      <p:grpSpPr>
        <a:xfrm>
          <a:off x="0" y="0"/>
          <a:ext cx="0" cy="0"/>
          <a:chOff x="0" y="0"/>
          <a:chExt cx="0" cy="0"/>
        </a:xfrm>
      </p:grpSpPr>
      <p:sp>
        <p:nvSpPr>
          <p:cNvPr id="3" name="title"/>
          <p:cNvSpPr txBox="1"/>
          <p:nvPr/>
        </p:nvSpPr>
        <p:spPr>
          <a:xfrm>
            <a:off x="548640" y="292608"/>
            <a:ext cx="9052560" cy="969264"/>
          </a:xfrm>
          <a:prstGeom prst="rect">
            <a:avLst/>
          </a:prstGeom>
          <a:noFill/>
          <a:ln/>
        </p:spPr>
        <p:txBody>
          <a:bodyPr wrap="square" lIns="63500" tIns="63500" rIns="63500" bIns="63500" rtlCol="0" anchor="ctr"/>
          <a:lstStyle/>
          <a:p>
            <a:pPr algn="l" indent="0" marL="0">
              <a:buNone/>
            </a:pPr>
            <a:r>
              <a:rPr lang="en-US" sz="3200" b="1" dirty="0">
                <a:solidFill>
                  <a:srgbClr val="3F6B4A"/>
                </a:solidFill>
                <a:latin typeface="Cambria" pitchFamily="34" charset="0"/>
                <a:ea typeface="Cambria" pitchFamily="34" charset="-122"/>
                <a:cs typeface="Cambria" pitchFamily="34" charset="-120"/>
              </a:rPr>
              <a:t>Do earthquakes kill people?</a:t>
            </a:r>
            <a:endParaRPr lang="en-US" sz="3200" dirty="0"/>
          </a:p>
        </p:txBody>
      </p:sp>
      <p:sp>
        <p:nvSpPr>
          <p:cNvPr id="4" name="chip-hex"/>
          <p:cNvSpPr/>
          <p:nvPr/>
        </p:nvSpPr>
        <p:spPr>
          <a:xfrm>
            <a:off x="9677095" y="531760"/>
            <a:ext cx="566928" cy="490960"/>
          </a:xfrm>
          <a:prstGeom prst="hexagon">
            <a:avLst/>
          </a:prstGeom>
          <a:solidFill>
            <a:srgbClr val="B8862B"/>
          </a:solidFill>
          <a:ln/>
        </p:spPr>
      </p:sp>
      <p:sp>
        <p:nvSpPr>
          <p:cNvPr id="5" name="chip-hex-label"/>
          <p:cNvSpPr txBox="1"/>
          <p:nvPr/>
        </p:nvSpPr>
        <p:spPr>
          <a:xfrm>
            <a:off x="9677095" y="531760"/>
            <a:ext cx="566928" cy="490960"/>
          </a:xfrm>
          <a:prstGeom prst="rect">
            <a:avLst/>
          </a:prstGeom>
          <a:noFill/>
          <a:ln/>
        </p:spPr>
        <p:txBody>
          <a:bodyPr wrap="square" lIns="0" tIns="0" rIns="0" bIns="0" rtlCol="0" anchor="ctr"/>
          <a:lstStyle/>
          <a:p>
            <a:pPr algn="ctr" indent="0" marL="0">
              <a:buNone/>
            </a:pPr>
            <a:endParaRPr lang="en-US" sz="2000" dirty="0"/>
          </a:p>
        </p:txBody>
      </p:sp>
      <p:sp>
        <p:nvSpPr>
          <p:cNvPr id="6" name="chip-label"/>
          <p:cNvSpPr txBox="1"/>
          <p:nvPr/>
        </p:nvSpPr>
        <p:spPr>
          <a:xfrm>
            <a:off x="10317175" y="292608"/>
            <a:ext cx="1325880" cy="969264"/>
          </a:xfrm>
          <a:prstGeom prst="rect">
            <a:avLst/>
          </a:prstGeom>
          <a:noFill/>
          <a:ln/>
        </p:spPr>
        <p:txBody>
          <a:bodyPr wrap="square" lIns="63500" tIns="63500" rIns="63500" bIns="63500" rtlCol="0" anchor="ctr"/>
          <a:lstStyle/>
          <a:p>
            <a:pPr algn="l" indent="0" marL="0">
              <a:buNone/>
            </a:pPr>
            <a:r>
              <a:rPr lang="en-US" sz="1800" b="1" dirty="0">
                <a:solidFill>
                  <a:srgbClr val="8A6520"/>
                </a:solidFill>
                <a:latin typeface="Calibri" pitchFamily="34" charset="0"/>
                <a:ea typeface="Calibri" pitchFamily="34" charset="-122"/>
                <a:cs typeface="Calibri" pitchFamily="34" charset="-120"/>
              </a:rPr>
              <a:t>Teach</a:t>
            </a:r>
            <a:endParaRPr lang="en-US" sz="1800" dirty="0"/>
          </a:p>
        </p:txBody>
      </p:sp>
      <p:sp>
        <p:nvSpPr>
          <p:cNvPr id="7" name="point-card"/>
          <p:cNvSpPr/>
          <p:nvPr/>
        </p:nvSpPr>
        <p:spPr>
          <a:xfrm>
            <a:off x="548640" y="1389888"/>
            <a:ext cx="3515258" cy="4754880"/>
          </a:xfrm>
          <a:prstGeom prst="roundRect">
            <a:avLst>
              <a:gd name="adj" fmla="val 1561"/>
            </a:avLst>
          </a:prstGeom>
          <a:solidFill>
            <a:srgbClr val="EFF2F0"/>
          </a:solidFill>
          <a:ln/>
        </p:spPr>
      </p:sp>
      <p:sp>
        <p:nvSpPr>
          <p:cNvPr id="8" name="point-hex"/>
          <p:cNvSpPr/>
          <p:nvPr/>
        </p:nvSpPr>
        <p:spPr>
          <a:xfrm>
            <a:off x="731520" y="1572768"/>
            <a:ext cx="685800" cy="593903"/>
          </a:xfrm>
          <a:prstGeom prst="hexagon">
            <a:avLst/>
          </a:prstGeom>
          <a:solidFill>
            <a:srgbClr val="3F6B4A"/>
          </a:solidFill>
          <a:ln/>
        </p:spPr>
      </p:sp>
      <p:sp>
        <p:nvSpPr>
          <p:cNvPr id="9" name="point-hex-label"/>
          <p:cNvSpPr txBox="1"/>
          <p:nvPr/>
        </p:nvSpPr>
        <p:spPr>
          <a:xfrm>
            <a:off x="731520" y="1572768"/>
            <a:ext cx="685800" cy="593903"/>
          </a:xfrm>
          <a:prstGeom prst="rect">
            <a:avLst/>
          </a:prstGeom>
          <a:noFill/>
          <a:ln/>
        </p:spPr>
        <p:txBody>
          <a:bodyPr wrap="square" lIns="0" tIns="0" rIns="0" bIns="0" rtlCol="0" anchor="ctr"/>
          <a:lstStyle/>
          <a:p>
            <a:pPr algn="ctr" indent="0" marL="0">
              <a:buNone/>
            </a:pPr>
            <a:r>
              <a:rPr lang="en-US" sz="2400" b="1" dirty="0">
                <a:solidFill>
                  <a:srgbClr val="FFFFFF"/>
                </a:solidFill>
                <a:latin typeface="Cambria" pitchFamily="34" charset="0"/>
                <a:ea typeface="Cambria" pitchFamily="34" charset="-122"/>
                <a:cs typeface="Cambria" pitchFamily="34" charset="-120"/>
              </a:rPr>
              <a:t>1</a:t>
            </a:r>
            <a:endParaRPr lang="en-US" sz="2400" dirty="0"/>
          </a:p>
        </p:txBody>
      </p:sp>
      <p:sp>
        <p:nvSpPr>
          <p:cNvPr id="10" name="point"/>
          <p:cNvSpPr txBox="1"/>
          <p:nvPr/>
        </p:nvSpPr>
        <p:spPr>
          <a:xfrm>
            <a:off x="731520" y="2350008"/>
            <a:ext cx="3149498" cy="3657600"/>
          </a:xfrm>
          <a:prstGeom prst="rect">
            <a:avLst/>
          </a:prstGeom>
          <a:noFill/>
          <a:ln/>
        </p:spPr>
        <p:txBody>
          <a:bodyPr wrap="square" lIns="63500" tIns="63500" rIns="63500" bIns="63500" rtlCol="0" anchor="t"/>
          <a:lstStyle/>
          <a:p>
            <a:pPr algn="l" indent="0" marL="0">
              <a:buNone/>
            </a:pPr>
            <a:r>
              <a:rPr lang="en-US" sz="2400" dirty="0">
                <a:solidFill>
                  <a:srgbClr val="1E2229"/>
                </a:solidFill>
                <a:latin typeface="Calibri" pitchFamily="34" charset="0"/>
                <a:ea typeface="Calibri" pitchFamily="34" charset="-122"/>
                <a:cs typeface="Calibri" pitchFamily="34" charset="-120"/>
              </a:rPr>
              <a:t>It sounds like an odd question, but it is an important one.</a:t>
            </a:r>
            <a:endParaRPr lang="en-US" sz="2400" dirty="0"/>
          </a:p>
        </p:txBody>
      </p:sp>
      <p:sp>
        <p:nvSpPr>
          <p:cNvPr id="11" name="point-card"/>
          <p:cNvSpPr/>
          <p:nvPr/>
        </p:nvSpPr>
        <p:spPr>
          <a:xfrm>
            <a:off x="4338218" y="1389888"/>
            <a:ext cx="3515258" cy="4754880"/>
          </a:xfrm>
          <a:prstGeom prst="roundRect">
            <a:avLst>
              <a:gd name="adj" fmla="val 1561"/>
            </a:avLst>
          </a:prstGeom>
          <a:solidFill>
            <a:srgbClr val="F8F2E9"/>
          </a:solidFill>
          <a:ln/>
        </p:spPr>
      </p:sp>
      <p:sp>
        <p:nvSpPr>
          <p:cNvPr id="12" name="point-hex"/>
          <p:cNvSpPr/>
          <p:nvPr/>
        </p:nvSpPr>
        <p:spPr>
          <a:xfrm>
            <a:off x="4521098" y="1572768"/>
            <a:ext cx="685800" cy="593903"/>
          </a:xfrm>
          <a:prstGeom prst="hexagon">
            <a:avLst/>
          </a:prstGeom>
          <a:solidFill>
            <a:srgbClr val="B8862B"/>
          </a:solidFill>
          <a:ln/>
        </p:spPr>
      </p:sp>
      <p:sp>
        <p:nvSpPr>
          <p:cNvPr id="13" name="point-hex-label"/>
          <p:cNvSpPr txBox="1"/>
          <p:nvPr/>
        </p:nvSpPr>
        <p:spPr>
          <a:xfrm>
            <a:off x="4521098" y="1572768"/>
            <a:ext cx="685800" cy="593903"/>
          </a:xfrm>
          <a:prstGeom prst="rect">
            <a:avLst/>
          </a:prstGeom>
          <a:noFill/>
          <a:ln/>
        </p:spPr>
        <p:txBody>
          <a:bodyPr wrap="square" lIns="0" tIns="0" rIns="0" bIns="0" rtlCol="0" anchor="ctr"/>
          <a:lstStyle/>
          <a:p>
            <a:pPr algn="ctr" indent="0" marL="0">
              <a:buNone/>
            </a:pPr>
            <a:r>
              <a:rPr lang="en-US" sz="2400" b="1" dirty="0">
                <a:solidFill>
                  <a:srgbClr val="FFFFFF"/>
                </a:solidFill>
                <a:latin typeface="Cambria" pitchFamily="34" charset="0"/>
                <a:ea typeface="Cambria" pitchFamily="34" charset="-122"/>
                <a:cs typeface="Cambria" pitchFamily="34" charset="-120"/>
              </a:rPr>
              <a:t>2</a:t>
            </a:r>
            <a:endParaRPr lang="en-US" sz="2400" dirty="0"/>
          </a:p>
        </p:txBody>
      </p:sp>
      <p:sp>
        <p:nvSpPr>
          <p:cNvPr id="14" name="point"/>
          <p:cNvSpPr txBox="1"/>
          <p:nvPr/>
        </p:nvSpPr>
        <p:spPr>
          <a:xfrm>
            <a:off x="4521098" y="2350008"/>
            <a:ext cx="3149498" cy="3657600"/>
          </a:xfrm>
          <a:prstGeom prst="rect">
            <a:avLst/>
          </a:prstGeom>
          <a:noFill/>
          <a:ln/>
        </p:spPr>
        <p:txBody>
          <a:bodyPr wrap="square" lIns="63500" tIns="63500" rIns="63500" bIns="63500" rtlCol="0" anchor="t"/>
          <a:lstStyle/>
          <a:p>
            <a:pPr algn="l" indent="0" marL="0">
              <a:buNone/>
            </a:pPr>
            <a:r>
              <a:rPr lang="en-US" sz="2400" dirty="0">
                <a:solidFill>
                  <a:srgbClr val="1E2229"/>
                </a:solidFill>
                <a:latin typeface="Calibri" pitchFamily="34" charset="0"/>
                <a:ea typeface="Calibri" pitchFamily="34" charset="-122"/>
                <a:cs typeface="Calibri" pitchFamily="34" charset="-120"/>
              </a:rPr>
              <a:t>That is why the same magnitude of earthquake can kill a handful of people in one country and tens of thousands in another.</a:t>
            </a:r>
            <a:endParaRPr lang="en-US" sz="2400" dirty="0"/>
          </a:p>
        </p:txBody>
      </p:sp>
      <p:sp>
        <p:nvSpPr>
          <p:cNvPr id="15" name="point-card"/>
          <p:cNvSpPr/>
          <p:nvPr/>
        </p:nvSpPr>
        <p:spPr>
          <a:xfrm>
            <a:off x="8127797" y="1389888"/>
            <a:ext cx="3515258" cy="4754880"/>
          </a:xfrm>
          <a:prstGeom prst="roundRect">
            <a:avLst>
              <a:gd name="adj" fmla="val 1561"/>
            </a:avLst>
          </a:prstGeom>
          <a:solidFill>
            <a:srgbClr val="EFF2F0"/>
          </a:solidFill>
          <a:ln/>
        </p:spPr>
      </p:sp>
      <p:sp>
        <p:nvSpPr>
          <p:cNvPr id="16" name="point-hex"/>
          <p:cNvSpPr/>
          <p:nvPr/>
        </p:nvSpPr>
        <p:spPr>
          <a:xfrm>
            <a:off x="8310677" y="1572768"/>
            <a:ext cx="685800" cy="593903"/>
          </a:xfrm>
          <a:prstGeom prst="hexagon">
            <a:avLst/>
          </a:prstGeom>
          <a:solidFill>
            <a:srgbClr val="3F6B4A"/>
          </a:solidFill>
          <a:ln/>
        </p:spPr>
      </p:sp>
      <p:sp>
        <p:nvSpPr>
          <p:cNvPr id="17" name="point-hex-label"/>
          <p:cNvSpPr txBox="1"/>
          <p:nvPr/>
        </p:nvSpPr>
        <p:spPr>
          <a:xfrm>
            <a:off x="8310677" y="1572768"/>
            <a:ext cx="685800" cy="593903"/>
          </a:xfrm>
          <a:prstGeom prst="rect">
            <a:avLst/>
          </a:prstGeom>
          <a:noFill/>
          <a:ln/>
        </p:spPr>
        <p:txBody>
          <a:bodyPr wrap="square" lIns="0" tIns="0" rIns="0" bIns="0" rtlCol="0" anchor="ctr"/>
          <a:lstStyle/>
          <a:p>
            <a:pPr algn="ctr" indent="0" marL="0">
              <a:buNone/>
            </a:pPr>
            <a:r>
              <a:rPr lang="en-US" sz="2400" b="1" dirty="0">
                <a:solidFill>
                  <a:srgbClr val="FFFFFF"/>
                </a:solidFill>
                <a:latin typeface="Cambria" pitchFamily="34" charset="0"/>
                <a:ea typeface="Cambria" pitchFamily="34" charset="-122"/>
                <a:cs typeface="Cambria" pitchFamily="34" charset="-120"/>
              </a:rPr>
              <a:t>3</a:t>
            </a:r>
            <a:endParaRPr lang="en-US" sz="2400" dirty="0"/>
          </a:p>
        </p:txBody>
      </p:sp>
      <p:sp>
        <p:nvSpPr>
          <p:cNvPr id="18" name="point"/>
          <p:cNvSpPr txBox="1"/>
          <p:nvPr/>
        </p:nvSpPr>
        <p:spPr>
          <a:xfrm>
            <a:off x="8310677" y="2350008"/>
            <a:ext cx="3149498" cy="3657600"/>
          </a:xfrm>
          <a:prstGeom prst="rect">
            <a:avLst/>
          </a:prstGeom>
          <a:noFill/>
          <a:ln/>
        </p:spPr>
        <p:txBody>
          <a:bodyPr wrap="square" lIns="63500" tIns="63500" rIns="63500" bIns="63500" rtlCol="0" anchor="t"/>
          <a:lstStyle/>
          <a:p>
            <a:pPr algn="l" indent="0" marL="0">
              <a:buNone/>
            </a:pPr>
            <a:r>
              <a:rPr lang="en-US" sz="2400" dirty="0">
                <a:solidFill>
                  <a:srgbClr val="1E2229"/>
                </a:solidFill>
                <a:latin typeface="Calibri" pitchFamily="34" charset="0"/>
                <a:ea typeface="Calibri" pitchFamily="34" charset="-122"/>
                <a:cs typeface="Calibri" pitchFamily="34" charset="-120"/>
              </a:rPr>
              <a:t>Time of day matters too. Think about where people are at different hours.</a:t>
            </a:r>
            <a:endParaRPr lang="en-US" sz="2400" dirty="0"/>
          </a:p>
        </p:txBody>
      </p:sp>
      <p:sp>
        <p:nvSpPr>
          <p:cNvPr id="25" name="Slide Number Placeholder 0"/>
          <p:cNvSpPr>
            <a:spLocks noGrp="1"/>
          </p:cNvSpPr>
          <p:nvPr>
            <p:ph type="sldNum" sz="quarter" idx="4294967295"/>
          </p:nvPr>
        </p:nvSpPr>
        <p:spPr>
          <a:xfrm>
            <a:off x="11018520" y="6446520"/>
            <a:ext cx="640080" cy="365760"/>
          </a:xfrm>
          <a:prstGeom prst="rect">
            <a:avLst/>
          </a:prstGeom>
          <a:extLst>
            <a:ext uri="{C572A759-6A51-4108-AA02-DFA0A04FC94B}">
              <ma14:wrappingTextBoxFlag xmlns:ma14="http://schemas.microsoft.com/office/mac/drawingml/2011/main" val="0"/>
            </a:ext>
          </a:extLst>
        </p:spPr>
        <p:txBody>
          <a:bodyPr lIns="0" tIns="0" rIns="0" bIns="0" anchor="ctr"/>
          <a:lstStyle>
            <a:lvl1pPr>
              <a:defRPr sz="1000">
                <a:solidFill>
                  <a:srgbClr val="396043"/>
                </a:solidFill>
                <a:latin typeface="Calibri"/>
                <a:ea typeface="Calibri"/>
                <a:cs typeface="Calibri"/>
              </a:defRPr>
            </a:lvl1pPr>
          </a:lstStyle>
          <a:p>
            <a:pPr algn="r"/>
            <a:fld id="{F7021451-1387-4CA6-816F-3879F97B5CBC}" type="slidenum">
              <a:rPr b="0" lang="en-US"/>
              <a:t>9</a:t>
            </a:fld>
            <a:endParaRPr lang="en-US"/>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spTree>
      <p:nvGrpSpPr>
        <p:cNvPr id="1" name=""/>
        <p:cNvGrpSpPr/>
        <p:nvPr/>
      </p:nvGrpSpPr>
      <p:grpSpPr>
        <a:xfrm>
          <a:off x="0" y="0"/>
          <a:ext cx="0" cy="0"/>
          <a:chOff x="0" y="0"/>
          <a:chExt cx="0" cy="0"/>
        </a:xfrm>
      </p:grpSpPr>
      <p:sp>
        <p:nvSpPr>
          <p:cNvPr id="3" name="title"/>
          <p:cNvSpPr txBox="1"/>
          <p:nvPr/>
        </p:nvSpPr>
        <p:spPr>
          <a:xfrm>
            <a:off x="548640" y="292608"/>
            <a:ext cx="9052560" cy="969264"/>
          </a:xfrm>
          <a:prstGeom prst="rect">
            <a:avLst/>
          </a:prstGeom>
          <a:noFill/>
          <a:ln/>
        </p:spPr>
        <p:txBody>
          <a:bodyPr wrap="square" lIns="63500" tIns="63500" rIns="63500" bIns="63500" rtlCol="0" anchor="ctr"/>
          <a:lstStyle/>
          <a:p>
            <a:pPr algn="l" indent="0" marL="0">
              <a:buNone/>
            </a:pPr>
            <a:r>
              <a:rPr lang="en-US" sz="2800" b="1" dirty="0">
                <a:solidFill>
                  <a:srgbClr val="3F6B4A"/>
                </a:solidFill>
                <a:latin typeface="Cambria" pitchFamily="34" charset="0"/>
                <a:ea typeface="Cambria" pitchFamily="34" charset="-122"/>
                <a:cs typeface="Cambria" pitchFamily="34" charset="-120"/>
              </a:rPr>
              <a:t>Worked example (1 of 4): Do earthquakes kill people?</a:t>
            </a:r>
            <a:endParaRPr lang="en-US" sz="2800" dirty="0"/>
          </a:p>
        </p:txBody>
      </p:sp>
      <p:sp>
        <p:nvSpPr>
          <p:cNvPr id="4" name="chip-hex"/>
          <p:cNvSpPr/>
          <p:nvPr/>
        </p:nvSpPr>
        <p:spPr>
          <a:xfrm>
            <a:off x="9677095" y="531760"/>
            <a:ext cx="566928" cy="490960"/>
          </a:xfrm>
          <a:prstGeom prst="hexagon">
            <a:avLst/>
          </a:prstGeom>
          <a:solidFill>
            <a:srgbClr val="B8862B"/>
          </a:solidFill>
          <a:ln/>
        </p:spPr>
      </p:sp>
      <p:sp>
        <p:nvSpPr>
          <p:cNvPr id="5" name="chip-hex-label"/>
          <p:cNvSpPr txBox="1"/>
          <p:nvPr/>
        </p:nvSpPr>
        <p:spPr>
          <a:xfrm>
            <a:off x="9677095" y="531760"/>
            <a:ext cx="566928" cy="490960"/>
          </a:xfrm>
          <a:prstGeom prst="rect">
            <a:avLst/>
          </a:prstGeom>
          <a:noFill/>
          <a:ln/>
        </p:spPr>
        <p:txBody>
          <a:bodyPr wrap="square" lIns="0" tIns="0" rIns="0" bIns="0" rtlCol="0" anchor="ctr"/>
          <a:lstStyle/>
          <a:p>
            <a:pPr algn="ctr" indent="0" marL="0">
              <a:buNone/>
            </a:pPr>
            <a:endParaRPr lang="en-US" sz="2000" dirty="0"/>
          </a:p>
        </p:txBody>
      </p:sp>
      <p:sp>
        <p:nvSpPr>
          <p:cNvPr id="6" name="chip-label"/>
          <p:cNvSpPr txBox="1"/>
          <p:nvPr/>
        </p:nvSpPr>
        <p:spPr>
          <a:xfrm>
            <a:off x="10317175" y="292608"/>
            <a:ext cx="1325880" cy="969264"/>
          </a:xfrm>
          <a:prstGeom prst="rect">
            <a:avLst/>
          </a:prstGeom>
          <a:noFill/>
          <a:ln/>
        </p:spPr>
        <p:txBody>
          <a:bodyPr wrap="square" lIns="63500" tIns="63500" rIns="63500" bIns="63500" rtlCol="0" anchor="ctr"/>
          <a:lstStyle/>
          <a:p>
            <a:pPr algn="l" indent="0" marL="0">
              <a:buNone/>
            </a:pPr>
            <a:r>
              <a:rPr lang="en-US" sz="1800" b="1" dirty="0">
                <a:solidFill>
                  <a:srgbClr val="8A6520"/>
                </a:solidFill>
                <a:latin typeface="Calibri" pitchFamily="34" charset="0"/>
                <a:ea typeface="Calibri" pitchFamily="34" charset="-122"/>
                <a:cs typeface="Calibri" pitchFamily="34" charset="-120"/>
              </a:rPr>
              <a:t>Teach</a:t>
            </a:r>
            <a:endParaRPr lang="en-US" sz="1800" dirty="0"/>
          </a:p>
        </p:txBody>
      </p:sp>
      <p:sp>
        <p:nvSpPr>
          <p:cNvPr id="7" name="wq-band"/>
          <p:cNvSpPr/>
          <p:nvPr/>
        </p:nvSpPr>
        <p:spPr>
          <a:xfrm>
            <a:off x="548640" y="1389888"/>
            <a:ext cx="11094415" cy="991616"/>
          </a:xfrm>
          <a:prstGeom prst="roundRect">
            <a:avLst>
              <a:gd name="adj" fmla="val 9221"/>
            </a:avLst>
          </a:prstGeom>
          <a:solidFill>
            <a:srgbClr val="EFF2F0"/>
          </a:solidFill>
          <a:ln/>
        </p:spPr>
      </p:sp>
      <p:sp>
        <p:nvSpPr>
          <p:cNvPr id="8" name="worked-q"/>
          <p:cNvSpPr txBox="1"/>
          <p:nvPr/>
        </p:nvSpPr>
        <p:spPr>
          <a:xfrm>
            <a:off x="731520" y="1481328"/>
            <a:ext cx="10728655" cy="808736"/>
          </a:xfrm>
          <a:prstGeom prst="rect">
            <a:avLst/>
          </a:prstGeom>
          <a:noFill/>
          <a:ln/>
        </p:spPr>
        <p:txBody>
          <a:bodyPr wrap="square" lIns="63500" tIns="63500" rIns="63500" bIns="63500" rtlCol="0" anchor="ctr"/>
          <a:lstStyle/>
          <a:p>
            <a:pPr algn="l" indent="0" marL="0">
              <a:buNone/>
            </a:pPr>
            <a:r>
              <a:rPr lang="en-US" sz="2200" b="1" dirty="0">
                <a:solidFill>
                  <a:srgbClr val="1E2229"/>
                </a:solidFill>
                <a:latin typeface="Calibri" pitchFamily="34" charset="0"/>
                <a:ea typeface="Calibri" pitchFamily="34" charset="-122"/>
                <a:cs typeface="Calibri" pitchFamily="34" charset="-120"/>
              </a:rPr>
              <a:t>Explain why an earthquake of the same magnitude can cause more deaths in one country than in another. (4 marks)</a:t>
            </a:r>
            <a:endParaRPr lang="en-US" sz="2200" dirty="0"/>
          </a:p>
        </p:txBody>
      </p:sp>
      <p:sp>
        <p:nvSpPr>
          <p:cNvPr id="9" name="step-box"/>
          <p:cNvSpPr/>
          <p:nvPr/>
        </p:nvSpPr>
        <p:spPr>
          <a:xfrm>
            <a:off x="548640" y="2655824"/>
            <a:ext cx="11094415" cy="1463040"/>
          </a:xfrm>
          <a:prstGeom prst="roundRect">
            <a:avLst>
              <a:gd name="adj" fmla="val 5000"/>
            </a:avLst>
          </a:prstGeom>
          <a:solidFill>
            <a:srgbClr val="FFFFFF"/>
          </a:solidFill>
          <a:ln w="15875">
            <a:solidFill>
              <a:srgbClr val="95AE9B"/>
            </a:solidFill>
            <a:prstDash val="solid"/>
          </a:ln>
        </p:spPr>
      </p:sp>
      <p:sp>
        <p:nvSpPr>
          <p:cNvPr id="10" name="step-hex"/>
          <p:cNvSpPr/>
          <p:nvPr/>
        </p:nvSpPr>
        <p:spPr>
          <a:xfrm>
            <a:off x="685800" y="2765552"/>
            <a:ext cx="530352" cy="459285"/>
          </a:xfrm>
          <a:prstGeom prst="hexagon">
            <a:avLst/>
          </a:prstGeom>
          <a:solidFill>
            <a:srgbClr val="3F6B4A"/>
          </a:solidFill>
          <a:ln/>
        </p:spPr>
      </p:sp>
      <p:sp>
        <p:nvSpPr>
          <p:cNvPr id="11" name="step-hex-label"/>
          <p:cNvSpPr txBox="1"/>
          <p:nvPr/>
        </p:nvSpPr>
        <p:spPr>
          <a:xfrm>
            <a:off x="685800" y="2765552"/>
            <a:ext cx="530352" cy="459285"/>
          </a:xfrm>
          <a:prstGeom prst="rect">
            <a:avLst/>
          </a:prstGeom>
          <a:noFill/>
          <a:ln/>
        </p:spPr>
        <p:txBody>
          <a:bodyPr wrap="square" lIns="0" tIns="0" rIns="0" bIns="0" rtlCol="0" anchor="ctr"/>
          <a:lstStyle/>
          <a:p>
            <a:pPr algn="ctr" indent="0" marL="0">
              <a:buNone/>
            </a:pPr>
            <a:r>
              <a:rPr lang="en-US" sz="2000" b="1" dirty="0">
                <a:solidFill>
                  <a:srgbClr val="FFFFFF"/>
                </a:solidFill>
                <a:latin typeface="Calibri" pitchFamily="34" charset="0"/>
                <a:ea typeface="Calibri" pitchFamily="34" charset="-122"/>
                <a:cs typeface="Calibri" pitchFamily="34" charset="-120"/>
              </a:rPr>
              <a:t>1</a:t>
            </a:r>
            <a:endParaRPr lang="en-US" sz="2000" dirty="0"/>
          </a:p>
        </p:txBody>
      </p:sp>
      <p:sp>
        <p:nvSpPr>
          <p:cNvPr id="12" name="step"/>
          <p:cNvSpPr txBox="1"/>
          <p:nvPr/>
        </p:nvSpPr>
        <p:spPr>
          <a:xfrm>
            <a:off x="685800" y="3250184"/>
            <a:ext cx="10820095" cy="777240"/>
          </a:xfrm>
          <a:prstGeom prst="rect">
            <a:avLst/>
          </a:prstGeom>
          <a:noFill/>
          <a:ln/>
        </p:spPr>
        <p:txBody>
          <a:bodyPr wrap="square" lIns="63500" tIns="63500" rIns="63500" bIns="63500" rtlCol="0" anchor="t"/>
          <a:lstStyle/>
          <a:p>
            <a:pPr algn="l" indent="0" marL="0">
              <a:buNone/>
            </a:pPr>
            <a:r>
              <a:rPr lang="en-US" sz="1800" dirty="0">
                <a:solidFill>
                  <a:srgbClr val="1E2229"/>
                </a:solidFill>
                <a:latin typeface="Calibri" pitchFamily="34" charset="0"/>
                <a:ea typeface="Calibri" pitchFamily="34" charset="-122"/>
                <a:cs typeface="Calibri" pitchFamily="34" charset="-120"/>
              </a:rPr>
              <a:t>Make the key point first: the shaking does not kill directly; collapsing buildings do.</a:t>
            </a:r>
            <a:endParaRPr lang="en-US" sz="1800" dirty="0"/>
          </a:p>
        </p:txBody>
      </p:sp>
      <p:sp>
        <p:nvSpPr>
          <p:cNvPr id="25" name="Slide Number Placeholder 0"/>
          <p:cNvSpPr>
            <a:spLocks noGrp="1"/>
          </p:cNvSpPr>
          <p:nvPr>
            <p:ph type="sldNum" sz="quarter" idx="4294967295"/>
          </p:nvPr>
        </p:nvSpPr>
        <p:spPr>
          <a:xfrm>
            <a:off x="11018520" y="6446520"/>
            <a:ext cx="640080" cy="365760"/>
          </a:xfrm>
          <a:prstGeom prst="rect">
            <a:avLst/>
          </a:prstGeom>
          <a:extLst>
            <a:ext uri="{C572A759-6A51-4108-AA02-DFA0A04FC94B}">
              <ma14:wrappingTextBoxFlag xmlns:ma14="http://schemas.microsoft.com/office/mac/drawingml/2011/main" val="0"/>
            </a:ext>
          </a:extLst>
        </p:spPr>
        <p:txBody>
          <a:bodyPr lIns="0" tIns="0" rIns="0" bIns="0" anchor="ctr"/>
          <a:lstStyle>
            <a:lvl1pPr>
              <a:defRPr sz="1000">
                <a:solidFill>
                  <a:srgbClr val="396043"/>
                </a:solidFill>
                <a:latin typeface="Calibri"/>
                <a:ea typeface="Calibri"/>
                <a:cs typeface="Calibri"/>
              </a:defRPr>
            </a:lvl1pPr>
          </a:lstStyle>
          <a:p>
            <a:pPr algn="r"/>
            <a:fld id="{F7021451-1387-4CA6-816F-3879F97B5CBC}" type="slidenum">
              <a:rPr b="0" lang="en-US"/>
              <a:t>10</a:t>
            </a:fld>
            <a:endParaRPr lang="en-US"/>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11">
    <p:spTree>
      <p:nvGrpSpPr>
        <p:cNvPr id="1" name=""/>
        <p:cNvGrpSpPr/>
        <p:nvPr/>
      </p:nvGrpSpPr>
      <p:grpSpPr>
        <a:xfrm>
          <a:off x="0" y="0"/>
          <a:ext cx="0" cy="0"/>
          <a:chOff x="0" y="0"/>
          <a:chExt cx="0" cy="0"/>
        </a:xfrm>
      </p:grpSpPr>
      <p:sp>
        <p:nvSpPr>
          <p:cNvPr id="3" name="title"/>
          <p:cNvSpPr txBox="1"/>
          <p:nvPr/>
        </p:nvSpPr>
        <p:spPr>
          <a:xfrm>
            <a:off x="548640" y="292608"/>
            <a:ext cx="9052560" cy="969264"/>
          </a:xfrm>
          <a:prstGeom prst="rect">
            <a:avLst/>
          </a:prstGeom>
          <a:noFill/>
          <a:ln/>
        </p:spPr>
        <p:txBody>
          <a:bodyPr wrap="square" lIns="63500" tIns="63500" rIns="63500" bIns="63500" rtlCol="0" anchor="ctr"/>
          <a:lstStyle/>
          <a:p>
            <a:pPr algn="l" indent="0" marL="0">
              <a:buNone/>
            </a:pPr>
            <a:r>
              <a:rPr lang="en-US" sz="2800" b="1" dirty="0">
                <a:solidFill>
                  <a:srgbClr val="3F6B4A"/>
                </a:solidFill>
                <a:latin typeface="Cambria" pitchFamily="34" charset="0"/>
                <a:ea typeface="Cambria" pitchFamily="34" charset="-122"/>
                <a:cs typeface="Cambria" pitchFamily="34" charset="-120"/>
              </a:rPr>
              <a:t>Worked example (2 of 4): Do earthquakes kill people?</a:t>
            </a:r>
            <a:endParaRPr lang="en-US" sz="2800" dirty="0"/>
          </a:p>
        </p:txBody>
      </p:sp>
      <p:sp>
        <p:nvSpPr>
          <p:cNvPr id="4" name="chip-hex"/>
          <p:cNvSpPr/>
          <p:nvPr/>
        </p:nvSpPr>
        <p:spPr>
          <a:xfrm>
            <a:off x="9677095" y="531760"/>
            <a:ext cx="566928" cy="490960"/>
          </a:xfrm>
          <a:prstGeom prst="hexagon">
            <a:avLst/>
          </a:prstGeom>
          <a:solidFill>
            <a:srgbClr val="B8862B"/>
          </a:solidFill>
          <a:ln/>
        </p:spPr>
      </p:sp>
      <p:sp>
        <p:nvSpPr>
          <p:cNvPr id="5" name="chip-hex-label"/>
          <p:cNvSpPr txBox="1"/>
          <p:nvPr/>
        </p:nvSpPr>
        <p:spPr>
          <a:xfrm>
            <a:off x="9677095" y="531760"/>
            <a:ext cx="566928" cy="490960"/>
          </a:xfrm>
          <a:prstGeom prst="rect">
            <a:avLst/>
          </a:prstGeom>
          <a:noFill/>
          <a:ln/>
        </p:spPr>
        <p:txBody>
          <a:bodyPr wrap="square" lIns="0" tIns="0" rIns="0" bIns="0" rtlCol="0" anchor="ctr"/>
          <a:lstStyle/>
          <a:p>
            <a:pPr algn="ctr" indent="0" marL="0">
              <a:buNone/>
            </a:pPr>
            <a:endParaRPr lang="en-US" sz="2000" dirty="0"/>
          </a:p>
        </p:txBody>
      </p:sp>
      <p:sp>
        <p:nvSpPr>
          <p:cNvPr id="6" name="chip-label"/>
          <p:cNvSpPr txBox="1"/>
          <p:nvPr/>
        </p:nvSpPr>
        <p:spPr>
          <a:xfrm>
            <a:off x="10317175" y="292608"/>
            <a:ext cx="1325880" cy="969264"/>
          </a:xfrm>
          <a:prstGeom prst="rect">
            <a:avLst/>
          </a:prstGeom>
          <a:noFill/>
          <a:ln/>
        </p:spPr>
        <p:txBody>
          <a:bodyPr wrap="square" lIns="63500" tIns="63500" rIns="63500" bIns="63500" rtlCol="0" anchor="ctr"/>
          <a:lstStyle/>
          <a:p>
            <a:pPr algn="l" indent="0" marL="0">
              <a:buNone/>
            </a:pPr>
            <a:r>
              <a:rPr lang="en-US" sz="1800" b="1" dirty="0">
                <a:solidFill>
                  <a:srgbClr val="8A6520"/>
                </a:solidFill>
                <a:latin typeface="Calibri" pitchFamily="34" charset="0"/>
                <a:ea typeface="Calibri" pitchFamily="34" charset="-122"/>
                <a:cs typeface="Calibri" pitchFamily="34" charset="-120"/>
              </a:rPr>
              <a:t>Teach</a:t>
            </a:r>
            <a:endParaRPr lang="en-US" sz="1800" dirty="0"/>
          </a:p>
        </p:txBody>
      </p:sp>
      <p:sp>
        <p:nvSpPr>
          <p:cNvPr id="7" name="wq-band"/>
          <p:cNvSpPr/>
          <p:nvPr/>
        </p:nvSpPr>
        <p:spPr>
          <a:xfrm>
            <a:off x="548640" y="1389888"/>
            <a:ext cx="11094415" cy="991616"/>
          </a:xfrm>
          <a:prstGeom prst="roundRect">
            <a:avLst>
              <a:gd name="adj" fmla="val 9221"/>
            </a:avLst>
          </a:prstGeom>
          <a:solidFill>
            <a:srgbClr val="EFF2F0"/>
          </a:solidFill>
          <a:ln/>
        </p:spPr>
      </p:sp>
      <p:sp>
        <p:nvSpPr>
          <p:cNvPr id="8" name="worked-q"/>
          <p:cNvSpPr txBox="1"/>
          <p:nvPr/>
        </p:nvSpPr>
        <p:spPr>
          <a:xfrm>
            <a:off x="731520" y="1481328"/>
            <a:ext cx="10728655" cy="808736"/>
          </a:xfrm>
          <a:prstGeom prst="rect">
            <a:avLst/>
          </a:prstGeom>
          <a:noFill/>
          <a:ln/>
        </p:spPr>
        <p:txBody>
          <a:bodyPr wrap="square" lIns="63500" tIns="63500" rIns="63500" bIns="63500" rtlCol="0" anchor="ctr"/>
          <a:lstStyle/>
          <a:p>
            <a:pPr algn="l" indent="0" marL="0">
              <a:buNone/>
            </a:pPr>
            <a:r>
              <a:rPr lang="en-US" sz="2200" b="1" dirty="0">
                <a:solidFill>
                  <a:srgbClr val="1E2229"/>
                </a:solidFill>
                <a:latin typeface="Calibri" pitchFamily="34" charset="0"/>
                <a:ea typeface="Calibri" pitchFamily="34" charset="-122"/>
                <a:cs typeface="Calibri" pitchFamily="34" charset="-120"/>
              </a:rPr>
              <a:t>Explain why an earthquake of the same magnitude can cause more deaths in one country than in another. (4 marks)</a:t>
            </a:r>
            <a:endParaRPr lang="en-US" sz="2200" dirty="0"/>
          </a:p>
        </p:txBody>
      </p:sp>
      <p:sp>
        <p:nvSpPr>
          <p:cNvPr id="9" name="step-box"/>
          <p:cNvSpPr/>
          <p:nvPr/>
        </p:nvSpPr>
        <p:spPr>
          <a:xfrm>
            <a:off x="548640" y="2655824"/>
            <a:ext cx="11094415" cy="1463040"/>
          </a:xfrm>
          <a:prstGeom prst="roundRect">
            <a:avLst>
              <a:gd name="adj" fmla="val 5000"/>
            </a:avLst>
          </a:prstGeom>
          <a:solidFill>
            <a:srgbClr val="FFFFFF"/>
          </a:solidFill>
          <a:ln w="15875">
            <a:solidFill>
              <a:srgbClr val="95AE9B"/>
            </a:solidFill>
            <a:prstDash val="solid"/>
          </a:ln>
        </p:spPr>
      </p:sp>
      <p:sp>
        <p:nvSpPr>
          <p:cNvPr id="10" name="step-hex"/>
          <p:cNvSpPr/>
          <p:nvPr/>
        </p:nvSpPr>
        <p:spPr>
          <a:xfrm>
            <a:off x="685800" y="2765552"/>
            <a:ext cx="530352" cy="459285"/>
          </a:xfrm>
          <a:prstGeom prst="hexagon">
            <a:avLst/>
          </a:prstGeom>
          <a:solidFill>
            <a:srgbClr val="3F6B4A"/>
          </a:solidFill>
          <a:ln/>
        </p:spPr>
      </p:sp>
      <p:sp>
        <p:nvSpPr>
          <p:cNvPr id="11" name="step-hex-label"/>
          <p:cNvSpPr txBox="1"/>
          <p:nvPr/>
        </p:nvSpPr>
        <p:spPr>
          <a:xfrm>
            <a:off x="685800" y="2765552"/>
            <a:ext cx="530352" cy="459285"/>
          </a:xfrm>
          <a:prstGeom prst="rect">
            <a:avLst/>
          </a:prstGeom>
          <a:noFill/>
          <a:ln/>
        </p:spPr>
        <p:txBody>
          <a:bodyPr wrap="square" lIns="0" tIns="0" rIns="0" bIns="0" rtlCol="0" anchor="ctr"/>
          <a:lstStyle/>
          <a:p>
            <a:pPr algn="ctr" indent="0" marL="0">
              <a:buNone/>
            </a:pPr>
            <a:r>
              <a:rPr lang="en-US" sz="2000" b="1" dirty="0">
                <a:solidFill>
                  <a:srgbClr val="FFFFFF"/>
                </a:solidFill>
                <a:latin typeface="Calibri" pitchFamily="34" charset="0"/>
                <a:ea typeface="Calibri" pitchFamily="34" charset="-122"/>
                <a:cs typeface="Calibri" pitchFamily="34" charset="-120"/>
              </a:rPr>
              <a:t>2</a:t>
            </a:r>
            <a:endParaRPr lang="en-US" sz="2000" dirty="0"/>
          </a:p>
        </p:txBody>
      </p:sp>
      <p:sp>
        <p:nvSpPr>
          <p:cNvPr id="12" name="step"/>
          <p:cNvSpPr txBox="1"/>
          <p:nvPr/>
        </p:nvSpPr>
        <p:spPr>
          <a:xfrm>
            <a:off x="685800" y="3250184"/>
            <a:ext cx="10820095" cy="777240"/>
          </a:xfrm>
          <a:prstGeom prst="rect">
            <a:avLst/>
          </a:prstGeom>
          <a:noFill/>
          <a:ln/>
        </p:spPr>
        <p:txBody>
          <a:bodyPr wrap="square" lIns="63500" tIns="63500" rIns="63500" bIns="63500" rtlCol="0" anchor="t"/>
          <a:lstStyle/>
          <a:p>
            <a:pPr algn="l" indent="0" marL="0">
              <a:buNone/>
            </a:pPr>
            <a:r>
              <a:rPr lang="en-US" sz="1800" dirty="0">
                <a:solidFill>
                  <a:srgbClr val="1E2229"/>
                </a:solidFill>
                <a:latin typeface="Calibri" pitchFamily="34" charset="0"/>
                <a:ea typeface="Calibri" pitchFamily="34" charset="-122"/>
                <a:cs typeface="Calibri" pitchFamily="34" charset="-120"/>
              </a:rPr>
              <a:t>Compare building quality: richer countries can afford buildings designed not to collapse.</a:t>
            </a:r>
            <a:endParaRPr lang="en-US" sz="1800" dirty="0"/>
          </a:p>
        </p:txBody>
      </p:sp>
      <p:sp>
        <p:nvSpPr>
          <p:cNvPr id="25" name="Slide Number Placeholder 0"/>
          <p:cNvSpPr>
            <a:spLocks noGrp="1"/>
          </p:cNvSpPr>
          <p:nvPr>
            <p:ph type="sldNum" sz="quarter" idx="4294967295"/>
          </p:nvPr>
        </p:nvSpPr>
        <p:spPr>
          <a:xfrm>
            <a:off x="11018520" y="6446520"/>
            <a:ext cx="640080" cy="365760"/>
          </a:xfrm>
          <a:prstGeom prst="rect">
            <a:avLst/>
          </a:prstGeom>
          <a:extLst>
            <a:ext uri="{C572A759-6A51-4108-AA02-DFA0A04FC94B}">
              <ma14:wrappingTextBoxFlag xmlns:ma14="http://schemas.microsoft.com/office/mac/drawingml/2011/main" val="0"/>
            </a:ext>
          </a:extLst>
        </p:spPr>
        <p:txBody>
          <a:bodyPr lIns="0" tIns="0" rIns="0" bIns="0" anchor="ctr"/>
          <a:lstStyle>
            <a:lvl1pPr>
              <a:defRPr sz="1000">
                <a:solidFill>
                  <a:srgbClr val="396043"/>
                </a:solidFill>
                <a:latin typeface="Calibri"/>
                <a:ea typeface="Calibri"/>
                <a:cs typeface="Calibri"/>
              </a:defRPr>
            </a:lvl1pPr>
          </a:lstStyle>
          <a:p>
            <a:pPr algn="r"/>
            <a:fld id="{F7021451-1387-4CA6-816F-3879F97B5CBC}" type="slidenum">
              <a:rPr b="0" lang="en-US"/>
              <a:t>11</a:t>
            </a:fld>
            <a:endParaRPr lang="en-US"/>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name="Slide 12">
    <p:spTree>
      <p:nvGrpSpPr>
        <p:cNvPr id="1" name=""/>
        <p:cNvGrpSpPr/>
        <p:nvPr/>
      </p:nvGrpSpPr>
      <p:grpSpPr>
        <a:xfrm>
          <a:off x="0" y="0"/>
          <a:ext cx="0" cy="0"/>
          <a:chOff x="0" y="0"/>
          <a:chExt cx="0" cy="0"/>
        </a:xfrm>
      </p:grpSpPr>
      <p:sp>
        <p:nvSpPr>
          <p:cNvPr id="3" name="title"/>
          <p:cNvSpPr txBox="1"/>
          <p:nvPr/>
        </p:nvSpPr>
        <p:spPr>
          <a:xfrm>
            <a:off x="548640" y="292608"/>
            <a:ext cx="9052560" cy="969264"/>
          </a:xfrm>
          <a:prstGeom prst="rect">
            <a:avLst/>
          </a:prstGeom>
          <a:noFill/>
          <a:ln/>
        </p:spPr>
        <p:txBody>
          <a:bodyPr wrap="square" lIns="63500" tIns="63500" rIns="63500" bIns="63500" rtlCol="0" anchor="ctr"/>
          <a:lstStyle/>
          <a:p>
            <a:pPr algn="l" indent="0" marL="0">
              <a:buNone/>
            </a:pPr>
            <a:r>
              <a:rPr lang="en-US" sz="2800" b="1" dirty="0">
                <a:solidFill>
                  <a:srgbClr val="3F6B4A"/>
                </a:solidFill>
                <a:latin typeface="Cambria" pitchFamily="34" charset="0"/>
                <a:ea typeface="Cambria" pitchFamily="34" charset="-122"/>
                <a:cs typeface="Cambria" pitchFamily="34" charset="-120"/>
              </a:rPr>
              <a:t>Worked example (3 of 4): Do earthquakes kill people?</a:t>
            </a:r>
            <a:endParaRPr lang="en-US" sz="2800" dirty="0"/>
          </a:p>
        </p:txBody>
      </p:sp>
      <p:sp>
        <p:nvSpPr>
          <p:cNvPr id="4" name="chip-hex"/>
          <p:cNvSpPr/>
          <p:nvPr/>
        </p:nvSpPr>
        <p:spPr>
          <a:xfrm>
            <a:off x="9677095" y="531760"/>
            <a:ext cx="566928" cy="490960"/>
          </a:xfrm>
          <a:prstGeom prst="hexagon">
            <a:avLst/>
          </a:prstGeom>
          <a:solidFill>
            <a:srgbClr val="B8862B"/>
          </a:solidFill>
          <a:ln/>
        </p:spPr>
      </p:sp>
      <p:sp>
        <p:nvSpPr>
          <p:cNvPr id="5" name="chip-hex-label"/>
          <p:cNvSpPr txBox="1"/>
          <p:nvPr/>
        </p:nvSpPr>
        <p:spPr>
          <a:xfrm>
            <a:off x="9677095" y="531760"/>
            <a:ext cx="566928" cy="490960"/>
          </a:xfrm>
          <a:prstGeom prst="rect">
            <a:avLst/>
          </a:prstGeom>
          <a:noFill/>
          <a:ln/>
        </p:spPr>
        <p:txBody>
          <a:bodyPr wrap="square" lIns="0" tIns="0" rIns="0" bIns="0" rtlCol="0" anchor="ctr"/>
          <a:lstStyle/>
          <a:p>
            <a:pPr algn="ctr" indent="0" marL="0">
              <a:buNone/>
            </a:pPr>
            <a:endParaRPr lang="en-US" sz="2000" dirty="0"/>
          </a:p>
        </p:txBody>
      </p:sp>
      <p:sp>
        <p:nvSpPr>
          <p:cNvPr id="6" name="chip-label"/>
          <p:cNvSpPr txBox="1"/>
          <p:nvPr/>
        </p:nvSpPr>
        <p:spPr>
          <a:xfrm>
            <a:off x="10317175" y="292608"/>
            <a:ext cx="1325880" cy="969264"/>
          </a:xfrm>
          <a:prstGeom prst="rect">
            <a:avLst/>
          </a:prstGeom>
          <a:noFill/>
          <a:ln/>
        </p:spPr>
        <p:txBody>
          <a:bodyPr wrap="square" lIns="63500" tIns="63500" rIns="63500" bIns="63500" rtlCol="0" anchor="ctr"/>
          <a:lstStyle/>
          <a:p>
            <a:pPr algn="l" indent="0" marL="0">
              <a:buNone/>
            </a:pPr>
            <a:r>
              <a:rPr lang="en-US" sz="1800" b="1" dirty="0">
                <a:solidFill>
                  <a:srgbClr val="8A6520"/>
                </a:solidFill>
                <a:latin typeface="Calibri" pitchFamily="34" charset="0"/>
                <a:ea typeface="Calibri" pitchFamily="34" charset="-122"/>
                <a:cs typeface="Calibri" pitchFamily="34" charset="-120"/>
              </a:rPr>
              <a:t>Teach</a:t>
            </a:r>
            <a:endParaRPr lang="en-US" sz="1800" dirty="0"/>
          </a:p>
        </p:txBody>
      </p:sp>
      <p:sp>
        <p:nvSpPr>
          <p:cNvPr id="7" name="wq-band"/>
          <p:cNvSpPr/>
          <p:nvPr/>
        </p:nvSpPr>
        <p:spPr>
          <a:xfrm>
            <a:off x="548640" y="1389888"/>
            <a:ext cx="11094415" cy="991616"/>
          </a:xfrm>
          <a:prstGeom prst="roundRect">
            <a:avLst>
              <a:gd name="adj" fmla="val 9221"/>
            </a:avLst>
          </a:prstGeom>
          <a:solidFill>
            <a:srgbClr val="EFF2F0"/>
          </a:solidFill>
          <a:ln/>
        </p:spPr>
      </p:sp>
      <p:sp>
        <p:nvSpPr>
          <p:cNvPr id="8" name="worked-q"/>
          <p:cNvSpPr txBox="1"/>
          <p:nvPr/>
        </p:nvSpPr>
        <p:spPr>
          <a:xfrm>
            <a:off x="731520" y="1481328"/>
            <a:ext cx="10728655" cy="808736"/>
          </a:xfrm>
          <a:prstGeom prst="rect">
            <a:avLst/>
          </a:prstGeom>
          <a:noFill/>
          <a:ln/>
        </p:spPr>
        <p:txBody>
          <a:bodyPr wrap="square" lIns="63500" tIns="63500" rIns="63500" bIns="63500" rtlCol="0" anchor="ctr"/>
          <a:lstStyle/>
          <a:p>
            <a:pPr algn="l" indent="0" marL="0">
              <a:buNone/>
            </a:pPr>
            <a:r>
              <a:rPr lang="en-US" sz="2200" b="1" dirty="0">
                <a:solidFill>
                  <a:srgbClr val="1E2229"/>
                </a:solidFill>
                <a:latin typeface="Calibri" pitchFamily="34" charset="0"/>
                <a:ea typeface="Calibri" pitchFamily="34" charset="-122"/>
                <a:cs typeface="Calibri" pitchFamily="34" charset="-120"/>
              </a:rPr>
              <a:t>Explain why an earthquake of the same magnitude can cause more deaths in one country than in another. (4 marks)</a:t>
            </a:r>
            <a:endParaRPr lang="en-US" sz="2200" dirty="0"/>
          </a:p>
        </p:txBody>
      </p:sp>
      <p:sp>
        <p:nvSpPr>
          <p:cNvPr id="9" name="step-box"/>
          <p:cNvSpPr/>
          <p:nvPr/>
        </p:nvSpPr>
        <p:spPr>
          <a:xfrm>
            <a:off x="548640" y="2655824"/>
            <a:ext cx="11094415" cy="1463040"/>
          </a:xfrm>
          <a:prstGeom prst="roundRect">
            <a:avLst>
              <a:gd name="adj" fmla="val 5000"/>
            </a:avLst>
          </a:prstGeom>
          <a:solidFill>
            <a:srgbClr val="FFFFFF"/>
          </a:solidFill>
          <a:ln w="15875">
            <a:solidFill>
              <a:srgbClr val="95AE9B"/>
            </a:solidFill>
            <a:prstDash val="solid"/>
          </a:ln>
        </p:spPr>
      </p:sp>
      <p:sp>
        <p:nvSpPr>
          <p:cNvPr id="10" name="step-hex"/>
          <p:cNvSpPr/>
          <p:nvPr/>
        </p:nvSpPr>
        <p:spPr>
          <a:xfrm>
            <a:off x="685800" y="2765552"/>
            <a:ext cx="530352" cy="459285"/>
          </a:xfrm>
          <a:prstGeom prst="hexagon">
            <a:avLst/>
          </a:prstGeom>
          <a:solidFill>
            <a:srgbClr val="3F6B4A"/>
          </a:solidFill>
          <a:ln/>
        </p:spPr>
      </p:sp>
      <p:sp>
        <p:nvSpPr>
          <p:cNvPr id="11" name="step-hex-label"/>
          <p:cNvSpPr txBox="1"/>
          <p:nvPr/>
        </p:nvSpPr>
        <p:spPr>
          <a:xfrm>
            <a:off x="685800" y="2765552"/>
            <a:ext cx="530352" cy="459285"/>
          </a:xfrm>
          <a:prstGeom prst="rect">
            <a:avLst/>
          </a:prstGeom>
          <a:noFill/>
          <a:ln/>
        </p:spPr>
        <p:txBody>
          <a:bodyPr wrap="square" lIns="0" tIns="0" rIns="0" bIns="0" rtlCol="0" anchor="ctr"/>
          <a:lstStyle/>
          <a:p>
            <a:pPr algn="ctr" indent="0" marL="0">
              <a:buNone/>
            </a:pPr>
            <a:r>
              <a:rPr lang="en-US" sz="2000" b="1" dirty="0">
                <a:solidFill>
                  <a:srgbClr val="FFFFFF"/>
                </a:solidFill>
                <a:latin typeface="Calibri" pitchFamily="34" charset="0"/>
                <a:ea typeface="Calibri" pitchFamily="34" charset="-122"/>
                <a:cs typeface="Calibri" pitchFamily="34" charset="-120"/>
              </a:rPr>
              <a:t>3</a:t>
            </a:r>
            <a:endParaRPr lang="en-US" sz="2000" dirty="0"/>
          </a:p>
        </p:txBody>
      </p:sp>
      <p:sp>
        <p:nvSpPr>
          <p:cNvPr id="12" name="step"/>
          <p:cNvSpPr txBox="1"/>
          <p:nvPr/>
        </p:nvSpPr>
        <p:spPr>
          <a:xfrm>
            <a:off x="685800" y="3250184"/>
            <a:ext cx="10820095" cy="777240"/>
          </a:xfrm>
          <a:prstGeom prst="rect">
            <a:avLst/>
          </a:prstGeom>
          <a:noFill/>
          <a:ln/>
        </p:spPr>
        <p:txBody>
          <a:bodyPr wrap="square" lIns="63500" tIns="63500" rIns="63500" bIns="63500" rtlCol="0" anchor="t"/>
          <a:lstStyle/>
          <a:p>
            <a:pPr algn="l" indent="0" marL="0">
              <a:buNone/>
            </a:pPr>
            <a:r>
              <a:rPr lang="en-US" sz="1800" dirty="0">
                <a:solidFill>
                  <a:srgbClr val="1E2229"/>
                </a:solidFill>
                <a:latin typeface="Calibri" pitchFamily="34" charset="0"/>
                <a:ea typeface="Calibri" pitchFamily="34" charset="-122"/>
                <a:cs typeface="Calibri" pitchFamily="34" charset="-120"/>
              </a:rPr>
              <a:t>Compare the response: richer countries have more rescue teams, hospitals and equipment, so help arrives faster.</a:t>
            </a:r>
            <a:endParaRPr lang="en-US" sz="1800" dirty="0"/>
          </a:p>
        </p:txBody>
      </p:sp>
      <p:sp>
        <p:nvSpPr>
          <p:cNvPr id="25" name="Slide Number Placeholder 0"/>
          <p:cNvSpPr>
            <a:spLocks noGrp="1"/>
          </p:cNvSpPr>
          <p:nvPr>
            <p:ph type="sldNum" sz="quarter" idx="4294967295"/>
          </p:nvPr>
        </p:nvSpPr>
        <p:spPr>
          <a:xfrm>
            <a:off x="11018520" y="6446520"/>
            <a:ext cx="640080" cy="365760"/>
          </a:xfrm>
          <a:prstGeom prst="rect">
            <a:avLst/>
          </a:prstGeom>
          <a:extLst>
            <a:ext uri="{C572A759-6A51-4108-AA02-DFA0A04FC94B}">
              <ma14:wrappingTextBoxFlag xmlns:ma14="http://schemas.microsoft.com/office/mac/drawingml/2011/main" val="0"/>
            </a:ext>
          </a:extLst>
        </p:spPr>
        <p:txBody>
          <a:bodyPr lIns="0" tIns="0" rIns="0" bIns="0" anchor="ctr"/>
          <a:lstStyle>
            <a:lvl1pPr>
              <a:defRPr sz="1000">
                <a:solidFill>
                  <a:srgbClr val="396043"/>
                </a:solidFill>
                <a:latin typeface="Calibri"/>
                <a:ea typeface="Calibri"/>
                <a:cs typeface="Calibri"/>
              </a:defRPr>
            </a:lvl1pPr>
          </a:lstStyle>
          <a:p>
            <a:pPr algn="r"/>
            <a:fld id="{F7021451-1387-4CA6-816F-3879F97B5CBC}" type="slidenum">
              <a:rPr b="0" lang="en-US"/>
              <a:t>12</a:t>
            </a:fld>
            <a:endParaRPr lang="en-US"/>
          </a:p>
        </p:txBody>
      </p: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name="Slide 13">
    <p:spTree>
      <p:nvGrpSpPr>
        <p:cNvPr id="1" name=""/>
        <p:cNvGrpSpPr/>
        <p:nvPr/>
      </p:nvGrpSpPr>
      <p:grpSpPr>
        <a:xfrm>
          <a:off x="0" y="0"/>
          <a:ext cx="0" cy="0"/>
          <a:chOff x="0" y="0"/>
          <a:chExt cx="0" cy="0"/>
        </a:xfrm>
      </p:grpSpPr>
      <p:sp>
        <p:nvSpPr>
          <p:cNvPr id="3" name="title"/>
          <p:cNvSpPr txBox="1"/>
          <p:nvPr/>
        </p:nvSpPr>
        <p:spPr>
          <a:xfrm>
            <a:off x="548640" y="292608"/>
            <a:ext cx="9052560" cy="969264"/>
          </a:xfrm>
          <a:prstGeom prst="rect">
            <a:avLst/>
          </a:prstGeom>
          <a:noFill/>
          <a:ln/>
        </p:spPr>
        <p:txBody>
          <a:bodyPr wrap="square" lIns="63500" tIns="63500" rIns="63500" bIns="63500" rtlCol="0" anchor="ctr"/>
          <a:lstStyle/>
          <a:p>
            <a:pPr algn="l" indent="0" marL="0">
              <a:buNone/>
            </a:pPr>
            <a:r>
              <a:rPr lang="en-US" sz="2600" b="1" dirty="0">
                <a:solidFill>
                  <a:srgbClr val="3F6B4A"/>
                </a:solidFill>
                <a:latin typeface="Cambria" pitchFamily="34" charset="0"/>
                <a:ea typeface="Cambria" pitchFamily="34" charset="-122"/>
                <a:cs typeface="Cambria" pitchFamily="34" charset="-120"/>
              </a:rPr>
              <a:t>Worked example (4 of 4): Do earthquakes kill people?</a:t>
            </a:r>
            <a:endParaRPr lang="en-US" sz="2600" dirty="0"/>
          </a:p>
        </p:txBody>
      </p:sp>
      <p:sp>
        <p:nvSpPr>
          <p:cNvPr id="4" name="chip-hex"/>
          <p:cNvSpPr/>
          <p:nvPr/>
        </p:nvSpPr>
        <p:spPr>
          <a:xfrm>
            <a:off x="9677095" y="531760"/>
            <a:ext cx="566928" cy="490960"/>
          </a:xfrm>
          <a:prstGeom prst="hexagon">
            <a:avLst/>
          </a:prstGeom>
          <a:solidFill>
            <a:srgbClr val="B8862B"/>
          </a:solidFill>
          <a:ln/>
        </p:spPr>
      </p:sp>
      <p:sp>
        <p:nvSpPr>
          <p:cNvPr id="5" name="chip-hex-label"/>
          <p:cNvSpPr txBox="1"/>
          <p:nvPr/>
        </p:nvSpPr>
        <p:spPr>
          <a:xfrm>
            <a:off x="9677095" y="531760"/>
            <a:ext cx="566928" cy="490960"/>
          </a:xfrm>
          <a:prstGeom prst="rect">
            <a:avLst/>
          </a:prstGeom>
          <a:noFill/>
          <a:ln/>
        </p:spPr>
        <p:txBody>
          <a:bodyPr wrap="square" lIns="0" tIns="0" rIns="0" bIns="0" rtlCol="0" anchor="ctr"/>
          <a:lstStyle/>
          <a:p>
            <a:pPr algn="ctr" indent="0" marL="0">
              <a:buNone/>
            </a:pPr>
            <a:endParaRPr lang="en-US" sz="2000" dirty="0"/>
          </a:p>
        </p:txBody>
      </p:sp>
      <p:sp>
        <p:nvSpPr>
          <p:cNvPr id="6" name="chip-label"/>
          <p:cNvSpPr txBox="1"/>
          <p:nvPr/>
        </p:nvSpPr>
        <p:spPr>
          <a:xfrm>
            <a:off x="10317175" y="292608"/>
            <a:ext cx="1325880" cy="969264"/>
          </a:xfrm>
          <a:prstGeom prst="rect">
            <a:avLst/>
          </a:prstGeom>
          <a:noFill/>
          <a:ln/>
        </p:spPr>
        <p:txBody>
          <a:bodyPr wrap="square" lIns="63500" tIns="63500" rIns="63500" bIns="63500" rtlCol="0" anchor="ctr"/>
          <a:lstStyle/>
          <a:p>
            <a:pPr algn="l" indent="0" marL="0">
              <a:buNone/>
            </a:pPr>
            <a:r>
              <a:rPr lang="en-US" sz="1800" b="1" dirty="0">
                <a:solidFill>
                  <a:srgbClr val="8A6520"/>
                </a:solidFill>
                <a:latin typeface="Calibri" pitchFamily="34" charset="0"/>
                <a:ea typeface="Calibri" pitchFamily="34" charset="-122"/>
                <a:cs typeface="Calibri" pitchFamily="34" charset="-120"/>
              </a:rPr>
              <a:t>Teach</a:t>
            </a:r>
            <a:endParaRPr lang="en-US" sz="1800" dirty="0"/>
          </a:p>
        </p:txBody>
      </p:sp>
      <p:sp>
        <p:nvSpPr>
          <p:cNvPr id="7" name="wq-band"/>
          <p:cNvSpPr/>
          <p:nvPr/>
        </p:nvSpPr>
        <p:spPr>
          <a:xfrm>
            <a:off x="548640" y="1389888"/>
            <a:ext cx="11094415" cy="991616"/>
          </a:xfrm>
          <a:prstGeom prst="roundRect">
            <a:avLst>
              <a:gd name="adj" fmla="val 9221"/>
            </a:avLst>
          </a:prstGeom>
          <a:solidFill>
            <a:srgbClr val="EFF2F0"/>
          </a:solidFill>
          <a:ln/>
        </p:spPr>
      </p:sp>
      <p:sp>
        <p:nvSpPr>
          <p:cNvPr id="8" name="worked-q"/>
          <p:cNvSpPr txBox="1"/>
          <p:nvPr/>
        </p:nvSpPr>
        <p:spPr>
          <a:xfrm>
            <a:off x="731520" y="1481328"/>
            <a:ext cx="10728655" cy="808736"/>
          </a:xfrm>
          <a:prstGeom prst="rect">
            <a:avLst/>
          </a:prstGeom>
          <a:noFill/>
          <a:ln/>
        </p:spPr>
        <p:txBody>
          <a:bodyPr wrap="square" lIns="63500" tIns="63500" rIns="63500" bIns="63500" rtlCol="0" anchor="ctr"/>
          <a:lstStyle/>
          <a:p>
            <a:pPr algn="l" indent="0" marL="0">
              <a:buNone/>
            </a:pPr>
            <a:r>
              <a:rPr lang="en-US" sz="2200" b="1" dirty="0">
                <a:solidFill>
                  <a:srgbClr val="1E2229"/>
                </a:solidFill>
                <a:latin typeface="Calibri" pitchFamily="34" charset="0"/>
                <a:ea typeface="Calibri" pitchFamily="34" charset="-122"/>
                <a:cs typeface="Calibri" pitchFamily="34" charset="-120"/>
              </a:rPr>
              <a:t>Explain why an earthquake of the same magnitude can cause more deaths in one country than in another. (4 marks)</a:t>
            </a:r>
            <a:endParaRPr lang="en-US" sz="2200" dirty="0"/>
          </a:p>
        </p:txBody>
      </p:sp>
      <p:sp>
        <p:nvSpPr>
          <p:cNvPr id="9" name="step-box"/>
          <p:cNvSpPr/>
          <p:nvPr/>
        </p:nvSpPr>
        <p:spPr>
          <a:xfrm>
            <a:off x="548640" y="2655824"/>
            <a:ext cx="11094415" cy="1463040"/>
          </a:xfrm>
          <a:prstGeom prst="roundRect">
            <a:avLst>
              <a:gd name="adj" fmla="val 5000"/>
            </a:avLst>
          </a:prstGeom>
          <a:solidFill>
            <a:srgbClr val="FFFFFF"/>
          </a:solidFill>
          <a:ln w="15875">
            <a:solidFill>
              <a:srgbClr val="95AE9B"/>
            </a:solidFill>
            <a:prstDash val="solid"/>
          </a:ln>
        </p:spPr>
      </p:sp>
      <p:sp>
        <p:nvSpPr>
          <p:cNvPr id="10" name="step-hex"/>
          <p:cNvSpPr/>
          <p:nvPr/>
        </p:nvSpPr>
        <p:spPr>
          <a:xfrm>
            <a:off x="685800" y="2765552"/>
            <a:ext cx="530352" cy="459285"/>
          </a:xfrm>
          <a:prstGeom prst="hexagon">
            <a:avLst/>
          </a:prstGeom>
          <a:solidFill>
            <a:srgbClr val="3F6B4A"/>
          </a:solidFill>
          <a:ln/>
        </p:spPr>
      </p:sp>
      <p:sp>
        <p:nvSpPr>
          <p:cNvPr id="11" name="step-hex-label"/>
          <p:cNvSpPr txBox="1"/>
          <p:nvPr/>
        </p:nvSpPr>
        <p:spPr>
          <a:xfrm>
            <a:off x="685800" y="2765552"/>
            <a:ext cx="530352" cy="459285"/>
          </a:xfrm>
          <a:prstGeom prst="rect">
            <a:avLst/>
          </a:prstGeom>
          <a:noFill/>
          <a:ln/>
        </p:spPr>
        <p:txBody>
          <a:bodyPr wrap="square" lIns="0" tIns="0" rIns="0" bIns="0" rtlCol="0" anchor="ctr"/>
          <a:lstStyle/>
          <a:p>
            <a:pPr algn="ctr" indent="0" marL="0">
              <a:buNone/>
            </a:pPr>
            <a:r>
              <a:rPr lang="en-US" sz="2000" b="1" dirty="0">
                <a:solidFill>
                  <a:srgbClr val="FFFFFF"/>
                </a:solidFill>
                <a:latin typeface="Calibri" pitchFamily="34" charset="0"/>
                <a:ea typeface="Calibri" pitchFamily="34" charset="-122"/>
                <a:cs typeface="Calibri" pitchFamily="34" charset="-120"/>
              </a:rPr>
              <a:t>4</a:t>
            </a:r>
            <a:endParaRPr lang="en-US" sz="2000" dirty="0"/>
          </a:p>
        </p:txBody>
      </p:sp>
      <p:sp>
        <p:nvSpPr>
          <p:cNvPr id="12" name="step"/>
          <p:cNvSpPr txBox="1"/>
          <p:nvPr/>
        </p:nvSpPr>
        <p:spPr>
          <a:xfrm>
            <a:off x="685800" y="3250184"/>
            <a:ext cx="10820095" cy="777240"/>
          </a:xfrm>
          <a:prstGeom prst="rect">
            <a:avLst/>
          </a:prstGeom>
          <a:noFill/>
          <a:ln/>
        </p:spPr>
        <p:txBody>
          <a:bodyPr wrap="square" lIns="63500" tIns="63500" rIns="63500" bIns="63500" rtlCol="0" anchor="t"/>
          <a:lstStyle/>
          <a:p>
            <a:pPr algn="l" indent="0" marL="0">
              <a:buNone/>
            </a:pPr>
            <a:r>
              <a:rPr lang="en-US" sz="1800" dirty="0">
                <a:solidFill>
                  <a:srgbClr val="1E2229"/>
                </a:solidFill>
                <a:latin typeface="Calibri" pitchFamily="34" charset="0"/>
                <a:ea typeface="Calibri" pitchFamily="34" charset="-122"/>
                <a:cs typeface="Calibri" pitchFamily="34" charset="-120"/>
              </a:rPr>
              <a:t>Finish with a link: so a poorer country suffers more deaths from the same shaking.</a:t>
            </a:r>
            <a:endParaRPr lang="en-US" sz="1800" dirty="0"/>
          </a:p>
        </p:txBody>
      </p:sp>
      <p:sp>
        <p:nvSpPr>
          <p:cNvPr id="13" name="worked-answer"/>
          <p:cNvSpPr/>
          <p:nvPr/>
        </p:nvSpPr>
        <p:spPr>
          <a:xfrm>
            <a:off x="1463040" y="4477004"/>
            <a:ext cx="9265615" cy="1667764"/>
          </a:xfrm>
          <a:prstGeom prst="roundRect">
            <a:avLst>
              <a:gd name="adj" fmla="val 10966"/>
            </a:avLst>
          </a:prstGeom>
          <a:solidFill>
            <a:srgbClr val="EEE3CD"/>
          </a:solidFill>
          <a:ln w="19050">
            <a:solidFill>
              <a:srgbClr val="B8862B"/>
            </a:solidFill>
          </a:ln>
        </p:spPr>
        <p:txBody>
          <a:bodyPr wrap="square" lIns="63500" tIns="63500" rIns="63500" bIns="63500" rtlCol="0" anchor="ctr"/>
          <a:lstStyle/>
          <a:p>
            <a:pPr algn="ctr" indent="0" marL="0">
              <a:buNone/>
            </a:pPr>
            <a:r>
              <a:rPr lang="en-US" sz="1800" b="1" dirty="0">
                <a:solidFill>
                  <a:srgbClr val="815E1E"/>
                </a:solidFill>
                <a:latin typeface="Calibri" pitchFamily="34" charset="0"/>
                <a:ea typeface="Calibri" pitchFamily="34" charset="-122"/>
                <a:cs typeface="Calibri" pitchFamily="34" charset="-120"/>
              </a:rPr>
              <a:t>Answer  </a:t>
            </a:r>
            <a:pPr algn="ctr" indent="0" marL="0">
              <a:buNone/>
            </a:pPr>
            <a:r>
              <a:rPr lang="en-US" sz="1800" b="1" dirty="0">
                <a:solidFill>
                  <a:srgbClr val="1E2229"/>
                </a:solidFill>
                <a:latin typeface="Calibri" pitchFamily="34" charset="0"/>
                <a:ea typeface="Calibri" pitchFamily="34" charset="-122"/>
                <a:cs typeface="Calibri" pitchFamily="34" charset="-120"/>
              </a:rPr>
              <a:t>The shaking itself does not kill people; collapsing buildings, landslides and fires do. A richer country can afford buildings designed to withstand shaking, so fewer collapse. It also has more rescue teams, hospitals and equipment, so trapped people are found and treated faster. In a poorer country buildings are weaker and help is slower to arrive, so the same magnitude of earthquake causes far more deaths.</a:t>
            </a:r>
            <a:endParaRPr lang="en-US" sz="1800" dirty="0"/>
          </a:p>
        </p:txBody>
      </p:sp>
      <p:sp>
        <p:nvSpPr>
          <p:cNvPr id="25" name="Slide Number Placeholder 0"/>
          <p:cNvSpPr>
            <a:spLocks noGrp="1"/>
          </p:cNvSpPr>
          <p:nvPr>
            <p:ph type="sldNum" sz="quarter" idx="4294967295"/>
          </p:nvPr>
        </p:nvSpPr>
        <p:spPr>
          <a:xfrm>
            <a:off x="11018520" y="6446520"/>
            <a:ext cx="640080" cy="365760"/>
          </a:xfrm>
          <a:prstGeom prst="rect">
            <a:avLst/>
          </a:prstGeom>
          <a:extLst>
            <a:ext uri="{C572A759-6A51-4108-AA02-DFA0A04FC94B}">
              <ma14:wrappingTextBoxFlag xmlns:ma14="http://schemas.microsoft.com/office/mac/drawingml/2011/main" val="0"/>
            </a:ext>
          </a:extLst>
        </p:spPr>
        <p:txBody>
          <a:bodyPr lIns="0" tIns="0" rIns="0" bIns="0" anchor="ctr"/>
          <a:lstStyle>
            <a:lvl1pPr>
              <a:defRPr sz="1000">
                <a:solidFill>
                  <a:srgbClr val="396043"/>
                </a:solidFill>
                <a:latin typeface="Calibri"/>
                <a:ea typeface="Calibri"/>
                <a:cs typeface="Calibri"/>
              </a:defRPr>
            </a:lvl1pPr>
          </a:lstStyle>
          <a:p>
            <a:pPr algn="r"/>
            <a:fld id="{F7021451-1387-4CA6-816F-3879F97B5CBC}" type="slidenum">
              <a:rPr b="0" lang="en-US"/>
              <a:t>13</a:t>
            </a:fld>
            <a:endParaRPr lang="en-US"/>
          </a:p>
        </p:txBody>
      </p:sp>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name="Slide 14">
    <p:spTree>
      <p:nvGrpSpPr>
        <p:cNvPr id="1" name=""/>
        <p:cNvGrpSpPr/>
        <p:nvPr/>
      </p:nvGrpSpPr>
      <p:grpSpPr>
        <a:xfrm>
          <a:off x="0" y="0"/>
          <a:ext cx="0" cy="0"/>
          <a:chOff x="0" y="0"/>
          <a:chExt cx="0" cy="0"/>
        </a:xfrm>
      </p:grpSpPr>
      <p:sp>
        <p:nvSpPr>
          <p:cNvPr id="3" name="title"/>
          <p:cNvSpPr txBox="1"/>
          <p:nvPr/>
        </p:nvSpPr>
        <p:spPr>
          <a:xfrm>
            <a:off x="548640" y="292608"/>
            <a:ext cx="9052560" cy="969264"/>
          </a:xfrm>
          <a:prstGeom prst="rect">
            <a:avLst/>
          </a:prstGeom>
          <a:noFill/>
          <a:ln/>
        </p:spPr>
        <p:txBody>
          <a:bodyPr wrap="square" lIns="63500" tIns="63500" rIns="63500" bIns="63500" rtlCol="0" anchor="ctr"/>
          <a:lstStyle/>
          <a:p>
            <a:pPr algn="l" indent="0" marL="0">
              <a:buNone/>
            </a:pPr>
            <a:r>
              <a:rPr lang="en-US" sz="3200" b="1" dirty="0">
                <a:solidFill>
                  <a:srgbClr val="3F6B4A"/>
                </a:solidFill>
                <a:latin typeface="Cambria" pitchFamily="34" charset="0"/>
                <a:ea typeface="Cambria" pitchFamily="34" charset="-122"/>
                <a:cs typeface="Cambria" pitchFamily="34" charset="-120"/>
              </a:rPr>
              <a:t>Living in the shadow of a volcano</a:t>
            </a:r>
            <a:endParaRPr lang="en-US" sz="3200" dirty="0"/>
          </a:p>
        </p:txBody>
      </p:sp>
      <p:sp>
        <p:nvSpPr>
          <p:cNvPr id="4" name="chip-hex"/>
          <p:cNvSpPr/>
          <p:nvPr/>
        </p:nvSpPr>
        <p:spPr>
          <a:xfrm>
            <a:off x="9677095" y="531760"/>
            <a:ext cx="566928" cy="490960"/>
          </a:xfrm>
          <a:prstGeom prst="hexagon">
            <a:avLst/>
          </a:prstGeom>
          <a:solidFill>
            <a:srgbClr val="B8862B"/>
          </a:solidFill>
          <a:ln/>
        </p:spPr>
      </p:sp>
      <p:sp>
        <p:nvSpPr>
          <p:cNvPr id="5" name="chip-hex-label"/>
          <p:cNvSpPr txBox="1"/>
          <p:nvPr/>
        </p:nvSpPr>
        <p:spPr>
          <a:xfrm>
            <a:off x="9677095" y="531760"/>
            <a:ext cx="566928" cy="490960"/>
          </a:xfrm>
          <a:prstGeom prst="rect">
            <a:avLst/>
          </a:prstGeom>
          <a:noFill/>
          <a:ln/>
        </p:spPr>
        <p:txBody>
          <a:bodyPr wrap="square" lIns="0" tIns="0" rIns="0" bIns="0" rtlCol="0" anchor="ctr"/>
          <a:lstStyle/>
          <a:p>
            <a:pPr algn="ctr" indent="0" marL="0">
              <a:buNone/>
            </a:pPr>
            <a:endParaRPr lang="en-US" sz="2000" dirty="0"/>
          </a:p>
        </p:txBody>
      </p:sp>
      <p:sp>
        <p:nvSpPr>
          <p:cNvPr id="6" name="chip-label"/>
          <p:cNvSpPr txBox="1"/>
          <p:nvPr/>
        </p:nvSpPr>
        <p:spPr>
          <a:xfrm>
            <a:off x="10317175" y="292608"/>
            <a:ext cx="1325880" cy="969264"/>
          </a:xfrm>
          <a:prstGeom prst="rect">
            <a:avLst/>
          </a:prstGeom>
          <a:noFill/>
          <a:ln/>
        </p:spPr>
        <p:txBody>
          <a:bodyPr wrap="square" lIns="63500" tIns="63500" rIns="63500" bIns="63500" rtlCol="0" anchor="ctr"/>
          <a:lstStyle/>
          <a:p>
            <a:pPr algn="l" indent="0" marL="0">
              <a:buNone/>
            </a:pPr>
            <a:r>
              <a:rPr lang="en-US" sz="1800" b="1" dirty="0">
                <a:solidFill>
                  <a:srgbClr val="8A6520"/>
                </a:solidFill>
                <a:latin typeface="Calibri" pitchFamily="34" charset="0"/>
                <a:ea typeface="Calibri" pitchFamily="34" charset="-122"/>
                <a:cs typeface="Calibri" pitchFamily="34" charset="-120"/>
              </a:rPr>
              <a:t>Teach</a:t>
            </a:r>
            <a:endParaRPr lang="en-US" sz="1800" dirty="0"/>
          </a:p>
        </p:txBody>
      </p:sp>
      <p:sp>
        <p:nvSpPr>
          <p:cNvPr id="7" name="tip-box"/>
          <p:cNvSpPr/>
          <p:nvPr/>
        </p:nvSpPr>
        <p:spPr>
          <a:xfrm>
            <a:off x="548640" y="5629148"/>
            <a:ext cx="11094415" cy="515620"/>
          </a:xfrm>
          <a:prstGeom prst="roundRect">
            <a:avLst>
              <a:gd name="adj" fmla="val 26601"/>
            </a:avLst>
          </a:prstGeom>
          <a:solidFill>
            <a:srgbClr val="F5EFE2"/>
          </a:solidFill>
          <a:ln w="15875">
            <a:solidFill>
              <a:srgbClr val="B8862B"/>
            </a:solidFill>
            <a:prstDash val="solid"/>
          </a:ln>
        </p:spPr>
      </p:sp>
      <p:sp>
        <p:nvSpPr>
          <p:cNvPr id="8" name="tip-hex"/>
          <p:cNvSpPr/>
          <p:nvPr/>
        </p:nvSpPr>
        <p:spPr>
          <a:xfrm>
            <a:off x="685800" y="5688990"/>
            <a:ext cx="457200" cy="395935"/>
          </a:xfrm>
          <a:prstGeom prst="hexagon">
            <a:avLst/>
          </a:prstGeom>
          <a:solidFill>
            <a:srgbClr val="B8862B"/>
          </a:solidFill>
          <a:ln/>
        </p:spPr>
      </p:sp>
      <p:sp>
        <p:nvSpPr>
          <p:cNvPr id="9" name="tip-hex-label"/>
          <p:cNvSpPr txBox="1"/>
          <p:nvPr/>
        </p:nvSpPr>
        <p:spPr>
          <a:xfrm>
            <a:off x="685800" y="5688990"/>
            <a:ext cx="457200" cy="395935"/>
          </a:xfrm>
          <a:prstGeom prst="rect">
            <a:avLst/>
          </a:prstGeom>
          <a:noFill/>
          <a:ln/>
        </p:spPr>
        <p:txBody>
          <a:bodyPr wrap="square" lIns="0" tIns="0" rIns="0" bIns="0" rtlCol="0" anchor="ctr"/>
          <a:lstStyle/>
          <a:p>
            <a:pPr algn="ctr" indent="0" marL="0">
              <a:buNone/>
            </a:pPr>
            <a:r>
              <a:rPr lang="en-US" sz="2000" b="1" dirty="0">
                <a:solidFill>
                  <a:srgbClr val="FFFFFF"/>
                </a:solidFill>
                <a:latin typeface="Calibri" pitchFamily="34" charset="0"/>
                <a:ea typeface="Calibri" pitchFamily="34" charset="-122"/>
                <a:cs typeface="Calibri" pitchFamily="34" charset="-120"/>
              </a:rPr>
              <a:t>!</a:t>
            </a:r>
            <a:endParaRPr lang="en-US" sz="2000" dirty="0"/>
          </a:p>
        </p:txBody>
      </p:sp>
      <p:sp>
        <p:nvSpPr>
          <p:cNvPr id="10" name="tip"/>
          <p:cNvSpPr txBox="1"/>
          <p:nvPr/>
        </p:nvSpPr>
        <p:spPr>
          <a:xfrm>
            <a:off x="1280160" y="5684012"/>
            <a:ext cx="10225735" cy="405892"/>
          </a:xfrm>
          <a:prstGeom prst="rect">
            <a:avLst/>
          </a:prstGeom>
          <a:noFill/>
          <a:ln/>
        </p:spPr>
        <p:txBody>
          <a:bodyPr wrap="square" lIns="63500" tIns="63500" rIns="63500" bIns="63500" rtlCol="0" anchor="ctr"/>
          <a:lstStyle/>
          <a:p>
            <a:pPr algn="l" indent="0" marL="0">
              <a:buNone/>
            </a:pPr>
            <a:r>
              <a:rPr lang="en-US" sz="1800" b="1" dirty="0">
                <a:solidFill>
                  <a:srgbClr val="815E1E"/>
                </a:solidFill>
                <a:latin typeface="Calibri" pitchFamily="34" charset="0"/>
                <a:ea typeface="Calibri" pitchFamily="34" charset="-122"/>
                <a:cs typeface="Calibri" pitchFamily="34" charset="-120"/>
              </a:rPr>
              <a:t>Tip  </a:t>
            </a:r>
            <a:pPr algn="l" indent="0" marL="0">
              <a:buNone/>
            </a:pPr>
            <a:r>
              <a:rPr lang="en-US" sz="1800" dirty="0">
                <a:solidFill>
                  <a:srgbClr val="1E2229"/>
                </a:solidFill>
                <a:latin typeface="Calibri" pitchFamily="34" charset="0"/>
                <a:ea typeface="Calibri" pitchFamily="34" charset="-122"/>
                <a:cs typeface="Calibri" pitchFamily="34" charset="-120"/>
              </a:rPr>
              <a:t>Four benefits, remember SEBT: Soil, Energy, Building materials, Tourism.</a:t>
            </a:r>
            <a:endParaRPr lang="en-US" sz="1800" dirty="0"/>
          </a:p>
        </p:txBody>
      </p:sp>
      <p:sp>
        <p:nvSpPr>
          <p:cNvPr id="11" name="point-card"/>
          <p:cNvSpPr/>
          <p:nvPr/>
        </p:nvSpPr>
        <p:spPr>
          <a:xfrm>
            <a:off x="548640" y="1389888"/>
            <a:ext cx="3515258" cy="3964940"/>
          </a:xfrm>
          <a:prstGeom prst="roundRect">
            <a:avLst>
              <a:gd name="adj" fmla="val 1561"/>
            </a:avLst>
          </a:prstGeom>
          <a:solidFill>
            <a:srgbClr val="EFF2F0"/>
          </a:solidFill>
          <a:ln/>
        </p:spPr>
      </p:sp>
      <p:sp>
        <p:nvSpPr>
          <p:cNvPr id="12" name="point-hex"/>
          <p:cNvSpPr/>
          <p:nvPr/>
        </p:nvSpPr>
        <p:spPr>
          <a:xfrm>
            <a:off x="731520" y="1572768"/>
            <a:ext cx="685800" cy="593903"/>
          </a:xfrm>
          <a:prstGeom prst="hexagon">
            <a:avLst/>
          </a:prstGeom>
          <a:solidFill>
            <a:srgbClr val="3F6B4A"/>
          </a:solidFill>
          <a:ln/>
        </p:spPr>
      </p:sp>
      <p:sp>
        <p:nvSpPr>
          <p:cNvPr id="13" name="point-hex-label"/>
          <p:cNvSpPr txBox="1"/>
          <p:nvPr/>
        </p:nvSpPr>
        <p:spPr>
          <a:xfrm>
            <a:off x="731520" y="1572768"/>
            <a:ext cx="685800" cy="593903"/>
          </a:xfrm>
          <a:prstGeom prst="rect">
            <a:avLst/>
          </a:prstGeom>
          <a:noFill/>
          <a:ln/>
        </p:spPr>
        <p:txBody>
          <a:bodyPr wrap="square" lIns="0" tIns="0" rIns="0" bIns="0" rtlCol="0" anchor="ctr"/>
          <a:lstStyle/>
          <a:p>
            <a:pPr algn="ctr" indent="0" marL="0">
              <a:buNone/>
            </a:pPr>
            <a:r>
              <a:rPr lang="en-US" sz="2400" b="1" dirty="0">
                <a:solidFill>
                  <a:srgbClr val="FFFFFF"/>
                </a:solidFill>
                <a:latin typeface="Cambria" pitchFamily="34" charset="0"/>
                <a:ea typeface="Cambria" pitchFamily="34" charset="-122"/>
                <a:cs typeface="Cambria" pitchFamily="34" charset="-120"/>
              </a:rPr>
              <a:t>1</a:t>
            </a:r>
            <a:endParaRPr lang="en-US" sz="2400" dirty="0"/>
          </a:p>
        </p:txBody>
      </p:sp>
      <p:sp>
        <p:nvSpPr>
          <p:cNvPr id="14" name="point"/>
          <p:cNvSpPr txBox="1"/>
          <p:nvPr/>
        </p:nvSpPr>
        <p:spPr>
          <a:xfrm>
            <a:off x="731520" y="2350008"/>
            <a:ext cx="3149498" cy="2867660"/>
          </a:xfrm>
          <a:prstGeom prst="rect">
            <a:avLst/>
          </a:prstGeom>
          <a:noFill/>
          <a:ln/>
        </p:spPr>
        <p:txBody>
          <a:bodyPr wrap="square" lIns="63500" tIns="63500" rIns="63500" bIns="63500" rtlCol="0" anchor="t"/>
          <a:lstStyle/>
          <a:p>
            <a:pPr algn="l" indent="0" marL="0">
              <a:buNone/>
            </a:pPr>
            <a:r>
              <a:rPr lang="en-US" sz="2400" dirty="0">
                <a:solidFill>
                  <a:srgbClr val="1E2229"/>
                </a:solidFill>
                <a:latin typeface="Calibri" pitchFamily="34" charset="0"/>
                <a:ea typeface="Calibri" pitchFamily="34" charset="-122"/>
                <a:cs typeface="Calibri" pitchFamily="34" charset="-120"/>
              </a:rPr>
              <a:t>Volcanoes can destroy towns, yet millions of people live beside them.</a:t>
            </a:r>
            <a:endParaRPr lang="en-US" sz="2400" dirty="0"/>
          </a:p>
        </p:txBody>
      </p:sp>
      <p:sp>
        <p:nvSpPr>
          <p:cNvPr id="15" name="point-card"/>
          <p:cNvSpPr/>
          <p:nvPr/>
        </p:nvSpPr>
        <p:spPr>
          <a:xfrm>
            <a:off x="4338218" y="1389888"/>
            <a:ext cx="3515258" cy="3964940"/>
          </a:xfrm>
          <a:prstGeom prst="roundRect">
            <a:avLst>
              <a:gd name="adj" fmla="val 1561"/>
            </a:avLst>
          </a:prstGeom>
          <a:solidFill>
            <a:srgbClr val="F8F2E9"/>
          </a:solidFill>
          <a:ln/>
        </p:spPr>
      </p:sp>
      <p:sp>
        <p:nvSpPr>
          <p:cNvPr id="16" name="point-hex"/>
          <p:cNvSpPr/>
          <p:nvPr/>
        </p:nvSpPr>
        <p:spPr>
          <a:xfrm>
            <a:off x="4521098" y="1572768"/>
            <a:ext cx="685800" cy="593903"/>
          </a:xfrm>
          <a:prstGeom prst="hexagon">
            <a:avLst/>
          </a:prstGeom>
          <a:solidFill>
            <a:srgbClr val="B8862B"/>
          </a:solidFill>
          <a:ln/>
        </p:spPr>
      </p:sp>
      <p:sp>
        <p:nvSpPr>
          <p:cNvPr id="17" name="point-hex-label"/>
          <p:cNvSpPr txBox="1"/>
          <p:nvPr/>
        </p:nvSpPr>
        <p:spPr>
          <a:xfrm>
            <a:off x="4521098" y="1572768"/>
            <a:ext cx="685800" cy="593903"/>
          </a:xfrm>
          <a:prstGeom prst="rect">
            <a:avLst/>
          </a:prstGeom>
          <a:noFill/>
          <a:ln/>
        </p:spPr>
        <p:txBody>
          <a:bodyPr wrap="square" lIns="0" tIns="0" rIns="0" bIns="0" rtlCol="0" anchor="ctr"/>
          <a:lstStyle/>
          <a:p>
            <a:pPr algn="ctr" indent="0" marL="0">
              <a:buNone/>
            </a:pPr>
            <a:r>
              <a:rPr lang="en-US" sz="2400" b="1" dirty="0">
                <a:solidFill>
                  <a:srgbClr val="FFFFFF"/>
                </a:solidFill>
                <a:latin typeface="Cambria" pitchFamily="34" charset="0"/>
                <a:ea typeface="Cambria" pitchFamily="34" charset="-122"/>
                <a:cs typeface="Cambria" pitchFamily="34" charset="-120"/>
              </a:rPr>
              <a:t>2</a:t>
            </a:r>
            <a:endParaRPr lang="en-US" sz="2400" dirty="0"/>
          </a:p>
        </p:txBody>
      </p:sp>
      <p:sp>
        <p:nvSpPr>
          <p:cNvPr id="18" name="point"/>
          <p:cNvSpPr txBox="1"/>
          <p:nvPr/>
        </p:nvSpPr>
        <p:spPr>
          <a:xfrm>
            <a:off x="4521098" y="2350008"/>
            <a:ext cx="3149498" cy="2867660"/>
          </a:xfrm>
          <a:prstGeom prst="rect">
            <a:avLst/>
          </a:prstGeom>
          <a:noFill/>
          <a:ln/>
        </p:spPr>
        <p:txBody>
          <a:bodyPr wrap="square" lIns="63500" tIns="63500" rIns="63500" bIns="63500" rtlCol="0" anchor="t"/>
          <a:lstStyle/>
          <a:p>
            <a:pPr algn="l" indent="0" marL="0">
              <a:buNone/>
            </a:pPr>
            <a:r>
              <a:rPr lang="en-US" sz="2400" dirty="0">
                <a:solidFill>
                  <a:srgbClr val="1E2229"/>
                </a:solidFill>
                <a:latin typeface="Calibri" pitchFamily="34" charset="0"/>
                <a:ea typeface="Calibri" pitchFamily="34" charset="-122"/>
                <a:cs typeface="Calibri" pitchFamily="34" charset="-120"/>
              </a:rPr>
              <a:t>There are four main ones. Fertile soil: volcanic ash is full of minerals, so crops grow well.</a:t>
            </a:r>
            <a:endParaRPr lang="en-US" sz="2400" dirty="0"/>
          </a:p>
        </p:txBody>
      </p:sp>
      <p:sp>
        <p:nvSpPr>
          <p:cNvPr id="19" name="point-card"/>
          <p:cNvSpPr/>
          <p:nvPr/>
        </p:nvSpPr>
        <p:spPr>
          <a:xfrm>
            <a:off x="8127797" y="1389888"/>
            <a:ext cx="3515258" cy="3964940"/>
          </a:xfrm>
          <a:prstGeom prst="roundRect">
            <a:avLst>
              <a:gd name="adj" fmla="val 1561"/>
            </a:avLst>
          </a:prstGeom>
          <a:solidFill>
            <a:srgbClr val="EFF2F0"/>
          </a:solidFill>
          <a:ln/>
        </p:spPr>
      </p:sp>
      <p:sp>
        <p:nvSpPr>
          <p:cNvPr id="20" name="point-hex"/>
          <p:cNvSpPr/>
          <p:nvPr/>
        </p:nvSpPr>
        <p:spPr>
          <a:xfrm>
            <a:off x="8310677" y="1572768"/>
            <a:ext cx="685800" cy="593903"/>
          </a:xfrm>
          <a:prstGeom prst="hexagon">
            <a:avLst/>
          </a:prstGeom>
          <a:solidFill>
            <a:srgbClr val="3F6B4A"/>
          </a:solidFill>
          <a:ln/>
        </p:spPr>
      </p:sp>
      <p:sp>
        <p:nvSpPr>
          <p:cNvPr id="21" name="point-hex-label"/>
          <p:cNvSpPr txBox="1"/>
          <p:nvPr/>
        </p:nvSpPr>
        <p:spPr>
          <a:xfrm>
            <a:off x="8310677" y="1572768"/>
            <a:ext cx="685800" cy="593903"/>
          </a:xfrm>
          <a:prstGeom prst="rect">
            <a:avLst/>
          </a:prstGeom>
          <a:noFill/>
          <a:ln/>
        </p:spPr>
        <p:txBody>
          <a:bodyPr wrap="square" lIns="0" tIns="0" rIns="0" bIns="0" rtlCol="0" anchor="ctr"/>
          <a:lstStyle/>
          <a:p>
            <a:pPr algn="ctr" indent="0" marL="0">
              <a:buNone/>
            </a:pPr>
            <a:r>
              <a:rPr lang="en-US" sz="2400" b="1" dirty="0">
                <a:solidFill>
                  <a:srgbClr val="FFFFFF"/>
                </a:solidFill>
                <a:latin typeface="Cambria" pitchFamily="34" charset="0"/>
                <a:ea typeface="Cambria" pitchFamily="34" charset="-122"/>
                <a:cs typeface="Cambria" pitchFamily="34" charset="-120"/>
              </a:rPr>
              <a:t>3</a:t>
            </a:r>
            <a:endParaRPr lang="en-US" sz="2400" dirty="0"/>
          </a:p>
        </p:txBody>
      </p:sp>
      <p:sp>
        <p:nvSpPr>
          <p:cNvPr id="22" name="point"/>
          <p:cNvSpPr txBox="1"/>
          <p:nvPr/>
        </p:nvSpPr>
        <p:spPr>
          <a:xfrm>
            <a:off x="8310677" y="2350008"/>
            <a:ext cx="3149498" cy="2867660"/>
          </a:xfrm>
          <a:prstGeom prst="rect">
            <a:avLst/>
          </a:prstGeom>
          <a:noFill/>
          <a:ln/>
        </p:spPr>
        <p:txBody>
          <a:bodyPr wrap="square" lIns="63500" tIns="63500" rIns="63500" bIns="63500" rtlCol="0" anchor="t"/>
          <a:lstStyle/>
          <a:p>
            <a:pPr algn="l" indent="0" marL="0">
              <a:buNone/>
            </a:pPr>
            <a:r>
              <a:rPr lang="en-US" sz="2400" dirty="0">
                <a:solidFill>
                  <a:srgbClr val="1E2229"/>
                </a:solidFill>
                <a:latin typeface="Calibri" pitchFamily="34" charset="0"/>
                <a:ea typeface="Calibri" pitchFamily="34" charset="-122"/>
                <a:cs typeface="Calibri" pitchFamily="34" charset="-120"/>
              </a:rPr>
              <a:t>For many families, these benefits every day outweigh a danger that may come once in a lifetime, or never.</a:t>
            </a:r>
            <a:endParaRPr lang="en-US" sz="2400" dirty="0"/>
          </a:p>
        </p:txBody>
      </p:sp>
      <p:sp>
        <p:nvSpPr>
          <p:cNvPr id="25" name="Slide Number Placeholder 0"/>
          <p:cNvSpPr>
            <a:spLocks noGrp="1"/>
          </p:cNvSpPr>
          <p:nvPr>
            <p:ph type="sldNum" sz="quarter" idx="4294967295"/>
          </p:nvPr>
        </p:nvSpPr>
        <p:spPr>
          <a:xfrm>
            <a:off x="11018520" y="6446520"/>
            <a:ext cx="640080" cy="365760"/>
          </a:xfrm>
          <a:prstGeom prst="rect">
            <a:avLst/>
          </a:prstGeom>
          <a:extLst>
            <a:ext uri="{C572A759-6A51-4108-AA02-DFA0A04FC94B}">
              <ma14:wrappingTextBoxFlag xmlns:ma14="http://schemas.microsoft.com/office/mac/drawingml/2011/main" val="0"/>
            </a:ext>
          </a:extLst>
        </p:spPr>
        <p:txBody>
          <a:bodyPr lIns="0" tIns="0" rIns="0" bIns="0" anchor="ctr"/>
          <a:lstStyle>
            <a:lvl1pPr>
              <a:defRPr sz="1000">
                <a:solidFill>
                  <a:srgbClr val="396043"/>
                </a:solidFill>
                <a:latin typeface="Calibri"/>
                <a:ea typeface="Calibri"/>
                <a:cs typeface="Calibri"/>
              </a:defRPr>
            </a:lvl1pPr>
          </a:lstStyle>
          <a:p>
            <a:pPr algn="r"/>
            <a:fld id="{F7021451-1387-4CA6-816F-3879F97B5CBC}" type="slidenum">
              <a:rPr b="0" lang="en-US"/>
              <a:t>14</a:t>
            </a:fld>
            <a:endParaRPr lang="en-US"/>
          </a:p>
        </p:txBody>
      </p:sp>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name="Slide 15">
    <p:spTree>
      <p:nvGrpSpPr>
        <p:cNvPr id="1" name=""/>
        <p:cNvGrpSpPr/>
        <p:nvPr/>
      </p:nvGrpSpPr>
      <p:grpSpPr>
        <a:xfrm>
          <a:off x="0" y="0"/>
          <a:ext cx="0" cy="0"/>
          <a:chOff x="0" y="0"/>
          <a:chExt cx="0" cy="0"/>
        </a:xfrm>
      </p:grpSpPr>
      <p:sp>
        <p:nvSpPr>
          <p:cNvPr id="3" name="title"/>
          <p:cNvSpPr txBox="1"/>
          <p:nvPr/>
        </p:nvSpPr>
        <p:spPr>
          <a:xfrm>
            <a:off x="548640" y="292608"/>
            <a:ext cx="9052560" cy="969264"/>
          </a:xfrm>
          <a:prstGeom prst="rect">
            <a:avLst/>
          </a:prstGeom>
          <a:noFill/>
          <a:ln/>
        </p:spPr>
        <p:txBody>
          <a:bodyPr wrap="square" lIns="63500" tIns="63500" rIns="63500" bIns="63500" rtlCol="0" anchor="ctr"/>
          <a:lstStyle/>
          <a:p>
            <a:pPr algn="l" indent="0" marL="0">
              <a:buNone/>
            </a:pPr>
            <a:r>
              <a:rPr lang="en-US" sz="3200" b="1" dirty="0">
                <a:solidFill>
                  <a:srgbClr val="3F6B4A"/>
                </a:solidFill>
                <a:latin typeface="Cambria" pitchFamily="34" charset="0"/>
                <a:ea typeface="Cambria" pitchFamily="34" charset="-122"/>
                <a:cs typeface="Cambria" pitchFamily="34" charset="-120"/>
              </a:rPr>
              <a:t>Hot spots: Hawaii and Iceland</a:t>
            </a:r>
            <a:endParaRPr lang="en-US" sz="3200" dirty="0"/>
          </a:p>
        </p:txBody>
      </p:sp>
      <p:sp>
        <p:nvSpPr>
          <p:cNvPr id="4" name="chip-hex"/>
          <p:cNvSpPr/>
          <p:nvPr/>
        </p:nvSpPr>
        <p:spPr>
          <a:xfrm>
            <a:off x="9677095" y="531760"/>
            <a:ext cx="566928" cy="490960"/>
          </a:xfrm>
          <a:prstGeom prst="hexagon">
            <a:avLst/>
          </a:prstGeom>
          <a:solidFill>
            <a:srgbClr val="B8862B"/>
          </a:solidFill>
          <a:ln/>
        </p:spPr>
      </p:sp>
      <p:sp>
        <p:nvSpPr>
          <p:cNvPr id="5" name="chip-hex-label"/>
          <p:cNvSpPr txBox="1"/>
          <p:nvPr/>
        </p:nvSpPr>
        <p:spPr>
          <a:xfrm>
            <a:off x="9677095" y="531760"/>
            <a:ext cx="566928" cy="490960"/>
          </a:xfrm>
          <a:prstGeom prst="rect">
            <a:avLst/>
          </a:prstGeom>
          <a:noFill/>
          <a:ln/>
        </p:spPr>
        <p:txBody>
          <a:bodyPr wrap="square" lIns="0" tIns="0" rIns="0" bIns="0" rtlCol="0" anchor="ctr"/>
          <a:lstStyle/>
          <a:p>
            <a:pPr algn="ctr" indent="0" marL="0">
              <a:buNone/>
            </a:pPr>
            <a:endParaRPr lang="en-US" sz="2000" dirty="0"/>
          </a:p>
        </p:txBody>
      </p:sp>
      <p:sp>
        <p:nvSpPr>
          <p:cNvPr id="6" name="chip-label"/>
          <p:cNvSpPr txBox="1"/>
          <p:nvPr/>
        </p:nvSpPr>
        <p:spPr>
          <a:xfrm>
            <a:off x="10317175" y="292608"/>
            <a:ext cx="1325880" cy="969264"/>
          </a:xfrm>
          <a:prstGeom prst="rect">
            <a:avLst/>
          </a:prstGeom>
          <a:noFill/>
          <a:ln/>
        </p:spPr>
        <p:txBody>
          <a:bodyPr wrap="square" lIns="63500" tIns="63500" rIns="63500" bIns="63500" rtlCol="0" anchor="ctr"/>
          <a:lstStyle/>
          <a:p>
            <a:pPr algn="l" indent="0" marL="0">
              <a:buNone/>
            </a:pPr>
            <a:r>
              <a:rPr lang="en-US" sz="1800" b="1" dirty="0">
                <a:solidFill>
                  <a:srgbClr val="8A6520"/>
                </a:solidFill>
                <a:latin typeface="Calibri" pitchFamily="34" charset="0"/>
                <a:ea typeface="Calibri" pitchFamily="34" charset="-122"/>
                <a:cs typeface="Calibri" pitchFamily="34" charset="-120"/>
              </a:rPr>
              <a:t>Teach</a:t>
            </a:r>
            <a:endParaRPr lang="en-US" sz="1800" dirty="0"/>
          </a:p>
        </p:txBody>
      </p:sp>
      <p:sp>
        <p:nvSpPr>
          <p:cNvPr id="7" name="tip-box"/>
          <p:cNvSpPr/>
          <p:nvPr/>
        </p:nvSpPr>
        <p:spPr>
          <a:xfrm>
            <a:off x="548640" y="5629148"/>
            <a:ext cx="11094415" cy="515620"/>
          </a:xfrm>
          <a:prstGeom prst="roundRect">
            <a:avLst>
              <a:gd name="adj" fmla="val 26601"/>
            </a:avLst>
          </a:prstGeom>
          <a:solidFill>
            <a:srgbClr val="F5EFE2"/>
          </a:solidFill>
          <a:ln w="15875">
            <a:solidFill>
              <a:srgbClr val="B8862B"/>
            </a:solidFill>
            <a:prstDash val="solid"/>
          </a:ln>
        </p:spPr>
      </p:sp>
      <p:sp>
        <p:nvSpPr>
          <p:cNvPr id="8" name="tip-hex"/>
          <p:cNvSpPr/>
          <p:nvPr/>
        </p:nvSpPr>
        <p:spPr>
          <a:xfrm>
            <a:off x="685800" y="5688990"/>
            <a:ext cx="457200" cy="395935"/>
          </a:xfrm>
          <a:prstGeom prst="hexagon">
            <a:avLst/>
          </a:prstGeom>
          <a:solidFill>
            <a:srgbClr val="B8862B"/>
          </a:solidFill>
          <a:ln/>
        </p:spPr>
      </p:sp>
      <p:sp>
        <p:nvSpPr>
          <p:cNvPr id="9" name="tip-hex-label"/>
          <p:cNvSpPr txBox="1"/>
          <p:nvPr/>
        </p:nvSpPr>
        <p:spPr>
          <a:xfrm>
            <a:off x="685800" y="5688990"/>
            <a:ext cx="457200" cy="395935"/>
          </a:xfrm>
          <a:prstGeom prst="rect">
            <a:avLst/>
          </a:prstGeom>
          <a:noFill/>
          <a:ln/>
        </p:spPr>
        <p:txBody>
          <a:bodyPr wrap="square" lIns="0" tIns="0" rIns="0" bIns="0" rtlCol="0" anchor="ctr"/>
          <a:lstStyle/>
          <a:p>
            <a:pPr algn="ctr" indent="0" marL="0">
              <a:buNone/>
            </a:pPr>
            <a:r>
              <a:rPr lang="en-US" sz="2000" b="1" dirty="0">
                <a:solidFill>
                  <a:srgbClr val="FFFFFF"/>
                </a:solidFill>
                <a:latin typeface="Calibri" pitchFamily="34" charset="0"/>
                <a:ea typeface="Calibri" pitchFamily="34" charset="-122"/>
                <a:cs typeface="Calibri" pitchFamily="34" charset="-120"/>
              </a:rPr>
              <a:t>!</a:t>
            </a:r>
            <a:endParaRPr lang="en-US" sz="2000" dirty="0"/>
          </a:p>
        </p:txBody>
      </p:sp>
      <p:sp>
        <p:nvSpPr>
          <p:cNvPr id="10" name="tip"/>
          <p:cNvSpPr txBox="1"/>
          <p:nvPr/>
        </p:nvSpPr>
        <p:spPr>
          <a:xfrm>
            <a:off x="1280160" y="5684012"/>
            <a:ext cx="10225735" cy="405892"/>
          </a:xfrm>
          <a:prstGeom prst="rect">
            <a:avLst/>
          </a:prstGeom>
          <a:noFill/>
          <a:ln/>
        </p:spPr>
        <p:txBody>
          <a:bodyPr wrap="square" lIns="63500" tIns="63500" rIns="63500" bIns="63500" rtlCol="0" anchor="ctr"/>
          <a:lstStyle/>
          <a:p>
            <a:pPr algn="l" indent="0" marL="0">
              <a:buNone/>
            </a:pPr>
            <a:r>
              <a:rPr lang="en-US" sz="1800" b="1" dirty="0">
                <a:solidFill>
                  <a:srgbClr val="815E1E"/>
                </a:solidFill>
                <a:latin typeface="Calibri" pitchFamily="34" charset="0"/>
                <a:ea typeface="Calibri" pitchFamily="34" charset="-122"/>
                <a:cs typeface="Calibri" pitchFamily="34" charset="-120"/>
              </a:rPr>
              <a:t>Tip  </a:t>
            </a:r>
            <a:pPr algn="l" indent="0" marL="0">
              <a:buNone/>
            </a:pPr>
            <a:r>
              <a:rPr lang="en-US" sz="1800" dirty="0">
                <a:solidFill>
                  <a:srgbClr val="1E2229"/>
                </a:solidFill>
                <a:latin typeface="Calibri" pitchFamily="34" charset="0"/>
                <a:ea typeface="Calibri" pitchFamily="34" charset="-122"/>
                <a:cs typeface="Calibri" pitchFamily="34" charset="-120"/>
              </a:rPr>
              <a:t>Hawaii: hot spot only, mid-plate. Iceland: constructive boundary plus hot spot.</a:t>
            </a:r>
            <a:endParaRPr lang="en-US" sz="1800" dirty="0"/>
          </a:p>
        </p:txBody>
      </p:sp>
      <p:sp>
        <p:nvSpPr>
          <p:cNvPr id="11" name="point-card"/>
          <p:cNvSpPr/>
          <p:nvPr/>
        </p:nvSpPr>
        <p:spPr>
          <a:xfrm>
            <a:off x="548640" y="1389888"/>
            <a:ext cx="3515258" cy="3964940"/>
          </a:xfrm>
          <a:prstGeom prst="roundRect">
            <a:avLst>
              <a:gd name="adj" fmla="val 1561"/>
            </a:avLst>
          </a:prstGeom>
          <a:solidFill>
            <a:srgbClr val="EFF2F0"/>
          </a:solidFill>
          <a:ln/>
        </p:spPr>
      </p:sp>
      <p:sp>
        <p:nvSpPr>
          <p:cNvPr id="12" name="point-hex"/>
          <p:cNvSpPr/>
          <p:nvPr/>
        </p:nvSpPr>
        <p:spPr>
          <a:xfrm>
            <a:off x="731520" y="1572768"/>
            <a:ext cx="685800" cy="593903"/>
          </a:xfrm>
          <a:prstGeom prst="hexagon">
            <a:avLst/>
          </a:prstGeom>
          <a:solidFill>
            <a:srgbClr val="3F6B4A"/>
          </a:solidFill>
          <a:ln/>
        </p:spPr>
      </p:sp>
      <p:sp>
        <p:nvSpPr>
          <p:cNvPr id="13" name="point-hex-label"/>
          <p:cNvSpPr txBox="1"/>
          <p:nvPr/>
        </p:nvSpPr>
        <p:spPr>
          <a:xfrm>
            <a:off x="731520" y="1572768"/>
            <a:ext cx="685800" cy="593903"/>
          </a:xfrm>
          <a:prstGeom prst="rect">
            <a:avLst/>
          </a:prstGeom>
          <a:noFill/>
          <a:ln/>
        </p:spPr>
        <p:txBody>
          <a:bodyPr wrap="square" lIns="0" tIns="0" rIns="0" bIns="0" rtlCol="0" anchor="ctr"/>
          <a:lstStyle/>
          <a:p>
            <a:pPr algn="ctr" indent="0" marL="0">
              <a:buNone/>
            </a:pPr>
            <a:r>
              <a:rPr lang="en-US" sz="2400" b="1" dirty="0">
                <a:solidFill>
                  <a:srgbClr val="FFFFFF"/>
                </a:solidFill>
                <a:latin typeface="Cambria" pitchFamily="34" charset="0"/>
                <a:ea typeface="Cambria" pitchFamily="34" charset="-122"/>
                <a:cs typeface="Cambria" pitchFamily="34" charset="-120"/>
              </a:rPr>
              <a:t>1</a:t>
            </a:r>
            <a:endParaRPr lang="en-US" sz="2400" dirty="0"/>
          </a:p>
        </p:txBody>
      </p:sp>
      <p:sp>
        <p:nvSpPr>
          <p:cNvPr id="14" name="point"/>
          <p:cNvSpPr txBox="1"/>
          <p:nvPr/>
        </p:nvSpPr>
        <p:spPr>
          <a:xfrm>
            <a:off x="731520" y="2350008"/>
            <a:ext cx="3149498" cy="2867660"/>
          </a:xfrm>
          <a:prstGeom prst="rect">
            <a:avLst/>
          </a:prstGeom>
          <a:noFill/>
          <a:ln/>
        </p:spPr>
        <p:txBody>
          <a:bodyPr wrap="square" lIns="63500" tIns="63500" rIns="63500" bIns="63500" rtlCol="0" anchor="t"/>
          <a:lstStyle/>
          <a:p>
            <a:pPr algn="l" indent="0" marL="0">
              <a:buNone/>
            </a:pPr>
            <a:r>
              <a:rPr lang="en-US" sz="2000" dirty="0">
                <a:solidFill>
                  <a:srgbClr val="1E2229"/>
                </a:solidFill>
                <a:latin typeface="Calibri" pitchFamily="34" charset="0"/>
                <a:ea typeface="Calibri" pitchFamily="34" charset="-122"/>
                <a:cs typeface="Calibri" pitchFamily="34" charset="-120"/>
              </a:rPr>
              <a:t>Most volcanoes sit on plate boundaries, but Hawaii is in the middle of the Pacific Plate, thousands of kilometres from any boundary.</a:t>
            </a:r>
            <a:endParaRPr lang="en-US" sz="2000" dirty="0"/>
          </a:p>
        </p:txBody>
      </p:sp>
      <p:sp>
        <p:nvSpPr>
          <p:cNvPr id="15" name="point-card"/>
          <p:cNvSpPr/>
          <p:nvPr/>
        </p:nvSpPr>
        <p:spPr>
          <a:xfrm>
            <a:off x="4338218" y="1389888"/>
            <a:ext cx="3515258" cy="3964940"/>
          </a:xfrm>
          <a:prstGeom prst="roundRect">
            <a:avLst>
              <a:gd name="adj" fmla="val 1561"/>
            </a:avLst>
          </a:prstGeom>
          <a:solidFill>
            <a:srgbClr val="F8F2E9"/>
          </a:solidFill>
          <a:ln/>
        </p:spPr>
      </p:sp>
      <p:sp>
        <p:nvSpPr>
          <p:cNvPr id="16" name="point-hex"/>
          <p:cNvSpPr/>
          <p:nvPr/>
        </p:nvSpPr>
        <p:spPr>
          <a:xfrm>
            <a:off x="4521098" y="1572768"/>
            <a:ext cx="685800" cy="593903"/>
          </a:xfrm>
          <a:prstGeom prst="hexagon">
            <a:avLst/>
          </a:prstGeom>
          <a:solidFill>
            <a:srgbClr val="B8862B"/>
          </a:solidFill>
          <a:ln/>
        </p:spPr>
      </p:sp>
      <p:sp>
        <p:nvSpPr>
          <p:cNvPr id="17" name="point-hex-label"/>
          <p:cNvSpPr txBox="1"/>
          <p:nvPr/>
        </p:nvSpPr>
        <p:spPr>
          <a:xfrm>
            <a:off x="4521098" y="1572768"/>
            <a:ext cx="685800" cy="593903"/>
          </a:xfrm>
          <a:prstGeom prst="rect">
            <a:avLst/>
          </a:prstGeom>
          <a:noFill/>
          <a:ln/>
        </p:spPr>
        <p:txBody>
          <a:bodyPr wrap="square" lIns="0" tIns="0" rIns="0" bIns="0" rtlCol="0" anchor="ctr"/>
          <a:lstStyle/>
          <a:p>
            <a:pPr algn="ctr" indent="0" marL="0">
              <a:buNone/>
            </a:pPr>
            <a:r>
              <a:rPr lang="en-US" sz="2400" b="1" dirty="0">
                <a:solidFill>
                  <a:srgbClr val="FFFFFF"/>
                </a:solidFill>
                <a:latin typeface="Cambria" pitchFamily="34" charset="0"/>
                <a:ea typeface="Cambria" pitchFamily="34" charset="-122"/>
                <a:cs typeface="Cambria" pitchFamily="34" charset="-120"/>
              </a:rPr>
              <a:t>2</a:t>
            </a:r>
            <a:endParaRPr lang="en-US" sz="2400" dirty="0"/>
          </a:p>
        </p:txBody>
      </p:sp>
      <p:sp>
        <p:nvSpPr>
          <p:cNvPr id="18" name="point"/>
          <p:cNvSpPr txBox="1"/>
          <p:nvPr/>
        </p:nvSpPr>
        <p:spPr>
          <a:xfrm>
            <a:off x="4521098" y="2350008"/>
            <a:ext cx="3149498" cy="2867660"/>
          </a:xfrm>
          <a:prstGeom prst="rect">
            <a:avLst/>
          </a:prstGeom>
          <a:noFill/>
          <a:ln/>
        </p:spPr>
        <p:txBody>
          <a:bodyPr wrap="square" lIns="63500" tIns="63500" rIns="63500" bIns="63500" rtlCol="0" anchor="t"/>
          <a:lstStyle/>
          <a:p>
            <a:pPr algn="l" indent="0" marL="0">
              <a:buNone/>
            </a:pPr>
            <a:r>
              <a:rPr lang="en-US" sz="2000" dirty="0">
                <a:solidFill>
                  <a:srgbClr val="1E2229"/>
                </a:solidFill>
                <a:latin typeface="Calibri" pitchFamily="34" charset="0"/>
                <a:ea typeface="Calibri" pitchFamily="34" charset="-122"/>
                <a:cs typeface="Calibri" pitchFamily="34" charset="-120"/>
              </a:rPr>
              <a:t>Iceland is doubly volcanic. It sits on the constructive boundary where the North American Plate and the Eurasian Plate are moving apart (Chapter 3), and it also sits on a hot spot.</a:t>
            </a:r>
            <a:endParaRPr lang="en-US" sz="2000" dirty="0"/>
          </a:p>
        </p:txBody>
      </p:sp>
      <p:sp>
        <p:nvSpPr>
          <p:cNvPr id="19" name="point-card"/>
          <p:cNvSpPr/>
          <p:nvPr/>
        </p:nvSpPr>
        <p:spPr>
          <a:xfrm>
            <a:off x="8127797" y="1389888"/>
            <a:ext cx="3515258" cy="3964940"/>
          </a:xfrm>
          <a:prstGeom prst="roundRect">
            <a:avLst>
              <a:gd name="adj" fmla="val 1561"/>
            </a:avLst>
          </a:prstGeom>
          <a:solidFill>
            <a:srgbClr val="EFF2F0"/>
          </a:solidFill>
          <a:ln/>
        </p:spPr>
      </p:sp>
      <p:sp>
        <p:nvSpPr>
          <p:cNvPr id="20" name="point-hex"/>
          <p:cNvSpPr/>
          <p:nvPr/>
        </p:nvSpPr>
        <p:spPr>
          <a:xfrm>
            <a:off x="8310677" y="1572768"/>
            <a:ext cx="685800" cy="593903"/>
          </a:xfrm>
          <a:prstGeom prst="hexagon">
            <a:avLst/>
          </a:prstGeom>
          <a:solidFill>
            <a:srgbClr val="3F6B4A"/>
          </a:solidFill>
          <a:ln/>
        </p:spPr>
      </p:sp>
      <p:sp>
        <p:nvSpPr>
          <p:cNvPr id="21" name="point-hex-label"/>
          <p:cNvSpPr txBox="1"/>
          <p:nvPr/>
        </p:nvSpPr>
        <p:spPr>
          <a:xfrm>
            <a:off x="8310677" y="1572768"/>
            <a:ext cx="685800" cy="593903"/>
          </a:xfrm>
          <a:prstGeom prst="rect">
            <a:avLst/>
          </a:prstGeom>
          <a:noFill/>
          <a:ln/>
        </p:spPr>
        <p:txBody>
          <a:bodyPr wrap="square" lIns="0" tIns="0" rIns="0" bIns="0" rtlCol="0" anchor="ctr"/>
          <a:lstStyle/>
          <a:p>
            <a:pPr algn="ctr" indent="0" marL="0">
              <a:buNone/>
            </a:pPr>
            <a:r>
              <a:rPr lang="en-US" sz="2400" b="1" dirty="0">
                <a:solidFill>
                  <a:srgbClr val="FFFFFF"/>
                </a:solidFill>
                <a:latin typeface="Cambria" pitchFamily="34" charset="0"/>
                <a:ea typeface="Cambria" pitchFamily="34" charset="-122"/>
                <a:cs typeface="Cambria" pitchFamily="34" charset="-120"/>
              </a:rPr>
              <a:t>3</a:t>
            </a:r>
            <a:endParaRPr lang="en-US" sz="2400" dirty="0"/>
          </a:p>
        </p:txBody>
      </p:sp>
      <p:sp>
        <p:nvSpPr>
          <p:cNvPr id="22" name="point"/>
          <p:cNvSpPr txBox="1"/>
          <p:nvPr/>
        </p:nvSpPr>
        <p:spPr>
          <a:xfrm>
            <a:off x="8310677" y="2350008"/>
            <a:ext cx="3149498" cy="2867660"/>
          </a:xfrm>
          <a:prstGeom prst="rect">
            <a:avLst/>
          </a:prstGeom>
          <a:noFill/>
          <a:ln/>
        </p:spPr>
        <p:txBody>
          <a:bodyPr wrap="square" lIns="63500" tIns="63500" rIns="63500" bIns="63500" rtlCol="0" anchor="t"/>
          <a:lstStyle/>
          <a:p>
            <a:pPr algn="l" indent="0" marL="0">
              <a:buNone/>
            </a:pPr>
            <a:r>
              <a:rPr lang="en-US" sz="2000" dirty="0">
                <a:solidFill>
                  <a:srgbClr val="1E2229"/>
                </a:solidFill>
                <a:latin typeface="Calibri" pitchFamily="34" charset="0"/>
                <a:ea typeface="Calibri" pitchFamily="34" charset="-122"/>
                <a:cs typeface="Calibri" pitchFamily="34" charset="-120"/>
              </a:rPr>
              <a:t>Both places show the benefits of living near volcanoes. Iceland uses its underground heat to warm homes and make electricity, and its volcanic landscape draws visitors from around the world.</a:t>
            </a:r>
            <a:endParaRPr lang="en-US" sz="2000" dirty="0"/>
          </a:p>
        </p:txBody>
      </p:sp>
      <p:sp>
        <p:nvSpPr>
          <p:cNvPr id="25" name="Slide Number Placeholder 0"/>
          <p:cNvSpPr>
            <a:spLocks noGrp="1"/>
          </p:cNvSpPr>
          <p:nvPr>
            <p:ph type="sldNum" sz="quarter" idx="4294967295"/>
          </p:nvPr>
        </p:nvSpPr>
        <p:spPr>
          <a:xfrm>
            <a:off x="11018520" y="6446520"/>
            <a:ext cx="640080" cy="365760"/>
          </a:xfrm>
          <a:prstGeom prst="rect">
            <a:avLst/>
          </a:prstGeom>
          <a:extLst>
            <a:ext uri="{C572A759-6A51-4108-AA02-DFA0A04FC94B}">
              <ma14:wrappingTextBoxFlag xmlns:ma14="http://schemas.microsoft.com/office/mac/drawingml/2011/main" val="0"/>
            </a:ext>
          </a:extLst>
        </p:spPr>
        <p:txBody>
          <a:bodyPr lIns="0" tIns="0" rIns="0" bIns="0" anchor="ctr"/>
          <a:lstStyle>
            <a:lvl1pPr>
              <a:defRPr sz="1000">
                <a:solidFill>
                  <a:srgbClr val="396043"/>
                </a:solidFill>
                <a:latin typeface="Calibri"/>
                <a:ea typeface="Calibri"/>
                <a:cs typeface="Calibri"/>
              </a:defRPr>
            </a:lvl1pPr>
          </a:lstStyle>
          <a:p>
            <a:pPr algn="r"/>
            <a:fld id="{F7021451-1387-4CA6-816F-3879F97B5CBC}" type="slidenum">
              <a:rPr b="0" lang="en-US"/>
              <a:t>15</a:t>
            </a:fld>
            <a:endParaRPr lang="en-US"/>
          </a:p>
        </p:txBody>
      </p:sp>
    </p:spTree>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name="Slide 16">
    <p:spTree>
      <p:nvGrpSpPr>
        <p:cNvPr id="1" name=""/>
        <p:cNvGrpSpPr/>
        <p:nvPr/>
      </p:nvGrpSpPr>
      <p:grpSpPr>
        <a:xfrm>
          <a:off x="0" y="0"/>
          <a:ext cx="0" cy="0"/>
          <a:chOff x="0" y="0"/>
          <a:chExt cx="0" cy="0"/>
        </a:xfrm>
      </p:grpSpPr>
      <p:sp>
        <p:nvSpPr>
          <p:cNvPr id="3" name="title"/>
          <p:cNvSpPr txBox="1"/>
          <p:nvPr/>
        </p:nvSpPr>
        <p:spPr>
          <a:xfrm>
            <a:off x="548640" y="292608"/>
            <a:ext cx="9052560" cy="969264"/>
          </a:xfrm>
          <a:prstGeom prst="rect">
            <a:avLst/>
          </a:prstGeom>
          <a:noFill/>
          <a:ln/>
        </p:spPr>
        <p:txBody>
          <a:bodyPr wrap="square" lIns="63500" tIns="63500" rIns="63500" bIns="63500" rtlCol="0" anchor="ctr"/>
          <a:lstStyle/>
          <a:p>
            <a:pPr algn="l" indent="0" marL="0">
              <a:buNone/>
            </a:pPr>
            <a:r>
              <a:rPr lang="en-US" sz="3200" b="1" dirty="0">
                <a:solidFill>
                  <a:srgbClr val="3F6B4A"/>
                </a:solidFill>
                <a:latin typeface="Cambria" pitchFamily="34" charset="0"/>
                <a:ea typeface="Cambria" pitchFamily="34" charset="-122"/>
                <a:cs typeface="Cambria" pitchFamily="34" charset="-120"/>
              </a:rPr>
              <a:t>The task: Sorting a case study</a:t>
            </a:r>
            <a:endParaRPr lang="en-US" sz="3200" dirty="0"/>
          </a:p>
        </p:txBody>
      </p:sp>
      <p:sp>
        <p:nvSpPr>
          <p:cNvPr id="4" name="chip-hex"/>
          <p:cNvSpPr/>
          <p:nvPr/>
        </p:nvSpPr>
        <p:spPr>
          <a:xfrm>
            <a:off x="9677095" y="531760"/>
            <a:ext cx="566928" cy="490960"/>
          </a:xfrm>
          <a:prstGeom prst="hexagon">
            <a:avLst/>
          </a:prstGeom>
          <a:solidFill>
            <a:srgbClr val="3F6B4A"/>
          </a:solidFill>
          <a:ln/>
        </p:spPr>
      </p:sp>
      <p:sp>
        <p:nvSpPr>
          <p:cNvPr id="5" name="chip-hex-label"/>
          <p:cNvSpPr txBox="1"/>
          <p:nvPr/>
        </p:nvSpPr>
        <p:spPr>
          <a:xfrm>
            <a:off x="9677095" y="531760"/>
            <a:ext cx="566928" cy="490960"/>
          </a:xfrm>
          <a:prstGeom prst="rect">
            <a:avLst/>
          </a:prstGeom>
          <a:noFill/>
          <a:ln/>
        </p:spPr>
        <p:txBody>
          <a:bodyPr wrap="square" lIns="0" tIns="0" rIns="0" bIns="0" rtlCol="0" anchor="ctr"/>
          <a:lstStyle/>
          <a:p>
            <a:pPr algn="ctr" indent="0" marL="0">
              <a:buNone/>
            </a:pPr>
            <a:r>
              <a:rPr lang="en-US" sz="2000" b="1" dirty="0">
                <a:solidFill>
                  <a:srgbClr val="FFFFFF"/>
                </a:solidFill>
                <a:latin typeface="Calibri" pitchFamily="34" charset="0"/>
                <a:ea typeface="Calibri" pitchFamily="34" charset="-122"/>
                <a:cs typeface="Calibri" pitchFamily="34" charset="-120"/>
              </a:rPr>
              <a:t>4</a:t>
            </a:r>
            <a:endParaRPr lang="en-US" sz="2000" dirty="0"/>
          </a:p>
        </p:txBody>
      </p:sp>
      <p:sp>
        <p:nvSpPr>
          <p:cNvPr id="6" name="chip-label"/>
          <p:cNvSpPr txBox="1"/>
          <p:nvPr/>
        </p:nvSpPr>
        <p:spPr>
          <a:xfrm>
            <a:off x="10317175" y="292608"/>
            <a:ext cx="1325880" cy="969264"/>
          </a:xfrm>
          <a:prstGeom prst="rect">
            <a:avLst/>
          </a:prstGeom>
          <a:noFill/>
          <a:ln/>
        </p:spPr>
        <p:txBody>
          <a:bodyPr wrap="square" lIns="63500" tIns="63500" rIns="63500" bIns="63500" rtlCol="0" anchor="ctr"/>
          <a:lstStyle/>
          <a:p>
            <a:pPr algn="l" indent="0" marL="0">
              <a:buNone/>
            </a:pPr>
            <a:r>
              <a:rPr lang="en-US" sz="1800" b="1" dirty="0">
                <a:solidFill>
                  <a:srgbClr val="3F6B4A"/>
                </a:solidFill>
                <a:latin typeface="Calibri" pitchFamily="34" charset="0"/>
                <a:ea typeface="Calibri" pitchFamily="34" charset="-122"/>
                <a:cs typeface="Calibri" pitchFamily="34" charset="-120"/>
              </a:rPr>
              <a:t>Same task</a:t>
            </a:r>
            <a:endParaRPr lang="en-US" sz="1800" dirty="0"/>
          </a:p>
        </p:txBody>
      </p:sp>
      <p:sp>
        <p:nvSpPr>
          <p:cNvPr id="7" name="task-box"/>
          <p:cNvSpPr/>
          <p:nvPr/>
        </p:nvSpPr>
        <p:spPr>
          <a:xfrm>
            <a:off x="548640" y="1389888"/>
            <a:ext cx="11094415" cy="4754880"/>
          </a:xfrm>
          <a:prstGeom prst="roundRect">
            <a:avLst>
              <a:gd name="adj" fmla="val 962"/>
            </a:avLst>
          </a:prstGeom>
          <a:solidFill>
            <a:srgbClr val="FFFFFF"/>
          </a:solidFill>
          <a:ln w="31750">
            <a:solidFill>
              <a:srgbClr val="B8862B"/>
            </a:solidFill>
            <a:prstDash val="solid"/>
          </a:ln>
        </p:spPr>
      </p:sp>
      <p:sp>
        <p:nvSpPr>
          <p:cNvPr id="8" name="task-hex"/>
          <p:cNvSpPr/>
          <p:nvPr/>
        </p:nvSpPr>
        <p:spPr>
          <a:xfrm>
            <a:off x="822960" y="1664208"/>
            <a:ext cx="822960" cy="712683"/>
          </a:xfrm>
          <a:prstGeom prst="hexagon">
            <a:avLst/>
          </a:prstGeom>
          <a:solidFill>
            <a:srgbClr val="B8862B"/>
          </a:solidFill>
          <a:ln/>
        </p:spPr>
      </p:sp>
      <p:sp>
        <p:nvSpPr>
          <p:cNvPr id="9" name="task-hex-label"/>
          <p:cNvSpPr txBox="1"/>
          <p:nvPr/>
        </p:nvSpPr>
        <p:spPr>
          <a:xfrm>
            <a:off x="822960" y="1664208"/>
            <a:ext cx="822960" cy="712683"/>
          </a:xfrm>
          <a:prstGeom prst="rect">
            <a:avLst/>
          </a:prstGeom>
          <a:noFill/>
          <a:ln/>
        </p:spPr>
        <p:txBody>
          <a:bodyPr wrap="square" lIns="0" tIns="0" rIns="0" bIns="0" rtlCol="0" anchor="ctr"/>
          <a:lstStyle/>
          <a:p>
            <a:pPr algn="ctr" indent="0" marL="0">
              <a:buNone/>
            </a:pPr>
            <a:r>
              <a:rPr lang="en-US" sz="2800" b="1" dirty="0">
                <a:solidFill>
                  <a:srgbClr val="FFFFFF"/>
                </a:solidFill>
                <a:latin typeface="Cambria" pitchFamily="34" charset="0"/>
                <a:ea typeface="Cambria" pitchFamily="34" charset="-122"/>
                <a:cs typeface="Cambria" pitchFamily="34" charset="-120"/>
              </a:rPr>
              <a:t>1</a:t>
            </a:r>
            <a:endParaRPr lang="en-US" sz="2800" dirty="0"/>
          </a:p>
        </p:txBody>
      </p:sp>
      <p:sp>
        <p:nvSpPr>
          <p:cNvPr id="10" name="task"/>
          <p:cNvSpPr txBox="1"/>
          <p:nvPr/>
        </p:nvSpPr>
        <p:spPr>
          <a:xfrm>
            <a:off x="1828800" y="1618488"/>
            <a:ext cx="8534095" cy="870712"/>
          </a:xfrm>
          <a:prstGeom prst="rect">
            <a:avLst/>
          </a:prstGeom>
          <a:noFill/>
          <a:ln/>
        </p:spPr>
        <p:txBody>
          <a:bodyPr wrap="square" lIns="63500" tIns="63500" rIns="63500" bIns="63500" rtlCol="0" anchor="t"/>
          <a:lstStyle/>
          <a:p>
            <a:pPr algn="ctr" indent="0" marL="0">
              <a:buNone/>
            </a:pPr>
            <a:r>
              <a:rPr lang="en-US" sz="2400" b="1" dirty="0">
                <a:solidFill>
                  <a:srgbClr val="1E2229"/>
                </a:solidFill>
                <a:latin typeface="Calibri" pitchFamily="34" charset="0"/>
                <a:ea typeface="Calibri" pitchFamily="34" charset="-122"/>
                <a:cs typeface="Calibri" pitchFamily="34" charset="-120"/>
              </a:rPr>
              <a:t>Match each heading of an earthquake case study to the example that belongs under it.</a:t>
            </a:r>
            <a:endParaRPr lang="en-US" sz="2400" dirty="0"/>
          </a:p>
        </p:txBody>
      </p:sp>
      <p:sp>
        <p:nvSpPr>
          <p:cNvPr id="11" name="match-card"/>
          <p:cNvSpPr/>
          <p:nvPr/>
        </p:nvSpPr>
        <p:spPr>
          <a:xfrm>
            <a:off x="777240" y="2672080"/>
            <a:ext cx="3081437" cy="721360"/>
          </a:xfrm>
          <a:prstGeom prst="roundRect">
            <a:avLst>
              <a:gd name="adj" fmla="val 10141"/>
            </a:avLst>
          </a:prstGeom>
          <a:solidFill>
            <a:srgbClr val="F3F5F3"/>
          </a:solidFill>
          <a:ln/>
        </p:spPr>
      </p:sp>
      <p:sp>
        <p:nvSpPr>
          <p:cNvPr id="12" name="match-hex"/>
          <p:cNvSpPr/>
          <p:nvPr/>
        </p:nvSpPr>
        <p:spPr>
          <a:xfrm>
            <a:off x="850392" y="2866467"/>
            <a:ext cx="384048" cy="332586"/>
          </a:xfrm>
          <a:prstGeom prst="hexagon">
            <a:avLst/>
          </a:prstGeom>
          <a:solidFill>
            <a:srgbClr val="3F6B4A"/>
          </a:solidFill>
          <a:ln/>
        </p:spPr>
      </p:sp>
      <p:sp>
        <p:nvSpPr>
          <p:cNvPr id="13" name="match-hex-label"/>
          <p:cNvSpPr txBox="1"/>
          <p:nvPr/>
        </p:nvSpPr>
        <p:spPr>
          <a:xfrm>
            <a:off x="850392" y="2866467"/>
            <a:ext cx="384048" cy="332586"/>
          </a:xfrm>
          <a:prstGeom prst="rect">
            <a:avLst/>
          </a:prstGeom>
          <a:noFill/>
          <a:ln/>
        </p:spPr>
        <p:txBody>
          <a:bodyPr wrap="square" lIns="0" tIns="0" rIns="0" bIns="0" rtlCol="0" anchor="ctr"/>
          <a:lstStyle/>
          <a:p>
            <a:pPr algn="ctr" indent="0" marL="0">
              <a:buNone/>
            </a:pPr>
            <a:r>
              <a:rPr lang="en-US" sz="1800" b="1" dirty="0">
                <a:solidFill>
                  <a:srgbClr val="FFFFFF"/>
                </a:solidFill>
                <a:latin typeface="Calibri" pitchFamily="34" charset="0"/>
                <a:ea typeface="Calibri" pitchFamily="34" charset="-122"/>
                <a:cs typeface="Calibri" pitchFamily="34" charset="-120"/>
              </a:rPr>
              <a:t>1</a:t>
            </a:r>
            <a:endParaRPr lang="en-US" sz="1800" dirty="0"/>
          </a:p>
        </p:txBody>
      </p:sp>
      <p:sp>
        <p:nvSpPr>
          <p:cNvPr id="14" name="match-text"/>
          <p:cNvSpPr txBox="1"/>
          <p:nvPr/>
        </p:nvSpPr>
        <p:spPr>
          <a:xfrm>
            <a:off x="1298448" y="2672080"/>
            <a:ext cx="2487077" cy="721360"/>
          </a:xfrm>
          <a:prstGeom prst="rect">
            <a:avLst/>
          </a:prstGeom>
          <a:noFill/>
          <a:ln/>
        </p:spPr>
        <p:txBody>
          <a:bodyPr wrap="square" lIns="63500" tIns="63500" rIns="63500" bIns="63500" rtlCol="0" anchor="ctr"/>
          <a:lstStyle/>
          <a:p>
            <a:pPr algn="l" indent="0" marL="0">
              <a:buNone/>
            </a:pPr>
            <a:r>
              <a:rPr lang="en-US" sz="1800" dirty="0">
                <a:solidFill>
                  <a:srgbClr val="1E2229"/>
                </a:solidFill>
                <a:latin typeface="Calibri" pitchFamily="34" charset="0"/>
                <a:ea typeface="Calibri" pitchFamily="34" charset="-122"/>
                <a:cs typeface="Calibri" pitchFamily="34" charset="-120"/>
              </a:rPr>
              <a:t>Cause</a:t>
            </a:r>
            <a:endParaRPr lang="en-US" sz="1800" dirty="0"/>
          </a:p>
        </p:txBody>
      </p:sp>
      <p:sp>
        <p:nvSpPr>
          <p:cNvPr id="15" name="match-card"/>
          <p:cNvSpPr/>
          <p:nvPr/>
        </p:nvSpPr>
        <p:spPr>
          <a:xfrm>
            <a:off x="4224437" y="2672080"/>
            <a:ext cx="7190019" cy="721360"/>
          </a:xfrm>
          <a:prstGeom prst="roundRect">
            <a:avLst>
              <a:gd name="adj" fmla="val 10141"/>
            </a:avLst>
          </a:prstGeom>
          <a:solidFill>
            <a:srgbClr val="F8F2E9"/>
          </a:solidFill>
          <a:ln/>
        </p:spPr>
      </p:sp>
      <p:sp>
        <p:nvSpPr>
          <p:cNvPr id="16" name="match-hex"/>
          <p:cNvSpPr/>
          <p:nvPr/>
        </p:nvSpPr>
        <p:spPr>
          <a:xfrm>
            <a:off x="4297589" y="2866467"/>
            <a:ext cx="384048" cy="332586"/>
          </a:xfrm>
          <a:prstGeom prst="hexagon">
            <a:avLst/>
          </a:prstGeom>
          <a:solidFill>
            <a:srgbClr val="B8862B"/>
          </a:solidFill>
          <a:ln/>
        </p:spPr>
      </p:sp>
      <p:sp>
        <p:nvSpPr>
          <p:cNvPr id="17" name="match-hex-label"/>
          <p:cNvSpPr txBox="1"/>
          <p:nvPr/>
        </p:nvSpPr>
        <p:spPr>
          <a:xfrm>
            <a:off x="4297589" y="2866467"/>
            <a:ext cx="384048" cy="332586"/>
          </a:xfrm>
          <a:prstGeom prst="rect">
            <a:avLst/>
          </a:prstGeom>
          <a:noFill/>
          <a:ln/>
        </p:spPr>
        <p:txBody>
          <a:bodyPr wrap="square" lIns="0" tIns="0" rIns="0" bIns="0" rtlCol="0" anchor="ctr"/>
          <a:lstStyle/>
          <a:p>
            <a:pPr algn="ctr" indent="0" marL="0">
              <a:buNone/>
            </a:pPr>
            <a:r>
              <a:rPr lang="en-US" sz="1800" b="1" dirty="0">
                <a:solidFill>
                  <a:srgbClr val="FFFFFF"/>
                </a:solidFill>
                <a:latin typeface="Calibri" pitchFamily="34" charset="0"/>
                <a:ea typeface="Calibri" pitchFamily="34" charset="-122"/>
                <a:cs typeface="Calibri" pitchFamily="34" charset="-120"/>
              </a:rPr>
              <a:t>A</a:t>
            </a:r>
            <a:endParaRPr lang="en-US" sz="1800" dirty="0"/>
          </a:p>
        </p:txBody>
      </p:sp>
      <p:sp>
        <p:nvSpPr>
          <p:cNvPr id="18" name="match-text"/>
          <p:cNvSpPr txBox="1"/>
          <p:nvPr/>
        </p:nvSpPr>
        <p:spPr>
          <a:xfrm>
            <a:off x="4745645" y="2672080"/>
            <a:ext cx="6595659" cy="721360"/>
          </a:xfrm>
          <a:prstGeom prst="rect">
            <a:avLst/>
          </a:prstGeom>
          <a:noFill/>
          <a:ln/>
        </p:spPr>
        <p:txBody>
          <a:bodyPr wrap="square" lIns="63500" tIns="63500" rIns="63500" bIns="63500" rtlCol="0" anchor="ctr"/>
          <a:lstStyle/>
          <a:p>
            <a:pPr algn="l" indent="0" marL="0">
              <a:buNone/>
            </a:pPr>
            <a:r>
              <a:rPr lang="en-US" sz="1800" dirty="0">
                <a:solidFill>
                  <a:srgbClr val="1E2229"/>
                </a:solidFill>
                <a:latin typeface="Calibri" pitchFamily="34" charset="0"/>
                <a:ea typeface="Calibri" pitchFamily="34" charset="-122"/>
                <a:cs typeface="Calibri" pitchFamily="34" charset="-120"/>
              </a:rPr>
              <a:t>Rescue teams, tents and medical help were sent to the affected area</a:t>
            </a:r>
            <a:endParaRPr lang="en-US" sz="1800" dirty="0"/>
          </a:p>
        </p:txBody>
      </p:sp>
      <p:sp>
        <p:nvSpPr>
          <p:cNvPr id="19" name="match-card"/>
          <p:cNvSpPr/>
          <p:nvPr/>
        </p:nvSpPr>
        <p:spPr>
          <a:xfrm>
            <a:off x="777240" y="3484880"/>
            <a:ext cx="3081437" cy="721360"/>
          </a:xfrm>
          <a:prstGeom prst="roundRect">
            <a:avLst>
              <a:gd name="adj" fmla="val 10141"/>
            </a:avLst>
          </a:prstGeom>
          <a:solidFill>
            <a:srgbClr val="F3F5F3"/>
          </a:solidFill>
          <a:ln/>
        </p:spPr>
      </p:sp>
      <p:sp>
        <p:nvSpPr>
          <p:cNvPr id="20" name="match-hex"/>
          <p:cNvSpPr/>
          <p:nvPr/>
        </p:nvSpPr>
        <p:spPr>
          <a:xfrm>
            <a:off x="850392" y="3679267"/>
            <a:ext cx="384048" cy="332586"/>
          </a:xfrm>
          <a:prstGeom prst="hexagon">
            <a:avLst/>
          </a:prstGeom>
          <a:solidFill>
            <a:srgbClr val="3F6B4A"/>
          </a:solidFill>
          <a:ln/>
        </p:spPr>
      </p:sp>
      <p:sp>
        <p:nvSpPr>
          <p:cNvPr id="21" name="match-hex-label"/>
          <p:cNvSpPr txBox="1"/>
          <p:nvPr/>
        </p:nvSpPr>
        <p:spPr>
          <a:xfrm>
            <a:off x="850392" y="3679267"/>
            <a:ext cx="384048" cy="332586"/>
          </a:xfrm>
          <a:prstGeom prst="rect">
            <a:avLst/>
          </a:prstGeom>
          <a:noFill/>
          <a:ln/>
        </p:spPr>
        <p:txBody>
          <a:bodyPr wrap="square" lIns="0" tIns="0" rIns="0" bIns="0" rtlCol="0" anchor="ctr"/>
          <a:lstStyle/>
          <a:p>
            <a:pPr algn="ctr" indent="0" marL="0">
              <a:buNone/>
            </a:pPr>
            <a:r>
              <a:rPr lang="en-US" sz="1800" b="1" dirty="0">
                <a:solidFill>
                  <a:srgbClr val="FFFFFF"/>
                </a:solidFill>
                <a:latin typeface="Calibri" pitchFamily="34" charset="0"/>
                <a:ea typeface="Calibri" pitchFamily="34" charset="-122"/>
                <a:cs typeface="Calibri" pitchFamily="34" charset="-120"/>
              </a:rPr>
              <a:t>2</a:t>
            </a:r>
            <a:endParaRPr lang="en-US" sz="1800" dirty="0"/>
          </a:p>
        </p:txBody>
      </p:sp>
      <p:sp>
        <p:nvSpPr>
          <p:cNvPr id="22" name="match-text"/>
          <p:cNvSpPr txBox="1"/>
          <p:nvPr/>
        </p:nvSpPr>
        <p:spPr>
          <a:xfrm>
            <a:off x="1298448" y="3484880"/>
            <a:ext cx="2487077" cy="721360"/>
          </a:xfrm>
          <a:prstGeom prst="rect">
            <a:avLst/>
          </a:prstGeom>
          <a:noFill/>
          <a:ln/>
        </p:spPr>
        <p:txBody>
          <a:bodyPr wrap="square" lIns="63500" tIns="63500" rIns="63500" bIns="63500" rtlCol="0" anchor="ctr"/>
          <a:lstStyle/>
          <a:p>
            <a:pPr algn="l" indent="0" marL="0">
              <a:buNone/>
            </a:pPr>
            <a:r>
              <a:rPr lang="en-US" sz="1800" dirty="0">
                <a:solidFill>
                  <a:srgbClr val="1E2229"/>
                </a:solidFill>
                <a:latin typeface="Calibri" pitchFamily="34" charset="0"/>
                <a:ea typeface="Calibri" pitchFamily="34" charset="-122"/>
                <a:cs typeface="Calibri" pitchFamily="34" charset="-120"/>
              </a:rPr>
              <a:t>Social effect</a:t>
            </a:r>
            <a:endParaRPr lang="en-US" sz="1800" dirty="0"/>
          </a:p>
        </p:txBody>
      </p:sp>
      <p:sp>
        <p:nvSpPr>
          <p:cNvPr id="23" name="match-card"/>
          <p:cNvSpPr/>
          <p:nvPr/>
        </p:nvSpPr>
        <p:spPr>
          <a:xfrm>
            <a:off x="4224437" y="3484880"/>
            <a:ext cx="7190019" cy="721360"/>
          </a:xfrm>
          <a:prstGeom prst="roundRect">
            <a:avLst>
              <a:gd name="adj" fmla="val 10141"/>
            </a:avLst>
          </a:prstGeom>
          <a:solidFill>
            <a:srgbClr val="F8F2E9"/>
          </a:solidFill>
          <a:ln/>
        </p:spPr>
      </p:sp>
      <p:sp>
        <p:nvSpPr>
          <p:cNvPr id="24" name="match-hex"/>
          <p:cNvSpPr/>
          <p:nvPr/>
        </p:nvSpPr>
        <p:spPr>
          <a:xfrm>
            <a:off x="4297589" y="3679267"/>
            <a:ext cx="384048" cy="332586"/>
          </a:xfrm>
          <a:prstGeom prst="hexagon">
            <a:avLst/>
          </a:prstGeom>
          <a:solidFill>
            <a:srgbClr val="B8862B"/>
          </a:solidFill>
          <a:ln/>
        </p:spPr>
      </p:sp>
      <p:sp>
        <p:nvSpPr>
          <p:cNvPr id="25" name="match-hex-label"/>
          <p:cNvSpPr txBox="1"/>
          <p:nvPr/>
        </p:nvSpPr>
        <p:spPr>
          <a:xfrm>
            <a:off x="4297589" y="3679267"/>
            <a:ext cx="384048" cy="332586"/>
          </a:xfrm>
          <a:prstGeom prst="rect">
            <a:avLst/>
          </a:prstGeom>
          <a:noFill/>
          <a:ln/>
        </p:spPr>
        <p:txBody>
          <a:bodyPr wrap="square" lIns="0" tIns="0" rIns="0" bIns="0" rtlCol="0" anchor="ctr"/>
          <a:lstStyle/>
          <a:p>
            <a:pPr algn="ctr" indent="0" marL="0">
              <a:buNone/>
            </a:pPr>
            <a:r>
              <a:rPr lang="en-US" sz="1800" b="1" dirty="0">
                <a:solidFill>
                  <a:srgbClr val="FFFFFF"/>
                </a:solidFill>
                <a:latin typeface="Calibri" pitchFamily="34" charset="0"/>
                <a:ea typeface="Calibri" pitchFamily="34" charset="-122"/>
                <a:cs typeface="Calibri" pitchFamily="34" charset="-120"/>
              </a:rPr>
              <a:t>B</a:t>
            </a:r>
            <a:endParaRPr lang="en-US" sz="1800" dirty="0"/>
          </a:p>
        </p:txBody>
      </p:sp>
      <p:sp>
        <p:nvSpPr>
          <p:cNvPr id="26" name="match-text"/>
          <p:cNvSpPr txBox="1"/>
          <p:nvPr/>
        </p:nvSpPr>
        <p:spPr>
          <a:xfrm>
            <a:off x="4745645" y="3484880"/>
            <a:ext cx="6595659" cy="721360"/>
          </a:xfrm>
          <a:prstGeom prst="rect">
            <a:avLst/>
          </a:prstGeom>
          <a:noFill/>
          <a:ln/>
        </p:spPr>
        <p:txBody>
          <a:bodyPr wrap="square" lIns="63500" tIns="63500" rIns="63500" bIns="63500" rtlCol="0" anchor="ctr"/>
          <a:lstStyle/>
          <a:p>
            <a:pPr algn="l" indent="0" marL="0">
              <a:buNone/>
            </a:pPr>
            <a:r>
              <a:rPr lang="en-US" sz="1800" dirty="0">
                <a:solidFill>
                  <a:srgbClr val="1E2229"/>
                </a:solidFill>
                <a:latin typeface="Calibri" pitchFamily="34" charset="0"/>
                <a:ea typeface="Calibri" pitchFamily="34" charset="-122"/>
                <a:cs typeface="Calibri" pitchFamily="34" charset="-120"/>
              </a:rPr>
              <a:t>Factories, roads and shops were damaged and cost a great deal to rebuild</a:t>
            </a:r>
            <a:endParaRPr lang="en-US" sz="1800" dirty="0"/>
          </a:p>
        </p:txBody>
      </p:sp>
      <p:sp>
        <p:nvSpPr>
          <p:cNvPr id="27" name="match-card"/>
          <p:cNvSpPr/>
          <p:nvPr/>
        </p:nvSpPr>
        <p:spPr>
          <a:xfrm>
            <a:off x="777240" y="4297680"/>
            <a:ext cx="3081437" cy="493776"/>
          </a:xfrm>
          <a:prstGeom prst="roundRect">
            <a:avLst>
              <a:gd name="adj" fmla="val 14815"/>
            </a:avLst>
          </a:prstGeom>
          <a:solidFill>
            <a:srgbClr val="F3F5F3"/>
          </a:solidFill>
          <a:ln/>
        </p:spPr>
      </p:sp>
      <p:sp>
        <p:nvSpPr>
          <p:cNvPr id="28" name="match-hex"/>
          <p:cNvSpPr/>
          <p:nvPr/>
        </p:nvSpPr>
        <p:spPr>
          <a:xfrm>
            <a:off x="850392" y="4378275"/>
            <a:ext cx="384048" cy="332586"/>
          </a:xfrm>
          <a:prstGeom prst="hexagon">
            <a:avLst/>
          </a:prstGeom>
          <a:solidFill>
            <a:srgbClr val="3F6B4A"/>
          </a:solidFill>
          <a:ln/>
        </p:spPr>
      </p:sp>
      <p:sp>
        <p:nvSpPr>
          <p:cNvPr id="29" name="match-hex-label"/>
          <p:cNvSpPr txBox="1"/>
          <p:nvPr/>
        </p:nvSpPr>
        <p:spPr>
          <a:xfrm>
            <a:off x="850392" y="4378275"/>
            <a:ext cx="384048" cy="332586"/>
          </a:xfrm>
          <a:prstGeom prst="rect">
            <a:avLst/>
          </a:prstGeom>
          <a:noFill/>
          <a:ln/>
        </p:spPr>
        <p:txBody>
          <a:bodyPr wrap="square" lIns="0" tIns="0" rIns="0" bIns="0" rtlCol="0" anchor="ctr"/>
          <a:lstStyle/>
          <a:p>
            <a:pPr algn="ctr" indent="0" marL="0">
              <a:buNone/>
            </a:pPr>
            <a:r>
              <a:rPr lang="en-US" sz="1800" b="1" dirty="0">
                <a:solidFill>
                  <a:srgbClr val="FFFFFF"/>
                </a:solidFill>
                <a:latin typeface="Calibri" pitchFamily="34" charset="0"/>
                <a:ea typeface="Calibri" pitchFamily="34" charset="-122"/>
                <a:cs typeface="Calibri" pitchFamily="34" charset="-120"/>
              </a:rPr>
              <a:t>3</a:t>
            </a:r>
            <a:endParaRPr lang="en-US" sz="1800" dirty="0"/>
          </a:p>
        </p:txBody>
      </p:sp>
      <p:sp>
        <p:nvSpPr>
          <p:cNvPr id="30" name="match-text"/>
          <p:cNvSpPr txBox="1"/>
          <p:nvPr/>
        </p:nvSpPr>
        <p:spPr>
          <a:xfrm>
            <a:off x="1298448" y="4297680"/>
            <a:ext cx="2487077" cy="493776"/>
          </a:xfrm>
          <a:prstGeom prst="rect">
            <a:avLst/>
          </a:prstGeom>
          <a:noFill/>
          <a:ln/>
        </p:spPr>
        <p:txBody>
          <a:bodyPr wrap="square" lIns="63500" tIns="63500" rIns="63500" bIns="63500" rtlCol="0" anchor="ctr"/>
          <a:lstStyle/>
          <a:p>
            <a:pPr algn="l" indent="0" marL="0">
              <a:buNone/>
            </a:pPr>
            <a:r>
              <a:rPr lang="en-US" sz="1800" dirty="0">
                <a:solidFill>
                  <a:srgbClr val="1E2229"/>
                </a:solidFill>
                <a:latin typeface="Calibri" pitchFamily="34" charset="0"/>
                <a:ea typeface="Calibri" pitchFamily="34" charset="-122"/>
                <a:cs typeface="Calibri" pitchFamily="34" charset="-120"/>
              </a:rPr>
              <a:t>Economic effect</a:t>
            </a:r>
            <a:endParaRPr lang="en-US" sz="1800" dirty="0"/>
          </a:p>
        </p:txBody>
      </p:sp>
      <p:sp>
        <p:nvSpPr>
          <p:cNvPr id="31" name="match-card"/>
          <p:cNvSpPr/>
          <p:nvPr/>
        </p:nvSpPr>
        <p:spPr>
          <a:xfrm>
            <a:off x="4224437" y="4297680"/>
            <a:ext cx="7190019" cy="493776"/>
          </a:xfrm>
          <a:prstGeom prst="roundRect">
            <a:avLst>
              <a:gd name="adj" fmla="val 14815"/>
            </a:avLst>
          </a:prstGeom>
          <a:solidFill>
            <a:srgbClr val="F8F2E9"/>
          </a:solidFill>
          <a:ln/>
        </p:spPr>
      </p:sp>
      <p:sp>
        <p:nvSpPr>
          <p:cNvPr id="32" name="match-hex"/>
          <p:cNvSpPr/>
          <p:nvPr/>
        </p:nvSpPr>
        <p:spPr>
          <a:xfrm>
            <a:off x="4297589" y="4378275"/>
            <a:ext cx="384048" cy="332586"/>
          </a:xfrm>
          <a:prstGeom prst="hexagon">
            <a:avLst/>
          </a:prstGeom>
          <a:solidFill>
            <a:srgbClr val="B8862B"/>
          </a:solidFill>
          <a:ln/>
        </p:spPr>
      </p:sp>
      <p:sp>
        <p:nvSpPr>
          <p:cNvPr id="33" name="match-hex-label"/>
          <p:cNvSpPr txBox="1"/>
          <p:nvPr/>
        </p:nvSpPr>
        <p:spPr>
          <a:xfrm>
            <a:off x="4297589" y="4378275"/>
            <a:ext cx="384048" cy="332586"/>
          </a:xfrm>
          <a:prstGeom prst="rect">
            <a:avLst/>
          </a:prstGeom>
          <a:noFill/>
          <a:ln/>
        </p:spPr>
        <p:txBody>
          <a:bodyPr wrap="square" lIns="0" tIns="0" rIns="0" bIns="0" rtlCol="0" anchor="ctr"/>
          <a:lstStyle/>
          <a:p>
            <a:pPr algn="ctr" indent="0" marL="0">
              <a:buNone/>
            </a:pPr>
            <a:r>
              <a:rPr lang="en-US" sz="1800" b="1" dirty="0">
                <a:solidFill>
                  <a:srgbClr val="FFFFFF"/>
                </a:solidFill>
                <a:latin typeface="Calibri" pitchFamily="34" charset="0"/>
                <a:ea typeface="Calibri" pitchFamily="34" charset="-122"/>
                <a:cs typeface="Calibri" pitchFamily="34" charset="-120"/>
              </a:rPr>
              <a:t>C</a:t>
            </a:r>
            <a:endParaRPr lang="en-US" sz="1800" dirty="0"/>
          </a:p>
        </p:txBody>
      </p:sp>
      <p:sp>
        <p:nvSpPr>
          <p:cNvPr id="34" name="match-text"/>
          <p:cNvSpPr txBox="1"/>
          <p:nvPr/>
        </p:nvSpPr>
        <p:spPr>
          <a:xfrm>
            <a:off x="4745645" y="4297680"/>
            <a:ext cx="6595659" cy="493776"/>
          </a:xfrm>
          <a:prstGeom prst="rect">
            <a:avLst/>
          </a:prstGeom>
          <a:noFill/>
          <a:ln/>
        </p:spPr>
        <p:txBody>
          <a:bodyPr wrap="square" lIns="63500" tIns="63500" rIns="63500" bIns="63500" rtlCol="0" anchor="ctr"/>
          <a:lstStyle/>
          <a:p>
            <a:pPr algn="l" indent="0" marL="0">
              <a:buNone/>
            </a:pPr>
            <a:r>
              <a:rPr lang="en-US" sz="1800" dirty="0">
                <a:solidFill>
                  <a:srgbClr val="1E2229"/>
                </a:solidFill>
                <a:latin typeface="Calibri" pitchFamily="34" charset="0"/>
                <a:ea typeface="Calibri" pitchFamily="34" charset="-122"/>
                <a:cs typeface="Calibri" pitchFamily="34" charset="-120"/>
              </a:rPr>
              <a:t>Landslides buried hillsides and blocked rivers</a:t>
            </a:r>
            <a:endParaRPr lang="en-US" sz="1800" dirty="0"/>
          </a:p>
        </p:txBody>
      </p:sp>
      <p:sp>
        <p:nvSpPr>
          <p:cNvPr id="35" name="match-card"/>
          <p:cNvSpPr/>
          <p:nvPr/>
        </p:nvSpPr>
        <p:spPr>
          <a:xfrm>
            <a:off x="777240" y="4882896"/>
            <a:ext cx="3081437" cy="493776"/>
          </a:xfrm>
          <a:prstGeom prst="roundRect">
            <a:avLst>
              <a:gd name="adj" fmla="val 14815"/>
            </a:avLst>
          </a:prstGeom>
          <a:solidFill>
            <a:srgbClr val="F3F5F3"/>
          </a:solidFill>
          <a:ln/>
        </p:spPr>
      </p:sp>
      <p:sp>
        <p:nvSpPr>
          <p:cNvPr id="36" name="match-hex"/>
          <p:cNvSpPr/>
          <p:nvPr/>
        </p:nvSpPr>
        <p:spPr>
          <a:xfrm>
            <a:off x="850392" y="4963491"/>
            <a:ext cx="384048" cy="332586"/>
          </a:xfrm>
          <a:prstGeom prst="hexagon">
            <a:avLst/>
          </a:prstGeom>
          <a:solidFill>
            <a:srgbClr val="3F6B4A"/>
          </a:solidFill>
          <a:ln/>
        </p:spPr>
      </p:sp>
      <p:sp>
        <p:nvSpPr>
          <p:cNvPr id="37" name="match-hex-label"/>
          <p:cNvSpPr txBox="1"/>
          <p:nvPr/>
        </p:nvSpPr>
        <p:spPr>
          <a:xfrm>
            <a:off x="850392" y="4963491"/>
            <a:ext cx="384048" cy="332586"/>
          </a:xfrm>
          <a:prstGeom prst="rect">
            <a:avLst/>
          </a:prstGeom>
          <a:noFill/>
          <a:ln/>
        </p:spPr>
        <p:txBody>
          <a:bodyPr wrap="square" lIns="0" tIns="0" rIns="0" bIns="0" rtlCol="0" anchor="ctr"/>
          <a:lstStyle/>
          <a:p>
            <a:pPr algn="ctr" indent="0" marL="0">
              <a:buNone/>
            </a:pPr>
            <a:r>
              <a:rPr lang="en-US" sz="1800" b="1" dirty="0">
                <a:solidFill>
                  <a:srgbClr val="FFFFFF"/>
                </a:solidFill>
                <a:latin typeface="Calibri" pitchFamily="34" charset="0"/>
                <a:ea typeface="Calibri" pitchFamily="34" charset="-122"/>
                <a:cs typeface="Calibri" pitchFamily="34" charset="-120"/>
              </a:rPr>
              <a:t>4</a:t>
            </a:r>
            <a:endParaRPr lang="en-US" sz="1800" dirty="0"/>
          </a:p>
        </p:txBody>
      </p:sp>
      <p:sp>
        <p:nvSpPr>
          <p:cNvPr id="38" name="match-text"/>
          <p:cNvSpPr txBox="1"/>
          <p:nvPr/>
        </p:nvSpPr>
        <p:spPr>
          <a:xfrm>
            <a:off x="1298448" y="4882896"/>
            <a:ext cx="2487077" cy="493776"/>
          </a:xfrm>
          <a:prstGeom prst="rect">
            <a:avLst/>
          </a:prstGeom>
          <a:noFill/>
          <a:ln/>
        </p:spPr>
        <p:txBody>
          <a:bodyPr wrap="square" lIns="63500" tIns="63500" rIns="63500" bIns="63500" rtlCol="0" anchor="ctr"/>
          <a:lstStyle/>
          <a:p>
            <a:pPr algn="l" indent="0" marL="0">
              <a:buNone/>
            </a:pPr>
            <a:r>
              <a:rPr lang="en-US" sz="1800" dirty="0">
                <a:solidFill>
                  <a:srgbClr val="1E2229"/>
                </a:solidFill>
                <a:latin typeface="Calibri" pitchFamily="34" charset="0"/>
                <a:ea typeface="Calibri" pitchFamily="34" charset="-122"/>
                <a:cs typeface="Calibri" pitchFamily="34" charset="-120"/>
              </a:rPr>
              <a:t>Environmental effect</a:t>
            </a:r>
            <a:endParaRPr lang="en-US" sz="1800" dirty="0"/>
          </a:p>
        </p:txBody>
      </p:sp>
      <p:sp>
        <p:nvSpPr>
          <p:cNvPr id="39" name="match-card"/>
          <p:cNvSpPr/>
          <p:nvPr/>
        </p:nvSpPr>
        <p:spPr>
          <a:xfrm>
            <a:off x="4224437" y="4882896"/>
            <a:ext cx="7190019" cy="493776"/>
          </a:xfrm>
          <a:prstGeom prst="roundRect">
            <a:avLst>
              <a:gd name="adj" fmla="val 14815"/>
            </a:avLst>
          </a:prstGeom>
          <a:solidFill>
            <a:srgbClr val="F8F2E9"/>
          </a:solidFill>
          <a:ln/>
        </p:spPr>
      </p:sp>
      <p:sp>
        <p:nvSpPr>
          <p:cNvPr id="40" name="match-hex"/>
          <p:cNvSpPr/>
          <p:nvPr/>
        </p:nvSpPr>
        <p:spPr>
          <a:xfrm>
            <a:off x="4297589" y="4963491"/>
            <a:ext cx="384048" cy="332586"/>
          </a:xfrm>
          <a:prstGeom prst="hexagon">
            <a:avLst/>
          </a:prstGeom>
          <a:solidFill>
            <a:srgbClr val="B8862B"/>
          </a:solidFill>
          <a:ln/>
        </p:spPr>
      </p:sp>
      <p:sp>
        <p:nvSpPr>
          <p:cNvPr id="41" name="match-hex-label"/>
          <p:cNvSpPr txBox="1"/>
          <p:nvPr/>
        </p:nvSpPr>
        <p:spPr>
          <a:xfrm>
            <a:off x="4297589" y="4963491"/>
            <a:ext cx="384048" cy="332586"/>
          </a:xfrm>
          <a:prstGeom prst="rect">
            <a:avLst/>
          </a:prstGeom>
          <a:noFill/>
          <a:ln/>
        </p:spPr>
        <p:txBody>
          <a:bodyPr wrap="square" lIns="0" tIns="0" rIns="0" bIns="0" rtlCol="0" anchor="ctr"/>
          <a:lstStyle/>
          <a:p>
            <a:pPr algn="ctr" indent="0" marL="0">
              <a:buNone/>
            </a:pPr>
            <a:r>
              <a:rPr lang="en-US" sz="1800" b="1" dirty="0">
                <a:solidFill>
                  <a:srgbClr val="FFFFFF"/>
                </a:solidFill>
                <a:latin typeface="Calibri" pitchFamily="34" charset="0"/>
                <a:ea typeface="Calibri" pitchFamily="34" charset="-122"/>
                <a:cs typeface="Calibri" pitchFamily="34" charset="-120"/>
              </a:rPr>
              <a:t>D</a:t>
            </a:r>
            <a:endParaRPr lang="en-US" sz="1800" dirty="0"/>
          </a:p>
        </p:txBody>
      </p:sp>
      <p:sp>
        <p:nvSpPr>
          <p:cNvPr id="42" name="match-text"/>
          <p:cNvSpPr txBox="1"/>
          <p:nvPr/>
        </p:nvSpPr>
        <p:spPr>
          <a:xfrm>
            <a:off x="4745645" y="4882896"/>
            <a:ext cx="6595659" cy="493776"/>
          </a:xfrm>
          <a:prstGeom prst="rect">
            <a:avLst/>
          </a:prstGeom>
          <a:noFill/>
          <a:ln/>
        </p:spPr>
        <p:txBody>
          <a:bodyPr wrap="square" lIns="63500" tIns="63500" rIns="63500" bIns="63500" rtlCol="0" anchor="ctr"/>
          <a:lstStyle/>
          <a:p>
            <a:pPr algn="l" indent="0" marL="0">
              <a:buNone/>
            </a:pPr>
            <a:r>
              <a:rPr lang="en-US" sz="1800" dirty="0">
                <a:solidFill>
                  <a:srgbClr val="1E2229"/>
                </a:solidFill>
                <a:latin typeface="Calibri" pitchFamily="34" charset="0"/>
                <a:ea typeface="Calibri" pitchFamily="34" charset="-122"/>
                <a:cs typeface="Calibri" pitchFamily="34" charset="-120"/>
              </a:rPr>
              <a:t>Thousands of people lost their homes and schools were destroyed</a:t>
            </a:r>
            <a:endParaRPr lang="en-US" sz="1800" dirty="0"/>
          </a:p>
        </p:txBody>
      </p:sp>
      <p:sp>
        <p:nvSpPr>
          <p:cNvPr id="43" name="match-card"/>
          <p:cNvSpPr/>
          <p:nvPr/>
        </p:nvSpPr>
        <p:spPr>
          <a:xfrm>
            <a:off x="777240" y="5468112"/>
            <a:ext cx="3081437" cy="493776"/>
          </a:xfrm>
          <a:prstGeom prst="roundRect">
            <a:avLst>
              <a:gd name="adj" fmla="val 14815"/>
            </a:avLst>
          </a:prstGeom>
          <a:solidFill>
            <a:srgbClr val="F3F5F3"/>
          </a:solidFill>
          <a:ln/>
        </p:spPr>
      </p:sp>
      <p:sp>
        <p:nvSpPr>
          <p:cNvPr id="44" name="match-hex"/>
          <p:cNvSpPr/>
          <p:nvPr/>
        </p:nvSpPr>
        <p:spPr>
          <a:xfrm>
            <a:off x="850392" y="5548707"/>
            <a:ext cx="384048" cy="332586"/>
          </a:xfrm>
          <a:prstGeom prst="hexagon">
            <a:avLst/>
          </a:prstGeom>
          <a:solidFill>
            <a:srgbClr val="3F6B4A"/>
          </a:solidFill>
          <a:ln/>
        </p:spPr>
      </p:sp>
      <p:sp>
        <p:nvSpPr>
          <p:cNvPr id="45" name="match-hex-label"/>
          <p:cNvSpPr txBox="1"/>
          <p:nvPr/>
        </p:nvSpPr>
        <p:spPr>
          <a:xfrm>
            <a:off x="850392" y="5548707"/>
            <a:ext cx="384048" cy="332586"/>
          </a:xfrm>
          <a:prstGeom prst="rect">
            <a:avLst/>
          </a:prstGeom>
          <a:noFill/>
          <a:ln/>
        </p:spPr>
        <p:txBody>
          <a:bodyPr wrap="square" lIns="0" tIns="0" rIns="0" bIns="0" rtlCol="0" anchor="ctr"/>
          <a:lstStyle/>
          <a:p>
            <a:pPr algn="ctr" indent="0" marL="0">
              <a:buNone/>
            </a:pPr>
            <a:r>
              <a:rPr lang="en-US" sz="1800" b="1" dirty="0">
                <a:solidFill>
                  <a:srgbClr val="FFFFFF"/>
                </a:solidFill>
                <a:latin typeface="Calibri" pitchFamily="34" charset="0"/>
                <a:ea typeface="Calibri" pitchFamily="34" charset="-122"/>
                <a:cs typeface="Calibri" pitchFamily="34" charset="-120"/>
              </a:rPr>
              <a:t>5</a:t>
            </a:r>
            <a:endParaRPr lang="en-US" sz="1800" dirty="0"/>
          </a:p>
        </p:txBody>
      </p:sp>
      <p:sp>
        <p:nvSpPr>
          <p:cNvPr id="46" name="match-text"/>
          <p:cNvSpPr txBox="1"/>
          <p:nvPr/>
        </p:nvSpPr>
        <p:spPr>
          <a:xfrm>
            <a:off x="1298448" y="5468112"/>
            <a:ext cx="2487077" cy="493776"/>
          </a:xfrm>
          <a:prstGeom prst="rect">
            <a:avLst/>
          </a:prstGeom>
          <a:noFill/>
          <a:ln/>
        </p:spPr>
        <p:txBody>
          <a:bodyPr wrap="square" lIns="63500" tIns="63500" rIns="63500" bIns="63500" rtlCol="0" anchor="ctr"/>
          <a:lstStyle/>
          <a:p>
            <a:pPr algn="l" indent="0" marL="0">
              <a:buNone/>
            </a:pPr>
            <a:r>
              <a:rPr lang="en-US" sz="1800" dirty="0">
                <a:solidFill>
                  <a:srgbClr val="1E2229"/>
                </a:solidFill>
                <a:latin typeface="Calibri" pitchFamily="34" charset="0"/>
                <a:ea typeface="Calibri" pitchFamily="34" charset="-122"/>
                <a:cs typeface="Calibri" pitchFamily="34" charset="-120"/>
              </a:rPr>
              <a:t>Response</a:t>
            </a:r>
            <a:endParaRPr lang="en-US" sz="1800" dirty="0"/>
          </a:p>
        </p:txBody>
      </p:sp>
      <p:sp>
        <p:nvSpPr>
          <p:cNvPr id="47" name="match-card"/>
          <p:cNvSpPr/>
          <p:nvPr/>
        </p:nvSpPr>
        <p:spPr>
          <a:xfrm>
            <a:off x="4224437" y="5468112"/>
            <a:ext cx="7190019" cy="493776"/>
          </a:xfrm>
          <a:prstGeom prst="roundRect">
            <a:avLst>
              <a:gd name="adj" fmla="val 14815"/>
            </a:avLst>
          </a:prstGeom>
          <a:solidFill>
            <a:srgbClr val="F8F2E9"/>
          </a:solidFill>
          <a:ln/>
        </p:spPr>
      </p:sp>
      <p:sp>
        <p:nvSpPr>
          <p:cNvPr id="48" name="match-hex"/>
          <p:cNvSpPr/>
          <p:nvPr/>
        </p:nvSpPr>
        <p:spPr>
          <a:xfrm>
            <a:off x="4297589" y="5548707"/>
            <a:ext cx="384048" cy="332586"/>
          </a:xfrm>
          <a:prstGeom prst="hexagon">
            <a:avLst/>
          </a:prstGeom>
          <a:solidFill>
            <a:srgbClr val="B8862B"/>
          </a:solidFill>
          <a:ln/>
        </p:spPr>
      </p:sp>
      <p:sp>
        <p:nvSpPr>
          <p:cNvPr id="49" name="match-hex-label"/>
          <p:cNvSpPr txBox="1"/>
          <p:nvPr/>
        </p:nvSpPr>
        <p:spPr>
          <a:xfrm>
            <a:off x="4297589" y="5548707"/>
            <a:ext cx="384048" cy="332586"/>
          </a:xfrm>
          <a:prstGeom prst="rect">
            <a:avLst/>
          </a:prstGeom>
          <a:noFill/>
          <a:ln/>
        </p:spPr>
        <p:txBody>
          <a:bodyPr wrap="square" lIns="0" tIns="0" rIns="0" bIns="0" rtlCol="0" anchor="ctr"/>
          <a:lstStyle/>
          <a:p>
            <a:pPr algn="ctr" indent="0" marL="0">
              <a:buNone/>
            </a:pPr>
            <a:r>
              <a:rPr lang="en-US" sz="1800" b="1" dirty="0">
                <a:solidFill>
                  <a:srgbClr val="FFFFFF"/>
                </a:solidFill>
                <a:latin typeface="Calibri" pitchFamily="34" charset="0"/>
                <a:ea typeface="Calibri" pitchFamily="34" charset="-122"/>
                <a:cs typeface="Calibri" pitchFamily="34" charset="-120"/>
              </a:rPr>
              <a:t>E</a:t>
            </a:r>
            <a:endParaRPr lang="en-US" sz="1800" dirty="0"/>
          </a:p>
        </p:txBody>
      </p:sp>
      <p:sp>
        <p:nvSpPr>
          <p:cNvPr id="50" name="match-text"/>
          <p:cNvSpPr txBox="1"/>
          <p:nvPr/>
        </p:nvSpPr>
        <p:spPr>
          <a:xfrm>
            <a:off x="4745645" y="5468112"/>
            <a:ext cx="6595659" cy="493776"/>
          </a:xfrm>
          <a:prstGeom prst="rect">
            <a:avLst/>
          </a:prstGeom>
          <a:noFill/>
          <a:ln/>
        </p:spPr>
        <p:txBody>
          <a:bodyPr wrap="square" lIns="63500" tIns="63500" rIns="63500" bIns="63500" rtlCol="0" anchor="ctr"/>
          <a:lstStyle/>
          <a:p>
            <a:pPr algn="l" indent="0" marL="0">
              <a:buNone/>
            </a:pPr>
            <a:r>
              <a:rPr lang="en-US" sz="1800" dirty="0">
                <a:solidFill>
                  <a:srgbClr val="1E2229"/>
                </a:solidFill>
                <a:latin typeface="Calibri" pitchFamily="34" charset="0"/>
                <a:ea typeface="Calibri" pitchFamily="34" charset="-122"/>
                <a:cs typeface="Calibri" pitchFamily="34" charset="-120"/>
              </a:rPr>
              <a:t>Moving plates released pressure that had built up between them</a:t>
            </a:r>
            <a:endParaRPr lang="en-US" sz="1800" dirty="0"/>
          </a:p>
        </p:txBody>
      </p:sp>
      <p:sp>
        <p:nvSpPr>
          <p:cNvPr id="25" name="Slide Number Placeholder 0"/>
          <p:cNvSpPr>
            <a:spLocks noGrp="1"/>
          </p:cNvSpPr>
          <p:nvPr>
            <p:ph type="sldNum" sz="quarter" idx="4294967295"/>
          </p:nvPr>
        </p:nvSpPr>
        <p:spPr>
          <a:xfrm>
            <a:off x="11018520" y="6446520"/>
            <a:ext cx="640080" cy="365760"/>
          </a:xfrm>
          <a:prstGeom prst="rect">
            <a:avLst/>
          </a:prstGeom>
          <a:extLst>
            <a:ext uri="{C572A759-6A51-4108-AA02-DFA0A04FC94B}">
              <ma14:wrappingTextBoxFlag xmlns:ma14="http://schemas.microsoft.com/office/mac/drawingml/2011/main" val="0"/>
            </a:ext>
          </a:extLst>
        </p:spPr>
        <p:txBody>
          <a:bodyPr lIns="0" tIns="0" rIns="0" bIns="0" anchor="ctr"/>
          <a:lstStyle>
            <a:lvl1pPr>
              <a:defRPr sz="1000">
                <a:solidFill>
                  <a:srgbClr val="396043"/>
                </a:solidFill>
                <a:latin typeface="Calibri"/>
                <a:ea typeface="Calibri"/>
                <a:cs typeface="Calibri"/>
              </a:defRPr>
            </a:lvl1pPr>
          </a:lstStyle>
          <a:p>
            <a:pPr algn="r"/>
            <a:fld id="{F7021451-1387-4CA6-816F-3879F97B5CBC}" type="slidenum">
              <a:rPr b="0" lang="en-US"/>
              <a:t>16</a:t>
            </a:fld>
            <a:endParaRPr lang="en-US"/>
          </a:p>
        </p:txBody>
      </p:sp>
    </p:spTree>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name="Slide 17">
    <p:spTree>
      <p:nvGrpSpPr>
        <p:cNvPr id="1" name=""/>
        <p:cNvGrpSpPr/>
        <p:nvPr/>
      </p:nvGrpSpPr>
      <p:grpSpPr>
        <a:xfrm>
          <a:off x="0" y="0"/>
          <a:ext cx="0" cy="0"/>
          <a:chOff x="0" y="0"/>
          <a:chExt cx="0" cy="0"/>
        </a:xfrm>
      </p:grpSpPr>
      <p:sp>
        <p:nvSpPr>
          <p:cNvPr id="3" name="title"/>
          <p:cNvSpPr txBox="1"/>
          <p:nvPr/>
        </p:nvSpPr>
        <p:spPr>
          <a:xfrm>
            <a:off x="548640" y="292608"/>
            <a:ext cx="9052560" cy="969264"/>
          </a:xfrm>
          <a:prstGeom prst="rect">
            <a:avLst/>
          </a:prstGeom>
          <a:noFill/>
          <a:ln/>
        </p:spPr>
        <p:txBody>
          <a:bodyPr wrap="square" lIns="63500" tIns="63500" rIns="63500" bIns="63500" rtlCol="0" anchor="ctr"/>
          <a:lstStyle/>
          <a:p>
            <a:pPr algn="l" indent="0" marL="0">
              <a:buNone/>
            </a:pPr>
            <a:r>
              <a:rPr lang="en-US" sz="3200" b="1" dirty="0">
                <a:solidFill>
                  <a:srgbClr val="3F6B4A"/>
                </a:solidFill>
                <a:latin typeface="Cambria" pitchFamily="34" charset="0"/>
                <a:ea typeface="Cambria" pitchFamily="34" charset="-122"/>
                <a:cs typeface="Cambria" pitchFamily="34" charset="-120"/>
              </a:rPr>
              <a:t>Same task, three ways in: Sorting a case study</a:t>
            </a:r>
            <a:endParaRPr lang="en-US" sz="3200" dirty="0"/>
          </a:p>
        </p:txBody>
      </p:sp>
      <p:sp>
        <p:nvSpPr>
          <p:cNvPr id="4" name="chip-hex"/>
          <p:cNvSpPr/>
          <p:nvPr/>
        </p:nvSpPr>
        <p:spPr>
          <a:xfrm>
            <a:off x="9677095" y="531760"/>
            <a:ext cx="566928" cy="490960"/>
          </a:xfrm>
          <a:prstGeom prst="hexagon">
            <a:avLst/>
          </a:prstGeom>
          <a:solidFill>
            <a:srgbClr val="3F6B4A"/>
          </a:solidFill>
          <a:ln/>
        </p:spPr>
      </p:sp>
      <p:sp>
        <p:nvSpPr>
          <p:cNvPr id="5" name="chip-hex-label"/>
          <p:cNvSpPr txBox="1"/>
          <p:nvPr/>
        </p:nvSpPr>
        <p:spPr>
          <a:xfrm>
            <a:off x="9677095" y="531760"/>
            <a:ext cx="566928" cy="490960"/>
          </a:xfrm>
          <a:prstGeom prst="rect">
            <a:avLst/>
          </a:prstGeom>
          <a:noFill/>
          <a:ln/>
        </p:spPr>
        <p:txBody>
          <a:bodyPr wrap="square" lIns="0" tIns="0" rIns="0" bIns="0" rtlCol="0" anchor="ctr"/>
          <a:lstStyle/>
          <a:p>
            <a:pPr algn="ctr" indent="0" marL="0">
              <a:buNone/>
            </a:pPr>
            <a:r>
              <a:rPr lang="en-US" sz="2000" b="1" dirty="0">
                <a:solidFill>
                  <a:srgbClr val="FFFFFF"/>
                </a:solidFill>
                <a:latin typeface="Calibri" pitchFamily="34" charset="0"/>
                <a:ea typeface="Calibri" pitchFamily="34" charset="-122"/>
                <a:cs typeface="Calibri" pitchFamily="34" charset="-120"/>
              </a:rPr>
              <a:t>3</a:t>
            </a:r>
            <a:endParaRPr lang="en-US" sz="2000" dirty="0"/>
          </a:p>
        </p:txBody>
      </p:sp>
      <p:sp>
        <p:nvSpPr>
          <p:cNvPr id="6" name="chip-label"/>
          <p:cNvSpPr txBox="1"/>
          <p:nvPr/>
        </p:nvSpPr>
        <p:spPr>
          <a:xfrm>
            <a:off x="10317175" y="292608"/>
            <a:ext cx="1325880" cy="969264"/>
          </a:xfrm>
          <a:prstGeom prst="rect">
            <a:avLst/>
          </a:prstGeom>
          <a:noFill/>
          <a:ln/>
        </p:spPr>
        <p:txBody>
          <a:bodyPr wrap="square" lIns="63500" tIns="63500" rIns="63500" bIns="63500" rtlCol="0" anchor="ctr"/>
          <a:lstStyle/>
          <a:p>
            <a:pPr algn="l" indent="0" marL="0">
              <a:buNone/>
            </a:pPr>
            <a:r>
              <a:rPr lang="en-US" sz="1800" b="1" dirty="0">
                <a:solidFill>
                  <a:srgbClr val="3F6B4A"/>
                </a:solidFill>
                <a:latin typeface="Calibri" pitchFamily="34" charset="0"/>
                <a:ea typeface="Calibri" pitchFamily="34" charset="-122"/>
                <a:cs typeface="Calibri" pitchFamily="34" charset="-120"/>
              </a:rPr>
              <a:t>Routes</a:t>
            </a:r>
            <a:endParaRPr lang="en-US" sz="1800" dirty="0"/>
          </a:p>
        </p:txBody>
      </p:sp>
      <p:sp>
        <p:nvSpPr>
          <p:cNvPr id="7" name="task-box"/>
          <p:cNvSpPr/>
          <p:nvPr/>
        </p:nvSpPr>
        <p:spPr>
          <a:xfrm>
            <a:off x="548640" y="1389888"/>
            <a:ext cx="11094415" cy="731520"/>
          </a:xfrm>
          <a:prstGeom prst="roundRect">
            <a:avLst>
              <a:gd name="adj" fmla="val 12500"/>
            </a:avLst>
          </a:prstGeom>
          <a:solidFill>
            <a:srgbClr val="FFFFFF"/>
          </a:solidFill>
          <a:ln w="31750">
            <a:solidFill>
              <a:srgbClr val="B8862B"/>
            </a:solidFill>
            <a:prstDash val="solid"/>
          </a:ln>
        </p:spPr>
      </p:sp>
      <p:sp>
        <p:nvSpPr>
          <p:cNvPr id="8" name="task-hex"/>
          <p:cNvSpPr/>
          <p:nvPr/>
        </p:nvSpPr>
        <p:spPr>
          <a:xfrm>
            <a:off x="777240" y="1438900"/>
            <a:ext cx="731520" cy="633496"/>
          </a:xfrm>
          <a:prstGeom prst="hexagon">
            <a:avLst/>
          </a:prstGeom>
          <a:solidFill>
            <a:srgbClr val="B8862B"/>
          </a:solidFill>
          <a:ln/>
        </p:spPr>
      </p:sp>
      <p:sp>
        <p:nvSpPr>
          <p:cNvPr id="9" name="task-hex-label"/>
          <p:cNvSpPr txBox="1"/>
          <p:nvPr/>
        </p:nvSpPr>
        <p:spPr>
          <a:xfrm>
            <a:off x="777240" y="1438900"/>
            <a:ext cx="731520" cy="633496"/>
          </a:xfrm>
          <a:prstGeom prst="rect">
            <a:avLst/>
          </a:prstGeom>
          <a:noFill/>
          <a:ln/>
        </p:spPr>
        <p:txBody>
          <a:bodyPr wrap="square" lIns="0" tIns="0" rIns="0" bIns="0" rtlCol="0" anchor="ctr"/>
          <a:lstStyle/>
          <a:p>
            <a:pPr algn="ctr" indent="0" marL="0">
              <a:buNone/>
            </a:pPr>
            <a:r>
              <a:rPr lang="en-US" sz="2400" b="1" dirty="0">
                <a:solidFill>
                  <a:srgbClr val="FFFFFF"/>
                </a:solidFill>
                <a:latin typeface="Cambria" pitchFamily="34" charset="0"/>
                <a:ea typeface="Cambria" pitchFamily="34" charset="-122"/>
                <a:cs typeface="Cambria" pitchFamily="34" charset="-120"/>
              </a:rPr>
              <a:t>1</a:t>
            </a:r>
            <a:endParaRPr lang="en-US" sz="2400" dirty="0"/>
          </a:p>
        </p:txBody>
      </p:sp>
      <p:sp>
        <p:nvSpPr>
          <p:cNvPr id="10" name="task-everyone"/>
          <p:cNvSpPr txBox="1"/>
          <p:nvPr/>
        </p:nvSpPr>
        <p:spPr>
          <a:xfrm>
            <a:off x="10362895" y="1481328"/>
            <a:ext cx="1188720" cy="548640"/>
          </a:xfrm>
          <a:prstGeom prst="rect">
            <a:avLst/>
          </a:prstGeom>
          <a:noFill/>
          <a:ln/>
        </p:spPr>
        <p:txBody>
          <a:bodyPr wrap="square" lIns="63500" tIns="63500" rIns="63500" bIns="63500" rtlCol="0" anchor="ctr"/>
          <a:lstStyle/>
          <a:p>
            <a:pPr algn="ctr" indent="0" marL="0">
              <a:buNone/>
            </a:pPr>
            <a:r>
              <a:rPr lang="en-US" sz="1800" b="1" dirty="0">
                <a:solidFill>
                  <a:srgbClr val="815E1E"/>
                </a:solidFill>
                <a:latin typeface="Calibri" pitchFamily="34" charset="0"/>
                <a:ea typeface="Calibri" pitchFamily="34" charset="-122"/>
                <a:cs typeface="Calibri" pitchFamily="34" charset="-120"/>
              </a:rPr>
              <a:t>Everyone</a:t>
            </a:r>
            <a:endParaRPr lang="en-US" sz="1800" dirty="0"/>
          </a:p>
        </p:txBody>
      </p:sp>
      <p:sp>
        <p:nvSpPr>
          <p:cNvPr id="11" name="task"/>
          <p:cNvSpPr txBox="1"/>
          <p:nvPr/>
        </p:nvSpPr>
        <p:spPr>
          <a:xfrm>
            <a:off x="1645920" y="1481328"/>
            <a:ext cx="8579815" cy="548640"/>
          </a:xfrm>
          <a:prstGeom prst="rect">
            <a:avLst/>
          </a:prstGeom>
          <a:noFill/>
          <a:ln/>
        </p:spPr>
        <p:txBody>
          <a:bodyPr wrap="square" lIns="63500" tIns="63500" rIns="63500" bIns="63500" rtlCol="0" anchor="ctr"/>
          <a:lstStyle/>
          <a:p>
            <a:pPr algn="ctr" indent="0" marL="0">
              <a:buNone/>
            </a:pPr>
            <a:r>
              <a:rPr lang="en-US" sz="2000" b="1" dirty="0">
                <a:solidFill>
                  <a:srgbClr val="1E2229"/>
                </a:solidFill>
                <a:latin typeface="Calibri" pitchFamily="34" charset="0"/>
                <a:ea typeface="Calibri" pitchFamily="34" charset="-122"/>
                <a:cs typeface="Calibri" pitchFamily="34" charset="-120"/>
              </a:rPr>
              <a:t>Task 1 (on the last slide): Sorting a case study</a:t>
            </a:r>
            <a:endParaRPr lang="en-US" sz="2000" dirty="0"/>
          </a:p>
        </p:txBody>
      </p:sp>
      <p:sp>
        <p:nvSpPr>
          <p:cNvPr id="12" name="col-Support"/>
          <p:cNvSpPr/>
          <p:nvPr/>
        </p:nvSpPr>
        <p:spPr>
          <a:xfrm>
            <a:off x="548640" y="2395728"/>
            <a:ext cx="5602443" cy="3749040"/>
          </a:xfrm>
          <a:prstGeom prst="roundRect">
            <a:avLst>
              <a:gd name="adj" fmla="val 1463"/>
            </a:avLst>
          </a:prstGeom>
          <a:solidFill>
            <a:srgbClr val="EFF2F0"/>
          </a:solidFill>
          <a:ln/>
        </p:spPr>
      </p:sp>
      <p:sp>
        <p:nvSpPr>
          <p:cNvPr id="13" name="col-hex"/>
          <p:cNvSpPr/>
          <p:nvPr/>
        </p:nvSpPr>
        <p:spPr>
          <a:xfrm>
            <a:off x="658368" y="2468880"/>
            <a:ext cx="475488" cy="411773"/>
          </a:xfrm>
          <a:prstGeom prst="hexagon">
            <a:avLst/>
          </a:prstGeom>
          <a:solidFill>
            <a:srgbClr val="B8862B"/>
          </a:solidFill>
          <a:ln w="12700">
            <a:solidFill>
              <a:srgbClr val="FFFFFF"/>
            </a:solidFill>
            <a:prstDash val="solid"/>
          </a:ln>
        </p:spPr>
      </p:sp>
      <p:sp>
        <p:nvSpPr>
          <p:cNvPr id="14" name="col-hex-label"/>
          <p:cNvSpPr txBox="1"/>
          <p:nvPr/>
        </p:nvSpPr>
        <p:spPr>
          <a:xfrm>
            <a:off x="658368" y="2468880"/>
            <a:ext cx="475488" cy="411773"/>
          </a:xfrm>
          <a:prstGeom prst="rect">
            <a:avLst/>
          </a:prstGeom>
          <a:noFill/>
          <a:ln/>
        </p:spPr>
        <p:txBody>
          <a:bodyPr wrap="square" lIns="0" tIns="0" rIns="0" bIns="0" rtlCol="0" anchor="ctr"/>
          <a:lstStyle/>
          <a:p>
            <a:pPr algn="ctr" indent="0" marL="0">
              <a:buNone/>
            </a:pPr>
            <a:r>
              <a:rPr lang="en-US" sz="1800" b="1" dirty="0">
                <a:solidFill>
                  <a:srgbClr val="FFFFFF"/>
                </a:solidFill>
                <a:latin typeface="Calibri" pitchFamily="34" charset="0"/>
                <a:ea typeface="Calibri" pitchFamily="34" charset="-122"/>
                <a:cs typeface="Calibri" pitchFamily="34" charset="-120"/>
              </a:rPr>
              <a:t>1</a:t>
            </a:r>
            <a:endParaRPr lang="en-US" sz="1800" dirty="0"/>
          </a:p>
        </p:txBody>
      </p:sp>
      <p:sp>
        <p:nvSpPr>
          <p:cNvPr id="15" name="col-head"/>
          <p:cNvSpPr txBox="1"/>
          <p:nvPr/>
        </p:nvSpPr>
        <p:spPr>
          <a:xfrm>
            <a:off x="1188720" y="2432304"/>
            <a:ext cx="4870923" cy="566928"/>
          </a:xfrm>
          <a:prstGeom prst="rect">
            <a:avLst/>
          </a:prstGeom>
          <a:noFill/>
          <a:ln/>
        </p:spPr>
        <p:txBody>
          <a:bodyPr wrap="square" lIns="63500" tIns="63500" rIns="63500" bIns="63500" rtlCol="0" anchor="ctr"/>
          <a:lstStyle/>
          <a:p>
            <a:pPr algn="l" indent="0" marL="0">
              <a:buNone/>
            </a:pPr>
            <a:r>
              <a:rPr lang="en-US" sz="2000" b="1" dirty="0">
                <a:solidFill>
                  <a:srgbClr val="2C4B34"/>
                </a:solidFill>
                <a:latin typeface="Calibri" pitchFamily="34" charset="0"/>
                <a:ea typeface="Calibri" pitchFamily="34" charset="-122"/>
                <a:cs typeface="Calibri" pitchFamily="34" charset="-120"/>
              </a:rPr>
              <a:t>Support</a:t>
            </a:r>
            <a:endParaRPr lang="en-US" sz="2000" dirty="0"/>
          </a:p>
        </p:txBody>
      </p:sp>
      <p:sp>
        <p:nvSpPr>
          <p:cNvPr id="16" name="col-body"/>
          <p:cNvSpPr txBox="1"/>
          <p:nvPr/>
        </p:nvSpPr>
        <p:spPr>
          <a:xfrm>
            <a:off x="685800" y="3035808"/>
            <a:ext cx="5328123" cy="2999232"/>
          </a:xfrm>
          <a:prstGeom prst="rect">
            <a:avLst/>
          </a:prstGeom>
          <a:noFill/>
          <a:ln/>
        </p:spPr>
        <p:txBody>
          <a:bodyPr wrap="square" lIns="63500" tIns="63500" rIns="63500" bIns="63500" rtlCol="0" anchor="t"/>
          <a:lstStyle/>
          <a:p>
            <a:pPr algn="l" indent="0" marL="0">
              <a:spcAft>
                <a:spcPts val="600"/>
              </a:spcAft>
              <a:buNone/>
            </a:pPr>
            <a:r>
              <a:rPr lang="en-US" sz="1800" b="1" dirty="0">
                <a:solidFill>
                  <a:srgbClr val="3F6B4A"/>
                </a:solidFill>
                <a:latin typeface="Calibri" pitchFamily="34" charset="0"/>
                <a:ea typeface="Calibri" pitchFamily="34" charset="-122"/>
                <a:cs typeface="Calibri" pitchFamily="34" charset="-120"/>
              </a:rPr>
              <a:t>1  </a:t>
            </a:r>
            <a:pPr algn="l" indent="0" marL="0">
              <a:spcAft>
                <a:spcPts val="600"/>
              </a:spcAft>
              <a:buNone/>
            </a:pPr>
            <a:r>
              <a:rPr lang="en-US" sz="1800" dirty="0">
                <a:solidFill>
                  <a:srgbClr val="1E2229"/>
                </a:solidFill>
                <a:latin typeface="Calibri" pitchFamily="34" charset="0"/>
                <a:ea typeface="Calibri" pitchFamily="34" charset="-122"/>
                <a:cs typeface="Calibri" pitchFamily="34" charset="-120"/>
              </a:rPr>
              <a:t>Cause is what made it happen; everything else is what happened afterwards.</a:t>
            </a:r>
            <a:endParaRPr lang="en-US" sz="1800" dirty="0"/>
          </a:p>
          <a:p>
            <a:pPr algn="l" indent="0" marL="0">
              <a:spcAft>
                <a:spcPts val="600"/>
              </a:spcAft>
              <a:buNone/>
            </a:pPr>
            <a:r>
              <a:rPr lang="en-US" sz="1800" b="1" dirty="0">
                <a:solidFill>
                  <a:srgbClr val="3F6B4A"/>
                </a:solidFill>
                <a:latin typeface="Calibri" pitchFamily="34" charset="0"/>
                <a:ea typeface="Calibri" pitchFamily="34" charset="-122"/>
                <a:cs typeface="Calibri" pitchFamily="34" charset="-120"/>
              </a:rPr>
              <a:t>2  </a:t>
            </a:r>
            <a:pPr algn="l" indent="0" marL="0">
              <a:spcAft>
                <a:spcPts val="600"/>
              </a:spcAft>
              <a:buNone/>
            </a:pPr>
            <a:r>
              <a:rPr lang="en-US" sz="1800" dirty="0">
                <a:solidFill>
                  <a:srgbClr val="1E2229"/>
                </a:solidFill>
                <a:latin typeface="Calibri" pitchFamily="34" charset="0"/>
                <a:ea typeface="Calibri" pitchFamily="34" charset="-122"/>
                <a:cs typeface="Calibri" pitchFamily="34" charset="-120"/>
              </a:rPr>
              <a:t>Effects are sorted by what they hit: people (social), money (economic) or the land (environmental).</a:t>
            </a:r>
            <a:endParaRPr lang="en-US" sz="1800" dirty="0"/>
          </a:p>
          <a:p>
            <a:pPr algn="l" indent="0" marL="0">
              <a:spcAft>
                <a:spcPts val="600"/>
              </a:spcAft>
              <a:buNone/>
            </a:pPr>
            <a:r>
              <a:rPr lang="en-US" sz="1800" b="1" dirty="0">
                <a:solidFill>
                  <a:srgbClr val="3F6B4A"/>
                </a:solidFill>
                <a:latin typeface="Calibri" pitchFamily="34" charset="0"/>
                <a:ea typeface="Calibri" pitchFamily="34" charset="-122"/>
                <a:cs typeface="Calibri" pitchFamily="34" charset="-120"/>
              </a:rPr>
              <a:t>3  </a:t>
            </a:r>
            <a:pPr algn="l" indent="0" marL="0">
              <a:spcAft>
                <a:spcPts val="600"/>
              </a:spcAft>
              <a:buNone/>
            </a:pPr>
            <a:r>
              <a:rPr lang="en-US" sz="1800" dirty="0">
                <a:solidFill>
                  <a:srgbClr val="1E2229"/>
                </a:solidFill>
                <a:latin typeface="Calibri" pitchFamily="34" charset="0"/>
                <a:ea typeface="Calibri" pitchFamily="34" charset="-122"/>
                <a:cs typeface="Calibri" pitchFamily="34" charset="-120"/>
              </a:rPr>
              <a:t>Response is what people did to help after the event.</a:t>
            </a:r>
            <a:endParaRPr lang="en-US" sz="1800" dirty="0"/>
          </a:p>
          <a:p>
            <a:pPr algn="l" indent="0" marL="0">
              <a:spcAft>
                <a:spcPts val="600"/>
              </a:spcAft>
              <a:buNone/>
            </a:pPr>
            <a:r>
              <a:rPr lang="en-US" sz="1800" b="1" dirty="0">
                <a:solidFill>
                  <a:srgbClr val="3F6B4A"/>
                </a:solidFill>
                <a:latin typeface="Calibri" pitchFamily="34" charset="0"/>
                <a:ea typeface="Calibri" pitchFamily="34" charset="-122"/>
                <a:cs typeface="Calibri" pitchFamily="34" charset="-120"/>
              </a:rPr>
              <a:t>4  </a:t>
            </a:r>
            <a:pPr algn="l" indent="0" marL="0">
              <a:spcAft>
                <a:spcPts val="600"/>
              </a:spcAft>
              <a:buNone/>
            </a:pPr>
            <a:r>
              <a:rPr lang="en-US" sz="1800" dirty="0">
                <a:solidFill>
                  <a:srgbClr val="1E2229"/>
                </a:solidFill>
                <a:latin typeface="Calibri" pitchFamily="34" charset="0"/>
                <a:ea typeface="Calibri" pitchFamily="34" charset="-122"/>
                <a:cs typeface="Calibri" pitchFamily="34" charset="-120"/>
              </a:rPr>
              <a:t>Read each example and ask: is this before (cause), what was hit (effect), or help afterwards (response)?</a:t>
            </a:r>
            <a:endParaRPr lang="en-US" sz="1800" dirty="0"/>
          </a:p>
        </p:txBody>
      </p:sp>
      <p:sp>
        <p:nvSpPr>
          <p:cNvPr id="17" name="col-Core"/>
          <p:cNvSpPr/>
          <p:nvPr/>
        </p:nvSpPr>
        <p:spPr>
          <a:xfrm>
            <a:off x="6425403" y="2395728"/>
            <a:ext cx="2471666" cy="3749040"/>
          </a:xfrm>
          <a:prstGeom prst="roundRect">
            <a:avLst>
              <a:gd name="adj" fmla="val 2220"/>
            </a:avLst>
          </a:prstGeom>
          <a:solidFill>
            <a:srgbClr val="D8E1DA"/>
          </a:solidFill>
          <a:ln/>
        </p:spPr>
      </p:sp>
      <p:sp>
        <p:nvSpPr>
          <p:cNvPr id="18" name="col-hex"/>
          <p:cNvSpPr/>
          <p:nvPr/>
        </p:nvSpPr>
        <p:spPr>
          <a:xfrm>
            <a:off x="6535131" y="2468880"/>
            <a:ext cx="475488" cy="411773"/>
          </a:xfrm>
          <a:prstGeom prst="hexagon">
            <a:avLst/>
          </a:prstGeom>
          <a:solidFill>
            <a:srgbClr val="B8862B"/>
          </a:solidFill>
          <a:ln w="12700">
            <a:solidFill>
              <a:srgbClr val="FFFFFF"/>
            </a:solidFill>
            <a:prstDash val="solid"/>
          </a:ln>
        </p:spPr>
      </p:sp>
      <p:sp>
        <p:nvSpPr>
          <p:cNvPr id="19" name="col-hex-label"/>
          <p:cNvSpPr txBox="1"/>
          <p:nvPr/>
        </p:nvSpPr>
        <p:spPr>
          <a:xfrm>
            <a:off x="6535131" y="2468880"/>
            <a:ext cx="475488" cy="411773"/>
          </a:xfrm>
          <a:prstGeom prst="rect">
            <a:avLst/>
          </a:prstGeom>
          <a:noFill/>
          <a:ln/>
        </p:spPr>
        <p:txBody>
          <a:bodyPr wrap="square" lIns="0" tIns="0" rIns="0" bIns="0" rtlCol="0" anchor="ctr"/>
          <a:lstStyle/>
          <a:p>
            <a:pPr algn="ctr" indent="0" marL="0">
              <a:buNone/>
            </a:pPr>
            <a:r>
              <a:rPr lang="en-US" sz="1800" b="1" dirty="0">
                <a:solidFill>
                  <a:srgbClr val="FFFFFF"/>
                </a:solidFill>
                <a:latin typeface="Calibri" pitchFamily="34" charset="0"/>
                <a:ea typeface="Calibri" pitchFamily="34" charset="-122"/>
                <a:cs typeface="Calibri" pitchFamily="34" charset="-120"/>
              </a:rPr>
              <a:t>2</a:t>
            </a:r>
            <a:endParaRPr lang="en-US" sz="1800" dirty="0"/>
          </a:p>
        </p:txBody>
      </p:sp>
      <p:sp>
        <p:nvSpPr>
          <p:cNvPr id="20" name="col-head"/>
          <p:cNvSpPr txBox="1"/>
          <p:nvPr/>
        </p:nvSpPr>
        <p:spPr>
          <a:xfrm>
            <a:off x="7065483" y="2432304"/>
            <a:ext cx="1740146" cy="566928"/>
          </a:xfrm>
          <a:prstGeom prst="rect">
            <a:avLst/>
          </a:prstGeom>
          <a:noFill/>
          <a:ln/>
        </p:spPr>
        <p:txBody>
          <a:bodyPr wrap="square" lIns="63500" tIns="63500" rIns="63500" bIns="63500" rtlCol="0" anchor="ctr"/>
          <a:lstStyle/>
          <a:p>
            <a:pPr algn="l" indent="0" marL="0">
              <a:buNone/>
            </a:pPr>
            <a:r>
              <a:rPr lang="en-US" sz="2000" b="1" dirty="0">
                <a:solidFill>
                  <a:srgbClr val="2C4B34"/>
                </a:solidFill>
                <a:latin typeface="Calibri" pitchFamily="34" charset="0"/>
                <a:ea typeface="Calibri" pitchFamily="34" charset="-122"/>
                <a:cs typeface="Calibri" pitchFamily="34" charset="-120"/>
              </a:rPr>
              <a:t>Core</a:t>
            </a:r>
            <a:endParaRPr lang="en-US" sz="2000" dirty="0"/>
          </a:p>
        </p:txBody>
      </p:sp>
      <p:sp>
        <p:nvSpPr>
          <p:cNvPr id="21" name="col-body"/>
          <p:cNvSpPr txBox="1"/>
          <p:nvPr/>
        </p:nvSpPr>
        <p:spPr>
          <a:xfrm>
            <a:off x="6562563" y="3035808"/>
            <a:ext cx="2197346" cy="2999232"/>
          </a:xfrm>
          <a:prstGeom prst="rect">
            <a:avLst/>
          </a:prstGeom>
          <a:noFill/>
          <a:ln/>
        </p:spPr>
        <p:txBody>
          <a:bodyPr wrap="square" lIns="63500" tIns="63500" rIns="63500" bIns="63500" rtlCol="0" anchor="t"/>
          <a:lstStyle/>
          <a:p>
            <a:pPr algn="l" indent="0" marL="0">
              <a:buNone/>
            </a:pPr>
            <a:r>
              <a:rPr lang="en-US" sz="1800" b="1" dirty="0">
                <a:solidFill>
                  <a:srgbClr val="32563B"/>
                </a:solidFill>
                <a:latin typeface="Calibri" pitchFamily="34" charset="0"/>
                <a:ea typeface="Calibri" pitchFamily="34" charset="-122"/>
                <a:cs typeface="Calibri" pitchFamily="34" charset="-120"/>
              </a:rPr>
              <a:t>Hint:  </a:t>
            </a:r>
            <a:pPr algn="l" indent="0" marL="0">
              <a:buNone/>
            </a:pPr>
            <a:r>
              <a:rPr lang="en-US" sz="1800" dirty="0">
                <a:solidFill>
                  <a:srgbClr val="1E2229"/>
                </a:solidFill>
                <a:latin typeface="Calibri" pitchFamily="34" charset="0"/>
                <a:ea typeface="Calibri" pitchFamily="34" charset="-122"/>
                <a:cs typeface="Calibri" pitchFamily="34" charset="-120"/>
              </a:rPr>
              <a:t>Before, what was hit (people, money or land), and help afterwards.</a:t>
            </a:r>
            <a:endParaRPr lang="en-US" sz="1800" dirty="0"/>
          </a:p>
        </p:txBody>
      </p:sp>
      <p:sp>
        <p:nvSpPr>
          <p:cNvPr id="22" name="col-Stretch"/>
          <p:cNvSpPr/>
          <p:nvPr/>
        </p:nvSpPr>
        <p:spPr>
          <a:xfrm>
            <a:off x="9171389" y="2395728"/>
            <a:ext cx="2471666" cy="3749040"/>
          </a:xfrm>
          <a:prstGeom prst="roundRect">
            <a:avLst>
              <a:gd name="adj" fmla="val 2220"/>
            </a:avLst>
          </a:prstGeom>
          <a:solidFill>
            <a:srgbClr val="3F6B4A"/>
          </a:solidFill>
          <a:ln/>
        </p:spPr>
      </p:sp>
      <p:sp>
        <p:nvSpPr>
          <p:cNvPr id="23" name="col-hex"/>
          <p:cNvSpPr/>
          <p:nvPr/>
        </p:nvSpPr>
        <p:spPr>
          <a:xfrm>
            <a:off x="9281117" y="2468880"/>
            <a:ext cx="475488" cy="411773"/>
          </a:xfrm>
          <a:prstGeom prst="hexagon">
            <a:avLst/>
          </a:prstGeom>
          <a:solidFill>
            <a:srgbClr val="B8862B"/>
          </a:solidFill>
          <a:ln w="12700">
            <a:solidFill>
              <a:srgbClr val="FFFFFF"/>
            </a:solidFill>
            <a:prstDash val="solid"/>
          </a:ln>
        </p:spPr>
      </p:sp>
      <p:sp>
        <p:nvSpPr>
          <p:cNvPr id="24" name="col-hex-label"/>
          <p:cNvSpPr txBox="1"/>
          <p:nvPr/>
        </p:nvSpPr>
        <p:spPr>
          <a:xfrm>
            <a:off x="9281117" y="2468880"/>
            <a:ext cx="475488" cy="411773"/>
          </a:xfrm>
          <a:prstGeom prst="rect">
            <a:avLst/>
          </a:prstGeom>
          <a:noFill/>
          <a:ln/>
        </p:spPr>
        <p:txBody>
          <a:bodyPr wrap="square" lIns="0" tIns="0" rIns="0" bIns="0" rtlCol="0" anchor="ctr"/>
          <a:lstStyle/>
          <a:p>
            <a:pPr algn="ctr" indent="0" marL="0">
              <a:buNone/>
            </a:pPr>
            <a:r>
              <a:rPr lang="en-US" sz="1800" b="1" dirty="0">
                <a:solidFill>
                  <a:srgbClr val="FFFFFF"/>
                </a:solidFill>
                <a:latin typeface="Calibri" pitchFamily="34" charset="0"/>
                <a:ea typeface="Calibri" pitchFamily="34" charset="-122"/>
                <a:cs typeface="Calibri" pitchFamily="34" charset="-120"/>
              </a:rPr>
              <a:t>3</a:t>
            </a:r>
            <a:endParaRPr lang="en-US" sz="1800" dirty="0"/>
          </a:p>
        </p:txBody>
      </p:sp>
      <p:sp>
        <p:nvSpPr>
          <p:cNvPr id="25" name="col-head"/>
          <p:cNvSpPr txBox="1"/>
          <p:nvPr/>
        </p:nvSpPr>
        <p:spPr>
          <a:xfrm>
            <a:off x="9811469" y="2432304"/>
            <a:ext cx="1740146" cy="566928"/>
          </a:xfrm>
          <a:prstGeom prst="rect">
            <a:avLst/>
          </a:prstGeom>
          <a:noFill/>
          <a:ln/>
        </p:spPr>
        <p:txBody>
          <a:bodyPr wrap="square" lIns="63500" tIns="63500" rIns="63500" bIns="63500" rtlCol="0" anchor="ctr"/>
          <a:lstStyle/>
          <a:p>
            <a:pPr algn="l" indent="0" marL="0">
              <a:buNone/>
            </a:pPr>
            <a:r>
              <a:rPr lang="en-US" sz="2000" b="1" dirty="0">
                <a:solidFill>
                  <a:srgbClr val="FFFFFF"/>
                </a:solidFill>
                <a:latin typeface="Calibri" pitchFamily="34" charset="0"/>
                <a:ea typeface="Calibri" pitchFamily="34" charset="-122"/>
                <a:cs typeface="Calibri" pitchFamily="34" charset="-120"/>
              </a:rPr>
              <a:t>Stretch</a:t>
            </a:r>
            <a:endParaRPr lang="en-US" sz="2000" dirty="0"/>
          </a:p>
        </p:txBody>
      </p:sp>
      <p:sp>
        <p:nvSpPr>
          <p:cNvPr id="26" name="col-body"/>
          <p:cNvSpPr txBox="1"/>
          <p:nvPr/>
        </p:nvSpPr>
        <p:spPr>
          <a:xfrm>
            <a:off x="9308549" y="3035808"/>
            <a:ext cx="2197346" cy="2999232"/>
          </a:xfrm>
          <a:prstGeom prst="rect">
            <a:avLst/>
          </a:prstGeom>
          <a:noFill/>
          <a:ln/>
        </p:spPr>
        <p:txBody>
          <a:bodyPr wrap="square" lIns="63500" tIns="63500" rIns="63500" bIns="63500" rtlCol="0" anchor="t"/>
          <a:lstStyle/>
          <a:p>
            <a:pPr algn="l" indent="0" marL="0">
              <a:buNone/>
            </a:pPr>
            <a:r>
              <a:rPr lang="en-US" sz="1800" b="1" dirty="0">
                <a:solidFill>
                  <a:srgbClr val="D4B680"/>
                </a:solidFill>
                <a:latin typeface="Calibri" pitchFamily="34" charset="0"/>
                <a:ea typeface="Calibri" pitchFamily="34" charset="-122"/>
                <a:cs typeface="Calibri" pitchFamily="34" charset="-120"/>
              </a:rPr>
              <a:t>Then:  </a:t>
            </a:r>
            <a:pPr algn="l" indent="0" marL="0">
              <a:buNone/>
            </a:pPr>
            <a:r>
              <a:rPr lang="en-US" sz="1800" dirty="0">
                <a:solidFill>
                  <a:srgbClr val="FFFFFF"/>
                </a:solidFill>
                <a:latin typeface="Calibri" pitchFamily="34" charset="0"/>
                <a:ea typeface="Calibri" pitchFamily="34" charset="-122"/>
                <a:cs typeface="Calibri" pitchFamily="34" charset="-120"/>
              </a:rPr>
              <a:t>Many effects fit more than one heading. Explain why a destroyed school could count as both a social and an economic effect.</a:t>
            </a:r>
            <a:endParaRPr lang="en-US" sz="1800" dirty="0"/>
          </a:p>
        </p:txBody>
      </p:sp>
      <p:sp>
        <p:nvSpPr>
          <p:cNvPr id="25" name="Slide Number Placeholder 0"/>
          <p:cNvSpPr>
            <a:spLocks noGrp="1"/>
          </p:cNvSpPr>
          <p:nvPr>
            <p:ph type="sldNum" sz="quarter" idx="4294967295"/>
          </p:nvPr>
        </p:nvSpPr>
        <p:spPr>
          <a:xfrm>
            <a:off x="11018520" y="6446520"/>
            <a:ext cx="640080" cy="365760"/>
          </a:xfrm>
          <a:prstGeom prst="rect">
            <a:avLst/>
          </a:prstGeom>
          <a:extLst>
            <a:ext uri="{C572A759-6A51-4108-AA02-DFA0A04FC94B}">
              <ma14:wrappingTextBoxFlag xmlns:ma14="http://schemas.microsoft.com/office/mac/drawingml/2011/main" val="0"/>
            </a:ext>
          </a:extLst>
        </p:spPr>
        <p:txBody>
          <a:bodyPr lIns="0" tIns="0" rIns="0" bIns="0" anchor="ctr"/>
          <a:lstStyle>
            <a:lvl1pPr>
              <a:defRPr sz="1000">
                <a:solidFill>
                  <a:srgbClr val="396043"/>
                </a:solidFill>
                <a:latin typeface="Calibri"/>
                <a:ea typeface="Calibri"/>
                <a:cs typeface="Calibri"/>
              </a:defRPr>
            </a:lvl1pPr>
          </a:lstStyle>
          <a:p>
            <a:pPr algn="r"/>
            <a:fld id="{F7021451-1387-4CA6-816F-3879F97B5CBC}" type="slidenum">
              <a:rPr b="0" lang="en-US"/>
              <a:t>17</a:t>
            </a:fld>
            <a:endParaRPr lang="en-US"/>
          </a:p>
        </p:txBody>
      </p:sp>
    </p:spTree>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name="Slide 18">
    <p:spTree>
      <p:nvGrpSpPr>
        <p:cNvPr id="1" name=""/>
        <p:cNvGrpSpPr/>
        <p:nvPr/>
      </p:nvGrpSpPr>
      <p:grpSpPr>
        <a:xfrm>
          <a:off x="0" y="0"/>
          <a:ext cx="0" cy="0"/>
          <a:chOff x="0" y="0"/>
          <a:chExt cx="0" cy="0"/>
        </a:xfrm>
      </p:grpSpPr>
      <p:sp>
        <p:nvSpPr>
          <p:cNvPr id="3" name="title"/>
          <p:cNvSpPr txBox="1"/>
          <p:nvPr/>
        </p:nvSpPr>
        <p:spPr>
          <a:xfrm>
            <a:off x="548640" y="292608"/>
            <a:ext cx="9052560" cy="969264"/>
          </a:xfrm>
          <a:prstGeom prst="rect">
            <a:avLst/>
          </a:prstGeom>
          <a:noFill/>
          <a:ln/>
        </p:spPr>
        <p:txBody>
          <a:bodyPr wrap="square" lIns="63500" tIns="63500" rIns="63500" bIns="63500" rtlCol="0" anchor="ctr"/>
          <a:lstStyle/>
          <a:p>
            <a:pPr algn="l" indent="0" marL="0">
              <a:buNone/>
            </a:pPr>
            <a:r>
              <a:rPr lang="en-US" sz="3200" b="1" dirty="0">
                <a:solidFill>
                  <a:srgbClr val="3F6B4A"/>
                </a:solidFill>
                <a:latin typeface="Cambria" pitchFamily="34" charset="0"/>
                <a:ea typeface="Cambria" pitchFamily="34" charset="-122"/>
                <a:cs typeface="Cambria" pitchFamily="34" charset="-120"/>
              </a:rPr>
              <a:t>The task: Twelve hours later</a:t>
            </a:r>
            <a:endParaRPr lang="en-US" sz="3200" dirty="0"/>
          </a:p>
        </p:txBody>
      </p:sp>
      <p:sp>
        <p:nvSpPr>
          <p:cNvPr id="4" name="chip-hex"/>
          <p:cNvSpPr/>
          <p:nvPr/>
        </p:nvSpPr>
        <p:spPr>
          <a:xfrm>
            <a:off x="9677095" y="531760"/>
            <a:ext cx="566928" cy="490960"/>
          </a:xfrm>
          <a:prstGeom prst="hexagon">
            <a:avLst/>
          </a:prstGeom>
          <a:solidFill>
            <a:srgbClr val="3F6B4A"/>
          </a:solidFill>
          <a:ln/>
        </p:spPr>
      </p:sp>
      <p:sp>
        <p:nvSpPr>
          <p:cNvPr id="5" name="chip-hex-label"/>
          <p:cNvSpPr txBox="1"/>
          <p:nvPr/>
        </p:nvSpPr>
        <p:spPr>
          <a:xfrm>
            <a:off x="9677095" y="531760"/>
            <a:ext cx="566928" cy="490960"/>
          </a:xfrm>
          <a:prstGeom prst="rect">
            <a:avLst/>
          </a:prstGeom>
          <a:noFill/>
          <a:ln/>
        </p:spPr>
        <p:txBody>
          <a:bodyPr wrap="square" lIns="0" tIns="0" rIns="0" bIns="0" rtlCol="0" anchor="ctr"/>
          <a:lstStyle/>
          <a:p>
            <a:pPr algn="ctr" indent="0" marL="0">
              <a:buNone/>
            </a:pPr>
            <a:r>
              <a:rPr lang="en-US" sz="2000" b="1" dirty="0">
                <a:solidFill>
                  <a:srgbClr val="FFFFFF"/>
                </a:solidFill>
                <a:latin typeface="Calibri" pitchFamily="34" charset="0"/>
                <a:ea typeface="Calibri" pitchFamily="34" charset="-122"/>
                <a:cs typeface="Calibri" pitchFamily="34" charset="-120"/>
              </a:rPr>
              <a:t>4</a:t>
            </a:r>
            <a:endParaRPr lang="en-US" sz="2000" dirty="0"/>
          </a:p>
        </p:txBody>
      </p:sp>
      <p:sp>
        <p:nvSpPr>
          <p:cNvPr id="6" name="chip-label"/>
          <p:cNvSpPr txBox="1"/>
          <p:nvPr/>
        </p:nvSpPr>
        <p:spPr>
          <a:xfrm>
            <a:off x="10317175" y="292608"/>
            <a:ext cx="1325880" cy="969264"/>
          </a:xfrm>
          <a:prstGeom prst="rect">
            <a:avLst/>
          </a:prstGeom>
          <a:noFill/>
          <a:ln/>
        </p:spPr>
        <p:txBody>
          <a:bodyPr wrap="square" lIns="63500" tIns="63500" rIns="63500" bIns="63500" rtlCol="0" anchor="ctr"/>
          <a:lstStyle/>
          <a:p>
            <a:pPr algn="l" indent="0" marL="0">
              <a:buNone/>
            </a:pPr>
            <a:r>
              <a:rPr lang="en-US" sz="1800" b="1" dirty="0">
                <a:solidFill>
                  <a:srgbClr val="3F6B4A"/>
                </a:solidFill>
                <a:latin typeface="Calibri" pitchFamily="34" charset="0"/>
                <a:ea typeface="Calibri" pitchFamily="34" charset="-122"/>
                <a:cs typeface="Calibri" pitchFamily="34" charset="-120"/>
              </a:rPr>
              <a:t>Same task</a:t>
            </a:r>
            <a:endParaRPr lang="en-US" sz="1800" dirty="0"/>
          </a:p>
        </p:txBody>
      </p:sp>
      <p:sp>
        <p:nvSpPr>
          <p:cNvPr id="7" name="task-box"/>
          <p:cNvSpPr/>
          <p:nvPr/>
        </p:nvSpPr>
        <p:spPr>
          <a:xfrm>
            <a:off x="548640" y="1389888"/>
            <a:ext cx="11094415" cy="4754880"/>
          </a:xfrm>
          <a:prstGeom prst="roundRect">
            <a:avLst>
              <a:gd name="adj" fmla="val 962"/>
            </a:avLst>
          </a:prstGeom>
          <a:solidFill>
            <a:srgbClr val="FFFFFF"/>
          </a:solidFill>
          <a:ln w="31750">
            <a:solidFill>
              <a:srgbClr val="B8862B"/>
            </a:solidFill>
            <a:prstDash val="solid"/>
          </a:ln>
        </p:spPr>
      </p:sp>
      <p:sp>
        <p:nvSpPr>
          <p:cNvPr id="8" name="task-hex"/>
          <p:cNvSpPr/>
          <p:nvPr/>
        </p:nvSpPr>
        <p:spPr>
          <a:xfrm>
            <a:off x="822960" y="1664208"/>
            <a:ext cx="822960" cy="712683"/>
          </a:xfrm>
          <a:prstGeom prst="hexagon">
            <a:avLst/>
          </a:prstGeom>
          <a:solidFill>
            <a:srgbClr val="B8862B"/>
          </a:solidFill>
          <a:ln/>
        </p:spPr>
      </p:sp>
      <p:sp>
        <p:nvSpPr>
          <p:cNvPr id="9" name="task-hex-label"/>
          <p:cNvSpPr txBox="1"/>
          <p:nvPr/>
        </p:nvSpPr>
        <p:spPr>
          <a:xfrm>
            <a:off x="822960" y="1664208"/>
            <a:ext cx="822960" cy="712683"/>
          </a:xfrm>
          <a:prstGeom prst="rect">
            <a:avLst/>
          </a:prstGeom>
          <a:noFill/>
          <a:ln/>
        </p:spPr>
        <p:txBody>
          <a:bodyPr wrap="square" lIns="0" tIns="0" rIns="0" bIns="0" rtlCol="0" anchor="ctr"/>
          <a:lstStyle/>
          <a:p>
            <a:pPr algn="ctr" indent="0" marL="0">
              <a:buNone/>
            </a:pPr>
            <a:r>
              <a:rPr lang="en-US" sz="2800" b="1" dirty="0">
                <a:solidFill>
                  <a:srgbClr val="FFFFFF"/>
                </a:solidFill>
                <a:latin typeface="Cambria" pitchFamily="34" charset="0"/>
                <a:ea typeface="Cambria" pitchFamily="34" charset="-122"/>
                <a:cs typeface="Cambria" pitchFamily="34" charset="-120"/>
              </a:rPr>
              <a:t>2</a:t>
            </a:r>
            <a:endParaRPr lang="en-US" sz="2800" dirty="0"/>
          </a:p>
        </p:txBody>
      </p:sp>
      <p:sp>
        <p:nvSpPr>
          <p:cNvPr id="10" name="task"/>
          <p:cNvSpPr txBox="1"/>
          <p:nvPr/>
        </p:nvSpPr>
        <p:spPr>
          <a:xfrm>
            <a:off x="1828800" y="1572768"/>
            <a:ext cx="8534095" cy="4389120"/>
          </a:xfrm>
          <a:prstGeom prst="rect">
            <a:avLst/>
          </a:prstGeom>
          <a:noFill/>
          <a:ln/>
        </p:spPr>
        <p:txBody>
          <a:bodyPr wrap="square" lIns="63500" tIns="63500" rIns="63500" bIns="63500" rtlCol="0" anchor="ctr"/>
          <a:lstStyle/>
          <a:p>
            <a:pPr algn="ctr" indent="0" marL="0">
              <a:spcAft>
                <a:spcPts val="600"/>
              </a:spcAft>
              <a:buNone/>
            </a:pPr>
            <a:r>
              <a:rPr lang="en-US" sz="2600" b="1" dirty="0">
                <a:solidFill>
                  <a:srgbClr val="1E2229"/>
                </a:solidFill>
                <a:latin typeface="Calibri" pitchFamily="34" charset="0"/>
                <a:ea typeface="Calibri" pitchFamily="34" charset="-122"/>
                <a:cs typeface="Calibri" pitchFamily="34" charset="-120"/>
              </a:rPr>
              <a:t>An earthquake strikes a city in the middle of the afternoon. Explain how the damage and loss of life might have been different if it had struck 12 hours later, in the middle of the night. (4 marks)</a:t>
            </a:r>
            <a:endParaRPr lang="en-US" sz="2600" dirty="0"/>
          </a:p>
          <a:p>
            <a:pPr algn="ctr" indent="0" marL="0">
              <a:buNone/>
            </a:pPr>
            <a:r>
              <a:rPr lang="en-US" sz="2400" dirty="0">
                <a:solidFill>
                  <a:srgbClr val="4A505C"/>
                </a:solidFill>
                <a:latin typeface="Calibri" pitchFamily="34" charset="0"/>
                <a:ea typeface="Calibri" pitchFamily="34" charset="-122"/>
                <a:cs typeface="Calibri" pitchFamily="34" charset="-120"/>
              </a:rPr>
              <a:t>4 marks · Write in full sentences</a:t>
            </a:r>
            <a:endParaRPr lang="en-US" sz="2600" dirty="0"/>
          </a:p>
        </p:txBody>
      </p:sp>
      <p:sp>
        <p:nvSpPr>
          <p:cNvPr id="25" name="Slide Number Placeholder 0"/>
          <p:cNvSpPr>
            <a:spLocks noGrp="1"/>
          </p:cNvSpPr>
          <p:nvPr>
            <p:ph type="sldNum" sz="quarter" idx="4294967295"/>
          </p:nvPr>
        </p:nvSpPr>
        <p:spPr>
          <a:xfrm>
            <a:off x="11018520" y="6446520"/>
            <a:ext cx="640080" cy="365760"/>
          </a:xfrm>
          <a:prstGeom prst="rect">
            <a:avLst/>
          </a:prstGeom>
          <a:extLst>
            <a:ext uri="{C572A759-6A51-4108-AA02-DFA0A04FC94B}">
              <ma14:wrappingTextBoxFlag xmlns:ma14="http://schemas.microsoft.com/office/mac/drawingml/2011/main" val="0"/>
            </a:ext>
          </a:extLst>
        </p:spPr>
        <p:txBody>
          <a:bodyPr lIns="0" tIns="0" rIns="0" bIns="0" anchor="ctr"/>
          <a:lstStyle>
            <a:lvl1pPr>
              <a:defRPr sz="1000">
                <a:solidFill>
                  <a:srgbClr val="396043"/>
                </a:solidFill>
                <a:latin typeface="Calibri"/>
                <a:ea typeface="Calibri"/>
                <a:cs typeface="Calibri"/>
              </a:defRPr>
            </a:lvl1pPr>
          </a:lstStyle>
          <a:p>
            <a:pPr algn="r"/>
            <a:fld id="{F7021451-1387-4CA6-816F-3879F97B5CBC}" type="slidenum">
              <a:rPr b="0" lang="en-US"/>
              <a:t>18</a:t>
            </a:fld>
            <a:endParaRPr lang="en-US"/>
          </a:p>
        </p:txBody>
      </p:sp>
    </p:spTree>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name="Slide 19">
    <p:spTree>
      <p:nvGrpSpPr>
        <p:cNvPr id="1" name=""/>
        <p:cNvGrpSpPr/>
        <p:nvPr/>
      </p:nvGrpSpPr>
      <p:grpSpPr>
        <a:xfrm>
          <a:off x="0" y="0"/>
          <a:ext cx="0" cy="0"/>
          <a:chOff x="0" y="0"/>
          <a:chExt cx="0" cy="0"/>
        </a:xfrm>
      </p:grpSpPr>
      <p:sp>
        <p:nvSpPr>
          <p:cNvPr id="3" name="title"/>
          <p:cNvSpPr txBox="1"/>
          <p:nvPr/>
        </p:nvSpPr>
        <p:spPr>
          <a:xfrm>
            <a:off x="548640" y="292608"/>
            <a:ext cx="9052560" cy="969264"/>
          </a:xfrm>
          <a:prstGeom prst="rect">
            <a:avLst/>
          </a:prstGeom>
          <a:noFill/>
          <a:ln/>
        </p:spPr>
        <p:txBody>
          <a:bodyPr wrap="square" lIns="63500" tIns="63500" rIns="63500" bIns="63500" rtlCol="0" anchor="ctr"/>
          <a:lstStyle/>
          <a:p>
            <a:pPr algn="l" indent="0" marL="0">
              <a:buNone/>
            </a:pPr>
            <a:r>
              <a:rPr lang="en-US" sz="3200" b="1" dirty="0">
                <a:solidFill>
                  <a:srgbClr val="3F6B4A"/>
                </a:solidFill>
                <a:latin typeface="Cambria" pitchFamily="34" charset="0"/>
                <a:ea typeface="Cambria" pitchFamily="34" charset="-122"/>
                <a:cs typeface="Cambria" pitchFamily="34" charset="-120"/>
              </a:rPr>
              <a:t>Same task, three ways in: Twelve hours later</a:t>
            </a:r>
            <a:endParaRPr lang="en-US" sz="3200" dirty="0"/>
          </a:p>
        </p:txBody>
      </p:sp>
      <p:sp>
        <p:nvSpPr>
          <p:cNvPr id="4" name="chip-hex"/>
          <p:cNvSpPr/>
          <p:nvPr/>
        </p:nvSpPr>
        <p:spPr>
          <a:xfrm>
            <a:off x="9677095" y="531760"/>
            <a:ext cx="566928" cy="490960"/>
          </a:xfrm>
          <a:prstGeom prst="hexagon">
            <a:avLst/>
          </a:prstGeom>
          <a:solidFill>
            <a:srgbClr val="3F6B4A"/>
          </a:solidFill>
          <a:ln/>
        </p:spPr>
      </p:sp>
      <p:sp>
        <p:nvSpPr>
          <p:cNvPr id="5" name="chip-hex-label"/>
          <p:cNvSpPr txBox="1"/>
          <p:nvPr/>
        </p:nvSpPr>
        <p:spPr>
          <a:xfrm>
            <a:off x="9677095" y="531760"/>
            <a:ext cx="566928" cy="490960"/>
          </a:xfrm>
          <a:prstGeom prst="rect">
            <a:avLst/>
          </a:prstGeom>
          <a:noFill/>
          <a:ln/>
        </p:spPr>
        <p:txBody>
          <a:bodyPr wrap="square" lIns="0" tIns="0" rIns="0" bIns="0" rtlCol="0" anchor="ctr"/>
          <a:lstStyle/>
          <a:p>
            <a:pPr algn="ctr" indent="0" marL="0">
              <a:buNone/>
            </a:pPr>
            <a:r>
              <a:rPr lang="en-US" sz="2000" b="1" dirty="0">
                <a:solidFill>
                  <a:srgbClr val="FFFFFF"/>
                </a:solidFill>
                <a:latin typeface="Calibri" pitchFamily="34" charset="0"/>
                <a:ea typeface="Calibri" pitchFamily="34" charset="-122"/>
                <a:cs typeface="Calibri" pitchFamily="34" charset="-120"/>
              </a:rPr>
              <a:t>3</a:t>
            </a:r>
            <a:endParaRPr lang="en-US" sz="2000" dirty="0"/>
          </a:p>
        </p:txBody>
      </p:sp>
      <p:sp>
        <p:nvSpPr>
          <p:cNvPr id="6" name="chip-label"/>
          <p:cNvSpPr txBox="1"/>
          <p:nvPr/>
        </p:nvSpPr>
        <p:spPr>
          <a:xfrm>
            <a:off x="10317175" y="292608"/>
            <a:ext cx="1325880" cy="969264"/>
          </a:xfrm>
          <a:prstGeom prst="rect">
            <a:avLst/>
          </a:prstGeom>
          <a:noFill/>
          <a:ln/>
        </p:spPr>
        <p:txBody>
          <a:bodyPr wrap="square" lIns="63500" tIns="63500" rIns="63500" bIns="63500" rtlCol="0" anchor="ctr"/>
          <a:lstStyle/>
          <a:p>
            <a:pPr algn="l" indent="0" marL="0">
              <a:buNone/>
            </a:pPr>
            <a:r>
              <a:rPr lang="en-US" sz="1800" b="1" dirty="0">
                <a:solidFill>
                  <a:srgbClr val="3F6B4A"/>
                </a:solidFill>
                <a:latin typeface="Calibri" pitchFamily="34" charset="0"/>
                <a:ea typeface="Calibri" pitchFamily="34" charset="-122"/>
                <a:cs typeface="Calibri" pitchFamily="34" charset="-120"/>
              </a:rPr>
              <a:t>Routes</a:t>
            </a:r>
            <a:endParaRPr lang="en-US" sz="1800" dirty="0"/>
          </a:p>
        </p:txBody>
      </p:sp>
      <p:sp>
        <p:nvSpPr>
          <p:cNvPr id="7" name="task-box"/>
          <p:cNvSpPr/>
          <p:nvPr/>
        </p:nvSpPr>
        <p:spPr>
          <a:xfrm>
            <a:off x="548640" y="1389888"/>
            <a:ext cx="11094415" cy="731520"/>
          </a:xfrm>
          <a:prstGeom prst="roundRect">
            <a:avLst>
              <a:gd name="adj" fmla="val 12500"/>
            </a:avLst>
          </a:prstGeom>
          <a:solidFill>
            <a:srgbClr val="FFFFFF"/>
          </a:solidFill>
          <a:ln w="31750">
            <a:solidFill>
              <a:srgbClr val="B8862B"/>
            </a:solidFill>
            <a:prstDash val="solid"/>
          </a:ln>
        </p:spPr>
      </p:sp>
      <p:sp>
        <p:nvSpPr>
          <p:cNvPr id="8" name="task-hex"/>
          <p:cNvSpPr/>
          <p:nvPr/>
        </p:nvSpPr>
        <p:spPr>
          <a:xfrm>
            <a:off x="777240" y="1438900"/>
            <a:ext cx="731520" cy="633496"/>
          </a:xfrm>
          <a:prstGeom prst="hexagon">
            <a:avLst/>
          </a:prstGeom>
          <a:solidFill>
            <a:srgbClr val="B8862B"/>
          </a:solidFill>
          <a:ln/>
        </p:spPr>
      </p:sp>
      <p:sp>
        <p:nvSpPr>
          <p:cNvPr id="9" name="task-hex-label"/>
          <p:cNvSpPr txBox="1"/>
          <p:nvPr/>
        </p:nvSpPr>
        <p:spPr>
          <a:xfrm>
            <a:off x="777240" y="1438900"/>
            <a:ext cx="731520" cy="633496"/>
          </a:xfrm>
          <a:prstGeom prst="rect">
            <a:avLst/>
          </a:prstGeom>
          <a:noFill/>
          <a:ln/>
        </p:spPr>
        <p:txBody>
          <a:bodyPr wrap="square" lIns="0" tIns="0" rIns="0" bIns="0" rtlCol="0" anchor="ctr"/>
          <a:lstStyle/>
          <a:p>
            <a:pPr algn="ctr" indent="0" marL="0">
              <a:buNone/>
            </a:pPr>
            <a:r>
              <a:rPr lang="en-US" sz="2400" b="1" dirty="0">
                <a:solidFill>
                  <a:srgbClr val="FFFFFF"/>
                </a:solidFill>
                <a:latin typeface="Cambria" pitchFamily="34" charset="0"/>
                <a:ea typeface="Cambria" pitchFamily="34" charset="-122"/>
                <a:cs typeface="Cambria" pitchFamily="34" charset="-120"/>
              </a:rPr>
              <a:t>2</a:t>
            </a:r>
            <a:endParaRPr lang="en-US" sz="2400" dirty="0"/>
          </a:p>
        </p:txBody>
      </p:sp>
      <p:sp>
        <p:nvSpPr>
          <p:cNvPr id="10" name="task-everyone"/>
          <p:cNvSpPr txBox="1"/>
          <p:nvPr/>
        </p:nvSpPr>
        <p:spPr>
          <a:xfrm>
            <a:off x="10362895" y="1481328"/>
            <a:ext cx="1188720" cy="548640"/>
          </a:xfrm>
          <a:prstGeom prst="rect">
            <a:avLst/>
          </a:prstGeom>
          <a:noFill/>
          <a:ln/>
        </p:spPr>
        <p:txBody>
          <a:bodyPr wrap="square" lIns="63500" tIns="63500" rIns="63500" bIns="63500" rtlCol="0" anchor="ctr"/>
          <a:lstStyle/>
          <a:p>
            <a:pPr algn="ctr" indent="0" marL="0">
              <a:buNone/>
            </a:pPr>
            <a:r>
              <a:rPr lang="en-US" sz="1800" b="1" dirty="0">
                <a:solidFill>
                  <a:srgbClr val="815E1E"/>
                </a:solidFill>
                <a:latin typeface="Calibri" pitchFamily="34" charset="0"/>
                <a:ea typeface="Calibri" pitchFamily="34" charset="-122"/>
                <a:cs typeface="Calibri" pitchFamily="34" charset="-120"/>
              </a:rPr>
              <a:t>Everyone</a:t>
            </a:r>
            <a:endParaRPr lang="en-US" sz="1800" dirty="0"/>
          </a:p>
        </p:txBody>
      </p:sp>
      <p:sp>
        <p:nvSpPr>
          <p:cNvPr id="11" name="task"/>
          <p:cNvSpPr txBox="1"/>
          <p:nvPr/>
        </p:nvSpPr>
        <p:spPr>
          <a:xfrm>
            <a:off x="1645920" y="1481328"/>
            <a:ext cx="8579815" cy="548640"/>
          </a:xfrm>
          <a:prstGeom prst="rect">
            <a:avLst/>
          </a:prstGeom>
          <a:noFill/>
          <a:ln/>
        </p:spPr>
        <p:txBody>
          <a:bodyPr wrap="square" lIns="63500" tIns="63500" rIns="63500" bIns="63500" rtlCol="0" anchor="ctr"/>
          <a:lstStyle/>
          <a:p>
            <a:pPr algn="ctr" indent="0" marL="0">
              <a:buNone/>
            </a:pPr>
            <a:r>
              <a:rPr lang="en-US" sz="2000" b="1" dirty="0">
                <a:solidFill>
                  <a:srgbClr val="1E2229"/>
                </a:solidFill>
                <a:latin typeface="Calibri" pitchFamily="34" charset="0"/>
                <a:ea typeface="Calibri" pitchFamily="34" charset="-122"/>
                <a:cs typeface="Calibri" pitchFamily="34" charset="-120"/>
              </a:rPr>
              <a:t>Task 2 (on the last slide): Twelve hours later</a:t>
            </a:r>
            <a:endParaRPr lang="en-US" sz="2000" dirty="0"/>
          </a:p>
        </p:txBody>
      </p:sp>
      <p:sp>
        <p:nvSpPr>
          <p:cNvPr id="12" name="col-Support"/>
          <p:cNvSpPr/>
          <p:nvPr/>
        </p:nvSpPr>
        <p:spPr>
          <a:xfrm>
            <a:off x="548640" y="2395728"/>
            <a:ext cx="4667802" cy="3749040"/>
          </a:xfrm>
          <a:prstGeom prst="roundRect">
            <a:avLst>
              <a:gd name="adj" fmla="val 1463"/>
            </a:avLst>
          </a:prstGeom>
          <a:solidFill>
            <a:srgbClr val="EFF2F0"/>
          </a:solidFill>
          <a:ln/>
        </p:spPr>
      </p:sp>
      <p:sp>
        <p:nvSpPr>
          <p:cNvPr id="13" name="col-hex"/>
          <p:cNvSpPr/>
          <p:nvPr/>
        </p:nvSpPr>
        <p:spPr>
          <a:xfrm>
            <a:off x="658368" y="2468880"/>
            <a:ext cx="475488" cy="411773"/>
          </a:xfrm>
          <a:prstGeom prst="hexagon">
            <a:avLst/>
          </a:prstGeom>
          <a:solidFill>
            <a:srgbClr val="B8862B"/>
          </a:solidFill>
          <a:ln w="12700">
            <a:solidFill>
              <a:srgbClr val="FFFFFF"/>
            </a:solidFill>
            <a:prstDash val="solid"/>
          </a:ln>
        </p:spPr>
      </p:sp>
      <p:sp>
        <p:nvSpPr>
          <p:cNvPr id="14" name="col-hex-label"/>
          <p:cNvSpPr txBox="1"/>
          <p:nvPr/>
        </p:nvSpPr>
        <p:spPr>
          <a:xfrm>
            <a:off x="658368" y="2468880"/>
            <a:ext cx="475488" cy="411773"/>
          </a:xfrm>
          <a:prstGeom prst="rect">
            <a:avLst/>
          </a:prstGeom>
          <a:noFill/>
          <a:ln/>
        </p:spPr>
        <p:txBody>
          <a:bodyPr wrap="square" lIns="0" tIns="0" rIns="0" bIns="0" rtlCol="0" anchor="ctr"/>
          <a:lstStyle/>
          <a:p>
            <a:pPr algn="ctr" indent="0" marL="0">
              <a:buNone/>
            </a:pPr>
            <a:r>
              <a:rPr lang="en-US" sz="1800" b="1" dirty="0">
                <a:solidFill>
                  <a:srgbClr val="FFFFFF"/>
                </a:solidFill>
                <a:latin typeface="Calibri" pitchFamily="34" charset="0"/>
                <a:ea typeface="Calibri" pitchFamily="34" charset="-122"/>
                <a:cs typeface="Calibri" pitchFamily="34" charset="-120"/>
              </a:rPr>
              <a:t>1</a:t>
            </a:r>
            <a:endParaRPr lang="en-US" sz="1800" dirty="0"/>
          </a:p>
        </p:txBody>
      </p:sp>
      <p:sp>
        <p:nvSpPr>
          <p:cNvPr id="15" name="col-head"/>
          <p:cNvSpPr txBox="1"/>
          <p:nvPr/>
        </p:nvSpPr>
        <p:spPr>
          <a:xfrm>
            <a:off x="1188720" y="2432304"/>
            <a:ext cx="3936282" cy="566928"/>
          </a:xfrm>
          <a:prstGeom prst="rect">
            <a:avLst/>
          </a:prstGeom>
          <a:noFill/>
          <a:ln/>
        </p:spPr>
        <p:txBody>
          <a:bodyPr wrap="square" lIns="63500" tIns="63500" rIns="63500" bIns="63500" rtlCol="0" anchor="ctr"/>
          <a:lstStyle/>
          <a:p>
            <a:pPr algn="l" indent="0" marL="0">
              <a:buNone/>
            </a:pPr>
            <a:r>
              <a:rPr lang="en-US" sz="2000" b="1" dirty="0">
                <a:solidFill>
                  <a:srgbClr val="2C4B34"/>
                </a:solidFill>
                <a:latin typeface="Calibri" pitchFamily="34" charset="0"/>
                <a:ea typeface="Calibri" pitchFamily="34" charset="-122"/>
                <a:cs typeface="Calibri" pitchFamily="34" charset="-120"/>
              </a:rPr>
              <a:t>Support</a:t>
            </a:r>
            <a:endParaRPr lang="en-US" sz="2000" dirty="0"/>
          </a:p>
        </p:txBody>
      </p:sp>
      <p:sp>
        <p:nvSpPr>
          <p:cNvPr id="16" name="col-body"/>
          <p:cNvSpPr txBox="1"/>
          <p:nvPr/>
        </p:nvSpPr>
        <p:spPr>
          <a:xfrm>
            <a:off x="685800" y="3035808"/>
            <a:ext cx="4393482" cy="2999232"/>
          </a:xfrm>
          <a:prstGeom prst="rect">
            <a:avLst/>
          </a:prstGeom>
          <a:noFill/>
          <a:ln/>
        </p:spPr>
        <p:txBody>
          <a:bodyPr wrap="square" lIns="63500" tIns="63500" rIns="63500" bIns="63500" rtlCol="0" anchor="t"/>
          <a:lstStyle/>
          <a:p>
            <a:pPr algn="l" indent="0" marL="0">
              <a:spcAft>
                <a:spcPts val="600"/>
              </a:spcAft>
              <a:buNone/>
            </a:pPr>
            <a:r>
              <a:rPr lang="en-US" sz="1800" b="1" dirty="0">
                <a:solidFill>
                  <a:srgbClr val="3F6B4A"/>
                </a:solidFill>
                <a:latin typeface="Calibri" pitchFamily="34" charset="0"/>
                <a:ea typeface="Calibri" pitchFamily="34" charset="-122"/>
                <a:cs typeface="Calibri" pitchFamily="34" charset="-120"/>
              </a:rPr>
              <a:t>1  </a:t>
            </a:r>
            <a:pPr algn="l" indent="0" marL="0">
              <a:spcAft>
                <a:spcPts val="600"/>
              </a:spcAft>
              <a:buNone/>
            </a:pPr>
            <a:r>
              <a:rPr lang="en-US" sz="1800" dirty="0">
                <a:solidFill>
                  <a:srgbClr val="1E2229"/>
                </a:solidFill>
                <a:latin typeface="Calibri" pitchFamily="34" charset="0"/>
                <a:ea typeface="Calibri" pitchFamily="34" charset="-122"/>
                <a:cs typeface="Calibri" pitchFamily="34" charset="-120"/>
              </a:rPr>
              <a:t>Sentence 1: where are people in the afternoon? Schools, workplaces, outside.</a:t>
            </a:r>
            <a:endParaRPr lang="en-US" sz="1800" dirty="0"/>
          </a:p>
          <a:p>
            <a:pPr algn="l" indent="0" marL="0">
              <a:spcAft>
                <a:spcPts val="600"/>
              </a:spcAft>
              <a:buNone/>
            </a:pPr>
            <a:r>
              <a:rPr lang="en-US" sz="1800" b="1" dirty="0">
                <a:solidFill>
                  <a:srgbClr val="3F6B4A"/>
                </a:solidFill>
                <a:latin typeface="Calibri" pitchFamily="34" charset="0"/>
                <a:ea typeface="Calibri" pitchFamily="34" charset="-122"/>
                <a:cs typeface="Calibri" pitchFamily="34" charset="-120"/>
              </a:rPr>
              <a:t>2  </a:t>
            </a:r>
            <a:pPr algn="l" indent="0" marL="0">
              <a:spcAft>
                <a:spcPts val="600"/>
              </a:spcAft>
              <a:buNone/>
            </a:pPr>
            <a:r>
              <a:rPr lang="en-US" sz="1800" dirty="0">
                <a:solidFill>
                  <a:srgbClr val="1E2229"/>
                </a:solidFill>
                <a:latin typeface="Calibri" pitchFamily="34" charset="0"/>
                <a:ea typeface="Calibri" pitchFamily="34" charset="-122"/>
                <a:cs typeface="Calibri" pitchFamily="34" charset="-120"/>
              </a:rPr>
              <a:t>Sentence 2: where are people at night? Asleep at home. Say what that means for the buildings they are in.</a:t>
            </a:r>
            <a:endParaRPr lang="en-US" sz="1800" dirty="0"/>
          </a:p>
          <a:p>
            <a:pPr algn="l" indent="0" marL="0">
              <a:spcAft>
                <a:spcPts val="600"/>
              </a:spcAft>
              <a:buNone/>
            </a:pPr>
            <a:r>
              <a:rPr lang="en-US" sz="1800" b="1" dirty="0">
                <a:solidFill>
                  <a:srgbClr val="3F6B4A"/>
                </a:solidFill>
                <a:latin typeface="Calibri" pitchFamily="34" charset="0"/>
                <a:ea typeface="Calibri" pitchFamily="34" charset="-122"/>
                <a:cs typeface="Calibri" pitchFamily="34" charset="-120"/>
              </a:rPr>
              <a:t>3  </a:t>
            </a:r>
            <a:pPr algn="l" indent="0" marL="0">
              <a:spcAft>
                <a:spcPts val="600"/>
              </a:spcAft>
              <a:buNone/>
            </a:pPr>
            <a:r>
              <a:rPr lang="en-US" sz="1800" dirty="0">
                <a:solidFill>
                  <a:srgbClr val="1E2229"/>
                </a:solidFill>
                <a:latin typeface="Calibri" pitchFamily="34" charset="0"/>
                <a:ea typeface="Calibri" pitchFamily="34" charset="-122"/>
                <a:cs typeface="Calibri" pitchFamily="34" charset="-120"/>
              </a:rPr>
              <a:t>Sentence 3: think about the rescuers. What is harder in the dark?</a:t>
            </a:r>
            <a:endParaRPr lang="en-US" sz="1800" dirty="0"/>
          </a:p>
          <a:p>
            <a:pPr algn="l" indent="0" marL="0">
              <a:spcAft>
                <a:spcPts val="600"/>
              </a:spcAft>
              <a:buNone/>
            </a:pPr>
            <a:r>
              <a:rPr lang="en-US" sz="1800" b="1" dirty="0">
                <a:solidFill>
                  <a:srgbClr val="3F6B4A"/>
                </a:solidFill>
                <a:latin typeface="Calibri" pitchFamily="34" charset="0"/>
                <a:ea typeface="Calibri" pitchFamily="34" charset="-122"/>
                <a:cs typeface="Calibri" pitchFamily="34" charset="-120"/>
              </a:rPr>
              <a:t>4  </a:t>
            </a:r>
            <a:pPr algn="l" indent="0" marL="0">
              <a:spcAft>
                <a:spcPts val="600"/>
              </a:spcAft>
              <a:buNone/>
            </a:pPr>
            <a:r>
              <a:rPr lang="en-US" sz="1800" dirty="0">
                <a:solidFill>
                  <a:srgbClr val="1E2229"/>
                </a:solidFill>
                <a:latin typeface="Calibri" pitchFamily="34" charset="0"/>
                <a:ea typeface="Calibri" pitchFamily="34" charset="-122"/>
                <a:cs typeface="Calibri" pitchFamily="34" charset="-120"/>
              </a:rPr>
              <a:t>Sentence 4: decide. More or less loss of life at night? Give your reason.</a:t>
            </a:r>
            <a:endParaRPr lang="en-US" sz="1800" dirty="0"/>
          </a:p>
        </p:txBody>
      </p:sp>
      <p:sp>
        <p:nvSpPr>
          <p:cNvPr id="17" name="col-Core"/>
          <p:cNvSpPr/>
          <p:nvPr/>
        </p:nvSpPr>
        <p:spPr>
          <a:xfrm>
            <a:off x="5490762" y="2395728"/>
            <a:ext cx="2938987" cy="3749040"/>
          </a:xfrm>
          <a:prstGeom prst="roundRect">
            <a:avLst>
              <a:gd name="adj" fmla="val 1867"/>
            </a:avLst>
          </a:prstGeom>
          <a:solidFill>
            <a:srgbClr val="D8E1DA"/>
          </a:solidFill>
          <a:ln/>
        </p:spPr>
      </p:sp>
      <p:sp>
        <p:nvSpPr>
          <p:cNvPr id="18" name="col-hex"/>
          <p:cNvSpPr/>
          <p:nvPr/>
        </p:nvSpPr>
        <p:spPr>
          <a:xfrm>
            <a:off x="5600490" y="2468880"/>
            <a:ext cx="475488" cy="411773"/>
          </a:xfrm>
          <a:prstGeom prst="hexagon">
            <a:avLst/>
          </a:prstGeom>
          <a:solidFill>
            <a:srgbClr val="B8862B"/>
          </a:solidFill>
          <a:ln w="12700">
            <a:solidFill>
              <a:srgbClr val="FFFFFF"/>
            </a:solidFill>
            <a:prstDash val="solid"/>
          </a:ln>
        </p:spPr>
      </p:sp>
      <p:sp>
        <p:nvSpPr>
          <p:cNvPr id="19" name="col-hex-label"/>
          <p:cNvSpPr txBox="1"/>
          <p:nvPr/>
        </p:nvSpPr>
        <p:spPr>
          <a:xfrm>
            <a:off x="5600490" y="2468880"/>
            <a:ext cx="475488" cy="411773"/>
          </a:xfrm>
          <a:prstGeom prst="rect">
            <a:avLst/>
          </a:prstGeom>
          <a:noFill/>
          <a:ln/>
        </p:spPr>
        <p:txBody>
          <a:bodyPr wrap="square" lIns="0" tIns="0" rIns="0" bIns="0" rtlCol="0" anchor="ctr"/>
          <a:lstStyle/>
          <a:p>
            <a:pPr algn="ctr" indent="0" marL="0">
              <a:buNone/>
            </a:pPr>
            <a:r>
              <a:rPr lang="en-US" sz="1800" b="1" dirty="0">
                <a:solidFill>
                  <a:srgbClr val="FFFFFF"/>
                </a:solidFill>
                <a:latin typeface="Calibri" pitchFamily="34" charset="0"/>
                <a:ea typeface="Calibri" pitchFamily="34" charset="-122"/>
                <a:cs typeface="Calibri" pitchFamily="34" charset="-120"/>
              </a:rPr>
              <a:t>2</a:t>
            </a:r>
            <a:endParaRPr lang="en-US" sz="1800" dirty="0"/>
          </a:p>
        </p:txBody>
      </p:sp>
      <p:sp>
        <p:nvSpPr>
          <p:cNvPr id="20" name="col-head"/>
          <p:cNvSpPr txBox="1"/>
          <p:nvPr/>
        </p:nvSpPr>
        <p:spPr>
          <a:xfrm>
            <a:off x="6130842" y="2432304"/>
            <a:ext cx="2207467" cy="566928"/>
          </a:xfrm>
          <a:prstGeom prst="rect">
            <a:avLst/>
          </a:prstGeom>
          <a:noFill/>
          <a:ln/>
        </p:spPr>
        <p:txBody>
          <a:bodyPr wrap="square" lIns="63500" tIns="63500" rIns="63500" bIns="63500" rtlCol="0" anchor="ctr"/>
          <a:lstStyle/>
          <a:p>
            <a:pPr algn="l" indent="0" marL="0">
              <a:buNone/>
            </a:pPr>
            <a:r>
              <a:rPr lang="en-US" sz="2000" b="1" dirty="0">
                <a:solidFill>
                  <a:srgbClr val="2C4B34"/>
                </a:solidFill>
                <a:latin typeface="Calibri" pitchFamily="34" charset="0"/>
                <a:ea typeface="Calibri" pitchFamily="34" charset="-122"/>
                <a:cs typeface="Calibri" pitchFamily="34" charset="-120"/>
              </a:rPr>
              <a:t>Core</a:t>
            </a:r>
            <a:endParaRPr lang="en-US" sz="2000" dirty="0"/>
          </a:p>
        </p:txBody>
      </p:sp>
      <p:sp>
        <p:nvSpPr>
          <p:cNvPr id="21" name="col-body"/>
          <p:cNvSpPr txBox="1"/>
          <p:nvPr/>
        </p:nvSpPr>
        <p:spPr>
          <a:xfrm>
            <a:off x="5627922" y="3035808"/>
            <a:ext cx="2664667" cy="2999232"/>
          </a:xfrm>
          <a:prstGeom prst="rect">
            <a:avLst/>
          </a:prstGeom>
          <a:noFill/>
          <a:ln/>
        </p:spPr>
        <p:txBody>
          <a:bodyPr wrap="square" lIns="63500" tIns="63500" rIns="63500" bIns="63500" rtlCol="0" anchor="t"/>
          <a:lstStyle/>
          <a:p>
            <a:pPr algn="l" indent="0" marL="0">
              <a:buNone/>
            </a:pPr>
            <a:r>
              <a:rPr lang="en-US" sz="1800" b="1" dirty="0">
                <a:solidFill>
                  <a:srgbClr val="32563B"/>
                </a:solidFill>
                <a:latin typeface="Calibri" pitchFamily="34" charset="0"/>
                <a:ea typeface="Calibri" pitchFamily="34" charset="-122"/>
                <a:cs typeface="Calibri" pitchFamily="34" charset="-120"/>
              </a:rPr>
              <a:t>Hint:  </a:t>
            </a:r>
            <a:pPr algn="l" indent="0" marL="0">
              <a:buNone/>
            </a:pPr>
            <a:r>
              <a:rPr lang="en-US" sz="1800" dirty="0">
                <a:solidFill>
                  <a:srgbClr val="1E2229"/>
                </a:solidFill>
                <a:latin typeface="Calibri" pitchFamily="34" charset="0"/>
                <a:ea typeface="Calibri" pitchFamily="34" charset="-122"/>
                <a:cs typeface="Calibri" pitchFamily="34" charset="-120"/>
              </a:rPr>
              <a:t>Where people are, what buildings they are in, how rescue is affected, then your judgement.</a:t>
            </a:r>
            <a:endParaRPr lang="en-US" sz="1800" dirty="0"/>
          </a:p>
        </p:txBody>
      </p:sp>
      <p:sp>
        <p:nvSpPr>
          <p:cNvPr id="22" name="col-Stretch"/>
          <p:cNvSpPr/>
          <p:nvPr/>
        </p:nvSpPr>
        <p:spPr>
          <a:xfrm>
            <a:off x="8704069" y="2395728"/>
            <a:ext cx="2938987" cy="3749040"/>
          </a:xfrm>
          <a:prstGeom prst="roundRect">
            <a:avLst>
              <a:gd name="adj" fmla="val 1867"/>
            </a:avLst>
          </a:prstGeom>
          <a:solidFill>
            <a:srgbClr val="3F6B4A"/>
          </a:solidFill>
          <a:ln/>
        </p:spPr>
      </p:sp>
      <p:sp>
        <p:nvSpPr>
          <p:cNvPr id="23" name="col-hex"/>
          <p:cNvSpPr/>
          <p:nvPr/>
        </p:nvSpPr>
        <p:spPr>
          <a:xfrm>
            <a:off x="8813797" y="2468880"/>
            <a:ext cx="475488" cy="411773"/>
          </a:xfrm>
          <a:prstGeom prst="hexagon">
            <a:avLst/>
          </a:prstGeom>
          <a:solidFill>
            <a:srgbClr val="B8862B"/>
          </a:solidFill>
          <a:ln w="12700">
            <a:solidFill>
              <a:srgbClr val="FFFFFF"/>
            </a:solidFill>
            <a:prstDash val="solid"/>
          </a:ln>
        </p:spPr>
      </p:sp>
      <p:sp>
        <p:nvSpPr>
          <p:cNvPr id="24" name="col-hex-label"/>
          <p:cNvSpPr txBox="1"/>
          <p:nvPr/>
        </p:nvSpPr>
        <p:spPr>
          <a:xfrm>
            <a:off x="8813797" y="2468880"/>
            <a:ext cx="475488" cy="411773"/>
          </a:xfrm>
          <a:prstGeom prst="rect">
            <a:avLst/>
          </a:prstGeom>
          <a:noFill/>
          <a:ln/>
        </p:spPr>
        <p:txBody>
          <a:bodyPr wrap="square" lIns="0" tIns="0" rIns="0" bIns="0" rtlCol="0" anchor="ctr"/>
          <a:lstStyle/>
          <a:p>
            <a:pPr algn="ctr" indent="0" marL="0">
              <a:buNone/>
            </a:pPr>
            <a:r>
              <a:rPr lang="en-US" sz="1800" b="1" dirty="0">
                <a:solidFill>
                  <a:srgbClr val="FFFFFF"/>
                </a:solidFill>
                <a:latin typeface="Calibri" pitchFamily="34" charset="0"/>
                <a:ea typeface="Calibri" pitchFamily="34" charset="-122"/>
                <a:cs typeface="Calibri" pitchFamily="34" charset="-120"/>
              </a:rPr>
              <a:t>3</a:t>
            </a:r>
            <a:endParaRPr lang="en-US" sz="1800" dirty="0"/>
          </a:p>
        </p:txBody>
      </p:sp>
      <p:sp>
        <p:nvSpPr>
          <p:cNvPr id="25" name="col-head"/>
          <p:cNvSpPr txBox="1"/>
          <p:nvPr/>
        </p:nvSpPr>
        <p:spPr>
          <a:xfrm>
            <a:off x="9344149" y="2432304"/>
            <a:ext cx="2207467" cy="566928"/>
          </a:xfrm>
          <a:prstGeom prst="rect">
            <a:avLst/>
          </a:prstGeom>
          <a:noFill/>
          <a:ln/>
        </p:spPr>
        <p:txBody>
          <a:bodyPr wrap="square" lIns="63500" tIns="63500" rIns="63500" bIns="63500" rtlCol="0" anchor="ctr"/>
          <a:lstStyle/>
          <a:p>
            <a:pPr algn="l" indent="0" marL="0">
              <a:buNone/>
            </a:pPr>
            <a:r>
              <a:rPr lang="en-US" sz="2000" b="1" dirty="0">
                <a:solidFill>
                  <a:srgbClr val="FFFFFF"/>
                </a:solidFill>
                <a:latin typeface="Calibri" pitchFamily="34" charset="0"/>
                <a:ea typeface="Calibri" pitchFamily="34" charset="-122"/>
                <a:cs typeface="Calibri" pitchFamily="34" charset="-120"/>
              </a:rPr>
              <a:t>Stretch</a:t>
            </a:r>
            <a:endParaRPr lang="en-US" sz="2000" dirty="0"/>
          </a:p>
        </p:txBody>
      </p:sp>
      <p:sp>
        <p:nvSpPr>
          <p:cNvPr id="26" name="col-body"/>
          <p:cNvSpPr txBox="1"/>
          <p:nvPr/>
        </p:nvSpPr>
        <p:spPr>
          <a:xfrm>
            <a:off x="8841229" y="3035808"/>
            <a:ext cx="2664667" cy="2999232"/>
          </a:xfrm>
          <a:prstGeom prst="rect">
            <a:avLst/>
          </a:prstGeom>
          <a:noFill/>
          <a:ln/>
        </p:spPr>
        <p:txBody>
          <a:bodyPr wrap="square" lIns="63500" tIns="63500" rIns="63500" bIns="63500" rtlCol="0" anchor="t"/>
          <a:lstStyle/>
          <a:p>
            <a:pPr algn="l" indent="0" marL="0">
              <a:buNone/>
            </a:pPr>
            <a:r>
              <a:rPr lang="en-US" sz="1800" b="1" dirty="0">
                <a:solidFill>
                  <a:srgbClr val="D4B680"/>
                </a:solidFill>
                <a:latin typeface="Calibri" pitchFamily="34" charset="0"/>
                <a:ea typeface="Calibri" pitchFamily="34" charset="-122"/>
                <a:cs typeface="Calibri" pitchFamily="34" charset="-120"/>
              </a:rPr>
              <a:t>Then:  </a:t>
            </a:r>
            <a:pPr algn="l" indent="0" marL="0">
              <a:buNone/>
            </a:pPr>
            <a:r>
              <a:rPr lang="en-US" sz="1800" dirty="0">
                <a:solidFill>
                  <a:srgbClr val="FFFFFF"/>
                </a:solidFill>
                <a:latin typeface="Calibri" pitchFamily="34" charset="0"/>
                <a:ea typeface="Calibri" pitchFamily="34" charset="-122"/>
                <a:cs typeface="Calibri" pitchFamily="34" charset="-120"/>
              </a:rPr>
              <a:t>Explain why the answer to this question might be different for a rich country and a poor one, using the idea that earthquakes do not kill people directly.</a:t>
            </a:r>
            <a:endParaRPr lang="en-US" sz="1800" dirty="0"/>
          </a:p>
        </p:txBody>
      </p:sp>
      <p:sp>
        <p:nvSpPr>
          <p:cNvPr id="25" name="Slide Number Placeholder 0"/>
          <p:cNvSpPr>
            <a:spLocks noGrp="1"/>
          </p:cNvSpPr>
          <p:nvPr>
            <p:ph type="sldNum" sz="quarter" idx="4294967295"/>
          </p:nvPr>
        </p:nvSpPr>
        <p:spPr>
          <a:xfrm>
            <a:off x="11018520" y="6446520"/>
            <a:ext cx="640080" cy="365760"/>
          </a:xfrm>
          <a:prstGeom prst="rect">
            <a:avLst/>
          </a:prstGeom>
          <a:extLst>
            <a:ext uri="{C572A759-6A51-4108-AA02-DFA0A04FC94B}">
              <ma14:wrappingTextBoxFlag xmlns:ma14="http://schemas.microsoft.com/office/mac/drawingml/2011/main" val="0"/>
            </a:ext>
          </a:extLst>
        </p:spPr>
        <p:txBody>
          <a:bodyPr lIns="0" tIns="0" rIns="0" bIns="0" anchor="ctr"/>
          <a:lstStyle>
            <a:lvl1pPr>
              <a:defRPr sz="1000">
                <a:solidFill>
                  <a:srgbClr val="396043"/>
                </a:solidFill>
                <a:latin typeface="Calibri"/>
                <a:ea typeface="Calibri"/>
                <a:cs typeface="Calibri"/>
              </a:defRPr>
            </a:lvl1pPr>
          </a:lstStyle>
          <a:p>
            <a:pPr algn="r"/>
            <a:fld id="{F7021451-1387-4CA6-816F-3879F97B5CBC}" type="slidenum">
              <a:rPr b="0" lang="en-US"/>
              <a:t>19</a:t>
            </a:fld>
            <a:endParaRPr lang="en-US"/>
          </a:p>
        </p:txBody>
      </p:sp>
    </p:spTree>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name="Slide 20">
    <p:spTree>
      <p:nvGrpSpPr>
        <p:cNvPr id="1" name=""/>
        <p:cNvGrpSpPr/>
        <p:nvPr/>
      </p:nvGrpSpPr>
      <p:grpSpPr>
        <a:xfrm>
          <a:off x="0" y="0"/>
          <a:ext cx="0" cy="0"/>
          <a:chOff x="0" y="0"/>
          <a:chExt cx="0" cy="0"/>
        </a:xfrm>
      </p:grpSpPr>
      <p:sp>
        <p:nvSpPr>
          <p:cNvPr id="3" name="title"/>
          <p:cNvSpPr txBox="1"/>
          <p:nvPr/>
        </p:nvSpPr>
        <p:spPr>
          <a:xfrm>
            <a:off x="548640" y="292608"/>
            <a:ext cx="9052560" cy="969264"/>
          </a:xfrm>
          <a:prstGeom prst="rect">
            <a:avLst/>
          </a:prstGeom>
          <a:noFill/>
          <a:ln/>
        </p:spPr>
        <p:txBody>
          <a:bodyPr wrap="square" lIns="63500" tIns="63500" rIns="63500" bIns="63500" rtlCol="0" anchor="ctr"/>
          <a:lstStyle/>
          <a:p>
            <a:pPr algn="l" indent="0" marL="0">
              <a:buNone/>
            </a:pPr>
            <a:r>
              <a:rPr lang="en-US" sz="3200" b="1" dirty="0">
                <a:solidFill>
                  <a:srgbClr val="3F6B4A"/>
                </a:solidFill>
                <a:latin typeface="Cambria" pitchFamily="34" charset="0"/>
                <a:ea typeface="Cambria" pitchFamily="34" charset="-122"/>
                <a:cs typeface="Cambria" pitchFamily="34" charset="-120"/>
              </a:rPr>
              <a:t>Exit ticket</a:t>
            </a:r>
            <a:endParaRPr lang="en-US" sz="3200" dirty="0"/>
          </a:p>
        </p:txBody>
      </p:sp>
      <p:sp>
        <p:nvSpPr>
          <p:cNvPr id="4" name="chip-hex"/>
          <p:cNvSpPr/>
          <p:nvPr/>
        </p:nvSpPr>
        <p:spPr>
          <a:xfrm>
            <a:off x="9677095" y="531760"/>
            <a:ext cx="566928" cy="490960"/>
          </a:xfrm>
          <a:prstGeom prst="hexagon">
            <a:avLst/>
          </a:prstGeom>
          <a:solidFill>
            <a:srgbClr val="B8862B"/>
          </a:solidFill>
          <a:ln/>
        </p:spPr>
      </p:sp>
      <p:sp>
        <p:nvSpPr>
          <p:cNvPr id="5" name="chip-hex-label"/>
          <p:cNvSpPr txBox="1"/>
          <p:nvPr/>
        </p:nvSpPr>
        <p:spPr>
          <a:xfrm>
            <a:off x="9677095" y="531760"/>
            <a:ext cx="566928" cy="490960"/>
          </a:xfrm>
          <a:prstGeom prst="rect">
            <a:avLst/>
          </a:prstGeom>
          <a:noFill/>
          <a:ln/>
        </p:spPr>
        <p:txBody>
          <a:bodyPr wrap="square" lIns="0" tIns="0" rIns="0" bIns="0" rtlCol="0" anchor="ctr"/>
          <a:lstStyle/>
          <a:p>
            <a:pPr algn="ctr" indent="0" marL="0">
              <a:buNone/>
            </a:pPr>
            <a:endParaRPr lang="en-US" sz="2000" dirty="0"/>
          </a:p>
        </p:txBody>
      </p:sp>
      <p:sp>
        <p:nvSpPr>
          <p:cNvPr id="6" name="chip-label"/>
          <p:cNvSpPr txBox="1"/>
          <p:nvPr/>
        </p:nvSpPr>
        <p:spPr>
          <a:xfrm>
            <a:off x="10317175" y="292608"/>
            <a:ext cx="1325880" cy="969264"/>
          </a:xfrm>
          <a:prstGeom prst="rect">
            <a:avLst/>
          </a:prstGeom>
          <a:noFill/>
          <a:ln/>
        </p:spPr>
        <p:txBody>
          <a:bodyPr wrap="square" lIns="63500" tIns="63500" rIns="63500" bIns="63500" rtlCol="0" anchor="ctr"/>
          <a:lstStyle/>
          <a:p>
            <a:pPr algn="l" indent="0" marL="0">
              <a:buNone/>
            </a:pPr>
            <a:r>
              <a:rPr lang="en-US" sz="1800" b="1" dirty="0">
                <a:solidFill>
                  <a:srgbClr val="8A6520"/>
                </a:solidFill>
                <a:latin typeface="Calibri" pitchFamily="34" charset="0"/>
                <a:ea typeface="Calibri" pitchFamily="34" charset="-122"/>
                <a:cs typeface="Calibri" pitchFamily="34" charset="-120"/>
              </a:rPr>
              <a:t>Exit</a:t>
            </a:r>
            <a:endParaRPr lang="en-US" sz="1800" dirty="0"/>
          </a:p>
        </p:txBody>
      </p:sp>
      <p:sp>
        <p:nvSpPr>
          <p:cNvPr id="7" name="exit-card"/>
          <p:cNvSpPr/>
          <p:nvPr/>
        </p:nvSpPr>
        <p:spPr>
          <a:xfrm>
            <a:off x="1645920" y="1389888"/>
            <a:ext cx="8899855" cy="4754880"/>
          </a:xfrm>
          <a:prstGeom prst="roundRect">
            <a:avLst>
              <a:gd name="adj" fmla="val 962"/>
            </a:avLst>
          </a:prstGeom>
          <a:solidFill>
            <a:srgbClr val="FFFFFF"/>
          </a:solidFill>
          <a:ln w="31750">
            <a:solidFill>
              <a:srgbClr val="3F6B4A"/>
            </a:solidFill>
            <a:prstDash val="solid"/>
          </a:ln>
          <a:effectLst>
            <a:outerShdw sx="100000" sy="100000" kx="0" ky="0" algn="bl" rotWithShape="0" blurRad="76200" dist="25400" dir="5400000">
              <a:srgbClr val="000000">
                <a:alpha val="12000"/>
              </a:srgbClr>
            </a:outerShdw>
          </a:effectLst>
        </p:spPr>
      </p:sp>
      <p:sp>
        <p:nvSpPr>
          <p:cNvPr id="8" name="exit-hex"/>
          <p:cNvSpPr/>
          <p:nvPr/>
        </p:nvSpPr>
        <p:spPr>
          <a:xfrm>
            <a:off x="1143000" y="1618488"/>
            <a:ext cx="1005840" cy="871057"/>
          </a:xfrm>
          <a:prstGeom prst="hexagon">
            <a:avLst/>
          </a:prstGeom>
          <a:solidFill>
            <a:srgbClr val="3F6B4A"/>
          </a:solidFill>
          <a:ln w="25400">
            <a:solidFill>
              <a:srgbClr val="B8862B"/>
            </a:solidFill>
            <a:prstDash val="solid"/>
          </a:ln>
        </p:spPr>
      </p:sp>
      <p:sp>
        <p:nvSpPr>
          <p:cNvPr id="9" name="exit-hex-label"/>
          <p:cNvSpPr txBox="1"/>
          <p:nvPr/>
        </p:nvSpPr>
        <p:spPr>
          <a:xfrm>
            <a:off x="1143000" y="1618488"/>
            <a:ext cx="1005840" cy="871057"/>
          </a:xfrm>
          <a:prstGeom prst="rect">
            <a:avLst/>
          </a:prstGeom>
          <a:noFill/>
          <a:ln/>
        </p:spPr>
        <p:txBody>
          <a:bodyPr wrap="square" lIns="0" tIns="0" rIns="0" bIns="0" rtlCol="0" anchor="ctr"/>
          <a:lstStyle/>
          <a:p>
            <a:pPr algn="ctr" indent="0" marL="0">
              <a:buNone/>
            </a:pPr>
            <a:r>
              <a:rPr lang="en-US" sz="2000" b="1" dirty="0">
                <a:solidFill>
                  <a:srgbClr val="FFFFFF"/>
                </a:solidFill>
                <a:latin typeface="Calibri" pitchFamily="34" charset="0"/>
                <a:ea typeface="Calibri" pitchFamily="34" charset="-122"/>
                <a:cs typeface="Calibri" pitchFamily="34" charset="-120"/>
              </a:rPr>
              <a:t>Exit</a:t>
            </a:r>
            <a:endParaRPr lang="en-US" sz="2000" dirty="0"/>
          </a:p>
        </p:txBody>
      </p:sp>
      <p:sp>
        <p:nvSpPr>
          <p:cNvPr id="10" name="exit-q"/>
          <p:cNvSpPr txBox="1"/>
          <p:nvPr/>
        </p:nvSpPr>
        <p:spPr>
          <a:xfrm>
            <a:off x="2286000" y="1664208"/>
            <a:ext cx="7802575" cy="2615184"/>
          </a:xfrm>
          <a:prstGeom prst="rect">
            <a:avLst/>
          </a:prstGeom>
          <a:noFill/>
          <a:ln/>
        </p:spPr>
        <p:txBody>
          <a:bodyPr wrap="square" lIns="63500" tIns="63500" rIns="63500" bIns="63500" rtlCol="0" anchor="t"/>
          <a:lstStyle/>
          <a:p>
            <a:pPr algn="l" indent="0" marL="0">
              <a:spcAft>
                <a:spcPts val="1200"/>
              </a:spcAft>
              <a:buNone/>
            </a:pPr>
            <a:r>
              <a:rPr lang="en-US" sz="2400" b="1" dirty="0">
                <a:solidFill>
                  <a:srgbClr val="1E2229"/>
                </a:solidFill>
                <a:latin typeface="Calibri" pitchFamily="34" charset="0"/>
                <a:ea typeface="Calibri" pitchFamily="34" charset="-122"/>
                <a:cs typeface="Calibri" pitchFamily="34" charset="-120"/>
              </a:rPr>
              <a:t>Farmers grow tomatoes on the slopes of Mount Vesuvius in Italy, even though it is an active volcano. Why?</a:t>
            </a:r>
            <a:endParaRPr lang="en-US" sz="2400" dirty="0"/>
          </a:p>
          <a:p>
            <a:pPr algn="l" indent="0" marL="0">
              <a:spcAft>
                <a:spcPts val="600"/>
              </a:spcAft>
              <a:buNone/>
            </a:pPr>
            <a:r>
              <a:rPr lang="en-US" sz="2200" b="1" dirty="0">
                <a:solidFill>
                  <a:srgbClr val="B8862B"/>
                </a:solidFill>
                <a:latin typeface="Calibri" pitchFamily="34" charset="0"/>
                <a:ea typeface="Calibri" pitchFamily="34" charset="-122"/>
                <a:cs typeface="Calibri" pitchFamily="34" charset="-120"/>
              </a:rPr>
              <a:t>A   </a:t>
            </a:r>
            <a:pPr algn="l" indent="0" marL="0">
              <a:spcAft>
                <a:spcPts val="600"/>
              </a:spcAft>
              <a:buNone/>
            </a:pPr>
            <a:r>
              <a:rPr lang="en-US" sz="2200" dirty="0">
                <a:solidFill>
                  <a:srgbClr val="1E2229"/>
                </a:solidFill>
                <a:latin typeface="Calibri" pitchFamily="34" charset="0"/>
                <a:ea typeface="Calibri" pitchFamily="34" charset="-122"/>
                <a:cs typeface="Calibri" pitchFamily="34" charset="-120"/>
              </a:rPr>
              <a:t>The land there is free because nobody else wants it</a:t>
            </a:r>
            <a:endParaRPr lang="en-US" sz="2400" dirty="0"/>
          </a:p>
          <a:p>
            <a:pPr algn="l" indent="0" marL="0">
              <a:spcAft>
                <a:spcPts val="600"/>
              </a:spcAft>
              <a:buNone/>
            </a:pPr>
            <a:r>
              <a:rPr lang="en-US" sz="2200" b="1" dirty="0">
                <a:solidFill>
                  <a:srgbClr val="B8862B"/>
                </a:solidFill>
                <a:latin typeface="Calibri" pitchFamily="34" charset="0"/>
                <a:ea typeface="Calibri" pitchFamily="34" charset="-122"/>
                <a:cs typeface="Calibri" pitchFamily="34" charset="-120"/>
              </a:rPr>
              <a:t>B   </a:t>
            </a:r>
            <a:pPr algn="l" indent="0" marL="0">
              <a:spcAft>
                <a:spcPts val="600"/>
              </a:spcAft>
              <a:buNone/>
            </a:pPr>
            <a:r>
              <a:rPr lang="en-US" sz="2200" dirty="0">
                <a:solidFill>
                  <a:srgbClr val="1E2229"/>
                </a:solidFill>
                <a:latin typeface="Calibri" pitchFamily="34" charset="0"/>
                <a:ea typeface="Calibri" pitchFamily="34" charset="-122"/>
                <a:cs typeface="Calibri" pitchFamily="34" charset="-120"/>
              </a:rPr>
              <a:t>There are never any earthquakes near a volcano</a:t>
            </a:r>
            <a:endParaRPr lang="en-US" sz="2400" dirty="0"/>
          </a:p>
          <a:p>
            <a:pPr algn="l" indent="0" marL="0">
              <a:spcAft>
                <a:spcPts val="600"/>
              </a:spcAft>
              <a:buNone/>
            </a:pPr>
            <a:r>
              <a:rPr lang="en-US" sz="2200" b="1" dirty="0">
                <a:solidFill>
                  <a:srgbClr val="B8862B"/>
                </a:solidFill>
                <a:latin typeface="Calibri" pitchFamily="34" charset="0"/>
                <a:ea typeface="Calibri" pitchFamily="34" charset="-122"/>
                <a:cs typeface="Calibri" pitchFamily="34" charset="-120"/>
              </a:rPr>
              <a:t>C   </a:t>
            </a:r>
            <a:pPr algn="l" indent="0" marL="0">
              <a:spcAft>
                <a:spcPts val="600"/>
              </a:spcAft>
              <a:buNone/>
            </a:pPr>
            <a:r>
              <a:rPr lang="en-US" sz="2200" dirty="0">
                <a:solidFill>
                  <a:srgbClr val="1E2229"/>
                </a:solidFill>
                <a:latin typeface="Calibri" pitchFamily="34" charset="0"/>
                <a:ea typeface="Calibri" pitchFamily="34" charset="-122"/>
                <a:cs typeface="Calibri" pitchFamily="34" charset="-120"/>
              </a:rPr>
              <a:t>Volcanic ash has made the soil very fertile, so crops grow well</a:t>
            </a:r>
            <a:endParaRPr lang="en-US" sz="2400" dirty="0"/>
          </a:p>
          <a:p>
            <a:pPr algn="l" indent="0" marL="0">
              <a:spcAft>
                <a:spcPts val="600"/>
              </a:spcAft>
              <a:buNone/>
            </a:pPr>
            <a:r>
              <a:rPr lang="en-US" sz="2200" b="1" dirty="0">
                <a:solidFill>
                  <a:srgbClr val="B8862B"/>
                </a:solidFill>
                <a:latin typeface="Calibri" pitchFamily="34" charset="0"/>
                <a:ea typeface="Calibri" pitchFamily="34" charset="-122"/>
                <a:cs typeface="Calibri" pitchFamily="34" charset="-120"/>
              </a:rPr>
              <a:t>D   </a:t>
            </a:r>
            <a:pPr algn="l" indent="0" marL="0">
              <a:spcAft>
                <a:spcPts val="600"/>
              </a:spcAft>
              <a:buNone/>
            </a:pPr>
            <a:r>
              <a:rPr lang="en-US" sz="2200" dirty="0">
                <a:solidFill>
                  <a:srgbClr val="1E2229"/>
                </a:solidFill>
                <a:latin typeface="Calibri" pitchFamily="34" charset="0"/>
                <a:ea typeface="Calibri" pitchFamily="34" charset="-122"/>
                <a:cs typeface="Calibri" pitchFamily="34" charset="-120"/>
              </a:rPr>
              <a:t>The heat from the lava keeps the plants warm all year</a:t>
            </a:r>
            <a:endParaRPr lang="en-US" sz="2400" dirty="0"/>
          </a:p>
        </p:txBody>
      </p:sp>
      <p:sp>
        <p:nvSpPr>
          <p:cNvPr id="11" name="exit-answer-box"/>
          <p:cNvSpPr/>
          <p:nvPr/>
        </p:nvSpPr>
        <p:spPr>
          <a:xfrm>
            <a:off x="2286000" y="5047488"/>
            <a:ext cx="7619695" cy="822960"/>
          </a:xfrm>
          <a:prstGeom prst="roundRect">
            <a:avLst>
              <a:gd name="adj" fmla="val 11111"/>
            </a:avLst>
          </a:prstGeom>
          <a:solidFill>
            <a:srgbClr val="F4F7F5"/>
          </a:solidFill>
          <a:ln w="12700">
            <a:solidFill>
              <a:srgbClr val="A2B7A7"/>
            </a:solidFill>
            <a:prstDash val="solid"/>
          </a:ln>
        </p:spPr>
      </p:sp>
      <p:sp>
        <p:nvSpPr>
          <p:cNvPr id="12" name="exit-answer-label"/>
          <p:cNvSpPr txBox="1"/>
          <p:nvPr/>
        </p:nvSpPr>
        <p:spPr>
          <a:xfrm>
            <a:off x="2423160" y="5047488"/>
            <a:ext cx="2926080" cy="822960"/>
          </a:xfrm>
          <a:prstGeom prst="rect">
            <a:avLst/>
          </a:prstGeom>
          <a:noFill/>
          <a:ln/>
        </p:spPr>
        <p:txBody>
          <a:bodyPr wrap="square" lIns="63500" tIns="63500" rIns="63500" bIns="63500" rtlCol="0" anchor="ctr"/>
          <a:lstStyle/>
          <a:p>
            <a:pPr algn="l" indent="0" marL="0">
              <a:buNone/>
            </a:pPr>
            <a:r>
              <a:rPr lang="en-US" sz="1800" b="1" dirty="0">
                <a:solidFill>
                  <a:srgbClr val="3F6B4A"/>
                </a:solidFill>
                <a:latin typeface="Calibri" pitchFamily="34" charset="0"/>
                <a:ea typeface="Calibri" pitchFamily="34" charset="-122"/>
                <a:cs typeface="Calibri" pitchFamily="34" charset="-120"/>
              </a:rPr>
              <a:t>My answer:</a:t>
            </a:r>
            <a:endParaRPr lang="en-US" sz="1800" dirty="0"/>
          </a:p>
        </p:txBody>
      </p:sp>
      <p:sp>
        <p:nvSpPr>
          <p:cNvPr id="25" name="Slide Number Placeholder 0"/>
          <p:cNvSpPr>
            <a:spLocks noGrp="1"/>
          </p:cNvSpPr>
          <p:nvPr>
            <p:ph type="sldNum" sz="quarter" idx="4294967295"/>
          </p:nvPr>
        </p:nvSpPr>
        <p:spPr>
          <a:xfrm>
            <a:off x="11018520" y="6446520"/>
            <a:ext cx="640080" cy="365760"/>
          </a:xfrm>
          <a:prstGeom prst="rect">
            <a:avLst/>
          </a:prstGeom>
          <a:extLst>
            <a:ext uri="{C572A759-6A51-4108-AA02-DFA0A04FC94B}">
              <ma14:wrappingTextBoxFlag xmlns:ma14="http://schemas.microsoft.com/office/mac/drawingml/2011/main" val="0"/>
            </a:ext>
          </a:extLst>
        </p:spPr>
        <p:txBody>
          <a:bodyPr lIns="0" tIns="0" rIns="0" bIns="0" anchor="ctr"/>
          <a:lstStyle>
            <a:lvl1pPr>
              <a:defRPr sz="1000">
                <a:solidFill>
                  <a:srgbClr val="396043"/>
                </a:solidFill>
                <a:latin typeface="Calibri"/>
                <a:ea typeface="Calibri"/>
                <a:cs typeface="Calibri"/>
              </a:defRPr>
            </a:lvl1pPr>
          </a:lstStyle>
          <a:p>
            <a:pPr algn="r"/>
            <a:fld id="{F7021451-1387-4CA6-816F-3879F97B5CBC}" type="slidenum">
              <a:rPr b="0" lang="en-US"/>
              <a:t>20</a:t>
            </a:fld>
            <a:endParaRPr lang="en-US"/>
          </a:p>
        </p:txBody>
      </p:sp>
    </p:spTree>
  </p:cSld>
  <p:clrMapOvr>
    <a:masterClrMapping/>
  </p:clrMapOvr>
</p:sld>
</file>

<file path=ppt/slides/slide21.xml><?xml version="1.0" encoding="utf-8"?>
<p:sld xmlns:a="http://schemas.openxmlformats.org/drawingml/2006/main" xmlns:r="http://schemas.openxmlformats.org/officeDocument/2006/relationships" xmlns:p="http://schemas.openxmlformats.org/presentationml/2006/main">
  <p:cSld name="Slide 21">
    <p:spTree>
      <p:nvGrpSpPr>
        <p:cNvPr id="1" name=""/>
        <p:cNvGrpSpPr/>
        <p:nvPr/>
      </p:nvGrpSpPr>
      <p:grpSpPr>
        <a:xfrm>
          <a:off x="0" y="0"/>
          <a:ext cx="0" cy="0"/>
          <a:chOff x="0" y="0"/>
          <a:chExt cx="0" cy="0"/>
        </a:xfrm>
      </p:grpSpPr>
      <p:sp>
        <p:nvSpPr>
          <p:cNvPr id="3" name="title"/>
          <p:cNvSpPr txBox="1"/>
          <p:nvPr/>
        </p:nvSpPr>
        <p:spPr>
          <a:xfrm>
            <a:off x="548640" y="292608"/>
            <a:ext cx="9052560" cy="969264"/>
          </a:xfrm>
          <a:prstGeom prst="rect">
            <a:avLst/>
          </a:prstGeom>
          <a:noFill/>
          <a:ln/>
        </p:spPr>
        <p:txBody>
          <a:bodyPr wrap="square" lIns="63500" tIns="63500" rIns="63500" bIns="63500" rtlCol="0" anchor="ctr"/>
          <a:lstStyle/>
          <a:p>
            <a:pPr algn="l" indent="0" marL="0">
              <a:buNone/>
            </a:pPr>
            <a:r>
              <a:rPr lang="en-US" sz="3200" b="1" dirty="0">
                <a:solidFill>
                  <a:srgbClr val="3F6B4A"/>
                </a:solidFill>
                <a:latin typeface="Cambria" pitchFamily="34" charset="0"/>
                <a:ea typeface="Cambria" pitchFamily="34" charset="-122"/>
                <a:cs typeface="Cambria" pitchFamily="34" charset="-120"/>
              </a:rPr>
              <a:t>Answers: Sorting a case study</a:t>
            </a:r>
            <a:endParaRPr lang="en-US" sz="3200" dirty="0"/>
          </a:p>
        </p:txBody>
      </p:sp>
      <p:sp>
        <p:nvSpPr>
          <p:cNvPr id="4" name="chip-hex"/>
          <p:cNvSpPr/>
          <p:nvPr/>
        </p:nvSpPr>
        <p:spPr>
          <a:xfrm>
            <a:off x="9677095" y="531760"/>
            <a:ext cx="566928" cy="490960"/>
          </a:xfrm>
          <a:prstGeom prst="hexagon">
            <a:avLst/>
          </a:prstGeom>
          <a:solidFill>
            <a:srgbClr val="3F6B4A"/>
          </a:solidFill>
          <a:ln/>
        </p:spPr>
      </p:sp>
      <p:sp>
        <p:nvSpPr>
          <p:cNvPr id="5" name="chip-hex-label"/>
          <p:cNvSpPr txBox="1"/>
          <p:nvPr/>
        </p:nvSpPr>
        <p:spPr>
          <a:xfrm>
            <a:off x="9677095" y="531760"/>
            <a:ext cx="566928" cy="490960"/>
          </a:xfrm>
          <a:prstGeom prst="rect">
            <a:avLst/>
          </a:prstGeom>
          <a:noFill/>
          <a:ln/>
        </p:spPr>
        <p:txBody>
          <a:bodyPr wrap="square" lIns="0" tIns="0" rIns="0" bIns="0" rtlCol="0" anchor="ctr"/>
          <a:lstStyle/>
          <a:p>
            <a:pPr algn="ctr" indent="0" marL="0">
              <a:buNone/>
            </a:pPr>
            <a:r>
              <a:rPr lang="en-US" sz="2000" b="1" dirty="0">
                <a:solidFill>
                  <a:srgbClr val="FFFFFF"/>
                </a:solidFill>
                <a:latin typeface="Calibri" pitchFamily="34" charset="0"/>
                <a:ea typeface="Calibri" pitchFamily="34" charset="-122"/>
                <a:cs typeface="Calibri" pitchFamily="34" charset="-120"/>
              </a:rPr>
              <a:t>4</a:t>
            </a:r>
            <a:endParaRPr lang="en-US" sz="2000" dirty="0"/>
          </a:p>
        </p:txBody>
      </p:sp>
      <p:sp>
        <p:nvSpPr>
          <p:cNvPr id="6" name="chip-label"/>
          <p:cNvSpPr txBox="1"/>
          <p:nvPr/>
        </p:nvSpPr>
        <p:spPr>
          <a:xfrm>
            <a:off x="10317175" y="292608"/>
            <a:ext cx="1325880" cy="969264"/>
          </a:xfrm>
          <a:prstGeom prst="rect">
            <a:avLst/>
          </a:prstGeom>
          <a:noFill/>
          <a:ln/>
        </p:spPr>
        <p:txBody>
          <a:bodyPr wrap="square" lIns="63500" tIns="63500" rIns="63500" bIns="63500" rtlCol="0" anchor="ctr"/>
          <a:lstStyle/>
          <a:p>
            <a:pPr algn="l" indent="0" marL="0">
              <a:buNone/>
            </a:pPr>
            <a:r>
              <a:rPr lang="en-US" sz="1800" b="1" dirty="0">
                <a:solidFill>
                  <a:srgbClr val="3F6B4A"/>
                </a:solidFill>
                <a:latin typeface="Calibri" pitchFamily="34" charset="0"/>
                <a:ea typeface="Calibri" pitchFamily="34" charset="-122"/>
                <a:cs typeface="Calibri" pitchFamily="34" charset="-120"/>
              </a:rPr>
              <a:t>Check</a:t>
            </a:r>
            <a:endParaRPr lang="en-US" sz="1800" dirty="0"/>
          </a:p>
        </p:txBody>
      </p:sp>
      <p:sp>
        <p:nvSpPr>
          <p:cNvPr id="7" name="ans-panel"/>
          <p:cNvSpPr/>
          <p:nvPr/>
        </p:nvSpPr>
        <p:spPr>
          <a:xfrm>
            <a:off x="548640" y="1389888"/>
            <a:ext cx="6400800" cy="4754880"/>
          </a:xfrm>
          <a:prstGeom prst="roundRect">
            <a:avLst>
              <a:gd name="adj" fmla="val 962"/>
            </a:avLst>
          </a:prstGeom>
          <a:solidFill>
            <a:srgbClr val="F8F2E9"/>
          </a:solidFill>
          <a:ln w="19050">
            <a:solidFill>
              <a:srgbClr val="B8862B"/>
            </a:solidFill>
            <a:prstDash val="solid"/>
          </a:ln>
        </p:spPr>
      </p:sp>
      <p:sp>
        <p:nvSpPr>
          <p:cNvPr id="8" name="ans-tab"/>
          <p:cNvSpPr/>
          <p:nvPr/>
        </p:nvSpPr>
        <p:spPr>
          <a:xfrm>
            <a:off x="731520" y="1554480"/>
            <a:ext cx="1463040" cy="457200"/>
          </a:xfrm>
          <a:prstGeom prst="roundRect">
            <a:avLst>
              <a:gd name="adj" fmla="val 40000"/>
            </a:avLst>
          </a:prstGeom>
          <a:solidFill>
            <a:srgbClr val="9C7225"/>
          </a:solidFill>
          <a:ln/>
        </p:spPr>
        <p:txBody>
          <a:bodyPr wrap="square" lIns="63500" tIns="63500" rIns="63500" bIns="63500" rtlCol="0" anchor="ctr"/>
          <a:lstStyle/>
          <a:p>
            <a:pPr algn="l" indent="0" marL="0">
              <a:buNone/>
            </a:pPr>
            <a:r>
              <a:rPr lang="en-US" sz="1800" b="1" dirty="0">
                <a:solidFill>
                  <a:srgbClr val="FFFFFF"/>
                </a:solidFill>
                <a:latin typeface="Calibri" pitchFamily="34" charset="0"/>
                <a:ea typeface="Calibri" pitchFamily="34" charset="-122"/>
                <a:cs typeface="Calibri" pitchFamily="34" charset="-120"/>
              </a:rPr>
              <a:t>Answer</a:t>
            </a:r>
            <a:endParaRPr lang="en-US" sz="1800" dirty="0"/>
          </a:p>
        </p:txBody>
      </p:sp>
      <p:sp>
        <p:nvSpPr>
          <p:cNvPr id="9" name="ans"/>
          <p:cNvSpPr txBox="1"/>
          <p:nvPr/>
        </p:nvSpPr>
        <p:spPr>
          <a:xfrm>
            <a:off x="777240" y="2167128"/>
            <a:ext cx="5943600" cy="3840480"/>
          </a:xfrm>
          <a:prstGeom prst="rect">
            <a:avLst/>
          </a:prstGeom>
          <a:noFill/>
          <a:ln/>
        </p:spPr>
        <p:txBody>
          <a:bodyPr wrap="square" lIns="63500" tIns="63500" rIns="63500" bIns="63500" rtlCol="0" anchor="t"/>
          <a:lstStyle/>
          <a:p>
            <a:pPr algn="l" indent="0" marL="0">
              <a:spcAft>
                <a:spcPts val="1000"/>
              </a:spcAft>
              <a:buNone/>
            </a:pPr>
            <a:r>
              <a:rPr lang="en-US" sz="2000" b="1" dirty="0">
                <a:solidFill>
                  <a:srgbClr val="815E1E"/>
                </a:solidFill>
                <a:latin typeface="Calibri" pitchFamily="34" charset="0"/>
                <a:ea typeface="Calibri" pitchFamily="34" charset="-122"/>
                <a:cs typeface="Calibri" pitchFamily="34" charset="-120"/>
              </a:rPr>
              <a:t>1  </a:t>
            </a:r>
            <a:pPr algn="l" indent="0" marL="0">
              <a:spcAft>
                <a:spcPts val="1000"/>
              </a:spcAft>
              <a:buNone/>
            </a:pPr>
            <a:r>
              <a:rPr lang="en-US" sz="2000" dirty="0">
                <a:solidFill>
                  <a:srgbClr val="1E2229"/>
                </a:solidFill>
                <a:latin typeface="Calibri" pitchFamily="34" charset="0"/>
                <a:ea typeface="Calibri" pitchFamily="34" charset="-122"/>
                <a:cs typeface="Calibri" pitchFamily="34" charset="-120"/>
              </a:rPr>
              <a:t>Cause  →  E  Moving plates released pressure that had built up between them</a:t>
            </a:r>
            <a:endParaRPr lang="en-US" sz="2000" dirty="0"/>
          </a:p>
          <a:p>
            <a:pPr algn="l" indent="0" marL="0">
              <a:spcAft>
                <a:spcPts val="1000"/>
              </a:spcAft>
              <a:buNone/>
            </a:pPr>
            <a:r>
              <a:rPr lang="en-US" sz="2000" b="1" dirty="0">
                <a:solidFill>
                  <a:srgbClr val="815E1E"/>
                </a:solidFill>
                <a:latin typeface="Calibri" pitchFamily="34" charset="0"/>
                <a:ea typeface="Calibri" pitchFamily="34" charset="-122"/>
                <a:cs typeface="Calibri" pitchFamily="34" charset="-120"/>
              </a:rPr>
              <a:t>2  </a:t>
            </a:r>
            <a:pPr algn="l" indent="0" marL="0">
              <a:spcAft>
                <a:spcPts val="1000"/>
              </a:spcAft>
              <a:buNone/>
            </a:pPr>
            <a:r>
              <a:rPr lang="en-US" sz="2000" dirty="0">
                <a:solidFill>
                  <a:srgbClr val="1E2229"/>
                </a:solidFill>
                <a:latin typeface="Calibri" pitchFamily="34" charset="0"/>
                <a:ea typeface="Calibri" pitchFamily="34" charset="-122"/>
                <a:cs typeface="Calibri" pitchFamily="34" charset="-120"/>
              </a:rPr>
              <a:t>Social effect  →  D  Thousands of people lost their homes and schools were destroyed</a:t>
            </a:r>
            <a:endParaRPr lang="en-US" sz="2000" dirty="0"/>
          </a:p>
          <a:p>
            <a:pPr algn="l" indent="0" marL="0">
              <a:spcAft>
                <a:spcPts val="1000"/>
              </a:spcAft>
              <a:buNone/>
            </a:pPr>
            <a:r>
              <a:rPr lang="en-US" sz="2000" b="1" dirty="0">
                <a:solidFill>
                  <a:srgbClr val="815E1E"/>
                </a:solidFill>
                <a:latin typeface="Calibri" pitchFamily="34" charset="0"/>
                <a:ea typeface="Calibri" pitchFamily="34" charset="-122"/>
                <a:cs typeface="Calibri" pitchFamily="34" charset="-120"/>
              </a:rPr>
              <a:t>3  </a:t>
            </a:r>
            <a:pPr algn="l" indent="0" marL="0">
              <a:spcAft>
                <a:spcPts val="1000"/>
              </a:spcAft>
              <a:buNone/>
            </a:pPr>
            <a:r>
              <a:rPr lang="en-US" sz="2000" dirty="0">
                <a:solidFill>
                  <a:srgbClr val="1E2229"/>
                </a:solidFill>
                <a:latin typeface="Calibri" pitchFamily="34" charset="0"/>
                <a:ea typeface="Calibri" pitchFamily="34" charset="-122"/>
                <a:cs typeface="Calibri" pitchFamily="34" charset="-120"/>
              </a:rPr>
              <a:t>Economic effect  →  B  Factories, roads and shops were damaged and cost a great deal to rebuild</a:t>
            </a:r>
            <a:endParaRPr lang="en-US" sz="2000" dirty="0"/>
          </a:p>
          <a:p>
            <a:pPr algn="l" indent="0" marL="0">
              <a:spcAft>
                <a:spcPts val="1000"/>
              </a:spcAft>
              <a:buNone/>
            </a:pPr>
            <a:r>
              <a:rPr lang="en-US" sz="2000" b="1" dirty="0">
                <a:solidFill>
                  <a:srgbClr val="815E1E"/>
                </a:solidFill>
                <a:latin typeface="Calibri" pitchFamily="34" charset="0"/>
                <a:ea typeface="Calibri" pitchFamily="34" charset="-122"/>
                <a:cs typeface="Calibri" pitchFamily="34" charset="-120"/>
              </a:rPr>
              <a:t>4  </a:t>
            </a:r>
            <a:pPr algn="l" indent="0" marL="0">
              <a:spcAft>
                <a:spcPts val="1000"/>
              </a:spcAft>
              <a:buNone/>
            </a:pPr>
            <a:r>
              <a:rPr lang="en-US" sz="2000" dirty="0">
                <a:solidFill>
                  <a:srgbClr val="1E2229"/>
                </a:solidFill>
                <a:latin typeface="Calibri" pitchFamily="34" charset="0"/>
                <a:ea typeface="Calibri" pitchFamily="34" charset="-122"/>
                <a:cs typeface="Calibri" pitchFamily="34" charset="-120"/>
              </a:rPr>
              <a:t>Environmental effect  →  C  Landslides buried hillsides and blocked rivers</a:t>
            </a:r>
            <a:endParaRPr lang="en-US" sz="2000" dirty="0"/>
          </a:p>
          <a:p>
            <a:pPr algn="l" indent="0" marL="0">
              <a:spcAft>
                <a:spcPts val="1000"/>
              </a:spcAft>
              <a:buNone/>
            </a:pPr>
            <a:r>
              <a:rPr lang="en-US" sz="2000" b="1" dirty="0">
                <a:solidFill>
                  <a:srgbClr val="815E1E"/>
                </a:solidFill>
                <a:latin typeface="Calibri" pitchFamily="34" charset="0"/>
                <a:ea typeface="Calibri" pitchFamily="34" charset="-122"/>
                <a:cs typeface="Calibri" pitchFamily="34" charset="-120"/>
              </a:rPr>
              <a:t>5  </a:t>
            </a:r>
            <a:pPr algn="l" indent="0" marL="0">
              <a:spcAft>
                <a:spcPts val="1000"/>
              </a:spcAft>
              <a:buNone/>
            </a:pPr>
            <a:r>
              <a:rPr lang="en-US" sz="2000" dirty="0">
                <a:solidFill>
                  <a:srgbClr val="1E2229"/>
                </a:solidFill>
                <a:latin typeface="Calibri" pitchFamily="34" charset="0"/>
                <a:ea typeface="Calibri" pitchFamily="34" charset="-122"/>
                <a:cs typeface="Calibri" pitchFamily="34" charset="-120"/>
              </a:rPr>
              <a:t>Response  →  A  Rescue teams, tents and medical help were sent to the affected area</a:t>
            </a:r>
            <a:endParaRPr lang="en-US" sz="2000" dirty="0"/>
          </a:p>
        </p:txBody>
      </p:sp>
      <p:sp>
        <p:nvSpPr>
          <p:cNvPr id="10" name="why-panel"/>
          <p:cNvSpPr/>
          <p:nvPr/>
        </p:nvSpPr>
        <p:spPr>
          <a:xfrm>
            <a:off x="7223760" y="1389888"/>
            <a:ext cx="4419295" cy="4754880"/>
          </a:xfrm>
          <a:prstGeom prst="roundRect">
            <a:avLst>
              <a:gd name="adj" fmla="val 1035"/>
            </a:avLst>
          </a:prstGeom>
          <a:solidFill>
            <a:srgbClr val="EFF2F0"/>
          </a:solidFill>
          <a:ln/>
        </p:spPr>
      </p:sp>
      <p:sp>
        <p:nvSpPr>
          <p:cNvPr id="11" name="why-hex"/>
          <p:cNvSpPr/>
          <p:nvPr/>
        </p:nvSpPr>
        <p:spPr>
          <a:xfrm>
            <a:off x="7406640" y="1572768"/>
            <a:ext cx="685800" cy="593903"/>
          </a:xfrm>
          <a:prstGeom prst="hexagon">
            <a:avLst/>
          </a:prstGeom>
          <a:solidFill>
            <a:srgbClr val="3F6B4A"/>
          </a:solidFill>
          <a:ln/>
        </p:spPr>
      </p:sp>
      <p:sp>
        <p:nvSpPr>
          <p:cNvPr id="12" name="why-hex-label"/>
          <p:cNvSpPr txBox="1"/>
          <p:nvPr/>
        </p:nvSpPr>
        <p:spPr>
          <a:xfrm>
            <a:off x="7406640" y="1572768"/>
            <a:ext cx="685800" cy="593903"/>
          </a:xfrm>
          <a:prstGeom prst="rect">
            <a:avLst/>
          </a:prstGeom>
          <a:noFill/>
          <a:ln/>
        </p:spPr>
        <p:txBody>
          <a:bodyPr wrap="square" lIns="0" tIns="0" rIns="0" bIns="0" rtlCol="0" anchor="ctr"/>
          <a:lstStyle/>
          <a:p>
            <a:pPr algn="ctr" indent="0" marL="0">
              <a:buNone/>
            </a:pPr>
            <a:r>
              <a:rPr lang="en-US" sz="1800" b="1" dirty="0">
                <a:solidFill>
                  <a:srgbClr val="FFFFFF"/>
                </a:solidFill>
                <a:latin typeface="Calibri" pitchFamily="34" charset="0"/>
                <a:ea typeface="Calibri" pitchFamily="34" charset="-122"/>
                <a:cs typeface="Calibri" pitchFamily="34" charset="-120"/>
              </a:rPr>
              <a:t>Why</a:t>
            </a:r>
            <a:endParaRPr lang="en-US" sz="1800" dirty="0"/>
          </a:p>
        </p:txBody>
      </p:sp>
      <p:sp>
        <p:nvSpPr>
          <p:cNvPr id="13" name="why"/>
          <p:cNvSpPr txBox="1"/>
          <p:nvPr/>
        </p:nvSpPr>
        <p:spPr>
          <a:xfrm>
            <a:off x="7406640" y="2304288"/>
            <a:ext cx="4053535" cy="3703320"/>
          </a:xfrm>
          <a:prstGeom prst="rect">
            <a:avLst/>
          </a:prstGeom>
          <a:noFill/>
          <a:ln/>
        </p:spPr>
        <p:txBody>
          <a:bodyPr wrap="square" lIns="63500" tIns="63500" rIns="63500" bIns="63500" rtlCol="0" anchor="t"/>
          <a:lstStyle/>
          <a:p>
            <a:pPr algn="l" indent="0" marL="0">
              <a:buNone/>
            </a:pPr>
            <a:r>
              <a:rPr lang="en-US" sz="2400" dirty="0">
                <a:solidFill>
                  <a:srgbClr val="1E2229"/>
                </a:solidFill>
                <a:latin typeface="Calibri" pitchFamily="34" charset="0"/>
                <a:ea typeface="Calibri" pitchFamily="34" charset="-122"/>
                <a:cs typeface="Calibri" pitchFamily="34" charset="-120"/>
              </a:rPr>
              <a:t>Cause comes first; social effects are on people, economic on money and property, environmental on the land; the response is the help given afterwards.</a:t>
            </a:r>
            <a:endParaRPr lang="en-US" sz="2400" dirty="0"/>
          </a:p>
        </p:txBody>
      </p:sp>
      <p:sp>
        <p:nvSpPr>
          <p:cNvPr id="25" name="Slide Number Placeholder 0"/>
          <p:cNvSpPr>
            <a:spLocks noGrp="1"/>
          </p:cNvSpPr>
          <p:nvPr>
            <p:ph type="sldNum" sz="quarter" idx="4294967295"/>
          </p:nvPr>
        </p:nvSpPr>
        <p:spPr>
          <a:xfrm>
            <a:off x="11018520" y="6446520"/>
            <a:ext cx="640080" cy="365760"/>
          </a:xfrm>
          <a:prstGeom prst="rect">
            <a:avLst/>
          </a:prstGeom>
          <a:extLst>
            <a:ext uri="{C572A759-6A51-4108-AA02-DFA0A04FC94B}">
              <ma14:wrappingTextBoxFlag xmlns:ma14="http://schemas.microsoft.com/office/mac/drawingml/2011/main" val="0"/>
            </a:ext>
          </a:extLst>
        </p:spPr>
        <p:txBody>
          <a:bodyPr lIns="0" tIns="0" rIns="0" bIns="0" anchor="ctr"/>
          <a:lstStyle>
            <a:lvl1pPr>
              <a:defRPr sz="1000">
                <a:solidFill>
                  <a:srgbClr val="396043"/>
                </a:solidFill>
                <a:latin typeface="Calibri"/>
                <a:ea typeface="Calibri"/>
                <a:cs typeface="Calibri"/>
              </a:defRPr>
            </a:lvl1pPr>
          </a:lstStyle>
          <a:p>
            <a:pPr algn="r"/>
            <a:fld id="{F7021451-1387-4CA6-816F-3879F97B5CBC}" type="slidenum">
              <a:rPr b="0" lang="en-US"/>
              <a:t>21</a:t>
            </a:fld>
            <a:endParaRPr lang="en-US"/>
          </a:p>
        </p:txBody>
      </p:sp>
    </p:spTree>
  </p:cSld>
  <p:clrMapOvr>
    <a:masterClrMapping/>
  </p:clrMapOvr>
</p:sld>
</file>

<file path=ppt/slides/slide22.xml><?xml version="1.0" encoding="utf-8"?>
<p:sld xmlns:a="http://schemas.openxmlformats.org/drawingml/2006/main" xmlns:r="http://schemas.openxmlformats.org/officeDocument/2006/relationships" xmlns:p="http://schemas.openxmlformats.org/presentationml/2006/main">
  <p:cSld name="Slide 22">
    <p:spTree>
      <p:nvGrpSpPr>
        <p:cNvPr id="1" name=""/>
        <p:cNvGrpSpPr/>
        <p:nvPr/>
      </p:nvGrpSpPr>
      <p:grpSpPr>
        <a:xfrm>
          <a:off x="0" y="0"/>
          <a:ext cx="0" cy="0"/>
          <a:chOff x="0" y="0"/>
          <a:chExt cx="0" cy="0"/>
        </a:xfrm>
      </p:grpSpPr>
      <p:sp>
        <p:nvSpPr>
          <p:cNvPr id="3" name="title"/>
          <p:cNvSpPr txBox="1"/>
          <p:nvPr/>
        </p:nvSpPr>
        <p:spPr>
          <a:xfrm>
            <a:off x="548640" y="292608"/>
            <a:ext cx="9052560" cy="969264"/>
          </a:xfrm>
          <a:prstGeom prst="rect">
            <a:avLst/>
          </a:prstGeom>
          <a:noFill/>
          <a:ln/>
        </p:spPr>
        <p:txBody>
          <a:bodyPr wrap="square" lIns="63500" tIns="63500" rIns="63500" bIns="63500" rtlCol="0" anchor="ctr"/>
          <a:lstStyle/>
          <a:p>
            <a:pPr algn="l" indent="0" marL="0">
              <a:buNone/>
            </a:pPr>
            <a:r>
              <a:rPr lang="en-US" sz="3200" b="1" dirty="0">
                <a:solidFill>
                  <a:srgbClr val="3F6B4A"/>
                </a:solidFill>
                <a:latin typeface="Cambria" pitchFamily="34" charset="0"/>
                <a:ea typeface="Cambria" pitchFamily="34" charset="-122"/>
                <a:cs typeface="Cambria" pitchFamily="34" charset="-120"/>
              </a:rPr>
              <a:t>Answers: Twelve hours later</a:t>
            </a:r>
            <a:endParaRPr lang="en-US" sz="3200" dirty="0"/>
          </a:p>
        </p:txBody>
      </p:sp>
      <p:sp>
        <p:nvSpPr>
          <p:cNvPr id="4" name="chip-hex"/>
          <p:cNvSpPr/>
          <p:nvPr/>
        </p:nvSpPr>
        <p:spPr>
          <a:xfrm>
            <a:off x="9677095" y="531760"/>
            <a:ext cx="566928" cy="490960"/>
          </a:xfrm>
          <a:prstGeom prst="hexagon">
            <a:avLst/>
          </a:prstGeom>
          <a:solidFill>
            <a:srgbClr val="3F6B4A"/>
          </a:solidFill>
          <a:ln/>
        </p:spPr>
      </p:sp>
      <p:sp>
        <p:nvSpPr>
          <p:cNvPr id="5" name="chip-hex-label"/>
          <p:cNvSpPr txBox="1"/>
          <p:nvPr/>
        </p:nvSpPr>
        <p:spPr>
          <a:xfrm>
            <a:off x="9677095" y="531760"/>
            <a:ext cx="566928" cy="490960"/>
          </a:xfrm>
          <a:prstGeom prst="rect">
            <a:avLst/>
          </a:prstGeom>
          <a:noFill/>
          <a:ln/>
        </p:spPr>
        <p:txBody>
          <a:bodyPr wrap="square" lIns="0" tIns="0" rIns="0" bIns="0" rtlCol="0" anchor="ctr"/>
          <a:lstStyle/>
          <a:p>
            <a:pPr algn="ctr" indent="0" marL="0">
              <a:buNone/>
            </a:pPr>
            <a:r>
              <a:rPr lang="en-US" sz="2000" b="1" dirty="0">
                <a:solidFill>
                  <a:srgbClr val="FFFFFF"/>
                </a:solidFill>
                <a:latin typeface="Calibri" pitchFamily="34" charset="0"/>
                <a:ea typeface="Calibri" pitchFamily="34" charset="-122"/>
                <a:cs typeface="Calibri" pitchFamily="34" charset="-120"/>
              </a:rPr>
              <a:t>4</a:t>
            </a:r>
            <a:endParaRPr lang="en-US" sz="2000" dirty="0"/>
          </a:p>
        </p:txBody>
      </p:sp>
      <p:sp>
        <p:nvSpPr>
          <p:cNvPr id="6" name="chip-label"/>
          <p:cNvSpPr txBox="1"/>
          <p:nvPr/>
        </p:nvSpPr>
        <p:spPr>
          <a:xfrm>
            <a:off x="10317175" y="292608"/>
            <a:ext cx="1325880" cy="969264"/>
          </a:xfrm>
          <a:prstGeom prst="rect">
            <a:avLst/>
          </a:prstGeom>
          <a:noFill/>
          <a:ln/>
        </p:spPr>
        <p:txBody>
          <a:bodyPr wrap="square" lIns="63500" tIns="63500" rIns="63500" bIns="63500" rtlCol="0" anchor="ctr"/>
          <a:lstStyle/>
          <a:p>
            <a:pPr algn="l" indent="0" marL="0">
              <a:buNone/>
            </a:pPr>
            <a:r>
              <a:rPr lang="en-US" sz="1800" b="1" dirty="0">
                <a:solidFill>
                  <a:srgbClr val="3F6B4A"/>
                </a:solidFill>
                <a:latin typeface="Calibri" pitchFamily="34" charset="0"/>
                <a:ea typeface="Calibri" pitchFamily="34" charset="-122"/>
                <a:cs typeface="Calibri" pitchFamily="34" charset="-120"/>
              </a:rPr>
              <a:t>Check</a:t>
            </a:r>
            <a:endParaRPr lang="en-US" sz="1800" dirty="0"/>
          </a:p>
        </p:txBody>
      </p:sp>
      <p:sp>
        <p:nvSpPr>
          <p:cNvPr id="7" name="crit-head"/>
          <p:cNvSpPr txBox="1"/>
          <p:nvPr/>
        </p:nvSpPr>
        <p:spPr>
          <a:xfrm>
            <a:off x="548640" y="1389888"/>
            <a:ext cx="11094415" cy="502920"/>
          </a:xfrm>
          <a:prstGeom prst="rect">
            <a:avLst/>
          </a:prstGeom>
          <a:noFill/>
          <a:ln/>
        </p:spPr>
        <p:txBody>
          <a:bodyPr wrap="square" lIns="63500" tIns="63500" rIns="63500" bIns="63500" rtlCol="0" anchor="ctr"/>
          <a:lstStyle/>
          <a:p>
            <a:pPr algn="l" indent="0" marL="0">
              <a:buNone/>
            </a:pPr>
            <a:r>
              <a:rPr lang="en-US" sz="1800" b="1" dirty="0">
                <a:solidFill>
                  <a:srgbClr val="3F6B4A"/>
                </a:solidFill>
                <a:latin typeface="Calibri" pitchFamily="34" charset="0"/>
                <a:ea typeface="Calibri" pitchFamily="34" charset="-122"/>
                <a:cs typeface="Calibri" pitchFamily="34" charset="-120"/>
              </a:rPr>
              <a:t>Success criteria: tick what you did</a:t>
            </a:r>
            <a:endParaRPr lang="en-US" sz="1800" dirty="0"/>
          </a:p>
        </p:txBody>
      </p:sp>
      <p:sp>
        <p:nvSpPr>
          <p:cNvPr id="8" name="crit-box"/>
          <p:cNvSpPr/>
          <p:nvPr/>
        </p:nvSpPr>
        <p:spPr>
          <a:xfrm>
            <a:off x="548640" y="1984248"/>
            <a:ext cx="11094415" cy="1083056"/>
          </a:xfrm>
          <a:prstGeom prst="roundRect">
            <a:avLst>
              <a:gd name="adj" fmla="val 8443"/>
            </a:avLst>
          </a:prstGeom>
          <a:solidFill>
            <a:srgbClr val="F3F5F3"/>
          </a:solidFill>
          <a:ln/>
        </p:spPr>
      </p:sp>
      <p:sp>
        <p:nvSpPr>
          <p:cNvPr id="9" name="tickbox"/>
          <p:cNvSpPr/>
          <p:nvPr/>
        </p:nvSpPr>
        <p:spPr>
          <a:xfrm>
            <a:off x="713232" y="2379472"/>
            <a:ext cx="292608" cy="292608"/>
          </a:xfrm>
          <a:prstGeom prst="rect">
            <a:avLst/>
          </a:prstGeom>
          <a:solidFill>
            <a:srgbClr val="FFFFFF"/>
          </a:solidFill>
          <a:ln w="19050">
            <a:solidFill>
              <a:srgbClr val="3F6B4A"/>
            </a:solidFill>
            <a:prstDash val="solid"/>
          </a:ln>
        </p:spPr>
      </p:sp>
      <p:sp>
        <p:nvSpPr>
          <p:cNvPr id="10" name="crit"/>
          <p:cNvSpPr txBox="1"/>
          <p:nvPr/>
        </p:nvSpPr>
        <p:spPr>
          <a:xfrm>
            <a:off x="1143000" y="1984248"/>
            <a:ext cx="10317175" cy="1083056"/>
          </a:xfrm>
          <a:prstGeom prst="rect">
            <a:avLst/>
          </a:prstGeom>
          <a:noFill/>
          <a:ln/>
        </p:spPr>
        <p:txBody>
          <a:bodyPr wrap="square" lIns="63500" tIns="63500" rIns="63500" bIns="63500" rtlCol="0" anchor="ctr"/>
          <a:lstStyle/>
          <a:p>
            <a:pPr algn="l" indent="0" marL="0">
              <a:buNone/>
            </a:pPr>
            <a:r>
              <a:rPr lang="en-US" sz="2200" dirty="0">
                <a:solidFill>
                  <a:srgbClr val="1E2229"/>
                </a:solidFill>
                <a:latin typeface="Calibri" pitchFamily="34" charset="0"/>
                <a:ea typeface="Calibri" pitchFamily="34" charset="-122"/>
                <a:cs typeface="Calibri" pitchFamily="34" charset="-120"/>
              </a:rPr>
              <a:t>Says where people are at each time: in the afternoon at school, at work or outside; at night asleep at home</a:t>
            </a:r>
            <a:endParaRPr lang="en-US" sz="2200" dirty="0"/>
          </a:p>
        </p:txBody>
      </p:sp>
      <p:sp>
        <p:nvSpPr>
          <p:cNvPr id="11" name="crit-box"/>
          <p:cNvSpPr/>
          <p:nvPr/>
        </p:nvSpPr>
        <p:spPr>
          <a:xfrm>
            <a:off x="548640" y="3158744"/>
            <a:ext cx="11094415" cy="1083056"/>
          </a:xfrm>
          <a:prstGeom prst="roundRect">
            <a:avLst>
              <a:gd name="adj" fmla="val 8443"/>
            </a:avLst>
          </a:prstGeom>
          <a:solidFill>
            <a:srgbClr val="F3F5F3"/>
          </a:solidFill>
          <a:ln/>
        </p:spPr>
      </p:sp>
      <p:sp>
        <p:nvSpPr>
          <p:cNvPr id="12" name="tickbox"/>
          <p:cNvSpPr/>
          <p:nvPr/>
        </p:nvSpPr>
        <p:spPr>
          <a:xfrm>
            <a:off x="713232" y="3553968"/>
            <a:ext cx="292608" cy="292608"/>
          </a:xfrm>
          <a:prstGeom prst="rect">
            <a:avLst/>
          </a:prstGeom>
          <a:solidFill>
            <a:srgbClr val="FFFFFF"/>
          </a:solidFill>
          <a:ln w="19050">
            <a:solidFill>
              <a:srgbClr val="3F6B4A"/>
            </a:solidFill>
            <a:prstDash val="solid"/>
          </a:ln>
        </p:spPr>
      </p:sp>
      <p:sp>
        <p:nvSpPr>
          <p:cNvPr id="13" name="crit"/>
          <p:cNvSpPr txBox="1"/>
          <p:nvPr/>
        </p:nvSpPr>
        <p:spPr>
          <a:xfrm>
            <a:off x="1143000" y="3158744"/>
            <a:ext cx="10317175" cy="1083056"/>
          </a:xfrm>
          <a:prstGeom prst="rect">
            <a:avLst/>
          </a:prstGeom>
          <a:noFill/>
          <a:ln/>
        </p:spPr>
        <p:txBody>
          <a:bodyPr wrap="square" lIns="63500" tIns="63500" rIns="63500" bIns="63500" rtlCol="0" anchor="ctr"/>
          <a:lstStyle/>
          <a:p>
            <a:pPr algn="l" indent="0" marL="0">
              <a:buNone/>
            </a:pPr>
            <a:r>
              <a:rPr lang="en-US" sz="2200" dirty="0">
                <a:solidFill>
                  <a:srgbClr val="1E2229"/>
                </a:solidFill>
                <a:latin typeface="Calibri" pitchFamily="34" charset="0"/>
                <a:ea typeface="Calibri" pitchFamily="34" charset="-122"/>
                <a:cs typeface="Calibri" pitchFamily="34" charset="-120"/>
              </a:rPr>
              <a:t>Links where people are to the buildings they are in and how those buildings cope with shaking</a:t>
            </a:r>
            <a:endParaRPr lang="en-US" sz="2200" dirty="0"/>
          </a:p>
        </p:txBody>
      </p:sp>
      <p:sp>
        <p:nvSpPr>
          <p:cNvPr id="14" name="crit-box"/>
          <p:cNvSpPr/>
          <p:nvPr/>
        </p:nvSpPr>
        <p:spPr>
          <a:xfrm>
            <a:off x="548640" y="4333240"/>
            <a:ext cx="11094415" cy="742188"/>
          </a:xfrm>
          <a:prstGeom prst="roundRect">
            <a:avLst>
              <a:gd name="adj" fmla="val 12320"/>
            </a:avLst>
          </a:prstGeom>
          <a:solidFill>
            <a:srgbClr val="F3F5F3"/>
          </a:solidFill>
          <a:ln/>
        </p:spPr>
      </p:sp>
      <p:sp>
        <p:nvSpPr>
          <p:cNvPr id="15" name="tickbox"/>
          <p:cNvSpPr/>
          <p:nvPr/>
        </p:nvSpPr>
        <p:spPr>
          <a:xfrm>
            <a:off x="713232" y="4558030"/>
            <a:ext cx="292608" cy="292608"/>
          </a:xfrm>
          <a:prstGeom prst="rect">
            <a:avLst/>
          </a:prstGeom>
          <a:solidFill>
            <a:srgbClr val="FFFFFF"/>
          </a:solidFill>
          <a:ln w="19050">
            <a:solidFill>
              <a:srgbClr val="3F6B4A"/>
            </a:solidFill>
            <a:prstDash val="solid"/>
          </a:ln>
        </p:spPr>
      </p:sp>
      <p:sp>
        <p:nvSpPr>
          <p:cNvPr id="16" name="crit"/>
          <p:cNvSpPr txBox="1"/>
          <p:nvPr/>
        </p:nvSpPr>
        <p:spPr>
          <a:xfrm>
            <a:off x="1143000" y="4333240"/>
            <a:ext cx="10317175" cy="742188"/>
          </a:xfrm>
          <a:prstGeom prst="rect">
            <a:avLst/>
          </a:prstGeom>
          <a:noFill/>
          <a:ln/>
        </p:spPr>
        <p:txBody>
          <a:bodyPr wrap="square" lIns="63500" tIns="63500" rIns="63500" bIns="63500" rtlCol="0" anchor="ctr"/>
          <a:lstStyle/>
          <a:p>
            <a:pPr algn="l" indent="0" marL="0">
              <a:buNone/>
            </a:pPr>
            <a:r>
              <a:rPr lang="en-US" sz="2200" dirty="0">
                <a:solidFill>
                  <a:srgbClr val="1E2229"/>
                </a:solidFill>
                <a:latin typeface="Calibri" pitchFamily="34" charset="0"/>
                <a:ea typeface="Calibri" pitchFamily="34" charset="-122"/>
                <a:cs typeface="Calibri" pitchFamily="34" charset="-120"/>
              </a:rPr>
              <a:t>Considers the rescue: darkness makes it harder to find and reach trapped people</a:t>
            </a:r>
            <a:endParaRPr lang="en-US" sz="2200" dirty="0"/>
          </a:p>
        </p:txBody>
      </p:sp>
      <p:sp>
        <p:nvSpPr>
          <p:cNvPr id="17" name="crit-box"/>
          <p:cNvSpPr/>
          <p:nvPr/>
        </p:nvSpPr>
        <p:spPr>
          <a:xfrm>
            <a:off x="548640" y="5166868"/>
            <a:ext cx="11094415" cy="742188"/>
          </a:xfrm>
          <a:prstGeom prst="roundRect">
            <a:avLst>
              <a:gd name="adj" fmla="val 12320"/>
            </a:avLst>
          </a:prstGeom>
          <a:solidFill>
            <a:srgbClr val="F3F5F3"/>
          </a:solidFill>
          <a:ln/>
        </p:spPr>
      </p:sp>
      <p:sp>
        <p:nvSpPr>
          <p:cNvPr id="18" name="tickbox"/>
          <p:cNvSpPr/>
          <p:nvPr/>
        </p:nvSpPr>
        <p:spPr>
          <a:xfrm>
            <a:off x="713232" y="5391658"/>
            <a:ext cx="292608" cy="292608"/>
          </a:xfrm>
          <a:prstGeom prst="rect">
            <a:avLst/>
          </a:prstGeom>
          <a:solidFill>
            <a:srgbClr val="FFFFFF"/>
          </a:solidFill>
          <a:ln w="19050">
            <a:solidFill>
              <a:srgbClr val="3F6B4A"/>
            </a:solidFill>
            <a:prstDash val="solid"/>
          </a:ln>
        </p:spPr>
      </p:sp>
      <p:sp>
        <p:nvSpPr>
          <p:cNvPr id="19" name="crit"/>
          <p:cNvSpPr txBox="1"/>
          <p:nvPr/>
        </p:nvSpPr>
        <p:spPr>
          <a:xfrm>
            <a:off x="1143000" y="5166868"/>
            <a:ext cx="10317175" cy="742188"/>
          </a:xfrm>
          <a:prstGeom prst="rect">
            <a:avLst/>
          </a:prstGeom>
          <a:noFill/>
          <a:ln/>
        </p:spPr>
        <p:txBody>
          <a:bodyPr wrap="square" lIns="63500" tIns="63500" rIns="63500" bIns="63500" rtlCol="0" anchor="ctr"/>
          <a:lstStyle/>
          <a:p>
            <a:pPr algn="l" indent="0" marL="0">
              <a:buNone/>
            </a:pPr>
            <a:r>
              <a:rPr lang="en-US" sz="2200" dirty="0">
                <a:solidFill>
                  <a:srgbClr val="1E2229"/>
                </a:solidFill>
                <a:latin typeface="Calibri" pitchFamily="34" charset="0"/>
                <a:ea typeface="Calibri" pitchFamily="34" charset="-122"/>
                <a:cs typeface="Calibri" pitchFamily="34" charset="-120"/>
              </a:rPr>
              <a:t>Reaches a clear judgement (more or less loss of life) and gives a reason for it</a:t>
            </a:r>
            <a:endParaRPr lang="en-US" sz="2200" dirty="0"/>
          </a:p>
        </p:txBody>
      </p:sp>
      <p:sp>
        <p:nvSpPr>
          <p:cNvPr id="25" name="Slide Number Placeholder 0"/>
          <p:cNvSpPr>
            <a:spLocks noGrp="1"/>
          </p:cNvSpPr>
          <p:nvPr>
            <p:ph type="sldNum" sz="quarter" idx="4294967295"/>
          </p:nvPr>
        </p:nvSpPr>
        <p:spPr>
          <a:xfrm>
            <a:off x="11018520" y="6446520"/>
            <a:ext cx="640080" cy="365760"/>
          </a:xfrm>
          <a:prstGeom prst="rect">
            <a:avLst/>
          </a:prstGeom>
          <a:extLst>
            <a:ext uri="{C572A759-6A51-4108-AA02-DFA0A04FC94B}">
              <ma14:wrappingTextBoxFlag xmlns:ma14="http://schemas.microsoft.com/office/mac/drawingml/2011/main" val="0"/>
            </a:ext>
          </a:extLst>
        </p:spPr>
        <p:txBody>
          <a:bodyPr lIns="0" tIns="0" rIns="0" bIns="0" anchor="ctr"/>
          <a:lstStyle>
            <a:lvl1pPr>
              <a:defRPr sz="1000">
                <a:solidFill>
                  <a:srgbClr val="396043"/>
                </a:solidFill>
                <a:latin typeface="Calibri"/>
                <a:ea typeface="Calibri"/>
                <a:cs typeface="Calibri"/>
              </a:defRPr>
            </a:lvl1pPr>
          </a:lstStyle>
          <a:p>
            <a:pPr algn="r"/>
            <a:fld id="{F7021451-1387-4CA6-816F-3879F97B5CBC}" type="slidenum">
              <a:rPr b="0" lang="en-US"/>
              <a:t>22</a:t>
            </a:fld>
            <a:endParaRPr lang="en-US"/>
          </a:p>
        </p:txBody>
      </p:sp>
    </p:spTree>
  </p:cSld>
  <p:clrMapOvr>
    <a:masterClrMapping/>
  </p:clrMapOvr>
</p:sld>
</file>

<file path=ppt/slides/slide23.xml><?xml version="1.0" encoding="utf-8"?>
<p:sld xmlns:a="http://schemas.openxmlformats.org/drawingml/2006/main" xmlns:r="http://schemas.openxmlformats.org/officeDocument/2006/relationships" xmlns:p="http://schemas.openxmlformats.org/presentationml/2006/main">
  <p:cSld name="Slide 23">
    <p:spTree>
      <p:nvGrpSpPr>
        <p:cNvPr id="1" name=""/>
        <p:cNvGrpSpPr/>
        <p:nvPr/>
      </p:nvGrpSpPr>
      <p:grpSpPr>
        <a:xfrm>
          <a:off x="0" y="0"/>
          <a:ext cx="0" cy="0"/>
          <a:chOff x="0" y="0"/>
          <a:chExt cx="0" cy="0"/>
        </a:xfrm>
      </p:grpSpPr>
      <p:sp>
        <p:nvSpPr>
          <p:cNvPr id="3" name="title"/>
          <p:cNvSpPr txBox="1"/>
          <p:nvPr/>
        </p:nvSpPr>
        <p:spPr>
          <a:xfrm>
            <a:off x="548640" y="292608"/>
            <a:ext cx="9052560" cy="969264"/>
          </a:xfrm>
          <a:prstGeom prst="rect">
            <a:avLst/>
          </a:prstGeom>
          <a:noFill/>
          <a:ln/>
        </p:spPr>
        <p:txBody>
          <a:bodyPr wrap="square" lIns="63500" tIns="63500" rIns="63500" bIns="63500" rtlCol="0" anchor="ctr"/>
          <a:lstStyle/>
          <a:p>
            <a:pPr algn="l" indent="0" marL="0">
              <a:buNone/>
            </a:pPr>
            <a:r>
              <a:rPr lang="en-US" sz="3200" b="1" dirty="0">
                <a:solidFill>
                  <a:srgbClr val="3F6B4A"/>
                </a:solidFill>
                <a:latin typeface="Cambria" pitchFamily="34" charset="0"/>
                <a:ea typeface="Cambria" pitchFamily="34" charset="-122"/>
                <a:cs typeface="Cambria" pitchFamily="34" charset="-120"/>
              </a:rPr>
              <a:t>Model answer: Twelve hours later</a:t>
            </a:r>
            <a:endParaRPr lang="en-US" sz="3200" dirty="0"/>
          </a:p>
        </p:txBody>
      </p:sp>
      <p:sp>
        <p:nvSpPr>
          <p:cNvPr id="4" name="chip-hex"/>
          <p:cNvSpPr/>
          <p:nvPr/>
        </p:nvSpPr>
        <p:spPr>
          <a:xfrm>
            <a:off x="9677095" y="531760"/>
            <a:ext cx="566928" cy="490960"/>
          </a:xfrm>
          <a:prstGeom prst="hexagon">
            <a:avLst/>
          </a:prstGeom>
          <a:solidFill>
            <a:srgbClr val="3F6B4A"/>
          </a:solidFill>
          <a:ln/>
        </p:spPr>
      </p:sp>
      <p:sp>
        <p:nvSpPr>
          <p:cNvPr id="5" name="chip-hex-label"/>
          <p:cNvSpPr txBox="1"/>
          <p:nvPr/>
        </p:nvSpPr>
        <p:spPr>
          <a:xfrm>
            <a:off x="9677095" y="531760"/>
            <a:ext cx="566928" cy="490960"/>
          </a:xfrm>
          <a:prstGeom prst="rect">
            <a:avLst/>
          </a:prstGeom>
          <a:noFill/>
          <a:ln/>
        </p:spPr>
        <p:txBody>
          <a:bodyPr wrap="square" lIns="0" tIns="0" rIns="0" bIns="0" rtlCol="0" anchor="ctr"/>
          <a:lstStyle/>
          <a:p>
            <a:pPr algn="ctr" indent="0" marL="0">
              <a:buNone/>
            </a:pPr>
            <a:r>
              <a:rPr lang="en-US" sz="2000" b="1" dirty="0">
                <a:solidFill>
                  <a:srgbClr val="FFFFFF"/>
                </a:solidFill>
                <a:latin typeface="Calibri" pitchFamily="34" charset="0"/>
                <a:ea typeface="Calibri" pitchFamily="34" charset="-122"/>
                <a:cs typeface="Calibri" pitchFamily="34" charset="-120"/>
              </a:rPr>
              <a:t>4</a:t>
            </a:r>
            <a:endParaRPr lang="en-US" sz="2000" dirty="0"/>
          </a:p>
        </p:txBody>
      </p:sp>
      <p:sp>
        <p:nvSpPr>
          <p:cNvPr id="6" name="chip-label"/>
          <p:cNvSpPr txBox="1"/>
          <p:nvPr/>
        </p:nvSpPr>
        <p:spPr>
          <a:xfrm>
            <a:off x="10317175" y="292608"/>
            <a:ext cx="1325880" cy="969264"/>
          </a:xfrm>
          <a:prstGeom prst="rect">
            <a:avLst/>
          </a:prstGeom>
          <a:noFill/>
          <a:ln/>
        </p:spPr>
        <p:txBody>
          <a:bodyPr wrap="square" lIns="63500" tIns="63500" rIns="63500" bIns="63500" rtlCol="0" anchor="ctr"/>
          <a:lstStyle/>
          <a:p>
            <a:pPr algn="l" indent="0" marL="0">
              <a:buNone/>
            </a:pPr>
            <a:r>
              <a:rPr lang="en-US" sz="1800" b="1" dirty="0">
                <a:solidFill>
                  <a:srgbClr val="3F6B4A"/>
                </a:solidFill>
                <a:latin typeface="Calibri" pitchFamily="34" charset="0"/>
                <a:ea typeface="Calibri" pitchFamily="34" charset="-122"/>
                <a:cs typeface="Calibri" pitchFamily="34" charset="-120"/>
              </a:rPr>
              <a:t>Check</a:t>
            </a:r>
            <a:endParaRPr lang="en-US" sz="1800" dirty="0"/>
          </a:p>
        </p:txBody>
      </p:sp>
      <p:sp>
        <p:nvSpPr>
          <p:cNvPr id="7" name="model-panel"/>
          <p:cNvSpPr/>
          <p:nvPr/>
        </p:nvSpPr>
        <p:spPr>
          <a:xfrm>
            <a:off x="1463040" y="1389888"/>
            <a:ext cx="9265615" cy="4754880"/>
          </a:xfrm>
          <a:prstGeom prst="roundRect">
            <a:avLst>
              <a:gd name="adj" fmla="val 962"/>
            </a:avLst>
          </a:prstGeom>
          <a:solidFill>
            <a:srgbClr val="F8F2E9"/>
          </a:solidFill>
          <a:ln w="19050">
            <a:solidFill>
              <a:srgbClr val="B8862B"/>
            </a:solidFill>
            <a:prstDash val="solid"/>
          </a:ln>
        </p:spPr>
      </p:sp>
      <p:sp>
        <p:nvSpPr>
          <p:cNvPr id="8" name="model-tab"/>
          <p:cNvSpPr/>
          <p:nvPr/>
        </p:nvSpPr>
        <p:spPr>
          <a:xfrm>
            <a:off x="1645920" y="1554480"/>
            <a:ext cx="2011680" cy="457200"/>
          </a:xfrm>
          <a:prstGeom prst="roundRect">
            <a:avLst>
              <a:gd name="adj" fmla="val 40000"/>
            </a:avLst>
          </a:prstGeom>
          <a:solidFill>
            <a:srgbClr val="9C7225"/>
          </a:solidFill>
          <a:ln/>
        </p:spPr>
        <p:txBody>
          <a:bodyPr wrap="square" lIns="63500" tIns="63500" rIns="63500" bIns="63500" rtlCol="0" anchor="ctr"/>
          <a:lstStyle/>
          <a:p>
            <a:pPr algn="l" indent="0" marL="0">
              <a:buNone/>
            </a:pPr>
            <a:r>
              <a:rPr lang="en-US" sz="1800" b="1" dirty="0">
                <a:solidFill>
                  <a:srgbClr val="FFFFFF"/>
                </a:solidFill>
                <a:latin typeface="Calibri" pitchFamily="34" charset="0"/>
                <a:ea typeface="Calibri" pitchFamily="34" charset="-122"/>
                <a:cs typeface="Calibri" pitchFamily="34" charset="-120"/>
              </a:rPr>
              <a:t>Model answer</a:t>
            </a:r>
            <a:endParaRPr lang="en-US" sz="1800" dirty="0"/>
          </a:p>
        </p:txBody>
      </p:sp>
      <p:sp>
        <p:nvSpPr>
          <p:cNvPr id="9" name="model"/>
          <p:cNvSpPr txBox="1"/>
          <p:nvPr/>
        </p:nvSpPr>
        <p:spPr>
          <a:xfrm>
            <a:off x="1691640" y="2167128"/>
            <a:ext cx="8808415" cy="3840480"/>
          </a:xfrm>
          <a:prstGeom prst="rect">
            <a:avLst/>
          </a:prstGeom>
          <a:noFill/>
          <a:ln/>
        </p:spPr>
        <p:txBody>
          <a:bodyPr wrap="square" lIns="63500" tIns="63500" rIns="63500" bIns="63500" rtlCol="0" anchor="t"/>
          <a:lstStyle/>
          <a:p>
            <a:pPr algn="l" indent="0" marL="0">
              <a:buNone/>
            </a:pPr>
            <a:r>
              <a:rPr lang="en-US" sz="2000" dirty="0">
                <a:solidFill>
                  <a:srgbClr val="1E2229"/>
                </a:solidFill>
                <a:latin typeface="Calibri" pitchFamily="34" charset="0"/>
                <a:ea typeface="Calibri" pitchFamily="34" charset="-122"/>
                <a:cs typeface="Calibri" pitchFamily="34" charset="-120"/>
              </a:rPr>
              <a:t>In the middle of the afternoon most children are in school and many adults are at work or outside, so whether people are hurt depends on how well schools, offices and factories stand up to shaking. Twelve hours later, in the middle of the night, almost everyone is asleep at home, so it is the strength of houses that matters most, and people are slower to react because they are woken suddenly. Rescue is also harder in the dark, as teams cannot see collapsed buildings or trapped people easily. Overall I think a night-time earthquake could cause more loss of life if homes are weaker than the daytime buildings, but if schools were poorly built the afternoon would be worse, so the answer depends on which buildings are the weakest.</a:t>
            </a:r>
            <a:endParaRPr lang="en-US" sz="2000" dirty="0"/>
          </a:p>
        </p:txBody>
      </p:sp>
      <p:sp>
        <p:nvSpPr>
          <p:cNvPr id="25" name="Slide Number Placeholder 0"/>
          <p:cNvSpPr>
            <a:spLocks noGrp="1"/>
          </p:cNvSpPr>
          <p:nvPr>
            <p:ph type="sldNum" sz="quarter" idx="4294967295"/>
          </p:nvPr>
        </p:nvSpPr>
        <p:spPr>
          <a:xfrm>
            <a:off x="11018520" y="6446520"/>
            <a:ext cx="640080" cy="365760"/>
          </a:xfrm>
          <a:prstGeom prst="rect">
            <a:avLst/>
          </a:prstGeom>
          <a:extLst>
            <a:ext uri="{C572A759-6A51-4108-AA02-DFA0A04FC94B}">
              <ma14:wrappingTextBoxFlag xmlns:ma14="http://schemas.microsoft.com/office/mac/drawingml/2011/main" val="0"/>
            </a:ext>
          </a:extLst>
        </p:spPr>
        <p:txBody>
          <a:bodyPr lIns="0" tIns="0" rIns="0" bIns="0" anchor="ctr"/>
          <a:lstStyle>
            <a:lvl1pPr>
              <a:defRPr sz="1000">
                <a:solidFill>
                  <a:srgbClr val="396043"/>
                </a:solidFill>
                <a:latin typeface="Calibri"/>
                <a:ea typeface="Calibri"/>
                <a:cs typeface="Calibri"/>
              </a:defRPr>
            </a:lvl1pPr>
          </a:lstStyle>
          <a:p>
            <a:pPr algn="r"/>
            <a:fld id="{F7021451-1387-4CA6-816F-3879F97B5CBC}" type="slidenum">
              <a:rPr b="0" lang="en-US"/>
              <a:t>23</a:t>
            </a:fld>
            <a:endParaRPr lang="en-US"/>
          </a:p>
        </p:txBody>
      </p:sp>
    </p:spTree>
  </p:cSld>
  <p:clrMapOvr>
    <a:masterClrMapping/>
  </p:clrMapOvr>
</p:sld>
</file>

<file path=ppt/slides/slide24.xml><?xml version="1.0" encoding="utf-8"?>
<p:sld xmlns:a="http://schemas.openxmlformats.org/drawingml/2006/main" xmlns:r="http://schemas.openxmlformats.org/officeDocument/2006/relationships" xmlns:p="http://schemas.openxmlformats.org/presentationml/2006/main">
  <p:cSld name="Slide 24">
    <p:spTree>
      <p:nvGrpSpPr>
        <p:cNvPr id="1" name=""/>
        <p:cNvGrpSpPr/>
        <p:nvPr/>
      </p:nvGrpSpPr>
      <p:grpSpPr>
        <a:xfrm>
          <a:off x="0" y="0"/>
          <a:ext cx="0" cy="0"/>
          <a:chOff x="0" y="0"/>
          <a:chExt cx="0" cy="0"/>
        </a:xfrm>
      </p:grpSpPr>
      <p:sp>
        <p:nvSpPr>
          <p:cNvPr id="3" name="title"/>
          <p:cNvSpPr txBox="1"/>
          <p:nvPr/>
        </p:nvSpPr>
        <p:spPr>
          <a:xfrm>
            <a:off x="548640" y="292608"/>
            <a:ext cx="9052560" cy="969264"/>
          </a:xfrm>
          <a:prstGeom prst="rect">
            <a:avLst/>
          </a:prstGeom>
          <a:noFill/>
          <a:ln/>
        </p:spPr>
        <p:txBody>
          <a:bodyPr wrap="square" lIns="63500" tIns="63500" rIns="63500" bIns="63500" rtlCol="0" anchor="ctr"/>
          <a:lstStyle/>
          <a:p>
            <a:pPr algn="l" indent="0" marL="0">
              <a:buNone/>
            </a:pPr>
            <a:r>
              <a:rPr lang="en-US" sz="3200" b="1" dirty="0">
                <a:solidFill>
                  <a:srgbClr val="3F6B4A"/>
                </a:solidFill>
                <a:latin typeface="Cambria" pitchFamily="34" charset="0"/>
                <a:ea typeface="Cambria" pitchFamily="34" charset="-122"/>
                <a:cs typeface="Cambria" pitchFamily="34" charset="-120"/>
              </a:rPr>
              <a:t>Answers: Exit ticket</a:t>
            </a:r>
            <a:endParaRPr lang="en-US" sz="3200" dirty="0"/>
          </a:p>
        </p:txBody>
      </p:sp>
      <p:sp>
        <p:nvSpPr>
          <p:cNvPr id="4" name="chip-hex"/>
          <p:cNvSpPr/>
          <p:nvPr/>
        </p:nvSpPr>
        <p:spPr>
          <a:xfrm>
            <a:off x="9677095" y="531760"/>
            <a:ext cx="566928" cy="490960"/>
          </a:xfrm>
          <a:prstGeom prst="hexagon">
            <a:avLst/>
          </a:prstGeom>
          <a:solidFill>
            <a:srgbClr val="3F6B4A"/>
          </a:solidFill>
          <a:ln/>
        </p:spPr>
      </p:sp>
      <p:sp>
        <p:nvSpPr>
          <p:cNvPr id="5" name="chip-hex-label"/>
          <p:cNvSpPr txBox="1"/>
          <p:nvPr/>
        </p:nvSpPr>
        <p:spPr>
          <a:xfrm>
            <a:off x="9677095" y="531760"/>
            <a:ext cx="566928" cy="490960"/>
          </a:xfrm>
          <a:prstGeom prst="rect">
            <a:avLst/>
          </a:prstGeom>
          <a:noFill/>
          <a:ln/>
        </p:spPr>
        <p:txBody>
          <a:bodyPr wrap="square" lIns="0" tIns="0" rIns="0" bIns="0" rtlCol="0" anchor="ctr"/>
          <a:lstStyle/>
          <a:p>
            <a:pPr algn="ctr" indent="0" marL="0">
              <a:buNone/>
            </a:pPr>
            <a:r>
              <a:rPr lang="en-US" sz="2000" b="1" dirty="0">
                <a:solidFill>
                  <a:srgbClr val="FFFFFF"/>
                </a:solidFill>
                <a:latin typeface="Calibri" pitchFamily="34" charset="0"/>
                <a:ea typeface="Calibri" pitchFamily="34" charset="-122"/>
                <a:cs typeface="Calibri" pitchFamily="34" charset="-120"/>
              </a:rPr>
              <a:t>4</a:t>
            </a:r>
            <a:endParaRPr lang="en-US" sz="2000" dirty="0"/>
          </a:p>
        </p:txBody>
      </p:sp>
      <p:sp>
        <p:nvSpPr>
          <p:cNvPr id="6" name="chip-label"/>
          <p:cNvSpPr txBox="1"/>
          <p:nvPr/>
        </p:nvSpPr>
        <p:spPr>
          <a:xfrm>
            <a:off x="10317175" y="292608"/>
            <a:ext cx="1325880" cy="969264"/>
          </a:xfrm>
          <a:prstGeom prst="rect">
            <a:avLst/>
          </a:prstGeom>
          <a:noFill/>
          <a:ln/>
        </p:spPr>
        <p:txBody>
          <a:bodyPr wrap="square" lIns="63500" tIns="63500" rIns="63500" bIns="63500" rtlCol="0" anchor="ctr"/>
          <a:lstStyle/>
          <a:p>
            <a:pPr algn="l" indent="0" marL="0">
              <a:buNone/>
            </a:pPr>
            <a:r>
              <a:rPr lang="en-US" sz="1800" b="1" dirty="0">
                <a:solidFill>
                  <a:srgbClr val="3F6B4A"/>
                </a:solidFill>
                <a:latin typeface="Calibri" pitchFamily="34" charset="0"/>
                <a:ea typeface="Calibri" pitchFamily="34" charset="-122"/>
                <a:cs typeface="Calibri" pitchFamily="34" charset="-120"/>
              </a:rPr>
              <a:t>Check</a:t>
            </a:r>
            <a:endParaRPr lang="en-US" sz="1800" dirty="0"/>
          </a:p>
        </p:txBody>
      </p:sp>
      <p:sp>
        <p:nvSpPr>
          <p:cNvPr id="7" name="ans-panel"/>
          <p:cNvSpPr/>
          <p:nvPr/>
        </p:nvSpPr>
        <p:spPr>
          <a:xfrm>
            <a:off x="548640" y="1389888"/>
            <a:ext cx="6400800" cy="4754880"/>
          </a:xfrm>
          <a:prstGeom prst="roundRect">
            <a:avLst>
              <a:gd name="adj" fmla="val 962"/>
            </a:avLst>
          </a:prstGeom>
          <a:solidFill>
            <a:srgbClr val="F8F2E9"/>
          </a:solidFill>
          <a:ln w="19050">
            <a:solidFill>
              <a:srgbClr val="B8862B"/>
            </a:solidFill>
            <a:prstDash val="solid"/>
          </a:ln>
        </p:spPr>
      </p:sp>
      <p:sp>
        <p:nvSpPr>
          <p:cNvPr id="8" name="ans-tab"/>
          <p:cNvSpPr/>
          <p:nvPr/>
        </p:nvSpPr>
        <p:spPr>
          <a:xfrm>
            <a:off x="731520" y="1554480"/>
            <a:ext cx="1463040" cy="457200"/>
          </a:xfrm>
          <a:prstGeom prst="roundRect">
            <a:avLst>
              <a:gd name="adj" fmla="val 40000"/>
            </a:avLst>
          </a:prstGeom>
          <a:solidFill>
            <a:srgbClr val="9C7225"/>
          </a:solidFill>
          <a:ln/>
        </p:spPr>
        <p:txBody>
          <a:bodyPr wrap="square" lIns="63500" tIns="63500" rIns="63500" bIns="63500" rtlCol="0" anchor="ctr"/>
          <a:lstStyle/>
          <a:p>
            <a:pPr algn="l" indent="0" marL="0">
              <a:buNone/>
            </a:pPr>
            <a:r>
              <a:rPr lang="en-US" sz="1800" b="1" dirty="0">
                <a:solidFill>
                  <a:srgbClr val="FFFFFF"/>
                </a:solidFill>
                <a:latin typeface="Calibri" pitchFamily="34" charset="0"/>
                <a:ea typeface="Calibri" pitchFamily="34" charset="-122"/>
                <a:cs typeface="Calibri" pitchFamily="34" charset="-120"/>
              </a:rPr>
              <a:t>Answer</a:t>
            </a:r>
            <a:endParaRPr lang="en-US" sz="1800" dirty="0"/>
          </a:p>
        </p:txBody>
      </p:sp>
      <p:sp>
        <p:nvSpPr>
          <p:cNvPr id="9" name="ans"/>
          <p:cNvSpPr txBox="1"/>
          <p:nvPr/>
        </p:nvSpPr>
        <p:spPr>
          <a:xfrm>
            <a:off x="777240" y="2167128"/>
            <a:ext cx="5943600" cy="3840480"/>
          </a:xfrm>
          <a:prstGeom prst="rect">
            <a:avLst/>
          </a:prstGeom>
          <a:noFill/>
          <a:ln/>
        </p:spPr>
        <p:txBody>
          <a:bodyPr wrap="square" lIns="63500" tIns="63500" rIns="63500" bIns="63500" rtlCol="0" anchor="ctr"/>
          <a:lstStyle/>
          <a:p>
            <a:pPr algn="l" indent="0" marL="0">
              <a:spcAft>
                <a:spcPts val="1400"/>
              </a:spcAft>
              <a:buNone/>
            </a:pPr>
            <a:r>
              <a:rPr lang="en-US" sz="1800" dirty="0">
                <a:solidFill>
                  <a:srgbClr val="4A505C"/>
                </a:solidFill>
                <a:latin typeface="Calibri" pitchFamily="34" charset="0"/>
                <a:ea typeface="Calibri" pitchFamily="34" charset="-122"/>
                <a:cs typeface="Calibri" pitchFamily="34" charset="-120"/>
              </a:rPr>
              <a:t>Farmers grow tomatoes on the slopes of Mount Vesuvius in Italy, even though it is an active volcano. Why?</a:t>
            </a:r>
            <a:endParaRPr lang="en-US" sz="1800" dirty="0"/>
          </a:p>
          <a:p>
            <a:pPr algn="l" indent="0" marL="0">
              <a:buNone/>
            </a:pPr>
            <a:r>
              <a:rPr lang="en-US" sz="3200" b="1" dirty="0">
                <a:solidFill>
                  <a:srgbClr val="1E2229"/>
                </a:solidFill>
                <a:latin typeface="Cambria" pitchFamily="34" charset="0"/>
                <a:ea typeface="Cambria" pitchFamily="34" charset="-122"/>
                <a:cs typeface="Cambria" pitchFamily="34" charset="-120"/>
              </a:rPr>
              <a:t>C   Volcanic ash has made the soil very fertile, so crops grow well</a:t>
            </a:r>
            <a:endParaRPr lang="en-US" sz="1800" dirty="0"/>
          </a:p>
        </p:txBody>
      </p:sp>
      <p:sp>
        <p:nvSpPr>
          <p:cNvPr id="10" name="why-panel"/>
          <p:cNvSpPr/>
          <p:nvPr/>
        </p:nvSpPr>
        <p:spPr>
          <a:xfrm>
            <a:off x="7223760" y="1389888"/>
            <a:ext cx="4419295" cy="4754880"/>
          </a:xfrm>
          <a:prstGeom prst="roundRect">
            <a:avLst>
              <a:gd name="adj" fmla="val 1035"/>
            </a:avLst>
          </a:prstGeom>
          <a:solidFill>
            <a:srgbClr val="EFF2F0"/>
          </a:solidFill>
          <a:ln/>
        </p:spPr>
      </p:sp>
      <p:sp>
        <p:nvSpPr>
          <p:cNvPr id="11" name="why-hex"/>
          <p:cNvSpPr/>
          <p:nvPr/>
        </p:nvSpPr>
        <p:spPr>
          <a:xfrm>
            <a:off x="7406640" y="1572768"/>
            <a:ext cx="685800" cy="593903"/>
          </a:xfrm>
          <a:prstGeom prst="hexagon">
            <a:avLst/>
          </a:prstGeom>
          <a:solidFill>
            <a:srgbClr val="3F6B4A"/>
          </a:solidFill>
          <a:ln/>
        </p:spPr>
      </p:sp>
      <p:sp>
        <p:nvSpPr>
          <p:cNvPr id="12" name="why-hex-label"/>
          <p:cNvSpPr txBox="1"/>
          <p:nvPr/>
        </p:nvSpPr>
        <p:spPr>
          <a:xfrm>
            <a:off x="7406640" y="1572768"/>
            <a:ext cx="685800" cy="593903"/>
          </a:xfrm>
          <a:prstGeom prst="rect">
            <a:avLst/>
          </a:prstGeom>
          <a:noFill/>
          <a:ln/>
        </p:spPr>
        <p:txBody>
          <a:bodyPr wrap="square" lIns="0" tIns="0" rIns="0" bIns="0" rtlCol="0" anchor="ctr"/>
          <a:lstStyle/>
          <a:p>
            <a:pPr algn="ctr" indent="0" marL="0">
              <a:buNone/>
            </a:pPr>
            <a:r>
              <a:rPr lang="en-US" sz="1800" b="1" dirty="0">
                <a:solidFill>
                  <a:srgbClr val="FFFFFF"/>
                </a:solidFill>
                <a:latin typeface="Calibri" pitchFamily="34" charset="0"/>
                <a:ea typeface="Calibri" pitchFamily="34" charset="-122"/>
                <a:cs typeface="Calibri" pitchFamily="34" charset="-120"/>
              </a:rPr>
              <a:t>Why</a:t>
            </a:r>
            <a:endParaRPr lang="en-US" sz="1800" dirty="0"/>
          </a:p>
        </p:txBody>
      </p:sp>
      <p:sp>
        <p:nvSpPr>
          <p:cNvPr id="13" name="why"/>
          <p:cNvSpPr txBox="1"/>
          <p:nvPr/>
        </p:nvSpPr>
        <p:spPr>
          <a:xfrm>
            <a:off x="7406640" y="2304288"/>
            <a:ext cx="4053535" cy="3703320"/>
          </a:xfrm>
          <a:prstGeom prst="rect">
            <a:avLst/>
          </a:prstGeom>
          <a:noFill/>
          <a:ln/>
        </p:spPr>
        <p:txBody>
          <a:bodyPr wrap="square" lIns="63500" tIns="63500" rIns="63500" bIns="63500" rtlCol="0" anchor="t"/>
          <a:lstStyle/>
          <a:p>
            <a:pPr algn="l" indent="0" marL="0">
              <a:buNone/>
            </a:pPr>
            <a:r>
              <a:rPr lang="en-US" sz="2400" dirty="0">
                <a:solidFill>
                  <a:srgbClr val="1E2229"/>
                </a:solidFill>
                <a:latin typeface="Calibri" pitchFamily="34" charset="0"/>
                <a:ea typeface="Calibri" pitchFamily="34" charset="-122"/>
                <a:cs typeface="Calibri" pitchFamily="34" charset="-120"/>
              </a:rPr>
              <a:t>Volcanic ash breaks down into mineral-rich, fertile soil, so the slopes of Vesuvius are excellent farmland despite the risk.</a:t>
            </a:r>
            <a:endParaRPr lang="en-US" sz="2400" dirty="0"/>
          </a:p>
        </p:txBody>
      </p:sp>
      <p:sp>
        <p:nvSpPr>
          <p:cNvPr id="25" name="Slide Number Placeholder 0"/>
          <p:cNvSpPr>
            <a:spLocks noGrp="1"/>
          </p:cNvSpPr>
          <p:nvPr>
            <p:ph type="sldNum" sz="quarter" idx="4294967295"/>
          </p:nvPr>
        </p:nvSpPr>
        <p:spPr>
          <a:xfrm>
            <a:off x="11018520" y="6446520"/>
            <a:ext cx="640080" cy="365760"/>
          </a:xfrm>
          <a:prstGeom prst="rect">
            <a:avLst/>
          </a:prstGeom>
          <a:extLst>
            <a:ext uri="{C572A759-6A51-4108-AA02-DFA0A04FC94B}">
              <ma14:wrappingTextBoxFlag xmlns:ma14="http://schemas.microsoft.com/office/mac/drawingml/2011/main" val="0"/>
            </a:ext>
          </a:extLst>
        </p:spPr>
        <p:txBody>
          <a:bodyPr lIns="0" tIns="0" rIns="0" bIns="0" anchor="ctr"/>
          <a:lstStyle>
            <a:lvl1pPr>
              <a:defRPr sz="1000">
                <a:solidFill>
                  <a:srgbClr val="396043"/>
                </a:solidFill>
                <a:latin typeface="Calibri"/>
                <a:ea typeface="Calibri"/>
                <a:cs typeface="Calibri"/>
              </a:defRPr>
            </a:lvl1pPr>
          </a:lstStyle>
          <a:p>
            <a:pPr algn="r"/>
            <a:fld id="{F7021451-1387-4CA6-816F-3879F97B5CBC}" type="slidenum">
              <a:rPr b="0" lang="en-US"/>
              <a:t>24</a:t>
            </a:fld>
            <a:endParaRPr lang="en-US"/>
          </a:p>
        </p:txBody>
      </p:sp>
    </p:spTree>
  </p:cSld>
  <p:clrMapOvr>
    <a:masterClrMapping/>
  </p:clrMapOvr>
</p:sld>
</file>

<file path=ppt/theme/theme1.xml><?xml version="1.0" encoding="utf-8"?>
<a:theme xmlns:a="http://schemas.openxmlformats.org/drawingml/2006/main" name="Ad Astra geography">
  <a:themeElements>
    <a:clrScheme name="Ad Astra geography">
      <a:dk1>
        <a:srgbClr val="1E2229"/>
      </a:dk1>
      <a:lt1>
        <a:srgbClr val="FFFFFF"/>
      </a:lt1>
      <a:dk2>
        <a:srgbClr val="32563B"/>
      </a:dk2>
      <a:lt2>
        <a:srgbClr val="EFF2F0"/>
      </a:lt2>
      <a:accent1>
        <a:srgbClr val="3F6B4A"/>
      </a:accent1>
      <a:accent2>
        <a:srgbClr val="B8862B"/>
      </a:accent2>
      <a:accent3>
        <a:srgbClr val="8CA692"/>
      </a:accent3>
      <a:accent4>
        <a:srgbClr val="815E1E"/>
      </a:accent4>
      <a:accent5>
        <a:srgbClr val="4A505C"/>
      </a:accent5>
      <a:accent6>
        <a:srgbClr val="DDC498"/>
      </a:accent6>
      <a:hlink>
        <a:srgbClr val="3F6B4A"/>
      </a:hlink>
      <a:folHlink>
        <a:srgbClr val="2C4B34"/>
      </a:folHlink>
    </a:clrScheme>
    <a:fontScheme name="Ad Astra geography">
      <a:majorFont>
        <a:latin typeface="Cambria"/>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24</Slides>
  <Notes>24</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24</vt:i4>
      </vt:variant>
    </vt:vector>
  </HeadingPairs>
  <TitlesOfParts>
    <vt:vector size="27"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lpstr>Slide 10</vt:lpstr>
      <vt:lpstr>Slide 11</vt:lpstr>
      <vt:lpstr>Slide 12</vt:lpstr>
      <vt:lpstr>Slide 13</vt:lpstr>
      <vt:lpstr>Slide 14</vt:lpstr>
      <vt:lpstr>Slide 15</vt:lpstr>
      <vt:lpstr>Slide 16</vt:lpstr>
      <vt:lpstr>Slide 17</vt:lpstr>
      <vt:lpstr>Slide 18</vt:lpstr>
      <vt:lpstr>Slide 19</vt:lpstr>
      <vt:lpstr>Slide 20</vt:lpstr>
      <vt:lpstr>Slide 21</vt:lpstr>
      <vt:lpstr>Slide 22</vt:lpstr>
      <vt:lpstr>Slide 23</vt:lpstr>
      <vt:lpstr>Slide 24</vt:lpstr>
    </vt:vector>
  </TitlesOfParts>
  <Company>Edu.Ai SV Digital</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Tectonic Processes · Chapter 5: Living with earthquakes and volcanoes</dc:title>
  <dc:subject>Geography · Year 8</dc:subject>
  <dc:creator>Dr Vitor Merissi de Carvalho</dc:creator>
  <cp:lastModifiedBy>Dr Vitor Merissi de Carvalho</cp:lastModifiedBy>
  <cp:revision>1</cp:revision>
  <dcterms:created xsi:type="dcterms:W3CDTF">2026-10-19T06:07:46Z</dcterms:created>
  <dcterms:modified xsi:type="dcterms:W3CDTF">2026-10-19T06:07:46Z</dcterms:modified>
</cp:coreProperties>
</file>