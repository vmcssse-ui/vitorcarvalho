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f2cad1f-a2e6-56d7-d2fa-542d38ac9aef}">
          <p14:sldIdLst>
            <p14:sldId id="256"/>
          </p14:sldIdLst>
        </p14:section>
        <p14:section name="Gate" id="{1949e095-a479-3938-cf14-86cb0db8b86e}">
          <p14:sldIdLst>
            <p14:sldId id="257"/>
            <p14:sldId id="258"/>
          </p14:sldIdLst>
        </p14:section>
        <p14:section name="Pre-teach" id="{d4eabfae-2dd4-0672-d9a6-31d8fac1dcaa}">
          <p14:sldIdLst>
            <p14:sldId id="259"/>
            <p14:sldId id="260"/>
          </p14:sldIdLst>
        </p14:section>
        <p14:section name="Read-along" id="{67b87abf-f949-185e-1976-ddb7d060c8a8}">
          <p14:sldIdLst>
            <p14:sldId id="261"/>
            <p14:sldId id="262"/>
          </p14:sldIdLst>
        </p14:section>
        <p14:section name="Teach" id="{da54ceae-c1de-309e-7ddd-881aae0ce6d6}">
          <p14:sldIdLst>
            <p14:sldId id="263"/>
            <p14:sldId id="264"/>
            <p14:sldId id="265"/>
            <p14:sldId id="266"/>
            <p14:sldId id="267"/>
            <p14:sldId id="268"/>
            <p14:sldId id="269"/>
            <p14:sldId id="270"/>
          </p14:sldIdLst>
        </p14:section>
        <p14:section name="Routes" id="{aefc38f8-ebd6-67a9-c883-02fee920fcf5}">
          <p14:sldIdLst>
            <p14:sldId id="271"/>
            <p14:sldId id="272"/>
            <p14:sldId id="273"/>
            <p14:sldId id="274"/>
          </p14:sldIdLst>
        </p14:section>
        <p14:section name="Close" id="{e3e66572-fca1-b833-8c16-9a79305ec1df}">
          <p14:sldIdLst>
            <p14:sldId id="275"/>
          </p14:sldIdLst>
        </p14:section>
        <p14:section name="Answers" id="{8577f2e1-61ae-2869-1872-a502fa586d6e}">
          <p14:sldIdLst>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5: Living with earthquakes and volcanoes. How geographers study a real earthquake as a case study, why the same earthquake can hurt one country more than another, and why people choose to live beside volcanoes.
This deck covers the department's lessons: 4 (Case study: the Sichuan earthquake, 2008 (an NEE): What caused the Sichuan earthquake, what were its effects, and how did people respond?); 5 (Living in the shadow of volcanoes: Vesuvius, Hawaii and Iceland: If volcanoes are so dangerous, why do people live near them?).
Read the big question aloud: "What moves the ground beneath our feet, where do earthquakes and volcanoes happen, and why do millions of people choose to live near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benefit of living near a volcano?  →  C   Fertile soil for growing crops
2. The Indian Ocean tsunami happened in 2004 and the Sichuan earthquake in 2008. How many years apart were the two events?  →  4 years
3. A place where very hot rock rises from deep in the mantle and makes volcanoes away from a plate boundary is called a ___.  →  hot spot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Fertile soil for growing crops. Volcanic ash is rich in minerals, so the soil around a volcano is fertile and good for farming.
2. 4 years. 2008 − 2004 = 4 years.
3. hot spot. Hawaii sits on a hot spot in the middle of the Pacific Plate, far from any boundary.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case study: a real example studied in detail to understand a topic. Example: "Our case study of an earthquake is Sichuan, China, in 2008."
• NEE: a newly emerging economy: a country that is getting richer quickly. Example: "China is an NEE, a country whose economy is growing fast."
• effect: something that happens because of an event. Example: "One effect of the earthquake was that many people lost their homes."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response: what people do to help after a disaster. Example: "Sending rescue teams was the first response to the earthquake."
• fertile: good for growing crops. Example: "Volcanic ash makes the soil fertile."
• hot spot: a place where very hot rock rises from deep in the mantle and makes volcanoes. Example: "Hawaii sits on a hot spot in the middle of the Pacific Plate."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Geographers learn about hazards by studying real events in detail.
2. This is called a case study.
3. Our case study is the Sichuan earthquake in China, in 2008.
4. China is an NEE, a country whose economy is growing fast.
5. A case study asks what caused the event and when it happened.
6. It asks what the effects were on people, on money and on the land.
7. It asks how people responded and what help was given.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Earthquakes do not kill people directly.
9. Falling buildings, landslides and fires do.
10. So the time of day and the strength of the buildings matter a great deal.
11. Volcanoes are dangerous too, yet millions of people live near them.
12. Volcanic ash makes the soil fertile, so crops grow well.
13. Heat from under the ground can make cheap electricity.
14. Volcanic rock makes strong building material, and tourists bring jobs.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case study: the Sichuan earthquake, 2008. Say it in your own words, then check understanding with a quick question: ask a pupil from the pre-teach group first, since they met these words and ideas before the lesson. Pupils try to recall before you re-explain.
A case study is a real event studied in detail. For earthquakes, your case study is the Sichuan earthquake, which struck Sichuan province in China in 2008. China is an NEE, a newly emerging economy: a country that is becoming richer quickly but still has many poorer areas.
Every earthquake case study answers the same set of questions. What caused it? The movement of plates, releasing pressure that had built up. When did it happen, on what date and at what time of day? What were the effects: how many people died, were injured or lost their homes, and what happened to buildings, roads, businesses and the land? And what was the response: what help was given, by whom, and how quickly?
Geographers sort effects into three groups. Social effects are about people: deaths, injuries, lost homes, closed schools. Economic effects are about money: damaged factories, roads and shops, and the cost of rebuilding. Environmental effects are about the land: landslides, blocked rivers, damaged farmland. The figures for Sichuan are in your textbook, in the case study pages, and you will need them for the progress check.
Tip: Case study answers need specific detail. Always give the place, the year and at least one real figure from your textbook.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Do earthquakes kill people?. Say it in your own words, then check understanding with a quick question: ask a pupil from the pre-teach group first, since they met these words and ideas before the lesson. Pupils try to recall before you re-explain.
It sounds like an odd question, but it is an important one. The shaking of the ground does not itself kill anyone. People are killed by what the shaking does: buildings that collapse on top of them, landslides that bury roads and villages, fires that start from broken gas pipes, and, near the coast, tsunamis.
That is why the same magnitude of earthquake can kill a handful of people in one country and tens of thousands in another. In a richer country, an HIC, buildings are often designed to sway rather than fall, and emergency services arrive quickly. In an NEE such as China, cities may have strong modern buildings while poorer rural areas have older ones that collapse. In the poorest countries, LICs, weak buildings and slow rescue make the death toll far higher.
Time of day matters too. Think about where people are at different hours. In the middle of the afternoon, children are in school and adults are at work or in the fields. In the middle of the night, almost everyone is asleep indoors. Which buildings people are inside, and whether rescuers can see what they are doing, changes how many are hurt and how many are found in time.
Worked example — model it step by step, thinking aloud: Explain why an earthquake of the same magnitude can cause more deaths in one country than in another. (4 marks) (1) Make the key point first: the shaking does not kill directly; collapsing buildings do. (2) Compare building quality: richer countries can afford buildings designed not to collapse. (3) Compare the response: richer countries have more rescue teams, hospitals and equipment, so help arrives faster. (4) Finish with a link: so a poorer country suffers more deaths from the same shaking. Answer: The shaking itself does not kill people; collapsing buildings, landslides and fires do. A richer country can afford buildings designed to withstand shaking, so fewer collapse. It also has more rescue teams, hospitals and equipment, so trapped people are found and treated faster. In a poorer country buildings are weaker and help is slower to arrive, so the same magnitude of earthquake causes far more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Do earthquakes kill people?. Say it in your own words, then check understanding with a quick question: ask a pupil from the pre-teach group first, since they met these words and ideas before the lesson. Pupils try to recall before you re-explain.
It sounds like an odd question, but it is an important one. The shaking of the ground does not itself kill anyone. People are killed by what the shaking does: buildings that collapse on top of them, landslides that bury roads and villages, fires that start from broken gas pipes, and, near the coast, tsunamis.
That is why the same magnitude of earthquake can kill a handful of people in one country and tens of thousands in another. In a richer country, an HIC, buildings are often designed to sway rather than fall, and emergency services arrive quickly. In an NEE such as China, cities may have strong modern buildings while poorer rural areas have older ones that collapse. In the poorest countries, LICs, weak buildings and slow rescue make the death toll far higher.
Time of day matters too. Think about where people are at different hours. In the middle of the afternoon, children are in school and adults are at work or in the fields. In the middle of the night, almost everyone is asleep indoors. Which buildings people are inside, and whether rescuers can see what they are doing, changes how many are hurt and how many are found in time.
Worked example — model it step by step, thinking aloud: Explain why an earthquake of the same magnitude can cause more deaths in one country than in another. (4 marks) (1) Make the key point first: the shaking does not kill directly; collapsing buildings do. (2) Compare building quality: richer countries can afford buildings designed not to collapse. (3) Compare the response: richer countries have more rescue teams, hospitals and equipment, so help arrives faster. (4) Finish with a link: so a poorer country suffers more deaths from the same shaking. Answer: The shaking itself does not kill people; collapsing buildings, landslides and fires do. A richer country can afford buildings designed to withstand shaking, so fewer collapse. It also has more rescue teams, hospitals and equipment, so trapped people are found and treated faster. In a poorer country buildings are weaker and help is slower to arrive, so the same magnitude of earthquake causes far more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Do earthquakes kill people?. Say it in your own words, then check understanding with a quick question: ask a pupil from the pre-teach group first, since they met these words and ideas before the lesson. Pupils try to recall before you re-explain.
It sounds like an odd question, but it is an important one. The shaking of the ground does not itself kill anyone. People are killed by what the shaking does: buildings that collapse on top of them, landslides that bury roads and villages, fires that start from broken gas pipes, and, near the coast, tsunamis.
That is why the same magnitude of earthquake can kill a handful of people in one country and tens of thousands in another. In a richer country, an HIC, buildings are often designed to sway rather than fall, and emergency services arrive quickly. In an NEE such as China, cities may have strong modern buildings while poorer rural areas have older ones that collapse. In the poorest countries, LICs, weak buildings and slow rescue make the death toll far higher.
Time of day matters too. Think about where people are at different hours. In the middle of the afternoon, children are in school and adults are at work or in the fields. In the middle of the night, almost everyone is asleep indoors. Which buildings people are inside, and whether rescuers can see what they are doing, changes how many are hurt and how many are found in time.
Worked example — model it step by step, thinking aloud: Explain why an earthquake of the same magnitude can cause more deaths in one country than in another. (4 marks) (1) Make the key point first: the shaking does not kill directly; collapsing buildings do. (2) Compare building quality: richer countries can afford buildings designed not to collapse. (3) Compare the response: richer countries have more rescue teams, hospitals and equipment, so help arrives faster. (4) Finish with a link: so a poorer country suffers more deaths from the same shaking. Answer: The shaking itself does not kill people; collapsing buildings, landslides and fires do. A richer country can afford buildings designed to withstand shaking, so fewer collapse. It also has more rescue teams, hospitals and equipment, so trapped people are found and treated faster. In a poorer country buildings are weaker and help is slower to arrive, so the same magnitude of earthquake causes far more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Do earthquakes kill people?. Say it in your own words, then check understanding with a quick question: ask a pupil from the pre-teach group first, since they met these words and ideas before the lesson. Pupils try to recall before you re-explain.
It sounds like an odd question, but it is an important one. The shaking of the ground does not itself kill anyone. People are killed by what the shaking does: buildings that collapse on top of them, landslides that bury roads and villages, fires that start from broken gas pipes, and, near the coast, tsunamis.
That is why the same magnitude of earthquake can kill a handful of people in one country and tens of thousands in another. In a richer country, an HIC, buildings are often designed to sway rather than fall, and emergency services arrive quickly. In an NEE such as China, cities may have strong modern buildings while poorer rural areas have older ones that collapse. In the poorest countries, LICs, weak buildings and slow rescue make the death toll far higher.
Time of day matters too. Think about where people are at different hours. In the middle of the afternoon, children are in school and adults are at work or in the fields. In the middle of the night, almost everyone is asleep indoors. Which buildings people are inside, and whether rescuers can see what they are doing, changes how many are hurt and how many are found in time.
Worked example — model it step by step, thinking aloud: Explain why an earthquake of the same magnitude can cause more deaths in one country than in another. (4 marks) (1) Make the key point first: the shaking does not kill directly; collapsing buildings do. (2) Compare building quality: richer countries can afford buildings designed not to collapse. (3) Compare the response: richer countries have more rescue teams, hospitals and equipment, so help arrives faster. (4) Finish with a link: so a poorer country suffers more deaths from the same shaking. Answer: The shaking itself does not kill people; collapsing buildings, landslides and fires do. A richer country can afford buildings designed to withstand shaking, so fewer collapse. It also has more rescue teams, hospitals and equipment, so trapped people are found and treated faster. In a poorer country buildings are weaker and help is slower to arrive, so the same magnitude of earthquake causes far more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Do earthquakes kill people?. Say it in your own words, then check understanding with a quick question: ask a pupil from the pre-teach group first, since they met these words and ideas before the lesson. Pupils try to recall before you re-explain.
It sounds like an odd question, but it is an important one. The shaking of the ground does not itself kill anyone. People are killed by what the shaking does: buildings that collapse on top of them, landslides that bury roads and villages, fires that start from broken gas pipes, and, near the coast, tsunamis.
That is why the same magnitude of earthquake can kill a handful of people in one country and tens of thousands in another. In a richer country, an HIC, buildings are often designed to sway rather than fall, and emergency services arrive quickly. In an NEE such as China, cities may have strong modern buildings while poorer rural areas have older ones that collapse. In the poorest countries, LICs, weak buildings and slow rescue make the death toll far higher.
Time of day matters too. Think about where people are at different hours. In the middle of the afternoon, children are in school and adults are at work or in the fields. In the middle of the night, almost everyone is asleep indoors. Which buildings people are inside, and whether rescuers can see what they are doing, changes how many are hurt and how many are found in time.
Worked example — model it step by step, thinking aloud: Explain why an earthquake of the same magnitude can cause more deaths in one country than in another. (4 marks) (1) Make the key point first: the shaking does not kill directly; collapsing buildings do. (2) Compare building quality: richer countries can afford buildings designed not to collapse. (3) Compare the response: richer countries have more rescue teams, hospitals and equipment, so help arrives faster. (4) Finish with a link: so a poorer country suffers more deaths from the same shaking. Answer: The shaking itself does not kill people; collapsing buildings, landslides and fires do. A richer country can afford buildings designed to withstand shaking, so fewer collapse. It also has more rescue teams, hospitals and equipment, so trapped people are found and treated faster. In a poorer country buildings are weaker and help is slower to arrive, so the same magnitude of earthquake causes far more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Living in the shadow of a volcano. Say it in your own words, then check understanding with a quick question: ask a pupil from the pre-teach group first, since they met these words and ideas before the lesson. Pupils try to recall before you re-explain.
Volcanoes can destroy towns, yet millions of people live beside them. Around Mount Vesuvius in Italy, farmers grow tomatoes on the slopes of a volcano that buried a Roman city. Why take the risk? Because living near a volcano brings real benefits.
There are four main ones. Fertile soil: volcanic ash is full of minerals, so crops grow well. Energy: heat from under the ground can be used to make electricity, which is renewable and cheaper than importing fuel. Building materials: volcanic rock is hard and lasting, so it makes durable houses and roads. Jobs: tourists come to see the volcano, the hot springs and the dramatic scenery, and that brings work to hotels, shops and guides.
For many families, these benefits every day outweigh a danger that may come once in a lifetime, or never. Geographers call this weighing up of risk and reward living with the hazard.
Tip: Four benefits, remember SEBT: Soil, Energy, Building materials,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Hot spots: Hawaii and Iceland. Say it in your own words, then check understanding with a quick question: ask a pupil from the pre-teach group first, since they met these words and ideas before the lesson. Pupils try to recall before you re-explain.
Most volcanoes sit on plate boundaries, but Hawaii is in the middle of the Pacific Plate, thousands of kilometres from any boundary. Its volcanoes come from a hot spot: a place where unusually hot rock rises from deep in the mantle, melts through the plate above and feeds volcanoes at the surface.
Iceland is doubly volcanic. It sits on the constructive boundary where the North American Plate and the Eurasian Plate are moving apart (Chapter 3), and it also sits on a hot spot. Together they give Iceland frequent eruptions, hot springs and steaming ground.
Both places show the benefits of living near volcanoes. Iceland uses its underground heat to warm homes and make electricity, and its volcanic landscape draws visitors from around the world. Hawaii's rich volcanic soil and spectacular scenery support farming and tourism.
Tip: Hawaii: hot spot only, mid-plate. Iceland: constructive boundary plus hot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Sorting a case study.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heading of an earthquake case study to the example that belongs under it.
Support — work through the steps with the group: (1) Cause is what made it happen; everything else is what happened afterwards. (2) Effects are sorted by what they hit: people (social), money (economic) or the land (environmental). (3) Response is what people did to help after the event. (4) Read each example and ask: is this before (cause), what was hit (effect), or help afterwards (response)?
Parallel worked example for Support (model it, do not give the task answer): Sort these for a flood: heavy rain for a week; a bridge washed away; sandbags handed out. Headings: cause, economic effect, response. The rain came before and made it happen: cause.; The bridge is costly to replace: economic effect.; Sandbags are help given afterwards: response.. Answer: heavy rain: cause; bridge washed away: economic effect; sandbags: response.
Core — reveal the hint only on request: Before, what was hit (people, money or land), and help afterwards.
Stretch — no help; when finished: Many effects fit more than one heading. Explain why a destroyed school could count as both a social and an economic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Sorting a case study.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heading of an earthquake case study to the example that belongs under it.
Support — work through the steps with the group: (1) Cause is what made it happen; everything else is what happened afterwards. (2) Effects are sorted by what they hit: people (social), money (economic) or the land (environmental). (3) Response is what people did to help after the event. (4) Read each example and ask: is this before (cause), what was hit (effect), or help afterwards (response)?
Parallel worked example for Support (model it, do not give the task answer): Sort these for a flood: heavy rain for a week; a bridge washed away; sandbags handed out. Headings: cause, economic effect, response. The rain came before and made it happen: cause.; The bridge is costly to replace: economic effect.; Sandbags are help given afterwards: response.. Answer: heavy rain: cause; bridge washed away: economic effect; sandbags: response.
Core — reveal the hint only on request: Before, what was hit (people, money or land), and help afterwards.
Stretch — no help; when finished: Many effects fit more than one heading. Explain why a destroyed school could count as both a social and an economic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Twelve hours later.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An earthquake strikes a city in the middle of the afternoon. Explain how the damage and loss of life might have been different if it had struck 12 hours later, in the middle of the night. (4 marks)
Support — work through the steps with the group: (1) Sentence 1: where are people in the afternoon? Schools, workplaces, outside. (2) Sentence 2: where are people at night? Asleep at home. Say what that means for the buildings they are in. (3) Sentence 3: think about the rescuers. What is harder in the dark? (4) Sentence 4: decide. More or less loss of life at night? Give your reason.
Parallel worked example for Support (model it, do not give the task answer): A big storm hits a seaside town on a Sunday in summer. Explain how the effects might have been different on a weekday in winter. (3 marks) Where are people? On a summer Sunday, crowds are on the beach and the promenade; on a winter weekday, most are at work or school indoors.; Link to danger: people outside in a storm are at more risk than people indoors.; Judgement: the summer Sunday is likely to see more injuries, because more people are outside and exposed.. Answer: On a summer Sunday the beach and promenade are crowded, so many people are outside when the storm hits and are at risk from wind and waves. On a winter weekday most people are indoors at work or school, where they are safer. So the summer Sunday storm would probably cause more injuries, because more people are exposed to it..
Core — reveal the hint only on request: Where people are, what buildings they are in, how rescue is affected, then your judgement.
Stretch — no help; when finished: Explain why the answer to this question might be different for a rich country and a poor one, using the idea that earthquakes do not kill people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Twelve hours later.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An earthquake strikes a city in the middle of the afternoon. Explain how the damage and loss of life might have been different if it had struck 12 hours later, in the middle of the night. (4 marks)
Support — work through the steps with the group: (1) Sentence 1: where are people in the afternoon? Schools, workplaces, outside. (2) Sentence 2: where are people at night? Asleep at home. Say what that means for the buildings they are in. (3) Sentence 3: think about the rescuers. What is harder in the dark? (4) Sentence 4: decide. More or less loss of life at night? Give your reason.
Parallel worked example for Support (model it, do not give the task answer): A big storm hits a seaside town on a Sunday in summer. Explain how the effects might have been different on a weekday in winter. (3 marks) Where are people? On a summer Sunday, crowds are on the beach and the promenade; on a winter weekday, most are at work or school indoors.; Link to danger: people outside in a storm are at more risk than people indoors.; Judgement: the summer Sunday is likely to see more injuries, because more people are outside and exposed.. Answer: On a summer Sunday the beach and promenade are crowded, so many people are outside when the storm hits and are at risk from wind and waves. On a winter weekday most people are indoors at work or school, where they are safer. So the summer Sunday storm would probably cause more injuries, because more people are exposed to it..
Core — reveal the hint only on request: Where people are, what buildings they are in, how rescue is affected, then your judgement.
Stretch — no help; when finished: Explain why the answer to this question might be different for a rich country and a poor one, using the idea that earthquakes do not kill people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Farmers grow tomatoes on the slopes of Mount Vesuvius in Italy, even though it is an active volcano. Why?
Answer: C   Volcanic ash has made the soil very fertile, so crops grow well. Volcanic ash breaks down into mineral-rich, fertile soil, so the slopes of Vesuvius are excellent farmland despite the risk.
Source of this question: module 3 task ("Why farm on a volcano?")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Sorting a case study. Reveal the answer; pupils mark their own work in a different colour, then read the "why" together. Same destination for every lane, so one answer serves the whole class.
Answer: Cause  →  E  Moving plates released pressure that had built up between them; Social effect  →  D  Thousands of people lost their homes and schools were destroyed; Economic effect  →  B  Factories, roads and shops were damaged and cost a great deal to rebuild; Environmental effect  →  C  Landslides buried hillsides and blocked rivers; Response  →  A  Rescue teams, tents and medical help were sent to the affected area
Why: Cause comes first; social effects are on people, economic on money and property, environmental on the land; the response is the help given afterwards.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Twelve hours later. Reveal the answer; pupils mark their own work in a different colour, then read the "why" together. Same destination for every lane, so one answer serves the whole class.
Answer: Says where people are at each time: in the afternoon at school, at work or outside; at night asleep at home; Links where people are to the buildings they are in and how those buildings cope with shaking; Considers the rescue: darkness makes it harder to find and reach trapped people; Reaches a clear judgement (more or less loss of life) and gives a reason for it
Why: A strong answer follows people through the day, links where they are to the buildings around them, remembers that rescuers work less well in the dark, and ends with a reasoned judgement rather than a guess.
Model answer: In the middle of the afternoon most children are in school and many adults are at work or outside, so whether people are hurt depends on how well schools, offices and factories stand up to shaking. Twelve hours later, in the middle of the night, almost everyone is asleep at home, so it is the strength of houses that matters most, and people are slower to react because they are woken suddenly. Rescue is also harder in the dark, as teams cannot see collapsed buildings or trapped people easily. Overall I think a night-time earthquake could cause more loss of life if homes are weaker than the daytime buildings, but if schools were poorly built the afternoon would be worse, so the answer depends on which buildings are the weakest.
Success criteria: Says where people are at each time: in the afternoon at school, at work or outside; at night asleep at home; Links where people are to the buildings they are in and how those buildings cope with shaking; Considers the rescue: darkness makes it harder to find and reach trapped people; Reaches a clear judgement (more or less loss of life) and gives a reason for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Twelve hours later. Reveal the answer; pupils mark their own work in a different colour, then read the "why" together. Same destination for every lane, so one answer serves the whole class.
Answer: Says where people are at each time: in the afternoon at school, at work or outside; at night asleep at home; Links where people are to the buildings they are in and how those buildings cope with shaking; Considers the rescue: darkness makes it harder to find and reach trapped people; Reaches a clear judgement (more or less loss of life) and gives a reason for it
Why: A strong answer follows people through the day, links where they are to the buildings around them, remembers that rescuers work less well in the dark, and ends with a reasoned judgement rather than a guess.
Model answer: In the middle of the afternoon most children are in school and many adults are at work or outside, so whether people are hurt depends on how well schools, offices and factories stand up to shaking. Twelve hours later, in the middle of the night, almost everyone is asleep at home, so it is the strength of houses that matters most, and people are slower to react because they are woken suddenly. Rescue is also harder in the dark, as teams cannot see collapsed buildings or trapped people easily. Overall I think a night-time earthquake could cause more loss of life if homes are weaker than the daytime buildings, but if schools were poorly built the afternoon would be worse, so the answer depends on which buildings are the weakest.
Success criteria: Says where people are at each time: in the afternoon at school, at work or outside; at night asleep at home; Links where people are to the buildings they are in and how those buildings cope with shaking; Considers the rescue: darkness makes it harder to find and reach trapped people; Reaches a clear judgement (more or less loss of life) and gives a reason for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Volcanic ash has made the soil very fertile, so crops grow well
Why: Volcanic ash breaks down into mineral-rich, fertile soil, so the slopes of Vesuvius are excellent farmland despite the risk.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Tectonic Processes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Tectonic Processes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Tectonic Processes · AQA KS3 → 8035</a:t>
            </a:r>
            <a:endParaRPr lang="en-US" sz="1800" dirty="0"/>
          </a:p>
        </p:txBody>
      </p:sp>
      <p:sp>
        <p:nvSpPr>
          <p:cNvPr id="10" name="deck-title"/>
          <p:cNvSpPr txBox="1"/>
          <p:nvPr/>
        </p:nvSpPr>
        <p:spPr>
          <a:xfrm>
            <a:off x="548640" y="204139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Living with earthquakes and volcanoes</a:t>
            </a:r>
            <a:endParaRPr lang="en-US" sz="3200" dirty="0"/>
          </a:p>
        </p:txBody>
      </p:sp>
      <p:sp>
        <p:nvSpPr>
          <p:cNvPr id="11" name="lessons-card"/>
          <p:cNvSpPr/>
          <p:nvPr/>
        </p:nvSpPr>
        <p:spPr>
          <a:xfrm>
            <a:off x="548640" y="3453638"/>
            <a:ext cx="5287975" cy="1948180"/>
          </a:xfrm>
          <a:prstGeom prst="roundRect">
            <a:avLst>
              <a:gd name="adj" fmla="val 3755"/>
            </a:avLst>
          </a:prstGeom>
          <a:solidFill>
            <a:srgbClr val="EFF2F0"/>
          </a:solidFill>
          <a:ln/>
        </p:spPr>
      </p:sp>
      <p:sp>
        <p:nvSpPr>
          <p:cNvPr id="12" name="lessons"/>
          <p:cNvSpPr txBox="1"/>
          <p:nvPr/>
        </p:nvSpPr>
        <p:spPr>
          <a:xfrm>
            <a:off x="685800" y="354507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Case study: the Sichuan earthquake, 2008 (an NEE)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Living in the shadow of volcanoes: Vesuvius, Hawaii and Iceland</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moves the ground beneath our feet, where do earthquakes and volcanoes happen, and why do millions of people choose to live near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these is a benefit of living near a volcano?</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Lava that destroys homes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Frequent earthquakes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Fertile soil for growing crops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Ash that blocks roads</a:t>
            </a:r>
            <a:endParaRPr lang="en-US" sz="22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Indian Ocean tsunami happened in 2004 and the Sichuan earthquake in 2008. How many years apart were the two events?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years</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 place where very hot rock rises from deep in the mantle and makes volcanoes away from a plate boundary is called a ___.</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hot spot  ·  fault  ·  epicentre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EE3CD"/>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Fertile soil for growing crops</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benefit of living near a volcano?</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Volcanic ash is rich in minerals, so the soil around a volcano is fertile and good for farming.</a:t>
            </a:r>
            <a:endParaRPr lang="en-US" sz="20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 years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Indian Ocean tsunami happened in 2004 and the Sichuan earthquake in 2008. How many years apart were the two events?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2008 − 2004 = 4 years.</a:t>
            </a:r>
            <a:endParaRPr lang="en-US" sz="22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hot spot</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place where very hot rock rises from deep in the mantle and makes volcanoes away from a plate boundary is called a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Hawaii sits on a hot spot in the middle of the Pacific Plate, far from any boundary.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case study</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real example studied in detail to understand a topic</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Our case study of an earthquake is Sichuan, China, in 2008.</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NEE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newly emerging economy: a country that is getting richer quickly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China is an NEE, a country whose economy is growing fast.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effect</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happens because of an event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One effect of the earthquake was that many people lost their homes.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response</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people do to help after a disaster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Sending rescue teams was the first response to the earthquake.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fertile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good for growing crops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Volcanic ash makes the soil fertile.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hot spot</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place where very hot rock rises from deep in the mantle and makes volcanoes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Hawaii sits on a hot spot in the middle of the Pacific Plate.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Geographers learn about hazards by studying real events in detail.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case study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Our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case study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Sichuan earthquake in China, in 2008.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China is an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NEE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 country whose economy is growing fast.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case study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asks what caused the event and when it happened.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asks what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effects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were on people, on money and on the 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asks how people responded and what help was given.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Earthquakes do not kill people directly.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Falling buildings, landslides and fires do.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the time of day and the strength of the buildings matter a great deal.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Volcanoes are dangerous too, yet millions of people live near them.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Volcanic ash makes the soil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fertile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 crops grow well.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Heat from under the ground can make cheap electricity.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Volcanic rock makes strong building material, and tourists bring jobs.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 case study: the Sichuan earthquake, 2008</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Case study answers need specific detail. Always give the place, the year and at least one real figure from your textbook.</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case study is a real event studied in detail.</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earthquake case study answers the same set of questions.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Geographers sort effects into three groups. Social effects are about people: deaths, injuries, lost homes, closed schools.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earthquakes kill people?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EFF2F0"/>
          </a:solidFill>
          <a:ln/>
        </p:spPr>
      </p:sp>
      <p:sp>
        <p:nvSpPr>
          <p:cNvPr id="8" name="point-hex"/>
          <p:cNvSpPr/>
          <p:nvPr/>
        </p:nvSpPr>
        <p:spPr>
          <a:xfrm>
            <a:off x="731520" y="1572768"/>
            <a:ext cx="685800" cy="593903"/>
          </a:xfrm>
          <a:prstGeom prst="hexagon">
            <a:avLst/>
          </a:prstGeom>
          <a:solidFill>
            <a:srgbClr val="3F6B4A"/>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It sounds like an odd question, but it is an important one.</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why the same magnitude of earthquake can kill a handful of people in one country and tens of thousands in another.</a:t>
            </a:r>
            <a:endParaRPr lang="en-US" sz="2400" dirty="0"/>
          </a:p>
        </p:txBody>
      </p:sp>
      <p:sp>
        <p:nvSpPr>
          <p:cNvPr id="15" name="point-card"/>
          <p:cNvSpPr/>
          <p:nvPr/>
        </p:nvSpPr>
        <p:spPr>
          <a:xfrm>
            <a:off x="8127797" y="1389888"/>
            <a:ext cx="3515258" cy="4754880"/>
          </a:xfrm>
          <a:prstGeom prst="roundRect">
            <a:avLst>
              <a:gd name="adj" fmla="val 1561"/>
            </a:avLst>
          </a:prstGeom>
          <a:solidFill>
            <a:srgbClr val="EFF2F0"/>
          </a:solidFill>
          <a:ln/>
        </p:spPr>
      </p:sp>
      <p:sp>
        <p:nvSpPr>
          <p:cNvPr id="16" name="point-hex"/>
          <p:cNvSpPr/>
          <p:nvPr/>
        </p:nvSpPr>
        <p:spPr>
          <a:xfrm>
            <a:off x="8310677" y="1572768"/>
            <a:ext cx="685800" cy="593903"/>
          </a:xfrm>
          <a:prstGeom prst="hexagon">
            <a:avLst/>
          </a:prstGeom>
          <a:solidFill>
            <a:srgbClr val="3F6B4A"/>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Time of day matters too. Think about where people are at different hours.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(1 of 4): Do earthquakes kill people?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an earthquake of the same magnitude can cause more deaths in one country than in another.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Make the key point first: the shaking does not kill directly; collapsing buildings do.</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(2 of 4): Do earthquakes kill people?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an earthquake of the same magnitude can cause more deaths in one country than in another.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Compare building quality: richer countries can afford buildings designed not to collapse.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(3 of 4): Do earthquakes kill people?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an earthquake of the same magnitude can cause more deaths in one country than in another.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Compare the response: richer countries have more rescue teams, hospitals and equipment, so help arrives faster.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(4 of 4): Do earthquakes kill people?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why an earthquake of the same magnitude can cause more deaths in one country than in another. (4 marks)</a:t>
            </a:r>
            <a:endParaRPr lang="en-US" sz="2200" dirty="0"/>
          </a:p>
        </p:txBody>
      </p:sp>
      <p:sp>
        <p:nvSpPr>
          <p:cNvPr id="9" name="step-box"/>
          <p:cNvSpPr/>
          <p:nvPr/>
        </p:nvSpPr>
        <p:spPr>
          <a:xfrm>
            <a:off x="548640" y="2655824"/>
            <a:ext cx="11094415"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2" name="step"/>
          <p:cNvSpPr txBox="1"/>
          <p:nvPr/>
        </p:nvSpPr>
        <p:spPr>
          <a:xfrm>
            <a:off x="685800" y="3250184"/>
            <a:ext cx="10820095"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a link: so a poorer country suffers more deaths from the same shaking.</a:t>
            </a:r>
            <a:endParaRPr lang="en-US" sz="1800" dirty="0"/>
          </a:p>
        </p:txBody>
      </p:sp>
      <p:sp>
        <p:nvSpPr>
          <p:cNvPr id="13" name="worked-answer"/>
          <p:cNvSpPr/>
          <p:nvPr/>
        </p:nvSpPr>
        <p:spPr>
          <a:xfrm>
            <a:off x="1463040" y="4477004"/>
            <a:ext cx="9265615" cy="1667764"/>
          </a:xfrm>
          <a:prstGeom prst="roundRect">
            <a:avLst>
              <a:gd name="adj" fmla="val 1096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shaking itself does not kill people; collapsing buildings, landslides and fires do. A richer country can afford buildings designed to withstand shaking, so fewer collapse. It also has more rescue teams, hospitals and equipment, so trapped people are found and treated faster. In a poorer country buildings are weaker and help is slower to arrive, so the same magnitude of earthquake causes far more deaths.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Living in the shadow of a volcano</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benefits, remember SEBT: Soil, Energy, Building materials, Tourism.</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Volcanoes can destroy towns, yet millions of people live beside them.</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four main ones. Fertile soil: volcanic ash is full of minerals, so crops grow well.</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 many families, these benefits every day outweigh a danger that may come once in a lifetime, or never.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Hot spots: Hawaii and Iceland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Hawaii: hot spot only, mid-plate. Iceland: constructive boundary plus hot spot.</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Most volcanoes sit on plate boundaries, but Hawaii is in the middle of the Pacific Plate, thousands of kilometres from any boundary.</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Iceland is doubly volcanic. It sits on the constructive boundary where the North American Plate and the Eurasian Plate are moving apart (Chapter 3), and it also sits on a hot spot.</a:t>
            </a:r>
            <a:endParaRPr lang="en-US" sz="20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Both places show the benefits of living near volcanoes. Iceland uses its underground heat to warm homes and make electricity, and its volcanic landscape draws visitors from around the world.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Sorting a case study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heading of an earthquake case study to the example that belongs under it.</a:t>
            </a:r>
            <a:endParaRPr lang="en-US" sz="2400" dirty="0"/>
          </a:p>
        </p:txBody>
      </p:sp>
      <p:sp>
        <p:nvSpPr>
          <p:cNvPr id="11" name="match-card"/>
          <p:cNvSpPr/>
          <p:nvPr/>
        </p:nvSpPr>
        <p:spPr>
          <a:xfrm>
            <a:off x="777240" y="2672080"/>
            <a:ext cx="3081437" cy="721360"/>
          </a:xfrm>
          <a:prstGeom prst="roundRect">
            <a:avLst>
              <a:gd name="adj" fmla="val 10141"/>
            </a:avLst>
          </a:prstGeom>
          <a:solidFill>
            <a:srgbClr val="F3F5F3"/>
          </a:solidFill>
          <a:ln/>
        </p:spPr>
      </p:sp>
      <p:sp>
        <p:nvSpPr>
          <p:cNvPr id="12" name="match-hex"/>
          <p:cNvSpPr/>
          <p:nvPr/>
        </p:nvSpPr>
        <p:spPr>
          <a:xfrm>
            <a:off x="850392" y="2866467"/>
            <a:ext cx="384048" cy="332586"/>
          </a:xfrm>
          <a:prstGeom prst="hexagon">
            <a:avLst/>
          </a:prstGeom>
          <a:solidFill>
            <a:srgbClr val="3F6B4A"/>
          </a:solidFill>
          <a:ln/>
        </p:spPr>
      </p:sp>
      <p:sp>
        <p:nvSpPr>
          <p:cNvPr id="13" name="match-hex-label"/>
          <p:cNvSpPr txBox="1"/>
          <p:nvPr/>
        </p:nvSpPr>
        <p:spPr>
          <a:xfrm>
            <a:off x="850392" y="28664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Cause</a:t>
            </a:r>
            <a:endParaRPr lang="en-US" sz="1800" dirty="0"/>
          </a:p>
        </p:txBody>
      </p:sp>
      <p:sp>
        <p:nvSpPr>
          <p:cNvPr id="15" name="match-card"/>
          <p:cNvSpPr/>
          <p:nvPr/>
        </p:nvSpPr>
        <p:spPr>
          <a:xfrm>
            <a:off x="4224437" y="2672080"/>
            <a:ext cx="7190019" cy="721360"/>
          </a:xfrm>
          <a:prstGeom prst="roundRect">
            <a:avLst>
              <a:gd name="adj" fmla="val 10141"/>
            </a:avLst>
          </a:prstGeom>
          <a:solidFill>
            <a:srgbClr val="F8F2E9"/>
          </a:solidFill>
          <a:ln/>
        </p:spPr>
      </p:sp>
      <p:sp>
        <p:nvSpPr>
          <p:cNvPr id="16" name="match-hex"/>
          <p:cNvSpPr/>
          <p:nvPr/>
        </p:nvSpPr>
        <p:spPr>
          <a:xfrm>
            <a:off x="4297589" y="2866467"/>
            <a:ext cx="384048" cy="332586"/>
          </a:xfrm>
          <a:prstGeom prst="hexagon">
            <a:avLst/>
          </a:prstGeom>
          <a:solidFill>
            <a:srgbClr val="B8862B"/>
          </a:solidFill>
          <a:ln/>
        </p:spPr>
      </p:sp>
      <p:sp>
        <p:nvSpPr>
          <p:cNvPr id="17" name="match-hex-label"/>
          <p:cNvSpPr txBox="1"/>
          <p:nvPr/>
        </p:nvSpPr>
        <p:spPr>
          <a:xfrm>
            <a:off x="4297589" y="28664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Rescue teams, tents and medical help were sent to the affected area</a:t>
            </a:r>
            <a:endParaRPr lang="en-US" sz="1800" dirty="0"/>
          </a:p>
        </p:txBody>
      </p:sp>
      <p:sp>
        <p:nvSpPr>
          <p:cNvPr id="19" name="match-card"/>
          <p:cNvSpPr/>
          <p:nvPr/>
        </p:nvSpPr>
        <p:spPr>
          <a:xfrm>
            <a:off x="777240" y="3484880"/>
            <a:ext cx="3081437" cy="721360"/>
          </a:xfrm>
          <a:prstGeom prst="roundRect">
            <a:avLst>
              <a:gd name="adj" fmla="val 10141"/>
            </a:avLst>
          </a:prstGeom>
          <a:solidFill>
            <a:srgbClr val="F3F5F3"/>
          </a:solidFill>
          <a:ln/>
        </p:spPr>
      </p:sp>
      <p:sp>
        <p:nvSpPr>
          <p:cNvPr id="20" name="match-hex"/>
          <p:cNvSpPr/>
          <p:nvPr/>
        </p:nvSpPr>
        <p:spPr>
          <a:xfrm>
            <a:off x="850392" y="3679267"/>
            <a:ext cx="384048" cy="332586"/>
          </a:xfrm>
          <a:prstGeom prst="hexagon">
            <a:avLst/>
          </a:prstGeom>
          <a:solidFill>
            <a:srgbClr val="3F6B4A"/>
          </a:solidFill>
          <a:ln/>
        </p:spPr>
      </p:sp>
      <p:sp>
        <p:nvSpPr>
          <p:cNvPr id="21" name="match-hex-label"/>
          <p:cNvSpPr txBox="1"/>
          <p:nvPr/>
        </p:nvSpPr>
        <p:spPr>
          <a:xfrm>
            <a:off x="850392" y="36792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84880"/>
            <a:ext cx="2487077"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Social effect</a:t>
            </a:r>
            <a:endParaRPr lang="en-US" sz="1800" dirty="0"/>
          </a:p>
        </p:txBody>
      </p:sp>
      <p:sp>
        <p:nvSpPr>
          <p:cNvPr id="23" name="match-card"/>
          <p:cNvSpPr/>
          <p:nvPr/>
        </p:nvSpPr>
        <p:spPr>
          <a:xfrm>
            <a:off x="4224437" y="3484880"/>
            <a:ext cx="7190019" cy="721360"/>
          </a:xfrm>
          <a:prstGeom prst="roundRect">
            <a:avLst>
              <a:gd name="adj" fmla="val 10141"/>
            </a:avLst>
          </a:prstGeom>
          <a:solidFill>
            <a:srgbClr val="F8F2E9"/>
          </a:solidFill>
          <a:ln/>
        </p:spPr>
      </p:sp>
      <p:sp>
        <p:nvSpPr>
          <p:cNvPr id="24" name="match-hex"/>
          <p:cNvSpPr/>
          <p:nvPr/>
        </p:nvSpPr>
        <p:spPr>
          <a:xfrm>
            <a:off x="4297589" y="3679267"/>
            <a:ext cx="384048" cy="332586"/>
          </a:xfrm>
          <a:prstGeom prst="hexagon">
            <a:avLst/>
          </a:prstGeom>
          <a:solidFill>
            <a:srgbClr val="B8862B"/>
          </a:solidFill>
          <a:ln/>
        </p:spPr>
      </p:sp>
      <p:sp>
        <p:nvSpPr>
          <p:cNvPr id="25" name="match-hex-label"/>
          <p:cNvSpPr txBox="1"/>
          <p:nvPr/>
        </p:nvSpPr>
        <p:spPr>
          <a:xfrm>
            <a:off x="4297589" y="36792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84880"/>
            <a:ext cx="6595659" cy="72136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Factories, roads and shops were damaged and cost a great deal to rebuild</a:t>
            </a:r>
            <a:endParaRPr lang="en-US" sz="1800" dirty="0"/>
          </a:p>
        </p:txBody>
      </p:sp>
      <p:sp>
        <p:nvSpPr>
          <p:cNvPr id="27" name="match-card"/>
          <p:cNvSpPr/>
          <p:nvPr/>
        </p:nvSpPr>
        <p:spPr>
          <a:xfrm>
            <a:off x="777240" y="4297680"/>
            <a:ext cx="3081437" cy="493776"/>
          </a:xfrm>
          <a:prstGeom prst="roundRect">
            <a:avLst>
              <a:gd name="adj" fmla="val 14815"/>
            </a:avLst>
          </a:prstGeom>
          <a:solidFill>
            <a:srgbClr val="F3F5F3"/>
          </a:solidFill>
          <a:ln/>
        </p:spPr>
      </p:sp>
      <p:sp>
        <p:nvSpPr>
          <p:cNvPr id="28" name="match-hex"/>
          <p:cNvSpPr/>
          <p:nvPr/>
        </p:nvSpPr>
        <p:spPr>
          <a:xfrm>
            <a:off x="850392" y="4378275"/>
            <a:ext cx="384048" cy="332586"/>
          </a:xfrm>
          <a:prstGeom prst="hexagon">
            <a:avLst/>
          </a:prstGeom>
          <a:solidFill>
            <a:srgbClr val="3F6B4A"/>
          </a:solidFill>
          <a:ln/>
        </p:spPr>
      </p:sp>
      <p:sp>
        <p:nvSpPr>
          <p:cNvPr id="29" name="match-hex-label"/>
          <p:cNvSpPr txBox="1"/>
          <p:nvPr/>
        </p:nvSpPr>
        <p:spPr>
          <a:xfrm>
            <a:off x="850392" y="43782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97680"/>
            <a:ext cx="2487077"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Economic effect</a:t>
            </a:r>
            <a:endParaRPr lang="en-US" sz="1800" dirty="0"/>
          </a:p>
        </p:txBody>
      </p:sp>
      <p:sp>
        <p:nvSpPr>
          <p:cNvPr id="31" name="match-card"/>
          <p:cNvSpPr/>
          <p:nvPr/>
        </p:nvSpPr>
        <p:spPr>
          <a:xfrm>
            <a:off x="4224437" y="4297680"/>
            <a:ext cx="7190019" cy="493776"/>
          </a:xfrm>
          <a:prstGeom prst="roundRect">
            <a:avLst>
              <a:gd name="adj" fmla="val 14815"/>
            </a:avLst>
          </a:prstGeom>
          <a:solidFill>
            <a:srgbClr val="F8F2E9"/>
          </a:solidFill>
          <a:ln/>
        </p:spPr>
      </p:sp>
      <p:sp>
        <p:nvSpPr>
          <p:cNvPr id="32" name="match-hex"/>
          <p:cNvSpPr/>
          <p:nvPr/>
        </p:nvSpPr>
        <p:spPr>
          <a:xfrm>
            <a:off x="4297589" y="4378275"/>
            <a:ext cx="384048" cy="332586"/>
          </a:xfrm>
          <a:prstGeom prst="hexagon">
            <a:avLst/>
          </a:prstGeom>
          <a:solidFill>
            <a:srgbClr val="B8862B"/>
          </a:solidFill>
          <a:ln/>
        </p:spPr>
      </p:sp>
      <p:sp>
        <p:nvSpPr>
          <p:cNvPr id="33" name="match-hex-label"/>
          <p:cNvSpPr txBox="1"/>
          <p:nvPr/>
        </p:nvSpPr>
        <p:spPr>
          <a:xfrm>
            <a:off x="4297589" y="43782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97680"/>
            <a:ext cx="65956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Landslides buried hillsides and blocked rivers</a:t>
            </a:r>
            <a:endParaRPr lang="en-US" sz="1800" dirty="0"/>
          </a:p>
        </p:txBody>
      </p:sp>
      <p:sp>
        <p:nvSpPr>
          <p:cNvPr id="35" name="match-card"/>
          <p:cNvSpPr/>
          <p:nvPr/>
        </p:nvSpPr>
        <p:spPr>
          <a:xfrm>
            <a:off x="777240" y="4882896"/>
            <a:ext cx="3081437" cy="493776"/>
          </a:xfrm>
          <a:prstGeom prst="roundRect">
            <a:avLst>
              <a:gd name="adj" fmla="val 14815"/>
            </a:avLst>
          </a:prstGeom>
          <a:solidFill>
            <a:srgbClr val="F3F5F3"/>
          </a:solidFill>
          <a:ln/>
        </p:spPr>
      </p:sp>
      <p:sp>
        <p:nvSpPr>
          <p:cNvPr id="36" name="match-hex"/>
          <p:cNvSpPr/>
          <p:nvPr/>
        </p:nvSpPr>
        <p:spPr>
          <a:xfrm>
            <a:off x="850392" y="4963491"/>
            <a:ext cx="384048" cy="332586"/>
          </a:xfrm>
          <a:prstGeom prst="hexagon">
            <a:avLst/>
          </a:prstGeom>
          <a:solidFill>
            <a:srgbClr val="3F6B4A"/>
          </a:solidFill>
          <a:ln/>
        </p:spPr>
      </p:sp>
      <p:sp>
        <p:nvSpPr>
          <p:cNvPr id="37" name="match-hex-label"/>
          <p:cNvSpPr txBox="1"/>
          <p:nvPr/>
        </p:nvSpPr>
        <p:spPr>
          <a:xfrm>
            <a:off x="850392" y="49634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882896"/>
            <a:ext cx="2487077"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Environmental effect</a:t>
            </a:r>
            <a:endParaRPr lang="en-US" sz="1800" dirty="0"/>
          </a:p>
        </p:txBody>
      </p:sp>
      <p:sp>
        <p:nvSpPr>
          <p:cNvPr id="39" name="match-card"/>
          <p:cNvSpPr/>
          <p:nvPr/>
        </p:nvSpPr>
        <p:spPr>
          <a:xfrm>
            <a:off x="4224437" y="4882896"/>
            <a:ext cx="7190019" cy="493776"/>
          </a:xfrm>
          <a:prstGeom prst="roundRect">
            <a:avLst>
              <a:gd name="adj" fmla="val 14815"/>
            </a:avLst>
          </a:prstGeom>
          <a:solidFill>
            <a:srgbClr val="F8F2E9"/>
          </a:solidFill>
          <a:ln/>
        </p:spPr>
      </p:sp>
      <p:sp>
        <p:nvSpPr>
          <p:cNvPr id="40" name="match-hex"/>
          <p:cNvSpPr/>
          <p:nvPr/>
        </p:nvSpPr>
        <p:spPr>
          <a:xfrm>
            <a:off x="4297589" y="4963491"/>
            <a:ext cx="384048" cy="332586"/>
          </a:xfrm>
          <a:prstGeom prst="hexagon">
            <a:avLst/>
          </a:prstGeom>
          <a:solidFill>
            <a:srgbClr val="B8862B"/>
          </a:solidFill>
          <a:ln/>
        </p:spPr>
      </p:sp>
      <p:sp>
        <p:nvSpPr>
          <p:cNvPr id="41" name="match-hex-label"/>
          <p:cNvSpPr txBox="1"/>
          <p:nvPr/>
        </p:nvSpPr>
        <p:spPr>
          <a:xfrm>
            <a:off x="4297589" y="49634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882896"/>
            <a:ext cx="65956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Thousands of people lost their homes and schools were destroyed</a:t>
            </a:r>
            <a:endParaRPr lang="en-US" sz="1800" dirty="0"/>
          </a:p>
        </p:txBody>
      </p:sp>
      <p:sp>
        <p:nvSpPr>
          <p:cNvPr id="43" name="match-card"/>
          <p:cNvSpPr/>
          <p:nvPr/>
        </p:nvSpPr>
        <p:spPr>
          <a:xfrm>
            <a:off x="777240" y="5468112"/>
            <a:ext cx="3081437" cy="493776"/>
          </a:xfrm>
          <a:prstGeom prst="roundRect">
            <a:avLst>
              <a:gd name="adj" fmla="val 14815"/>
            </a:avLst>
          </a:prstGeom>
          <a:solidFill>
            <a:srgbClr val="F3F5F3"/>
          </a:solidFill>
          <a:ln/>
        </p:spPr>
      </p:sp>
      <p:sp>
        <p:nvSpPr>
          <p:cNvPr id="44" name="match-hex"/>
          <p:cNvSpPr/>
          <p:nvPr/>
        </p:nvSpPr>
        <p:spPr>
          <a:xfrm>
            <a:off x="850392" y="5548707"/>
            <a:ext cx="384048" cy="332586"/>
          </a:xfrm>
          <a:prstGeom prst="hexagon">
            <a:avLst/>
          </a:prstGeom>
          <a:solidFill>
            <a:srgbClr val="3F6B4A"/>
          </a:solidFill>
          <a:ln/>
        </p:spPr>
      </p:sp>
      <p:sp>
        <p:nvSpPr>
          <p:cNvPr id="45" name="match-hex-label"/>
          <p:cNvSpPr txBox="1"/>
          <p:nvPr/>
        </p:nvSpPr>
        <p:spPr>
          <a:xfrm>
            <a:off x="850392" y="55487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68112"/>
            <a:ext cx="2487077"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Response</a:t>
            </a:r>
            <a:endParaRPr lang="en-US" sz="1800" dirty="0"/>
          </a:p>
        </p:txBody>
      </p:sp>
      <p:sp>
        <p:nvSpPr>
          <p:cNvPr id="47" name="match-card"/>
          <p:cNvSpPr/>
          <p:nvPr/>
        </p:nvSpPr>
        <p:spPr>
          <a:xfrm>
            <a:off x="4224437" y="5468112"/>
            <a:ext cx="7190019" cy="493776"/>
          </a:xfrm>
          <a:prstGeom prst="roundRect">
            <a:avLst>
              <a:gd name="adj" fmla="val 14815"/>
            </a:avLst>
          </a:prstGeom>
          <a:solidFill>
            <a:srgbClr val="F8F2E9"/>
          </a:solidFill>
          <a:ln/>
        </p:spPr>
      </p:sp>
      <p:sp>
        <p:nvSpPr>
          <p:cNvPr id="48" name="match-hex"/>
          <p:cNvSpPr/>
          <p:nvPr/>
        </p:nvSpPr>
        <p:spPr>
          <a:xfrm>
            <a:off x="4297589" y="5548707"/>
            <a:ext cx="384048" cy="332586"/>
          </a:xfrm>
          <a:prstGeom prst="hexagon">
            <a:avLst/>
          </a:prstGeom>
          <a:solidFill>
            <a:srgbClr val="B8862B"/>
          </a:solidFill>
          <a:ln/>
        </p:spPr>
      </p:sp>
      <p:sp>
        <p:nvSpPr>
          <p:cNvPr id="49" name="match-hex-label"/>
          <p:cNvSpPr txBox="1"/>
          <p:nvPr/>
        </p:nvSpPr>
        <p:spPr>
          <a:xfrm>
            <a:off x="4297589" y="55487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468112"/>
            <a:ext cx="6595659" cy="49377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Moving plates released pressure that had built up between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Sorting a case study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Sorting a case study</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Cause is what made it happen; everything else is what happened afterwards.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Effects are sorted by what they hit: people (social), money (economic) or the land (environmental).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Response is what people did to help after the event.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example and ask: is this before (cause), what was hit (effect), or help afterwards (response)?</a:t>
            </a:r>
            <a:endParaRPr lang="en-US" sz="1800" dirty="0"/>
          </a:p>
        </p:txBody>
      </p:sp>
      <p:sp>
        <p:nvSpPr>
          <p:cNvPr id="17" name="col-Core"/>
          <p:cNvSpPr/>
          <p:nvPr/>
        </p:nvSpPr>
        <p:spPr>
          <a:xfrm>
            <a:off x="6425403" y="2395728"/>
            <a:ext cx="2471666" cy="3749040"/>
          </a:xfrm>
          <a:prstGeom prst="roundRect">
            <a:avLst>
              <a:gd name="adj" fmla="val 2220"/>
            </a:avLst>
          </a:prstGeom>
          <a:solidFill>
            <a:srgbClr val="D8E1DA"/>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Before, what was hit (people, money or land), and help afterwards.</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Many effects fit more than one heading. Explain why a destroyed school could count as both a social and an economic effect.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Twelve hours later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An earthquake strikes a city in the middle of the afternoon. Explain how the damage and loss of life might have been different if it had struck 12 hours later, in the middle of the night. (4 marks)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4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Twelve hours later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Twelve hours later</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where are people in the afternoon? Schools, workplaces, outside.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where are people at night? Asleep at home. Say what that means for the buildings they are in.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think about the rescuers. What is harder in the dark?</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decide. More or less loss of life at night? Give your reason.</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Where people are, what buildings they are in, how rescue is affected, then your judgement.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answer to this question might be different for a rich country and a poor one, using the idea that earthquakes do not kill people directly.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Farmers grow tomatoes on the slopes of Mount Vesuvius in Italy, even though it is an active volcano. Why?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land there is free because nobody else wants it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There are never any earthquakes near a volcano</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Volcanic ash has made the soil very fertile, so crops grow well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heat from the lava keeps the plants warm all year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Sorting a case study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Cause  →  E  Moving plates released pressure that had built up between them</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Social effect  →  D  Thousands of people lost their homes and schools were destroyed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Economic effect  →  B  Factories, roads and shops were damaged and cost a great deal to rebuild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Environmental effect  →  C  Landslides buried hillsides and blocked rivers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Response  →  A  Rescue teams, tents and medical help were sent to the affected area</a:t>
            </a:r>
            <a:endParaRPr lang="en-US" sz="20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Cause comes first; social effects are on people, economic on money and property, environmental on the land; the response is the help given afterwards.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Twelve hours later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1083056"/>
          </a:xfrm>
          <a:prstGeom prst="roundRect">
            <a:avLst>
              <a:gd name="adj" fmla="val 8443"/>
            </a:avLst>
          </a:prstGeom>
          <a:solidFill>
            <a:srgbClr val="F3F5F3"/>
          </a:solidFill>
          <a:ln/>
        </p:spPr>
      </p:sp>
      <p:sp>
        <p:nvSpPr>
          <p:cNvPr id="9" name="tickbox"/>
          <p:cNvSpPr/>
          <p:nvPr/>
        </p:nvSpPr>
        <p:spPr>
          <a:xfrm>
            <a:off x="713232" y="2379472"/>
            <a:ext cx="292608" cy="292608"/>
          </a:xfrm>
          <a:prstGeom prst="rect">
            <a:avLst/>
          </a:prstGeom>
          <a:solidFill>
            <a:srgbClr val="FFFFFF"/>
          </a:solidFill>
          <a:ln w="19050">
            <a:solidFill>
              <a:srgbClr val="3F6B4A"/>
            </a:solidFill>
            <a:prstDash val="solid"/>
          </a:ln>
        </p:spPr>
      </p:sp>
      <p:sp>
        <p:nvSpPr>
          <p:cNvPr id="10" name="crit"/>
          <p:cNvSpPr txBox="1"/>
          <p:nvPr/>
        </p:nvSpPr>
        <p:spPr>
          <a:xfrm>
            <a:off x="1143000" y="1984248"/>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Says where people are at each time: in the afternoon at school, at work or outside; at night asleep at home</a:t>
            </a:r>
            <a:endParaRPr lang="en-US" sz="2200" dirty="0"/>
          </a:p>
        </p:txBody>
      </p:sp>
      <p:sp>
        <p:nvSpPr>
          <p:cNvPr id="11" name="crit-box"/>
          <p:cNvSpPr/>
          <p:nvPr/>
        </p:nvSpPr>
        <p:spPr>
          <a:xfrm>
            <a:off x="548640" y="3158744"/>
            <a:ext cx="11094415" cy="1083056"/>
          </a:xfrm>
          <a:prstGeom prst="roundRect">
            <a:avLst>
              <a:gd name="adj" fmla="val 8443"/>
            </a:avLst>
          </a:prstGeom>
          <a:solidFill>
            <a:srgbClr val="F3F5F3"/>
          </a:solidFill>
          <a:ln/>
        </p:spPr>
      </p:sp>
      <p:sp>
        <p:nvSpPr>
          <p:cNvPr id="12" name="tickbox"/>
          <p:cNvSpPr/>
          <p:nvPr/>
        </p:nvSpPr>
        <p:spPr>
          <a:xfrm>
            <a:off x="713232" y="3553968"/>
            <a:ext cx="292608" cy="292608"/>
          </a:xfrm>
          <a:prstGeom prst="rect">
            <a:avLst/>
          </a:prstGeom>
          <a:solidFill>
            <a:srgbClr val="FFFFFF"/>
          </a:solidFill>
          <a:ln w="19050">
            <a:solidFill>
              <a:srgbClr val="3F6B4A"/>
            </a:solidFill>
            <a:prstDash val="solid"/>
          </a:ln>
        </p:spPr>
      </p:sp>
      <p:sp>
        <p:nvSpPr>
          <p:cNvPr id="13" name="crit"/>
          <p:cNvSpPr txBox="1"/>
          <p:nvPr/>
        </p:nvSpPr>
        <p:spPr>
          <a:xfrm>
            <a:off x="1143000" y="3158744"/>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Links where people are to the buildings they are in and how those buildings cope with shaking</a:t>
            </a:r>
            <a:endParaRPr lang="en-US" sz="2200" dirty="0"/>
          </a:p>
        </p:txBody>
      </p:sp>
      <p:sp>
        <p:nvSpPr>
          <p:cNvPr id="14" name="crit-box"/>
          <p:cNvSpPr/>
          <p:nvPr/>
        </p:nvSpPr>
        <p:spPr>
          <a:xfrm>
            <a:off x="548640" y="4333240"/>
            <a:ext cx="11094415" cy="742188"/>
          </a:xfrm>
          <a:prstGeom prst="roundRect">
            <a:avLst>
              <a:gd name="adj" fmla="val 12320"/>
            </a:avLst>
          </a:prstGeom>
          <a:solidFill>
            <a:srgbClr val="F3F5F3"/>
          </a:solidFill>
          <a:ln/>
        </p:spPr>
      </p:sp>
      <p:sp>
        <p:nvSpPr>
          <p:cNvPr id="15" name="tickbox"/>
          <p:cNvSpPr/>
          <p:nvPr/>
        </p:nvSpPr>
        <p:spPr>
          <a:xfrm>
            <a:off x="713232" y="4558030"/>
            <a:ext cx="292608" cy="292608"/>
          </a:xfrm>
          <a:prstGeom prst="rect">
            <a:avLst/>
          </a:prstGeom>
          <a:solidFill>
            <a:srgbClr val="FFFFFF"/>
          </a:solidFill>
          <a:ln w="19050">
            <a:solidFill>
              <a:srgbClr val="3F6B4A"/>
            </a:solidFill>
            <a:prstDash val="solid"/>
          </a:ln>
        </p:spPr>
      </p:sp>
      <p:sp>
        <p:nvSpPr>
          <p:cNvPr id="16" name="crit"/>
          <p:cNvSpPr txBox="1"/>
          <p:nvPr/>
        </p:nvSpPr>
        <p:spPr>
          <a:xfrm>
            <a:off x="1143000" y="4333240"/>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Considers the rescue: darkness makes it harder to find and reach trapped people</a:t>
            </a:r>
            <a:endParaRPr lang="en-US" sz="2200" dirty="0"/>
          </a:p>
        </p:txBody>
      </p:sp>
      <p:sp>
        <p:nvSpPr>
          <p:cNvPr id="17" name="crit-box"/>
          <p:cNvSpPr/>
          <p:nvPr/>
        </p:nvSpPr>
        <p:spPr>
          <a:xfrm>
            <a:off x="548640" y="5166868"/>
            <a:ext cx="11094415" cy="742188"/>
          </a:xfrm>
          <a:prstGeom prst="roundRect">
            <a:avLst>
              <a:gd name="adj" fmla="val 12320"/>
            </a:avLst>
          </a:prstGeom>
          <a:solidFill>
            <a:srgbClr val="F3F5F3"/>
          </a:solidFill>
          <a:ln/>
        </p:spPr>
      </p:sp>
      <p:sp>
        <p:nvSpPr>
          <p:cNvPr id="18" name="tickbox"/>
          <p:cNvSpPr/>
          <p:nvPr/>
        </p:nvSpPr>
        <p:spPr>
          <a:xfrm>
            <a:off x="713232" y="5391658"/>
            <a:ext cx="292608" cy="292608"/>
          </a:xfrm>
          <a:prstGeom prst="rect">
            <a:avLst/>
          </a:prstGeom>
          <a:solidFill>
            <a:srgbClr val="FFFFFF"/>
          </a:solidFill>
          <a:ln w="19050">
            <a:solidFill>
              <a:srgbClr val="3F6B4A"/>
            </a:solidFill>
            <a:prstDash val="solid"/>
          </a:ln>
        </p:spPr>
      </p:sp>
      <p:sp>
        <p:nvSpPr>
          <p:cNvPr id="19" name="crit"/>
          <p:cNvSpPr txBox="1"/>
          <p:nvPr/>
        </p:nvSpPr>
        <p:spPr>
          <a:xfrm>
            <a:off x="1143000" y="516686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Reaches a clear judgement (more or less loss of life) and gives a reason for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Model answer: Twelve hours later</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the middle of the afternoon most children are in school and many adults are at work or outside, so whether people are hurt depends on how well schools, offices and factories stand up to shaking. Twelve hours later, in the middle of the night, almost everyone is asleep at home, so it is the strength of houses that matters most, and people are slower to react because they are woken suddenly. Rescue is also harder in the dark, as teams cannot see collapsed buildings or trapped people easily. Overall I think a night-time earthquake could cause more loss of life if homes are weaker than the daytime buildings, but if schools were poorly built the afternoon would be worse, so the answer depends on which buildings are the weakest.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Farmers grow tomatoes on the slopes of Mount Vesuvius in Italy, even though it is an active volcano. Why?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Volcanic ash has made the soil very fertile, so crops grow well</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Volcanic ash breaks down into mineral-rich, fertile soil, so the slopes of Vesuvius are excellent farmland despite the risk.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Tectonic Processes · Chapter 5: Living with earthquakes and volcanoes</dc:title>
  <dc:subject>Geography · Year 8</dc:subject>
  <dc:creator>Dr Vitor Merissi de Carvalho</dc:creator>
  <cp:lastModifiedBy>Dr Vitor Merissi de Carvalho</cp:lastModifiedBy>
  <cp:revision>1</cp:revision>
  <dcterms:created xsi:type="dcterms:W3CDTF">2026-10-19T16:22:58Z</dcterms:created>
  <dcterms:modified xsi:type="dcterms:W3CDTF">2026-10-19T16:22:58Z</dcterms:modified>
</cp:coreProperties>
</file>