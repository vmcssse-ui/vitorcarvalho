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5c54af7-3121-8447-b2b1-a8cb8acd9203}">
          <p14:sldIdLst>
            <p14:sldId id="256"/>
          </p14:sldIdLst>
        </p14:section>
        <p14:section name="Gate" id="{8e148878-0e12-2a79-f0dd-a59af9aadfa6}">
          <p14:sldIdLst>
            <p14:sldId id="257"/>
            <p14:sldId id="258"/>
          </p14:sldIdLst>
        </p14:section>
        <p14:section name="Pre-teach" id="{888eb999-c78c-01df-1378-bd4447658d84}">
          <p14:sldIdLst>
            <p14:sldId id="259"/>
            <p14:sldId id="260"/>
          </p14:sldIdLst>
        </p14:section>
        <p14:section name="Read-along" id="{b791403b-126e-7b7c-64e9-c88e0c0041f7}">
          <p14:sldIdLst>
            <p14:sldId id="261"/>
            <p14:sldId id="262"/>
          </p14:sldIdLst>
        </p14:section>
        <p14:section name="Teach" id="{f8c01330-3e5c-665e-41f8-72010a0f3b21}">
          <p14:sldIdLst>
            <p14:sldId id="263"/>
            <p14:sldId id="264"/>
            <p14:sldId id="265"/>
            <p14:sldId id="266"/>
            <p14:sldId id="267"/>
            <p14:sldId id="268"/>
          </p14:sldIdLst>
        </p14:section>
        <p14:section name="Routes" id="{0b365dcd-fc3d-4f8a-61bc-c54ec50adca1}">
          <p14:sldIdLst>
            <p14:sldId id="269"/>
            <p14:sldId id="270"/>
            <p14:sldId id="271"/>
            <p14:sldId id="272"/>
          </p14:sldIdLst>
        </p14:section>
        <p14:section name="Close" id="{a3b539bc-eedf-3db0-4846-a658f644133b}">
          <p14:sldIdLst>
            <p14:sldId id="273"/>
          </p14:sldIdLst>
        </p14:section>
        <p14:section name="Answers" id="{caa6f27d-77ed-edc2-2162-d881633e99bf}">
          <p14:sldIdLst>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of 6: The generator effect: alternators, dynamos and microphones. How moving a wire through a magnetic field makes a potential difference, what decides its size and direction, and how alternators, dynamos and microphones put it to work. (Physics only, Higher.)
This deck covers the department's lessons: 5 (P15.5 The generator effect (H): How can moving a wire or a magnet make a potential difference, and what decides its size and direction?); 6 (P15.6 The alternating current generator (H): How do an alternator, a dynamo, a microphone and a loudspeaker use coils and magnets?).
Read the big question aloud: "How can a coil of wire and a magnet turn electricity into movement, movement into electricity, and 230 V into 400 000 V?"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A wire is moved through a magnetic field. What is induced across the ends of the wire?  →  A   A potential difference
2. The magnetic field produced by an induced current always ___ the change that caused it.  →  opposes
3. Why does an alternator produce an alternating current?  →  A   Each side of the coil moves down through the field, then up, so the induced p.d. keeps reversing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A   A potential difference. Relative motion between a conductor and a magnetic field induces a potential difference. A current flows only if there is a complete circuit.
2. opposes. This is why a coil pushes back on a magnet being pushed into it, and why generators are hard to turn.
3. A   Each side of the coil moves down through the field, then up, so the induced p.d. keeps reversing. The direction of the induced p.d. depends on the direction of motion through the field, and each side of the spinning coil reverses its motion every half turn.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induce: to cause something to appear without touching, here a potential difference. Example: "Moving the magnet into the coil induces a potential difference."
• potential difference: the electrical push across two points, measured in volts. Example: "The voltmeter showed a potential difference while the wire moved."
• generator: a machine that turns movement into electricity. Example: "A bike dynamo is a small generator."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alternator: a generator that gives an alternating current. Example: "Power stations use huge alternators."
• slip rings: two complete rings that connect a spinning coil to the outside circuit. Example: "An alternator uses slip rings, not a split ring."
• diaphragm: a thin, flexible sheet that vibrates when sound hits it. Example: "The microphone's diaphragm moves with the sound wave."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Move a wire through a magnetic field and something happens.
2. A potential difference appears across the ends of the wire.
3. We say it is induced.
4. If the wire is part of a complete circuit, a current flows.
5. This is the generator effect.
6. Moving the magnet instead of the wire works just as well.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Nothing happens if neither one moves.
8. A faster movement, a stronger magnet or more turns gives a bigger potential difference.
9. Move the other way and the potential difference reverses.
10. An alternator spins a coil in a field to make alternating current.
11. A dynamo uses a split ring to make direct current.
12. A microphone uses the generator effect to turn sound into an electrical signal.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Movement makes a potential difference. Say it in your own words, then check understanding with a quick question: ask a pupil from the pre-teach group first, since they met these words and ideas before the lesson. Pupils try to recall before you re-explain.
The motor effect turns a current into movement. The generator effect is the reverse: movement makes electricity. If a conductor, such as a wire, moves relative to a magnetic field, or if the magnetic field around a conductor changes, a potential difference is induced across the ends of the conductor.
That potential difference exists whether or not anything is connected. If the conductor is part of a complete circuit, the induced potential difference drives an induced current round the circuit. A voltmeter across the ends shows the p.d.; an ammeter in the loop shows the current.
It is the relative motion that matters. You can move the wire through the field, move the magnet past the wire, or spin either one. Hold both still and nothing is induced: a wire sitting in a steady field gives no reading at all.
Tip: Two words the examiner wants: 'relative motion' (or 'changing field') and 'induced'. No motion, no change: nothing induced.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Size and direction of the induced p.d.. Say it in your own words, then check understanding with a quick question: ask a pupil from the pre-teach group first, since they met these words and ideas before the lesson. Pupils try to recall before you re-explain.
Three things make the induced potential difference bigger: moving faster, so the wire cuts the field lines more quickly; using a stronger magnet, so there are more field lines to cut; and using a coil with more turns, since each turn has a p.d. induced in it and they add up. The department's simulation shows the ammeter reading jump from 1 to 10 when the field, the number of loops or the speed is increased.
Reverse the direction of movement and the induced p.d. reverses. Reverse the magnetic field, by swapping the poles, and it reverses too. Push a magnet into a coil and the needle flicks one way; pull it out and the needle flicks the other way.
There is a rule hidden in that. An induced current produces its own magnetic field, and that field always opposes the change that made it. Push a north pole into a coil and the near end of the coil becomes a north pole, repelling the magnet. Pull it out and the near end becomes a south pole, attracting it. Either way the coil resists the movement, which is why it takes effort to turn a generator.
Worked example — model it step by step, thinking aloud: A pupil pushes the north pole of a magnet into a coil connected to a sensitive ammeter. Describe what happens to the ammeter and the coil, and what the pupil would notice if she pulled the magnet out faster. (4 marks) (1) As the magnet moves in, the field through the coil changes, so a p.d. is induced and a current flows: the needle flicks one way. (2) The induced current makes the near end of the coil a north pole, opposing the magnet's approach, so the coil pushes back on the magnet. (3) Pulling the magnet out reverses the change, so the current, and the needle, go the other way. (4) Pulling out faster means a bigger induced p.d. and current, so the needle flicks further. Answer: The needle flicks one way as the magnet goes in and the coil repels it; pulled out, the needle flicks the other way and the coil attracts it; pulled out faster, the needle flicks further..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Size and direction of the induced p.d.. Say it in your own words, then check understanding with a quick question: ask a pupil from the pre-teach group first, since they met these words and ideas before the lesson. Pupils try to recall before you re-explain.
Three things make the induced potential difference bigger: moving faster, so the wire cuts the field lines more quickly; using a stronger magnet, so there are more field lines to cut; and using a coil with more turns, since each turn has a p.d. induced in it and they add up. The department's simulation shows the ammeter reading jump from 1 to 10 when the field, the number of loops or the speed is increased.
Reverse the direction of movement and the induced p.d. reverses. Reverse the magnetic field, by swapping the poles, and it reverses too. Push a magnet into a coil and the needle flicks one way; pull it out and the needle flicks the other way.
There is a rule hidden in that. An induced current produces its own magnetic field, and that field always opposes the change that made it. Push a north pole into a coil and the near end of the coil becomes a north pole, repelling the magnet. Pull it out and the near end becomes a south pole, attracting it. Either way the coil resists the movement, which is why it takes effort to turn a generator.
Worked example — model it step by step, thinking aloud: A pupil pushes the north pole of a magnet into a coil connected to a sensitive ammeter. Describe what happens to the ammeter and the coil, and what the pupil would notice if she pulled the magnet out faster. (4 marks) (1) As the magnet moves in, the field through the coil changes, so a p.d. is induced and a current flows: the needle flicks one way. (2) The induced current makes the near end of the coil a north pole, opposing the magnet's approach, so the coil pushes back on the magnet. (3) Pulling the magnet out reverses the change, so the current, and the needle, go the other way. (4) Pulling out faster means a bigger induced p.d. and current, so the needle flicks further. Answer: The needle flicks one way as the magnet goes in and the coil repels it; pulled out, the needle flicks the other way and the coil attracts it; pulled out faster, the needle flicks further..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Size and direction of the induced p.d.. Say it in your own words, then check understanding with a quick question: ask a pupil from the pre-teach group first, since they met these words and ideas before the lesson. Pupils try to recall before you re-explain.
Three things make the induced potential difference bigger: moving faster, so the wire cuts the field lines more quickly; using a stronger magnet, so there are more field lines to cut; and using a coil with more turns, since each turn has a p.d. induced in it and they add up. The department's simulation shows the ammeter reading jump from 1 to 10 when the field, the number of loops or the speed is increased.
Reverse the direction of movement and the induced p.d. reverses. Reverse the magnetic field, by swapping the poles, and it reverses too. Push a magnet into a coil and the needle flicks one way; pull it out and the needle flicks the other way.
There is a rule hidden in that. An induced current produces its own magnetic field, and that field always opposes the change that made it. Push a north pole into a coil and the near end of the coil becomes a north pole, repelling the magnet. Pull it out and the near end becomes a south pole, attracting it. Either way the coil resists the movement, which is why it takes effort to turn a generator.
Worked example — model it step by step, thinking aloud: A pupil pushes the north pole of a magnet into a coil connected to a sensitive ammeter. Describe what happens to the ammeter and the coil, and what the pupil would notice if she pulled the magnet out faster. (4 marks) (1) As the magnet moves in, the field through the coil changes, so a p.d. is induced and a current flows: the needle flicks one way. (2) The induced current makes the near end of the coil a north pole, opposing the magnet's approach, so the coil pushes back on the magnet. (3) Pulling the magnet out reverses the change, so the current, and the needle, go the other way. (4) Pulling out faster means a bigger induced p.d. and current, so the needle flicks further. Answer: The needle flicks one way as the magnet goes in and the coil repels it; pulled out, the needle flicks the other way and the coil attracts it; pulled out faster, the needle flicks further..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Alternators and dynamos. Say it in your own words, then check understanding with a quick question: ask a pupil from the pre-teach group first, since they met these words and ideas before the lesson. Pupils try to recall before you re-explain.
An alternator is a coil that spins in a uniform magnetic field, with its two ends connected to two slip rings. Brushes press on the rings so the current can be taken off while the coil turns. As each side of the coil sweeps down through the field and then back up, the direction of the induced p.d. keeps reversing: the output is an alternating current.
The size of the induced p.d. changes as the coil turns. It is at its peak when the sides of the coil are cutting straight across the field lines, which happens when the plane of the coil is parallel to the field. It falls to zero when the sides are moving along the field lines, when the plane of the coil is perpendicular to the field. On an oscilloscope the output is a smooth wave crossing zero twice every turn. Spinning the coil faster raises the peak p.d. and raises the frequency of the wave.
A dynamo is the same coil and magnet but with a split-ring commutator instead of slip rings. Every half turn the connections swap, so the output never changes sign. The result is a direct current that rises and falls, from zero to a peak and back, but always in the same direction. A bicycle dynamo lamp flickers at low speed for exactly this reason.
Tip: Alternator: slip rings, a.c., peak when the plane of the coil is parallel to the field. Dynamo: split-ring commutator, d.c. that varies but never reverses.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Microphones. Say it in your own words, then check understanding with a quick question: ask a pupil from the pre-teach group first, since they met these words and ideas before the lesson. Pupils try to recall before you re-explain.
A moving-coil microphone is a loudspeaker working backwards. A thin diaphragm is fixed to a small coil that sits in the field of a permanent magnet. When a sound wave reaches the diaphragm, the compressions and rarefactions of the air push it in and pull it out, so the coil moves backwards and forwards in the field.
A coil moving in a magnetic field has a potential difference induced across it: the generator effect. Because the coil moves with the sound, the induced p.d. rises and falls in time with the pressure variations of the sound wave. The microphone has turned the sound into an electrical signal of the same frequency, which can then be amplified, recorded, or sent to a loudspeaker.
Be careful with the two devices. A loudspeaker takes a current and makes movement: the motor effect. A microphone takes movement and makes a p.d.: the generator effect. The department deck has a slide that puts the microphone under the left-hand rule and the motor effect; that is a slip. A microphone generates.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Make the reading bigger.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coil connected to a voltmeter is moved through a magnetic field. Which change would increase the induced potential difference?
Support — work through the steps with the group: (1) Recall the three ways: faster motion, stronger field, more turns. (2) Check each option against the list. (3) Anything that stops the motion gives zero. (4) Fewer turns goes the wrong way.
Parallel worked example for Support (model it, do not give the task answer): A magnet is dropped through a coil and the ammeter flicks. Suggest two changes that would make it flick further. Use a stronger magnet.; Use a coil with more turns.; (Or drop it from higher so it is moving faster.). Answer: A stronger magnet, more turns on the coil, or a faster-moving magnet..
Core — reveal the hint only on request: Faster, stronger, more turns. Which option is one of these?
Stretch — no help; when finished: Explain why the induced p.d. would reverse if the coil were moved back the other way, and sketch what a voltmeter would show as the coil moves in and then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Make the reading bigger.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coil connected to a voltmeter is moved through a magnetic field. Which change would increase the induced potential difference?
Support — work through the steps with the group: (1) Recall the three ways: faster motion, stronger field, more turns. (2) Check each option against the list. (3) Anything that stops the motion gives zero. (4) Fewer turns goes the wrong way.
Parallel worked example for Support (model it, do not give the task answer): A magnet is dropped through a coil and the ammeter flicks. Suggest two changes that would make it flick further. Use a stronger magnet.; Use a coil with more turns.; (Or drop it from higher so it is moving faster.). Answer: A stronger magnet, more turns on the coil, or a faster-moving magnet..
Core — reveal the hint only on request: Faster, stronger, more turns. Which option is one of these?
Stretch — no help; when finished: Explain why the induced p.d. would reverse if the coil were moved back the other way, and sketch what a voltmeter would show as the coil moves in and then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Alternator or dynamo?.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feature to the device it belongs to.
Support — work through the steps with the group: (1) Slip rings are complete rings: the connections never swap, so the output reverses. (2) A split ring swaps the connections every half turn, so the output never reverses. (3) a.c. goes with the alternator; d.c. goes with the dynamo. (4) The diaphragm is the part that sound moves.
Parallel worked example for Support (model it, do not give the task answer): A d.c. motor and a dynamo look the same. What does each one have as its input and its output? Motor: electrical input, movement out (motor effect).; Dynamo: movement in, electrical output (generator effect).. Answer: Motor: current in, movement out. Dynamo: movement in, d.c. out..
Core — reveal the hint only on request: Complete rings keep the connections; a split ring swaps them. That decides a.c. or d.c.
Stretch — no help; when finished: Describe how the dynamo's output would change if the coil were spun twice as fast, mentioning both the peak value and the frequency.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Alternator or dynamo?.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feature to the device it belongs to.
Support — work through the steps with the group: (1) Slip rings are complete rings: the connections never swap, so the output reverses. (2) A split ring swaps the connections every half turn, so the output never reverses. (3) a.c. goes with the alternator; d.c. goes with the dynamo. (4) The diaphragm is the part that sound moves.
Parallel worked example for Support (model it, do not give the task answer): A d.c. motor and a dynamo look the same. What does each one have as its input and its output? Motor: electrical input, movement out (motor effect).; Dynamo: movement in, electrical output (generator effect).. Answer: Motor: current in, movement out. Dynamo: movement in, d.c. out..
Core — reveal the hint only on request: Complete rings keep the connections; a split ring swaps them. That decides a.c. or d.c.
Stretch — no help; when finished: Describe how the dynamo's output would change if the coil were spun twice as fast, mentioning both the peak value and the frequency.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A wire is moved through a magnetic field. What is induced across the ends of the wire?
Answer: D   A potential difference. Relative motion between a conductor and a magnetic field induces a potential difference. A current flows only if there is a complete circuit.
Source of this question: gate item 1 re-asked (options rotated) — this chapter has no third quick-check module.
The ebook also holds task 3, "Describe the alternator's output (6 marks)",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Make the reading bigger. Reveal the answer; pupils mark their own work in a different colour, then read the "why" together. Same destination for every lane, so one answer serves the whole class.
Answer: A   Moving the coil faster
Why: Faster movement cuts the field lines more quickly, so the induced p.d. is bigger. A stronger field or more turns would also increase it; no motion gives nothing; fewer turns gives less.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Alternator or dynamo?. Reveal the answer; pupils mark their own work in a different colour, then read the "why" together. Same destination for every lane, so one answer serves the whole class.
Answer: Two slip rings  →  E  Alternator; Output that reverses direction every half turn  →  B  Alternator's a.c. output; Split-ring commutator  →  A  Dynamo; Output that varies but always flows the same way  →  D  Dynamo's d.c. output; Diaphragm fixed to a coil  →  C  Microphone
Why: Alternator: slip rings, a.c. that reverses every half turn. Dynamo: split-ring commutator, d.c. that varies but never reverses. Microphone: a diaphragm moves a coil in a field.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D   A potential difference
Why: Relative motion between a conductor and a magnetic field induces a potential difference. A current flows only if there is a complete circuit.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BBC1D1"/>
          </a:solidFill>
          <a:ln w="12700">
            <a:solidFill>
              <a:srgbClr val="BBC1D1"/>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Physics (Triple Science) · Year 11 · Electromagnetism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BBC1D1"/>
          </a:solidFill>
          <a:ln w="12700">
            <a:solidFill>
              <a:srgbClr val="BBC1D1"/>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Physics (Triple Science) · Year 11 · Electromagnetism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24366B"/>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C8CDDA"/>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24366B"/>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5</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24366B"/>
                </a:solidFill>
                <a:latin typeface="Calibri" pitchFamily="34" charset="0"/>
                <a:ea typeface="Calibri" pitchFamily="34" charset="-122"/>
                <a:cs typeface="Calibri" pitchFamily="34" charset="-120"/>
              </a:rPr>
              <a:t>Physics (Triple Science) · Year 11</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5/6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Electromagnetism · AQA 8463</a:t>
            </a:r>
            <a:endParaRPr lang="en-US" sz="1800" dirty="0"/>
          </a:p>
        </p:txBody>
      </p:sp>
      <p:sp>
        <p:nvSpPr>
          <p:cNvPr id="10" name="deck-title"/>
          <p:cNvSpPr txBox="1"/>
          <p:nvPr/>
        </p:nvSpPr>
        <p:spPr>
          <a:xfrm>
            <a:off x="548640" y="2186178"/>
            <a:ext cx="5287975" cy="1513840"/>
          </a:xfrm>
          <a:prstGeom prst="rect">
            <a:avLst/>
          </a:prstGeom>
          <a:noFill/>
          <a:ln/>
        </p:spPr>
        <p:txBody>
          <a:bodyPr wrap="square" lIns="63500" tIns="63500" rIns="63500" bIns="63500" rtlCol="0" anchor="t"/>
          <a:lstStyle/>
          <a:p>
            <a:pPr algn="l" indent="0" marL="0">
              <a:buNone/>
            </a:pPr>
            <a:r>
              <a:rPr lang="en-US" sz="2800" b="1" dirty="0">
                <a:solidFill>
                  <a:srgbClr val="1E2229"/>
                </a:solidFill>
                <a:latin typeface="Cambria" pitchFamily="34" charset="0"/>
                <a:ea typeface="Cambria" pitchFamily="34" charset="-122"/>
                <a:cs typeface="Cambria" pitchFamily="34" charset="-120"/>
              </a:rPr>
              <a:t>The generator effect: alternators, dynamos and microphones</a:t>
            </a:r>
            <a:endParaRPr lang="en-US" sz="2800" dirty="0"/>
          </a:p>
        </p:txBody>
      </p:sp>
      <p:sp>
        <p:nvSpPr>
          <p:cNvPr id="11" name="lessons-card"/>
          <p:cNvSpPr/>
          <p:nvPr/>
        </p:nvSpPr>
        <p:spPr>
          <a:xfrm>
            <a:off x="548640" y="3928618"/>
            <a:ext cx="5287975" cy="1328420"/>
          </a:xfrm>
          <a:prstGeom prst="roundRect">
            <a:avLst>
              <a:gd name="adj" fmla="val 5507"/>
            </a:avLst>
          </a:prstGeom>
          <a:solidFill>
            <a:srgbClr val="DEE1E9"/>
          </a:solidFill>
          <a:ln/>
        </p:spPr>
      </p:sp>
      <p:sp>
        <p:nvSpPr>
          <p:cNvPr id="12" name="lessons"/>
          <p:cNvSpPr txBox="1"/>
          <p:nvPr/>
        </p:nvSpPr>
        <p:spPr>
          <a:xfrm>
            <a:off x="685800" y="4020058"/>
            <a:ext cx="5013655" cy="11455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24366B"/>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5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P15.5 The generator effect (H)</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6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P15.6 The alternating current generator (H)</a:t>
            </a:r>
            <a:endParaRPr lang="en-US" sz="2000" dirty="0"/>
          </a:p>
        </p:txBody>
      </p:sp>
      <p:sp>
        <p:nvSpPr>
          <p:cNvPr id="13" name="plate-frame"/>
          <p:cNvSpPr/>
          <p:nvPr/>
        </p:nvSpPr>
        <p:spPr>
          <a:xfrm>
            <a:off x="6248095" y="411480"/>
            <a:ext cx="5394960" cy="3130677"/>
          </a:xfrm>
          <a:prstGeom prst="rect">
            <a:avLst/>
          </a:prstGeom>
          <a:solidFill>
            <a:srgbClr val="EFE3CE"/>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Physics (Triple Science), Year 11">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DEE1E9"/>
          </a:solidFill>
          <a:ln w="12700">
            <a:solidFill>
              <a:srgbClr val="9CA5BC"/>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24366B"/>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can a coil of wire and a magnet turn electricity into movement, movement into electricity, and 230 V into 400 000 V?</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954666" cy="4754880"/>
          </a:xfrm>
          <a:prstGeom prst="roundRect">
            <a:avLst>
              <a:gd name="adj" fmla="val 1387"/>
            </a:avLst>
          </a:prstGeom>
          <a:solidFill>
            <a:srgbClr val="E5E7ED"/>
          </a:solidFill>
          <a:ln w="12700">
            <a:solidFill>
              <a:srgbClr val="A7AFC4"/>
            </a:solidFill>
            <a:prstDash val="solid"/>
          </a:ln>
        </p:spPr>
      </p:sp>
      <p:sp>
        <p:nvSpPr>
          <p:cNvPr id="8" name="card-hex"/>
          <p:cNvSpPr/>
          <p:nvPr/>
        </p:nvSpPr>
        <p:spPr>
          <a:xfrm>
            <a:off x="731520" y="1572768"/>
            <a:ext cx="640080" cy="554309"/>
          </a:xfrm>
          <a:prstGeom prst="hexagon">
            <a:avLst/>
          </a:prstGeom>
          <a:solidFill>
            <a:srgbClr val="24366B"/>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948826"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588906"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A wire is moved through a magnetic field. What is induced across the ends of the wire?</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A potential difference</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A magnetic pole</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A resistance</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A charge of exactly 1 coulomb</a:t>
            </a:r>
            <a:endParaRPr lang="en-US" sz="2200" dirty="0"/>
          </a:p>
        </p:txBody>
      </p:sp>
      <p:sp>
        <p:nvSpPr>
          <p:cNvPr id="12" name="card"/>
          <p:cNvSpPr/>
          <p:nvPr/>
        </p:nvSpPr>
        <p:spPr>
          <a:xfrm>
            <a:off x="4777626" y="1389888"/>
            <a:ext cx="2636444" cy="4754880"/>
          </a:xfrm>
          <a:prstGeom prst="roundRect">
            <a:avLst>
              <a:gd name="adj" fmla="val 2081"/>
            </a:avLst>
          </a:prstGeom>
          <a:solidFill>
            <a:srgbClr val="E5E7ED"/>
          </a:solidFill>
          <a:ln w="12700">
            <a:solidFill>
              <a:srgbClr val="A7AFC4"/>
            </a:solidFill>
            <a:prstDash val="solid"/>
          </a:ln>
        </p:spPr>
      </p:sp>
      <p:sp>
        <p:nvSpPr>
          <p:cNvPr id="13" name="card-hex"/>
          <p:cNvSpPr/>
          <p:nvPr/>
        </p:nvSpPr>
        <p:spPr>
          <a:xfrm>
            <a:off x="4960506" y="1572768"/>
            <a:ext cx="640080" cy="554309"/>
          </a:xfrm>
          <a:prstGeom prst="hexagon">
            <a:avLst/>
          </a:prstGeom>
          <a:solidFill>
            <a:srgbClr val="24366B"/>
          </a:solidFill>
          <a:ln/>
        </p:spPr>
      </p:sp>
      <p:sp>
        <p:nvSpPr>
          <p:cNvPr id="14" name="card-hex-label"/>
          <p:cNvSpPr txBox="1"/>
          <p:nvPr/>
        </p:nvSpPr>
        <p:spPr>
          <a:xfrm>
            <a:off x="4960506"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692026"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960506"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The magnetic field produced by an induced current always ___ the change that caused it.</a:t>
            </a:r>
            <a:endParaRPr lang="en-US" sz="2200" dirty="0"/>
          </a:p>
          <a:p>
            <a:pPr algn="l" indent="0" marL="0">
              <a:buNone/>
            </a:pPr>
            <a:r>
              <a:rPr lang="en-US" sz="2200" b="1" dirty="0">
                <a:solidFill>
                  <a:srgbClr val="24366B"/>
                </a:solidFill>
                <a:latin typeface="Calibri" pitchFamily="34" charset="0"/>
                <a:ea typeface="Calibri" pitchFamily="34" charset="-122"/>
                <a:cs typeface="Calibri" pitchFamily="34" charset="-120"/>
              </a:rPr>
              <a:t>Word bank:  </a:t>
            </a:r>
            <a:pPr algn="l" indent="0" marL="0">
              <a:buNone/>
            </a:pPr>
            <a:r>
              <a:rPr lang="en-US" sz="2200" dirty="0">
                <a:solidFill>
                  <a:srgbClr val="1E2229"/>
                </a:solidFill>
                <a:latin typeface="Calibri" pitchFamily="34" charset="0"/>
                <a:ea typeface="Calibri" pitchFamily="34" charset="-122"/>
                <a:cs typeface="Calibri" pitchFamily="34" charset="-120"/>
              </a:rPr>
              <a:t>opposes  ·  copies  ·  strengthens</a:t>
            </a:r>
            <a:endParaRPr lang="en-US" sz="2200" dirty="0"/>
          </a:p>
        </p:txBody>
      </p:sp>
      <p:sp>
        <p:nvSpPr>
          <p:cNvPr id="17" name="card"/>
          <p:cNvSpPr/>
          <p:nvPr/>
        </p:nvSpPr>
        <p:spPr>
          <a:xfrm>
            <a:off x="7688389" y="1389888"/>
            <a:ext cx="3954666" cy="4754880"/>
          </a:xfrm>
          <a:prstGeom prst="roundRect">
            <a:avLst>
              <a:gd name="adj" fmla="val 1387"/>
            </a:avLst>
          </a:prstGeom>
          <a:solidFill>
            <a:srgbClr val="E5E7ED"/>
          </a:solidFill>
          <a:ln w="12700">
            <a:solidFill>
              <a:srgbClr val="A7AFC4"/>
            </a:solidFill>
            <a:prstDash val="solid"/>
          </a:ln>
        </p:spPr>
      </p:sp>
      <p:sp>
        <p:nvSpPr>
          <p:cNvPr id="18" name="card-hex"/>
          <p:cNvSpPr/>
          <p:nvPr/>
        </p:nvSpPr>
        <p:spPr>
          <a:xfrm>
            <a:off x="7871269" y="1572768"/>
            <a:ext cx="640080" cy="554309"/>
          </a:xfrm>
          <a:prstGeom prst="hexagon">
            <a:avLst/>
          </a:prstGeom>
          <a:solidFill>
            <a:srgbClr val="24366B"/>
          </a:solidFill>
          <a:ln/>
        </p:spPr>
      </p:sp>
      <p:sp>
        <p:nvSpPr>
          <p:cNvPr id="19" name="card-hex-label"/>
          <p:cNvSpPr txBox="1"/>
          <p:nvPr/>
        </p:nvSpPr>
        <p:spPr>
          <a:xfrm>
            <a:off x="7871269"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8602789" y="1572768"/>
            <a:ext cx="2948826"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7871269" y="2355677"/>
            <a:ext cx="3588906"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Why does an alternator produce an alternating current?</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Each side of the coil moves down through the field, then up, so the induced p.d. keeps reversing</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Its slip rings swap the connections every half turn</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magnet spins round the coil</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coil is made of two different metals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954666" cy="4754880"/>
          </a:xfrm>
          <a:prstGeom prst="roundRect">
            <a:avLst>
              <a:gd name="adj" fmla="val 1387"/>
            </a:avLst>
          </a:prstGeom>
          <a:solidFill>
            <a:srgbClr val="E5E7ED"/>
          </a:solidFill>
          <a:ln w="12700">
            <a:solidFill>
              <a:srgbClr val="A7AFC4"/>
            </a:solidFill>
            <a:prstDash val="solid"/>
          </a:ln>
        </p:spPr>
      </p:sp>
      <p:sp>
        <p:nvSpPr>
          <p:cNvPr id="8" name="card-hex"/>
          <p:cNvSpPr/>
          <p:nvPr/>
        </p:nvSpPr>
        <p:spPr>
          <a:xfrm>
            <a:off x="731520" y="1572768"/>
            <a:ext cx="640080" cy="554309"/>
          </a:xfrm>
          <a:prstGeom prst="hexagon">
            <a:avLst/>
          </a:prstGeom>
          <a:solidFill>
            <a:srgbClr val="24366B"/>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948826"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588906" cy="614172"/>
          </a:xfrm>
          <a:prstGeom prst="roundRect">
            <a:avLst>
              <a:gd name="adj" fmla="val 17866"/>
            </a:avLst>
          </a:prstGeom>
          <a:solidFill>
            <a:srgbClr val="EADBBF"/>
          </a:solidFill>
          <a:ln w="19050">
            <a:solidFill>
              <a:srgbClr val="B8862B"/>
            </a:solidFill>
            <a:prstDash val="solid"/>
          </a:ln>
        </p:spPr>
      </p:sp>
      <p:sp>
        <p:nvSpPr>
          <p:cNvPr id="12" name="answer"/>
          <p:cNvSpPr txBox="1"/>
          <p:nvPr/>
        </p:nvSpPr>
        <p:spPr>
          <a:xfrm>
            <a:off x="822960" y="2428829"/>
            <a:ext cx="3406026"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A potential difference</a:t>
            </a:r>
            <a:endParaRPr lang="en-US" sz="2200" dirty="0"/>
          </a:p>
        </p:txBody>
      </p:sp>
      <p:sp>
        <p:nvSpPr>
          <p:cNvPr id="13" name="card-body"/>
          <p:cNvSpPr txBox="1"/>
          <p:nvPr/>
        </p:nvSpPr>
        <p:spPr>
          <a:xfrm>
            <a:off x="731520" y="3152729"/>
            <a:ext cx="3588906"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A wire is moved through a magnetic field. What is induced across the ends of the wire?</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Relative motion between a conductor and a magnetic field induces a potential difference. A current flows only if there is a complete circuit.</a:t>
            </a:r>
            <a:endParaRPr lang="en-US" sz="2000" dirty="0"/>
          </a:p>
        </p:txBody>
      </p:sp>
      <p:sp>
        <p:nvSpPr>
          <p:cNvPr id="14" name="card"/>
          <p:cNvSpPr/>
          <p:nvPr/>
        </p:nvSpPr>
        <p:spPr>
          <a:xfrm>
            <a:off x="4777626" y="1389888"/>
            <a:ext cx="2636444" cy="4754880"/>
          </a:xfrm>
          <a:prstGeom prst="roundRect">
            <a:avLst>
              <a:gd name="adj" fmla="val 2081"/>
            </a:avLst>
          </a:prstGeom>
          <a:solidFill>
            <a:srgbClr val="E5E7ED"/>
          </a:solidFill>
          <a:ln w="12700">
            <a:solidFill>
              <a:srgbClr val="A7AFC4"/>
            </a:solidFill>
            <a:prstDash val="solid"/>
          </a:ln>
        </p:spPr>
      </p:sp>
      <p:sp>
        <p:nvSpPr>
          <p:cNvPr id="15" name="card-hex"/>
          <p:cNvSpPr/>
          <p:nvPr/>
        </p:nvSpPr>
        <p:spPr>
          <a:xfrm>
            <a:off x="4960506" y="1572768"/>
            <a:ext cx="640080" cy="554309"/>
          </a:xfrm>
          <a:prstGeom prst="hexagon">
            <a:avLst/>
          </a:prstGeom>
          <a:solidFill>
            <a:srgbClr val="24366B"/>
          </a:solidFill>
          <a:ln/>
        </p:spPr>
      </p:sp>
      <p:sp>
        <p:nvSpPr>
          <p:cNvPr id="16" name="card-hex-label"/>
          <p:cNvSpPr txBox="1"/>
          <p:nvPr/>
        </p:nvSpPr>
        <p:spPr>
          <a:xfrm>
            <a:off x="4960506"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692026"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960506" y="2355677"/>
            <a:ext cx="2270684" cy="614172"/>
          </a:xfrm>
          <a:prstGeom prst="roundRect">
            <a:avLst>
              <a:gd name="adj" fmla="val 17866"/>
            </a:avLst>
          </a:prstGeom>
          <a:solidFill>
            <a:srgbClr val="EADBBF"/>
          </a:solidFill>
          <a:ln w="19050">
            <a:solidFill>
              <a:srgbClr val="B8862B"/>
            </a:solidFill>
            <a:prstDash val="solid"/>
          </a:ln>
        </p:spPr>
      </p:sp>
      <p:sp>
        <p:nvSpPr>
          <p:cNvPr id="19" name="answer"/>
          <p:cNvSpPr txBox="1"/>
          <p:nvPr/>
        </p:nvSpPr>
        <p:spPr>
          <a:xfrm>
            <a:off x="5051946"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opposes</a:t>
            </a:r>
            <a:endParaRPr lang="en-US" sz="2200" dirty="0"/>
          </a:p>
        </p:txBody>
      </p:sp>
      <p:sp>
        <p:nvSpPr>
          <p:cNvPr id="20" name="card-body"/>
          <p:cNvSpPr txBox="1"/>
          <p:nvPr/>
        </p:nvSpPr>
        <p:spPr>
          <a:xfrm>
            <a:off x="4960506" y="3152729"/>
            <a:ext cx="2270684"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This is why a coil pushes back on a magnet being pushed into it, and why generators are hard to turn.</a:t>
            </a:r>
            <a:endParaRPr lang="en-US" sz="1800" dirty="0"/>
          </a:p>
        </p:txBody>
      </p:sp>
      <p:sp>
        <p:nvSpPr>
          <p:cNvPr id="21" name="card"/>
          <p:cNvSpPr/>
          <p:nvPr/>
        </p:nvSpPr>
        <p:spPr>
          <a:xfrm>
            <a:off x="7688389" y="1389888"/>
            <a:ext cx="3954666" cy="4754880"/>
          </a:xfrm>
          <a:prstGeom prst="roundRect">
            <a:avLst>
              <a:gd name="adj" fmla="val 1387"/>
            </a:avLst>
          </a:prstGeom>
          <a:solidFill>
            <a:srgbClr val="E5E7ED"/>
          </a:solidFill>
          <a:ln w="12700">
            <a:solidFill>
              <a:srgbClr val="A7AFC4"/>
            </a:solidFill>
            <a:prstDash val="solid"/>
          </a:ln>
        </p:spPr>
      </p:sp>
      <p:sp>
        <p:nvSpPr>
          <p:cNvPr id="22" name="card-hex"/>
          <p:cNvSpPr/>
          <p:nvPr/>
        </p:nvSpPr>
        <p:spPr>
          <a:xfrm>
            <a:off x="7871269" y="1572768"/>
            <a:ext cx="640080" cy="554309"/>
          </a:xfrm>
          <a:prstGeom prst="hexagon">
            <a:avLst/>
          </a:prstGeom>
          <a:solidFill>
            <a:srgbClr val="24366B"/>
          </a:solidFill>
          <a:ln/>
        </p:spPr>
      </p:sp>
      <p:sp>
        <p:nvSpPr>
          <p:cNvPr id="23" name="card-hex-label"/>
          <p:cNvSpPr txBox="1"/>
          <p:nvPr/>
        </p:nvSpPr>
        <p:spPr>
          <a:xfrm>
            <a:off x="7871269"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8602789" y="1572768"/>
            <a:ext cx="2948826"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7871269" y="2355677"/>
            <a:ext cx="3588906" cy="1977644"/>
          </a:xfrm>
          <a:prstGeom prst="roundRect">
            <a:avLst>
              <a:gd name="adj" fmla="val 5548"/>
            </a:avLst>
          </a:prstGeom>
          <a:solidFill>
            <a:srgbClr val="EADBBF"/>
          </a:solidFill>
          <a:ln w="19050">
            <a:solidFill>
              <a:srgbClr val="B8862B"/>
            </a:solidFill>
            <a:prstDash val="solid"/>
          </a:ln>
        </p:spPr>
      </p:sp>
      <p:sp>
        <p:nvSpPr>
          <p:cNvPr id="26" name="answer"/>
          <p:cNvSpPr txBox="1"/>
          <p:nvPr/>
        </p:nvSpPr>
        <p:spPr>
          <a:xfrm>
            <a:off x="7962709" y="2428829"/>
            <a:ext cx="3406026" cy="1831340"/>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Each side of the coil moves down through the field, then up, so the induced p.d. keeps reversing</a:t>
            </a:r>
            <a:endParaRPr lang="en-US" sz="2200" dirty="0"/>
          </a:p>
        </p:txBody>
      </p:sp>
      <p:sp>
        <p:nvSpPr>
          <p:cNvPr id="27" name="card-body"/>
          <p:cNvSpPr txBox="1"/>
          <p:nvPr/>
        </p:nvSpPr>
        <p:spPr>
          <a:xfrm>
            <a:off x="7871269" y="4516201"/>
            <a:ext cx="3588906" cy="1491407"/>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The direction of the induced p.d. depends on the direction of motion through the field, and each side of the spinning coil reverses its…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3E5EC"/>
          </a:solidFill>
          <a:ln w="12700">
            <a:solidFill>
              <a:srgbClr val="9CA5B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induce</a:t>
            </a:r>
            <a:endParaRPr lang="en-US" sz="2600" dirty="0"/>
          </a:p>
        </p:txBody>
      </p:sp>
      <p:sp>
        <p:nvSpPr>
          <p:cNvPr id="11" name="word-rule"/>
          <p:cNvSpPr/>
          <p:nvPr/>
        </p:nvSpPr>
        <p:spPr>
          <a:xfrm>
            <a:off x="731520" y="2129028"/>
            <a:ext cx="3149498" cy="0"/>
          </a:xfrm>
          <a:prstGeom prst="line">
            <a:avLst/>
          </a:prstGeom>
          <a:ln w="12700">
            <a:solidFill>
              <a:srgbClr val="9CA5B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to cause something to appear without touching, here a potential difference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Moving the magnet into the coil induces a potential difference.</a:t>
            </a:r>
            <a:endParaRPr lang="en-US" sz="2200" dirty="0"/>
          </a:p>
        </p:txBody>
      </p:sp>
      <p:sp>
        <p:nvSpPr>
          <p:cNvPr id="13" name="word-card"/>
          <p:cNvSpPr/>
          <p:nvPr/>
        </p:nvSpPr>
        <p:spPr>
          <a:xfrm>
            <a:off x="4338218" y="1389888"/>
            <a:ext cx="3515258" cy="4754880"/>
          </a:xfrm>
          <a:prstGeom prst="roundRect">
            <a:avLst>
              <a:gd name="adj" fmla="val 1561"/>
            </a:avLst>
          </a:prstGeom>
          <a:solidFill>
            <a:srgbClr val="E3E5EC"/>
          </a:solidFill>
          <a:ln w="12700">
            <a:solidFill>
              <a:srgbClr val="9CA5BC"/>
            </a:solidFill>
            <a:prstDash val="solid"/>
          </a:ln>
        </p:spPr>
      </p:sp>
      <p:sp>
        <p:nvSpPr>
          <p:cNvPr id="14" name="word-hex"/>
          <p:cNvSpPr/>
          <p:nvPr/>
        </p:nvSpPr>
        <p:spPr>
          <a:xfrm>
            <a:off x="4475378" y="1802044"/>
            <a:ext cx="502920" cy="435529"/>
          </a:xfrm>
          <a:prstGeom prst="hexagon">
            <a:avLst/>
          </a:prstGeom>
          <a:solidFill>
            <a:srgbClr val="B8862B"/>
          </a:solidFill>
          <a:ln/>
        </p:spPr>
      </p:sp>
      <p:sp>
        <p:nvSpPr>
          <p:cNvPr id="15" name="word-hex-label"/>
          <p:cNvSpPr txBox="1"/>
          <p:nvPr/>
        </p:nvSpPr>
        <p:spPr>
          <a:xfrm>
            <a:off x="4475378"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potential difference</a:t>
            </a:r>
            <a:endParaRPr lang="en-US" sz="2600" dirty="0"/>
          </a:p>
        </p:txBody>
      </p:sp>
      <p:sp>
        <p:nvSpPr>
          <p:cNvPr id="17" name="word-rule"/>
          <p:cNvSpPr/>
          <p:nvPr/>
        </p:nvSpPr>
        <p:spPr>
          <a:xfrm>
            <a:off x="4521098" y="2558288"/>
            <a:ext cx="3149498" cy="0"/>
          </a:xfrm>
          <a:prstGeom prst="line">
            <a:avLst/>
          </a:prstGeom>
          <a:ln w="12700">
            <a:solidFill>
              <a:srgbClr val="9CA5BC"/>
            </a:solidFill>
            <a:prstDash val="solid"/>
          </a:ln>
        </p:spPr>
      </p:sp>
      <p:sp>
        <p:nvSpPr>
          <p:cNvPr id="18" name="word-body"/>
          <p:cNvSpPr txBox="1"/>
          <p:nvPr/>
        </p:nvSpPr>
        <p:spPr>
          <a:xfrm>
            <a:off x="4521098"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electrical push across two points, measured in volts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voltmeter showed a potential difference while the wire moved.</a:t>
            </a:r>
            <a:endParaRPr lang="en-US" sz="2200" dirty="0"/>
          </a:p>
        </p:txBody>
      </p:sp>
      <p:sp>
        <p:nvSpPr>
          <p:cNvPr id="19" name="word-card"/>
          <p:cNvSpPr/>
          <p:nvPr/>
        </p:nvSpPr>
        <p:spPr>
          <a:xfrm>
            <a:off x="8127797" y="1389888"/>
            <a:ext cx="3515258" cy="4754880"/>
          </a:xfrm>
          <a:prstGeom prst="roundRect">
            <a:avLst>
              <a:gd name="adj" fmla="val 1561"/>
            </a:avLst>
          </a:prstGeom>
          <a:solidFill>
            <a:srgbClr val="E3E5EC"/>
          </a:solidFill>
          <a:ln w="12700">
            <a:solidFill>
              <a:srgbClr val="9CA5B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generator</a:t>
            </a:r>
            <a:endParaRPr lang="en-US" sz="2600" dirty="0"/>
          </a:p>
        </p:txBody>
      </p:sp>
      <p:sp>
        <p:nvSpPr>
          <p:cNvPr id="23" name="word-rule"/>
          <p:cNvSpPr/>
          <p:nvPr/>
        </p:nvSpPr>
        <p:spPr>
          <a:xfrm>
            <a:off x="8310677" y="2129028"/>
            <a:ext cx="3149498" cy="0"/>
          </a:xfrm>
          <a:prstGeom prst="line">
            <a:avLst/>
          </a:prstGeom>
          <a:ln w="12700">
            <a:solidFill>
              <a:srgbClr val="9CA5B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machine that turns movement into electricity</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bike dynamo is a small generator.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3E5EC"/>
          </a:solidFill>
          <a:ln w="12700">
            <a:solidFill>
              <a:srgbClr val="9CA5B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alternator</a:t>
            </a:r>
            <a:endParaRPr lang="en-US" sz="2600" dirty="0"/>
          </a:p>
        </p:txBody>
      </p:sp>
      <p:sp>
        <p:nvSpPr>
          <p:cNvPr id="11" name="word-rule"/>
          <p:cNvSpPr/>
          <p:nvPr/>
        </p:nvSpPr>
        <p:spPr>
          <a:xfrm>
            <a:off x="731520" y="2129028"/>
            <a:ext cx="3149498" cy="0"/>
          </a:xfrm>
          <a:prstGeom prst="line">
            <a:avLst/>
          </a:prstGeom>
          <a:ln w="12700">
            <a:solidFill>
              <a:srgbClr val="9CA5B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generator that gives an alternating current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Power stations use huge alternators.</a:t>
            </a:r>
            <a:endParaRPr lang="en-US" sz="2200" dirty="0"/>
          </a:p>
        </p:txBody>
      </p:sp>
      <p:sp>
        <p:nvSpPr>
          <p:cNvPr id="13" name="word-card"/>
          <p:cNvSpPr/>
          <p:nvPr/>
        </p:nvSpPr>
        <p:spPr>
          <a:xfrm>
            <a:off x="4338218" y="1389888"/>
            <a:ext cx="3515258" cy="4754880"/>
          </a:xfrm>
          <a:prstGeom prst="roundRect">
            <a:avLst>
              <a:gd name="adj" fmla="val 1561"/>
            </a:avLst>
          </a:prstGeom>
          <a:solidFill>
            <a:srgbClr val="E3E5EC"/>
          </a:solidFill>
          <a:ln w="12700">
            <a:solidFill>
              <a:srgbClr val="9CA5B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slip rings</a:t>
            </a:r>
            <a:endParaRPr lang="en-US" sz="2600" dirty="0"/>
          </a:p>
        </p:txBody>
      </p:sp>
      <p:sp>
        <p:nvSpPr>
          <p:cNvPr id="17" name="word-rule"/>
          <p:cNvSpPr/>
          <p:nvPr/>
        </p:nvSpPr>
        <p:spPr>
          <a:xfrm>
            <a:off x="4521098" y="2129028"/>
            <a:ext cx="3149498" cy="0"/>
          </a:xfrm>
          <a:prstGeom prst="line">
            <a:avLst/>
          </a:prstGeom>
          <a:ln w="12700">
            <a:solidFill>
              <a:srgbClr val="9CA5B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two complete rings that connect a spinning coil to the outside circuit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An alternator uses slip rings, not a split ring.</a:t>
            </a:r>
            <a:endParaRPr lang="en-US" sz="2200" dirty="0"/>
          </a:p>
        </p:txBody>
      </p:sp>
      <p:sp>
        <p:nvSpPr>
          <p:cNvPr id="19" name="word-card"/>
          <p:cNvSpPr/>
          <p:nvPr/>
        </p:nvSpPr>
        <p:spPr>
          <a:xfrm>
            <a:off x="8127797" y="1389888"/>
            <a:ext cx="3515258" cy="4754880"/>
          </a:xfrm>
          <a:prstGeom prst="roundRect">
            <a:avLst>
              <a:gd name="adj" fmla="val 1561"/>
            </a:avLst>
          </a:prstGeom>
          <a:solidFill>
            <a:srgbClr val="E3E5EC"/>
          </a:solidFill>
          <a:ln w="12700">
            <a:solidFill>
              <a:srgbClr val="9CA5B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diaphragm</a:t>
            </a:r>
            <a:endParaRPr lang="en-US" sz="2600" dirty="0"/>
          </a:p>
        </p:txBody>
      </p:sp>
      <p:sp>
        <p:nvSpPr>
          <p:cNvPr id="23" name="word-rule"/>
          <p:cNvSpPr/>
          <p:nvPr/>
        </p:nvSpPr>
        <p:spPr>
          <a:xfrm>
            <a:off x="8310677" y="2129028"/>
            <a:ext cx="3149498" cy="0"/>
          </a:xfrm>
          <a:prstGeom prst="line">
            <a:avLst/>
          </a:prstGeom>
          <a:ln w="12700">
            <a:solidFill>
              <a:srgbClr val="9CA5B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thin, flexible sheet that vibrates when sound hits it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microphone's diaphragm moves with the sound wave.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4366B"/>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5E7ED"/>
          </a:solidFill>
          <a:ln w="12700">
            <a:solidFill>
              <a:srgbClr val="B2B9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Move a wire through a magnetic field and something happens.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potential difference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appears across the ends of the wire.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We say it is induced.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If the wire is part of a complete circuit, a current flows.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This is the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generator</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effect.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Moving the magnet instead of the wire works just as well.</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4366B"/>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5E7ED"/>
          </a:solidFill>
          <a:ln w="12700">
            <a:solidFill>
              <a:srgbClr val="B2B9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Nothing happens if neither one moves.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faster movement, a stronger magnet or more turns gives a bigger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potential difference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Move the other way and the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potential difference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reverses.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An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alternator</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spins a coil in a field to make alternating current.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dynamo uses a split ring to make direct current.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microphone uses the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generator</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effect to turn sound into an electrical signal.</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Movement makes a potential difference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Two words the examiner wants: 'relative motion' (or 'changing field') and 'induced'. No motion, no change: nothing induced.</a:t>
            </a:r>
            <a:endParaRPr lang="en-US" sz="1800" dirty="0"/>
          </a:p>
        </p:txBody>
      </p:sp>
      <p:sp>
        <p:nvSpPr>
          <p:cNvPr id="11" name="point-card"/>
          <p:cNvSpPr/>
          <p:nvPr/>
        </p:nvSpPr>
        <p:spPr>
          <a:xfrm>
            <a:off x="548640" y="1389888"/>
            <a:ext cx="3515258" cy="3686048"/>
          </a:xfrm>
          <a:prstGeom prst="roundRect">
            <a:avLst>
              <a:gd name="adj" fmla="val 1561"/>
            </a:avLst>
          </a:prstGeom>
          <a:solidFill>
            <a:srgbClr val="DEE1E9"/>
          </a:solidFill>
          <a:ln/>
        </p:spPr>
      </p:sp>
      <p:sp>
        <p:nvSpPr>
          <p:cNvPr id="12" name="point-hex"/>
          <p:cNvSpPr/>
          <p:nvPr/>
        </p:nvSpPr>
        <p:spPr>
          <a:xfrm>
            <a:off x="731520" y="1572768"/>
            <a:ext cx="685800" cy="593903"/>
          </a:xfrm>
          <a:prstGeom prst="hexagon">
            <a:avLst/>
          </a:prstGeom>
          <a:solidFill>
            <a:srgbClr val="24366B"/>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motor effect turns a current into movement. The generator effect is the reverse: movement makes electricity.</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That potential difference exists whether or not anything is connected.</a:t>
            </a:r>
            <a:endParaRPr lang="en-US" sz="2400" dirty="0"/>
          </a:p>
        </p:txBody>
      </p:sp>
      <p:sp>
        <p:nvSpPr>
          <p:cNvPr id="19" name="point-card"/>
          <p:cNvSpPr/>
          <p:nvPr/>
        </p:nvSpPr>
        <p:spPr>
          <a:xfrm>
            <a:off x="8127797" y="1389888"/>
            <a:ext cx="3515258" cy="3686048"/>
          </a:xfrm>
          <a:prstGeom prst="roundRect">
            <a:avLst>
              <a:gd name="adj" fmla="val 1561"/>
            </a:avLst>
          </a:prstGeom>
          <a:solidFill>
            <a:srgbClr val="DEE1E9"/>
          </a:solidFill>
          <a:ln/>
        </p:spPr>
      </p:sp>
      <p:sp>
        <p:nvSpPr>
          <p:cNvPr id="20" name="point-hex"/>
          <p:cNvSpPr/>
          <p:nvPr/>
        </p:nvSpPr>
        <p:spPr>
          <a:xfrm>
            <a:off x="8310677" y="1572768"/>
            <a:ext cx="685800" cy="593903"/>
          </a:xfrm>
          <a:prstGeom prst="hexagon">
            <a:avLst/>
          </a:prstGeom>
          <a:solidFill>
            <a:srgbClr val="24366B"/>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It is the relative motion that matters. You can move the wire through the field, move the magnet past the wire, or spin either one.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Size and direction of the induced p.d.</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point-card"/>
          <p:cNvSpPr/>
          <p:nvPr/>
        </p:nvSpPr>
        <p:spPr>
          <a:xfrm>
            <a:off x="548640" y="1389888"/>
            <a:ext cx="3515258" cy="4754880"/>
          </a:xfrm>
          <a:prstGeom prst="roundRect">
            <a:avLst>
              <a:gd name="adj" fmla="val 1561"/>
            </a:avLst>
          </a:prstGeom>
          <a:solidFill>
            <a:srgbClr val="DEE1E9"/>
          </a:solidFill>
          <a:ln/>
        </p:spPr>
      </p:sp>
      <p:sp>
        <p:nvSpPr>
          <p:cNvPr id="8" name="point-hex"/>
          <p:cNvSpPr/>
          <p:nvPr/>
        </p:nvSpPr>
        <p:spPr>
          <a:xfrm>
            <a:off x="731520" y="1572768"/>
            <a:ext cx="685800" cy="593903"/>
          </a:xfrm>
          <a:prstGeom prst="hexagon">
            <a:avLst/>
          </a:prstGeom>
          <a:solidFill>
            <a:srgbClr val="24366B"/>
          </a:solidFill>
          <a:ln/>
        </p:spPr>
      </p:sp>
      <p:sp>
        <p:nvSpPr>
          <p:cNvPr id="9"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point"/>
          <p:cNvSpPr txBox="1"/>
          <p:nvPr/>
        </p:nvSpPr>
        <p:spPr>
          <a:xfrm>
            <a:off x="731520" y="2350008"/>
            <a:ext cx="3149498" cy="365760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Three things make the induced potential difference bigger: moving faster, so the wire cuts the field lines more quickly; using a stronger magnet, so there are more field lines to cut; and using a coil with more turns, since each turn has a p.d. induced in it and they add up.</a:t>
            </a:r>
            <a:endParaRPr lang="en-US" sz="2000" dirty="0"/>
          </a:p>
        </p:txBody>
      </p:sp>
      <p:sp>
        <p:nvSpPr>
          <p:cNvPr id="11" name="point-card"/>
          <p:cNvSpPr/>
          <p:nvPr/>
        </p:nvSpPr>
        <p:spPr>
          <a:xfrm>
            <a:off x="4338218" y="1389888"/>
            <a:ext cx="3515258" cy="4754880"/>
          </a:xfrm>
          <a:prstGeom prst="roundRect">
            <a:avLst>
              <a:gd name="adj" fmla="val 1561"/>
            </a:avLst>
          </a:prstGeom>
          <a:solidFill>
            <a:srgbClr val="F3EADB"/>
          </a:solidFill>
          <a:ln/>
        </p:spPr>
      </p:sp>
      <p:sp>
        <p:nvSpPr>
          <p:cNvPr id="12" name="point-hex"/>
          <p:cNvSpPr/>
          <p:nvPr/>
        </p:nvSpPr>
        <p:spPr>
          <a:xfrm>
            <a:off x="4521098" y="1572768"/>
            <a:ext cx="685800" cy="593903"/>
          </a:xfrm>
          <a:prstGeom prst="hexagon">
            <a:avLst/>
          </a:prstGeom>
          <a:solidFill>
            <a:srgbClr val="B8862B"/>
          </a:solidFill>
          <a:ln/>
        </p:spPr>
      </p:sp>
      <p:sp>
        <p:nvSpPr>
          <p:cNvPr id="13"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4" name="point"/>
          <p:cNvSpPr txBox="1"/>
          <p:nvPr/>
        </p:nvSpPr>
        <p:spPr>
          <a:xfrm>
            <a:off x="4521098" y="2350008"/>
            <a:ext cx="3149498" cy="365760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Reverse the direction of movement and the induced p.d. reverses.</a:t>
            </a:r>
            <a:endParaRPr lang="en-US" sz="2000" dirty="0"/>
          </a:p>
        </p:txBody>
      </p:sp>
      <p:sp>
        <p:nvSpPr>
          <p:cNvPr id="15" name="point-card"/>
          <p:cNvSpPr/>
          <p:nvPr/>
        </p:nvSpPr>
        <p:spPr>
          <a:xfrm>
            <a:off x="8127797" y="1389888"/>
            <a:ext cx="3515258" cy="4754880"/>
          </a:xfrm>
          <a:prstGeom prst="roundRect">
            <a:avLst>
              <a:gd name="adj" fmla="val 1561"/>
            </a:avLst>
          </a:prstGeom>
          <a:solidFill>
            <a:srgbClr val="DEE1E9"/>
          </a:solidFill>
          <a:ln/>
        </p:spPr>
      </p:sp>
      <p:sp>
        <p:nvSpPr>
          <p:cNvPr id="16" name="point-hex"/>
          <p:cNvSpPr/>
          <p:nvPr/>
        </p:nvSpPr>
        <p:spPr>
          <a:xfrm>
            <a:off x="8310677" y="1572768"/>
            <a:ext cx="685800" cy="593903"/>
          </a:xfrm>
          <a:prstGeom prst="hexagon">
            <a:avLst/>
          </a:prstGeom>
          <a:solidFill>
            <a:srgbClr val="24366B"/>
          </a:solidFill>
          <a:ln/>
        </p:spPr>
      </p:sp>
      <p:sp>
        <p:nvSpPr>
          <p:cNvPr id="17"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8" name="point"/>
          <p:cNvSpPr txBox="1"/>
          <p:nvPr/>
        </p:nvSpPr>
        <p:spPr>
          <a:xfrm>
            <a:off x="8310677" y="2350008"/>
            <a:ext cx="3149498" cy="365760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There is a rule hidden in that. An induced current produces its own magnetic field, and that field always opposes the change that made it.</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24366B"/>
                </a:solidFill>
                <a:latin typeface="Cambria" pitchFamily="34" charset="0"/>
                <a:ea typeface="Cambria" pitchFamily="34" charset="-122"/>
                <a:cs typeface="Cambria" pitchFamily="34" charset="-120"/>
              </a:rPr>
              <a:t>Worked example (1 of 2): Size and direction of the induced p.d.</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1332484"/>
          </a:xfrm>
          <a:prstGeom prst="roundRect">
            <a:avLst>
              <a:gd name="adj" fmla="val 6862"/>
            </a:avLst>
          </a:prstGeom>
          <a:solidFill>
            <a:srgbClr val="DEE1E9"/>
          </a:solidFill>
          <a:ln/>
        </p:spPr>
      </p:sp>
      <p:sp>
        <p:nvSpPr>
          <p:cNvPr id="8" name="worked-q"/>
          <p:cNvSpPr txBox="1"/>
          <p:nvPr/>
        </p:nvSpPr>
        <p:spPr>
          <a:xfrm>
            <a:off x="731520" y="1481328"/>
            <a:ext cx="10728655"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pupil pushes the north pole of a magnet into a coil connected to a sensitive ammeter. Describe what happens to the ammeter and the coil, and what the pupil would notice if she pulled the magnet out faster. (4 marks)</a:t>
            </a:r>
            <a:endParaRPr lang="en-US" sz="2200" dirty="0"/>
          </a:p>
        </p:txBody>
      </p:sp>
      <p:sp>
        <p:nvSpPr>
          <p:cNvPr id="9" name="step-box"/>
          <p:cNvSpPr/>
          <p:nvPr/>
        </p:nvSpPr>
        <p:spPr>
          <a:xfrm>
            <a:off x="548640" y="2996692"/>
            <a:ext cx="5341468" cy="1695196"/>
          </a:xfrm>
          <a:prstGeom prst="roundRect">
            <a:avLst>
              <a:gd name="adj" fmla="val 4315"/>
            </a:avLst>
          </a:prstGeom>
          <a:solidFill>
            <a:srgbClr val="FFFFFF"/>
          </a:solidFill>
          <a:ln w="15875">
            <a:solidFill>
              <a:srgbClr val="8790AE"/>
            </a:solidFill>
            <a:prstDash val="solid"/>
          </a:ln>
        </p:spPr>
      </p:sp>
      <p:sp>
        <p:nvSpPr>
          <p:cNvPr id="10" name="step-hex"/>
          <p:cNvSpPr/>
          <p:nvPr/>
        </p:nvSpPr>
        <p:spPr>
          <a:xfrm>
            <a:off x="685800" y="3106420"/>
            <a:ext cx="530352" cy="459285"/>
          </a:xfrm>
          <a:prstGeom prst="hexagon">
            <a:avLst/>
          </a:prstGeom>
          <a:solidFill>
            <a:srgbClr val="24366B"/>
          </a:solidFill>
          <a:ln/>
        </p:spPr>
      </p:sp>
      <p:sp>
        <p:nvSpPr>
          <p:cNvPr id="11" name="step-hex-label"/>
          <p:cNvSpPr txBox="1"/>
          <p:nvPr/>
        </p:nvSpPr>
        <p:spPr>
          <a:xfrm>
            <a:off x="685800" y="3106420"/>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591052"/>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As the magnet moves in, the field through the coil changes, so a p.d. is induced and a current flows: the needle flicks one way.</a:t>
            </a:r>
            <a:endParaRPr lang="en-US" sz="1800" dirty="0"/>
          </a:p>
        </p:txBody>
      </p:sp>
      <p:sp>
        <p:nvSpPr>
          <p:cNvPr id="13" name="arrow"/>
          <p:cNvSpPr/>
          <p:nvPr/>
        </p:nvSpPr>
        <p:spPr>
          <a:xfrm>
            <a:off x="5963260" y="3707130"/>
            <a:ext cx="274320" cy="274320"/>
          </a:xfrm>
          <a:prstGeom prst="rightArrow">
            <a:avLst/>
          </a:prstGeom>
          <a:solidFill>
            <a:srgbClr val="B8862B"/>
          </a:solidFill>
          <a:ln/>
        </p:spPr>
      </p:sp>
      <p:sp>
        <p:nvSpPr>
          <p:cNvPr id="14" name="step-box"/>
          <p:cNvSpPr/>
          <p:nvPr/>
        </p:nvSpPr>
        <p:spPr>
          <a:xfrm>
            <a:off x="6301588" y="2996692"/>
            <a:ext cx="5341468" cy="1695196"/>
          </a:xfrm>
          <a:prstGeom prst="roundRect">
            <a:avLst>
              <a:gd name="adj" fmla="val 4315"/>
            </a:avLst>
          </a:prstGeom>
          <a:solidFill>
            <a:srgbClr val="FFFFFF"/>
          </a:solidFill>
          <a:ln w="15875">
            <a:solidFill>
              <a:srgbClr val="8790AE"/>
            </a:solidFill>
            <a:prstDash val="solid"/>
          </a:ln>
        </p:spPr>
      </p:sp>
      <p:sp>
        <p:nvSpPr>
          <p:cNvPr id="15" name="step-hex"/>
          <p:cNvSpPr/>
          <p:nvPr/>
        </p:nvSpPr>
        <p:spPr>
          <a:xfrm>
            <a:off x="6438748" y="3106420"/>
            <a:ext cx="530352" cy="459285"/>
          </a:xfrm>
          <a:prstGeom prst="hexagon">
            <a:avLst/>
          </a:prstGeom>
          <a:solidFill>
            <a:srgbClr val="24366B"/>
          </a:solidFill>
          <a:ln/>
        </p:spPr>
      </p:sp>
      <p:sp>
        <p:nvSpPr>
          <p:cNvPr id="16" name="step-hex-label"/>
          <p:cNvSpPr txBox="1"/>
          <p:nvPr/>
        </p:nvSpPr>
        <p:spPr>
          <a:xfrm>
            <a:off x="6438748" y="3106420"/>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6438748" y="3591052"/>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induced current makes the near end of the coil a north pole, opposing the magnet's approach, so the coil pushes back on the magnet.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24366B"/>
                </a:solidFill>
                <a:latin typeface="Cambria" pitchFamily="34" charset="0"/>
                <a:ea typeface="Cambria" pitchFamily="34" charset="-122"/>
                <a:cs typeface="Cambria" pitchFamily="34" charset="-120"/>
              </a:rPr>
              <a:t>Worked example (2 of 2): Size and direction of the induced p.d.</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1332484"/>
          </a:xfrm>
          <a:prstGeom prst="roundRect">
            <a:avLst>
              <a:gd name="adj" fmla="val 6862"/>
            </a:avLst>
          </a:prstGeom>
          <a:solidFill>
            <a:srgbClr val="DEE1E9"/>
          </a:solidFill>
          <a:ln/>
        </p:spPr>
      </p:sp>
      <p:sp>
        <p:nvSpPr>
          <p:cNvPr id="8" name="worked-q"/>
          <p:cNvSpPr txBox="1"/>
          <p:nvPr/>
        </p:nvSpPr>
        <p:spPr>
          <a:xfrm>
            <a:off x="731520" y="1481328"/>
            <a:ext cx="10728655"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pupil pushes the north pole of a magnet into a coil connected to a sensitive ammeter. Describe what happens to the ammeter and the coil, and what the pupil would notice if she pulled the magnet out faster. (4 marks)</a:t>
            </a:r>
            <a:endParaRPr lang="en-US" sz="2200" dirty="0"/>
          </a:p>
        </p:txBody>
      </p:sp>
      <p:sp>
        <p:nvSpPr>
          <p:cNvPr id="9" name="step-box"/>
          <p:cNvSpPr/>
          <p:nvPr/>
        </p:nvSpPr>
        <p:spPr>
          <a:xfrm>
            <a:off x="548640" y="2996692"/>
            <a:ext cx="5341468" cy="1463040"/>
          </a:xfrm>
          <a:prstGeom prst="roundRect">
            <a:avLst>
              <a:gd name="adj" fmla="val 5000"/>
            </a:avLst>
          </a:prstGeom>
          <a:solidFill>
            <a:srgbClr val="FFFFFF"/>
          </a:solidFill>
          <a:ln w="15875">
            <a:solidFill>
              <a:srgbClr val="8790AE"/>
            </a:solidFill>
            <a:prstDash val="solid"/>
          </a:ln>
        </p:spPr>
      </p:sp>
      <p:sp>
        <p:nvSpPr>
          <p:cNvPr id="10" name="step-hex"/>
          <p:cNvSpPr/>
          <p:nvPr/>
        </p:nvSpPr>
        <p:spPr>
          <a:xfrm>
            <a:off x="685800" y="3106420"/>
            <a:ext cx="530352" cy="459285"/>
          </a:xfrm>
          <a:prstGeom prst="hexagon">
            <a:avLst/>
          </a:prstGeom>
          <a:solidFill>
            <a:srgbClr val="24366B"/>
          </a:solidFill>
          <a:ln/>
        </p:spPr>
      </p:sp>
      <p:sp>
        <p:nvSpPr>
          <p:cNvPr id="11" name="step-hex-label"/>
          <p:cNvSpPr txBox="1"/>
          <p:nvPr/>
        </p:nvSpPr>
        <p:spPr>
          <a:xfrm>
            <a:off x="685800" y="3106420"/>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2" name="step"/>
          <p:cNvSpPr txBox="1"/>
          <p:nvPr/>
        </p:nvSpPr>
        <p:spPr>
          <a:xfrm>
            <a:off x="685800" y="3591052"/>
            <a:ext cx="5067148" cy="77724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Pulling the magnet out reverses the change, so the current, and the needle, go the other way.</a:t>
            </a:r>
            <a:endParaRPr lang="en-US" sz="1800" dirty="0"/>
          </a:p>
        </p:txBody>
      </p:sp>
      <p:sp>
        <p:nvSpPr>
          <p:cNvPr id="13" name="arrow"/>
          <p:cNvSpPr/>
          <p:nvPr/>
        </p:nvSpPr>
        <p:spPr>
          <a:xfrm>
            <a:off x="5963260" y="3591052"/>
            <a:ext cx="274320" cy="274320"/>
          </a:xfrm>
          <a:prstGeom prst="rightArrow">
            <a:avLst/>
          </a:prstGeom>
          <a:solidFill>
            <a:srgbClr val="B8862B"/>
          </a:solidFill>
          <a:ln/>
        </p:spPr>
      </p:sp>
      <p:sp>
        <p:nvSpPr>
          <p:cNvPr id="14" name="step-box"/>
          <p:cNvSpPr/>
          <p:nvPr/>
        </p:nvSpPr>
        <p:spPr>
          <a:xfrm>
            <a:off x="6301588" y="2996692"/>
            <a:ext cx="5341468" cy="1463040"/>
          </a:xfrm>
          <a:prstGeom prst="roundRect">
            <a:avLst>
              <a:gd name="adj" fmla="val 5000"/>
            </a:avLst>
          </a:prstGeom>
          <a:solidFill>
            <a:srgbClr val="FFFFFF"/>
          </a:solidFill>
          <a:ln w="15875">
            <a:solidFill>
              <a:srgbClr val="8790AE"/>
            </a:solidFill>
            <a:prstDash val="solid"/>
          </a:ln>
        </p:spPr>
      </p:sp>
      <p:sp>
        <p:nvSpPr>
          <p:cNvPr id="15" name="step-hex"/>
          <p:cNvSpPr/>
          <p:nvPr/>
        </p:nvSpPr>
        <p:spPr>
          <a:xfrm>
            <a:off x="6438748" y="3106420"/>
            <a:ext cx="530352" cy="459285"/>
          </a:xfrm>
          <a:prstGeom prst="hexagon">
            <a:avLst/>
          </a:prstGeom>
          <a:solidFill>
            <a:srgbClr val="24366B"/>
          </a:solidFill>
          <a:ln/>
        </p:spPr>
      </p:sp>
      <p:sp>
        <p:nvSpPr>
          <p:cNvPr id="16" name="step-hex-label"/>
          <p:cNvSpPr txBox="1"/>
          <p:nvPr/>
        </p:nvSpPr>
        <p:spPr>
          <a:xfrm>
            <a:off x="6438748" y="3106420"/>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7" name="step"/>
          <p:cNvSpPr txBox="1"/>
          <p:nvPr/>
        </p:nvSpPr>
        <p:spPr>
          <a:xfrm>
            <a:off x="6438748" y="3591052"/>
            <a:ext cx="5067148" cy="77724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Pulling out faster means a bigger induced p.d. and current, so the needle flicks further.</a:t>
            </a:r>
            <a:endParaRPr lang="en-US" sz="1800" dirty="0"/>
          </a:p>
        </p:txBody>
      </p:sp>
      <p:sp>
        <p:nvSpPr>
          <p:cNvPr id="18" name="worked-answer"/>
          <p:cNvSpPr/>
          <p:nvPr/>
        </p:nvSpPr>
        <p:spPr>
          <a:xfrm>
            <a:off x="1463040" y="5034788"/>
            <a:ext cx="9265615" cy="1109980"/>
          </a:xfrm>
          <a:prstGeom prst="roundRect">
            <a:avLst>
              <a:gd name="adj" fmla="val 16476"/>
            </a:avLst>
          </a:prstGeom>
          <a:solidFill>
            <a:srgbClr val="EADBBF"/>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The needle flicks one way as the magnet goes in and the coil repels it; pulled out, the needle flicks the other way and the coil attracts it; pulled out faster, the needle flicks further.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Alternators and dynamos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Alternator: slip rings, a.c., peak when the plane of the coil is parallel to the field. Dynamo: split-ring commutator, d.c. that varies but never reverses.</a:t>
            </a:r>
            <a:endParaRPr lang="en-US" sz="1800" dirty="0"/>
          </a:p>
        </p:txBody>
      </p:sp>
      <p:sp>
        <p:nvSpPr>
          <p:cNvPr id="11" name="point-card"/>
          <p:cNvSpPr/>
          <p:nvPr/>
        </p:nvSpPr>
        <p:spPr>
          <a:xfrm>
            <a:off x="548640" y="1389888"/>
            <a:ext cx="3515258" cy="3686048"/>
          </a:xfrm>
          <a:prstGeom prst="roundRect">
            <a:avLst>
              <a:gd name="adj" fmla="val 1561"/>
            </a:avLst>
          </a:prstGeom>
          <a:solidFill>
            <a:srgbClr val="DEE1E9"/>
          </a:solidFill>
          <a:ln/>
        </p:spPr>
      </p:sp>
      <p:sp>
        <p:nvSpPr>
          <p:cNvPr id="12" name="point-hex"/>
          <p:cNvSpPr/>
          <p:nvPr/>
        </p:nvSpPr>
        <p:spPr>
          <a:xfrm>
            <a:off x="731520" y="1572768"/>
            <a:ext cx="685800" cy="593903"/>
          </a:xfrm>
          <a:prstGeom prst="hexagon">
            <a:avLst/>
          </a:prstGeom>
          <a:solidFill>
            <a:srgbClr val="24366B"/>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An alternator is a coil that spins in a uniform magnetic field, with its two ends connected to two slip rings.</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size of the induced p.d. changes as the coil turns.</a:t>
            </a:r>
            <a:endParaRPr lang="en-US" sz="2400" dirty="0"/>
          </a:p>
        </p:txBody>
      </p:sp>
      <p:sp>
        <p:nvSpPr>
          <p:cNvPr id="19" name="point-card"/>
          <p:cNvSpPr/>
          <p:nvPr/>
        </p:nvSpPr>
        <p:spPr>
          <a:xfrm>
            <a:off x="8127797" y="1389888"/>
            <a:ext cx="3515258" cy="3686048"/>
          </a:xfrm>
          <a:prstGeom prst="roundRect">
            <a:avLst>
              <a:gd name="adj" fmla="val 1561"/>
            </a:avLst>
          </a:prstGeom>
          <a:solidFill>
            <a:srgbClr val="DEE1E9"/>
          </a:solidFill>
          <a:ln/>
        </p:spPr>
      </p:sp>
      <p:sp>
        <p:nvSpPr>
          <p:cNvPr id="20" name="point-hex"/>
          <p:cNvSpPr/>
          <p:nvPr/>
        </p:nvSpPr>
        <p:spPr>
          <a:xfrm>
            <a:off x="8310677" y="1572768"/>
            <a:ext cx="685800" cy="593903"/>
          </a:xfrm>
          <a:prstGeom prst="hexagon">
            <a:avLst/>
          </a:prstGeom>
          <a:solidFill>
            <a:srgbClr val="24366B"/>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dynamo is the same coil and magnet but with a split-ring commutator instead of slip rings.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Microphones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point-card"/>
          <p:cNvSpPr/>
          <p:nvPr/>
        </p:nvSpPr>
        <p:spPr>
          <a:xfrm>
            <a:off x="548640" y="1389888"/>
            <a:ext cx="3515258" cy="4754880"/>
          </a:xfrm>
          <a:prstGeom prst="roundRect">
            <a:avLst>
              <a:gd name="adj" fmla="val 1561"/>
            </a:avLst>
          </a:prstGeom>
          <a:solidFill>
            <a:srgbClr val="DEE1E9"/>
          </a:solidFill>
          <a:ln/>
        </p:spPr>
      </p:sp>
      <p:sp>
        <p:nvSpPr>
          <p:cNvPr id="8" name="point-hex"/>
          <p:cNvSpPr/>
          <p:nvPr/>
        </p:nvSpPr>
        <p:spPr>
          <a:xfrm>
            <a:off x="731520" y="1572768"/>
            <a:ext cx="685800" cy="593903"/>
          </a:xfrm>
          <a:prstGeom prst="hexagon">
            <a:avLst/>
          </a:prstGeom>
          <a:solidFill>
            <a:srgbClr val="24366B"/>
          </a:solidFill>
          <a:ln/>
        </p:spPr>
      </p:sp>
      <p:sp>
        <p:nvSpPr>
          <p:cNvPr id="9"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point"/>
          <p:cNvSpPr txBox="1"/>
          <p:nvPr/>
        </p:nvSpPr>
        <p:spPr>
          <a:xfrm>
            <a:off x="731520"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moving-coil microphone is a loudspeaker working backwards. A thin diaphragm is fixed to a small coil that sits in the field of a permanent magnet.</a:t>
            </a:r>
            <a:endParaRPr lang="en-US" sz="2400" dirty="0"/>
          </a:p>
        </p:txBody>
      </p:sp>
      <p:sp>
        <p:nvSpPr>
          <p:cNvPr id="11" name="point-card"/>
          <p:cNvSpPr/>
          <p:nvPr/>
        </p:nvSpPr>
        <p:spPr>
          <a:xfrm>
            <a:off x="4338218" y="1389888"/>
            <a:ext cx="3515258" cy="4754880"/>
          </a:xfrm>
          <a:prstGeom prst="roundRect">
            <a:avLst>
              <a:gd name="adj" fmla="val 1561"/>
            </a:avLst>
          </a:prstGeom>
          <a:solidFill>
            <a:srgbClr val="F3EADB"/>
          </a:solidFill>
          <a:ln/>
        </p:spPr>
      </p:sp>
      <p:sp>
        <p:nvSpPr>
          <p:cNvPr id="12" name="point-hex"/>
          <p:cNvSpPr/>
          <p:nvPr/>
        </p:nvSpPr>
        <p:spPr>
          <a:xfrm>
            <a:off x="4521098" y="1572768"/>
            <a:ext cx="685800" cy="593903"/>
          </a:xfrm>
          <a:prstGeom prst="hexagon">
            <a:avLst/>
          </a:prstGeom>
          <a:solidFill>
            <a:srgbClr val="B8862B"/>
          </a:solidFill>
          <a:ln/>
        </p:spPr>
      </p:sp>
      <p:sp>
        <p:nvSpPr>
          <p:cNvPr id="13"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4" name="point"/>
          <p:cNvSpPr txBox="1"/>
          <p:nvPr/>
        </p:nvSpPr>
        <p:spPr>
          <a:xfrm>
            <a:off x="4521098"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coil moving in a magnetic field has a potential difference induced across it: the generator effect.</a:t>
            </a:r>
            <a:endParaRPr lang="en-US" sz="2400" dirty="0"/>
          </a:p>
        </p:txBody>
      </p:sp>
      <p:sp>
        <p:nvSpPr>
          <p:cNvPr id="15" name="point-card"/>
          <p:cNvSpPr/>
          <p:nvPr/>
        </p:nvSpPr>
        <p:spPr>
          <a:xfrm>
            <a:off x="8127797" y="1389888"/>
            <a:ext cx="3515258" cy="4754880"/>
          </a:xfrm>
          <a:prstGeom prst="roundRect">
            <a:avLst>
              <a:gd name="adj" fmla="val 1561"/>
            </a:avLst>
          </a:prstGeom>
          <a:solidFill>
            <a:srgbClr val="DEE1E9"/>
          </a:solidFill>
          <a:ln/>
        </p:spPr>
      </p:sp>
      <p:sp>
        <p:nvSpPr>
          <p:cNvPr id="16" name="point-hex"/>
          <p:cNvSpPr/>
          <p:nvPr/>
        </p:nvSpPr>
        <p:spPr>
          <a:xfrm>
            <a:off x="8310677" y="1572768"/>
            <a:ext cx="685800" cy="593903"/>
          </a:xfrm>
          <a:prstGeom prst="hexagon">
            <a:avLst/>
          </a:prstGeom>
          <a:solidFill>
            <a:srgbClr val="24366B"/>
          </a:solidFill>
          <a:ln/>
        </p:spPr>
      </p:sp>
      <p:sp>
        <p:nvSpPr>
          <p:cNvPr id="17"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8" name="point"/>
          <p:cNvSpPr txBox="1"/>
          <p:nvPr/>
        </p:nvSpPr>
        <p:spPr>
          <a:xfrm>
            <a:off x="8310677"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Be careful with the two devices. A loudspeaker takes a current and makes movement: the motor effect.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The task: Make the reading bigger</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A coil connected to a voltmeter is moved through a magnetic field. Which change would increase the induced potential difference?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Moving the coil faster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Using thicker insulation on the wire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Holding the coil still inside the field</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Using fewer turns of wire</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24366B"/>
                </a:solidFill>
                <a:latin typeface="Cambria" pitchFamily="34" charset="0"/>
                <a:ea typeface="Cambria" pitchFamily="34" charset="-122"/>
                <a:cs typeface="Cambria" pitchFamily="34" charset="-120"/>
              </a:rPr>
              <a:t>Same task, three ways in: Make the reading bigger</a:t>
            </a:r>
            <a:endParaRPr lang="en-US" sz="30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coil connected to a voltmeter is moved through a magnetic field. Which change would increase the induced potential difference?</a:t>
            </a:r>
            <a:endParaRPr lang="en-US" sz="2000" dirty="0"/>
          </a:p>
        </p:txBody>
      </p:sp>
      <p:sp>
        <p:nvSpPr>
          <p:cNvPr id="12" name="col-Support"/>
          <p:cNvSpPr/>
          <p:nvPr/>
        </p:nvSpPr>
        <p:spPr>
          <a:xfrm>
            <a:off x="548640" y="2593848"/>
            <a:ext cx="4667802" cy="3550920"/>
          </a:xfrm>
          <a:prstGeom prst="roundRect">
            <a:avLst>
              <a:gd name="adj" fmla="val 1545"/>
            </a:avLst>
          </a:prstGeom>
          <a:solidFill>
            <a:srgbClr val="DEE1E9"/>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3936282"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4393482" cy="2801112"/>
          </a:xfrm>
          <a:prstGeom prst="rect">
            <a:avLst/>
          </a:prstGeom>
          <a:noFill/>
          <a:ln/>
        </p:spPr>
        <p:txBody>
          <a:bodyPr wrap="square" lIns="63500" tIns="63500" rIns="63500" bIns="63500" rtlCol="0" anchor="t"/>
          <a:lstStyle/>
          <a:p>
            <a:pPr algn="l" indent="0" marL="0">
              <a:spcAft>
                <a:spcPts val="600"/>
              </a:spcAft>
              <a:buNone/>
            </a:pPr>
            <a:r>
              <a:rPr lang="en-US" sz="2000" b="1" dirty="0">
                <a:solidFill>
                  <a:srgbClr val="24366B"/>
                </a:solidFill>
                <a:latin typeface="Calibri" pitchFamily="34" charset="0"/>
                <a:ea typeface="Calibri" pitchFamily="34" charset="-122"/>
                <a:cs typeface="Calibri" pitchFamily="34" charset="-120"/>
              </a:rPr>
              <a:t>1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Recall the three ways: faster motion, stronger field, more turns.</a:t>
            </a:r>
            <a:endParaRPr lang="en-US" sz="2000" dirty="0"/>
          </a:p>
          <a:p>
            <a:pPr algn="l" indent="0" marL="0">
              <a:spcAft>
                <a:spcPts val="600"/>
              </a:spcAft>
              <a:buNone/>
            </a:pPr>
            <a:r>
              <a:rPr lang="en-US" sz="2000" b="1" dirty="0">
                <a:solidFill>
                  <a:srgbClr val="24366B"/>
                </a:solidFill>
                <a:latin typeface="Calibri" pitchFamily="34" charset="0"/>
                <a:ea typeface="Calibri" pitchFamily="34" charset="-122"/>
                <a:cs typeface="Calibri" pitchFamily="34" charset="-120"/>
              </a:rPr>
              <a:t>2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Check each option against the list.</a:t>
            </a:r>
            <a:endParaRPr lang="en-US" sz="2000" dirty="0"/>
          </a:p>
          <a:p>
            <a:pPr algn="l" indent="0" marL="0">
              <a:spcAft>
                <a:spcPts val="600"/>
              </a:spcAft>
              <a:buNone/>
            </a:pPr>
            <a:r>
              <a:rPr lang="en-US" sz="2000" b="1" dirty="0">
                <a:solidFill>
                  <a:srgbClr val="24366B"/>
                </a:solidFill>
                <a:latin typeface="Calibri" pitchFamily="34" charset="0"/>
                <a:ea typeface="Calibri" pitchFamily="34" charset="-122"/>
                <a:cs typeface="Calibri" pitchFamily="34" charset="-120"/>
              </a:rPr>
              <a:t>3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Anything that stops the motion gives zero.</a:t>
            </a:r>
            <a:endParaRPr lang="en-US" sz="2000" dirty="0"/>
          </a:p>
          <a:p>
            <a:pPr algn="l" indent="0" marL="0">
              <a:spcAft>
                <a:spcPts val="600"/>
              </a:spcAft>
              <a:buNone/>
            </a:pPr>
            <a:r>
              <a:rPr lang="en-US" sz="2000" b="1" dirty="0">
                <a:solidFill>
                  <a:srgbClr val="24366B"/>
                </a:solidFill>
                <a:latin typeface="Calibri" pitchFamily="34" charset="0"/>
                <a:ea typeface="Calibri" pitchFamily="34" charset="-122"/>
                <a:cs typeface="Calibri" pitchFamily="34" charset="-120"/>
              </a:rPr>
              <a:t>4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Fewer turns goes the wrong way.</a:t>
            </a:r>
            <a:endParaRPr lang="en-US" sz="2000" dirty="0"/>
          </a:p>
        </p:txBody>
      </p:sp>
      <p:sp>
        <p:nvSpPr>
          <p:cNvPr id="17" name="col-Core"/>
          <p:cNvSpPr/>
          <p:nvPr/>
        </p:nvSpPr>
        <p:spPr>
          <a:xfrm>
            <a:off x="5490762" y="2593848"/>
            <a:ext cx="2938987" cy="3550920"/>
          </a:xfrm>
          <a:prstGeom prst="roundRect">
            <a:avLst>
              <a:gd name="adj" fmla="val 1867"/>
            </a:avLst>
          </a:prstGeom>
          <a:solidFill>
            <a:srgbClr val="C4C9D7"/>
          </a:solidFill>
          <a:ln/>
        </p:spPr>
      </p:sp>
      <p:sp>
        <p:nvSpPr>
          <p:cNvPr id="18" name="col-hex"/>
          <p:cNvSpPr/>
          <p:nvPr/>
        </p:nvSpPr>
        <p:spPr>
          <a:xfrm>
            <a:off x="5600490"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33928"/>
            <a:ext cx="2664667" cy="2801112"/>
          </a:xfrm>
          <a:prstGeom prst="rect">
            <a:avLst/>
          </a:prstGeom>
          <a:noFill/>
          <a:ln/>
        </p:spPr>
        <p:txBody>
          <a:bodyPr wrap="square" lIns="63500" tIns="63500" rIns="63500" bIns="63500" rtlCol="0" anchor="t"/>
          <a:lstStyle/>
          <a:p>
            <a:pPr algn="l" indent="0" marL="0">
              <a:buNone/>
            </a:pPr>
            <a:r>
              <a:rPr lang="en-US" sz="2000" b="1" dirty="0">
                <a:solidFill>
                  <a:srgbClr val="1D2B56"/>
                </a:solidFill>
                <a:latin typeface="Calibri" pitchFamily="34" charset="0"/>
                <a:ea typeface="Calibri" pitchFamily="34" charset="-122"/>
                <a:cs typeface="Calibri" pitchFamily="34" charset="-120"/>
              </a:rPr>
              <a:t>Hint:  </a:t>
            </a:r>
            <a:pPr algn="l" indent="0" marL="0">
              <a:buNone/>
            </a:pPr>
            <a:r>
              <a:rPr lang="en-US" sz="2000" dirty="0">
                <a:solidFill>
                  <a:srgbClr val="1E2229"/>
                </a:solidFill>
                <a:latin typeface="Calibri" pitchFamily="34" charset="0"/>
                <a:ea typeface="Calibri" pitchFamily="34" charset="-122"/>
                <a:cs typeface="Calibri" pitchFamily="34" charset="-120"/>
              </a:rPr>
              <a:t>Faster, stronger, more turns. Which option is one of these?</a:t>
            </a:r>
            <a:endParaRPr lang="en-US" sz="2000" dirty="0"/>
          </a:p>
        </p:txBody>
      </p:sp>
      <p:sp>
        <p:nvSpPr>
          <p:cNvPr id="22" name="col-Stretch"/>
          <p:cNvSpPr/>
          <p:nvPr/>
        </p:nvSpPr>
        <p:spPr>
          <a:xfrm>
            <a:off x="8704069" y="2593848"/>
            <a:ext cx="2938987" cy="3550920"/>
          </a:xfrm>
          <a:prstGeom prst="roundRect">
            <a:avLst>
              <a:gd name="adj" fmla="val 1867"/>
            </a:avLst>
          </a:prstGeom>
          <a:solidFill>
            <a:srgbClr val="24366B"/>
          </a:solidFill>
          <a:ln/>
        </p:spPr>
      </p:sp>
      <p:sp>
        <p:nvSpPr>
          <p:cNvPr id="23" name="col-hex"/>
          <p:cNvSpPr/>
          <p:nvPr/>
        </p:nvSpPr>
        <p:spPr>
          <a:xfrm>
            <a:off x="8813797"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33928"/>
            <a:ext cx="2664667" cy="2801112"/>
          </a:xfrm>
          <a:prstGeom prst="rect">
            <a:avLst/>
          </a:prstGeom>
          <a:noFill/>
          <a:ln/>
        </p:spPr>
        <p:txBody>
          <a:bodyPr wrap="square" lIns="63500" tIns="63500" rIns="63500" bIns="63500" rtlCol="0" anchor="t"/>
          <a:lstStyle/>
          <a:p>
            <a:pPr algn="l" indent="0" marL="0">
              <a:buNone/>
            </a:pPr>
            <a:r>
              <a:rPr lang="en-US" sz="2000" b="1" dirty="0">
                <a:solidFill>
                  <a:srgbClr val="D4B680"/>
                </a:solidFill>
                <a:latin typeface="Calibri" pitchFamily="34" charset="0"/>
                <a:ea typeface="Calibri" pitchFamily="34" charset="-122"/>
                <a:cs typeface="Calibri" pitchFamily="34" charset="-120"/>
              </a:rPr>
              <a:t>Then:  </a:t>
            </a:r>
            <a:pPr algn="l" indent="0" marL="0">
              <a:buNone/>
            </a:pPr>
            <a:r>
              <a:rPr lang="en-US" sz="2000" dirty="0">
                <a:solidFill>
                  <a:srgbClr val="FFFFFF"/>
                </a:solidFill>
                <a:latin typeface="Calibri" pitchFamily="34" charset="0"/>
                <a:ea typeface="Calibri" pitchFamily="34" charset="-122"/>
                <a:cs typeface="Calibri" pitchFamily="34" charset="-120"/>
              </a:rPr>
              <a:t>Explain why the induced p.d. would reverse if the coil were moved back the other way, and sketch what a voltmeter would show as the coil moves in and then out.</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The task: Alternator or dynamo?</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feature to the device it belongs to.</a:t>
            </a:r>
            <a:endParaRPr lang="en-US" sz="2400" dirty="0"/>
          </a:p>
        </p:txBody>
      </p:sp>
      <p:sp>
        <p:nvSpPr>
          <p:cNvPr id="11" name="match-card"/>
          <p:cNvSpPr/>
          <p:nvPr/>
        </p:nvSpPr>
        <p:spPr>
          <a:xfrm>
            <a:off x="777240" y="2468331"/>
            <a:ext cx="5135728" cy="509735"/>
          </a:xfrm>
          <a:prstGeom prst="roundRect">
            <a:avLst>
              <a:gd name="adj" fmla="val 14351"/>
            </a:avLst>
          </a:prstGeom>
          <a:solidFill>
            <a:srgbClr val="E3E5EC"/>
          </a:solidFill>
          <a:ln/>
        </p:spPr>
      </p:sp>
      <p:sp>
        <p:nvSpPr>
          <p:cNvPr id="12" name="match-hex"/>
          <p:cNvSpPr/>
          <p:nvPr/>
        </p:nvSpPr>
        <p:spPr>
          <a:xfrm>
            <a:off x="850392" y="2556906"/>
            <a:ext cx="384048" cy="332586"/>
          </a:xfrm>
          <a:prstGeom prst="hexagon">
            <a:avLst/>
          </a:prstGeom>
          <a:solidFill>
            <a:srgbClr val="24366B"/>
          </a:solidFill>
          <a:ln/>
        </p:spPr>
      </p:sp>
      <p:sp>
        <p:nvSpPr>
          <p:cNvPr id="13" name="match-hex-label"/>
          <p:cNvSpPr txBox="1"/>
          <p:nvPr/>
        </p:nvSpPr>
        <p:spPr>
          <a:xfrm>
            <a:off x="850392" y="255690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4541368" cy="50973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Two slip rings</a:t>
            </a:r>
            <a:endParaRPr lang="en-US" sz="2000" dirty="0"/>
          </a:p>
        </p:txBody>
      </p:sp>
      <p:sp>
        <p:nvSpPr>
          <p:cNvPr id="15" name="match-card"/>
          <p:cNvSpPr/>
          <p:nvPr/>
        </p:nvSpPr>
        <p:spPr>
          <a:xfrm>
            <a:off x="6278728" y="2468331"/>
            <a:ext cx="5135728" cy="509735"/>
          </a:xfrm>
          <a:prstGeom prst="roundRect">
            <a:avLst>
              <a:gd name="adj" fmla="val 14351"/>
            </a:avLst>
          </a:prstGeom>
          <a:solidFill>
            <a:srgbClr val="F3EADB"/>
          </a:solidFill>
          <a:ln/>
        </p:spPr>
      </p:sp>
      <p:sp>
        <p:nvSpPr>
          <p:cNvPr id="16" name="match-hex"/>
          <p:cNvSpPr/>
          <p:nvPr/>
        </p:nvSpPr>
        <p:spPr>
          <a:xfrm>
            <a:off x="6351880" y="2556906"/>
            <a:ext cx="384048" cy="332586"/>
          </a:xfrm>
          <a:prstGeom prst="hexagon">
            <a:avLst/>
          </a:prstGeom>
          <a:solidFill>
            <a:srgbClr val="B8862B"/>
          </a:solidFill>
          <a:ln/>
        </p:spPr>
      </p:sp>
      <p:sp>
        <p:nvSpPr>
          <p:cNvPr id="17" name="match-hex-label"/>
          <p:cNvSpPr txBox="1"/>
          <p:nvPr/>
        </p:nvSpPr>
        <p:spPr>
          <a:xfrm>
            <a:off x="6351880" y="255690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6799936" y="2468331"/>
            <a:ext cx="4541368" cy="50973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Dynamo</a:t>
            </a:r>
            <a:endParaRPr lang="en-US" sz="2000" dirty="0"/>
          </a:p>
        </p:txBody>
      </p:sp>
      <p:sp>
        <p:nvSpPr>
          <p:cNvPr id="19" name="match-card"/>
          <p:cNvSpPr/>
          <p:nvPr/>
        </p:nvSpPr>
        <p:spPr>
          <a:xfrm>
            <a:off x="777240" y="3069507"/>
            <a:ext cx="5135728" cy="799295"/>
          </a:xfrm>
          <a:prstGeom prst="roundRect">
            <a:avLst>
              <a:gd name="adj" fmla="val 9152"/>
            </a:avLst>
          </a:prstGeom>
          <a:solidFill>
            <a:srgbClr val="E3E5EC"/>
          </a:solidFill>
          <a:ln/>
        </p:spPr>
      </p:sp>
      <p:sp>
        <p:nvSpPr>
          <p:cNvPr id="20" name="match-hex"/>
          <p:cNvSpPr/>
          <p:nvPr/>
        </p:nvSpPr>
        <p:spPr>
          <a:xfrm>
            <a:off x="850392" y="3302862"/>
            <a:ext cx="384048" cy="332586"/>
          </a:xfrm>
          <a:prstGeom prst="hexagon">
            <a:avLst/>
          </a:prstGeom>
          <a:solidFill>
            <a:srgbClr val="24366B"/>
          </a:solidFill>
          <a:ln/>
        </p:spPr>
      </p:sp>
      <p:sp>
        <p:nvSpPr>
          <p:cNvPr id="21" name="match-hex-label"/>
          <p:cNvSpPr txBox="1"/>
          <p:nvPr/>
        </p:nvSpPr>
        <p:spPr>
          <a:xfrm>
            <a:off x="850392" y="330286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069507"/>
            <a:ext cx="4541368" cy="79929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Output that reverses direction every half turn</a:t>
            </a:r>
            <a:endParaRPr lang="en-US" sz="2000" dirty="0"/>
          </a:p>
        </p:txBody>
      </p:sp>
      <p:sp>
        <p:nvSpPr>
          <p:cNvPr id="23" name="match-card"/>
          <p:cNvSpPr/>
          <p:nvPr/>
        </p:nvSpPr>
        <p:spPr>
          <a:xfrm>
            <a:off x="6278728" y="3069507"/>
            <a:ext cx="5135728" cy="799295"/>
          </a:xfrm>
          <a:prstGeom prst="roundRect">
            <a:avLst>
              <a:gd name="adj" fmla="val 9152"/>
            </a:avLst>
          </a:prstGeom>
          <a:solidFill>
            <a:srgbClr val="F3EADB"/>
          </a:solidFill>
          <a:ln/>
        </p:spPr>
      </p:sp>
      <p:sp>
        <p:nvSpPr>
          <p:cNvPr id="24" name="match-hex"/>
          <p:cNvSpPr/>
          <p:nvPr/>
        </p:nvSpPr>
        <p:spPr>
          <a:xfrm>
            <a:off x="6351880" y="3302862"/>
            <a:ext cx="384048" cy="332586"/>
          </a:xfrm>
          <a:prstGeom prst="hexagon">
            <a:avLst/>
          </a:prstGeom>
          <a:solidFill>
            <a:srgbClr val="B8862B"/>
          </a:solidFill>
          <a:ln/>
        </p:spPr>
      </p:sp>
      <p:sp>
        <p:nvSpPr>
          <p:cNvPr id="25" name="match-hex-label"/>
          <p:cNvSpPr txBox="1"/>
          <p:nvPr/>
        </p:nvSpPr>
        <p:spPr>
          <a:xfrm>
            <a:off x="6351880" y="330286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6799936" y="3069507"/>
            <a:ext cx="4541368" cy="79929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Alternator's a.c. output</a:t>
            </a:r>
            <a:endParaRPr lang="en-US" sz="2000" dirty="0"/>
          </a:p>
        </p:txBody>
      </p:sp>
      <p:sp>
        <p:nvSpPr>
          <p:cNvPr id="27" name="match-card"/>
          <p:cNvSpPr/>
          <p:nvPr/>
        </p:nvSpPr>
        <p:spPr>
          <a:xfrm>
            <a:off x="777240" y="3960242"/>
            <a:ext cx="5135728" cy="509735"/>
          </a:xfrm>
          <a:prstGeom prst="roundRect">
            <a:avLst>
              <a:gd name="adj" fmla="val 14351"/>
            </a:avLst>
          </a:prstGeom>
          <a:solidFill>
            <a:srgbClr val="E3E5EC"/>
          </a:solidFill>
          <a:ln/>
        </p:spPr>
      </p:sp>
      <p:sp>
        <p:nvSpPr>
          <p:cNvPr id="28" name="match-hex"/>
          <p:cNvSpPr/>
          <p:nvPr/>
        </p:nvSpPr>
        <p:spPr>
          <a:xfrm>
            <a:off x="850392" y="4048817"/>
            <a:ext cx="384048" cy="332586"/>
          </a:xfrm>
          <a:prstGeom prst="hexagon">
            <a:avLst/>
          </a:prstGeom>
          <a:solidFill>
            <a:srgbClr val="24366B"/>
          </a:solidFill>
          <a:ln/>
        </p:spPr>
      </p:sp>
      <p:sp>
        <p:nvSpPr>
          <p:cNvPr id="29" name="match-hex-label"/>
          <p:cNvSpPr txBox="1"/>
          <p:nvPr/>
        </p:nvSpPr>
        <p:spPr>
          <a:xfrm>
            <a:off x="850392" y="404881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3960242"/>
            <a:ext cx="4541368" cy="50973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Split-ring commutator</a:t>
            </a:r>
            <a:endParaRPr lang="en-US" sz="2000" dirty="0"/>
          </a:p>
        </p:txBody>
      </p:sp>
      <p:sp>
        <p:nvSpPr>
          <p:cNvPr id="31" name="match-card"/>
          <p:cNvSpPr/>
          <p:nvPr/>
        </p:nvSpPr>
        <p:spPr>
          <a:xfrm>
            <a:off x="6278728" y="3960242"/>
            <a:ext cx="5135728" cy="509735"/>
          </a:xfrm>
          <a:prstGeom prst="roundRect">
            <a:avLst>
              <a:gd name="adj" fmla="val 14351"/>
            </a:avLst>
          </a:prstGeom>
          <a:solidFill>
            <a:srgbClr val="F3EADB"/>
          </a:solidFill>
          <a:ln/>
        </p:spPr>
      </p:sp>
      <p:sp>
        <p:nvSpPr>
          <p:cNvPr id="32" name="match-hex"/>
          <p:cNvSpPr/>
          <p:nvPr/>
        </p:nvSpPr>
        <p:spPr>
          <a:xfrm>
            <a:off x="6351880" y="4048817"/>
            <a:ext cx="384048" cy="332586"/>
          </a:xfrm>
          <a:prstGeom prst="hexagon">
            <a:avLst/>
          </a:prstGeom>
          <a:solidFill>
            <a:srgbClr val="B8862B"/>
          </a:solidFill>
          <a:ln/>
        </p:spPr>
      </p:sp>
      <p:sp>
        <p:nvSpPr>
          <p:cNvPr id="33" name="match-hex-label"/>
          <p:cNvSpPr txBox="1"/>
          <p:nvPr/>
        </p:nvSpPr>
        <p:spPr>
          <a:xfrm>
            <a:off x="6351880" y="404881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6799936" y="3960242"/>
            <a:ext cx="4541368" cy="50973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Microphone</a:t>
            </a:r>
            <a:endParaRPr lang="en-US" sz="2000" dirty="0"/>
          </a:p>
        </p:txBody>
      </p:sp>
      <p:sp>
        <p:nvSpPr>
          <p:cNvPr id="35" name="match-card"/>
          <p:cNvSpPr/>
          <p:nvPr/>
        </p:nvSpPr>
        <p:spPr>
          <a:xfrm>
            <a:off x="777240" y="4561417"/>
            <a:ext cx="5135728" cy="799295"/>
          </a:xfrm>
          <a:prstGeom prst="roundRect">
            <a:avLst>
              <a:gd name="adj" fmla="val 9152"/>
            </a:avLst>
          </a:prstGeom>
          <a:solidFill>
            <a:srgbClr val="E3E5EC"/>
          </a:solidFill>
          <a:ln/>
        </p:spPr>
      </p:sp>
      <p:sp>
        <p:nvSpPr>
          <p:cNvPr id="36" name="match-hex"/>
          <p:cNvSpPr/>
          <p:nvPr/>
        </p:nvSpPr>
        <p:spPr>
          <a:xfrm>
            <a:off x="850392" y="4794772"/>
            <a:ext cx="384048" cy="332586"/>
          </a:xfrm>
          <a:prstGeom prst="hexagon">
            <a:avLst/>
          </a:prstGeom>
          <a:solidFill>
            <a:srgbClr val="24366B"/>
          </a:solidFill>
          <a:ln/>
        </p:spPr>
      </p:sp>
      <p:sp>
        <p:nvSpPr>
          <p:cNvPr id="37" name="match-hex-label"/>
          <p:cNvSpPr txBox="1"/>
          <p:nvPr/>
        </p:nvSpPr>
        <p:spPr>
          <a:xfrm>
            <a:off x="850392" y="479477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4561417"/>
            <a:ext cx="4541368" cy="79929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Output that varies but always flows the same way</a:t>
            </a:r>
            <a:endParaRPr lang="en-US" sz="2000" dirty="0"/>
          </a:p>
        </p:txBody>
      </p:sp>
      <p:sp>
        <p:nvSpPr>
          <p:cNvPr id="39" name="match-card"/>
          <p:cNvSpPr/>
          <p:nvPr/>
        </p:nvSpPr>
        <p:spPr>
          <a:xfrm>
            <a:off x="6278728" y="4561417"/>
            <a:ext cx="5135728" cy="799295"/>
          </a:xfrm>
          <a:prstGeom prst="roundRect">
            <a:avLst>
              <a:gd name="adj" fmla="val 9152"/>
            </a:avLst>
          </a:prstGeom>
          <a:solidFill>
            <a:srgbClr val="F3EADB"/>
          </a:solidFill>
          <a:ln/>
        </p:spPr>
      </p:sp>
      <p:sp>
        <p:nvSpPr>
          <p:cNvPr id="40" name="match-hex"/>
          <p:cNvSpPr/>
          <p:nvPr/>
        </p:nvSpPr>
        <p:spPr>
          <a:xfrm>
            <a:off x="6351880" y="4794772"/>
            <a:ext cx="384048" cy="332586"/>
          </a:xfrm>
          <a:prstGeom prst="hexagon">
            <a:avLst/>
          </a:prstGeom>
          <a:solidFill>
            <a:srgbClr val="B8862B"/>
          </a:solidFill>
          <a:ln/>
        </p:spPr>
      </p:sp>
      <p:sp>
        <p:nvSpPr>
          <p:cNvPr id="41" name="match-hex-label"/>
          <p:cNvSpPr txBox="1"/>
          <p:nvPr/>
        </p:nvSpPr>
        <p:spPr>
          <a:xfrm>
            <a:off x="6351880" y="479477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6799936" y="4561417"/>
            <a:ext cx="4541368" cy="79929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Dynamo's d.c. output</a:t>
            </a:r>
            <a:endParaRPr lang="en-US" sz="2000" dirty="0"/>
          </a:p>
        </p:txBody>
      </p:sp>
      <p:sp>
        <p:nvSpPr>
          <p:cNvPr id="43" name="match-card"/>
          <p:cNvSpPr/>
          <p:nvPr/>
        </p:nvSpPr>
        <p:spPr>
          <a:xfrm>
            <a:off x="777240" y="5452153"/>
            <a:ext cx="5135728" cy="509735"/>
          </a:xfrm>
          <a:prstGeom prst="roundRect">
            <a:avLst>
              <a:gd name="adj" fmla="val 14351"/>
            </a:avLst>
          </a:prstGeom>
          <a:solidFill>
            <a:srgbClr val="E3E5EC"/>
          </a:solidFill>
          <a:ln/>
        </p:spPr>
      </p:sp>
      <p:sp>
        <p:nvSpPr>
          <p:cNvPr id="44" name="match-hex"/>
          <p:cNvSpPr/>
          <p:nvPr/>
        </p:nvSpPr>
        <p:spPr>
          <a:xfrm>
            <a:off x="850392" y="5540728"/>
            <a:ext cx="384048" cy="332586"/>
          </a:xfrm>
          <a:prstGeom prst="hexagon">
            <a:avLst/>
          </a:prstGeom>
          <a:solidFill>
            <a:srgbClr val="24366B"/>
          </a:solidFill>
          <a:ln/>
        </p:spPr>
      </p:sp>
      <p:sp>
        <p:nvSpPr>
          <p:cNvPr id="45" name="match-hex-label"/>
          <p:cNvSpPr txBox="1"/>
          <p:nvPr/>
        </p:nvSpPr>
        <p:spPr>
          <a:xfrm>
            <a:off x="850392" y="554072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46" name="match-text"/>
          <p:cNvSpPr txBox="1"/>
          <p:nvPr/>
        </p:nvSpPr>
        <p:spPr>
          <a:xfrm>
            <a:off x="1298448" y="5452153"/>
            <a:ext cx="4541368" cy="50973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Diaphragm fixed to a coil</a:t>
            </a:r>
            <a:endParaRPr lang="en-US" sz="2000" dirty="0"/>
          </a:p>
        </p:txBody>
      </p:sp>
      <p:sp>
        <p:nvSpPr>
          <p:cNvPr id="47" name="match-card"/>
          <p:cNvSpPr/>
          <p:nvPr/>
        </p:nvSpPr>
        <p:spPr>
          <a:xfrm>
            <a:off x="6278728" y="5452153"/>
            <a:ext cx="5135728" cy="509735"/>
          </a:xfrm>
          <a:prstGeom prst="roundRect">
            <a:avLst>
              <a:gd name="adj" fmla="val 14351"/>
            </a:avLst>
          </a:prstGeom>
          <a:solidFill>
            <a:srgbClr val="F3EADB"/>
          </a:solidFill>
          <a:ln/>
        </p:spPr>
      </p:sp>
      <p:sp>
        <p:nvSpPr>
          <p:cNvPr id="48" name="match-hex"/>
          <p:cNvSpPr/>
          <p:nvPr/>
        </p:nvSpPr>
        <p:spPr>
          <a:xfrm>
            <a:off x="6351880" y="5540728"/>
            <a:ext cx="384048" cy="332586"/>
          </a:xfrm>
          <a:prstGeom prst="hexagon">
            <a:avLst/>
          </a:prstGeom>
          <a:solidFill>
            <a:srgbClr val="B8862B"/>
          </a:solidFill>
          <a:ln/>
        </p:spPr>
      </p:sp>
      <p:sp>
        <p:nvSpPr>
          <p:cNvPr id="49" name="match-hex-label"/>
          <p:cNvSpPr txBox="1"/>
          <p:nvPr/>
        </p:nvSpPr>
        <p:spPr>
          <a:xfrm>
            <a:off x="6351880" y="554072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E</a:t>
            </a:r>
            <a:endParaRPr lang="en-US" sz="1800" dirty="0"/>
          </a:p>
        </p:txBody>
      </p:sp>
      <p:sp>
        <p:nvSpPr>
          <p:cNvPr id="50" name="match-text"/>
          <p:cNvSpPr txBox="1"/>
          <p:nvPr/>
        </p:nvSpPr>
        <p:spPr>
          <a:xfrm>
            <a:off x="6799936" y="5452153"/>
            <a:ext cx="4541368" cy="50973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Alternator</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24366B"/>
                </a:solidFill>
                <a:latin typeface="Cambria" pitchFamily="34" charset="0"/>
                <a:ea typeface="Cambria" pitchFamily="34" charset="-122"/>
                <a:cs typeface="Cambria" pitchFamily="34" charset="-120"/>
              </a:rPr>
              <a:t>Same task, three ways in: Alternator or dynamo?</a:t>
            </a:r>
            <a:endParaRPr lang="en-US" sz="30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Alternator or dynamo?</a:t>
            </a:r>
            <a:endParaRPr lang="en-US" sz="2000" dirty="0"/>
          </a:p>
        </p:txBody>
      </p:sp>
      <p:sp>
        <p:nvSpPr>
          <p:cNvPr id="12" name="col-Support"/>
          <p:cNvSpPr/>
          <p:nvPr/>
        </p:nvSpPr>
        <p:spPr>
          <a:xfrm>
            <a:off x="548640" y="2395728"/>
            <a:ext cx="4667802" cy="3749040"/>
          </a:xfrm>
          <a:prstGeom prst="roundRect">
            <a:avLst>
              <a:gd name="adj" fmla="val 1463"/>
            </a:avLst>
          </a:prstGeom>
          <a:solidFill>
            <a:srgbClr val="DEE1E9"/>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Slip rings are complete rings: the connections never swap, so the output reverses.</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split ring swaps the connections every half turn, so the output never reverses.</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a.c. goes with the alternator; d.c. goes with the dynamo.</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diaphragm is the part that sound moves.</a:t>
            </a:r>
            <a:endParaRPr lang="en-US" sz="1800" dirty="0"/>
          </a:p>
        </p:txBody>
      </p:sp>
      <p:sp>
        <p:nvSpPr>
          <p:cNvPr id="17" name="col-Core"/>
          <p:cNvSpPr/>
          <p:nvPr/>
        </p:nvSpPr>
        <p:spPr>
          <a:xfrm>
            <a:off x="5490762" y="2395728"/>
            <a:ext cx="2938987" cy="3749040"/>
          </a:xfrm>
          <a:prstGeom prst="roundRect">
            <a:avLst>
              <a:gd name="adj" fmla="val 1867"/>
            </a:avLst>
          </a:prstGeom>
          <a:solidFill>
            <a:srgbClr val="C4C9D7"/>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1D2B56"/>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Complete rings keep the connections; a split ring swaps them. That decides a.c. or d.c.</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24366B"/>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Describe how the dynamo's output would change if the coil were spun twice as fast, mentioning both the peak value and the frequency.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24366B"/>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24366B"/>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615184"/>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A wire is moved through a magnetic field. What is induced across the ends of the wire?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magnetic pole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resistance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charge of exactly 1 coulomb</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potential difference</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E5E7ED"/>
          </a:solidFill>
          <a:ln w="12700">
            <a:solidFill>
              <a:srgbClr val="8790AE"/>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 Make the reading bigger</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coil connected to a voltmeter is moved through a magnetic field. Which change would increase the induced potential difference?</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Moving the coil faster</a:t>
            </a:r>
            <a:endParaRPr lang="en-US" sz="1800" dirty="0"/>
          </a:p>
        </p:txBody>
      </p:sp>
      <p:sp>
        <p:nvSpPr>
          <p:cNvPr id="10" name="why-panel"/>
          <p:cNvSpPr/>
          <p:nvPr/>
        </p:nvSpPr>
        <p:spPr>
          <a:xfrm>
            <a:off x="7223760" y="1389888"/>
            <a:ext cx="4419295" cy="4754880"/>
          </a:xfrm>
          <a:prstGeom prst="roundRect">
            <a:avLst>
              <a:gd name="adj" fmla="val 1035"/>
            </a:avLst>
          </a:prstGeom>
          <a:solidFill>
            <a:srgbClr val="DEE1E9"/>
          </a:solidFill>
          <a:ln/>
        </p:spPr>
      </p:sp>
      <p:sp>
        <p:nvSpPr>
          <p:cNvPr id="11" name="why-hex"/>
          <p:cNvSpPr/>
          <p:nvPr/>
        </p:nvSpPr>
        <p:spPr>
          <a:xfrm>
            <a:off x="7406640" y="1572768"/>
            <a:ext cx="685800" cy="593903"/>
          </a:xfrm>
          <a:prstGeom prst="hexagon">
            <a:avLst/>
          </a:prstGeom>
          <a:solidFill>
            <a:srgbClr val="24366B"/>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Faster movement cuts the field lines more quickly, so the induced p.d. is bigger. A stronger field or more turns would also increase it; no motion gives nothing; fewer turns gives less.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 Alternator or dynamo?</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Two slip rings  →  E  Alternator</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Output that reverses direction every half turn  →  B  Alternator's a.c. output</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Split-ring commutator  →  A  Dynamo</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Output that varies but always flows the same way  →  D  Dynamo's d.c. output</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Diaphragm fixed to a coil  →  C  Microphone</a:t>
            </a:r>
            <a:endParaRPr lang="en-US" sz="2400" dirty="0"/>
          </a:p>
        </p:txBody>
      </p:sp>
      <p:sp>
        <p:nvSpPr>
          <p:cNvPr id="10" name="why-panel"/>
          <p:cNvSpPr/>
          <p:nvPr/>
        </p:nvSpPr>
        <p:spPr>
          <a:xfrm>
            <a:off x="7223760" y="1389888"/>
            <a:ext cx="4419295" cy="4754880"/>
          </a:xfrm>
          <a:prstGeom prst="roundRect">
            <a:avLst>
              <a:gd name="adj" fmla="val 1035"/>
            </a:avLst>
          </a:prstGeom>
          <a:solidFill>
            <a:srgbClr val="DEE1E9"/>
          </a:solidFill>
          <a:ln/>
        </p:spPr>
      </p:sp>
      <p:sp>
        <p:nvSpPr>
          <p:cNvPr id="11" name="why-hex"/>
          <p:cNvSpPr/>
          <p:nvPr/>
        </p:nvSpPr>
        <p:spPr>
          <a:xfrm>
            <a:off x="7406640" y="1572768"/>
            <a:ext cx="685800" cy="593903"/>
          </a:xfrm>
          <a:prstGeom prst="hexagon">
            <a:avLst/>
          </a:prstGeom>
          <a:solidFill>
            <a:srgbClr val="24366B"/>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Alternator: slip rings, a.c. that reverses every half turn. Dynamo: split-ring commutator, d.c. that varies but never reverses. Microphone: a diaphragm moves a coil in a field.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wire is moved through a magnetic field. What is induced across the ends of the wire?</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A potential difference</a:t>
            </a:r>
            <a:endParaRPr lang="en-US" sz="1800" dirty="0"/>
          </a:p>
        </p:txBody>
      </p:sp>
      <p:sp>
        <p:nvSpPr>
          <p:cNvPr id="10" name="why-panel"/>
          <p:cNvSpPr/>
          <p:nvPr/>
        </p:nvSpPr>
        <p:spPr>
          <a:xfrm>
            <a:off x="7223760" y="1389888"/>
            <a:ext cx="4419295" cy="4754880"/>
          </a:xfrm>
          <a:prstGeom prst="roundRect">
            <a:avLst>
              <a:gd name="adj" fmla="val 1035"/>
            </a:avLst>
          </a:prstGeom>
          <a:solidFill>
            <a:srgbClr val="DEE1E9"/>
          </a:solidFill>
          <a:ln/>
        </p:spPr>
      </p:sp>
      <p:sp>
        <p:nvSpPr>
          <p:cNvPr id="11" name="why-hex"/>
          <p:cNvSpPr/>
          <p:nvPr/>
        </p:nvSpPr>
        <p:spPr>
          <a:xfrm>
            <a:off x="7406640" y="1572768"/>
            <a:ext cx="685800" cy="593903"/>
          </a:xfrm>
          <a:prstGeom prst="hexagon">
            <a:avLst/>
          </a:prstGeom>
          <a:solidFill>
            <a:srgbClr val="24366B"/>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Relative motion between a conductor and a magnetic field induces a potential difference. A current flows only if there is a complete circuit.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Ad Astra triple">
  <a:themeElements>
    <a:clrScheme name="Ad Astra triple">
      <a:dk1>
        <a:srgbClr val="1E2229"/>
      </a:dk1>
      <a:lt1>
        <a:srgbClr val="FFFFFF"/>
      </a:lt1>
      <a:dk2>
        <a:srgbClr val="1D2B56"/>
      </a:dk2>
      <a:lt2>
        <a:srgbClr val="DEE1E9"/>
      </a:lt2>
      <a:accent1>
        <a:srgbClr val="24366B"/>
      </a:accent1>
      <a:accent2>
        <a:srgbClr val="B8862B"/>
      </a:accent2>
      <a:accent3>
        <a:srgbClr val="7C86A6"/>
      </a:accent3>
      <a:accent4>
        <a:srgbClr val="815E1E"/>
      </a:accent4>
      <a:accent5>
        <a:srgbClr val="4A505C"/>
      </a:accent5>
      <a:accent6>
        <a:srgbClr val="D8BC8A"/>
      </a:accent6>
      <a:hlink>
        <a:srgbClr val="24366B"/>
      </a:hlink>
      <a:folHlink>
        <a:srgbClr val="19264B"/>
      </a:folHlink>
    </a:clrScheme>
    <a:fontScheme name="Ad Astra tripl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Electromagnetism · Chapter 5: The generator effect: alternators, dynamos and microphones</dc:title>
  <dc:subject>Physics (Triple Science) · Year 11</dc:subject>
  <dc:creator>Dr Vitor Merissi de Carvalho</dc:creator>
  <cp:lastModifiedBy>Dr Vitor Merissi de Carvalho</cp:lastModifiedBy>
  <cp:revision>1</cp:revision>
  <dcterms:created xsi:type="dcterms:W3CDTF">2026-10-18T17:47:20Z</dcterms:created>
  <dcterms:modified xsi:type="dcterms:W3CDTF">2026-10-18T17:47:20Z</dcterms:modified>
</cp:coreProperties>
</file>