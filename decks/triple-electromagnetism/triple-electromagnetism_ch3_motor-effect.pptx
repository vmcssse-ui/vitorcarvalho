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cb9c273-8b8e-9846-fd8a-719fbe08a52f}">
          <p14:sldIdLst>
            <p14:sldId id="256"/>
          </p14:sldIdLst>
        </p14:section>
        <p14:section name="Gate" id="{0782a079-6b7a-6631-35c2-cb6b58633db7}">
          <p14:sldIdLst>
            <p14:sldId id="257"/>
            <p14:sldId id="258"/>
          </p14:sldIdLst>
        </p14:section>
        <p14:section name="Pre-teach" id="{50247005-1953-0fdc-064e-5c4c5f48d523}">
          <p14:sldIdLst>
            <p14:sldId id="259"/>
          </p14:sldIdLst>
        </p14:section>
        <p14:section name="Read-along" id="{b3ae6556-9253-ff7a-0bcc-cced8c2d1a87}">
          <p14:sldIdLst>
            <p14:sldId id="260"/>
            <p14:sldId id="261"/>
          </p14:sldIdLst>
        </p14:section>
        <p14:section name="Teach" id="{adac6b5c-cc79-ea20-0073-4667e3631ce6}">
          <p14:sldIdLst>
            <p14:sldId id="262"/>
            <p14:sldId id="263"/>
            <p14:sldId id="264"/>
            <p14:sldId id="265"/>
            <p14:sldId id="266"/>
          </p14:sldIdLst>
        </p14:section>
        <p14:section name="Routes" id="{44931d18-7e2c-2e8f-8956-a7666db39f0c}">
          <p14:sldIdLst>
            <p14:sldId id="267"/>
            <p14:sldId id="268"/>
            <p14:sldId id="269"/>
          </p14:sldIdLst>
        </p14:section>
        <p14:section name="Close" id="{ce1f0a11-3228-c823-f660-0363df315eb7}">
          <p14:sldIdLst>
            <p14:sldId id="270"/>
          </p14:sldIdLst>
        </p14:section>
        <p14:section name="Answers" id="{3e7a5355-c3e6-a868-3fa0-086d62151d4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of 6: The motor effect and F = B I l. Why a wire carrying a current is pushed when it sits in a magnetic field, how to find which way it is pushed, and how to calculate the size of the push. (Also in Combined Science; the equation is Higher.)
This deck covers the department's lesson: 4 (P15.4 The motor effect: Why does a current-carrying wire in a magnetic field feel a force, and how does a motor use it?).
Read the big question aloud: "How can a coil of wire and a magnet turn electricity into movement, movement into electricity, and 230 V into 400 000 V?"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In Fleming's left-hand rule, what does the thumb represent?  →  D   The force (direction of motion)
2. A wire of length 0.5 m carries a current of 3 A at right angles to a magnetic field of flux density 0.2 T. Calculate the force on the wire in newtons.  →  0.3 N
3. The force on a current-carrying wire is at its maximum when the current is ___ to the magnetic field.  →  perpendicular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D   The force (direction of motion). Thumb: force or motion. First finger: field (N to S). Second finger: conventional current.
2. 0.3 N. F = B I l = 0.2 × 3 × 0.5 = 0.3 N. Exact from the data (1 s.f. data gives 0.3).
3. perpendicular. At right angles (perpendicular) the force is biggest; parallel to the field there is no force at all.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motor effect: the force on a wire carrying a current in a magnetic field. Example: "The motor effect makes the wire jump when the switch is pressed."
• conductor: a material, such as a copper wire, that a current can flow through. Example: "A force acts on the conductor when it carries a current in a magnetic field."
• at right angles: at 90 degrees, like the corner of a square. Example: "The force is biggest when the current is at right angles to the field."
• magnetic flux density: the strength of a magnetic field, measured in tesla. Example: "A strong magnet has a high magnetic flux density."
• tesla: the unit of magnetic flux density, symbol T. Example: "The field between the magnets was 0.2 tesla."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wire carrying a current has its own magnetic field.
2. Put that wire between the poles of a magnet.
3. Now there are two fields, and they push on each other.
4. The wire feels a force. This is the motor effect.
5. The magnet feels an equal force the other way.
6. The force is biggest when the current is at right angles to the field.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There is no force when the current runs along the field lines.
8. Fleming's left-hand rule tells you the direction of the force.
9. Thumb for force, first finger for field, second finger for current.
10. Reverse the current and the force reverses.
11. Reverse the field and the force reverses too.
12. More current, a stronger field or a longer wire means a bigger force.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Two fields push on each other. Say it in your own words, then check understanding with a quick question: ask a pupil from the pre-teach group first, since they met these words and ideas before the lesson. Pupils try to recall before you re-explain.
You know from Chapter 2 that a current-carrying wire has a magnetic field round it. Place that wire between the poles of a magnet and there are now two magnetic fields in the same space: the magnet's and the wire's. They interact, and the wire experiences a force. This is called the motor effect, because it is what makes every electric motor turn.
The force is not one-sided. The magnet producing the field and the conductor exert equal and opposite forces on each other. In a classroom demonstration the wire jumps because it is light and free to move; the heavy magnet feels the same size of force the other way.
The force is at its maximum when the current is perpendicular (at right angles) to the magnetic field lines. If the wire runs parallel to the field lines there is no force at all. The exam equation assumes the wire is at right angles to the field.
Tip: Motor effect in one line: a conductor carrying a current in a magnetic field experiences a force, because the two fields interact.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Which way? Fleming's left-hand rule. Say it in your own words, then check understanding with a quick question: ask a pupil from the pre-teach group first, since they met these words and ideas before the lesson. Pupils try to recall before you re-explain.
Hold your left hand with the thumb, first finger and second finger all at right angles to each other. Fleming's left-hand rule says: the First finger points along the Field, from the north pole to the south pole; the seCond finger points along the Current, in the direction of conventional current from + to −; and the thuMb then points in the direction of the force, which is the direction of Motion.
Take the deck's example. The field runs from left to right, from the N pole on the left to the S pole on the right. The current in the wire comes out of the page towards you. Point your first finger right and your second finger towards yourself: your thumb points up. The wire is pushed upwards.
Because the force direction depends on both the field and the current, reversing either one reverses the force. Reverse both and the force is back where it started. Remember that the rule uses conventional current, the direction a positive charge would move, from the + terminal to the −, not the direction the electrons actually flow.
Worked example — model it step by step, thinking aloud: A wire runs horizontally between two magnetic poles, N on the left and S on the right. The current in the wire flows into the page, away from you. In which direction is the force on the wire? (1) First finger (Field): points right, from N to S. (2) Second finger (Current): points into the page, away from you. (3) Hold them at right angles with the left hand: the thumb now points downwards. (4) So the force on the wire is downwards. (With the current out of the page it would be upwards, as in the deck.) Answer: Downwards: the thumb of the left hand points down when the first finger points right and the second finger points into the page..
Tip: Left hand for motors (the motor effect). Field N to S; current + to −; thumb gives the push. Practise with a real hand, not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Which way? Fleming's left-hand rule. Say it in your own words, then check understanding with a quick question: ask a pupil from the pre-teach group first, since they met these words and ideas before the lesson. Pupils try to recall before you re-explain.
Hold your left hand with the thumb, first finger and second finger all at right angles to each other. Fleming's left-hand rule says: the First finger points along the Field, from the north pole to the south pole; the seCond finger points along the Current, in the direction of conventional current from + to −; and the thuMb then points in the direction of the force, which is the direction of Motion.
Take the deck's example. The field runs from left to right, from the N pole on the left to the S pole on the right. The current in the wire comes out of the page towards you. Point your first finger right and your second finger towards yourself: your thumb points up. The wire is pushed upwards.
Because the force direction depends on both the field and the current, reversing either one reverses the force. Reverse both and the force is back where it started. Remember that the rule uses conventional current, the direction a positive charge would move, from the + terminal to the −, not the direction the electrons actually flow.
Worked example — model it step by step, thinking aloud: A wire runs horizontally between two magnetic poles, N on the left and S on the right. The current in the wire flows into the page, away from you. In which direction is the force on the wire? (1) First finger (Field): points right, from N to S. (2) Second finger (Current): points into the page, away from you. (3) Hold them at right angles with the left hand: the thumb now points downwards. (4) So the force on the wire is downwards. (With the current out of the page it would be upwards, as in the deck.) Answer: Downwards: the thumb of the left hand points down when the first finger points right and the second finger points into the page..
Tip: Left hand for motors (the motor effect). Field N to S; current + to −; thumb gives the push. Practise with a real hand, not in your head.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How big? Magnetic flux density and F = B I l (Higher). Say it in your own words, then check understanding with a quick question: ask a pupil from the pre-teach group first, since they met these words and ideas before the lesson. Pupils try to recall before you re-explain.
The strength of a magnetic field is called its magnetic flux density. The symbol is B and the unit is the tesla, T. The Earth's field is about 0.00005 T; a strong school magnet is around 0.1 T; the magnets in an MRI scanner reach a few tesla.
For a conductor at right angles to a magnetic field and carrying a current, the force depends on three things: the magnetic flux density of the field, the size of the current, and the length of conductor that is inside the field. The equation is force = magnetic flux density × current × length, written F = B I l. F is in newtons (N), B in tesla (T), I in amperes (A) and l in metres (m).
Every quantity must be in its SI unit before you substitute. Lengths are often given in centimetres: 20 cm is 0.2 m. To find B or I, rearrange: B = F ÷ (I l) and I = F ÷ (B l). This equation is Higher tier, and it is given on the equation sheet, so your job is to rearrange and substitute correctly.
Worked example — model it step by step, thinking aloud: A 0.5 m length of wire carries a current of 2 A at right angles to a magnetic field of flux density 0.3 T. Calculate the force on the wire. (1) Write the equation: F = B I l. (2) Check the units: B = 0.3 T, I = 2 A, l = 0.5 m. All SI, so substitute. (3) F = 0.3 × 2 × 0.5 = 0.3 N. Answer: 0.3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Rearranging F = B I l (Higher). Say it in your own words, then check understanding with a quick question: ask a pupil from the pre-teach group first, since they met these words and ideas before the lesson. Pupils try to recall before you re-explain.
When the force is known and you want the current or the flux density, rearrange first and substitute second. Cover the letter you want: F = B I l with I covered leaves F over B l, so I = F ÷ (B l). With B covered, B = F ÷ (I l).
The commonest slip is to divide by only one of the two quantities. The force is divided by the product of the other two, so work out B × l (or I × l) first, then divide. The second commonest slip is leaving a length in centimetres.
Worked example — model it step by step, thinking aloud: A wire 0.5 m long in a field of 0.4 T experiences a force of 0.6 N. Calculate the current in the wire. (1) Rearrange: I = F ÷ (B l). (2) Work out the bottom first: B l = 0.4 × 0.5 = 0.2. (3) I = 0.6 ÷ 0.2 = 3 A. Answer: 3 A.
Tip: Always calculate B × l (or I × l) as one number before you divide. Then check the unit of the answer: A for current, T for flux density.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way does it move?.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wire sits between two poles, with the field running from left to right (N on the left, S on the right). The conventional current in the wire flows out of the page, towards you. Using Fleming's left-hand rule, which way is the wire pushed?
Support — work through the steps with the group: (1) Hold out your LEFT hand: thumb, first finger and second finger at right angles. (2) First finger = Field: point it to the right (N to S). (3) Second finger = Current: point it towards your face (out of the page). (4) Look at your thumb. It gives the force direction.
Parallel worked example for Support (model it, do not give the task answer): The field runs left to right and the current flows into the page, away from you. Which way is the wire pushed? First finger right.; Second finger pointing away from you.; The thumb points down, so the force is downwards.. Answer: Downwards.
Core — reveal the hint only on request: Left hand. First finger right, second finger towards you. Where is your thumb?
Stretch — no help; when finished: Explain why a wire running parallel to the field lines, from the N pole straight towards the S pole, would feel no force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way does it move?.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wire sits between two poles, with the field running from left to right (N on the left, S on the right). The conventional current in the wire flows out of the page, towards you. Using Fleming's left-hand rule, which way is the wire pushed?
Support — work through the steps with the group: (1) Hold out your LEFT hand: thumb, first finger and second finger at right angles. (2) First finger = Field: point it to the right (N to S). (3) Second finger = Current: point it towards your face (out of the page). (4) Look at your thumb. It gives the force direction.
Parallel worked example for Support (model it, do not give the task answer): The field runs left to right and the current flows into the page, away from you. Which way is the wire pushed? First finger right.; Second finger pointing away from you.; The thumb points down, so the force is downwards.. Answer: Downwards.
Core — reveal the hint only on request: Left hand. First finger right, second finger towards you. Where is your thumb?
Stretch — no help; when finished: Explain why a wire running parallel to the field lines, from the N pole straight towards the S pole, would feel no force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Calculate the force (Higher).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0.25 m length of wire carries a current of 4 A at right angles to a magnetic field of flux density 0.05 T. Calculate the force on the wire in newtons.
Support — work through the steps with the group: (1) Write F = B I l. (2) Check every quantity is in SI units: T, A, m. (3) Multiply the three numbers together. (4) Write the unit N.
Parallel worked example for Support (model it, do not give the task answer): A 0.4 m wire carries 2 A at right angles to a 0.1 T field. Calculate the force. F = B I l.; F = 0.1 × 2 × 0.4.; F = 0.08 N.. Answer: 0.08 N.
Core — reveal the hint only on request: Three numbers, all multiplied. The answer is in newtons.
Stretch — no help; when finished: The same wire is turned so that it runs parallel to the field lines. State the force now and explain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A 20 cm length of wire carries a current of 2 A at right angles to a magnetic field. The force on the wire is 0.12 N. Calculate the magnetic flux density of the field in tesla.
Answer: 0.3 T. Convert 20 cm to 0.2 m, then B = F ÷ (I l) = 0.12 ÷ (2 × 0.2) = 0.12 ÷ 0.4 = 0.3 T.
Source of this question: module 3 task ("Find the flux density (Higher)")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way does it move?. Reveal the answer; pupils mark their own work in a different colour, then read the "why" together. Same destination for every lane, so one answer serves the whole class.
Answer: D   Upwards
Why: Left-hand rule: first finger along the field (left to right), second finger along the conventional current (towards you), and the thumb points upwards. Reversing the current or the field would make it downwards.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Calculate the force (Higher). Reveal the answer; pupils mark their own work in a different colour, then read the "why" together. Same destination for every lane, so one answer serves the whole class.
Answer: 0.05 N
Why: F = B I l = 0.05 × 4 × 0.25 = 0.05 N. All the data were already in SI units, so no conversion was needed.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0.3 T
Why: Convert 20 cm to 0.2 m, then B = F ÷ (I l) = 0.12 ÷ (2 × 0.2) = 0.12 ÷ 0.4 = 0.3 T.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BC1D1"/>
          </a:solidFill>
          <a:ln w="12700">
            <a:solidFill>
              <a:srgbClr val="BBC1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(Triple Science) · Year 11 · Electromagnetism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24366B"/>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8CD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24366B"/>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3</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24366B"/>
                </a:solidFill>
                <a:latin typeface="Calibri" pitchFamily="34" charset="0"/>
                <a:ea typeface="Calibri" pitchFamily="34" charset="-122"/>
                <a:cs typeface="Calibri" pitchFamily="34" charset="-120"/>
              </a:rPr>
              <a:t>Physics (Triple Science)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3/6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Electromagnetism · AQA 8463</a:t>
            </a:r>
            <a:endParaRPr lang="en-US" sz="1800" dirty="0"/>
          </a:p>
        </p:txBody>
      </p:sp>
      <p:sp>
        <p:nvSpPr>
          <p:cNvPr id="10" name="deck-title"/>
          <p:cNvSpPr txBox="1"/>
          <p:nvPr/>
        </p:nvSpPr>
        <p:spPr>
          <a:xfrm>
            <a:off x="548640" y="239318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The motor effect and F = B I l</a:t>
            </a:r>
            <a:endParaRPr lang="en-US" sz="4000" dirty="0"/>
          </a:p>
        </p:txBody>
      </p:sp>
      <p:sp>
        <p:nvSpPr>
          <p:cNvPr id="11" name="lessons-card"/>
          <p:cNvSpPr/>
          <p:nvPr/>
        </p:nvSpPr>
        <p:spPr>
          <a:xfrm>
            <a:off x="548640" y="4069588"/>
            <a:ext cx="5287975" cy="980440"/>
          </a:xfrm>
          <a:prstGeom prst="roundRect">
            <a:avLst>
              <a:gd name="adj" fmla="val 7461"/>
            </a:avLst>
          </a:prstGeom>
          <a:solidFill>
            <a:srgbClr val="DEE1E9"/>
          </a:solidFill>
          <a:ln/>
        </p:spPr>
      </p:sp>
      <p:sp>
        <p:nvSpPr>
          <p:cNvPr id="12" name="lessons"/>
          <p:cNvSpPr txBox="1"/>
          <p:nvPr/>
        </p:nvSpPr>
        <p:spPr>
          <a:xfrm>
            <a:off x="685800" y="41610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24366B"/>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P15.4 The motor effect</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Triple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EE1E9"/>
          </a:solidFill>
          <a:ln w="12700">
            <a:solidFill>
              <a:srgbClr val="9CA5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24366B"/>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can a coil of wire and a magnet turn electricity into movement, movement into electricity, and 230 V into 400 000 V?</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Fleming's left-hand rule, what does the thumb represent?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north pole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current</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magnetic field</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The force (direction of motion)</a:t>
            </a:r>
            <a:endParaRPr lang="en-US" sz="2400" dirty="0"/>
          </a:p>
        </p:txBody>
      </p:sp>
      <p:sp>
        <p:nvSpPr>
          <p:cNvPr id="12"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3" name="card-hex"/>
          <p:cNvSpPr/>
          <p:nvPr/>
        </p:nvSpPr>
        <p:spPr>
          <a:xfrm>
            <a:off x="4521098" y="1572768"/>
            <a:ext cx="640080" cy="554309"/>
          </a:xfrm>
          <a:prstGeom prst="hexagon">
            <a:avLst/>
          </a:prstGeom>
          <a:solidFill>
            <a:srgbClr val="24366B"/>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wire of length 0.5 m carries a current of 3 A at right angles to a magnetic field of flux density 0.2 T. Calculate the force on the wire in newtons.</a:t>
            </a:r>
            <a:endParaRPr lang="en-US" sz="2400" dirty="0"/>
          </a:p>
          <a:p>
            <a:pPr algn="l" indent="0" marL="0">
              <a:buNone/>
            </a:pPr>
            <a:r>
              <a:rPr lang="en-US" sz="2400" b="1" dirty="0">
                <a:solidFill>
                  <a:srgbClr val="24366B"/>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N</a:t>
            </a:r>
            <a:endParaRPr lang="en-US" sz="2400" dirty="0"/>
          </a:p>
        </p:txBody>
      </p:sp>
      <p:sp>
        <p:nvSpPr>
          <p:cNvPr id="17"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18" name="card-hex"/>
          <p:cNvSpPr/>
          <p:nvPr/>
        </p:nvSpPr>
        <p:spPr>
          <a:xfrm>
            <a:off x="8310677" y="1572768"/>
            <a:ext cx="640080" cy="554309"/>
          </a:xfrm>
          <a:prstGeom prst="hexagon">
            <a:avLst/>
          </a:prstGeom>
          <a:solidFill>
            <a:srgbClr val="24366B"/>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The force on a current-carrying wire is at its maximum when the current is ___ to the magnetic field.</a:t>
            </a:r>
            <a:endParaRPr lang="en-US" sz="2200" dirty="0"/>
          </a:p>
          <a:p>
            <a:pPr algn="l" indent="0" marL="0">
              <a:buNone/>
            </a:pPr>
            <a:r>
              <a:rPr lang="en-US" sz="2200" b="1" dirty="0">
                <a:solidFill>
                  <a:srgbClr val="24366B"/>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perpendicular  ·  parallel  ·  opposite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5E7ED"/>
          </a:solidFill>
          <a:ln w="12700">
            <a:solidFill>
              <a:srgbClr val="A7AFC4"/>
            </a:solidFill>
            <a:prstDash val="solid"/>
          </a:ln>
        </p:spPr>
      </p:sp>
      <p:sp>
        <p:nvSpPr>
          <p:cNvPr id="8" name="card-hex"/>
          <p:cNvSpPr/>
          <p:nvPr/>
        </p:nvSpPr>
        <p:spPr>
          <a:xfrm>
            <a:off x="731520" y="1572768"/>
            <a:ext cx="640080" cy="554309"/>
          </a:xfrm>
          <a:prstGeom prst="hexagon">
            <a:avLst/>
          </a:prstGeom>
          <a:solidFill>
            <a:srgbClr val="24366B"/>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ADBBF"/>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force (direction of motion)</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In Fleming's left-hand rule, what does the thumb represent?</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Thumb: force or motion. First finger: field (N to S). Second finger: conventional current.</a:t>
            </a:r>
            <a:endParaRPr lang="en-US" sz="2000" dirty="0"/>
          </a:p>
        </p:txBody>
      </p:sp>
      <p:sp>
        <p:nvSpPr>
          <p:cNvPr id="14" name="card"/>
          <p:cNvSpPr/>
          <p:nvPr/>
        </p:nvSpPr>
        <p:spPr>
          <a:xfrm>
            <a:off x="4338218" y="1389888"/>
            <a:ext cx="3515258" cy="4754880"/>
          </a:xfrm>
          <a:prstGeom prst="roundRect">
            <a:avLst>
              <a:gd name="adj" fmla="val 1561"/>
            </a:avLst>
          </a:prstGeom>
          <a:solidFill>
            <a:srgbClr val="E5E7ED"/>
          </a:solidFill>
          <a:ln w="12700">
            <a:solidFill>
              <a:srgbClr val="A7AFC4"/>
            </a:solidFill>
            <a:prstDash val="solid"/>
          </a:ln>
        </p:spPr>
      </p:sp>
      <p:sp>
        <p:nvSpPr>
          <p:cNvPr id="15" name="card-hex"/>
          <p:cNvSpPr/>
          <p:nvPr/>
        </p:nvSpPr>
        <p:spPr>
          <a:xfrm>
            <a:off x="4521098" y="1572768"/>
            <a:ext cx="640080" cy="554309"/>
          </a:xfrm>
          <a:prstGeom prst="hexagon">
            <a:avLst/>
          </a:prstGeom>
          <a:solidFill>
            <a:srgbClr val="24366B"/>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0.3 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wire of length 0.5 m carries a current of 3 A at right angles to a magnetic field of flux density 0.2 T. Calculate the force on the wire in newtons.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F = B I l = 0.2 × 3 × 0.5 = 0.3 N. Exact from the data (1 s.f. data gives 0.3).</a:t>
            </a:r>
            <a:endParaRPr lang="en-US" sz="1800" dirty="0"/>
          </a:p>
        </p:txBody>
      </p:sp>
      <p:sp>
        <p:nvSpPr>
          <p:cNvPr id="21" name="card"/>
          <p:cNvSpPr/>
          <p:nvPr/>
        </p:nvSpPr>
        <p:spPr>
          <a:xfrm>
            <a:off x="8127797" y="1389888"/>
            <a:ext cx="3515258" cy="4754880"/>
          </a:xfrm>
          <a:prstGeom prst="roundRect">
            <a:avLst>
              <a:gd name="adj" fmla="val 1561"/>
            </a:avLst>
          </a:prstGeom>
          <a:solidFill>
            <a:srgbClr val="E5E7ED"/>
          </a:solidFill>
          <a:ln w="12700">
            <a:solidFill>
              <a:srgbClr val="A7AFC4"/>
            </a:solidFill>
            <a:prstDash val="solid"/>
          </a:ln>
        </p:spPr>
      </p:sp>
      <p:sp>
        <p:nvSpPr>
          <p:cNvPr id="22" name="card-hex"/>
          <p:cNvSpPr/>
          <p:nvPr/>
        </p:nvSpPr>
        <p:spPr>
          <a:xfrm>
            <a:off x="8310677" y="1572768"/>
            <a:ext cx="640080" cy="554309"/>
          </a:xfrm>
          <a:prstGeom prst="hexagon">
            <a:avLst/>
          </a:prstGeom>
          <a:solidFill>
            <a:srgbClr val="24366B"/>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perpendicular</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force on a current-carrying wire is at its maximum when the current is ___ to the magnetic field.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At right angles (perpendicular) the force is biggest; parallel to the field there is no force at all.</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24366B"/>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E3E5EC"/>
          </a:solidFill>
          <a:ln/>
        </p:spPr>
      </p:sp>
      <p:sp>
        <p:nvSpPr>
          <p:cNvPr id="12" name="kw-hex"/>
          <p:cNvSpPr/>
          <p:nvPr/>
        </p:nvSpPr>
        <p:spPr>
          <a:xfrm>
            <a:off x="658368" y="2125000"/>
            <a:ext cx="411480" cy="356342"/>
          </a:xfrm>
          <a:prstGeom prst="hexagon">
            <a:avLst/>
          </a:prstGeom>
          <a:solidFill>
            <a:srgbClr val="24366B"/>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motor effect</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force on a wire carrying a current in a magnetic field</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motor effect makes the wire jump when the switch is pressed.</a:t>
            </a:r>
            <a:endParaRPr lang="en-US" sz="1800" dirty="0"/>
          </a:p>
        </p:txBody>
      </p:sp>
      <p:sp>
        <p:nvSpPr>
          <p:cNvPr id="16" name="kw-row"/>
          <p:cNvSpPr/>
          <p:nvPr/>
        </p:nvSpPr>
        <p:spPr>
          <a:xfrm>
            <a:off x="548640" y="2759253"/>
            <a:ext cx="11094415" cy="765861"/>
          </a:xfrm>
          <a:prstGeom prst="roundRect">
            <a:avLst>
              <a:gd name="adj" fmla="val 7164"/>
            </a:avLst>
          </a:prstGeom>
          <a:solidFill>
            <a:srgbClr val="F3EADB"/>
          </a:solidFill>
          <a:ln/>
        </p:spPr>
      </p:sp>
      <p:sp>
        <p:nvSpPr>
          <p:cNvPr id="17" name="kw-hex"/>
          <p:cNvSpPr/>
          <p:nvPr/>
        </p:nvSpPr>
        <p:spPr>
          <a:xfrm>
            <a:off x="658368" y="2964012"/>
            <a:ext cx="411480" cy="356342"/>
          </a:xfrm>
          <a:prstGeom prst="hexagon">
            <a:avLst/>
          </a:prstGeom>
          <a:solidFill>
            <a:srgbClr val="B8862B"/>
          </a:solidFill>
          <a:ln/>
        </p:spPr>
      </p:sp>
      <p:sp>
        <p:nvSpPr>
          <p:cNvPr id="18" name="kw-cell"/>
          <p:cNvSpPr txBox="1"/>
          <p:nvPr/>
        </p:nvSpPr>
        <p:spPr>
          <a:xfrm>
            <a:off x="1143000" y="2759253"/>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conductor</a:t>
            </a:r>
            <a:endParaRPr lang="en-US" sz="2000" dirty="0"/>
          </a:p>
        </p:txBody>
      </p:sp>
      <p:sp>
        <p:nvSpPr>
          <p:cNvPr id="19" name="kw-cell"/>
          <p:cNvSpPr txBox="1"/>
          <p:nvPr/>
        </p:nvSpPr>
        <p:spPr>
          <a:xfrm>
            <a:off x="3657600" y="2759253"/>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material, such as a copper wire, that a current can flow through</a:t>
            </a:r>
            <a:endParaRPr lang="en-US" sz="1800" dirty="0"/>
          </a:p>
        </p:txBody>
      </p:sp>
      <p:sp>
        <p:nvSpPr>
          <p:cNvPr id="20" name="kw-cell"/>
          <p:cNvSpPr txBox="1"/>
          <p:nvPr/>
        </p:nvSpPr>
        <p:spPr>
          <a:xfrm>
            <a:off x="7315200" y="2759253"/>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force acts on the conductor when it carries a current in a magnetic field.</a:t>
            </a:r>
            <a:endParaRPr lang="en-US" sz="1800" dirty="0"/>
          </a:p>
        </p:txBody>
      </p:sp>
      <p:sp>
        <p:nvSpPr>
          <p:cNvPr id="21" name="kw-row"/>
          <p:cNvSpPr/>
          <p:nvPr/>
        </p:nvSpPr>
        <p:spPr>
          <a:xfrm>
            <a:off x="548640" y="3598266"/>
            <a:ext cx="11094415" cy="765861"/>
          </a:xfrm>
          <a:prstGeom prst="roundRect">
            <a:avLst>
              <a:gd name="adj" fmla="val 7164"/>
            </a:avLst>
          </a:prstGeom>
          <a:solidFill>
            <a:srgbClr val="E3E5EC"/>
          </a:solidFill>
          <a:ln/>
        </p:spPr>
      </p:sp>
      <p:sp>
        <p:nvSpPr>
          <p:cNvPr id="22" name="kw-hex"/>
          <p:cNvSpPr/>
          <p:nvPr/>
        </p:nvSpPr>
        <p:spPr>
          <a:xfrm>
            <a:off x="658368" y="3803025"/>
            <a:ext cx="411480" cy="356342"/>
          </a:xfrm>
          <a:prstGeom prst="hexagon">
            <a:avLst/>
          </a:prstGeom>
          <a:solidFill>
            <a:srgbClr val="24366B"/>
          </a:solidFill>
          <a:ln/>
        </p:spPr>
      </p:sp>
      <p:sp>
        <p:nvSpPr>
          <p:cNvPr id="23" name="kw-cell"/>
          <p:cNvSpPr txBox="1"/>
          <p:nvPr/>
        </p:nvSpPr>
        <p:spPr>
          <a:xfrm>
            <a:off x="1143000" y="3598266"/>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at right angles</a:t>
            </a:r>
            <a:endParaRPr lang="en-US" sz="2000" dirty="0"/>
          </a:p>
        </p:txBody>
      </p:sp>
      <p:sp>
        <p:nvSpPr>
          <p:cNvPr id="24" name="kw-cell"/>
          <p:cNvSpPr txBox="1"/>
          <p:nvPr/>
        </p:nvSpPr>
        <p:spPr>
          <a:xfrm>
            <a:off x="3657600" y="3598266"/>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at 90 degrees, like the corner of a square</a:t>
            </a:r>
            <a:endParaRPr lang="en-US" sz="1800" dirty="0"/>
          </a:p>
        </p:txBody>
      </p:sp>
      <p:sp>
        <p:nvSpPr>
          <p:cNvPr id="25" name="kw-cell"/>
          <p:cNvSpPr txBox="1"/>
          <p:nvPr/>
        </p:nvSpPr>
        <p:spPr>
          <a:xfrm>
            <a:off x="7315200" y="3598266"/>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force is biggest when the current is at right angles to the field.</a:t>
            </a:r>
            <a:endParaRPr lang="en-US" sz="1800" dirty="0"/>
          </a:p>
        </p:txBody>
      </p:sp>
      <p:sp>
        <p:nvSpPr>
          <p:cNvPr id="26" name="kw-row"/>
          <p:cNvSpPr/>
          <p:nvPr/>
        </p:nvSpPr>
        <p:spPr>
          <a:xfrm>
            <a:off x="548640" y="4437278"/>
            <a:ext cx="11094415" cy="868477"/>
          </a:xfrm>
          <a:prstGeom prst="roundRect">
            <a:avLst>
              <a:gd name="adj" fmla="val 6317"/>
            </a:avLst>
          </a:prstGeom>
          <a:solidFill>
            <a:srgbClr val="F3EADB"/>
          </a:solidFill>
          <a:ln/>
        </p:spPr>
      </p:sp>
      <p:sp>
        <p:nvSpPr>
          <p:cNvPr id="27" name="kw-hex"/>
          <p:cNvSpPr/>
          <p:nvPr/>
        </p:nvSpPr>
        <p:spPr>
          <a:xfrm>
            <a:off x="658368" y="4693346"/>
            <a:ext cx="411480" cy="356342"/>
          </a:xfrm>
          <a:prstGeom prst="hexagon">
            <a:avLst/>
          </a:prstGeom>
          <a:solidFill>
            <a:srgbClr val="B8862B"/>
          </a:solidFill>
          <a:ln/>
        </p:spPr>
      </p:sp>
      <p:sp>
        <p:nvSpPr>
          <p:cNvPr id="28" name="kw-cell"/>
          <p:cNvSpPr txBox="1"/>
          <p:nvPr/>
        </p:nvSpPr>
        <p:spPr>
          <a:xfrm>
            <a:off x="1143000" y="4437278"/>
            <a:ext cx="2331720" cy="868477"/>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magnetic flux density</a:t>
            </a:r>
            <a:endParaRPr lang="en-US" sz="2000" dirty="0"/>
          </a:p>
        </p:txBody>
      </p:sp>
      <p:sp>
        <p:nvSpPr>
          <p:cNvPr id="29" name="kw-cell"/>
          <p:cNvSpPr txBox="1"/>
          <p:nvPr/>
        </p:nvSpPr>
        <p:spPr>
          <a:xfrm>
            <a:off x="3657600" y="4437278"/>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strength of a magnetic field, measured in tesla</a:t>
            </a:r>
            <a:endParaRPr lang="en-US" sz="1800" dirty="0"/>
          </a:p>
        </p:txBody>
      </p:sp>
      <p:sp>
        <p:nvSpPr>
          <p:cNvPr id="30" name="kw-cell"/>
          <p:cNvSpPr txBox="1"/>
          <p:nvPr/>
        </p:nvSpPr>
        <p:spPr>
          <a:xfrm>
            <a:off x="7315200" y="4437278"/>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A strong magnet has a high magnetic flux density.</a:t>
            </a:r>
            <a:endParaRPr lang="en-US" sz="1800" dirty="0"/>
          </a:p>
        </p:txBody>
      </p:sp>
      <p:sp>
        <p:nvSpPr>
          <p:cNvPr id="31" name="kw-row"/>
          <p:cNvSpPr/>
          <p:nvPr/>
        </p:nvSpPr>
        <p:spPr>
          <a:xfrm>
            <a:off x="548640" y="5378907"/>
            <a:ext cx="11094415" cy="765861"/>
          </a:xfrm>
          <a:prstGeom prst="roundRect">
            <a:avLst>
              <a:gd name="adj" fmla="val 7164"/>
            </a:avLst>
          </a:prstGeom>
          <a:solidFill>
            <a:srgbClr val="E3E5EC"/>
          </a:solidFill>
          <a:ln/>
        </p:spPr>
      </p:sp>
      <p:sp>
        <p:nvSpPr>
          <p:cNvPr id="32" name="kw-hex"/>
          <p:cNvSpPr/>
          <p:nvPr/>
        </p:nvSpPr>
        <p:spPr>
          <a:xfrm>
            <a:off x="658368" y="5583667"/>
            <a:ext cx="411480" cy="356342"/>
          </a:xfrm>
          <a:prstGeom prst="hexagon">
            <a:avLst/>
          </a:prstGeom>
          <a:solidFill>
            <a:srgbClr val="24366B"/>
          </a:solidFill>
          <a:ln/>
        </p:spPr>
      </p:sp>
      <p:sp>
        <p:nvSpPr>
          <p:cNvPr id="33" name="kw-cell"/>
          <p:cNvSpPr txBox="1"/>
          <p:nvPr/>
        </p:nvSpPr>
        <p:spPr>
          <a:xfrm>
            <a:off x="1143000" y="5378907"/>
            <a:ext cx="2331720" cy="765861"/>
          </a:xfrm>
          <a:prstGeom prst="rect">
            <a:avLst/>
          </a:prstGeom>
          <a:noFill/>
          <a:ln/>
        </p:spPr>
        <p:txBody>
          <a:bodyPr wrap="square" lIns="63500" tIns="63500" rIns="63500" bIns="63500" rtlCol="0" anchor="ctr"/>
          <a:lstStyle/>
          <a:p>
            <a:pPr algn="l" indent="0" marL="0">
              <a:buNone/>
            </a:pPr>
            <a:r>
              <a:rPr lang="en-US" sz="2000" b="1" dirty="0">
                <a:solidFill>
                  <a:srgbClr val="24366B"/>
                </a:solidFill>
                <a:latin typeface="Cambria" pitchFamily="34" charset="0"/>
                <a:ea typeface="Cambria" pitchFamily="34" charset="-122"/>
                <a:cs typeface="Cambria" pitchFamily="34" charset="-120"/>
              </a:rPr>
              <a:t>tesla</a:t>
            </a:r>
            <a:endParaRPr lang="en-US" sz="2000" dirty="0"/>
          </a:p>
        </p:txBody>
      </p:sp>
      <p:sp>
        <p:nvSpPr>
          <p:cNvPr id="34" name="kw-cell"/>
          <p:cNvSpPr txBox="1"/>
          <p:nvPr/>
        </p:nvSpPr>
        <p:spPr>
          <a:xfrm>
            <a:off x="3657600" y="5378907"/>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unit of magnetic flux density, symbol T</a:t>
            </a:r>
            <a:endParaRPr lang="en-US" sz="1800" dirty="0"/>
          </a:p>
        </p:txBody>
      </p:sp>
      <p:sp>
        <p:nvSpPr>
          <p:cNvPr id="35" name="kw-cell"/>
          <p:cNvSpPr txBox="1"/>
          <p:nvPr/>
        </p:nvSpPr>
        <p:spPr>
          <a:xfrm>
            <a:off x="7315200" y="5378907"/>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field between the magnets was 0.2 tesla.</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wire carrying a current has its own magnetic field.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Put that wire between the poles of a magnet.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Now there are two fields, and they push on each other.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wire feels a force. This is the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motor effect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magnet feels an equal force the other way.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force is biggest when the current is </a:t>
            </a:r>
            <a:pPr algn="l" indent="0" marL="0">
              <a:spcAft>
                <a:spcPts val="600"/>
              </a:spcAft>
              <a:buNone/>
            </a:pPr>
            <a:r>
              <a:rPr lang="en-US" sz="2400" b="1" dirty="0">
                <a:solidFill>
                  <a:srgbClr val="24366B"/>
                </a:solidFill>
                <a:latin typeface="Calibri" pitchFamily="34" charset="0"/>
                <a:ea typeface="Calibri" pitchFamily="34" charset="-122"/>
                <a:cs typeface="Calibri" pitchFamily="34" charset="-120"/>
              </a:rPr>
              <a:t>at right angles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to the field.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24366B"/>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5E7ED"/>
          </a:solidFill>
          <a:ln w="12700">
            <a:solidFill>
              <a:srgbClr val="B2B9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is no force when the current runs along the field lines.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Fleming's left-hand rule tells you the direction of the force.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Thumb for force, first finger for field, second finger for current.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Reverse the current and the force reverses.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Reverse the field and the force reverses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More current, a stronger field or a longer wire means a bigger force.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Two fields push on each other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Motor effect in one line: a conductor carrying a current in a magnetic field experiences a force, because the two fields interact.</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 know from Chapter 2 that a current-carrying wire has a magnetic field round it.</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force is not one-sided. The magnet producing the field and the conductor exert equal and opposite forces on each other.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force is at its maximum when the current is perpendicular (at right angles) to the magnetic field lines.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Which way? Fleming's left-hand rule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Left hand for motors (the motor effect). Field N to S; current + to −; thumb gives the push. Practise with a real hand, not in your head.</a:t>
            </a:r>
            <a:endParaRPr lang="en-US" sz="1800" dirty="0"/>
          </a:p>
        </p:txBody>
      </p:sp>
      <p:sp>
        <p:nvSpPr>
          <p:cNvPr id="11" name="point-card"/>
          <p:cNvSpPr/>
          <p:nvPr/>
        </p:nvSpPr>
        <p:spPr>
          <a:xfrm>
            <a:off x="548640" y="1389888"/>
            <a:ext cx="3515258" cy="3686048"/>
          </a:xfrm>
          <a:prstGeom prst="roundRect">
            <a:avLst>
              <a:gd name="adj" fmla="val 1561"/>
            </a:avLst>
          </a:prstGeom>
          <a:solidFill>
            <a:srgbClr val="DEE1E9"/>
          </a:solidFill>
          <a:ln/>
        </p:spPr>
      </p:sp>
      <p:sp>
        <p:nvSpPr>
          <p:cNvPr id="12" name="point-hex"/>
          <p:cNvSpPr/>
          <p:nvPr/>
        </p:nvSpPr>
        <p:spPr>
          <a:xfrm>
            <a:off x="731520" y="1572768"/>
            <a:ext cx="685800" cy="593903"/>
          </a:xfrm>
          <a:prstGeom prst="hexagon">
            <a:avLst/>
          </a:prstGeom>
          <a:solidFill>
            <a:srgbClr val="24366B"/>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Hold your left hand with the thumb, first finger and second finger all at right angles to each other.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Take the deck's example. The field runs from left to right, from the N pole on the left to the S pole on the right.</a:t>
            </a:r>
            <a:endParaRPr lang="en-US" sz="2400" dirty="0"/>
          </a:p>
        </p:txBody>
      </p:sp>
      <p:sp>
        <p:nvSpPr>
          <p:cNvPr id="19" name="point-card"/>
          <p:cNvSpPr/>
          <p:nvPr/>
        </p:nvSpPr>
        <p:spPr>
          <a:xfrm>
            <a:off x="8127797" y="1389888"/>
            <a:ext cx="3515258" cy="3686048"/>
          </a:xfrm>
          <a:prstGeom prst="roundRect">
            <a:avLst>
              <a:gd name="adj" fmla="val 1561"/>
            </a:avLst>
          </a:prstGeom>
          <a:solidFill>
            <a:srgbClr val="DEE1E9"/>
          </a:solidFill>
          <a:ln/>
        </p:spPr>
      </p:sp>
      <p:sp>
        <p:nvSpPr>
          <p:cNvPr id="20" name="point-hex"/>
          <p:cNvSpPr/>
          <p:nvPr/>
        </p:nvSpPr>
        <p:spPr>
          <a:xfrm>
            <a:off x="8310677" y="1572768"/>
            <a:ext cx="685800" cy="593903"/>
          </a:xfrm>
          <a:prstGeom prst="hexagon">
            <a:avLst/>
          </a:prstGeom>
          <a:solidFill>
            <a:srgbClr val="24366B"/>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the force direction depends on both the field and the current, reversing either one reverses the force.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24366B"/>
                </a:solidFill>
                <a:latin typeface="Cambria" pitchFamily="34" charset="0"/>
                <a:ea typeface="Cambria" pitchFamily="34" charset="-122"/>
                <a:cs typeface="Cambria" pitchFamily="34" charset="-120"/>
              </a:rPr>
              <a:t>Worked example: Which way? Fleming's left-hand rule</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1239520"/>
          </a:xfrm>
          <a:prstGeom prst="roundRect">
            <a:avLst>
              <a:gd name="adj" fmla="val 7377"/>
            </a:avLst>
          </a:prstGeom>
          <a:solidFill>
            <a:srgbClr val="DEE1E9"/>
          </a:solidFill>
          <a:ln/>
        </p:spPr>
      </p:sp>
      <p:sp>
        <p:nvSpPr>
          <p:cNvPr id="8" name="worked-q"/>
          <p:cNvSpPr txBox="1"/>
          <p:nvPr/>
        </p:nvSpPr>
        <p:spPr>
          <a:xfrm>
            <a:off x="731520" y="1481328"/>
            <a:ext cx="10728655" cy="105664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A wire runs horizontally between two magnetic poles, N on the left and S on the right. The current in the wire flows into the page, away from you. In which direction is the force on the wire?</a:t>
            </a:r>
            <a:endParaRPr lang="en-US" sz="2000" dirty="0"/>
          </a:p>
        </p:txBody>
      </p:sp>
      <p:sp>
        <p:nvSpPr>
          <p:cNvPr id="9" name="step-box"/>
          <p:cNvSpPr/>
          <p:nvPr/>
        </p:nvSpPr>
        <p:spPr>
          <a:xfrm>
            <a:off x="548640" y="2812288"/>
            <a:ext cx="11094415" cy="451104"/>
          </a:xfrm>
          <a:prstGeom prst="roundRect">
            <a:avLst>
              <a:gd name="adj" fmla="val 16216"/>
            </a:avLst>
          </a:prstGeom>
          <a:solidFill>
            <a:srgbClr val="FFFFFF"/>
          </a:solidFill>
          <a:ln w="15875">
            <a:solidFill>
              <a:srgbClr val="8790AE"/>
            </a:solidFill>
            <a:prstDash val="solid"/>
          </a:ln>
        </p:spPr>
      </p:sp>
      <p:sp>
        <p:nvSpPr>
          <p:cNvPr id="10" name="step-hex"/>
          <p:cNvSpPr/>
          <p:nvPr/>
        </p:nvSpPr>
        <p:spPr>
          <a:xfrm>
            <a:off x="685800" y="2839872"/>
            <a:ext cx="457200" cy="395935"/>
          </a:xfrm>
          <a:prstGeom prst="hexagon">
            <a:avLst/>
          </a:prstGeom>
          <a:solidFill>
            <a:srgbClr val="24366B"/>
          </a:solidFill>
          <a:ln/>
        </p:spPr>
      </p:sp>
      <p:sp>
        <p:nvSpPr>
          <p:cNvPr id="11" name="step-hex-label"/>
          <p:cNvSpPr txBox="1"/>
          <p:nvPr/>
        </p:nvSpPr>
        <p:spPr>
          <a:xfrm>
            <a:off x="685800" y="28398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812288"/>
            <a:ext cx="10180015" cy="4511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First finger (Field): points right, from N to S.</a:t>
            </a:r>
            <a:endParaRPr lang="en-US" sz="1800" dirty="0"/>
          </a:p>
        </p:txBody>
      </p:sp>
      <p:sp>
        <p:nvSpPr>
          <p:cNvPr id="13" name="step-box"/>
          <p:cNvSpPr/>
          <p:nvPr/>
        </p:nvSpPr>
        <p:spPr>
          <a:xfrm>
            <a:off x="548640" y="3336544"/>
            <a:ext cx="11094415" cy="451104"/>
          </a:xfrm>
          <a:prstGeom prst="roundRect">
            <a:avLst>
              <a:gd name="adj" fmla="val 16216"/>
            </a:avLst>
          </a:prstGeom>
          <a:solidFill>
            <a:srgbClr val="FFFFFF"/>
          </a:solidFill>
          <a:ln w="15875">
            <a:solidFill>
              <a:srgbClr val="8790AE"/>
            </a:solidFill>
            <a:prstDash val="solid"/>
          </a:ln>
        </p:spPr>
      </p:sp>
      <p:sp>
        <p:nvSpPr>
          <p:cNvPr id="14" name="step-hex"/>
          <p:cNvSpPr/>
          <p:nvPr/>
        </p:nvSpPr>
        <p:spPr>
          <a:xfrm>
            <a:off x="685800" y="3364128"/>
            <a:ext cx="457200" cy="395935"/>
          </a:xfrm>
          <a:prstGeom prst="hexagon">
            <a:avLst/>
          </a:prstGeom>
          <a:solidFill>
            <a:srgbClr val="24366B"/>
          </a:solidFill>
          <a:ln/>
        </p:spPr>
      </p:sp>
      <p:sp>
        <p:nvSpPr>
          <p:cNvPr id="15" name="step-hex-label"/>
          <p:cNvSpPr txBox="1"/>
          <p:nvPr/>
        </p:nvSpPr>
        <p:spPr>
          <a:xfrm>
            <a:off x="685800" y="336412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336544"/>
            <a:ext cx="10180015" cy="4511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Second finger (Current): points into the page, away from you.</a:t>
            </a:r>
            <a:endParaRPr lang="en-US" sz="1800" dirty="0"/>
          </a:p>
        </p:txBody>
      </p:sp>
      <p:sp>
        <p:nvSpPr>
          <p:cNvPr id="17" name="step-box"/>
          <p:cNvSpPr/>
          <p:nvPr/>
        </p:nvSpPr>
        <p:spPr>
          <a:xfrm>
            <a:off x="548640" y="3860800"/>
            <a:ext cx="11094415" cy="451104"/>
          </a:xfrm>
          <a:prstGeom prst="roundRect">
            <a:avLst>
              <a:gd name="adj" fmla="val 16216"/>
            </a:avLst>
          </a:prstGeom>
          <a:solidFill>
            <a:srgbClr val="FFFFFF"/>
          </a:solidFill>
          <a:ln w="15875">
            <a:solidFill>
              <a:srgbClr val="8790AE"/>
            </a:solidFill>
            <a:prstDash val="solid"/>
          </a:ln>
        </p:spPr>
      </p:sp>
      <p:sp>
        <p:nvSpPr>
          <p:cNvPr id="18" name="step-hex"/>
          <p:cNvSpPr/>
          <p:nvPr/>
        </p:nvSpPr>
        <p:spPr>
          <a:xfrm>
            <a:off x="685800" y="3888384"/>
            <a:ext cx="457200" cy="395935"/>
          </a:xfrm>
          <a:prstGeom prst="hexagon">
            <a:avLst/>
          </a:prstGeom>
          <a:solidFill>
            <a:srgbClr val="24366B"/>
          </a:solidFill>
          <a:ln/>
        </p:spPr>
      </p:sp>
      <p:sp>
        <p:nvSpPr>
          <p:cNvPr id="19" name="step-hex-label"/>
          <p:cNvSpPr txBox="1"/>
          <p:nvPr/>
        </p:nvSpPr>
        <p:spPr>
          <a:xfrm>
            <a:off x="685800" y="38883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860800"/>
            <a:ext cx="10180015" cy="45110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Hold them at right angles with the left hand: the thumb now points downwards.</a:t>
            </a:r>
            <a:endParaRPr lang="en-US" sz="1800" dirty="0"/>
          </a:p>
        </p:txBody>
      </p:sp>
      <p:sp>
        <p:nvSpPr>
          <p:cNvPr id="21" name="step-box"/>
          <p:cNvSpPr/>
          <p:nvPr/>
        </p:nvSpPr>
        <p:spPr>
          <a:xfrm>
            <a:off x="548640" y="4385056"/>
            <a:ext cx="11094415" cy="715264"/>
          </a:xfrm>
          <a:prstGeom prst="roundRect">
            <a:avLst>
              <a:gd name="adj" fmla="val 10227"/>
            </a:avLst>
          </a:prstGeom>
          <a:solidFill>
            <a:srgbClr val="FFFFFF"/>
          </a:solidFill>
          <a:ln w="15875">
            <a:solidFill>
              <a:srgbClr val="8790AE"/>
            </a:solidFill>
            <a:prstDash val="solid"/>
          </a:ln>
        </p:spPr>
      </p:sp>
      <p:sp>
        <p:nvSpPr>
          <p:cNvPr id="22" name="step-hex"/>
          <p:cNvSpPr/>
          <p:nvPr/>
        </p:nvSpPr>
        <p:spPr>
          <a:xfrm>
            <a:off x="685800" y="4544720"/>
            <a:ext cx="457200" cy="395935"/>
          </a:xfrm>
          <a:prstGeom prst="hexagon">
            <a:avLst/>
          </a:prstGeom>
          <a:solidFill>
            <a:srgbClr val="24366B"/>
          </a:solidFill>
          <a:ln/>
        </p:spPr>
      </p:sp>
      <p:sp>
        <p:nvSpPr>
          <p:cNvPr id="23" name="step-hex-label"/>
          <p:cNvSpPr txBox="1"/>
          <p:nvPr/>
        </p:nvSpPr>
        <p:spPr>
          <a:xfrm>
            <a:off x="685800" y="454472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385056"/>
            <a:ext cx="10180015" cy="71526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So the force on the wire is downwards. (With the current out of the page it would be upwards, as in the deck.)</a:t>
            </a:r>
            <a:endParaRPr lang="en-US" sz="1800" dirty="0"/>
          </a:p>
        </p:txBody>
      </p:sp>
      <p:sp>
        <p:nvSpPr>
          <p:cNvPr id="25" name="worked-answer"/>
          <p:cNvSpPr/>
          <p:nvPr/>
        </p:nvSpPr>
        <p:spPr>
          <a:xfrm>
            <a:off x="548640" y="5283200"/>
            <a:ext cx="11094415" cy="831088"/>
          </a:xfrm>
          <a:prstGeom prst="roundRect">
            <a:avLst>
              <a:gd name="adj" fmla="val 16504"/>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Downwards: the thumb of the left hand points down when the first finger points right and the second finger points into the page.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How big? Magnetic flux density and F = B I l (Higher)</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orked-panel"/>
          <p:cNvSpPr/>
          <p:nvPr/>
        </p:nvSpPr>
        <p:spPr>
          <a:xfrm>
            <a:off x="5989320" y="1389888"/>
            <a:ext cx="5653735" cy="4754880"/>
          </a:xfrm>
          <a:prstGeom prst="roundRect">
            <a:avLst>
              <a:gd name="adj" fmla="val 962"/>
            </a:avLst>
          </a:prstGeom>
          <a:solidFill>
            <a:srgbClr val="FFFFFF"/>
          </a:solidFill>
          <a:ln w="15875">
            <a:solidFill>
              <a:srgbClr val="8790AE"/>
            </a:solidFill>
            <a:prstDash val="solid"/>
          </a:ln>
        </p:spPr>
      </p:sp>
      <p:sp>
        <p:nvSpPr>
          <p:cNvPr id="8" name="worked-tab"/>
          <p:cNvSpPr/>
          <p:nvPr/>
        </p:nvSpPr>
        <p:spPr>
          <a:xfrm>
            <a:off x="6126480" y="1499616"/>
            <a:ext cx="2377440" cy="457200"/>
          </a:xfrm>
          <a:prstGeom prst="roundRect">
            <a:avLst>
              <a:gd name="adj" fmla="val 40000"/>
            </a:avLst>
          </a:prstGeom>
          <a:solidFill>
            <a:srgbClr val="24366B"/>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9"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0.5 m length of wire carries a current of 2 A at right angles to a magnetic field of flux density 0.3 T. Calculate the force on the wire.</a:t>
            </a:r>
            <a:endParaRPr lang="en-US" sz="1800" dirty="0"/>
          </a:p>
        </p:txBody>
      </p:sp>
      <p:sp>
        <p:nvSpPr>
          <p:cNvPr id="10" name="step-box"/>
          <p:cNvSpPr/>
          <p:nvPr/>
        </p:nvSpPr>
        <p:spPr>
          <a:xfrm>
            <a:off x="6126480" y="3167380"/>
            <a:ext cx="5379415" cy="566928"/>
          </a:xfrm>
          <a:prstGeom prst="roundRect">
            <a:avLst>
              <a:gd name="adj" fmla="val 16129"/>
            </a:avLst>
          </a:prstGeom>
          <a:solidFill>
            <a:srgbClr val="DEE1E9"/>
          </a:solidFill>
          <a:ln/>
        </p:spPr>
      </p:sp>
      <p:sp>
        <p:nvSpPr>
          <p:cNvPr id="11" name="step-hex"/>
          <p:cNvSpPr/>
          <p:nvPr/>
        </p:nvSpPr>
        <p:spPr>
          <a:xfrm>
            <a:off x="6217920" y="3268714"/>
            <a:ext cx="420624" cy="364260"/>
          </a:xfrm>
          <a:prstGeom prst="hexagon">
            <a:avLst/>
          </a:prstGeom>
          <a:solidFill>
            <a:srgbClr val="24366B"/>
          </a:solidFill>
          <a:ln/>
        </p:spPr>
      </p:sp>
      <p:sp>
        <p:nvSpPr>
          <p:cNvPr id="12" name="step-hex-label"/>
          <p:cNvSpPr txBox="1"/>
          <p:nvPr/>
        </p:nvSpPr>
        <p:spPr>
          <a:xfrm>
            <a:off x="6217920" y="32687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3" name="step"/>
          <p:cNvSpPr txBox="1"/>
          <p:nvPr/>
        </p:nvSpPr>
        <p:spPr>
          <a:xfrm>
            <a:off x="6766560" y="316738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F = B I l.</a:t>
            </a:r>
            <a:endParaRPr lang="en-US" sz="1800" dirty="0"/>
          </a:p>
        </p:txBody>
      </p:sp>
      <p:sp>
        <p:nvSpPr>
          <p:cNvPr id="14" name="step-box"/>
          <p:cNvSpPr/>
          <p:nvPr/>
        </p:nvSpPr>
        <p:spPr>
          <a:xfrm>
            <a:off x="6126480" y="3825748"/>
            <a:ext cx="5379415" cy="794512"/>
          </a:xfrm>
          <a:prstGeom prst="roundRect">
            <a:avLst>
              <a:gd name="adj" fmla="val 11509"/>
            </a:avLst>
          </a:prstGeom>
          <a:solidFill>
            <a:srgbClr val="DEE1E9"/>
          </a:solidFill>
          <a:ln/>
        </p:spPr>
      </p:sp>
      <p:sp>
        <p:nvSpPr>
          <p:cNvPr id="15" name="step-hex"/>
          <p:cNvSpPr/>
          <p:nvPr/>
        </p:nvSpPr>
        <p:spPr>
          <a:xfrm>
            <a:off x="6217920" y="4040874"/>
            <a:ext cx="420624" cy="364260"/>
          </a:xfrm>
          <a:prstGeom prst="hexagon">
            <a:avLst/>
          </a:prstGeom>
          <a:solidFill>
            <a:srgbClr val="24366B"/>
          </a:solidFill>
          <a:ln/>
        </p:spPr>
      </p:sp>
      <p:sp>
        <p:nvSpPr>
          <p:cNvPr id="16" name="step-hex-label"/>
          <p:cNvSpPr txBox="1"/>
          <p:nvPr/>
        </p:nvSpPr>
        <p:spPr>
          <a:xfrm>
            <a:off x="6217920" y="404087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7" name="step"/>
          <p:cNvSpPr txBox="1"/>
          <p:nvPr/>
        </p:nvSpPr>
        <p:spPr>
          <a:xfrm>
            <a:off x="6766560" y="3825748"/>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Check the units: B = 0.3 T, I = 2 A, l = 0.5 m. All SI, so substitute.</a:t>
            </a:r>
            <a:endParaRPr lang="en-US" sz="1800" dirty="0"/>
          </a:p>
        </p:txBody>
      </p:sp>
      <p:sp>
        <p:nvSpPr>
          <p:cNvPr id="18" name="step-box"/>
          <p:cNvSpPr/>
          <p:nvPr/>
        </p:nvSpPr>
        <p:spPr>
          <a:xfrm>
            <a:off x="6126480" y="4711700"/>
            <a:ext cx="5379415" cy="566928"/>
          </a:xfrm>
          <a:prstGeom prst="roundRect">
            <a:avLst>
              <a:gd name="adj" fmla="val 16129"/>
            </a:avLst>
          </a:prstGeom>
          <a:solidFill>
            <a:srgbClr val="DEE1E9"/>
          </a:solidFill>
          <a:ln/>
        </p:spPr>
      </p:sp>
      <p:sp>
        <p:nvSpPr>
          <p:cNvPr id="19" name="step-hex"/>
          <p:cNvSpPr/>
          <p:nvPr/>
        </p:nvSpPr>
        <p:spPr>
          <a:xfrm>
            <a:off x="6217920" y="4813034"/>
            <a:ext cx="420624" cy="364260"/>
          </a:xfrm>
          <a:prstGeom prst="hexagon">
            <a:avLst/>
          </a:prstGeom>
          <a:solidFill>
            <a:srgbClr val="24366B"/>
          </a:solidFill>
          <a:ln/>
        </p:spPr>
      </p:sp>
      <p:sp>
        <p:nvSpPr>
          <p:cNvPr id="20"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1"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F = 0.3 × 2 × 0.5 = 0.3 N.</a:t>
            </a:r>
            <a:endParaRPr lang="en-US" sz="1800" dirty="0"/>
          </a:p>
        </p:txBody>
      </p:sp>
      <p:sp>
        <p:nvSpPr>
          <p:cNvPr id="22" name="worked-answer"/>
          <p:cNvSpPr/>
          <p:nvPr/>
        </p:nvSpPr>
        <p:spPr>
          <a:xfrm>
            <a:off x="6126480" y="5415788"/>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0.3 N</a:t>
            </a:r>
            <a:endParaRPr lang="en-US" sz="1800" dirty="0"/>
          </a:p>
        </p:txBody>
      </p:sp>
      <p:sp>
        <p:nvSpPr>
          <p:cNvPr id="23" name="bullet-card"/>
          <p:cNvSpPr/>
          <p:nvPr/>
        </p:nvSpPr>
        <p:spPr>
          <a:xfrm>
            <a:off x="548640" y="1389888"/>
            <a:ext cx="5074920" cy="919311"/>
          </a:xfrm>
          <a:prstGeom prst="roundRect">
            <a:avLst>
              <a:gd name="adj" fmla="val 7957"/>
            </a:avLst>
          </a:prstGeom>
          <a:solidFill>
            <a:srgbClr val="E3E5EC"/>
          </a:solidFill>
          <a:ln/>
        </p:spPr>
      </p:sp>
      <p:sp>
        <p:nvSpPr>
          <p:cNvPr id="24" name="bullet-hex"/>
          <p:cNvSpPr/>
          <p:nvPr/>
        </p:nvSpPr>
        <p:spPr>
          <a:xfrm>
            <a:off x="676656" y="1683251"/>
            <a:ext cx="384048" cy="332586"/>
          </a:xfrm>
          <a:prstGeom prst="hexagon">
            <a:avLst/>
          </a:prstGeom>
          <a:solidFill>
            <a:srgbClr val="24366B"/>
          </a:solidFill>
          <a:ln/>
        </p:spPr>
      </p:sp>
      <p:sp>
        <p:nvSpPr>
          <p:cNvPr id="25" name="bullet"/>
          <p:cNvSpPr txBox="1"/>
          <p:nvPr/>
        </p:nvSpPr>
        <p:spPr>
          <a:xfrm>
            <a:off x="1143000" y="1389888"/>
            <a:ext cx="4389120" cy="9193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strength of a magnetic field is called its magnetic flux density.</a:t>
            </a:r>
            <a:endParaRPr lang="en-US" sz="2200" dirty="0"/>
          </a:p>
        </p:txBody>
      </p:sp>
      <p:sp>
        <p:nvSpPr>
          <p:cNvPr id="26" name="bullet-card"/>
          <p:cNvSpPr/>
          <p:nvPr/>
        </p:nvSpPr>
        <p:spPr>
          <a:xfrm>
            <a:off x="548640" y="2455503"/>
            <a:ext cx="5074920" cy="2623651"/>
          </a:xfrm>
          <a:prstGeom prst="roundRect">
            <a:avLst>
              <a:gd name="adj" fmla="val 2788"/>
            </a:avLst>
          </a:prstGeom>
          <a:solidFill>
            <a:srgbClr val="E3E5EC"/>
          </a:solidFill>
          <a:ln/>
        </p:spPr>
      </p:sp>
      <p:sp>
        <p:nvSpPr>
          <p:cNvPr id="27" name="bullet-hex"/>
          <p:cNvSpPr/>
          <p:nvPr/>
        </p:nvSpPr>
        <p:spPr>
          <a:xfrm>
            <a:off x="676656" y="3601035"/>
            <a:ext cx="384048" cy="332586"/>
          </a:xfrm>
          <a:prstGeom prst="hexagon">
            <a:avLst/>
          </a:prstGeom>
          <a:solidFill>
            <a:srgbClr val="B8862B"/>
          </a:solidFill>
          <a:ln/>
        </p:spPr>
      </p:sp>
      <p:sp>
        <p:nvSpPr>
          <p:cNvPr id="28" name="bullet"/>
          <p:cNvSpPr txBox="1"/>
          <p:nvPr/>
        </p:nvSpPr>
        <p:spPr>
          <a:xfrm>
            <a:off x="1143000" y="2455503"/>
            <a:ext cx="4389120" cy="262365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For a conductor at right angles to a magnetic field and carrying a current, the force depends on three things: the magnetic flux density of the field, the size of the current, and the length of conductor that is inside the field.</a:t>
            </a:r>
            <a:endParaRPr lang="en-US" sz="2200" dirty="0"/>
          </a:p>
        </p:txBody>
      </p:sp>
      <p:sp>
        <p:nvSpPr>
          <p:cNvPr id="29" name="bullet-card"/>
          <p:cNvSpPr/>
          <p:nvPr/>
        </p:nvSpPr>
        <p:spPr>
          <a:xfrm>
            <a:off x="548640" y="5225457"/>
            <a:ext cx="5074920" cy="919311"/>
          </a:xfrm>
          <a:prstGeom prst="roundRect">
            <a:avLst>
              <a:gd name="adj" fmla="val 7957"/>
            </a:avLst>
          </a:prstGeom>
          <a:solidFill>
            <a:srgbClr val="E3E5EC"/>
          </a:solidFill>
          <a:ln/>
        </p:spPr>
      </p:sp>
      <p:sp>
        <p:nvSpPr>
          <p:cNvPr id="30" name="bullet-hex"/>
          <p:cNvSpPr/>
          <p:nvPr/>
        </p:nvSpPr>
        <p:spPr>
          <a:xfrm>
            <a:off x="676656" y="5518820"/>
            <a:ext cx="384048" cy="332586"/>
          </a:xfrm>
          <a:prstGeom prst="hexagon">
            <a:avLst/>
          </a:prstGeom>
          <a:solidFill>
            <a:srgbClr val="24366B"/>
          </a:solidFill>
          <a:ln/>
        </p:spPr>
      </p:sp>
      <p:sp>
        <p:nvSpPr>
          <p:cNvPr id="31" name="bullet"/>
          <p:cNvSpPr txBox="1"/>
          <p:nvPr/>
        </p:nvSpPr>
        <p:spPr>
          <a:xfrm>
            <a:off x="1143000" y="5225457"/>
            <a:ext cx="4389120" cy="91931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Every quantity must be in its SI unit before you substitute.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Rearranging F = B I l (Higher)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4792472"/>
            <a:ext cx="5074920" cy="1352296"/>
          </a:xfrm>
          <a:prstGeom prst="roundRect">
            <a:avLst>
              <a:gd name="adj" fmla="val 10143"/>
            </a:avLst>
          </a:prstGeom>
          <a:solidFill>
            <a:srgbClr val="F1E7D5"/>
          </a:solidFill>
          <a:ln w="15875">
            <a:solidFill>
              <a:srgbClr val="B8862B"/>
            </a:solidFill>
            <a:prstDash val="solid"/>
          </a:ln>
        </p:spPr>
      </p:sp>
      <p:sp>
        <p:nvSpPr>
          <p:cNvPr id="8" name="tip-hex"/>
          <p:cNvSpPr/>
          <p:nvPr/>
        </p:nvSpPr>
        <p:spPr>
          <a:xfrm>
            <a:off x="685800" y="5270652"/>
            <a:ext cx="457200" cy="395935"/>
          </a:xfrm>
          <a:prstGeom prst="hexagon">
            <a:avLst/>
          </a:prstGeom>
          <a:solidFill>
            <a:srgbClr val="B8862B"/>
          </a:solidFill>
          <a:ln/>
        </p:spPr>
      </p:sp>
      <p:sp>
        <p:nvSpPr>
          <p:cNvPr id="9" name="tip-hex-label"/>
          <p:cNvSpPr txBox="1"/>
          <p:nvPr/>
        </p:nvSpPr>
        <p:spPr>
          <a:xfrm>
            <a:off x="685800" y="5270652"/>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4847336"/>
            <a:ext cx="4206240" cy="1242568"/>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Always calculate B × l (or I × l) as one number before you divide. Then check the unit of the answer: A for current, T for flux density.</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790AE"/>
            </a:solidFill>
            <a:prstDash val="solid"/>
          </a:ln>
        </p:spPr>
      </p:sp>
      <p:sp>
        <p:nvSpPr>
          <p:cNvPr id="12" name="worked-tab"/>
          <p:cNvSpPr/>
          <p:nvPr/>
        </p:nvSpPr>
        <p:spPr>
          <a:xfrm>
            <a:off x="6126480" y="1499616"/>
            <a:ext cx="2377440" cy="457200"/>
          </a:xfrm>
          <a:prstGeom prst="roundRect">
            <a:avLst>
              <a:gd name="adj" fmla="val 40000"/>
            </a:avLst>
          </a:prstGeom>
          <a:solidFill>
            <a:srgbClr val="24366B"/>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wire 0.5 m long in a field of 0.4 T experiences a force of 0.6 N. Calculate the current in the wire.</a:t>
            </a:r>
            <a:endParaRPr lang="en-US" sz="1800" dirty="0"/>
          </a:p>
        </p:txBody>
      </p:sp>
      <p:sp>
        <p:nvSpPr>
          <p:cNvPr id="14" name="step-box"/>
          <p:cNvSpPr/>
          <p:nvPr/>
        </p:nvSpPr>
        <p:spPr>
          <a:xfrm>
            <a:off x="6126480" y="2888488"/>
            <a:ext cx="5379415" cy="566928"/>
          </a:xfrm>
          <a:prstGeom prst="roundRect">
            <a:avLst>
              <a:gd name="adj" fmla="val 16129"/>
            </a:avLst>
          </a:prstGeom>
          <a:solidFill>
            <a:srgbClr val="DEE1E9"/>
          </a:solidFill>
          <a:ln/>
        </p:spPr>
      </p:sp>
      <p:sp>
        <p:nvSpPr>
          <p:cNvPr id="15" name="step-hex"/>
          <p:cNvSpPr/>
          <p:nvPr/>
        </p:nvSpPr>
        <p:spPr>
          <a:xfrm>
            <a:off x="6217920" y="2989822"/>
            <a:ext cx="420624" cy="364260"/>
          </a:xfrm>
          <a:prstGeom prst="hexagon">
            <a:avLst/>
          </a:prstGeom>
          <a:solidFill>
            <a:srgbClr val="24366B"/>
          </a:solidFill>
          <a:ln/>
        </p:spPr>
      </p:sp>
      <p:sp>
        <p:nvSpPr>
          <p:cNvPr id="16" name="step-hex-label"/>
          <p:cNvSpPr txBox="1"/>
          <p:nvPr/>
        </p:nvSpPr>
        <p:spPr>
          <a:xfrm>
            <a:off x="6217920" y="2989822"/>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Rearrange: I = F ÷ (B l).</a:t>
            </a:r>
            <a:endParaRPr lang="en-US" sz="1800" dirty="0"/>
          </a:p>
        </p:txBody>
      </p:sp>
      <p:sp>
        <p:nvSpPr>
          <p:cNvPr id="18" name="step-box"/>
          <p:cNvSpPr/>
          <p:nvPr/>
        </p:nvSpPr>
        <p:spPr>
          <a:xfrm>
            <a:off x="6126480" y="3546856"/>
            <a:ext cx="5379415" cy="566928"/>
          </a:xfrm>
          <a:prstGeom prst="roundRect">
            <a:avLst>
              <a:gd name="adj" fmla="val 16129"/>
            </a:avLst>
          </a:prstGeom>
          <a:solidFill>
            <a:srgbClr val="DEE1E9"/>
          </a:solidFill>
          <a:ln/>
        </p:spPr>
      </p:sp>
      <p:sp>
        <p:nvSpPr>
          <p:cNvPr id="19" name="step-hex"/>
          <p:cNvSpPr/>
          <p:nvPr/>
        </p:nvSpPr>
        <p:spPr>
          <a:xfrm>
            <a:off x="6217920" y="3648190"/>
            <a:ext cx="420624" cy="364260"/>
          </a:xfrm>
          <a:prstGeom prst="hexagon">
            <a:avLst/>
          </a:prstGeom>
          <a:solidFill>
            <a:srgbClr val="24366B"/>
          </a:solidFill>
          <a:ln/>
        </p:spPr>
      </p:sp>
      <p:sp>
        <p:nvSpPr>
          <p:cNvPr id="20" name="step-hex-label"/>
          <p:cNvSpPr txBox="1"/>
          <p:nvPr/>
        </p:nvSpPr>
        <p:spPr>
          <a:xfrm>
            <a:off x="6217920" y="3648190"/>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546856"/>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Work out the bottom first: B l = 0.4 × 0.5 = 0.2.</a:t>
            </a:r>
            <a:endParaRPr lang="en-US" sz="1800" dirty="0"/>
          </a:p>
        </p:txBody>
      </p:sp>
      <p:sp>
        <p:nvSpPr>
          <p:cNvPr id="22" name="step-box"/>
          <p:cNvSpPr/>
          <p:nvPr/>
        </p:nvSpPr>
        <p:spPr>
          <a:xfrm>
            <a:off x="6126480" y="4205224"/>
            <a:ext cx="5379415" cy="566928"/>
          </a:xfrm>
          <a:prstGeom prst="roundRect">
            <a:avLst>
              <a:gd name="adj" fmla="val 16129"/>
            </a:avLst>
          </a:prstGeom>
          <a:solidFill>
            <a:srgbClr val="DEE1E9"/>
          </a:solidFill>
          <a:ln/>
        </p:spPr>
      </p:sp>
      <p:sp>
        <p:nvSpPr>
          <p:cNvPr id="23" name="step-hex"/>
          <p:cNvSpPr/>
          <p:nvPr/>
        </p:nvSpPr>
        <p:spPr>
          <a:xfrm>
            <a:off x="6217920" y="4306558"/>
            <a:ext cx="420624" cy="364260"/>
          </a:xfrm>
          <a:prstGeom prst="hexagon">
            <a:avLst/>
          </a:prstGeom>
          <a:solidFill>
            <a:srgbClr val="24366B"/>
          </a:solidFill>
          <a:ln/>
        </p:spPr>
      </p:sp>
      <p:sp>
        <p:nvSpPr>
          <p:cNvPr id="24" name="step-hex-label"/>
          <p:cNvSpPr txBox="1"/>
          <p:nvPr/>
        </p:nvSpPr>
        <p:spPr>
          <a:xfrm>
            <a:off x="6217920" y="4306558"/>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205224"/>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I = 0.6 ÷ 0.2 = 3 A.</a:t>
            </a:r>
            <a:endParaRPr lang="en-US" sz="1800" dirty="0"/>
          </a:p>
        </p:txBody>
      </p:sp>
      <p:sp>
        <p:nvSpPr>
          <p:cNvPr id="26" name="worked-answer"/>
          <p:cNvSpPr/>
          <p:nvPr/>
        </p:nvSpPr>
        <p:spPr>
          <a:xfrm>
            <a:off x="6126480" y="4909312"/>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 A</a:t>
            </a:r>
            <a:endParaRPr lang="en-US" sz="1800" dirty="0"/>
          </a:p>
        </p:txBody>
      </p:sp>
      <p:sp>
        <p:nvSpPr>
          <p:cNvPr id="27" name="bullet-card"/>
          <p:cNvSpPr/>
          <p:nvPr/>
        </p:nvSpPr>
        <p:spPr>
          <a:xfrm>
            <a:off x="548640" y="1389888"/>
            <a:ext cx="5074920" cy="1831848"/>
          </a:xfrm>
          <a:prstGeom prst="roundRect">
            <a:avLst>
              <a:gd name="adj" fmla="val 3993"/>
            </a:avLst>
          </a:prstGeom>
          <a:solidFill>
            <a:srgbClr val="E3E5EC"/>
          </a:solidFill>
          <a:ln/>
        </p:spPr>
      </p:sp>
      <p:sp>
        <p:nvSpPr>
          <p:cNvPr id="28" name="bullet-hex"/>
          <p:cNvSpPr/>
          <p:nvPr/>
        </p:nvSpPr>
        <p:spPr>
          <a:xfrm>
            <a:off x="676656" y="2139519"/>
            <a:ext cx="384048" cy="332586"/>
          </a:xfrm>
          <a:prstGeom prst="hexagon">
            <a:avLst/>
          </a:prstGeom>
          <a:solidFill>
            <a:srgbClr val="24366B"/>
          </a:solidFill>
          <a:ln/>
        </p:spPr>
      </p:sp>
      <p:sp>
        <p:nvSpPr>
          <p:cNvPr id="29" name="bullet"/>
          <p:cNvSpPr txBox="1"/>
          <p:nvPr/>
        </p:nvSpPr>
        <p:spPr>
          <a:xfrm>
            <a:off x="1143000" y="1389888"/>
            <a:ext cx="4389120" cy="183184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When the force is known and you want the current or the flux density, rearrange first and substitute second.</a:t>
            </a:r>
            <a:endParaRPr lang="en-US" sz="2200" dirty="0"/>
          </a:p>
        </p:txBody>
      </p:sp>
      <p:sp>
        <p:nvSpPr>
          <p:cNvPr id="30" name="bullet-card"/>
          <p:cNvSpPr/>
          <p:nvPr/>
        </p:nvSpPr>
        <p:spPr>
          <a:xfrm>
            <a:off x="548640" y="3368040"/>
            <a:ext cx="5074920" cy="1150112"/>
          </a:xfrm>
          <a:prstGeom prst="roundRect">
            <a:avLst>
              <a:gd name="adj" fmla="val 6360"/>
            </a:avLst>
          </a:prstGeom>
          <a:solidFill>
            <a:srgbClr val="E3E5EC"/>
          </a:solidFill>
          <a:ln/>
        </p:spPr>
      </p:sp>
      <p:sp>
        <p:nvSpPr>
          <p:cNvPr id="31" name="bullet-hex"/>
          <p:cNvSpPr/>
          <p:nvPr/>
        </p:nvSpPr>
        <p:spPr>
          <a:xfrm>
            <a:off x="676656" y="3776803"/>
            <a:ext cx="384048" cy="332586"/>
          </a:xfrm>
          <a:prstGeom prst="hexagon">
            <a:avLst/>
          </a:prstGeom>
          <a:solidFill>
            <a:srgbClr val="B8862B"/>
          </a:solidFill>
          <a:ln/>
        </p:spPr>
      </p:sp>
      <p:sp>
        <p:nvSpPr>
          <p:cNvPr id="32" name="bullet"/>
          <p:cNvSpPr txBox="1"/>
          <p:nvPr/>
        </p:nvSpPr>
        <p:spPr>
          <a:xfrm>
            <a:off x="1143000" y="3368040"/>
            <a:ext cx="4389120" cy="1150112"/>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commonest slip is to divide by only one of the two quantities.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The task: Which way does it move?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wire sits between two poles, with the field running from left to right (N on the left, S on the right). The conventional current in the wire flows out of the page, towards you. Using Fleming's left-hand rule, which way is the wire pushed?</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Out of the page, towards you</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Downwards</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To the left, towards the N pole</a:t>
            </a:r>
            <a:endParaRPr lang="en-US" sz="26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Upwards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Which way does it move?</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way does it move?</a:t>
            </a:r>
            <a:endParaRPr lang="en-US" sz="2000" dirty="0"/>
          </a:p>
        </p:txBody>
      </p:sp>
      <p:sp>
        <p:nvSpPr>
          <p:cNvPr id="12" name="col-Support"/>
          <p:cNvSpPr/>
          <p:nvPr/>
        </p:nvSpPr>
        <p:spPr>
          <a:xfrm>
            <a:off x="548640" y="2395728"/>
            <a:ext cx="4667802" cy="3749040"/>
          </a:xfrm>
          <a:prstGeom prst="roundRect">
            <a:avLst>
              <a:gd name="adj" fmla="val 1463"/>
            </a:avLst>
          </a:prstGeom>
          <a:solidFill>
            <a:srgbClr val="DEE1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Hold out your LEFT hand: thumb, first finger and second finger at right angles.</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First finger = Field: point it to the right (N to S).</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Second finger = Current: point it towards your face (out of the page).</a:t>
            </a:r>
            <a:endParaRPr lang="en-US" sz="2000" dirty="0"/>
          </a:p>
          <a:p>
            <a:pPr algn="l" indent="0" marL="0">
              <a:spcAft>
                <a:spcPts val="600"/>
              </a:spcAft>
              <a:buNone/>
            </a:pPr>
            <a:r>
              <a:rPr lang="en-US" sz="20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Look at your thumb. It gives the force direction.</a:t>
            </a:r>
            <a:endParaRPr lang="en-US" sz="2000" dirty="0"/>
          </a:p>
        </p:txBody>
      </p:sp>
      <p:sp>
        <p:nvSpPr>
          <p:cNvPr id="17" name="col-Core"/>
          <p:cNvSpPr/>
          <p:nvPr/>
        </p:nvSpPr>
        <p:spPr>
          <a:xfrm>
            <a:off x="5490762" y="2395728"/>
            <a:ext cx="2938987" cy="3749040"/>
          </a:xfrm>
          <a:prstGeom prst="roundRect">
            <a:avLst>
              <a:gd name="adj" fmla="val 1867"/>
            </a:avLst>
          </a:prstGeom>
          <a:solidFill>
            <a:srgbClr val="C4C9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2000" b="1" dirty="0">
                <a:solidFill>
                  <a:srgbClr val="1D2B56"/>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Left hand. First finger right, second finger towards you. Where is your thumb?</a:t>
            </a:r>
            <a:endParaRPr lang="en-US" sz="2000" dirty="0"/>
          </a:p>
        </p:txBody>
      </p:sp>
      <p:sp>
        <p:nvSpPr>
          <p:cNvPr id="22" name="col-Stretch"/>
          <p:cNvSpPr/>
          <p:nvPr/>
        </p:nvSpPr>
        <p:spPr>
          <a:xfrm>
            <a:off x="8704069" y="2395728"/>
            <a:ext cx="2938987" cy="3749040"/>
          </a:xfrm>
          <a:prstGeom prst="roundRect">
            <a:avLst>
              <a:gd name="adj" fmla="val 1867"/>
            </a:avLst>
          </a:prstGeom>
          <a:solidFill>
            <a:srgbClr val="24366B"/>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a wire running parallel to the field lines, from the N pole straight towards the S pole, would feel no force at all.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24366B"/>
                </a:solidFill>
                <a:latin typeface="Cambria" pitchFamily="34" charset="0"/>
                <a:ea typeface="Cambria" pitchFamily="34" charset="-122"/>
                <a:cs typeface="Cambria" pitchFamily="34" charset="-120"/>
              </a:rPr>
              <a:t>Same task, three ways in: Calculate the force (Higher)</a:t>
            </a:r>
            <a:endParaRPr lang="en-US" sz="28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0.25 m length of wire carries a current of 4 A at right angles to a magnetic field of flux density 0.05 T. Calculate the force on the wire in newtons.</a:t>
            </a:r>
            <a:endParaRPr lang="en-US" sz="2000" dirty="0"/>
          </a:p>
          <a:p>
            <a:pPr algn="ctr" indent="0" marL="0">
              <a:buNone/>
            </a:pPr>
            <a:r>
              <a:rPr lang="en-US" sz="1800" b="1" dirty="0">
                <a:solidFill>
                  <a:srgbClr val="24366B"/>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N</a:t>
            </a:r>
            <a:endParaRPr lang="en-US" sz="2000" dirty="0"/>
          </a:p>
        </p:txBody>
      </p:sp>
      <p:sp>
        <p:nvSpPr>
          <p:cNvPr id="12" name="col-Support"/>
          <p:cNvSpPr/>
          <p:nvPr/>
        </p:nvSpPr>
        <p:spPr>
          <a:xfrm>
            <a:off x="548640" y="2948940"/>
            <a:ext cx="3515258" cy="3195828"/>
          </a:xfrm>
          <a:prstGeom prst="roundRect">
            <a:avLst>
              <a:gd name="adj" fmla="val 1717"/>
            </a:avLst>
          </a:prstGeom>
          <a:solidFill>
            <a:srgbClr val="DEE1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F = B I l.</a:t>
            </a:r>
            <a:endParaRPr lang="en-US" sz="2200" dirty="0"/>
          </a:p>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Check every quantity is in SI units: T, A, m.</a:t>
            </a:r>
            <a:endParaRPr lang="en-US" sz="2200" dirty="0"/>
          </a:p>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Multiply the three numbers together.</a:t>
            </a:r>
            <a:endParaRPr lang="en-US" sz="2200" dirty="0"/>
          </a:p>
          <a:p>
            <a:pPr algn="l" indent="0" marL="0">
              <a:spcAft>
                <a:spcPts val="600"/>
              </a:spcAft>
              <a:buNone/>
            </a:pPr>
            <a:r>
              <a:rPr lang="en-US" sz="2200" b="1" dirty="0">
                <a:solidFill>
                  <a:srgbClr val="24366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Write the unit N.</a:t>
            </a:r>
            <a:endParaRPr lang="en-US" sz="2200" dirty="0"/>
          </a:p>
        </p:txBody>
      </p:sp>
      <p:sp>
        <p:nvSpPr>
          <p:cNvPr id="17" name="col-Core"/>
          <p:cNvSpPr/>
          <p:nvPr/>
        </p:nvSpPr>
        <p:spPr>
          <a:xfrm>
            <a:off x="4338218" y="2948940"/>
            <a:ext cx="3515258" cy="3195828"/>
          </a:xfrm>
          <a:prstGeom prst="roundRect">
            <a:avLst>
              <a:gd name="adj" fmla="val 1717"/>
            </a:avLst>
          </a:prstGeom>
          <a:solidFill>
            <a:srgbClr val="C4C9D7"/>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9264B"/>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1D2B56"/>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Three numbers, all multiplied. The answer is in newtons.</a:t>
            </a:r>
            <a:endParaRPr lang="en-US" sz="2200" dirty="0"/>
          </a:p>
        </p:txBody>
      </p:sp>
      <p:sp>
        <p:nvSpPr>
          <p:cNvPr id="22" name="col-Stretch"/>
          <p:cNvSpPr/>
          <p:nvPr/>
        </p:nvSpPr>
        <p:spPr>
          <a:xfrm>
            <a:off x="8127797" y="2948940"/>
            <a:ext cx="3515258" cy="3195828"/>
          </a:xfrm>
          <a:prstGeom prst="roundRect">
            <a:avLst>
              <a:gd name="adj" fmla="val 1717"/>
            </a:avLst>
          </a:prstGeom>
          <a:solidFill>
            <a:srgbClr val="24366B"/>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The same wire is turned so that it runs parallel to the field lines. State the force now and explain why.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24366B"/>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24366B"/>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124256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A 20 cm length of wire carries a current of 2 A at right angles to a magnetic field. The force on the wire is 0.12 N. Calculate the magnetic flux density of the field in tesla.</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5E7ED"/>
          </a:solidFill>
          <a:ln w="12700">
            <a:solidFill>
              <a:srgbClr val="8790AE"/>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My answer (T):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Which way does it move?</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wire sits between two poles, with the field running from left to right (N on the left, S on the right). The conventional current in the wire flows out of the page, towards you. Using Fleming's left-hand rule, which way is the wire pushed?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Upwards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Left-hand rule: first finger along the field (left to right), second finger along the conventional current (towards you), and the thumb points upwards. Reversing the current or the field would make it downwards.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Calculate the force (Higher)</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0.25 m length of wire carries a current of 4 A at right angles to a magnetic field of flux density 0.05 T. Calculate the force on the wire in newtons.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0.05 N</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F = B I l = 0.05 × 4 × 0.25 = 0.05 N. All the data were already in SI units, so no conversion was needed.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24366B"/>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24366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24366B"/>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20 cm length of wire carries a current of 2 A at right angles to a magnetic field. The force on the wire is 0.12 N. Calculate the magnetic flux density of the field in tesla.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0.3 T</a:t>
            </a:r>
            <a:endParaRPr lang="en-US" sz="1800" dirty="0"/>
          </a:p>
        </p:txBody>
      </p:sp>
      <p:sp>
        <p:nvSpPr>
          <p:cNvPr id="10" name="why-panel"/>
          <p:cNvSpPr/>
          <p:nvPr/>
        </p:nvSpPr>
        <p:spPr>
          <a:xfrm>
            <a:off x="7223760" y="1389888"/>
            <a:ext cx="4419295" cy="4754880"/>
          </a:xfrm>
          <a:prstGeom prst="roundRect">
            <a:avLst>
              <a:gd name="adj" fmla="val 1035"/>
            </a:avLst>
          </a:prstGeom>
          <a:solidFill>
            <a:srgbClr val="DEE1E9"/>
          </a:solidFill>
          <a:ln/>
        </p:spPr>
      </p:sp>
      <p:sp>
        <p:nvSpPr>
          <p:cNvPr id="11" name="why-hex"/>
          <p:cNvSpPr/>
          <p:nvPr/>
        </p:nvSpPr>
        <p:spPr>
          <a:xfrm>
            <a:off x="7406640" y="1572768"/>
            <a:ext cx="685800" cy="593903"/>
          </a:xfrm>
          <a:prstGeom prst="hexagon">
            <a:avLst/>
          </a:prstGeom>
          <a:solidFill>
            <a:srgbClr val="24366B"/>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Convert 20 cm to 0.2 m, then B = F ÷ (I l) = 0.12 ÷ (2 × 0.2) = 0.12 ÷ 0.4 = 0.3 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203160"/>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triple">
  <a:themeElements>
    <a:clrScheme name="Ad Astra triple">
      <a:dk1>
        <a:srgbClr val="1E2229"/>
      </a:dk1>
      <a:lt1>
        <a:srgbClr val="FFFFFF"/>
      </a:lt1>
      <a:dk2>
        <a:srgbClr val="1D2B56"/>
      </a:dk2>
      <a:lt2>
        <a:srgbClr val="DEE1E9"/>
      </a:lt2>
      <a:accent1>
        <a:srgbClr val="24366B"/>
      </a:accent1>
      <a:accent2>
        <a:srgbClr val="B8862B"/>
      </a:accent2>
      <a:accent3>
        <a:srgbClr val="7C86A6"/>
      </a:accent3>
      <a:accent4>
        <a:srgbClr val="815E1E"/>
      </a:accent4>
      <a:accent5>
        <a:srgbClr val="4A505C"/>
      </a:accent5>
      <a:accent6>
        <a:srgbClr val="D8BC8A"/>
      </a:accent6>
      <a:hlink>
        <a:srgbClr val="24366B"/>
      </a:hlink>
      <a:folHlink>
        <a:srgbClr val="19264B"/>
      </a:folHlink>
    </a:clrScheme>
    <a:fontScheme name="Ad Astra trip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Electromagnetism · Chapter 3: The motor effect and F = B I l</dc:title>
  <dc:subject>Physics (Triple Science) · Year 11</dc:subject>
  <dc:creator>Dr Vitor Merissi de Carvalho</dc:creator>
  <cp:lastModifiedBy>Dr Vitor Merissi de Carvalho</cp:lastModifiedBy>
  <cp:revision>1</cp:revision>
  <dcterms:created xsi:type="dcterms:W3CDTF">2026-10-19T06:08:16Z</dcterms:created>
  <dcterms:modified xsi:type="dcterms:W3CDTF">2026-10-19T06:08:16Z</dcterms:modified>
</cp:coreProperties>
</file>