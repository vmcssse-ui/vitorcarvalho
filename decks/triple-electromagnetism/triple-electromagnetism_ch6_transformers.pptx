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cd20be1-9265-b260-6eed-ba80d8b836a3}">
          <p14:sldIdLst>
            <p14:sldId id="256"/>
          </p14:sldIdLst>
        </p14:section>
        <p14:section name="Gate" id="{a6b60db2-0c8c-09f4-a686-d5ce18c9113a}">
          <p14:sldIdLst>
            <p14:sldId id="257"/>
            <p14:sldId id="258"/>
          </p14:sldIdLst>
        </p14:section>
        <p14:section name="Pre-teach" id="{10c921d9-6866-09f6-b4b6-76211977eb56}">
          <p14:sldIdLst>
            <p14:sldId id="259"/>
            <p14:sldId id="260"/>
          </p14:sldIdLst>
        </p14:section>
        <p14:section name="Read-along" id="{c37c7109-3779-af5c-7b1a-fab643ac0650}">
          <p14:sldIdLst>
            <p14:sldId id="261"/>
            <p14:sldId id="262"/>
          </p14:sldIdLst>
        </p14:section>
        <p14:section name="Teach" id="{e8def610-1ac5-c97a-533d-98e56ed894f3}">
          <p14:sldIdLst>
            <p14:sldId id="263"/>
            <p14:sldId id="264"/>
            <p14:sldId id="265"/>
            <p14:sldId id="266"/>
            <p14:sldId id="267"/>
            <p14:sldId id="268"/>
          </p14:sldIdLst>
        </p14:section>
        <p14:section name="Routes" id="{5615135d-380e-0ea6-9a9f-1aa79659e353}">
          <p14:sldIdLst>
            <p14:sldId id="269"/>
            <p14:sldId id="270"/>
          </p14:sldIdLst>
        </p14:section>
        <p14:section name="Close" id="{8c3c0617-9176-ac04-e7a3-f4e386c5b4cd}">
          <p14:sldIdLst>
            <p14:sldId id="271"/>
          </p14:sldIdLst>
        </p14:section>
        <p14:section name="Answers" id="{93f76628-d1df-2f09-197a-6b343a235bc5}">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Transformers and the National Grid. How two coils on an iron core change the size of an alternating potential difference, the two transformer equations, and why the National Grid runs at hundreds of thousands of volts. (Physics only, Higher.)
This deck covers the department's lessons: 7 (P15.7 Transformers (H): How does a transformer change the size of an alternating potential difference, and why does it only work with a.c.?); 8 (P15.8 Transformers in action (H): How do the transformer equations work, and why does the National Grid run at a very high potential difference?).
Read the big question aloud: "How can a coil of wire and a magnet turn electricity into movement, movement into electricity, and 230 V into 400 000 V?"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does a transformer only work with an alternating current?  →  C   Only a changing current gives a changing magnetic field, and only a changing field induces a p.d. in the secondary coil
2. A transformer is 100 % efficient. The primary coil takes 230 V at a current of 0.5 A. The secondary coil gives 11.5 V. Calculate the current in the secondary coil in amperes.  →  10 A
3. In a step-up transformer the secondary coil has ___ turns than the primary coil.  →  more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Only a changing current gives a changing magnetic field, and only a changing field induces a p.d. in the secondary coil. Induction needs a changing field. A steady d.c. gives a steady field and induces nothing after the first instant.
2. 10 A. Vp Ip = Vs Is, so Is = 230 × 0.5 ÷ 11.5 = 10 A (exact). The p.d. fell 20 times, so the current rose 20 times.
3. more. Vp / Vs = np / ns: a bigger Vs needs a bigger ns.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transformer: a device with two coils on an iron core that changes the size of an alternating p.d.. Example: "A phone charger has a small transformer inside it."
• primary coil: the coil connected to the supply, which puts energy in. Example: "The mains is connected to the primary coil."
• secondary coil: the coil that gives the output. Example: "The phone is connected to the secondary coil."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step-up: making the potential difference bigger. Example: "A step-up transformer at the power station raises the p.d."
• step-down: making the potential difference smaller. Example: "A step-down transformer near your home lowers the p.d. to 230 V."
• efficient: wasting very little energy. Example: "A high p.d. makes the National Grid more efficient."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transformer has two coils of wire on an iron core.
2. The primary coil is connected to an alternating supply.
3. The alternating current makes a magnetic field that keeps changing.
4. The iron core carries this changing field to the secondary coil.
5. A changing field induces an alternating potential difference in the secondary coil.
6. A steady direct current would not work, because its field does not change.
7. More turns on the secondary than the primary gives a bigger p.d.: step-up.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Fewer turns on the secondary gives a smaller p.d.: step-down.
9. In a perfect transformer, the power out equals the power in.
10. So a bigger p.d. means a smaller current.
11. Power stations step the p.d. up to 400 000 V.
12. A small current wastes less energy heating the cables.
13. Near homes, the p.d. is stepped down to 230 V.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a transformer works, and why it needs a.c.. Say it in your own words, then check understanding with a quick question: ask a pupil from the pre-teach group first, since they met these words and ideas before the lesson. Pupils try to recall before you re-explain.
A transformer is two coils of insulated wire wound on the same iron core. The primary coil is connected to the supply; the secondary coil is connected to whatever the transformer is powering. The two coils are not joined to each other electrically. Energy crosses from one to the other through the magnetic field.
An alternating current in the primary coil makes a magnetic field that is constantly changing in size and direction. The iron core is easily magnetised and demagnetised, so it carries this changing field through the middle of the secondary coil. A changing magnetic field around a conductor induces a potential difference in it (the generator effect), so an alternating p.d. appears across the secondary coil.
This is why a transformer only works with a.c. A steady direct current would give a steady magnetic field, and a field that is not changing induces nothing. The deck's slow-motion slides show it: switch a d.c. supply on and you get a single pulse in the secondary as the field builds up, and then nothing, however long you wait.
Tip: The chain for 'explain how a transformer works': alternating current in the primary → changing magnetic field in the iron core → alternating p.d. induced across the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Step-up, step-down, and Vp / Vs = np / ns. Say it in your own words, then check understanding with a quick question: ask a pupil from the pre-teach group first, since they met these words and ideas before the lesson. Pupils try to recall before you re-explain.
The size of the output p.d. depends on the number of turns on each coil. If the secondary coil has more turns than the primary, the p.d. is stepped up: this is a step-up transformer. If the secondary has fewer turns, the p.d. is stepped down: a step-down transformer. Phone chargers, games consoles and electric toothbrushes all use step-down transformers from the 230 V mains.
The equation is: potential difference across the primary ÷ potential difference across the secondary = number of turns on the primary ÷ number of turns on the secondary, written Vp / Vs = np / ns. The p.d.s are in volts; the numbers of turns have no unit. It is on the equation sheet, so your job is to rearrange it.
To find Vs, multiply both sides out: Vs = Vp × ns ÷ np. To find ns: ns = np × Vs ÷ Vp. A quick sanity check saves marks: in a step-down transformer the secondary has fewer turns and a smaller p.d.; if your answer gives the secondary a bigger p.d. than the primary when it has fewer turns, something is upside down.
Worked example — model it step by step, thinking aloud: A phone charger transformer has 2000 turns on its primary coil and 50 turns on its secondary. The primary is connected to the 230 V mains. Calculate the potential difference across the secondary coil. (1) Write the equation: Vp / Vs = np / ns. (2) Rearrange for Vs: Vs = Vp × ns ÷ np. (3) Substitute: Vs = 230 × 50 ÷ 2000. (4) Vs = 5.75 V. Fewer turns on the secondary, smaller p.d.: a step-down transformer, as expected. Answer: 5.75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Step-up, step-down, and Vp / Vs = np / ns. Say it in your own words, then check understanding with a quick question: ask a pupil from the pre-teach group first, since they met these words and ideas before the lesson. Pupils try to recall before you re-explain.
The size of the output p.d. depends on the number of turns on each coil. If the secondary coil has more turns than the primary, the p.d. is stepped up: this is a step-up transformer. If the secondary has fewer turns, the p.d. is stepped down: a step-down transformer. Phone chargers, games consoles and electric toothbrushes all use step-down transformers from the 230 V mains.
The equation is: potential difference across the primary ÷ potential difference across the secondary = number of turns on the primary ÷ number of turns on the secondary, written Vp / Vs = np / ns. The p.d.s are in volts; the numbers of turns have no unit. It is on the equation sheet, so your job is to rearrange it.
To find Vs, multiply both sides out: Vs = Vp × ns ÷ np. To find ns: ns = np × Vs ÷ Vp. A quick sanity check saves marks: in a step-down transformer the secondary has fewer turns and a smaller p.d.; if your answer gives the secondary a bigger p.d. than the primary when it has fewer turns, something is upside down.
Worked example — model it step by step, thinking aloud: A phone charger transformer has 2000 turns on its primary coil and 50 turns on its secondary. The primary is connected to the 230 V mains. Calculate the potential difference across the secondary coil. (1) Write the equation: Vp / Vs = np / ns. (2) Rearrange for Vs: Vs = Vp × ns ÷ np. (3) Substitute: Vs = 230 × 50 ÷ 2000. (4) Vs = 5.75 V. Fewer turns on the secondary, smaller p.d.: a step-down transformer, as expected. Answer: 5.75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Power in, power out: Vp Ip = Vs Is. Say it in your own words, then check understanding with a quick question: ask a pupil from the pre-teach group first, since they met these words and ideas before the lesson. Pupils try to recall before you re-explain.
A transformer cannot create energy. In a perfect transformer, one that is 100 % efficient, the power supplied to the primary coil equals the power delivered by the secondary coil. Electrical power is potential difference × current, so Vp × Ip = Vs × Is, with p.d. in volts, current in amperes and power in watts.
This has a consequence that surprises people. A step-up transformer increases the p.d., so to keep the power the same the current in the secondary must be smaller than in the primary. A step-down transformer lowers the p.d. and raises the current. Bigger p.d. means smaller current, and the other way round.
Real transformers are not perfectly efficient. The coils have resistance, so a current in them heats them, and some energy is transferred to the surroundings. Good transformers get above 95 % efficient, which is why the equation is used as if they were perfect at GCSE.
Worked example — model it step by step, thinking aloud: A power-station step-up transformer takes 25 000 V at a current of 800 A on its primary side. Its output is at 400 000 V. Assuming it is 100 % efficient, calculate the current in the secondary coil. (1) Write the equation: Vp Ip = Vs Is. (2) Rearrange for Is: Is = Vp × Ip ÷ Vs. (3) Substitute: Is = 25 000 × 800 ÷ 400 000. (4) Is = 50 A. The p.d. went up 16 times, so the current came down 16 times. Answer: 50 A.
Tip: Power is the quantity that stays the same. Work out Vp × Ip first; that number is the power, and the secondary must deliver the same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Power in, power out: Vp Ip = Vs Is. Say it in your own words, then check understanding with a quick question: ask a pupil from the pre-teach group first, since they met these words and ideas before the lesson. Pupils try to recall before you re-explain.
A transformer cannot create energy. In a perfect transformer, one that is 100 % efficient, the power supplied to the primary coil equals the power delivered by the secondary coil. Electrical power is potential difference × current, so Vp × Ip = Vs × Is, with p.d. in volts, current in amperes and power in watts.
This has a consequence that surprises people. A step-up transformer increases the p.d., so to keep the power the same the current in the secondary must be smaller than in the primary. A step-down transformer lowers the p.d. and raises the current. Bigger p.d. means smaller current, and the other way round.
Real transformers are not perfectly efficient. The coils have resistance, so a current in them heats them, and some energy is transferred to the surroundings. Good transformers get above 95 % efficient, which is why the equation is used as if they were perfect at GCSE.
Worked example — model it step by step, thinking aloud: A power-station step-up transformer takes 25 000 V at a current of 800 A on its primary side. Its output is at 400 000 V. Assuming it is 100 % efficient, calculate the current in the secondary coil. (1) Write the equation: Vp Ip = Vs Is. (2) Rearrange for Is: Is = Vp × Ip ÷ Vs. (3) Substitute: Is = 25 000 × 800 ÷ 400 000. (4) Is = 50 A. The p.d. went up 16 times, so the current came down 16 times. Answer: 50 A.
Tip: Power is the quantity that stays the same. Work out Vp × Ip first; that number is the power, and the secondary must deliver the same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National Grid runs at 400 000 V. Say it in your own words, then check understanding with a quick question: ask a pupil from the pre-teach group first, since they met these words and ideas before the lesson. Pupils try to recall before you re-explain.
The National Grid carries electricity from power stations to homes, offices and factories. A power station's generator produces electricity at about 25 000 V. A step-up transformer raises this to about 400 000 V for the long transmission cables. Near the places that use it, step-down transformers bring it down in stages, to 230 V for homes.
The reason is efficiency. Cables have resistance, and a current in a resistance heats it: the moving electrons collide with the ions in the metal and transfer energy to them. The bigger the current, the hotter the cables and the more energy is wasted to the surroundings. Power = p.d. × current, so the same power can be sent with a huge p.d. and a small current. Stepping the p.d. up reduces the current, so less energy is wasted heating the cables and the Grid is more efficient.
The high p.d. is dangerous, which is why transmission cables are hung high on pylons or buried, and why they are stepped back down before they reach anything you touch.
Tip: The 6-mark National Grid answer needs the chain: step-up transformer → higher p.d. → lower current for the same power → less heating of the cables → less energy wasted → more efficient; then step-down for safety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Step it down (Higher).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step-down transformer has 920 turns on its primary coil and 40 turns on its secondary coil. The primary coil is connected to the 230 V mains. Calculate the potential difference across the secondary coil in volts.
Support — work through the steps with the group: (1) Write Vp / Vs = np / ns. (2) Rearrange: Vs = Vp × ns ÷ np. (3) Substitute the numbers and calculate. (4) Check: fewer turns on the secondary should give a smaller p.d.
Parallel worked example for Support (model it, do not give the task answer): A transformer has 460 turns on its primary and 24 turns on its secondary. The primary p.d. is 230 V. Calculate the secondary p.d. Vs = Vp × ns ÷ np.; Vs = 230 × 24 ÷ 460.; Vs = 12 V.. Answer: 12 V.
Core — reveal the hint only on request: Vs = Vp × ns ÷ np. Fewer secondary turns means a smaller answer.
Stretch — no help; when finished: The same transformer is 100 % efficient and the secondary delivers 2 A. Find the current in the primary coil and explain why it is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many turns? (Higher).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step-up transformer at a power station has 500 turns on its primary coil, which is supplied at 25 000 V. The output across the secondary coil is 400 000 V. Calculate the number of turns on the secondary coil.
Support — work through the steps with the group: (1) Write Vp / Vs = np / ns. (2) Rearrange: ns = np × Vs ÷ Vp. (3) Substitute and calculate. (4) Check: step-up, so the secondary must have more turns than 500.
Parallel worked example for Support (model it, do not give the task answer): A transformer steps 12 V up to 240 V. Its primary has 60 turns. How many turns are on the secondary? ns = np × Vs ÷ Vp.; ns = 60 × 240 ÷ 12.; ns = 1200 turns.. Answer: 1200 turns.
Core — reveal the hint only on request: ns = np × Vs ÷ Vp. The answer must be bigger than 500.
Stretch — no help; when finished: If this transformer is 100 % efficient and the primary current is 800 A, state the secondary current and explain why stepping up the p.d. helps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does a transformer only work with an alternating current?
Answer: B   Only a changing current gives a changing magnetic field, and only a changing field induces a p.d. in the secondary coil. Induction needs a changing field. A steady d.c. gives a steady field and induces nothing after the first instant.
Source of this question: gate item 1 re-asked (options rotated) — this chapter has no third quick-check module.
The ebook also holds task 3, "Why so high? (6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Step it down (Higher). Reveal the answer; pupils mark their own work in a different colour, then read the "why" together. Same destination for every lane, so one answer serves the whole class.
Answer: 10 V
Why: Vs = Vp × ns ÷ np = 230 × 40 ÷ 920 = 10 V. The secondary has 23 times fewer turns, so the p.d. is 23 times smaller.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many turns? (Higher). Reveal the answer; pupils mark their own work in a different colour, then read the "why" together. Same destination for every lane, so one answer serves the whole class.
Answer: 8000 turns
Why: ns = np × Vs ÷ Vp = 500 × 400 000 ÷ 25 000 = 8000 turns. The p.d. ratio and the turns ratio are the same, 16 to 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Only a changing current gives a changing magnetic field, and only a changing field induces a p.d. in the secondary coil
Why: Induction needs a changing field. A steady d.c. gives a steady field and induces nothing after the first instant.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Electromagnetism · AQA 8463</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Transformers and the National Grid</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DEE1E9"/>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P15.7 Transformers (H)</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P15.8 Transformers in action (H)</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can a coil of wire and a magnet turn electricity into movement, movement into electricity, and 230 V into 400 000 V?</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does a transformer only work with an alternating current?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Direct current cannot flow through an iron core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Alternating current is stronger than direct current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a changing current gives a changing magnetic field, and only a changing field induces a p.d. in the secondary coil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iron core only conducts electricity one way</a:t>
            </a:r>
            <a:endParaRPr lang="en-US" sz="1800" dirty="0"/>
          </a:p>
        </p:txBody>
      </p:sp>
      <p:sp>
        <p:nvSpPr>
          <p:cNvPr id="12" name="card"/>
          <p:cNvSpPr/>
          <p:nvPr/>
        </p:nvSpPr>
        <p:spPr>
          <a:xfrm>
            <a:off x="6095848" y="1389888"/>
            <a:ext cx="2636444" cy="4754880"/>
          </a:xfrm>
          <a:prstGeom prst="roundRect">
            <a:avLst>
              <a:gd name="adj" fmla="val 2081"/>
            </a:avLst>
          </a:prstGeom>
          <a:solidFill>
            <a:srgbClr val="E5E7ED"/>
          </a:solidFill>
          <a:ln w="12700">
            <a:solidFill>
              <a:srgbClr val="A7AFC4"/>
            </a:solidFill>
            <a:prstDash val="solid"/>
          </a:ln>
        </p:spPr>
      </p:sp>
      <p:sp>
        <p:nvSpPr>
          <p:cNvPr id="13" name="card-hex"/>
          <p:cNvSpPr/>
          <p:nvPr/>
        </p:nvSpPr>
        <p:spPr>
          <a:xfrm>
            <a:off x="6278728" y="1572768"/>
            <a:ext cx="640080" cy="554309"/>
          </a:xfrm>
          <a:prstGeom prst="hexagon">
            <a:avLst/>
          </a:prstGeom>
          <a:solidFill>
            <a:srgbClr val="24366B"/>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A transformer is 100 % efficient. The primary coil takes 230 V at a current of 0.5 A. The secondary coil gives 11.5 V. Calculate the current in the secondary coil in amperes.</a:t>
            </a:r>
            <a:endParaRPr lang="en-US" sz="1800" dirty="0"/>
          </a:p>
          <a:p>
            <a:pPr algn="l" indent="0" marL="0">
              <a:buNone/>
            </a:pPr>
            <a:r>
              <a:rPr lang="en-US" sz="1800" b="1" dirty="0">
                <a:solidFill>
                  <a:srgbClr val="24366B"/>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 A</a:t>
            </a:r>
            <a:endParaRPr lang="en-US" sz="1800" dirty="0"/>
          </a:p>
        </p:txBody>
      </p:sp>
      <p:sp>
        <p:nvSpPr>
          <p:cNvPr id="17" name="card"/>
          <p:cNvSpPr/>
          <p:nvPr/>
        </p:nvSpPr>
        <p:spPr>
          <a:xfrm>
            <a:off x="9006611" y="1389888"/>
            <a:ext cx="2636444" cy="4754880"/>
          </a:xfrm>
          <a:prstGeom prst="roundRect">
            <a:avLst>
              <a:gd name="adj" fmla="val 2081"/>
            </a:avLst>
          </a:prstGeom>
          <a:solidFill>
            <a:srgbClr val="E5E7ED"/>
          </a:solidFill>
          <a:ln w="12700">
            <a:solidFill>
              <a:srgbClr val="A7AFC4"/>
            </a:solidFill>
            <a:prstDash val="solid"/>
          </a:ln>
        </p:spPr>
      </p:sp>
      <p:sp>
        <p:nvSpPr>
          <p:cNvPr id="18" name="card-hex"/>
          <p:cNvSpPr/>
          <p:nvPr/>
        </p:nvSpPr>
        <p:spPr>
          <a:xfrm>
            <a:off x="9189491" y="1572768"/>
            <a:ext cx="640080" cy="554309"/>
          </a:xfrm>
          <a:prstGeom prst="hexagon">
            <a:avLst/>
          </a:prstGeom>
          <a:solidFill>
            <a:srgbClr val="24366B"/>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a step-up transformer the secondary coil has ___ turns than the primary coil.</a:t>
            </a:r>
            <a:endParaRPr lang="en-US" sz="2200" dirty="0"/>
          </a:p>
          <a:p>
            <a:pPr algn="l" indent="0" marL="0">
              <a:buNone/>
            </a:pPr>
            <a:r>
              <a:rPr lang="en-US" sz="2200" b="1" dirty="0">
                <a:solidFill>
                  <a:srgbClr val="24366B"/>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more  ·  fewer  ·  the same number of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1636776"/>
          </a:xfrm>
          <a:prstGeom prst="roundRect">
            <a:avLst>
              <a:gd name="adj" fmla="val 6704"/>
            </a:avLst>
          </a:prstGeom>
          <a:solidFill>
            <a:srgbClr val="EADBBF"/>
          </a:solidFill>
          <a:ln w="19050">
            <a:solidFill>
              <a:srgbClr val="B8862B"/>
            </a:solidFill>
            <a:prstDash val="solid"/>
          </a:ln>
        </p:spPr>
      </p:sp>
      <p:sp>
        <p:nvSpPr>
          <p:cNvPr id="12" name="answer"/>
          <p:cNvSpPr txBox="1"/>
          <p:nvPr/>
        </p:nvSpPr>
        <p:spPr>
          <a:xfrm>
            <a:off x="822960" y="2428829"/>
            <a:ext cx="472424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Only a changing current gives a changing magnetic field, and only a changing field induces a p.d. in the secondary coil</a:t>
            </a:r>
            <a:endParaRPr lang="en-US" sz="2200" dirty="0"/>
          </a:p>
        </p:txBody>
      </p:sp>
      <p:sp>
        <p:nvSpPr>
          <p:cNvPr id="13" name="card-body"/>
          <p:cNvSpPr txBox="1"/>
          <p:nvPr/>
        </p:nvSpPr>
        <p:spPr>
          <a:xfrm>
            <a:off x="731520" y="4175333"/>
            <a:ext cx="4907128" cy="1832275"/>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Why does a transformer only work with an alternating current?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Induction needs a changing field. A steady d.c. gives a steady field and induces nothing after the first instant.</a:t>
            </a:r>
            <a:endParaRPr lang="en-US" sz="2000" dirty="0"/>
          </a:p>
        </p:txBody>
      </p:sp>
      <p:sp>
        <p:nvSpPr>
          <p:cNvPr id="14" name="card"/>
          <p:cNvSpPr/>
          <p:nvPr/>
        </p:nvSpPr>
        <p:spPr>
          <a:xfrm>
            <a:off x="6095848" y="1389888"/>
            <a:ext cx="2636444" cy="4754880"/>
          </a:xfrm>
          <a:prstGeom prst="roundRect">
            <a:avLst>
              <a:gd name="adj" fmla="val 2081"/>
            </a:avLst>
          </a:prstGeom>
          <a:solidFill>
            <a:srgbClr val="E5E7ED"/>
          </a:solidFill>
          <a:ln w="12700">
            <a:solidFill>
              <a:srgbClr val="A7AFC4"/>
            </a:solidFill>
            <a:prstDash val="solid"/>
          </a:ln>
        </p:spPr>
      </p:sp>
      <p:sp>
        <p:nvSpPr>
          <p:cNvPr id="15" name="card-hex"/>
          <p:cNvSpPr/>
          <p:nvPr/>
        </p:nvSpPr>
        <p:spPr>
          <a:xfrm>
            <a:off x="6278728" y="1572768"/>
            <a:ext cx="640080" cy="554309"/>
          </a:xfrm>
          <a:prstGeom prst="hexagon">
            <a:avLst/>
          </a:prstGeom>
          <a:solidFill>
            <a:srgbClr val="24366B"/>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 A</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Vp Ip = Vs Is, so Is = 230 × 0.5 ÷ 11.5 = 10 A (exact). The p.d. fell 20 times, so the current rose 20 times.</a:t>
            </a:r>
            <a:endParaRPr lang="en-US" sz="1800" dirty="0"/>
          </a:p>
        </p:txBody>
      </p:sp>
      <p:sp>
        <p:nvSpPr>
          <p:cNvPr id="21" name="card"/>
          <p:cNvSpPr/>
          <p:nvPr/>
        </p:nvSpPr>
        <p:spPr>
          <a:xfrm>
            <a:off x="9006611" y="1389888"/>
            <a:ext cx="2636444" cy="4754880"/>
          </a:xfrm>
          <a:prstGeom prst="roundRect">
            <a:avLst>
              <a:gd name="adj" fmla="val 2081"/>
            </a:avLst>
          </a:prstGeom>
          <a:solidFill>
            <a:srgbClr val="E5E7ED"/>
          </a:solidFill>
          <a:ln w="12700">
            <a:solidFill>
              <a:srgbClr val="A7AFC4"/>
            </a:solidFill>
            <a:prstDash val="solid"/>
          </a:ln>
        </p:spPr>
      </p:sp>
      <p:sp>
        <p:nvSpPr>
          <p:cNvPr id="22" name="card-hex"/>
          <p:cNvSpPr/>
          <p:nvPr/>
        </p:nvSpPr>
        <p:spPr>
          <a:xfrm>
            <a:off x="9189491" y="1572768"/>
            <a:ext cx="640080" cy="554309"/>
          </a:xfrm>
          <a:prstGeom prst="hexagon">
            <a:avLst/>
          </a:prstGeom>
          <a:solidFill>
            <a:srgbClr val="24366B"/>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more</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a step-up transformer the secondary coil has ___ turns than the primary coil.</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Vp / Vs = np / ns: a bigger Vs needs a bigger ns.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transformer</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device with two coils on an iron core that changes the size of an alternating p.d.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phone charger has a small transformer inside it.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primary coil</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coil connected to the supply, which puts energy 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mains is connected to the primary coil.</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secondary coil</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coil that gives the output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phone is connected to the secondary coil.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step-up</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making the potential difference bigger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step-up transformer at the power station raises the p.d.</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step-down</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making the potential difference smaller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step-down transformer near your home lowers the p.d. to 230 V.</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efficient</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wasting very little energy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high p.d. makes the National Grid more efficient.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transformer</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has two coils of wire on an iron core.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primary coil</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is connected to an alternating supply.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alternating current makes a magnetic field that keeps changing.</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iron core carries this changing field to the </a:t>
            </a:r>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secondary coil</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changing field induces an alternating potential difference in the </a:t>
            </a:r>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secondary coil</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steady direct current would not work, because its field does not change.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More turns on the secondary than the primary gives a bigger p.d.: </a:t>
            </a:r>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step-up</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Fewer turns on the secondary gives a smaller p.d.: </a:t>
            </a:r>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step-down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a perfect </a:t>
            </a:r>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transformer</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the power out equals the power in.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 a bigger p.d. means a smaller current.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Power stations step the p.d. up to 400 000 V.</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small current wastes less energy heating the cables.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Near homes, the p.d. is stepped down to 230 V.</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How a transformer works, and why it needs a.c.</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chain for 'explain how a transformer works': alternating current in the primary → changing magnetic field in the iron core → alternating p.d. induced across the secondary.</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transformer is two coils of insulated wire wound on the same iron core.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An alternating current in the primary coil makes a magnetic field that is constantly changing in size and direction.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This is why a transformer only works with a.c. A steady direct current would give a steady magnetic field, and a field that is not changing induces nothing.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Step-up, step-down, and Vp / Vs = np / 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size of the output p.d. depends on the number of turns on each coil.</a:t>
            </a:r>
            <a:endParaRPr lang="en-US" sz="22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equation is: potential difference across the primary ÷ potential difference across the secondary = number of turns on the primary ÷ number of turns on the secondary, written Vp / Vs = np / ns.</a:t>
            </a:r>
            <a:endParaRPr lang="en-US" sz="22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 find Vs, multiply both sides out: Vs = Vp × ns ÷ np.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Worked example: Step-up, step-down, and Vp / Vs = np / ns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239520"/>
          </a:xfrm>
          <a:prstGeom prst="roundRect">
            <a:avLst>
              <a:gd name="adj" fmla="val 7377"/>
            </a:avLst>
          </a:prstGeom>
          <a:solidFill>
            <a:srgbClr val="DEE1E9"/>
          </a:solidFill>
          <a:ln/>
        </p:spPr>
      </p:sp>
      <p:sp>
        <p:nvSpPr>
          <p:cNvPr id="8" name="worked-q"/>
          <p:cNvSpPr txBox="1"/>
          <p:nvPr/>
        </p:nvSpPr>
        <p:spPr>
          <a:xfrm>
            <a:off x="731520" y="1481328"/>
            <a:ext cx="10728655" cy="105664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phone charger transformer has 2000 turns on its primary coil and 50 turns on its secondary. The primary is connected to the 230 V mains. Calculate the potential difference across the secondary coil.</a:t>
            </a:r>
            <a:endParaRPr lang="en-US" sz="2000" dirty="0"/>
          </a:p>
        </p:txBody>
      </p:sp>
      <p:sp>
        <p:nvSpPr>
          <p:cNvPr id="9" name="step-box"/>
          <p:cNvSpPr/>
          <p:nvPr/>
        </p:nvSpPr>
        <p:spPr>
          <a:xfrm>
            <a:off x="548640" y="2812288"/>
            <a:ext cx="11094415" cy="559714"/>
          </a:xfrm>
          <a:prstGeom prst="roundRect">
            <a:avLst>
              <a:gd name="adj" fmla="val 13070"/>
            </a:avLst>
          </a:prstGeom>
          <a:solidFill>
            <a:srgbClr val="FFFFFF"/>
          </a:solidFill>
          <a:ln w="15875">
            <a:solidFill>
              <a:srgbClr val="8790AE"/>
            </a:solidFill>
            <a:prstDash val="solid"/>
          </a:ln>
        </p:spPr>
      </p:sp>
      <p:sp>
        <p:nvSpPr>
          <p:cNvPr id="10" name="step-hex"/>
          <p:cNvSpPr/>
          <p:nvPr/>
        </p:nvSpPr>
        <p:spPr>
          <a:xfrm>
            <a:off x="685800" y="2894178"/>
            <a:ext cx="457200" cy="395935"/>
          </a:xfrm>
          <a:prstGeom prst="hexagon">
            <a:avLst/>
          </a:prstGeom>
          <a:solidFill>
            <a:srgbClr val="24366B"/>
          </a:solidFill>
          <a:ln/>
        </p:spPr>
      </p:sp>
      <p:sp>
        <p:nvSpPr>
          <p:cNvPr id="11" name="step-hex-label"/>
          <p:cNvSpPr txBox="1"/>
          <p:nvPr/>
        </p:nvSpPr>
        <p:spPr>
          <a:xfrm>
            <a:off x="685800" y="289417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812288"/>
            <a:ext cx="10180015" cy="55971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Vp / Vs = np / ns.</a:t>
            </a:r>
            <a:endParaRPr lang="en-US" sz="1800" dirty="0"/>
          </a:p>
        </p:txBody>
      </p:sp>
      <p:sp>
        <p:nvSpPr>
          <p:cNvPr id="13" name="step-box"/>
          <p:cNvSpPr/>
          <p:nvPr/>
        </p:nvSpPr>
        <p:spPr>
          <a:xfrm>
            <a:off x="548640" y="3445154"/>
            <a:ext cx="11094415" cy="559714"/>
          </a:xfrm>
          <a:prstGeom prst="roundRect">
            <a:avLst>
              <a:gd name="adj" fmla="val 13070"/>
            </a:avLst>
          </a:prstGeom>
          <a:solidFill>
            <a:srgbClr val="FFFFFF"/>
          </a:solidFill>
          <a:ln w="15875">
            <a:solidFill>
              <a:srgbClr val="8790AE"/>
            </a:solidFill>
            <a:prstDash val="solid"/>
          </a:ln>
        </p:spPr>
      </p:sp>
      <p:sp>
        <p:nvSpPr>
          <p:cNvPr id="14" name="step-hex"/>
          <p:cNvSpPr/>
          <p:nvPr/>
        </p:nvSpPr>
        <p:spPr>
          <a:xfrm>
            <a:off x="685800" y="3527044"/>
            <a:ext cx="457200" cy="395935"/>
          </a:xfrm>
          <a:prstGeom prst="hexagon">
            <a:avLst/>
          </a:prstGeom>
          <a:solidFill>
            <a:srgbClr val="24366B"/>
          </a:solidFill>
          <a:ln/>
        </p:spPr>
      </p:sp>
      <p:sp>
        <p:nvSpPr>
          <p:cNvPr id="15" name="step-hex-label"/>
          <p:cNvSpPr txBox="1"/>
          <p:nvPr/>
        </p:nvSpPr>
        <p:spPr>
          <a:xfrm>
            <a:off x="685800" y="35270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445154"/>
            <a:ext cx="10180015" cy="55971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Rearrange for Vs: Vs = Vp × ns ÷ np.</a:t>
            </a:r>
            <a:endParaRPr lang="en-US" sz="1800" dirty="0"/>
          </a:p>
        </p:txBody>
      </p:sp>
      <p:sp>
        <p:nvSpPr>
          <p:cNvPr id="17" name="step-box"/>
          <p:cNvSpPr/>
          <p:nvPr/>
        </p:nvSpPr>
        <p:spPr>
          <a:xfrm>
            <a:off x="548640" y="4078021"/>
            <a:ext cx="11094415" cy="559714"/>
          </a:xfrm>
          <a:prstGeom prst="roundRect">
            <a:avLst>
              <a:gd name="adj" fmla="val 13070"/>
            </a:avLst>
          </a:prstGeom>
          <a:solidFill>
            <a:srgbClr val="FFFFFF"/>
          </a:solidFill>
          <a:ln w="15875">
            <a:solidFill>
              <a:srgbClr val="8790AE"/>
            </a:solidFill>
            <a:prstDash val="solid"/>
          </a:ln>
        </p:spPr>
      </p:sp>
      <p:sp>
        <p:nvSpPr>
          <p:cNvPr id="18" name="step-hex"/>
          <p:cNvSpPr/>
          <p:nvPr/>
        </p:nvSpPr>
        <p:spPr>
          <a:xfrm>
            <a:off x="685800" y="4159910"/>
            <a:ext cx="457200" cy="395935"/>
          </a:xfrm>
          <a:prstGeom prst="hexagon">
            <a:avLst/>
          </a:prstGeom>
          <a:solidFill>
            <a:srgbClr val="24366B"/>
          </a:solidFill>
          <a:ln/>
        </p:spPr>
      </p:sp>
      <p:sp>
        <p:nvSpPr>
          <p:cNvPr id="19" name="step-hex-label"/>
          <p:cNvSpPr txBox="1"/>
          <p:nvPr/>
        </p:nvSpPr>
        <p:spPr>
          <a:xfrm>
            <a:off x="685800" y="415991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4078021"/>
            <a:ext cx="10180015" cy="55971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Vs = 230 × 50 ÷ 2000.</a:t>
            </a:r>
            <a:endParaRPr lang="en-US" sz="1800" dirty="0"/>
          </a:p>
        </p:txBody>
      </p:sp>
      <p:sp>
        <p:nvSpPr>
          <p:cNvPr id="21" name="step-box"/>
          <p:cNvSpPr/>
          <p:nvPr/>
        </p:nvSpPr>
        <p:spPr>
          <a:xfrm>
            <a:off x="548640" y="4710887"/>
            <a:ext cx="11094415" cy="559714"/>
          </a:xfrm>
          <a:prstGeom prst="roundRect">
            <a:avLst>
              <a:gd name="adj" fmla="val 13070"/>
            </a:avLst>
          </a:prstGeom>
          <a:solidFill>
            <a:srgbClr val="FFFFFF"/>
          </a:solidFill>
          <a:ln w="15875">
            <a:solidFill>
              <a:srgbClr val="8790AE"/>
            </a:solidFill>
            <a:prstDash val="solid"/>
          </a:ln>
        </p:spPr>
      </p:sp>
      <p:sp>
        <p:nvSpPr>
          <p:cNvPr id="22" name="step-hex"/>
          <p:cNvSpPr/>
          <p:nvPr/>
        </p:nvSpPr>
        <p:spPr>
          <a:xfrm>
            <a:off x="685800" y="4792777"/>
            <a:ext cx="457200" cy="395935"/>
          </a:xfrm>
          <a:prstGeom prst="hexagon">
            <a:avLst/>
          </a:prstGeom>
          <a:solidFill>
            <a:srgbClr val="24366B"/>
          </a:solidFill>
          <a:ln/>
        </p:spPr>
      </p:sp>
      <p:sp>
        <p:nvSpPr>
          <p:cNvPr id="23" name="step-hex-label"/>
          <p:cNvSpPr txBox="1"/>
          <p:nvPr/>
        </p:nvSpPr>
        <p:spPr>
          <a:xfrm>
            <a:off x="685800" y="4792777"/>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710887"/>
            <a:ext cx="10180015" cy="55971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Vs = 5.75 V. Fewer turns on the secondary, smaller p.d.: a step-down transformer, as expected.</a:t>
            </a:r>
            <a:endParaRPr lang="en-US" sz="1800" dirty="0"/>
          </a:p>
        </p:txBody>
      </p:sp>
      <p:sp>
        <p:nvSpPr>
          <p:cNvPr id="25" name="worked-answer"/>
          <p:cNvSpPr/>
          <p:nvPr/>
        </p:nvSpPr>
        <p:spPr>
          <a:xfrm>
            <a:off x="548640" y="5453482"/>
            <a:ext cx="11094415" cy="552196"/>
          </a:xfrm>
          <a:prstGeom prst="roundRect">
            <a:avLst>
              <a:gd name="adj" fmla="val 2483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5.75 V</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Power in, power out: Vp Ip = Vs 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Power is the quantity that stays the same. Work out Vp × Ip first; that number is the power, and the secondary must deliver the same power.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transformer cannot create energy. In a perfect transformer, one that is 100 % efficient, the power supplied to the primary coil equals the power delivered by the secondary coil.</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This has a consequence that surprises people. A step-up transformer increases the p.d., so to keep the power the same the current in the secondary must be smaller than in the primary.</a:t>
            </a:r>
            <a:endParaRPr lang="en-US" sz="18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Real transformers are not perfectly efficient. The coils have resistance, so a current in them heats them, and some energy is transferred to the surroundings.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Worked example: Power in, power out: Vp Ip = Vs Is</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DEE1E9"/>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power-station step-up transformer takes 25 000 V at a current of 800 A on its primary side. Its output is at 400 000 V. Assuming it is 100 % efficient, calculate the current in the secondary coil.</a:t>
            </a:r>
            <a:endParaRPr lang="en-US" sz="2200" dirty="0"/>
          </a:p>
        </p:txBody>
      </p:sp>
      <p:sp>
        <p:nvSpPr>
          <p:cNvPr id="9" name="step-box"/>
          <p:cNvSpPr/>
          <p:nvPr/>
        </p:nvSpPr>
        <p:spPr>
          <a:xfrm>
            <a:off x="548640" y="2996692"/>
            <a:ext cx="2464994" cy="1974088"/>
          </a:xfrm>
          <a:prstGeom prst="roundRect">
            <a:avLst>
              <a:gd name="adj" fmla="val 3706"/>
            </a:avLst>
          </a:prstGeom>
          <a:solidFill>
            <a:srgbClr val="FFFFFF"/>
          </a:solidFill>
          <a:ln w="15875">
            <a:solidFill>
              <a:srgbClr val="8790AE"/>
            </a:solidFill>
            <a:prstDash val="solid"/>
          </a:ln>
        </p:spPr>
      </p:sp>
      <p:sp>
        <p:nvSpPr>
          <p:cNvPr id="10" name="step-hex"/>
          <p:cNvSpPr/>
          <p:nvPr/>
        </p:nvSpPr>
        <p:spPr>
          <a:xfrm>
            <a:off x="685800" y="3106420"/>
            <a:ext cx="530352" cy="459285"/>
          </a:xfrm>
          <a:prstGeom prst="hexagon">
            <a:avLst/>
          </a:prstGeom>
          <a:solidFill>
            <a:srgbClr val="24366B"/>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Vp Ip = Vs Is.</a:t>
            </a:r>
            <a:endParaRPr lang="en-US" sz="1800" dirty="0"/>
          </a:p>
        </p:txBody>
      </p:sp>
      <p:sp>
        <p:nvSpPr>
          <p:cNvPr id="13" name="arrow"/>
          <p:cNvSpPr/>
          <p:nvPr/>
        </p:nvSpPr>
        <p:spPr>
          <a:xfrm>
            <a:off x="3086786" y="3846576"/>
            <a:ext cx="274320" cy="274320"/>
          </a:xfrm>
          <a:prstGeom prst="rightArrow">
            <a:avLst/>
          </a:prstGeom>
          <a:solidFill>
            <a:srgbClr val="B8862B"/>
          </a:solidFill>
          <a:ln/>
        </p:spPr>
      </p:sp>
      <p:sp>
        <p:nvSpPr>
          <p:cNvPr id="14" name="step-box"/>
          <p:cNvSpPr/>
          <p:nvPr/>
        </p:nvSpPr>
        <p:spPr>
          <a:xfrm>
            <a:off x="3425114" y="2996692"/>
            <a:ext cx="2464994" cy="1974088"/>
          </a:xfrm>
          <a:prstGeom prst="roundRect">
            <a:avLst>
              <a:gd name="adj" fmla="val 3706"/>
            </a:avLst>
          </a:prstGeom>
          <a:solidFill>
            <a:srgbClr val="FFFFFF"/>
          </a:solidFill>
          <a:ln w="15875">
            <a:solidFill>
              <a:srgbClr val="8790AE"/>
            </a:solidFill>
            <a:prstDash val="solid"/>
          </a:ln>
        </p:spPr>
      </p:sp>
      <p:sp>
        <p:nvSpPr>
          <p:cNvPr id="15" name="step-hex"/>
          <p:cNvSpPr/>
          <p:nvPr/>
        </p:nvSpPr>
        <p:spPr>
          <a:xfrm>
            <a:off x="3562274" y="3106420"/>
            <a:ext cx="530352" cy="459285"/>
          </a:xfrm>
          <a:prstGeom prst="hexagon">
            <a:avLst/>
          </a:prstGeom>
          <a:solidFill>
            <a:srgbClr val="24366B"/>
          </a:solidFill>
          <a:ln/>
        </p:spPr>
      </p:sp>
      <p:sp>
        <p:nvSpPr>
          <p:cNvPr id="16" name="step-hex-label"/>
          <p:cNvSpPr txBox="1"/>
          <p:nvPr/>
        </p:nvSpPr>
        <p:spPr>
          <a:xfrm>
            <a:off x="3562274"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591052"/>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Rearrange for Is: Is = Vp × Ip ÷ Vs.</a:t>
            </a:r>
            <a:endParaRPr lang="en-US" sz="1800" dirty="0"/>
          </a:p>
        </p:txBody>
      </p:sp>
      <p:sp>
        <p:nvSpPr>
          <p:cNvPr id="18" name="arrow"/>
          <p:cNvSpPr/>
          <p:nvPr/>
        </p:nvSpPr>
        <p:spPr>
          <a:xfrm>
            <a:off x="5963260" y="3846576"/>
            <a:ext cx="274320" cy="274320"/>
          </a:xfrm>
          <a:prstGeom prst="rightArrow">
            <a:avLst/>
          </a:prstGeom>
          <a:solidFill>
            <a:srgbClr val="B8862B"/>
          </a:solidFill>
          <a:ln/>
        </p:spPr>
      </p:sp>
      <p:sp>
        <p:nvSpPr>
          <p:cNvPr id="19" name="step-box"/>
          <p:cNvSpPr/>
          <p:nvPr/>
        </p:nvSpPr>
        <p:spPr>
          <a:xfrm>
            <a:off x="6301588" y="2996692"/>
            <a:ext cx="2464994" cy="1974088"/>
          </a:xfrm>
          <a:prstGeom prst="roundRect">
            <a:avLst>
              <a:gd name="adj" fmla="val 3706"/>
            </a:avLst>
          </a:prstGeom>
          <a:solidFill>
            <a:srgbClr val="FFFFFF"/>
          </a:solidFill>
          <a:ln w="15875">
            <a:solidFill>
              <a:srgbClr val="8790AE"/>
            </a:solidFill>
            <a:prstDash val="solid"/>
          </a:ln>
        </p:spPr>
      </p:sp>
      <p:sp>
        <p:nvSpPr>
          <p:cNvPr id="20" name="step-hex"/>
          <p:cNvSpPr/>
          <p:nvPr/>
        </p:nvSpPr>
        <p:spPr>
          <a:xfrm>
            <a:off x="6438748" y="3106420"/>
            <a:ext cx="530352" cy="459285"/>
          </a:xfrm>
          <a:prstGeom prst="hexagon">
            <a:avLst/>
          </a:prstGeom>
          <a:solidFill>
            <a:srgbClr val="24366B"/>
          </a:solidFill>
          <a:ln/>
        </p:spPr>
      </p:sp>
      <p:sp>
        <p:nvSpPr>
          <p:cNvPr id="21"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591052"/>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Substitute: Is = 25 000 × 800 ÷ 400 000.</a:t>
            </a:r>
            <a:endParaRPr lang="en-US" sz="1800" dirty="0"/>
          </a:p>
        </p:txBody>
      </p:sp>
      <p:sp>
        <p:nvSpPr>
          <p:cNvPr id="23" name="arrow"/>
          <p:cNvSpPr/>
          <p:nvPr/>
        </p:nvSpPr>
        <p:spPr>
          <a:xfrm>
            <a:off x="8839733" y="3846576"/>
            <a:ext cx="274320" cy="274320"/>
          </a:xfrm>
          <a:prstGeom prst="rightArrow">
            <a:avLst/>
          </a:prstGeom>
          <a:solidFill>
            <a:srgbClr val="B8862B"/>
          </a:solidFill>
          <a:ln/>
        </p:spPr>
      </p:sp>
      <p:sp>
        <p:nvSpPr>
          <p:cNvPr id="24" name="step-box"/>
          <p:cNvSpPr/>
          <p:nvPr/>
        </p:nvSpPr>
        <p:spPr>
          <a:xfrm>
            <a:off x="9178061" y="2996692"/>
            <a:ext cx="2464994" cy="1974088"/>
          </a:xfrm>
          <a:prstGeom prst="roundRect">
            <a:avLst>
              <a:gd name="adj" fmla="val 3706"/>
            </a:avLst>
          </a:prstGeom>
          <a:solidFill>
            <a:srgbClr val="FFFFFF"/>
          </a:solidFill>
          <a:ln w="15875">
            <a:solidFill>
              <a:srgbClr val="8790AE"/>
            </a:solidFill>
            <a:prstDash val="solid"/>
          </a:ln>
        </p:spPr>
      </p:sp>
      <p:sp>
        <p:nvSpPr>
          <p:cNvPr id="25" name="step-hex"/>
          <p:cNvSpPr/>
          <p:nvPr/>
        </p:nvSpPr>
        <p:spPr>
          <a:xfrm>
            <a:off x="9315221" y="3106420"/>
            <a:ext cx="530352" cy="459285"/>
          </a:xfrm>
          <a:prstGeom prst="hexagon">
            <a:avLst/>
          </a:prstGeom>
          <a:solidFill>
            <a:srgbClr val="24366B"/>
          </a:solidFill>
          <a:ln/>
        </p:spPr>
      </p:sp>
      <p:sp>
        <p:nvSpPr>
          <p:cNvPr id="26" name="step-hex-label"/>
          <p:cNvSpPr txBox="1"/>
          <p:nvPr/>
        </p:nvSpPr>
        <p:spPr>
          <a:xfrm>
            <a:off x="9315221"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591052"/>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Is = 50 A. The p.d. went up 16 times, so the current came down 16 times.</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50 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Why the National Grid runs at 400 000 V</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1E7D5"/>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6-mark National Grid answer needs the chain: step-up transformer → higher p.d. → lower current for the same power → less heating of the cables → less energy wasted → more efficient; then step-down for safety at home.</a:t>
            </a:r>
            <a:endParaRPr lang="en-US" sz="1800" dirty="0"/>
          </a:p>
        </p:txBody>
      </p:sp>
      <p:sp>
        <p:nvSpPr>
          <p:cNvPr id="11" name="point-card"/>
          <p:cNvSpPr/>
          <p:nvPr/>
        </p:nvSpPr>
        <p:spPr>
          <a:xfrm>
            <a:off x="548640" y="1389888"/>
            <a:ext cx="3515258" cy="3407156"/>
          </a:xfrm>
          <a:prstGeom prst="roundRect">
            <a:avLst>
              <a:gd name="adj" fmla="val 1610"/>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309876"/>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National Grid carries electricity from power stations to homes, offices and factories.</a:t>
            </a:r>
            <a:endParaRPr lang="en-US" sz="2000" dirty="0"/>
          </a:p>
        </p:txBody>
      </p:sp>
      <p:sp>
        <p:nvSpPr>
          <p:cNvPr id="15" name="point-card"/>
          <p:cNvSpPr/>
          <p:nvPr/>
        </p:nvSpPr>
        <p:spPr>
          <a:xfrm>
            <a:off x="4338218" y="1389888"/>
            <a:ext cx="3515258" cy="3407156"/>
          </a:xfrm>
          <a:prstGeom prst="roundRect">
            <a:avLst>
              <a:gd name="adj" fmla="val 1610"/>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309876"/>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reason is efficiency. Cables have resistance, and a current in a resistance heats it: the moving electrons collide with the ions in the metal and transfer energy to them.</a:t>
            </a:r>
            <a:endParaRPr lang="en-US" sz="2000" dirty="0"/>
          </a:p>
        </p:txBody>
      </p:sp>
      <p:sp>
        <p:nvSpPr>
          <p:cNvPr id="19" name="point-card"/>
          <p:cNvSpPr/>
          <p:nvPr/>
        </p:nvSpPr>
        <p:spPr>
          <a:xfrm>
            <a:off x="8127797" y="1389888"/>
            <a:ext cx="3515258" cy="3407156"/>
          </a:xfrm>
          <a:prstGeom prst="roundRect">
            <a:avLst>
              <a:gd name="adj" fmla="val 1610"/>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309876"/>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high p.d. is dangerous, which is why transmission cables are hung high on pylons or buried, and why they are stepped back down before they reach anything you touch.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Same task, three ways in: Step it down (Higher)</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step-down transformer has 920 turns on its primary coil and 40 turns on its secondary coil. The primary coil is connected to the 230 V mains. Calculate the potential difference across the secondary coil in volts.</a:t>
            </a:r>
            <a:endParaRPr lang="en-US" sz="2000" dirty="0"/>
          </a:p>
          <a:p>
            <a:pPr algn="ctr" indent="0" marL="0">
              <a:buNone/>
            </a:pPr>
            <a:r>
              <a:rPr lang="en-US" sz="1800" b="1" dirty="0">
                <a:solidFill>
                  <a:srgbClr val="24366B"/>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V</a:t>
            </a:r>
            <a:endParaRPr lang="en-US" sz="2000" dirty="0"/>
          </a:p>
        </p:txBody>
      </p:sp>
      <p:sp>
        <p:nvSpPr>
          <p:cNvPr id="12" name="col-Support"/>
          <p:cNvSpPr/>
          <p:nvPr/>
        </p:nvSpPr>
        <p:spPr>
          <a:xfrm>
            <a:off x="548640" y="3258820"/>
            <a:ext cx="4667802" cy="2885948"/>
          </a:xfrm>
          <a:prstGeom prst="roundRect">
            <a:avLst>
              <a:gd name="adj" fmla="val 1901"/>
            </a:avLst>
          </a:prstGeom>
          <a:solidFill>
            <a:srgbClr val="DEE1E9"/>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4393482"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Vp / Vs = np / ns.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Rearrange: Vs = Vp × ns ÷ np.</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Substitute the numbers and calculate.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fewer turns on the secondary should give a smaller p.d.</a:t>
            </a:r>
            <a:endParaRPr lang="en-US" sz="1800" dirty="0"/>
          </a:p>
        </p:txBody>
      </p:sp>
      <p:sp>
        <p:nvSpPr>
          <p:cNvPr id="17" name="col-Core"/>
          <p:cNvSpPr/>
          <p:nvPr/>
        </p:nvSpPr>
        <p:spPr>
          <a:xfrm>
            <a:off x="5490762" y="3258820"/>
            <a:ext cx="2938987" cy="2885948"/>
          </a:xfrm>
          <a:prstGeom prst="roundRect">
            <a:avLst>
              <a:gd name="adj" fmla="val 1901"/>
            </a:avLst>
          </a:prstGeom>
          <a:solidFill>
            <a:srgbClr val="C4C9D7"/>
          </a:solidFill>
          <a:ln/>
        </p:spPr>
      </p:sp>
      <p:sp>
        <p:nvSpPr>
          <p:cNvPr id="18" name="col-hex"/>
          <p:cNvSpPr/>
          <p:nvPr/>
        </p:nvSpPr>
        <p:spPr>
          <a:xfrm>
            <a:off x="5600490"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Vs = Vp × ns ÷ np. Fewer secondary turns means a smaller answer.</a:t>
            </a:r>
            <a:endParaRPr lang="en-US" sz="1800" dirty="0"/>
          </a:p>
        </p:txBody>
      </p:sp>
      <p:sp>
        <p:nvSpPr>
          <p:cNvPr id="22" name="col-Stretch"/>
          <p:cNvSpPr/>
          <p:nvPr/>
        </p:nvSpPr>
        <p:spPr>
          <a:xfrm>
            <a:off x="8704069" y="3258820"/>
            <a:ext cx="2938987" cy="2885948"/>
          </a:xfrm>
          <a:prstGeom prst="roundRect">
            <a:avLst>
              <a:gd name="adj" fmla="val 1901"/>
            </a:avLst>
          </a:prstGeom>
          <a:solidFill>
            <a:srgbClr val="24366B"/>
          </a:solidFill>
          <a:ln/>
        </p:spPr>
      </p:sp>
      <p:sp>
        <p:nvSpPr>
          <p:cNvPr id="23" name="col-hex"/>
          <p:cNvSpPr/>
          <p:nvPr/>
        </p:nvSpPr>
        <p:spPr>
          <a:xfrm>
            <a:off x="8813797"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same transformer is 100 % efficient and the secondary delivers 2 A. Find the current in the primary coil and explain why it is smaller.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Same task, three ways in: How many turns? (Higher)</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step-up transformer at a power station has 500 turns on its primary coil, which is supplied at 25 000 V. The output across the secondary coil is 400 000 V. Calculate the number of turns on the secondary coil.</a:t>
            </a:r>
            <a:endParaRPr lang="en-US" sz="2000" dirty="0"/>
          </a:p>
          <a:p>
            <a:pPr algn="ctr" indent="0" marL="0">
              <a:buNone/>
            </a:pPr>
            <a:r>
              <a:rPr lang="en-US" sz="1800" b="1" dirty="0">
                <a:solidFill>
                  <a:srgbClr val="24366B"/>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turns</a:t>
            </a:r>
            <a:endParaRPr lang="en-US" sz="2000" dirty="0"/>
          </a:p>
        </p:txBody>
      </p:sp>
      <p:sp>
        <p:nvSpPr>
          <p:cNvPr id="12" name="col-Support"/>
          <p:cNvSpPr/>
          <p:nvPr/>
        </p:nvSpPr>
        <p:spPr>
          <a:xfrm>
            <a:off x="548640" y="3258820"/>
            <a:ext cx="3515258" cy="2885948"/>
          </a:xfrm>
          <a:prstGeom prst="roundRect">
            <a:avLst>
              <a:gd name="adj" fmla="val 1901"/>
            </a:avLst>
          </a:prstGeom>
          <a:solidFill>
            <a:srgbClr val="DEE1E9"/>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3240938"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Vp / Vs = np / ns.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Rearrange: ns = np × Vs ÷ Vp.</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Substitute and calculate.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step-up, so the secondary must have more turns than 500.</a:t>
            </a:r>
            <a:endParaRPr lang="en-US" sz="1800" dirty="0"/>
          </a:p>
        </p:txBody>
      </p:sp>
      <p:sp>
        <p:nvSpPr>
          <p:cNvPr id="17" name="col-Core"/>
          <p:cNvSpPr/>
          <p:nvPr/>
        </p:nvSpPr>
        <p:spPr>
          <a:xfrm>
            <a:off x="4338218" y="3258820"/>
            <a:ext cx="3515258" cy="2885948"/>
          </a:xfrm>
          <a:prstGeom prst="roundRect">
            <a:avLst>
              <a:gd name="adj" fmla="val 1901"/>
            </a:avLst>
          </a:prstGeom>
          <a:solidFill>
            <a:srgbClr val="C4C9D7"/>
          </a:solidFill>
          <a:ln/>
        </p:spPr>
      </p:sp>
      <p:sp>
        <p:nvSpPr>
          <p:cNvPr id="18" name="col-hex"/>
          <p:cNvSpPr/>
          <p:nvPr/>
        </p:nvSpPr>
        <p:spPr>
          <a:xfrm>
            <a:off x="4447946"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329539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898900"/>
            <a:ext cx="3240938" cy="2136140"/>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ns = np × Vs ÷ Vp. The answer must be bigger than 500.</a:t>
            </a:r>
            <a:endParaRPr lang="en-US" sz="1800" dirty="0"/>
          </a:p>
        </p:txBody>
      </p:sp>
      <p:sp>
        <p:nvSpPr>
          <p:cNvPr id="22" name="col-Stretch"/>
          <p:cNvSpPr/>
          <p:nvPr/>
        </p:nvSpPr>
        <p:spPr>
          <a:xfrm>
            <a:off x="8127797" y="3258820"/>
            <a:ext cx="3515258" cy="2885948"/>
          </a:xfrm>
          <a:prstGeom prst="roundRect">
            <a:avLst>
              <a:gd name="adj" fmla="val 1901"/>
            </a:avLst>
          </a:prstGeom>
          <a:solidFill>
            <a:srgbClr val="24366B"/>
          </a:solidFill>
          <a:ln/>
        </p:spPr>
      </p:sp>
      <p:sp>
        <p:nvSpPr>
          <p:cNvPr id="23" name="col-hex"/>
          <p:cNvSpPr/>
          <p:nvPr/>
        </p:nvSpPr>
        <p:spPr>
          <a:xfrm>
            <a:off x="8237525"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329539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898900"/>
            <a:ext cx="3240938"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If this transformer is 100 % efficient and the primary current is 800 A, state the secondary current and explain why stepping up the p.d. helps the Grid.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Why does a transformer only work with an alternating current?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Alternating current is stronger than direct current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Only a changing current gives a changing magnetic field, and only a changing field induces a p.d. in the secondary coil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iron core only conducts electricity one way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Direct current cannot flow through an iron core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Step it down (Higher)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step-down transformer has 920 turns on its primary coil and 40 turns on its secondary coil. The primary coil is connected to the 230 V mains. Calculate the potential difference across the secondary coil in volts.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10 V</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Vs = Vp × ns ÷ np = 230 × 40 ÷ 920 = 10 V. The secondary has 23 times fewer turns, so the p.d. is 23 times smaller.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How many turns? (Higher)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step-up transformer at a power station has 500 turns on its primary coil, which is supplied at 25 000 V. The output across the secondary coil is 400 000 V. Calculate the number of turns on the secondary coil.</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8000 turns</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ns = np × Vs ÷ Vp = 500 × 400 000 ÷ 25 000 = 8000 turns. The p.d. ratio and the turns ratio are the same, 16 to 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does a transformer only work with an alternating current?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Only a changing current gives a changing magnetic field, and only a changing field induces a p.d. in the secondary coil</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Induction needs a changing field. A steady d.c. gives a steady field and induces nothing after the first instant.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Electromagnetism · Chapter 6: Transformers and the National Grid</dc:title>
  <dc:subject>Physics (Triple Science) · Year 11</dc:subject>
  <dc:creator>Dr Vitor Merissi de Carvalho</dc:creator>
  <cp:lastModifiedBy>Dr Vitor Merissi de Carvalho</cp:lastModifiedBy>
  <cp:revision>1</cp:revision>
  <dcterms:created xsi:type="dcterms:W3CDTF">2026-10-19T16:23:27Z</dcterms:created>
  <dcterms:modified xsi:type="dcterms:W3CDTF">2026-10-19T16:23:27Z</dcterms:modified>
</cp:coreProperties>
</file>