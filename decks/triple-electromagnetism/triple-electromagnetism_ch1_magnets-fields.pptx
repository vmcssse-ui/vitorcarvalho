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3e2dbc-a7bb-a684-dbca-575f26198205}">
          <p14:sldIdLst>
            <p14:sldId id="256"/>
          </p14:sldIdLst>
        </p14:section>
        <p14:section name="Gate" id="{733b4a44-bfd3-5e70-b6dc-f6f40593a6f4}">
          <p14:sldIdLst>
            <p14:sldId id="257"/>
            <p14:sldId id="258"/>
          </p14:sldIdLst>
        </p14:section>
        <p14:section name="Pre-teach" id="{7d1bc68d-d83a-9dba-07c5-2a4f4a70fa63}">
          <p14:sldIdLst>
            <p14:sldId id="259"/>
            <p14:sldId id="260"/>
          </p14:sldIdLst>
        </p14:section>
        <p14:section name="Read-along" id="{f108dcd7-2386-9f42-929e-8b8afa6075cc}">
          <p14:sldIdLst>
            <p14:sldId id="261"/>
            <p14:sldId id="262"/>
          </p14:sldIdLst>
        </p14:section>
        <p14:section name="Teach" id="{659e2fc2-265c-a4a8-ee36-7776bf7a0b68}">
          <p14:sldIdLst>
            <p14:sldId id="263"/>
            <p14:sldId id="264"/>
            <p14:sldId id="265"/>
            <p14:sldId id="266"/>
            <p14:sldId id="267"/>
          </p14:sldIdLst>
        </p14:section>
        <p14:section name="Routes" id="{42beef1b-265e-d401-5df6-68cda46a9603}">
          <p14:sldIdLst>
            <p14:sldId id="268"/>
            <p14:sldId id="269"/>
            <p14:sldId id="270"/>
            <p14:sldId id="271"/>
          </p14:sldIdLst>
        </p14:section>
        <p14:section name="Close" id="{a48ddb0f-89b3-9235-a1b6-7cc739dbb0f3}">
          <p14:sldIdLst>
            <p14:sldId id="272"/>
          </p14:sldIdLst>
        </p14:section>
        <p14:section name="Answers" id="{69c676b5-63f7-b4c0-7573-07cf19af521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Magnets and magnetic fields. What a magnet does to another magnet and to a piece of iron, how to picture its invisible field, and why a compass points north. (Also in Combined Science.)
This deck covers the department's lesson: 1 (P15.1 Magnetic fields: How does a permanent magnet induce magnetism in a piece of unmagnetised iron, and how do we picture its field?).
Read the big question aloud: "How can a coil of wire and a magnet turn electricity into movement, movement into electricity, and 230 V into 400 000 V?"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happens when the north pole of one magnet is brought near the north pole of another?  →  A   They repel
2. A piece of iron that becomes a magnet only while it is in another magnetic field is called an ___ magnet.  →  induced
3. Where is the magnetic field of a bar magnet strongest?  →  B   At the poles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They repel. Like poles repel. Only unlike poles (north and south) attract.
2. induced. Induced magnetism is temporary: it lasts only while the material is in the field.
3. B   At the poles. The field lines are closest together at the poles, which is where the field is strongest. It gets weaker with distance.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pole: one of the two ends of a magnet, where its magnetism is strongest. Example: "Every magnet has a north pole and a south pole."
• repel: push away. Example: "Two north poles repel each other."
• attract: pull towards. Example: "A north pole and a south pole attract each other."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permanent magnet: a magnet that keeps its magnetism all the time. Example: "A bar magnet is a permanent magnet."
• induced magnet: a piece of magnetic material that becomes a magnet only while it is near a magnet. Example: "The paperclip became an induced magnet when it touched the bar magnet."
• magnetic field: the space around a magnet where its force can be felt. Example: "The magnetic field is strongest at the poles."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Every magnet has two poles: a north pole and a south pole.
2. Like poles repel: north pushes north away.
3. Unlike poles attract: north pulls south towards it.
4. This push or pull works without touching.
5. Only a few metals are magnetic: iron, steel, cobalt and nickel.
6. A permanent magnet keeps its own magnetism all the time.
7. A piece of iron near a magnet becomes a magnet too.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We call this an induced magnet.
9. An induced magnet is always attracted to the magnet, never repelled.
10. Take the magnet away, and the iron soon loses its magnetism.
11. The space around a magnet where its force acts is its magnetic field.
12. The field is strongest at the poles and gets weaker further away.
13. A compass needle is a small magnet that lines up with the Earth's magnetic field.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Poles, forces and magnetic materials. Say it in your own words, then check understanding with a quick question: ask a pupil from the pre-teach group first, since they met these words and ideas before the lesson. Pupils try to recall before you re-explain.
Every magnet has two poles, a north pole and a south pole, and this is where its magnetism is strongest. Bring two magnets together and you feel a force. Two like poles (north and north, or south and south) repel each other. Two unlike poles (north and south) attract. This is a non-contact force: the magnets do not have to touch.
Only a few materials are magnetic. The ones you need to know are iron, steel, cobalt and nickel. Aluminium, copper, gold, plastic, wood and card are not magnetic, which is why a sheet of card between a magnet and a paperclip does not stop the paperclip being pulled.
A magnet attracts a piece of unmagnetised iron, but it cannot repel it. Repulsion only happens between two magnets. That gives you a quick test: if two objects repel, they are both magnets.
Tip: Attraction alone does not prove something is a magnet; a plain iron bar is attracted too. Repulsion is the only test that proves both objects are magnets.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Permanent magnets and induced magnets. Say it in your own words, then check understanding with a quick question: ask a pupil from the pre-teach group first, since they met these words and ideas before the lesson. Pupils try to recall before you re-explain.
A permanent magnet produces its own magnetic field all the time. A bar magnet is a permanent magnet. Steel is used to make permanent magnets because, once it is magnetised, it does not lose its magnetism easily. The deck calls steel a hard magnetic material.
An induced magnet is a magnetic material that becomes a magnet only while it is inside another magnetic field. Hold a bar magnet near a paperclip or an iron nail and it becomes a magnet: the end nearest the bar magnet becomes the opposite pole, so the two attract. That is why a second paperclip will hang from the first, and a third from the second.
When you take the permanent magnet away, soft iron loses most or all of its magnetism quickly. Because an induced magnet always has the opposite pole facing the magnet that made it, induced magnetism always causes attraction, never repulsion.
Worked example — model it step by step, thinking aloud: A bar magnet's south pole is held near one end of an unmagnetised iron bar. Explain why the iron bar is attracted. (3 marks) (1) Name what happens to the iron: it is in the magnet's field, so it becomes an induced magnet. (2) Say which pole is induced where: the end of the iron nearest the magnet's south pole becomes a north pole. (3) Finish with the rule: unlike poles attract, so the induced north pole is pulled towards the magnet's south pole. Answer: The iron becomes an induced magnet; its near end becomes a north pole; unlike poles attract, so it is pulled towards the magnet's south pole..
Tip: Induced magnet questions nearly always want three ideas: becomes a magnet, opposite pole is induced nearest, so attraction.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Permanent magnets and induced magnets. Say it in your own words, then check understanding with a quick question: ask a pupil from the pre-teach group first, since they met these words and ideas before the lesson. Pupils try to recall before you re-explain.
A permanent magnet produces its own magnetic field all the time. A bar magnet is a permanent magnet. Steel is used to make permanent magnets because, once it is magnetised, it does not lose its magnetism easily. The deck calls steel a hard magnetic material.
An induced magnet is a magnetic material that becomes a magnet only while it is inside another magnetic field. Hold a bar magnet near a paperclip or an iron nail and it becomes a magnet: the end nearest the bar magnet becomes the opposite pole, so the two attract. That is why a second paperclip will hang from the first, and a third from the second.
When you take the permanent magnet away, soft iron loses most or all of its magnetism quickly. Because an induced magnet always has the opposite pole facing the magnet that made it, induced magnetism always causes attraction, never repulsion.
Worked example — model it step by step, thinking aloud: A bar magnet's south pole is held near one end of an unmagnetised iron bar. Explain why the iron bar is attracted. (3 marks) (1) Name what happens to the iron: it is in the magnet's field, so it becomes an induced magnet. (2) Say which pole is induced where: the end of the iron nearest the magnet's south pole becomes a north pole. (3) Finish with the rule: unlike poles attract, so the induced north pole is pulled towards the magnet's south pole. Answer: The iron becomes an induced magnet; its near end becomes a north pole; unlike poles attract, so it is pulled towards the magnet's south pole..
Tip: Induced magnet questions nearly always want three ideas: becomes a magnet, opposite pole is induced nearest, so attraction.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Picturing the field: field lines and the plotting compass. Say it in your own words, then check understanding with a quick question: ask a pupil from the pre-teach group first, since they met these words and ideas before the lesson. Pupils try to recall before you re-explain.
You cannot see a magnetic field, so we draw it with field lines. The magnetic field is the region around a magnet where another magnet, or a piece of magnetic material, experiences a force. The field lines have arrows that point from the north pole round to the south pole. The direction of the field at any point is the direction of the force that would act on a north pole placed there.
Where the lines are close together the field is strong; where they are spread out it is weak. That is why the lines crowd together at the poles, where the field is strongest, and spread out further away, where the field gets weaker with distance.
A plotting compass is a tiny bar magnet on a pivot. Put it in the field and its needle lines up with the field line at that point. Mark where the needle points, move the compass to that mark, and repeat: the dots join up into a field line. Iron filings sprinkled on card over a magnet show the same pattern.
Tip: Field lines never cross, and they come out of N and go into S. Draw the arrows; a field line without arrows loses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Earth is a magnet. Say it in your own words, then check understanding with a quick question: ask a pupil from the pre-teach group first, since they met these words and ideas before the lesson. Pupils try to recall before you re-explain.
The needle of a compass is a small bar magnet, and it is free to turn. It settles pointing roughly north, so there must be a magnetic field there for it to line up with: the Earth has a magnetic field. The Earth's core contains iron and nickel, and the Earth behaves as if it had a huge bar magnet inside it.
The end of the compass needle that points north is called its north-seeking pole, or simply its north pole. Since unlike poles attract, the point it is attracted to, up near the geographic North Pole, must be a magnetic south pole. The deck puts it neatly: the Earth's magnetic north is really the south pole of the Earth's magnetic field.
Away from any magnets and wires, a plotting compass points north. That is the first check you make in any field-plotting experiment: if the compass does not point north with nothing nearby, something magnetic is affecting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the second paperclip hangs 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steel paperclip hangs from the end of a bar magnet. A second paperclip hangs from the first, even though it is not touching the magnet. Why?
Support — work through the steps with the group: (1) Ask: is the first paperclip inside the bar magnet's field? Yes, it is touching the pole. (2) Recall what a magnetic material does in a field: it becomes an induced magnet. (3) An induced magnet has poles of its own, so it can attract another magnetic material. (4) Pick the option that says the first paperclip is now a magnet attracting the second.
Parallel worked example for Support (model it, do not give the task answer): A magnet picks up an iron nail. Grains of iron filings then stick to the far end of the nail. Explain why. The nail is in the magnet's field, so it becomes an induced magnet.; Its far end is now a pole.; Magnetic materials are attracted to a pole, so the filings stick to the nail.. Answer: The nail becomes an induced magnet, so its far end is a pole that attracts the iron filings..
Core — reveal the hint only on request: The first paperclip is sitting inside the bar magnet's field. What does a magnetic material become when it is in a field?
Stretch — no help; when finished: Predict what happens to the chain when the bar magnet is lifted away, and explain the difference you would expect between steel paperclips and soft iron 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the second paperclip hangs 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steel paperclip hangs from the end of a bar magnet. A second paperclip hangs from the first, even though it is not touching the magnet. Why?
Support — work through the steps with the group: (1) Ask: is the first paperclip inside the bar magnet's field? Yes, it is touching the pole. (2) Recall what a magnetic material does in a field: it becomes an induced magnet. (3) An induced magnet has poles of its own, so it can attract another magnetic material. (4) Pick the option that says the first paperclip is now a magnet attracting the second.
Parallel worked example for Support (model it, do not give the task answer): A magnet picks up an iron nail. Grains of iron filings then stick to the far end of the nail. Explain why. The nail is in the magnet's field, so it becomes an induced magnet.; Its far end is now a pole.; Magnetic materials are attracted to a pole, so the filings stick to the nail.. Answer: The nail becomes an induced magnet, so its far end is a pole that attracts the iron filings..
Core — reveal the hint only on request: The first paperclip is sitting inside the bar magnet's field. What does a magnetic material become when it is in a field?
Stretch — no help; when finished: Predict what happens to the chain when the bar magnet is lifted away, and explain the difference you would expect between steel paperclips and soft iron 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a field diagram.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a magnetic field diagram to what it tells you.
Support — work through the steps with the group: (1) Start with the arrows: they always point from N to S. (2) Think of the lines as showing how much field there is: more lines in a space means a stronger field. (3) Fewer lines in a space means a weaker field. (4) The definition of field direction uses a north pole: which way would it be pushed?
Parallel worked example for Support (model it, do not give the task answer): On a field diagram the lines are much closer together near the poles than along the sides of the magnet. What does this tell you? Close lines mean a strong field.; So the field is strongest near the poles and weaker along the sides.. Answer: The field is strongest near the poles, where the lines are closest, and weaker along the sides..
Core — reveal the hint only on request: Arrows give direction; spacing gives strength; the formal definition of direction is about a north pole.
Stretch — no help; when finished: Explain why two field lines can never cross each other. Use the idea that the field at a point has one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a field diagram.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feature of a magnetic field diagram to what it tells you.
Support — work through the steps with the group: (1) Start with the arrows: they always point from N to S. (2) Think of the lines as showing how much field there is: more lines in a space means a stronger field. (3) Fewer lines in a space means a weaker field. (4) The definition of field direction uses a north pole: which way would it be pushed?
Parallel worked example for Support (model it, do not give the task answer): On a field diagram the lines are much closer together near the poles than along the sides of the magnet. What does this tell you? Close lines mean a strong field.; So the field is strongest near the poles and weaker along the sides.. Answer: The field is strongest near the poles, where the lines are closest, and weaker along the sides..
Core — reveal the hint only on request: Arrows give direction; spacing gives strength; the formal definition of direction is about a north pole.
Stretch — no help; when finished: Explain why two field lines can never cross each other. Use the idea that the field at a point has one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happens when the north pole of one magnet is brought near the north pole of another?
Answer: D   They repel. Like poles repel. Only unlike poles (north and south) attract.
Source of this question: gate item 1 re-asked (options rotated) — this chapter has no third quick-check module.
The ebook also holds task 3, "Plot a field with a compass (4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the second paperclip hangs on. Reveal the answer; pupils mark their own work in a different colour, then read the "why" together. Same destination for every lane, so one answer serves the whole class.
Answer: A   The first paperclip has become an induced magnet, so it attracts the second
Why: Steel is a magnetic material. In the bar magnet's field the first paperclip becomes an induced magnet with its own poles, so it attracts the second paperclip. Induced magnetism always gives attraction.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Reading a field diagram. Reveal the answer; pupils mark their own work in a different colour, then read the "why" together. Same destination for every lane, so one answer serves the whole class.
Answer: Arrows on the field lines  →  B  The field direction: out of the north pole, into the south pole; Field lines close together  →  C  A strong field; Field lines far apart  →  A  A weak field; Direction of the field at a point  →  D  The direction of the force on a north pole placed there
Why: Arrows show direction, N to S. Spacing shows strength: close lines, strong field; spread-out lines, weak field. The field direction at a point is the direction of the force on a north pole there.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They repel
Why: Like poles repel. Only unlike poles (north and south) attract.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Electromagnetism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Magnets and magnetic fields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P15.1 Magnetic fields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can a coil of wire and a magnet turn electricity into movement, movement into electricity, and 230 V into 400 000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happens when the north pole of one magnet is brought near the north pole of another?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repel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Nothing: poles only act on iron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swap poles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attract</a:t>
            </a:r>
            <a:endParaRPr lang="en-US" sz="20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piece of iron that becomes a magnet only while it is in another magnetic field is called an ___ magnet.</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induced  ·  permanent  ·  electric</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Where is the magnetic field of a bar magnet strongest?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the middle of the magnet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the poles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is the same strength everywhere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About 10 cm away from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They repel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happens when the north pole of one magnet is brought near the north pole of another?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Like poles repel. Only unlike poles (north and south) attract.</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induced</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piece of iron that becomes a magnet only while it is in another magnetic field is called an ___ magnet.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Induced magnetism is temporary: it lasts only while the material is in the field.</a:t>
            </a:r>
            <a:endParaRPr lang="en-US" sz="18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At the poles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is the magnetic field of a bar magnet strongest?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field lines are closest together at the poles, which is where the field is strongest. It gets weaker with distance.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pole</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two ends of a magnet, where its magnetism is strongest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 magnet has a north pole and a south pole.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repel</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push away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Two north poles repel each other.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attract</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pull towards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north pole and a south pole attract each 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permanent magnet</a:t>
            </a:r>
            <a:endParaRPr lang="en-US" sz="2600" dirty="0"/>
          </a:p>
        </p:txBody>
      </p:sp>
      <p:sp>
        <p:nvSpPr>
          <p:cNvPr id="11" name="word-rule"/>
          <p:cNvSpPr/>
          <p:nvPr/>
        </p:nvSpPr>
        <p:spPr>
          <a:xfrm>
            <a:off x="731520" y="2558288"/>
            <a:ext cx="3149498" cy="0"/>
          </a:xfrm>
          <a:prstGeom prst="line">
            <a:avLst/>
          </a:prstGeom>
          <a:ln w="12700">
            <a:solidFill>
              <a:srgbClr val="9CA5B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magnet that keeps its magnetism all the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bar magnet is a permanent magnet.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induced magnet</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piece of magnetic material that becomes a magnet only while it is near a magnet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paperclip became an induced magnet when it touched the bar magnet.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magnetic field</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space around a magnet where its force can be felt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magnetic field is strongest at the poles.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Every magnet has two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 north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 south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Like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repel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north pushes north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Unlike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attract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north pulls south towards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push or pull works without touching.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a few metals are magnetic: iron, steel, cobalt and nickel.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permanent magnet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keeps its own magnetism all the time.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piece of iron near a magnet becomes a magnet too.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call this an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induced magnet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induced magnet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always attracted to the magnet, never repelled.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Take the magnet away, and the iron soon loses its magnetism.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space around a magnet where its force acts is its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magnetic field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field is strongest at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poles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gets weaker further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compass needle is a small magnet that lines up with the Earth's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magnetic field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Poles, forces and magnetic materials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Attraction alone does not prove something is a magnet; a plain iron bar is attracted too. Repulsion is the only test that proves both objects are magnets.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magnet has two poles, a north pole and a south pole, and this is where its magnetism is strongest.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Only a few materials are magnetic. The ones you need to know are iron, steel, cobalt and nickel.</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magnet attracts a piece of unmagnetised iron, but it cannot repel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Permanent magnets and induced magnets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Induced magnet questions nearly always want three ideas: becomes a magnet, opposite pole is induced nearest, so attraction.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permanent magnet produces its own magnetic field all the time.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induced magnet is a magnetic material that becomes a magnet only while it is inside another magnetic field.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you take the permanent magnet away, soft iron loses most or all of its magnetism quickly.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Worked example: Permanent magnets and induced magnets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EE1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bar magnet's south pole is held near one end of an unmagnetised iron bar. Explain why the iron bar is attracted. (3 marks)</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what happens to the iron: it is in the magnet's field, so it becomes an induced magnet.</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8790AE"/>
            </a:solidFill>
            <a:prstDash val="solid"/>
          </a:ln>
        </p:spPr>
      </p:sp>
      <p:sp>
        <p:nvSpPr>
          <p:cNvPr id="15" name="step-hex"/>
          <p:cNvSpPr/>
          <p:nvPr/>
        </p:nvSpPr>
        <p:spPr>
          <a:xfrm>
            <a:off x="4521098" y="2765552"/>
            <a:ext cx="530352" cy="459285"/>
          </a:xfrm>
          <a:prstGeom prst="hexagon">
            <a:avLst/>
          </a:prstGeom>
          <a:solidFill>
            <a:srgbClr val="24366B"/>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which pole is induced where: the end of the iron nearest the magnet's south pole becomes a north pole.</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8790AE"/>
            </a:solidFill>
            <a:prstDash val="solid"/>
          </a:ln>
        </p:spPr>
      </p:sp>
      <p:sp>
        <p:nvSpPr>
          <p:cNvPr id="20" name="step-hex"/>
          <p:cNvSpPr/>
          <p:nvPr/>
        </p:nvSpPr>
        <p:spPr>
          <a:xfrm>
            <a:off x="8356397" y="2765552"/>
            <a:ext cx="530352" cy="459285"/>
          </a:xfrm>
          <a:prstGeom prst="hexagon">
            <a:avLst/>
          </a:prstGeom>
          <a:solidFill>
            <a:srgbClr val="24366B"/>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rule: unlike poles attract, so the induced north pole is pulled towards the magnet's south pole.</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iron becomes an induced magnet; its near end becomes a north pole; unlike poles attract, so it is pulled towards the magnet's south pole.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Picturing the field: field lines and the plotting compass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Field lines never cross, and they come out of N and go into S. Draw the arrows; a field line without arrows loses the mark.</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cannot see a magnetic field, so we draw it with field lines.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Where the lines are close together the field is strong; where they are spread out it is weak.</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plotting compass is a tiny bar magnet on a pivot.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Earth is a magnet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needle of a compass is a small bar magnet, and it is free to turn.</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end of the compass needle that points north is called its north-seeking pole, or simply its north pole.</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Away from any magnets and wires, a plotting compass points north.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Why the second paperclip hangs 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steel paperclip hangs from the end of a bar magnet. A second paperclip hangs from the first, even though it is not touching the magnet.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first paperclip has become an induced magnet, so it attracts the second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two paperclips repel each other, which holds them together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second paperclip is a permanent magnet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Steel is sticky when it is near a magnet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Why the second paperclip hangs on</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Why the second paperclip hangs on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is the first paperclip inside the bar magnet's field? Yes, it is touching the pole.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what a magnetic material does in a field: it becomes an induced magnet.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induced magnet has poles of its own, so it can attract another magnetic material.</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says the first paperclip is now a magnet attracting the second.</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first paperclip is sitting inside the bar magnet's field. What does a magnetic material become when it is in a field?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Predict what happens to the chain when the bar magnet is lifted away, and explain the difference you would expect between steel paperclips and soft iron nails.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Reading a field diagram</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feature of a magnetic field diagram to what it tells you.</a:t>
            </a:r>
            <a:endParaRPr lang="en-US" sz="2200" dirty="0"/>
          </a:p>
        </p:txBody>
      </p:sp>
      <p:sp>
        <p:nvSpPr>
          <p:cNvPr id="11" name="match-card"/>
          <p:cNvSpPr/>
          <p:nvPr/>
        </p:nvSpPr>
        <p:spPr>
          <a:xfrm>
            <a:off x="777240" y="2468331"/>
            <a:ext cx="3760086" cy="634375"/>
          </a:xfrm>
          <a:prstGeom prst="roundRect">
            <a:avLst>
              <a:gd name="adj" fmla="val 11531"/>
            </a:avLst>
          </a:prstGeom>
          <a:solidFill>
            <a:srgbClr val="E3E5EC"/>
          </a:solidFill>
          <a:ln/>
        </p:spPr>
      </p:sp>
      <p:sp>
        <p:nvSpPr>
          <p:cNvPr id="12" name="match-hex"/>
          <p:cNvSpPr/>
          <p:nvPr/>
        </p:nvSpPr>
        <p:spPr>
          <a:xfrm>
            <a:off x="850392" y="2619226"/>
            <a:ext cx="384048" cy="332586"/>
          </a:xfrm>
          <a:prstGeom prst="hexagon">
            <a:avLst/>
          </a:prstGeom>
          <a:solidFill>
            <a:srgbClr val="24366B"/>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165726"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Arrows on the field lines</a:t>
            </a:r>
            <a:endParaRPr lang="en-US" sz="2200" dirty="0"/>
          </a:p>
        </p:txBody>
      </p:sp>
      <p:sp>
        <p:nvSpPr>
          <p:cNvPr id="15" name="match-card"/>
          <p:cNvSpPr/>
          <p:nvPr/>
        </p:nvSpPr>
        <p:spPr>
          <a:xfrm>
            <a:off x="4903086" y="2468331"/>
            <a:ext cx="6511369" cy="634375"/>
          </a:xfrm>
          <a:prstGeom prst="roundRect">
            <a:avLst>
              <a:gd name="adj" fmla="val 11531"/>
            </a:avLst>
          </a:prstGeom>
          <a:solidFill>
            <a:srgbClr val="F3EADB"/>
          </a:solidFill>
          <a:ln/>
        </p:spPr>
      </p:sp>
      <p:sp>
        <p:nvSpPr>
          <p:cNvPr id="16" name="match-hex"/>
          <p:cNvSpPr/>
          <p:nvPr/>
        </p:nvSpPr>
        <p:spPr>
          <a:xfrm>
            <a:off x="4976238" y="2619226"/>
            <a:ext cx="384048" cy="332586"/>
          </a:xfrm>
          <a:prstGeom prst="hexagon">
            <a:avLst/>
          </a:prstGeom>
          <a:solidFill>
            <a:srgbClr val="B8862B"/>
          </a:solidFill>
          <a:ln/>
        </p:spPr>
      </p:sp>
      <p:sp>
        <p:nvSpPr>
          <p:cNvPr id="17" name="match-hex-label"/>
          <p:cNvSpPr txBox="1"/>
          <p:nvPr/>
        </p:nvSpPr>
        <p:spPr>
          <a:xfrm>
            <a:off x="4976238"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424294" y="2468331"/>
            <a:ext cx="591700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weak field</a:t>
            </a:r>
            <a:endParaRPr lang="en-US" sz="2200" dirty="0"/>
          </a:p>
        </p:txBody>
      </p:sp>
      <p:sp>
        <p:nvSpPr>
          <p:cNvPr id="19" name="match-card"/>
          <p:cNvSpPr/>
          <p:nvPr/>
        </p:nvSpPr>
        <p:spPr>
          <a:xfrm>
            <a:off x="777240" y="3194147"/>
            <a:ext cx="3760086" cy="975243"/>
          </a:xfrm>
          <a:prstGeom prst="roundRect">
            <a:avLst>
              <a:gd name="adj" fmla="val 7501"/>
            </a:avLst>
          </a:prstGeom>
          <a:solidFill>
            <a:srgbClr val="E3E5EC"/>
          </a:solidFill>
          <a:ln/>
        </p:spPr>
      </p:sp>
      <p:sp>
        <p:nvSpPr>
          <p:cNvPr id="20" name="match-hex"/>
          <p:cNvSpPr/>
          <p:nvPr/>
        </p:nvSpPr>
        <p:spPr>
          <a:xfrm>
            <a:off x="850392" y="3515475"/>
            <a:ext cx="384048" cy="332586"/>
          </a:xfrm>
          <a:prstGeom prst="hexagon">
            <a:avLst/>
          </a:prstGeom>
          <a:solidFill>
            <a:srgbClr val="24366B"/>
          </a:solidFill>
          <a:ln/>
        </p:spPr>
      </p:sp>
      <p:sp>
        <p:nvSpPr>
          <p:cNvPr id="21" name="match-hex-label"/>
          <p:cNvSpPr txBox="1"/>
          <p:nvPr/>
        </p:nvSpPr>
        <p:spPr>
          <a:xfrm>
            <a:off x="850392"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3165726"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Field lines close together</a:t>
            </a:r>
            <a:endParaRPr lang="en-US" sz="2200" dirty="0"/>
          </a:p>
        </p:txBody>
      </p:sp>
      <p:sp>
        <p:nvSpPr>
          <p:cNvPr id="23" name="match-card"/>
          <p:cNvSpPr/>
          <p:nvPr/>
        </p:nvSpPr>
        <p:spPr>
          <a:xfrm>
            <a:off x="4903086" y="3194147"/>
            <a:ext cx="6511369" cy="975243"/>
          </a:xfrm>
          <a:prstGeom prst="roundRect">
            <a:avLst>
              <a:gd name="adj" fmla="val 7501"/>
            </a:avLst>
          </a:prstGeom>
          <a:solidFill>
            <a:srgbClr val="F3EADB"/>
          </a:solidFill>
          <a:ln/>
        </p:spPr>
      </p:sp>
      <p:sp>
        <p:nvSpPr>
          <p:cNvPr id="24" name="match-hex"/>
          <p:cNvSpPr/>
          <p:nvPr/>
        </p:nvSpPr>
        <p:spPr>
          <a:xfrm>
            <a:off x="4976238" y="3515475"/>
            <a:ext cx="384048" cy="332586"/>
          </a:xfrm>
          <a:prstGeom prst="hexagon">
            <a:avLst/>
          </a:prstGeom>
          <a:solidFill>
            <a:srgbClr val="B8862B"/>
          </a:solidFill>
          <a:ln/>
        </p:spPr>
      </p:sp>
      <p:sp>
        <p:nvSpPr>
          <p:cNvPr id="25" name="match-hex-label"/>
          <p:cNvSpPr txBox="1"/>
          <p:nvPr/>
        </p:nvSpPr>
        <p:spPr>
          <a:xfrm>
            <a:off x="4976238"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424294" y="3194147"/>
            <a:ext cx="591700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field direction: out of the north pole, into the south pole</a:t>
            </a:r>
            <a:endParaRPr lang="en-US" sz="2200" dirty="0"/>
          </a:p>
        </p:txBody>
      </p:sp>
      <p:sp>
        <p:nvSpPr>
          <p:cNvPr id="27" name="match-card"/>
          <p:cNvSpPr/>
          <p:nvPr/>
        </p:nvSpPr>
        <p:spPr>
          <a:xfrm>
            <a:off x="777240" y="4260830"/>
            <a:ext cx="3760086" cy="634375"/>
          </a:xfrm>
          <a:prstGeom prst="roundRect">
            <a:avLst>
              <a:gd name="adj" fmla="val 11531"/>
            </a:avLst>
          </a:prstGeom>
          <a:solidFill>
            <a:srgbClr val="E3E5EC"/>
          </a:solidFill>
          <a:ln/>
        </p:spPr>
      </p:sp>
      <p:sp>
        <p:nvSpPr>
          <p:cNvPr id="28" name="match-hex"/>
          <p:cNvSpPr/>
          <p:nvPr/>
        </p:nvSpPr>
        <p:spPr>
          <a:xfrm>
            <a:off x="850392" y="4411724"/>
            <a:ext cx="384048" cy="332586"/>
          </a:xfrm>
          <a:prstGeom prst="hexagon">
            <a:avLst/>
          </a:prstGeom>
          <a:solidFill>
            <a:srgbClr val="24366B"/>
          </a:solidFill>
          <a:ln/>
        </p:spPr>
      </p:sp>
      <p:sp>
        <p:nvSpPr>
          <p:cNvPr id="29" name="match-hex-label"/>
          <p:cNvSpPr txBox="1"/>
          <p:nvPr/>
        </p:nvSpPr>
        <p:spPr>
          <a:xfrm>
            <a:off x="850392"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3165726"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Field lines far apart</a:t>
            </a:r>
            <a:endParaRPr lang="en-US" sz="2200" dirty="0"/>
          </a:p>
        </p:txBody>
      </p:sp>
      <p:sp>
        <p:nvSpPr>
          <p:cNvPr id="31" name="match-card"/>
          <p:cNvSpPr/>
          <p:nvPr/>
        </p:nvSpPr>
        <p:spPr>
          <a:xfrm>
            <a:off x="4903086" y="4260830"/>
            <a:ext cx="6511369" cy="634375"/>
          </a:xfrm>
          <a:prstGeom prst="roundRect">
            <a:avLst>
              <a:gd name="adj" fmla="val 11531"/>
            </a:avLst>
          </a:prstGeom>
          <a:solidFill>
            <a:srgbClr val="F3EADB"/>
          </a:solidFill>
          <a:ln/>
        </p:spPr>
      </p:sp>
      <p:sp>
        <p:nvSpPr>
          <p:cNvPr id="32" name="match-hex"/>
          <p:cNvSpPr/>
          <p:nvPr/>
        </p:nvSpPr>
        <p:spPr>
          <a:xfrm>
            <a:off x="4976238" y="4411724"/>
            <a:ext cx="384048" cy="332586"/>
          </a:xfrm>
          <a:prstGeom prst="hexagon">
            <a:avLst/>
          </a:prstGeom>
          <a:solidFill>
            <a:srgbClr val="B8862B"/>
          </a:solidFill>
          <a:ln/>
        </p:spPr>
      </p:sp>
      <p:sp>
        <p:nvSpPr>
          <p:cNvPr id="33" name="match-hex-label"/>
          <p:cNvSpPr txBox="1"/>
          <p:nvPr/>
        </p:nvSpPr>
        <p:spPr>
          <a:xfrm>
            <a:off x="4976238"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424294" y="4260830"/>
            <a:ext cx="591700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strong field</a:t>
            </a:r>
            <a:endParaRPr lang="en-US" sz="2200" dirty="0"/>
          </a:p>
        </p:txBody>
      </p:sp>
      <p:sp>
        <p:nvSpPr>
          <p:cNvPr id="35" name="match-card"/>
          <p:cNvSpPr/>
          <p:nvPr/>
        </p:nvSpPr>
        <p:spPr>
          <a:xfrm>
            <a:off x="777240" y="4986645"/>
            <a:ext cx="3760086" cy="975243"/>
          </a:xfrm>
          <a:prstGeom prst="roundRect">
            <a:avLst>
              <a:gd name="adj" fmla="val 7501"/>
            </a:avLst>
          </a:prstGeom>
          <a:solidFill>
            <a:srgbClr val="E3E5EC"/>
          </a:solidFill>
          <a:ln/>
        </p:spPr>
      </p:sp>
      <p:sp>
        <p:nvSpPr>
          <p:cNvPr id="36" name="match-hex"/>
          <p:cNvSpPr/>
          <p:nvPr/>
        </p:nvSpPr>
        <p:spPr>
          <a:xfrm>
            <a:off x="850392" y="5307974"/>
            <a:ext cx="384048" cy="332586"/>
          </a:xfrm>
          <a:prstGeom prst="hexagon">
            <a:avLst/>
          </a:prstGeom>
          <a:solidFill>
            <a:srgbClr val="24366B"/>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3165726"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Direction of the field at a point</a:t>
            </a:r>
            <a:endParaRPr lang="en-US" sz="2200" dirty="0"/>
          </a:p>
        </p:txBody>
      </p:sp>
      <p:sp>
        <p:nvSpPr>
          <p:cNvPr id="39" name="match-card"/>
          <p:cNvSpPr/>
          <p:nvPr/>
        </p:nvSpPr>
        <p:spPr>
          <a:xfrm>
            <a:off x="4903086" y="4986645"/>
            <a:ext cx="6511369" cy="975243"/>
          </a:xfrm>
          <a:prstGeom prst="roundRect">
            <a:avLst>
              <a:gd name="adj" fmla="val 7501"/>
            </a:avLst>
          </a:prstGeom>
          <a:solidFill>
            <a:srgbClr val="F3EADB"/>
          </a:solidFill>
          <a:ln/>
        </p:spPr>
      </p:sp>
      <p:sp>
        <p:nvSpPr>
          <p:cNvPr id="40" name="match-hex"/>
          <p:cNvSpPr/>
          <p:nvPr/>
        </p:nvSpPr>
        <p:spPr>
          <a:xfrm>
            <a:off x="4976238" y="5307974"/>
            <a:ext cx="384048" cy="332586"/>
          </a:xfrm>
          <a:prstGeom prst="hexagon">
            <a:avLst/>
          </a:prstGeom>
          <a:solidFill>
            <a:srgbClr val="B8862B"/>
          </a:solidFill>
          <a:ln/>
        </p:spPr>
      </p:sp>
      <p:sp>
        <p:nvSpPr>
          <p:cNvPr id="41" name="match-hex-label"/>
          <p:cNvSpPr txBox="1"/>
          <p:nvPr/>
        </p:nvSpPr>
        <p:spPr>
          <a:xfrm>
            <a:off x="4976238"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424294" y="4986645"/>
            <a:ext cx="591700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direction of the force on a north pole placed there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Reading a field diagram</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Reading a field diagram</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arrows: they always point from N to 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of the lines as showing how much field there is: more lines in a space means a stronger field.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Fewer lines in a space means a weaker field.</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definition of field direction uses a north pole: which way would it be pushed?</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Arrows give direction; spacing gives strength; the formal definition of direction is about a north pole.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two field lines can never cross each other. Use the idea that the field at a point has one direction.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happens when the north pole of one magnet is brought near the north pole of another?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Nothing: poles only act on iron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swap poles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attract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repel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Why the second paperclip hangs on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steel paperclip hangs from the end of a bar magnet. A second paperclip hangs from the first, even though it is not touching the magnet.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first paperclip has become an induced magnet, so it attracts the second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Steel is a magnetic material. In the bar magnet's field the first paperclip becomes an induced magnet with its own poles, so it attracts the second paperclip. Induced magnetism always gives attraction.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Reading a field diagram</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Arrows on the field lines  →  B  The field direction: out of the north pole, into the south pole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Field lines close together  →  C  A strong field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Field lines far apart  →  A  A weak field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Direction of the field at a point  →  D  The direction of the force on a north pole placed there</a:t>
            </a:r>
            <a:endParaRPr lang="en-US" sz="22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Arrows show direction, N to S. Spacing shows strength: close lines, strong field; spread-out lines, weak field. The field direction at a point is the direction of the force on a north pole there.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happens when the north pole of one magnet is brought near the north pole of another?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They repel</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Like poles repel. Only unlike poles (north and south) attract.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Electromagnetism · Chapter 1: Magnets and magnetic fields</dc:title>
  <dc:subject>Physics (Triple Science) · Year 11</dc:subject>
  <dc:creator>Dr Vitor Merissi de Carvalho</dc:creator>
  <cp:lastModifiedBy>Dr Vitor Merissi de Carvalho</cp:lastModifiedBy>
  <cp:revision>1</cp:revision>
  <dcterms:created xsi:type="dcterms:W3CDTF">2026-10-19T16:23:26Z</dcterms:created>
  <dcterms:modified xsi:type="dcterms:W3CDTF">2026-10-19T16:23:26Z</dcterms:modified>
</cp:coreProperties>
</file>