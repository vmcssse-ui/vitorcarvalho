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f96a4c5-017d-cb16-58b5-2f66136e983e}">
          <p14:sldIdLst>
            <p14:sldId id="256"/>
          </p14:sldIdLst>
        </p14:section>
        <p14:section name="Gate" id="{bf4f5210-8467-6e39-3b6f-56cdba4b821e}">
          <p14:sldIdLst>
            <p14:sldId id="257"/>
            <p14:sldId id="258"/>
          </p14:sldIdLst>
        </p14:section>
        <p14:section name="Pre-teach" id="{7f3601af-9406-46ec-3907-33f59e22a446}">
          <p14:sldIdLst>
            <p14:sldId id="259"/>
          </p14:sldIdLst>
        </p14:section>
        <p14:section name="Read-along" id="{41364707-bd41-8dd1-b33d-8a3b955fcc3b}">
          <p14:sldIdLst>
            <p14:sldId id="260"/>
            <p14:sldId id="261"/>
          </p14:sldIdLst>
        </p14:section>
        <p14:section name="Teach" id="{ba469619-d080-0dc2-2bb5-fec20d49cf9e}">
          <p14:sldIdLst>
            <p14:sldId id="262"/>
            <p14:sldId id="263"/>
            <p14:sldId id="264"/>
            <p14:sldId id="265"/>
            <p14:sldId id="266"/>
          </p14:sldIdLst>
        </p14:section>
        <p14:section name="Routes" id="{4948ceec-2042-a206-f6f1-01811ce9afd8}">
          <p14:sldIdLst>
            <p14:sldId id="267"/>
            <p14:sldId id="268"/>
            <p14:sldId id="269"/>
            <p14:sldId id="270"/>
          </p14:sldIdLst>
        </p14:section>
        <p14:section name="Close" id="{0aa348ef-3e83-16fc-f521-e6e95fb08f05}">
          <p14:sldIdLst>
            <p14:sldId id="271"/>
          </p14:sldIdLst>
        </p14:section>
        <p14:section name="Answers" id="{c23d4692-9ea4-1a51-afbc-8b4fdcd71985}">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A river at work: erosion, transportation and deposition. A river's journey from the hills to the sea, and the three jobs it does on the way: picking material up, carrying it and dropping it.
This deck covers the department's lessons: 4 (A river's journey: What are the common features of a river from its source to the sea?); 6 (River processes: erosion: How does a river wear away the land along its course?); 7 (River processes: transportation and deposition: How does a river carry its load, and why does it drop it?).
Read the big question aloud: "How does water shape the land, why do rivers flood, and what can people do to reduce the risk and the damage?"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erosion process is the sheer force of the water hitting the river's banks and bed?  →  A   Hydraulic action
2. Rocks carried by the river knock into each other and break into smaller, rounder pieces. This is ___.  →  attrition
3. When does a river deposit its load?  →  C   When it slows down and loses energy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Hydraulic action. Hydraulic action is erosion by the force of the water itself.
2. attrition. Attrition is load hitting load; it makes pebbles smaller and smoother.
3. C   When it slows down and loses energy. A river needs energy to carry material; when it slows and loses energy, it drops the load.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erosion: wearing away the land and picking material up. Example: "Erosion by the river made the valley deeper."
• transportation: carrying material along the river. Example: "Transportation moves sand and pebbles downstream."
• deposition: dropping material the river was carrying. Example: "Deposition builds up mud near the mouth of a river."
• load: all the material a river carries. Example: "After a storm the river's load was full of mud and stones."
• hydraulic action: the sheer force of the water hitting the banks and bed. Example: "Hydraulic action forces air and water into cracks in the bank."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river has its source in the hills, where most rain falls.
2. Near the source it is small, fast and often has a waterfall.
3. As it flows downstream it gets wider and deeper.
4. This is because the river erodes the land.
5. Erosion means wearing away and picking material up.
6. The river erodes in four ways: hydraulic action, abrasion, attrition and solution.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 material a river carries is called its load.
8. A river carries its load in four ways: traction, saltation, suspension and solution.
9. When a river slows down it loses energy.
10. Then it drops its load.
11. This is called deposition.
12. Erosion, transportation, deposition: a river is always at work.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river's journey. Say it in your own words, then check understanding with a quick question: ask a pupil from the pre-teach group first, since they met these words and ideas before the lesson. Pupils try to recall before you re-explain.
A river begins its journey at its source in the hills or mountains. This is where most rain falls, and the ground is often boggy. The young river is narrow, shallow and fast, tumbling over rocks. This first part of its journey is the upper course, and it is here that you find waterfalls.
As the river flows downstream into its middle course, tributaries join it and it carries more water. It becomes wider and deeper, partly because it is wearing away its own channel. It starts to swing from side to side in large bends called meanders.
In the lower course the river is at its widest and deepest, moving slowly across flat land. Finally it flows into the sea at its mouth, often through a wide estuary. Along the whole journey the river has been doing three jobs: eroding, transporting and depositing.
Worked example — model it step by step, thinking aloud: Describe how a river changes from its source to its mouth. (4 marks) (1) Start at the source: in the hills, narrow, shallow and fast, with waterfalls in the upper course. (2) Give the reason for change: tributaries add water and the river erodes its channel, so it grows. (3) Describe the middle course: wider, deeper, with meanders. (4) Finish at the mouth: widest, deepest and slowest, flowing into the sea, often through an estuary. Answer: At its source in the hills the river is narrow, shallow and fast, with waterfalls. Downstream, tributaries join it and it erodes its channel, so it becomes wider and deeper and forms meanders. In the lower course it is widest and slowest, and it flows into the sea at its mouth..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river's journey. Say it in your own words, then check understanding with a quick question: ask a pupil from the pre-teach group first, since they met these words and ideas before the lesson. Pupils try to recall before you re-explain.
A river begins its journey at its source in the hills or mountains. This is where most rain falls, and the ground is often boggy. The young river is narrow, shallow and fast, tumbling over rocks. This first part of its journey is the upper course, and it is here that you find waterfalls.
As the river flows downstream into its middle course, tributaries join it and it carries more water. It becomes wider and deeper, partly because it is wearing away its own channel. It starts to swing from side to side in large bends called meanders.
In the lower course the river is at its widest and deepest, moving slowly across flat land. Finally it flows into the sea at its mouth, often through a wide estuary. Along the whole journey the river has been doing three jobs: eroding, transporting and depositing.
Worked example — model it step by step, thinking aloud: Describe how a river changes from its source to its mouth. (4 marks) (1) Start at the source: in the hills, narrow, shallow and fast, with waterfalls in the upper course. (2) Give the reason for change: tributaries add water and the river erodes its channel, so it grows. (3) Describe the middle course: wider, deeper, with meanders. (4) Finish at the mouth: widest, deepest and slowest, flowing into the sea, often through an estuary. Answer: At its source in the hills the river is narrow, shallow and fast, with waterfalls. Downstream, tributaries join it and it erodes its channel, so it becomes wider and deeper and forms meanders. In the lower course it is widest and slowest, and it flows into the sea at its mouth..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Erosion: four ways a river wears away the land. Say it in your own words, then check understanding with a quick question: ask a pupil from the pre-teach group first, since they met these words and ideas before the lesson. Pupils try to recall before you re-explain.
Erosion means wearing away the land and picking the material up. A river erodes its bed and its banks in four ways. Hydraulic action is the sheer force of the moving water hitting the banks and bed. It forces water and air into cracks and breaks pieces off.
Abrasion (some books call it corrasion) is when rocks and sand carried by the river scrape against the banks and bed, wearing them away like sandpaper. Attrition is when rocks carried by the river knock into each other and break into smaller, smoother, rounder pieces. Attrition wears down the load, not the banks.
Solution (also called corrosion) is when river water, which is slightly acidic, dissolves rocks such as limestone and chalk. You cannot see it happening, but over thousands of years it carves out caves and gorges.
Tip: Attrition is the odd one out: it wears down the stones the river carries. The other three wear away the banks and 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Transportation: four ways a river carries its load. Say it in your own words, then check understanding with a quick question: ask a pupil from the pre-teach group first, since they met these words and ideas before the lesson. Pupils try to recall before you re-explain.
Everything a river carries is its load: boulders, pebbles, sand, mud and dissolved minerals. The river moves this load in four ways, and the way depends on size. Traction is when large stones are rolled along the bed by the current. Saltation is when sand-sized particles bounce along the bed in a leap-frog movement.
Suspension is when very small particles, such as silt and clay, float along in the water. This is what makes a river look brown after heavy rain. Solution is when minerals are dissolved in the water and carried along invisibly.
Notice that solution appears twice in this chapter. As an erosion process it means dissolving rock; as a transportation process it means carrying the dissolved minerals away. Same word, two jobs.
Tip: Big stuff rolls (traction), medium stuff hops (saltation), small stuff floats (suspension), dissolved stuff is invisible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Deposition: when the river lets go. Say it in your own words, then check understanding with a quick question: ask a pupil from the pre-teach group first, since they met these words and ideas before the lesson. Pupils try to recall before you re-explain.
A river needs energy to carry its load, and it gets that energy from flowing fast. When a river slows down it loses energy and can no longer carry everything. It drops its load. This is deposition.
The heaviest material is dropped first, so boulders are left in the upper course and only fine mud reaches the sea. Deposition usually happens where the river is slowest: near its mouth, on the inside of bends, and across the floodplain when a flood spreads out and slows down.
Erosion, transportation and deposition work together. Material eroded in the hills is transported downstream and deposited near the sea. Over thousands of years this shapes every landform you will meet in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ways to erode.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erosion process to what happens.
Support — work through the steps with the group: (1) Ask of each description: is it the water doing the work, or rocks? (2) Water alone, with force, is hydraulic action. Water dissolving rock quietly is solution. (3) Rocks against the banks is abrasion (think sandpaper). Rocks against rocks is attrition. (4) Check: the only process that wears down the load itself is attrition.
Parallel worked example for Support (model it, do not give the task answer): A sea cliff is being worn away. Match: waves smash into cracks in the cliff; pebbles thrown by waves scrape the cliff. Choices: abrasion, hydraulic action. Waves smashing into cracks is the force of water: hydraulic action.; Pebbles scraping the cliff is abrasion.. Answer: Waves smashing: hydraulic action. Pebbles scraping: abrasion..
Core — reveal the hint only on request: Hydraulic means water. Solution means dissolving. The other two involve rocks: against the bank, or against each other.
Stretch — no help; when finished: Explain why pebbles in the lower course of a river are usually small, smooth and round, naming the process responsible.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ways to erode.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erosion process to what happens.
Support — work through the steps with the group: (1) Ask of each description: is it the water doing the work, or rocks? (2) Water alone, with force, is hydraulic action. Water dissolving rock quietly is solution. (3) Rocks against the banks is abrasion (think sandpaper). Rocks against rocks is attrition. (4) Check: the only process that wears down the load itself is attrition.
Parallel worked example for Support (model it, do not give the task answer): A sea cliff is being worn away. Match: waves smash into cracks in the cliff; pebbles thrown by waves scrape the cliff. Choices: abrasion, hydraulic action. Waves smashing into cracks is the force of water: hydraulic action.; Pebbles scraping the cliff is abrasion.. Answer: Waves smashing: hydraulic action. Pebbles scraping: abrasion..
Core — reveal the hint only on request: Hydraulic means water. Solution means dissolving. The other two involve rocks: against the bank, or against each other.
Stretch — no help; when finished: Explain why pebbles in the lower course of a river are usually small, smooth and round, naming the process responsible.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Hop, roll, float or dissolve?.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sand-sized grain is bounced along the river bed in a leap-frog movement. Which transportation process is this?
Support — work through the steps with the group: (1) Decide the size: is it a boulder, a sand grain, fine mud or something dissolved? (2) Decide the movement: rolling, bouncing, floating or invisible? (3) Sand-sized plus bouncing points to one process only. (4) Rule out the others: rolling is traction, floating is suspension, dissolved is solution.
Parallel worked example for Support (model it, do not give the task answer): A large stone is rolled slowly along the bed of a fast river. Which transportation process is this? It is large, so it is too heavy to bounce or float.; It is rolling along the bed.; Large stones rolled along the bed is traction.. Answer: Traction.
Core — reveal the hint only on request: Saltation comes from a Latin word meaning to jump.
Stretch — no help; when finished: Predict what happens to the same sand grain when the river slows down near its mouth, and name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Hop, roll, float or dissolve?.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sand-sized grain is bounced along the river bed in a leap-frog movement. Which transportation process is this?
Support — work through the steps with the group: (1) Decide the size: is it a boulder, a sand grain, fine mud or something dissolved? (2) Decide the movement: rolling, bouncing, floating or invisible? (3) Sand-sized plus bouncing points to one process only. (4) Rule out the others: rolling is traction, floating is suspension, dissolved is solution.
Parallel worked example for Support (model it, do not give the task answer): A large stone is rolled slowly along the bed of a fast river. Which transportation process is this? It is large, so it is too heavy to bounce or float.; It is rolling along the bed.; Large stones rolled along the bed is traction.. Answer: Traction.
Core — reveal the hint only on request: Saltation comes from a Latin word meaning to jump.
Stretch — no help; when finished: Predict what happens to the same sand grain when the river slows down near its mouth, and name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Put the stages of a river's journey in order, from source to mouth.
Answer: The river starts at its source in boggy high land where most rain falls  (A); In the upper course the small, fast river tumbles over a waterfall  (C); Tributaries join and the river becomes wider and deeper  (B); In the middle course the river swings in large bends called meanders  (D); In the lower course the wide, slow river flows into the sea at its mouth  (E). Source in the hills; waterfall in the upper course; tributaries make it wider and deeper; meanders in the middle course; mouth at the sea in the lower course.
Source of this question: module 3 task ("From the hills to the sea")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Four ways to erode. Reveal the answer; pupils mark their own work in a different colour, then read the "why" together. Same destination for every lane, so one answer serves the whole class.
Answer: Hydraulic action  →  A  The sheer force of the water hits the banks and bed; Abrasion  →  C  Rocks carried by the river scrape the banks and bed like sandpaper; Attrition  →  B  Rocks in the load knock into each other and break into smaller pieces; Solution  →  D  Slightly acidic water dissolves rocks such as limestone
Why: Hydraulic action: force of water. Abrasion: load scraping banks and bed. Attrition: load hitting load. Solution: acidic water dissolving rock.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Hop, roll, float or dissolve?. Reveal the answer; pupils mark their own work in a different colour, then read the "why" together. Same destination for every lane, so one answer serves the whole class.
Answer: A   Saltation
Why: Saltation: sand-sized particles bouncing along the bed. Traction: large stones rolled. Suspension: fine particles floating. Solution: dissolved minerals.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The river starts at its source in boggy high land where most rain falls  (A); In the upper course the small, fast river tumbles over a waterfall  (C); Tributaries join and the river becomes wider and deeper  (B); In the middle course the river swings in large bends called meanders  (D); In the lower course the wide, slow river flows into the sea at its mouth  (E)
Why: Source in the hills; waterfall in the upper course; tributaries make it wider and deeper; meanders in the middle course; mouth at the sea in the lower course.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Water on Land: Rivers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Water on Land: Rivers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Water on Land: Rivers · AQA KS3 → 8035</a:t>
            </a:r>
            <a:endParaRPr lang="en-US" sz="1800" dirty="0"/>
          </a:p>
        </p:txBody>
      </p:sp>
      <p:sp>
        <p:nvSpPr>
          <p:cNvPr id="10" name="deck-title"/>
          <p:cNvSpPr txBox="1"/>
          <p:nvPr/>
        </p:nvSpPr>
        <p:spPr>
          <a:xfrm>
            <a:off x="548640" y="208838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A river at work: erosion, transportation and deposition</a:t>
            </a:r>
            <a:endParaRPr lang="en-US" sz="2800" dirty="0"/>
          </a:p>
        </p:txBody>
      </p:sp>
      <p:sp>
        <p:nvSpPr>
          <p:cNvPr id="11" name="lessons-card"/>
          <p:cNvSpPr/>
          <p:nvPr/>
        </p:nvSpPr>
        <p:spPr>
          <a:xfrm>
            <a:off x="548640" y="3368548"/>
            <a:ext cx="5287975" cy="1986280"/>
          </a:xfrm>
          <a:prstGeom prst="roundRect">
            <a:avLst>
              <a:gd name="adj" fmla="val 3683"/>
            </a:avLst>
          </a:prstGeom>
          <a:solidFill>
            <a:srgbClr val="F2F5F2"/>
          </a:solidFill>
          <a:ln/>
        </p:spPr>
      </p:sp>
      <p:sp>
        <p:nvSpPr>
          <p:cNvPr id="12" name="lessons"/>
          <p:cNvSpPr txBox="1"/>
          <p:nvPr/>
        </p:nvSpPr>
        <p:spPr>
          <a:xfrm>
            <a:off x="685800" y="3459988"/>
            <a:ext cx="5013655" cy="18034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 river's journey</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River processes: erosion</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River processes: transportation and deposition</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water shape the land, why do rivers flood, and what can people do to reduce the risk and the damage?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erosion process is the sheer force of the water hitting the river's banks and bed?</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Hydraulic action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Solution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Abrasion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Attrition</a:t>
            </a:r>
            <a:endParaRPr lang="en-US" sz="24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Rocks carried by the river knock into each other and break into smaller, rounder pieces. This is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attrition  ·  abrasion  ·  saltation</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When does a river deposit its load?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When it rains heavily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When it reaches a waterfall</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When it slows down and loses energy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When it speeds up and gains energy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Hydraulic action</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erosion process is the sheer force of the water hitting the river's banks and bed?</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Hydraulic action is erosion by the force of the water itself.</a:t>
            </a:r>
            <a:endParaRPr lang="en-US" sz="22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attrition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Rocks carried by the river knock into each other and break into smaller, rounder pieces. This is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Attrition is load hitting load; it makes pebbles smaller and smoother.</a:t>
            </a:r>
            <a:endParaRPr lang="en-US" sz="20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FE4D0"/>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When it slows down and loses energy</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When does a river deposit its load?</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river needs energy to carry material; when it slows and loses energy, it drops the load.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3F6B4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5F8F6"/>
          </a:solidFill>
          <a:ln/>
        </p:spPr>
      </p:sp>
      <p:sp>
        <p:nvSpPr>
          <p:cNvPr id="12" name="kw-hex"/>
          <p:cNvSpPr/>
          <p:nvPr/>
        </p:nvSpPr>
        <p:spPr>
          <a:xfrm>
            <a:off x="658368" y="2135261"/>
            <a:ext cx="411480" cy="356342"/>
          </a:xfrm>
          <a:prstGeom prst="hexagon">
            <a:avLst/>
          </a:prstGeom>
          <a:solidFill>
            <a:srgbClr val="3F6B4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erosion</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wearing away the land and picking material up</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Erosion by the river made the valley deeper.</a:t>
            </a:r>
            <a:endParaRPr lang="en-US" sz="1800" dirty="0"/>
          </a:p>
        </p:txBody>
      </p:sp>
      <p:sp>
        <p:nvSpPr>
          <p:cNvPr id="16" name="kw-row"/>
          <p:cNvSpPr/>
          <p:nvPr/>
        </p:nvSpPr>
        <p:spPr>
          <a:xfrm>
            <a:off x="548640" y="2779776"/>
            <a:ext cx="11094415" cy="786384"/>
          </a:xfrm>
          <a:prstGeom prst="roundRect">
            <a:avLst>
              <a:gd name="adj" fmla="val 6977"/>
            </a:avLst>
          </a:prstGeom>
          <a:solidFill>
            <a:srgbClr val="F9F4EC"/>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transportation</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carrying material along the river</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Transportation moves sand and pebbles downstream.</a:t>
            </a:r>
            <a:endParaRPr lang="en-US" sz="1800" dirty="0"/>
          </a:p>
        </p:txBody>
      </p:sp>
      <p:sp>
        <p:nvSpPr>
          <p:cNvPr id="21" name="kw-row"/>
          <p:cNvSpPr/>
          <p:nvPr/>
        </p:nvSpPr>
        <p:spPr>
          <a:xfrm>
            <a:off x="548640" y="3639312"/>
            <a:ext cx="11094415" cy="786384"/>
          </a:xfrm>
          <a:prstGeom prst="roundRect">
            <a:avLst>
              <a:gd name="adj" fmla="val 6977"/>
            </a:avLst>
          </a:prstGeom>
          <a:solidFill>
            <a:srgbClr val="F5F8F6"/>
          </a:solidFill>
          <a:ln/>
        </p:spPr>
      </p:sp>
      <p:sp>
        <p:nvSpPr>
          <p:cNvPr id="22" name="kw-hex"/>
          <p:cNvSpPr/>
          <p:nvPr/>
        </p:nvSpPr>
        <p:spPr>
          <a:xfrm>
            <a:off x="658368" y="3854333"/>
            <a:ext cx="411480" cy="356342"/>
          </a:xfrm>
          <a:prstGeom prst="hexagon">
            <a:avLst/>
          </a:prstGeom>
          <a:solidFill>
            <a:srgbClr val="3F6B4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deposition</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dropping material the river was carrying</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Deposition builds up mud near the mouth of a river.</a:t>
            </a:r>
            <a:endParaRPr lang="en-US" sz="1800" dirty="0"/>
          </a:p>
        </p:txBody>
      </p:sp>
      <p:sp>
        <p:nvSpPr>
          <p:cNvPr id="26" name="kw-row"/>
          <p:cNvSpPr/>
          <p:nvPr/>
        </p:nvSpPr>
        <p:spPr>
          <a:xfrm>
            <a:off x="548640" y="4498848"/>
            <a:ext cx="11094415" cy="786384"/>
          </a:xfrm>
          <a:prstGeom prst="roundRect">
            <a:avLst>
              <a:gd name="adj" fmla="val 6977"/>
            </a:avLst>
          </a:prstGeom>
          <a:solidFill>
            <a:srgbClr val="F9F4EC"/>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load</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all the material a river carries</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After a storm the river's load was full of mud and stones.</a:t>
            </a:r>
            <a:endParaRPr lang="en-US" sz="1800" dirty="0"/>
          </a:p>
        </p:txBody>
      </p:sp>
      <p:sp>
        <p:nvSpPr>
          <p:cNvPr id="31" name="kw-row"/>
          <p:cNvSpPr/>
          <p:nvPr/>
        </p:nvSpPr>
        <p:spPr>
          <a:xfrm>
            <a:off x="548640" y="5358384"/>
            <a:ext cx="11094415" cy="786384"/>
          </a:xfrm>
          <a:prstGeom prst="roundRect">
            <a:avLst>
              <a:gd name="adj" fmla="val 6977"/>
            </a:avLst>
          </a:prstGeom>
          <a:solidFill>
            <a:srgbClr val="F5F8F6"/>
          </a:solidFill>
          <a:ln/>
        </p:spPr>
      </p:sp>
      <p:sp>
        <p:nvSpPr>
          <p:cNvPr id="32" name="kw-hex"/>
          <p:cNvSpPr/>
          <p:nvPr/>
        </p:nvSpPr>
        <p:spPr>
          <a:xfrm>
            <a:off x="658368" y="5573405"/>
            <a:ext cx="411480" cy="356342"/>
          </a:xfrm>
          <a:prstGeom prst="hexagon">
            <a:avLst/>
          </a:prstGeom>
          <a:solidFill>
            <a:srgbClr val="3F6B4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hydraulic action</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sheer force of the water hitting the banks and bed</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Hydraulic action forces air and water into cracks in the bank.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river has its source in the hills, where most rain falls.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Near the source it is small, fast and often has a waterfall.</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As it flows downstream it gets wider and deeper.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is because the river erodes the land.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Erosion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means wearing away and picking material up.</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river erodes in four ways: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hydraulic action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abrasion, attrition and solution.</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material a river carries is called its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load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river carries its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load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in four ways: traction, saltation, suspension and solution.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When a river slows down it loses energy.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it drops its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load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is called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deposition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Erosion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transportation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deposition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 river is always at work.</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 river's journey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F5F2"/>
          </a:solidFill>
          <a:ln/>
        </p:spPr>
      </p:sp>
      <p:sp>
        <p:nvSpPr>
          <p:cNvPr id="8" name="point-hex"/>
          <p:cNvSpPr/>
          <p:nvPr/>
        </p:nvSpPr>
        <p:spPr>
          <a:xfrm>
            <a:off x="731520" y="1572768"/>
            <a:ext cx="685800" cy="593903"/>
          </a:xfrm>
          <a:prstGeom prst="hexagon">
            <a:avLst/>
          </a:prstGeom>
          <a:solidFill>
            <a:srgbClr val="3F6B4A"/>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river begins its journey at its source in the hills or mountains.</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9F4EC"/>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As the river flows downstream into its middle course, tributaries join it and it carries more water.</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F5F2"/>
          </a:solidFill>
          <a:ln/>
        </p:spPr>
      </p:sp>
      <p:sp>
        <p:nvSpPr>
          <p:cNvPr id="16" name="point-hex"/>
          <p:cNvSpPr/>
          <p:nvPr/>
        </p:nvSpPr>
        <p:spPr>
          <a:xfrm>
            <a:off x="8310677" y="1572768"/>
            <a:ext cx="685800" cy="593903"/>
          </a:xfrm>
          <a:prstGeom prst="hexagon">
            <a:avLst/>
          </a:prstGeom>
          <a:solidFill>
            <a:srgbClr val="3F6B4A"/>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the lower course the river is at its widest and deepest, moving slowly across flat land.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A river's journey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F5F2"/>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Describe how a river changes from its source to its mouth. (4 marks)</a:t>
            </a:r>
            <a:endParaRPr lang="en-US" sz="2000" dirty="0"/>
          </a:p>
        </p:txBody>
      </p:sp>
      <p:sp>
        <p:nvSpPr>
          <p:cNvPr id="9" name="step-box"/>
          <p:cNvSpPr/>
          <p:nvPr/>
        </p:nvSpPr>
        <p:spPr>
          <a:xfrm>
            <a:off x="548640" y="2192528"/>
            <a:ext cx="11094415" cy="572110"/>
          </a:xfrm>
          <a:prstGeom prst="roundRect">
            <a:avLst>
              <a:gd name="adj" fmla="val 12786"/>
            </a:avLst>
          </a:prstGeom>
          <a:solidFill>
            <a:srgbClr val="FFFFFF"/>
          </a:solidFill>
          <a:ln w="15875">
            <a:solidFill>
              <a:srgbClr val="95AE9B"/>
            </a:solidFill>
            <a:prstDash val="solid"/>
          </a:ln>
        </p:spPr>
      </p:sp>
      <p:sp>
        <p:nvSpPr>
          <p:cNvPr id="10" name="step-hex"/>
          <p:cNvSpPr/>
          <p:nvPr/>
        </p:nvSpPr>
        <p:spPr>
          <a:xfrm>
            <a:off x="685800" y="2280615"/>
            <a:ext cx="457200" cy="395935"/>
          </a:xfrm>
          <a:prstGeom prst="hexagon">
            <a:avLst/>
          </a:prstGeom>
          <a:solidFill>
            <a:srgbClr val="3F6B4A"/>
          </a:solidFill>
          <a:ln/>
        </p:spPr>
      </p:sp>
      <p:sp>
        <p:nvSpPr>
          <p:cNvPr id="11" name="step-hex-label"/>
          <p:cNvSpPr txBox="1"/>
          <p:nvPr/>
        </p:nvSpPr>
        <p:spPr>
          <a:xfrm>
            <a:off x="685800" y="2280615"/>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57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Start at the source: in the hills, narrow, shallow and fast, with waterfalls in the upper course.</a:t>
            </a:r>
            <a:endParaRPr lang="en-US" sz="1800" dirty="0"/>
          </a:p>
        </p:txBody>
      </p:sp>
      <p:sp>
        <p:nvSpPr>
          <p:cNvPr id="13" name="step-box"/>
          <p:cNvSpPr/>
          <p:nvPr/>
        </p:nvSpPr>
        <p:spPr>
          <a:xfrm>
            <a:off x="548640" y="2837790"/>
            <a:ext cx="11094415" cy="572110"/>
          </a:xfrm>
          <a:prstGeom prst="roundRect">
            <a:avLst>
              <a:gd name="adj" fmla="val 12786"/>
            </a:avLst>
          </a:prstGeom>
          <a:solidFill>
            <a:srgbClr val="FFFFFF"/>
          </a:solidFill>
          <a:ln w="15875">
            <a:solidFill>
              <a:srgbClr val="95AE9B"/>
            </a:solidFill>
            <a:prstDash val="solid"/>
          </a:ln>
        </p:spPr>
      </p:sp>
      <p:sp>
        <p:nvSpPr>
          <p:cNvPr id="14" name="step-hex"/>
          <p:cNvSpPr/>
          <p:nvPr/>
        </p:nvSpPr>
        <p:spPr>
          <a:xfrm>
            <a:off x="685800" y="2925877"/>
            <a:ext cx="457200" cy="395935"/>
          </a:xfrm>
          <a:prstGeom prst="hexagon">
            <a:avLst/>
          </a:prstGeom>
          <a:solidFill>
            <a:srgbClr val="3F6B4A"/>
          </a:solidFill>
          <a:ln/>
        </p:spPr>
      </p:sp>
      <p:sp>
        <p:nvSpPr>
          <p:cNvPr id="15" name="step-hex-label"/>
          <p:cNvSpPr txBox="1"/>
          <p:nvPr/>
        </p:nvSpPr>
        <p:spPr>
          <a:xfrm>
            <a:off x="685800" y="2925877"/>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837790"/>
            <a:ext cx="10180015" cy="57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the reason for change: tributaries add water and the river erodes its channel, so it grows.</a:t>
            </a:r>
            <a:endParaRPr lang="en-US" sz="1800" dirty="0"/>
          </a:p>
        </p:txBody>
      </p:sp>
      <p:sp>
        <p:nvSpPr>
          <p:cNvPr id="17" name="step-box"/>
          <p:cNvSpPr/>
          <p:nvPr/>
        </p:nvSpPr>
        <p:spPr>
          <a:xfrm>
            <a:off x="548640" y="3483051"/>
            <a:ext cx="11094415" cy="572110"/>
          </a:xfrm>
          <a:prstGeom prst="roundRect">
            <a:avLst>
              <a:gd name="adj" fmla="val 12786"/>
            </a:avLst>
          </a:prstGeom>
          <a:solidFill>
            <a:srgbClr val="FFFFFF"/>
          </a:solidFill>
          <a:ln w="15875">
            <a:solidFill>
              <a:srgbClr val="95AE9B"/>
            </a:solidFill>
            <a:prstDash val="solid"/>
          </a:ln>
        </p:spPr>
      </p:sp>
      <p:sp>
        <p:nvSpPr>
          <p:cNvPr id="18" name="step-hex"/>
          <p:cNvSpPr/>
          <p:nvPr/>
        </p:nvSpPr>
        <p:spPr>
          <a:xfrm>
            <a:off x="685800" y="3571138"/>
            <a:ext cx="457200" cy="395935"/>
          </a:xfrm>
          <a:prstGeom prst="hexagon">
            <a:avLst/>
          </a:prstGeom>
          <a:solidFill>
            <a:srgbClr val="3F6B4A"/>
          </a:solidFill>
          <a:ln/>
        </p:spPr>
      </p:sp>
      <p:sp>
        <p:nvSpPr>
          <p:cNvPr id="19" name="step-hex-label"/>
          <p:cNvSpPr txBox="1"/>
          <p:nvPr/>
        </p:nvSpPr>
        <p:spPr>
          <a:xfrm>
            <a:off x="685800" y="357113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483051"/>
            <a:ext cx="10180015" cy="57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Describe the middle course: wider, deeper, with meanders.</a:t>
            </a:r>
            <a:endParaRPr lang="en-US" sz="1800" dirty="0"/>
          </a:p>
        </p:txBody>
      </p:sp>
      <p:sp>
        <p:nvSpPr>
          <p:cNvPr id="21" name="step-box"/>
          <p:cNvSpPr/>
          <p:nvPr/>
        </p:nvSpPr>
        <p:spPr>
          <a:xfrm>
            <a:off x="548640" y="4128313"/>
            <a:ext cx="11094415" cy="572110"/>
          </a:xfrm>
          <a:prstGeom prst="roundRect">
            <a:avLst>
              <a:gd name="adj" fmla="val 12786"/>
            </a:avLst>
          </a:prstGeom>
          <a:solidFill>
            <a:srgbClr val="FFFFFF"/>
          </a:solidFill>
          <a:ln w="15875">
            <a:solidFill>
              <a:srgbClr val="95AE9B"/>
            </a:solidFill>
            <a:prstDash val="solid"/>
          </a:ln>
        </p:spPr>
      </p:sp>
      <p:sp>
        <p:nvSpPr>
          <p:cNvPr id="22" name="step-hex"/>
          <p:cNvSpPr/>
          <p:nvPr/>
        </p:nvSpPr>
        <p:spPr>
          <a:xfrm>
            <a:off x="685800" y="4216400"/>
            <a:ext cx="457200" cy="395935"/>
          </a:xfrm>
          <a:prstGeom prst="hexagon">
            <a:avLst/>
          </a:prstGeom>
          <a:solidFill>
            <a:srgbClr val="3F6B4A"/>
          </a:solidFill>
          <a:ln/>
        </p:spPr>
      </p:sp>
      <p:sp>
        <p:nvSpPr>
          <p:cNvPr id="23" name="step-hex-label"/>
          <p:cNvSpPr txBox="1"/>
          <p:nvPr/>
        </p:nvSpPr>
        <p:spPr>
          <a:xfrm>
            <a:off x="685800" y="421640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128313"/>
            <a:ext cx="10180015" cy="57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Finish at the mouth: widest, deepest and slowest, flowing into the sea, often through an estuary.</a:t>
            </a:r>
            <a:endParaRPr lang="en-US" sz="1800" dirty="0"/>
          </a:p>
        </p:txBody>
      </p:sp>
      <p:sp>
        <p:nvSpPr>
          <p:cNvPr id="25" name="worked-answer"/>
          <p:cNvSpPr/>
          <p:nvPr/>
        </p:nvSpPr>
        <p:spPr>
          <a:xfrm>
            <a:off x="548640" y="4883302"/>
            <a:ext cx="11094415" cy="1109980"/>
          </a:xfrm>
          <a:prstGeom prst="roundRect">
            <a:avLst>
              <a:gd name="adj" fmla="val 12357"/>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At its source in the hills the river is narrow, shallow and fast, with waterfalls. Downstream, tributaries join it and it erodes its channel, so it becomes wider and deeper and forms meanders. In the lower course it is widest and slowest, and it flows into the sea at its mouth.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Erosion: four ways a river wears away the land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Attrition is the odd one out: it wears down the stones the river carries. The other three wear away the banks and bed.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Erosion means wearing away the land and picking the material up.</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Abrasion (some books call it corrasion) is when rocks and sand carried by the river scrape against the banks and bed, wearing them away like sandpaper.</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Solution (also called corrosion) is when river water, which is slightly acidic, dissolves rocks such as limestone and chalk.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Transportation: four ways a river carries its load</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Big stuff rolls (traction), medium stuff hops (saltation), small stuff floats (suspension), dissolved stuff is invisible (solution).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Everything a river carries is its load: boulders, pebbles, sand, mud and dissolved minerals.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Suspension is when very small particles, such as silt and clay, float along in the water.</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Notice that solution appears twice in this chapter. As an erosion process it means dissolving rock; as a transportation process it means carrying the dissolved minerals away.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Deposition: when the river lets go</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F5F2"/>
          </a:solidFill>
          <a:ln/>
        </p:spPr>
      </p:sp>
      <p:sp>
        <p:nvSpPr>
          <p:cNvPr id="8" name="point-hex"/>
          <p:cNvSpPr/>
          <p:nvPr/>
        </p:nvSpPr>
        <p:spPr>
          <a:xfrm>
            <a:off x="731520" y="1572768"/>
            <a:ext cx="685800" cy="593903"/>
          </a:xfrm>
          <a:prstGeom prst="hexagon">
            <a:avLst/>
          </a:prstGeom>
          <a:solidFill>
            <a:srgbClr val="3F6B4A"/>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river needs energy to carry its load, and it gets that energy from flowing fast.</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9F4EC"/>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heaviest material is dropped first, so boulders are left in the upper course and only fine mud reaches the sea.</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F5F2"/>
          </a:solidFill>
          <a:ln/>
        </p:spPr>
      </p:sp>
      <p:sp>
        <p:nvSpPr>
          <p:cNvPr id="16" name="point-hex"/>
          <p:cNvSpPr/>
          <p:nvPr/>
        </p:nvSpPr>
        <p:spPr>
          <a:xfrm>
            <a:off x="8310677" y="1572768"/>
            <a:ext cx="685800" cy="593903"/>
          </a:xfrm>
          <a:prstGeom prst="hexagon">
            <a:avLst/>
          </a:prstGeom>
          <a:solidFill>
            <a:srgbClr val="3F6B4A"/>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Erosion, transportation and deposition work together. Material eroded in the hills is transported downstream and deposited near the sea.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Four ways to erode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erosion process to what happens.</a:t>
            </a:r>
            <a:endParaRPr lang="en-US" sz="2400" dirty="0"/>
          </a:p>
        </p:txBody>
      </p:sp>
      <p:sp>
        <p:nvSpPr>
          <p:cNvPr id="11" name="match-card"/>
          <p:cNvSpPr/>
          <p:nvPr/>
        </p:nvSpPr>
        <p:spPr>
          <a:xfrm>
            <a:off x="777240" y="2468331"/>
            <a:ext cx="3081437" cy="634375"/>
          </a:xfrm>
          <a:prstGeom prst="roundRect">
            <a:avLst>
              <a:gd name="adj" fmla="val 11531"/>
            </a:avLst>
          </a:prstGeom>
          <a:solidFill>
            <a:srgbClr val="F5F8F6"/>
          </a:solidFill>
          <a:ln/>
        </p:spPr>
      </p:sp>
      <p:sp>
        <p:nvSpPr>
          <p:cNvPr id="12" name="match-hex"/>
          <p:cNvSpPr/>
          <p:nvPr/>
        </p:nvSpPr>
        <p:spPr>
          <a:xfrm>
            <a:off x="850392" y="2619226"/>
            <a:ext cx="384048" cy="332586"/>
          </a:xfrm>
          <a:prstGeom prst="hexagon">
            <a:avLst/>
          </a:prstGeom>
          <a:solidFill>
            <a:srgbClr val="3F6B4A"/>
          </a:solidFill>
          <a:ln/>
        </p:spPr>
      </p:sp>
      <p:sp>
        <p:nvSpPr>
          <p:cNvPr id="13" name="match-hex-label"/>
          <p:cNvSpPr txBox="1"/>
          <p:nvPr/>
        </p:nvSpPr>
        <p:spPr>
          <a:xfrm>
            <a:off x="850392"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Hydraulic action</a:t>
            </a:r>
            <a:endParaRPr lang="en-US" sz="2200" dirty="0"/>
          </a:p>
        </p:txBody>
      </p:sp>
      <p:sp>
        <p:nvSpPr>
          <p:cNvPr id="15" name="match-card"/>
          <p:cNvSpPr/>
          <p:nvPr/>
        </p:nvSpPr>
        <p:spPr>
          <a:xfrm>
            <a:off x="4224437" y="2468331"/>
            <a:ext cx="7190019" cy="634375"/>
          </a:xfrm>
          <a:prstGeom prst="roundRect">
            <a:avLst>
              <a:gd name="adj" fmla="val 11531"/>
            </a:avLst>
          </a:prstGeom>
          <a:solidFill>
            <a:srgbClr val="F9F4EC"/>
          </a:solidFill>
          <a:ln/>
        </p:spPr>
      </p:sp>
      <p:sp>
        <p:nvSpPr>
          <p:cNvPr id="16" name="match-hex"/>
          <p:cNvSpPr/>
          <p:nvPr/>
        </p:nvSpPr>
        <p:spPr>
          <a:xfrm>
            <a:off x="4297589" y="2619226"/>
            <a:ext cx="384048" cy="332586"/>
          </a:xfrm>
          <a:prstGeom prst="hexagon">
            <a:avLst/>
          </a:prstGeom>
          <a:solidFill>
            <a:srgbClr val="B8862B"/>
          </a:solidFill>
          <a:ln/>
        </p:spPr>
      </p:sp>
      <p:sp>
        <p:nvSpPr>
          <p:cNvPr id="17" name="match-hex-label"/>
          <p:cNvSpPr txBox="1"/>
          <p:nvPr/>
        </p:nvSpPr>
        <p:spPr>
          <a:xfrm>
            <a:off x="4297589"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sheer force of the water hits the banks and bed</a:t>
            </a:r>
            <a:endParaRPr lang="en-US" sz="2200" dirty="0"/>
          </a:p>
        </p:txBody>
      </p:sp>
      <p:sp>
        <p:nvSpPr>
          <p:cNvPr id="19" name="match-card"/>
          <p:cNvSpPr/>
          <p:nvPr/>
        </p:nvSpPr>
        <p:spPr>
          <a:xfrm>
            <a:off x="777240" y="3194147"/>
            <a:ext cx="3081437" cy="975243"/>
          </a:xfrm>
          <a:prstGeom prst="roundRect">
            <a:avLst>
              <a:gd name="adj" fmla="val 7501"/>
            </a:avLst>
          </a:prstGeom>
          <a:solidFill>
            <a:srgbClr val="F5F8F6"/>
          </a:solidFill>
          <a:ln/>
        </p:spPr>
      </p:sp>
      <p:sp>
        <p:nvSpPr>
          <p:cNvPr id="20" name="match-hex"/>
          <p:cNvSpPr/>
          <p:nvPr/>
        </p:nvSpPr>
        <p:spPr>
          <a:xfrm>
            <a:off x="850392" y="3515475"/>
            <a:ext cx="384048" cy="332586"/>
          </a:xfrm>
          <a:prstGeom prst="hexagon">
            <a:avLst/>
          </a:prstGeom>
          <a:solidFill>
            <a:srgbClr val="3F6B4A"/>
          </a:solidFill>
          <a:ln/>
        </p:spPr>
      </p:sp>
      <p:sp>
        <p:nvSpPr>
          <p:cNvPr id="21" name="match-hex-label"/>
          <p:cNvSpPr txBox="1"/>
          <p:nvPr/>
        </p:nvSpPr>
        <p:spPr>
          <a:xfrm>
            <a:off x="850392" y="35154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94147"/>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Abrasion</a:t>
            </a:r>
            <a:endParaRPr lang="en-US" sz="2200" dirty="0"/>
          </a:p>
        </p:txBody>
      </p:sp>
      <p:sp>
        <p:nvSpPr>
          <p:cNvPr id="23" name="match-card"/>
          <p:cNvSpPr/>
          <p:nvPr/>
        </p:nvSpPr>
        <p:spPr>
          <a:xfrm>
            <a:off x="4224437" y="3194147"/>
            <a:ext cx="7190019" cy="975243"/>
          </a:xfrm>
          <a:prstGeom prst="roundRect">
            <a:avLst>
              <a:gd name="adj" fmla="val 7501"/>
            </a:avLst>
          </a:prstGeom>
          <a:solidFill>
            <a:srgbClr val="F9F4EC"/>
          </a:solidFill>
          <a:ln/>
        </p:spPr>
      </p:sp>
      <p:sp>
        <p:nvSpPr>
          <p:cNvPr id="24" name="match-hex"/>
          <p:cNvSpPr/>
          <p:nvPr/>
        </p:nvSpPr>
        <p:spPr>
          <a:xfrm>
            <a:off x="4297589" y="3515475"/>
            <a:ext cx="384048" cy="332586"/>
          </a:xfrm>
          <a:prstGeom prst="hexagon">
            <a:avLst/>
          </a:prstGeom>
          <a:solidFill>
            <a:srgbClr val="B8862B"/>
          </a:solidFill>
          <a:ln/>
        </p:spPr>
      </p:sp>
      <p:sp>
        <p:nvSpPr>
          <p:cNvPr id="25" name="match-hex-label"/>
          <p:cNvSpPr txBox="1"/>
          <p:nvPr/>
        </p:nvSpPr>
        <p:spPr>
          <a:xfrm>
            <a:off x="4297589" y="35154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94147"/>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Rocks in the load knock into each other and break into smaller pieces</a:t>
            </a:r>
            <a:endParaRPr lang="en-US" sz="2200" dirty="0"/>
          </a:p>
        </p:txBody>
      </p:sp>
      <p:sp>
        <p:nvSpPr>
          <p:cNvPr id="27" name="match-card"/>
          <p:cNvSpPr/>
          <p:nvPr/>
        </p:nvSpPr>
        <p:spPr>
          <a:xfrm>
            <a:off x="777240" y="4260830"/>
            <a:ext cx="3081437" cy="975243"/>
          </a:xfrm>
          <a:prstGeom prst="roundRect">
            <a:avLst>
              <a:gd name="adj" fmla="val 7501"/>
            </a:avLst>
          </a:prstGeom>
          <a:solidFill>
            <a:srgbClr val="F5F8F6"/>
          </a:solidFill>
          <a:ln/>
        </p:spPr>
      </p:sp>
      <p:sp>
        <p:nvSpPr>
          <p:cNvPr id="28" name="match-hex"/>
          <p:cNvSpPr/>
          <p:nvPr/>
        </p:nvSpPr>
        <p:spPr>
          <a:xfrm>
            <a:off x="850392" y="4582158"/>
            <a:ext cx="384048" cy="332586"/>
          </a:xfrm>
          <a:prstGeom prst="hexagon">
            <a:avLst/>
          </a:prstGeom>
          <a:solidFill>
            <a:srgbClr val="3F6B4A"/>
          </a:solidFill>
          <a:ln/>
        </p:spPr>
      </p:sp>
      <p:sp>
        <p:nvSpPr>
          <p:cNvPr id="29" name="match-hex-label"/>
          <p:cNvSpPr txBox="1"/>
          <p:nvPr/>
        </p:nvSpPr>
        <p:spPr>
          <a:xfrm>
            <a:off x="850392" y="458215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Attrition</a:t>
            </a:r>
            <a:endParaRPr lang="en-US" sz="2200" dirty="0"/>
          </a:p>
        </p:txBody>
      </p:sp>
      <p:sp>
        <p:nvSpPr>
          <p:cNvPr id="31" name="match-card"/>
          <p:cNvSpPr/>
          <p:nvPr/>
        </p:nvSpPr>
        <p:spPr>
          <a:xfrm>
            <a:off x="4224437" y="4260830"/>
            <a:ext cx="7190019" cy="975243"/>
          </a:xfrm>
          <a:prstGeom prst="roundRect">
            <a:avLst>
              <a:gd name="adj" fmla="val 7501"/>
            </a:avLst>
          </a:prstGeom>
          <a:solidFill>
            <a:srgbClr val="F9F4EC"/>
          </a:solidFill>
          <a:ln/>
        </p:spPr>
      </p:sp>
      <p:sp>
        <p:nvSpPr>
          <p:cNvPr id="32" name="match-hex"/>
          <p:cNvSpPr/>
          <p:nvPr/>
        </p:nvSpPr>
        <p:spPr>
          <a:xfrm>
            <a:off x="4297589" y="4582158"/>
            <a:ext cx="384048" cy="332586"/>
          </a:xfrm>
          <a:prstGeom prst="hexagon">
            <a:avLst/>
          </a:prstGeom>
          <a:solidFill>
            <a:srgbClr val="B8862B"/>
          </a:solidFill>
          <a:ln/>
        </p:spPr>
      </p:sp>
      <p:sp>
        <p:nvSpPr>
          <p:cNvPr id="33" name="match-hex-label"/>
          <p:cNvSpPr txBox="1"/>
          <p:nvPr/>
        </p:nvSpPr>
        <p:spPr>
          <a:xfrm>
            <a:off x="4297589" y="458215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Rocks carried by the river scrape the banks and bed like sandpaper</a:t>
            </a:r>
            <a:endParaRPr lang="en-US" sz="2200" dirty="0"/>
          </a:p>
        </p:txBody>
      </p:sp>
      <p:sp>
        <p:nvSpPr>
          <p:cNvPr id="35" name="match-card"/>
          <p:cNvSpPr/>
          <p:nvPr/>
        </p:nvSpPr>
        <p:spPr>
          <a:xfrm>
            <a:off x="777240" y="5327513"/>
            <a:ext cx="3081437" cy="634375"/>
          </a:xfrm>
          <a:prstGeom prst="roundRect">
            <a:avLst>
              <a:gd name="adj" fmla="val 11531"/>
            </a:avLst>
          </a:prstGeom>
          <a:solidFill>
            <a:srgbClr val="F5F8F6"/>
          </a:solidFill>
          <a:ln/>
        </p:spPr>
      </p:sp>
      <p:sp>
        <p:nvSpPr>
          <p:cNvPr id="36" name="match-hex"/>
          <p:cNvSpPr/>
          <p:nvPr/>
        </p:nvSpPr>
        <p:spPr>
          <a:xfrm>
            <a:off x="850392" y="5478408"/>
            <a:ext cx="384048" cy="332586"/>
          </a:xfrm>
          <a:prstGeom prst="hexagon">
            <a:avLst/>
          </a:prstGeom>
          <a:solidFill>
            <a:srgbClr val="3F6B4A"/>
          </a:solidFill>
          <a:ln/>
        </p:spPr>
      </p:sp>
      <p:sp>
        <p:nvSpPr>
          <p:cNvPr id="37" name="match-hex-label"/>
          <p:cNvSpPr txBox="1"/>
          <p:nvPr/>
        </p:nvSpPr>
        <p:spPr>
          <a:xfrm>
            <a:off x="850392" y="547840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327513"/>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Solution</a:t>
            </a:r>
            <a:endParaRPr lang="en-US" sz="2200" dirty="0"/>
          </a:p>
        </p:txBody>
      </p:sp>
      <p:sp>
        <p:nvSpPr>
          <p:cNvPr id="39" name="match-card"/>
          <p:cNvSpPr/>
          <p:nvPr/>
        </p:nvSpPr>
        <p:spPr>
          <a:xfrm>
            <a:off x="4224437" y="5327513"/>
            <a:ext cx="7190019" cy="634375"/>
          </a:xfrm>
          <a:prstGeom prst="roundRect">
            <a:avLst>
              <a:gd name="adj" fmla="val 11531"/>
            </a:avLst>
          </a:prstGeom>
          <a:solidFill>
            <a:srgbClr val="F9F4EC"/>
          </a:solidFill>
          <a:ln/>
        </p:spPr>
      </p:sp>
      <p:sp>
        <p:nvSpPr>
          <p:cNvPr id="40" name="match-hex"/>
          <p:cNvSpPr/>
          <p:nvPr/>
        </p:nvSpPr>
        <p:spPr>
          <a:xfrm>
            <a:off x="4297589" y="5478408"/>
            <a:ext cx="384048" cy="332586"/>
          </a:xfrm>
          <a:prstGeom prst="hexagon">
            <a:avLst/>
          </a:prstGeom>
          <a:solidFill>
            <a:srgbClr val="B8862B"/>
          </a:solidFill>
          <a:ln/>
        </p:spPr>
      </p:sp>
      <p:sp>
        <p:nvSpPr>
          <p:cNvPr id="41" name="match-hex-label"/>
          <p:cNvSpPr txBox="1"/>
          <p:nvPr/>
        </p:nvSpPr>
        <p:spPr>
          <a:xfrm>
            <a:off x="4297589" y="547840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327513"/>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Slightly acidic water dissolves rocks such as limestone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Four ways to erode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Four ways to erode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of each description: is it the water doing the work, or rocks?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Water alone, with force, is hydraulic action. Water dissolving rock quietly is solution.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Rocks against the banks is abrasion (think sandpaper). Rocks against rocks is attrition.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only process that wears down the load itself is attrition.</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Hydraulic means water. Solution means dissolving. The other two involve rocks: against the bank, or against each other.</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pebbles in the lower course of a river are usually small, smooth and round, naming the process responsible.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Hop, roll, float or dissolve?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sand-sized grain is bounced along the river bed in a leap-frog movement. Which transportation process is this?</a:t>
            </a:r>
            <a:endParaRPr lang="en-US" sz="2600" dirty="0"/>
          </a:p>
          <a:p>
            <a:pPr algn="ctr" indent="0" marL="0">
              <a:buNone/>
            </a:pPr>
            <a:r>
              <a:rPr lang="en-US" sz="2400" b="1" dirty="0">
                <a:solidFill>
                  <a:srgbClr val="B8862B"/>
                </a:solidFill>
                <a:latin typeface="Calibri" pitchFamily="34" charset="0"/>
                <a:ea typeface="Calibri" pitchFamily="34" charset="-122"/>
                <a:cs typeface="Calibri" pitchFamily="34" charset="-120"/>
              </a:rPr>
              <a:t>A  </a:t>
            </a:r>
            <a:pPr algn="ctr" indent="0" marL="0">
              <a:buNone/>
            </a:pPr>
            <a:r>
              <a:rPr lang="en-US" sz="2400" dirty="0">
                <a:solidFill>
                  <a:srgbClr val="1E2229"/>
                </a:solidFill>
                <a:latin typeface="Calibri" pitchFamily="34" charset="0"/>
                <a:ea typeface="Calibri" pitchFamily="34" charset="-122"/>
                <a:cs typeface="Calibri" pitchFamily="34" charset="-120"/>
              </a:rPr>
              <a:t>Saltation      </a:t>
            </a:r>
            <a:pPr algn="ctr" indent="0" marL="0">
              <a:buNone/>
            </a:pPr>
            <a:r>
              <a:rPr lang="en-US" sz="2400" b="1" dirty="0">
                <a:solidFill>
                  <a:srgbClr val="B8862B"/>
                </a:solidFill>
                <a:latin typeface="Calibri" pitchFamily="34" charset="0"/>
                <a:ea typeface="Calibri" pitchFamily="34" charset="-122"/>
                <a:cs typeface="Calibri" pitchFamily="34" charset="-120"/>
              </a:rPr>
              <a:t>B  </a:t>
            </a:r>
            <a:pPr algn="ctr" indent="0" marL="0">
              <a:buNone/>
            </a:pPr>
            <a:r>
              <a:rPr lang="en-US" sz="2400" dirty="0">
                <a:solidFill>
                  <a:srgbClr val="1E2229"/>
                </a:solidFill>
                <a:latin typeface="Calibri" pitchFamily="34" charset="0"/>
                <a:ea typeface="Calibri" pitchFamily="34" charset="-122"/>
                <a:cs typeface="Calibri" pitchFamily="34" charset="-120"/>
              </a:rPr>
              <a:t>Suspension      </a:t>
            </a:r>
            <a:pPr algn="ctr" indent="0" marL="0">
              <a:buNone/>
            </a:pPr>
            <a:r>
              <a:rPr lang="en-US" sz="2400" b="1" dirty="0">
                <a:solidFill>
                  <a:srgbClr val="B8862B"/>
                </a:solidFill>
                <a:latin typeface="Calibri" pitchFamily="34" charset="0"/>
                <a:ea typeface="Calibri" pitchFamily="34" charset="-122"/>
                <a:cs typeface="Calibri" pitchFamily="34" charset="-120"/>
              </a:rPr>
              <a:t>C  </a:t>
            </a:r>
            <a:pPr algn="ctr" indent="0" marL="0">
              <a:buNone/>
            </a:pPr>
            <a:r>
              <a:rPr lang="en-US" sz="2400" dirty="0">
                <a:solidFill>
                  <a:srgbClr val="1E2229"/>
                </a:solidFill>
                <a:latin typeface="Calibri" pitchFamily="34" charset="0"/>
                <a:ea typeface="Calibri" pitchFamily="34" charset="-122"/>
                <a:cs typeface="Calibri" pitchFamily="34" charset="-120"/>
              </a:rPr>
              <a:t>Traction      </a:t>
            </a:r>
            <a:pPr algn="ctr" indent="0" marL="0">
              <a:buNone/>
            </a:pPr>
            <a:r>
              <a:rPr lang="en-US" sz="2400" b="1" dirty="0">
                <a:solidFill>
                  <a:srgbClr val="B8862B"/>
                </a:solidFill>
                <a:latin typeface="Calibri" pitchFamily="34" charset="0"/>
                <a:ea typeface="Calibri" pitchFamily="34" charset="-122"/>
                <a:cs typeface="Calibri" pitchFamily="34" charset="-120"/>
              </a:rPr>
              <a:t>D  </a:t>
            </a:r>
            <a:pPr algn="ctr" indent="0" marL="0">
              <a:buNone/>
            </a:pPr>
            <a:r>
              <a:rPr lang="en-US" sz="2400" dirty="0">
                <a:solidFill>
                  <a:srgbClr val="1E2229"/>
                </a:solidFill>
                <a:latin typeface="Calibri" pitchFamily="34" charset="0"/>
                <a:ea typeface="Calibri" pitchFamily="34" charset="-122"/>
                <a:cs typeface="Calibri" pitchFamily="34" charset="-120"/>
              </a:rPr>
              <a:t>Solution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Hop, roll, float or dissolve?</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sand-sized grain is bounced along the river bed in a leap-frog movement. Which transportation process is this?</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F5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Decide the size: is it a boulder, a sand grain, fine mud or something dissolved?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Decide the movement: rolling, bouncing, floating or invisible?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Sand-sized plus bouncing points to one process only.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Rule out the others: rolling is traction, floating is suspension, dissolved is solution.</a:t>
            </a:r>
            <a:endParaRPr lang="en-US" sz="1800" dirty="0"/>
          </a:p>
        </p:txBody>
      </p:sp>
      <p:sp>
        <p:nvSpPr>
          <p:cNvPr id="17" name="col-Core"/>
          <p:cNvSpPr/>
          <p:nvPr/>
        </p:nvSpPr>
        <p:spPr>
          <a:xfrm>
            <a:off x="5490762" y="2593848"/>
            <a:ext cx="2938987" cy="3550920"/>
          </a:xfrm>
          <a:prstGeom prst="roundRect">
            <a:avLst>
              <a:gd name="adj" fmla="val 1867"/>
            </a:avLst>
          </a:prstGeom>
          <a:solidFill>
            <a:srgbClr val="DBE3DD"/>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Saltation comes from a Latin word meaning to jump.</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Predict what happens to the same sand grain when the river slows down near its mouth, and name the process.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125216"/>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Put the stages of a river's journey in order, from source to mouth.</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river starts at its source in boggy high land where most rain falls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Tributaries join and the river becomes wider and deeper</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In the upper course the small, fast river tumbles over a waterfall</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In the middle course the river swings in large bends called meanders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E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In the lower course the wide, slow river flows into the sea at its mouth</a:t>
            </a:r>
            <a:endParaRPr lang="en-US" sz="2200" dirty="0"/>
          </a:p>
        </p:txBody>
      </p:sp>
      <p:sp>
        <p:nvSpPr>
          <p:cNvPr id="11" name="exit-answer-box"/>
          <p:cNvSpPr/>
          <p:nvPr/>
        </p:nvSpPr>
        <p:spPr>
          <a:xfrm>
            <a:off x="2286000" y="5184648"/>
            <a:ext cx="7619695" cy="685800"/>
          </a:xfrm>
          <a:prstGeom prst="roundRect">
            <a:avLst>
              <a:gd name="adj" fmla="val 13333"/>
            </a:avLst>
          </a:prstGeom>
          <a:solidFill>
            <a:srgbClr val="F7F9F8"/>
          </a:solidFill>
          <a:ln w="12700">
            <a:solidFill>
              <a:srgbClr val="A5B9AA"/>
            </a:solidFill>
            <a:prstDash val="solid"/>
          </a:ln>
        </p:spPr>
      </p:sp>
      <p:sp>
        <p:nvSpPr>
          <p:cNvPr id="12" name="exit-answer-label"/>
          <p:cNvSpPr txBox="1"/>
          <p:nvPr/>
        </p:nvSpPr>
        <p:spPr>
          <a:xfrm>
            <a:off x="2423160" y="5184648"/>
            <a:ext cx="2926080" cy="68580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Four ways to erode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Hydraulic action  →  A  The sheer force of the water hits the banks and bed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Abrasion  →  C  Rocks carried by the river scrape the banks and bed like sandpaper</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Attrition  →  B  Rocks in the load knock into each other and break into smaller pieces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Solution  →  D  Slightly acidic water dissolves rocks such as limestone</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Hydraulic action: force of water. Abrasion: load scraping banks and bed. Attrition: load hitting load. Solution: acidic water dissolving rock.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Hop, roll, float or dissolve?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sand-sized grain is bounced along the river bed in a leap-frog movement. Which transportation process is this?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Saltation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Saltation: sand-sized particles bouncing along the bed. Traction: large stones rolled. Suspension: fine particles floating. Solution: dissolved minerals.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river starts at its source in boggy high land where most rain falls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 the upper course the small, fast river tumbles over a waterfall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Tributaries join and the river becomes wider and deeper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 the middle course the river swings in large bends called meanders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 the lower course the wide, slow river flows into the sea at its mouth  (E)</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Source in the hills; waterfall in the upper course; tributaries make it wider and deeper; meanders in the middle course; mouth at the sea in the lower course.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on Land: Rivers · Chapter 3: A river at work: erosion, transportation and deposition</dc:title>
  <dc:subject>Geography · Year 7</dc:subject>
  <dc:creator>Dr Vitor Merissi de Carvalho</dc:creator>
  <cp:lastModifiedBy>Dr Vitor Merissi de Carvalho</cp:lastModifiedBy>
  <cp:revision>1</cp:revision>
  <dcterms:created xsi:type="dcterms:W3CDTF">2026-10-19T06:07:44Z</dcterms:created>
  <dcterms:modified xsi:type="dcterms:W3CDTF">2026-10-19T06:07:44Z</dcterms:modified>
</cp:coreProperties>
</file>