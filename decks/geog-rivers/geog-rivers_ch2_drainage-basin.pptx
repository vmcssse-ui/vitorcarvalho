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bcb570-bacc-cd2a-e82a-7c0c0d1527d4}">
          <p14:sldIdLst>
            <p14:sldId id="256"/>
          </p14:sldIdLst>
        </p14:section>
        <p14:section name="Gate" id="{7143f9ce-939f-b036-c071-2d46e2539ca5}">
          <p14:sldIdLst>
            <p14:sldId id="257"/>
            <p14:sldId id="258"/>
          </p14:sldIdLst>
        </p14:section>
        <p14:section name="Pre-teach" id="{1221d984-b840-0b53-cb9a-1b305e0477bd}">
          <p14:sldIdLst>
            <p14:sldId id="259"/>
            <p14:sldId id="260"/>
          </p14:sldIdLst>
        </p14:section>
        <p14:section name="Read-along" id="{f6daf3d7-4870-089b-7c72-b575ce3d7ac2}">
          <p14:sldIdLst>
            <p14:sldId id="261"/>
            <p14:sldId id="262"/>
          </p14:sldIdLst>
        </p14:section>
        <p14:section name="Teach" id="{7ed4d845-932c-abbf-1c60-e21b3e9db845}">
          <p14:sldIdLst>
            <p14:sldId id="263"/>
            <p14:sldId id="264"/>
            <p14:sldId id="265"/>
            <p14:sldId id="266"/>
            <p14:sldId id="267"/>
          </p14:sldIdLst>
        </p14:section>
        <p14:section name="Routes" id="{453d8536-c182-b2fc-ec1c-d4680ce6e7f0}">
          <p14:sldIdLst>
            <p14:sldId id="268"/>
            <p14:sldId id="269"/>
            <p14:sldId id="270"/>
            <p14:sldId id="271"/>
          </p14:sldIdLst>
        </p14:section>
        <p14:section name="Close" id="{ae1bc725-0a0e-c54a-4e61-8cde91d994f5}">
          <p14:sldIdLst>
            <p14:sldId id="272"/>
          </p14:sldIdLst>
        </p14:section>
        <p14:section name="Answers" id="{031f6eeb-8f83-f769-9af2-a5393747706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Drainage basins and the world's longest rivers. The parts of a river system from source to mouth, where the longest rivers start and finish, and what rivers give people.
This deck covers the department's lessons: 2 (What is a river drainage basin?: What are the parts of a river drainage basin system?); 3 (Where are the world's longest rivers?: Where do the world's longest rivers start and finish, and how long are they?).
Read the big question aloud: "How does water shape the land, why do rivers flood, and what can people do to reduce the risk and the damage?"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point where two rivers meet and join is called a ___.  →  confluence
2. Where does a river start?  →  D   At its source, usually in high land
3. The Nile is listed as 6695 km long and the Amazon as 6516 km. How many kilometres longer is the Nile?  →  179 km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confluence. A confluence is the meeting point; the smaller river that joins is the tributary.
2. D   At its source, usually in high land. The source is the start of a river, usually in hills or mountains where rain is heaviest.
3. 179 km. 6695 − 6516 = 179 km.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drainage basin: the area of land where water flows into one river. Example: "Rain that falls anywhere in a drainage basin ends up in the same river."
• source: where a river starts. Example: "The source of the river is a spring high in the hills."
• tributary: a smaller river that joins a bigger one. Example: "A tributary joined the river and made it wider."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confluence: the point where two rivers meet. Example: "The town was built at the confluence of two rivers."
• mouth: where a river flows into the sea. Example: "Ships wait at the mouth of the river before sailing in."
• watershed: the high land around the edge of a drainage basin. Example: "On one side of the watershed, rain flows to a different river."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Every river has its own area of land that feeds it.
2. This area is called a drainage basin.
3. Rain that falls inside the basin flows into that river.
4. The edge of the basin is high land called the watershed.
5. A river starts at its source, often a spring or a bog in the hills.
6. Small streams join it on the way down.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small river that joins a bigger one is a tributary.
8. The place where they meet is a confluence.
9. The river flows in a channel, with a bed below and banks at each side.
10. At last it reaches the sea at its mouth.
11. The Nile, the Amazon and the Yangtze are the three longest rivers in the world.
12. People fish in rivers, farm beside them, travel on them and pray in them.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drainage basin?. Say it in your own words, then check understanding with a quick question: ask a pupil from the pre-teach group first, since they met these words and ideas before the lesson. Pupils try to recall before you re-explain.
Imagine a huge bowl made of hills. Any rain that falls inside the bowl runs down to the lowest line in the middle, which is the river. Geographers call this bowl a drainage basin: the area of land where water flows into a river. The Thames has a drainage basin, and so does the tiny stream at the end of your road.
The rim of the bowl is the watershed. It is the high land that separates one drainage basin from the next. A drop of rain that lands just on one side of the watershed goes to one river; a drop that lands just on the other side goes to a completely different one.
Drainage basins fit together like the pieces of a jigsaw. A large river's basin is made of the smaller basins of all its tributaries. That is why a storm far away in the hills can make a river rise in a town many kilometres downstream.
Tip: Drainage basin = the whole area of land. Channel = the river itself. Do not mix them up in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parts of a river system. Say it in your own words, then check understanding with a quick question: ask a pupil from the pre-teach group first, since they met these words and ideas before the lesson. Pupils try to recall before you re-explain.
A river starts at its source, usually in high land where a lot of rain falls. Near the source it is small and fast, and we call it a stream. As it flows downhill, other streams and small rivers join it. Each one is a tributary, and the point where two rivers join is a confluence.
The river flows in its channel. The bottom of the channel is the bed, and the sides are the banks. Stones and sand rolled along the bottom are the bed load. The flat land either side of the channel, which gets covered when the river floods, is the floodplain. You will meet it again in Chapter 5.
At the end of its journey the river reaches the sea at its mouth. Many rivers widen into an estuary just before the sea, where fresh water and salt water mix and the tide comes in and out. From source to mouth, a river only ever does one thing: it flows downhill.
Worked example — model it step by step, thinking aloud: Describe the main parts of a river drainage basin from source to mouth. (4 marks) (1) Begin at the edge and the top: the watershed is the high land around the basin; the source is where the river starts. (2) Describe the river joining up: tributaries are smaller rivers that join it at confluences. (3) Describe the river itself: it flows in a channel with a bed and two banks. (4) Finish at the end: the river reaches the sea at its mouth. Answer: The basin is bounded by the watershed; the river starts at its source in high land; tributaries join it at confluences; it flows in a channel with a bed and banks; and it ends at its mouth, where it flows into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parts of a river system. Say it in your own words, then check understanding with a quick question: ask a pupil from the pre-teach group first, since they met these words and ideas before the lesson. Pupils try to recall before you re-explain.
A river starts at its source, usually in high land where a lot of rain falls. Near the source it is small and fast, and we call it a stream. As it flows downhill, other streams and small rivers join it. Each one is a tributary, and the point where two rivers join is a confluence.
The river flows in its channel. The bottom of the channel is the bed, and the sides are the banks. Stones and sand rolled along the bottom are the bed load. The flat land either side of the channel, which gets covered when the river floods, is the floodplain. You will meet it again in Chapter 5.
At the end of its journey the river reaches the sea at its mouth. Many rivers widen into an estuary just before the sea, where fresh water and salt water mix and the tide comes in and out. From source to mouth, a river only ever does one thing: it flows downhill.
Worked example — model it step by step, thinking aloud: Describe the main parts of a river drainage basin from source to mouth. (4 marks) (1) Begin at the edge and the top: the watershed is the high land around the basin; the source is where the river starts. (2) Describe the river joining up: tributaries are smaller rivers that join it at confluences. (3) Describe the river itself: it flows in a channel with a bed and two banks. (4) Finish at the end: the river reaches the sea at its mouth. Answer: The basin is bounded by the watershed; the river starts at its source in high land; tributaries join it at confluences; it flows in a channel with a bed and banks; and it ends at its mouth, where it flows into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world's longest rivers. Say it in your own words, then check understanding with a quick question: ask a pupil from the pre-teach group first, since they met these words and ideas before the lesson. Pupils try to recall before you re-explain.
Your atlas lists the world's longest rivers. The Nile is usually listed first, at about 6695 km. It starts at Lake Victoria in East Africa and flows north through Egypt to the Mediterranean Sea. The Amazon is next, at about 6516 km. It starts in the Andes Mountains in Peru and crosses Brazil to the Atlantic Ocean.
The Yangtze, about 6380 km, rises in the Tanggula Mountains and crosses China to the East China Sea near Shanghai. The Mississippi, about 6020 km, flows from Lake Itasca in Minnesota through the USA to the Gulf of Mexico near New Orleans. The Yenisey, about 5539 km, flows from Mongolia across Russia to the Kara Sea. The Yellow River, about 5464 km, rises in the Bayan Har Mountains and reaches the Bohai Sea.
These lengths are measured along the winding channel, not in a straight line, and geographers do not all agree on exactly where some rivers start. That is why different books give slightly different numbers, and why some say the Amazon, not the Nile, is the longest. For your test, use the figures your atlas gives.
Tip: In a table of rivers, read the headings first: source, countries, mouth, length. Then fill the gaps one column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rivers give people. Say it in your own words, then check understanding with a quick question: ask a pupil from the pre-teach group first, since they met these words and ideas before the lesson. Pupils try to recall before you re-explain.
People have always lived beside rivers. The Amazon is home to more than 3000 kinds of fish, and fishing feeds many of the communities along it. In Ancient Egypt the Nile flooded every year and left behind a layer of fine mud called silt, which made the land along its banks very fertile. Farmers could grow wheat and other crops in a desert, and one of the world's first great civilisations grew up there.
Rivers are also roads. The Yangtze is one of the busiest waterways in the world, carrying coal, factory goods and passengers. The Danube, the second-longest river in Europe after the Volga, is part of a waterway that links the Black Sea to Rotterdam on the North Sea, since a canal joined it to the Rhine and the Main in 1992.
For some people a river is holy. The Ganges begins in the Himalayas in India and flows to the Bay of Bengal. Hindus honour it as the goddess Ganga, and many believe that bathing in it at least once is an important part of life. Water, food, transport and faith: rivers give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parts.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river system to its meaning.
Support — work through the steps with the group: (1) Start and finish first: one word means where the river begins, one means where it ends. (2) Two words are about rivers joining: one is the small river, one is the meeting point. (3) Confluence has flu in it, like fluid flowing together: it is the meeting point. (4) Watershed is the edge, the high land that sheds water into the basin.
Parallel worked example for Support (model it, do not give the task answer): Match: bed, bank. Choices: the side of a river channel; the bottom of a river channel. You lie on a bed, so the bed is the bottom.; A river bank is the side you stand on.. Answer: Bed: the bottom of the channel. Bank: the side of the channel..
Core — reveal the hint only on request: A tributary is a thing (a river); a confluence is a place (a point).
Stretch — no help; when finished: Draw a simple drainage basin from memory and label all five parts, then add the channel, bed and banks. Explain why a town is often built at a confluence.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parts.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river system to its meaning.
Support — work through the steps with the group: (1) Start and finish first: one word means where the river begins, one means where it ends. (2) Two words are about rivers joining: one is the small river, one is the meeting point. (3) Confluence has flu in it, like fluid flowing together: it is the meeting point. (4) Watershed is the edge, the high land that sheds water into the basin.
Parallel worked example for Support (model it, do not give the task answer): Match: bed, bank. Choices: the side of a river channel; the bottom of a river channel. You lie on a bed, so the bed is the bottom.; A river bank is the side you stand on.. Answer: Bed: the bottom of the channel. Bank: the side of the channel..
Core — reveal the hint only on request: A tributary is a thing (a river); a confluence is a place (a point).
Stretch — no help; when finished: Draw a simple drainage basin from memory and label all five parts, then add the channel, bed and banks. Explain why a town is often built at a confluence.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longer?.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Amazon is listed as 6516 km long and the Yenisey as 5539 km. How many kilometres longer is the Amazon?
Support — work through the steps with the group: (1) Write the longer length on top and the shorter underneath, lining up the digits. (2) Subtract column by column from the right, borrowing when the top digit is smaller. (3) Check your answer by adding it to the shorter length: you should get the longer length. (4) Give the units: kilometres.
Parallel worked example for Support (model it, do not give the task answer): The Yangtze is listed as 6380 km and the Mississippi as 6020 km. How much longer is the Yangtze? 6380 − 6020.; Units: 0 − 0 = 0. Tens: 8 − 2 = 6. Hundreds: 3 − 0 = 3. Thousands: 6 − 6 = 0.; So the Yangtze is 360 km longer. Check: 6020 + 360 = 6380.. Answer: 360 km.
Core — reveal the hint only on request: Longer minus shorter. Then add your answer back to the shorter one to check.
Stretch — no help; when finished: The Yenisey ends in the Kara Sea in the Arctic and the Amazon ends in the Atlantic near the Equator. Suggest one way the two rivers might be different because of where they are, and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longer?.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Amazon is listed as 6516 km long and the Yenisey as 5539 km. How many kilometres longer is the Amazon?
Support — work through the steps with the group: (1) Write the longer length on top and the shorter underneath, lining up the digits. (2) Subtract column by column from the right, borrowing when the top digit is smaller. (3) Check your answer by adding it to the shorter length: you should get the longer length. (4) Give the units: kilometres.
Parallel worked example for Support (model it, do not give the task answer): The Yangtze is listed as 6380 km and the Mississippi as 6020 km. How much longer is the Yangtze? 6380 − 6020.; Units: 0 − 0 = 0. Tens: 8 − 2 = 6. Hundreds: 3 − 0 = 3. Thousands: 6 − 6 = 0.; So the Yangtze is 360 km longer. Check: 6020 + 360 = 6380.. Answer: 360 km.
Core — reveal the hint only on request: Longer minus shorter. Then add your answer back to the shorter one to check.
Stretch — no help; when finished: The Yenisey ends in the Kara Sea in the Arctic and the Amazon ends in the Atlantic near the Equator. Suggest one way the two rivers might be different because of where they are, and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point where two rivers meet and join is called a ___.
Answer: The point where two rivers meet and join is called a confluence.. A confluence is the meeting point; the smaller river that joins is the tributary.
Source of this question: gate item 1 re-asked (options rotated) — this chapter has no third quick-check module.
The ebook also holds task 3, "Why farm beside the Nile?",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parts. Reveal the answer; pupils mark their own work in a different colour, then read the "why" together. Same destination for every lane, so one answer serves the whole class.
Answer: Source  →  E  Where the river starts; Mouth  →  A  Where the river flows into the sea; Tributary  →  C  A smaller river that joins a bigger one; Confluence  →  D  The point where two rivers meet; Watershed  →  B  The high land around the edge of a drainage basin
Why: Source: start. Mouth: end at the sea. Tributary: a smaller joining river. Confluence: the meeting point. Watershed: the high boundary of the basin.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much longer?. Reveal the answer; pupils mark their own work in a different colour, then read the "why" together. Same destination for every lane, so one answer serves the whole class.
Answer: 977 km
Why: The difference between two lengths is found by subtraction: 6516 − 5539 = 977 km.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The point where two rivers meet and join is called a confluence.
Why: A confluence is the meeting point; the smaller river that joins is the tributary.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Water on Land: Rivers · AQA KS3 → 8035</a:t>
            </a:r>
            <a:endParaRPr lang="en-US" sz="1800" dirty="0"/>
          </a:p>
        </p:txBody>
      </p:sp>
      <p:sp>
        <p:nvSpPr>
          <p:cNvPr id="10" name="deck-title"/>
          <p:cNvSpPr txBox="1"/>
          <p:nvPr/>
        </p:nvSpPr>
        <p:spPr>
          <a:xfrm>
            <a:off x="548640" y="228523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Drainage basins and the world's longest rivers</a:t>
            </a:r>
            <a:endParaRPr lang="en-US" sz="3600" dirty="0"/>
          </a:p>
        </p:txBody>
      </p:sp>
      <p:sp>
        <p:nvSpPr>
          <p:cNvPr id="11" name="lessons-card"/>
          <p:cNvSpPr/>
          <p:nvPr/>
        </p:nvSpPr>
        <p:spPr>
          <a:xfrm>
            <a:off x="548640" y="3829558"/>
            <a:ext cx="5287975" cy="1328420"/>
          </a:xfrm>
          <a:prstGeom prst="roundRect">
            <a:avLst>
              <a:gd name="adj" fmla="val 5507"/>
            </a:avLst>
          </a:prstGeom>
          <a:solidFill>
            <a:srgbClr val="F2F5F2"/>
          </a:solidFill>
          <a:ln/>
        </p:spPr>
      </p:sp>
      <p:sp>
        <p:nvSpPr>
          <p:cNvPr id="12" name="lessons"/>
          <p:cNvSpPr txBox="1"/>
          <p:nvPr/>
        </p:nvSpPr>
        <p:spPr>
          <a:xfrm>
            <a:off x="685800" y="392099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is a river drainage basin?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Where are the world's longest rivers?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water shape the land, why do rivers flood, and what can people do to reduce the risk and the damage?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point where two rivers meet and join is called a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confluence  ·  tributary  ·  mouth</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Where does a river start?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 a confluence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 its mouth, by the sea</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On the floodplain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 its source, usually in high land</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Nile is listed as 6695 km long and the Amazon as 6516 km. How many kilometres longer is the Nile?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confluence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point where two rivers meet and join is called a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confluence is the meeting point; the smaller river that joins is the tributary.</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FE4D0"/>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At its source, usually in high land</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Where does a river start?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source is the start of a river, usually in hills or mountains where rain is heaviest.</a:t>
            </a:r>
            <a:endParaRPr lang="en-US" sz="22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179 km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Nile is listed as 6695 km long and the Amazon as 6516 km. How many kilometres longer is the Nile?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6695 − 6516 = 179 km.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drainage basin</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area of land where water flows into one river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Rain that falls anywhere in a drainage basin ends up in the same river.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source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where a river starts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source of the river is a spring high in the hills.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tributary</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smaller river that joins a bigger 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tributary joined the river and made it wider.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confluence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point where two rivers meet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town was built at the confluence of two rivers.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mouth</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where a river flows into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Ships wait at the mouth of the river before sailing in.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watershed</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high land around the edge of a drainage basin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 one side of the watershed, rain flows to a different river.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Every river has its own area of land that feeds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area is called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drainage basin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Rain that falls inside the basin flows into that river.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edge of the basin is high land called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watershed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river starts at its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source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often a spring or a bog in the hills.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Small streams join it on the way down.</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small river that joins a bigger one is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tributary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place where they meet is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confluence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river flows in a channel, with a bed below and banks at each side.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last it reaches the sea at its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mouth</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Nile, the Amazon and the Yangtze are the three longest rivers in the world.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People fish in rivers, farm beside them, travel on them and pray in them.</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a drainage basin?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Drainage basin = the whole area of land. Channel = the river itself. Do not mix them up in a test.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Imagine a huge bowl made of hills. Any rain that falls inside the bowl runs down to the lowest line in the middle, which is the river.</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rim of the bowl is the watershed. It is the high land that separates one drainage basin from the next.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Drainage basins fit together like the pieces of a jigsaw.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parts of a river system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river starts at its source, usually in high land where a lot of rain falls.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river flows in its channel. The bottom of the channel is the bed, and the sides are the banks.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the end of its journey the river reaches the sea at its mouth.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parts of a river system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the main parts of a river drainage basin from source to mouth. (4 marks)</a:t>
            </a:r>
            <a:endParaRPr lang="en-US" sz="2000" dirty="0"/>
          </a:p>
        </p:txBody>
      </p:sp>
      <p:sp>
        <p:nvSpPr>
          <p:cNvPr id="9" name="step-box"/>
          <p:cNvSpPr/>
          <p:nvPr/>
        </p:nvSpPr>
        <p:spPr>
          <a:xfrm>
            <a:off x="548640" y="2192528"/>
            <a:ext cx="11094415" cy="783438"/>
          </a:xfrm>
          <a:prstGeom prst="roundRect">
            <a:avLst>
              <a:gd name="adj" fmla="val 9337"/>
            </a:avLst>
          </a:prstGeom>
          <a:solidFill>
            <a:srgbClr val="FFFFFF"/>
          </a:solidFill>
          <a:ln w="15875">
            <a:solidFill>
              <a:srgbClr val="95AE9B"/>
            </a:solidFill>
            <a:prstDash val="solid"/>
          </a:ln>
        </p:spPr>
      </p:sp>
      <p:sp>
        <p:nvSpPr>
          <p:cNvPr id="10" name="step-hex"/>
          <p:cNvSpPr/>
          <p:nvPr/>
        </p:nvSpPr>
        <p:spPr>
          <a:xfrm>
            <a:off x="685800" y="2386279"/>
            <a:ext cx="457200" cy="395935"/>
          </a:xfrm>
          <a:prstGeom prst="hexagon">
            <a:avLst/>
          </a:prstGeom>
          <a:solidFill>
            <a:srgbClr val="3F6B4A"/>
          </a:solidFill>
          <a:ln/>
        </p:spPr>
      </p:sp>
      <p:sp>
        <p:nvSpPr>
          <p:cNvPr id="11" name="step-hex-label"/>
          <p:cNvSpPr txBox="1"/>
          <p:nvPr/>
        </p:nvSpPr>
        <p:spPr>
          <a:xfrm>
            <a:off x="685800" y="238627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Begin at the edge and the top: the watershed is the high land around the basin; the source is where the river starts.</a:t>
            </a:r>
            <a:endParaRPr lang="en-US" sz="1800" dirty="0"/>
          </a:p>
        </p:txBody>
      </p:sp>
      <p:sp>
        <p:nvSpPr>
          <p:cNvPr id="13" name="step-box"/>
          <p:cNvSpPr/>
          <p:nvPr/>
        </p:nvSpPr>
        <p:spPr>
          <a:xfrm>
            <a:off x="548640" y="3049118"/>
            <a:ext cx="11094415" cy="519278"/>
          </a:xfrm>
          <a:prstGeom prst="roundRect">
            <a:avLst>
              <a:gd name="adj" fmla="val 14087"/>
            </a:avLst>
          </a:prstGeom>
          <a:solidFill>
            <a:srgbClr val="FFFFFF"/>
          </a:solidFill>
          <a:ln w="15875">
            <a:solidFill>
              <a:srgbClr val="95AE9B"/>
            </a:solidFill>
            <a:prstDash val="solid"/>
          </a:ln>
        </p:spPr>
      </p:sp>
      <p:sp>
        <p:nvSpPr>
          <p:cNvPr id="14" name="step-hex"/>
          <p:cNvSpPr/>
          <p:nvPr/>
        </p:nvSpPr>
        <p:spPr>
          <a:xfrm>
            <a:off x="685800" y="3110789"/>
            <a:ext cx="457200" cy="395935"/>
          </a:xfrm>
          <a:prstGeom prst="hexagon">
            <a:avLst/>
          </a:prstGeom>
          <a:solidFill>
            <a:srgbClr val="3F6B4A"/>
          </a:solidFill>
          <a:ln/>
        </p:spPr>
      </p:sp>
      <p:sp>
        <p:nvSpPr>
          <p:cNvPr id="15" name="step-hex-label"/>
          <p:cNvSpPr txBox="1"/>
          <p:nvPr/>
        </p:nvSpPr>
        <p:spPr>
          <a:xfrm>
            <a:off x="685800" y="311078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4911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river joining up: tributaries are smaller rivers that join it at confluences.</a:t>
            </a:r>
            <a:endParaRPr lang="en-US" sz="1800" dirty="0"/>
          </a:p>
        </p:txBody>
      </p:sp>
      <p:sp>
        <p:nvSpPr>
          <p:cNvPr id="17" name="step-box"/>
          <p:cNvSpPr/>
          <p:nvPr/>
        </p:nvSpPr>
        <p:spPr>
          <a:xfrm>
            <a:off x="548640" y="3641547"/>
            <a:ext cx="11094415" cy="519278"/>
          </a:xfrm>
          <a:prstGeom prst="roundRect">
            <a:avLst>
              <a:gd name="adj" fmla="val 14087"/>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154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river itself: it flows in a channel with a bed and two banks.</a:t>
            </a:r>
            <a:endParaRPr lang="en-US" sz="1800" dirty="0"/>
          </a:p>
        </p:txBody>
      </p:sp>
      <p:sp>
        <p:nvSpPr>
          <p:cNvPr id="21" name="step-box"/>
          <p:cNvSpPr/>
          <p:nvPr/>
        </p:nvSpPr>
        <p:spPr>
          <a:xfrm>
            <a:off x="548640" y="4233977"/>
            <a:ext cx="11094415" cy="519278"/>
          </a:xfrm>
          <a:prstGeom prst="roundRect">
            <a:avLst>
              <a:gd name="adj" fmla="val 14087"/>
            </a:avLst>
          </a:prstGeom>
          <a:solidFill>
            <a:srgbClr val="FFFFFF"/>
          </a:solidFill>
          <a:ln w="15875">
            <a:solidFill>
              <a:srgbClr val="95AE9B"/>
            </a:solidFill>
            <a:prstDash val="solid"/>
          </a:ln>
        </p:spPr>
      </p:sp>
      <p:sp>
        <p:nvSpPr>
          <p:cNvPr id="22" name="step-hex"/>
          <p:cNvSpPr/>
          <p:nvPr/>
        </p:nvSpPr>
        <p:spPr>
          <a:xfrm>
            <a:off x="685800" y="4295648"/>
            <a:ext cx="457200" cy="395935"/>
          </a:xfrm>
          <a:prstGeom prst="hexagon">
            <a:avLst/>
          </a:prstGeom>
          <a:solidFill>
            <a:srgbClr val="3F6B4A"/>
          </a:solidFill>
          <a:ln/>
        </p:spPr>
      </p:sp>
      <p:sp>
        <p:nvSpPr>
          <p:cNvPr id="23" name="step-hex-label"/>
          <p:cNvSpPr txBox="1"/>
          <p:nvPr/>
        </p:nvSpPr>
        <p:spPr>
          <a:xfrm>
            <a:off x="685800" y="42956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3397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at the end: the river reaches the sea at its mouth.</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basin is bounded by the watershed; the river starts at its source in high land; tributaries join it at confluences; it flows in a channel with a bed and banks; and it ends at its mouth, where it flows into the sea.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world's longest rivers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a table of rivers, read the headings first: source, countries, mouth, length. Then fill the gaps one column at a time.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atlas lists the world's longest rivers. The Nile is usually listed first, at about 6695 km.</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Yangtze, about 6380 km, rises in the Tanggula Mountains and crosses China to the East China Sea near Shanghai.</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These lengths are measured along the winding channel, not in a straight line, and geographers do not all agree on exactly where some rivers start.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rivers give people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People have always lived beside rivers. The Amazon is home to more than 3000 kinds of fish, and fishing feeds many of the communities along it.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Rivers are also roads. The Yangtze is one of the busiest waterways in the world, carrying coal, factory goods and passengers.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some people a river is holy. The Ganges begins in the Himalayas in India and flows to the Bay of Bengal.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Name the parts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a river system to its meaning.</a:t>
            </a:r>
            <a:endParaRPr lang="en-US" sz="2400" dirty="0"/>
          </a:p>
        </p:txBody>
      </p:sp>
      <p:sp>
        <p:nvSpPr>
          <p:cNvPr id="11" name="match-card"/>
          <p:cNvSpPr/>
          <p:nvPr/>
        </p:nvSpPr>
        <p:spPr>
          <a:xfrm>
            <a:off x="777240" y="2468331"/>
            <a:ext cx="3081437" cy="625559"/>
          </a:xfrm>
          <a:prstGeom prst="roundRect">
            <a:avLst>
              <a:gd name="adj" fmla="val 11694"/>
            </a:avLst>
          </a:prstGeom>
          <a:solidFill>
            <a:srgbClr val="F5F8F6"/>
          </a:solidFill>
          <a:ln/>
        </p:spPr>
      </p:sp>
      <p:sp>
        <p:nvSpPr>
          <p:cNvPr id="12" name="match-hex"/>
          <p:cNvSpPr/>
          <p:nvPr/>
        </p:nvSpPr>
        <p:spPr>
          <a:xfrm>
            <a:off x="850392" y="2614818"/>
            <a:ext cx="384048" cy="332586"/>
          </a:xfrm>
          <a:prstGeom prst="hexagon">
            <a:avLst/>
          </a:prstGeom>
          <a:solidFill>
            <a:srgbClr val="3F6B4A"/>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Source</a:t>
            </a:r>
            <a:endParaRPr lang="en-US" sz="2200" dirty="0"/>
          </a:p>
        </p:txBody>
      </p:sp>
      <p:sp>
        <p:nvSpPr>
          <p:cNvPr id="15" name="match-card"/>
          <p:cNvSpPr/>
          <p:nvPr/>
        </p:nvSpPr>
        <p:spPr>
          <a:xfrm>
            <a:off x="4224437" y="2468331"/>
            <a:ext cx="7190019" cy="625559"/>
          </a:xfrm>
          <a:prstGeom prst="roundRect">
            <a:avLst>
              <a:gd name="adj" fmla="val 11694"/>
            </a:avLst>
          </a:prstGeom>
          <a:solidFill>
            <a:srgbClr val="F9F4EC"/>
          </a:solidFill>
          <a:ln/>
        </p:spPr>
      </p:sp>
      <p:sp>
        <p:nvSpPr>
          <p:cNvPr id="16" name="match-hex"/>
          <p:cNvSpPr/>
          <p:nvPr/>
        </p:nvSpPr>
        <p:spPr>
          <a:xfrm>
            <a:off x="4297589" y="2614818"/>
            <a:ext cx="384048" cy="332586"/>
          </a:xfrm>
          <a:prstGeom prst="hexagon">
            <a:avLst/>
          </a:prstGeom>
          <a:solidFill>
            <a:srgbClr val="B8862B"/>
          </a:solidFill>
          <a:ln/>
        </p:spPr>
      </p:sp>
      <p:sp>
        <p:nvSpPr>
          <p:cNvPr id="17" name="match-hex-label"/>
          <p:cNvSpPr txBox="1"/>
          <p:nvPr/>
        </p:nvSpPr>
        <p:spPr>
          <a:xfrm>
            <a:off x="4297589"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the river flows into the sea</a:t>
            </a:r>
            <a:endParaRPr lang="en-US" sz="2200" dirty="0"/>
          </a:p>
        </p:txBody>
      </p:sp>
      <p:sp>
        <p:nvSpPr>
          <p:cNvPr id="19" name="match-card"/>
          <p:cNvSpPr/>
          <p:nvPr/>
        </p:nvSpPr>
        <p:spPr>
          <a:xfrm>
            <a:off x="777240" y="3185331"/>
            <a:ext cx="3081437" cy="625559"/>
          </a:xfrm>
          <a:prstGeom prst="roundRect">
            <a:avLst>
              <a:gd name="adj" fmla="val 11694"/>
            </a:avLst>
          </a:prstGeom>
          <a:solidFill>
            <a:srgbClr val="F5F8F6"/>
          </a:solidFill>
          <a:ln/>
        </p:spPr>
      </p:sp>
      <p:sp>
        <p:nvSpPr>
          <p:cNvPr id="20" name="match-hex"/>
          <p:cNvSpPr/>
          <p:nvPr/>
        </p:nvSpPr>
        <p:spPr>
          <a:xfrm>
            <a:off x="850392" y="3331818"/>
            <a:ext cx="384048" cy="332586"/>
          </a:xfrm>
          <a:prstGeom prst="hexagon">
            <a:avLst/>
          </a:prstGeom>
          <a:solidFill>
            <a:srgbClr val="3F6B4A"/>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Mouth</a:t>
            </a:r>
            <a:endParaRPr lang="en-US" sz="2200" dirty="0"/>
          </a:p>
        </p:txBody>
      </p:sp>
      <p:sp>
        <p:nvSpPr>
          <p:cNvPr id="23" name="match-card"/>
          <p:cNvSpPr/>
          <p:nvPr/>
        </p:nvSpPr>
        <p:spPr>
          <a:xfrm>
            <a:off x="4224437" y="3185331"/>
            <a:ext cx="7190019" cy="625559"/>
          </a:xfrm>
          <a:prstGeom prst="roundRect">
            <a:avLst>
              <a:gd name="adj" fmla="val 11694"/>
            </a:avLst>
          </a:prstGeom>
          <a:solidFill>
            <a:srgbClr val="F9F4EC"/>
          </a:solidFill>
          <a:ln/>
        </p:spPr>
      </p:sp>
      <p:sp>
        <p:nvSpPr>
          <p:cNvPr id="24" name="match-hex"/>
          <p:cNvSpPr/>
          <p:nvPr/>
        </p:nvSpPr>
        <p:spPr>
          <a:xfrm>
            <a:off x="4297589" y="3331818"/>
            <a:ext cx="384048" cy="332586"/>
          </a:xfrm>
          <a:prstGeom prst="hexagon">
            <a:avLst/>
          </a:prstGeom>
          <a:solidFill>
            <a:srgbClr val="B8862B"/>
          </a:solidFill>
          <a:ln/>
        </p:spPr>
      </p:sp>
      <p:sp>
        <p:nvSpPr>
          <p:cNvPr id="25" name="match-hex-label"/>
          <p:cNvSpPr txBox="1"/>
          <p:nvPr/>
        </p:nvSpPr>
        <p:spPr>
          <a:xfrm>
            <a:off x="4297589"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85331"/>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high land around the edge of a drainage basin</a:t>
            </a:r>
            <a:endParaRPr lang="en-US" sz="2200" dirty="0"/>
          </a:p>
        </p:txBody>
      </p:sp>
      <p:sp>
        <p:nvSpPr>
          <p:cNvPr id="27" name="match-card"/>
          <p:cNvSpPr/>
          <p:nvPr/>
        </p:nvSpPr>
        <p:spPr>
          <a:xfrm>
            <a:off x="777240" y="3902330"/>
            <a:ext cx="3081437" cy="625559"/>
          </a:xfrm>
          <a:prstGeom prst="roundRect">
            <a:avLst>
              <a:gd name="adj" fmla="val 11694"/>
            </a:avLst>
          </a:prstGeom>
          <a:solidFill>
            <a:srgbClr val="F5F8F6"/>
          </a:solidFill>
          <a:ln/>
        </p:spPr>
      </p:sp>
      <p:sp>
        <p:nvSpPr>
          <p:cNvPr id="28" name="match-hex"/>
          <p:cNvSpPr/>
          <p:nvPr/>
        </p:nvSpPr>
        <p:spPr>
          <a:xfrm>
            <a:off x="850392" y="4048817"/>
            <a:ext cx="384048" cy="332586"/>
          </a:xfrm>
          <a:prstGeom prst="hexagon">
            <a:avLst/>
          </a:prstGeom>
          <a:solidFill>
            <a:srgbClr val="3F6B4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Tributary</a:t>
            </a:r>
            <a:endParaRPr lang="en-US" sz="2200" dirty="0"/>
          </a:p>
        </p:txBody>
      </p:sp>
      <p:sp>
        <p:nvSpPr>
          <p:cNvPr id="31" name="match-card"/>
          <p:cNvSpPr/>
          <p:nvPr/>
        </p:nvSpPr>
        <p:spPr>
          <a:xfrm>
            <a:off x="4224437" y="3902330"/>
            <a:ext cx="7190019" cy="625559"/>
          </a:xfrm>
          <a:prstGeom prst="roundRect">
            <a:avLst>
              <a:gd name="adj" fmla="val 11694"/>
            </a:avLst>
          </a:prstGeom>
          <a:solidFill>
            <a:srgbClr val="F9F4EC"/>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02330"/>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smaller river that joins a bigger one</a:t>
            </a:r>
            <a:endParaRPr lang="en-US" sz="2200" dirty="0"/>
          </a:p>
        </p:txBody>
      </p:sp>
      <p:sp>
        <p:nvSpPr>
          <p:cNvPr id="35" name="match-card"/>
          <p:cNvSpPr/>
          <p:nvPr/>
        </p:nvSpPr>
        <p:spPr>
          <a:xfrm>
            <a:off x="777240" y="4619329"/>
            <a:ext cx="3081437" cy="625559"/>
          </a:xfrm>
          <a:prstGeom prst="roundRect">
            <a:avLst>
              <a:gd name="adj" fmla="val 11694"/>
            </a:avLst>
          </a:prstGeom>
          <a:solidFill>
            <a:srgbClr val="F5F8F6"/>
          </a:solidFill>
          <a:ln/>
        </p:spPr>
      </p:sp>
      <p:sp>
        <p:nvSpPr>
          <p:cNvPr id="36" name="match-hex"/>
          <p:cNvSpPr/>
          <p:nvPr/>
        </p:nvSpPr>
        <p:spPr>
          <a:xfrm>
            <a:off x="850392" y="4765816"/>
            <a:ext cx="384048" cy="332586"/>
          </a:xfrm>
          <a:prstGeom prst="hexagon">
            <a:avLst/>
          </a:prstGeom>
          <a:solidFill>
            <a:srgbClr val="3F6B4A"/>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Confluence</a:t>
            </a:r>
            <a:endParaRPr lang="en-US" sz="2200" dirty="0"/>
          </a:p>
        </p:txBody>
      </p:sp>
      <p:sp>
        <p:nvSpPr>
          <p:cNvPr id="39" name="match-card"/>
          <p:cNvSpPr/>
          <p:nvPr/>
        </p:nvSpPr>
        <p:spPr>
          <a:xfrm>
            <a:off x="4224437" y="4619329"/>
            <a:ext cx="7190019" cy="625559"/>
          </a:xfrm>
          <a:prstGeom prst="roundRect">
            <a:avLst>
              <a:gd name="adj" fmla="val 11694"/>
            </a:avLst>
          </a:prstGeom>
          <a:solidFill>
            <a:srgbClr val="F9F4EC"/>
          </a:solidFill>
          <a:ln/>
        </p:spPr>
      </p:sp>
      <p:sp>
        <p:nvSpPr>
          <p:cNvPr id="40" name="match-hex"/>
          <p:cNvSpPr/>
          <p:nvPr/>
        </p:nvSpPr>
        <p:spPr>
          <a:xfrm>
            <a:off x="4297589" y="4765816"/>
            <a:ext cx="384048" cy="332586"/>
          </a:xfrm>
          <a:prstGeom prst="hexagon">
            <a:avLst/>
          </a:prstGeom>
          <a:solidFill>
            <a:srgbClr val="B8862B"/>
          </a:solidFill>
          <a:ln/>
        </p:spPr>
      </p:sp>
      <p:sp>
        <p:nvSpPr>
          <p:cNvPr id="41" name="match-hex-label"/>
          <p:cNvSpPr txBox="1"/>
          <p:nvPr/>
        </p:nvSpPr>
        <p:spPr>
          <a:xfrm>
            <a:off x="4297589"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619329"/>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point where two rivers meet</a:t>
            </a:r>
            <a:endParaRPr lang="en-US" sz="2200" dirty="0"/>
          </a:p>
        </p:txBody>
      </p:sp>
      <p:sp>
        <p:nvSpPr>
          <p:cNvPr id="43" name="match-card"/>
          <p:cNvSpPr/>
          <p:nvPr/>
        </p:nvSpPr>
        <p:spPr>
          <a:xfrm>
            <a:off x="777240" y="5336329"/>
            <a:ext cx="3081437" cy="625559"/>
          </a:xfrm>
          <a:prstGeom prst="roundRect">
            <a:avLst>
              <a:gd name="adj" fmla="val 11694"/>
            </a:avLst>
          </a:prstGeom>
          <a:solidFill>
            <a:srgbClr val="F5F8F6"/>
          </a:solidFill>
          <a:ln/>
        </p:spPr>
      </p:sp>
      <p:sp>
        <p:nvSpPr>
          <p:cNvPr id="44" name="match-hex"/>
          <p:cNvSpPr/>
          <p:nvPr/>
        </p:nvSpPr>
        <p:spPr>
          <a:xfrm>
            <a:off x="850392" y="5482816"/>
            <a:ext cx="384048" cy="332586"/>
          </a:xfrm>
          <a:prstGeom prst="hexagon">
            <a:avLst/>
          </a:prstGeom>
          <a:solidFill>
            <a:srgbClr val="3F6B4A"/>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Watershed</a:t>
            </a:r>
            <a:endParaRPr lang="en-US" sz="2200" dirty="0"/>
          </a:p>
        </p:txBody>
      </p:sp>
      <p:sp>
        <p:nvSpPr>
          <p:cNvPr id="47" name="match-card"/>
          <p:cNvSpPr/>
          <p:nvPr/>
        </p:nvSpPr>
        <p:spPr>
          <a:xfrm>
            <a:off x="4224437" y="5336329"/>
            <a:ext cx="7190019" cy="625559"/>
          </a:xfrm>
          <a:prstGeom prst="roundRect">
            <a:avLst>
              <a:gd name="adj" fmla="val 11694"/>
            </a:avLst>
          </a:prstGeom>
          <a:solidFill>
            <a:srgbClr val="F9F4EC"/>
          </a:solidFill>
          <a:ln/>
        </p:spPr>
      </p:sp>
      <p:sp>
        <p:nvSpPr>
          <p:cNvPr id="48" name="match-hex"/>
          <p:cNvSpPr/>
          <p:nvPr/>
        </p:nvSpPr>
        <p:spPr>
          <a:xfrm>
            <a:off x="4297589" y="5482816"/>
            <a:ext cx="384048" cy="332586"/>
          </a:xfrm>
          <a:prstGeom prst="hexagon">
            <a:avLst/>
          </a:prstGeom>
          <a:solidFill>
            <a:srgbClr val="B8862B"/>
          </a:solidFill>
          <a:ln/>
        </p:spPr>
      </p:sp>
      <p:sp>
        <p:nvSpPr>
          <p:cNvPr id="49" name="match-hex-label"/>
          <p:cNvSpPr txBox="1"/>
          <p:nvPr/>
        </p:nvSpPr>
        <p:spPr>
          <a:xfrm>
            <a:off x="4297589"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36329"/>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the river starts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Name the parts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Name the parts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and finish first: one word means where the river begins, one means where it ends.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words are about rivers joining: one is the small river, one is the meeting point.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Confluence has flu in it, like fluid flowing together: it is the meeting point.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Watershed is the edge, the high land that sheds water into the basin.</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tributary is a thing (a river); a confluence is a place (a point).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Draw a simple drainage basin from memory and label all five parts, then add the channel, bed and banks. Explain why a town is often built at a confluence.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much longer?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Amazon is listed as 6516 km long and the Yenisey as 5539 km. How many kilometres longer is the Amazon?</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km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How much longer?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much longer?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longer length on top and the shorter underneath, lining up the digits.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column by column from the right, borrowing when the top digit is smaller.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your answer by adding it to the shorter length: you should get the longer length.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the units: kilometres.</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Longer minus shorter. Then add your answer back to the shorter one to check.</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Yenisey ends in the Kara Sea in the Arctic and the Amazon ends in the Atlantic near the Equator. Suggest one way the two rivers might be different because of where they are, and explain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9921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point where two rivers meet and join is called a ___.</a:t>
            </a:r>
            <a:endParaRPr lang="en-US" sz="24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confluence   ·   tributary   ·   mouth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Name the parts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Source  →  E  Where the river starts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Mouth  →  A  Where the river flows into the sea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Tributary  →  C  A smaller river that joins a bigger one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Confluence  →  D  The point where two rivers meet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Watershed  →  B  The high land around the edge of a drainage basin</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Source: start. Mouth: end at the sea. Tributary: a smaller joining river. Confluence: the meeting point. Watershed: the high boundary of the basin.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much longer?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Amazon is listed as 6516 km long and the Yenisey as 5539 km. How many kilometres longer is the Amazon?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977 km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difference between two lengths is found by subtraction: 6516 − 5539 = 977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point where two rivers meet and join is called a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The point where two rivers meet and join is called a confluence.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confluence is the meeting point; the smaller river that joins is the tributary.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on Land: Rivers · Chapter 2: Drainage basins and the world's longest rivers</dc:title>
  <dc:subject>Geography · Year 7</dc:subject>
  <dc:creator>Dr Vitor Merissi de Carvalho</dc:creator>
  <cp:lastModifiedBy>Dr Vitor Merissi de Carvalho</cp:lastModifiedBy>
  <cp:revision>1</cp:revision>
  <dcterms:created xsi:type="dcterms:W3CDTF">2026-10-19T16:22:56Z</dcterms:created>
  <dcterms:modified xsi:type="dcterms:W3CDTF">2026-10-19T16:22:56Z</dcterms:modified>
</cp:coreProperties>
</file>