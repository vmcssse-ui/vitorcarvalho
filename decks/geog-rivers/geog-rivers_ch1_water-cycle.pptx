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3aca074-01f1-4ca6-d822-4721b715f275}">
          <p14:sldIdLst>
            <p14:sldId id="256"/>
          </p14:sldIdLst>
        </p14:section>
        <p14:section name="Gate" id="{e9def124-a454-f02f-b27e-553fe4e4b0b5}">
          <p14:sldIdLst>
            <p14:sldId id="257"/>
            <p14:sldId id="258"/>
          </p14:sldIdLst>
        </p14:section>
        <p14:section name="Pre-teach" id="{9693ab79-f0b2-9f91-b8a3-96c2b5be4b55}">
          <p14:sldIdLst>
            <p14:sldId id="259"/>
          </p14:sldIdLst>
        </p14:section>
        <p14:section name="Read-along" id="{cf494bba-473b-6064-9d56-21fad334a0ee}">
          <p14:sldIdLst>
            <p14:sldId id="260"/>
            <p14:sldId id="261"/>
          </p14:sldIdLst>
        </p14:section>
        <p14:section name="Teach" id="{32ceff5a-80c4-e77e-17c0-f23d5fed0e74}">
          <p14:sldIdLst>
            <p14:sldId id="262"/>
            <p14:sldId id="263"/>
            <p14:sldId id="264"/>
            <p14:sldId id="265"/>
          </p14:sldIdLst>
        </p14:section>
        <p14:section name="Routes" id="{bbea14a4-da81-751d-0a2f-8164848e2d54}">
          <p14:sldIdLst>
            <p14:sldId id="266"/>
            <p14:sldId id="267"/>
            <p14:sldId id="268"/>
            <p14:sldId id="269"/>
          </p14:sldIdLst>
        </p14:section>
        <p14:section name="Close" id="{32cf7246-a5bf-f792-84f0-29f01028f66a}">
          <p14:sldIdLst>
            <p14:sldId id="270"/>
          </p14:sldIdLst>
        </p14:section>
        <p14:section name="Answers" id="{fc153ad5-d077-816c-7041-5aaf3dc470cb}">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Water on the move: the water cycle. Where the water in a river comes from, how it goes round and round, and where the world's great rivers are.
This deck covers the department's lessons: 1 (Water on land: the water cycle and the world's major rivers: Where does water come from, and where are the world's major rivers?); 5 (The water cycle dance: the journey of a water droplet: Can you tell the story of a water droplet's journey round the water cycle?).
Read the big question aloud: "How does water shape the land, why do rivers flood, and what can people do to reduce the risk and the damage?"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process turns liquid water into water vapour?  →  A   Evaporation
2. Water vapour cools and turns back into tiny droplets, forming clouds. This is called ___.  →  condensation
3. Which of these rivers is in South America?  →  D   The Amazon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Evaporation. Evaporation is liquid water turning into water vapour when the sun heats it.
2. condensation. Condensation is vapour becoming liquid droplets; it is how clouds form.
3. D   The Amazon. The Amazon flows across Brazil, in South America, to the Atlantic Ocean.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evaporation: when the sun heats water and it turns into water vapour. Example: "On a hot day, evaporation makes puddles disappear."
• condensation: when water vapour cools and turns back into tiny droplets. Example: "Condensation high in the sky makes clouds."
• precipitation: water falling from clouds as rain, hail, sleet or snow. Example: "Precipitation fell all night, so the river rose."
• transpiration: when plants give off water vapour from their leaves. Example: "A forest adds water to the air by transpiration."
• surface run-off: water flowing over the ground towards a river. Example: "After the storm, surface run-off poured down the hill."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Water never stays still.
2. It moves round and round in the water cycle.
3. The sun heats water in the sea, in lakes and in rivers.
4. The water turns into water vapour and rises into the air.
5. This is called evaporation.
6. Plants give off water vapour too, from their leaves.
7. This is called transpiration.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High in the sky the air is cold, so the vapour turns into tiny droplets.
9. This is condensation, and it makes clouds.
10. The droplets join up, get heavy and fall as rain, hail, sleet or snow.
11. This is precipitation.
12. Some water soaks into the ground, and some runs over the surface into rivers.
13. The rivers carry the water back to the sea, and the cycle starts again.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does the water in a river come from?. Say it in your own words, then check understanding with a quick question: ask a pupil from the pre-teach group first, since they met these words and ideas before the lesson. Pupils try to recall before you re-explain.
Every river is fed by the water cycle. The cycle has no real start or finish, but a good place to begin is the sea. The sun heats the surface of the sea, and some of the water turns into water vapour, a gas you cannot see. This is evaporation. The vapour rises because warm air rises.
High in the sky the air is much colder. The water vapour cools and turns back into tiny droplets of liquid water. This is condensation, and billions of these droplets together make a cloud. Inside the cloud the droplets bump into each other and join up. When they are too heavy to float, they fall.
Water falling from a cloud is called precipitation. It can be rain, hail, sleet or snow, depending on how cold the air is. Most precipitation falls back into the sea, but some falls on the land. That is the water that will end up in a river.
Tip: Evaporation goes UP (water to vapour). Condensation comes together (vapour to droplets, making clouds). Precipitation falls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Water in plants and in the ground. Say it in your own words, then check understanding with a quick question: ask a pupil from the pre-teach group first, since they met these words and ideas before the lesson. Pupils try to recall before you re-explain.
Not all water vapour comes from the sea. Plants take in water through their roots and give it off from their leaves as vapour. This is transpiration. A large forest can add a huge amount of water to the air each day, which is one reason forests are often cloudy and wet.
When precipitation reaches the ground, it has two choices. It can soak down into the soil and rock: this is infiltration, and the water that collects underground is called groundwater. The top of the groundwater is the water table. Or it can flow over the top of the ground, usually downhill, towards a stream or river: this is surface run-off.
Both routes lead to the same place. Groundwater seeps slowly into rivers and lakes; run-off reaches them quickly. Water collecting in a river, a lake or the sea is called accumulation. From there the sun heats it again, and the cycle goes round once more.
Worked example — model it step by step, thinking aloud: Describe the journey of a drop of water from a river to a cloud and back to the ground. (4 marks) (1) Start in the river and name the process that lifts the water: the sun heats the river and the drop evaporates, rising as water vapour. (2) Say what happens high up: the vapour cools and condenses into tiny droplets, forming a cloud. (3) Say how it comes down: the droplets join, grow heavy and fall as precipitation, such as rain or snow. (4) Finish on the ground: the water infiltrates the soil or runs over the surface as run-off back towards a river. Answer: The sun heats the river, so the drop evaporates and rises as vapour; it cools and condenses into a cloud; it falls as precipitation; then it infiltrates the ground or runs off the surface back towards a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Water in plants and in the ground. Say it in your own words, then check understanding with a quick question: ask a pupil from the pre-teach group first, since they met these words and ideas before the lesson. Pupils try to recall before you re-explain.
Not all water vapour comes from the sea. Plants take in water through their roots and give it off from their leaves as vapour. This is transpiration. A large forest can add a huge amount of water to the air each day, which is one reason forests are often cloudy and wet.
When precipitation reaches the ground, it has two choices. It can soak down into the soil and rock: this is infiltration, and the water that collects underground is called groundwater. The top of the groundwater is the water table. Or it can flow over the top of the ground, usually downhill, towards a stream or river: this is surface run-off.
Both routes lead to the same place. Groundwater seeps slowly into rivers and lakes; run-off reaches them quickly. Water collecting in a river, a lake or the sea is called accumulation. From there the sun heats it again, and the cycle goes round once more.
Worked example — model it step by step, thinking aloud: Describe the journey of a drop of water from a river to a cloud and back to the ground. (4 marks) (1) Start in the river and name the process that lifts the water: the sun heats the river and the drop evaporates, rising as water vapour. (2) Say what happens high up: the vapour cools and condenses into tiny droplets, forming a cloud. (3) Say how it comes down: the droplets join, grow heavy and fall as precipitation, such as rain or snow. (4) Finish on the ground: the water infiltrates the soil or runs over the surface as run-off back towards a river. Answer: The sun heats the river, so the drop evaporates and rises as vapour; it cools and condenses into a cloud; it falls as precipitation; then it infiltrates the ground or runs off the surface back towards a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world's great rivers. Say it in your own words, then check understanding with a quick question: ask a pupil from the pre-teach group first, since they met these words and ideas before the lesson. Pupils try to recall before you re-explain.
Rivers carry the water that falls on the land back to the sea. Every continent except Antarctica has great rivers. In Africa there are the Nile, the Congo and the Niger. In South America there is the Amazon, which has more water in it than any other river. In North America there is the Mississippi.
In Europe the Rhine rises in Switzerland and flows north to the sea. In Australia the Murray-Darling drains a huge area of dry land. In Asia there are the Yangtze and the Yellow River in China, the Ganges in India and the Yenisey, which flows north through Russia to the Arctic.
When you find these rivers in an atlas, notice that each one starts in high land and ends at the coast. Water always flows downhill. That simple fact explains almost everything a river does, as you will see in the next chapters.
Tip: An atlas index gives a page number and a grid square. Find the square first, then look for the thin blue line with the river's name along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Round and round: the water cycle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the water cycle in order, starting with the sun heating the sea.
Support — work through the steps with the group: (1) Find the stage with the sun in it. Heat starts everything, so that comes first. (2) Ask: what does heat do to water? It makes it evaporate and rise. (3) Vapour has to cool into a cloud before anything can fall. Then it falls. (4) Once on the ground, water moves towards a river, and the last stage is where it collects.
Parallel worked example for Support (model it, do not give the task answer): Put these stages of making a cup of tea in order: pour the water, boil the kettle, drink the tea, add a tea bag. Nothing can happen until the kettle is boiled.; Then the tea bag goes in and the water is poured.; Drinking is last.. Answer: boil the kettle, add a tea bag, pour the water, drink the tea.
Core — reveal the hint only on request: Up, together, down, along: evaporate, condense, fall, flow.
Stretch — no help; when finished: The cycle has no true beginning. Explain why you could also start it with precipitation, and say what would be different about the order you wrote.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Round and round: the water cycle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the water cycle in order, starting with the sun heating the sea.
Support — work through the steps with the group: (1) Find the stage with the sun in it. Heat starts everything, so that comes first. (2) Ask: what does heat do to water? It makes it evaporate and rise. (3) Vapour has to cool into a cloud before anything can fall. Then it falls. (4) Once on the ground, water moves towards a river, and the last stage is where it collects.
Parallel worked example for Support (model it, do not give the task answer): Put these stages of making a cup of tea in order: pour the water, boil the kettle, drink the tea, add a tea bag. Nothing can happen until the kettle is boiled.; Then the tea bag goes in and the water is poured.; Drinking is last.. Answer: boil the kettle, add a tea bag, pour the water, drink the tea.
Core — reveal the hint only on request: Up, together, down, along: evaporate, condense, fall, flow.
Stretch — no help; when finished: The cycle has no true beginning. Explain why you could also start it with precipitation, and say what would be different about the order you wrote.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continent?.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great river to the continent it flows through.
Support — work through the steps with the group: (1) Start with the one you are surest of, perhaps from a film or a book. (2) The Nile is famous for Ancient Egypt, and Egypt is in Africa. (3) The Amazon rainforest is in Brazil. Brazil is in South America. (4) The Mississippi is in the USA; the Rhine rises in Switzerland; that leaves the Murray-Darling for Australia.
Parallel worked example for Support (model it, do not give the task answer): Match: the Congo, the Yangtze. Choices: Asia, Africa. The Congo rainforest is in central Africa.; The Yangtze is the longest river in China, which is in Asia.. Answer: The Congo: Africa. The Yangtze: Asia..
Core — reveal the hint only on request: Think of a country each river is famous for, then ask which continent that country is in.
Stretch — no help; when finished: Pick one of these rivers and explain, using the water cycle, why it carries so much water: where does its rain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continent?.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great river to the continent it flows through.
Support — work through the steps with the group: (1) Start with the one you are surest of, perhaps from a film or a book. (2) The Nile is famous for Ancient Egypt, and Egypt is in Africa. (3) The Amazon rainforest is in Brazil. Brazil is in South America. (4) The Mississippi is in the USA; the Rhine rises in Switzerland; that leaves the Murray-Darling for Australia.
Parallel worked example for Support (model it, do not give the task answer): Match: the Congo, the Yangtze. Choices: Asia, Africa. The Congo rainforest is in central Africa.; The Yangtze is the longest river in China, which is in Asia.. Answer: The Congo: Africa. The Yangtze: Asia..
Core — reveal the hint only on request: Think of a country each river is famous for, then ask which continent that country is in.
Stretch — no help; when finished: Pick one of these rivers and explain, using the water cycle, why it carries so much water: where does its rain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plant's leaves give off water vapour into the air. What is this process called?
Answer: A   Transpiration. Transpiration is water vapour given off by plants through their leaves. Evaporation is from a water surface; infiltration is water soaking into the ground; condensation is vapour becoming droplets.
Source of this question: module 3 task ("Water from leaves")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Round and round: the water cycle in order. Reveal the answer; pupils mark their own work in a different colour, then read the "why" together. Same destination for every lane, so one answer serves the whole class.
Answer: The sun heats water in the sea, lakes and rivers  (C); Water evaporates and rises as water vapour  (F); The vapour cools and condenses into clouds  (D); Water falls as precipitation: rain, hail, sleet or snow  (A); Water runs over the land as surface run-off or soaks in  (B); Water collects again in rivers, lakes and the sea  (E)
Why: Heat causes evaporation; vapour rises and condenses into clouds; the droplets fall as precipitation; the water runs off or infiltrates; it collects in rivers, lakes and the sea, ready to evaporate again.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continent?. Reveal the answer; pupils mark their own work in a different colour, then read the "why" together. Same destination for every lane, so one answer serves the whole class.
Answer: The Nile  →  C  Africa; The Amazon  →  A  South America; The Mississippi  →  B  North America; The Murray-Darling  →  D  Australia; The Rhine  →  E  Europe
Why: Nile: Africa (Egypt, Sudan, Uganda). Amazon: South America (Brazil, Peru). Mississippi: North America (USA). Murray-Darling: Australia. Rhine: Europe (Switzerland, Germany, the Netherlands).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Transpiration
Why: Transpiration is water vapour given off by plants through their leaves. Evaporation is from a water surface; infiltration is water soaking into the ground; condensation is vapour becoming droplets.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Water on Land: Rivers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Water on Land: Rivers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E6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Water on Land: Rivers · AQA KS3 → 8035</a:t>
            </a:r>
            <a:endParaRPr lang="en-US" sz="1800" dirty="0"/>
          </a:p>
        </p:txBody>
      </p:sp>
      <p:sp>
        <p:nvSpPr>
          <p:cNvPr id="10" name="deck-title"/>
          <p:cNvSpPr txBox="1"/>
          <p:nvPr/>
        </p:nvSpPr>
        <p:spPr>
          <a:xfrm>
            <a:off x="548640" y="190931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Water on the move: the water cycle</a:t>
            </a:r>
            <a:endParaRPr lang="en-US" sz="4000" dirty="0"/>
          </a:p>
        </p:txBody>
      </p:sp>
      <p:sp>
        <p:nvSpPr>
          <p:cNvPr id="11" name="lessons-card"/>
          <p:cNvSpPr/>
          <p:nvPr/>
        </p:nvSpPr>
        <p:spPr>
          <a:xfrm>
            <a:off x="548640" y="3585718"/>
            <a:ext cx="5287975" cy="1948180"/>
          </a:xfrm>
          <a:prstGeom prst="roundRect">
            <a:avLst>
              <a:gd name="adj" fmla="val 3755"/>
            </a:avLst>
          </a:prstGeom>
          <a:solidFill>
            <a:srgbClr val="F2F5F2"/>
          </a:solidFill>
          <a:ln/>
        </p:spPr>
      </p:sp>
      <p:sp>
        <p:nvSpPr>
          <p:cNvPr id="12" name="lessons"/>
          <p:cNvSpPr txBox="1"/>
          <p:nvPr/>
        </p:nvSpPr>
        <p:spPr>
          <a:xfrm>
            <a:off x="685800" y="3677158"/>
            <a:ext cx="5013655" cy="17653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Water on land: the water cycle and the world's major rivers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water cycle dance: the journey of a water droplet</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F5F2"/>
          </a:solidFill>
          <a:ln w="12700">
            <a:solidFill>
              <a:srgbClr val="B8C8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water shape the land, why do rivers flood, and what can people do to reduce the risk and the damage?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process turns liquid water into water vapour?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Evaporation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Infiltration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Condensation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Precipitation</a:t>
            </a:r>
            <a:endParaRPr lang="en-US" sz="2400" dirty="0"/>
          </a:p>
        </p:txBody>
      </p:sp>
      <p:sp>
        <p:nvSpPr>
          <p:cNvPr id="12"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Water vapour cools and turns back into tiny droplets, forming clouds. This is called ___.</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condensation  ·  evaporation  ·  precipitation</a:t>
            </a:r>
            <a:endParaRPr lang="en-US" sz="2200" dirty="0"/>
          </a:p>
        </p:txBody>
      </p:sp>
      <p:sp>
        <p:nvSpPr>
          <p:cNvPr id="17"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rivers is in South America?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Nile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Mississippi</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Murray-Darling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Amazon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Evaporation</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process turns liquid water into water vapour?</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Evaporation is liquid water turning into water vapour when the sun heats it.</a:t>
            </a:r>
            <a:endParaRPr lang="en-US" sz="2200" dirty="0"/>
          </a:p>
        </p:txBody>
      </p:sp>
      <p:sp>
        <p:nvSpPr>
          <p:cNvPr id="14"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condensation</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Water vapour cools and turns back into tiny droplets, forming clouds. This is called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Condensation is vapour becoming liquid droplets; it is how clouds form.</a:t>
            </a:r>
            <a:endParaRPr lang="en-US" sz="2200" dirty="0"/>
          </a:p>
        </p:txBody>
      </p:sp>
      <p:sp>
        <p:nvSpPr>
          <p:cNvPr id="21"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The Amazon</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of these rivers is in South America?</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Amazon flows across Brazil, in South America, to the Atlantic Ocean.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3F6B4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5F8F6"/>
          </a:solidFill>
          <a:ln/>
        </p:spPr>
      </p:sp>
      <p:sp>
        <p:nvSpPr>
          <p:cNvPr id="12" name="kw-hex"/>
          <p:cNvSpPr/>
          <p:nvPr/>
        </p:nvSpPr>
        <p:spPr>
          <a:xfrm>
            <a:off x="658368" y="2135261"/>
            <a:ext cx="411480" cy="356342"/>
          </a:xfrm>
          <a:prstGeom prst="hexagon">
            <a:avLst/>
          </a:prstGeom>
          <a:solidFill>
            <a:srgbClr val="3F6B4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evaporation</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when the sun heats water and it turns into water vapour</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On a hot day, evaporation makes puddles disappear.</a:t>
            </a:r>
            <a:endParaRPr lang="en-US" sz="1800" dirty="0"/>
          </a:p>
        </p:txBody>
      </p:sp>
      <p:sp>
        <p:nvSpPr>
          <p:cNvPr id="16" name="kw-row"/>
          <p:cNvSpPr/>
          <p:nvPr/>
        </p:nvSpPr>
        <p:spPr>
          <a:xfrm>
            <a:off x="548640" y="2779776"/>
            <a:ext cx="11094415" cy="786384"/>
          </a:xfrm>
          <a:prstGeom prst="roundRect">
            <a:avLst>
              <a:gd name="adj" fmla="val 6977"/>
            </a:avLst>
          </a:prstGeom>
          <a:solidFill>
            <a:srgbClr val="F9F4EC"/>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condensation</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when water vapour cools and turns back into tiny droplets</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Condensation high in the sky makes clouds.</a:t>
            </a:r>
            <a:endParaRPr lang="en-US" sz="1800" dirty="0"/>
          </a:p>
        </p:txBody>
      </p:sp>
      <p:sp>
        <p:nvSpPr>
          <p:cNvPr id="21" name="kw-row"/>
          <p:cNvSpPr/>
          <p:nvPr/>
        </p:nvSpPr>
        <p:spPr>
          <a:xfrm>
            <a:off x="548640" y="3639312"/>
            <a:ext cx="11094415" cy="786384"/>
          </a:xfrm>
          <a:prstGeom prst="roundRect">
            <a:avLst>
              <a:gd name="adj" fmla="val 6977"/>
            </a:avLst>
          </a:prstGeom>
          <a:solidFill>
            <a:srgbClr val="F5F8F6"/>
          </a:solidFill>
          <a:ln/>
        </p:spPr>
      </p:sp>
      <p:sp>
        <p:nvSpPr>
          <p:cNvPr id="22" name="kw-hex"/>
          <p:cNvSpPr/>
          <p:nvPr/>
        </p:nvSpPr>
        <p:spPr>
          <a:xfrm>
            <a:off x="658368" y="3854333"/>
            <a:ext cx="411480" cy="356342"/>
          </a:xfrm>
          <a:prstGeom prst="hexagon">
            <a:avLst/>
          </a:prstGeom>
          <a:solidFill>
            <a:srgbClr val="3F6B4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precipitation</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water falling from clouds as rain, hail, sleet or snow</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Precipitation fell all night, so the river rose.</a:t>
            </a:r>
            <a:endParaRPr lang="en-US" sz="1800" dirty="0"/>
          </a:p>
        </p:txBody>
      </p:sp>
      <p:sp>
        <p:nvSpPr>
          <p:cNvPr id="26" name="kw-row"/>
          <p:cNvSpPr/>
          <p:nvPr/>
        </p:nvSpPr>
        <p:spPr>
          <a:xfrm>
            <a:off x="548640" y="4498848"/>
            <a:ext cx="11094415" cy="786384"/>
          </a:xfrm>
          <a:prstGeom prst="roundRect">
            <a:avLst>
              <a:gd name="adj" fmla="val 6977"/>
            </a:avLst>
          </a:prstGeom>
          <a:solidFill>
            <a:srgbClr val="F9F4EC"/>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transpiration</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when plants give off water vapour from their leaves</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forest adds water to the air by transpiration.</a:t>
            </a:r>
            <a:endParaRPr lang="en-US" sz="1800" dirty="0"/>
          </a:p>
        </p:txBody>
      </p:sp>
      <p:sp>
        <p:nvSpPr>
          <p:cNvPr id="31" name="kw-row"/>
          <p:cNvSpPr/>
          <p:nvPr/>
        </p:nvSpPr>
        <p:spPr>
          <a:xfrm>
            <a:off x="548640" y="5358384"/>
            <a:ext cx="11094415" cy="786384"/>
          </a:xfrm>
          <a:prstGeom prst="roundRect">
            <a:avLst>
              <a:gd name="adj" fmla="val 6977"/>
            </a:avLst>
          </a:prstGeom>
          <a:solidFill>
            <a:srgbClr val="F5F8F6"/>
          </a:solidFill>
          <a:ln/>
        </p:spPr>
      </p:sp>
      <p:sp>
        <p:nvSpPr>
          <p:cNvPr id="32" name="kw-hex"/>
          <p:cNvSpPr/>
          <p:nvPr/>
        </p:nvSpPr>
        <p:spPr>
          <a:xfrm>
            <a:off x="658368" y="5573405"/>
            <a:ext cx="411480" cy="356342"/>
          </a:xfrm>
          <a:prstGeom prst="hexagon">
            <a:avLst/>
          </a:prstGeom>
          <a:solidFill>
            <a:srgbClr val="3F6B4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surface run-off</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water flowing over the ground towards a river</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After the storm, surface run-off poured down the hill.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Water never stays still.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moves round and round in the water cycle.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sun heats water in the sea, in lakes and in rivers.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water turns into water vapour and rises into the air.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is called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evaporation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Plants give off water vapour too, from their leaves.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is called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transpiration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High in the sky the air is cold, so the vapour turns into tiny droplets.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is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condensation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it makes clouds.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droplets join up, get heavy and fall as rain, hail, sleet or snow.</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is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precipitation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Some water soaks into the ground, and some runs over the surface into rivers.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rivers carry the water back to the sea, and the cycle starts again.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Where does the water in a river come from?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Evaporation goes UP (water to vapour). Condensation comes together (vapour to droplets, making clouds). Precipitation falls DOWN.</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Every river is fed by the water cycle. The cycle has no real start or finish, but a good place to begin is the sea.</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High in the sky the air is much colder. The water vapour cools and turns back into tiny droplets of liquid water.</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Water falling from a cloud is called precipitation. It can be rain, hail, sleet or snow, depending on how cold the air is.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Water in plants and in the ground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F5F2"/>
          </a:solidFill>
          <a:ln/>
        </p:spPr>
      </p:sp>
      <p:sp>
        <p:nvSpPr>
          <p:cNvPr id="8" name="point-hex"/>
          <p:cNvSpPr/>
          <p:nvPr/>
        </p:nvSpPr>
        <p:spPr>
          <a:xfrm>
            <a:off x="731520" y="1572768"/>
            <a:ext cx="685800" cy="593903"/>
          </a:xfrm>
          <a:prstGeom prst="hexagon">
            <a:avLst/>
          </a:prstGeom>
          <a:solidFill>
            <a:srgbClr val="3F6B4A"/>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Not all water vapour comes from the sea. Plants take in water through their roots and give it off from their leaves as vapour.</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9F4EC"/>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When precipitation reaches the ground, it has two choices. It can soak down into the soil and rock: this is infiltration, and the water that collects underground is called groundwater.</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2F5F2"/>
          </a:solidFill>
          <a:ln/>
        </p:spPr>
      </p:sp>
      <p:sp>
        <p:nvSpPr>
          <p:cNvPr id="16" name="point-hex"/>
          <p:cNvSpPr/>
          <p:nvPr/>
        </p:nvSpPr>
        <p:spPr>
          <a:xfrm>
            <a:off x="8310677" y="1572768"/>
            <a:ext cx="685800" cy="593903"/>
          </a:xfrm>
          <a:prstGeom prst="hexagon">
            <a:avLst/>
          </a:prstGeom>
          <a:solidFill>
            <a:srgbClr val="3F6B4A"/>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Both routes lead to the same place. Groundwater seeps slowly into rivers and lakes; run-off reaches them quickly.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Worked example: Water in plants and in the ground</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2F5F2"/>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Describe the journey of a drop of water from a river to a cloud and back to the ground. (4 marks)</a:t>
            </a:r>
            <a:endParaRPr lang="en-US" sz="2000" dirty="0"/>
          </a:p>
        </p:txBody>
      </p:sp>
      <p:sp>
        <p:nvSpPr>
          <p:cNvPr id="9" name="step-box"/>
          <p:cNvSpPr/>
          <p:nvPr/>
        </p:nvSpPr>
        <p:spPr>
          <a:xfrm>
            <a:off x="548640" y="2192528"/>
            <a:ext cx="11094415" cy="786384"/>
          </a:xfrm>
          <a:prstGeom prst="roundRect">
            <a:avLst>
              <a:gd name="adj" fmla="val 9302"/>
            </a:avLst>
          </a:prstGeom>
          <a:solidFill>
            <a:srgbClr val="FFFFFF"/>
          </a:solidFill>
          <a:ln w="15875">
            <a:solidFill>
              <a:srgbClr val="95AE9B"/>
            </a:solidFill>
            <a:prstDash val="solid"/>
          </a:ln>
        </p:spPr>
      </p:sp>
      <p:sp>
        <p:nvSpPr>
          <p:cNvPr id="10" name="step-hex"/>
          <p:cNvSpPr/>
          <p:nvPr/>
        </p:nvSpPr>
        <p:spPr>
          <a:xfrm>
            <a:off x="685800" y="2387752"/>
            <a:ext cx="457200" cy="395935"/>
          </a:xfrm>
          <a:prstGeom prst="hexagon">
            <a:avLst/>
          </a:prstGeom>
          <a:solidFill>
            <a:srgbClr val="3F6B4A"/>
          </a:solidFill>
          <a:ln/>
        </p:spPr>
      </p:sp>
      <p:sp>
        <p:nvSpPr>
          <p:cNvPr id="11" name="step-hex-label"/>
          <p:cNvSpPr txBox="1"/>
          <p:nvPr/>
        </p:nvSpPr>
        <p:spPr>
          <a:xfrm>
            <a:off x="685800" y="238775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Start in the river and name the process that lifts the water: the sun heats the river and the drop evaporates, rising as water vapour.</a:t>
            </a:r>
            <a:endParaRPr lang="en-US" sz="1800" dirty="0"/>
          </a:p>
        </p:txBody>
      </p:sp>
      <p:sp>
        <p:nvSpPr>
          <p:cNvPr id="13" name="step-box"/>
          <p:cNvSpPr/>
          <p:nvPr/>
        </p:nvSpPr>
        <p:spPr>
          <a:xfrm>
            <a:off x="548640" y="3052064"/>
            <a:ext cx="11094415" cy="522224"/>
          </a:xfrm>
          <a:prstGeom prst="roundRect">
            <a:avLst>
              <a:gd name="adj" fmla="val 14008"/>
            </a:avLst>
          </a:prstGeom>
          <a:solidFill>
            <a:srgbClr val="FFFFFF"/>
          </a:solidFill>
          <a:ln w="15875">
            <a:solidFill>
              <a:srgbClr val="95AE9B"/>
            </a:solidFill>
            <a:prstDash val="solid"/>
          </a:ln>
        </p:spPr>
      </p:sp>
      <p:sp>
        <p:nvSpPr>
          <p:cNvPr id="14" name="step-hex"/>
          <p:cNvSpPr/>
          <p:nvPr/>
        </p:nvSpPr>
        <p:spPr>
          <a:xfrm>
            <a:off x="685800" y="3115208"/>
            <a:ext cx="457200" cy="395935"/>
          </a:xfrm>
          <a:prstGeom prst="hexagon">
            <a:avLst/>
          </a:prstGeom>
          <a:solidFill>
            <a:srgbClr val="3F6B4A"/>
          </a:solidFill>
          <a:ln/>
        </p:spPr>
      </p:sp>
      <p:sp>
        <p:nvSpPr>
          <p:cNvPr id="15" name="step-hex-label"/>
          <p:cNvSpPr txBox="1"/>
          <p:nvPr/>
        </p:nvSpPr>
        <p:spPr>
          <a:xfrm>
            <a:off x="685800" y="311520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052064"/>
            <a:ext cx="10180015" cy="52222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Say what happens high up: the vapour cools and condenses into tiny droplets, forming a cloud.</a:t>
            </a:r>
            <a:endParaRPr lang="en-US" sz="1800" dirty="0"/>
          </a:p>
        </p:txBody>
      </p:sp>
      <p:sp>
        <p:nvSpPr>
          <p:cNvPr id="17" name="step-box"/>
          <p:cNvSpPr/>
          <p:nvPr/>
        </p:nvSpPr>
        <p:spPr>
          <a:xfrm>
            <a:off x="548640" y="3647440"/>
            <a:ext cx="11094415" cy="522224"/>
          </a:xfrm>
          <a:prstGeom prst="roundRect">
            <a:avLst>
              <a:gd name="adj" fmla="val 14008"/>
            </a:avLst>
          </a:prstGeom>
          <a:solidFill>
            <a:srgbClr val="FFFFFF"/>
          </a:solidFill>
          <a:ln w="15875">
            <a:solidFill>
              <a:srgbClr val="95AE9B"/>
            </a:solidFill>
            <a:prstDash val="solid"/>
          </a:ln>
        </p:spPr>
      </p:sp>
      <p:sp>
        <p:nvSpPr>
          <p:cNvPr id="18" name="step-hex"/>
          <p:cNvSpPr/>
          <p:nvPr/>
        </p:nvSpPr>
        <p:spPr>
          <a:xfrm>
            <a:off x="685800" y="3710584"/>
            <a:ext cx="457200" cy="395935"/>
          </a:xfrm>
          <a:prstGeom prst="hexagon">
            <a:avLst/>
          </a:prstGeom>
          <a:solidFill>
            <a:srgbClr val="3F6B4A"/>
          </a:solidFill>
          <a:ln/>
        </p:spPr>
      </p:sp>
      <p:sp>
        <p:nvSpPr>
          <p:cNvPr id="19" name="step-hex-label"/>
          <p:cNvSpPr txBox="1"/>
          <p:nvPr/>
        </p:nvSpPr>
        <p:spPr>
          <a:xfrm>
            <a:off x="685800" y="37105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647440"/>
            <a:ext cx="10180015" cy="52222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Say how it comes down: the droplets join, grow heavy and fall as precipitation, such as rain or snow.</a:t>
            </a:r>
            <a:endParaRPr lang="en-US" sz="1800" dirty="0"/>
          </a:p>
        </p:txBody>
      </p:sp>
      <p:sp>
        <p:nvSpPr>
          <p:cNvPr id="21" name="step-box"/>
          <p:cNvSpPr/>
          <p:nvPr/>
        </p:nvSpPr>
        <p:spPr>
          <a:xfrm>
            <a:off x="548640" y="4242816"/>
            <a:ext cx="11094415" cy="786384"/>
          </a:xfrm>
          <a:prstGeom prst="roundRect">
            <a:avLst>
              <a:gd name="adj" fmla="val 9302"/>
            </a:avLst>
          </a:prstGeom>
          <a:solidFill>
            <a:srgbClr val="FFFFFF"/>
          </a:solidFill>
          <a:ln w="15875">
            <a:solidFill>
              <a:srgbClr val="95AE9B"/>
            </a:solidFill>
            <a:prstDash val="solid"/>
          </a:ln>
        </p:spPr>
      </p:sp>
      <p:sp>
        <p:nvSpPr>
          <p:cNvPr id="22" name="step-hex"/>
          <p:cNvSpPr/>
          <p:nvPr/>
        </p:nvSpPr>
        <p:spPr>
          <a:xfrm>
            <a:off x="685800" y="4438040"/>
            <a:ext cx="457200" cy="395935"/>
          </a:xfrm>
          <a:prstGeom prst="hexagon">
            <a:avLst/>
          </a:prstGeom>
          <a:solidFill>
            <a:srgbClr val="3F6B4A"/>
          </a:solidFill>
          <a:ln/>
        </p:spPr>
      </p:sp>
      <p:sp>
        <p:nvSpPr>
          <p:cNvPr id="23" name="step-hex-label"/>
          <p:cNvSpPr txBox="1"/>
          <p:nvPr/>
        </p:nvSpPr>
        <p:spPr>
          <a:xfrm>
            <a:off x="685800" y="443804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242816"/>
            <a:ext cx="10180015"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Finish on the ground: the water infiltrates the soil or runs over the surface as run-off back towards a river.</a:t>
            </a:r>
            <a:endParaRPr lang="en-US" sz="1800" dirty="0"/>
          </a:p>
        </p:txBody>
      </p:sp>
      <p:sp>
        <p:nvSpPr>
          <p:cNvPr id="25" name="worked-answer"/>
          <p:cNvSpPr/>
          <p:nvPr/>
        </p:nvSpPr>
        <p:spPr>
          <a:xfrm>
            <a:off x="548640" y="5212080"/>
            <a:ext cx="11094415" cy="831088"/>
          </a:xfrm>
          <a:prstGeom prst="roundRect">
            <a:avLst>
              <a:gd name="adj" fmla="val 16504"/>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The sun heats the river, so the drop evaporates and rises as vapour; it cools and condenses into a cloud; it falls as precipitation; then it infiltrates the ground or runs off the surface back towards a river.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world's great rivers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An atlas index gives a page number and a grid square. Find the square first, then look for the thin blue line with the river's name along it.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Rivers carry the water that falls on the land back to the sea.</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Europe the Rhine rises in Switzerland and flows north to the sea.</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When you find these rivers in an atlas, notice that each one starts in high land and ends at the coast.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The task: Round and round: the water cycle in order</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stages of the water cycle in order, starting with the sun heating the sea.</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Water falls as precipitation: rain, hail, sleet or snow</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Water runs over the land as surface run-off or soaks in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sun heats water in the sea, lakes and rivers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vapour cools and condenses into clouds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Water collects again in rivers, lakes and the sea</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Water evaporates and rises as water vapour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Round and round: the water cycle in order</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Round and round: the water cycle in order</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stage with the sun in it. Heat starts everything, so that comes first.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does heat do to water? It makes it evaporate and rise.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Vapour has to cool into a cloud before anything can fall. Then it falls.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Once on the ground, water moves towards a river, and the last stage is where it collects.</a:t>
            </a:r>
            <a:endParaRPr lang="en-US" sz="1800" dirty="0"/>
          </a:p>
        </p:txBody>
      </p:sp>
      <p:sp>
        <p:nvSpPr>
          <p:cNvPr id="17" name="col-Core"/>
          <p:cNvSpPr/>
          <p:nvPr/>
        </p:nvSpPr>
        <p:spPr>
          <a:xfrm>
            <a:off x="5490762" y="2395728"/>
            <a:ext cx="2938987" cy="3749040"/>
          </a:xfrm>
          <a:prstGeom prst="roundRect">
            <a:avLst>
              <a:gd name="adj" fmla="val 1867"/>
            </a:avLst>
          </a:prstGeom>
          <a:solidFill>
            <a:srgbClr val="DBE3DD"/>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Up, together, down, along: evaporate, condense, fall, flow.</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cycle has no true beginning. Explain why you could also start it with precipitation, and say what would be different about the order you wrote.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Which continent?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great river to the continent it flows through.</a:t>
            </a:r>
            <a:endParaRPr lang="en-US" sz="2400" dirty="0"/>
          </a:p>
        </p:txBody>
      </p:sp>
      <p:sp>
        <p:nvSpPr>
          <p:cNvPr id="11" name="match-card"/>
          <p:cNvSpPr/>
          <p:nvPr/>
        </p:nvSpPr>
        <p:spPr>
          <a:xfrm>
            <a:off x="777240" y="2468331"/>
            <a:ext cx="5135728" cy="625559"/>
          </a:xfrm>
          <a:prstGeom prst="roundRect">
            <a:avLst>
              <a:gd name="adj" fmla="val 11694"/>
            </a:avLst>
          </a:prstGeom>
          <a:solidFill>
            <a:srgbClr val="F5F8F6"/>
          </a:solidFill>
          <a:ln/>
        </p:spPr>
      </p:sp>
      <p:sp>
        <p:nvSpPr>
          <p:cNvPr id="12" name="match-hex"/>
          <p:cNvSpPr/>
          <p:nvPr/>
        </p:nvSpPr>
        <p:spPr>
          <a:xfrm>
            <a:off x="850392" y="2614818"/>
            <a:ext cx="384048" cy="332586"/>
          </a:xfrm>
          <a:prstGeom prst="hexagon">
            <a:avLst/>
          </a:prstGeom>
          <a:solidFill>
            <a:srgbClr val="3F6B4A"/>
          </a:solidFill>
          <a:ln/>
        </p:spPr>
      </p:sp>
      <p:sp>
        <p:nvSpPr>
          <p:cNvPr id="13" name="match-hex-label"/>
          <p:cNvSpPr txBox="1"/>
          <p:nvPr/>
        </p:nvSpPr>
        <p:spPr>
          <a:xfrm>
            <a:off x="850392" y="2614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Nile</a:t>
            </a:r>
            <a:endParaRPr lang="en-US" sz="2200" dirty="0"/>
          </a:p>
        </p:txBody>
      </p:sp>
      <p:sp>
        <p:nvSpPr>
          <p:cNvPr id="15" name="match-card"/>
          <p:cNvSpPr/>
          <p:nvPr/>
        </p:nvSpPr>
        <p:spPr>
          <a:xfrm>
            <a:off x="6278728" y="2468331"/>
            <a:ext cx="5135728" cy="625559"/>
          </a:xfrm>
          <a:prstGeom prst="roundRect">
            <a:avLst>
              <a:gd name="adj" fmla="val 11694"/>
            </a:avLst>
          </a:prstGeom>
          <a:solidFill>
            <a:srgbClr val="F9F4EC"/>
          </a:solidFill>
          <a:ln/>
        </p:spPr>
      </p:sp>
      <p:sp>
        <p:nvSpPr>
          <p:cNvPr id="16" name="match-hex"/>
          <p:cNvSpPr/>
          <p:nvPr/>
        </p:nvSpPr>
        <p:spPr>
          <a:xfrm>
            <a:off x="6351880" y="2614818"/>
            <a:ext cx="384048" cy="332586"/>
          </a:xfrm>
          <a:prstGeom prst="hexagon">
            <a:avLst/>
          </a:prstGeom>
          <a:solidFill>
            <a:srgbClr val="B8862B"/>
          </a:solidFill>
          <a:ln/>
        </p:spPr>
      </p:sp>
      <p:sp>
        <p:nvSpPr>
          <p:cNvPr id="17" name="match-hex-label"/>
          <p:cNvSpPr txBox="1"/>
          <p:nvPr/>
        </p:nvSpPr>
        <p:spPr>
          <a:xfrm>
            <a:off x="6351880" y="2614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South America</a:t>
            </a:r>
            <a:endParaRPr lang="en-US" sz="2200" dirty="0"/>
          </a:p>
        </p:txBody>
      </p:sp>
      <p:sp>
        <p:nvSpPr>
          <p:cNvPr id="19" name="match-card"/>
          <p:cNvSpPr/>
          <p:nvPr/>
        </p:nvSpPr>
        <p:spPr>
          <a:xfrm>
            <a:off x="777240" y="3185331"/>
            <a:ext cx="5135728" cy="625559"/>
          </a:xfrm>
          <a:prstGeom prst="roundRect">
            <a:avLst>
              <a:gd name="adj" fmla="val 11694"/>
            </a:avLst>
          </a:prstGeom>
          <a:solidFill>
            <a:srgbClr val="F5F8F6"/>
          </a:solidFill>
          <a:ln/>
        </p:spPr>
      </p:sp>
      <p:sp>
        <p:nvSpPr>
          <p:cNvPr id="20" name="match-hex"/>
          <p:cNvSpPr/>
          <p:nvPr/>
        </p:nvSpPr>
        <p:spPr>
          <a:xfrm>
            <a:off x="850392" y="3331818"/>
            <a:ext cx="384048" cy="332586"/>
          </a:xfrm>
          <a:prstGeom prst="hexagon">
            <a:avLst/>
          </a:prstGeom>
          <a:solidFill>
            <a:srgbClr val="3F6B4A"/>
          </a:solidFill>
          <a:ln/>
        </p:spPr>
      </p:sp>
      <p:sp>
        <p:nvSpPr>
          <p:cNvPr id="21" name="match-hex-label"/>
          <p:cNvSpPr txBox="1"/>
          <p:nvPr/>
        </p:nvSpPr>
        <p:spPr>
          <a:xfrm>
            <a:off x="850392" y="3331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85331"/>
            <a:ext cx="4541368"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Amazon</a:t>
            </a:r>
            <a:endParaRPr lang="en-US" sz="2200" dirty="0"/>
          </a:p>
        </p:txBody>
      </p:sp>
      <p:sp>
        <p:nvSpPr>
          <p:cNvPr id="23" name="match-card"/>
          <p:cNvSpPr/>
          <p:nvPr/>
        </p:nvSpPr>
        <p:spPr>
          <a:xfrm>
            <a:off x="6278728" y="3185331"/>
            <a:ext cx="5135728" cy="625559"/>
          </a:xfrm>
          <a:prstGeom prst="roundRect">
            <a:avLst>
              <a:gd name="adj" fmla="val 11694"/>
            </a:avLst>
          </a:prstGeom>
          <a:solidFill>
            <a:srgbClr val="F9F4EC"/>
          </a:solidFill>
          <a:ln/>
        </p:spPr>
      </p:sp>
      <p:sp>
        <p:nvSpPr>
          <p:cNvPr id="24" name="match-hex"/>
          <p:cNvSpPr/>
          <p:nvPr/>
        </p:nvSpPr>
        <p:spPr>
          <a:xfrm>
            <a:off x="6351880" y="3331818"/>
            <a:ext cx="384048" cy="332586"/>
          </a:xfrm>
          <a:prstGeom prst="hexagon">
            <a:avLst/>
          </a:prstGeom>
          <a:solidFill>
            <a:srgbClr val="B8862B"/>
          </a:solidFill>
          <a:ln/>
        </p:spPr>
      </p:sp>
      <p:sp>
        <p:nvSpPr>
          <p:cNvPr id="25" name="match-hex-label"/>
          <p:cNvSpPr txBox="1"/>
          <p:nvPr/>
        </p:nvSpPr>
        <p:spPr>
          <a:xfrm>
            <a:off x="6351880" y="3331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185331"/>
            <a:ext cx="4541368"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North America</a:t>
            </a:r>
            <a:endParaRPr lang="en-US" sz="2200" dirty="0"/>
          </a:p>
        </p:txBody>
      </p:sp>
      <p:sp>
        <p:nvSpPr>
          <p:cNvPr id="27" name="match-card"/>
          <p:cNvSpPr/>
          <p:nvPr/>
        </p:nvSpPr>
        <p:spPr>
          <a:xfrm>
            <a:off x="777240" y="3902330"/>
            <a:ext cx="5135728" cy="625559"/>
          </a:xfrm>
          <a:prstGeom prst="roundRect">
            <a:avLst>
              <a:gd name="adj" fmla="val 11694"/>
            </a:avLst>
          </a:prstGeom>
          <a:solidFill>
            <a:srgbClr val="F5F8F6"/>
          </a:solidFill>
          <a:ln/>
        </p:spPr>
      </p:sp>
      <p:sp>
        <p:nvSpPr>
          <p:cNvPr id="28" name="match-hex"/>
          <p:cNvSpPr/>
          <p:nvPr/>
        </p:nvSpPr>
        <p:spPr>
          <a:xfrm>
            <a:off x="850392" y="4048817"/>
            <a:ext cx="384048" cy="332586"/>
          </a:xfrm>
          <a:prstGeom prst="hexagon">
            <a:avLst/>
          </a:prstGeom>
          <a:solidFill>
            <a:srgbClr val="3F6B4A"/>
          </a:solidFill>
          <a:ln/>
        </p:spPr>
      </p:sp>
      <p:sp>
        <p:nvSpPr>
          <p:cNvPr id="29"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02330"/>
            <a:ext cx="4541368"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Mississippi</a:t>
            </a:r>
            <a:endParaRPr lang="en-US" sz="2200" dirty="0"/>
          </a:p>
        </p:txBody>
      </p:sp>
      <p:sp>
        <p:nvSpPr>
          <p:cNvPr id="31" name="match-card"/>
          <p:cNvSpPr/>
          <p:nvPr/>
        </p:nvSpPr>
        <p:spPr>
          <a:xfrm>
            <a:off x="6278728" y="3902330"/>
            <a:ext cx="5135728" cy="625559"/>
          </a:xfrm>
          <a:prstGeom prst="roundRect">
            <a:avLst>
              <a:gd name="adj" fmla="val 11694"/>
            </a:avLst>
          </a:prstGeom>
          <a:solidFill>
            <a:srgbClr val="F9F4EC"/>
          </a:solidFill>
          <a:ln/>
        </p:spPr>
      </p:sp>
      <p:sp>
        <p:nvSpPr>
          <p:cNvPr id="32" name="match-hex"/>
          <p:cNvSpPr/>
          <p:nvPr/>
        </p:nvSpPr>
        <p:spPr>
          <a:xfrm>
            <a:off x="6351880" y="4048817"/>
            <a:ext cx="384048" cy="332586"/>
          </a:xfrm>
          <a:prstGeom prst="hexagon">
            <a:avLst/>
          </a:prstGeom>
          <a:solidFill>
            <a:srgbClr val="B8862B"/>
          </a:solidFill>
          <a:ln/>
        </p:spPr>
      </p:sp>
      <p:sp>
        <p:nvSpPr>
          <p:cNvPr id="33" name="match-hex-label"/>
          <p:cNvSpPr txBox="1"/>
          <p:nvPr/>
        </p:nvSpPr>
        <p:spPr>
          <a:xfrm>
            <a:off x="6351880"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3902330"/>
            <a:ext cx="4541368"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Africa</a:t>
            </a:r>
            <a:endParaRPr lang="en-US" sz="2200" dirty="0"/>
          </a:p>
        </p:txBody>
      </p:sp>
      <p:sp>
        <p:nvSpPr>
          <p:cNvPr id="35" name="match-card"/>
          <p:cNvSpPr/>
          <p:nvPr/>
        </p:nvSpPr>
        <p:spPr>
          <a:xfrm>
            <a:off x="777240" y="4619329"/>
            <a:ext cx="5135728" cy="625559"/>
          </a:xfrm>
          <a:prstGeom prst="roundRect">
            <a:avLst>
              <a:gd name="adj" fmla="val 11694"/>
            </a:avLst>
          </a:prstGeom>
          <a:solidFill>
            <a:srgbClr val="F5F8F6"/>
          </a:solidFill>
          <a:ln/>
        </p:spPr>
      </p:sp>
      <p:sp>
        <p:nvSpPr>
          <p:cNvPr id="36" name="match-hex"/>
          <p:cNvSpPr/>
          <p:nvPr/>
        </p:nvSpPr>
        <p:spPr>
          <a:xfrm>
            <a:off x="850392" y="4765816"/>
            <a:ext cx="384048" cy="332586"/>
          </a:xfrm>
          <a:prstGeom prst="hexagon">
            <a:avLst/>
          </a:prstGeom>
          <a:solidFill>
            <a:srgbClr val="3F6B4A"/>
          </a:solidFill>
          <a:ln/>
        </p:spPr>
      </p:sp>
      <p:sp>
        <p:nvSpPr>
          <p:cNvPr id="37" name="match-hex-label"/>
          <p:cNvSpPr txBox="1"/>
          <p:nvPr/>
        </p:nvSpPr>
        <p:spPr>
          <a:xfrm>
            <a:off x="850392" y="4765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619329"/>
            <a:ext cx="4541368"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Murray-Darling</a:t>
            </a:r>
            <a:endParaRPr lang="en-US" sz="2200" dirty="0"/>
          </a:p>
        </p:txBody>
      </p:sp>
      <p:sp>
        <p:nvSpPr>
          <p:cNvPr id="39" name="match-card"/>
          <p:cNvSpPr/>
          <p:nvPr/>
        </p:nvSpPr>
        <p:spPr>
          <a:xfrm>
            <a:off x="6278728" y="4619329"/>
            <a:ext cx="5135728" cy="625559"/>
          </a:xfrm>
          <a:prstGeom prst="roundRect">
            <a:avLst>
              <a:gd name="adj" fmla="val 11694"/>
            </a:avLst>
          </a:prstGeom>
          <a:solidFill>
            <a:srgbClr val="F9F4EC"/>
          </a:solidFill>
          <a:ln/>
        </p:spPr>
      </p:sp>
      <p:sp>
        <p:nvSpPr>
          <p:cNvPr id="40" name="match-hex"/>
          <p:cNvSpPr/>
          <p:nvPr/>
        </p:nvSpPr>
        <p:spPr>
          <a:xfrm>
            <a:off x="6351880" y="4765816"/>
            <a:ext cx="384048" cy="332586"/>
          </a:xfrm>
          <a:prstGeom prst="hexagon">
            <a:avLst/>
          </a:prstGeom>
          <a:solidFill>
            <a:srgbClr val="B8862B"/>
          </a:solidFill>
          <a:ln/>
        </p:spPr>
      </p:sp>
      <p:sp>
        <p:nvSpPr>
          <p:cNvPr id="41" name="match-hex-label"/>
          <p:cNvSpPr txBox="1"/>
          <p:nvPr/>
        </p:nvSpPr>
        <p:spPr>
          <a:xfrm>
            <a:off x="6351880" y="4765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799936" y="4619329"/>
            <a:ext cx="4541368"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Australia</a:t>
            </a:r>
            <a:endParaRPr lang="en-US" sz="2200" dirty="0"/>
          </a:p>
        </p:txBody>
      </p:sp>
      <p:sp>
        <p:nvSpPr>
          <p:cNvPr id="43" name="match-card"/>
          <p:cNvSpPr/>
          <p:nvPr/>
        </p:nvSpPr>
        <p:spPr>
          <a:xfrm>
            <a:off x="777240" y="5336329"/>
            <a:ext cx="5135728" cy="625559"/>
          </a:xfrm>
          <a:prstGeom prst="roundRect">
            <a:avLst>
              <a:gd name="adj" fmla="val 11694"/>
            </a:avLst>
          </a:prstGeom>
          <a:solidFill>
            <a:srgbClr val="F5F8F6"/>
          </a:solidFill>
          <a:ln/>
        </p:spPr>
      </p:sp>
      <p:sp>
        <p:nvSpPr>
          <p:cNvPr id="44" name="match-hex"/>
          <p:cNvSpPr/>
          <p:nvPr/>
        </p:nvSpPr>
        <p:spPr>
          <a:xfrm>
            <a:off x="850392" y="5482816"/>
            <a:ext cx="384048" cy="332586"/>
          </a:xfrm>
          <a:prstGeom prst="hexagon">
            <a:avLst/>
          </a:prstGeom>
          <a:solidFill>
            <a:srgbClr val="3F6B4A"/>
          </a:solidFill>
          <a:ln/>
        </p:spPr>
      </p:sp>
      <p:sp>
        <p:nvSpPr>
          <p:cNvPr id="45" name="match-hex-label"/>
          <p:cNvSpPr txBox="1"/>
          <p:nvPr/>
        </p:nvSpPr>
        <p:spPr>
          <a:xfrm>
            <a:off x="850392" y="5482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336329"/>
            <a:ext cx="4541368"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Rhine</a:t>
            </a:r>
            <a:endParaRPr lang="en-US" sz="2200" dirty="0"/>
          </a:p>
        </p:txBody>
      </p:sp>
      <p:sp>
        <p:nvSpPr>
          <p:cNvPr id="47" name="match-card"/>
          <p:cNvSpPr/>
          <p:nvPr/>
        </p:nvSpPr>
        <p:spPr>
          <a:xfrm>
            <a:off x="6278728" y="5336329"/>
            <a:ext cx="5135728" cy="625559"/>
          </a:xfrm>
          <a:prstGeom prst="roundRect">
            <a:avLst>
              <a:gd name="adj" fmla="val 11694"/>
            </a:avLst>
          </a:prstGeom>
          <a:solidFill>
            <a:srgbClr val="F9F4EC"/>
          </a:solidFill>
          <a:ln/>
        </p:spPr>
      </p:sp>
      <p:sp>
        <p:nvSpPr>
          <p:cNvPr id="48" name="match-hex"/>
          <p:cNvSpPr/>
          <p:nvPr/>
        </p:nvSpPr>
        <p:spPr>
          <a:xfrm>
            <a:off x="6351880" y="5482816"/>
            <a:ext cx="384048" cy="332586"/>
          </a:xfrm>
          <a:prstGeom prst="hexagon">
            <a:avLst/>
          </a:prstGeom>
          <a:solidFill>
            <a:srgbClr val="B8862B"/>
          </a:solidFill>
          <a:ln/>
        </p:spPr>
      </p:sp>
      <p:sp>
        <p:nvSpPr>
          <p:cNvPr id="49" name="match-hex-label"/>
          <p:cNvSpPr txBox="1"/>
          <p:nvPr/>
        </p:nvSpPr>
        <p:spPr>
          <a:xfrm>
            <a:off x="6351880" y="5482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6799936" y="5336329"/>
            <a:ext cx="4541368"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Europe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Which continent?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Which continent?</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one you are surest of, perhaps from a film or a book.</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Nile is famous for Ancient Egypt, and Egypt is in Africa.</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Amazon rainforest is in Brazil. Brazil is in South America.</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Mississippi is in the USA; the Rhine rises in Switzerland; that leaves the Murray-Darling for Australia.</a:t>
            </a:r>
            <a:endParaRPr lang="en-US" sz="1800" dirty="0"/>
          </a:p>
        </p:txBody>
      </p:sp>
      <p:sp>
        <p:nvSpPr>
          <p:cNvPr id="17" name="col-Core"/>
          <p:cNvSpPr/>
          <p:nvPr/>
        </p:nvSpPr>
        <p:spPr>
          <a:xfrm>
            <a:off x="5490762" y="2395728"/>
            <a:ext cx="2938987" cy="3749040"/>
          </a:xfrm>
          <a:prstGeom prst="roundRect">
            <a:avLst>
              <a:gd name="adj" fmla="val 1867"/>
            </a:avLst>
          </a:prstGeom>
          <a:solidFill>
            <a:srgbClr val="DBE3DD"/>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Think of a country each river is famous for, then ask which continent that country is in.</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Pick one of these rivers and explain, using the water cycle, why it carries so much water: where does its rain come from?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plant's leaves give off water vapour into the air. What is this process called?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Transpiration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Condensation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Infiltration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Evaporation</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9F8"/>
          </a:solidFill>
          <a:ln w="12700">
            <a:solidFill>
              <a:srgbClr val="A5B9AA"/>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Answers: Round and round: the water cycle in order</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sun heats water in the sea, lakes and rivers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Water evaporates and rises as water vapour  (F)</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vapour cools and condenses into clouds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Water falls as precipitation: rain, hail, sleet or snow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Water runs over the land as surface run-off or soaks in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Water collects again in rivers, lakes and the sea  (E)</a:t>
            </a:r>
            <a:endParaRPr lang="en-US" sz="20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Heat causes evaporation; vapour rises and condenses into clouds; the droplets fall as precipitation; the water runs off or infiltrates; it collects in rivers, lakes and the sea, ready to evaporate again.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Which continent?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Nile  →  C  Africa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Amazon  →  A  South America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Mississippi  →  B  North America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Murray-Darling  →  D  Australia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Rhine  →  E  Europe</a:t>
            </a:r>
            <a:endParaRPr lang="en-US" sz="24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Nile: Africa (Egypt, Sudan, Uganda). Amazon: South America (Brazil, Peru). Mississippi: North America (USA). Murray-Darling: Australia. Rhine: Europe (Switzerland, Germany, the Netherlands).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plant's leaves give off water vapour into the air. What is this process called?</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Transpiration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Transpiration is water vapour given off by plants through their leaves. Evaporation is from a water surface; infiltration is water soaking into the ground; condensation is vapour becoming droplets.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F2F5F2"/>
      </a:lt2>
      <a:accent1>
        <a:srgbClr val="3F6B4A"/>
      </a:accent1>
      <a:accent2>
        <a:srgbClr val="B8862B"/>
      </a:accent2>
      <a:accent3>
        <a:srgbClr val="8CA692"/>
      </a:accent3>
      <a:accent4>
        <a:srgbClr val="815E1E"/>
      </a:accent4>
      <a:accent5>
        <a:srgbClr val="4A505C"/>
      </a:accent5>
      <a:accent6>
        <a:srgbClr val="DEC69B"/>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 on Land: Rivers · Chapter 1: Water on the move: the water cycle</dc:title>
  <dc:subject>Geography · Year 7</dc:subject>
  <dc:creator>Dr Vitor Merissi de Carvalho</dc:creator>
  <cp:lastModifiedBy>Dr Vitor Merissi de Carvalho</cp:lastModifiedBy>
  <cp:revision>1</cp:revision>
  <dcterms:created xsi:type="dcterms:W3CDTF">2026-10-19T16:22:55Z</dcterms:created>
  <dcterms:modified xsi:type="dcterms:W3CDTF">2026-10-19T16:22:55Z</dcterms:modified>
</cp:coreProperties>
</file>