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f539a4a4-b9b0-7beb-61d3-76488162d735}">
          <p14:sldIdLst>
            <p14:sldId id="256"/>
          </p14:sldIdLst>
        </p14:section>
        <p14:section name="Gate" id="{fce265cf-8498-4c0a-cf45-389a1935d256}">
          <p14:sldIdLst>
            <p14:sldId id="257"/>
            <p14:sldId id="258"/>
          </p14:sldIdLst>
        </p14:section>
        <p14:section name="Pre-teach" id="{a68ace01-c8dd-4b99-6051-d4174cd2daeb}">
          <p14:sldIdLst>
            <p14:sldId id="259"/>
          </p14:sldIdLst>
        </p14:section>
        <p14:section name="Read-along" id="{824e1700-4e8d-93bf-da3e-149c8e731628}">
          <p14:sldIdLst>
            <p14:sldId id="260"/>
            <p14:sldId id="261"/>
          </p14:sldIdLst>
        </p14:section>
        <p14:section name="Teach" id="{7587484f-a6e2-1da3-3335-dbe519bb7c71}">
          <p14:sldIdLst>
            <p14:sldId id="262"/>
            <p14:sldId id="263"/>
            <p14:sldId id="264"/>
            <p14:sldId id="265"/>
            <p14:sldId id="266"/>
          </p14:sldIdLst>
        </p14:section>
        <p14:section name="Routes" id="{858ef0c8-531c-b015-a540-344c0984a537}">
          <p14:sldIdLst>
            <p14:sldId id="267"/>
            <p14:sldId id="268"/>
            <p14:sldId id="269"/>
            <p14:sldId id="270"/>
          </p14:sldIdLst>
        </p14:section>
        <p14:section name="Close" id="{e7c6b98c-c012-20fe-cf05-a80dabc760fd}">
          <p14:sldIdLst>
            <p14:sldId id="271"/>
          </p14:sldIdLst>
        </p14:section>
        <p14:section name="Answers" id="{f646befe-a76e-e9a2-2d6b-f801aa636da7}">
          <p14:sldIdLst>
            <p14:sldId id="272"/>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6 of 6: Managing floods: protecting people and places. Short-term and long-term ways of coping with floods, how the Thames Barrier protects London, how to choose a defence, and how to show what you know in the test.
This deck covers the department's lessons: 12 (Flood defence systems: How can people cope with floods in the short term and the long term?); 13 (Revision, end-of-unit test and feedback: Can you describe and explain what you have learned about rivers and flooding?).
Read the big question aloud: "How does water shape the land, why do rivers flood, and what can people do to reduce the risk and the damage?"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Which of these is a SHORT-term way of coping with a flood?  →  B   Putting sandbags across doorways
2. The Thames Barrier's gates can take between 15 and 90 minutes to close. What is the difference, in minutes, between the slowest and the quickest closing time?  →  75 minutes
3. The Thames Barrier has ___ gates.  →  ten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B   Putting sandbags across doorways. Sandbags are put down just before or during a flood; the others take years to build or grow.
2. 75 minutes. 90 − 15 = 75 minutes.
3. ten. The barrier has ten steel gates stretching about 500 m across the river.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short-term: done just before or during a flood to cope with it. Example: "Sandbags are a short-term way to keep water out of a house."
• long-term: built or planned to protect people for many years. Example: "A flood barrier is a long-term defence."
• flood defence: anything built or done to stop flooding or reduce the damage. Example: "The town council paid for a new flood defence."
• embankment: a raised bank built along a river so it can hold more water. Example: "The embankment kept the river off the road."
• evaluate: to weigh up how good something is, using criteria. Example: "We had to evaluate three flood defences and choose the best."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1–6 of 11:
1. People cannot stop the rain, but they can protect themselves from floods.
2. Short-term methods are used just before or during a flood.
3. Sandbags, flood warnings and moving people to safety are short-term.
4. Long-term methods take years to build but last for a long time.
5. Walls, embankments, dams, barriers and planting trees are long-term.
6. London is protected by the Thames Barrier.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7–11 of 11:
7. Its ten steel gates stretch about 500 m across the river.
8. It was first used in 1983.
9. When a high tide threatens London, the gates are raised.
10. Choosing a flood defence means weighing up cost, time and how well it works.
11. In your test, describe means say what, and explain means say why.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Short-term and long-term ways of coping. Say it in your own words, then check understanding with a quick question: ask a pupil from the pre-teach group first, since they met these words and ideas before the lesson. Pupils try to recall before you re-explain.
There are two kinds of flood protection. Short-term methods are used just before or during a flood to cope with it. Flood warnings tell people a flood is coming. Sandbags across doorways keep water out of homes. People move valuables upstairs and, if needed, leave their homes for a safe place. Emergency services rescue people and bring food and clean water.
Long-term methods take years to plan and build, but protect people for a long time. Embankments and flood walls raise the sides of the channel so it can hold more water. Dams hold water back upstream and let it out slowly. Barriers like the Thames Barrier close against high water. Dredging deepens the channel. Planting trees in the drainage basin increases infiltration and slows run-off. Planning rules can stop new homes being built on the floodplain.
Notice the difference between reducing the risk of a flood happening (trees, dams, dredging) and reducing the damage when it does (warnings, sandbags, walls around homes). The best plans do both.
Tip: Short-term = during the emergency, cheap and quick. Long-term = built to last, expensive and slow. A good answer names one of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Thames Barrier. Say it in your own words, then check understanding with a quick question: ask a pupil from the pre-teach group first, since they met these words and ideas before the lesson. Pupils try to recall before you re-explain.
London lies on the River Thames close to the sea, so a very high tide pushed up the river by a storm could flood the city. The Thames Barrier was built to stop this. It was first used in 1983 and stands about 15 km downstream of the Houses of Parliament, at a spot chosen because the river banks are straight and the river bed is firm enough to build on.
The barrier has ten gates made of steel, stretching about 500 m across the river. Normally the gates lie flat on the river bed so ships can pass. When a dangerous tide is forecast, they are rotated up to form a wall across the river. Closing can take between 15 and 90 minutes. The gates are hollow, and in an underspill position they can let a little water through, so that water does not pour over the top.
Engineers have thought about what could go wrong. If the computer that drives the barrier fails, the gates can be raised by hand with cranks. An extra piston can lift each gate right out of the water so it can be checked for rust and damage. The barrier is a long-term defence: expensive to build, but protecting millions of people for decades.
Worked example — model it step by step, thinking aloud: Explain how the Thames Barrier protects London from flooding. (4 marks) (1) Say what the danger is: a very high tide pushed up the river could flood London. (2) Describe the barrier: ten steel gates about 500 m across the river, normally flat on the bed. (3) Explain the action: when a high tide is forecast the gates are raised to make a wall, so the water cannot reach the city. (4) Add a detail that shows understanding: closing takes 15 to 90 minutes, and the gates can be cranked by hand if the computer fails. Answer: A storm tide coming up the Thames could flood London. The barrier's ten steel gates, about 500 m across, normally lie flat so ships can pass; when a high tide is forecast they are raised in 15 to 90 minutes to form a wall, so the water is held back. If the computer fails, the gates can be cranked by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Thames Barrier. Say it in your own words, then check understanding with a quick question: ask a pupil from the pre-teach group first, since they met these words and ideas before the lesson. Pupils try to recall before you re-explain.
London lies on the River Thames close to the sea, so a very high tide pushed up the river by a storm could flood the city. The Thames Barrier was built to stop this. It was first used in 1983 and stands about 15 km downstream of the Houses of Parliament, at a spot chosen because the river banks are straight and the river bed is firm enough to build on.
The barrier has ten gates made of steel, stretching about 500 m across the river. Normally the gates lie flat on the river bed so ships can pass. When a dangerous tide is forecast, they are rotated up to form a wall across the river. Closing can take between 15 and 90 minutes. The gates are hollow, and in an underspill position they can let a little water through, so that water does not pour over the top.
Engineers have thought about what could go wrong. If the computer that drives the barrier fails, the gates can be raised by hand with cranks. An extra piston can lift each gate right out of the water so it can be checked for rust and damage. The barrier is a long-term defence: expensive to build, but protecting millions of people for decades.
Worked example — model it step by step, thinking aloud: Explain how the Thames Barrier protects London from flooding. (4 marks) (1) Say what the danger is: a very high tide pushed up the river could flood London. (2) Describe the barrier: ten steel gates about 500 m across the river, normally flat on the bed. (3) Explain the action: when a high tide is forecast the gates are raised to make a wall, so the water cannot reach the city. (4) Add a detail that shows understanding: closing takes 15 to 90 minutes, and the gates can be cranked by hand if the computer fails. Answer: A storm tide coming up the Thames could flood London. The barrier's ten steel gates, about 500 m across, normally lie flat so ships can pass; when a high tide is forecast they are raised in 15 to 90 minutes to form a wall, so the water is held back. If the computer fails, the gates can be cranked by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You are in charge: choosing a flood defence. Say it in your own words, then check understanding with a quick question: ask a pupil from the pre-teach group first, since they met these words and ideas before the lesson. Pupils try to recall before you re-explain.
Imagine a new town is being planned near a river, and you have to protect it. You cannot choose everything, because every defence has a cost. Geographers use criteria to decide. Cost: is it cheap or expensive to build and look after? Time: can it be done quickly, or will it take years? Effectiveness: does it reduce the risk of flooding, reduce the damage, or both?
Two more criteria matter just as much. Sustainability: will it still work well in the future, as the climate changes and the town grows? Who benefits: homes, farms, transport, wildlife, or only some of these? An embankment may protect the town but push the flood water onto farms downstream.
A strong decision names the methods chosen, gives a reason for each with because, and uses the words run-off, infiltration or overflow to explain how it works. For example: we chose to plant trees upstream because they increase infiltration, so less run-off reaches the river.
Tip: Decision questions reward reasons, not choices. Every method you pick needs a because.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Ready for the test. Say it in your own words, then check understanding with a quick question: ask a pupil from the pre-teach group first, since they met these words and ideas before the lesson. Pupils try to recall before you re-explain.
The end-of-unit test covers the whole unit: the water cycle and its key words, waterfalls and meanders, the physical and human causes of flooding, the effects of flooding in an LIC and an HIC, and the uses of rivers. It is marked out of 50, including spelling, punctuation and grammar, and lasts 60 minutes. Read the marks for each question and give that many points.
Two command words do most of the work. Describe means say what something is like or what happens, in order. Explain means say why, using because. If a question says explain and you only describe, you lose most of the marks. For effects of a flood, sort your points into social, economic and environmental.
After the test you will get feedback. WWW means What Went Well, and EBI means Even Better If. Use the model answers to correct your work in green pen, and write out any spelling you got wrong three times. That is how a mark becomes learning.
Tip: Spell the key words correctly: precipitation, infiltration, saturated, hydraulic, meander, floodplain. SPaG marks 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Built to last.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town beside a river wants protection that will last for many years. Which of these is a LONG-term flood defence?
Support — work through the steps with the group: (1) Ask of each option: is it done in the hours before or during a flood, or built to stay for years? (2) Warnings, sandbags and moving things are all done as the flood arrives: short-term. (3) Something built along the river that stays there is long-term. (4) Pick the one that is built, not done.
Parallel worked example for Support (model it, do not give the task answer): Which of these is a long-term flood defence: planting trees in the drainage basin, or rescuing people by boat? Rescuing people happens during the flood: short-term.; Trees take years to grow and then slow run-off for decades: long-term.. Answer: Planting trees in the drainage basin.
Core — reveal the hint only on request: Long-term things are built or grown. Short-term things are done.
Stretch — no help; when finished: Explain one disadvantage of an embankment for people living further downstream, and suggest a long-term method that avoids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Built to last.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town beside a river wants protection that will last for many years. Which of these is a LONG-term flood defence?
Support — work through the steps with the group: (1) Ask of each option: is it done in the hours before or during a flood, or built to stay for years? (2) Warnings, sandbags and moving things are all done as the flood arrives: short-term. (3) Something built along the river that stays there is long-term. (4) Pick the one that is built, not done.
Parallel worked example for Support (model it, do not give the task answer): Which of these is a long-term flood defence: planting trees in the drainage basin, or rescuing people by boat? Rescuing people happens during the flood: short-term.; Trees take years to grow and then slow run-off for decades: long-term.. Answer: Planting trees in the drainage basin.
Core — reveal the hint only on request: Long-term things are built or grown. Short-term things are done.
Stretch — no help; when finished: Explain one disadvantage of an embankment for people living further downstream, and suggest a long-term method that avoids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Years apart.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The Thames Barrier was first used in 1983. The Somerset Levels flooded in 2014. How many years apart are these two dates?
Support — work through the steps with the group: (1) Write the later year first: 2014. Then the earlier year: 1983. (2) Count on from 1983 to 2000: that is 17 years. (3) Count on from 2000 to 2014: that is 14 more years. (4) Add the two parts: 17 + 14 = 31. Check: 1983 + 31 = 2014.
Parallel worked example for Support (model it, do not give the task answer): Bangladesh flooded in 1998. The Somerset Levels flooded in 2014. How many years apart are these dates? From 1998 to 2000 is 2 years.; From 2000 to 2014 is 14 years.; 2 + 14 = 16 years. Check: 1998 + 16 = 2014.. Answer: 16 years.
Core — reveal the hint only on request: Later year minus earlier year. Count on to 2000 first if it helps.
Stretch — no help; when finished: The barrier was designed in the 1970s to protect London for decades. Explain why engineers might now be planning what comes after it, using the word sustainability.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Years apart.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The Thames Barrier was first used in 1983. The Somerset Levels flooded in 2014. How many years apart are these two dates?
Support — work through the steps with the group: (1) Write the later year first: 2014. Then the earlier year: 1983. (2) Count on from 1983 to 2000: that is 17 years. (3) Count on from 2000 to 2014: that is 14 more years. (4) Add the two parts: 17 + 14 = 31. Check: 1983 + 31 = 2014.
Parallel worked example for Support (model it, do not give the task answer): Bangladesh flooded in 1998. The Somerset Levels flooded in 2014. How many years apart are these dates? From 1998 to 2000 is 2 years.; From 2000 to 2014 is 14 years.; 2 + 14 = 16 years. Check: 1998 + 16 = 2014.. Answer: 16 years.
Core — reveal the hint only on request: Later year minus earlier year. Count on to 2000 first if it helps.
Stretch — no help; when finished: The barrier was designed in the 1970s to protect London for decades. Explain why engineers might now be planning what comes after it, using the word sustainability.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Which of these is a SHORT-term way of coping with a flood?
Answer: A   Putting sandbags across doorways. Sandbags are put down just before or during a flood; the others take years to build or grow.
Source of this question: gate item 1 re-asked (options rotated) — this chapter has no third quick-check module.
The ebook also holds task 3, "You are in charge",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Built to last. Reveal the answer; pupils mark their own work in a different colour, then read the "why" together. Same destination for every lane, so one answer serves the whole class.
Answer: B   Building an embankment along the river
Why: Long-term defences are built or grown to last for years (embankments, walls, dams, barriers, trees). Short-term methods are used just before or during a flood (warnings, sandbags, evacuation, moving valuables).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Years apart. Reveal the answer; pupils mark their own work in a different colour, then read the "why" together. Same destination for every lane, so one answer serves the whole class.
Answer: 31 years
Why: The gap between two dates is the later year minus the earlier year: 2014 − 1983 = 31.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A   Putting sandbags across doorways
Why: Sandbags are put down just before or during a flood; the others take years to build or grow.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2F5F2"/>
          </a:solidFill>
          <a:ln w="12700">
            <a:solidFill>
              <a:srgbClr val="F2F5F2"/>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7 · Water on Land: Rivers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BF7EE"/>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2F5F2"/>
          </a:solidFill>
          <a:ln w="12700">
            <a:solidFill>
              <a:srgbClr val="F2F5F2"/>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7 · Water on Land: Rivers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3F6B4A"/>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DEE6E0"/>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3F6B4A"/>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6</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3F6B4A"/>
                </a:solidFill>
                <a:latin typeface="Calibri" pitchFamily="34" charset="0"/>
                <a:ea typeface="Calibri" pitchFamily="34" charset="-122"/>
                <a:cs typeface="Calibri" pitchFamily="34" charset="-120"/>
              </a:rPr>
              <a:t>Geography · Year 7</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6/6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Water on Land: Rivers · AQA KS3 → 8035</a:t>
            </a:r>
            <a:endParaRPr lang="en-US" sz="1800" dirty="0"/>
          </a:p>
        </p:txBody>
      </p:sp>
      <p:sp>
        <p:nvSpPr>
          <p:cNvPr id="10" name="deck-title"/>
          <p:cNvSpPr txBox="1"/>
          <p:nvPr/>
        </p:nvSpPr>
        <p:spPr>
          <a:xfrm>
            <a:off x="548640" y="2417318"/>
            <a:ext cx="5287975" cy="1051560"/>
          </a:xfrm>
          <a:prstGeom prst="rect">
            <a:avLst/>
          </a:prstGeom>
          <a:noFill/>
          <a:ln/>
        </p:spPr>
        <p:txBody>
          <a:bodyPr wrap="square" lIns="63500" tIns="63500" rIns="63500" bIns="63500" rtlCol="0" anchor="t"/>
          <a:lstStyle/>
          <a:p>
            <a:pPr algn="l" indent="0" marL="0">
              <a:buNone/>
            </a:pPr>
            <a:r>
              <a:rPr lang="en-US" sz="2800" b="1" dirty="0">
                <a:solidFill>
                  <a:srgbClr val="1E2229"/>
                </a:solidFill>
                <a:latin typeface="Cambria" pitchFamily="34" charset="0"/>
                <a:ea typeface="Cambria" pitchFamily="34" charset="-122"/>
                <a:cs typeface="Cambria" pitchFamily="34" charset="-120"/>
              </a:rPr>
              <a:t>Managing floods: protecting people and places</a:t>
            </a:r>
            <a:endParaRPr lang="en-US" sz="2800" dirty="0"/>
          </a:p>
        </p:txBody>
      </p:sp>
      <p:sp>
        <p:nvSpPr>
          <p:cNvPr id="11" name="lessons-card"/>
          <p:cNvSpPr/>
          <p:nvPr/>
        </p:nvSpPr>
        <p:spPr>
          <a:xfrm>
            <a:off x="548640" y="3697478"/>
            <a:ext cx="5287975" cy="1328420"/>
          </a:xfrm>
          <a:prstGeom prst="roundRect">
            <a:avLst>
              <a:gd name="adj" fmla="val 5507"/>
            </a:avLst>
          </a:prstGeom>
          <a:solidFill>
            <a:srgbClr val="F2F5F2"/>
          </a:solidFill>
          <a:ln/>
        </p:spPr>
      </p:sp>
      <p:sp>
        <p:nvSpPr>
          <p:cNvPr id="12" name="lessons"/>
          <p:cNvSpPr txBox="1"/>
          <p:nvPr/>
        </p:nvSpPr>
        <p:spPr>
          <a:xfrm>
            <a:off x="685800" y="3788918"/>
            <a:ext cx="5013655" cy="114554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3F6B4A"/>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12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Flood defence systems</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13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Revision, end-of-unit test and feedback</a:t>
            </a:r>
            <a:endParaRPr lang="en-US" sz="2000" dirty="0"/>
          </a:p>
        </p:txBody>
      </p:sp>
      <p:sp>
        <p:nvSpPr>
          <p:cNvPr id="13" name="plate-frame"/>
          <p:cNvSpPr/>
          <p:nvPr/>
        </p:nvSpPr>
        <p:spPr>
          <a:xfrm>
            <a:off x="6248095" y="411480"/>
            <a:ext cx="5394960" cy="3130677"/>
          </a:xfrm>
          <a:prstGeom prst="rect">
            <a:avLst/>
          </a:prstGeom>
          <a:solidFill>
            <a:srgbClr val="F4EDDF"/>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Geography, Year 7">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2F5F2"/>
          </a:solidFill>
          <a:ln w="12700">
            <a:solidFill>
              <a:srgbClr val="B8C8BC"/>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3F6B4A"/>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How does water shape the land, why do rivers flood, and what can people do to reduce the risk and the damage?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7F9F8"/>
          </a:solidFill>
          <a:ln w="12700">
            <a:solidFill>
              <a:srgbClr val="C2D0C5"/>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Which of these is a SHORT-term way of coping with a flood?</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Building a flood wall along the river</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Putting sandbags across doorways</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Planting trees in the drainage basin</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Building the Thames Barrier</a:t>
            </a:r>
            <a:endParaRPr lang="en-US" sz="1800" dirty="0"/>
          </a:p>
        </p:txBody>
      </p:sp>
      <p:sp>
        <p:nvSpPr>
          <p:cNvPr id="12" name="card"/>
          <p:cNvSpPr/>
          <p:nvPr/>
        </p:nvSpPr>
        <p:spPr>
          <a:xfrm>
            <a:off x="4338218" y="1389888"/>
            <a:ext cx="3515258" cy="4754880"/>
          </a:xfrm>
          <a:prstGeom prst="roundRect">
            <a:avLst>
              <a:gd name="adj" fmla="val 1561"/>
            </a:avLst>
          </a:prstGeom>
          <a:solidFill>
            <a:srgbClr val="F7F9F8"/>
          </a:solidFill>
          <a:ln w="12700">
            <a:solidFill>
              <a:srgbClr val="C2D0C5"/>
            </a:solidFill>
            <a:prstDash val="solid"/>
          </a:ln>
        </p:spPr>
      </p:sp>
      <p:sp>
        <p:nvSpPr>
          <p:cNvPr id="13" name="card-hex"/>
          <p:cNvSpPr/>
          <p:nvPr/>
        </p:nvSpPr>
        <p:spPr>
          <a:xfrm>
            <a:off x="4521098" y="1572768"/>
            <a:ext cx="640080" cy="554309"/>
          </a:xfrm>
          <a:prstGeom prst="hexagon">
            <a:avLst/>
          </a:prstGeom>
          <a:solidFill>
            <a:srgbClr val="3F6B4A"/>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Work it out</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1E2229"/>
                </a:solidFill>
                <a:latin typeface="Calibri" pitchFamily="34" charset="0"/>
                <a:ea typeface="Calibri" pitchFamily="34" charset="-122"/>
                <a:cs typeface="Calibri" pitchFamily="34" charset="-120"/>
              </a:rPr>
              <a:t>The Thames Barrier's gates can take between 15 and 90 minutes to close. What is the difference, in minutes, between the slowest and the quickest closing time?</a:t>
            </a:r>
            <a:endParaRPr lang="en-US" sz="2000" dirty="0"/>
          </a:p>
          <a:p>
            <a:pPr algn="l" indent="0" marL="0">
              <a:buNone/>
            </a:pPr>
            <a:r>
              <a:rPr lang="en-US" sz="2000" b="1" dirty="0">
                <a:solidFill>
                  <a:srgbClr val="3F6B4A"/>
                </a:solidFill>
                <a:latin typeface="Calibri" pitchFamily="34" charset="0"/>
                <a:ea typeface="Calibri" pitchFamily="34" charset="-122"/>
                <a:cs typeface="Calibri" pitchFamily="34" charset="-120"/>
              </a:rPr>
              <a:t>Answer:  </a:t>
            </a:r>
            <a:pPr algn="l" indent="0" marL="0">
              <a:buNone/>
            </a:pPr>
            <a:r>
              <a:rPr lang="en-US" sz="2000" dirty="0">
                <a:solidFill>
                  <a:srgbClr val="1E2229"/>
                </a:solidFill>
                <a:latin typeface="Calibri" pitchFamily="34" charset="0"/>
                <a:ea typeface="Calibri" pitchFamily="34" charset="-122"/>
                <a:cs typeface="Calibri" pitchFamily="34" charset="-120"/>
              </a:rPr>
              <a:t>________ minutes</a:t>
            </a:r>
            <a:endParaRPr lang="en-US" sz="2000" dirty="0"/>
          </a:p>
        </p:txBody>
      </p:sp>
      <p:sp>
        <p:nvSpPr>
          <p:cNvPr id="17" name="card"/>
          <p:cNvSpPr/>
          <p:nvPr/>
        </p:nvSpPr>
        <p:spPr>
          <a:xfrm>
            <a:off x="8127797" y="1389888"/>
            <a:ext cx="3515258" cy="4754880"/>
          </a:xfrm>
          <a:prstGeom prst="roundRect">
            <a:avLst>
              <a:gd name="adj" fmla="val 1561"/>
            </a:avLst>
          </a:prstGeom>
          <a:solidFill>
            <a:srgbClr val="F7F9F8"/>
          </a:solidFill>
          <a:ln w="12700">
            <a:solidFill>
              <a:srgbClr val="C2D0C5"/>
            </a:solidFill>
            <a:prstDash val="solid"/>
          </a:ln>
        </p:spPr>
      </p:sp>
      <p:sp>
        <p:nvSpPr>
          <p:cNvPr id="18" name="card-hex"/>
          <p:cNvSpPr/>
          <p:nvPr/>
        </p:nvSpPr>
        <p:spPr>
          <a:xfrm>
            <a:off x="8310677" y="1572768"/>
            <a:ext cx="640080" cy="554309"/>
          </a:xfrm>
          <a:prstGeom prst="hexagon">
            <a:avLst/>
          </a:prstGeom>
          <a:solidFill>
            <a:srgbClr val="3F6B4A"/>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Fill the gap</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The Thames Barrier has ___ gates.</a:t>
            </a:r>
            <a:endParaRPr lang="en-US" sz="2400" dirty="0"/>
          </a:p>
          <a:p>
            <a:pPr algn="l" indent="0" marL="0">
              <a:buNone/>
            </a:pPr>
            <a:r>
              <a:rPr lang="en-US" sz="2400" b="1" dirty="0">
                <a:solidFill>
                  <a:srgbClr val="3F6B4A"/>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ten  ·  five  ·  twenty</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7F9F8"/>
          </a:solidFill>
          <a:ln w="12700">
            <a:solidFill>
              <a:srgbClr val="C2D0C5"/>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955040"/>
          </a:xfrm>
          <a:prstGeom prst="roundRect">
            <a:avLst>
              <a:gd name="adj" fmla="val 11489"/>
            </a:avLst>
          </a:prstGeom>
          <a:solidFill>
            <a:srgbClr val="EFE4D0"/>
          </a:solidFill>
          <a:ln w="19050">
            <a:solidFill>
              <a:srgbClr val="B8862B"/>
            </a:solidFill>
            <a:prstDash val="solid"/>
          </a:ln>
        </p:spPr>
      </p:sp>
      <p:sp>
        <p:nvSpPr>
          <p:cNvPr id="12" name="answer"/>
          <p:cNvSpPr txBox="1"/>
          <p:nvPr/>
        </p:nvSpPr>
        <p:spPr>
          <a:xfrm>
            <a:off x="822960" y="2428829"/>
            <a:ext cx="2966618"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B   Putting sandbags across doorways</a:t>
            </a:r>
            <a:endParaRPr lang="en-US" sz="2200" dirty="0"/>
          </a:p>
        </p:txBody>
      </p:sp>
      <p:sp>
        <p:nvSpPr>
          <p:cNvPr id="13" name="card-body"/>
          <p:cNvSpPr txBox="1"/>
          <p:nvPr/>
        </p:nvSpPr>
        <p:spPr>
          <a:xfrm>
            <a:off x="731520" y="3493597"/>
            <a:ext cx="3149498" cy="2514011"/>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Which of these is a SHORT-term way of coping with a flood?</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Sandbags are put down just before or during a flood; the others take years to build or grow.</a:t>
            </a:r>
            <a:endParaRPr lang="en-US" sz="2000" dirty="0"/>
          </a:p>
        </p:txBody>
      </p:sp>
      <p:sp>
        <p:nvSpPr>
          <p:cNvPr id="14" name="card"/>
          <p:cNvSpPr/>
          <p:nvPr/>
        </p:nvSpPr>
        <p:spPr>
          <a:xfrm>
            <a:off x="4338218" y="1389888"/>
            <a:ext cx="3515258" cy="4754880"/>
          </a:xfrm>
          <a:prstGeom prst="roundRect">
            <a:avLst>
              <a:gd name="adj" fmla="val 1561"/>
            </a:avLst>
          </a:prstGeom>
          <a:solidFill>
            <a:srgbClr val="F7F9F8"/>
          </a:solidFill>
          <a:ln w="12700">
            <a:solidFill>
              <a:srgbClr val="C2D0C5"/>
            </a:solidFill>
            <a:prstDash val="solid"/>
          </a:ln>
        </p:spPr>
      </p:sp>
      <p:sp>
        <p:nvSpPr>
          <p:cNvPr id="15" name="card-hex"/>
          <p:cNvSpPr/>
          <p:nvPr/>
        </p:nvSpPr>
        <p:spPr>
          <a:xfrm>
            <a:off x="4521098" y="1572768"/>
            <a:ext cx="640080" cy="554309"/>
          </a:xfrm>
          <a:prstGeom prst="hexagon">
            <a:avLst/>
          </a:prstGeom>
          <a:solidFill>
            <a:srgbClr val="3F6B4A"/>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FE4D0"/>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75 minutes</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The Thames Barrier's gates can take between 15 and 90 minutes to close. What is the difference, in minutes, between the slowest and the quickest closing time?</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90 − 15 = 75 minutes.</a:t>
            </a:r>
            <a:endParaRPr lang="en-US" sz="2000" dirty="0"/>
          </a:p>
        </p:txBody>
      </p:sp>
      <p:sp>
        <p:nvSpPr>
          <p:cNvPr id="21" name="card"/>
          <p:cNvSpPr/>
          <p:nvPr/>
        </p:nvSpPr>
        <p:spPr>
          <a:xfrm>
            <a:off x="8127797" y="1389888"/>
            <a:ext cx="3515258" cy="4754880"/>
          </a:xfrm>
          <a:prstGeom prst="roundRect">
            <a:avLst>
              <a:gd name="adj" fmla="val 1561"/>
            </a:avLst>
          </a:prstGeom>
          <a:solidFill>
            <a:srgbClr val="F7F9F8"/>
          </a:solidFill>
          <a:ln w="12700">
            <a:solidFill>
              <a:srgbClr val="C2D0C5"/>
            </a:solidFill>
            <a:prstDash val="solid"/>
          </a:ln>
        </p:spPr>
      </p:sp>
      <p:sp>
        <p:nvSpPr>
          <p:cNvPr id="22" name="card-hex"/>
          <p:cNvSpPr/>
          <p:nvPr/>
        </p:nvSpPr>
        <p:spPr>
          <a:xfrm>
            <a:off x="8310677" y="1572768"/>
            <a:ext cx="640080" cy="554309"/>
          </a:xfrm>
          <a:prstGeom prst="hexagon">
            <a:avLst/>
          </a:prstGeom>
          <a:solidFill>
            <a:srgbClr val="3F6B4A"/>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FE4D0"/>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ten</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The Thames Barrier has ___ gates.</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The barrier has ten steel gates stretching about 500 m across the river.</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kw-head"/>
          <p:cNvSpPr/>
          <p:nvPr/>
        </p:nvSpPr>
        <p:spPr>
          <a:xfrm>
            <a:off x="548640" y="1389888"/>
            <a:ext cx="11094415" cy="457200"/>
          </a:xfrm>
          <a:prstGeom prst="roundRect">
            <a:avLst>
              <a:gd name="adj" fmla="val 16000"/>
            </a:avLst>
          </a:prstGeom>
          <a:solidFill>
            <a:srgbClr val="3F6B4A"/>
          </a:solidFill>
          <a:ln/>
        </p:spPr>
      </p:sp>
      <p:sp>
        <p:nvSpPr>
          <p:cNvPr id="8" name="kw-headtext"/>
          <p:cNvSpPr txBox="1"/>
          <p:nvPr/>
        </p:nvSpPr>
        <p:spPr>
          <a:xfrm>
            <a:off x="1143000" y="1389888"/>
            <a:ext cx="2331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Word</a:t>
            </a:r>
            <a:endParaRPr lang="en-US" sz="1800" dirty="0"/>
          </a:p>
        </p:txBody>
      </p:sp>
      <p:sp>
        <p:nvSpPr>
          <p:cNvPr id="9" name="kw-headtext"/>
          <p:cNvSpPr txBox="1"/>
          <p:nvPr/>
        </p:nvSpPr>
        <p:spPr>
          <a:xfrm>
            <a:off x="3657600" y="1389888"/>
            <a:ext cx="3474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What it means</a:t>
            </a:r>
            <a:endParaRPr lang="en-US" sz="1800" dirty="0"/>
          </a:p>
        </p:txBody>
      </p:sp>
      <p:sp>
        <p:nvSpPr>
          <p:cNvPr id="10" name="kw-headtext"/>
          <p:cNvSpPr txBox="1"/>
          <p:nvPr/>
        </p:nvSpPr>
        <p:spPr>
          <a:xfrm>
            <a:off x="7315200" y="1389888"/>
            <a:ext cx="4236415"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In a sentence</a:t>
            </a:r>
            <a:endParaRPr lang="en-US" sz="1800" dirty="0"/>
          </a:p>
        </p:txBody>
      </p:sp>
      <p:sp>
        <p:nvSpPr>
          <p:cNvPr id="11" name="kw-row"/>
          <p:cNvSpPr/>
          <p:nvPr/>
        </p:nvSpPr>
        <p:spPr>
          <a:xfrm>
            <a:off x="548640" y="1920240"/>
            <a:ext cx="11094415" cy="786384"/>
          </a:xfrm>
          <a:prstGeom prst="roundRect">
            <a:avLst>
              <a:gd name="adj" fmla="val 6977"/>
            </a:avLst>
          </a:prstGeom>
          <a:solidFill>
            <a:srgbClr val="F5F8F6"/>
          </a:solidFill>
          <a:ln/>
        </p:spPr>
      </p:sp>
      <p:sp>
        <p:nvSpPr>
          <p:cNvPr id="12" name="kw-hex"/>
          <p:cNvSpPr/>
          <p:nvPr/>
        </p:nvSpPr>
        <p:spPr>
          <a:xfrm>
            <a:off x="658368" y="2135261"/>
            <a:ext cx="411480" cy="356342"/>
          </a:xfrm>
          <a:prstGeom prst="hexagon">
            <a:avLst/>
          </a:prstGeom>
          <a:solidFill>
            <a:srgbClr val="3F6B4A"/>
          </a:solidFill>
          <a:ln/>
        </p:spPr>
      </p:sp>
      <p:sp>
        <p:nvSpPr>
          <p:cNvPr id="13" name="kw-cell"/>
          <p:cNvSpPr txBox="1"/>
          <p:nvPr/>
        </p:nvSpPr>
        <p:spPr>
          <a:xfrm>
            <a:off x="1143000" y="1920240"/>
            <a:ext cx="2331720" cy="786384"/>
          </a:xfrm>
          <a:prstGeom prst="rect">
            <a:avLst/>
          </a:prstGeom>
          <a:noFill/>
          <a:ln/>
        </p:spPr>
        <p:txBody>
          <a:bodyPr wrap="square" lIns="63500" tIns="63500" rIns="63500" bIns="63500" rtlCol="0" anchor="ctr"/>
          <a:lstStyle/>
          <a:p>
            <a:pPr algn="l" indent="0" marL="0">
              <a:buNone/>
            </a:pPr>
            <a:r>
              <a:rPr lang="en-US" sz="2000" b="1" dirty="0">
                <a:solidFill>
                  <a:srgbClr val="3F6B4A"/>
                </a:solidFill>
                <a:latin typeface="Cambria" pitchFamily="34" charset="0"/>
                <a:ea typeface="Cambria" pitchFamily="34" charset="-122"/>
                <a:cs typeface="Cambria" pitchFamily="34" charset="-120"/>
              </a:rPr>
              <a:t>short-term</a:t>
            </a:r>
            <a:endParaRPr lang="en-US" sz="2000" dirty="0"/>
          </a:p>
        </p:txBody>
      </p:sp>
      <p:sp>
        <p:nvSpPr>
          <p:cNvPr id="14" name="kw-cell"/>
          <p:cNvSpPr txBox="1"/>
          <p:nvPr/>
        </p:nvSpPr>
        <p:spPr>
          <a:xfrm>
            <a:off x="3657600" y="1920240"/>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done just before or during a flood to cope with it</a:t>
            </a:r>
            <a:endParaRPr lang="en-US" sz="1800" dirty="0"/>
          </a:p>
        </p:txBody>
      </p:sp>
      <p:sp>
        <p:nvSpPr>
          <p:cNvPr id="15" name="kw-cell"/>
          <p:cNvSpPr txBox="1"/>
          <p:nvPr/>
        </p:nvSpPr>
        <p:spPr>
          <a:xfrm>
            <a:off x="7315200" y="1920240"/>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Sandbags are a short-term way to keep water out of a house.</a:t>
            </a:r>
            <a:endParaRPr lang="en-US" sz="1800" dirty="0"/>
          </a:p>
        </p:txBody>
      </p:sp>
      <p:sp>
        <p:nvSpPr>
          <p:cNvPr id="16" name="kw-row"/>
          <p:cNvSpPr/>
          <p:nvPr/>
        </p:nvSpPr>
        <p:spPr>
          <a:xfrm>
            <a:off x="548640" y="2779776"/>
            <a:ext cx="11094415" cy="786384"/>
          </a:xfrm>
          <a:prstGeom prst="roundRect">
            <a:avLst>
              <a:gd name="adj" fmla="val 6977"/>
            </a:avLst>
          </a:prstGeom>
          <a:solidFill>
            <a:srgbClr val="F9F4EC"/>
          </a:solidFill>
          <a:ln/>
        </p:spPr>
      </p:sp>
      <p:sp>
        <p:nvSpPr>
          <p:cNvPr id="17" name="kw-hex"/>
          <p:cNvSpPr/>
          <p:nvPr/>
        </p:nvSpPr>
        <p:spPr>
          <a:xfrm>
            <a:off x="658368" y="2994797"/>
            <a:ext cx="411480" cy="356342"/>
          </a:xfrm>
          <a:prstGeom prst="hexagon">
            <a:avLst/>
          </a:prstGeom>
          <a:solidFill>
            <a:srgbClr val="B8862B"/>
          </a:solidFill>
          <a:ln/>
        </p:spPr>
      </p:sp>
      <p:sp>
        <p:nvSpPr>
          <p:cNvPr id="18" name="kw-cell"/>
          <p:cNvSpPr txBox="1"/>
          <p:nvPr/>
        </p:nvSpPr>
        <p:spPr>
          <a:xfrm>
            <a:off x="1143000" y="2779776"/>
            <a:ext cx="2331720" cy="786384"/>
          </a:xfrm>
          <a:prstGeom prst="rect">
            <a:avLst/>
          </a:prstGeom>
          <a:noFill/>
          <a:ln/>
        </p:spPr>
        <p:txBody>
          <a:bodyPr wrap="square" lIns="63500" tIns="63500" rIns="63500" bIns="63500" rtlCol="0" anchor="ctr"/>
          <a:lstStyle/>
          <a:p>
            <a:pPr algn="l" indent="0" marL="0">
              <a:buNone/>
            </a:pPr>
            <a:r>
              <a:rPr lang="en-US" sz="2000" b="1" dirty="0">
                <a:solidFill>
                  <a:srgbClr val="3F6B4A"/>
                </a:solidFill>
                <a:latin typeface="Cambria" pitchFamily="34" charset="0"/>
                <a:ea typeface="Cambria" pitchFamily="34" charset="-122"/>
                <a:cs typeface="Cambria" pitchFamily="34" charset="-120"/>
              </a:rPr>
              <a:t>long-term</a:t>
            </a:r>
            <a:endParaRPr lang="en-US" sz="2000" dirty="0"/>
          </a:p>
        </p:txBody>
      </p:sp>
      <p:sp>
        <p:nvSpPr>
          <p:cNvPr id="19" name="kw-cell"/>
          <p:cNvSpPr txBox="1"/>
          <p:nvPr/>
        </p:nvSpPr>
        <p:spPr>
          <a:xfrm>
            <a:off x="3657600" y="2779776"/>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built or planned to protect people for many years</a:t>
            </a:r>
            <a:endParaRPr lang="en-US" sz="1800" dirty="0"/>
          </a:p>
        </p:txBody>
      </p:sp>
      <p:sp>
        <p:nvSpPr>
          <p:cNvPr id="20" name="kw-cell"/>
          <p:cNvSpPr txBox="1"/>
          <p:nvPr/>
        </p:nvSpPr>
        <p:spPr>
          <a:xfrm>
            <a:off x="7315200" y="2779776"/>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A flood barrier is a long-term defence.</a:t>
            </a:r>
            <a:endParaRPr lang="en-US" sz="1800" dirty="0"/>
          </a:p>
        </p:txBody>
      </p:sp>
      <p:sp>
        <p:nvSpPr>
          <p:cNvPr id="21" name="kw-row"/>
          <p:cNvSpPr/>
          <p:nvPr/>
        </p:nvSpPr>
        <p:spPr>
          <a:xfrm>
            <a:off x="548640" y="3639312"/>
            <a:ext cx="11094415" cy="786384"/>
          </a:xfrm>
          <a:prstGeom prst="roundRect">
            <a:avLst>
              <a:gd name="adj" fmla="val 6977"/>
            </a:avLst>
          </a:prstGeom>
          <a:solidFill>
            <a:srgbClr val="F5F8F6"/>
          </a:solidFill>
          <a:ln/>
        </p:spPr>
      </p:sp>
      <p:sp>
        <p:nvSpPr>
          <p:cNvPr id="22" name="kw-hex"/>
          <p:cNvSpPr/>
          <p:nvPr/>
        </p:nvSpPr>
        <p:spPr>
          <a:xfrm>
            <a:off x="658368" y="3854333"/>
            <a:ext cx="411480" cy="356342"/>
          </a:xfrm>
          <a:prstGeom prst="hexagon">
            <a:avLst/>
          </a:prstGeom>
          <a:solidFill>
            <a:srgbClr val="3F6B4A"/>
          </a:solidFill>
          <a:ln/>
        </p:spPr>
      </p:sp>
      <p:sp>
        <p:nvSpPr>
          <p:cNvPr id="23" name="kw-cell"/>
          <p:cNvSpPr txBox="1"/>
          <p:nvPr/>
        </p:nvSpPr>
        <p:spPr>
          <a:xfrm>
            <a:off x="1143000" y="3639312"/>
            <a:ext cx="2331720" cy="786384"/>
          </a:xfrm>
          <a:prstGeom prst="rect">
            <a:avLst/>
          </a:prstGeom>
          <a:noFill/>
          <a:ln/>
        </p:spPr>
        <p:txBody>
          <a:bodyPr wrap="square" lIns="63500" tIns="63500" rIns="63500" bIns="63500" rtlCol="0" anchor="ctr"/>
          <a:lstStyle/>
          <a:p>
            <a:pPr algn="l" indent="0" marL="0">
              <a:buNone/>
            </a:pPr>
            <a:r>
              <a:rPr lang="en-US" sz="2000" b="1" dirty="0">
                <a:solidFill>
                  <a:srgbClr val="3F6B4A"/>
                </a:solidFill>
                <a:latin typeface="Cambria" pitchFamily="34" charset="0"/>
                <a:ea typeface="Cambria" pitchFamily="34" charset="-122"/>
                <a:cs typeface="Cambria" pitchFamily="34" charset="-120"/>
              </a:rPr>
              <a:t>flood defence</a:t>
            </a:r>
            <a:endParaRPr lang="en-US" sz="2000" dirty="0"/>
          </a:p>
        </p:txBody>
      </p:sp>
      <p:sp>
        <p:nvSpPr>
          <p:cNvPr id="24" name="kw-cell"/>
          <p:cNvSpPr txBox="1"/>
          <p:nvPr/>
        </p:nvSpPr>
        <p:spPr>
          <a:xfrm>
            <a:off x="3657600" y="3639312"/>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anything built or done to stop flooding or reduce the damage</a:t>
            </a:r>
            <a:endParaRPr lang="en-US" sz="1800" dirty="0"/>
          </a:p>
        </p:txBody>
      </p:sp>
      <p:sp>
        <p:nvSpPr>
          <p:cNvPr id="25" name="kw-cell"/>
          <p:cNvSpPr txBox="1"/>
          <p:nvPr/>
        </p:nvSpPr>
        <p:spPr>
          <a:xfrm>
            <a:off x="7315200" y="3639312"/>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The town council paid for a new flood defence.</a:t>
            </a:r>
            <a:endParaRPr lang="en-US" sz="1800" dirty="0"/>
          </a:p>
        </p:txBody>
      </p:sp>
      <p:sp>
        <p:nvSpPr>
          <p:cNvPr id="26" name="kw-row"/>
          <p:cNvSpPr/>
          <p:nvPr/>
        </p:nvSpPr>
        <p:spPr>
          <a:xfrm>
            <a:off x="548640" y="4498848"/>
            <a:ext cx="11094415" cy="786384"/>
          </a:xfrm>
          <a:prstGeom prst="roundRect">
            <a:avLst>
              <a:gd name="adj" fmla="val 6977"/>
            </a:avLst>
          </a:prstGeom>
          <a:solidFill>
            <a:srgbClr val="F9F4EC"/>
          </a:solidFill>
          <a:ln/>
        </p:spPr>
      </p:sp>
      <p:sp>
        <p:nvSpPr>
          <p:cNvPr id="27" name="kw-hex"/>
          <p:cNvSpPr/>
          <p:nvPr/>
        </p:nvSpPr>
        <p:spPr>
          <a:xfrm>
            <a:off x="658368" y="4713869"/>
            <a:ext cx="411480" cy="356342"/>
          </a:xfrm>
          <a:prstGeom prst="hexagon">
            <a:avLst/>
          </a:prstGeom>
          <a:solidFill>
            <a:srgbClr val="B8862B"/>
          </a:solidFill>
          <a:ln/>
        </p:spPr>
      </p:sp>
      <p:sp>
        <p:nvSpPr>
          <p:cNvPr id="28" name="kw-cell"/>
          <p:cNvSpPr txBox="1"/>
          <p:nvPr/>
        </p:nvSpPr>
        <p:spPr>
          <a:xfrm>
            <a:off x="1143000" y="4498848"/>
            <a:ext cx="2331720" cy="786384"/>
          </a:xfrm>
          <a:prstGeom prst="rect">
            <a:avLst/>
          </a:prstGeom>
          <a:noFill/>
          <a:ln/>
        </p:spPr>
        <p:txBody>
          <a:bodyPr wrap="square" lIns="63500" tIns="63500" rIns="63500" bIns="63500" rtlCol="0" anchor="ctr"/>
          <a:lstStyle/>
          <a:p>
            <a:pPr algn="l" indent="0" marL="0">
              <a:buNone/>
            </a:pPr>
            <a:r>
              <a:rPr lang="en-US" sz="2000" b="1" dirty="0">
                <a:solidFill>
                  <a:srgbClr val="3F6B4A"/>
                </a:solidFill>
                <a:latin typeface="Cambria" pitchFamily="34" charset="0"/>
                <a:ea typeface="Cambria" pitchFamily="34" charset="-122"/>
                <a:cs typeface="Cambria" pitchFamily="34" charset="-120"/>
              </a:rPr>
              <a:t>embankment</a:t>
            </a:r>
            <a:endParaRPr lang="en-US" sz="2000" dirty="0"/>
          </a:p>
        </p:txBody>
      </p:sp>
      <p:sp>
        <p:nvSpPr>
          <p:cNvPr id="29" name="kw-cell"/>
          <p:cNvSpPr txBox="1"/>
          <p:nvPr/>
        </p:nvSpPr>
        <p:spPr>
          <a:xfrm>
            <a:off x="3657600" y="4498848"/>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raised bank built along a river so it can hold more water</a:t>
            </a:r>
            <a:endParaRPr lang="en-US" sz="1800" dirty="0"/>
          </a:p>
        </p:txBody>
      </p:sp>
      <p:sp>
        <p:nvSpPr>
          <p:cNvPr id="30" name="kw-cell"/>
          <p:cNvSpPr txBox="1"/>
          <p:nvPr/>
        </p:nvSpPr>
        <p:spPr>
          <a:xfrm>
            <a:off x="7315200" y="4498848"/>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The embankment kept the river off the road.</a:t>
            </a:r>
            <a:endParaRPr lang="en-US" sz="1800" dirty="0"/>
          </a:p>
        </p:txBody>
      </p:sp>
      <p:sp>
        <p:nvSpPr>
          <p:cNvPr id="31" name="kw-row"/>
          <p:cNvSpPr/>
          <p:nvPr/>
        </p:nvSpPr>
        <p:spPr>
          <a:xfrm>
            <a:off x="548640" y="5358384"/>
            <a:ext cx="11094415" cy="786384"/>
          </a:xfrm>
          <a:prstGeom prst="roundRect">
            <a:avLst>
              <a:gd name="adj" fmla="val 6977"/>
            </a:avLst>
          </a:prstGeom>
          <a:solidFill>
            <a:srgbClr val="F5F8F6"/>
          </a:solidFill>
          <a:ln/>
        </p:spPr>
      </p:sp>
      <p:sp>
        <p:nvSpPr>
          <p:cNvPr id="32" name="kw-hex"/>
          <p:cNvSpPr/>
          <p:nvPr/>
        </p:nvSpPr>
        <p:spPr>
          <a:xfrm>
            <a:off x="658368" y="5573405"/>
            <a:ext cx="411480" cy="356342"/>
          </a:xfrm>
          <a:prstGeom prst="hexagon">
            <a:avLst/>
          </a:prstGeom>
          <a:solidFill>
            <a:srgbClr val="3F6B4A"/>
          </a:solidFill>
          <a:ln/>
        </p:spPr>
      </p:sp>
      <p:sp>
        <p:nvSpPr>
          <p:cNvPr id="33" name="kw-cell"/>
          <p:cNvSpPr txBox="1"/>
          <p:nvPr/>
        </p:nvSpPr>
        <p:spPr>
          <a:xfrm>
            <a:off x="1143000" y="5358384"/>
            <a:ext cx="2331720" cy="786384"/>
          </a:xfrm>
          <a:prstGeom prst="rect">
            <a:avLst/>
          </a:prstGeom>
          <a:noFill/>
          <a:ln/>
        </p:spPr>
        <p:txBody>
          <a:bodyPr wrap="square" lIns="63500" tIns="63500" rIns="63500" bIns="63500" rtlCol="0" anchor="ctr"/>
          <a:lstStyle/>
          <a:p>
            <a:pPr algn="l" indent="0" marL="0">
              <a:buNone/>
            </a:pPr>
            <a:r>
              <a:rPr lang="en-US" sz="2000" b="1" dirty="0">
                <a:solidFill>
                  <a:srgbClr val="3F6B4A"/>
                </a:solidFill>
                <a:latin typeface="Cambria" pitchFamily="34" charset="0"/>
                <a:ea typeface="Cambria" pitchFamily="34" charset="-122"/>
                <a:cs typeface="Cambria" pitchFamily="34" charset="-120"/>
              </a:rPr>
              <a:t>evaluate</a:t>
            </a:r>
            <a:endParaRPr lang="en-US" sz="2000" dirty="0"/>
          </a:p>
        </p:txBody>
      </p:sp>
      <p:sp>
        <p:nvSpPr>
          <p:cNvPr id="34" name="kw-cell"/>
          <p:cNvSpPr txBox="1"/>
          <p:nvPr/>
        </p:nvSpPr>
        <p:spPr>
          <a:xfrm>
            <a:off x="3657600" y="5358384"/>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to weigh up how good something is, using criteria</a:t>
            </a:r>
            <a:endParaRPr lang="en-US" sz="1800" dirty="0"/>
          </a:p>
        </p:txBody>
      </p:sp>
      <p:sp>
        <p:nvSpPr>
          <p:cNvPr id="35" name="kw-cell"/>
          <p:cNvSpPr txBox="1"/>
          <p:nvPr/>
        </p:nvSpPr>
        <p:spPr>
          <a:xfrm>
            <a:off x="7315200" y="5358384"/>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We had to evaluate three flood defences and choose the best.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7F9F8"/>
          </a:solidFill>
          <a:ln w="12700">
            <a:solidFill>
              <a:srgbClr val="CBD7CE"/>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People cannot stop the rain, but they can protect themselves from floods.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Short-term</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methods are used just before or during a flood.</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Sandbags, flood warnings and moving people to safety are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short-term</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Long-term</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methods take years to build but last for a long time.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Walls,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embankments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dams, barriers and planting trees are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long-term</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London is protected by the Thames Barrier.</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7F9F8"/>
          </a:solidFill>
          <a:ln w="12700">
            <a:solidFill>
              <a:srgbClr val="CBD7CE"/>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Its ten steel gates stretch about 500 m across the river.</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It was first used in 1983.</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When a high tide threatens London, the gates are raised.</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Choosing a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flood defence</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means weighing up cost, time and how well it works.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In your test, describe means say what, and explain means say why.</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Short-term and long-term ways of coping</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Short-term = during the emergency, cheap and quick. Long-term = built to last, expensive and slow. A good answer names one of each.</a:t>
            </a:r>
            <a:endParaRPr lang="en-US" sz="1800" dirty="0"/>
          </a:p>
        </p:txBody>
      </p:sp>
      <p:sp>
        <p:nvSpPr>
          <p:cNvPr id="11" name="point-card"/>
          <p:cNvSpPr/>
          <p:nvPr/>
        </p:nvSpPr>
        <p:spPr>
          <a:xfrm>
            <a:off x="548640" y="1389888"/>
            <a:ext cx="3515258" cy="3686048"/>
          </a:xfrm>
          <a:prstGeom prst="roundRect">
            <a:avLst>
              <a:gd name="adj" fmla="val 1561"/>
            </a:avLst>
          </a:prstGeom>
          <a:solidFill>
            <a:srgbClr val="F2F5F2"/>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There are two kinds of flood protection. Short-term methods are used just before or during a flood to cope with it.</a:t>
            </a:r>
            <a:endParaRPr lang="en-US" sz="1800" dirty="0"/>
          </a:p>
        </p:txBody>
      </p:sp>
      <p:sp>
        <p:nvSpPr>
          <p:cNvPr id="15" name="point-card"/>
          <p:cNvSpPr/>
          <p:nvPr/>
        </p:nvSpPr>
        <p:spPr>
          <a:xfrm>
            <a:off x="4338218" y="1389888"/>
            <a:ext cx="3515258" cy="3686048"/>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Long-term methods take years to plan and build, but protect people for a long time.</a:t>
            </a:r>
            <a:endParaRPr lang="en-US" sz="1800" dirty="0"/>
          </a:p>
        </p:txBody>
      </p:sp>
      <p:sp>
        <p:nvSpPr>
          <p:cNvPr id="19" name="point-card"/>
          <p:cNvSpPr/>
          <p:nvPr/>
        </p:nvSpPr>
        <p:spPr>
          <a:xfrm>
            <a:off x="8127797" y="1389888"/>
            <a:ext cx="3515258" cy="3686048"/>
          </a:xfrm>
          <a:prstGeom prst="roundRect">
            <a:avLst>
              <a:gd name="adj" fmla="val 1561"/>
            </a:avLst>
          </a:prstGeom>
          <a:solidFill>
            <a:srgbClr val="F2F5F2"/>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Notice the difference between reducing the risk of a flood happening (trees, dams, dredging) and reducing the damage when it does (warnings, sandbags, walls around homes).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Thames Barrier</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point-card"/>
          <p:cNvSpPr/>
          <p:nvPr/>
        </p:nvSpPr>
        <p:spPr>
          <a:xfrm>
            <a:off x="548640" y="1389888"/>
            <a:ext cx="3515258" cy="4754880"/>
          </a:xfrm>
          <a:prstGeom prst="roundRect">
            <a:avLst>
              <a:gd name="adj" fmla="val 1561"/>
            </a:avLst>
          </a:prstGeom>
          <a:solidFill>
            <a:srgbClr val="F2F5F2"/>
          </a:solidFill>
          <a:ln/>
        </p:spPr>
      </p:sp>
      <p:sp>
        <p:nvSpPr>
          <p:cNvPr id="8" name="point-hex"/>
          <p:cNvSpPr/>
          <p:nvPr/>
        </p:nvSpPr>
        <p:spPr>
          <a:xfrm>
            <a:off x="731520" y="1572768"/>
            <a:ext cx="685800" cy="593903"/>
          </a:xfrm>
          <a:prstGeom prst="hexagon">
            <a:avLst/>
          </a:prstGeom>
          <a:solidFill>
            <a:srgbClr val="3F6B4A"/>
          </a:solidFill>
          <a:ln/>
        </p:spPr>
      </p:sp>
      <p:sp>
        <p:nvSpPr>
          <p:cNvPr id="9"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point"/>
          <p:cNvSpPr txBox="1"/>
          <p:nvPr/>
        </p:nvSpPr>
        <p:spPr>
          <a:xfrm>
            <a:off x="731520"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London lies on the River Thames close to the sea, so a very high tide pushed up the river by a storm could flood the city.</a:t>
            </a:r>
            <a:endParaRPr lang="en-US" sz="2400" dirty="0"/>
          </a:p>
        </p:txBody>
      </p:sp>
      <p:sp>
        <p:nvSpPr>
          <p:cNvPr id="11" name="point-card"/>
          <p:cNvSpPr/>
          <p:nvPr/>
        </p:nvSpPr>
        <p:spPr>
          <a:xfrm>
            <a:off x="4338218" y="1389888"/>
            <a:ext cx="3515258" cy="4754880"/>
          </a:xfrm>
          <a:prstGeom prst="roundRect">
            <a:avLst>
              <a:gd name="adj" fmla="val 1561"/>
            </a:avLst>
          </a:prstGeom>
          <a:solidFill>
            <a:srgbClr val="F9F4EC"/>
          </a:solidFill>
          <a:ln/>
        </p:spPr>
      </p:sp>
      <p:sp>
        <p:nvSpPr>
          <p:cNvPr id="12" name="point-hex"/>
          <p:cNvSpPr/>
          <p:nvPr/>
        </p:nvSpPr>
        <p:spPr>
          <a:xfrm>
            <a:off x="4521098" y="1572768"/>
            <a:ext cx="685800" cy="593903"/>
          </a:xfrm>
          <a:prstGeom prst="hexagon">
            <a:avLst/>
          </a:prstGeom>
          <a:solidFill>
            <a:srgbClr val="B8862B"/>
          </a:solidFill>
          <a:ln/>
        </p:spPr>
      </p:sp>
      <p:sp>
        <p:nvSpPr>
          <p:cNvPr id="13"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4" name="point"/>
          <p:cNvSpPr txBox="1"/>
          <p:nvPr/>
        </p:nvSpPr>
        <p:spPr>
          <a:xfrm>
            <a:off x="4521098"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barrier has ten gates made of steel, stretching about 500 m across the river.</a:t>
            </a:r>
            <a:endParaRPr lang="en-US" sz="2400" dirty="0"/>
          </a:p>
        </p:txBody>
      </p:sp>
      <p:sp>
        <p:nvSpPr>
          <p:cNvPr id="15" name="point-card"/>
          <p:cNvSpPr/>
          <p:nvPr/>
        </p:nvSpPr>
        <p:spPr>
          <a:xfrm>
            <a:off x="8127797" y="1389888"/>
            <a:ext cx="3515258" cy="4754880"/>
          </a:xfrm>
          <a:prstGeom prst="roundRect">
            <a:avLst>
              <a:gd name="adj" fmla="val 1561"/>
            </a:avLst>
          </a:prstGeom>
          <a:solidFill>
            <a:srgbClr val="F2F5F2"/>
          </a:solidFill>
          <a:ln/>
        </p:spPr>
      </p:sp>
      <p:sp>
        <p:nvSpPr>
          <p:cNvPr id="16" name="point-hex"/>
          <p:cNvSpPr/>
          <p:nvPr/>
        </p:nvSpPr>
        <p:spPr>
          <a:xfrm>
            <a:off x="8310677" y="1572768"/>
            <a:ext cx="685800" cy="593903"/>
          </a:xfrm>
          <a:prstGeom prst="hexagon">
            <a:avLst/>
          </a:prstGeom>
          <a:solidFill>
            <a:srgbClr val="3F6B4A"/>
          </a:solidFill>
          <a:ln/>
        </p:spPr>
      </p:sp>
      <p:sp>
        <p:nvSpPr>
          <p:cNvPr id="17"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18" name="point"/>
          <p:cNvSpPr txBox="1"/>
          <p:nvPr/>
        </p:nvSpPr>
        <p:spPr>
          <a:xfrm>
            <a:off x="8310677"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Engineers have thought about what could go wrong. If the computer that drives the barrier fails, the gates can be raised by hand with cranks.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Worked example: The Thames Barrier</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619760"/>
          </a:xfrm>
          <a:prstGeom prst="roundRect">
            <a:avLst>
              <a:gd name="adj" fmla="val 14754"/>
            </a:avLst>
          </a:prstGeom>
          <a:solidFill>
            <a:srgbClr val="F2F5F2"/>
          </a:solidFill>
          <a:ln/>
        </p:spPr>
      </p:sp>
      <p:sp>
        <p:nvSpPr>
          <p:cNvPr id="8" name="worked-q"/>
          <p:cNvSpPr txBox="1"/>
          <p:nvPr/>
        </p:nvSpPr>
        <p:spPr>
          <a:xfrm>
            <a:off x="731520" y="1481328"/>
            <a:ext cx="10728655" cy="436880"/>
          </a:xfrm>
          <a:prstGeom prst="rect">
            <a:avLst/>
          </a:prstGeom>
          <a:noFill/>
          <a:ln/>
        </p:spPr>
        <p:txBody>
          <a:bodyPr wrap="square" lIns="63500" tIns="63500" rIns="63500" bIns="63500" rtlCol="0" anchor="ctr"/>
          <a:lstStyle/>
          <a:p>
            <a:pPr algn="l" indent="0" marL="0">
              <a:buNone/>
            </a:pPr>
            <a:r>
              <a:rPr lang="en-US" sz="2000" b="1" dirty="0">
                <a:solidFill>
                  <a:srgbClr val="1E2229"/>
                </a:solidFill>
                <a:latin typeface="Calibri" pitchFamily="34" charset="0"/>
                <a:ea typeface="Calibri" pitchFamily="34" charset="-122"/>
                <a:cs typeface="Calibri" pitchFamily="34" charset="-120"/>
              </a:rPr>
              <a:t>Explain how the Thames Barrier protects London from flooding. (4 marks)</a:t>
            </a:r>
            <a:endParaRPr lang="en-US" sz="2000" dirty="0"/>
          </a:p>
        </p:txBody>
      </p:sp>
      <p:sp>
        <p:nvSpPr>
          <p:cNvPr id="9" name="step-box"/>
          <p:cNvSpPr/>
          <p:nvPr/>
        </p:nvSpPr>
        <p:spPr>
          <a:xfrm>
            <a:off x="548640" y="2192528"/>
            <a:ext cx="11094415" cy="466446"/>
          </a:xfrm>
          <a:prstGeom prst="roundRect">
            <a:avLst>
              <a:gd name="adj" fmla="val 15683"/>
            </a:avLst>
          </a:prstGeom>
          <a:solidFill>
            <a:srgbClr val="FFFFFF"/>
          </a:solidFill>
          <a:ln w="15875">
            <a:solidFill>
              <a:srgbClr val="95AE9B"/>
            </a:solidFill>
            <a:prstDash val="solid"/>
          </a:ln>
        </p:spPr>
      </p:sp>
      <p:sp>
        <p:nvSpPr>
          <p:cNvPr id="10" name="step-hex"/>
          <p:cNvSpPr/>
          <p:nvPr/>
        </p:nvSpPr>
        <p:spPr>
          <a:xfrm>
            <a:off x="685800" y="2227783"/>
            <a:ext cx="457200" cy="395935"/>
          </a:xfrm>
          <a:prstGeom prst="hexagon">
            <a:avLst/>
          </a:prstGeom>
          <a:solidFill>
            <a:srgbClr val="3F6B4A"/>
          </a:solidFill>
          <a:ln/>
        </p:spPr>
      </p:sp>
      <p:sp>
        <p:nvSpPr>
          <p:cNvPr id="11" name="step-hex-label"/>
          <p:cNvSpPr txBox="1"/>
          <p:nvPr/>
        </p:nvSpPr>
        <p:spPr>
          <a:xfrm>
            <a:off x="685800" y="2227783"/>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2" name="step"/>
          <p:cNvSpPr txBox="1"/>
          <p:nvPr/>
        </p:nvSpPr>
        <p:spPr>
          <a:xfrm>
            <a:off x="1280160" y="2192528"/>
            <a:ext cx="10180015" cy="466446"/>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Say what the danger is: a very high tide pushed up the river could flood London.</a:t>
            </a:r>
            <a:endParaRPr lang="en-US" sz="1800" dirty="0"/>
          </a:p>
        </p:txBody>
      </p:sp>
      <p:sp>
        <p:nvSpPr>
          <p:cNvPr id="13" name="step-box"/>
          <p:cNvSpPr/>
          <p:nvPr/>
        </p:nvSpPr>
        <p:spPr>
          <a:xfrm>
            <a:off x="548640" y="2732126"/>
            <a:ext cx="11094415" cy="466446"/>
          </a:xfrm>
          <a:prstGeom prst="roundRect">
            <a:avLst>
              <a:gd name="adj" fmla="val 15683"/>
            </a:avLst>
          </a:prstGeom>
          <a:solidFill>
            <a:srgbClr val="FFFFFF"/>
          </a:solidFill>
          <a:ln w="15875">
            <a:solidFill>
              <a:srgbClr val="95AE9B"/>
            </a:solidFill>
            <a:prstDash val="solid"/>
          </a:ln>
        </p:spPr>
      </p:sp>
      <p:sp>
        <p:nvSpPr>
          <p:cNvPr id="14" name="step-hex"/>
          <p:cNvSpPr/>
          <p:nvPr/>
        </p:nvSpPr>
        <p:spPr>
          <a:xfrm>
            <a:off x="685800" y="2767381"/>
            <a:ext cx="457200" cy="395935"/>
          </a:xfrm>
          <a:prstGeom prst="hexagon">
            <a:avLst/>
          </a:prstGeom>
          <a:solidFill>
            <a:srgbClr val="3F6B4A"/>
          </a:solidFill>
          <a:ln/>
        </p:spPr>
      </p:sp>
      <p:sp>
        <p:nvSpPr>
          <p:cNvPr id="15" name="step-hex-label"/>
          <p:cNvSpPr txBox="1"/>
          <p:nvPr/>
        </p:nvSpPr>
        <p:spPr>
          <a:xfrm>
            <a:off x="685800" y="2767381"/>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step"/>
          <p:cNvSpPr txBox="1"/>
          <p:nvPr/>
        </p:nvSpPr>
        <p:spPr>
          <a:xfrm>
            <a:off x="1280160" y="2732126"/>
            <a:ext cx="10180015" cy="466446"/>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Describe the barrier: ten steel gates about 500 m across the river, normally flat on the bed.</a:t>
            </a:r>
            <a:endParaRPr lang="en-US" sz="1800" dirty="0"/>
          </a:p>
        </p:txBody>
      </p:sp>
      <p:sp>
        <p:nvSpPr>
          <p:cNvPr id="17" name="step-box"/>
          <p:cNvSpPr/>
          <p:nvPr/>
        </p:nvSpPr>
        <p:spPr>
          <a:xfrm>
            <a:off x="548640" y="3271723"/>
            <a:ext cx="11094415" cy="730606"/>
          </a:xfrm>
          <a:prstGeom prst="roundRect">
            <a:avLst>
              <a:gd name="adj" fmla="val 10013"/>
            </a:avLst>
          </a:prstGeom>
          <a:solidFill>
            <a:srgbClr val="FFFFFF"/>
          </a:solidFill>
          <a:ln w="15875">
            <a:solidFill>
              <a:srgbClr val="95AE9B"/>
            </a:solidFill>
            <a:prstDash val="solid"/>
          </a:ln>
        </p:spPr>
      </p:sp>
      <p:sp>
        <p:nvSpPr>
          <p:cNvPr id="18" name="step-hex"/>
          <p:cNvSpPr/>
          <p:nvPr/>
        </p:nvSpPr>
        <p:spPr>
          <a:xfrm>
            <a:off x="685800" y="3439058"/>
            <a:ext cx="457200" cy="395935"/>
          </a:xfrm>
          <a:prstGeom prst="hexagon">
            <a:avLst/>
          </a:prstGeom>
          <a:solidFill>
            <a:srgbClr val="3F6B4A"/>
          </a:solidFill>
          <a:ln/>
        </p:spPr>
      </p:sp>
      <p:sp>
        <p:nvSpPr>
          <p:cNvPr id="19" name="step-hex-label"/>
          <p:cNvSpPr txBox="1"/>
          <p:nvPr/>
        </p:nvSpPr>
        <p:spPr>
          <a:xfrm>
            <a:off x="685800" y="3439058"/>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step"/>
          <p:cNvSpPr txBox="1"/>
          <p:nvPr/>
        </p:nvSpPr>
        <p:spPr>
          <a:xfrm>
            <a:off x="1280160" y="3271723"/>
            <a:ext cx="10180015" cy="730606"/>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Explain the action: when a high tide is forecast the gates are raised to make a wall, so the water cannot reach the city.</a:t>
            </a:r>
            <a:endParaRPr lang="en-US" sz="1800" dirty="0"/>
          </a:p>
        </p:txBody>
      </p:sp>
      <p:sp>
        <p:nvSpPr>
          <p:cNvPr id="21" name="step-box"/>
          <p:cNvSpPr/>
          <p:nvPr/>
        </p:nvSpPr>
        <p:spPr>
          <a:xfrm>
            <a:off x="548640" y="4075481"/>
            <a:ext cx="11094415" cy="730606"/>
          </a:xfrm>
          <a:prstGeom prst="roundRect">
            <a:avLst>
              <a:gd name="adj" fmla="val 10013"/>
            </a:avLst>
          </a:prstGeom>
          <a:solidFill>
            <a:srgbClr val="FFFFFF"/>
          </a:solidFill>
          <a:ln w="15875">
            <a:solidFill>
              <a:srgbClr val="95AE9B"/>
            </a:solidFill>
            <a:prstDash val="solid"/>
          </a:ln>
        </p:spPr>
      </p:sp>
      <p:sp>
        <p:nvSpPr>
          <p:cNvPr id="22" name="step-hex"/>
          <p:cNvSpPr/>
          <p:nvPr/>
        </p:nvSpPr>
        <p:spPr>
          <a:xfrm>
            <a:off x="685800" y="4242816"/>
            <a:ext cx="457200" cy="395935"/>
          </a:xfrm>
          <a:prstGeom prst="hexagon">
            <a:avLst/>
          </a:prstGeom>
          <a:solidFill>
            <a:srgbClr val="3F6B4A"/>
          </a:solidFill>
          <a:ln/>
        </p:spPr>
      </p:sp>
      <p:sp>
        <p:nvSpPr>
          <p:cNvPr id="23" name="step-hex-label"/>
          <p:cNvSpPr txBox="1"/>
          <p:nvPr/>
        </p:nvSpPr>
        <p:spPr>
          <a:xfrm>
            <a:off x="685800" y="4242816"/>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4" name="step"/>
          <p:cNvSpPr txBox="1"/>
          <p:nvPr/>
        </p:nvSpPr>
        <p:spPr>
          <a:xfrm>
            <a:off x="1280160" y="4075481"/>
            <a:ext cx="10180015" cy="730606"/>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Add a detail that shows understanding: closing takes 15 to 90 minutes, and the gates can be cranked by hand if the computer fails.</a:t>
            </a:r>
            <a:endParaRPr lang="en-US" sz="1800" dirty="0"/>
          </a:p>
        </p:txBody>
      </p:sp>
      <p:sp>
        <p:nvSpPr>
          <p:cNvPr id="25" name="worked-answer"/>
          <p:cNvSpPr/>
          <p:nvPr/>
        </p:nvSpPr>
        <p:spPr>
          <a:xfrm>
            <a:off x="548640" y="4988966"/>
            <a:ext cx="11094415" cy="1109980"/>
          </a:xfrm>
          <a:prstGeom prst="roundRect">
            <a:avLst>
              <a:gd name="adj" fmla="val 12357"/>
            </a:avLst>
          </a:prstGeom>
          <a:solidFill>
            <a:srgbClr val="EFE4D0"/>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A storm tide coming up the Thames could flood London. The barrier's ten steel gates, about 500 m across, normally lie flat so ships can pass; when a high tide is forecast they are raised in 15 to 90 minutes to form a wall, so the water is held back. If the computer fails, the gates can be cranked by hand.</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You are in charge: choosing a flood defence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6F0E6"/>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Decision questions reward reasons, not choices. Every method you pick needs a because.</a:t>
            </a:r>
            <a:endParaRPr lang="en-US" sz="1800" dirty="0"/>
          </a:p>
        </p:txBody>
      </p:sp>
      <p:sp>
        <p:nvSpPr>
          <p:cNvPr id="11" name="point-card"/>
          <p:cNvSpPr/>
          <p:nvPr/>
        </p:nvSpPr>
        <p:spPr>
          <a:xfrm>
            <a:off x="548640" y="1389888"/>
            <a:ext cx="3515258" cy="3964940"/>
          </a:xfrm>
          <a:prstGeom prst="roundRect">
            <a:avLst>
              <a:gd name="adj" fmla="val 1561"/>
            </a:avLst>
          </a:prstGeom>
          <a:solidFill>
            <a:srgbClr val="F2F5F2"/>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Imagine a new town is being planned near a river, and you have to protect it.</a:t>
            </a:r>
            <a:endParaRPr lang="en-US" sz="2200" dirty="0"/>
          </a:p>
        </p:txBody>
      </p:sp>
      <p:sp>
        <p:nvSpPr>
          <p:cNvPr id="15" name="point-card"/>
          <p:cNvSpPr/>
          <p:nvPr/>
        </p:nvSpPr>
        <p:spPr>
          <a:xfrm>
            <a:off x="4338218" y="1389888"/>
            <a:ext cx="3515258" cy="3964940"/>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Two more criteria matter just as much. Sustainability: will it still work well in the future, as the climate changes and the town grows?</a:t>
            </a:r>
            <a:endParaRPr lang="en-US" sz="2200" dirty="0"/>
          </a:p>
        </p:txBody>
      </p:sp>
      <p:sp>
        <p:nvSpPr>
          <p:cNvPr id="19" name="point-card"/>
          <p:cNvSpPr/>
          <p:nvPr/>
        </p:nvSpPr>
        <p:spPr>
          <a:xfrm>
            <a:off x="8127797" y="1389888"/>
            <a:ext cx="3515258" cy="3964940"/>
          </a:xfrm>
          <a:prstGeom prst="roundRect">
            <a:avLst>
              <a:gd name="adj" fmla="val 1561"/>
            </a:avLst>
          </a:prstGeom>
          <a:solidFill>
            <a:srgbClr val="F2F5F2"/>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A strong decision names the methods chosen, gives a reason for each with because, and uses the words run-off, infiltration or overflow to explain how it works.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Ready for the test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Spell the key words correctly: precipitation, infiltration, saturated, hydraulic, meander, floodplain. SPaG marks count.</a:t>
            </a:r>
            <a:endParaRPr lang="en-US" sz="1800" dirty="0"/>
          </a:p>
        </p:txBody>
      </p:sp>
      <p:sp>
        <p:nvSpPr>
          <p:cNvPr id="11" name="point-card"/>
          <p:cNvSpPr/>
          <p:nvPr/>
        </p:nvSpPr>
        <p:spPr>
          <a:xfrm>
            <a:off x="548640" y="1389888"/>
            <a:ext cx="3515258" cy="3686048"/>
          </a:xfrm>
          <a:prstGeom prst="roundRect">
            <a:avLst>
              <a:gd name="adj" fmla="val 1561"/>
            </a:avLst>
          </a:prstGeom>
          <a:solidFill>
            <a:srgbClr val="F2F5F2"/>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The end-of-unit test covers the whole unit: the water cycle and its key words, waterfalls and meanders, the physical and human causes of flooding, the effects of flooding in an LIC and an HIC, and the uses of rivers.</a:t>
            </a:r>
            <a:endParaRPr lang="en-US" sz="1800" dirty="0"/>
          </a:p>
        </p:txBody>
      </p:sp>
      <p:sp>
        <p:nvSpPr>
          <p:cNvPr id="15" name="point-card"/>
          <p:cNvSpPr/>
          <p:nvPr/>
        </p:nvSpPr>
        <p:spPr>
          <a:xfrm>
            <a:off x="4338218" y="1389888"/>
            <a:ext cx="3515258" cy="3686048"/>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Two command words do most of the work. Describe means say what something is like or what happens, in order.</a:t>
            </a:r>
            <a:endParaRPr lang="en-US" sz="1800" dirty="0"/>
          </a:p>
        </p:txBody>
      </p:sp>
      <p:sp>
        <p:nvSpPr>
          <p:cNvPr id="19" name="point-card"/>
          <p:cNvSpPr/>
          <p:nvPr/>
        </p:nvSpPr>
        <p:spPr>
          <a:xfrm>
            <a:off x="8127797" y="1389888"/>
            <a:ext cx="3515258" cy="3686048"/>
          </a:xfrm>
          <a:prstGeom prst="roundRect">
            <a:avLst>
              <a:gd name="adj" fmla="val 1561"/>
            </a:avLst>
          </a:prstGeom>
          <a:solidFill>
            <a:srgbClr val="F2F5F2"/>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After the test you will get feedback. WWW means What Went Well, and EBI means Even Better If.</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Built to last</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A town beside a river wants protection that will last for many years. Which of these is a LONG-term flood defence?</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Sending out a flood warning</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Building an embankment along the river</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Moving furniture upstairs</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Putting sandbags in front of doors</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Same task, three ways in: Built to last</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1 (on the last slide): Built to last</a:t>
            </a:r>
            <a:endParaRPr lang="en-US" sz="2000" dirty="0"/>
          </a:p>
        </p:txBody>
      </p:sp>
      <p:sp>
        <p:nvSpPr>
          <p:cNvPr id="12" name="col-Support"/>
          <p:cNvSpPr/>
          <p:nvPr/>
        </p:nvSpPr>
        <p:spPr>
          <a:xfrm>
            <a:off x="548640" y="2395728"/>
            <a:ext cx="4667802" cy="3749040"/>
          </a:xfrm>
          <a:prstGeom prst="roundRect">
            <a:avLst>
              <a:gd name="adj" fmla="val 1463"/>
            </a:avLst>
          </a:prstGeom>
          <a:solidFill>
            <a:srgbClr val="F2F5F2"/>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3936282"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4393482"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Ask of each option: is it done in the hours before or during a flood, or built to stay for years?</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Warnings, sandbags and moving things are all done as the flood arrives: short-term.</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Something built along the river that stays there is long-term.</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Pick the one that is built, not done.</a:t>
            </a:r>
            <a:endParaRPr lang="en-US" sz="1800" dirty="0"/>
          </a:p>
        </p:txBody>
      </p:sp>
      <p:sp>
        <p:nvSpPr>
          <p:cNvPr id="17" name="col-Core"/>
          <p:cNvSpPr/>
          <p:nvPr/>
        </p:nvSpPr>
        <p:spPr>
          <a:xfrm>
            <a:off x="5490762" y="2395728"/>
            <a:ext cx="2938987" cy="3749040"/>
          </a:xfrm>
          <a:prstGeom prst="roundRect">
            <a:avLst>
              <a:gd name="adj" fmla="val 1867"/>
            </a:avLst>
          </a:prstGeom>
          <a:solidFill>
            <a:srgbClr val="DBE3DD"/>
          </a:solidFill>
          <a:ln/>
        </p:spPr>
      </p:sp>
      <p:sp>
        <p:nvSpPr>
          <p:cNvPr id="18" name="col-hex"/>
          <p:cNvSpPr/>
          <p:nvPr/>
        </p:nvSpPr>
        <p:spPr>
          <a:xfrm>
            <a:off x="5600490"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Long-term things are built or grown. Short-term things are done.</a:t>
            </a:r>
            <a:endParaRPr lang="en-US" sz="1800" dirty="0"/>
          </a:p>
        </p:txBody>
      </p:sp>
      <p:sp>
        <p:nvSpPr>
          <p:cNvPr id="22" name="col-Stretch"/>
          <p:cNvSpPr/>
          <p:nvPr/>
        </p:nvSpPr>
        <p:spPr>
          <a:xfrm>
            <a:off x="8704069" y="2395728"/>
            <a:ext cx="2938987" cy="3749040"/>
          </a:xfrm>
          <a:prstGeom prst="roundRect">
            <a:avLst>
              <a:gd name="adj" fmla="val 1867"/>
            </a:avLst>
          </a:prstGeom>
          <a:solidFill>
            <a:srgbClr val="3F6B4A"/>
          </a:solidFill>
          <a:ln/>
        </p:spPr>
      </p:sp>
      <p:sp>
        <p:nvSpPr>
          <p:cNvPr id="23" name="col-hex"/>
          <p:cNvSpPr/>
          <p:nvPr/>
        </p:nvSpPr>
        <p:spPr>
          <a:xfrm>
            <a:off x="881379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one disadvantage of an embankment for people living further downstream, and suggest a long-term method that avoids it.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Years apart</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The Thames Barrier was first used in 1983. The Somerset Levels flooded in 2014. How many years apart are these two dates?</a:t>
            </a:r>
            <a:endParaRPr lang="en-US" sz="2600" dirty="0"/>
          </a:p>
          <a:p>
            <a:pPr algn="ctr" indent="0" marL="0">
              <a:buNone/>
            </a:pPr>
            <a:r>
              <a:rPr lang="en-US" sz="2400" b="1" dirty="0">
                <a:solidFill>
                  <a:srgbClr val="3F6B4A"/>
                </a:solidFill>
                <a:latin typeface="Calibri" pitchFamily="34" charset="0"/>
                <a:ea typeface="Calibri" pitchFamily="34" charset="-122"/>
                <a:cs typeface="Calibri" pitchFamily="34" charset="-120"/>
              </a:rPr>
              <a:t>Answer:  </a:t>
            </a:r>
            <a:pPr algn="ctr" indent="0" marL="0">
              <a:buNone/>
            </a:pPr>
            <a:r>
              <a:rPr lang="en-US" sz="2400" dirty="0">
                <a:solidFill>
                  <a:srgbClr val="1E2229"/>
                </a:solidFill>
                <a:latin typeface="Calibri" pitchFamily="34" charset="0"/>
                <a:ea typeface="Calibri" pitchFamily="34" charset="-122"/>
                <a:cs typeface="Calibri" pitchFamily="34" charset="-120"/>
              </a:rPr>
              <a:t>__________ years</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Same task, three ways in: Years apart</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29640"/>
          </a:xfrm>
          <a:prstGeom prst="roundRect">
            <a:avLst>
              <a:gd name="adj" fmla="val 9836"/>
            </a:avLst>
          </a:prstGeom>
          <a:solidFill>
            <a:srgbClr val="FFFFFF"/>
          </a:solidFill>
          <a:ln w="31750">
            <a:solidFill>
              <a:srgbClr val="B8862B"/>
            </a:solidFill>
            <a:prstDash val="solid"/>
          </a:ln>
        </p:spPr>
      </p:sp>
      <p:sp>
        <p:nvSpPr>
          <p:cNvPr id="8" name="task-hex"/>
          <p:cNvSpPr/>
          <p:nvPr/>
        </p:nvSpPr>
        <p:spPr>
          <a:xfrm>
            <a:off x="777240" y="1537960"/>
            <a:ext cx="731520" cy="633496"/>
          </a:xfrm>
          <a:prstGeom prst="hexagon">
            <a:avLst/>
          </a:prstGeom>
          <a:solidFill>
            <a:srgbClr val="B8862B"/>
          </a:solidFill>
          <a:ln/>
        </p:spPr>
      </p:sp>
      <p:sp>
        <p:nvSpPr>
          <p:cNvPr id="9" name="task-hex-label"/>
          <p:cNvSpPr txBox="1"/>
          <p:nvPr/>
        </p:nvSpPr>
        <p:spPr>
          <a:xfrm>
            <a:off x="777240" y="153796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58038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4676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The Thames Barrier was first used in 1983. The Somerset Levels flooded in 2014. How many years apart are these two dates?</a:t>
            </a:r>
            <a:endParaRPr lang="en-US" sz="2000" dirty="0"/>
          </a:p>
        </p:txBody>
      </p:sp>
      <p:sp>
        <p:nvSpPr>
          <p:cNvPr id="12" name="col-Support"/>
          <p:cNvSpPr/>
          <p:nvPr/>
        </p:nvSpPr>
        <p:spPr>
          <a:xfrm>
            <a:off x="548640" y="2593848"/>
            <a:ext cx="4667802" cy="3550920"/>
          </a:xfrm>
          <a:prstGeom prst="roundRect">
            <a:avLst>
              <a:gd name="adj" fmla="val 1545"/>
            </a:avLst>
          </a:prstGeom>
          <a:solidFill>
            <a:srgbClr val="F2F5F2"/>
          </a:solidFill>
          <a:ln/>
        </p:spPr>
      </p:sp>
      <p:sp>
        <p:nvSpPr>
          <p:cNvPr id="13" name="col-hex"/>
          <p:cNvSpPr/>
          <p:nvPr/>
        </p:nvSpPr>
        <p:spPr>
          <a:xfrm>
            <a:off x="658368" y="266700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30424"/>
            <a:ext cx="3936282"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33928"/>
            <a:ext cx="4393482" cy="280111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Write the later year first: 2014. Then the earlier year: 1983.</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Count on from 1983 to 2000: that is 17 years.</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Count on from 2000 to 2014: that is 14 more years.</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Add the two parts: 17 + 14 = 31. Check: 1983 + 31 = 2014.</a:t>
            </a:r>
            <a:endParaRPr lang="en-US" sz="1800" dirty="0"/>
          </a:p>
        </p:txBody>
      </p:sp>
      <p:sp>
        <p:nvSpPr>
          <p:cNvPr id="17" name="col-Core"/>
          <p:cNvSpPr/>
          <p:nvPr/>
        </p:nvSpPr>
        <p:spPr>
          <a:xfrm>
            <a:off x="5490762" y="2593848"/>
            <a:ext cx="2938987" cy="3550920"/>
          </a:xfrm>
          <a:prstGeom prst="roundRect">
            <a:avLst>
              <a:gd name="adj" fmla="val 1867"/>
            </a:avLst>
          </a:prstGeom>
          <a:solidFill>
            <a:srgbClr val="DBE3DD"/>
          </a:solidFill>
          <a:ln/>
        </p:spPr>
      </p:sp>
      <p:sp>
        <p:nvSpPr>
          <p:cNvPr id="18" name="col-hex"/>
          <p:cNvSpPr/>
          <p:nvPr/>
        </p:nvSpPr>
        <p:spPr>
          <a:xfrm>
            <a:off x="5600490" y="266700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630424"/>
            <a:ext cx="2207467"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233928"/>
            <a:ext cx="2664667" cy="280111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Later year minus earlier year. Count on to 2000 first if it helps.</a:t>
            </a:r>
            <a:endParaRPr lang="en-US" sz="1800" dirty="0"/>
          </a:p>
        </p:txBody>
      </p:sp>
      <p:sp>
        <p:nvSpPr>
          <p:cNvPr id="22" name="col-Stretch"/>
          <p:cNvSpPr/>
          <p:nvPr/>
        </p:nvSpPr>
        <p:spPr>
          <a:xfrm>
            <a:off x="8704069" y="2593848"/>
            <a:ext cx="2938987" cy="3550920"/>
          </a:xfrm>
          <a:prstGeom prst="roundRect">
            <a:avLst>
              <a:gd name="adj" fmla="val 1867"/>
            </a:avLst>
          </a:prstGeom>
          <a:solidFill>
            <a:srgbClr val="3F6B4A"/>
          </a:solidFill>
          <a:ln/>
        </p:spPr>
      </p:sp>
      <p:sp>
        <p:nvSpPr>
          <p:cNvPr id="23" name="col-hex"/>
          <p:cNvSpPr/>
          <p:nvPr/>
        </p:nvSpPr>
        <p:spPr>
          <a:xfrm>
            <a:off x="8813797" y="266700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63042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233928"/>
            <a:ext cx="2664667" cy="280111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The barrier was designed in the 1970s to protect London for decades. Explain why engineers might now be planning what comes after it, using the word sustainability.</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3F6B4A"/>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3F6B4A"/>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615184"/>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Which of these is a SHORT-term way of coping with a flood?</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Putting sandbags across doorways</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Planting trees in the drainage basin</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Building the Thames Barrier</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Building a flood wall along the river</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7F9F8"/>
          </a:solidFill>
          <a:ln w="12700">
            <a:solidFill>
              <a:srgbClr val="A5B9AA"/>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Built to last</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town beside a river wants protection that will last for many years. Which of these is a LONG-term flood defence?</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B   Building an embankment along the river</a:t>
            </a:r>
            <a:endParaRPr lang="en-US" sz="1800" dirty="0"/>
          </a:p>
        </p:txBody>
      </p:sp>
      <p:sp>
        <p:nvSpPr>
          <p:cNvPr id="10" name="why-panel"/>
          <p:cNvSpPr/>
          <p:nvPr/>
        </p:nvSpPr>
        <p:spPr>
          <a:xfrm>
            <a:off x="7223760" y="1389888"/>
            <a:ext cx="4419295" cy="4754880"/>
          </a:xfrm>
          <a:prstGeom prst="roundRect">
            <a:avLst>
              <a:gd name="adj" fmla="val 1035"/>
            </a:avLst>
          </a:prstGeom>
          <a:solidFill>
            <a:srgbClr val="F2F5F2"/>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Long-term defences are built or grown to last for years (embankments, walls, dams, barriers, trees). Short-term methods are used just before or during a flood (warnings, sandbags, evacuation, moving valuables).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Years apart</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The Thames Barrier was first used in 1983. The Somerset Levels flooded in 2014. How many years apart are these two dates?</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31 years</a:t>
            </a:r>
            <a:endParaRPr lang="en-US" sz="1800" dirty="0"/>
          </a:p>
        </p:txBody>
      </p:sp>
      <p:sp>
        <p:nvSpPr>
          <p:cNvPr id="10" name="why-panel"/>
          <p:cNvSpPr/>
          <p:nvPr/>
        </p:nvSpPr>
        <p:spPr>
          <a:xfrm>
            <a:off x="7223760" y="1389888"/>
            <a:ext cx="4419295" cy="4754880"/>
          </a:xfrm>
          <a:prstGeom prst="roundRect">
            <a:avLst>
              <a:gd name="adj" fmla="val 1035"/>
            </a:avLst>
          </a:prstGeom>
          <a:solidFill>
            <a:srgbClr val="F2F5F2"/>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gap between two dates is the later year minus the earlier year: 2014 − 1983 = 31.</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Which of these is a SHORT-term way of coping with a flood?</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A   Putting sandbags across doorways</a:t>
            </a:r>
            <a:endParaRPr lang="en-US" sz="1800" dirty="0"/>
          </a:p>
        </p:txBody>
      </p:sp>
      <p:sp>
        <p:nvSpPr>
          <p:cNvPr id="10" name="why-panel"/>
          <p:cNvSpPr/>
          <p:nvPr/>
        </p:nvSpPr>
        <p:spPr>
          <a:xfrm>
            <a:off x="7223760" y="1389888"/>
            <a:ext cx="4419295" cy="4754880"/>
          </a:xfrm>
          <a:prstGeom prst="roundRect">
            <a:avLst>
              <a:gd name="adj" fmla="val 1035"/>
            </a:avLst>
          </a:prstGeom>
          <a:solidFill>
            <a:srgbClr val="F2F5F2"/>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Sandbags are put down just before or during a flood; the others take years to build or grow.</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Ad Astra geography">
  <a:themeElements>
    <a:clrScheme name="Ad Astra geography">
      <a:dk1>
        <a:srgbClr val="1E2229"/>
      </a:dk1>
      <a:lt1>
        <a:srgbClr val="FFFFFF"/>
      </a:lt1>
      <a:dk2>
        <a:srgbClr val="32563B"/>
      </a:dk2>
      <a:lt2>
        <a:srgbClr val="F2F5F2"/>
      </a:lt2>
      <a:accent1>
        <a:srgbClr val="3F6B4A"/>
      </a:accent1>
      <a:accent2>
        <a:srgbClr val="B8862B"/>
      </a:accent2>
      <a:accent3>
        <a:srgbClr val="8CA692"/>
      </a:accent3>
      <a:accent4>
        <a:srgbClr val="815E1E"/>
      </a:accent4>
      <a:accent5>
        <a:srgbClr val="4A505C"/>
      </a:accent5>
      <a:accent6>
        <a:srgbClr val="DEC69B"/>
      </a:accent6>
      <a:hlink>
        <a:srgbClr val="3F6B4A"/>
      </a:hlink>
      <a:folHlink>
        <a:srgbClr val="2C4B34"/>
      </a:folHlink>
    </a:clrScheme>
    <a:fontScheme name="Ad Astra geograph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Water on Land: Rivers · Chapter 6: Managing floods: protecting people and places</dc:title>
  <dc:subject>Geography · Year 7</dc:subject>
  <dc:creator>Dr Vitor Merissi de Carvalho</dc:creator>
  <cp:lastModifiedBy>Dr Vitor Merissi de Carvalho</cp:lastModifiedBy>
  <cp:revision>1</cp:revision>
  <dcterms:created xsi:type="dcterms:W3CDTF">2026-10-19T06:07:45Z</dcterms:created>
  <dcterms:modified xsi:type="dcterms:W3CDTF">2026-10-19T06:07:45Z</dcterms:modified>
</cp:coreProperties>
</file>