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ca54645-76b3-151b-8e5f-8832cba302a7}">
          <p14:sldIdLst>
            <p14:sldId id="256"/>
          </p14:sldIdLst>
        </p14:section>
        <p14:section name="Gate" id="{e7644fea-74d5-83ba-7d7d-8e55f71b1daf}">
          <p14:sldIdLst>
            <p14:sldId id="257"/>
            <p14:sldId id="258"/>
          </p14:sldIdLst>
        </p14:section>
        <p14:section name="Pre-teach" id="{b97ce900-b90d-a8d0-7e04-5bc0b39e1c93}">
          <p14:sldIdLst>
            <p14:sldId id="259"/>
            <p14:sldId id="260"/>
          </p14:sldIdLst>
        </p14:section>
        <p14:section name="Read-along" id="{36f22c1a-4814-6c95-11ad-2e7e15b9502e}">
          <p14:sldIdLst>
            <p14:sldId id="261"/>
            <p14:sldId id="262"/>
          </p14:sldIdLst>
        </p14:section>
        <p14:section name="Teach" id="{ddbcb43d-9bf5-08f5-4d2e-4607e1f43588}">
          <p14:sldIdLst>
            <p14:sldId id="263"/>
            <p14:sldId id="264"/>
            <p14:sldId id="265"/>
            <p14:sldId id="266"/>
            <p14:sldId id="267"/>
          </p14:sldIdLst>
        </p14:section>
        <p14:section name="Routes" id="{9580db81-cb9a-2ac1-d582-e0fc4a54c689}">
          <p14:sldIdLst>
            <p14:sldId id="268"/>
            <p14:sldId id="269"/>
            <p14:sldId id="270"/>
            <p14:sldId id="271"/>
          </p14:sldIdLst>
        </p14:section>
        <p14:section name="Close" id="{d0486148-e6f7-37ad-48ed-4c0f193938e1}">
          <p14:sldIdLst>
            <p14:sldId id="272"/>
          </p14:sldIdLst>
        </p14:section>
        <p14:section name="Answers" id="{aa9ba2e4-9b81-17e2-9191-38ab9afa9da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Landforms: valleys, waterfalls and meanders. The shapes a river carves and builds along its course, and the step-by-step stories of how a waterfall and a meander are made.
This deck covers the department's lessons: 8 (River courses and landforms: What are the three stages of a river, and which landforms are made in each?); 9 (Waterfalls and meanders: How are a waterfall, a gorge, a meander and an oxbow lake formed?).
Read the big question aloud: "How does water shape the land, why do rivers flood, and what can people do to reduce the risk and the damage?"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which course of a river would you expect to find a waterfall?  →  D   The upper course
2. The deep pool worn out at the bottom of a waterfall is called a ___ pool.  →  plunge
3. What is a meander?  →  C   A large bend in a river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upper course. Waterfalls form in the steep upper course, near the source.
2. plunge. Falling water carves out a plunge pool at the base of the waterfall.
3. C   A large bend in a river. A meander is a large winding bend in a river's middle or lower course.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long profile: a side view of a river from source to mouth. Example: "The long profile shows the river is steep near its source."
• V-shaped valley: a steep, narrow valley in the upper course. Example: "The stream has cut a V-shaped valley into the hillside."
• plunge pool: the deep pool at the bottom of a waterfall. Example: "The falling water has worn out a deep plunge pool."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gorge: a narrow, steep-sided valley left behind by a retreating waterfall. Example: "Downstream of the waterfall is a rocky gorge."
• meander: a large bend in a river. Example: "The river swings round a wide meander."
• oxbow lake: a curved lake left when a meander is cut off. Example: "An oxbow lake sits beside the river where a bend used to be."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river can be looked at in two ways.
2. The long profile is a side view from source to mouth.
3. It is steep near the source and gentle near the mouth.
4. A cross section is a slice across the valley.
5. In the upper course the valley is narrow and steep: a V-shaped valley.
6. The river winds between fingers of high land called interlocking spurs.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Where hard rock lies over soft rock, a waterfall forms.
8. The waterfall slowly moves back upstream and leaves a gorge.
9. In the middle course the river bends from side to side.
10. Each bend is a meander.
11. Sometimes a meander is cut off from the river.
12. It becomes a curved oxbow lake.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ways to look at a river. Say it in your own words, then check understanding with a quick question: ask a pupil from the pre-teach group first, since they met these words and ideas before the lesson. Pupils try to recall before you re-explain.
Geographers draw a river in two ways. The long profile is a side view of the whole river from source to mouth. It looks like a slide: steep at the top in the upper course, flattening out through the middle course, and almost level in the lower course near the sea.
A cross section is a slice straight across the valley, as if you had cut it with a knife. In the upper course the cross section is a narrow, steep-sided V. In the middle course it is wider, with a flat floor. In the lower course it is very wide and flat, with the river winding across a floodplain.
Each course has its own landforms. The upper course is shaped mostly by erosion: V-shaped valleys, interlocking spurs, waterfalls and gorges. The middle and lower courses are shaped by erosion and deposition together: meanders, oxbow lakes and floodplains.
Tip: Long profile = side view, source to mouth. Cross section = a slice across. Learn which is which before you draw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upper course: V-shaped valleys, spurs and waterfalls. Say it in your own words, then check understanding with a quick question: ask a pupil from the pre-teach group first, since they met these words and ideas before the lesson. Pupils try to recall before you re-explain.
In the upper course the river is small but fast, and it cuts down into the land. Hydraulic action and abrasion deepen the channel, and the steep sides above it slip and wash down, making a V-shaped valley. The river is not strong enough to cut sideways through the ridges of hard land, so it winds between them. These ridges are interlocking spurs.
A waterfall forms where a band of hard rock lies on top of softer rock. The river erodes the soft rock faster, by hydraulic action and abrasion, so a step appears. Water pours over the step and swirls at the bottom, carving a deep plunge pool. The soft rock behind the pool is worn away, leaving the hard rock sticking out as an overhang.
In time the overhang has nothing holding it up, and it collapses into the plunge pool. The fallen rocks are swirled around and help to deepen the pool. The waterfall is now a little further upstream. This happens again and again, so the waterfall retreats upstream and leaves behind a steep, narrow, rocky valley: a gorge.
Worked example — model it step by step, thinking aloud: Explain how a waterfall and a gorge are formed. (4 marks) (1) Set the scene: hard rock lies on top of soft rock. (2) Name the processes: the river erodes the soft rock faster by hydraulic action and abrasion, forming a step and then a plunge pool. (3) Describe the overhang: soft rock is cut back behind the pool, so the hard rock overhangs, then collapses. (4) Finish with retreat: this repeats, the waterfall moves upstream, and a gorge is left behind. Answer: Hard rock over soft rock; the soft rock erodes faster by hydraulic action and abrasion, forming a step and a plunge pool; the soft rock is undercut so the hard rock overhangs and collapses; the process repeats, the waterfall retreats upstream and leaves a gorge..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upper course: V-shaped valleys, spurs and waterfalls. Say it in your own words, then check understanding with a quick question: ask a pupil from the pre-teach group first, since they met these words and ideas before the lesson. Pupils try to recall before you re-explain.
In the upper course the river is small but fast, and it cuts down into the land. Hydraulic action and abrasion deepen the channel, and the steep sides above it slip and wash down, making a V-shaped valley. The river is not strong enough to cut sideways through the ridges of hard land, so it winds between them. These ridges are interlocking spurs.
A waterfall forms where a band of hard rock lies on top of softer rock. The river erodes the soft rock faster, by hydraulic action and abrasion, so a step appears. Water pours over the step and swirls at the bottom, carving a deep plunge pool. The soft rock behind the pool is worn away, leaving the hard rock sticking out as an overhang.
In time the overhang has nothing holding it up, and it collapses into the plunge pool. The fallen rocks are swirled around and help to deepen the pool. The waterfall is now a little further upstream. This happens again and again, so the waterfall retreats upstream and leaves behind a steep, narrow, rocky valley: a gorge.
Worked example — model it step by step, thinking aloud: Explain how a waterfall and a gorge are formed. (4 marks) (1) Set the scene: hard rock lies on top of soft rock. (2) Name the processes: the river erodes the soft rock faster by hydraulic action and abrasion, forming a step and then a plunge pool. (3) Describe the overhang: soft rock is cut back behind the pool, so the hard rock overhangs, then collapses. (4) Finish with retreat: this repeats, the waterfall moves upstream, and a gorge is left behind. Answer: Hard rock over soft rock; the soft rock erodes faster by hydraulic action and abrasion, forming a step and a plunge pool; the soft rock is undercut so the hard rock overhangs and collapses; the process repeats, the waterfall retreats upstream and leaves a gorge..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middle course: meanders and oxbow lakes. Say it in your own words, then check understanding with a quick question: ask a pupil from the pre-teach group first, since they met these words and ideas before the lesson. Pupils try to recall before you re-explain.
In the middle course the river has more water and a gentler slope, so it starts to swing from side to side in large bends called meanders. On the outside of each bend the water is fastest and deepest, so it erodes the bank, making it steep. On the inside the water is slowest, so it deposits sand and pebbles, making a gentle slope.
Because the outer bank is eroded and the inner bank is built up, the bend grows bigger and moves outwards over time. Two bends can grow towards each other until only a narrow neck of land separates them.
During a flood the river has extra power and cuts straight through the neck. It now takes the shorter route. Deposition seals off the ends of the old bend, and the curved loop of water left behind is an oxbow lake. Slowly it fills with mud and plants, until only a curved mark in the field shows where the river once flowed.
Tip: Outside of the bend: fast, deep, erosion. Inside of the bend: slow, shallow, deposition. Say both halves in an explain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Which landform, which course?. Say it in your own words, then check understanding with a quick question: ask a pupil from the pre-teach group first, since they met these words and ideas before the lesson. Pupils try to recall before you re-explain.
You can sort every river landform by two questions: which course is it in, and was it made by erosion, deposition or both? The V-shaped valley, interlocking spurs, the waterfall and the gorge are all upper-course landforms made by erosion.
Meanders are made by erosion on the outer bank and deposition on the inner bank, so they need both. Oxbow lakes are made in the same way. They are found in the middle and lower courses. The floodplain is a lower-course landform built by deposition when flood water spreads out, slows down and drops its load.
If a test asks you to label a picture of a river, start with the easy ones: the waterfall and the gorge in the hills, the big bends and the oxbow lake on the flat land. Then fit the others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waterfall is made.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 waterfall and gorge in the correct order.
Support — work through the steps with the group: (1) Start with the rocks, before the river has done anything: hard over soft. (2) The river must erode the soft rock before there is a step, and there must be a step before water can fall and make a pool. (3) An overhang can only form once there is a pool to cut back from, and it can only collapse once it exists. (4) Retreat and the gorge come last, because they are the result of many collapses.
Parallel worked example for Support (model it, do not give the task answer): Put these stages of a sandcastle being washed away in order: the castle collapses; waves reach the base; the sea comes in; the base is hollowed out. First the sea has to come in.; Then waves reach the base and hollow it out.; Only then can the castle collapse.. Answer: the sea comes in, waves reach the base, the base is hollowed out, the castle collapses.
Core — reveal the hint only on request: Rocks, step, pool, overhang, collapse, retreat.
Stretch — no help; when finished: Explain why the plunge pool gets deeper after the overhang collapses, naming the erosion process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waterfall is made.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 waterfall and gorge in the correct order.
Support — work through the steps with the group: (1) Start with the rocks, before the river has done anything: hard over soft. (2) The river must erode the soft rock before there is a step, and there must be a step before water can fall and make a pool. (3) An overhang can only form once there is a pool to cut back from, and it can only collapse once it exists. (4) Retreat and the gorge come last, because they are the result of many collapses.
Parallel worked example for Support (model it, do not give the task answer): Put these stages of a sandcastle being washed away in order: the castle collapses; waves reach the base; the sea comes in; the base is hollowed out. First the sea has to come in.; Then waves reach the base and hollow it out.; Only then can the castle collapse.. Answer: the sea comes in, waves reach the base, the base is hollowed out, the castle collapses.
Core — reveal the hint only on request: Rocks, step, pool, overhang, collapse, retreat.
Stretch — no help; when finished: Explain why the plunge pool gets deeper after the overhang collapses, naming the erosion process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meander to oxbow lake.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an oxbow lake in the correct order.
Support — work through the steps with the group: (1) Begin with the ordinary meander, before anything dramatic happens. (2) The neck has to get narrow before the river can break through it. (3) The break-through comes in a flood; then the river uses the new route. (4) The old bend is only a lake once it has been sealed off, so that is last.
Parallel worked example for Support (model it, do not give the task answer): Put these stages of a shortcut being made across a field in order: a path is worn across the corner; the gate is left open; everyone uses the path; the old long way round grows over. The gate is left open first.; A path is worn across the corner, then everyone uses it.; The old route grows over last.. Answer: the gate is left open, a path is worn across the corner, everyone uses the path, the old long way round grows over.
Core — reveal the hint only on request: Bend, narrow neck, break through, new route, sealed off.
Stretch — no help; when finished: Explain why the outer bank of a meander is eroded while the inner bank is built up, using the words fast, slow, energy and deposition.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meander to oxbow lake.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an oxbow lake in the correct order.
Support — work through the steps with the group: (1) Begin with the ordinary meander, before anything dramatic happens. (2) The neck has to get narrow before the river can break through it. (3) The break-through comes in a flood; then the river uses the new route. (4) The old bend is only a lake once it has been sealed off, so that is last.
Parallel worked example for Support (model it, do not give the task answer): Put these stages of a shortcut being made across a field in order: a path is worn across the corner; the gate is left open; everyone uses the path; the old long way round grows over. The gate is left open first.; A path is worn across the corner, then everyone uses it.; The old route grows over last.. Answer: the gate is left open, a path is worn across the corner, everyone uses the path, the old long way round grows over.
Core — reveal the hint only on request: Bend, narrow neck, break through, new route, sealed off.
Stretch — no help; when finished: Explain why the outer bank of a meander is eroded while the inner bank is built up, using the words fast, slow, energy and deposition.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which course of a river would you expect to find a waterfall?
Answer: C   The upper course. Waterfalls form in the steep upper course, near the source.
Source of this question: gate item 1 re-asked (options rotated) — this chapter has no third quick-check module.
The ebook also holds task 3, "Name that landform",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a waterfall is made. Reveal the answer; pupils mark their own work in a different colour, then read the "why" together. Same destination for every lane, so one answer serves the whole class.
Answer: A band of hard rock lies on top of softer rock  (F); The river erodes the soft rock faster, making a step  (D); Falling water carves a deep plunge pool  (C); Soft rock is cut back behind the pool, leaving an overhang of hard rock  (B); The overhang collapses into the plunge pool  (A); The waterfall retreats upstream, leaving a gorge  (E)
Why: Hard rock over soft; soft rock eroded to make a step; plunge pool carved; undercutting leaves an overhang; the overhang collapses; repeated collapse makes the waterfall retreat and leaves a gorge.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meander to oxbow lake. Reveal the answer; pupils mark their own work in a different colour, then read the "why" together. Same destination for every lane, so one answer serves the whole class.
Answer: The river flows round a meander: erosion on the outer bank, deposition on the inner bank  (E); The bend grows and the neck of land between two bends gets narrower  (D); In a flood the river cuts straight through the neck  (B); The river takes the new, shorter route  (C); Deposition seals off the old bend, leaving an oxbow lake  (A)
Why: Outer bank erodes and inner bank builds up; the neck narrows; a flood breaks through; the river takes the shorter route; deposition seals the old bend as an oxbow lake.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The upper course
Why: Waterfalls form in the steep upper course, near the source.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Water on Land: Rivers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Water on Land: Rivers · AQA KS3 → 8035</a:t>
            </a:r>
            <a:endParaRPr lang="en-US" sz="1800" dirty="0"/>
          </a:p>
        </p:txBody>
      </p:sp>
      <p:sp>
        <p:nvSpPr>
          <p:cNvPr id="10" name="deck-title"/>
          <p:cNvSpPr txBox="1"/>
          <p:nvPr/>
        </p:nvSpPr>
        <p:spPr>
          <a:xfrm>
            <a:off x="548640" y="235127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Landforms: valleys, waterfalls and meanders</a:t>
            </a:r>
            <a:endParaRPr lang="en-US" sz="3200" dirty="0"/>
          </a:p>
        </p:txBody>
      </p:sp>
      <p:sp>
        <p:nvSpPr>
          <p:cNvPr id="11" name="lessons-card"/>
          <p:cNvSpPr/>
          <p:nvPr/>
        </p:nvSpPr>
        <p:spPr>
          <a:xfrm>
            <a:off x="548640" y="3763518"/>
            <a:ext cx="5287975" cy="1328420"/>
          </a:xfrm>
          <a:prstGeom prst="roundRect">
            <a:avLst>
              <a:gd name="adj" fmla="val 5507"/>
            </a:avLst>
          </a:prstGeom>
          <a:solidFill>
            <a:srgbClr val="F2F5F2"/>
          </a:solidFill>
          <a:ln/>
        </p:spPr>
      </p:sp>
      <p:sp>
        <p:nvSpPr>
          <p:cNvPr id="12" name="lessons"/>
          <p:cNvSpPr txBox="1"/>
          <p:nvPr/>
        </p:nvSpPr>
        <p:spPr>
          <a:xfrm>
            <a:off x="685800" y="38549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River courses and landforms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Waterfalls and meanders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water shape the land, why do rivers flood, and what can people do to reduce the risk and the damage?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course of a river would you expect to find a waterfall?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middle course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the mouth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lower course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upper course</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deep pool worn out at the bottom of a waterfall is called a ___ pool.</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plunge  ·  oxbow  ·  meander</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a meander?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waterfall that has moved upstream</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small river that joins a bigger one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large bend in a river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flat land beside a river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upper course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which course of a river would you expect to find a waterfall?</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Waterfalls form in the steep upper course, near the source.</a:t>
            </a:r>
            <a:endParaRPr lang="en-US" sz="22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plunge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deep pool worn out at the bottom of a waterfall is called a ___ pool.</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Falling water carves out a plunge pool at the base of the waterfall.</a:t>
            </a:r>
            <a:endParaRPr lang="en-US" sz="22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large bend in a river</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a meander?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meander is a large winding bend in a river's middle or lower course.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long profile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side view of a river from source to mouth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long profile shows the river is steep near its source.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V-shaped valley</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steep, narrow valley in the upper course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stream has cut a V-shaped valley into the hillside.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plunge pool</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deep pool at the bottom of a waterfall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falling water has worn out a deep plunge pool.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gorge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narrow, steep-sided valley left behind by a retreating waterfall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Downstream of the waterfall is a rocky gorge.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meander</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bend in a river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river swings round a wide meander.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oxbow lake</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curved lake left when a meander is cut off</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oxbow lake sits beside the river where a bend used to be.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river can be looked at in two ways.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long profile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 side view from source to mouth.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steep near the source and gentle near the mouth.</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cross section is a slice across the valley.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the upper course the valley is narrow and steep: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V-shaped valley</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river winds between fingers of high land called interlocking spurs.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Where hard rock lies over soft rock, a waterfall forms.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waterfall slowly moves back upstream and leaves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gorge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the middle course the river bends from side to side.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bend is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meander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Sometimes a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meander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cut off from the river.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becomes a curved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oxbow lake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Two ways to look at a river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Long profile = side view, source to mouth. Cross section = a slice across. Learn which is which before you draw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Geographers draw a river in two ways. The long profile is a side view of the whole river from source to mouth.</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cross section is a slice straight across the valley, as if you had cut it with a knife.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Each course has its own landforms. The upper course is shaped mostly by erosion: V-shaped valleys, interlocking spurs, waterfalls and gorges.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The upper course: V-shaped valleys, spurs and waterfalls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F5F2"/>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upper course the river is small but fast, and it cuts down into the land.</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waterfall forms where a band of hard rock lies on top of softer rock.</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F5F2"/>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time the overhang has nothing holding it up, and it collapses into the plunge pool.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The upper course: V-shaped valleys, spurs and waterfalls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a waterfall and a gorge are formed. (4 marks)</a:t>
            </a:r>
            <a:endParaRPr lang="en-US" sz="2000" dirty="0"/>
          </a:p>
        </p:txBody>
      </p:sp>
      <p:sp>
        <p:nvSpPr>
          <p:cNvPr id="9" name="step-box"/>
          <p:cNvSpPr/>
          <p:nvPr/>
        </p:nvSpPr>
        <p:spPr>
          <a:xfrm>
            <a:off x="548640" y="2192528"/>
            <a:ext cx="11094415" cy="466446"/>
          </a:xfrm>
          <a:prstGeom prst="roundRect">
            <a:avLst>
              <a:gd name="adj" fmla="val 15683"/>
            </a:avLst>
          </a:prstGeom>
          <a:solidFill>
            <a:srgbClr val="FFFFFF"/>
          </a:solidFill>
          <a:ln w="15875">
            <a:solidFill>
              <a:srgbClr val="95AE9B"/>
            </a:solidFill>
            <a:prstDash val="solid"/>
          </a:ln>
        </p:spPr>
      </p:sp>
      <p:sp>
        <p:nvSpPr>
          <p:cNvPr id="10" name="step-hex"/>
          <p:cNvSpPr/>
          <p:nvPr/>
        </p:nvSpPr>
        <p:spPr>
          <a:xfrm>
            <a:off x="685800" y="2227783"/>
            <a:ext cx="457200" cy="395935"/>
          </a:xfrm>
          <a:prstGeom prst="hexagon">
            <a:avLst/>
          </a:prstGeom>
          <a:solidFill>
            <a:srgbClr val="3F6B4A"/>
          </a:solidFill>
          <a:ln/>
        </p:spPr>
      </p:sp>
      <p:sp>
        <p:nvSpPr>
          <p:cNvPr id="11" name="step-hex-label"/>
          <p:cNvSpPr txBox="1"/>
          <p:nvPr/>
        </p:nvSpPr>
        <p:spPr>
          <a:xfrm>
            <a:off x="685800" y="222778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Set the scene: hard rock lies on top of soft rock.</a:t>
            </a:r>
            <a:endParaRPr lang="en-US" sz="1800" dirty="0"/>
          </a:p>
        </p:txBody>
      </p:sp>
      <p:sp>
        <p:nvSpPr>
          <p:cNvPr id="13" name="step-box"/>
          <p:cNvSpPr/>
          <p:nvPr/>
        </p:nvSpPr>
        <p:spPr>
          <a:xfrm>
            <a:off x="548640" y="2732126"/>
            <a:ext cx="11094415" cy="730606"/>
          </a:xfrm>
          <a:prstGeom prst="roundRect">
            <a:avLst>
              <a:gd name="adj" fmla="val 10013"/>
            </a:avLst>
          </a:prstGeom>
          <a:solidFill>
            <a:srgbClr val="FFFFFF"/>
          </a:solidFill>
          <a:ln w="15875">
            <a:solidFill>
              <a:srgbClr val="95AE9B"/>
            </a:solidFill>
            <a:prstDash val="solid"/>
          </a:ln>
        </p:spPr>
      </p:sp>
      <p:sp>
        <p:nvSpPr>
          <p:cNvPr id="14" name="step-hex"/>
          <p:cNvSpPr/>
          <p:nvPr/>
        </p:nvSpPr>
        <p:spPr>
          <a:xfrm>
            <a:off x="685800" y="2899461"/>
            <a:ext cx="457200" cy="395935"/>
          </a:xfrm>
          <a:prstGeom prst="hexagon">
            <a:avLst/>
          </a:prstGeom>
          <a:solidFill>
            <a:srgbClr val="3F6B4A"/>
          </a:solidFill>
          <a:ln/>
        </p:spPr>
      </p:sp>
      <p:sp>
        <p:nvSpPr>
          <p:cNvPr id="15" name="step-hex-label"/>
          <p:cNvSpPr txBox="1"/>
          <p:nvPr/>
        </p:nvSpPr>
        <p:spPr>
          <a:xfrm>
            <a:off x="685800" y="289946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2126"/>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Name the processes: the river erodes the soft rock faster by hydraulic action and abrasion, forming a step and then a plunge pool.</a:t>
            </a:r>
            <a:endParaRPr lang="en-US" sz="1800" dirty="0"/>
          </a:p>
        </p:txBody>
      </p:sp>
      <p:sp>
        <p:nvSpPr>
          <p:cNvPr id="17" name="step-box"/>
          <p:cNvSpPr/>
          <p:nvPr/>
        </p:nvSpPr>
        <p:spPr>
          <a:xfrm>
            <a:off x="548640" y="3535883"/>
            <a:ext cx="11094415" cy="730606"/>
          </a:xfrm>
          <a:prstGeom prst="roundRect">
            <a:avLst>
              <a:gd name="adj" fmla="val 10013"/>
            </a:avLst>
          </a:prstGeom>
          <a:solidFill>
            <a:srgbClr val="FFFFFF"/>
          </a:solidFill>
          <a:ln w="15875">
            <a:solidFill>
              <a:srgbClr val="95AE9B"/>
            </a:solidFill>
            <a:prstDash val="solid"/>
          </a:ln>
        </p:spPr>
      </p:sp>
      <p:sp>
        <p:nvSpPr>
          <p:cNvPr id="18" name="step-hex"/>
          <p:cNvSpPr/>
          <p:nvPr/>
        </p:nvSpPr>
        <p:spPr>
          <a:xfrm>
            <a:off x="685800" y="3703218"/>
            <a:ext cx="457200" cy="395935"/>
          </a:xfrm>
          <a:prstGeom prst="hexagon">
            <a:avLst/>
          </a:prstGeom>
          <a:solidFill>
            <a:srgbClr val="3F6B4A"/>
          </a:solidFill>
          <a:ln/>
        </p:spPr>
      </p:sp>
      <p:sp>
        <p:nvSpPr>
          <p:cNvPr id="19" name="step-hex-label"/>
          <p:cNvSpPr txBox="1"/>
          <p:nvPr/>
        </p:nvSpPr>
        <p:spPr>
          <a:xfrm>
            <a:off x="685800" y="370321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35883"/>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 the overhang: soft rock is cut back behind the pool, so the hard rock overhangs, then collapses.</a:t>
            </a:r>
            <a:endParaRPr lang="en-US" sz="1800" dirty="0"/>
          </a:p>
        </p:txBody>
      </p:sp>
      <p:sp>
        <p:nvSpPr>
          <p:cNvPr id="21" name="step-box"/>
          <p:cNvSpPr/>
          <p:nvPr/>
        </p:nvSpPr>
        <p:spPr>
          <a:xfrm>
            <a:off x="548640" y="4339641"/>
            <a:ext cx="11094415" cy="466446"/>
          </a:xfrm>
          <a:prstGeom prst="roundRect">
            <a:avLst>
              <a:gd name="adj" fmla="val 15683"/>
            </a:avLst>
          </a:prstGeom>
          <a:solidFill>
            <a:srgbClr val="FFFFFF"/>
          </a:solidFill>
          <a:ln w="15875">
            <a:solidFill>
              <a:srgbClr val="95AE9B"/>
            </a:solidFill>
            <a:prstDash val="solid"/>
          </a:ln>
        </p:spPr>
      </p:sp>
      <p:sp>
        <p:nvSpPr>
          <p:cNvPr id="22" name="step-hex"/>
          <p:cNvSpPr/>
          <p:nvPr/>
        </p:nvSpPr>
        <p:spPr>
          <a:xfrm>
            <a:off x="685800" y="4374896"/>
            <a:ext cx="457200" cy="395935"/>
          </a:xfrm>
          <a:prstGeom prst="hexagon">
            <a:avLst/>
          </a:prstGeom>
          <a:solidFill>
            <a:srgbClr val="3F6B4A"/>
          </a:solidFill>
          <a:ln/>
        </p:spPr>
      </p:sp>
      <p:sp>
        <p:nvSpPr>
          <p:cNvPr id="23" name="step-hex-label"/>
          <p:cNvSpPr txBox="1"/>
          <p:nvPr/>
        </p:nvSpPr>
        <p:spPr>
          <a:xfrm>
            <a:off x="685800" y="437489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39641"/>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with retreat: this repeats, the waterfall moves upstream, and a gorge is left behind.</a:t>
            </a:r>
            <a:endParaRPr lang="en-US" sz="1800" dirty="0"/>
          </a:p>
        </p:txBody>
      </p:sp>
      <p:sp>
        <p:nvSpPr>
          <p:cNvPr id="25" name="worked-answer"/>
          <p:cNvSpPr/>
          <p:nvPr/>
        </p:nvSpPr>
        <p:spPr>
          <a:xfrm>
            <a:off x="548640" y="4988966"/>
            <a:ext cx="11094415" cy="1109980"/>
          </a:xfrm>
          <a:prstGeom prst="roundRect">
            <a:avLst>
              <a:gd name="adj" fmla="val 12357"/>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Hard rock over soft rock; the soft rock erodes faster by hydraulic action and abrasion, forming a step and a plunge pool; the soft rock is undercut so the hard rock overhangs and collapses; the process repeats, the waterfall retreats upstream and leaves a gorge.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middle course: meanders and oxbow lakes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Outside of the bend: fast, deep, erosion. Inside of the bend: slow, shallow, deposition. Say both halves in an explain question.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the middle course the river has more water and a gentler slope, so it starts to swing from side to side in large bends called meanders.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Because the outer bank is eroded and the inner bank is built up, the bend grows bigger and moves outwards over time.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During a flood the river has extra power and cuts straight through the neck.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Which landform, which course?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F5F2"/>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can sort every river landform by two questions: which course is it in, and was it made by erosion, deposition or both?</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9F4EC"/>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Meanders are made by erosion on the outer bank and deposition on the inner bank, so they need both.</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F5F2"/>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If a test asks you to label a picture of a river, start with the easy ones: the waterfall and the gorge in the hills, the big bends and the oxbow lake on the flat 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a waterfall is made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in the formation of a waterfall and gorge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overhang collapses into the plunge pool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Soft rock is cut back behind the pool, leaving an overhang of hard rock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Falling water carves a deep plunge pool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river erodes the soft rock faster, making a step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waterfall retreats upstream, leaving a gorge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band of hard rock lies on top of softer rock</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How a waterfall is made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How a waterfall is made</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rocks, before the river has done anything: hard over soft.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river must erode the soft rock before there is a step, and there must be a step before water can fall and make a pool.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overhang can only form once there is a pool to cut back from, and it can only collapse once it exists.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Retreat and the gorge come last, because they are the result of many collapses.</a:t>
            </a:r>
            <a:endParaRPr lang="en-US" sz="1800" dirty="0"/>
          </a:p>
        </p:txBody>
      </p:sp>
      <p:sp>
        <p:nvSpPr>
          <p:cNvPr id="17" name="col-Core"/>
          <p:cNvSpPr/>
          <p:nvPr/>
        </p:nvSpPr>
        <p:spPr>
          <a:xfrm>
            <a:off x="6425403" y="2395728"/>
            <a:ext cx="2471666" cy="3749040"/>
          </a:xfrm>
          <a:prstGeom prst="roundRect">
            <a:avLst>
              <a:gd name="adj" fmla="val 2220"/>
            </a:avLst>
          </a:prstGeom>
          <a:solidFill>
            <a:srgbClr val="DBE3DD"/>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Rocks, step, pool, overhang, collapse, retreat.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plunge pool gets deeper after the overhang collapses, naming the erosion process involved.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From meander to oxbow lake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in the formation of an oxbow lake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Deposition seals off the old bend, leaving an oxbow lake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 a flood the river cuts straight through the neck</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river takes the new, shorter route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bend grows and the neck of land between two bends gets narrower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river flows round a meander: erosion on the outer bank, deposition on the inner bank</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From meander to oxbow lake</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in the formation of an oxbow lake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F5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Begin with the ordinary meander, before anything dramatic happens.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neck has to get narrow before the river can break through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break-through comes in a flood; then the river uses the new route.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old bend is only a lake once it has been sealed off, so that is last.</a:t>
            </a:r>
            <a:endParaRPr lang="en-US" sz="1800" dirty="0"/>
          </a:p>
        </p:txBody>
      </p:sp>
      <p:sp>
        <p:nvSpPr>
          <p:cNvPr id="17" name="col-Core"/>
          <p:cNvSpPr/>
          <p:nvPr/>
        </p:nvSpPr>
        <p:spPr>
          <a:xfrm>
            <a:off x="5490762" y="2578608"/>
            <a:ext cx="2938987" cy="3566160"/>
          </a:xfrm>
          <a:prstGeom prst="roundRect">
            <a:avLst>
              <a:gd name="adj" fmla="val 1867"/>
            </a:avLst>
          </a:prstGeom>
          <a:solidFill>
            <a:srgbClr val="DBE3DD"/>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Bend, narrow neck, break through, new route, sealed off.</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outer bank of a meander is eroded while the inner bank is built up, using the words fast, slow, energy and deposition.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which course of a river would you expect to find a waterfall?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the mouth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lower course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upper course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middle course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a waterfall is made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 band of hard rock lies on top of softer rock  (F)</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river erodes the soft rock faster, making a step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Falling water carves a deep plunge pool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Soft rock is cut back behind the pool, leaving an overhang of hard rock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overhang collapses into the plunge pool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waterfall retreats upstream, leaving a gorge  (E)</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Hard rock over soft; soft rock eroded to make a step; plunge pool carved; undercutting leaves an overhang; the overhang collapses; repeated collapse makes the waterfall retreat and leaves a gorge.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From meander to oxbow lake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river flows round a meander: erosion on the outer bank, deposition on the inner bank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bend grows and the neck of land between two bends gets narrower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In a flood the river cuts straight through the neck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river takes the new, shorter route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Deposition seals off the old bend, leaving an oxbow lake  (A)</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Outer bank erodes and inner bank builds up; the neck narrows; a flood breaks through; the river takes the shorter route; deposition seals the old bend as an oxbow lake.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which course of a river would you expect to find a waterfall?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upper course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Waterfalls form in the steep upper course, near the source.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 on Land: Rivers · Chapter 4: Landforms: valleys, waterfalls and meanders</dc:title>
  <dc:subject>Geography · Year 7</dc:subject>
  <dc:creator>Dr Vitor Merissi de Carvalho</dc:creator>
  <cp:lastModifiedBy>Dr Vitor Merissi de Carvalho</cp:lastModifiedBy>
  <cp:revision>1</cp:revision>
  <dcterms:created xsi:type="dcterms:W3CDTF">2026-10-19T06:07:44Z</dcterms:created>
  <dcterms:modified xsi:type="dcterms:W3CDTF">2026-10-19T06:07:44Z</dcterms:modified>
</cp:coreProperties>
</file>