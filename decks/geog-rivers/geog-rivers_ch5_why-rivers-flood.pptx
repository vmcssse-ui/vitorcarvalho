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c032f1-b3b5-ce11-8c02-fc2b3ec3312c}">
          <p14:sldIdLst>
            <p14:sldId id="256"/>
          </p14:sldIdLst>
        </p14:section>
        <p14:section name="Gate" id="{e3bd7650-2972-9a5e-9b33-6b5f84c76fab}">
          <p14:sldIdLst>
            <p14:sldId id="257"/>
            <p14:sldId id="258"/>
          </p14:sldIdLst>
        </p14:section>
        <p14:section name="Pre-teach" id="{b7c19b0f-f308-d1f8-0a6a-f81d95b22277}">
          <p14:sldIdLst>
            <p14:sldId id="259"/>
            <p14:sldId id="260"/>
          </p14:sldIdLst>
        </p14:section>
        <p14:section name="Read-along" id="{e7af0263-f59c-ac09-cf40-45464efc67c3}">
          <p14:sldIdLst>
            <p14:sldId id="261"/>
            <p14:sldId id="262"/>
          </p14:sldIdLst>
        </p14:section>
        <p14:section name="Teach" id="{5d95163c-465d-6f6f-6055-9ae9d64222d6}">
          <p14:sldIdLst>
            <p14:sldId id="263"/>
            <p14:sldId id="264"/>
            <p14:sldId id="265"/>
            <p14:sldId id="266"/>
            <p14:sldId id="267"/>
          </p14:sldIdLst>
        </p14:section>
        <p14:section name="Routes" id="{14ee7e75-3463-d19e-ae47-fa4b688fdb2b}">
          <p14:sldIdLst>
            <p14:sldId id="268"/>
            <p14:sldId id="269"/>
            <p14:sldId id="270"/>
            <p14:sldId id="271"/>
          </p14:sldIdLst>
        </p14:section>
        <p14:section name="Close" id="{f6cd10f8-6a8a-f334-8341-0be3eba670e8}">
          <p14:sldIdLst>
            <p14:sldId id="272"/>
          </p14:sldIdLst>
        </p14:section>
        <p14:section name="Answers" id="{a965fc5d-57b1-ae7f-d1ae-a7896ff908ae}">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Why rivers flood. What a flood is, the chain of events that causes one, the physical and human factors that raise the risk, and what happened in Somerset in 2014 and Bangladesh in 1998.
This deck covers the department's lessons: 10 (Causes of flooding: What causes a river to flood, and which factors increase the risk?); 11 (Comparing flooding in the UK and Bangladesh: How do the causes and effects of flooding differ between an HIC and an LIC?).
Read the big question aloud: "How does water shape the land, why do rivers flood, and what can people do to reduce the risk and the damage?"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flood happens when a river has more water than its ___ can hold.  →  channel
2. Which of these is a HUMAN factor that increases the risk of flooding?  →  B   Cutting down trees
3. In 1998, flood water covered about 80% of Bangladesh. What percentage of the country was NOT under water?  →  20 %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channel. The channel is the river's normal pathway; when it is too full, water spills onto the floodplain.
2. B   Cutting down trees. Deforestation is done by people; it removes trees that would soak up and slow down rain.
3. 20 %. The whole country is 100%, so 100 − 80 = 20% stayed dry.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flood: when a river has more water than its channel can hold. Example: "After a week of rain the river burst its banks in a flood."
• floodplain: the flat land on either side of a river that floods. Example: "The houses on the floodplain were the first to get wet."
• saturated: so full of water that it cannot hold any more. Example: "The ground was saturated, so the rain ran straight off it."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infiltration: water soaking down into the soil. Example: "Infiltration slows down when the soil is already wet."
• surface run-off: water flowing over the ground into a river. Example: "Surface run-off from the car park rushed into the stream."
• flash flood: a sudden flood after a burst of very heavy rain. Example: "A flash flood swept down the high street within an hour."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flood happens when a river gets more water than its channel can hold.
2. The water flows over the banks onto the floodplain.
3. The floodplain is the flat land on either side of the river.
4. Floods usually start with heavy rain that goes on for a long time.
5. The soil soaks up water until it is saturated.
6. Then infiltration slows down, because the ground is full.
7. More water flows over the surface as run-off.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river rises quickly and spills over its banks.
9. Some causes of flooding are physical, like heavy rain and steep slopes.
10. Some are human, like cutting down trees and building on floodplains.
11. In 2014 the Somerset Levels in England flooded for weeks.
12. In 1998 most of Bangladesh was under water.
13. A flood in a poorer country often hurts people much more.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 flood, and how does one happen?. Say it in your own words, then check understanding with a quick question: ask a pupil from the pre-teach group first, since they met these words and ideas before the lesson. Pupils try to recall before you re-explain.
A river normally flows along its channel, between its banks. A flood happens when the river gets more water than its channel can hold. The water rises over the banks and spreads across the floodplain, the flat land on either side. A flash flood is a sudden flood caused by a short burst of very heavy rain, often with little warning.
Floodplains are flat and fertile, close to water and easy to build on, so for thousands of years people have farmed and built towns on them. That is exactly why floods cause so much damage: the land that floods is the land people most want to use. To reduce the damage, geographers first need to understand the chain of events that turns rain into a flood.
Most river floods follow the same six steps. First, it rains heavily for a long time. Second, the soil soaks up water until it is saturated: it cannot hold any more. Third, infiltration slows down, because water can no longer soak into ground that is already full. Fourth, more and more water flows over the top of the ground as surface run-off, straight into streams and rivers. Fifth, the river level rises quickly. Sixth, the water overflows the banks onto the floodplain. That is the flood.
Worked example — model it step by step, thinking aloud: Explain how a long period of heavy rain can cause a river to flood. (4 marks) (1) Start with the rain and what it does to the soil: heavy rain for a long time saturates the soil. (2) Link to infiltration: because the soil is full, infiltration slows down. (3) Link to run-off: so more water flows over the surface as run-off into the river. (4) Finish with the river: the river rises quickly and overflows its banks onto the floodplain. Answer: Heavy rain for a long time saturates the soil, so infiltration slows down. Because less water can soak in, more flows over the surface as run-off into the river. The river rises quickly and, when it has more water than its channel can hold, it overflows its banks onto the floodplain..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 flood, and how does one happen?. Say it in your own words, then check understanding with a quick question: ask a pupil from the pre-teach group first, since they met these words and ideas before the lesson. Pupils try to recall before you re-explain.
A river normally flows along its channel, between its banks. A flood happens when the river gets more water than its channel can hold. The water rises over the banks and spreads across the floodplain, the flat land on either side. A flash flood is a sudden flood caused by a short burst of very heavy rain, often with little warning.
Floodplains are flat and fertile, close to water and easy to build on, so for thousands of years people have farmed and built towns on them. That is exactly why floods cause so much damage: the land that floods is the land people most want to use. To reduce the damage, geographers first need to understand the chain of events that turns rain into a flood.
Most river floods follow the same six steps. First, it rains heavily for a long time. Second, the soil soaks up water until it is saturated: it cannot hold any more. Third, infiltration slows down, because water can no longer soak into ground that is already full. Fourth, more and more water flows over the top of the ground as surface run-off, straight into streams and rivers. Fifth, the river level rises quickly. Sixth, the water overflows the banks onto the floodplain. That is the flood.
Worked example — model it step by step, thinking aloud: Explain how a long period of heavy rain can cause a river to flood. (4 marks) (1) Start with the rain and what it does to the soil: heavy rain for a long time saturates the soil. (2) Link to infiltration: because the soil is full, infiltration slows down. (3) Link to run-off: so more water flows over the surface as run-off into the river. (4) Finish with the river: the river rises quickly and overflows its banks onto the floodplain. Answer: Heavy rain for a long time saturates the soil, so infiltration slows down. Because less water can soak in, more flows over the surface as run-off into the river. The river rises quickly and, when it has more water than its channel can hold, it overflows its banks onto the floodplain..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Physical and human factors. Say it in your own words, then check understanding with a quick question: ask a pupil from the pre-teach group first, since they met these words and ideas before the lesson. Pupils try to recall before you re-explain.
Some things that increase the risk of flooding are physical factors: caused by natural features. Heavy or long-lasting rain is the most obvious. Snow melting in spring adds a lot of water at once. Steep slopes make run-off faster. Impermeable rock, which does not let water through, stops infiltration. Soil that is already saturated from earlier rain cannot soak up any more.
Other things are human factors: caused by what people do. Cutting down trees (deforestation) removes the roots and leaves that soak up and hold back rain, so run-off increases. Building towns covers the ground with impermeable concrete and tarmac, and drains carry the rain to the river fast. Building on the floodplain puts homes exactly where the water will go.
In a question, sort the factors first, then explain one of each with because. For example: a car park increases flood risk because tarmac is impermeable, so rain cannot infiltrate and runs straight off into the river.
Tip: Physical = nature did it (rain, snow, slopes, rock). Human = people did it (trees cut down, concrete, building on floodplains).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flood in a rich country: the Somerset Levels, 2014. Say it in your own words, then check understanding with a quick question: ask a pupil from the pre-teach group first, since they met these words and ideas before the lesson. Pupils try to recall before you re-explain.
Geographers divide countries by wealth. A high income country (HIC), such as the UK, Japan or Canada, has more money, better hospitals and stronger buildings. A low income country (LIC), such as Bangladesh, Mali or Haiti, has much less money to spend on protecting people. Older books call them MEDCs and LEDCs. A flood of the same size can affect the two very differently.
The Somerset Levels are low, flat farmland in the south-west of England. In the winter of 2014, after weeks of rain, villages, farms and roads were flooded for weeks. People were rescued by boat, homes and farmland were damaged, and the cost ran into millions of pounds.
Because the UK is an HIC, there were emergency services to help, insurance to pay for repairs and government money to improve the defences afterwards. The flood was serious, but nobody went without clean water or medical care for long.
Tip: HIC = high income country (UK, Japan, Canada). LIC = low income country (Bangladesh, Mali, Haiti). It is about money, not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flood in a poor country: Bangladesh, 1998. Say it in your own words, then check understanding with a quick question: ask a pupil from the pre-teach group first, since they met these words and ideas before the lesson. Pupils try to recall before you re-explain.
Bangladesh is a low, flat LIC on the delta of the Ganges and Brahmaputra rivers, at the head of the Bay of Bengal. About 80% of the country is floodplain and delta, and most of it lies less than 5 m above sea level. From July to September 1998 the monsoon brought weeks of heavy rain. At the same time, melting snow from the Himalayas poured extra water down the rivers. Deforestation in Nepal and Tibet had increased soil erosion, and the washed-down soil had silted up river channels so they held less water.
Flood water covered about 80% of the land. In the capital, Dhaka, the water was 2 m deep and covered 75% of the city. Seven million homes were destroyed and millions of people were left homeless. Wells were flooded and polluted, so there was no safe water to drink, and many people died, some from disease. Electricity was cut off for weeks, transport and communication broke down, and emergency help could not get through. Shops, hospitals and pharmacies were flooded, so food and medicine ran short.
Geographers sort effects like these into social (people), economic (money) and environmental (the land and water): SEE for short. Homes destroyed is social; shops flooded and jobs lost is economic; farmland under polluted water is environmental. Remember that behind every number there are people and families.
Tip: Cause = what made the flood happen (before). Effect = what the flood did (after). Then sort effects into Social, Economic, Environmental.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rain to flood.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that lead to a river flood in the correct order.
Support — work through the steps with the group: (1) Rain has to fall before anything else can happen, so rain is first. (2) The soil fills up (saturated) before soaking in can slow down (infiltration). (3) Once water cannot soak in, it must run over the surface; run-off comes before the river rises. (4) The flood itself, water over the banks, is the very last step.
Parallel worked example for Support (model it, do not give the task answer): Put these steps of a sink overflowing in order: water spills onto the floor; the plug is in; the tap is left running; the sink fills to the top. The plug is in first, then the tap runs.; The sink fills to the top.; Only then does water spill onto the floor.. Answer: the plug is in, the tap is left running, the sink fills to the top, water spills onto the floor.
Core — reveal the hint only on request: Rain, soaked, slower soaking, run-off, rising, overflow.
Stretch — no help; when finished: Which single step would change if the rain fell on a town centre instead of farmland, and why? Name the human factor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rain to flood.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that lead to a river flood in the correct order.
Support — work through the steps with the group: (1) Rain has to fall before anything else can happen, so rain is first. (2) The soil fills up (saturated) before soaking in can slow down (infiltration). (3) Once water cannot soak in, it must run over the surface; run-off comes before the river rises. (4) The flood itself, water over the banks, is the very last step.
Parallel worked example for Support (model it, do not give the task answer): Put these steps of a sink overflowing in order: water spills onto the floor; the plug is in; the tap is left running; the sink fills to the top. The plug is in first, then the tap runs.; The sink fills to the top.; Only then does water spill onto the floor.. Answer: the plug is in, the tap is left running, the sink fills to the top, water spills onto the floor.
Core — reveal the hint only on request: Rain, soaked, slower soaking, run-off, rising, overflow.
Stretch — no help; when finished: Which single step would change if the rain fell on a town centre instead of farmland, and why? Name the human factor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Cause or effect?.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Here is a statement about the 1998 flood in Bangladesh: monsoon rains fell heavily for weeks. Which of these best describes it?
Support — work through the steps with the group: (1) Ask: did this happen before the flood (a cause) or after it (an effect)? (2) If it is a cause, ask: did nature do it (physical) or did people do it (human)? (3) If it is an effect, ask: is it about people (social), money (economic) or the land and water (environmental)? (4) Pick the option that matches both answers.
Parallel worked example for Support (model it, do not give the task answer): Statement: seven million homes were destroyed. Cause or effect, and which kind? Homes were destroyed by the flood water, so this happened after: an effect.; It is about people and where they live, so it is a social effect.. Answer: A social effect of the flood.
Core — reveal the hint only on request: Before the flood = cause. Then: nature or people?
Stretch — no help; when finished: Deforestation in Nepal and Tibet was also a cause of the 1998 flood. Explain why it counts as a human cause even though the trees were cut down in a different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Cause or effect?.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Here is a statement about the 1998 flood in Bangladesh: monsoon rains fell heavily for weeks. Which of these best describes it?
Support — work through the steps with the group: (1) Ask: did this happen before the flood (a cause) or after it (an effect)? (2) If it is a cause, ask: did nature do it (physical) or did people do it (human)? (3) If it is an effect, ask: is it about people (social), money (economic) or the land and water (environmental)? (4) Pick the option that matches both answers.
Parallel worked example for Support (model it, do not give the task answer): Statement: seven million homes were destroyed. Cause or effect, and which kind? Homes were destroyed by the flood water, so this happened after: an effect.; It is about people and where they live, so it is a social effect.. Answer: A social effect of the flood.
Core — reveal the hint only on request: Before the flood = cause. Then: nature or people?
Stretch — no help; when finished: Deforestation in Nepal and Tibet was also a cause of the 1998 flood. Explain why it counts as a human cause even though the trees were cut down in a different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flood happens when a river has more water than its ___ can hold.
Answer: A flood happens when a river has more water than its channel can hold.. The channel is the river's normal pathway; when it is too full, water spills onto the floodplain.
Source of this question: gate item 1 re-asked (options rotated) — this chapter has no third quick-check module.
The ebook also holds task 3, "Why did the 1998 flood hurt Bangladesh so badly?",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rain to flood. Reveal the answer; pupils mark their own work in a different colour, then read the "why" together. Same destination for every lane, so one answer serves the whole class.
Answer: Heavy rain falls for a long time  (A); The soil becomes saturated  (F); Infiltration slows down  (B); More water flows over the ground as surface run-off  (D); The river level rises quickly  (E); Water overflows the banks onto the floodplain  (C)
Why: Rain saturates the soil; infiltration slows; run-off increases; the river rises; it overflows its banks. Each step causes the next.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Cause or effect?. Reveal the answer; pupils mark their own work in a different colour, then read the "why" together. Same destination for every lane, so one answer serves the whole class.
Answer: C   A physical cause of the flood
Why: Causes come before the flood and are physical (nature) or human (people). Effects come after and are social, economic or environmental.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flood happens when a river has more water than its channel can hold.
Why: The channel is the river's normal pathway; when it is too full, water spills onto the floodplain.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Water on Land: Rivers · AQA KS3 → 8035</a:t>
            </a:r>
            <a:endParaRPr lang="en-US" sz="1800" dirty="0"/>
          </a:p>
        </p:txBody>
      </p:sp>
      <p:sp>
        <p:nvSpPr>
          <p:cNvPr id="10" name="deck-title"/>
          <p:cNvSpPr txBox="1"/>
          <p:nvPr/>
        </p:nvSpPr>
        <p:spPr>
          <a:xfrm>
            <a:off x="548640" y="239445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Why rivers flood</a:t>
            </a:r>
            <a:endParaRPr lang="en-US" sz="4000" dirty="0"/>
          </a:p>
        </p:txBody>
      </p:sp>
      <p:sp>
        <p:nvSpPr>
          <p:cNvPr id="11" name="lessons-card"/>
          <p:cNvSpPr/>
          <p:nvPr/>
        </p:nvSpPr>
        <p:spPr>
          <a:xfrm>
            <a:off x="548640" y="3410458"/>
            <a:ext cx="5287975" cy="1638300"/>
          </a:xfrm>
          <a:prstGeom prst="roundRect">
            <a:avLst>
              <a:gd name="adj" fmla="val 4465"/>
            </a:avLst>
          </a:prstGeom>
          <a:solidFill>
            <a:srgbClr val="F2F5F2"/>
          </a:solidFill>
          <a:ln/>
        </p:spPr>
      </p:sp>
      <p:sp>
        <p:nvSpPr>
          <p:cNvPr id="12" name="lessons"/>
          <p:cNvSpPr txBox="1"/>
          <p:nvPr/>
        </p:nvSpPr>
        <p:spPr>
          <a:xfrm>
            <a:off x="685800" y="35018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Causes of flooding</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Comparing flooding in the UK and Bangladesh</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water shape the land, why do rivers flood, and what can people do to reduce the risk and the damage?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flood happens when a river has more water than its ___ can hold.</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channel  ·  floodplain  ·  source</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of these is a HUMAN factor that increases the risk of flooding?</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Steep slopes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Cutting down trees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Snow melting in spring</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Heavy rain for several days</a:t>
            </a:r>
            <a:endParaRPr lang="en-US" sz="22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1998, flood water covered about 80% of Bangladesh. What percentage of the country was NOT under water?</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channel</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flood happens when a river has more water than its ___ can hold.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channel is the river's normal pathway; when it is too full, water spills onto the floodplain.</a:t>
            </a:r>
            <a:endParaRPr lang="en-US" sz="22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Cutting down trees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HUMAN factor that increases the risk of flooding?</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Deforestation is done by people; it removes trees that would soak up and slow down rain.</a:t>
            </a:r>
            <a:endParaRPr lang="en-US" sz="20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20 %</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1998, flood water covered about 80% of Bangladesh. What percentage of the country was NOT under water?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whole country is 100%, so 100 − 80 = 20% stayed dry.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flood</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a river has more water than its channel can hold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After a week of rain the river burst its banks in a flood.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floodplain</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flat land on either side of a river that floods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houses on the floodplain were the first to get wet.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saturated</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 full of water that it cannot hold any more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ground was saturated, so the rain ran straight off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infiltration</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water soaking down into the soil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Infiltration slows down when the soil is already wet.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surface run-off</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water flowing over the ground into a river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Surface run-off from the car park rushed into the stream.</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flash flood</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sudden flood after a burst of very heavy rain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flash flood swept down the high street within an hour.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flood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happens when a river gets more water than its channel can hold.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water flows over the banks onto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floodplain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floodplain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flat land on either side of the river.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Floods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usually start with heavy rain that goes on for a long time.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soil soaks up water until it is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saturated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infiltration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slows down, because the ground is full.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More water flows over the surface as run-off.</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river rises quickly and spills over its banks.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causes of flooding are physical, like heavy rain and steep slopes.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are human, like cutting down trees and building on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floodplains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2014 the Somerset Levels in England flooded for weeks.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1998 most of Bangladesh was under water.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flood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a poorer country often hurts people much more.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is a flood, and how does one happen?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F5F2"/>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river normally flows along its channel, between its banks.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Floodplains are flat and fertile, close to water and easy to build on, so for thousands of years people have farmed and built towns on them.</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F5F2"/>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Most river floods follow the same six steps. First, it rains heavily for a long time.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What is a flood, and how does one happen?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F5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a long period of heavy rain can cause a river to flood. (4 marks)</a:t>
            </a:r>
            <a:endParaRPr lang="en-US" sz="2000" dirty="0"/>
          </a:p>
        </p:txBody>
      </p:sp>
      <p:sp>
        <p:nvSpPr>
          <p:cNvPr id="9" name="step-box"/>
          <p:cNvSpPr/>
          <p:nvPr/>
        </p:nvSpPr>
        <p:spPr>
          <a:xfrm>
            <a:off x="548640" y="2192528"/>
            <a:ext cx="11094415" cy="572110"/>
          </a:xfrm>
          <a:prstGeom prst="roundRect">
            <a:avLst>
              <a:gd name="adj" fmla="val 12786"/>
            </a:avLst>
          </a:prstGeom>
          <a:solidFill>
            <a:srgbClr val="FFFFFF"/>
          </a:solidFill>
          <a:ln w="15875">
            <a:solidFill>
              <a:srgbClr val="95AE9B"/>
            </a:solidFill>
            <a:prstDash val="solid"/>
          </a:ln>
        </p:spPr>
      </p:sp>
      <p:sp>
        <p:nvSpPr>
          <p:cNvPr id="10" name="step-hex"/>
          <p:cNvSpPr/>
          <p:nvPr/>
        </p:nvSpPr>
        <p:spPr>
          <a:xfrm>
            <a:off x="685800" y="2280615"/>
            <a:ext cx="457200" cy="395935"/>
          </a:xfrm>
          <a:prstGeom prst="hexagon">
            <a:avLst/>
          </a:prstGeom>
          <a:solidFill>
            <a:srgbClr val="3F6B4A"/>
          </a:solidFill>
          <a:ln/>
        </p:spPr>
      </p:sp>
      <p:sp>
        <p:nvSpPr>
          <p:cNvPr id="11" name="step-hex-label"/>
          <p:cNvSpPr txBox="1"/>
          <p:nvPr/>
        </p:nvSpPr>
        <p:spPr>
          <a:xfrm>
            <a:off x="685800" y="2280615"/>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7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with the rain and what it does to the soil: heavy rain for a long time saturates the soil.</a:t>
            </a:r>
            <a:endParaRPr lang="en-US" sz="1800" dirty="0"/>
          </a:p>
        </p:txBody>
      </p:sp>
      <p:sp>
        <p:nvSpPr>
          <p:cNvPr id="13" name="step-box"/>
          <p:cNvSpPr/>
          <p:nvPr/>
        </p:nvSpPr>
        <p:spPr>
          <a:xfrm>
            <a:off x="548640" y="2837790"/>
            <a:ext cx="11094415" cy="572110"/>
          </a:xfrm>
          <a:prstGeom prst="roundRect">
            <a:avLst>
              <a:gd name="adj" fmla="val 12786"/>
            </a:avLst>
          </a:prstGeom>
          <a:solidFill>
            <a:srgbClr val="FFFFFF"/>
          </a:solidFill>
          <a:ln w="15875">
            <a:solidFill>
              <a:srgbClr val="95AE9B"/>
            </a:solidFill>
            <a:prstDash val="solid"/>
          </a:ln>
        </p:spPr>
      </p:sp>
      <p:sp>
        <p:nvSpPr>
          <p:cNvPr id="14" name="step-hex"/>
          <p:cNvSpPr/>
          <p:nvPr/>
        </p:nvSpPr>
        <p:spPr>
          <a:xfrm>
            <a:off x="685800" y="2925877"/>
            <a:ext cx="457200" cy="395935"/>
          </a:xfrm>
          <a:prstGeom prst="hexagon">
            <a:avLst/>
          </a:prstGeom>
          <a:solidFill>
            <a:srgbClr val="3F6B4A"/>
          </a:solidFill>
          <a:ln/>
        </p:spPr>
      </p:sp>
      <p:sp>
        <p:nvSpPr>
          <p:cNvPr id="15" name="step-hex-label"/>
          <p:cNvSpPr txBox="1"/>
          <p:nvPr/>
        </p:nvSpPr>
        <p:spPr>
          <a:xfrm>
            <a:off x="685800" y="2925877"/>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837790"/>
            <a:ext cx="10180015" cy="57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to infiltration: because the soil is full, infiltration slows down.</a:t>
            </a:r>
            <a:endParaRPr lang="en-US" sz="1800" dirty="0"/>
          </a:p>
        </p:txBody>
      </p:sp>
      <p:sp>
        <p:nvSpPr>
          <p:cNvPr id="17" name="step-box"/>
          <p:cNvSpPr/>
          <p:nvPr/>
        </p:nvSpPr>
        <p:spPr>
          <a:xfrm>
            <a:off x="548640" y="3483051"/>
            <a:ext cx="11094415" cy="572110"/>
          </a:xfrm>
          <a:prstGeom prst="roundRect">
            <a:avLst>
              <a:gd name="adj" fmla="val 12786"/>
            </a:avLst>
          </a:prstGeom>
          <a:solidFill>
            <a:srgbClr val="FFFFFF"/>
          </a:solidFill>
          <a:ln w="15875">
            <a:solidFill>
              <a:srgbClr val="95AE9B"/>
            </a:solidFill>
            <a:prstDash val="solid"/>
          </a:ln>
        </p:spPr>
      </p:sp>
      <p:sp>
        <p:nvSpPr>
          <p:cNvPr id="18" name="step-hex"/>
          <p:cNvSpPr/>
          <p:nvPr/>
        </p:nvSpPr>
        <p:spPr>
          <a:xfrm>
            <a:off x="685800" y="3571138"/>
            <a:ext cx="457200" cy="395935"/>
          </a:xfrm>
          <a:prstGeom prst="hexagon">
            <a:avLst/>
          </a:prstGeom>
          <a:solidFill>
            <a:srgbClr val="3F6B4A"/>
          </a:solidFill>
          <a:ln/>
        </p:spPr>
      </p:sp>
      <p:sp>
        <p:nvSpPr>
          <p:cNvPr id="19" name="step-hex-label"/>
          <p:cNvSpPr txBox="1"/>
          <p:nvPr/>
        </p:nvSpPr>
        <p:spPr>
          <a:xfrm>
            <a:off x="685800" y="357113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483051"/>
            <a:ext cx="10180015" cy="57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to run-off: so more water flows over the surface as run-off into the river.</a:t>
            </a:r>
            <a:endParaRPr lang="en-US" sz="1800" dirty="0"/>
          </a:p>
        </p:txBody>
      </p:sp>
      <p:sp>
        <p:nvSpPr>
          <p:cNvPr id="21" name="step-box"/>
          <p:cNvSpPr/>
          <p:nvPr/>
        </p:nvSpPr>
        <p:spPr>
          <a:xfrm>
            <a:off x="548640" y="4128313"/>
            <a:ext cx="11094415" cy="572110"/>
          </a:xfrm>
          <a:prstGeom prst="roundRect">
            <a:avLst>
              <a:gd name="adj" fmla="val 12786"/>
            </a:avLst>
          </a:prstGeom>
          <a:solidFill>
            <a:srgbClr val="FFFFFF"/>
          </a:solidFill>
          <a:ln w="15875">
            <a:solidFill>
              <a:srgbClr val="95AE9B"/>
            </a:solidFill>
            <a:prstDash val="solid"/>
          </a:ln>
        </p:spPr>
      </p:sp>
      <p:sp>
        <p:nvSpPr>
          <p:cNvPr id="22" name="step-hex"/>
          <p:cNvSpPr/>
          <p:nvPr/>
        </p:nvSpPr>
        <p:spPr>
          <a:xfrm>
            <a:off x="685800" y="4216400"/>
            <a:ext cx="457200" cy="395935"/>
          </a:xfrm>
          <a:prstGeom prst="hexagon">
            <a:avLst/>
          </a:prstGeom>
          <a:solidFill>
            <a:srgbClr val="3F6B4A"/>
          </a:solidFill>
          <a:ln/>
        </p:spPr>
      </p:sp>
      <p:sp>
        <p:nvSpPr>
          <p:cNvPr id="23" name="step-hex-label"/>
          <p:cNvSpPr txBox="1"/>
          <p:nvPr/>
        </p:nvSpPr>
        <p:spPr>
          <a:xfrm>
            <a:off x="685800" y="421640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128313"/>
            <a:ext cx="10180015" cy="57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Finish with the river: the river rises quickly and overflows its banks onto the floodplain.</a:t>
            </a:r>
            <a:endParaRPr lang="en-US" sz="1800" dirty="0"/>
          </a:p>
        </p:txBody>
      </p:sp>
      <p:sp>
        <p:nvSpPr>
          <p:cNvPr id="25" name="worked-answer"/>
          <p:cNvSpPr/>
          <p:nvPr/>
        </p:nvSpPr>
        <p:spPr>
          <a:xfrm>
            <a:off x="548640" y="4883302"/>
            <a:ext cx="11094415" cy="1109980"/>
          </a:xfrm>
          <a:prstGeom prst="roundRect">
            <a:avLst>
              <a:gd name="adj" fmla="val 12357"/>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Heavy rain for a long time saturates the soil, so infiltration slows down. Because less water can soak in, more flows over the surface as run-off into the river. The river rises quickly and, when it has more water than its channel can hold, it overflows its banks onto the floodplain.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Physical and human factors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Physical = nature did it (rain, snow, slopes, rock). Human = people did it (trees cut down, concrete, building on floodplains).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Some things that increase the risk of flooding are physical factors: caused by natural features.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Other things are human factors: caused by what people do.</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a question, sort the factors first, then explain one of each with because.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A flood in a rich country: the Somerset Levels, 2014</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HIC = high income country (UK, Japan, Canada). LIC = low income country (Bangladesh, Mali, Haiti). It is about money, not size.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Geographers divide countries by wealth. A high income country (HIC), such as the UK, Japan or Canada, has more money, better hospitals and stronger buildings.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Somerset Levels are low, flat farmland in the south-west of England.</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Because the UK is an HIC, there were emergency services to help, insurance to pay for repairs and government money to improve the defences afterwards.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 flood in a poor country: Bangladesh, 1998</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Cause = what made the flood happen (before). Effect = what the flood did (after). Then sort effects into Social, Economic, Environmental.</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Bangladesh is a low, flat LIC on the delta of the Ganges and Brahmaputra rivers, at the head of the Bay of Bengal.</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Flood water covered about 80% of the land. In the capital, Dhaka, the water was 2 m deep and covered 75% of the city.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Geographers sort effects like these into social (people), economic (money) and environmental (the land and water): SEE for short.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From rain to flood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steps that lead to a river flood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Heavy rain falls for a long time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Infiltration slows down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 overflows the banks onto the floodplain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More water flows over the ground as surface run-off</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river level rises quickly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soil becomes saturated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From rain to flood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From rain to flood</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Rain has to fall before anything else can happen, so rain is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soil fills up (saturated) before soaking in can slow down (infiltration).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Once water cannot soak in, it must run over the surface; run-off comes before the river rises.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flood itself, water over the banks, is the very last step.</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Rain, soaked, slower soaking, run-off, rising, overflow.</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Which single step would change if the rain fell on a town centre instead of farmland, and why? Name the human factor involved.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Cause or effect?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Here is a statement about the 1998 flood in Bangladesh: monsoon rains fell heavily for weeks. Which of these best describes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 economic effect of the flood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human cause of the flood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physical cause of the flood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social effect of the flood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Cause or effect?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Cause or effect?</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did this happen before the flood (a cause) or after it (an effect)?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is a cause, ask: did nature do it (physical) or did people do it (human)?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is an effect, ask: is it about people (social), money (economic) or the land and water (environmental)?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Pick the option that matches both answers.</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Before the flood = cause. Then: nature or people?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Deforestation in Nepal and Tibet was also a cause of the 1998 flood. Explain why it counts as a human cause even though the trees were cut down in a different country.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flood happens when a river has more water than its ___ can hold.</a:t>
            </a:r>
            <a:endParaRPr lang="en-US" sz="24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channel   ·   floodplain   ·   source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From rain to flood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Heavy rain falls for a long time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soil becomes saturated  (F)</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Infiltration slows down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More water flows over the ground as surface run-off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river level rises quickly  (E)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Water overflows the banks onto the floodplain  (C)</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Rain saturates the soil; infiltration slows; run-off increases; the river rises; it overflows its banks. Each step causes the next.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Cause or effect?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Here is a statement about the 1998 flood in Bangladesh: monsoon rains fell heavily for weeks. Which of these best describes it?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A physical cause of the flood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Causes come before the flood and are physical (nature) or human (people). Effects come after and are social, economic or environmental.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flood happens when a river has more water than its ___ can hold.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flood happens when a river has more water than its channel can hold.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channel is the river's normal pathway; when it is too full, water spills onto the floodplain.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on Land: Rivers · Chapter 5: Why rivers flood</dc:title>
  <dc:subject>Geography · Year 7</dc:subject>
  <dc:creator>Dr Vitor Merissi de Carvalho</dc:creator>
  <cp:lastModifiedBy>Dr Vitor Merissi de Carvalho</cp:lastModifiedBy>
  <cp:revision>1</cp:revision>
  <dcterms:created xsi:type="dcterms:W3CDTF">2026-10-19T16:22:56Z</dcterms:created>
  <dcterms:modified xsi:type="dcterms:W3CDTF">2026-10-19T16:22:56Z</dcterms:modified>
</cp:coreProperties>
</file>