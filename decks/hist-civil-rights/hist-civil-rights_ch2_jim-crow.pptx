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36b5c18-8d6e-a2c1-98b6-5d47a47f158c}">
          <p14:sldIdLst>
            <p14:sldId id="256"/>
          </p14:sldIdLst>
        </p14:section>
        <p14:section name="Gate" id="{3d82f9b8-1403-b468-b5b2-b598fe012d13}">
          <p14:sldIdLst>
            <p14:sldId id="257"/>
            <p14:sldId id="258"/>
            <p14:sldId id="259"/>
          </p14:sldIdLst>
        </p14:section>
        <p14:section name="Pre-teach" id="{32436c13-54b1-3ac6-0479-0192d108e79f}">
          <p14:sldIdLst>
            <p14:sldId id="260"/>
            <p14:sldId id="261"/>
          </p14:sldIdLst>
        </p14:section>
        <p14:section name="Read-along" id="{4b6a9f39-890e-ce68-22a6-b430ff05c8a8}">
          <p14:sldIdLst>
            <p14:sldId id="262"/>
            <p14:sldId id="263"/>
          </p14:sldIdLst>
        </p14:section>
        <p14:section name="Teach" id="{88236ec1-8361-7e87-de8c-ce85b33a5e6f}">
          <p14:sldIdLst>
            <p14:sldId id="264"/>
            <p14:sldId id="265"/>
            <p14:sldId id="266"/>
            <p14:sldId id="267"/>
            <p14:sldId id="268"/>
            <p14:sldId id="269"/>
          </p14:sldIdLst>
        </p14:section>
        <p14:section name="Routes" id="{14df580f-acfa-3b5a-da57-064110fb35b0}">
          <p14:sldIdLst>
            <p14:sldId id="270"/>
            <p14:sldId id="271"/>
            <p14:sldId id="272"/>
            <p14:sldId id="273"/>
            <p14:sldId id="274"/>
          </p14:sldIdLst>
        </p14:section>
        <p14:section name="Close" id="{494cba5b-137e-756e-ccc1-ae047f73f53a}">
          <p14:sldIdLst>
            <p14:sldId id="275"/>
          </p14:sldIdLst>
        </p14:section>
        <p14:section name="Answers" id="{ae1ddced-724f-e868-3051-66fda5f5bca8}">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The Jim Crow laws and the Ku Klux Klan. What the Jim Crow laws were, how they reached into voting, speech, the courts and schools, and how the Ku Klux Klan used violence to hold the whole system in place.
This deck covers the department's lesson: 1 (Segregation in America: How did the end of slavery change the lives of African Americans, and what were the Jim Crow laws?).
Read the big question aloud: "How did Black Americans win their civil rights, and which campaigns and leaders mattered most?"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segregation mean?  →  A   Keeping people apart because of their race
2. A ___ tax was a charge a citizen had to pay before being allowed to vote.  →  poll
3. Why did white officials in the South use literacy tests?  →  D   To stop Black citizens voting, by deciding who had understood the reading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segregation mean?  →  A   Keeping people apart because of their race
2. A ___ tax was a charge a citizen had to pay before being allowed to vote.  →  poll
3. Why did white officials in the South use literacy tests?  →  D   To stop Black citizens voting, by deciding who had understood the reading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Keeping people apart because of their race. Segregation means setting one group of people apart from another. In the American South it was written into state law.
2. poll. A poll tax was a charge made before a person could vote, and it was used to keep the poorest Black citizens off the register.
3. D   To stop Black citizens voting, by deciding who had understood the reading. A hundred years ago many Americans of both races could not read. The test let a white official rule that white applicants had understood a passage and Black applicants had not, even when they had.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segregation: keeping people apart because of their race. Example: "Segregation put Black and white Americans in separate schools, waiting rooms and restaurants."
• caricature: a picture or performance with features made cruelly over-exaggerated. Example: "The Jim Crow character was a caricature invented to make Black people look foolish."
• poll tax: a charge a citizen had to pay before being allowed to vote. Example: "A poll tax kept poor Black citizens off the voters' register."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white supremacy: the false belief that white people should hold power over everyone else. Example: "The Klan used fear and violence to defend white supremacy."
• infer: to work something out from evidence, without being told it directly. Example: "You can infer from the all-white juries that Black victims had little hope of justice."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When slavery ended, Southern states wrote new laws instead.
2. These were called the Jim Crow laws.
3. Jim Crow was a cruel stage character invented by a white entertainer.
4. He was played as clumsy and stupid, to mock Black people.
5. The laws kept Black and white Americans apart by force of law.
6. Black citizens had to pay a poll tax before they could vote.
7. Officials set reading tests, then failed Black applicants on purpose.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Juries were all white, so trials were rarely fair.
9. Black schools were given far less money than white schools.
10. A group called the Ku Klux Klan used violence and fear.
11. They burned churches and left burning crosses outside people's homes.
12. Southern juries almost never found a Klansman guilty.
13. The NAACP became the Klan's main opponent.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the name came from, and what the laws were for. Say it in your own words, then check understanding with a quick question: ask a pupil from the pre-teach group first, since they met these words and ideas before the lesson. Pupils try to recall before you re-explain.
Jim Crow was not a real person. He was a character invented by a white entertainer, Thomas Rice, for a stage act in the 1800s. The character was a caricature of a Black man, with over-exaggerated features, played as clumsy and dim-witted in order to ridicule African Americans. The name of that insult was then attached to a whole body of law.
The Jim Crow laws were state laws, passed in the Southern states, and they were made on purpose to segregate Black and white people and to keep African Americans down. Segregation means setting one group of people apart from another, and these laws did it in writing, backed by courts and police.
The laws reached into ordinary life in ways that are easy to miss. One said that a white nurse could not be made to work in a hospital ward where Black men were patients. One said bus stations had to provide separate waiting rooms and separate ticket windows for each race. One made it illegal for a restaurant to serve white and Black customers in the same room, and one made it illegal for a Black person and a white person to play a game of pool together.
Tip: If an exam question asks what segregation was like, do not just write that people were kept apart. Name one law and say what it stopped a real person doing on an ordinary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areas of life: political, social, legal, educational. Say it in your own words, then check understanding with a quick question: ask a pupil from the pre-teach group first, since they met these words and ideas before the lesson. Pupils try to recall before you re-explain.
Your information sheet sorts the Jim Crow system into four areas, and that is a useful way to remember it. Politically, Black citizens were kept off the voters' register. A poll tax had to be paid before a person could vote, which cut out the poorest. A literacy test could also be set: a hundred years ago many Americans, Black and white, could not read, and a few were allowed to vote if they could show they understood a passage read aloud to them. White officials simply decided that white applicants had understood it and that Black applicants had not, even when they plainly had. White voters also kept a loophole for themselves: a man could vote if his grandfather had voted.
Socially, there were rules about how a Black person was permitted to speak to a white person. A Black person must never suggest that a white person was lying, must never suggest a white person came from a lower class, and must never comment on a white woman's appearance. Breaking an unwritten rule like that could cost a person their job, or their life.
Legally, juries in the South were white, so a Black defendant was unlikely to be believed and a Black victim unlikely to see anyone convicted. Educationally, white schools were given far more public money than Black schools, so the separate schools were never equal. Your lesson then asks the hard question: without political rights, could African Americans ever have won social, legal and educational rights?
Worked example — model it step by step, thinking aloud: Explain how the Jim Crow laws affected African Americans politically. (1) Name the area and one device used in it: politically, Black citizens were kept off the voters' register by the poll tax and the literacy test. (2) Explain how the device worked: the poll tax priced out the poorest, and the literacy test let a white official decide who had understood the passage. (3) Show the consequence: because Black citizens could not vote, they could not remove the politicians who wrote the Jim Crow laws. (4) Finish with a judgement: this shows that the political rules protected all the other kinds of segregation. Answer: The poll tax and the literacy test kept Black citizens off the register; with no votes they could not change the lawmakers; so the political barrier is what kept the social, legal and educational barriers standing..
Tip: Learn the four areas as a list you can say in order: political, social, legal, educational. Then attach one example to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areas of life: political, social, legal, educational. Say it in your own words, then check understanding with a quick question: ask a pupil from the pre-teach group first, since they met these words and ideas before the lesson. Pupils try to recall before you re-explain.
Your information sheet sorts the Jim Crow system into four areas, and that is a useful way to remember it. Politically, Black citizens were kept off the voters' register. A poll tax had to be paid before a person could vote, which cut out the poorest. A literacy test could also be set: a hundred years ago many Americans, Black and white, could not read, and a few were allowed to vote if they could show they understood a passage read aloud to them. White officials simply decided that white applicants had understood it and that Black applicants had not, even when they plainly had. White voters also kept a loophole for themselves: a man could vote if his grandfather had voted.
Socially, there were rules about how a Black person was permitted to speak to a white person. A Black person must never suggest that a white person was lying, must never suggest a white person came from a lower class, and must never comment on a white woman's appearance. Breaking an unwritten rule like that could cost a person their job, or their life.
Legally, juries in the South were white, so a Black defendant was unlikely to be believed and a Black victim unlikely to see anyone convicted. Educationally, white schools were given far more public money than Black schools, so the separate schools were never equal. Your lesson then asks the hard question: without political rights, could African Americans ever have won social, legal and educational rights?
Worked example — model it step by step, thinking aloud: Explain how the Jim Crow laws affected African Americans politically. (1) Name the area and one device used in it: politically, Black citizens were kept off the voters' register by the poll tax and the literacy test. (2) Explain how the device worked: the poll tax priced out the poorest, and the literacy test let a white official decide who had understood the passage. (3) Show the consequence: because Black citizens could not vote, they could not remove the politicians who wrote the Jim Crow laws. (4) Finish with a judgement: this shows that the political rules protected all the other kinds of segregation. Answer: The poll tax and the literacy test kept Black citizens off the register; with no votes they could not change the lawmakers; so the political barrier is what kept the social, legal and educational barriers standing..
Tip: Learn the four areas as a list you can say in order: political, social, legal, educational. Then attach one example to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areas of life: political, social, legal, educational. Say it in your own words, then check understanding with a quick question: ask a pupil from the pre-teach group first, since they met these words and ideas before the lesson. Pupils try to recall before you re-explain.
Your information sheet sorts the Jim Crow system into four areas, and that is a useful way to remember it. Politically, Black citizens were kept off the voters' register. A poll tax had to be paid before a person could vote, which cut out the poorest. A literacy test could also be set: a hundred years ago many Americans, Black and white, could not read, and a few were allowed to vote if they could show they understood a passage read aloud to them. White officials simply decided that white applicants had understood it and that Black applicants had not, even when they plainly had. White voters also kept a loophole for themselves: a man could vote if his grandfather had voted.
Socially, there were rules about how a Black person was permitted to speak to a white person. A Black person must never suggest that a white person was lying, must never suggest a white person came from a lower class, and must never comment on a white woman's appearance. Breaking an unwritten rule like that could cost a person their job, or their life.
Legally, juries in the South were white, so a Black defendant was unlikely to be believed and a Black victim unlikely to see anyone convicted. Educationally, white schools were given far more public money than Black schools, so the separate schools were never equal. Your lesson then asks the hard question: without political rights, could African Americans ever have won social, legal and educational rights?
Worked example — model it step by step, thinking aloud: Explain how the Jim Crow laws affected African Americans politically. (1) Name the area and one device used in it: politically, Black citizens were kept off the voters' register by the poll tax and the literacy test. (2) Explain how the device worked: the poll tax priced out the poorest, and the literacy test let a white official decide who had understood the passage. (3) Show the consequence: because Black citizens could not vote, they could not remove the politicians who wrote the Jim Crow laws. (4) Finish with a judgement: this shows that the political rules protected all the other kinds of segregation. Answer: The poll tax and the literacy test kept Black citizens off the register; with no votes they could not change the lawmakers; so the political barrier is what kept the social, legal and educational barriers standing..
Tip: Learn the four areas as a list you can say in order: political, social, legal, educational. Then attach one example to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Ku Klux Klan. Say it in your own words, then check understanding with a quick question: ask a pupil from the pre-teach group first, since they met these words and ideas before the lesson. Pupils try to recall before you re-explain.
The violence Emmett Till met was not a single terrible exception. Black people in the South faced racism, threats and violence as part of ordinary life, and the organisation that did most to make that true was the Ku Klux Klan. It was created in 1865, as a reaction to the ending of slavery: many white Southerners did not want to lose the power over Black people that slavery had given them. The Klan carried out beatings and killings meant to terrify, in order to restore white supremacy, which means power and control held by white people.
Klansmen wore white hoods and robes, and the costume was part of the point: it was designed to intimidate. They burned down Black churches, hung nooses above people's doors and set burning crosses outside the homes of families who were not white. One of the Klan's main aims was to stop Black citizens voting, and its main opponent was the NAACP, the National Association for the Advancement of Coloured People.
In 1915 the Klan was reformed and grew quickly in influence. It was now hostile not only to Black Americans but also to Jews, Communists, Catholics and anyone it chose to call a foreigner. At its peak in 1925 its membership reached four million, and Klansmen who were arrested were unlikely to be found guilty by a Southern jury.
Tip: Two dates do a lot of work here: 1865, when the Klan began as a reaction to emancipation, and 1915, when it was rebuilt and widened its list of enemies.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can we learn about the Klan from sources?. Say it in your own words, then check understanding with a quick question: ask a pupil from the pre-teach group first, since they met these words and ideas before the lesson. Pupils try to recall before you re-explain.
Your lesson gives you four sources about the Klan and asks what you can infer from each. To infer is to work something out from evidence, without being told it directly. Two questions get you most of the way: what does the source actually say, and who is saying it, and why?
The sources are very different. One is the Klan's own leader, speaking in public in the 1920s, setting out what the organisation wanted: Protestant power above everything, and laws against relationships between Black and white people. One is a journalist looking back on the small Indiana town of his boyhood, where about half the adults belonged to the Klan and it filled the police and fire departments with its own members. One is evidence given to a government committee investigating the Klan, which reported dozens killed and hundreds beaten in a single state, and nobody arrested ever brought to court. One is a Black man speaking to a civil rights worker in 1963, explaining that he had told nobody what he had seen, because the police, the judge, the jury and the mayor might all be Klansmen.
Read together they tell you something no single source could. The first tells you the Klan's aims; the second and third tell you how far it reached into local government and the courts; the fourth tells you what that meant for a person deciding whether it was worth speaking. None of these authors is neutral, and that is useful rather than awkward: the Klan leader is advertising, and the witness is explaining a choice he had to make.
Tip: When you write about a source, answer in this order: what it says, who made it, and what you can therefore infer. Three sentences, in that order, is a full answer at Key Stage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areas of the Jim Crow system.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area of life to the way the Jim Crow system controlled it.
Support — work through the steps with the group: (1) Start with the easiest: which area is about schools and money? (2) Which area is about voting? Look for the tax and the test. (3) Which area is about courts and juries? (4) The one left over is social: the unwritten rules for everyday conversation.
Parallel worked example for Support (model it, do not give the task answer): Match these two areas of school life to a rule: uniform, and attendance. Choices: you must be in your form room before the bell; your tie must be the house colour. Uniform is about what you wear, so the tie rule goes there.; Attendance is about being present on time, so the form-room rule goes there.. Answer: Uniform: your tie must be the house colour. Attendance: you must be in your form room before the bell..
Core — reveal the hint only on request: Four areas, four kinds of rule. Ask each rule: is this about voting, talking, courts or schools?
Stretch — no help; when finished: Argue which of the four areas was the most important to break first, and give one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areas of the Jim Crow system.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area of life to the way the Jim Crow system controlled it.
Support — work through the steps with the group: (1) Start with the easiest: which area is about schools and money? (2) Which area is about voting? Look for the tax and the test. (3) Which area is about courts and juries? (4) The one left over is social: the unwritten rules for everyday conversation.
Parallel worked example for Support (model it, do not give the task answer): Match these two areas of school life to a rule: uniform, and attendance. Choices: you must be in your form room before the bell; your tie must be the house colour. Uniform is about what you wear, so the tie rule goes there.; Attendance is about being present on time, so the form-room rule goes there.. Answer: Uniform: your tie must be the house colour. Attendance: you must be in your form room before the bell..
Core — reveal the hint only on request: Four areas, four kinds of rule. Ask each rule: is this about voting, talking, courts or schools?
Stretch — no help; when finished: Argue which of the four areas was the most important to break first, and give one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impact of the Jim Crow laws.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the impact of the Jim Crow laws on ONE area of African Americans' lives. Write one paragraph of four to six sentences.
Support — work through the steps with the group: (1) Choose ONE area: political, social, legal or educational. One is enough. (2) Sentence 1: The Jim Crow laws had a big impact on African Americans [area], because... (3) Sentence 2: name the rule. The poll tax; the all-white jury; the separate waiting room; the smaller school budget. (4) Sentences 3 and 4: say what that did to one person's ordinary day, and use because. (5) Last sentence: say how serious you judge this impact to be, and why.
Parallel worked example for Support (model it, do not give the task answer): Explain the impact of the Jim Crow laws on African Americans educationally, in three sentences. Name the rule: schools were segregated and white schools were given far more public money.; Explain the effect: Black children were taught in worse buildings, with fewer books and larger classes.; Judge it: this impact lasted a lifetime, because a worse education limited the jobs a child could later get.. Answer: Segregated schools with far smaller budgets gave Black children a worse education, which then limited the work they could get as adults..
Core — reveal the hint only on request: One area, one named rule, one ordinary day. Use because, and end with how serious you think it was.
Stretch — no help; when finished: Your lesson asks whether political rights had to come first. Argue for or against that claim, using two of the four areas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impact of the Jim Crow laws.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the impact of the Jim Crow laws on ONE area of African Americans' lives. Write one paragraph of four to six sentences.
Support — work through the steps with the group: (1) Choose ONE area: political, social, legal or educational. One is enough. (2) Sentence 1: The Jim Crow laws had a big impact on African Americans [area], because... (3) Sentence 2: name the rule. The poll tax; the all-white jury; the separate waiting room; the smaller school budget. (4) Sentences 3 and 4: say what that did to one person's ordinary day, and use because. (5) Last sentence: say how serious you judge this impact to be, and why.
Parallel worked example for Support (model it, do not give the task answer): Explain the impact of the Jim Crow laws on African Americans educationally, in three sentences. Name the rule: schools were segregated and white schools were given far more public money.; Explain the effect: Black children were taught in worse buildings, with fewer books and larger classes.; Judge it: this impact lasted a lifetime, because a worse education limited the jobs a child could later get.. Answer: Segregated schools with far smaller budgets gave Black children a worse education, which then limited the work they could get as adults..
Core — reveal the hint only on request: One area, one named rule, one ordinary day. Use because, and end with how serious you think it was.
Stretch — no help; when finished: Your lesson asks whether political rights had to come first. Argue for or against that claim, using two of the four areas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impact of the Jim Crow laws.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the impact of the Jim Crow laws on ONE area of African Americans' lives. Write one paragraph of four to six sentences.
Support — work through the steps with the group: (1) Choose ONE area: political, social, legal or educational. One is enough. (2) Sentence 1: The Jim Crow laws had a big impact on African Americans [area], because... (3) Sentence 2: name the rule. The poll tax; the all-white jury; the separate waiting room; the smaller school budget. (4) Sentences 3 and 4: say what that did to one person's ordinary day, and use because. (5) Last sentence: say how serious you judge this impact to be, and why.
Parallel worked example for Support (model it, do not give the task answer): Explain the impact of the Jim Crow laws on African Americans educationally, in three sentences. Name the rule: schools were segregated and white schools were given far more public money.; Explain the effect: Black children were taught in worse buildings, with fewer books and larger classes.; Judge it: this impact lasted a lifetime, because a worse education limited the jobs a child could later get.. Answer: Segregated schools with far smaller budgets gave Black children a worse education, which then limited the work they could get as adults..
Core — reveal the hint only on request: One area, one named rule, one ordinary day. Use because, and end with how serious you think it was.
Stretch — no help; when finished: Your lesson asks whether political rights had to come first. Argue for or against that claim, using two of the four areas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Men arrested for Klan violence were almost never found guilty by a Southern jury. What can you infer from that?
Answer: B   That the Klan controlled the very people who were meant to deliver justice, so its victims could not get any. Arrests without convictions, in courts whose juries came from the same population the Klan recruited, show a justice system captured by the people it should have been judging. That is why the NAACP went above the local courts and took its cases all the way to the Supreme Court.
Source of this question: module 3 task ("What the courts tell you about the Klan")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areas of the Jim Crow system. Reveal the answer; pupils mark their own work in a different colour, then read the "why" together. Same destination for every lane, so one answer serves the whole class.
Answer: Political  →  B  A poll tax and a literacy test kept Black citizens off the voters' register; Social  →  C  Rules about how a Black person was allowed to speak to a white person; Legal  →  A  All-white juries, so a Black defendant or victim rarely got a fair trial; Educational  →  D  White schools were given far more public money than Black schools
Why: Political: the poll tax and the literacy test. Social: rules for how a Black person could speak to a white person. Legal: all-white juries. Educational: far more money for white schools. The political barrier protected the rest, because citizens who cannot vote cannot remove the lawmakers.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impact of the Jim Crow laws. Reveal the answer; pupils mark their own work in a different colour, then read the "why" together. Same destination for every lane, so one answer serves the whole class.
Answer: I choose one area and name it: political, social, legal or educational.; I give one specific example of a Jim Crow rule in that area.; I explain what it stopped a real person doing from day to day.; I use the word because at least once to link the rule to its effect.; I finish with a judgement about how serious this impact was.
Why: A strong answer stays in one area, names a real rule, and follows it into daily life. The best answers end on a judgement, and the strongest of those notice how the four areas held each other up.
Model answer: The Jim Crow laws had a severe impact on African Americans legally, because they removed any real chance of justice. Juries in the Southern states were white, so a Black person who had been robbed, beaten or threatened had to put their case to twelve people drawn from the group that was attacking them. This mattered far beyond the courtroom: if attackers expect no conviction, there is nothing to deter them, which is one reason Klan violence carried on for decades. Evidence given to a government committee reported dozens killed and hundreds beaten in a single state, with nobody arrested ever brought to court. I would judge this the most serious impact of all, because a person with no protection in law has no safe way to use any other right they are given.
Success criteria: I choose one area and name it: political, social, legal or educational.; I give one specific example of a Jim Crow rule in that area.; I explain what it stopped a real person doing from day to day.; I use the word because at least once to link the rule to its effect.; I finish with a judgement about how serious this impact was.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impact of the Jim Crow laws. Reveal the answer; pupils mark their own work in a different colour, then read the "why" together. Same destination for every lane, so one answer serves the whole class.
Answer: I choose one area and name it: political, social, legal or educational.; I give one specific example of a Jim Crow rule in that area.; I explain what it stopped a real person doing from day to day.; I use the word because at least once to link the rule to its effect.; I finish with a judgement about how serious this impact was.
Why: A strong answer stays in one area, names a real rule, and follows it into daily life. The best answers end on a judgement, and the strongest of those notice how the four areas held each other up.
Model answer: The Jim Crow laws had a severe impact on African Americans legally, because they removed any real chance of justice. Juries in the Southern states were white, so a Black person who had been robbed, beaten or threatened had to put their case to twelve people drawn from the group that was attacking them. This mattered far beyond the courtroom: if attackers expect no conviction, there is nothing to deter them, which is one reason Klan violence carried on for decades. Evidence given to a government committee reported dozens killed and hundreds beaten in a single state, with nobody arrested ever brought to court. I would judge this the most serious impact of all, because a person with no protection in law has no safe way to use any other right they are given.
Success criteria: I choose one area and name it: political, social, legal or educational.; I give one specific example of a Jim Crow rule in that area.; I explain what it stopped a real person doing from day to day.; I use the word because at least once to link the rule to its effect.; I finish with a judgement about how serious this impact was.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That the Klan controlled the very people who were meant to deliver justice, so its victims could not get any
Why: Arrests without convictions, in courts whose juries came from the same population the Klan recruited, show a justice system captured by the people it should have been judging. That is why the NAACP went above the local courts and took its cases all the way to the Supreme Court.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US Civil Rights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Jim Crow laws and the Ku Klux Klan</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Segregation in America</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did Black Americans win their civil rights, and which campaigns and leaders mattered most?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does segregation mean?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Keeping people apart because of their race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Making everyone obey the same set of laws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Moving people from the countryside into the cities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Taking away a person's right to own property</a:t>
            </a:r>
            <a:endParaRPr lang="en-US" sz="22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___ tax was a charge a citizen had to pay before being allowed to vote.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poll  ·  sales  ·  income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did white officials in the South use literacy tests?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find out how many Americans could read, for the school inspectors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give Black citizens a second chance if they had not paid the poll tax</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make sure everyone who voted had finished secondary school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stop Black citizens voting, by deciding who had understood the reading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Keeping people apart because of their race</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does segregation mean?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Segregation means setting one group of people apart from another. In the American South it was written into state law.</a:t>
            </a:r>
            <a:endParaRPr lang="en-US" sz="20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poll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___ tax was a charge a citizen had to pay before being allowed to vote.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poll tax was a charge made before a person could vote, and it was used to keep the poorest Black citizens off the register.</a:t>
            </a:r>
            <a:endParaRPr lang="en-US" sz="20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DE1CA"/>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To stop Black citizens voting, by deciding who had understood the reading</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hundred years ago many Americans of both races could not read. The test let a white official rule that white applicants had understood a passage and Black applicants…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segregation</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keeping people apart because of their race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Segregation put Black and white Americans in separate schools, waiting rooms and restaurants.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caricature</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picture or performance with features made cruelly over-exaggerated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Jim Crow character was a caricature invented to make Black people look foolish.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poll tax</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charge a citizen had to pay before being allowed to vote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poll tax kept poor Black citizens off the voters' register.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white supremacy</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false belief that white people should hold power over everyone else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Klan used fear and violence to defend white supremacy.</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infer</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work something out from evidence, without being told it directly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You can infer from the all-white juries that Black victims had little hope of justice.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slavery ended, Southern states wrote new laws instead.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These were called the Jim Crow laws.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Jim Crow was a cruel stage character invented by a white entertainer.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was played as clumsy and stupid, to mock Black people.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laws kept Black and white Americans apart by force of law.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Black citizens had to pay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poll tax</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before they could vote.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Officials set reading tests, then failed Black applicants on purpose.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Juries were all white, so trials were rarely fair.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Black schools were given far less money than white schools.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group called the Ku Klux Klan used violence and fear.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burned churches and left burning crosses outside people's homes.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Southern juries almost never found a Klansman guilty.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NAACP became the Klan's main opponent.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Where the name came from, and what the laws were for</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an exam question asks what segregation was like, do not just write that people were kept apart. Name one law and say what it stopped a real person doing on an ordinary day.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Jim Crow was not a real person. He was a character invented by a white entertainer, Thomas Rice, for a stage act in the 1800s.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Jim Crow laws were state laws, passed in the Southern states, and they were made on purpose to segregate Black and white people and to keep African Americans down.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laws reached into ordinary life in ways that are easy to miss.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Four areas of life: political, social, legal, educational</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four areas as a list you can say in order: political, social, legal, educational. Then attach one example to each.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information sheet sorts the Jim Crow system into four areas, and that is a useful way to remember it.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Socially, there were rules about how a Black person was permitted to speak to a white person.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Legally, juries in the South were white, so a Black defendant was unlikely to be believed and a Black victim unlikely to see anyone convicted.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Four areas of life: political, social, legal, educational</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the Jim Crow laws affected African Americans politically.</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the area and one device used in it: politically, Black citizens were kept off the voters' register by the poll tax and the literacy test.</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how the device worked: the poll tax priced out the poorest, and the literacy test let a white official decide who had understood the passage.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Four areas of life: political, social, legal, educational</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the Jim Crow laws affected African Americans politically.</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Show the consequence: because Black citizens could not vote, they could not remove the politicians who wrote the Jim Crow laws.</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a judgement: this shows that the political rules protected all the other kinds of segregation.</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poll tax and the literacy test kept Black citizens off the register; with no votes they could not change the lawmakers; so the political barrier is what kept the social, legal and educational barriers standing.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Ku Klux Klan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dates do a lot of work here: 1865, when the Klan began as a reaction to emancipation, and 1915, when it was rebuilt and widened its list of enemies.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violence Emmett Till met was not a single terrible exception.</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Klansmen wore white hoods and robes, and the costume was part of the point: it was designed to intimidate.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1915 the Klan was reformed and grew quickly in influence.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What can we learn about the Klan from sources?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a source, answer in this order: what it says, who made it, and what you can therefore infer. Three sentences, in that order, is a full answer at Key Stage 3.</a:t>
            </a:r>
            <a:endParaRPr lang="en-US" sz="1800" dirty="0"/>
          </a:p>
        </p:txBody>
      </p:sp>
      <p:sp>
        <p:nvSpPr>
          <p:cNvPr id="11" name="bullet-card"/>
          <p:cNvSpPr/>
          <p:nvPr/>
        </p:nvSpPr>
        <p:spPr>
          <a:xfrm>
            <a:off x="548640" y="1389888"/>
            <a:ext cx="11094415" cy="1098127"/>
          </a:xfrm>
          <a:prstGeom prst="roundRect">
            <a:avLst>
              <a:gd name="adj" fmla="val 6662"/>
            </a:avLst>
          </a:prstGeom>
          <a:solidFill>
            <a:srgbClr val="F4F1ED"/>
          </a:solidFill>
          <a:ln/>
        </p:spPr>
      </p:sp>
      <p:sp>
        <p:nvSpPr>
          <p:cNvPr id="12" name="bullet-hex"/>
          <p:cNvSpPr/>
          <p:nvPr/>
        </p:nvSpPr>
        <p:spPr>
          <a:xfrm>
            <a:off x="676656" y="1772659"/>
            <a:ext cx="384048" cy="332586"/>
          </a:xfrm>
          <a:prstGeom prst="hexagon">
            <a:avLst/>
          </a:prstGeom>
          <a:solidFill>
            <a:srgbClr val="7A4A1E"/>
          </a:solidFill>
          <a:ln/>
        </p:spPr>
      </p:sp>
      <p:sp>
        <p:nvSpPr>
          <p:cNvPr id="13" name="bullet"/>
          <p:cNvSpPr txBox="1"/>
          <p:nvPr/>
        </p:nvSpPr>
        <p:spPr>
          <a:xfrm>
            <a:off x="1143000" y="1389888"/>
            <a:ext cx="10408615" cy="10981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gives you four sources about the Klan and asks what you can infer from each.</a:t>
            </a:r>
            <a:endParaRPr lang="en-US" sz="2200" dirty="0"/>
          </a:p>
        </p:txBody>
      </p:sp>
      <p:sp>
        <p:nvSpPr>
          <p:cNvPr id="14" name="bullet-card"/>
          <p:cNvSpPr/>
          <p:nvPr/>
        </p:nvSpPr>
        <p:spPr>
          <a:xfrm>
            <a:off x="548640" y="2634319"/>
            <a:ext cx="11094415" cy="1438995"/>
          </a:xfrm>
          <a:prstGeom prst="roundRect">
            <a:avLst>
              <a:gd name="adj" fmla="val 5084"/>
            </a:avLst>
          </a:prstGeom>
          <a:solidFill>
            <a:srgbClr val="F4F1ED"/>
          </a:solidFill>
          <a:ln/>
        </p:spPr>
      </p:sp>
      <p:sp>
        <p:nvSpPr>
          <p:cNvPr id="15" name="bullet-hex"/>
          <p:cNvSpPr/>
          <p:nvPr/>
        </p:nvSpPr>
        <p:spPr>
          <a:xfrm>
            <a:off x="676656" y="3187523"/>
            <a:ext cx="384048" cy="332586"/>
          </a:xfrm>
          <a:prstGeom prst="hexagon">
            <a:avLst/>
          </a:prstGeom>
          <a:solidFill>
            <a:srgbClr val="B8862B"/>
          </a:solidFill>
          <a:ln/>
        </p:spPr>
      </p:sp>
      <p:sp>
        <p:nvSpPr>
          <p:cNvPr id="16" name="bullet"/>
          <p:cNvSpPr txBox="1"/>
          <p:nvPr/>
        </p:nvSpPr>
        <p:spPr>
          <a:xfrm>
            <a:off x="1143000" y="2634319"/>
            <a:ext cx="10408615" cy="143899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sources are very different. One is the Klan's own leader, speaking in public in the 1920s, setting out what the organisation wanted: Protestant power above everything, and laws against relationships between Black and white people.</a:t>
            </a:r>
            <a:endParaRPr lang="en-US" sz="2200" dirty="0"/>
          </a:p>
        </p:txBody>
      </p:sp>
      <p:sp>
        <p:nvSpPr>
          <p:cNvPr id="17" name="bullet-card"/>
          <p:cNvSpPr/>
          <p:nvPr/>
        </p:nvSpPr>
        <p:spPr>
          <a:xfrm>
            <a:off x="548640" y="4219617"/>
            <a:ext cx="11094415" cy="856319"/>
          </a:xfrm>
          <a:prstGeom prst="roundRect">
            <a:avLst>
              <a:gd name="adj" fmla="val 8543"/>
            </a:avLst>
          </a:prstGeom>
          <a:solidFill>
            <a:srgbClr val="F4F1ED"/>
          </a:solidFill>
          <a:ln/>
        </p:spPr>
      </p:sp>
      <p:sp>
        <p:nvSpPr>
          <p:cNvPr id="18" name="bullet-hex"/>
          <p:cNvSpPr/>
          <p:nvPr/>
        </p:nvSpPr>
        <p:spPr>
          <a:xfrm>
            <a:off x="676656" y="4481484"/>
            <a:ext cx="384048" cy="332586"/>
          </a:xfrm>
          <a:prstGeom prst="hexagon">
            <a:avLst/>
          </a:prstGeom>
          <a:solidFill>
            <a:srgbClr val="7A4A1E"/>
          </a:solidFill>
          <a:ln/>
        </p:spPr>
      </p:sp>
      <p:sp>
        <p:nvSpPr>
          <p:cNvPr id="19" name="bullet"/>
          <p:cNvSpPr txBox="1"/>
          <p:nvPr/>
        </p:nvSpPr>
        <p:spPr>
          <a:xfrm>
            <a:off x="1143000" y="4219617"/>
            <a:ext cx="10408615" cy="85631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Read together they tell you something no single source could.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Four areas of the Jim Crow system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area of life to the way the Jim Crow system controlled it.</a:t>
            </a:r>
            <a:endParaRPr lang="en-US" sz="2200" dirty="0"/>
          </a:p>
        </p:txBody>
      </p:sp>
      <p:sp>
        <p:nvSpPr>
          <p:cNvPr id="11" name="match-card"/>
          <p:cNvSpPr/>
          <p:nvPr/>
        </p:nvSpPr>
        <p:spPr>
          <a:xfrm>
            <a:off x="777240" y="2468331"/>
            <a:ext cx="3081437" cy="804809"/>
          </a:xfrm>
          <a:prstGeom prst="roundRect">
            <a:avLst>
              <a:gd name="adj" fmla="val 9089"/>
            </a:avLst>
          </a:prstGeom>
          <a:solidFill>
            <a:srgbClr val="F4F1ED"/>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Political</a:t>
            </a:r>
            <a:endParaRPr lang="en-US" sz="2000" dirty="0"/>
          </a:p>
        </p:txBody>
      </p:sp>
      <p:sp>
        <p:nvSpPr>
          <p:cNvPr id="15" name="match-card"/>
          <p:cNvSpPr/>
          <p:nvPr/>
        </p:nvSpPr>
        <p:spPr>
          <a:xfrm>
            <a:off x="4224437" y="2468331"/>
            <a:ext cx="7190019" cy="804809"/>
          </a:xfrm>
          <a:prstGeom prst="roundRect">
            <a:avLst>
              <a:gd name="adj" fmla="val 9089"/>
            </a:avLst>
          </a:prstGeom>
          <a:solidFill>
            <a:srgbClr val="F6F0E6"/>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All-white juries, so a Black defendant or victim rarely got a fair trial</a:t>
            </a:r>
            <a:endParaRPr lang="en-US" sz="2000" dirty="0"/>
          </a:p>
        </p:txBody>
      </p:sp>
      <p:sp>
        <p:nvSpPr>
          <p:cNvPr id="19" name="match-card"/>
          <p:cNvSpPr/>
          <p:nvPr/>
        </p:nvSpPr>
        <p:spPr>
          <a:xfrm>
            <a:off x="777240" y="3364581"/>
            <a:ext cx="3081437" cy="804809"/>
          </a:xfrm>
          <a:prstGeom prst="roundRect">
            <a:avLst>
              <a:gd name="adj" fmla="val 9089"/>
            </a:avLst>
          </a:prstGeom>
          <a:solidFill>
            <a:srgbClr val="F4F1ED"/>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Social</a:t>
            </a:r>
            <a:endParaRPr lang="en-US" sz="2000" dirty="0"/>
          </a:p>
        </p:txBody>
      </p:sp>
      <p:sp>
        <p:nvSpPr>
          <p:cNvPr id="23" name="match-card"/>
          <p:cNvSpPr/>
          <p:nvPr/>
        </p:nvSpPr>
        <p:spPr>
          <a:xfrm>
            <a:off x="4224437" y="3364581"/>
            <a:ext cx="7190019" cy="804809"/>
          </a:xfrm>
          <a:prstGeom prst="roundRect">
            <a:avLst>
              <a:gd name="adj" fmla="val 9089"/>
            </a:avLst>
          </a:prstGeom>
          <a:solidFill>
            <a:srgbClr val="F6F0E6"/>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poll tax and a literacy test kept Black citizens off the voters' register</a:t>
            </a:r>
            <a:endParaRPr lang="en-US" sz="2000" dirty="0"/>
          </a:p>
        </p:txBody>
      </p:sp>
      <p:sp>
        <p:nvSpPr>
          <p:cNvPr id="27" name="match-card"/>
          <p:cNvSpPr/>
          <p:nvPr/>
        </p:nvSpPr>
        <p:spPr>
          <a:xfrm>
            <a:off x="777240" y="4260830"/>
            <a:ext cx="3081437" cy="804809"/>
          </a:xfrm>
          <a:prstGeom prst="roundRect">
            <a:avLst>
              <a:gd name="adj" fmla="val 9089"/>
            </a:avLst>
          </a:prstGeom>
          <a:solidFill>
            <a:srgbClr val="F4F1ED"/>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Legal</a:t>
            </a:r>
            <a:endParaRPr lang="en-US" sz="2000" dirty="0"/>
          </a:p>
        </p:txBody>
      </p:sp>
      <p:sp>
        <p:nvSpPr>
          <p:cNvPr id="31" name="match-card"/>
          <p:cNvSpPr/>
          <p:nvPr/>
        </p:nvSpPr>
        <p:spPr>
          <a:xfrm>
            <a:off x="4224437" y="4260830"/>
            <a:ext cx="7190019" cy="804809"/>
          </a:xfrm>
          <a:prstGeom prst="roundRect">
            <a:avLst>
              <a:gd name="adj" fmla="val 9089"/>
            </a:avLst>
          </a:prstGeom>
          <a:solidFill>
            <a:srgbClr val="F6F0E6"/>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Rules about how a Black person was allowed to speak to a white person</a:t>
            </a:r>
            <a:endParaRPr lang="en-US" sz="2000" dirty="0"/>
          </a:p>
        </p:txBody>
      </p:sp>
      <p:sp>
        <p:nvSpPr>
          <p:cNvPr id="35" name="match-card"/>
          <p:cNvSpPr/>
          <p:nvPr/>
        </p:nvSpPr>
        <p:spPr>
          <a:xfrm>
            <a:off x="777240" y="5157079"/>
            <a:ext cx="3081437" cy="804809"/>
          </a:xfrm>
          <a:prstGeom prst="roundRect">
            <a:avLst>
              <a:gd name="adj" fmla="val 9089"/>
            </a:avLst>
          </a:prstGeom>
          <a:solidFill>
            <a:srgbClr val="F4F1ED"/>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Educational</a:t>
            </a:r>
            <a:endParaRPr lang="en-US" sz="2000" dirty="0"/>
          </a:p>
        </p:txBody>
      </p:sp>
      <p:sp>
        <p:nvSpPr>
          <p:cNvPr id="39" name="match-card"/>
          <p:cNvSpPr/>
          <p:nvPr/>
        </p:nvSpPr>
        <p:spPr>
          <a:xfrm>
            <a:off x="4224437" y="5157079"/>
            <a:ext cx="7190019" cy="804809"/>
          </a:xfrm>
          <a:prstGeom prst="roundRect">
            <a:avLst>
              <a:gd name="adj" fmla="val 9089"/>
            </a:avLst>
          </a:prstGeom>
          <a:solidFill>
            <a:srgbClr val="F6F0E6"/>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White schools were given far more public money than Black schools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Four areas of the Jim Crow system</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area of life to the way the Jim Crow system controlled it.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ED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easiest: which area is about schools and money?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area is about voting? Look for the tax and the test.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area is about courts and juries?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over is social: the unwritten rules for everyday conversation.</a:t>
            </a:r>
            <a:endParaRPr lang="en-US" sz="1800" dirty="0"/>
          </a:p>
        </p:txBody>
      </p:sp>
      <p:sp>
        <p:nvSpPr>
          <p:cNvPr id="17" name="col-Core"/>
          <p:cNvSpPr/>
          <p:nvPr/>
        </p:nvSpPr>
        <p:spPr>
          <a:xfrm>
            <a:off x="5490762" y="2578608"/>
            <a:ext cx="2938987" cy="3566160"/>
          </a:xfrm>
          <a:prstGeom prst="roundRect">
            <a:avLst>
              <a:gd name="adj" fmla="val 1867"/>
            </a:avLst>
          </a:prstGeom>
          <a:solidFill>
            <a:srgbClr val="E2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Four areas, four kinds of rule. Ask each rule: is this about voting, talking, courts or schools?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which of the four areas was the most important to break first, and give one reason for your judgement.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impact of the Jim Crow laws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the impact of the Jim Crow laws on ONE area of African Americans' lives.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The impact of the Jim Crow laws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the impact of the Jim Crow laws on ONE area of African Americans' lives. Write one paragraph of four to six sentences.</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Choose ONE area: political, social, legal or educational. One is enough.</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Sentence 1: The Jim Crow laws had a big impact on African Americans [area], because...</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Sentence 2: name the rule. The poll tax; the all-white jury; the separate waiting room; the smaller school budget.</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Sentences 3 and 4: say what that did to one person's ordinary day, and use because.</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Last sentence: say how serious you judge this impact to be, and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The impact of the Jim Crow laws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the impact of the Jim Crow laws on ONE area of African Americans' lives. Write one paragraph of four to six sentences.</a:t>
            </a:r>
            <a:endParaRPr lang="en-US" sz="2000" dirty="0"/>
          </a:p>
        </p:txBody>
      </p:sp>
      <p:sp>
        <p:nvSpPr>
          <p:cNvPr id="12" name="col-Core"/>
          <p:cNvSpPr/>
          <p:nvPr/>
        </p:nvSpPr>
        <p:spPr>
          <a:xfrm>
            <a:off x="548640" y="2593848"/>
            <a:ext cx="5410048" cy="3550920"/>
          </a:xfrm>
          <a:prstGeom prst="roundRect">
            <a:avLst>
              <a:gd name="adj" fmla="val 1545"/>
            </a:avLst>
          </a:prstGeom>
          <a:solidFill>
            <a:srgbClr val="E2D7C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One area, one named rule, one ordinary day. Use because, and end with how serious you think it was.</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7A4A1E"/>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Your lesson asks whether political rights had to come first. Argue for or against that claim, using two of the four areas as evidence.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80111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Men arrested for Klan violence were almost never found guilty by a Southern jury. What can you infer from that?</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Southern juries were unusually careful to follow the evidence</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the Klan controlled the very people who were meant to deliver justice, so its victims could not get any</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the Klan was a small group with no real power in the Southern states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Black Americans in the South did not report crimes because the crimes did not trouble them</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Four areas of the Jim Crow system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Political  →  B  A poll tax and a literacy test kept Black citizens off the voters' register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Social  →  C  Rules about how a Black person was allowed to speak to a white person</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Legal  →  A  All-white juries, so a Black defendant or victim rarely got a fair trial</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Educational  →  D  White schools were given far more public money than Black schools</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Political: the poll tax and the literacy test. Social: rules for how a Black person could speak to a white person. Legal: all-white juries. Educational: far more money for white schools. The political barrier protected the rest, because citizens who cannot vote cannot remove the lawmakers.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impact of the Jim Crow laws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0664"/>
          </a:xfrm>
          <a:prstGeom prst="roundRect">
            <a:avLst>
              <a:gd name="adj" fmla="val 12346"/>
            </a:avLst>
          </a:prstGeom>
          <a:solidFill>
            <a:srgbClr val="F4F1ED"/>
          </a:solidFill>
          <a:ln/>
        </p:spPr>
      </p:sp>
      <p:sp>
        <p:nvSpPr>
          <p:cNvPr id="9" name="tickbox"/>
          <p:cNvSpPr/>
          <p:nvPr/>
        </p:nvSpPr>
        <p:spPr>
          <a:xfrm>
            <a:off x="713232" y="2208276"/>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choose one area and name it: political, social, legal or educational.</a:t>
            </a:r>
            <a:endParaRPr lang="en-US" sz="2200" dirty="0"/>
          </a:p>
        </p:txBody>
      </p:sp>
      <p:sp>
        <p:nvSpPr>
          <p:cNvPr id="11" name="crit-box"/>
          <p:cNvSpPr/>
          <p:nvPr/>
        </p:nvSpPr>
        <p:spPr>
          <a:xfrm>
            <a:off x="548640" y="2816352"/>
            <a:ext cx="11094415" cy="740664"/>
          </a:xfrm>
          <a:prstGeom prst="roundRect">
            <a:avLst>
              <a:gd name="adj" fmla="val 12346"/>
            </a:avLst>
          </a:prstGeom>
          <a:solidFill>
            <a:srgbClr val="F4F1ED"/>
          </a:solidFill>
          <a:ln/>
        </p:spPr>
      </p:sp>
      <p:sp>
        <p:nvSpPr>
          <p:cNvPr id="12" name="tickbox"/>
          <p:cNvSpPr/>
          <p:nvPr/>
        </p:nvSpPr>
        <p:spPr>
          <a:xfrm>
            <a:off x="713232" y="3040380"/>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16352"/>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one specific example of a Jim Crow rule in that area.</a:t>
            </a:r>
            <a:endParaRPr lang="en-US" sz="2200" dirty="0"/>
          </a:p>
        </p:txBody>
      </p:sp>
      <p:sp>
        <p:nvSpPr>
          <p:cNvPr id="14" name="crit-box"/>
          <p:cNvSpPr/>
          <p:nvPr/>
        </p:nvSpPr>
        <p:spPr>
          <a:xfrm>
            <a:off x="548640" y="3648456"/>
            <a:ext cx="11094415" cy="740664"/>
          </a:xfrm>
          <a:prstGeom prst="roundRect">
            <a:avLst>
              <a:gd name="adj" fmla="val 12346"/>
            </a:avLst>
          </a:prstGeom>
          <a:solidFill>
            <a:srgbClr val="F4F1ED"/>
          </a:solidFill>
          <a:ln/>
        </p:spPr>
      </p:sp>
      <p:sp>
        <p:nvSpPr>
          <p:cNvPr id="15" name="tickbox"/>
          <p:cNvSpPr/>
          <p:nvPr/>
        </p:nvSpPr>
        <p:spPr>
          <a:xfrm>
            <a:off x="713232" y="3872484"/>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648456"/>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what it stopped a real person doing from day to day.</a:t>
            </a:r>
            <a:endParaRPr lang="en-US" sz="2200" dirty="0"/>
          </a:p>
        </p:txBody>
      </p:sp>
      <p:sp>
        <p:nvSpPr>
          <p:cNvPr id="17" name="crit-box"/>
          <p:cNvSpPr/>
          <p:nvPr/>
        </p:nvSpPr>
        <p:spPr>
          <a:xfrm>
            <a:off x="548640" y="4480560"/>
            <a:ext cx="11094415" cy="740664"/>
          </a:xfrm>
          <a:prstGeom prst="roundRect">
            <a:avLst>
              <a:gd name="adj" fmla="val 12346"/>
            </a:avLst>
          </a:prstGeom>
          <a:solidFill>
            <a:srgbClr val="F4F1ED"/>
          </a:solidFill>
          <a:ln/>
        </p:spPr>
      </p:sp>
      <p:sp>
        <p:nvSpPr>
          <p:cNvPr id="18" name="tickbox"/>
          <p:cNvSpPr/>
          <p:nvPr/>
        </p:nvSpPr>
        <p:spPr>
          <a:xfrm>
            <a:off x="713232" y="4704588"/>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480560"/>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the word because at least once to link the rule to its effect.</a:t>
            </a:r>
            <a:endParaRPr lang="en-US" sz="2200" dirty="0"/>
          </a:p>
        </p:txBody>
      </p:sp>
      <p:sp>
        <p:nvSpPr>
          <p:cNvPr id="20" name="crit-box"/>
          <p:cNvSpPr/>
          <p:nvPr/>
        </p:nvSpPr>
        <p:spPr>
          <a:xfrm>
            <a:off x="548640" y="5312664"/>
            <a:ext cx="11094415" cy="740664"/>
          </a:xfrm>
          <a:prstGeom prst="roundRect">
            <a:avLst>
              <a:gd name="adj" fmla="val 12346"/>
            </a:avLst>
          </a:prstGeom>
          <a:solidFill>
            <a:srgbClr val="F4F1ED"/>
          </a:solidFill>
          <a:ln/>
        </p:spPr>
      </p:sp>
      <p:sp>
        <p:nvSpPr>
          <p:cNvPr id="21" name="tickbox"/>
          <p:cNvSpPr/>
          <p:nvPr/>
        </p:nvSpPr>
        <p:spPr>
          <a:xfrm>
            <a:off x="713232" y="5536692"/>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312664"/>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finish with a judgement about how serious this impact was.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Model answer: The impact of the Jim Crow laws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Jim Crow laws had a severe impact on African Americans legally, because they removed any real chance of justice. Juries in the Southern states were white, so a Black person who had been robbed, beaten or threatened had to put their case to twelve people drawn from the group that was attacking them. This mattered far beyond the courtroom: if attackers expect no conviction, there is nothing to deter them, which is one reason Klan violence carried on for decades. Evidence given to a government committee reported dozens killed and hundreds beaten in a single state, with nobody arrested ever brought to court. I would judge this the most serious impact of all, because a person with no protection in law has no safe way to use any other right they are given.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Men arrested for Klan violence were almost never found guilty by a Southern jury. What can you infer from that?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That the Klan controlled the very people who were meant to deliver justice, so its victims could not get any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Arrests without convictions, in courts whose juries came from the same population the Klan recruited, show a justice system captured by the people it should have been judging. That is why the NAACP went above the local courts and took its cases all the way to the Supreme Court.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Civil Rights · Chapter 2: The Jim Crow laws and the Ku Klux Klan</dc:title>
  <dc:subject>History · Year 9</dc:subject>
  <dc:creator>Dr Vitor Merissi de Carvalho</dc:creator>
  <cp:lastModifiedBy>Dr Vitor Merissi de Carvalho</cp:lastModifiedBy>
  <cp:revision>1</cp:revision>
  <dcterms:created xsi:type="dcterms:W3CDTF">2026-10-19T16:23:03Z</dcterms:created>
  <dcterms:modified xsi:type="dcterms:W3CDTF">2026-10-19T16:23:03Z</dcterms:modified>
</cp:coreProperties>
</file>