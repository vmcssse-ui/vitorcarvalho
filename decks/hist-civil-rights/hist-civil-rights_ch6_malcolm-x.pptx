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83ea23c-38ab-4962-b840-abc3b71b32ed}">
          <p14:sldIdLst>
            <p14:sldId id="256"/>
          </p14:sldIdLst>
        </p14:section>
        <p14:section name="Gate" id="{4a3fd964-70dd-2a03-9347-9f7b27e53825}">
          <p14:sldIdLst>
            <p14:sldId id="257"/>
            <p14:sldId id="258"/>
            <p14:sldId id="259"/>
          </p14:sldIdLst>
        </p14:section>
        <p14:section name="Pre-teach" id="{a2c00aa1-fa6a-6a78-74fa-6183cfaa26b4}">
          <p14:sldIdLst>
            <p14:sldId id="260"/>
          </p14:sldIdLst>
        </p14:section>
        <p14:section name="Read-along" id="{99cacbcf-a55f-14b2-a0b7-f6bceb861b2d}">
          <p14:sldIdLst>
            <p14:sldId id="261"/>
            <p14:sldId id="262"/>
          </p14:sldIdLst>
        </p14:section>
        <p14:section name="Teach" id="{bebd6d34-bb59-7cae-3b72-a80fcefcb57d}">
          <p14:sldIdLst>
            <p14:sldId id="263"/>
            <p14:sldId id="264"/>
            <p14:sldId id="265"/>
            <p14:sldId id="266"/>
            <p14:sldId id="267"/>
            <p14:sldId id="268"/>
          </p14:sldIdLst>
        </p14:section>
        <p14:section name="Routes" id="{a852a0a8-2a64-fc71-93b2-4bb40f319074}">
          <p14:sldIdLst>
            <p14:sldId id="269"/>
            <p14:sldId id="270"/>
            <p14:sldId id="271"/>
            <p14:sldId id="272"/>
            <p14:sldId id="273"/>
          </p14:sldIdLst>
        </p14:section>
        <p14:section name="Close" id="{569f8c41-4e1e-66c8-61fe-fae74e23334e}">
          <p14:sldIdLst>
            <p14:sldId id="274"/>
          </p14:sldIdLst>
        </p14:section>
        <p14:section name="Answers" id="{56047907-8d2b-5ae5-558c-14d5dcd172f9}">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Malcolm X, and judging what historians say about him. The childhood that shaped Malcolm X, what the Nation of Islam taught him, how his ideas changed by 1964, what limited his impact, and how to weigh a historian's interpretation against the evidence.
This deck covers the department's lessons: 5 (How did Malcolm X fight for Civil Rights?: How did Malcolm X fight for civil rights, and how did his ideas change over time?); 6 (Martin Luther King vs. Malcolm X: How were the two leaders different, and which of them had the greater impact?); 7 (US Civil Rights: Assessment: Can you say how far you agree with a historian's interpretation of a Civil Rights leader?).
Read the big question aloud: "How did Black Americans win their civil rights, and which campaigns and leaders mattered most?"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Malcolm X argue about who could win Black Americans their freedom?  →  A   That Black people had been oppressed by white people, so they could not rely on white people to secure their freedom
2. In 1964 Malcolm X left the Nation of Islam and made a ___ to Mecca.  →  pilgrimage
3. Which of these is a limitation on Malcolm X's impact, as your lesson gives it?  →  C   Other Civil Rights groups labelled him an extremist, and his support for violence put some people off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did Malcolm X argue about who could win Black Americans their freedom?  →  A   That Black people had been oppressed by white people, so they could not rely on white people to secure their freedom
2. In 1964 Malcolm X left the Nation of Islam and made a ___ to Mecca.  →  pilgrimage
3. Which of these is a limitation on Malcolm X's impact, as your lesson gives it?  →  C   Other Civil Rights groups labelled him an extremist, and his support for violence put some people off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That Black people had been oppressed by white people, so they could not rely on white people to secure their freedom. This was his core disagreement with King: he argued that the oppressors could not be relied on to end the oppression, so Black Americans had to act for themselves.
2. pilgrimage. A pilgrimage is a religious journey to a holy place, and this one marked the point at which his views on working with white people began to change.
3. C   Other Civil Rights groups labelled him an extremist, and his support for violence put some people off. Your lesson lists being labelled an extremist, the effect of his support for violence, his claim about religion, and his remark after Kennedy's death as the four limitations.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self-defence: protecting yourself when you are attacked. Example: "Malcolm X argued that Black Americans had the right to self-defence."
• Nation of Islam: a group that taught black power and a separate Black future. Example: "He met the Nation of Islam while he was in prison."
• pilgrimage: a religious journey to a holy place. Example: "In 1964 he made a pilgrimage to Mecca, and his views began to change."
• interpretation: a historian's argument about the past, built from evidence. Example: "An interpretation can be tested against the evidence, and partly agreed with."
• limitation: something that held a person's achievement back. Example: "One limitation was that other Civil Rights groups called him an extremist."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Malcolm Little was born in 1925 into danger.
2. White supremacists burned down his family's home in 1928.
3. In 1931 they killed his father, who spoke up for Black rights.
4. His mother became seriously ill and was taken into hospital in 1939.
5. That year a teacher told him to give up becoming a lawyer.
6. He left school angry, and later turned to crime.
7. In prison he met a group called the Nation of Islam.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Released in 1952, he joined it and took the name Malcolm X.
9. He said Black people must defend themselves, not wait to be helped.
10. By 1964 his ideas had changed after a pilgrimage to Mecca.
11. He began to say white and Black people could work together.
12. Historians still argue about how much impact he had.
13. Your job is to weigh their arguments against the evidence.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Malcolm Little: a childhood shaped by racist violence. Say it in your own words, then check understanding with a quick question: ask a pupil from the pre-teach group first, since they met these words and ideas before the lesson. Pupils try to recall before you re-explain.
Malcolm X was born Malcolm Little in 1925. His father spoke publicly for Black rights, and the family paid for it: white supremacists burned down their home in 1928, and in 1931 his father was killed by people his family believed were white racists. His mother could not cope alone, and in 1939 she became seriously ill and was taken into a mental hospital, where she remained for twenty-six years.
The same year, 1939, Malcolm left school angry. He was a very able pupil, but a teacher told him to forget his hope of becoming a lawyer because he was Black. By 1941 he had moved to a poor, segregated city neighbourhood and taken the kind of low-paid work open to young Black men there, first shining shoes and then waiting tables. He saw no better route out and turned to crime, and in 1946 he was sent to prison, where he stayed until 1952.
None of this is an excuse or an explanation on its own, and your lesson is careful about that. It asks you a harder question: how many Black Americans endured the same things? The violence, the segregated neighbourhood, the teacher who closed a door, the police and courts that did not protect his father: every one of those appears elsewhere in this unit. Malcolm X's early life is unusual in its detail, not in its kind.
Tip: When you write about a person's early life, use it to explain the choices they later made, not to decide in advance whether those choices were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Nation of Islam, and a new name. Say it in your own words, then check understanding with a quick question: ask a pupil from the pre-teach group first, since they met these words and ideas before the lesson. Pupils try to recall before you re-explain.
In prison Malcolm met members of the Nation of Islam. The group taught black power and racial conflict with white people, told him that white people were his enemy, and claimed that Islam was the true religion of all Black people. He converted while he was inside, and when he was released in 1952 he joined the group and changed his name to Malcolm X.
He became one of its most effective organisers. Malcolm X is credited with expanding the membership of the Nation of Islam enormously, from about 500 people to more than 75,000 by the early 1960s. That is the hardest piece of evidence anyone has for his impact, and you should keep it ready.
His argument about method is what divided him from King. Malcolm X became a prominent Civil Rights leader in the 1960s, like King, but he argued that Black people had been oppressed by white people and therefore could not rely on white people to secure their freedom. Where King asked for non-violence, Malcolm X argued for self-defence, and he pointed out that Black Americans were the only group in the country who were asked to stay peaceful while being attacked.
Tip: Do not reduce the difference between the two leaders to violence against non-violence. The deeper difference is about who they thought would deliver change: white allies, or Black Americans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Ideas that changed, and what held him back. Say it in your own words, then check understanding with a quick question: ask a pupil from the pre-teach group first, since they met these words and ideas before the lesson. Pupils try to recall before you re-explain.
Malcolm X did not hold one fixed position all his life, and the change is examinable. By 1964 he had left the Nation of Islam and made a pilgrimage to Mecca, and he came back believing that white and Black people could work together to end racism and that he was arguing for human rights for every group in society. In a famous speech of 1964 he urged Black Americans to use their votes to change the American political system rather than to turn to violence, while insisting that white racism was so deeply rooted that Black people still needed the right to defend themselves. That was a major change of position, and he kept saying that King and the other groups had not done enough.
His limitations are set out plainly in your lesson. Other Civil Rights groups labelled him an extremist and a radical. His support for violence put some people off him altogether. His claim that Islam was the true religion of all Black people did not win him support, because many Black Americans were Christians. And after President Kennedy was shot in 1963, his remark that America's own violence had come back on it upset many people, Black and white.
So the record really is mixed, and that is what makes him a good subject for an interpretation question. He grew an organisation from a few hundred to tens of thousands and reached people King could not reach. He also alienated potential allies, including the ones with the power to pass laws.
Worked example — model it step by step, thinking aloud: Explain one way in which Malcolm X's ideas changed, and one limitation on his impact. (1) Name the change: by 1964 he had left the Nation of Islam and, after a pilgrimage to Mecca, accepted that white and Black people could work together. (2) Evidence it: in his 1964 speech he urged Black Americans to use the vote rather than violence, while keeping the right to self-defence. (3) Name the limitation: other Civil Rights groups called him an extremist, and his support for violence put people off. (4) Explain the effect of the limitation: because the people who could pass laws were alienated, he had less influence over legislation than King. Answer: Change: by 1964, after Mecca, he accepted co-operation across races and urged use of the vote. Limitation: being labelled an extremist cost him allies among the people who could actually pass laws..
Tip: A question about change needs two moments and a date. Say what he thought first, what he thought later, and when the shift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Ideas that changed, and what held him back. Say it in your own words, then check understanding with a quick question: ask a pupil from the pre-teach group first, since they met these words and ideas before the lesson. Pupils try to recall before you re-explain.
Malcolm X did not hold one fixed position all his life, and the change is examinable. By 1964 he had left the Nation of Islam and made a pilgrimage to Mecca, and he came back believing that white and Black people could work together to end racism and that he was arguing for human rights for every group in society. In a famous speech of 1964 he urged Black Americans to use their votes to change the American political system rather than to turn to violence, while insisting that white racism was so deeply rooted that Black people still needed the right to defend themselves. That was a major change of position, and he kept saying that King and the other groups had not done enough.
His limitations are set out plainly in your lesson. Other Civil Rights groups labelled him an extremist and a radical. His support for violence put some people off him altogether. His claim that Islam was the true religion of all Black people did not win him support, because many Black Americans were Christians. And after President Kennedy was shot in 1963, his remark that America's own violence had come back on it upset many people, Black and white.
So the record really is mixed, and that is what makes him a good subject for an interpretation question. He grew an organisation from a few hundred to tens of thousands and reached people King could not reach. He also alienated potential allies, including the ones with the power to pass laws.
Worked example — model it step by step, thinking aloud: Explain one way in which Malcolm X's ideas changed, and one limitation on his impact. (1) Name the change: by 1964 he had left the Nation of Islam and, after a pilgrimage to Mecca, accepted that white and Black people could work together. (2) Evidence it: in his 1964 speech he urged Black Americans to use the vote rather than violence, while keeping the right to self-defence. (3) Name the limitation: other Civil Rights groups called him an extremist, and his support for violence put people off. (4) Explain the effect of the limitation: because the people who could pass laws were alienated, he had less influence over legislation than King. Answer: Change: by 1964, after Mecca, he accepted co-operation across races and urged use of the vote. Limitation: being labelled an extremist cost him allies among the people who could actually pass laws..
Tip: A question about change needs two moments and a date. Say what he thought first, what he thought later, and when the shift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Ideas that changed, and what held him back. Say it in your own words, then check understanding with a quick question: ask a pupil from the pre-teach group first, since they met these words and ideas before the lesson. Pupils try to recall before you re-explain.
Malcolm X did not hold one fixed position all his life, and the change is examinable. By 1964 he had left the Nation of Islam and made a pilgrimage to Mecca, and he came back believing that white and Black people could work together to end racism and that he was arguing for human rights for every group in society. In a famous speech of 1964 he urged Black Americans to use their votes to change the American political system rather than to turn to violence, while insisting that white racism was so deeply rooted that Black people still needed the right to defend themselves. That was a major change of position, and he kept saying that King and the other groups had not done enough.
His limitations are set out plainly in your lesson. Other Civil Rights groups labelled him an extremist and a radical. His support for violence put some people off him altogether. His claim that Islam was the true religion of all Black people did not win him support, because many Black Americans were Christians. And after President Kennedy was shot in 1963, his remark that America's own violence had come back on it upset many people, Black and white.
So the record really is mixed, and that is what makes him a good subject for an interpretation question. He grew an organisation from a few hundred to tens of thousands and reached people King could not reach. He also alienated potential allies, including the ones with the power to pass laws.
Worked example — model it step by step, thinking aloud: Explain one way in which Malcolm X's ideas changed, and one limitation on his impact. (1) Name the change: by 1964 he had left the Nation of Islam and, after a pilgrimage to Mecca, accepted that white and Black people could work together. (2) Evidence it: in his 1964 speech he urged Black Americans to use the vote rather than violence, while keeping the right to self-defence. (3) Name the limitation: other Civil Rights groups called him an extremist, and his support for violence put people off. (4) Explain the effect of the limitation: because the people who could pass laws were alienated, he had less influence over legislation than King. Answer: Change: by 1964, after Mecca, he accepted co-operation across races and urged use of the vote. Limitation: being labelled an extremist cost him allies among the people who could actually pass laws..
Tip: A question about change needs two moments and a date. Say what he thought first, what he thought later, and when the shift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Judging an interpretation. Say it in your own words, then check understanding with a quick question: ask a pupil from the pre-teach group first, since they met these words and ideas before the lesson. Pupils try to recall before you re-explain.
An interpretation is a historian's argument about the past, built out of evidence. It is not a fact to be learned and it is not an opinion to be shrugged at: it is a case you can test. Your assessment gives you an interpretation and asks how far you agree.
The interpretation your lesson uses argues, in summary, that Malcolm X frightened both the people in charge and some of the Black Americans he was trying to help; that when he spoke about defending yourself, white listeners heard a threat of racial violence; that he asked questions King did not ask and showed that change had to come faster; and that he reached people who were not moved by a promise that change would arrive one day. The historian's text is modern and in copyright, so this book gives the argument rather than the words.
Then you test it, in five steps your department uses for every interpretation question. Outline what the historian argues, naming the part you are answering. Say whether you agree, partly agree or disagree. Give evidence. Explain how your evidence shows that the person did or did not have a major impact. Link back to the question. The word partly is often the honest answer, and it scores well when the evidence really does point both ways, as it does here.
Tip: Before you agree or disagree, ask what the interpretation leaves out. The 500 to 75,000 membership figure and the 1964 change of position are the two pieces of evidence most often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far do you agree about Malcolm X?.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
Support — work through the steps with the group: (1) Sentence 1: The historian argues that... Put the claim you are answering in your own words. (2) Sentence 2: I agree / partly agree / disagree with this interpretation. (3) Sentences 3 and 4: evidence. The strongest for impact is the growth from about 500 members to more than 75,000; the strongest against is being labelled an extremist and losing allies. (4) Sentence 5: explain. Say how your evidence shows a major impact, or shows a limited one. (5) Last sentence: link back. Therefore I [agree / partly agree / disagree], because...
Parallel worked example for Support (model it, do not give the task answer): A historian argues that Rosa Parks mattered more as a symbol than as an organiser. Outline that argument and say how far you agree, in three sentences. Outline: the historian argues her importance lay in what she came to represent rather than in the running of the campaign.; Judge and evidence: I partly agree, because she became known as the mother of the movement, but she had also been secretary of her local NAACP branch since 1943.; Link: so the symbol was real, but calling her only a symbol leaves out twelve years of organising.. Answer: Partly agree: she became a powerful symbol, but she had been an NAACP branch secretary since 1943, so the interpretation understates her organising..
Core — reveal the hint only on request: Outline, judge, evidence, explain, link. Partly agree is a strong answer when the evidence really does point both ways.
Stretch — no help; when finished: Say what evidence the historian has left out that might change their judgement, and explain how it would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far do you agree about Malcolm X?.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
Support — work through the steps with the group: (1) Sentence 1: The historian argues that... Put the claim you are answering in your own words. (2) Sentence 2: I agree / partly agree / disagree with this interpretation. (3) Sentences 3 and 4: evidence. The strongest for impact is the growth from about 500 members to more than 75,000; the strongest against is being labelled an extremist and losing allies. (4) Sentence 5: explain. Say how your evidence shows a major impact, or shows a limited one. (5) Last sentence: link back. Therefore I [agree / partly agree / disagree], because...
Parallel worked example for Support (model it, do not give the task answer): A historian argues that Rosa Parks mattered more as a symbol than as an organiser. Outline that argument and say how far you agree, in three sentences. Outline: the historian argues her importance lay in what she came to represent rather than in the running of the campaign.; Judge and evidence: I partly agree, because she became known as the mother of the movement, but she had also been secretary of her local NAACP branch since 1943.; Link: so the symbol was real, but calling her only a symbol leaves out twelve years of organising.. Answer: Partly agree: she became a powerful symbol, but she had been an NAACP branch secretary since 1943, so the interpretation understates her organising..
Core — reveal the hint only on request: Outline, judge, evidence, explain, link. Partly agree is a strong answer when the evidence really does point both ways.
Stretch — no help; when finished: Say what evidence the historian has left out that might change their judgement, and explain how it would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far do you agree about Malcolm X?.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
Support — work through the steps with the group: (1) Sentence 1: The historian argues that... Put the claim you are answering in your own words. (2) Sentence 2: I agree / partly agree / disagree with this interpretation. (3) Sentences 3 and 4: evidence. The strongest for impact is the growth from about 500 members to more than 75,000; the strongest against is being labelled an extremist and losing allies. (4) Sentence 5: explain. Say how your evidence shows a major impact, or shows a limited one. (5) Last sentence: link back. Therefore I [agree / partly agree / disagree], because...
Parallel worked example for Support (model it, do not give the task answer): A historian argues that Rosa Parks mattered more as a symbol than as an organiser. Outline that argument and say how far you agree, in three sentences. Outline: the historian argues her importance lay in what she came to represent rather than in the running of the campaign.; Judge and evidence: I partly agree, because she became known as the mother of the movement, but she had also been secretary of her local NAACP branch since 1943.; Link: so the symbol was real, but calling her only a symbol leaves out twelve years of organising.. Answer: Partly agree: she became a powerful symbol, but she had been an NAACP branch secretary since 1943, so the interpretation understates her organising..
Core — reveal the hint only on request: Outline, judge, evidence, explain, link. Partly agree is a strong answer when the evidence really does point both ways.
Stretch — no help; when finished: Say what evidence the historian has left out that might change their judgement, and explain how it would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unit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assessment bell work asks you to put these five events in chronological order. Do it.
Support — work through the steps with the group: (1) Two of these are in the 1940s and 1950s, and three are in the 1960s. Split them first. (2) Of the early pair: Malcolm went to prison in 1946, and Rosa Parks was arrested in December 1955. (3) Of the 1960s three: the Civil Rights Act came in 1964, and the other two are both 1965. (4) Within 1965, the march came first, in March, and the Voting Rights Act followed because of it.
Parallel worked example for Support (model it, do not give the task answer): Put these four moments in order: Brown vs Board of Education; Plessy vs Ferguson; the Little Rock Nine enter school; Thurgood Marshall joins the Supreme Court. Plessy came first, in 1896.; Then Brown, in 1954.; Then Little Rock, in 1957, which used the Brown ruling.; Marshall joined the court last, in 1967.. Answer: Plessy vs Ferguson; Brown vs Board of Education; the Little Rock Nine enter school; Thurgood Marshall joins the Supreme Court.
Core — reveal the hint only on request: Sort by decade, then by year. The one pair that needs care is the two 1965 events: which one caused the other?
Stretch — no help; when finished: Explain why the order of the last two events is the single most important thing on this list, and what it tells you about how the Voting Rights Act came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unit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Your assessment bell work asks you to put these five events in chronological order. Do it.
Support — work through the steps with the group: (1) Two of these are in the 1940s and 1950s, and three are in the 1960s. Split them first. (2) Of the early pair: Malcolm went to prison in 1946, and Rosa Parks was arrested in December 1955. (3) Of the 1960s three: the Civil Rights Act came in 1964, and the other two are both 1965. (4) Within 1965, the march came first, in March, and the Voting Rights Act followed because of it.
Parallel worked example for Support (model it, do not give the task answer): Put these four moments in order: Brown vs Board of Education; Plessy vs Ferguson; the Little Rock Nine enter school; Thurgood Marshall joins the Supreme Court. Plessy came first, in 1896.; Then Brown, in 1954.; Then Little Rock, in 1957, which used the Brown ruling.; Marshall joined the court last, in 1967.. Answer: Plessy vs Ferguson; Brown vs Board of Education; the Little Rock Nine enter school; Thurgood Marshall joins the Supreme Court.
Core — reveal the hint only on request: Sort by decade, then by year. The one pair that needs care is the two 1965 events: which one caused the other?
Stretch — no help; when finished: Explain why the order of the last two events is the single most important thing on this list, and what it tells you about how the Voting Rights Act came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is the best evidence that Malcolm X's views changed?
Answer: B   In 1964 he left the Nation of Islam, made a pilgrimage to Mecca, and began to argue that white and Black people could work together. Leaving the Nation of Islam in 1964, going on pilgrimage to Mecca, and then arguing that white and Black people could work together gives a clear before, a clear after and a date. Joining in 1952 is only the starting point; the extremist label is other people's view; and self-defence is the part that stayed the same.
Source of this question: module 3 task ("The best evidence that he changed")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far do you agree about Malcolm X?. Reveal the answer; pupils mark their own work in a different colour, then read the "why" together. Same destination for every lane, so one answer serves the whole class.
Answer: I outline what the historian argues, naming the part of the interpretation I am answering.; I say whether I agree, partly agree or disagree.; I give evidence from the unit to support my answer.; I explain how my evidence shows that Malcolm X did or did not have a major impact.; I link back to the question at the end.
Why: The strongest evidence for a major impact is the growth of the Nation of Islam from about 500 members to more than 75,000, because it measures how many people he reached. The strongest evidence against is the alienation of other groups and of white politicians, because the laws of 1964 and 1965 needed exactly those people. Partly agree, well evidenced, is the honest answer.
Model answer: The historian argues that Malcolm X both frightened people and reached people, and that his impact lay in the questions he forced into the open rather than in laws he helped to pass. I partly agree. He clearly reached people: while he organised for the Nation of Islam its membership grew from about 500 to more than 75,000 by the early 1960s, which shows he spoke to Black Americans who were not persuaded by a promise that change would come eventually. His change of position by 1964, after he left the group and made the pilgrimage to Mecca, also shows a leader arguing in public about method rather than simply repeating himself. However, the historian's point about fear is well supported too: other Civil Rights groups called him an extremist, his support for violence put people off, and his remark after President Kennedy was shot in 1963 upset Black and white Americans alike, which cost him exactly the allies who could pass legislation. So I partly agree: his impact on how Black Americans thought about their own position was major, while his impact on the laws of 1964 and 1965 was far smaller than King's.
Success criteria: I outline what the historian argues, naming the part of the interpretation I am answering.; I say whether I agree, partly agree or disagree.; I give evidence from the unit to support my answer.; I explain how my evidence shows that Malcolm X did or did not have a major impact.; I link back to the question at the end.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far do you agree about Malcolm X?. Reveal the answer; pupils mark their own work in a different colour, then read the "why" together. Same destination for every lane, so one answer serves the whole class.
Answer: I outline what the historian argues, naming the part of the interpretation I am answering.; I say whether I agree, partly agree or disagree.; I give evidence from the unit to support my answer.; I explain how my evidence shows that Malcolm X did or did not have a major impact.; I link back to the question at the end.
Why: The strongest evidence for a major impact is the growth of the Nation of Islam from about 500 members to more than 75,000, because it measures how many people he reached. The strongest evidence against is the alienation of other groups and of white politicians, because the laws of 1964 and 1965 needed exactly those people. Partly agree, well evidenced, is the honest answer.
Model answer: The historian argues that Malcolm X both frightened people and reached people, and that his impact lay in the questions he forced into the open rather than in laws he helped to pass. I partly agree. He clearly reached people: while he organised for the Nation of Islam its membership grew from about 500 to more than 75,000 by the early 1960s, which shows he spoke to Black Americans who were not persuaded by a promise that change would come eventually. His change of position by 1964, after he left the group and made the pilgrimage to Mecca, also shows a leader arguing in public about method rather than simply repeating himself. However, the historian's point about fear is well supported too: other Civil Rights groups called him an extremist, his support for violence put people off, and his remark after President Kennedy was shot in 1963 upset Black and white Americans alike, which cost him exactly the allies who could pass legislation. So I partly agree: his impact on how Black Americans thought about their own position was major, while his impact on the laws of 1964 and 1965 was far smaller than King's.
Success criteria: I outline what the historian argues, naming the part of the interpretation I am answering.; I say whether I agree, partly agree or disagree.; I give evidence from the unit to support my answer.; I explain how my evidence shows that Malcolm X did or did not have a major impact.; I link back to the question at the end.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unit in order. Reveal the answer; pupils mark their own work in a different colour, then read the "why" together. Same destination for every lane, so one answer serves the whole class.
Answer: Malcolm Little is sent to prison (1946)  (D); The Montgomery Bus Boycott begins (1955)  (C); Congress passes the Civil Rights Act (1964)  (B); The marchers from Selma meet the police on the bridge (1965)  (A); Congress passes the Voting Rights Act (1965)  (E)
Why: 1946, 1955, 1964, then the two events of 1965 in the right order: the attack on the marchers at the bridge in March, and the Voting Rights Act that Congress passed because the country had watched it happen.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In 1964 he left the Nation of Islam, made a pilgrimage to Mecca, and began to argue that white and Black people could work together
Why: Leaving the Nation of Islam in 1964, going on pilgrimage to Mecca, and then arguing that white and Black people could work together gives a clear before, a clear after and a date. Joining in 1952 is only the starting point; the extremist label is other people's view; and self-defence is the part that stayed the same.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US Civil Rights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US Civil Rights · AQA KS3 → 8145</a:t>
            </a:r>
            <a:endParaRPr lang="en-US" sz="1800" dirty="0"/>
          </a:p>
        </p:txBody>
      </p:sp>
      <p:sp>
        <p:nvSpPr>
          <p:cNvPr id="10" name="deck-title"/>
          <p:cNvSpPr txBox="1"/>
          <p:nvPr/>
        </p:nvSpPr>
        <p:spPr>
          <a:xfrm>
            <a:off x="548640" y="224332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Malcolm X, and judging what historians say about him</a:t>
            </a:r>
            <a:endParaRPr lang="en-US" sz="2800" dirty="0"/>
          </a:p>
        </p:txBody>
      </p:sp>
      <p:sp>
        <p:nvSpPr>
          <p:cNvPr id="11" name="lessons-card"/>
          <p:cNvSpPr/>
          <p:nvPr/>
        </p:nvSpPr>
        <p:spPr>
          <a:xfrm>
            <a:off x="548640" y="3523488"/>
            <a:ext cx="5287975" cy="1676400"/>
          </a:xfrm>
          <a:prstGeom prst="roundRect">
            <a:avLst>
              <a:gd name="adj" fmla="val 4364"/>
            </a:avLst>
          </a:prstGeom>
          <a:solidFill>
            <a:srgbClr val="F2EDE9"/>
          </a:solidFill>
          <a:ln/>
        </p:spPr>
      </p:sp>
      <p:sp>
        <p:nvSpPr>
          <p:cNvPr id="12" name="lessons"/>
          <p:cNvSpPr txBox="1"/>
          <p:nvPr/>
        </p:nvSpPr>
        <p:spPr>
          <a:xfrm>
            <a:off x="685800" y="3614928"/>
            <a:ext cx="5013655" cy="14935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How did Malcolm X fight for Civil Rights?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Martin Luther King vs. Malcolm X</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US Civil Rights: Assessment</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did Black Americans win their civil rights, and which campaigns and leaders mattered most?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did Malcolm X argue about who could win Black Americans their freedom?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Black people had been oppressed by white people, so they could not rely on white people to secure their freedom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Black and white Americans had always worked together successfully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only the Supreme Court could deliver freedom, so protest was pointless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freedom would arrive on its own if Black Americans waited patiently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1964 Malcolm X left the Nation of Islam and made a ___ to Mecca.</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pilgrimage  ·  boycott  ·  campaign</a:t>
            </a:r>
            <a:endParaRPr lang="en-US" sz="24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 limitation on Malcolm X's impact, as your lesson gives it?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never managed to attract any members to the Nation of Islam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refused to speak in public or give interviews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Other Civil Rights groups labelled him an extremist, and his support for violence put some people off</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agreed with everything Martin Luther King said and so added nothing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2318512"/>
          </a:xfrm>
          <a:prstGeom prst="roundRect">
            <a:avLst>
              <a:gd name="adj" fmla="val 4733"/>
            </a:avLst>
          </a:prstGeom>
          <a:solidFill>
            <a:srgbClr val="EDE1CA"/>
          </a:solidFill>
          <a:ln w="19050">
            <a:solidFill>
              <a:srgbClr val="B8862B"/>
            </a:solidFill>
            <a:prstDash val="solid"/>
          </a:ln>
        </p:spPr>
      </p:sp>
      <p:sp>
        <p:nvSpPr>
          <p:cNvPr id="12" name="answer"/>
          <p:cNvSpPr txBox="1"/>
          <p:nvPr/>
        </p:nvSpPr>
        <p:spPr>
          <a:xfrm>
            <a:off x="822960" y="2428829"/>
            <a:ext cx="2966618" cy="217220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That Black people had been oppressed by white people, so they could not rely on white people to secure their freedom</a:t>
            </a:r>
            <a:endParaRPr lang="en-US" sz="2200" dirty="0"/>
          </a:p>
        </p:txBody>
      </p:sp>
      <p:sp>
        <p:nvSpPr>
          <p:cNvPr id="13" name="card-body"/>
          <p:cNvSpPr txBox="1"/>
          <p:nvPr/>
        </p:nvSpPr>
        <p:spPr>
          <a:xfrm>
            <a:off x="731520" y="4857069"/>
            <a:ext cx="3149498" cy="115053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This was his core disagreement with King: he argued that the oppressors could not be…</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pilgrimage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1964 Malcolm X left the Nation of Islam and made a ___ to Mecca.</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pilgrimage is a religious journey to a holy place, and this one marked the point at which his views on working with white people began to change.</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Other Civil Rights groups labelled him an extremist, and his support for violence put some people off</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Your lesson lists being labelled an extremist, the effect of his support for violence, his claim about religion, and his…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F4F1ED"/>
          </a:solidFill>
          <a:ln/>
        </p:spPr>
      </p:sp>
      <p:sp>
        <p:nvSpPr>
          <p:cNvPr id="12" name="kw-hex"/>
          <p:cNvSpPr/>
          <p:nvPr/>
        </p:nvSpPr>
        <p:spPr>
          <a:xfrm>
            <a:off x="658368" y="2135261"/>
            <a:ext cx="411480" cy="356342"/>
          </a:xfrm>
          <a:prstGeom prst="hexagon">
            <a:avLst/>
          </a:prstGeom>
          <a:solidFill>
            <a:srgbClr val="7A4A1E"/>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self-defence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protecting yourself when you are attacked</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Malcolm X argued that Black Americans had the right to self-defence.</a:t>
            </a:r>
            <a:endParaRPr lang="en-US" sz="1800" dirty="0"/>
          </a:p>
        </p:txBody>
      </p:sp>
      <p:sp>
        <p:nvSpPr>
          <p:cNvPr id="16" name="kw-row"/>
          <p:cNvSpPr/>
          <p:nvPr/>
        </p:nvSpPr>
        <p:spPr>
          <a:xfrm>
            <a:off x="548640" y="2779776"/>
            <a:ext cx="11094415" cy="786384"/>
          </a:xfrm>
          <a:prstGeom prst="roundRect">
            <a:avLst>
              <a:gd name="adj" fmla="val 6977"/>
            </a:avLst>
          </a:prstGeom>
          <a:solidFill>
            <a:srgbClr val="F6F0E6"/>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Nation of Islam</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group that taught black power and a separate Black future</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 met the Nation of Islam while he was in prison.</a:t>
            </a:r>
            <a:endParaRPr lang="en-US" sz="1800" dirty="0"/>
          </a:p>
        </p:txBody>
      </p:sp>
      <p:sp>
        <p:nvSpPr>
          <p:cNvPr id="21" name="kw-row"/>
          <p:cNvSpPr/>
          <p:nvPr/>
        </p:nvSpPr>
        <p:spPr>
          <a:xfrm>
            <a:off x="548640" y="3639312"/>
            <a:ext cx="11094415" cy="786384"/>
          </a:xfrm>
          <a:prstGeom prst="roundRect">
            <a:avLst>
              <a:gd name="adj" fmla="val 6977"/>
            </a:avLst>
          </a:prstGeom>
          <a:solidFill>
            <a:srgbClr val="F4F1ED"/>
          </a:solidFill>
          <a:ln/>
        </p:spPr>
      </p:sp>
      <p:sp>
        <p:nvSpPr>
          <p:cNvPr id="22" name="kw-hex"/>
          <p:cNvSpPr/>
          <p:nvPr/>
        </p:nvSpPr>
        <p:spPr>
          <a:xfrm>
            <a:off x="658368" y="3854333"/>
            <a:ext cx="411480" cy="356342"/>
          </a:xfrm>
          <a:prstGeom prst="hexagon">
            <a:avLst/>
          </a:prstGeom>
          <a:solidFill>
            <a:srgbClr val="7A4A1E"/>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pilgrimage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religious journey to a holy place</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1964 he made a pilgrimage to Mecca, and his views began to change.</a:t>
            </a:r>
            <a:endParaRPr lang="en-US" sz="1800" dirty="0"/>
          </a:p>
        </p:txBody>
      </p:sp>
      <p:sp>
        <p:nvSpPr>
          <p:cNvPr id="26" name="kw-row"/>
          <p:cNvSpPr/>
          <p:nvPr/>
        </p:nvSpPr>
        <p:spPr>
          <a:xfrm>
            <a:off x="548640" y="4498848"/>
            <a:ext cx="11094415" cy="786384"/>
          </a:xfrm>
          <a:prstGeom prst="roundRect">
            <a:avLst>
              <a:gd name="adj" fmla="val 6977"/>
            </a:avLst>
          </a:prstGeom>
          <a:solidFill>
            <a:srgbClr val="F6F0E6"/>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interpretation</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historian's argument about the past, built from evidence</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An interpretation can be tested against the evidence, and partly agreed with.</a:t>
            </a:r>
            <a:endParaRPr lang="en-US" sz="1800" dirty="0"/>
          </a:p>
        </p:txBody>
      </p:sp>
      <p:sp>
        <p:nvSpPr>
          <p:cNvPr id="31" name="kw-row"/>
          <p:cNvSpPr/>
          <p:nvPr/>
        </p:nvSpPr>
        <p:spPr>
          <a:xfrm>
            <a:off x="548640" y="5358384"/>
            <a:ext cx="11094415" cy="786384"/>
          </a:xfrm>
          <a:prstGeom prst="roundRect">
            <a:avLst>
              <a:gd name="adj" fmla="val 6977"/>
            </a:avLst>
          </a:prstGeom>
          <a:solidFill>
            <a:srgbClr val="F4F1ED"/>
          </a:solidFill>
          <a:ln/>
        </p:spPr>
      </p:sp>
      <p:sp>
        <p:nvSpPr>
          <p:cNvPr id="32" name="kw-hex"/>
          <p:cNvSpPr/>
          <p:nvPr/>
        </p:nvSpPr>
        <p:spPr>
          <a:xfrm>
            <a:off x="658368" y="5573405"/>
            <a:ext cx="411480" cy="356342"/>
          </a:xfrm>
          <a:prstGeom prst="hexagon">
            <a:avLst/>
          </a:prstGeom>
          <a:solidFill>
            <a:srgbClr val="7A4A1E"/>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limitation</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something that held a person's achievement back</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One limitation was that other Civil Rights groups called him an extremist.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Malcolm Little was born in 1925 into danger.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White supremacists burned down his family's home in 1928.</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1931 they killed his father, who spoke up for Black rights.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mother became seriously ill and was taken into hospital in 1939.</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year a teacher told him to give up becoming a lawyer.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left school angry, and later turned to crime.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prison he met a group called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Nation of Islam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Released in 1952, he joined it and took the name Malcolm X.</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said Black people must defend themselves, not wait to be helped.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By 1964 his ideas had changed after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pilgrimage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Mecca.</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began to say white and Black people could work together.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Historians still argue about how much impact he had.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Your job is to weigh their arguments against the evidence.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Malcolm Little: a childhood shaped by racist violence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a person's early life, use it to explain the choices they later made, not to decide in advance whether those choices were right.</a:t>
            </a:r>
            <a:endParaRPr lang="en-US" sz="1800" dirty="0"/>
          </a:p>
        </p:txBody>
      </p:sp>
      <p:sp>
        <p:nvSpPr>
          <p:cNvPr id="11" name="bullet-card"/>
          <p:cNvSpPr/>
          <p:nvPr/>
        </p:nvSpPr>
        <p:spPr>
          <a:xfrm>
            <a:off x="548640" y="1389888"/>
            <a:ext cx="11094415" cy="1358392"/>
          </a:xfrm>
          <a:prstGeom prst="roundRect">
            <a:avLst>
              <a:gd name="adj" fmla="val 5385"/>
            </a:avLst>
          </a:prstGeom>
          <a:solidFill>
            <a:srgbClr val="F4F1ED"/>
          </a:solidFill>
          <a:ln/>
        </p:spPr>
      </p:sp>
      <p:sp>
        <p:nvSpPr>
          <p:cNvPr id="12" name="bullet-hex"/>
          <p:cNvSpPr/>
          <p:nvPr/>
        </p:nvSpPr>
        <p:spPr>
          <a:xfrm>
            <a:off x="676656" y="1902791"/>
            <a:ext cx="384048" cy="332586"/>
          </a:xfrm>
          <a:prstGeom prst="hexagon">
            <a:avLst/>
          </a:prstGeom>
          <a:solidFill>
            <a:srgbClr val="7A4A1E"/>
          </a:solidFill>
          <a:ln/>
        </p:spPr>
      </p:sp>
      <p:sp>
        <p:nvSpPr>
          <p:cNvPr id="13" name="bullet"/>
          <p:cNvSpPr txBox="1"/>
          <p:nvPr/>
        </p:nvSpPr>
        <p:spPr>
          <a:xfrm>
            <a:off x="1143000" y="1389888"/>
            <a:ext cx="10408615" cy="135839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Malcolm X was born Malcolm Little in 1925. His father spoke publicly for Black rights, and the family paid for it: white supremacists burned down their home in 1928, and in 1931 his father was killed by people his family believed were white racists.</a:t>
            </a:r>
            <a:endParaRPr lang="en-US" sz="2200" dirty="0"/>
          </a:p>
        </p:txBody>
      </p:sp>
      <p:sp>
        <p:nvSpPr>
          <p:cNvPr id="14" name="bullet-card"/>
          <p:cNvSpPr/>
          <p:nvPr/>
        </p:nvSpPr>
        <p:spPr>
          <a:xfrm>
            <a:off x="548640" y="2894584"/>
            <a:ext cx="11094415" cy="1017524"/>
          </a:xfrm>
          <a:prstGeom prst="roundRect">
            <a:avLst>
              <a:gd name="adj" fmla="val 7189"/>
            </a:avLst>
          </a:prstGeom>
          <a:solidFill>
            <a:srgbClr val="F4F1ED"/>
          </a:solidFill>
          <a:ln/>
        </p:spPr>
      </p:sp>
      <p:sp>
        <p:nvSpPr>
          <p:cNvPr id="15" name="bullet-hex"/>
          <p:cNvSpPr/>
          <p:nvPr/>
        </p:nvSpPr>
        <p:spPr>
          <a:xfrm>
            <a:off x="676656" y="3237053"/>
            <a:ext cx="384048" cy="332586"/>
          </a:xfrm>
          <a:prstGeom prst="hexagon">
            <a:avLst/>
          </a:prstGeom>
          <a:solidFill>
            <a:srgbClr val="B8862B"/>
          </a:solidFill>
          <a:ln/>
        </p:spPr>
      </p:sp>
      <p:sp>
        <p:nvSpPr>
          <p:cNvPr id="16" name="bullet"/>
          <p:cNvSpPr txBox="1"/>
          <p:nvPr/>
        </p:nvSpPr>
        <p:spPr>
          <a:xfrm>
            <a:off x="1143000" y="2894584"/>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same year, 1939, Malcolm left school angry. He was a very able pupil, but a teacher told him to forget his hope of becoming a lawyer because he was Black.</a:t>
            </a:r>
            <a:endParaRPr lang="en-US" sz="2200" dirty="0"/>
          </a:p>
        </p:txBody>
      </p:sp>
      <p:sp>
        <p:nvSpPr>
          <p:cNvPr id="17" name="bullet-card"/>
          <p:cNvSpPr/>
          <p:nvPr/>
        </p:nvSpPr>
        <p:spPr>
          <a:xfrm>
            <a:off x="548640" y="4058412"/>
            <a:ext cx="11094415" cy="1017524"/>
          </a:xfrm>
          <a:prstGeom prst="roundRect">
            <a:avLst>
              <a:gd name="adj" fmla="val 7189"/>
            </a:avLst>
          </a:prstGeom>
          <a:solidFill>
            <a:srgbClr val="F4F1ED"/>
          </a:solidFill>
          <a:ln/>
        </p:spPr>
      </p:sp>
      <p:sp>
        <p:nvSpPr>
          <p:cNvPr id="18" name="bullet-hex"/>
          <p:cNvSpPr/>
          <p:nvPr/>
        </p:nvSpPr>
        <p:spPr>
          <a:xfrm>
            <a:off x="676656" y="4400881"/>
            <a:ext cx="384048" cy="332586"/>
          </a:xfrm>
          <a:prstGeom prst="hexagon">
            <a:avLst/>
          </a:prstGeom>
          <a:solidFill>
            <a:srgbClr val="7A4A1E"/>
          </a:solidFill>
          <a:ln/>
        </p:spPr>
      </p:sp>
      <p:sp>
        <p:nvSpPr>
          <p:cNvPr id="19" name="bullet"/>
          <p:cNvSpPr txBox="1"/>
          <p:nvPr/>
        </p:nvSpPr>
        <p:spPr>
          <a:xfrm>
            <a:off x="1143000" y="4058412"/>
            <a:ext cx="10408615" cy="10175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None of this is an excuse or an explanation on its own, and your lesson is careful about that.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Nation of Islam, and a new name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 not reduce the difference between the two leaders to violence against non-violence. The deeper difference is about who they thought would deliver change: white allies, or Black Americans alone.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prison Malcolm met members of the Nation of Islam.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He became one of its most effective organisers. Malcolm X is credited with expanding the membership of the Nation of Islam enormously, from about 500 people to more than 75,000 by the early 1960s.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His argument about method is what divided him from 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Ideas that changed, and what held him back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question about change needs two moments and a date. Say what he thought first, what he thought later, and when the shift happened.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Malcolm X did not hold one fixed position all his life, and the change is examinable.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limitations are set out plainly in your lesson. Other Civil Rights groups labelled him an extremist and a radical.</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 the record really is mixed, and that is what makes him a good subject for an interpretation question.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Ideas that changed, and what held him back</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Malcolm X's ideas changed, and one limitation on his impact.</a:t>
            </a:r>
            <a:endParaRPr lang="en-US" sz="2200" dirty="0"/>
          </a:p>
        </p:txBody>
      </p:sp>
      <p:sp>
        <p:nvSpPr>
          <p:cNvPr id="9" name="step-box"/>
          <p:cNvSpPr/>
          <p:nvPr/>
        </p:nvSpPr>
        <p:spPr>
          <a:xfrm>
            <a:off x="548640" y="2314956"/>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change: by 1964 he had left the Nation of Islam and, after a pilgrimage to Mecca, accepted that white and Black people could work together.</a:t>
            </a:r>
            <a:endParaRPr lang="en-US" sz="1800" dirty="0"/>
          </a:p>
        </p:txBody>
      </p:sp>
      <p:sp>
        <p:nvSpPr>
          <p:cNvPr id="13" name="arrow"/>
          <p:cNvSpPr/>
          <p:nvPr/>
        </p:nvSpPr>
        <p:spPr>
          <a:xfrm>
            <a:off x="5963260" y="3164840"/>
            <a:ext cx="274320" cy="274320"/>
          </a:xfrm>
          <a:prstGeom prst="rightArrow">
            <a:avLst/>
          </a:prstGeom>
          <a:solidFill>
            <a:srgbClr val="B8862B"/>
          </a:solidFill>
          <a:ln/>
        </p:spPr>
      </p:sp>
      <p:sp>
        <p:nvSpPr>
          <p:cNvPr id="14" name="step-box"/>
          <p:cNvSpPr/>
          <p:nvPr/>
        </p:nvSpPr>
        <p:spPr>
          <a:xfrm>
            <a:off x="6301588" y="2314956"/>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2909316"/>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Evidence it: in his 1964 speech he urged Black Americans to use the vote rather than violence, while keeping the right to self-defence.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Ideas that changed, and what held him back</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50748"/>
          </a:xfrm>
          <a:prstGeom prst="roundRect">
            <a:avLst>
              <a:gd name="adj" fmla="val 14052"/>
            </a:avLst>
          </a:prstGeom>
          <a:solidFill>
            <a:srgbClr val="F2EDE9"/>
          </a:solidFill>
          <a:ln/>
        </p:spPr>
      </p:sp>
      <p:sp>
        <p:nvSpPr>
          <p:cNvPr id="8" name="worked-q"/>
          <p:cNvSpPr txBox="1"/>
          <p:nvPr/>
        </p:nvSpPr>
        <p:spPr>
          <a:xfrm>
            <a:off x="731520" y="1481328"/>
            <a:ext cx="10728655"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way in which Malcolm X's ideas changed, and one limitation on his impact.</a:t>
            </a:r>
            <a:endParaRPr lang="en-US" sz="2200" dirty="0"/>
          </a:p>
        </p:txBody>
      </p:sp>
      <p:sp>
        <p:nvSpPr>
          <p:cNvPr id="9" name="step-box"/>
          <p:cNvSpPr/>
          <p:nvPr/>
        </p:nvSpPr>
        <p:spPr>
          <a:xfrm>
            <a:off x="548640" y="2314956"/>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424684"/>
            <a:ext cx="530352" cy="459285"/>
          </a:xfrm>
          <a:prstGeom prst="hexagon">
            <a:avLst/>
          </a:prstGeom>
          <a:solidFill>
            <a:srgbClr val="7A4A1E"/>
          </a:solidFill>
          <a:ln/>
        </p:spPr>
      </p:sp>
      <p:sp>
        <p:nvSpPr>
          <p:cNvPr id="11" name="step-hex-label"/>
          <p:cNvSpPr txBox="1"/>
          <p:nvPr/>
        </p:nvSpPr>
        <p:spPr>
          <a:xfrm>
            <a:off x="685800"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limitation: other Civil Rights groups called him an extremist, and his support for violence put people off.</a:t>
            </a:r>
            <a:endParaRPr lang="en-US" sz="1800" dirty="0"/>
          </a:p>
        </p:txBody>
      </p:sp>
      <p:sp>
        <p:nvSpPr>
          <p:cNvPr id="13" name="arrow"/>
          <p:cNvSpPr/>
          <p:nvPr/>
        </p:nvSpPr>
        <p:spPr>
          <a:xfrm>
            <a:off x="5963260" y="3025394"/>
            <a:ext cx="274320" cy="274320"/>
          </a:xfrm>
          <a:prstGeom prst="rightArrow">
            <a:avLst/>
          </a:prstGeom>
          <a:solidFill>
            <a:srgbClr val="B8862B"/>
          </a:solidFill>
          <a:ln/>
        </p:spPr>
      </p:sp>
      <p:sp>
        <p:nvSpPr>
          <p:cNvPr id="14" name="step-box"/>
          <p:cNvSpPr/>
          <p:nvPr/>
        </p:nvSpPr>
        <p:spPr>
          <a:xfrm>
            <a:off x="6301588" y="2314956"/>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424684"/>
            <a:ext cx="530352" cy="459285"/>
          </a:xfrm>
          <a:prstGeom prst="hexagon">
            <a:avLst/>
          </a:prstGeom>
          <a:solidFill>
            <a:srgbClr val="7A4A1E"/>
          </a:solidFill>
          <a:ln/>
        </p:spPr>
      </p:sp>
      <p:sp>
        <p:nvSpPr>
          <p:cNvPr id="16" name="step-hex-label"/>
          <p:cNvSpPr txBox="1"/>
          <p:nvPr/>
        </p:nvSpPr>
        <p:spPr>
          <a:xfrm>
            <a:off x="6438748" y="2424684"/>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2909316"/>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effect of the limitation: because the people who could pass laws were alienated, he had less influence over legislation than King.</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Change: by 1964, after Mecca, he accepted co-operation across races and urged use of the vote. Limitation: being labelled an extremist cost him allies among the people who could actually pass laws.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Judging an interpretation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Before you agree or disagree, ask what the interpretation leaves out. The 500 to 75,000 membership figure and the 1964 change of position are the two pieces of evidence most often missing.</a:t>
            </a:r>
            <a:endParaRPr lang="en-US" sz="1800" dirty="0"/>
          </a:p>
        </p:txBody>
      </p:sp>
      <p:sp>
        <p:nvSpPr>
          <p:cNvPr id="11" name="bullet-card"/>
          <p:cNvSpPr/>
          <p:nvPr/>
        </p:nvSpPr>
        <p:spPr>
          <a:xfrm>
            <a:off x="548640" y="1389888"/>
            <a:ext cx="11094415" cy="596053"/>
          </a:xfrm>
          <a:prstGeom prst="roundRect">
            <a:avLst>
              <a:gd name="adj" fmla="val 12273"/>
            </a:avLst>
          </a:prstGeom>
          <a:solidFill>
            <a:srgbClr val="F4F1ED"/>
          </a:solidFill>
          <a:ln/>
        </p:spPr>
      </p:sp>
      <p:sp>
        <p:nvSpPr>
          <p:cNvPr id="12" name="bullet-hex"/>
          <p:cNvSpPr/>
          <p:nvPr/>
        </p:nvSpPr>
        <p:spPr>
          <a:xfrm>
            <a:off x="676656" y="1521622"/>
            <a:ext cx="384048" cy="332586"/>
          </a:xfrm>
          <a:prstGeom prst="hexagon">
            <a:avLst/>
          </a:prstGeom>
          <a:solidFill>
            <a:srgbClr val="7A4A1E"/>
          </a:solidFill>
          <a:ln/>
        </p:spPr>
      </p:sp>
      <p:sp>
        <p:nvSpPr>
          <p:cNvPr id="13" name="bullet"/>
          <p:cNvSpPr txBox="1"/>
          <p:nvPr/>
        </p:nvSpPr>
        <p:spPr>
          <a:xfrm>
            <a:off x="1143000" y="1389888"/>
            <a:ext cx="10408615" cy="59605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 interpretation is a historian's argument about the past, built out of evidence.</a:t>
            </a:r>
            <a:endParaRPr lang="en-US" sz="2200" dirty="0"/>
          </a:p>
        </p:txBody>
      </p:sp>
      <p:sp>
        <p:nvSpPr>
          <p:cNvPr id="14" name="bullet-card"/>
          <p:cNvSpPr/>
          <p:nvPr/>
        </p:nvSpPr>
        <p:spPr>
          <a:xfrm>
            <a:off x="548640" y="2132245"/>
            <a:ext cx="11094415" cy="2201333"/>
          </a:xfrm>
          <a:prstGeom prst="roundRect">
            <a:avLst>
              <a:gd name="adj" fmla="val 3323"/>
            </a:avLst>
          </a:prstGeom>
          <a:solidFill>
            <a:srgbClr val="F4F1ED"/>
          </a:solidFill>
          <a:ln/>
        </p:spPr>
      </p:sp>
      <p:sp>
        <p:nvSpPr>
          <p:cNvPr id="15" name="bullet-hex"/>
          <p:cNvSpPr/>
          <p:nvPr/>
        </p:nvSpPr>
        <p:spPr>
          <a:xfrm>
            <a:off x="676656" y="3066619"/>
            <a:ext cx="384048" cy="332586"/>
          </a:xfrm>
          <a:prstGeom prst="hexagon">
            <a:avLst/>
          </a:prstGeom>
          <a:solidFill>
            <a:srgbClr val="B8862B"/>
          </a:solidFill>
          <a:ln/>
        </p:spPr>
      </p:sp>
      <p:sp>
        <p:nvSpPr>
          <p:cNvPr id="16" name="bullet"/>
          <p:cNvSpPr txBox="1"/>
          <p:nvPr/>
        </p:nvSpPr>
        <p:spPr>
          <a:xfrm>
            <a:off x="1143000" y="2132245"/>
            <a:ext cx="10408615" cy="220133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interpretation your lesson uses argues, in summary, that Malcolm X frightened both the people in charge and some of the Black Americans he was trying to help; that when he spoke about defending yourself, white listeners heard a threat of racial violence; that he asked questions King did not ask and showed that change had to come faster; and that he reached people who were not moved by a promise that change would arrive one day.</a:t>
            </a:r>
            <a:endParaRPr lang="en-US" sz="2200" dirty="0"/>
          </a:p>
        </p:txBody>
      </p:sp>
      <p:sp>
        <p:nvSpPr>
          <p:cNvPr id="17" name="bullet-card"/>
          <p:cNvSpPr/>
          <p:nvPr/>
        </p:nvSpPr>
        <p:spPr>
          <a:xfrm>
            <a:off x="548640" y="4479883"/>
            <a:ext cx="11094415" cy="596053"/>
          </a:xfrm>
          <a:prstGeom prst="roundRect">
            <a:avLst>
              <a:gd name="adj" fmla="val 12273"/>
            </a:avLst>
          </a:prstGeom>
          <a:solidFill>
            <a:srgbClr val="F4F1ED"/>
          </a:solidFill>
          <a:ln/>
        </p:spPr>
      </p:sp>
      <p:sp>
        <p:nvSpPr>
          <p:cNvPr id="18" name="bullet-hex"/>
          <p:cNvSpPr/>
          <p:nvPr/>
        </p:nvSpPr>
        <p:spPr>
          <a:xfrm>
            <a:off x="676656" y="4611617"/>
            <a:ext cx="384048" cy="332586"/>
          </a:xfrm>
          <a:prstGeom prst="hexagon">
            <a:avLst/>
          </a:prstGeom>
          <a:solidFill>
            <a:srgbClr val="7A4A1E"/>
          </a:solidFill>
          <a:ln/>
        </p:spPr>
      </p:sp>
      <p:sp>
        <p:nvSpPr>
          <p:cNvPr id="19" name="bullet"/>
          <p:cNvSpPr txBox="1"/>
          <p:nvPr/>
        </p:nvSpPr>
        <p:spPr>
          <a:xfrm>
            <a:off x="1143000" y="4479883"/>
            <a:ext cx="10408615" cy="59605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Then you test it, in five steps your department uses for every interpretation question.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How far do you agree about Malcolm X?</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6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How far do you agree about Malcolm X?</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a:t>
            </a:r>
            <a:endParaRPr lang="en-US" sz="2000" dirty="0"/>
          </a:p>
        </p:txBody>
      </p:sp>
      <p:sp>
        <p:nvSpPr>
          <p:cNvPr id="12" name="col-Support"/>
          <p:cNvSpPr/>
          <p:nvPr/>
        </p:nvSpPr>
        <p:spPr>
          <a:xfrm>
            <a:off x="548640" y="3523488"/>
            <a:ext cx="11094415" cy="2621280"/>
          </a:xfrm>
          <a:prstGeom prst="roundRect">
            <a:avLst>
              <a:gd name="adj" fmla="val 2093"/>
            </a:avLst>
          </a:prstGeom>
          <a:solidFill>
            <a:srgbClr val="F2EDE9"/>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56006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163568"/>
            <a:ext cx="10820095" cy="187147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I…</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3 and…</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explain.…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link…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How far do you agree about Malcolm X?</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historian argues that Malcolm X frightened both the people in power and some of the Black Americans he was trying to help, but that he asked questions King did not ask and reached people King could not reach. How far do you agree that Malcolm X had a major impact on the Civil Rights movement?</a:t>
            </a:r>
            <a:endParaRPr lang="en-US" sz="2000" dirty="0"/>
          </a:p>
        </p:txBody>
      </p:sp>
      <p:sp>
        <p:nvSpPr>
          <p:cNvPr id="12" name="col-Core"/>
          <p:cNvSpPr/>
          <p:nvPr/>
        </p:nvSpPr>
        <p:spPr>
          <a:xfrm>
            <a:off x="548640" y="3523488"/>
            <a:ext cx="5410048" cy="2621280"/>
          </a:xfrm>
          <a:prstGeom prst="roundRect">
            <a:avLst>
              <a:gd name="adj" fmla="val 2093"/>
            </a:avLst>
          </a:prstGeom>
          <a:solidFill>
            <a:srgbClr val="E2D7CE"/>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4163568"/>
            <a:ext cx="5135728" cy="187147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Outline, judge, evidence, explain, link. Partly agree is a strong answer when the evidence really does point both ways.</a:t>
            </a:r>
            <a:endParaRPr lang="en-US" sz="2200" dirty="0"/>
          </a:p>
        </p:txBody>
      </p:sp>
      <p:sp>
        <p:nvSpPr>
          <p:cNvPr id="17" name="col-Stretch"/>
          <p:cNvSpPr/>
          <p:nvPr/>
        </p:nvSpPr>
        <p:spPr>
          <a:xfrm>
            <a:off x="6233008" y="3523488"/>
            <a:ext cx="5410048" cy="2621280"/>
          </a:xfrm>
          <a:prstGeom prst="roundRect">
            <a:avLst>
              <a:gd name="adj" fmla="val 2093"/>
            </a:avLst>
          </a:prstGeom>
          <a:solidFill>
            <a:srgbClr val="7A4A1E"/>
          </a:solidFill>
          <a:ln/>
        </p:spPr>
      </p:sp>
      <p:sp>
        <p:nvSpPr>
          <p:cNvPr id="18" name="col-hex"/>
          <p:cNvSpPr/>
          <p:nvPr/>
        </p:nvSpPr>
        <p:spPr>
          <a:xfrm>
            <a:off x="6342736" y="359664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4163568"/>
            <a:ext cx="5135728" cy="187147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Say what evidence the historian has left out that might change their judgement, and explain how it would change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unit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Your assessment bell work asks you to put these five events in chronological order. Do it.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marchers from Selma meet the police on the bridge (1965)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Congress passes the Civil Rights Act (1964)</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Montgomery Bus Boycott begins (1955)</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Malcolm Little is sent to prison (1946)</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Congress passes the Voting Rights Act (1965)</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The unit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unit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these are in the 1940s and 1950s, and three are in the 1960s. Split them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early pair: Malcolm went to prison in 1946, and Rosa Parks was arrested in December 1955.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Of the 1960s three: the Civil Rights Act came in 1964, and the other two are both 1965.</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Within 1965, the march came first, in March, and the Voting Rights Act followed because of it.</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Sort by decade, then by year. The one pair that needs care is the two 1965 events: which one caused the other?</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order of the last two events is the single most important thing on this list, and what it tells you about how the Voting Rights Act came about.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12340"/>
          </a:xfrm>
          <a:prstGeom prst="rect">
            <a:avLst/>
          </a:prstGeom>
          <a:noFill/>
          <a:ln/>
        </p:spPr>
        <p:txBody>
          <a:bodyPr wrap="square" lIns="63500" tIns="63500" rIns="63500" bIns="63500" rtlCol="0" anchor="t"/>
          <a:lstStyle/>
          <a:p>
            <a:pPr algn="l" indent="0" marL="0">
              <a:spcAft>
                <a:spcPts val="1200"/>
              </a:spcAft>
              <a:buNone/>
            </a:pPr>
            <a:r>
              <a:rPr lang="en-US" sz="2000" b="1" dirty="0">
                <a:solidFill>
                  <a:srgbClr val="1E2229"/>
                </a:solidFill>
                <a:latin typeface="Calibri" pitchFamily="34" charset="0"/>
                <a:ea typeface="Calibri" pitchFamily="34" charset="-122"/>
                <a:cs typeface="Calibri" pitchFamily="34" charset="-120"/>
              </a:rPr>
              <a:t>Which of these is the best evidence that Malcolm X's views changed?</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Other Civil Rights groups labelled him an extremist and a radical</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1964 he left the Nation of Islam, made a pilgrimage to Mecca, and began to argue that white and Black people could work together</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continued to insist on the right of Black Americans to defend themselves</a:t>
            </a:r>
            <a:endParaRPr lang="en-US" sz="20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He joined the Nation of Islam in 1952 after being released from prison</a:t>
            </a:r>
            <a:endParaRPr lang="en-US" sz="20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How far do you agree about Malcolm X?</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13358"/>
          </a:xfrm>
          <a:prstGeom prst="roundRect">
            <a:avLst>
              <a:gd name="adj" fmla="val 9023"/>
            </a:avLst>
          </a:prstGeom>
          <a:solidFill>
            <a:srgbClr val="F4F1ED"/>
          </a:solidFill>
          <a:ln/>
        </p:spPr>
      </p:sp>
      <p:sp>
        <p:nvSpPr>
          <p:cNvPr id="9" name="tickbox"/>
          <p:cNvSpPr/>
          <p:nvPr/>
        </p:nvSpPr>
        <p:spPr>
          <a:xfrm>
            <a:off x="713232" y="2344623"/>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101335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outline what the historian argues, naming the part of the interpretation I am answering.</a:t>
            </a:r>
            <a:endParaRPr lang="en-US" sz="2200" dirty="0"/>
          </a:p>
        </p:txBody>
      </p:sp>
      <p:sp>
        <p:nvSpPr>
          <p:cNvPr id="11" name="crit-box"/>
          <p:cNvSpPr/>
          <p:nvPr/>
        </p:nvSpPr>
        <p:spPr>
          <a:xfrm>
            <a:off x="548640" y="3089046"/>
            <a:ext cx="11094415" cy="672490"/>
          </a:xfrm>
          <a:prstGeom prst="roundRect">
            <a:avLst>
              <a:gd name="adj" fmla="val 13597"/>
            </a:avLst>
          </a:prstGeom>
          <a:solidFill>
            <a:srgbClr val="F4F1ED"/>
          </a:solidFill>
          <a:ln/>
        </p:spPr>
      </p:sp>
      <p:sp>
        <p:nvSpPr>
          <p:cNvPr id="12" name="tickbox"/>
          <p:cNvSpPr/>
          <p:nvPr/>
        </p:nvSpPr>
        <p:spPr>
          <a:xfrm>
            <a:off x="713232" y="3278988"/>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089046"/>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say whether I agree, partly agree or disagree.</a:t>
            </a:r>
            <a:endParaRPr lang="en-US" sz="2200" dirty="0"/>
          </a:p>
        </p:txBody>
      </p:sp>
      <p:sp>
        <p:nvSpPr>
          <p:cNvPr id="14" name="crit-box"/>
          <p:cNvSpPr/>
          <p:nvPr/>
        </p:nvSpPr>
        <p:spPr>
          <a:xfrm>
            <a:off x="548640" y="3852977"/>
            <a:ext cx="11094415" cy="672490"/>
          </a:xfrm>
          <a:prstGeom prst="roundRect">
            <a:avLst>
              <a:gd name="adj" fmla="val 13597"/>
            </a:avLst>
          </a:prstGeom>
          <a:solidFill>
            <a:srgbClr val="F4F1ED"/>
          </a:solidFill>
          <a:ln/>
        </p:spPr>
      </p:sp>
      <p:sp>
        <p:nvSpPr>
          <p:cNvPr id="15" name="tickbox"/>
          <p:cNvSpPr/>
          <p:nvPr/>
        </p:nvSpPr>
        <p:spPr>
          <a:xfrm>
            <a:off x="713232" y="4042918"/>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85297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evidence from the unit to support my answer.</a:t>
            </a:r>
            <a:endParaRPr lang="en-US" sz="2200" dirty="0"/>
          </a:p>
        </p:txBody>
      </p:sp>
      <p:sp>
        <p:nvSpPr>
          <p:cNvPr id="17" name="crit-box"/>
          <p:cNvSpPr/>
          <p:nvPr/>
        </p:nvSpPr>
        <p:spPr>
          <a:xfrm>
            <a:off x="548640" y="4616907"/>
            <a:ext cx="11094415" cy="672490"/>
          </a:xfrm>
          <a:prstGeom prst="roundRect">
            <a:avLst>
              <a:gd name="adj" fmla="val 13597"/>
            </a:avLst>
          </a:prstGeom>
          <a:solidFill>
            <a:srgbClr val="F4F1ED"/>
          </a:solidFill>
          <a:ln/>
        </p:spPr>
      </p:sp>
      <p:sp>
        <p:nvSpPr>
          <p:cNvPr id="18" name="tickbox"/>
          <p:cNvSpPr/>
          <p:nvPr/>
        </p:nvSpPr>
        <p:spPr>
          <a:xfrm>
            <a:off x="713232" y="480684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616907"/>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explain how my evidence shows that Malcolm X did or did not have a major impact.</a:t>
            </a:r>
            <a:endParaRPr lang="en-US" sz="2200" dirty="0"/>
          </a:p>
        </p:txBody>
      </p:sp>
      <p:sp>
        <p:nvSpPr>
          <p:cNvPr id="20" name="crit-box"/>
          <p:cNvSpPr/>
          <p:nvPr/>
        </p:nvSpPr>
        <p:spPr>
          <a:xfrm>
            <a:off x="548640" y="5380838"/>
            <a:ext cx="11094415" cy="672490"/>
          </a:xfrm>
          <a:prstGeom prst="roundRect">
            <a:avLst>
              <a:gd name="adj" fmla="val 13597"/>
            </a:avLst>
          </a:prstGeom>
          <a:solidFill>
            <a:srgbClr val="F4F1ED"/>
          </a:solidFill>
          <a:ln/>
        </p:spPr>
      </p:sp>
      <p:sp>
        <p:nvSpPr>
          <p:cNvPr id="21" name="tickbox"/>
          <p:cNvSpPr/>
          <p:nvPr/>
        </p:nvSpPr>
        <p:spPr>
          <a:xfrm>
            <a:off x="713232" y="5570779"/>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380838"/>
            <a:ext cx="10317175" cy="672490"/>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link back to the question at the end.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Model answer: How far do you agree about Malcolm X?</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historian argues that Malcolm X both frightened people and reached people, and that his impact lay in the questions he forced into the open rather than in laws he helped to pass. I partly agree. He clearly reached people: while he organised for the Nation of Islam its membership grew from about 500 to more than 75,000 by the early 1960s, which shows he spoke to Black Americans who were not persuaded by a promise that change would come eventually. His change of position by 1964, after he left the group and made the pilgrimage to Mecca, also shows a leader arguing in public about method rather than simply repeating himself. However, the historian's point about fear is well supported too: other Civil Rights groups called him an extremist, his support for violence put people off, and his remark after President Kennedy was shot in 1963 upset Black and white Americans alike, which cost him exactly the allies who could pass legislation. So I partly agree: his impact on how Black Americans thought about their own position was major, while his impact on the laws of 1964 and 1965 was far smaller than King's.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unit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Malcolm Little is sent to prison (1946)  (D)</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Montgomery Bus Boycott begins (1955)  (C)</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Congress passes the Civil Rights Act (1964)  (B)</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The marchers from Selma meet the police on the bridge (1965)  (A)</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Congress passes the Voting Rights Act (1965)  (E)</a:t>
            </a:r>
            <a:endParaRPr lang="en-US" sz="22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1946, 1955, 1964, then the two events of 1965 in the right order: the attack on the marchers at the bridge in March, and the Voting Rights Act that Congress passed because the country had watched it happen.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is the best evidence that Malcolm X's views changed?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In 1964 he left the Nation of Islam, made a pilgrimage to Mecca, and began to argue that white and Black people could work together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Leaving the Nation of Islam in 1964, going on pilgrimage to Mecca, and then arguing that white and Black people could work together gives a clear before, a clear after and a date. Joining in 1952 is only the starting point; the extremist label is other people's view; and self-defence is the part that stayed the same.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 Civil Rights · Chapter 6: Malcolm X, and judging what historians say about him</dc:title>
  <dc:subject>History · Year 9</dc:subject>
  <dc:creator>Dr Vitor Merissi de Carvalho</dc:creator>
  <cp:lastModifiedBy>Dr Vitor Merissi de Carvalho</cp:lastModifiedBy>
  <cp:revision>1</cp:revision>
  <dcterms:created xsi:type="dcterms:W3CDTF">2026-10-19T06:07:52Z</dcterms:created>
  <dcterms:modified xsi:type="dcterms:W3CDTF">2026-10-19T06:07:52Z</dcterms:modified>
</cp:coreProperties>
</file>