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a878423-074b-6fbd-28ae-f60b5e921585}">
          <p14:sldIdLst>
            <p14:sldId id="256"/>
          </p14:sldIdLst>
        </p14:section>
        <p14:section name="Gate" id="{9854e2a5-96aa-4f46-245a-55ba1084524a}">
          <p14:sldIdLst>
            <p14:sldId id="257"/>
            <p14:sldId id="258"/>
            <p14:sldId id="259"/>
          </p14:sldIdLst>
        </p14:section>
        <p14:section name="Pre-teach" id="{22e2dddf-b698-1b0f-a026-af43cb9b54b8}">
          <p14:sldIdLst>
            <p14:sldId id="260"/>
            <p14:sldId id="261"/>
          </p14:sldIdLst>
        </p14:section>
        <p14:section name="Read-along" id="{a643c9d6-106f-cf9d-47e8-7deda0e9971e}">
          <p14:sldIdLst>
            <p14:sldId id="262"/>
            <p14:sldId id="263"/>
          </p14:sldIdLst>
        </p14:section>
        <p14:section name="Teach" id="{69385bef-2c11-fcb3-e6a9-72f022d540d0}">
          <p14:sldIdLst>
            <p14:sldId id="264"/>
            <p14:sldId id="265"/>
            <p14:sldId id="266"/>
            <p14:sldId id="267"/>
            <p14:sldId id="268"/>
          </p14:sldIdLst>
        </p14:section>
        <p14:section name="Routes" id="{07a73f5a-4214-526b-da49-b57a9655b074}">
          <p14:sldIdLst>
            <p14:sldId id="269"/>
            <p14:sldId id="270"/>
            <p14:sldId id="271"/>
            <p14:sldId id="272"/>
            <p14:sldId id="273"/>
          </p14:sldIdLst>
        </p14:section>
        <p14:section name="Close" id="{4fb526df-6c30-4e98-9bd3-5ab5bfb1f94c}">
          <p14:sldIdLst>
            <p14:sldId id="274"/>
          </p14:sldIdLst>
        </p14:section>
        <p14:section name="Answers" id="{290095dc-c16d-1700-8450-d830d24a96d0}">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Martin Luther King: the early campaigns and the March on Washington. Where King's method came from, what his four early campaigns taught him, what he argued from a jail cell in Birmingham, and how a march of a quarter of a million people helped produce the Civil Rights Act.
This deck covers the department's lesson: 3 (Martin Luther King: What part did King play in the early campaigns, and how important was the March on Washington?).
Read the big question aloud: "How did Black Americans win their civil rights, and which campaigns and leaders mattered most?"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inspired King's method of non-violent civil disobedience?  →  A   Mahatma Gandhi, who campaigned for India's independence from the British Empire
2. Refusing, peacefully and on purpose, to obey a law you believe is racist is called civil ___.  →  disobedience
3. Why did King turn from local campaigns to a national march in 1963?  →  D   Because only national politicians and federal laws could give Black Americans rights in every state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inspired King's method of non-violent civil disobedience?  →  A   Mahatma Gandhi, who campaigned for India's independence from the British Empire
2. Refusing, peacefully and on purpose, to obey a law you believe is racist is called civil ___.  →  disobedience
3. Why did King turn from local campaigns to a national march in 1963?  →  D   Because only national politicians and federal laws could give Black Americans rights in every state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Mahatma Gandhi, who campaigned for India's independence from the British Empire. King took his method from Gandhi, who had used non-violent civil disobedience against British rule in India.
2. disobedience. Civil disobedience is deliberate, peaceful law-breaking used as a protest. The word civil signals that it stays peaceful.
3. D   Because only national politicians and federal laws could give Black Americans rights in every state. Local campaigns won local victories. King wanted laws that applied across the whole country, and only Congress and the President could make those.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civil disobedience: peacefully refusing to obey a law you believe is unjust. Example: "Sitting at a whites-only lunch counter was civil disobedience."
• non-violent: making a protest without using force. Example: "King insisted that his campaigns stay non-violent, even when the police did not."
• sit-in: a protest in which people sit somewhere they are banned from and refuse to leave. Example: "Students held a sit-in at a segregated lunch counter in Atlanta."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campaign: a planned series of actions aimed at one change. Example: "King learned that a campaign works better when the organisers lead it themselves."
• Congress: the American parliament, which makes the country's laws. Example: "Only Congress could pass a law that covered every state at once."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Martin Luther King was a Civil Rights activist in the Southern states.
2. He became a national leader during the Montgomery Bus Boycott.
3. His method came from Mahatma Gandhi in India.
4. Gandhi had used non-violent civil disobedience against the British Empire.
5. Civil disobedience means peacefully refusing to obey a racist law.
6. King's first campaigns were local: one city or one state.
7. At the Atlanta sit-ins he held a divided group together.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At Albany he had not started the campaign, and it failed.
9. He learned to form a campaign and then lead it himself.
10. In 1963 he was jailed during the Birmingham campaign.
11. Then he turned from local targets to national laws.
12. In August 1963 he led 250,000 people to Washington.
13. In 1964 Congress passed the Civil Rights Act.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King was, and where his method came from. Say it in your own words, then check understanding with a quick question: ask a pupil from the pre-teach group first, since they met these words and ideas before the lesson. Pupils try to recall before you re-explain.
Martin Luther King was a Civil Rights activist in the Southern states of America. He rose to national attention during the Montgomery Bus Boycott of 1955, and came out of it as a national leader of the Civil Rights movement. He had not started that campaign, as you saw in the last chapter; he grew into its leadership.
His method was borrowed, and he said so. King was inspired by Mahatma Gandhi, who had used non-violent civil disobedience to campaign for India's independence from the British Empire. You met that empire in Year 8, so you already know how hard it was to shift. Civil disobedience means refusing to comply with laws that are racist, peacefully and on purpose, as a form of protest.
You also already know an example of it, from the chapter before this one. Montgomery's Black residents broke no law by walking, but they refused to take part in a segregated service, and they kept refusing for over a year. That is the shape of every campaign in this chapter.
Tip: If a question asks about King's methods, name the method (non-violent civil disobedience), name where it came from (Gandhi, in India), and give one example of it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early campaigns: Montgomery, Atlanta, Albany, Birmingham. Say it in your own words, then check understanding with a quick question: ask a pupil from the pre-teach group first, since they met these words and ideas before the lesson. Pupils try to recall before you re-explain.
King's early campaigns are worth learning as a set of four, because together they show him learning his trade. The Montgomery Bus Boycott of 1955 to 1956 brought him national fame, and its success showed how effective his non-violent, peaceful protest tactics could be.
At the Atlanta sit-ins of 1960 he showed a different skill. The group of protesters was close to breaking apart, because younger activists wanted quicker action than King's method offered, and he held them together with his speeches. Then came Albany in 1961, and a failure. King had not created that protest movement; he was invited into it. The Albany Movement broke apart because it was divided, and the media blamed King when it collapsed. The lesson he drew was blunt: if he formed the movement and led it himself, it would succeed.
He acted on that lesson in the Birmingham campaign of 1963, which he and his organisation planned and ran. He was arrested during it, and what he wrote from the cell is the subject of the next section. By now King had used his early campaigns to show the whole country the discrimination Black Americans faced every day, by targeting local issues at state level, such as the buses in Montgomery, Alabama. He was a national figure, and he turned his attention from local change to national politicians and the laws that could give Black Americans rights across every state.
Worked example — model it step by step, thinking aloud: Explain what King learned from the failure of the Albany Movement in 1961. (1) Say what happened: King was brought into a campaign at Albany that he had not created, and it broke apart because it was divided. (2) Say who paid the price: the media blamed King for the failure, even though he had not organised it. (3) Draw out the lesson: he concluded that a campaign he formed and led himself was far more likely to hold together and succeed. (4) Show him using it: in Birmingham in 1963 he and his organisation planned the campaign from the start. Answer: Albany taught King that being invited into someone else's divided campaign brought him the blame without the control, so from Birmingham onwards he formed and led his campaigns himself..
Tip: Four campaigns, four dates: Montgomery 1955 to 1956, Atlanta 1960, Albany 1961, Birmingham 1963. Attach one thing King learned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early campaigns: Montgomery, Atlanta, Albany, Birmingham. Say it in your own words, then check understanding with a quick question: ask a pupil from the pre-teach group first, since they met these words and ideas before the lesson. Pupils try to recall before you re-explain.
King's early campaigns are worth learning as a set of four, because together they show him learning his trade. The Montgomery Bus Boycott of 1955 to 1956 brought him national fame, and its success showed how effective his non-violent, peaceful protest tactics could be.
At the Atlanta sit-ins of 1960 he showed a different skill. The group of protesters was close to breaking apart, because younger activists wanted quicker action than King's method offered, and he held them together with his speeches. Then came Albany in 1961, and a failure. King had not created that protest movement; he was invited into it. The Albany Movement broke apart because it was divided, and the media blamed King when it collapsed. The lesson he drew was blunt: if he formed the movement and led it himself, it would succeed.
He acted on that lesson in the Birmingham campaign of 1963, which he and his organisation planned and ran. He was arrested during it, and what he wrote from the cell is the subject of the next section. By now King had used his early campaigns to show the whole country the discrimination Black Americans faced every day, by targeting local issues at state level, such as the buses in Montgomery, Alabama. He was a national figure, and he turned his attention from local change to national politicians and the laws that could give Black Americans rights across every state.
Worked example — model it step by step, thinking aloud: Explain what King learned from the failure of the Albany Movement in 1961. (1) Say what happened: King was brought into a campaign at Albany that he had not created, and it broke apart because it was divided. (2) Say who paid the price: the media blamed King for the failure, even though he had not organised it. (3) Draw out the lesson: he concluded that a campaign he formed and led himself was far more likely to hold together and succeed. (4) Show him using it: in Birmingham in 1963 he and his organisation planned the campaign from the start. Answer: Albany taught King that being invited into someone else's divided campaign brought him the blame without the control, so from Birmingham onwards he formed and led his campaigns himself..
Tip: Four campaigns, four dates: Montgomery 1955 to 1956, Atlanta 1960, Albany 1961, Birmingham 1963. Attach one thing King learned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King argued from a jail cell in Birmingham. Say it in your own words, then check understanding with a quick question: ask a pupil from the pre-teach group first, since they met these words and ideas before the lesson. Pupils try to recall before you re-explain.
While he was in jail during the Birmingham campaign in 1963, King wrote an open letter defending non-violent direct action. His letter is still in copyright, so this book does not quote it; what follows is his argument in other words, and it belongs to him.
King argued that the greatest obstacle to Black freedom was not the Ku Klux Klan. It was, he said, the white people who told him they agreed with his goal but could not agree with his methods, who valued order more than justice, who were content with a quiet peace that contained no justice at all, and who thought they were entitled to set the timetable for someone else's freedom by advising Black Americans to wait for a more convenient moment. He called such people white moderates.
That is a hard argument to hear, and your lesson asks you to take it seriously. If a person says they support a change but objects every time anyone acts to bring it about, what is the practical difference between them and an opponent? Your teacher may ask you to connect this to the modern claim that staying silent about injustice is itself a choice.
Tip: When you use a writer whose work is in copyright, give their argument in your own words and name them clearly. Paraphrase with attribution is honest; copying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March on Washington, 1963, and the Civil Rights Act, 1964. Say it in your own words, then check understanding with a quick question: ask a pupil from the pre-teach group first, since they met these words and ideas before the lesson. Pupils try to recall before you re-explain.
On 28 August 1963, King led 250,000 people on the March on Washington for Jobs and Freedom. Washington is the capital of the United States: it is where Congress sits and where the President lives, so a march there is aimed at the people who can change federal law. He made his most famous speech at that march. It too is in copyright and is not quoted here, but its argument is well known: that the promises of equality written into America's founding documents had not been kept for Black Americans, and that the country should keep them, judging people by their character rather than their race.
Your lesson asks why King chose Washington rather than the Deep South, where the segregation and the racial violence were. The answer is in the chapter above: he had already proved his case locally, and local wins could not reach every state. Only Congress could.
In 1964 Congress passed the Civil Rights Act into law. The Act gave Black Americans equal status with white Americans under the law, and made discrimination, including segregation, illegal. It was one of the biggest achievements of the whole campaign, and King's speech is credited with pushing Congress into passing it. But the fight was not over, because Jim Crow rules in the South still kept many Black citizens from voting, and that is where chapter five begins.
Tip: The Civil Rights Act of 1964 made discrimination illegal. It did not give anyone the vote. Keeping those two laws apart is the single most useful thing you can do in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each early campaign taught King.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King's early campaigns to what it taught him or did for him.
Support — work through the steps with the group: (1) Start with the one you know best. Which campaign made King famous in the first place? (2) Which campaign was about students sitting at lunch counters, with the group nearly splitting? (3) Which campaign was not his, and ended in failure and blame? (4) The one left is the campaign where he was jailed, in 1963.
Parallel worked example for Support (model it, do not give the task answer): Match these two school events to what they taught a form captain: a bake sale that raised nothing because nobody was told, and a charity run that sold out in a day after a tutor-time notice. Choices: plan the publicity first; a good cause is not enough on its own. The bake sale failed for lack of notice, so its lesson is that a good cause is not enough on its own.; The charity run succeeded because of the notice, so its lesson is to plan the publicity first.. Answer: Bake sale: a good cause is not enough on its own. Charity run: plan the publicity first..
Core — reveal the hint only on request: Sort them by date first, then ask of each one: was this a success, a test of his leadership, a failure, or a campaign he built himself?
Stretch — no help; when finished: Explain how the lesson of Albany in 1961 changed what King did in 1963, and judge whether the March on Washington could have happened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each early campaign taught King.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King's early campaigns to what it taught him or did for him.
Support — work through the steps with the group: (1) Start with the one you know best. Which campaign made King famous in the first place? (2) Which campaign was about students sitting at lunch counters, with the group nearly splitting? (3) Which campaign was not his, and ended in failure and blame? (4) The one left is the campaign where he was jailed, in 1963.
Parallel worked example for Support (model it, do not give the task answer): Match these two school events to what they taught a form captain: a bake sale that raised nothing because nobody was told, and a charity run that sold out in a day after a tutor-time notice. Choices: plan the publicity first; a good cause is not enough on its own. The bake sale failed for lack of notice, so its lesson is that a good cause is not enough on its own.; The charity run succeeded because of the notice, so its lesson is to plan the publicity first.. Answer: Bake sale: a good cause is not enough on its own. Charity run: plan the publicity first..
Core — reveal the hint only on request: Sort them by date first, then ask of each one: was this a success, a test of his leadership, a failure, or a campaign he built himself?
Stretch — no help; when finished: Explain how the lesson of Albany in 1961 changed what King did in 1963, and judge whether the March on Washington could have happened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the March on Washington mattered.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the March on Washington in 1963 was a significant moment in the Civil Rights movement. Write one paragraph of four to six sentences.
Support — work through the steps with the group: (1) Sentence 1: The March on Washington in 1963 was significant because... (2) Sentence 2: give two facts. The date was 28 August 1963, there were 250,000 marchers, and the place was the capital. (3) Sentence 3: explain the target. Who is in Washington, and what can they do that a local council cannot? (4) Sentence 4: link it forward. What law did Congress pass the following year, and what did it make illegal? (5) Last sentence: say what all of this shows about why the march mattered.
Parallel worked example for Support (model it, do not give the task answer): Explain why Birmingham in 1963 was important to King, in three sentences. Say what was new: it was the first major campaign he and his organisation planned and led themselves.; Explain why that mattered: after Albany he had decided that control was what made a campaign hold together.; Add the consequence: he was jailed during it, and the letter he wrote there set out his case for direct action.. Answer: Birmingham was the first campaign King fully controlled, which was the lesson of Albany, and his arrest there produced the letter defending direct action..
Core — reveal the hint only on request: Two facts, then the reason Washington was the right place, then the law that followed in 1964.
Stretch — no help; when finished: Argue whether the Civil Rights Act of 1964 would have passed without the March on Washington, and give one reason for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the March on Washington mattered.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the March on Washington in 1963 was a significant moment in the Civil Rights movement. Write one paragraph of four to six sentences.
Support — work through the steps with the group: (1) Sentence 1: The March on Washington in 1963 was significant because... (2) Sentence 2: give two facts. The date was 28 August 1963, there were 250,000 marchers, and the place was the capital. (3) Sentence 3: explain the target. Who is in Washington, and what can they do that a local council cannot? (4) Sentence 4: link it forward. What law did Congress pass the following year, and what did it make illegal? (5) Last sentence: say what all of this shows about why the march mattered.
Parallel worked example for Support (model it, do not give the task answer): Explain why Birmingham in 1963 was important to King, in three sentences. Say what was new: it was the first major campaign he and his organisation planned and led themselves.; Explain why that mattered: after Albany he had decided that control was what made a campaign hold together.; Add the consequence: he was jailed during it, and the letter he wrote there set out his case for direct action.. Answer: Birmingham was the first campaign King fully controlled, which was the lesson of Albany, and his arrest there produced the letter defending direct action..
Core — reveal the hint only on request: Two facts, then the reason Washington was the right place, then the law that followed in 1964.
Stretch — no help; when finished: Argue whether the Civil Rights Act of 1964 would have passed without the March on Washington, and give one reason for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the March on Washington mattered.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the March on Washington in 1963 was a significant moment in the Civil Rights movement. Write one paragraph of four to six sentences.
Support — work through the steps with the group: (1) Sentence 1: The March on Washington in 1963 was significant because... (2) Sentence 2: give two facts. The date was 28 August 1963, there were 250,000 marchers, and the place was the capital. (3) Sentence 3: explain the target. Who is in Washington, and what can they do that a local council cannot? (4) Sentence 4: link it forward. What law did Congress pass the following year, and what did it make illegal? (5) Last sentence: say what all of this shows about why the march mattered.
Parallel worked example for Support (model it, do not give the task answer): Explain why Birmingham in 1963 was important to King, in three sentences. Say what was new: it was the first major campaign he and his organisation planned and led themselves.; Explain why that mattered: after Albany he had decided that control was what made a campaign hold together.; Add the consequence: he was jailed during it, and the letter he wrote there set out his case for direct action.. Answer: Birmingham was the first campaign King fully controlled, which was the lesson of Albany, and his arrest there produced the letter defending direct action..
Core — reveal the hint only on request: Two facts, then the reason Washington was the right place, then the law that followed in 1964.
Stretch — no help; when finished: Argue whether the Civil Rights Act of 1964 would have passed without the March on Washington, and give one reason for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his letter from the jail in Birmingham, King argued that the biggest obstacle to Black freedom was not the Ku Klux Klan. According to him, what was it?
Answer: B   White people who said they agreed with the goal but objected to protest and told Black Americans to wait. King's target in the letter is the person who accepts the goal and rejects every route to it. Such a person, he argued, prefers an orderly situation with no justice in it to a disorderly process that produces justice, and claims the right to decide when someone else's freedom should arrive.
Source of this question: module 3 task ("The argument from the cell")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each early campaign taught King. Reveal the answer; pupils mark their own work in a different colour, then read the "why" together. Same destination for every lane, so one answer serves the whole class.
Answer: Montgomery Bus Boycott, 1955 to 1956  →  C  Brought him national fame and showed that non-violent, peaceful tactics could work; Atlanta sit-ins, 1960  →  B  Showed he could hold a divided group together when younger activists wanted quicker action; Albany Movement, 1961  →  D  A campaign he had not created; it broke apart because it was divided, and the media blamed him; Birmingham campaign, 1963  →  A  A campaign he planned and led himself, during which he was jailed and wrote his open letter
Why: Montgomery made him famous and proved the method; Atlanta tested whether he could hold a divided movement together; Albany showed what happens when he is blamed for a campaign he does not control; Birmingham was the first he planned and led himself, and it put him in the cell where he wrote his letter.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the March on Washington mattered. Reveal the answer; pupils mark their own work in a different colour, then read the "why" together. Same destination for every lane, so one answer serves the whole class.
Answer: I say clearly that the march was significant, and in what way.; I use at least two facts from the chapter, such as the date, the number of marchers, or the place.; I explain why Washington in particular was the right target.; I link the march to what happened next in 1964.; I use the word because at least once.
Why: The march moved the campaign from local targets to national law. A quarter of a million peaceful marchers in the capital put the case to Congress and the President directly, and the Civil Rights Act of 1964, which made discrimination and segregation illegal, is the result historians point to.
Model answer: The March on Washington on 28 August 1963 was significant because it turned a set of local campaigns into national pressure. King led 250,000 people to the capital, which is where Congress sits and where the President lives, so the march was aimed directly at the only people who could change the law for every state at once. That choice of target mattered: King had already proved his case in Montgomery and Birmingham, but a win in one city could not reach Alabama and Arkansas and Kansas together. The march was also peaceful on a huge scale, which made it very hard to dismiss, and his speech there is credited with pushing Congress into action. In 1964 Congress passed the Civil Rights Act, which made discrimination including segregation illegal, and that is the clearest measure of what the march achieved.
Success criteria: I say clearly that the march was significant, and in what way.; I use at least two facts from the chapter, such as the date, the number of marchers, or the place.; I explain why Washington in particular was the right target.; I link the march to what happened next in 1964.; I use the word because at least once.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the March on Washington mattered. Reveal the answer; pupils mark their own work in a different colour, then read the "why" together. Same destination for every lane, so one answer serves the whole class.
Answer: I say clearly that the march was significant, and in what way.; I use at least two facts from the chapter, such as the date, the number of marchers, or the place.; I explain why Washington in particular was the right target.; I link the march to what happened next in 1964.; I use the word because at least once.
Why: The march moved the campaign from local targets to national law. A quarter of a million peaceful marchers in the capital put the case to Congress and the President directly, and the Civil Rights Act of 1964, which made discrimination and segregation illegal, is the result historians point to.
Model answer: The March on Washington on 28 August 1963 was significant because it turned a set of local campaigns into national pressure. King led 250,000 people to the capital, which is where Congress sits and where the President lives, so the march was aimed directly at the only people who could change the law for every state at once. That choice of target mattered: King had already proved his case in Montgomery and Birmingham, but a win in one city could not reach Alabama and Arkansas and Kansas together. The march was also peaceful on a huge scale, which made it very hard to dismiss, and his speech there is credited with pushing Congress into action. In 1964 Congress passed the Civil Rights Act, which made discrimination including segregation illegal, and that is the clearest measure of what the march achieved.
Success criteria: I say clearly that the march was significant, and in what way.; I use at least two facts from the chapter, such as the date, the number of marchers, or the place.; I explain why Washington in particular was the right target.; I link the march to what happened next in 1964.; I use the word because at least once.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White people who said they agreed with the goal but objected to protest and told Black Americans to wait
Why: King's target in the letter is the person who accepts the goal and rejects every route to it. Such a person, he argued, prefers an orderly situation with no justice in it to a disorderly process that produces justice, and claims the right to decide when someone else's freedom should arrive.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US Civil Rights · AQA KS3 → 8145</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Martin Luther King: the early campaigns and the March on Washington</a:t>
            </a:r>
            <a:endParaRPr lang="en-US" sz="2800" dirty="0"/>
          </a:p>
        </p:txBody>
      </p:sp>
      <p:sp>
        <p:nvSpPr>
          <p:cNvPr id="11" name="lessons-card"/>
          <p:cNvSpPr/>
          <p:nvPr/>
        </p:nvSpPr>
        <p:spPr>
          <a:xfrm>
            <a:off x="548640" y="4102608"/>
            <a:ext cx="5287975" cy="980440"/>
          </a:xfrm>
          <a:prstGeom prst="roundRect">
            <a:avLst>
              <a:gd name="adj" fmla="val 7461"/>
            </a:avLst>
          </a:prstGeom>
          <a:solidFill>
            <a:srgbClr val="F2EDE9"/>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Martin Luther King</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did Black Americans win their civil rights, and which campaigns and leaders mattered most?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Who inspired King's method of non-violent civil disobedience?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Mahatma Gandhi, who campaigned for India's independence from the British Empire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Thurgood Marshall, who argued the Brown case at the Supreme Court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Rosa Parks, who refused to give up her bus seat in Montgomery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Abraham Lincoln, who issued the Emancipation Proclamation</a:t>
            </a:r>
            <a:endParaRPr lang="en-US" sz="18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Refusing, peacefully and on purpose, to obey a law you believe is racist is called civil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disobedience  ·  disagreement  ·  disorder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King turn from local campaigns to a national march in 1963?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the Supreme Court had refused to hear any more civil rights cases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he had lost every local campaign he had led so far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segregation had already ended in the Southern states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Because only national politicians and federal laws could give Black Americans rights in every state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DE1CA"/>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Mahatma Gandhi, who campaigned for India's independence from the British Empire</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King took his method from Gandhi, who had used non-violent civil disobedience against British rule in India.</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disobedience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Refusing, peacefully and on purpose, to obey a law you believe is racist is called civil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Civil disobedience is deliberate, peaceful law-breaking used as a protest. The word civil signals that it stays peaceful.</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Because only national politicians and federal laws could give Black Americans rights in every state</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Local campaigns won local victories. King wanted laws that applied across the whole country, and only Congress…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civil disobedience</a:t>
            </a:r>
            <a:endParaRPr lang="en-US" sz="2600" dirty="0"/>
          </a:p>
        </p:txBody>
      </p:sp>
      <p:sp>
        <p:nvSpPr>
          <p:cNvPr id="11" name="word-rule"/>
          <p:cNvSpPr/>
          <p:nvPr/>
        </p:nvSpPr>
        <p:spPr>
          <a:xfrm>
            <a:off x="731520" y="2558288"/>
            <a:ext cx="3149498" cy="0"/>
          </a:xfrm>
          <a:prstGeom prst="line">
            <a:avLst/>
          </a:prstGeom>
          <a:ln w="12700">
            <a:solidFill>
              <a:srgbClr val="CAB7A5"/>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peacefully refusing to obey a law you believe is unjust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Sitting at a whites-only lunch counter was civil disobedience.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non-violent</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making a protest without using force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King insisted that his campaigns stay non-violent, even when the police did not.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sit-in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protest in which people sit somewhere they are banned from and refuse to leave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Students held a sit-in at a segregated lunch counter in Atlanta.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campaign</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planned series of actions aimed at one change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King learned that a campaign works better when the organisers lead it themselves.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Congress</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American parliament, which makes the country's laws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Only Congress could pass a law that covered every state at once.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Martin Luther King was a Civil Rights activist in the Southern states.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became a national leader during the Montgomery Bus Boycott.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His method came from Mahatma Gandhi in India.</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Gandhi had used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non-violent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civil disobedience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against the British Empire.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Civil disobedience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peacefully refusing to obey a racist law.</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King's first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campaigns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were local: one city or one state.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the Atlanta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sit-ins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he held a divided group together.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Albany he had not started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campaign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it failed.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learned to form 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campaign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then lead it himself.</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1963 he was jailed during the Birmingham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campaign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Then he turned from local targets to national laws.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August 1963 he led 250,000 people to Washington.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1964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Congress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passed the Civil Rights Act.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Who King was, and where his method came from</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about King's methods, name the method (non-violent civil disobedience), name where it came from (Gandhi, in India), and give one example of it in action.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Martin Luther King was a Civil Rights activist in the Southern states of America.</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His method was borrowed, and he said so. King was inspired by Mahatma Gandhi, who had used non-violent civil disobedience to campaign for India's independence from the British Empire.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 also already know an example of it, from the chapter before this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The early campaigns: Montgomery, Atlanta, Albany, Birmingham</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campaigns, four dates: Montgomery 1955 to 1956, Atlanta 1960, Albany 1961, Birmingham 1963. Attach one thing King learned to each.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King's early campaigns are worth learning as a set of four, because together they show him learning his trade.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the Atlanta sit-ins of 1960 he showed a different skill.</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 acted on that lesson in the Birmingham campaign of 1963, which he and his organisation planned and ran.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The early campaigns: Montgomery, Atlanta, Albany, Birmingham</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EDE9"/>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what King learned from the failure of the Albany Movement in 1961.</a:t>
            </a:r>
            <a:endParaRPr lang="en-US" sz="2000" dirty="0"/>
          </a:p>
        </p:txBody>
      </p:sp>
      <p:sp>
        <p:nvSpPr>
          <p:cNvPr id="9" name="step-box"/>
          <p:cNvSpPr/>
          <p:nvPr/>
        </p:nvSpPr>
        <p:spPr>
          <a:xfrm>
            <a:off x="548640" y="2192528"/>
            <a:ext cx="11094415" cy="786384"/>
          </a:xfrm>
          <a:prstGeom prst="roundRect">
            <a:avLst>
              <a:gd name="adj" fmla="val 9302"/>
            </a:avLst>
          </a:prstGeom>
          <a:solidFill>
            <a:srgbClr val="FFFFFF"/>
          </a:solidFill>
          <a:ln w="15875">
            <a:solidFill>
              <a:srgbClr val="B69B83"/>
            </a:solidFill>
            <a:prstDash val="solid"/>
          </a:ln>
        </p:spPr>
      </p:sp>
      <p:sp>
        <p:nvSpPr>
          <p:cNvPr id="10" name="step-hex"/>
          <p:cNvSpPr/>
          <p:nvPr/>
        </p:nvSpPr>
        <p:spPr>
          <a:xfrm>
            <a:off x="685800" y="2387752"/>
            <a:ext cx="457200" cy="395935"/>
          </a:xfrm>
          <a:prstGeom prst="hexagon">
            <a:avLst/>
          </a:prstGeom>
          <a:solidFill>
            <a:srgbClr val="7A4A1E"/>
          </a:solidFill>
          <a:ln/>
        </p:spPr>
      </p:sp>
      <p:sp>
        <p:nvSpPr>
          <p:cNvPr id="11" name="step-hex-label"/>
          <p:cNvSpPr txBox="1"/>
          <p:nvPr/>
        </p:nvSpPr>
        <p:spPr>
          <a:xfrm>
            <a:off x="685800" y="238775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happened: King was brought into a campaign at Albany that he had not created, and it broke apart because it was divided.</a:t>
            </a:r>
            <a:endParaRPr lang="en-US" sz="1800" dirty="0"/>
          </a:p>
        </p:txBody>
      </p:sp>
      <p:sp>
        <p:nvSpPr>
          <p:cNvPr id="13" name="step-box"/>
          <p:cNvSpPr/>
          <p:nvPr/>
        </p:nvSpPr>
        <p:spPr>
          <a:xfrm>
            <a:off x="548640" y="3052064"/>
            <a:ext cx="11094415" cy="522224"/>
          </a:xfrm>
          <a:prstGeom prst="roundRect">
            <a:avLst>
              <a:gd name="adj" fmla="val 14008"/>
            </a:avLst>
          </a:prstGeom>
          <a:solidFill>
            <a:srgbClr val="FFFFFF"/>
          </a:solidFill>
          <a:ln w="15875">
            <a:solidFill>
              <a:srgbClr val="B69B83"/>
            </a:solidFill>
            <a:prstDash val="solid"/>
          </a:ln>
        </p:spPr>
      </p:sp>
      <p:sp>
        <p:nvSpPr>
          <p:cNvPr id="14" name="step-hex"/>
          <p:cNvSpPr/>
          <p:nvPr/>
        </p:nvSpPr>
        <p:spPr>
          <a:xfrm>
            <a:off x="685800" y="3115208"/>
            <a:ext cx="457200" cy="395935"/>
          </a:xfrm>
          <a:prstGeom prst="hexagon">
            <a:avLst/>
          </a:prstGeom>
          <a:solidFill>
            <a:srgbClr val="7A4A1E"/>
          </a:solidFill>
          <a:ln/>
        </p:spPr>
      </p:sp>
      <p:sp>
        <p:nvSpPr>
          <p:cNvPr id="15" name="step-hex-label"/>
          <p:cNvSpPr txBox="1"/>
          <p:nvPr/>
        </p:nvSpPr>
        <p:spPr>
          <a:xfrm>
            <a:off x="685800" y="311520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52064"/>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who paid the price: the media blamed King for the failure, even though he had not organised it.</a:t>
            </a:r>
            <a:endParaRPr lang="en-US" sz="1800" dirty="0"/>
          </a:p>
        </p:txBody>
      </p:sp>
      <p:sp>
        <p:nvSpPr>
          <p:cNvPr id="17" name="step-box"/>
          <p:cNvSpPr/>
          <p:nvPr/>
        </p:nvSpPr>
        <p:spPr>
          <a:xfrm>
            <a:off x="548640" y="3647440"/>
            <a:ext cx="11094415" cy="786384"/>
          </a:xfrm>
          <a:prstGeom prst="roundRect">
            <a:avLst>
              <a:gd name="adj" fmla="val 9302"/>
            </a:avLst>
          </a:prstGeom>
          <a:solidFill>
            <a:srgbClr val="FFFFFF"/>
          </a:solidFill>
          <a:ln w="15875">
            <a:solidFill>
              <a:srgbClr val="B69B83"/>
            </a:solidFill>
            <a:prstDash val="solid"/>
          </a:ln>
        </p:spPr>
      </p:sp>
      <p:sp>
        <p:nvSpPr>
          <p:cNvPr id="18" name="step-hex"/>
          <p:cNvSpPr/>
          <p:nvPr/>
        </p:nvSpPr>
        <p:spPr>
          <a:xfrm>
            <a:off x="685800" y="3842664"/>
            <a:ext cx="457200" cy="395935"/>
          </a:xfrm>
          <a:prstGeom prst="hexagon">
            <a:avLst/>
          </a:prstGeom>
          <a:solidFill>
            <a:srgbClr val="7A4A1E"/>
          </a:solidFill>
          <a:ln/>
        </p:spPr>
      </p:sp>
      <p:sp>
        <p:nvSpPr>
          <p:cNvPr id="19" name="step-hex-label"/>
          <p:cNvSpPr txBox="1"/>
          <p:nvPr/>
        </p:nvSpPr>
        <p:spPr>
          <a:xfrm>
            <a:off x="685800" y="38426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7440"/>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Draw out the lesson: he concluded that a campaign he formed and led himself was far more likely to hold together and succeed.</a:t>
            </a:r>
            <a:endParaRPr lang="en-US" sz="1800" dirty="0"/>
          </a:p>
        </p:txBody>
      </p:sp>
      <p:sp>
        <p:nvSpPr>
          <p:cNvPr id="21" name="step-box"/>
          <p:cNvSpPr/>
          <p:nvPr/>
        </p:nvSpPr>
        <p:spPr>
          <a:xfrm>
            <a:off x="548640" y="4506976"/>
            <a:ext cx="11094415" cy="522224"/>
          </a:xfrm>
          <a:prstGeom prst="roundRect">
            <a:avLst>
              <a:gd name="adj" fmla="val 14008"/>
            </a:avLst>
          </a:prstGeom>
          <a:solidFill>
            <a:srgbClr val="FFFFFF"/>
          </a:solidFill>
          <a:ln w="15875">
            <a:solidFill>
              <a:srgbClr val="B69B83"/>
            </a:solidFill>
            <a:prstDash val="solid"/>
          </a:ln>
        </p:spPr>
      </p:sp>
      <p:sp>
        <p:nvSpPr>
          <p:cNvPr id="22" name="step-hex"/>
          <p:cNvSpPr/>
          <p:nvPr/>
        </p:nvSpPr>
        <p:spPr>
          <a:xfrm>
            <a:off x="685800" y="4570120"/>
            <a:ext cx="457200" cy="395935"/>
          </a:xfrm>
          <a:prstGeom prst="hexagon">
            <a:avLst/>
          </a:prstGeom>
          <a:solidFill>
            <a:srgbClr val="7A4A1E"/>
          </a:solidFill>
          <a:ln/>
        </p:spPr>
      </p:sp>
      <p:sp>
        <p:nvSpPr>
          <p:cNvPr id="23" name="step-hex-label"/>
          <p:cNvSpPr txBox="1"/>
          <p:nvPr/>
        </p:nvSpPr>
        <p:spPr>
          <a:xfrm>
            <a:off x="685800" y="457012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06976"/>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Show him using it: in Birmingham in 1963 he and his organisation planned the campaign from the start.</a:t>
            </a:r>
            <a:endParaRPr lang="en-US" sz="1800" dirty="0"/>
          </a:p>
        </p:txBody>
      </p:sp>
      <p:sp>
        <p:nvSpPr>
          <p:cNvPr id="25" name="worked-answer"/>
          <p:cNvSpPr/>
          <p:nvPr/>
        </p:nvSpPr>
        <p:spPr>
          <a:xfrm>
            <a:off x="548640" y="5212080"/>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Albany taught King that being invited into someone else's divided campaign brought him the blame without the control, so from Birmingham onwards he formed and led his campaigns himself.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What King argued from a jail cell in Birmingham</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use a writer whose work is in copyright, give their argument in your own words and name them clearly. Paraphrase with attribution is honest; copying is not.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While he was in jail during the Birmingham campaign in 1963, King wrote an open letter defending non-violent direct action.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King argued that the greatest obstacle to Black freedom was not the Ku Klux Klan.</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a hard argument to hear, and your lesson asks you to take it seriously.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The March on Washington, 1963, and the Civil Rights Act, 1964</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Civil Rights Act of 1964 made discrimination illegal. It did not give anyone the vote. Keeping those two laws apart is the single most useful thing you can do in this topic.</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 28 August 1963, King led 250,000 people on the March on Washington for Jobs and Freedom.</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asks why King chose Washington rather than the Deep South, where the segregation and the racial violence were.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1964 Congress passed the Civil Rights Act into law.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What each early campaign taught King</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of King's early campaigns to what it taught him or did for him.</a:t>
            </a:r>
            <a:endParaRPr lang="en-US" sz="2000" dirty="0"/>
          </a:p>
        </p:txBody>
      </p:sp>
      <p:sp>
        <p:nvSpPr>
          <p:cNvPr id="11" name="match-card"/>
          <p:cNvSpPr/>
          <p:nvPr/>
        </p:nvSpPr>
        <p:spPr>
          <a:xfrm>
            <a:off x="777240" y="2468331"/>
            <a:ext cx="3095507" cy="804809"/>
          </a:xfrm>
          <a:prstGeom prst="roundRect">
            <a:avLst>
              <a:gd name="adj" fmla="val 9089"/>
            </a:avLst>
          </a:prstGeom>
          <a:solidFill>
            <a:srgbClr val="F4F1ED"/>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501147"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Montgomery Bus Boycott, 1955 to 1956</a:t>
            </a:r>
            <a:endParaRPr lang="en-US" sz="1800" dirty="0"/>
          </a:p>
        </p:txBody>
      </p:sp>
      <p:sp>
        <p:nvSpPr>
          <p:cNvPr id="15" name="match-card"/>
          <p:cNvSpPr/>
          <p:nvPr/>
        </p:nvSpPr>
        <p:spPr>
          <a:xfrm>
            <a:off x="4238507" y="2468331"/>
            <a:ext cx="7175948" cy="804809"/>
          </a:xfrm>
          <a:prstGeom prst="roundRect">
            <a:avLst>
              <a:gd name="adj" fmla="val 9089"/>
            </a:avLst>
          </a:prstGeom>
          <a:solidFill>
            <a:srgbClr val="F6F0E6"/>
          </a:solidFill>
          <a:ln/>
        </p:spPr>
      </p:sp>
      <p:sp>
        <p:nvSpPr>
          <p:cNvPr id="16" name="match-hex"/>
          <p:cNvSpPr/>
          <p:nvPr/>
        </p:nvSpPr>
        <p:spPr>
          <a:xfrm>
            <a:off x="4311659" y="2704443"/>
            <a:ext cx="384048" cy="332586"/>
          </a:xfrm>
          <a:prstGeom prst="hexagon">
            <a:avLst/>
          </a:prstGeom>
          <a:solidFill>
            <a:srgbClr val="B8862B"/>
          </a:solidFill>
          <a:ln/>
        </p:spPr>
      </p:sp>
      <p:sp>
        <p:nvSpPr>
          <p:cNvPr id="17" name="match-hex-label"/>
          <p:cNvSpPr txBox="1"/>
          <p:nvPr/>
        </p:nvSpPr>
        <p:spPr>
          <a:xfrm>
            <a:off x="431165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59715" y="2468331"/>
            <a:ext cx="6581588"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campaign he planned and led himself, during which he was jailed and wrote his open letter</a:t>
            </a:r>
            <a:endParaRPr lang="en-US" sz="1800" dirty="0"/>
          </a:p>
        </p:txBody>
      </p:sp>
      <p:sp>
        <p:nvSpPr>
          <p:cNvPr id="19" name="match-card"/>
          <p:cNvSpPr/>
          <p:nvPr/>
        </p:nvSpPr>
        <p:spPr>
          <a:xfrm>
            <a:off x="777240" y="3364581"/>
            <a:ext cx="3095507" cy="804809"/>
          </a:xfrm>
          <a:prstGeom prst="roundRect">
            <a:avLst>
              <a:gd name="adj" fmla="val 9089"/>
            </a:avLst>
          </a:prstGeom>
          <a:solidFill>
            <a:srgbClr val="F4F1ED"/>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501147"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Atlanta sit-ins, 1960</a:t>
            </a:r>
            <a:endParaRPr lang="en-US" sz="1800" dirty="0"/>
          </a:p>
        </p:txBody>
      </p:sp>
      <p:sp>
        <p:nvSpPr>
          <p:cNvPr id="23" name="match-card"/>
          <p:cNvSpPr/>
          <p:nvPr/>
        </p:nvSpPr>
        <p:spPr>
          <a:xfrm>
            <a:off x="4238507" y="3364581"/>
            <a:ext cx="7175948" cy="804809"/>
          </a:xfrm>
          <a:prstGeom prst="roundRect">
            <a:avLst>
              <a:gd name="adj" fmla="val 9089"/>
            </a:avLst>
          </a:prstGeom>
          <a:solidFill>
            <a:srgbClr val="F6F0E6"/>
          </a:solidFill>
          <a:ln/>
        </p:spPr>
      </p:sp>
      <p:sp>
        <p:nvSpPr>
          <p:cNvPr id="24" name="match-hex"/>
          <p:cNvSpPr/>
          <p:nvPr/>
        </p:nvSpPr>
        <p:spPr>
          <a:xfrm>
            <a:off x="4311659" y="3600692"/>
            <a:ext cx="384048" cy="332586"/>
          </a:xfrm>
          <a:prstGeom prst="hexagon">
            <a:avLst/>
          </a:prstGeom>
          <a:solidFill>
            <a:srgbClr val="B8862B"/>
          </a:solidFill>
          <a:ln/>
        </p:spPr>
      </p:sp>
      <p:sp>
        <p:nvSpPr>
          <p:cNvPr id="25" name="match-hex-label"/>
          <p:cNvSpPr txBox="1"/>
          <p:nvPr/>
        </p:nvSpPr>
        <p:spPr>
          <a:xfrm>
            <a:off x="431165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59715" y="3364581"/>
            <a:ext cx="6581588"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Showed he could hold a divided group together when younger activists wanted quicker action</a:t>
            </a:r>
            <a:endParaRPr lang="en-US" sz="1800" dirty="0"/>
          </a:p>
        </p:txBody>
      </p:sp>
      <p:sp>
        <p:nvSpPr>
          <p:cNvPr id="27" name="match-card"/>
          <p:cNvSpPr/>
          <p:nvPr/>
        </p:nvSpPr>
        <p:spPr>
          <a:xfrm>
            <a:off x="777240" y="4260830"/>
            <a:ext cx="3095507" cy="804809"/>
          </a:xfrm>
          <a:prstGeom prst="roundRect">
            <a:avLst>
              <a:gd name="adj" fmla="val 9089"/>
            </a:avLst>
          </a:prstGeom>
          <a:solidFill>
            <a:srgbClr val="F4F1ED"/>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501147"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Albany Movement, 1961</a:t>
            </a:r>
            <a:endParaRPr lang="en-US" sz="1800" dirty="0"/>
          </a:p>
        </p:txBody>
      </p:sp>
      <p:sp>
        <p:nvSpPr>
          <p:cNvPr id="31" name="match-card"/>
          <p:cNvSpPr/>
          <p:nvPr/>
        </p:nvSpPr>
        <p:spPr>
          <a:xfrm>
            <a:off x="4238507" y="4260830"/>
            <a:ext cx="7175948" cy="804809"/>
          </a:xfrm>
          <a:prstGeom prst="roundRect">
            <a:avLst>
              <a:gd name="adj" fmla="val 9089"/>
            </a:avLst>
          </a:prstGeom>
          <a:solidFill>
            <a:srgbClr val="F6F0E6"/>
          </a:solidFill>
          <a:ln/>
        </p:spPr>
      </p:sp>
      <p:sp>
        <p:nvSpPr>
          <p:cNvPr id="32" name="match-hex"/>
          <p:cNvSpPr/>
          <p:nvPr/>
        </p:nvSpPr>
        <p:spPr>
          <a:xfrm>
            <a:off x="4311659" y="4496941"/>
            <a:ext cx="384048" cy="332586"/>
          </a:xfrm>
          <a:prstGeom prst="hexagon">
            <a:avLst/>
          </a:prstGeom>
          <a:solidFill>
            <a:srgbClr val="B8862B"/>
          </a:solidFill>
          <a:ln/>
        </p:spPr>
      </p:sp>
      <p:sp>
        <p:nvSpPr>
          <p:cNvPr id="33" name="match-hex-label"/>
          <p:cNvSpPr txBox="1"/>
          <p:nvPr/>
        </p:nvSpPr>
        <p:spPr>
          <a:xfrm>
            <a:off x="431165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59715" y="4260830"/>
            <a:ext cx="6581588"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Brought him national fame and showed that non-violent, peaceful tactics could work</a:t>
            </a:r>
            <a:endParaRPr lang="en-US" sz="1800" dirty="0"/>
          </a:p>
        </p:txBody>
      </p:sp>
      <p:sp>
        <p:nvSpPr>
          <p:cNvPr id="35" name="match-card"/>
          <p:cNvSpPr/>
          <p:nvPr/>
        </p:nvSpPr>
        <p:spPr>
          <a:xfrm>
            <a:off x="777240" y="5157079"/>
            <a:ext cx="3095507" cy="804809"/>
          </a:xfrm>
          <a:prstGeom prst="roundRect">
            <a:avLst>
              <a:gd name="adj" fmla="val 9089"/>
            </a:avLst>
          </a:prstGeom>
          <a:solidFill>
            <a:srgbClr val="F4F1ED"/>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501147"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Birmingham campaign, 1963</a:t>
            </a:r>
            <a:endParaRPr lang="en-US" sz="1800" dirty="0"/>
          </a:p>
        </p:txBody>
      </p:sp>
      <p:sp>
        <p:nvSpPr>
          <p:cNvPr id="39" name="match-card"/>
          <p:cNvSpPr/>
          <p:nvPr/>
        </p:nvSpPr>
        <p:spPr>
          <a:xfrm>
            <a:off x="4238507" y="5157079"/>
            <a:ext cx="7175948" cy="804809"/>
          </a:xfrm>
          <a:prstGeom prst="roundRect">
            <a:avLst>
              <a:gd name="adj" fmla="val 9089"/>
            </a:avLst>
          </a:prstGeom>
          <a:solidFill>
            <a:srgbClr val="F6F0E6"/>
          </a:solidFill>
          <a:ln/>
        </p:spPr>
      </p:sp>
      <p:sp>
        <p:nvSpPr>
          <p:cNvPr id="40" name="match-hex"/>
          <p:cNvSpPr/>
          <p:nvPr/>
        </p:nvSpPr>
        <p:spPr>
          <a:xfrm>
            <a:off x="4311659" y="5393191"/>
            <a:ext cx="384048" cy="332586"/>
          </a:xfrm>
          <a:prstGeom prst="hexagon">
            <a:avLst/>
          </a:prstGeom>
          <a:solidFill>
            <a:srgbClr val="B8862B"/>
          </a:solidFill>
          <a:ln/>
        </p:spPr>
      </p:sp>
      <p:sp>
        <p:nvSpPr>
          <p:cNvPr id="41" name="match-hex-label"/>
          <p:cNvSpPr txBox="1"/>
          <p:nvPr/>
        </p:nvSpPr>
        <p:spPr>
          <a:xfrm>
            <a:off x="431165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59715" y="5157079"/>
            <a:ext cx="6581588"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campaign he had not created; it broke apart because it was divided, and the media blamed him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What each early campaign taught King</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What each early campaign taught King</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one you know best. Which campaign made King famous in the first place?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campaign was about students sitting at lunch counters, with the group nearly splitting?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Which campaign was not his, and ended in failure and blame?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is the campaign where he was jailed, in 1963.</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Sort them by date first, then ask of each one: was this a success, a test of his leadership, a failure, or a campaign he built himself?</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lesson of Albany in 1961 changed what King did in 1963, and judge whether the March on Washington could have happened without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Why the March on Washington mattered</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why the March on Washington in 1963 was a significant moment in the Civil Rights movement.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Why the March on Washington mattered</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why the March on Washington in 1963 was a significant moment in the Civil Rights movement. Write one paragraph of four to six sentences.</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March on Washington in 1963 was significant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give two facts. The date was 28 August 1963, there were 250,000 marchers, and the place was the capital.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explain the target. Who is in Washington, and what can they do that a local council cannot?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link it forward. What law did Congress pass the following year, and what did it make illegal?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say what all of this shows about why the march mattered.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Why the March on Washington mattered</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why the March on Washington in 1963 was a significant moment in the Civil Rights movement. Write one paragraph of four to six sentences.</a:t>
            </a:r>
            <a:endParaRPr lang="en-US" sz="2000" dirty="0"/>
          </a:p>
        </p:txBody>
      </p:sp>
      <p:sp>
        <p:nvSpPr>
          <p:cNvPr id="12" name="col-Core"/>
          <p:cNvSpPr/>
          <p:nvPr/>
        </p:nvSpPr>
        <p:spPr>
          <a:xfrm>
            <a:off x="548640" y="2593848"/>
            <a:ext cx="5410048" cy="3550920"/>
          </a:xfrm>
          <a:prstGeom prst="roundRect">
            <a:avLst>
              <a:gd name="adj" fmla="val 1545"/>
            </a:avLst>
          </a:prstGeom>
          <a:solidFill>
            <a:srgbClr val="E2D7C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Two facts, then the reason Washington was the right place, then the law that followed in 1964.</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7A4A1E"/>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Argue whether the Civil Rights Act of 1964 would have passed without the March on Washington, and give one reason for your answer.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832100"/>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In his letter from the jail in Birmingham, King argued that the biggest obstacle to Black freedom was not the Ku Klux Klan. According to him, what was it?</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Black Americans who were unwilling to join his campaigns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White people who said they agreed with the goal but objected to protest and told Black Americans to wait</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Supreme Court, which kept refusing to rule against segregation</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Newspapers in the North, which never reported anything about the South</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Answers: What each early campaign taught King</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Montgomery Bus Boycott, 1955 to 1956  →  C  Brought him national fame and showed that non-violent, peaceful tactics could work</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Atlanta sit-ins, 1960  →  B  Showed he could hold a divided group together when younger activists wanted quicker action</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Albany Movement, 1961  →  D  A campaign he had not created; it broke apart because it was divided, and the media blamed him</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Birmingham campaign, 1963  →  A  A campaign he planned and led himself, during which he was jailed and wrote his open letter</a:t>
            </a:r>
            <a:endParaRPr lang="en-US" sz="1800" dirty="0"/>
          </a:p>
        </p:txBody>
      </p:sp>
      <p:sp>
        <p:nvSpPr>
          <p:cNvPr id="10" name="why-panel"/>
          <p:cNvSpPr/>
          <p:nvPr/>
        </p:nvSpPr>
        <p:spPr>
          <a:xfrm>
            <a:off x="7955280" y="1389888"/>
            <a:ext cx="3687775" cy="4754880"/>
          </a:xfrm>
          <a:prstGeom prst="roundRect">
            <a:avLst>
              <a:gd name="adj" fmla="val 1240"/>
            </a:avLst>
          </a:prstGeom>
          <a:solidFill>
            <a:srgbClr val="F2EDE9"/>
          </a:solidFill>
          <a:ln/>
        </p:spPr>
      </p:sp>
      <p:sp>
        <p:nvSpPr>
          <p:cNvPr id="11" name="why-hex"/>
          <p:cNvSpPr/>
          <p:nvPr/>
        </p:nvSpPr>
        <p:spPr>
          <a:xfrm>
            <a:off x="8138160" y="1572768"/>
            <a:ext cx="685800" cy="593903"/>
          </a:xfrm>
          <a:prstGeom prst="hexagon">
            <a:avLst/>
          </a:prstGeom>
          <a:solidFill>
            <a:srgbClr val="7A4A1E"/>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Montgomery made him famous and proved the method; Atlanta tested whether he could hold a divided movement together; Albany showed what happens when he is blamed for a campaign he does not control; Birmingham was the first he planned and led himself, and it put him in the cell where he wrote his letter.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Why the March on Washington mattered</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72490"/>
          </a:xfrm>
          <a:prstGeom prst="roundRect">
            <a:avLst>
              <a:gd name="adj" fmla="val 13597"/>
            </a:avLst>
          </a:prstGeom>
          <a:solidFill>
            <a:srgbClr val="F4F1ED"/>
          </a:solidFill>
          <a:ln/>
        </p:spPr>
      </p:sp>
      <p:sp>
        <p:nvSpPr>
          <p:cNvPr id="9" name="tickbox"/>
          <p:cNvSpPr/>
          <p:nvPr/>
        </p:nvSpPr>
        <p:spPr>
          <a:xfrm>
            <a:off x="713232" y="2174189"/>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say clearly that the march was significant, and in what way.</a:t>
            </a:r>
            <a:endParaRPr lang="en-US" sz="2200" dirty="0"/>
          </a:p>
        </p:txBody>
      </p:sp>
      <p:sp>
        <p:nvSpPr>
          <p:cNvPr id="11" name="crit-box"/>
          <p:cNvSpPr/>
          <p:nvPr/>
        </p:nvSpPr>
        <p:spPr>
          <a:xfrm>
            <a:off x="548640" y="2748178"/>
            <a:ext cx="11094415" cy="1013358"/>
          </a:xfrm>
          <a:prstGeom prst="roundRect">
            <a:avLst>
              <a:gd name="adj" fmla="val 9023"/>
            </a:avLst>
          </a:prstGeom>
          <a:solidFill>
            <a:srgbClr val="F4F1ED"/>
          </a:solidFill>
          <a:ln/>
        </p:spPr>
      </p:sp>
      <p:sp>
        <p:nvSpPr>
          <p:cNvPr id="12" name="tickbox"/>
          <p:cNvSpPr/>
          <p:nvPr/>
        </p:nvSpPr>
        <p:spPr>
          <a:xfrm>
            <a:off x="713232" y="3108554"/>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748178"/>
            <a:ext cx="10317175" cy="10133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two facts from the chapter, such as the date, the number of marchers, or the place.</a:t>
            </a:r>
            <a:endParaRPr lang="en-US" sz="2200" dirty="0"/>
          </a:p>
        </p:txBody>
      </p:sp>
      <p:sp>
        <p:nvSpPr>
          <p:cNvPr id="14" name="crit-box"/>
          <p:cNvSpPr/>
          <p:nvPr/>
        </p:nvSpPr>
        <p:spPr>
          <a:xfrm>
            <a:off x="548640" y="3852977"/>
            <a:ext cx="11094415" cy="672490"/>
          </a:xfrm>
          <a:prstGeom prst="roundRect">
            <a:avLst>
              <a:gd name="adj" fmla="val 13597"/>
            </a:avLst>
          </a:prstGeom>
          <a:solidFill>
            <a:srgbClr val="F4F1ED"/>
          </a:solidFill>
          <a:ln/>
        </p:spPr>
      </p:sp>
      <p:sp>
        <p:nvSpPr>
          <p:cNvPr id="15" name="tickbox"/>
          <p:cNvSpPr/>
          <p:nvPr/>
        </p:nvSpPr>
        <p:spPr>
          <a:xfrm>
            <a:off x="713232" y="4042918"/>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852977"/>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why Washington in particular was the right target.</a:t>
            </a:r>
            <a:endParaRPr lang="en-US" sz="2200" dirty="0"/>
          </a:p>
        </p:txBody>
      </p:sp>
      <p:sp>
        <p:nvSpPr>
          <p:cNvPr id="17" name="crit-box"/>
          <p:cNvSpPr/>
          <p:nvPr/>
        </p:nvSpPr>
        <p:spPr>
          <a:xfrm>
            <a:off x="548640" y="4616907"/>
            <a:ext cx="11094415" cy="672490"/>
          </a:xfrm>
          <a:prstGeom prst="roundRect">
            <a:avLst>
              <a:gd name="adj" fmla="val 13597"/>
            </a:avLst>
          </a:prstGeom>
          <a:solidFill>
            <a:srgbClr val="F4F1ED"/>
          </a:solidFill>
          <a:ln/>
        </p:spPr>
      </p:sp>
      <p:sp>
        <p:nvSpPr>
          <p:cNvPr id="18" name="tickbox"/>
          <p:cNvSpPr/>
          <p:nvPr/>
        </p:nvSpPr>
        <p:spPr>
          <a:xfrm>
            <a:off x="713232" y="480684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616907"/>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link the march to what happened next in 1964.</a:t>
            </a:r>
            <a:endParaRPr lang="en-US" sz="2200" dirty="0"/>
          </a:p>
        </p:txBody>
      </p:sp>
      <p:sp>
        <p:nvSpPr>
          <p:cNvPr id="20" name="crit-box"/>
          <p:cNvSpPr/>
          <p:nvPr/>
        </p:nvSpPr>
        <p:spPr>
          <a:xfrm>
            <a:off x="548640" y="5380838"/>
            <a:ext cx="11094415" cy="672490"/>
          </a:xfrm>
          <a:prstGeom prst="roundRect">
            <a:avLst>
              <a:gd name="adj" fmla="val 13597"/>
            </a:avLst>
          </a:prstGeom>
          <a:solidFill>
            <a:srgbClr val="F4F1ED"/>
          </a:solidFill>
          <a:ln/>
        </p:spPr>
      </p:sp>
      <p:sp>
        <p:nvSpPr>
          <p:cNvPr id="21" name="tickbox"/>
          <p:cNvSpPr/>
          <p:nvPr/>
        </p:nvSpPr>
        <p:spPr>
          <a:xfrm>
            <a:off x="713232" y="5570779"/>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38083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the word because at least once.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Model answer: Why the March on Washington mattered</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March on Washington on 28 August 1963 was significant because it turned a set of local campaigns into national pressure. King led 250,000 people to the capital, which is where Congress sits and where the President lives, so the march was aimed directly at the only people who could change the law for every state at once. That choice of target mattered: King had already proved his case in Montgomery and Birmingham, but a win in one city could not reach Alabama and Arkansas and Kansas together. The march was also peaceful on a huge scale, which made it very hard to dismiss, and his speech there is credited with pushing Congress into action. In 1964 Congress passed the Civil Rights Act, which made discrimination including segregation illegal, and that is the clearest measure of what the march achieved.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his letter from the jail in Birmingham, King argued that the biggest obstacle to Black freedom was not the Ku Klux Klan. According to him, what was it?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White people who said they agreed with the goal but objected to protest and told Black Americans to wait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King's target in the letter is the person who accepts the goal and rejects every route to it. Such a person, he argued, prefers an orderly situation with no justice in it to a disorderly process that produces justice, and claims the right to decide when someone else's freedom should arrive.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Civil Rights · Chapter 4: Martin Luther King: the early campaigns and the March on Washington</dc:title>
  <dc:subject>History · Year 9</dc:subject>
  <dc:creator>Dr Vitor Merissi de Carvalho</dc:creator>
  <cp:lastModifiedBy>Dr Vitor Merissi de Carvalho</cp:lastModifiedBy>
  <cp:revision>1</cp:revision>
  <dcterms:created xsi:type="dcterms:W3CDTF">2026-10-19T06:07:52Z</dcterms:created>
  <dcterms:modified xsi:type="dcterms:W3CDTF">2026-10-19T06:07:52Z</dcterms:modified>
</cp:coreProperties>
</file>