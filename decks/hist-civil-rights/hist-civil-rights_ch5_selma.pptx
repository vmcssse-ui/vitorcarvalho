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a433010-8fd6-b6ce-fff3-9331201765d1}">
          <p14:sldIdLst>
            <p14:sldId id="256"/>
          </p14:sldIdLst>
        </p14:section>
        <p14:section name="Gate" id="{945c1ef5-ee71-231f-f110-6ee57b6585f0}">
          <p14:sldIdLst>
            <p14:sldId id="257"/>
            <p14:sldId id="258"/>
          </p14:sldIdLst>
        </p14:section>
        <p14:section name="Pre-teach" id="{79c069d3-727d-88a4-309e-712629b702c9}">
          <p14:sldIdLst>
            <p14:sldId id="259"/>
          </p14:sldIdLst>
        </p14:section>
        <p14:section name="Read-along" id="{aeeaf61a-6a5f-f563-f43e-f2e7e48bb0a1}">
          <p14:sldIdLst>
            <p14:sldId id="260"/>
            <p14:sldId id="261"/>
          </p14:sldIdLst>
        </p14:section>
        <p14:section name="Teach" id="{afdaf5d2-685c-3324-de79-69c9af4052e3}">
          <p14:sldIdLst>
            <p14:sldId id="262"/>
            <p14:sldId id="263"/>
            <p14:sldId id="264"/>
            <p14:sldId id="265"/>
            <p14:sldId id="266"/>
            <p14:sldId id="267"/>
          </p14:sldIdLst>
        </p14:section>
        <p14:section name="Routes" id="{231c29d7-b40b-4848-2b64-031c2214b408}">
          <p14:sldIdLst>
            <p14:sldId id="268"/>
            <p14:sldId id="269"/>
            <p14:sldId id="270"/>
            <p14:sldId id="271"/>
            <p14:sldId id="272"/>
          </p14:sldIdLst>
        </p14:section>
        <p14:section name="Close" id="{569d0c81-6c21-1ddf-24e5-3906698dcd8e}">
          <p14:sldIdLst>
            <p14:sldId id="273"/>
          </p14:sldIdLst>
        </p14:section>
        <p14:section name="Answers" id="{f55472e7-bc7d-1a34-9bcd-d118cfd37723}">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Selma and the fight for the vote. Why the Civil Rights Act of 1964 did not deliver the vote, how literacy tests were used to keep Black citizens off the register, and how the marches at Selma in 1965 produced the Voting Rights Act.
This deck covers the department's lesson: 4 (Selma: the fight for voting rights: Why did the movement still have to march at Selma after the Civil Rights Act of 1964?).
Read the big question aloud: "How did Black Americans win their civil rights, and which campaigns and leaders mattered most?"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Congress pass the Civil Rights Act, which made discrimination and segregation illegal?  →  1964
2. Before a citizen could vote, their name had to be on the state's official list: they had to ___.  →  register
3. What moved President Johnson to act after 7 March 1965?  →  B   Television and newspapers showed the whole country how the marchers had been treated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1964. The Civil Rights Act was passed in 1964, the year after the March on Washington and the year before the Voting Rights Act.
2. register. To register is to get your name on the list of voters. Southern officials used the poll tax and the literacy test to stop Black citizens registering.
3. B   Television and newspapers showed the whole country how the marchers had been treated. The attack on the bridge was filmed by national media and broadcast across the country. A week later Johnson put the Voting Rights Act to Congress.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register to vote: to get your name on the official list of voters. Example: "A citizen who cannot register to vote has no vote, whatever the law says."
• literacy test: a reading test set by an official before letting someone vote. Example: "The literacy test was marked so that Black applicants failed."
• Congress: the American parliament, which passes the country's laws. Example: "The President asked Congress to pass a voting rights law."
• protester: a person taking part in a public demonstration. Example: "The protesters at Selma were peaceful when the police met them."
• broadcast: sent out on television or radio to the whole country. Example: "The attack at Selma was filmed and broadcast across America."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Civil Rights Act of 1964 made discrimination illegal.
2. But Southern states still stopped Black citizens voting.
3. Before you can vote you must register with the state.
4. Officials set reading tests that no honest marker would use.
5. The Louisiana test had thirty questions, some of them impossible.
6. Without the vote you cannot change who makes the law.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In 1965 King organised a march at Selma, in Alabama.
8. On 7 March the police met the marchers on a bridge.
9. They fired tear gas, and most of the marchers were beaten.
10. But cameras were there, and the country watched it that evening.
11. A week later the President demanded a new voting law.
12. Congress passed the Voting Rights Act in 1965.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vote still had to be won after 1964. Say it in your own words, then check understanding with a quick question: ask a pupil from the pre-teach group first, since they met these words and ideas before the lesson. Pupils try to recall before you re-explain.
In 1964 Congress passed the Civil Rights Act. It gave Black Americans equal status with white Americans under the law, and made discrimination, such as segregation, illegal. On paper that was a huge victory, and the movement had earned it.
The fight was not over. Jim Crow rules in the Southern states still denied many Black citizens the right to vote. Southern states simply ignored the Civil Rights Act and carried on refusing to let Black citizens register. So the movement turned to the one right that protects all the others, and began its push to guarantee voting rights.
It is worth being clear about why the vote matters so much. Before you can vote, your name has to be on the state's official list of voters: you have to register. A citizen who cannot register has no say in who makes the law, which means no way to remove the politicians writing the Jim Crow rules. Every other right then depends on the goodwill of people the voter cannot vote out.
Tip: Learn the pair: the 1964 Act attacked discrimination; the 1965 Act attacked the barriers to the vote. Questions about this unit very often turn on telling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Louisiana literacy test. Say it in your own words, then check understanding with a quick question: ask a pupil from the pre-teach group first, since they met these words and ideas before the lesson. Pupils try to recall before you re-explain.
Your lesson puts a real example in front of you: a copy of a literacy test from the state of Louisiana. It had thirty questions, and your teacher asks you to try them. Some are answerable. Some are tangled wordplay with no clear answer at all, and some could be marked wrong whatever you wrote.
That is the design, not an accident. The questions did not need to be fair, because the official at the desk decided whether you had passed. As you saw in chapter two, officials ruled that white applicants had understood a passage and that Black applicants had not, even when they plainly had, and white applicants often never faced the test at all because of the loophole that let a man vote if his grandfather had voted.
A test like this is a useful source, because it is evidence of intent. Nobody writes an impossible test by mistake and then uses it on one group of citizens only. Set beside the poll tax, it shows a system built to produce a particular answer.
Worked example — model it step by step, thinking aloud: Use the Louisiana literacy test as evidence. What does it tell you about how Southern states blocked Black voters? (1) Say what the source is: a reading test of thirty questions, set by the state of Louisiana before a citizen was allowed to register. (2) Say what is in it: some questions were impossible to answer, and the official marking it decided who had passed. (3) Infer from that: an impossible test cannot be meant to measure anything, so it must be meant to exclude. (4) Say who it excluded and how you know: Black applicants, because officials marked them down while white applicants were passed or exempted by the grandfather rule. Answer: The test shows deliberate exclusion rather than a genuine standard: questions that cannot be answered, marked by an official with the power to decide, applied to Black applicants while white applicants were waved through..
Tip: When a source is a form, a test or a rule, ask what it would do if applied fairly, and then ask who was actually applying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Louisiana literacy test. Say it in your own words, then check understanding with a quick question: ask a pupil from the pre-teach group first, since they met these words and ideas before the lesson. Pupils try to recall before you re-explain.
Your lesson puts a real example in front of you: a copy of a literacy test from the state of Louisiana. It had thirty questions, and your teacher asks you to try them. Some are answerable. Some are tangled wordplay with no clear answer at all, and some could be marked wrong whatever you wrote.
That is the design, not an accident. The questions did not need to be fair, because the official at the desk decided whether you had passed. As you saw in chapter two, officials ruled that white applicants had understood a passage and that Black applicants had not, even when they plainly had, and white applicants often never faced the test at all because of the loophole that let a man vote if his grandfather had voted.
A test like this is a useful source, because it is evidence of intent. Nobody writes an impossible test by mistake and then uses it on one group of citizens only. Set beside the poll tax, it shows a system built to produce a particular answer.
Worked example — model it step by step, thinking aloud: Use the Louisiana literacy test as evidence. What does it tell you about how Southern states blocked Black voters? (1) Say what the source is: a reading test of thirty questions, set by the state of Louisiana before a citizen was allowed to register. (2) Say what is in it: some questions were impossible to answer, and the official marking it decided who had passed. (3) Infer from that: an impossible test cannot be meant to measure anything, so it must be meant to exclude. (4) Say who it excluded and how you know: Black applicants, because officials marked them down while white applicants were passed or exempted by the grandfather rule. Answer: The test shows deliberate exclusion rather than a genuine standard: questions that cannot be answered, marked by an official with the power to decide, applied to Black applicants while white applicants were waved through..
Tip: When a source is a form, a test or a rule, ask what it would do if applied fairly, and then ask who was actually applying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Louisiana literacy test. Say it in your own words, then check understanding with a quick question: ask a pupil from the pre-teach group first, since they met these words and ideas before the lesson. Pupils try to recall before you re-explain.
Your lesson puts a real example in front of you: a copy of a literacy test from the state of Louisiana. It had thirty questions, and your teacher asks you to try them. Some are answerable. Some are tangled wordplay with no clear answer at all, and some could be marked wrong whatever you wrote.
That is the design, not an accident. The questions did not need to be fair, because the official at the desk decided whether you had passed. As you saw in chapter two, officials ruled that white applicants had understood a passage and that Black applicants had not, even when they plainly had, and white applicants often never faced the test at all because of the loophole that let a man vote if his grandfather had voted.
A test like this is a useful source, because it is evidence of intent. Nobody writes an impossible test by mistake and then uses it on one group of citizens only. Set beside the poll tax, it shows a system built to produce a particular answer.
Worked example — model it step by step, thinking aloud: Use the Louisiana literacy test as evidence. What does it tell you about how Southern states blocked Black voters? (1) Say what the source is: a reading test of thirty questions, set by the state of Louisiana before a citizen was allowed to register. (2) Say what is in it: some questions were impossible to answer, and the official marking it decided who had passed. (3) Infer from that: an impossible test cannot be meant to measure anything, so it must be meant to exclude. (4) Say who it excluded and how you know: Black applicants, because officials marked them down while white applicants were passed or exempted by the grandfather rule. Answer: The test shows deliberate exclusion rather than a genuine standard: questions that cannot be answered, marked by an official with the power to decide, applied to Black applicants while white applicants were waved through..
Tip: When a source is a form, a test or a rule, ask what it would do if applied fairly, and then ask who was actually applying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Selma, 1965, and Bloody Sunday. Say it in your own words, then check understanding with a quick question: ask a pupil from the pre-teach group first, since they met these words and ideas before the lesson. Pupils try to recall before you re-explain.
In 1965 King organised a march at Selma, in the Southern state of Alabama. Despite the Civil Rights Act of 1964, Southern states were using Jim Crow rules to deprive Black citizens of the right to vote and refusing to let them register. King decided the movement had to act so that Black Americans were not deprived of rights they had already been promised.
The marches met a hostile reaction from the local police and the local government. On 7 March 1965, remembered as Bloody Sunday, peaceful protesters tried to cross a bridge out of Selma. The police fired tear gas at them and ordered them back, and the response was harsh: most of the marchers were beaten.
What the police did not plan for was the camera. The attack was filmed by national media and broadcast all over the country, so millions of Americans who had never seen segregation at work watched unarmed citizens being beaten for asking to vote. The violence shocked many people into action, and one of them was the President himself.
Tip: Bloody Sunday is the clearest case in this unit of the press changing an outcome. If a question asks why Selma worked, the answer includes the cameras.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Voting Rights Act, and what the President told Congress. Say it in your own words, then check understanding with a quick question: ask a pupil from the pre-teach group first, since they met these words and ideas before the lesson. Pupils try to recall before you re-explain.
A week after Bloody Sunday, President Johnson introduced the Voting Rights Act to Congress and gave a speech demanding that Congress pass the law. Congress passed the Voting Rights Act in 1965.
Johnson's speech of 15 March 1965 is in copyright, so it is not quoted here; his argument, in other words, was this. What had happened at Selma, he told Congress, was part of a much larger movement reaching into every part of the country. It was the effort of Black Americans to secure for themselves everything American life promised, and their cause had to be the whole nation's cause, because it was not only Black Americans but all Americans who had to get past a long history of prejudice and injustice that still held the country back. He finished by borrowing the movement's own anthem of determination.
Your lesson asks you to notice who he was speaking to and what he was doing. By presenting voting rights as everyone's problem rather than a Black problem, the President was making it harder for members of Congress to treat it as somebody else's business. That a president was making the movement's argument for it, in those words, is itself a measure of how much the march at Selma had achieved.
Tip: When a politician widens a cause from one group to everybody, ask what that does to the people listening. It is usually a move to make opposition awkward.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law or ruling did what?.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law or court ruling to what it actually did.
Support — work through the steps with the group: (1) Sort them by date first: 1896, 1954, 1964, 1965. (2) The two from the Supreme Court are the two with vs in the name. One allowed segregation; the later one struck it down for schools. (3) The two Acts came from Congress. One is about discrimination in general, one is about the vote. (4) Match each date to the one job it did, and do not let the two Acts blur together.
Parallel worked example for Support (model it, do not give the task answer): Match these two school rules to what each does: the uniform policy, and the attendance policy. Choices: sets out what counts as an authorised absence; sets out what may be worn. The uniform policy is about clothing, so it sets out what may be worn.; The attendance policy is about being present, so it sets out what counts as an authorised absence.. Answer: Uniform policy: sets out what may be worn. Attendance policy: sets out what counts as an authorised absence..
Core — reveal the hint only on request: Two court rulings and two Acts. Ask of each: schools, general discrimination, or the vote?
Stretch — no help; when finished: Explain why the Voting Rights Act was needed at all when the Civil Rights Act had already made discrimination illegal.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law or ruling did what?.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law or court ruling to what it actually did.
Support — work through the steps with the group: (1) Sort them by date first: 1896, 1954, 1964, 1965. (2) The two from the Supreme Court are the two with vs in the name. One allowed segregation; the later one struck it down for schools. (3) The two Acts came from Congress. One is about discrimination in general, one is about the vote. (4) Match each date to the one job it did, and do not let the two Acts blur together.
Parallel worked example for Support (model it, do not give the task answer): Match these two school rules to what each does: the uniform policy, and the attendance policy. Choices: sets out what counts as an authorised absence; sets out what may be worn. The uniform policy is about clothing, so it sets out what may be worn.; The attendance policy is about being present, so it sets out what counts as an authorised absence.. Answer: Uniform policy: sets out what may be worn. Attendance policy: sets out what counts as an authorised absence..
Core — reveal the hint only on request: Two court rulings and two Acts. Ask of each: schools, general discrimination, or the vote?
Stretch — no help; when finished: Explain why the Voting Rights Act was needed at all when the Civil Rights Act had already made discrimination illegal.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1964 or 1965: which mattered more?.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law was more significant for Black Americans: the Civil Rights Act of 1964, or the Voting Rights Act of 1965? Write one paragraph of five to seven sentences, and reach a judgement.
Support — work through the steps with the group: (1) Decide first which law you will argue for. Either answer can be argued well. (2) Sentence 1: I judge the [Civil Rights Act of 1964 / Voting Rights Act of 1965] more significant because... (3) Sentences 2 and 3: say what each law did. Be exact: 1964 is about discrimination, 1965 is about the vote. (4) Sentence 4: give your evidence. Selma happened because the 1964 Act was being ignored; the 1964 Act closed segregated restaurants and waiting rooms nationwide. (5) Sentence 5: start with However and give the best argument for the other law. Then return to your judgement.
Parallel worked example for Support (model it, do not give the task answer): Which was more significant for Black children, the Brown ruling of 1954 or the integration of Little Rock in 1957? Write a three-sentence judgement. Choose: the 1954 ruling, because it changed the law for every state at once.; Evidence: Little Rock changed one school, and only because the ruling existed to be enforced.; Counter and return: however, Little Rock showed the ruling meant nothing without enforcement, so 1954 mattered most but was not enough by itself.. Answer: The 1954 ruling, because it changed the law nationally, although Little Rock showed that a ruling without enforcement changed nothing..
Core — reveal the hint only on request: Be exact about what each law did before you judge. Then argue one side, concede the best point on the other, and come back.
Stretch — no help; when finished: Argue the opposite case to the one you have just made, as strongly as you can, and then say which of your two answers you find more convincing.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1964 or 1965: which mattered more?.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law was more significant for Black Americans: the Civil Rights Act of 1964, or the Voting Rights Act of 1965? Write one paragraph of five to seven sentences, and reach a judgement.
Support — work through the steps with the group: (1) Decide first which law you will argue for. Either answer can be argued well. (2) Sentence 1: I judge the [Civil Rights Act of 1964 / Voting Rights Act of 1965] more significant because... (3) Sentences 2 and 3: say what each law did. Be exact: 1964 is about discrimination, 1965 is about the vote. (4) Sentence 4: give your evidence. Selma happened because the 1964 Act was being ignored; the 1964 Act closed segregated restaurants and waiting rooms nationwide. (5) Sentence 5: start with However and give the best argument for the other law. Then return to your judgement.
Parallel worked example for Support (model it, do not give the task answer): Which was more significant for Black children, the Brown ruling of 1954 or the integration of Little Rock in 1957? Write a three-sentence judgement. Choose: the 1954 ruling, because it changed the law for every state at once.; Evidence: Little Rock changed one school, and only because the ruling existed to be enforced.; Counter and return: however, Little Rock showed the ruling meant nothing without enforcement, so 1954 mattered most but was not enough by itself.. Answer: The 1954 ruling, because it changed the law nationally, although Little Rock showed that a ruling without enforcement changed nothing..
Core — reveal the hint only on request: Be exact about what each law did before you judge. Then argue one side, concede the best point on the other, and come back.
Stretch — no help; when finished: Argue the opposite case to the one you have just made, as strongly as you can, and then say which of your two answers you find more convincing.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1964 or 1965: which mattered more?.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law was more significant for Black Americans: the Civil Rights Act of 1964, or the Voting Rights Act of 1965? Write one paragraph of five to seven sentences, and reach a judgement.
Support — work through the steps with the group: (1) Decide first which law you will argue for. Either answer can be argued well. (2) Sentence 1: I judge the [Civil Rights Act of 1964 / Voting Rights Act of 1965] more significant because... (3) Sentences 2 and 3: say what each law did. Be exact: 1964 is about discrimination, 1965 is about the vote. (4) Sentence 4: give your evidence. Selma happened because the 1964 Act was being ignored; the 1964 Act closed segregated restaurants and waiting rooms nationwide. (5) Sentence 5: start with However and give the best argument for the other law. Then return to your judgement.
Parallel worked example for Support (model it, do not give the task answer): Which was more significant for Black children, the Brown ruling of 1954 or the integration of Little Rock in 1957? Write a three-sentence judgement. Choose: the 1954 ruling, because it changed the law for every state at once.; Evidence: Little Rock changed one school, and only because the ruling existed to be enforced.; Counter and return: however, Little Rock showed the ruling meant nothing without enforcement, so 1954 mattered most but was not enough by itself.. Answer: The 1954 ruling, because it changed the law nationally, although Little Rock showed that a ruling without enforcement changed nothing..
Core — reveal the hint only on request: Be exact about what each law did before you judge. Then argue one side, concede the best point on the other, and come back.
Stretch — no help; when finished: Argue the opposite case to the one you have just made, as strongly as you can, and then say which of your two answers you find more convincing.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1965, Black citizens in Alabama were still being turned away when they tried to register to vote, even though the Civil Rights Act had passed the year before. Why could this still happen?
Answer: B   Southern states ignored the Act and used Jim Crow rules such as the literacy test to block registration. A right exists in practice only when something happens to whoever denies it. In 1964 nothing did, so Southern states went on using literacy tests and poll taxes at the registration desk, and it took Selma and the 1965 Act to change that.
Source of this question: module 3 task ("Why the law was not enough")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law or ruling did what?. Reveal the answer; pupils mark their own work in a different colour, then read the "why" together. Same destination for every lane, so one answer serves the whole class.
Answer: Plessy vs Ferguson, 1896  →  B  Ruled that segregation was legal as long as both races got the same facilities; Brown vs Board of Education, 1954  →  D  Ruled that separate but equal schooling was illegal; Civil Rights Act, 1964  →  A  Gave Black Americans equal status under the law and made discrimination illegal; Voting Rights Act, 1965  →  C  Attacked the barriers that kept Black citizens from registering and voting
Why: 1896 made segregation lawful; 1954 struck it down in schools; 1964 made discrimination and segregation illegal across American life; 1965 went after the devices that kept Black citizens off the voters' register. Each one closes a door the one before had left open.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1964 or 1965: which mattered more?. Reveal the answer; pupils mark their own work in a different colour, then read the "why" together. Same destination for every lane, so one answer serves the whole class.
Answer: I state which law I judge more significant.; I say accurately what each of the two laws did.; I give at least one piece of evidence from the chapter to support my choice.; I give the strongest argument for the other law, using however or although.; I return to my judgement at the end and say why I still hold it.
Why: Both answers can be argued. The case for 1964 is immediate reach: segregation became unlawful everywhere at once. The case for 1965 is durability: without the vote, the 1964 Act depended on officials who were already ignoring it, which is exactly what Selma proved.
Model answer: I judge the Voting Rights Act of 1965 the more significant of the two, because it protected the right that protects every other right. The Civil Rights Act of 1964 gave Black Americans equal status under the law and made discrimination, including segregation, illegal, which was an enormous change on paper. The trouble is that Southern states simply ignored it: they went on using Jim Crow rules such as the literacy test to keep Black citizens off the register, which is precisely why King had to march at Selma the following year. A citizen who cannot register cannot vote out the officials who are refusing to register them, so without 1965 the 1964 Act depended on the goodwill of the very people breaking it. However, the 1964 Act was the more significant in daily life at once, because it made the segregated restaurant, waiting room and school unlawful everywhere in the country on the day it passed. I still judge 1965 more significant, because rights that cannot be defended at the ballot box can be taken back, as the fifty-eight years of separate but equal had already shown.
Success criteria: I state which law I judge more significant.; I say accurately what each of the two laws did.; I give at least one piece of evidence from the chapter to support my choice.; I give the strongest argument for the other law, using however or although.; I return to my judgement at the end and say why I still hold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1964 or 1965: which mattered more?. Reveal the answer; pupils mark their own work in a different colour, then read the "why" together. Same destination for every lane, so one answer serves the whole class.
Answer: I state which law I judge more significant.; I say accurately what each of the two laws did.; I give at least one piece of evidence from the chapter to support my choice.; I give the strongest argument for the other law, using however or although.; I return to my judgement at the end and say why I still hold it.
Why: Both answers can be argued. The case for 1964 is immediate reach: segregation became unlawful everywhere at once. The case for 1965 is durability: without the vote, the 1964 Act depended on officials who were already ignoring it, which is exactly what Selma proved.
Model answer: I judge the Voting Rights Act of 1965 the more significant of the two, because it protected the right that protects every other right. The Civil Rights Act of 1964 gave Black Americans equal status under the law and made discrimination, including segregation, illegal, which was an enormous change on paper. The trouble is that Southern states simply ignored it: they went on using Jim Crow rules such as the literacy test to keep Black citizens off the register, which is precisely why King had to march at Selma the following year. A citizen who cannot register cannot vote out the officials who are refusing to register them, so without 1965 the 1964 Act depended on the goodwill of the very people breaking it. However, the 1964 Act was the more significant in daily life at once, because it made the segregated restaurant, waiting room and school unlawful everywhere in the country on the day it passed. I still judge 1965 more significant, because rights that cannot be defended at the ballot box can be taken back, as the fifty-eight years of separate but equal had already shown.
Success criteria: I state which law I judge more significant.; I say accurately what each of the two laws did.; I give at least one piece of evidence from the chapter to support my choice.; I give the strongest argument for the other law, using however or although.; I return to my judgement at the end and say why I still hold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Southern states ignored the Act and used Jim Crow rules such as the literacy test to block registration
Why: A right exists in practice only when something happens to whoever denies it. In 1964 nothing did, so Southern states went on using literacy tests and poll taxes at the registration desk, and it took Selma and the 1965 Act to change that.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US Civil Rights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Selma and the fight for the vote</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Selma: the fight for voting rights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did Black Americans win their civil rights, and which campaigns and leaders mattered most?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which year did Congress pass the Civil Rights Act, which made discrimination and segregation illegal?</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a:t>
            </a:r>
            <a:endParaRPr lang="en-US" sz="2200" dirty="0"/>
          </a:p>
        </p:txBody>
      </p:sp>
      <p:sp>
        <p:nvSpPr>
          <p:cNvPr id="12"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Before a citizen could vote, their name had to be on the state's official list: they had to ___.</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register  ·  campaign  ·  boycott</a:t>
            </a:r>
            <a:endParaRPr lang="en-US" sz="2000" dirty="0"/>
          </a:p>
        </p:txBody>
      </p:sp>
      <p:sp>
        <p:nvSpPr>
          <p:cNvPr id="17"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moved President Johnson to act after 7 March 1965?</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Supreme Court ordered him to introduce a voting rights law</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Television and newspapers showed the whole country how the marchers had been treated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marchers at Selma had used force against the police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Southern state governors asked him to change the voting rules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1964</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Civil Rights Act was passed in 1964, the year after the March on Washington and the year before the Voting Rights Act.</a:t>
            </a:r>
            <a:endParaRPr lang="en-US" sz="1800" dirty="0"/>
          </a:p>
        </p:txBody>
      </p:sp>
      <p:sp>
        <p:nvSpPr>
          <p:cNvPr id="14"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register</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To register is to get your name on the list of voters. Southern officials used the poll tax and the literacy test to stop Black citizens registering.</a:t>
            </a:r>
            <a:endParaRPr lang="en-US" sz="1800" dirty="0"/>
          </a:p>
        </p:txBody>
      </p:sp>
      <p:sp>
        <p:nvSpPr>
          <p:cNvPr id="21"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Television and newspapers showed the whole country how the marchers had been treated</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moved President Johnson to act after 7 March 1965?</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attack on the bridge was filmed by national media and broadcast across the country. A week later Johnson put the Voting Rights Act to Congress.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4F1ED"/>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register to vote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get your name on the official list of voters</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citizen who cannot register to vote has no vote, whatever the law says.</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literacy test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reading test set by an official before letting someone vote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literacy test was marked so that Black applicants failed.</a:t>
            </a:r>
            <a:endParaRPr lang="en-US" sz="1800" dirty="0"/>
          </a:p>
        </p:txBody>
      </p:sp>
      <p:sp>
        <p:nvSpPr>
          <p:cNvPr id="21" name="kw-row"/>
          <p:cNvSpPr/>
          <p:nvPr/>
        </p:nvSpPr>
        <p:spPr>
          <a:xfrm>
            <a:off x="548640" y="3639312"/>
            <a:ext cx="11094415" cy="786384"/>
          </a:xfrm>
          <a:prstGeom prst="roundRect">
            <a:avLst>
              <a:gd name="adj" fmla="val 6977"/>
            </a:avLst>
          </a:prstGeom>
          <a:solidFill>
            <a:srgbClr val="F4F1ED"/>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Congress</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American parliament, which passes the country's laws</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President asked Congress to pass a voting rights law.</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protester</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person taking part in a public demonstration</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protesters at Selma were peaceful when the police met them.</a:t>
            </a:r>
            <a:endParaRPr lang="en-US" sz="1800" dirty="0"/>
          </a:p>
        </p:txBody>
      </p:sp>
      <p:sp>
        <p:nvSpPr>
          <p:cNvPr id="31" name="kw-row"/>
          <p:cNvSpPr/>
          <p:nvPr/>
        </p:nvSpPr>
        <p:spPr>
          <a:xfrm>
            <a:off x="548640" y="5358384"/>
            <a:ext cx="11094415" cy="786384"/>
          </a:xfrm>
          <a:prstGeom prst="roundRect">
            <a:avLst>
              <a:gd name="adj" fmla="val 6977"/>
            </a:avLst>
          </a:prstGeom>
          <a:solidFill>
            <a:srgbClr val="F4F1ED"/>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broadcast</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sent out on television or radio to the whole country</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attack at Selma was filmed and broadcast across America.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Civil Rights Act of 1964 made discrimination illegal.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Southern states still stopped Black citizens voting.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Before you can vote you must register with the state.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Officials set reading tests that no honest marker would use.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Louisiana test had thirty questions, some of them impossible.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Without the vote you cannot change who makes the law.</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1965 King organised a march at Selma, in Alabama.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 7 March the police met the marchers on a bridge.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fired tear gas, and most of the marchers were beaten.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cameras were there, and the country watched it that evening.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week later the President demanded a new voting law.</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Congress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passed the Voting Rights Act in 1965.</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the vote still had to be won after 1964</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pair: the 1964 Act attacked discrimination; the 1965 Act attacked the barriers to the vote. Questions about this unit very often turn on telling them apart.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1964 Congress passed the Civil Rights Act. It gave Black Americans equal status with white Americans under the law, and made discrimination, such as segregation, illegal.</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fight was not over. Jim Crow rules in the Southern states still denied many Black citizens the right to vote.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It is worth being clear about why the vote matters so much.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Louisiana literacy test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source is a form, a test or a rule, ask what it would do if applied fairly, and then ask who was actually applying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puts a real example in front of you: a copy of a literacy test from the state of Louisiana.</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is the design, not an accident. The questions did not need to be fair, because the official at the desk decided whether you had passed.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test like this is a useful source, because it is evidence of intent.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(1 of 2): The Louisiana literacy test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Use the Louisiana literacy test as evidence. What does it tell you about how Southern states blocked Black voters?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the source is: a reading test of thirty questions, set by the state of Louisiana before a citizen was allowed to register.</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is in it: some questions were impossible to answer, and the official marking it decided who had passed.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(2 of 2): The Louisiana literacy test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Use the Louisiana literacy test as evidence. What does it tell you about how Southern states blocked Black voters?</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Infer from that: an impossible test cannot be meant to measure anything, so it must be meant to exclude.</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who it excluded and how you know: Black applicants, because officials marked them down while white applicants were passed or exempted by the grandfather rule.</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test shows deliberate exclusion rather than a genuine standard: questions that cannot be answered, marked by an official with the power to decide, applied to Black applicants while white applicants were waved through.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Selma, 1965, and Bloody Sunday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Bloody Sunday is the clearest case in this unit of the press changing an outcome. If a question asks why Selma worked, the answer includes the cameras.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1965 King organised a march at Selma, in the Southern state of Alabama.</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marches met a hostile reaction from the local police and the local government.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What the police did not plan for was the camera.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The Voting Rights Act, and what the President told Congress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politician widens a cause from one group to everybody, ask what that does to the people listening. It is usually a move to make opposition awkward.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week after Bloody Sunday, President Johnson introduced the Voting Rights Act to Congress and gave a speech demanding that Congress pass the law.</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Johnson's speech of 15 March 1965 is in copyright, so it is not quoted here; his argument, in other words, was this.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asks you to notice who he was speaking to and what he was doing.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law or ruling did what?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law or court ruling to what it actually did.</a:t>
            </a:r>
            <a:endParaRPr lang="en-US" sz="2400" dirty="0"/>
          </a:p>
        </p:txBody>
      </p:sp>
      <p:sp>
        <p:nvSpPr>
          <p:cNvPr id="11" name="match-card"/>
          <p:cNvSpPr/>
          <p:nvPr/>
        </p:nvSpPr>
        <p:spPr>
          <a:xfrm>
            <a:off x="777240" y="2468331"/>
            <a:ext cx="3290075" cy="877199"/>
          </a:xfrm>
          <a:prstGeom prst="roundRect">
            <a:avLst>
              <a:gd name="adj" fmla="val 8339"/>
            </a:avLst>
          </a:prstGeom>
          <a:solidFill>
            <a:srgbClr val="F4F1ED"/>
          </a:solidFill>
          <a:ln/>
        </p:spPr>
      </p:sp>
      <p:sp>
        <p:nvSpPr>
          <p:cNvPr id="12" name="match-hex"/>
          <p:cNvSpPr/>
          <p:nvPr/>
        </p:nvSpPr>
        <p:spPr>
          <a:xfrm>
            <a:off x="850392" y="2740638"/>
            <a:ext cx="384048" cy="332586"/>
          </a:xfrm>
          <a:prstGeom prst="hexagon">
            <a:avLst/>
          </a:prstGeom>
          <a:solidFill>
            <a:srgbClr val="7A4A1E"/>
          </a:solidFill>
          <a:ln/>
        </p:spPr>
      </p:sp>
      <p:sp>
        <p:nvSpPr>
          <p:cNvPr id="13" name="match-hex-label"/>
          <p:cNvSpPr txBox="1"/>
          <p:nvPr/>
        </p:nvSpPr>
        <p:spPr>
          <a:xfrm>
            <a:off x="850392"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69571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Plessy vs Ferguson, 1896</a:t>
            </a:r>
            <a:endParaRPr lang="en-US" sz="2000" dirty="0"/>
          </a:p>
        </p:txBody>
      </p:sp>
      <p:sp>
        <p:nvSpPr>
          <p:cNvPr id="15" name="match-card"/>
          <p:cNvSpPr/>
          <p:nvPr/>
        </p:nvSpPr>
        <p:spPr>
          <a:xfrm>
            <a:off x="4433075" y="2468331"/>
            <a:ext cx="6981380" cy="877199"/>
          </a:xfrm>
          <a:prstGeom prst="roundRect">
            <a:avLst>
              <a:gd name="adj" fmla="val 8339"/>
            </a:avLst>
          </a:prstGeom>
          <a:solidFill>
            <a:srgbClr val="F6F0E6"/>
          </a:solidFill>
          <a:ln/>
        </p:spPr>
      </p:sp>
      <p:sp>
        <p:nvSpPr>
          <p:cNvPr id="16" name="match-hex"/>
          <p:cNvSpPr/>
          <p:nvPr/>
        </p:nvSpPr>
        <p:spPr>
          <a:xfrm>
            <a:off x="4506227" y="2740638"/>
            <a:ext cx="384048" cy="332586"/>
          </a:xfrm>
          <a:prstGeom prst="hexagon">
            <a:avLst/>
          </a:prstGeom>
          <a:solidFill>
            <a:srgbClr val="B8862B"/>
          </a:solidFill>
          <a:ln/>
        </p:spPr>
      </p:sp>
      <p:sp>
        <p:nvSpPr>
          <p:cNvPr id="17" name="match-hex-label"/>
          <p:cNvSpPr txBox="1"/>
          <p:nvPr/>
        </p:nvSpPr>
        <p:spPr>
          <a:xfrm>
            <a:off x="4506227"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954283" y="2468331"/>
            <a:ext cx="638702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Gave Black Americans equal status under the law and made discrimination illegal</a:t>
            </a:r>
            <a:endParaRPr lang="en-US" sz="2000" dirty="0"/>
          </a:p>
        </p:txBody>
      </p:sp>
      <p:sp>
        <p:nvSpPr>
          <p:cNvPr id="19" name="match-card"/>
          <p:cNvSpPr/>
          <p:nvPr/>
        </p:nvSpPr>
        <p:spPr>
          <a:xfrm>
            <a:off x="777240" y="3436971"/>
            <a:ext cx="3290075" cy="877199"/>
          </a:xfrm>
          <a:prstGeom prst="roundRect">
            <a:avLst>
              <a:gd name="adj" fmla="val 8339"/>
            </a:avLst>
          </a:prstGeom>
          <a:solidFill>
            <a:srgbClr val="F4F1ED"/>
          </a:solidFill>
          <a:ln/>
        </p:spPr>
      </p:sp>
      <p:sp>
        <p:nvSpPr>
          <p:cNvPr id="20" name="match-hex"/>
          <p:cNvSpPr/>
          <p:nvPr/>
        </p:nvSpPr>
        <p:spPr>
          <a:xfrm>
            <a:off x="850392" y="3709277"/>
            <a:ext cx="384048" cy="332586"/>
          </a:xfrm>
          <a:prstGeom prst="hexagon">
            <a:avLst/>
          </a:prstGeom>
          <a:solidFill>
            <a:srgbClr val="7A4A1E"/>
          </a:solidFill>
          <a:ln/>
        </p:spPr>
      </p:sp>
      <p:sp>
        <p:nvSpPr>
          <p:cNvPr id="21" name="match-hex-label"/>
          <p:cNvSpPr txBox="1"/>
          <p:nvPr/>
        </p:nvSpPr>
        <p:spPr>
          <a:xfrm>
            <a:off x="850392" y="37092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36971"/>
            <a:ext cx="269571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Brown vs Board of Education, 1954</a:t>
            </a:r>
            <a:endParaRPr lang="en-US" sz="2000" dirty="0"/>
          </a:p>
        </p:txBody>
      </p:sp>
      <p:sp>
        <p:nvSpPr>
          <p:cNvPr id="23" name="match-card"/>
          <p:cNvSpPr/>
          <p:nvPr/>
        </p:nvSpPr>
        <p:spPr>
          <a:xfrm>
            <a:off x="4433075" y="3436971"/>
            <a:ext cx="6981380" cy="877199"/>
          </a:xfrm>
          <a:prstGeom prst="roundRect">
            <a:avLst>
              <a:gd name="adj" fmla="val 8339"/>
            </a:avLst>
          </a:prstGeom>
          <a:solidFill>
            <a:srgbClr val="F6F0E6"/>
          </a:solidFill>
          <a:ln/>
        </p:spPr>
      </p:sp>
      <p:sp>
        <p:nvSpPr>
          <p:cNvPr id="24" name="match-hex"/>
          <p:cNvSpPr/>
          <p:nvPr/>
        </p:nvSpPr>
        <p:spPr>
          <a:xfrm>
            <a:off x="4506227" y="3709277"/>
            <a:ext cx="384048" cy="332586"/>
          </a:xfrm>
          <a:prstGeom prst="hexagon">
            <a:avLst/>
          </a:prstGeom>
          <a:solidFill>
            <a:srgbClr val="B8862B"/>
          </a:solidFill>
          <a:ln/>
        </p:spPr>
      </p:sp>
      <p:sp>
        <p:nvSpPr>
          <p:cNvPr id="25" name="match-hex-label"/>
          <p:cNvSpPr txBox="1"/>
          <p:nvPr/>
        </p:nvSpPr>
        <p:spPr>
          <a:xfrm>
            <a:off x="4506227" y="370927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954283" y="3436971"/>
            <a:ext cx="638702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Ruled that segregation was legal as long as both races got the same facilities</a:t>
            </a:r>
            <a:endParaRPr lang="en-US" sz="2000" dirty="0"/>
          </a:p>
        </p:txBody>
      </p:sp>
      <p:sp>
        <p:nvSpPr>
          <p:cNvPr id="27" name="match-card"/>
          <p:cNvSpPr/>
          <p:nvPr/>
        </p:nvSpPr>
        <p:spPr>
          <a:xfrm>
            <a:off x="777240" y="4405610"/>
            <a:ext cx="3290075" cy="877199"/>
          </a:xfrm>
          <a:prstGeom prst="roundRect">
            <a:avLst>
              <a:gd name="adj" fmla="val 8339"/>
            </a:avLst>
          </a:prstGeom>
          <a:solidFill>
            <a:srgbClr val="F4F1ED"/>
          </a:solidFill>
          <a:ln/>
        </p:spPr>
      </p:sp>
      <p:sp>
        <p:nvSpPr>
          <p:cNvPr id="28" name="match-hex"/>
          <p:cNvSpPr/>
          <p:nvPr/>
        </p:nvSpPr>
        <p:spPr>
          <a:xfrm>
            <a:off x="850392" y="4677916"/>
            <a:ext cx="384048" cy="332586"/>
          </a:xfrm>
          <a:prstGeom prst="hexagon">
            <a:avLst/>
          </a:prstGeom>
          <a:solidFill>
            <a:srgbClr val="7A4A1E"/>
          </a:solidFill>
          <a:ln/>
        </p:spPr>
      </p:sp>
      <p:sp>
        <p:nvSpPr>
          <p:cNvPr id="29" name="match-hex-label"/>
          <p:cNvSpPr txBox="1"/>
          <p:nvPr/>
        </p:nvSpPr>
        <p:spPr>
          <a:xfrm>
            <a:off x="850392" y="46779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05610"/>
            <a:ext cx="269571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Civil Rights Act, 1964</a:t>
            </a:r>
            <a:endParaRPr lang="en-US" sz="2000" dirty="0"/>
          </a:p>
        </p:txBody>
      </p:sp>
      <p:sp>
        <p:nvSpPr>
          <p:cNvPr id="31" name="match-card"/>
          <p:cNvSpPr/>
          <p:nvPr/>
        </p:nvSpPr>
        <p:spPr>
          <a:xfrm>
            <a:off x="4433075" y="4405610"/>
            <a:ext cx="6981380" cy="877199"/>
          </a:xfrm>
          <a:prstGeom prst="roundRect">
            <a:avLst>
              <a:gd name="adj" fmla="val 8339"/>
            </a:avLst>
          </a:prstGeom>
          <a:solidFill>
            <a:srgbClr val="F6F0E6"/>
          </a:solidFill>
          <a:ln/>
        </p:spPr>
      </p:sp>
      <p:sp>
        <p:nvSpPr>
          <p:cNvPr id="32" name="match-hex"/>
          <p:cNvSpPr/>
          <p:nvPr/>
        </p:nvSpPr>
        <p:spPr>
          <a:xfrm>
            <a:off x="4506227" y="4677916"/>
            <a:ext cx="384048" cy="332586"/>
          </a:xfrm>
          <a:prstGeom prst="hexagon">
            <a:avLst/>
          </a:prstGeom>
          <a:solidFill>
            <a:srgbClr val="B8862B"/>
          </a:solidFill>
          <a:ln/>
        </p:spPr>
      </p:sp>
      <p:sp>
        <p:nvSpPr>
          <p:cNvPr id="33" name="match-hex-label"/>
          <p:cNvSpPr txBox="1"/>
          <p:nvPr/>
        </p:nvSpPr>
        <p:spPr>
          <a:xfrm>
            <a:off x="4506227" y="46779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954283" y="4405610"/>
            <a:ext cx="638702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Attacked the barriers that kept Black citizens from registering and voting</a:t>
            </a:r>
            <a:endParaRPr lang="en-US" sz="2000" dirty="0"/>
          </a:p>
        </p:txBody>
      </p:sp>
      <p:sp>
        <p:nvSpPr>
          <p:cNvPr id="35" name="match-card"/>
          <p:cNvSpPr/>
          <p:nvPr/>
        </p:nvSpPr>
        <p:spPr>
          <a:xfrm>
            <a:off x="777240" y="5374249"/>
            <a:ext cx="3290075" cy="587639"/>
          </a:xfrm>
          <a:prstGeom prst="roundRect">
            <a:avLst>
              <a:gd name="adj" fmla="val 12448"/>
            </a:avLst>
          </a:prstGeom>
          <a:solidFill>
            <a:srgbClr val="F4F1ED"/>
          </a:solidFill>
          <a:ln/>
        </p:spPr>
      </p:sp>
      <p:sp>
        <p:nvSpPr>
          <p:cNvPr id="36" name="match-hex"/>
          <p:cNvSpPr/>
          <p:nvPr/>
        </p:nvSpPr>
        <p:spPr>
          <a:xfrm>
            <a:off x="850392" y="5501776"/>
            <a:ext cx="384048" cy="332586"/>
          </a:xfrm>
          <a:prstGeom prst="hexagon">
            <a:avLst/>
          </a:prstGeom>
          <a:solidFill>
            <a:srgbClr val="7A4A1E"/>
          </a:solidFill>
          <a:ln/>
        </p:spPr>
      </p:sp>
      <p:sp>
        <p:nvSpPr>
          <p:cNvPr id="37" name="match-hex-label"/>
          <p:cNvSpPr txBox="1"/>
          <p:nvPr/>
        </p:nvSpPr>
        <p:spPr>
          <a:xfrm>
            <a:off x="850392" y="550177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74249"/>
            <a:ext cx="2695715"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Voting Rights Act, 1965</a:t>
            </a:r>
            <a:endParaRPr lang="en-US" sz="2000" dirty="0"/>
          </a:p>
        </p:txBody>
      </p:sp>
      <p:sp>
        <p:nvSpPr>
          <p:cNvPr id="39" name="match-card"/>
          <p:cNvSpPr/>
          <p:nvPr/>
        </p:nvSpPr>
        <p:spPr>
          <a:xfrm>
            <a:off x="4433075" y="5374249"/>
            <a:ext cx="6981380" cy="587639"/>
          </a:xfrm>
          <a:prstGeom prst="roundRect">
            <a:avLst>
              <a:gd name="adj" fmla="val 12448"/>
            </a:avLst>
          </a:prstGeom>
          <a:solidFill>
            <a:srgbClr val="F6F0E6"/>
          </a:solidFill>
          <a:ln/>
        </p:spPr>
      </p:sp>
      <p:sp>
        <p:nvSpPr>
          <p:cNvPr id="40" name="match-hex"/>
          <p:cNvSpPr/>
          <p:nvPr/>
        </p:nvSpPr>
        <p:spPr>
          <a:xfrm>
            <a:off x="4506227" y="5501776"/>
            <a:ext cx="384048" cy="332586"/>
          </a:xfrm>
          <a:prstGeom prst="hexagon">
            <a:avLst/>
          </a:prstGeom>
          <a:solidFill>
            <a:srgbClr val="B8862B"/>
          </a:solidFill>
          <a:ln/>
        </p:spPr>
      </p:sp>
      <p:sp>
        <p:nvSpPr>
          <p:cNvPr id="41" name="match-hex-label"/>
          <p:cNvSpPr txBox="1"/>
          <p:nvPr/>
        </p:nvSpPr>
        <p:spPr>
          <a:xfrm>
            <a:off x="4506227" y="550177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954283" y="5374249"/>
            <a:ext cx="6387020"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Ruled that separate but equal schooling was illegal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Which law or ruling did what?</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Which law or ruling did what?</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them by date first: 1896, 1954, 1964, 1965.</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two from the Supreme Court are the two with vs in the name. One allowed segregation; the later one struck it down for schools.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two Acts came from Congress. One is about discrimination in general, one is about the vote.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each date to the one job it did, and do not let the two Acts blur together.</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court rulings and two Acts. Ask of each: schools, general discrimination, or the vote?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Voting Rights Act was needed at all when the Civil Rights Act had already made discrimination illegal.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1964 or 1965: which mattered more?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law was more significant for Black Americans: the Civil Rights Act of 1964, or the Voting Rights Act of 1965? Write one paragraph of five to seven sentences, and reach a judgement.</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1964 or 1965: which mattered more?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law was more significant for Black Americans: the Civil Rights Act of 1964, or the Voting Rights Act of 1965? Write one paragraph of five to seven sentences, and reach a judgement.</a:t>
            </a:r>
            <a:endParaRPr lang="en-US" sz="2000" dirty="0"/>
          </a:p>
        </p:txBody>
      </p:sp>
      <p:sp>
        <p:nvSpPr>
          <p:cNvPr id="12" name="col-Support"/>
          <p:cNvSpPr/>
          <p:nvPr/>
        </p:nvSpPr>
        <p:spPr>
          <a:xfrm>
            <a:off x="548640" y="2903728"/>
            <a:ext cx="11094415" cy="3241040"/>
          </a:xfrm>
          <a:prstGeom prst="roundRect">
            <a:avLst>
              <a:gd name="adj" fmla="val 1693"/>
            </a:avLst>
          </a:prstGeom>
          <a:solidFill>
            <a:srgbClr val="F2EDE9"/>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10820095"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first which law you will argue for. Either answer can be argued well.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I judge the [Civil Rights Act of 1964 / Voting Rights Act of 1965] more significant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say what each law did. Be exact: 1964 is about discrimination, 1965 is about the vote.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give your evidence. Selma happened because the 1964 Act was being ignored; the 1964 Act closed segregated restaurants and waiting rooms nationwide.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5: start with However and give the best argument for the other law. Then return to your judgement.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1964 or 1965: which mattered more?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law was more significant for Black Americans: the Civil Rights Act of 1964, or the Voting Rights Act of 1965? Write one paragraph of five to seven sentences, and reach a judgement.</a:t>
            </a:r>
            <a:endParaRPr lang="en-US" sz="2000" dirty="0"/>
          </a:p>
        </p:txBody>
      </p:sp>
      <p:sp>
        <p:nvSpPr>
          <p:cNvPr id="12" name="col-Core"/>
          <p:cNvSpPr/>
          <p:nvPr/>
        </p:nvSpPr>
        <p:spPr>
          <a:xfrm>
            <a:off x="548640" y="2903728"/>
            <a:ext cx="5410048" cy="3241040"/>
          </a:xfrm>
          <a:prstGeom prst="roundRect">
            <a:avLst>
              <a:gd name="adj" fmla="val 1693"/>
            </a:avLst>
          </a:prstGeom>
          <a:solidFill>
            <a:srgbClr val="E2D7CE"/>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Be exact about what each law did before you judge. Then argue one side, concede the best point on the other, and come back.</a:t>
            </a:r>
            <a:endParaRPr lang="en-US" sz="2200" dirty="0"/>
          </a:p>
        </p:txBody>
      </p:sp>
      <p:sp>
        <p:nvSpPr>
          <p:cNvPr id="17" name="col-Stretch"/>
          <p:cNvSpPr/>
          <p:nvPr/>
        </p:nvSpPr>
        <p:spPr>
          <a:xfrm>
            <a:off x="6233008" y="2903728"/>
            <a:ext cx="5410048" cy="3241040"/>
          </a:xfrm>
          <a:prstGeom prst="roundRect">
            <a:avLst>
              <a:gd name="adj" fmla="val 1693"/>
            </a:avLst>
          </a:prstGeom>
          <a:solidFill>
            <a:srgbClr val="7A4A1E"/>
          </a:solidFill>
          <a:ln/>
        </p:spPr>
      </p:sp>
      <p:sp>
        <p:nvSpPr>
          <p:cNvPr id="18" name="col-hex"/>
          <p:cNvSpPr/>
          <p:nvPr/>
        </p:nvSpPr>
        <p:spPr>
          <a:xfrm>
            <a:off x="634273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Argue the opposite case to the one you have just made, as strongly as you can, and then say which of your two answers you find more convincing.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8000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In 1965, Black citizens in Alabama were still being turned away when they tried to register to vote, even though the Civil Rights Act had passed the year before. Why could this still happen?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Civil Rights Act had not yet been signed by Congress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Southern states ignored the Act and used Jim Crow rules such as the literacy test to block registration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Black citizens in Alabama had chosen not to register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Act applied only to the Northern states</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law or ruling did what?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Plessy vs Ferguson, 1896  →  B  Ruled that segregation was legal as long as both races got the same facilities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Brown vs Board of Education, 1954  →  D  Ruled that separate but equal schooling was illegal</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Civil Rights Act, 1964  →  A  Gave Black Americans equal status under the law and made discrimination illegal</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Voting Rights Act, 1965  →  C  Attacked the barriers that kept Black citizens from registering and voting</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1896 made segregation lawful; 1954 struck it down in schools; 1964 made discrimination and segregation illegal across American life; 1965 went after the devices that kept Black citizens off the voters' register. Each one closes a door the one before had left open.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1964 or 1965: which mattered more?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0664"/>
          </a:xfrm>
          <a:prstGeom prst="roundRect">
            <a:avLst>
              <a:gd name="adj" fmla="val 12346"/>
            </a:avLst>
          </a:prstGeom>
          <a:solidFill>
            <a:srgbClr val="F4F1ED"/>
          </a:solidFill>
          <a:ln/>
        </p:spPr>
      </p:sp>
      <p:sp>
        <p:nvSpPr>
          <p:cNvPr id="9" name="tickbox"/>
          <p:cNvSpPr/>
          <p:nvPr/>
        </p:nvSpPr>
        <p:spPr>
          <a:xfrm>
            <a:off x="713232" y="2208276"/>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state which law I judge more significant.</a:t>
            </a:r>
            <a:endParaRPr lang="en-US" sz="2200" dirty="0"/>
          </a:p>
        </p:txBody>
      </p:sp>
      <p:sp>
        <p:nvSpPr>
          <p:cNvPr id="11" name="crit-box"/>
          <p:cNvSpPr/>
          <p:nvPr/>
        </p:nvSpPr>
        <p:spPr>
          <a:xfrm>
            <a:off x="548640" y="2816352"/>
            <a:ext cx="11094415" cy="740664"/>
          </a:xfrm>
          <a:prstGeom prst="roundRect">
            <a:avLst>
              <a:gd name="adj" fmla="val 12346"/>
            </a:avLst>
          </a:prstGeom>
          <a:solidFill>
            <a:srgbClr val="F4F1ED"/>
          </a:solidFill>
          <a:ln/>
        </p:spPr>
      </p:sp>
      <p:sp>
        <p:nvSpPr>
          <p:cNvPr id="12" name="tickbox"/>
          <p:cNvSpPr/>
          <p:nvPr/>
        </p:nvSpPr>
        <p:spPr>
          <a:xfrm>
            <a:off x="713232" y="3040380"/>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16352"/>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say accurately what each of the two laws did.</a:t>
            </a:r>
            <a:endParaRPr lang="en-US" sz="2200" dirty="0"/>
          </a:p>
        </p:txBody>
      </p:sp>
      <p:sp>
        <p:nvSpPr>
          <p:cNvPr id="14" name="crit-box"/>
          <p:cNvSpPr/>
          <p:nvPr/>
        </p:nvSpPr>
        <p:spPr>
          <a:xfrm>
            <a:off x="548640" y="3648456"/>
            <a:ext cx="11094415" cy="740664"/>
          </a:xfrm>
          <a:prstGeom prst="roundRect">
            <a:avLst>
              <a:gd name="adj" fmla="val 12346"/>
            </a:avLst>
          </a:prstGeom>
          <a:solidFill>
            <a:srgbClr val="F4F1ED"/>
          </a:solidFill>
          <a:ln/>
        </p:spPr>
      </p:sp>
      <p:sp>
        <p:nvSpPr>
          <p:cNvPr id="15" name="tickbox"/>
          <p:cNvSpPr/>
          <p:nvPr/>
        </p:nvSpPr>
        <p:spPr>
          <a:xfrm>
            <a:off x="713232" y="3872484"/>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648456"/>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at least one piece of evidence from the chapter to support my choice.</a:t>
            </a:r>
            <a:endParaRPr lang="en-US" sz="2200" dirty="0"/>
          </a:p>
        </p:txBody>
      </p:sp>
      <p:sp>
        <p:nvSpPr>
          <p:cNvPr id="17" name="crit-box"/>
          <p:cNvSpPr/>
          <p:nvPr/>
        </p:nvSpPr>
        <p:spPr>
          <a:xfrm>
            <a:off x="548640" y="4480560"/>
            <a:ext cx="11094415" cy="740664"/>
          </a:xfrm>
          <a:prstGeom prst="roundRect">
            <a:avLst>
              <a:gd name="adj" fmla="val 12346"/>
            </a:avLst>
          </a:prstGeom>
          <a:solidFill>
            <a:srgbClr val="F4F1ED"/>
          </a:solidFill>
          <a:ln/>
        </p:spPr>
      </p:sp>
      <p:sp>
        <p:nvSpPr>
          <p:cNvPr id="18" name="tickbox"/>
          <p:cNvSpPr/>
          <p:nvPr/>
        </p:nvSpPr>
        <p:spPr>
          <a:xfrm>
            <a:off x="713232" y="470458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480560"/>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the strongest argument for the other law, using however or although.</a:t>
            </a:r>
            <a:endParaRPr lang="en-US" sz="2200" dirty="0"/>
          </a:p>
        </p:txBody>
      </p:sp>
      <p:sp>
        <p:nvSpPr>
          <p:cNvPr id="20" name="crit-box"/>
          <p:cNvSpPr/>
          <p:nvPr/>
        </p:nvSpPr>
        <p:spPr>
          <a:xfrm>
            <a:off x="548640" y="5312664"/>
            <a:ext cx="11094415" cy="740664"/>
          </a:xfrm>
          <a:prstGeom prst="roundRect">
            <a:avLst>
              <a:gd name="adj" fmla="val 12346"/>
            </a:avLst>
          </a:prstGeom>
          <a:solidFill>
            <a:srgbClr val="F4F1ED"/>
          </a:solidFill>
          <a:ln/>
        </p:spPr>
      </p:sp>
      <p:sp>
        <p:nvSpPr>
          <p:cNvPr id="21" name="tickbox"/>
          <p:cNvSpPr/>
          <p:nvPr/>
        </p:nvSpPr>
        <p:spPr>
          <a:xfrm>
            <a:off x="713232" y="5536692"/>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312664"/>
            <a:ext cx="10317175" cy="7406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return to my judgement at the end and say why I still hold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Model answer: 1964 or 1965: which mattered more?</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 judge the Voting Rights Act of 1965 the more significant of the two, because it protected the right that protects every other right. The Civil Rights Act of 1964 gave Black Americans equal status under the law and made discrimination, including segregation, illegal, which was an enormous change on paper. The trouble is that Southern states simply ignored it: they went on using Jim Crow rules such as the literacy test to keep Black citizens off the register, which is precisely why King had to march at Selma the following year. A citizen who cannot register cannot vote out the officials who are refusing to register them, so without 1965 the 1964 Act depended on the goodwill of the very people breaking it. However, the 1964 Act was the more significant in daily life at once, because it made the segregated restaurant, waiting room and school unlawful everywhere in the country on the day it passed. I still judge 1965 more significant, because rights that cannot be defended at the ballot box can be taken back, as the fifty-eight years of separate but equal had already shown.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1965, Black citizens in Alabama were still being turned away when they tried to register to vote, even though the Civil Rights Act had passed the year before. Why could this still happen?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Southern states ignored the Act and used Jim Crow rules such as the literacy test to block registration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right exists in practice only when something happens to whoever denies it. In 1964 nothing did, so Southern states went on using literacy tests and poll taxes at the registration desk, and it took Selma and the 1965 Act to change that.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Civil Rights · Chapter 5: Selma and the fight for the vote</dc:title>
  <dc:subject>History · Year 9</dc:subject>
  <dc:creator>Dr Vitor Merissi de Carvalho</dc:creator>
  <cp:lastModifiedBy>Dr Vitor Merissi de Carvalho</cp:lastModifiedBy>
  <cp:revision>1</cp:revision>
  <dcterms:created xsi:type="dcterms:W3CDTF">2026-10-19T06:07:52Z</dcterms:created>
  <dcterms:modified xsi:type="dcterms:W3CDTF">2026-10-19T06:07:52Z</dcterms:modified>
</cp:coreProperties>
</file>