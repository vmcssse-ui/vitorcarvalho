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cc0b731-a1b2-f667-74f5-4f8e9b443343}">
          <p14:sldIdLst>
            <p14:sldId id="256"/>
          </p14:sldIdLst>
        </p14:section>
        <p14:section name="Gate" id="{94aab764-ea48-f8bc-df8e-afafc8d89e35}">
          <p14:sldIdLst>
            <p14:sldId id="257"/>
            <p14:sldId id="258"/>
          </p14:sldIdLst>
        </p14:section>
        <p14:section name="Pre-teach" id="{1e692105-eb8f-6297-a80b-f07059a1df8e}">
          <p14:sldIdLst>
            <p14:sldId id="259"/>
            <p14:sldId id="260"/>
          </p14:sldIdLst>
        </p14:section>
        <p14:section name="Read-along" id="{c5126d3c-91bf-5acd-c7b7-14102363fcc9}">
          <p14:sldIdLst>
            <p14:sldId id="261"/>
            <p14:sldId id="262"/>
          </p14:sldIdLst>
        </p14:section>
        <p14:section name="Teach" id="{db919704-b747-1bae-89ab-2394f5eec1f0}">
          <p14:sldIdLst>
            <p14:sldId id="263"/>
            <p14:sldId id="264"/>
            <p14:sldId id="265"/>
            <p14:sldId id="266"/>
            <p14:sldId id="267"/>
          </p14:sldIdLst>
        </p14:section>
        <p14:section name="Routes" id="{71689e5f-8713-611c-fe69-5a8d3144b282}">
          <p14:sldIdLst>
            <p14:sldId id="268"/>
            <p14:sldId id="269"/>
            <p14:sldId id="270"/>
            <p14:sldId id="271"/>
            <p14:sldId id="272"/>
          </p14:sldIdLst>
        </p14:section>
        <p14:section name="Close" id="{95e15e21-acc6-0df1-2ac5-1cb949a9633e}">
          <p14:sldIdLst>
            <p14:sldId id="273"/>
          </p14:sldIdLst>
        </p14:section>
        <p14:section name="Answers" id="{60318aa2-d6e3-1b74-c603-42079229ef1d}">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After slavery: the Civil War, emancipation, and the freedom that did not arrive. Why the United States went to war over slavery, how slavery was ended in law, and why being free in law did not make Black Americans free in life.
This deck covers the department's lesson: 1 (Segregation in America: How did the end of slavery change the lives of African Americans, and what were the Jim Crow laws?).
Read the big question aloud: "How did Black Americans win their civil rights, and which campaigns and leaders mattered most?"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emancipation mean?  →  B   Being set free
2. In 1861, eleven Southern states left the United States and formed the ___.  →  Confederacy
3. Which amendment to the American Constitution abolished slavery in the United States?  →  D   The Thirteenth Amendment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Being set free. Emancipation means being set free. In the United States it meant the legal end of slavery, nothing more and nothing less.
2. Confederacy. The eleven states that left formed a new country, the Confederacy. The states that stayed were the Union.
3. D   The Thirteenth Amendment. The Thirteenth Amendment abolished slavery in the United States, and the returning Confederate states had to accept it.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emancipation: being set free. Example: "Emancipation meant that nobody in the United States could be owned any more."
• Union: the states that stayed together as the United States. Example: "The Union fought to bring the whole country back together."
• Confederacy: the new country made by the Southern states that left. Example: "Eleven Southern states left the United States and formed the Confederacy."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amendment: a change added to a country's constitution. Example: "The Thirteenth Amendment made slavery illegal in the United States."
• lynching: a mob killing a person with no trial, usually by hanging. Example: "Lynching was used to frighten whole communities, and the killers were rarely punished."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Slavery ended across the British Empire in 1833.
2. In the United States it did not end.
3. The Southern states said their farms and their money depended on it.
4. The Northern states said slavery was cruel and wrong.
5. In 1861 the country went to war with itself.
6. Eleven Southern states left and formed the Confederacy.
7. The states that stayed were called the Union.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Union won, and slavery was abolished in law.
9. That legal freedom is called emancipation.
10. But freedom in law was not yet freedom in life.
11. White Southerners built new laws to keep Black people apart.
12. Mobs killed Black people without any trial at all.
13. So this unit asks how Black Americans fought back, and won.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United States went to war over slavery. Say it in your own words, then check understanding with a quick question: ask a pupil from the pre-teach group first, since they met these words and ideas before the lesson. Pupils try to recall before you re-explain.
You studied the Transatlantic Slave Trade in Year 8. You know that Britain abolished slavery across its Empire in 1833, and began using its navy to stop slave ships at sea. The United States did not follow. Slavery carried on there for another thirty years.
The country split over it. The states in the South refused to end slavery, and argued that their whole economies depended on the tobacco and cotton trade. The states in the North argued that the South had to abolish it, because it was inhumane and against the will of God. Neither side would move.
In 1860 Abraham Lincoln was elected President. He had campaigned to stop slavery spreading into new states, and the South read that as the first step towards abolishing it everywhere. In 1861 the United States Civil War began. A civil war is a war fought between people of the same country. Eleven Southern states left the United States and formed a new country, the Confederacy; the states that stayed were called the Union, because they were fighting to put the country back together.
Worked example — model it step by step, thinking aloud: Explain one reason why the American Civil War began. (1) Make the point in one sentence: one reason the Civil War began was that the North and the South could not agree about slavery. (2) Give the evidence from your lesson: the South said its economy depended on the tobacco and cotton trade, while the North said slavery was inhumane and against the will of God. (3) Explain the link: when Lincoln was elected in 1860 on a promise to stop slavery spreading, the South believed abolition was coming, so eleven states left. (4) Finish by saying what this shows: this shows the war began because a disagreement about slavery had become a disagreement about whether the country could stay together. Answer: Point, evidence, explain: the two halves of the country could not agree about slavery; the South defended it as the base of its economy and the North attacked it as wrong; Lincoln's election in 1860 convinced the South that abolition was next, so eleven states left in 1861..
Tip: When a question asks why a war began, give one reason and follow it through to the fighting. A list of reasons with no links scores less than one reason explained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United States went to war over slavery. Say it in your own words, then check understanding with a quick question: ask a pupil from the pre-teach group first, since they met these words and ideas before the lesson. Pupils try to recall before you re-explain.
You studied the Transatlantic Slave Trade in Year 8. You know that Britain abolished slavery across its Empire in 1833, and began using its navy to stop slave ships at sea. The United States did not follow. Slavery carried on there for another thirty years.
The country split over it. The states in the South refused to end slavery, and argued that their whole economies depended on the tobacco and cotton trade. The states in the North argued that the South had to abolish it, because it was inhumane and against the will of God. Neither side would move.
In 1860 Abraham Lincoln was elected President. He had campaigned to stop slavery spreading into new states, and the South read that as the first step towards abolishing it everywhere. In 1861 the United States Civil War began. A civil war is a war fought between people of the same country. Eleven Southern states left the United States and formed a new country, the Confederacy; the states that stayed were called the Union, because they were fighting to put the country back together.
Worked example — model it step by step, thinking aloud: Explain one reason why the American Civil War began. (1) Make the point in one sentence: one reason the Civil War began was that the North and the South could not agree about slavery. (2) Give the evidence from your lesson: the South said its economy depended on the tobacco and cotton trade, while the North said slavery was inhumane and against the will of God. (3) Explain the link: when Lincoln was elected in 1860 on a promise to stop slavery spreading, the South believed abolition was coming, so eleven states left. (4) Finish by saying what this shows: this shows the war began because a disagreement about slavery had become a disagreement about whether the country could stay together. Answer: Point, evidence, explain: the two halves of the country could not agree about slavery; the South defended it as the base of its economy and the North attacked it as wrong; Lincoln's election in 1860 convinced the South that abolition was next, so eleven states left in 1861..
Tip: When a question asks why a war began, give one reason and follow it through to the fighting. A list of reasons with no links scores less than one reason explained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United States went to war over slavery. Say it in your own words, then check understanding with a quick question: ask a pupil from the pre-teach group first, since they met these words and ideas before the lesson. Pupils try to recall before you re-explain.
You studied the Transatlantic Slave Trade in Year 8. You know that Britain abolished slavery across its Empire in 1833, and began using its navy to stop slave ships at sea. The United States did not follow. Slavery carried on there for another thirty years.
The country split over it. The states in the South refused to end slavery, and argued that their whole economies depended on the tobacco and cotton trade. The states in the North argued that the South had to abolish it, because it was inhumane and against the will of God. Neither side would move.
In 1860 Abraham Lincoln was elected President. He had campaigned to stop slavery spreading into new states, and the South read that as the first step towards abolishing it everywhere. In 1861 the United States Civil War began. A civil war is a war fought between people of the same country. Eleven Southern states left the United States and formed a new country, the Confederacy; the states that stayed were called the Union, because they were fighting to put the country back together.
Worked example — model it step by step, thinking aloud: Explain one reason why the American Civil War began. (1) Make the point in one sentence: one reason the Civil War began was that the North and the South could not agree about slavery. (2) Give the evidence from your lesson: the South said its economy depended on the tobacco and cotton trade, while the North said slavery was inhumane and against the will of God. (3) Explain the link: when Lincoln was elected in 1860 on a promise to stop slavery spreading, the South believed abolition was coming, so eleven states left. (4) Finish by saying what this shows: this shows the war began because a disagreement about slavery had become a disagreement about whether the country could stay together. Answer: Point, evidence, explain: the two halves of the country could not agree about slavery; the South defended it as the base of its economy and the North attacked it as wrong; Lincoln's election in 1860 convinced the South that abolition was next, so eleven states left in 1861..
Tip: When a question asks why a war began, give one reason and follow it through to the fighting. A list of reasons with no links scores less than one reason explained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Emancipation: the words, and what they did not reach. Say it in your own words, then check understanding with a quick question: ask a pupil from the pre-teach group first, since they met these words and ideas before the lesson. Pupils try to recall before you re-explain.
The Union won. Soon after the last battle at Appomattox, President Lincoln was shot and killed by the actor John Wilkes Booth. Peace came slowly, and by 1868 the Confederate states had returned to the Union. Returning meant accepting the Thirteenth Amendment to the American Constitution, which abolished slavery in the United States, and the Emancipation Proclamation, which had declared enslaved people in the rebelling states free.
Your lesson prints the Proclamation's own words. It declared “that all persons held as slaves” in the rebelling states “are, and henceforward shall be free”. President Lincoln issued it in 1863, in the middle of the war, so at first it changed little on the ground: the Confederacy did not accept his authority. The words only became real where Union soldiers arrived.
That is the pattern to hold on to. A law can be passed and still not be obeyed. You will meet it again in this unit in 1954, when the Supreme Court outlawed segregated schools, and in 1964, when Congress outlawed discrimination.
Quotation: "that all persons held as slaves … are, and henceforward shall be free" (President Lincoln's Emancipation Proclamation (1863), as printed in your lesson). Read it aloud; ask what it shows.
Tip: The Proclamation uses the word slaves because that is how an 1863 document spoke. When you write in your own words, write enslaved people: it says that this was done to them, not that it was what they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Free in law, not free in life. Say it in your own words, then check understanding with a quick question: ask a pupil from the pre-teach group first, since they met these words and ideas before the lesson. Pupils try to recall before you re-explain.
Although slavery had been abolished, many white Americans did not treat African Americans equally. The abolition of slavery did not mean that Black people were completely free. They were free to leave a plantation, but not free to vote, to use the same school, or to expect the police and the courts to protect them.
The sharpest proof of that was lynching: a mob killing a person with no trial, usually by hanging. On a hot August night in 1930, a crowd of 15,000 people came into the small town of Marion in Indiana to watch three Black teenagers be killed by a mob for a crime they were only supposed to have committed. The mob pushed into the police station and dragged them out, and the authorities did not stop it. Your lesson asks you to notice where a newspaper chose to print that story, and what that tells you.
Your lesson also studies the killing of Emmett Till, a Black teenager murdered in the South in the 1950s, and asks what his story shows about how white Americans saw African Americans. The question to carry into the next chapter is the one your teacher puts on the board: had emancipation worked?
Tip: Hold two ideas at once in this topic: in law, slavery was over; in daily life, Black Americans were still unfree and still unprotected. Good answers say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Lincoln's election to emancipation.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four events in the order your lesson gave them.
Support — work through the steps with the group: (1) Find the event that is a cause, not a consequence. An election can happen with no war at all, so that is first. (2) Next comes the South's reaction to that election: what did eleven states do? (3) Then the fighting ends. Ask which side won, and what happened to the President. (4) The last step is the one that could only happen once the war was over: the states coming back.
Parallel worked example for Support (model it, do not give the task answer): Put these steps of a school fire drill in order: everyone lines up on the field; the alarm sounds; a teacher counts the class; pupils leave the building by the nearest exit. Nothing happens until the alarm sounds, so that is first.; Then pupils leave by the nearest exit.; Then they line up on the field.; Only once they are lined up can a teacher count them.. Answer: the alarm sounds; pupils leave the building by the nearest exit; everyone lines up on the field; a teacher counts the class.
Core — reveal the hint only on request: Start with the event that caused the others. Finish with the one that could only happen after the fighting had stopped.
Stretch — no help; when finished: Explain why the Thirteenth Amendment mattered more, in the long run, than the Emancipation Proclamation of 1863.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Lincoln's election to emancipation.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four events in the order your lesson gave them.
Support — work through the steps with the group: (1) Find the event that is a cause, not a consequence. An election can happen with no war at all, so that is first. (2) Next comes the South's reaction to that election: what did eleven states do? (3) Then the fighting ends. Ask which side won, and what happened to the President. (4) The last step is the one that could only happen once the war was over: the states coming back.
Parallel worked example for Support (model it, do not give the task answer): Put these steps of a school fire drill in order: everyone lines up on the field; the alarm sounds; a teacher counts the class; pupils leave the building by the nearest exit. Nothing happens until the alarm sounds, so that is first.; Then pupils leave by the nearest exit.; Then they line up on the field.; Only once they are lined up can a teacher count them.. Answer: the alarm sounds; pupils leave the building by the nearest exit; everyone lines up on the field; a teacher counts the class.
Core — reveal the hint only on request: Start with the event that caused the others. Finish with the one that could only happen after the fighting had stopped.
Stretch — no help; when finished: Explain why the Thirteenth Amendment mattered more, in the long run, than the Emancipation Proclamation of 1863.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Free in law, not in life.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one reason why the end of slavery did not make Black Americans free. Write one paragraph of four to six sentences.
Support — work through the steps with the group: (1) Choose ONE reason from the chapter: no protection from the police or the courts; mob violence; no vote; separate and worse schools. (2) Sentence 1: One reason the end of slavery did not make Black Americans free was... (3) Sentences 2 and 3: say what this meant from day to day. Who was it done by, and what happened to them afterwards? (4) Sentence 4: use because to link the reason to its effect. (5) Last sentence: answer the question, naming the difference between freedom in law and freedom in life.
Parallel worked example for Support (model it, do not give the task answer): Explain one reason why the Emancipation Proclamation changed little in 1863, in a paragraph of three sentences. Name the reason: the Confederacy did not accept Lincoln's authority.; Explain the effect: a Confederate plantation owner simply ignored a proclamation issued by a president he was at war with.; Link it: so the words only became real where Union soldiers arrived to enforce them.. Answer: The Proclamation changed little at first because the Confederacy refused to recognise Lincoln's authority, so it was only enforced where Union soldiers reached..
Core — reveal the hint only on request: Pick one reason and follow it all the way to its effect on an ordinary person's day. Use because once.
Stretch — no help; when finished: Argue which mattered more for Black Americans in the years after 1868: the loss of the vote, or the loss of protection from violence. Give one reason for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Free in law, not in life.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one reason why the end of slavery did not make Black Americans free. Write one paragraph of four to six sentences.
Support — work through the steps with the group: (1) Choose ONE reason from the chapter: no protection from the police or the courts; mob violence; no vote; separate and worse schools. (2) Sentence 1: One reason the end of slavery did not make Black Americans free was... (3) Sentences 2 and 3: say what this meant from day to day. Who was it done by, and what happened to them afterwards? (4) Sentence 4: use because to link the reason to its effect. (5) Last sentence: answer the question, naming the difference between freedom in law and freedom in life.
Parallel worked example for Support (model it, do not give the task answer): Explain one reason why the Emancipation Proclamation changed little in 1863, in a paragraph of three sentences. Name the reason: the Confederacy did not accept Lincoln's authority.; Explain the effect: a Confederate plantation owner simply ignored a proclamation issued by a president he was at war with.; Link it: so the words only became real where Union soldiers arrived to enforce them.. Answer: The Proclamation changed little at first because the Confederacy refused to recognise Lincoln's authority, so it was only enforced where Union soldiers reached..
Core — reveal the hint only on request: Pick one reason and follow it all the way to its effect on an ordinary person's day. Use because once.
Stretch — no help; when finished: Argue which mattered more for Black Americans in the years after 1868: the loss of the vote, or the loss of protection from violence. Give one reason for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Free in law, not in life.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one reason why the end of slavery did not make Black Americans free. Write one paragraph of four to six sentences.
Support — work through the steps with the group: (1) Choose ONE reason from the chapter: no protection from the police or the courts; mob violence; no vote; separate and worse schools. (2) Sentence 1: One reason the end of slavery did not make Black Americans free was... (3) Sentences 2 and 3: say what this meant from day to day. Who was it done by, and what happened to them afterwards? (4) Sentence 4: use because to link the reason to its effect. (5) Last sentence: answer the question, naming the difference between freedom in law and freedom in life.
Parallel worked example for Support (model it, do not give the task answer): Explain one reason why the Emancipation Proclamation changed little in 1863, in a paragraph of three sentences. Name the reason: the Confederacy did not accept Lincoln's authority.; Explain the effect: a Confederate plantation owner simply ignored a proclamation issued by a president he was at war with.; Link it: so the words only became real where Union soldiers arrived to enforce them.. Answer: The Proclamation changed little at first because the Confederacy refused to recognise Lincoln's authority, so it was only enforced where Union soldiers reached..
Core — reveal the hint only on request: Pick one reason and follow it all the way to its effect on an ordinary person's day. Use because once.
Stretch — no help; when finished: Argue which mattered more for Black Americans in the years after 1868: the loss of the vote, or the loss of protection from violence. Give one reason for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According to your lesson, why did the Southern states refuse to abolish slavery?
Answer: D   They argued that their whole economies depended on the tobacco and cotton trade. The South defended slavery as the base of its economy: tobacco and cotton were its wealth. The North attacked it as inhumane and against the will of God. The two arguments never met, which is why Lincoln's election tipped the dispute into war.
Source of this question: module 3 task ("Why the South would not abolish slavery")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Lincoln's election to emancipation. Reveal the answer; pupils mark their own work in a different colour, then read the "why" together. Same destination for every lane, so one answer serves the whole class.
Answer: Abraham Lincoln is elected President of the United States (1860)  (C); Eleven Southern states leave the United States and form the Confederacy (1861)  (D); The Union wins the war, and Lincoln is shot and killed soon after the last battle (1865)  (A); The last Confederate states return to the Union and accept the Thirteenth Amendment (1868)  (B)
Why: Lincoln's election in 1860 convinced the South that abolition was coming; eleven states left in 1861 and formed the Confederacy; the Union won by 1865 and Lincoln was killed days later; by 1868 the Confederate states had returned, and accepting the Thirteenth Amendment was the price of returning.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Free in law, not in life. Reveal the answer; pupils mark their own work in a different colour, then read the "why" together. Same destination for every lane, so one answer serves the whole class.
Answer: I name one clear reason, using an example from the chapter.; I explain what it meant for Black Americans in their daily lives.; I use the word because at least once to link the reason to its effect.; I use at least one key word correctly, such as emancipation, lynching or segregation.; I finish by answering the question: how free were Black Americans in law, and how free in life?
Why: A strong answer names one reason, shows what it did to ordinary lives, and ends on the gap between the law and daily experience. The best answers notice that emancipation removed an owner's claim without putting any protection in its place.
Model answer: One reason the end of slavery did not make Black Americans free was that the law stopped protecting them. Emancipation took away an owner's legal claim on a person, but it did not give Black Americans a jury that would convict their attackers or a police force that would come when they called. That is why lynching, a mob killing with no trial, carried on for decades: the killers expected no punishment, and in Marion in 1930 a crowd of 15,000 watched and the authorities did not stop them. So in law a Black American in 1930 was free, while in daily life they could be killed in public and nobody would answer for it. Freedom that the state will not defend is not yet freedom.
Success criteria: I name one clear reason, using an example from the chapter.; I explain what it meant for Black Americans in their daily lives.; I use the word because at least once to link the reason to its effect.; I use at least one key word correctly, such as emancipation, lynching or segregation.; I finish by answering the question: how free were Black Americans in law, and how free in life?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Free in law, not in life. Reveal the answer; pupils mark their own work in a different colour, then read the "why" together. Same destination for every lane, so one answer serves the whole class.
Answer: I name one clear reason, using an example from the chapter.; I explain what it meant for Black Americans in their daily lives.; I use the word because at least once to link the reason to its effect.; I use at least one key word correctly, such as emancipation, lynching or segregation.; I finish by answering the question: how free were Black Americans in law, and how free in life?
Why: A strong answer names one reason, shows what it did to ordinary lives, and ends on the gap between the law and daily experience. The best answers notice that emancipation removed an owner's claim without putting any protection in its place.
Model answer: One reason the end of slavery did not make Black Americans free was that the law stopped protecting them. Emancipation took away an owner's legal claim on a person, but it did not give Black Americans a jury that would convict their attackers or a police force that would come when they called. That is why lynching, a mob killing with no trial, carried on for decades: the killers expected no punishment, and in Marion in 1930 a crowd of 15,000 watched and the authorities did not stop them. So in law a Black American in 1930 was free, while in daily life they could be killed in public and nobody would answer for it. Freedom that the state will not defend is not yet freedom.
Success criteria: I name one clear reason, using an example from the chapter.; I explain what it meant for Black Americans in their daily lives.; I use the word because at least once to link the reason to its effect.; I use at least one key word correctly, such as emancipation, lynching or segregation.; I finish by answering the question: how free were Black Americans in law, and how free in life?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They argued that their whole economies depended on the tobacco and cotton trade
Why: The South defended slavery as the base of its economy: tobacco and cotton were its wealth. The North attacked it as inhumane and against the will of God. The two arguments never met, which is why Lincoln's election tipped the dispute into war.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US Civil Rights · AQA KS3 → 8145</a:t>
            </a:r>
            <a:endParaRPr lang="en-US" sz="1800" dirty="0"/>
          </a:p>
        </p:txBody>
      </p:sp>
      <p:sp>
        <p:nvSpPr>
          <p:cNvPr id="10" name="deck-title"/>
          <p:cNvSpPr txBox="1"/>
          <p:nvPr/>
        </p:nvSpPr>
        <p:spPr>
          <a:xfrm>
            <a:off x="548640" y="236016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After slavery: the Civil War, emancipation, and the freedom that did not arrive</a:t>
            </a:r>
            <a:endParaRPr lang="en-US" sz="2800" dirty="0"/>
          </a:p>
        </p:txBody>
      </p:sp>
      <p:sp>
        <p:nvSpPr>
          <p:cNvPr id="11" name="lessons-card"/>
          <p:cNvSpPr/>
          <p:nvPr/>
        </p:nvSpPr>
        <p:spPr>
          <a:xfrm>
            <a:off x="548640" y="4102608"/>
            <a:ext cx="5287975" cy="980440"/>
          </a:xfrm>
          <a:prstGeom prst="roundRect">
            <a:avLst>
              <a:gd name="adj" fmla="val 7461"/>
            </a:avLst>
          </a:prstGeom>
          <a:solidFill>
            <a:srgbClr val="F2EDE9"/>
          </a:solidFill>
          <a:ln/>
        </p:spPr>
      </p:sp>
      <p:sp>
        <p:nvSpPr>
          <p:cNvPr id="12" name="lessons"/>
          <p:cNvSpPr txBox="1"/>
          <p:nvPr/>
        </p:nvSpPr>
        <p:spPr>
          <a:xfrm>
            <a:off x="685800" y="41940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Segregation in America</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did Black Americans win their civil rights, and which campaigns and leaders mattered most?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does emancipation mean?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Being allowed to own land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Being set free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Being paid a fair wage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Being given the right to vote</a:t>
            </a:r>
            <a:endParaRPr lang="en-US" sz="2200" dirty="0"/>
          </a:p>
        </p:txBody>
      </p:sp>
      <p:sp>
        <p:nvSpPr>
          <p:cNvPr id="12"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1861, eleven Southern states left the United States and formed the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Confederacy  ·  Union  ·  Congress</a:t>
            </a:r>
            <a:endParaRPr lang="en-US" sz="2400" dirty="0"/>
          </a:p>
        </p:txBody>
      </p:sp>
      <p:sp>
        <p:nvSpPr>
          <p:cNvPr id="17"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amendment to the American Constitution abolished slavery in the United States?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Tenth Amendment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Fourteenth Amendment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First Amendment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Thirteenth Amendment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Being set free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does emancipation mean?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Emancipation means being set free. In the United States it meant the legal end of slavery, nothing more and nothing less.</a:t>
            </a:r>
            <a:endParaRPr lang="en-US" sz="20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Confederacy</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1861, eleven Southern states left the United States and formed the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eleven states that left formed a new country, the Confederacy. The states that stayed were the Union.</a:t>
            </a:r>
            <a:endParaRPr lang="en-US" sz="20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DE1CA"/>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Thirteenth Amendment</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Thirteenth Amendment abolished slavery in the United States, and the returning Confederate states had to accept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emancipation</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being set free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Emancipation meant that nobody in the United States could be owned any more.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Union</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states that stayed together as the United States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Union fought to bring the whole country back together.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Confederacy</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new country made by the Southern states that left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Eleven Southern states left the United States and formed the Confederacy.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amendment</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change added to a country's constitution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Thirteenth Amendment made slavery illegal in the United States.</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lynching</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mob killing a person with no trial, usually by hanging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Lynching was used to frighten whole communities, and the killers were rarely punished.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Slavery ended across the British Empire in 1833.</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the United States it did not end.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Southern states said their farms and their money depended on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Northern states said slavery was cruel and wrong.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1861 the country went to war with itself.</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Eleven Southern states left and formed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Confederacy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states that stayed were called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Union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Union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won, and slavery was abolished in law.</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That legal freedom is called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emancipation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freedom in law was not yet freedom in life.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White Southerners built new laws to keep Black people apart.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Mobs killed Black people without any trial at all.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 this unit asks how Black Americans fought back, and won.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Why the United States went to war over slavery</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question asks why a war began, give one reason and follow it through to the fighting. A list of reasons with no links scores less than one reason explained properly.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 studied the Transatlantic Slave Trade in Year 8. You know that Britain abolished slavery across its Empire in 1833, and began using its navy to stop slave ships at sea.</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country split over it. The states in the South refused to end slavery, and argued that their whole economies depended on the tobacco and cotton trade.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1860 Abraham Lincoln was elected President. He had campaigned to stop slavery spreading into new states, and the South read that as the first step towards abolishing it everywhere.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Why the United States went to war over slavery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EDE9"/>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reason why the American Civil War began.</a:t>
            </a:r>
            <a:endParaRPr lang="en-US" sz="2200" dirty="0"/>
          </a:p>
        </p:txBody>
      </p:sp>
      <p:sp>
        <p:nvSpPr>
          <p:cNvPr id="9" name="step-box"/>
          <p:cNvSpPr/>
          <p:nvPr/>
        </p:nvSpPr>
        <p:spPr>
          <a:xfrm>
            <a:off x="548640" y="2314956"/>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Make the point in one sentence: one reason the Civil War began was that the North and the South could not agree about slavery.</a:t>
            </a:r>
            <a:endParaRPr lang="en-US" sz="1800" dirty="0"/>
          </a:p>
        </p:txBody>
      </p:sp>
      <p:sp>
        <p:nvSpPr>
          <p:cNvPr id="13" name="arrow"/>
          <p:cNvSpPr/>
          <p:nvPr/>
        </p:nvSpPr>
        <p:spPr>
          <a:xfrm>
            <a:off x="5963260" y="3164840"/>
            <a:ext cx="274320" cy="274320"/>
          </a:xfrm>
          <a:prstGeom prst="rightArrow">
            <a:avLst/>
          </a:prstGeom>
          <a:solidFill>
            <a:srgbClr val="B8862B"/>
          </a:solidFill>
          <a:ln/>
        </p:spPr>
      </p:sp>
      <p:sp>
        <p:nvSpPr>
          <p:cNvPr id="14" name="step-box"/>
          <p:cNvSpPr/>
          <p:nvPr/>
        </p:nvSpPr>
        <p:spPr>
          <a:xfrm>
            <a:off x="6301588" y="2314956"/>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the evidence from your lesson: the South said its economy depended on the tobacco and cotton trade, while the North said slavery was inhumane and against the will of God.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Why the United States went to war over slavery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EDE9"/>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reason why the American Civil War began.</a:t>
            </a:r>
            <a:endParaRPr lang="en-US" sz="2200" dirty="0"/>
          </a:p>
        </p:txBody>
      </p:sp>
      <p:sp>
        <p:nvSpPr>
          <p:cNvPr id="9" name="step-box"/>
          <p:cNvSpPr/>
          <p:nvPr/>
        </p:nvSpPr>
        <p:spPr>
          <a:xfrm>
            <a:off x="548640" y="2314956"/>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the link: when Lincoln was elected in 1860 on a promise to stop slavery spreading, the South believed abolition was coming, so eleven states left.</a:t>
            </a:r>
            <a:endParaRPr lang="en-US" sz="1800" dirty="0"/>
          </a:p>
        </p:txBody>
      </p:sp>
      <p:sp>
        <p:nvSpPr>
          <p:cNvPr id="13" name="arrow"/>
          <p:cNvSpPr/>
          <p:nvPr/>
        </p:nvSpPr>
        <p:spPr>
          <a:xfrm>
            <a:off x="5963260" y="3164840"/>
            <a:ext cx="274320" cy="274320"/>
          </a:xfrm>
          <a:prstGeom prst="rightArrow">
            <a:avLst/>
          </a:prstGeom>
          <a:solidFill>
            <a:srgbClr val="B8862B"/>
          </a:solidFill>
          <a:ln/>
        </p:spPr>
      </p:sp>
      <p:sp>
        <p:nvSpPr>
          <p:cNvPr id="14" name="step-box"/>
          <p:cNvSpPr/>
          <p:nvPr/>
        </p:nvSpPr>
        <p:spPr>
          <a:xfrm>
            <a:off x="6301588" y="2314956"/>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by saying what this shows: this shows the war began because a disagreement about slavery had become a disagreement about whether the country could stay together.</a:t>
            </a:r>
            <a:endParaRPr lang="en-US" sz="1800" dirty="0"/>
          </a:p>
        </p:txBody>
      </p:sp>
      <p:sp>
        <p:nvSpPr>
          <p:cNvPr id="18" name="worked-answer"/>
          <p:cNvSpPr/>
          <p:nvPr/>
        </p:nvSpPr>
        <p:spPr>
          <a:xfrm>
            <a:off x="1463040" y="4755896"/>
            <a:ext cx="9265615" cy="1388872"/>
          </a:xfrm>
          <a:prstGeom prst="roundRect">
            <a:avLst>
              <a:gd name="adj" fmla="val 13168"/>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evidence, explain: the two halves of the country could not agree about slavery; the South defended it as the base of its economy and the North attacked it as wrong; Lincoln's election in 1860 convinced the South that abolition was next, so eleven states left in 1861.</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Emancipation: the words, and what they did not reach</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234688"/>
            <a:ext cx="5074920" cy="1910080"/>
          </a:xfrm>
          <a:prstGeom prst="roundRect">
            <a:avLst>
              <a:gd name="adj" fmla="val 7181"/>
            </a:avLst>
          </a:prstGeom>
          <a:solidFill>
            <a:srgbClr val="F4EDDF"/>
          </a:solidFill>
          <a:ln w="15875">
            <a:solidFill>
              <a:srgbClr val="B8862B"/>
            </a:solidFill>
            <a:prstDash val="solid"/>
          </a:ln>
        </p:spPr>
      </p:sp>
      <p:sp>
        <p:nvSpPr>
          <p:cNvPr id="8" name="tip-hex"/>
          <p:cNvSpPr/>
          <p:nvPr/>
        </p:nvSpPr>
        <p:spPr>
          <a:xfrm>
            <a:off x="685800" y="4991760"/>
            <a:ext cx="457200" cy="395935"/>
          </a:xfrm>
          <a:prstGeom prst="hexagon">
            <a:avLst/>
          </a:prstGeom>
          <a:solidFill>
            <a:srgbClr val="B8862B"/>
          </a:solidFill>
          <a:ln/>
        </p:spPr>
      </p:sp>
      <p:sp>
        <p:nvSpPr>
          <p:cNvPr id="9" name="tip-hex-label"/>
          <p:cNvSpPr txBox="1"/>
          <p:nvPr/>
        </p:nvSpPr>
        <p:spPr>
          <a:xfrm>
            <a:off x="685800" y="499176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289552"/>
            <a:ext cx="4206240" cy="180035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Proclamation uses the word slaves because that is how an 1863 document spoke. When you write in your own words, write enslaved people: it says that this was done to them, not that it was what they were.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2EDE9"/>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that all persons held as slaves … are, and henceforward shall be free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President Lincoln's Emancipation Proclamation (1863), as printed in your lesson</a:t>
            </a:r>
            <a:endParaRPr lang="en-US" sz="2600" dirty="0"/>
          </a:p>
        </p:txBody>
      </p:sp>
      <p:sp>
        <p:nvSpPr>
          <p:cNvPr id="14" name="bullet-card"/>
          <p:cNvSpPr/>
          <p:nvPr/>
        </p:nvSpPr>
        <p:spPr>
          <a:xfrm>
            <a:off x="548640" y="1389888"/>
            <a:ext cx="5074920" cy="1072642"/>
          </a:xfrm>
          <a:prstGeom prst="roundRect">
            <a:avLst>
              <a:gd name="adj" fmla="val 6820"/>
            </a:avLst>
          </a:prstGeom>
          <a:solidFill>
            <a:srgbClr val="F4F1ED"/>
          </a:solidFill>
          <a:ln/>
        </p:spPr>
      </p:sp>
      <p:sp>
        <p:nvSpPr>
          <p:cNvPr id="15" name="bullet-hex"/>
          <p:cNvSpPr/>
          <p:nvPr/>
        </p:nvSpPr>
        <p:spPr>
          <a:xfrm>
            <a:off x="676656" y="1759916"/>
            <a:ext cx="384048" cy="332586"/>
          </a:xfrm>
          <a:prstGeom prst="hexagon">
            <a:avLst/>
          </a:prstGeom>
          <a:solidFill>
            <a:srgbClr val="7A4A1E"/>
          </a:solidFill>
          <a:ln/>
        </p:spPr>
      </p:sp>
      <p:sp>
        <p:nvSpPr>
          <p:cNvPr id="16" name="bullet"/>
          <p:cNvSpPr txBox="1"/>
          <p:nvPr/>
        </p:nvSpPr>
        <p:spPr>
          <a:xfrm>
            <a:off x="1143000" y="1389888"/>
            <a:ext cx="4389120" cy="107264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Union won. Soon after the last battle at Appomattox, President Lincoln was shot and killed by the actor John Wilkes Booth.</a:t>
            </a:r>
            <a:endParaRPr lang="en-US" sz="1800" dirty="0"/>
          </a:p>
        </p:txBody>
      </p:sp>
      <p:sp>
        <p:nvSpPr>
          <p:cNvPr id="17" name="bullet-card"/>
          <p:cNvSpPr/>
          <p:nvPr/>
        </p:nvSpPr>
        <p:spPr>
          <a:xfrm>
            <a:off x="548640" y="2608834"/>
            <a:ext cx="5074920" cy="1351534"/>
          </a:xfrm>
          <a:prstGeom prst="roundRect">
            <a:avLst>
              <a:gd name="adj" fmla="val 5413"/>
            </a:avLst>
          </a:prstGeom>
          <a:solidFill>
            <a:srgbClr val="F4F1ED"/>
          </a:solidFill>
          <a:ln/>
        </p:spPr>
      </p:sp>
      <p:sp>
        <p:nvSpPr>
          <p:cNvPr id="18" name="bullet-hex"/>
          <p:cNvSpPr/>
          <p:nvPr/>
        </p:nvSpPr>
        <p:spPr>
          <a:xfrm>
            <a:off x="676656" y="3118308"/>
            <a:ext cx="384048" cy="332586"/>
          </a:xfrm>
          <a:prstGeom prst="hexagon">
            <a:avLst/>
          </a:prstGeom>
          <a:solidFill>
            <a:srgbClr val="B8862B"/>
          </a:solidFill>
          <a:ln/>
        </p:spPr>
      </p:sp>
      <p:sp>
        <p:nvSpPr>
          <p:cNvPr id="19" name="bullet"/>
          <p:cNvSpPr txBox="1"/>
          <p:nvPr/>
        </p:nvSpPr>
        <p:spPr>
          <a:xfrm>
            <a:off x="1143000" y="2608834"/>
            <a:ext cx="4389120" cy="13515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lesson prints the Proclamation's own words. It declared “that all persons held as slaves” in the rebelling states “are, and henceforward shall be free”.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Free in law, not free in life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Hold two ideas at once in this topic: in law, slavery was over; in daily life, Black Americans were still unfree and still unprotected. Good answers say both.</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Although slavery had been abolished, many white Americans did not treat African Americans equally.</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sharpest proof of that was lynching: a mob killing a person with no trial, usually by hanging.</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also studies the killing of Emmett Till, a Black teenager murdered in the South in the 1950s, and asks what his story shows about how white Americans saw African Americans.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From Lincoln's election to emancipation</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four events in the order your lesson gave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Union wins the war, and Lincoln is shot and killed soon after the last battle (1865)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last Confederate states return to the Union and accept the Thirteenth Amendment (1868)</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Abraham Lincoln is elected President of the United States (1860)</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Eleven Southern states leave the United States and form the Confederacy (1861)</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From Lincoln's election to emancipation</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From Lincoln's election to emancipation</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event that is a cause, not a consequence. An election can happen with no war at all, so that is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Next comes the South's reaction to that election: what did eleven states do?</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fighting ends. Ask which side won, and what happened to the President.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step is the one that could only happen once the war was over: the states coming back.</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Start with the event that caused the others. Finish with the one that could only happen after the fighting had stopped.</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Thirteenth Amendment mattered more, in the long run, than the Emancipation Proclamation of 1863.</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Free in law, not in life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one reason why the end of slavery did not make Black Americans free. Write one paragraph of four to six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(1 of 2): Free in law, not in life</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one reason why the end of slavery did not make Black Americans free. Write one paragraph of four to six sentences.</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ONE reason from the chapter: no protection from the police or the courts; mob violence; no vote; separate and worse schools.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One reason the end of slavery did not make Black Americans free was...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and 3: say what this meant from day to day. Who was it done by, and what happened to them afterwards?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use because to link the reason to its effect.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sentence: answer the question, naming the difference between freedom in law and freedom in life.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(2 of 2): Free in law, not in life</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one reason why the end of slavery did not make Black Americans free. Write one paragraph of four to six sentences.</a:t>
            </a:r>
            <a:endParaRPr lang="en-US" sz="2000" dirty="0"/>
          </a:p>
        </p:txBody>
      </p:sp>
      <p:sp>
        <p:nvSpPr>
          <p:cNvPr id="12" name="col-Core"/>
          <p:cNvSpPr/>
          <p:nvPr/>
        </p:nvSpPr>
        <p:spPr>
          <a:xfrm>
            <a:off x="548640" y="2593848"/>
            <a:ext cx="5410048" cy="3550920"/>
          </a:xfrm>
          <a:prstGeom prst="roundRect">
            <a:avLst>
              <a:gd name="adj" fmla="val 1545"/>
            </a:avLst>
          </a:prstGeom>
          <a:solidFill>
            <a:srgbClr val="E2D7C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Pick one reason and follow it all the way to its effect on an ordinary person's day. Use because once.</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7A4A1E"/>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Argue which mattered more for Black Americans in the years after 1868: the loss of the vote, or the loss of protection from violence. Give one reason for your judgement.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801112"/>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According to your lesson, why did the Southern states refuse to abolish slavery?</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had no farms and so needed to buy everything from the North</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had already freed most enslaved people and had nothing left to abolish</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were following a ruling of the Supreme Court that they could not change</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argued that their whole economies depended on the tobacco and cotton trade</a:t>
            </a:r>
            <a:endParaRPr lang="en-US" sz="20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Answers: From Lincoln's election to emancipation</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Abraham Lincoln is elected President of the United States (1860)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Eleven Southern states leave the United States and form the Confederacy (1861)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Union wins the war, and Lincoln is shot and killed soon after the last battle (1865)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last Confederate states return to the Union and accept the Thirteenth Amendment (1868)  (B)</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Lincoln's election in 1860 convinced the South that abolition was coming; eleven states left in 1861 and formed the Confederacy; the Union won by 1865 and Lincoln was killed days later; by 1868 the Confederate states had returned, and accepting the Thirteenth Amendment was the price of returning.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Free in law, not in life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72490"/>
          </a:xfrm>
          <a:prstGeom prst="roundRect">
            <a:avLst>
              <a:gd name="adj" fmla="val 13597"/>
            </a:avLst>
          </a:prstGeom>
          <a:solidFill>
            <a:srgbClr val="F4F1ED"/>
          </a:solidFill>
          <a:ln/>
        </p:spPr>
      </p:sp>
      <p:sp>
        <p:nvSpPr>
          <p:cNvPr id="9" name="tickbox"/>
          <p:cNvSpPr/>
          <p:nvPr/>
        </p:nvSpPr>
        <p:spPr>
          <a:xfrm>
            <a:off x="713232" y="2174189"/>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name one clear reason, using an example from the chapter.</a:t>
            </a:r>
            <a:endParaRPr lang="en-US" sz="2200" dirty="0"/>
          </a:p>
        </p:txBody>
      </p:sp>
      <p:sp>
        <p:nvSpPr>
          <p:cNvPr id="11" name="crit-box"/>
          <p:cNvSpPr/>
          <p:nvPr/>
        </p:nvSpPr>
        <p:spPr>
          <a:xfrm>
            <a:off x="548640" y="2748178"/>
            <a:ext cx="11094415" cy="672490"/>
          </a:xfrm>
          <a:prstGeom prst="roundRect">
            <a:avLst>
              <a:gd name="adj" fmla="val 13597"/>
            </a:avLst>
          </a:prstGeom>
          <a:solidFill>
            <a:srgbClr val="F4F1ED"/>
          </a:solidFill>
          <a:ln/>
        </p:spPr>
      </p:sp>
      <p:sp>
        <p:nvSpPr>
          <p:cNvPr id="12" name="tickbox"/>
          <p:cNvSpPr/>
          <p:nvPr/>
        </p:nvSpPr>
        <p:spPr>
          <a:xfrm>
            <a:off x="713232" y="2938120"/>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74817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what it meant for Black Americans in their daily lives.</a:t>
            </a:r>
            <a:endParaRPr lang="en-US" sz="2200" dirty="0"/>
          </a:p>
        </p:txBody>
      </p:sp>
      <p:sp>
        <p:nvSpPr>
          <p:cNvPr id="14" name="crit-box"/>
          <p:cNvSpPr/>
          <p:nvPr/>
        </p:nvSpPr>
        <p:spPr>
          <a:xfrm>
            <a:off x="548640" y="3512109"/>
            <a:ext cx="11094415" cy="672490"/>
          </a:xfrm>
          <a:prstGeom prst="roundRect">
            <a:avLst>
              <a:gd name="adj" fmla="val 13597"/>
            </a:avLst>
          </a:prstGeom>
          <a:solidFill>
            <a:srgbClr val="F4F1ED"/>
          </a:solidFill>
          <a:ln/>
        </p:spPr>
      </p:sp>
      <p:sp>
        <p:nvSpPr>
          <p:cNvPr id="15" name="tickbox"/>
          <p:cNvSpPr/>
          <p:nvPr/>
        </p:nvSpPr>
        <p:spPr>
          <a:xfrm>
            <a:off x="713232" y="3702050"/>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512109"/>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the word because at least once to link the reason to its effect.</a:t>
            </a:r>
            <a:endParaRPr lang="en-US" sz="2200" dirty="0"/>
          </a:p>
        </p:txBody>
      </p:sp>
      <p:sp>
        <p:nvSpPr>
          <p:cNvPr id="17" name="crit-box"/>
          <p:cNvSpPr/>
          <p:nvPr/>
        </p:nvSpPr>
        <p:spPr>
          <a:xfrm>
            <a:off x="548640" y="4276039"/>
            <a:ext cx="11094415" cy="672490"/>
          </a:xfrm>
          <a:prstGeom prst="roundRect">
            <a:avLst>
              <a:gd name="adj" fmla="val 13597"/>
            </a:avLst>
          </a:prstGeom>
          <a:solidFill>
            <a:srgbClr val="F4F1ED"/>
          </a:solidFill>
          <a:ln/>
        </p:spPr>
      </p:sp>
      <p:sp>
        <p:nvSpPr>
          <p:cNvPr id="18" name="tickbox"/>
          <p:cNvSpPr/>
          <p:nvPr/>
        </p:nvSpPr>
        <p:spPr>
          <a:xfrm>
            <a:off x="713232" y="4465980"/>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276039"/>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one key word correctly, such as emancipation, lynching or segregation.</a:t>
            </a:r>
            <a:endParaRPr lang="en-US" sz="2200" dirty="0"/>
          </a:p>
        </p:txBody>
      </p:sp>
      <p:sp>
        <p:nvSpPr>
          <p:cNvPr id="20" name="crit-box"/>
          <p:cNvSpPr/>
          <p:nvPr/>
        </p:nvSpPr>
        <p:spPr>
          <a:xfrm>
            <a:off x="548640" y="5039970"/>
            <a:ext cx="11094415" cy="1013358"/>
          </a:xfrm>
          <a:prstGeom prst="roundRect">
            <a:avLst>
              <a:gd name="adj" fmla="val 9023"/>
            </a:avLst>
          </a:prstGeom>
          <a:solidFill>
            <a:srgbClr val="F4F1ED"/>
          </a:solidFill>
          <a:ln/>
        </p:spPr>
      </p:sp>
      <p:sp>
        <p:nvSpPr>
          <p:cNvPr id="21" name="tickbox"/>
          <p:cNvSpPr/>
          <p:nvPr/>
        </p:nvSpPr>
        <p:spPr>
          <a:xfrm>
            <a:off x="713232" y="5400345"/>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039970"/>
            <a:ext cx="10317175" cy="10133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finish by answering the question: how free were Black Americans in law, and how free in life?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Model answer: Free in law, not in life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One reason the end of slavery did not make Black Americans free was that the law stopped protecting them. Emancipation took away an owner's legal claim on a person, but it did not give Black Americans a jury that would convict their attackers or a police force that would come when they called. That is why lynching, a mob killing with no trial, carried on for decades: the killers expected no punishment, and in Marion in 1930 a crowd of 15,000 watched and the authorities did not stop them. So in law a Black American in 1930 was free, while in daily life they could be killed in public and nobody would answer for it. Freedom that the state will not defend is not yet freedom.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According to your lesson, why did the Southern states refuse to abolish slavery?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They argued that their whole economies depended on the tobacco and cotton trade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South defended slavery as the base of its economy: tobacco and cotton were its wealth. The North attacked it as inhumane and against the will of God. The two arguments never met, which is why Lincoln's election tipped the dispute into war.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Civil Rights · Chapter 1: After slavery: the Civil War, emancipation, and the freedom that did not arrive</dc:title>
  <dc:subject>History · Year 9</dc:subject>
  <dc:creator>Dr Vitor Merissi de Carvalho</dc:creator>
  <cp:lastModifiedBy>Dr Vitor Merissi de Carvalho</cp:lastModifiedBy>
  <cp:revision>1</cp:revision>
  <dcterms:created xsi:type="dcterms:W3CDTF">2026-10-19T06:07:51Z</dcterms:created>
  <dcterms:modified xsi:type="dcterms:W3CDTF">2026-10-19T06:07:51Z</dcterms:modified>
</cp:coreProperties>
</file>