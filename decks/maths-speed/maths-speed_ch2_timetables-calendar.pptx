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31a0939-48f2-2585-de1a-698d7bbccc48}">
          <p14:sldIdLst>
            <p14:sldId id="256"/>
          </p14:sldIdLst>
        </p14:section>
        <p14:section name="Gate" id="{d4984f03-006f-0a1f-08c9-26cb185b74d8}">
          <p14:sldIdLst>
            <p14:sldId id="257"/>
            <p14:sldId id="258"/>
          </p14:sldIdLst>
        </p14:section>
        <p14:section name="Pre-teach" id="{038a0df6-623a-69be-9cfe-908305f1858f}">
          <p14:sldIdLst>
            <p14:sldId id="259"/>
          </p14:sldIdLst>
        </p14:section>
        <p14:section name="Read-along" id="{a74f3719-5fde-c90a-b293-a7e488da9217}">
          <p14:sldIdLst>
            <p14:sldId id="260"/>
            <p14:sldId id="261"/>
          </p14:sldIdLst>
        </p14:section>
        <p14:section name="Teach" id="{218b98b3-f901-374a-ea14-b31c7db542c8}">
          <p14:sldIdLst>
            <p14:sldId id="262"/>
            <p14:sldId id="263"/>
            <p14:sldId id="264"/>
            <p14:sldId id="265"/>
          </p14:sldIdLst>
        </p14:section>
        <p14:section name="Routes" id="{80b72c3f-62ff-6b06-e629-dddf6a7a11db}">
          <p14:sldIdLst>
            <p14:sldId id="266"/>
            <p14:sldId id="267"/>
            <p14:sldId id="268"/>
          </p14:sldIdLst>
        </p14:section>
        <p14:section name="Close" id="{4cc1280c-3451-5e34-286d-6a24f93c4bb3}">
          <p14:sldIdLst>
            <p14:sldId id="269"/>
          </p14:sldIdLst>
        </p14:section>
        <p14:section name="Answers" id="{b72d1973-3515-f34e-362f-c402c02a7d4e}">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Timetables, durations and the calendar. Read a timetable, work out how long a journey takes, find start and finish times, and use a calendar.
This deck covers the department's lessons: 3 (Solve problems with tables and timetables: How do we read a timetable and work out how long a journey takes?); 4 (Solve problems with time and the calendar: How do we find start and finish times, and use a calendar?).
Read the big question aloud: "How do we measure time and movement, and how do speed, distance and time fit together?"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 bus leaves at 10:47 and arrives at 11:23. How many minutes does the journey take?  →  36 minutes
2. Which of these is 4:20 pm written on the 24-hour clock?  →  D   16:20
3. There are ___ days in a leap year.  →  366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36 minutes. From 10:47 to 11:00 is 13 minutes. From 11:00 to 11:23 is 23 minutes. 13 + 23 = 36.
2. D   16:20. For pm times, add 12 to the hour: 4 + 12 = 16. So 4:20 pm is 16:20.
3. 366. A leap year adds one day, 29 February, to the usual 365 days, making 366.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timetable: a table of leaving and arriving times. Example: "The bus timetable shows the 08:40 bus reaching town at 09:05."
• duration: how long something lasts. Example: "The duration of the film was 95 minutes."
• 24-hour clock: times from 00:00 to 23:59, with no am or pm. Example: "On the 24-hour clock, 4 pm is 16:00."
• two-way table: a table that sorts things in two ways at once. Example: "The two-way table shows boys and girls in each year group."
• calendar: a chart of the days and weeks in each month. Example: "The calendar shows that 1 May is a Thursday."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A timetable shows when buses or trains leave and arrive.
2. Read down a column to follow one bus.
3. Read across a row to see one stop.
4. To find how long a journey takes, count on from the start time.
5. Do not just subtract the digits.
6. A bus leaves at 09:48 and arrives at 10:20.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Count on 12 minutes to reach 10:00.
8. Then count on 20 more minutes.
9. The journey takes 32 minutes.
10. The 24-hour clock runs from 00:00 to 23:59.
11. 3 pm is 15:00 on the 24-hour clock.
12. A calendar shows the days of each month.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Reading a timetable. Say it in your own words, then check understanding with a quick question: ask a pupil from the pre-teach group first, since they met these words and ideas before the lesson. Pupils try to recall before you re-explain.
A bus timetable has a row for each stop and a column for each bus. Imagine the first column reads Oakfield 08:05, Mill Lane 08:19, Station 08:31. That is one bus: it leaves Oakfield at 08:05 and gets to the Station at 08:31.
To find how long that bus takes from Oakfield to the Station, count on from 08:05 to 08:31. That is 26 minutes, because 31 − 5 = 26.
When the journey crosses an hour, count on in two steps. From 08:19 to 09:00 is 41 minutes, because 60 − 19 = 41. Then add the minutes after the hour. Never subtract 08:19 from 09:00 as if the times were ordinary numbers: 900 − 819 = 81, and 81 minutes is wrong.
Worked example — model it step by step, thinking aloud: A train leaves Oakfield at 11:52 and arrives at Riverton at 12:31. How long does the journey take? (1) Count on from 11:52 to 12:00. That is 60 − 52 = 8 minutes. (2) Count on from 12:00 to 12:31. That is 31 minutes. (3) 8 + 31 = 39. Answer: 39 minutes.
Tip: Count on to the next o'clock first, then add the minutes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Start and finish times. Say it in your own words, then check understanding with a quick question: ask a pupil from the pre-teach group first, since they met these words and ideas before the lesson. Pupils try to recall before you re-explain.
The 24-hour clock avoids am and pm. The morning times look the same: 09:30 is 9:30 am. For the afternoon, add 12 to the hour: 4:20 pm is 16:20, and 11:05 pm is 23:05. Midnight is 00:00.
To find a finish time, add the duration in friendly chunks. A film starts at 14:35 and lasts 95 minutes. 95 minutes is 1 hour and 35 minutes. Add 1 hour to reach 15:35, then add 25 minutes to reach 16:00, then the last 10 minutes to reach 16:10.
To find a start time, count back from the finish in the same way. A match that finishes at 4:25 pm and lasts 155 minutes started 2 hours 35 minutes earlier. Back 2 hours is 2:25 pm, back 25 minutes is 2:00 pm, and back 10 more minutes is 1:50 pm.
Worked example — model it step by step, thinking aloud: A film starts at 14:35 and lasts 95 minutes. What time does it finish? (1) 95 minutes is 1 hour and 35 minutes. (2) Add 1 hour: 14:35 becomes 15:35. (3) Add 25 minutes to reach 16:00. (4) Add the remaining 10 minutes: 16:10. Answer: 16:10.
Tip: Split the minutes so that one jump lands exactly on the next o'clock.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Two-way tables. Say it in your own words, then check understanding with a quick question: ask a pupil from the pre-teach group first, since they met these words and ideas before the lesson. Pupils try to recall before you re-explain.
A two-way table sorts information in two ways at once. For example, the rows might be Year 7 and Year 8 and the columns might be favourite subjects. Each cell holds a count, and the Total row and Total column add everything up.
To fill a missing cell, use a total. If 52 people belong to a club and 31 of them are adults, then 52 − 31 = 21 are children. If 18 of the adults are female, then 31 − 18 = 13 adults are male.
Always check your completed table: every row should add up to its row total, and every column to its column total.
Worked example — model it step by step, thinking aloud: A sports club has 52 members. 31 are adults and the rest are children. 18 of the adults are female. How many adults are male? (1) The question is about the adults, so use the adult total: 31. (2) 18 of the 31 adults are female. (3) 31 − 18 = 13 adults are male. Answer: 13.
Tip: Find the total that the missing number belongs to, then subtract what you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calendar. Say it in your own words, then check understanding with a quick question: ask a pupil from the pre-teach group first, since they met these words and ideas before the lesson. Pupils try to recall before you re-explain.
A calendar page shows one month as rows of weeks. Each column is a day of the week, so moving straight down one row adds 7 days. If the 3rd is a Tuesday, then the 10th, 17th, 24th and 31st are Tuesdays too.
Months have 30 or 31 days, except February, which has 28 days, or 29 in a leap year. A month is not simply 365 ÷ 12 days: that is about 30.4, and no real month has that many.
Months have four or five of each weekday, not always four. A 31-day month has five of three different weekdays, so a statement like 'every month has exactly four Tuesdays' is false.
Worked example — model it step by step, thinking aloud: The 3rd of a month is a Tuesday. What day of the week is the 24th? (1) Find the gap between the dates: 24 − 3 = 21 days. (2) 21 days is exactly 3 weeks, because 21 ÷ 7 = 3. (3) Whole weeks land on the same weekday, so the 24th is also a Tuesday. Answer: Tuesday.
Tip: A gap that is a multiple of 7 lands on the same day of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Journey time from a timetable.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bus leaves Ashby at 08:52, Brook at 09:07, Castle Street at 09:21 and Dale End at 09:34. How long does the bus take from Ashby to Dale End, in minutes?
Support — work through the steps with the group: (1) Find the leaving time at the first stop and the arriving time at the last stop. (2) Count on from the leaving time to the next o'clock. (3) Count on from the o'clock to the arriving time. (4) Add the two parts.
Parallel worked example for Support (model it, do not give the task answer): A bus leaves Fern Road at 07:41 and reaches Green Park at 08:16. How long does the journey take? From 07:41 to 08:00 is 60 − 41 = 19 minutes.; From 08:00 to 08:16 is 16 minutes.; 19 + 16 = 35.. Answer: 35 minutes.
Core — reveal the hint only on request: Only the first and last stops matter. Count on to 09:00 first.
Stretch — no help; when finished: The next bus leaves Ashby at 09:27 and takes exactly the same time between stops. Write out its full timetable and explain how you know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Journey time from a timetable.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bus leaves Ashby at 08:52, Brook at 09:07, Castle Street at 09:21 and Dale End at 09:34. How long does the bus take from Ashby to Dale End, in minutes?
Support — work through the steps with the group: (1) Find the leaving time at the first stop and the arriving time at the last stop. (2) Count on from the leaving time to the next o'clock. (3) Count on from the o'clock to the arriving time. (4) Add the two parts.
Parallel worked example for Support (model it, do not give the task answer): A bus leaves Fern Road at 07:41 and reaches Green Park at 08:16. How long does the journey take? From 07:41 to 08:00 is 60 − 41 = 19 minutes.; From 08:00 to 08:16 is 16 minutes.; 19 + 16 = 35.. Answer: 35 minutes.
Core — reveal the hint only on request: Only the first and last stops matter. Count on to 09:00 first.
Stretch — no help; when finished: The next bus leaves Ashby at 09:27 and takes exactly the same time between stops. Write out its full timetable and explain how you know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Find the start time.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swimming lesson lasts 85 minutes and finishes at 17:10. What time did it start?
Support — work through the steps with the group: (1) Change the duration into hours and minutes. (2) Count back the whole hours first. (3) Count back the minutes in two jumps: land on the o'clock, then go back the rest.
Parallel worked example for Support (model it, do not give the task answer): A play lasts 100 minutes and finishes at 20:30. What time did it start? 100 minutes is 1 hour 40 minutes.; Back 1 hour: 19:30.; Back 30 minutes: 19:00. Back 10 more: 18:50.. Answer: 18:50.
Core — reveal the hint only on request: 85 minutes is 1 hour and 25 minutes. Go back the hour first.
Stretch — no help; when finished: The pool opens at 07:00 and runs 85-minute lessons back to back with a 5-minute gap between them. Does a lesson finish at exactly 17:10? Show your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1 May is a Thursday. What day of the week is 29 May?
Answer: B   Thursday. From 1 May to 29 May is 28 days, which is exactly 4 weeks. So 29 May is also a Thursday.
Source of this question: module 3 task ("Reasoning with a calendar")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Journey time from a timetable. Reveal the answer; pupils mark their own work in a different colour, then read the "why" together. Same destination for every lane, so one answer serves the whole class.
Answer: 42 minutes
Why: From 08:52 to 09:00 is 8 minutes. From 09:00 to 09:34 is 34 minutes. 8 + 34 = 42 minutes.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Find the start time. Reveal the answer; pupils mark their own work in a different colour, then read the "why" together. Same destination for every lane, so one answer serves the whole class.
Answer: D   15:45
Why: 85 minutes is 1 hour 25 minutes. Back 1 hour from 17:10 is 16:10. Back 10 minutes is 16:00, and back another 15 minutes is 15:45.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Thursday
Why: From 1 May to 29 May is 28 days, which is exactly 4 weeks. So 29 May is also a Thursday.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Speed, Distance and Time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Speed, Distance and Time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E4A8C"/>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0E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E4A8C"/>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E4A8C"/>
                </a:solidFill>
                <a:latin typeface="Calibri" pitchFamily="34" charset="0"/>
                <a:ea typeface="Calibri" pitchFamily="34" charset="-122"/>
                <a:cs typeface="Calibri" pitchFamily="34" charset="-120"/>
              </a:rPr>
              <a:t>Mathematics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Speed, Distance and Time · AQA KS3 → 8300</a:t>
            </a:r>
            <a:endParaRPr lang="en-US" sz="1800" dirty="0"/>
          </a:p>
        </p:txBody>
      </p:sp>
      <p:sp>
        <p:nvSpPr>
          <p:cNvPr id="10" name="deck-title"/>
          <p:cNvSpPr txBox="1"/>
          <p:nvPr/>
        </p:nvSpPr>
        <p:spPr>
          <a:xfrm>
            <a:off x="548640" y="2285238"/>
            <a:ext cx="5287975" cy="1315720"/>
          </a:xfrm>
          <a:prstGeom prst="rect">
            <a:avLst/>
          </a:prstGeom>
          <a:noFill/>
          <a:ln/>
        </p:spPr>
        <p:txBody>
          <a:bodyPr wrap="square" lIns="63500" tIns="63500" rIns="63500" bIns="63500" rtlCol="0" anchor="t"/>
          <a:lstStyle/>
          <a:p>
            <a:pPr algn="l" indent="0" marL="0">
              <a:buNone/>
            </a:pPr>
            <a:r>
              <a:rPr lang="en-US" sz="3600" b="1" dirty="0">
                <a:solidFill>
                  <a:srgbClr val="1E2229"/>
                </a:solidFill>
                <a:latin typeface="Cambria" pitchFamily="34" charset="0"/>
                <a:ea typeface="Cambria" pitchFamily="34" charset="-122"/>
                <a:cs typeface="Cambria" pitchFamily="34" charset="-120"/>
              </a:rPr>
              <a:t>Timetables, durations and the calendar</a:t>
            </a:r>
            <a:endParaRPr lang="en-US" sz="3600" dirty="0"/>
          </a:p>
        </p:txBody>
      </p:sp>
      <p:sp>
        <p:nvSpPr>
          <p:cNvPr id="11" name="lessons-card"/>
          <p:cNvSpPr/>
          <p:nvPr/>
        </p:nvSpPr>
        <p:spPr>
          <a:xfrm>
            <a:off x="548640" y="3829558"/>
            <a:ext cx="5287975" cy="1328420"/>
          </a:xfrm>
          <a:prstGeom prst="roundRect">
            <a:avLst>
              <a:gd name="adj" fmla="val 5507"/>
            </a:avLst>
          </a:prstGeom>
          <a:solidFill>
            <a:srgbClr val="F0F2F7"/>
          </a:solidFill>
          <a:ln/>
        </p:spPr>
      </p:sp>
      <p:sp>
        <p:nvSpPr>
          <p:cNvPr id="12" name="lessons"/>
          <p:cNvSpPr txBox="1"/>
          <p:nvPr/>
        </p:nvSpPr>
        <p:spPr>
          <a:xfrm>
            <a:off x="685800" y="392099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E4A8C"/>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Solve problems with tables and timetables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Solve problems with time and the calendar</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Mathematics,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0F2F7"/>
          </a:solidFill>
          <a:ln w="12700">
            <a:solidFill>
              <a:srgbClr val="B2BCD4"/>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E4A8C"/>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do we measure time and movement, and how do speed, distance and time fit together?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bus leaves at 10:47 and arrives at 11:23. How many minutes does the journey take?</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minutes</a:t>
            </a:r>
            <a:endParaRPr lang="en-US" sz="2400" dirty="0"/>
          </a:p>
        </p:txBody>
      </p:sp>
      <p:sp>
        <p:nvSpPr>
          <p:cNvPr id="12"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3" name="card-hex"/>
          <p:cNvSpPr/>
          <p:nvPr/>
        </p:nvSpPr>
        <p:spPr>
          <a:xfrm>
            <a:off x="4521098" y="1572768"/>
            <a:ext cx="640080" cy="554309"/>
          </a:xfrm>
          <a:prstGeom prst="hexagon">
            <a:avLst/>
          </a:prstGeom>
          <a:solidFill>
            <a:srgbClr val="2E4A8C"/>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of these is 4:20 pm written on the 24-hour clock?</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14:20</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04:20</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20:16</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16:20</a:t>
            </a:r>
            <a:endParaRPr lang="en-US" sz="2400" dirty="0"/>
          </a:p>
        </p:txBody>
      </p:sp>
      <p:sp>
        <p:nvSpPr>
          <p:cNvPr id="17"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18" name="card-hex"/>
          <p:cNvSpPr/>
          <p:nvPr/>
        </p:nvSpPr>
        <p:spPr>
          <a:xfrm>
            <a:off x="8310677" y="1572768"/>
            <a:ext cx="640080" cy="554309"/>
          </a:xfrm>
          <a:prstGeom prst="hexagon">
            <a:avLst/>
          </a:prstGeom>
          <a:solidFill>
            <a:srgbClr val="2E4A8C"/>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There are ___ days in a leap year.</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365  ·  366  ·  360</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36 minutes</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A bus leaves at 10:47 and arrives at 11:23. How many minutes does the journey take?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From 10:47 to 11:00 is 13 minutes. From 11:00 to 11:23 is 23 minutes. 13 + 23 = 36.</a:t>
            </a:r>
            <a:endParaRPr lang="en-US" sz="2000" dirty="0"/>
          </a:p>
        </p:txBody>
      </p:sp>
      <p:sp>
        <p:nvSpPr>
          <p:cNvPr id="14"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5" name="card-hex"/>
          <p:cNvSpPr/>
          <p:nvPr/>
        </p:nvSpPr>
        <p:spPr>
          <a:xfrm>
            <a:off x="4521098" y="1572768"/>
            <a:ext cx="640080" cy="554309"/>
          </a:xfrm>
          <a:prstGeom prst="hexagon">
            <a:avLst/>
          </a:prstGeom>
          <a:solidFill>
            <a:srgbClr val="2E4A8C"/>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16:20</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of these is 4:20 pm written on the 24-hour clock?</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For pm times, add 12 to the hour: 4 + 12 = 16. So 4:20 pm is 16:20.</a:t>
            </a:r>
            <a:endParaRPr lang="en-US" sz="2200" dirty="0"/>
          </a:p>
        </p:txBody>
      </p:sp>
      <p:sp>
        <p:nvSpPr>
          <p:cNvPr id="21"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22" name="card-hex"/>
          <p:cNvSpPr/>
          <p:nvPr/>
        </p:nvSpPr>
        <p:spPr>
          <a:xfrm>
            <a:off x="8310677" y="1572768"/>
            <a:ext cx="640080" cy="554309"/>
          </a:xfrm>
          <a:prstGeom prst="hexagon">
            <a:avLst/>
          </a:prstGeom>
          <a:solidFill>
            <a:srgbClr val="2E4A8C"/>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366</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There are ___ days in a leap year.</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 leap year adds one day, 29 February, to the usual 365 days, making 366.</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2E4A8C"/>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831901"/>
          </a:xfrm>
          <a:prstGeom prst="roundRect">
            <a:avLst>
              <a:gd name="adj" fmla="val 6595"/>
            </a:avLst>
          </a:prstGeom>
          <a:solidFill>
            <a:srgbClr val="F5F6F9"/>
          </a:solidFill>
          <a:ln/>
        </p:spPr>
      </p:sp>
      <p:sp>
        <p:nvSpPr>
          <p:cNvPr id="12" name="kw-hex"/>
          <p:cNvSpPr/>
          <p:nvPr/>
        </p:nvSpPr>
        <p:spPr>
          <a:xfrm>
            <a:off x="658368" y="2158020"/>
            <a:ext cx="411480" cy="356342"/>
          </a:xfrm>
          <a:prstGeom prst="hexagon">
            <a:avLst/>
          </a:prstGeom>
          <a:solidFill>
            <a:srgbClr val="2E4A8C"/>
          </a:solidFill>
          <a:ln/>
        </p:spPr>
      </p:sp>
      <p:sp>
        <p:nvSpPr>
          <p:cNvPr id="13" name="kw-cell"/>
          <p:cNvSpPr txBox="1"/>
          <p:nvPr/>
        </p:nvSpPr>
        <p:spPr>
          <a:xfrm>
            <a:off x="1143000" y="1920240"/>
            <a:ext cx="2331720" cy="831901"/>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timetable</a:t>
            </a:r>
            <a:endParaRPr lang="en-US" sz="2000" dirty="0"/>
          </a:p>
        </p:txBody>
      </p:sp>
      <p:sp>
        <p:nvSpPr>
          <p:cNvPr id="14" name="kw-cell"/>
          <p:cNvSpPr txBox="1"/>
          <p:nvPr/>
        </p:nvSpPr>
        <p:spPr>
          <a:xfrm>
            <a:off x="3657600" y="1920240"/>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table of leaving and arriving times</a:t>
            </a:r>
            <a:endParaRPr lang="en-US" sz="1800" dirty="0"/>
          </a:p>
        </p:txBody>
      </p:sp>
      <p:sp>
        <p:nvSpPr>
          <p:cNvPr id="15" name="kw-cell"/>
          <p:cNvSpPr txBox="1"/>
          <p:nvPr/>
        </p:nvSpPr>
        <p:spPr>
          <a:xfrm>
            <a:off x="7315200" y="1920240"/>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bus timetable shows the 08:40 bus reaching town at 09:05.</a:t>
            </a:r>
            <a:endParaRPr lang="en-US" sz="1800" dirty="0"/>
          </a:p>
        </p:txBody>
      </p:sp>
      <p:sp>
        <p:nvSpPr>
          <p:cNvPr id="16" name="kw-row"/>
          <p:cNvSpPr/>
          <p:nvPr/>
        </p:nvSpPr>
        <p:spPr>
          <a:xfrm>
            <a:off x="548640" y="2825293"/>
            <a:ext cx="11094415" cy="604317"/>
          </a:xfrm>
          <a:prstGeom prst="roundRect">
            <a:avLst>
              <a:gd name="adj" fmla="val 9079"/>
            </a:avLst>
          </a:prstGeom>
          <a:solidFill>
            <a:srgbClr val="F9F4EC"/>
          </a:solidFill>
          <a:ln/>
        </p:spPr>
      </p:sp>
      <p:sp>
        <p:nvSpPr>
          <p:cNvPr id="17" name="kw-hex"/>
          <p:cNvSpPr/>
          <p:nvPr/>
        </p:nvSpPr>
        <p:spPr>
          <a:xfrm>
            <a:off x="658368" y="2949280"/>
            <a:ext cx="411480" cy="356342"/>
          </a:xfrm>
          <a:prstGeom prst="hexagon">
            <a:avLst/>
          </a:prstGeom>
          <a:solidFill>
            <a:srgbClr val="B8862B"/>
          </a:solidFill>
          <a:ln/>
        </p:spPr>
      </p:sp>
      <p:sp>
        <p:nvSpPr>
          <p:cNvPr id="18" name="kw-cell"/>
          <p:cNvSpPr txBox="1"/>
          <p:nvPr/>
        </p:nvSpPr>
        <p:spPr>
          <a:xfrm>
            <a:off x="1143000" y="2825293"/>
            <a:ext cx="2331720" cy="604317"/>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duration</a:t>
            </a:r>
            <a:endParaRPr lang="en-US" sz="2000" dirty="0"/>
          </a:p>
        </p:txBody>
      </p:sp>
      <p:sp>
        <p:nvSpPr>
          <p:cNvPr id="19" name="kw-cell"/>
          <p:cNvSpPr txBox="1"/>
          <p:nvPr/>
        </p:nvSpPr>
        <p:spPr>
          <a:xfrm>
            <a:off x="3657600" y="2825293"/>
            <a:ext cx="3474720" cy="60431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how long something lasts</a:t>
            </a:r>
            <a:endParaRPr lang="en-US" sz="1800" dirty="0"/>
          </a:p>
        </p:txBody>
      </p:sp>
      <p:sp>
        <p:nvSpPr>
          <p:cNvPr id="20" name="kw-cell"/>
          <p:cNvSpPr txBox="1"/>
          <p:nvPr/>
        </p:nvSpPr>
        <p:spPr>
          <a:xfrm>
            <a:off x="7315200" y="2825293"/>
            <a:ext cx="4236415" cy="604317"/>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duration of the film was 95 minutes.</a:t>
            </a:r>
            <a:endParaRPr lang="en-US" sz="1800" dirty="0"/>
          </a:p>
        </p:txBody>
      </p:sp>
      <p:sp>
        <p:nvSpPr>
          <p:cNvPr id="21" name="kw-row"/>
          <p:cNvSpPr/>
          <p:nvPr/>
        </p:nvSpPr>
        <p:spPr>
          <a:xfrm>
            <a:off x="548640" y="3502762"/>
            <a:ext cx="11094415" cy="831901"/>
          </a:xfrm>
          <a:prstGeom prst="roundRect">
            <a:avLst>
              <a:gd name="adj" fmla="val 6595"/>
            </a:avLst>
          </a:prstGeom>
          <a:solidFill>
            <a:srgbClr val="F5F6F9"/>
          </a:solidFill>
          <a:ln/>
        </p:spPr>
      </p:sp>
      <p:sp>
        <p:nvSpPr>
          <p:cNvPr id="22" name="kw-hex"/>
          <p:cNvSpPr/>
          <p:nvPr/>
        </p:nvSpPr>
        <p:spPr>
          <a:xfrm>
            <a:off x="658368" y="3740541"/>
            <a:ext cx="411480" cy="356342"/>
          </a:xfrm>
          <a:prstGeom prst="hexagon">
            <a:avLst/>
          </a:prstGeom>
          <a:solidFill>
            <a:srgbClr val="2E4A8C"/>
          </a:solidFill>
          <a:ln/>
        </p:spPr>
      </p:sp>
      <p:sp>
        <p:nvSpPr>
          <p:cNvPr id="23" name="kw-cell"/>
          <p:cNvSpPr txBox="1"/>
          <p:nvPr/>
        </p:nvSpPr>
        <p:spPr>
          <a:xfrm>
            <a:off x="1143000" y="3502762"/>
            <a:ext cx="2331720" cy="831901"/>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24-hour clock</a:t>
            </a:r>
            <a:endParaRPr lang="en-US" sz="2000" dirty="0"/>
          </a:p>
        </p:txBody>
      </p:sp>
      <p:sp>
        <p:nvSpPr>
          <p:cNvPr id="24" name="kw-cell"/>
          <p:cNvSpPr txBox="1"/>
          <p:nvPr/>
        </p:nvSpPr>
        <p:spPr>
          <a:xfrm>
            <a:off x="3657600" y="3502762"/>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times from 00:00 to 23:59, with no am or pm</a:t>
            </a:r>
            <a:endParaRPr lang="en-US" sz="1800" dirty="0"/>
          </a:p>
        </p:txBody>
      </p:sp>
      <p:sp>
        <p:nvSpPr>
          <p:cNvPr id="25" name="kw-cell"/>
          <p:cNvSpPr txBox="1"/>
          <p:nvPr/>
        </p:nvSpPr>
        <p:spPr>
          <a:xfrm>
            <a:off x="7315200" y="3502762"/>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On the 24-hour clock, 4 pm is 16:00.</a:t>
            </a:r>
            <a:endParaRPr lang="en-US" sz="1800" dirty="0"/>
          </a:p>
        </p:txBody>
      </p:sp>
      <p:sp>
        <p:nvSpPr>
          <p:cNvPr id="26" name="kw-row"/>
          <p:cNvSpPr/>
          <p:nvPr/>
        </p:nvSpPr>
        <p:spPr>
          <a:xfrm>
            <a:off x="548640" y="4407814"/>
            <a:ext cx="11094415" cy="831901"/>
          </a:xfrm>
          <a:prstGeom prst="roundRect">
            <a:avLst>
              <a:gd name="adj" fmla="val 6595"/>
            </a:avLst>
          </a:prstGeom>
          <a:solidFill>
            <a:srgbClr val="F9F4EC"/>
          </a:solidFill>
          <a:ln/>
        </p:spPr>
      </p:sp>
      <p:sp>
        <p:nvSpPr>
          <p:cNvPr id="27" name="kw-hex"/>
          <p:cNvSpPr/>
          <p:nvPr/>
        </p:nvSpPr>
        <p:spPr>
          <a:xfrm>
            <a:off x="658368" y="4645594"/>
            <a:ext cx="411480" cy="356342"/>
          </a:xfrm>
          <a:prstGeom prst="hexagon">
            <a:avLst/>
          </a:prstGeom>
          <a:solidFill>
            <a:srgbClr val="B8862B"/>
          </a:solidFill>
          <a:ln/>
        </p:spPr>
      </p:sp>
      <p:sp>
        <p:nvSpPr>
          <p:cNvPr id="28" name="kw-cell"/>
          <p:cNvSpPr txBox="1"/>
          <p:nvPr/>
        </p:nvSpPr>
        <p:spPr>
          <a:xfrm>
            <a:off x="1143000" y="4407814"/>
            <a:ext cx="2331720" cy="831901"/>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two-way table</a:t>
            </a:r>
            <a:endParaRPr lang="en-US" sz="2000" dirty="0"/>
          </a:p>
        </p:txBody>
      </p:sp>
      <p:sp>
        <p:nvSpPr>
          <p:cNvPr id="29" name="kw-cell"/>
          <p:cNvSpPr txBox="1"/>
          <p:nvPr/>
        </p:nvSpPr>
        <p:spPr>
          <a:xfrm>
            <a:off x="3657600" y="4407814"/>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table that sorts things in two ways at once</a:t>
            </a:r>
            <a:endParaRPr lang="en-US" sz="1800" dirty="0"/>
          </a:p>
        </p:txBody>
      </p:sp>
      <p:sp>
        <p:nvSpPr>
          <p:cNvPr id="30" name="kw-cell"/>
          <p:cNvSpPr txBox="1"/>
          <p:nvPr/>
        </p:nvSpPr>
        <p:spPr>
          <a:xfrm>
            <a:off x="7315200" y="4407814"/>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two-way table shows boys and girls in each year group.</a:t>
            </a:r>
            <a:endParaRPr lang="en-US" sz="1800" dirty="0"/>
          </a:p>
        </p:txBody>
      </p:sp>
      <p:sp>
        <p:nvSpPr>
          <p:cNvPr id="31" name="kw-row"/>
          <p:cNvSpPr/>
          <p:nvPr/>
        </p:nvSpPr>
        <p:spPr>
          <a:xfrm>
            <a:off x="548640" y="5312867"/>
            <a:ext cx="11094415" cy="831901"/>
          </a:xfrm>
          <a:prstGeom prst="roundRect">
            <a:avLst>
              <a:gd name="adj" fmla="val 6595"/>
            </a:avLst>
          </a:prstGeom>
          <a:solidFill>
            <a:srgbClr val="F5F6F9"/>
          </a:solidFill>
          <a:ln/>
        </p:spPr>
      </p:sp>
      <p:sp>
        <p:nvSpPr>
          <p:cNvPr id="32" name="kw-hex"/>
          <p:cNvSpPr/>
          <p:nvPr/>
        </p:nvSpPr>
        <p:spPr>
          <a:xfrm>
            <a:off x="658368" y="5550647"/>
            <a:ext cx="411480" cy="356342"/>
          </a:xfrm>
          <a:prstGeom prst="hexagon">
            <a:avLst/>
          </a:prstGeom>
          <a:solidFill>
            <a:srgbClr val="2E4A8C"/>
          </a:solidFill>
          <a:ln/>
        </p:spPr>
      </p:sp>
      <p:sp>
        <p:nvSpPr>
          <p:cNvPr id="33" name="kw-cell"/>
          <p:cNvSpPr txBox="1"/>
          <p:nvPr/>
        </p:nvSpPr>
        <p:spPr>
          <a:xfrm>
            <a:off x="1143000" y="5312867"/>
            <a:ext cx="2331720" cy="831901"/>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calendar</a:t>
            </a:r>
            <a:endParaRPr lang="en-US" sz="2000" dirty="0"/>
          </a:p>
        </p:txBody>
      </p:sp>
      <p:sp>
        <p:nvSpPr>
          <p:cNvPr id="34" name="kw-cell"/>
          <p:cNvSpPr txBox="1"/>
          <p:nvPr/>
        </p:nvSpPr>
        <p:spPr>
          <a:xfrm>
            <a:off x="3657600" y="5312867"/>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chart of the days and weeks in each month</a:t>
            </a:r>
            <a:endParaRPr lang="en-US" sz="1800" dirty="0"/>
          </a:p>
        </p:txBody>
      </p:sp>
      <p:sp>
        <p:nvSpPr>
          <p:cNvPr id="35" name="kw-cell"/>
          <p:cNvSpPr txBox="1"/>
          <p:nvPr/>
        </p:nvSpPr>
        <p:spPr>
          <a:xfrm>
            <a:off x="7315200" y="5312867"/>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calendar shows that 1 May is a Thursday.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timetable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shows when buses or trains leave and arrive.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Read down a column to follow one bus.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Read across a row to see one stop.</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To find how long a journey takes, count on from the start time.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Do not just subtract the digits.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bus leaves at 09:48 and arrives at 10:20.</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Count on 12 minutes to reach 10:00.</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Then count on 20 more minutes.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journey takes 32 minutes.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24-hour clock</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runs from 00:00 to 23:59.</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3 pm is 15:00 on 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24-hour clock</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calendar</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shows the days of each month.</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Reading a timetable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Count on to the next o'clock first, then add the minutes after it.</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train leaves Oakfield at 11:52 and arrives at Riverton at 12:31. How long does the journey take?</a:t>
            </a:r>
            <a:endParaRPr lang="en-US" sz="1800" dirty="0"/>
          </a:p>
        </p:txBody>
      </p:sp>
      <p:sp>
        <p:nvSpPr>
          <p:cNvPr id="14" name="step-box"/>
          <p:cNvSpPr/>
          <p:nvPr/>
        </p:nvSpPr>
        <p:spPr>
          <a:xfrm>
            <a:off x="6126480" y="2888488"/>
            <a:ext cx="5379415" cy="794512"/>
          </a:xfrm>
          <a:prstGeom prst="roundRect">
            <a:avLst>
              <a:gd name="adj" fmla="val 11509"/>
            </a:avLst>
          </a:prstGeom>
          <a:solidFill>
            <a:srgbClr val="F0F2F7"/>
          </a:solidFill>
          <a:ln/>
        </p:spPr>
      </p:sp>
      <p:sp>
        <p:nvSpPr>
          <p:cNvPr id="15" name="step-hex"/>
          <p:cNvSpPr/>
          <p:nvPr/>
        </p:nvSpPr>
        <p:spPr>
          <a:xfrm>
            <a:off x="6217920" y="3103614"/>
            <a:ext cx="420624" cy="364260"/>
          </a:xfrm>
          <a:prstGeom prst="hexagon">
            <a:avLst/>
          </a:prstGeom>
          <a:solidFill>
            <a:srgbClr val="2E4A8C"/>
          </a:solidFill>
          <a:ln/>
        </p:spPr>
      </p:sp>
      <p:sp>
        <p:nvSpPr>
          <p:cNvPr id="16" name="step-hex-label"/>
          <p:cNvSpPr txBox="1"/>
          <p:nvPr/>
        </p:nvSpPr>
        <p:spPr>
          <a:xfrm>
            <a:off x="6217920" y="31036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Count on from 11:52 to 12:00. That is 60 − 52 = 8 minutes.</a:t>
            </a:r>
            <a:endParaRPr lang="en-US" sz="1800" dirty="0"/>
          </a:p>
        </p:txBody>
      </p:sp>
      <p:sp>
        <p:nvSpPr>
          <p:cNvPr id="18" name="step-box"/>
          <p:cNvSpPr/>
          <p:nvPr/>
        </p:nvSpPr>
        <p:spPr>
          <a:xfrm>
            <a:off x="6126480" y="3774440"/>
            <a:ext cx="5379415" cy="794512"/>
          </a:xfrm>
          <a:prstGeom prst="roundRect">
            <a:avLst>
              <a:gd name="adj" fmla="val 11509"/>
            </a:avLst>
          </a:prstGeom>
          <a:solidFill>
            <a:srgbClr val="F0F2F7"/>
          </a:solidFill>
          <a:ln/>
        </p:spPr>
      </p:sp>
      <p:sp>
        <p:nvSpPr>
          <p:cNvPr id="19" name="step-hex"/>
          <p:cNvSpPr/>
          <p:nvPr/>
        </p:nvSpPr>
        <p:spPr>
          <a:xfrm>
            <a:off x="6217920" y="3989566"/>
            <a:ext cx="420624" cy="364260"/>
          </a:xfrm>
          <a:prstGeom prst="hexagon">
            <a:avLst/>
          </a:prstGeom>
          <a:solidFill>
            <a:srgbClr val="2E4A8C"/>
          </a:solidFill>
          <a:ln/>
        </p:spPr>
      </p:sp>
      <p:sp>
        <p:nvSpPr>
          <p:cNvPr id="20" name="step-hex-label"/>
          <p:cNvSpPr txBox="1"/>
          <p:nvPr/>
        </p:nvSpPr>
        <p:spPr>
          <a:xfrm>
            <a:off x="6217920" y="398956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774440"/>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Count on from 12:00 to 12:31. That is 31 minutes.</a:t>
            </a:r>
            <a:endParaRPr lang="en-US" sz="1800" dirty="0"/>
          </a:p>
        </p:txBody>
      </p:sp>
      <p:sp>
        <p:nvSpPr>
          <p:cNvPr id="22" name="step-box"/>
          <p:cNvSpPr/>
          <p:nvPr/>
        </p:nvSpPr>
        <p:spPr>
          <a:xfrm>
            <a:off x="6126480" y="4660392"/>
            <a:ext cx="5379415" cy="566928"/>
          </a:xfrm>
          <a:prstGeom prst="roundRect">
            <a:avLst>
              <a:gd name="adj" fmla="val 16129"/>
            </a:avLst>
          </a:prstGeom>
          <a:solidFill>
            <a:srgbClr val="F0F2F7"/>
          </a:solidFill>
          <a:ln/>
        </p:spPr>
      </p:sp>
      <p:sp>
        <p:nvSpPr>
          <p:cNvPr id="23" name="step-hex"/>
          <p:cNvSpPr/>
          <p:nvPr/>
        </p:nvSpPr>
        <p:spPr>
          <a:xfrm>
            <a:off x="6217920" y="4761726"/>
            <a:ext cx="420624" cy="364260"/>
          </a:xfrm>
          <a:prstGeom prst="hexagon">
            <a:avLst/>
          </a:prstGeom>
          <a:solidFill>
            <a:srgbClr val="2E4A8C"/>
          </a:solidFill>
          <a:ln/>
        </p:spPr>
      </p:sp>
      <p:sp>
        <p:nvSpPr>
          <p:cNvPr id="24" name="step-hex-label"/>
          <p:cNvSpPr txBox="1"/>
          <p:nvPr/>
        </p:nvSpPr>
        <p:spPr>
          <a:xfrm>
            <a:off x="6217920" y="476172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660392"/>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8 + 31 = 39.</a:t>
            </a:r>
            <a:endParaRPr lang="en-US" sz="1800" dirty="0"/>
          </a:p>
        </p:txBody>
      </p:sp>
      <p:sp>
        <p:nvSpPr>
          <p:cNvPr id="26" name="worked-answer"/>
          <p:cNvSpPr/>
          <p:nvPr/>
        </p:nvSpPr>
        <p:spPr>
          <a:xfrm>
            <a:off x="6126480" y="536448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39 minutes</a:t>
            </a:r>
            <a:endParaRPr lang="en-US" sz="1800" dirty="0"/>
          </a:p>
        </p:txBody>
      </p:sp>
      <p:sp>
        <p:nvSpPr>
          <p:cNvPr id="27" name="bullet-card"/>
          <p:cNvSpPr/>
          <p:nvPr/>
        </p:nvSpPr>
        <p:spPr>
          <a:xfrm>
            <a:off x="548640" y="1389888"/>
            <a:ext cx="5074920" cy="1017524"/>
          </a:xfrm>
          <a:prstGeom prst="roundRect">
            <a:avLst>
              <a:gd name="adj" fmla="val 7189"/>
            </a:avLst>
          </a:prstGeom>
          <a:solidFill>
            <a:srgbClr val="F5F6F9"/>
          </a:solidFill>
          <a:ln/>
        </p:spPr>
      </p:sp>
      <p:sp>
        <p:nvSpPr>
          <p:cNvPr id="28" name="bullet-hex"/>
          <p:cNvSpPr/>
          <p:nvPr/>
        </p:nvSpPr>
        <p:spPr>
          <a:xfrm>
            <a:off x="676656" y="1732357"/>
            <a:ext cx="384048" cy="332586"/>
          </a:xfrm>
          <a:prstGeom prst="hexagon">
            <a:avLst/>
          </a:prstGeom>
          <a:solidFill>
            <a:srgbClr val="2E4A8C"/>
          </a:solidFill>
          <a:ln/>
        </p:spPr>
      </p:sp>
      <p:sp>
        <p:nvSpPr>
          <p:cNvPr id="29" name="bullet"/>
          <p:cNvSpPr txBox="1"/>
          <p:nvPr/>
        </p:nvSpPr>
        <p:spPr>
          <a:xfrm>
            <a:off x="1143000" y="1389888"/>
            <a:ext cx="4389120"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bus timetable has a row for each stop and a column for each bus.</a:t>
            </a:r>
            <a:endParaRPr lang="en-US" sz="2200" dirty="0"/>
          </a:p>
        </p:txBody>
      </p:sp>
      <p:sp>
        <p:nvSpPr>
          <p:cNvPr id="30" name="bullet-card"/>
          <p:cNvSpPr/>
          <p:nvPr/>
        </p:nvSpPr>
        <p:spPr>
          <a:xfrm>
            <a:off x="548640" y="2553716"/>
            <a:ext cx="5074920" cy="1358392"/>
          </a:xfrm>
          <a:prstGeom prst="roundRect">
            <a:avLst>
              <a:gd name="adj" fmla="val 5385"/>
            </a:avLst>
          </a:prstGeom>
          <a:solidFill>
            <a:srgbClr val="F5F6F9"/>
          </a:solidFill>
          <a:ln/>
        </p:spPr>
      </p:sp>
      <p:sp>
        <p:nvSpPr>
          <p:cNvPr id="31" name="bullet-hex"/>
          <p:cNvSpPr/>
          <p:nvPr/>
        </p:nvSpPr>
        <p:spPr>
          <a:xfrm>
            <a:off x="676656" y="3066619"/>
            <a:ext cx="384048" cy="332586"/>
          </a:xfrm>
          <a:prstGeom prst="hexagon">
            <a:avLst/>
          </a:prstGeom>
          <a:solidFill>
            <a:srgbClr val="B8862B"/>
          </a:solidFill>
          <a:ln/>
        </p:spPr>
      </p:sp>
      <p:sp>
        <p:nvSpPr>
          <p:cNvPr id="32" name="bullet"/>
          <p:cNvSpPr txBox="1"/>
          <p:nvPr/>
        </p:nvSpPr>
        <p:spPr>
          <a:xfrm>
            <a:off x="1143000" y="2553716"/>
            <a:ext cx="4389120" cy="13583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To find how long that bus takes from Oakfield to the Station, count on from 08:05 to 08:31.</a:t>
            </a:r>
            <a:endParaRPr lang="en-US" sz="2200" dirty="0"/>
          </a:p>
        </p:txBody>
      </p:sp>
      <p:sp>
        <p:nvSpPr>
          <p:cNvPr id="33" name="bullet-card"/>
          <p:cNvSpPr/>
          <p:nvPr/>
        </p:nvSpPr>
        <p:spPr>
          <a:xfrm>
            <a:off x="548640" y="4058412"/>
            <a:ext cx="5074920" cy="1017524"/>
          </a:xfrm>
          <a:prstGeom prst="roundRect">
            <a:avLst>
              <a:gd name="adj" fmla="val 7189"/>
            </a:avLst>
          </a:prstGeom>
          <a:solidFill>
            <a:srgbClr val="F5F6F9"/>
          </a:solidFill>
          <a:ln/>
        </p:spPr>
      </p:sp>
      <p:sp>
        <p:nvSpPr>
          <p:cNvPr id="34" name="bullet-hex"/>
          <p:cNvSpPr/>
          <p:nvPr/>
        </p:nvSpPr>
        <p:spPr>
          <a:xfrm>
            <a:off x="676656" y="4400881"/>
            <a:ext cx="384048" cy="332586"/>
          </a:xfrm>
          <a:prstGeom prst="hexagon">
            <a:avLst/>
          </a:prstGeom>
          <a:solidFill>
            <a:srgbClr val="2E4A8C"/>
          </a:solidFill>
          <a:ln/>
        </p:spPr>
      </p:sp>
      <p:sp>
        <p:nvSpPr>
          <p:cNvPr id="35" name="bullet"/>
          <p:cNvSpPr txBox="1"/>
          <p:nvPr/>
        </p:nvSpPr>
        <p:spPr>
          <a:xfrm>
            <a:off x="1143000" y="4058412"/>
            <a:ext cx="4389120"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When the journey crosses an hour, count on in two steps.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Start and finish times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Split the minutes so that one jump lands exactly on the next o'clock.</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film starts at 14:35 and lasts 95 minutes. What time does it finish?</a:t>
            </a:r>
            <a:endParaRPr lang="en-US" sz="1800" dirty="0"/>
          </a:p>
        </p:txBody>
      </p:sp>
      <p:sp>
        <p:nvSpPr>
          <p:cNvPr id="14" name="step-box"/>
          <p:cNvSpPr/>
          <p:nvPr/>
        </p:nvSpPr>
        <p:spPr>
          <a:xfrm>
            <a:off x="6126480" y="2888488"/>
            <a:ext cx="5379415" cy="566293"/>
          </a:xfrm>
          <a:prstGeom prst="roundRect">
            <a:avLst>
              <a:gd name="adj" fmla="val 16147"/>
            </a:avLst>
          </a:prstGeom>
          <a:solidFill>
            <a:srgbClr val="F0F2F7"/>
          </a:solidFill>
          <a:ln/>
        </p:spPr>
      </p:sp>
      <p:sp>
        <p:nvSpPr>
          <p:cNvPr id="15" name="step-hex"/>
          <p:cNvSpPr/>
          <p:nvPr/>
        </p:nvSpPr>
        <p:spPr>
          <a:xfrm>
            <a:off x="6217920" y="2989504"/>
            <a:ext cx="420624" cy="364260"/>
          </a:xfrm>
          <a:prstGeom prst="hexagon">
            <a:avLst/>
          </a:prstGeom>
          <a:solidFill>
            <a:srgbClr val="2E4A8C"/>
          </a:solidFill>
          <a:ln/>
        </p:spPr>
      </p:sp>
      <p:sp>
        <p:nvSpPr>
          <p:cNvPr id="16" name="step-hex-label"/>
          <p:cNvSpPr txBox="1"/>
          <p:nvPr/>
        </p:nvSpPr>
        <p:spPr>
          <a:xfrm>
            <a:off x="6217920" y="298950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95 minutes is 1 hour and 35 minutes.</a:t>
            </a:r>
            <a:endParaRPr lang="en-US" sz="1800" dirty="0"/>
          </a:p>
        </p:txBody>
      </p:sp>
      <p:sp>
        <p:nvSpPr>
          <p:cNvPr id="18" name="step-box"/>
          <p:cNvSpPr/>
          <p:nvPr/>
        </p:nvSpPr>
        <p:spPr>
          <a:xfrm>
            <a:off x="6126480" y="3546221"/>
            <a:ext cx="5379415" cy="566293"/>
          </a:xfrm>
          <a:prstGeom prst="roundRect">
            <a:avLst>
              <a:gd name="adj" fmla="val 16147"/>
            </a:avLst>
          </a:prstGeom>
          <a:solidFill>
            <a:srgbClr val="F0F2F7"/>
          </a:solidFill>
          <a:ln/>
        </p:spPr>
      </p:sp>
      <p:sp>
        <p:nvSpPr>
          <p:cNvPr id="19" name="step-hex"/>
          <p:cNvSpPr/>
          <p:nvPr/>
        </p:nvSpPr>
        <p:spPr>
          <a:xfrm>
            <a:off x="6217920" y="3647237"/>
            <a:ext cx="420624" cy="364260"/>
          </a:xfrm>
          <a:prstGeom prst="hexagon">
            <a:avLst/>
          </a:prstGeom>
          <a:solidFill>
            <a:srgbClr val="2E4A8C"/>
          </a:solidFill>
          <a:ln/>
        </p:spPr>
      </p:sp>
      <p:sp>
        <p:nvSpPr>
          <p:cNvPr id="20" name="step-hex-label"/>
          <p:cNvSpPr txBox="1"/>
          <p:nvPr/>
        </p:nvSpPr>
        <p:spPr>
          <a:xfrm>
            <a:off x="6217920" y="3647237"/>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221"/>
            <a:ext cx="4739335" cy="566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Add 1 hour: 14:35 becomes 15:35.</a:t>
            </a:r>
            <a:endParaRPr lang="en-US" sz="1800" dirty="0"/>
          </a:p>
        </p:txBody>
      </p:sp>
      <p:sp>
        <p:nvSpPr>
          <p:cNvPr id="22" name="step-box"/>
          <p:cNvSpPr/>
          <p:nvPr/>
        </p:nvSpPr>
        <p:spPr>
          <a:xfrm>
            <a:off x="6126480" y="4203954"/>
            <a:ext cx="5379415" cy="566293"/>
          </a:xfrm>
          <a:prstGeom prst="roundRect">
            <a:avLst>
              <a:gd name="adj" fmla="val 16147"/>
            </a:avLst>
          </a:prstGeom>
          <a:solidFill>
            <a:srgbClr val="F0F2F7"/>
          </a:solidFill>
          <a:ln/>
        </p:spPr>
      </p:sp>
      <p:sp>
        <p:nvSpPr>
          <p:cNvPr id="23" name="step-hex"/>
          <p:cNvSpPr/>
          <p:nvPr/>
        </p:nvSpPr>
        <p:spPr>
          <a:xfrm>
            <a:off x="6217920" y="4304970"/>
            <a:ext cx="420624" cy="364260"/>
          </a:xfrm>
          <a:prstGeom prst="hexagon">
            <a:avLst/>
          </a:prstGeom>
          <a:solidFill>
            <a:srgbClr val="2E4A8C"/>
          </a:solidFill>
          <a:ln/>
        </p:spPr>
      </p:sp>
      <p:sp>
        <p:nvSpPr>
          <p:cNvPr id="24" name="step-hex-label"/>
          <p:cNvSpPr txBox="1"/>
          <p:nvPr/>
        </p:nvSpPr>
        <p:spPr>
          <a:xfrm>
            <a:off x="6217920" y="430497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203954"/>
            <a:ext cx="4739335" cy="566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Add 25 minutes to reach 16:00.</a:t>
            </a:r>
            <a:endParaRPr lang="en-US" sz="1800" dirty="0"/>
          </a:p>
        </p:txBody>
      </p:sp>
      <p:sp>
        <p:nvSpPr>
          <p:cNvPr id="26" name="step-box"/>
          <p:cNvSpPr/>
          <p:nvPr/>
        </p:nvSpPr>
        <p:spPr>
          <a:xfrm>
            <a:off x="6126480" y="4861687"/>
            <a:ext cx="5379415" cy="566293"/>
          </a:xfrm>
          <a:prstGeom prst="roundRect">
            <a:avLst>
              <a:gd name="adj" fmla="val 16147"/>
            </a:avLst>
          </a:prstGeom>
          <a:solidFill>
            <a:srgbClr val="F0F2F7"/>
          </a:solidFill>
          <a:ln/>
        </p:spPr>
      </p:sp>
      <p:sp>
        <p:nvSpPr>
          <p:cNvPr id="27" name="step-hex"/>
          <p:cNvSpPr/>
          <p:nvPr/>
        </p:nvSpPr>
        <p:spPr>
          <a:xfrm>
            <a:off x="6217920" y="4962703"/>
            <a:ext cx="420624" cy="364260"/>
          </a:xfrm>
          <a:prstGeom prst="hexagon">
            <a:avLst/>
          </a:prstGeom>
          <a:solidFill>
            <a:srgbClr val="2E4A8C"/>
          </a:solidFill>
          <a:ln/>
        </p:spPr>
      </p:sp>
      <p:sp>
        <p:nvSpPr>
          <p:cNvPr id="28" name="step-hex-label"/>
          <p:cNvSpPr txBox="1"/>
          <p:nvPr/>
        </p:nvSpPr>
        <p:spPr>
          <a:xfrm>
            <a:off x="6217920" y="4962703"/>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step"/>
          <p:cNvSpPr txBox="1"/>
          <p:nvPr/>
        </p:nvSpPr>
        <p:spPr>
          <a:xfrm>
            <a:off x="6766560" y="4861687"/>
            <a:ext cx="4739335" cy="566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Add the remaining 10 minutes: 16:10.</a:t>
            </a:r>
            <a:endParaRPr lang="en-US" sz="1800" dirty="0"/>
          </a:p>
        </p:txBody>
      </p:sp>
      <p:sp>
        <p:nvSpPr>
          <p:cNvPr id="30" name="worked-answer"/>
          <p:cNvSpPr/>
          <p:nvPr/>
        </p:nvSpPr>
        <p:spPr>
          <a:xfrm>
            <a:off x="6126480" y="556514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16:10</a:t>
            </a:r>
            <a:endParaRPr lang="en-US" sz="1800" dirty="0"/>
          </a:p>
        </p:txBody>
      </p:sp>
      <p:sp>
        <p:nvSpPr>
          <p:cNvPr id="31" name="bullet-card"/>
          <p:cNvSpPr/>
          <p:nvPr/>
        </p:nvSpPr>
        <p:spPr>
          <a:xfrm>
            <a:off x="548640" y="1389888"/>
            <a:ext cx="5074920" cy="1358392"/>
          </a:xfrm>
          <a:prstGeom prst="roundRect">
            <a:avLst>
              <a:gd name="adj" fmla="val 5385"/>
            </a:avLst>
          </a:prstGeom>
          <a:solidFill>
            <a:srgbClr val="F5F6F9"/>
          </a:solidFill>
          <a:ln/>
        </p:spPr>
      </p:sp>
      <p:sp>
        <p:nvSpPr>
          <p:cNvPr id="32" name="bullet-hex"/>
          <p:cNvSpPr/>
          <p:nvPr/>
        </p:nvSpPr>
        <p:spPr>
          <a:xfrm>
            <a:off x="676656" y="1902791"/>
            <a:ext cx="384048" cy="332586"/>
          </a:xfrm>
          <a:prstGeom prst="hexagon">
            <a:avLst/>
          </a:prstGeom>
          <a:solidFill>
            <a:srgbClr val="2E4A8C"/>
          </a:solidFill>
          <a:ln/>
        </p:spPr>
      </p:sp>
      <p:sp>
        <p:nvSpPr>
          <p:cNvPr id="33" name="bullet"/>
          <p:cNvSpPr txBox="1"/>
          <p:nvPr/>
        </p:nvSpPr>
        <p:spPr>
          <a:xfrm>
            <a:off x="1143000" y="1389888"/>
            <a:ext cx="4389120" cy="13583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24-hour clock avoids am and pm. The morning times look the same: 09:30 is 9:30 am.</a:t>
            </a:r>
            <a:endParaRPr lang="en-US" sz="2200" dirty="0"/>
          </a:p>
        </p:txBody>
      </p:sp>
      <p:sp>
        <p:nvSpPr>
          <p:cNvPr id="34" name="bullet-card"/>
          <p:cNvSpPr/>
          <p:nvPr/>
        </p:nvSpPr>
        <p:spPr>
          <a:xfrm>
            <a:off x="548640" y="2894584"/>
            <a:ext cx="5074920" cy="1017524"/>
          </a:xfrm>
          <a:prstGeom prst="roundRect">
            <a:avLst>
              <a:gd name="adj" fmla="val 7189"/>
            </a:avLst>
          </a:prstGeom>
          <a:solidFill>
            <a:srgbClr val="F5F6F9"/>
          </a:solidFill>
          <a:ln/>
        </p:spPr>
      </p:sp>
      <p:sp>
        <p:nvSpPr>
          <p:cNvPr id="35" name="bullet-hex"/>
          <p:cNvSpPr/>
          <p:nvPr/>
        </p:nvSpPr>
        <p:spPr>
          <a:xfrm>
            <a:off x="676656" y="3237053"/>
            <a:ext cx="384048" cy="332586"/>
          </a:xfrm>
          <a:prstGeom prst="hexagon">
            <a:avLst/>
          </a:prstGeom>
          <a:solidFill>
            <a:srgbClr val="B8862B"/>
          </a:solidFill>
          <a:ln/>
        </p:spPr>
      </p:sp>
      <p:sp>
        <p:nvSpPr>
          <p:cNvPr id="36" name="bullet"/>
          <p:cNvSpPr txBox="1"/>
          <p:nvPr/>
        </p:nvSpPr>
        <p:spPr>
          <a:xfrm>
            <a:off x="1143000" y="2894584"/>
            <a:ext cx="4389120"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To find a finish time, add the duration in friendly chunks.</a:t>
            </a:r>
            <a:endParaRPr lang="en-US" sz="2200" dirty="0"/>
          </a:p>
        </p:txBody>
      </p:sp>
      <p:sp>
        <p:nvSpPr>
          <p:cNvPr id="37" name="bullet-card"/>
          <p:cNvSpPr/>
          <p:nvPr/>
        </p:nvSpPr>
        <p:spPr>
          <a:xfrm>
            <a:off x="548640" y="4058412"/>
            <a:ext cx="5074920" cy="1017524"/>
          </a:xfrm>
          <a:prstGeom prst="roundRect">
            <a:avLst>
              <a:gd name="adj" fmla="val 7189"/>
            </a:avLst>
          </a:prstGeom>
          <a:solidFill>
            <a:srgbClr val="F5F6F9"/>
          </a:solidFill>
          <a:ln/>
        </p:spPr>
      </p:sp>
      <p:sp>
        <p:nvSpPr>
          <p:cNvPr id="38" name="bullet-hex"/>
          <p:cNvSpPr/>
          <p:nvPr/>
        </p:nvSpPr>
        <p:spPr>
          <a:xfrm>
            <a:off x="676656" y="4400881"/>
            <a:ext cx="384048" cy="332586"/>
          </a:xfrm>
          <a:prstGeom prst="hexagon">
            <a:avLst/>
          </a:prstGeom>
          <a:solidFill>
            <a:srgbClr val="2E4A8C"/>
          </a:solidFill>
          <a:ln/>
        </p:spPr>
      </p:sp>
      <p:sp>
        <p:nvSpPr>
          <p:cNvPr id="39" name="bullet"/>
          <p:cNvSpPr txBox="1"/>
          <p:nvPr/>
        </p:nvSpPr>
        <p:spPr>
          <a:xfrm>
            <a:off x="1143000" y="4058412"/>
            <a:ext cx="4389120"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To find a start time, count back from the finish in the same way.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Two-way tables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Find the total that the missing number belongs to, then subtract what you know.</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963676"/>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sports club has 52 members. 31 are adults and the rest are children. 18 of the adults are female. How many adults are male?</a:t>
            </a:r>
            <a:endParaRPr lang="en-US" sz="1800" dirty="0"/>
          </a:p>
        </p:txBody>
      </p:sp>
      <p:sp>
        <p:nvSpPr>
          <p:cNvPr id="14" name="step-box"/>
          <p:cNvSpPr/>
          <p:nvPr/>
        </p:nvSpPr>
        <p:spPr>
          <a:xfrm>
            <a:off x="6126480" y="3167380"/>
            <a:ext cx="5379415" cy="794512"/>
          </a:xfrm>
          <a:prstGeom prst="roundRect">
            <a:avLst>
              <a:gd name="adj" fmla="val 11509"/>
            </a:avLst>
          </a:prstGeom>
          <a:solidFill>
            <a:srgbClr val="F0F2F7"/>
          </a:solidFill>
          <a:ln/>
        </p:spPr>
      </p:sp>
      <p:sp>
        <p:nvSpPr>
          <p:cNvPr id="15" name="step-hex"/>
          <p:cNvSpPr/>
          <p:nvPr/>
        </p:nvSpPr>
        <p:spPr>
          <a:xfrm>
            <a:off x="6217920" y="3382506"/>
            <a:ext cx="420624" cy="364260"/>
          </a:xfrm>
          <a:prstGeom prst="hexagon">
            <a:avLst/>
          </a:prstGeom>
          <a:solidFill>
            <a:srgbClr val="2E4A8C"/>
          </a:solidFill>
          <a:ln/>
        </p:spPr>
      </p:sp>
      <p:sp>
        <p:nvSpPr>
          <p:cNvPr id="16" name="step-hex-label"/>
          <p:cNvSpPr txBox="1"/>
          <p:nvPr/>
        </p:nvSpPr>
        <p:spPr>
          <a:xfrm>
            <a:off x="6217920" y="338250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167380"/>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question is about the adults, so use the adult total: 31.</a:t>
            </a:r>
            <a:endParaRPr lang="en-US" sz="1800" dirty="0"/>
          </a:p>
        </p:txBody>
      </p:sp>
      <p:sp>
        <p:nvSpPr>
          <p:cNvPr id="18" name="step-box"/>
          <p:cNvSpPr/>
          <p:nvPr/>
        </p:nvSpPr>
        <p:spPr>
          <a:xfrm>
            <a:off x="6126480" y="4053332"/>
            <a:ext cx="5379415" cy="566928"/>
          </a:xfrm>
          <a:prstGeom prst="roundRect">
            <a:avLst>
              <a:gd name="adj" fmla="val 16129"/>
            </a:avLst>
          </a:prstGeom>
          <a:solidFill>
            <a:srgbClr val="F0F2F7"/>
          </a:solidFill>
          <a:ln/>
        </p:spPr>
      </p:sp>
      <p:sp>
        <p:nvSpPr>
          <p:cNvPr id="19" name="step-hex"/>
          <p:cNvSpPr/>
          <p:nvPr/>
        </p:nvSpPr>
        <p:spPr>
          <a:xfrm>
            <a:off x="6217920" y="4154666"/>
            <a:ext cx="420624" cy="364260"/>
          </a:xfrm>
          <a:prstGeom prst="hexagon">
            <a:avLst/>
          </a:prstGeom>
          <a:solidFill>
            <a:srgbClr val="2E4A8C"/>
          </a:solidFill>
          <a:ln/>
        </p:spPr>
      </p:sp>
      <p:sp>
        <p:nvSpPr>
          <p:cNvPr id="20" name="step-hex-label"/>
          <p:cNvSpPr txBox="1"/>
          <p:nvPr/>
        </p:nvSpPr>
        <p:spPr>
          <a:xfrm>
            <a:off x="6217920" y="415466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4053332"/>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18 of the 31 adults are female.</a:t>
            </a:r>
            <a:endParaRPr lang="en-US" sz="1800" dirty="0"/>
          </a:p>
        </p:txBody>
      </p:sp>
      <p:sp>
        <p:nvSpPr>
          <p:cNvPr id="22" name="step-box"/>
          <p:cNvSpPr/>
          <p:nvPr/>
        </p:nvSpPr>
        <p:spPr>
          <a:xfrm>
            <a:off x="6126480" y="4711700"/>
            <a:ext cx="5379415" cy="566928"/>
          </a:xfrm>
          <a:prstGeom prst="roundRect">
            <a:avLst>
              <a:gd name="adj" fmla="val 16129"/>
            </a:avLst>
          </a:prstGeom>
          <a:solidFill>
            <a:srgbClr val="F0F2F7"/>
          </a:solidFill>
          <a:ln/>
        </p:spPr>
      </p:sp>
      <p:sp>
        <p:nvSpPr>
          <p:cNvPr id="23" name="step-hex"/>
          <p:cNvSpPr/>
          <p:nvPr/>
        </p:nvSpPr>
        <p:spPr>
          <a:xfrm>
            <a:off x="6217920" y="4813034"/>
            <a:ext cx="420624" cy="364260"/>
          </a:xfrm>
          <a:prstGeom prst="hexagon">
            <a:avLst/>
          </a:prstGeom>
          <a:solidFill>
            <a:srgbClr val="2E4A8C"/>
          </a:solidFill>
          <a:ln/>
        </p:spPr>
      </p:sp>
      <p:sp>
        <p:nvSpPr>
          <p:cNvPr id="24" name="step-hex-label"/>
          <p:cNvSpPr txBox="1"/>
          <p:nvPr/>
        </p:nvSpPr>
        <p:spPr>
          <a:xfrm>
            <a:off x="6217920" y="481303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71170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31 − 18 = 13 adults are male.</a:t>
            </a:r>
            <a:endParaRPr lang="en-US" sz="1800" dirty="0"/>
          </a:p>
        </p:txBody>
      </p:sp>
      <p:sp>
        <p:nvSpPr>
          <p:cNvPr id="26" name="worked-answer"/>
          <p:cNvSpPr/>
          <p:nvPr/>
        </p:nvSpPr>
        <p:spPr>
          <a:xfrm>
            <a:off x="6126480" y="5415788"/>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13</a:t>
            </a:r>
            <a:endParaRPr lang="en-US" sz="1800" dirty="0"/>
          </a:p>
        </p:txBody>
      </p:sp>
      <p:sp>
        <p:nvSpPr>
          <p:cNvPr id="27" name="bullet-card"/>
          <p:cNvSpPr/>
          <p:nvPr/>
        </p:nvSpPr>
        <p:spPr>
          <a:xfrm>
            <a:off x="548640" y="1389888"/>
            <a:ext cx="5074920" cy="945219"/>
          </a:xfrm>
          <a:prstGeom prst="roundRect">
            <a:avLst>
              <a:gd name="adj" fmla="val 7739"/>
            </a:avLst>
          </a:prstGeom>
          <a:solidFill>
            <a:srgbClr val="F5F6F9"/>
          </a:solidFill>
          <a:ln/>
        </p:spPr>
      </p:sp>
      <p:sp>
        <p:nvSpPr>
          <p:cNvPr id="28" name="bullet-hex"/>
          <p:cNvSpPr/>
          <p:nvPr/>
        </p:nvSpPr>
        <p:spPr>
          <a:xfrm>
            <a:off x="676656" y="1696205"/>
            <a:ext cx="384048" cy="332586"/>
          </a:xfrm>
          <a:prstGeom prst="hexagon">
            <a:avLst/>
          </a:prstGeom>
          <a:solidFill>
            <a:srgbClr val="2E4A8C"/>
          </a:solidFill>
          <a:ln/>
        </p:spPr>
      </p:sp>
      <p:sp>
        <p:nvSpPr>
          <p:cNvPr id="29" name="bullet"/>
          <p:cNvSpPr txBox="1"/>
          <p:nvPr/>
        </p:nvSpPr>
        <p:spPr>
          <a:xfrm>
            <a:off x="1143000" y="1389888"/>
            <a:ext cx="4389120" cy="94521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two-way table sorts information in two ways at once.</a:t>
            </a:r>
            <a:endParaRPr lang="en-US" sz="1800" dirty="0"/>
          </a:p>
        </p:txBody>
      </p:sp>
      <p:sp>
        <p:nvSpPr>
          <p:cNvPr id="30" name="bullet-card"/>
          <p:cNvSpPr/>
          <p:nvPr/>
        </p:nvSpPr>
        <p:spPr>
          <a:xfrm>
            <a:off x="548640" y="2481411"/>
            <a:ext cx="5074920" cy="1224111"/>
          </a:xfrm>
          <a:prstGeom prst="roundRect">
            <a:avLst>
              <a:gd name="adj" fmla="val 5976"/>
            </a:avLst>
          </a:prstGeom>
          <a:solidFill>
            <a:srgbClr val="F5F6F9"/>
          </a:solidFill>
          <a:ln/>
        </p:spPr>
      </p:sp>
      <p:sp>
        <p:nvSpPr>
          <p:cNvPr id="31" name="bullet-hex"/>
          <p:cNvSpPr/>
          <p:nvPr/>
        </p:nvSpPr>
        <p:spPr>
          <a:xfrm>
            <a:off x="676656" y="2927173"/>
            <a:ext cx="384048" cy="332586"/>
          </a:xfrm>
          <a:prstGeom prst="hexagon">
            <a:avLst/>
          </a:prstGeom>
          <a:solidFill>
            <a:srgbClr val="B8862B"/>
          </a:solidFill>
          <a:ln/>
        </p:spPr>
      </p:sp>
      <p:sp>
        <p:nvSpPr>
          <p:cNvPr id="32" name="bullet"/>
          <p:cNvSpPr txBox="1"/>
          <p:nvPr/>
        </p:nvSpPr>
        <p:spPr>
          <a:xfrm>
            <a:off x="1143000" y="2481411"/>
            <a:ext cx="4389120" cy="122411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To fill a missing cell, use a total. If 52 people belong to a club and 31 of them are adults, then 52 − 31 = 21 are children.</a:t>
            </a:r>
            <a:endParaRPr lang="en-US" sz="1800" dirty="0"/>
          </a:p>
        </p:txBody>
      </p:sp>
      <p:sp>
        <p:nvSpPr>
          <p:cNvPr id="33" name="bullet-card"/>
          <p:cNvSpPr/>
          <p:nvPr/>
        </p:nvSpPr>
        <p:spPr>
          <a:xfrm>
            <a:off x="548640" y="3851825"/>
            <a:ext cx="5074920" cy="1224111"/>
          </a:xfrm>
          <a:prstGeom prst="roundRect">
            <a:avLst>
              <a:gd name="adj" fmla="val 5976"/>
            </a:avLst>
          </a:prstGeom>
          <a:solidFill>
            <a:srgbClr val="F5F6F9"/>
          </a:solidFill>
          <a:ln/>
        </p:spPr>
      </p:sp>
      <p:sp>
        <p:nvSpPr>
          <p:cNvPr id="34" name="bullet-hex"/>
          <p:cNvSpPr/>
          <p:nvPr/>
        </p:nvSpPr>
        <p:spPr>
          <a:xfrm>
            <a:off x="676656" y="4297588"/>
            <a:ext cx="384048" cy="332586"/>
          </a:xfrm>
          <a:prstGeom prst="hexagon">
            <a:avLst/>
          </a:prstGeom>
          <a:solidFill>
            <a:srgbClr val="2E4A8C"/>
          </a:solidFill>
          <a:ln/>
        </p:spPr>
      </p:sp>
      <p:sp>
        <p:nvSpPr>
          <p:cNvPr id="35" name="bullet"/>
          <p:cNvSpPr txBox="1"/>
          <p:nvPr/>
        </p:nvSpPr>
        <p:spPr>
          <a:xfrm>
            <a:off x="1143000" y="3851825"/>
            <a:ext cx="4389120" cy="122411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Always check your completed table: every row should add up to its row total, and every column to its column total.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The calendar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gap that is a multiple of 7 lands on the same day of the week.</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The 3rd of a month is a Tuesday. What day of the week is the 24th?</a:t>
            </a:r>
            <a:endParaRPr lang="en-US" sz="1800" dirty="0"/>
          </a:p>
        </p:txBody>
      </p:sp>
      <p:sp>
        <p:nvSpPr>
          <p:cNvPr id="14" name="step-box"/>
          <p:cNvSpPr/>
          <p:nvPr/>
        </p:nvSpPr>
        <p:spPr>
          <a:xfrm>
            <a:off x="6126480" y="2888488"/>
            <a:ext cx="5379415" cy="794512"/>
          </a:xfrm>
          <a:prstGeom prst="roundRect">
            <a:avLst>
              <a:gd name="adj" fmla="val 11509"/>
            </a:avLst>
          </a:prstGeom>
          <a:solidFill>
            <a:srgbClr val="F0F2F7"/>
          </a:solidFill>
          <a:ln/>
        </p:spPr>
      </p:sp>
      <p:sp>
        <p:nvSpPr>
          <p:cNvPr id="15" name="step-hex"/>
          <p:cNvSpPr/>
          <p:nvPr/>
        </p:nvSpPr>
        <p:spPr>
          <a:xfrm>
            <a:off x="6217920" y="3103614"/>
            <a:ext cx="420624" cy="364260"/>
          </a:xfrm>
          <a:prstGeom prst="hexagon">
            <a:avLst/>
          </a:prstGeom>
          <a:solidFill>
            <a:srgbClr val="2E4A8C"/>
          </a:solidFill>
          <a:ln/>
        </p:spPr>
      </p:sp>
      <p:sp>
        <p:nvSpPr>
          <p:cNvPr id="16" name="step-hex-label"/>
          <p:cNvSpPr txBox="1"/>
          <p:nvPr/>
        </p:nvSpPr>
        <p:spPr>
          <a:xfrm>
            <a:off x="6217920" y="31036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Find the gap between the dates: 24 − 3 = 21 days.</a:t>
            </a:r>
            <a:endParaRPr lang="en-US" sz="1800" dirty="0"/>
          </a:p>
        </p:txBody>
      </p:sp>
      <p:sp>
        <p:nvSpPr>
          <p:cNvPr id="18" name="step-box"/>
          <p:cNvSpPr/>
          <p:nvPr/>
        </p:nvSpPr>
        <p:spPr>
          <a:xfrm>
            <a:off x="6126480" y="3774440"/>
            <a:ext cx="5379415" cy="566928"/>
          </a:xfrm>
          <a:prstGeom prst="roundRect">
            <a:avLst>
              <a:gd name="adj" fmla="val 16129"/>
            </a:avLst>
          </a:prstGeom>
          <a:solidFill>
            <a:srgbClr val="F0F2F7"/>
          </a:solidFill>
          <a:ln/>
        </p:spPr>
      </p:sp>
      <p:sp>
        <p:nvSpPr>
          <p:cNvPr id="19" name="step-hex"/>
          <p:cNvSpPr/>
          <p:nvPr/>
        </p:nvSpPr>
        <p:spPr>
          <a:xfrm>
            <a:off x="6217920" y="3875774"/>
            <a:ext cx="420624" cy="364260"/>
          </a:xfrm>
          <a:prstGeom prst="hexagon">
            <a:avLst/>
          </a:prstGeom>
          <a:solidFill>
            <a:srgbClr val="2E4A8C"/>
          </a:solidFill>
          <a:ln/>
        </p:spPr>
      </p:sp>
      <p:sp>
        <p:nvSpPr>
          <p:cNvPr id="20" name="step-hex-label"/>
          <p:cNvSpPr txBox="1"/>
          <p:nvPr/>
        </p:nvSpPr>
        <p:spPr>
          <a:xfrm>
            <a:off x="6217920" y="387577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77444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21 days is exactly 3 weeks, because 21 ÷ 7 = 3.</a:t>
            </a:r>
            <a:endParaRPr lang="en-US" sz="1800" dirty="0"/>
          </a:p>
        </p:txBody>
      </p:sp>
      <p:sp>
        <p:nvSpPr>
          <p:cNvPr id="22" name="step-box"/>
          <p:cNvSpPr/>
          <p:nvPr/>
        </p:nvSpPr>
        <p:spPr>
          <a:xfrm>
            <a:off x="6126480" y="4432808"/>
            <a:ext cx="5379415" cy="794512"/>
          </a:xfrm>
          <a:prstGeom prst="roundRect">
            <a:avLst>
              <a:gd name="adj" fmla="val 11509"/>
            </a:avLst>
          </a:prstGeom>
          <a:solidFill>
            <a:srgbClr val="F0F2F7"/>
          </a:solidFill>
          <a:ln/>
        </p:spPr>
      </p:sp>
      <p:sp>
        <p:nvSpPr>
          <p:cNvPr id="23" name="step-hex"/>
          <p:cNvSpPr/>
          <p:nvPr/>
        </p:nvSpPr>
        <p:spPr>
          <a:xfrm>
            <a:off x="6217920" y="4647934"/>
            <a:ext cx="420624" cy="364260"/>
          </a:xfrm>
          <a:prstGeom prst="hexagon">
            <a:avLst/>
          </a:prstGeom>
          <a:solidFill>
            <a:srgbClr val="2E4A8C"/>
          </a:solidFill>
          <a:ln/>
        </p:spPr>
      </p:sp>
      <p:sp>
        <p:nvSpPr>
          <p:cNvPr id="24" name="step-hex-label"/>
          <p:cNvSpPr txBox="1"/>
          <p:nvPr/>
        </p:nvSpPr>
        <p:spPr>
          <a:xfrm>
            <a:off x="6217920" y="464793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432808"/>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Whole weeks land on the same weekday, so the 24th is also a Tuesday.</a:t>
            </a:r>
            <a:endParaRPr lang="en-US" sz="1800" dirty="0"/>
          </a:p>
        </p:txBody>
      </p:sp>
      <p:sp>
        <p:nvSpPr>
          <p:cNvPr id="26" name="worked-answer"/>
          <p:cNvSpPr/>
          <p:nvPr/>
        </p:nvSpPr>
        <p:spPr>
          <a:xfrm>
            <a:off x="6126480" y="536448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Tuesday</a:t>
            </a:r>
            <a:endParaRPr lang="en-US" sz="1800" dirty="0"/>
          </a:p>
        </p:txBody>
      </p:sp>
      <p:sp>
        <p:nvSpPr>
          <p:cNvPr id="27" name="bullet-card"/>
          <p:cNvSpPr/>
          <p:nvPr/>
        </p:nvSpPr>
        <p:spPr>
          <a:xfrm>
            <a:off x="548640" y="1389888"/>
            <a:ext cx="5074920" cy="1017524"/>
          </a:xfrm>
          <a:prstGeom prst="roundRect">
            <a:avLst>
              <a:gd name="adj" fmla="val 7189"/>
            </a:avLst>
          </a:prstGeom>
          <a:solidFill>
            <a:srgbClr val="F5F6F9"/>
          </a:solidFill>
          <a:ln/>
        </p:spPr>
      </p:sp>
      <p:sp>
        <p:nvSpPr>
          <p:cNvPr id="28" name="bullet-hex"/>
          <p:cNvSpPr/>
          <p:nvPr/>
        </p:nvSpPr>
        <p:spPr>
          <a:xfrm>
            <a:off x="676656" y="1732357"/>
            <a:ext cx="384048" cy="332586"/>
          </a:xfrm>
          <a:prstGeom prst="hexagon">
            <a:avLst/>
          </a:prstGeom>
          <a:solidFill>
            <a:srgbClr val="2E4A8C"/>
          </a:solidFill>
          <a:ln/>
        </p:spPr>
      </p:sp>
      <p:sp>
        <p:nvSpPr>
          <p:cNvPr id="29" name="bullet"/>
          <p:cNvSpPr txBox="1"/>
          <p:nvPr/>
        </p:nvSpPr>
        <p:spPr>
          <a:xfrm>
            <a:off x="1143000" y="1389888"/>
            <a:ext cx="4389120"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calendar page shows one month as rows of weeks.</a:t>
            </a:r>
            <a:endParaRPr lang="en-US" sz="2200" dirty="0"/>
          </a:p>
        </p:txBody>
      </p:sp>
      <p:sp>
        <p:nvSpPr>
          <p:cNvPr id="30" name="bullet-card"/>
          <p:cNvSpPr/>
          <p:nvPr/>
        </p:nvSpPr>
        <p:spPr>
          <a:xfrm>
            <a:off x="548640" y="2553716"/>
            <a:ext cx="5074920" cy="1358392"/>
          </a:xfrm>
          <a:prstGeom prst="roundRect">
            <a:avLst>
              <a:gd name="adj" fmla="val 5385"/>
            </a:avLst>
          </a:prstGeom>
          <a:solidFill>
            <a:srgbClr val="F5F6F9"/>
          </a:solidFill>
          <a:ln/>
        </p:spPr>
      </p:sp>
      <p:sp>
        <p:nvSpPr>
          <p:cNvPr id="31" name="bullet-hex"/>
          <p:cNvSpPr/>
          <p:nvPr/>
        </p:nvSpPr>
        <p:spPr>
          <a:xfrm>
            <a:off x="676656" y="3066619"/>
            <a:ext cx="384048" cy="332586"/>
          </a:xfrm>
          <a:prstGeom prst="hexagon">
            <a:avLst/>
          </a:prstGeom>
          <a:solidFill>
            <a:srgbClr val="B8862B"/>
          </a:solidFill>
          <a:ln/>
        </p:spPr>
      </p:sp>
      <p:sp>
        <p:nvSpPr>
          <p:cNvPr id="32" name="bullet"/>
          <p:cNvSpPr txBox="1"/>
          <p:nvPr/>
        </p:nvSpPr>
        <p:spPr>
          <a:xfrm>
            <a:off x="1143000" y="2553716"/>
            <a:ext cx="4389120" cy="13583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Months have 30 or 31 days, except February, which has 28 days, or 29 in a leap year.</a:t>
            </a:r>
            <a:endParaRPr lang="en-US" sz="2200" dirty="0"/>
          </a:p>
        </p:txBody>
      </p:sp>
      <p:sp>
        <p:nvSpPr>
          <p:cNvPr id="33" name="bullet-card"/>
          <p:cNvSpPr/>
          <p:nvPr/>
        </p:nvSpPr>
        <p:spPr>
          <a:xfrm>
            <a:off x="548640" y="4058412"/>
            <a:ext cx="5074920" cy="1017524"/>
          </a:xfrm>
          <a:prstGeom prst="roundRect">
            <a:avLst>
              <a:gd name="adj" fmla="val 7189"/>
            </a:avLst>
          </a:prstGeom>
          <a:solidFill>
            <a:srgbClr val="F5F6F9"/>
          </a:solidFill>
          <a:ln/>
        </p:spPr>
      </p:sp>
      <p:sp>
        <p:nvSpPr>
          <p:cNvPr id="34" name="bullet-hex"/>
          <p:cNvSpPr/>
          <p:nvPr/>
        </p:nvSpPr>
        <p:spPr>
          <a:xfrm>
            <a:off x="676656" y="4400881"/>
            <a:ext cx="384048" cy="332586"/>
          </a:xfrm>
          <a:prstGeom prst="hexagon">
            <a:avLst/>
          </a:prstGeom>
          <a:solidFill>
            <a:srgbClr val="2E4A8C"/>
          </a:solidFill>
          <a:ln/>
        </p:spPr>
      </p:sp>
      <p:sp>
        <p:nvSpPr>
          <p:cNvPr id="35" name="bullet"/>
          <p:cNvSpPr txBox="1"/>
          <p:nvPr/>
        </p:nvSpPr>
        <p:spPr>
          <a:xfrm>
            <a:off x="1143000" y="4058412"/>
            <a:ext cx="4389120"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Months have four or five of each weekday, not always four.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The task: Journey time from a timetable</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bus leaves Ashby at 08:52, Brook at 09:07, Castle Street at 09:21 and Dale End at 09:34. How long does the bus take from Ashby to Dale End, in minutes?</a:t>
            </a:r>
            <a:endParaRPr lang="en-US" sz="2600" dirty="0"/>
          </a:p>
          <a:p>
            <a:pPr algn="ctr" indent="0" marL="0">
              <a:buNone/>
            </a:pPr>
            <a:r>
              <a:rPr lang="en-US" sz="2400" b="1" dirty="0">
                <a:solidFill>
                  <a:srgbClr val="2E4A8C"/>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minutes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2E4A8C"/>
                </a:solidFill>
                <a:latin typeface="Cambria" pitchFamily="34" charset="0"/>
                <a:ea typeface="Cambria" pitchFamily="34" charset="-122"/>
                <a:cs typeface="Cambria" pitchFamily="34" charset="-120"/>
              </a:rPr>
              <a:t>Same task, three ways in: Journey time from a timetable</a:t>
            </a:r>
            <a:endParaRPr lang="en-US" sz="26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39520"/>
          </a:xfrm>
          <a:prstGeom prst="roundRect">
            <a:avLst>
              <a:gd name="adj" fmla="val 7377"/>
            </a:avLst>
          </a:prstGeom>
          <a:solidFill>
            <a:srgbClr val="FFFFFF"/>
          </a:solidFill>
          <a:ln w="31750">
            <a:solidFill>
              <a:srgbClr val="B8862B"/>
            </a:solidFill>
            <a:prstDash val="solid"/>
          </a:ln>
        </p:spPr>
      </p:sp>
      <p:sp>
        <p:nvSpPr>
          <p:cNvPr id="8" name="task-hex"/>
          <p:cNvSpPr/>
          <p:nvPr/>
        </p:nvSpPr>
        <p:spPr>
          <a:xfrm>
            <a:off x="777240" y="1692900"/>
            <a:ext cx="731520" cy="633496"/>
          </a:xfrm>
          <a:prstGeom prst="hexagon">
            <a:avLst/>
          </a:prstGeom>
          <a:solidFill>
            <a:srgbClr val="B8862B"/>
          </a:solidFill>
          <a:ln/>
        </p:spPr>
      </p:sp>
      <p:sp>
        <p:nvSpPr>
          <p:cNvPr id="9" name="task-hex-label"/>
          <p:cNvSpPr txBox="1"/>
          <p:nvPr/>
        </p:nvSpPr>
        <p:spPr>
          <a:xfrm>
            <a:off x="777240" y="1692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735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05664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bus leaves Ashby at 08:52, Brook at 09:07, Castle Street at 09:21 and Dale End at 09:34. How long does the bus take from Ashby to Dale End, in minutes?</a:t>
            </a:r>
            <a:endParaRPr lang="en-US" sz="2000" dirty="0"/>
          </a:p>
        </p:txBody>
      </p:sp>
      <p:sp>
        <p:nvSpPr>
          <p:cNvPr id="12" name="col-Support"/>
          <p:cNvSpPr/>
          <p:nvPr/>
        </p:nvSpPr>
        <p:spPr>
          <a:xfrm>
            <a:off x="548640" y="2903728"/>
            <a:ext cx="4667802" cy="3241040"/>
          </a:xfrm>
          <a:prstGeom prst="roundRect">
            <a:avLst>
              <a:gd name="adj" fmla="val 1693"/>
            </a:avLst>
          </a:prstGeom>
          <a:solidFill>
            <a:srgbClr val="F0F2F7"/>
          </a:solidFill>
          <a:ln/>
        </p:spPr>
      </p:sp>
      <p:sp>
        <p:nvSpPr>
          <p:cNvPr id="13" name="col-hex"/>
          <p:cNvSpPr/>
          <p:nvPr/>
        </p:nvSpPr>
        <p:spPr>
          <a:xfrm>
            <a:off x="658368" y="2976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40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43808"/>
            <a:ext cx="4393482" cy="2491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leaving time at the first stop and the arriving time at the last stop.</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Count on from the leaving time to the next o'clock.</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Count on from the o'clock to the arriving time.</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Add the two parts.</a:t>
            </a:r>
            <a:endParaRPr lang="en-US" sz="1800" dirty="0"/>
          </a:p>
        </p:txBody>
      </p:sp>
      <p:sp>
        <p:nvSpPr>
          <p:cNvPr id="17" name="col-Core"/>
          <p:cNvSpPr/>
          <p:nvPr/>
        </p:nvSpPr>
        <p:spPr>
          <a:xfrm>
            <a:off x="5490762" y="2903728"/>
            <a:ext cx="2938987" cy="3241040"/>
          </a:xfrm>
          <a:prstGeom prst="roundRect">
            <a:avLst>
              <a:gd name="adj" fmla="val 1867"/>
            </a:avLst>
          </a:prstGeom>
          <a:solidFill>
            <a:srgbClr val="D7DDE9"/>
          </a:solidFill>
          <a:ln/>
        </p:spPr>
      </p:sp>
      <p:sp>
        <p:nvSpPr>
          <p:cNvPr id="18" name="col-hex"/>
          <p:cNvSpPr/>
          <p:nvPr/>
        </p:nvSpPr>
        <p:spPr>
          <a:xfrm>
            <a:off x="5600490" y="2976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40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43808"/>
            <a:ext cx="2664667" cy="2491232"/>
          </a:xfrm>
          <a:prstGeom prst="rect">
            <a:avLst/>
          </a:prstGeom>
          <a:noFill/>
          <a:ln/>
        </p:spPr>
        <p:txBody>
          <a:bodyPr wrap="square" lIns="63500" tIns="63500" rIns="63500" bIns="63500" rtlCol="0" anchor="t"/>
          <a:lstStyle/>
          <a:p>
            <a:pPr algn="l" indent="0" marL="0">
              <a:buNone/>
            </a:pPr>
            <a:r>
              <a:rPr lang="en-US" sz="1800" b="1" dirty="0">
                <a:solidFill>
                  <a:srgbClr val="253B70"/>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Only the first and last stops matter. Count on to 09:00 first.</a:t>
            </a:r>
            <a:endParaRPr lang="en-US" sz="1800" dirty="0"/>
          </a:p>
        </p:txBody>
      </p:sp>
      <p:sp>
        <p:nvSpPr>
          <p:cNvPr id="22" name="col-Stretch"/>
          <p:cNvSpPr/>
          <p:nvPr/>
        </p:nvSpPr>
        <p:spPr>
          <a:xfrm>
            <a:off x="8704069" y="2903728"/>
            <a:ext cx="2938987" cy="3241040"/>
          </a:xfrm>
          <a:prstGeom prst="roundRect">
            <a:avLst>
              <a:gd name="adj" fmla="val 1867"/>
            </a:avLst>
          </a:prstGeom>
          <a:solidFill>
            <a:srgbClr val="2E4A8C"/>
          </a:solidFill>
          <a:ln/>
        </p:spPr>
      </p:sp>
      <p:sp>
        <p:nvSpPr>
          <p:cNvPr id="23" name="col-hex"/>
          <p:cNvSpPr/>
          <p:nvPr/>
        </p:nvSpPr>
        <p:spPr>
          <a:xfrm>
            <a:off x="8813797" y="2976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40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43808"/>
            <a:ext cx="2664667" cy="2491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next bus leaves Ashby at 09:27 and takes exactly the same time between stops. Write out its full timetable and explain how you know each time.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Same task, three ways in: Find the start time</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swimming lesson lasts 85 minutes and finishes at 17:10. What time did it start?</a:t>
            </a:r>
            <a:endParaRPr lang="en-US" sz="2000" dirty="0"/>
          </a:p>
          <a:p>
            <a:pPr algn="ctr" indent="0" marL="0">
              <a:buNone/>
            </a:pPr>
            <a:r>
              <a:rPr lang="en-US" sz="1800" b="1" dirty="0">
                <a:solidFill>
                  <a:srgbClr val="B8862B"/>
                </a:solidFill>
                <a:latin typeface="Calibri" pitchFamily="34" charset="0"/>
                <a:ea typeface="Calibri" pitchFamily="34" charset="-122"/>
                <a:cs typeface="Calibri" pitchFamily="34" charset="-120"/>
              </a:rPr>
              <a:t>A  </a:t>
            </a:r>
            <a:pPr algn="ctr" indent="0" marL="0">
              <a:buNone/>
            </a:pPr>
            <a:r>
              <a:rPr lang="en-US" sz="1800" dirty="0">
                <a:solidFill>
                  <a:srgbClr val="1E2229"/>
                </a:solidFill>
                <a:latin typeface="Calibri" pitchFamily="34" charset="0"/>
                <a:ea typeface="Calibri" pitchFamily="34" charset="-122"/>
                <a:cs typeface="Calibri" pitchFamily="34" charset="-120"/>
              </a:rPr>
              <a:t>16:25      </a:t>
            </a:r>
            <a:pPr algn="ctr" indent="0" marL="0">
              <a:buNone/>
            </a:pPr>
            <a:r>
              <a:rPr lang="en-US" sz="1800" b="1" dirty="0">
                <a:solidFill>
                  <a:srgbClr val="B8862B"/>
                </a:solidFill>
                <a:latin typeface="Calibri" pitchFamily="34" charset="0"/>
                <a:ea typeface="Calibri" pitchFamily="34" charset="-122"/>
                <a:cs typeface="Calibri" pitchFamily="34" charset="-120"/>
              </a:rPr>
              <a:t>B  </a:t>
            </a:r>
            <a:pPr algn="ctr" indent="0" marL="0">
              <a:buNone/>
            </a:pPr>
            <a:r>
              <a:rPr lang="en-US" sz="1800" dirty="0">
                <a:solidFill>
                  <a:srgbClr val="1E2229"/>
                </a:solidFill>
                <a:latin typeface="Calibri" pitchFamily="34" charset="0"/>
                <a:ea typeface="Calibri" pitchFamily="34" charset="-122"/>
                <a:cs typeface="Calibri" pitchFamily="34" charset="-120"/>
              </a:rPr>
              <a:t>16:85      </a:t>
            </a:r>
            <a:pPr algn="ctr" indent="0" marL="0">
              <a:buNone/>
            </a:pPr>
            <a:r>
              <a:rPr lang="en-US" sz="1800" b="1" dirty="0">
                <a:solidFill>
                  <a:srgbClr val="B8862B"/>
                </a:solidFill>
                <a:latin typeface="Calibri" pitchFamily="34" charset="0"/>
                <a:ea typeface="Calibri" pitchFamily="34" charset="-122"/>
                <a:cs typeface="Calibri" pitchFamily="34" charset="-120"/>
              </a:rPr>
              <a:t>C  </a:t>
            </a:r>
            <a:pPr algn="ctr" indent="0" marL="0">
              <a:buNone/>
            </a:pPr>
            <a:r>
              <a:rPr lang="en-US" sz="1800" dirty="0">
                <a:solidFill>
                  <a:srgbClr val="1E2229"/>
                </a:solidFill>
                <a:latin typeface="Calibri" pitchFamily="34" charset="0"/>
                <a:ea typeface="Calibri" pitchFamily="34" charset="-122"/>
                <a:cs typeface="Calibri" pitchFamily="34" charset="-120"/>
              </a:rPr>
              <a:t>15:25      </a:t>
            </a:r>
            <a:pPr algn="ctr" indent="0" marL="0">
              <a:buNone/>
            </a:pPr>
            <a:r>
              <a:rPr lang="en-US" sz="1800" b="1" dirty="0">
                <a:solidFill>
                  <a:srgbClr val="B8862B"/>
                </a:solidFill>
                <a:latin typeface="Calibri" pitchFamily="34" charset="0"/>
                <a:ea typeface="Calibri" pitchFamily="34" charset="-122"/>
                <a:cs typeface="Calibri" pitchFamily="34" charset="-120"/>
              </a:rPr>
              <a:t>D  </a:t>
            </a:r>
            <a:pPr algn="ctr" indent="0" marL="0">
              <a:buNone/>
            </a:pPr>
            <a:r>
              <a:rPr lang="en-US" sz="1800" dirty="0">
                <a:solidFill>
                  <a:srgbClr val="1E2229"/>
                </a:solidFill>
                <a:latin typeface="Calibri" pitchFamily="34" charset="0"/>
                <a:ea typeface="Calibri" pitchFamily="34" charset="-122"/>
                <a:cs typeface="Calibri" pitchFamily="34" charset="-120"/>
              </a:rPr>
              <a:t>15:45</a:t>
            </a:r>
            <a:endParaRPr lang="en-US" sz="2000" dirty="0"/>
          </a:p>
        </p:txBody>
      </p:sp>
      <p:sp>
        <p:nvSpPr>
          <p:cNvPr id="12" name="col-Support"/>
          <p:cNvSpPr/>
          <p:nvPr/>
        </p:nvSpPr>
        <p:spPr>
          <a:xfrm>
            <a:off x="548640" y="2948940"/>
            <a:ext cx="3515258" cy="3195828"/>
          </a:xfrm>
          <a:prstGeom prst="roundRect">
            <a:avLst>
              <a:gd name="adj" fmla="val 1717"/>
            </a:avLst>
          </a:prstGeom>
          <a:solidFill>
            <a:srgbClr val="F0F2F7"/>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3240938"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Change the duration into hours and minutes.</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Count back the whole hours first.</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Count back the minutes in two jumps: land on the o'clock, then go back the rest.</a:t>
            </a:r>
            <a:endParaRPr lang="en-US" sz="1800" dirty="0"/>
          </a:p>
        </p:txBody>
      </p:sp>
      <p:sp>
        <p:nvSpPr>
          <p:cNvPr id="17" name="col-Core"/>
          <p:cNvSpPr/>
          <p:nvPr/>
        </p:nvSpPr>
        <p:spPr>
          <a:xfrm>
            <a:off x="4338218" y="2948940"/>
            <a:ext cx="3515258" cy="3195828"/>
          </a:xfrm>
          <a:prstGeom prst="roundRect">
            <a:avLst>
              <a:gd name="adj" fmla="val 1717"/>
            </a:avLst>
          </a:prstGeom>
          <a:solidFill>
            <a:srgbClr val="D7DDE9"/>
          </a:solidFill>
          <a:ln/>
        </p:spPr>
      </p:sp>
      <p:sp>
        <p:nvSpPr>
          <p:cNvPr id="18" name="col-hex"/>
          <p:cNvSpPr/>
          <p:nvPr/>
        </p:nvSpPr>
        <p:spPr>
          <a:xfrm>
            <a:off x="4447946"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89020"/>
            <a:ext cx="3240938" cy="2446020"/>
          </a:xfrm>
          <a:prstGeom prst="rect">
            <a:avLst/>
          </a:prstGeom>
          <a:noFill/>
          <a:ln/>
        </p:spPr>
        <p:txBody>
          <a:bodyPr wrap="square" lIns="63500" tIns="63500" rIns="63500" bIns="63500" rtlCol="0" anchor="t"/>
          <a:lstStyle/>
          <a:p>
            <a:pPr algn="l" indent="0" marL="0">
              <a:buNone/>
            </a:pPr>
            <a:r>
              <a:rPr lang="en-US" sz="1800" b="1" dirty="0">
                <a:solidFill>
                  <a:srgbClr val="253B70"/>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85 minutes is 1 hour and 25 minutes. Go back the hour first.</a:t>
            </a:r>
            <a:endParaRPr lang="en-US" sz="1800" dirty="0"/>
          </a:p>
        </p:txBody>
      </p:sp>
      <p:sp>
        <p:nvSpPr>
          <p:cNvPr id="22" name="col-Stretch"/>
          <p:cNvSpPr/>
          <p:nvPr/>
        </p:nvSpPr>
        <p:spPr>
          <a:xfrm>
            <a:off x="8127797" y="2948940"/>
            <a:ext cx="3515258" cy="3195828"/>
          </a:xfrm>
          <a:prstGeom prst="roundRect">
            <a:avLst>
              <a:gd name="adj" fmla="val 1717"/>
            </a:avLst>
          </a:prstGeom>
          <a:solidFill>
            <a:srgbClr val="2E4A8C"/>
          </a:solidFill>
          <a:ln/>
        </p:spPr>
      </p:sp>
      <p:sp>
        <p:nvSpPr>
          <p:cNvPr id="23" name="col-hex"/>
          <p:cNvSpPr/>
          <p:nvPr/>
        </p:nvSpPr>
        <p:spPr>
          <a:xfrm>
            <a:off x="8237525"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89020"/>
            <a:ext cx="3240938"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pool opens at 07:00 and runs 85-minute lessons back to back with a 5-minute gap between them. Does a lesson finish at exactly 17:10? Show your working.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E4A8C"/>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E4A8C"/>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1 May is a Thursday. What day of the week is 29 May?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Friday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Thursday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Saturday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Wednesday</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8FA"/>
          </a:solidFill>
          <a:ln w="12700">
            <a:solidFill>
              <a:srgbClr val="9DAAC9"/>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Journey time from a timetable</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bus leaves Ashby at 08:52, Brook at 09:07, Castle Street at 09:21 and Dale End at 09:34. How long does the bus take from Ashby to Dale End, in minutes?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42 minutes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From 08:52 to 09:00 is 8 minutes. From 09:00 to 09:34 is 34 minutes. 8 + 34 = 42 minutes.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Find the start time</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swimming lesson lasts 85 minutes and finishes at 17:10. What time did it start?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15:45</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85 minutes is 1 hour 25 minutes. Back 1 hour from 17:10 is 16:10. Back 10 minutes is 16:00, and back another 15 minutes is 15:45.</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1 May is a Thursday. What day of the week is 29 May?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Thursday</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From 1 May to 29 May is 28 days, which is exactly 4 weeks. So 29 May is also a Thursday.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Ad Astra maths">
  <a:themeElements>
    <a:clrScheme name="Ad Astra maths">
      <a:dk1>
        <a:srgbClr val="1E2229"/>
      </a:dk1>
      <a:lt1>
        <a:srgbClr val="FFFFFF"/>
      </a:lt1>
      <a:dk2>
        <a:srgbClr val="253B70"/>
      </a:dk2>
      <a:lt2>
        <a:srgbClr val="F0F2F7"/>
      </a:lt2>
      <a:accent1>
        <a:srgbClr val="2E4A8C"/>
      </a:accent1>
      <a:accent2>
        <a:srgbClr val="B8862B"/>
      </a:accent2>
      <a:accent3>
        <a:srgbClr val="8292BA"/>
      </a:accent3>
      <a:accent4>
        <a:srgbClr val="815E1E"/>
      </a:accent4>
      <a:accent5>
        <a:srgbClr val="4A505C"/>
      </a:accent5>
      <a:accent6>
        <a:srgbClr val="DEC69B"/>
      </a:accent6>
      <a:hlink>
        <a:srgbClr val="2E4A8C"/>
      </a:hlink>
      <a:folHlink>
        <a:srgbClr val="203462"/>
      </a:folHlink>
    </a:clrScheme>
    <a:fontScheme name="Ad Astra math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Speed, Distance and Time · Chapter 2: Timetables, durations and the calendar</dc:title>
  <dc:subject>Mathematics · Year 7</dc:subject>
  <dc:creator>Dr Vitor Merissi de Carvalho</dc:creator>
  <cp:lastModifiedBy>Dr Vitor Merissi de Carvalho</cp:lastModifiedBy>
  <cp:revision>1</cp:revision>
  <dcterms:created xsi:type="dcterms:W3CDTF">2026-10-19T06:08:13Z</dcterms:created>
  <dcterms:modified xsi:type="dcterms:W3CDTF">2026-10-19T06:08:13Z</dcterms:modified>
</cp:coreProperties>
</file>