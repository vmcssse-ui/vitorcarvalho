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daf3f28-a81b-2794-451c-131412b0f7fd}">
          <p14:sldIdLst>
            <p14:sldId id="256"/>
          </p14:sldIdLst>
        </p14:section>
        <p14:section name="Gate" id="{c7349dad-72c3-fe68-75a2-ce4fba8c7710}">
          <p14:sldIdLst>
            <p14:sldId id="257"/>
            <p14:sldId id="258"/>
          </p14:sldIdLst>
        </p14:section>
        <p14:section name="Pre-teach" id="{a2e1e794-dfa0-db10-a2ee-5e8a99207ef1}">
          <p14:sldIdLst>
            <p14:sldId id="259"/>
          </p14:sldIdLst>
        </p14:section>
        <p14:section name="Read-along" id="{ca484d39-8b7b-6e27-9803-139ce27c5ad1}">
          <p14:sldIdLst>
            <p14:sldId id="260"/>
          </p14:sldIdLst>
        </p14:section>
        <p14:section name="Teach" id="{ce7e1fdd-3913-0385-c38e-bd5f21d562b8}">
          <p14:sldIdLst>
            <p14:sldId id="261"/>
            <p14:sldId id="262"/>
            <p14:sldId id="263"/>
            <p14:sldId id="264"/>
          </p14:sldIdLst>
        </p14:section>
        <p14:section name="Routes" id="{07b43bfc-473d-0127-f260-c100c85f85b6}">
          <p14:sldIdLst>
            <p14:sldId id="265"/>
            <p14:sldId id="266"/>
            <p14:sldId id="267"/>
          </p14:sldIdLst>
        </p14:section>
        <p14:section name="Close" id="{4967ff4c-729d-2fe5-d1f6-5bbbad48c179}">
          <p14:sldIdLst>
            <p14:sldId id="268"/>
          </p14:sldIdLst>
        </p14:section>
        <p14:section name="Answers" id="{70f7387a-ff0c-20da-da1a-6e918096e390}">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Drawing graphs and finding speed. Draw a distance–time graph from a story, see that steeper means faster, and work out speeds from the graph.
This deck covers the department's lesson: 8 (Draw distance–time graphs and calculate speed: How do we draw a distance–time graph and find a speed from it?).
Read the big question aloud: "How do we measure time and movement, and how do speed, distance and time fit together?"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Two lines on a distance–time graph show two cars. Line P is steeper than line Q. What does this tell you?  →  A   Car P is faster
2. A line on a distance–time graph rises from 0 km to 30 km between 2 pm and 3 pm. What is the speed in km/h?  →  30 km/h
3. A flat line on a distance–time graph lasts for 20 minutes. What is the speed during this time, in km/h?  →  0 km/h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Car P is faster. A steeper line means more distance in the same time, which means a greater speed.
2. 30 km/h. The time taken is 1 hour and the distance is 30 km, so the speed is 30 ÷ 1 = 30 km/h.
3. 0 km/h. A flat line means the distance does not change. No distance in 20 minutes is a speed of 0.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plot: to mark a point on a graph. Example: "Plot the point for 20 minutes and 2 km."
• scale: what each square on an axis is worth. Example: "On this scale, one square is 10 minutes."
• steeper: rising more sharply. Example: "The steeper line shows the faster runner."
• section: one part of the journey. Example: "Find the speed for each section of the graph."
• average speed: total distance divided by total time. Example: "Her average speed for the whole race was 12 km/h."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You can draw a distance–time graph from a story.
2. Plot the time along the bottom and the distance up the side.
3. Join the points with straight lines.
4. A rest is a flat line.
5. The steeper the line, the faster the speed.
6. A flat line has a speed of zero.
7. To find the speed of one part, read its distance and its time.
8. Then divide the distance by the time.
9. A line that rises 20 km in half an hour shows 40 km/h.
10. For a whole journey, divide the total distance by the total time.
11. Include any stops in the total time.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Drawing the graph from a story. Say it in your own words, then check understanding with a quick question: ask a pupil from the pre-teach group first, since they met these words and ideas before the lesson. Pupils try to recall before you re-explain.
To draw a distance–time graph, turn each part of the story into a point. Start at (0, 0). After each part, add the time taken to the time so far, and add the distance covered to the distance so far. During a rest the time moves on but the distance does not.
Amir runs 2 km in 12 minutes, rests for 4 minutes, then runs 3 km in 24 minutes. The points are (0 min, 0 km), then (12 min, 2 km), then (16 min, 2 km) after the rest, then (40 min, 5 km). Join them with straight lines: up, flat, up.
Ron drew a graph where the line went down during a stop. That is a mistake: during a stop the line must be flat, because the distance from home stays the same. A line going down would mean walking back towards home.
Worked example — model it step by step, thinking aloud: Amir runs 2 km in 12 minutes, rests for 4 minutes, then runs 3 km in 24 minutes. At what time, in minutes, does his graph finish? (1) Add up the times: 12 + 4 + 24 = 40. (2) The graph finishes at 40 minutes. (3) Check the distance: 2 + 3 = 5 km, so the last point is (40, 5). Answer: 40 minutes.
Tip: Each part of the story adds to the time. Only the moving parts add to the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Steeper means faster. Say it in your own words, then check understanding with a quick question: ask a pupil from the pre-teach group first, since they met these words and ideas before the lesson. Pupils try to recall before you re-explain.
Compare two runners on the same graph. The one whose line is steeper covers more distance in the same time, so she is faster. Amir is right when he says a coach is going faster where its graph is steeper.
In a race, the first runner to reach the finishing distance has the line that reaches the top first. If two lines cross, the runners are at the same distance at the same moment: one is overtaking the other.
A flat line is the least steep of all. Its speed is zero, because no distance is covered.
Worked example — model it step by step, thinking aloud: Eva and Annie both run 100 m. Eva's line reaches 100 m at 16 seconds and Annie's reaches 100 m at 20 seconds. Who is faster, and what is Eva's average speed in m/s? (1) Eva reaches 100 m first, so her line is steeper and she is faster. (2) Speed = distance ÷ time = 100 ÷ 16. (3) 100 ÷ 16 = 6.25. Answer: 6.25 m/s.
Tip: Same distance, less time: steeper line, faster runner.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Speed from one section of the graph. Say it in your own words, then check understanding with a quick question: ask a pupil from the pre-teach group first, since they met these words and ideas before the lesson. Pupils try to recall before you re-explain.
To find the speed in one section, read how far the line rises and how long it takes. Then divide. If a line rises from 10 km to 40 km between 1 pm and 2:30 pm, the distance is 40 − 10 = 30 km and the time is 1.5 hours.
The speed in that section is 30 ÷ 1.5 = 20 km/h. Remember to turn minutes into a fraction of an hour before you divide: 1 hour 30 minutes is 1.5 hours, and 20 minutes is one third of an hour.
On a drone's graph, if the line rises 2 km in 20 minutes, the speed is 2 km divided by one third of an hour, which is 6 km/h. Dividing by one third is the same as multiplying by 3.
Worked example — model it step by step, thinking aloud: On a graph the line rises from 10 km to 40 km between 1 pm and 2:30 pm. What is the average speed for this section, in km/h? (1) Distance: 40 − 10 = 30 km. (2) Time: from 1 pm to 2:30 pm is 1 hour 30 minutes, which is 1.5 hours. (3) Speed = 30 ÷ 1.5 = 20. Answer: 20 km/h.
Tip: Speed of a section = rise in distance ÷ time taken, with the time in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Average speed for the whole journey. Say it in your own words, then check understanding with a quick question: ask a pupil from the pre-teach group first, since they met these words and ideas before the lesson. Pupils try to recall before you re-explain.
For the average speed of a whole journey, use the total distance and the total time. If the question says 'for the whole journey', the stops count in the time, because the clock keeps running while you rest.
A runner covers 12 km in 50 minutes, rests for 10 minutes, then runs 6 km in 30 minutes. Total distance 12 + 6 = 18 km. Total time 50 + 10 + 30 = 90 minutes, which is 1.5 hours. Average speed 18 ÷ 1.5 = 12 km/h.
Sometimes a question asks for the average speed only while moving. Then leave the stops out of the time. Read the question carefully to see which is wanted.
Worked example — model it step by step, thinking aloud: A runner covers 12 km in 50 minutes, rests for 10 minutes, then runs 6 km in 30 minutes. What is her average speed for the whole race, in km/h? (1) Total distance: 12 + 6 = 18 km. (2) Total time, including the rest: 50 + 10 + 30 = 90 minutes, which is 1.5 hours. (3) Average speed = 18 ÷ 1.5 = 12. Answer: 12 km/h.
Tip: Whole journey: total distance ÷ total time, stops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Speed from a section of the 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On Nijah's graph the line rises from 5 km to 35 km between 10:00 and 11:30. What is her average speed for this section, in km/h?
Support — work through the steps with the group: (1) Find the rise in distance: the end reading minus the start reading. (2) Find the time taken: from the start time to the end time, in hours. (3) Divide the distance by the time.
Parallel worked example for Support (model it, do not give the task answer): A line rises from 10 km to 50 km between 13:00 and 15:00. What is the average speed for this section, in km/h? Distance: 50 − 10 = 40 km.; Time: 13:00 to 15:00 is 2 hours.; Speed: 40 ÷ 2 = 20 km/h.. Answer: 20 km/h.
Core — reveal the hint only on request: The distance covered is 35 − 5. The time is from 10:00 to 11:30, in hours.
Stretch — no help; when finished: After 11:30 Nijah's line is flat until 12:00, then falls back to 5 km at 13:00. Work out the speed of the return section and explain why a falling line still has a positive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Average speed for the whole journey.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coach drives 90 miles in 1 hour 30 minutes, stops for 30 minutes, then drives 60 miles in 1 hour. What is its average speed for the whole journey, including the stop, in mph?
Support — work through the steps with the group: (1) Add the distances to find the total distance. (2) Add all the times, including the stop, and write the total in hours. (3) Divide the total distance by the total time.
Parallel worked example for Support (model it, do not give the task answer): A van drives 40 miles in 1 hour, stops for 30 minutes, then drives 20 miles in 30 minutes. What is its average speed for the whole journey, including the stop, in mph? Total distance: 40 + 20 = 60 miles.; Total time: 1 + 0.5 + 0.5 = 2 hours.; Average speed: 60 ÷ 2 = 30 mph.. Answer: 30 mph.
Core — reveal the hint only on request: Total distance is 150 miles. The total time, with the stop, is 3 hours.
Stretch — no help; when finished: The coach's speed was 60 mph in both driving sections. Explain why the average speed for the whole journey is not 60 mph, and sketch in words what the graph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Average speed for the whole journey.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coach drives 90 miles in 1 hour 30 minutes, stops for 30 minutes, then drives 60 miles in 1 hour. What is its average speed for the whole journey, including the stop, in mph?
Support — work through the steps with the group: (1) Add the distances to find the total distance. (2) Add all the times, including the stop, and write the total in hours. (3) Divide the total distance by the total time.
Parallel worked example for Support (model it, do not give the task answer): A van drives 40 miles in 1 hour, stops for 30 minutes, then drives 20 miles in 30 minutes. What is its average speed for the whole journey, including the stop, in mph? Total distance: 40 + 20 = 60 miles.; Total time: 1 + 0.5 + 0.5 = 2 hours.; Average speed: 60 ÷ 2 = 30 mph.. Answer: 30 mph.
Core — reveal the hint only on request: Total distance is 150 miles. The total time, with the stop, is 3 hours.
Stretch — no help; when finished: The coach's speed was 60 mph in both driving sections. Explain why the average speed for the whole journey is not 60 mph, and sketch in words what the graph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Amir walks 1 km in 15 minutes, rests for 5 minutes, then walks 2 km in 30 minutes. Put the points of his distance–time graph in the order they are plotted, as (minutes, km).
Answer: (0, 0)  (B); (15, 1)  (A); (20, 1)  (D); (50, 3)  (C). Start at (0, 0). After 15 minutes he has walked 1 km: (15, 1). The rest adds 5 minutes but no distance: (20, 1). The last walk adds 30 minutes and 2 km: (50, 3).
Source of this question: module 3 task ("Plot the journey")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Speed from a section of the graph. Reveal the answer; pupils mark their own work in a different colour, then read the "why" together. Same destination for every lane, so one answer serves the whole class.
Answer: 20 km/h
Why: Distance covered: 35 − 5 = 30 km. Time taken: 10:00 to 11:30 is 1.5 hours. Speed = 30 ÷ 1.5 = 20 km/h.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Average speed for the whole journey. Reveal the answer; pupils mark their own work in a different colour, then read the "why" together. Same destination for every lane, so one answer serves the whole class.
Answer: 50 mph
Why: Total distance 90 + 60 = 150 miles. Total time 1.5 + 0.5 + 1 = 3 hours. Average speed 150 ÷ 3 = 50 mph.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(0, 0)  (B); (15, 1)  (A); (20, 1)  (D); (50, 3)  (C)
Why: Start at (0, 0). After 15 minutes he has walked 1 km: (15, 1). The rest adds 5 minutes but no distance: (20, 1). The last walk adds 30 minutes and 2 km: (50, 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Speed, Distance and Time · AQA KS3 → 8300</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Drawing graphs and finding speed</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F0F2F7"/>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Draw distance–time graphs and calculate speed</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we measure time and movement, and how do speed, distance and time fit together?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Two lines on a distance–time graph show two cars. Line P is steeper than line Q. What does this tell you?</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 P is faster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 P travels further in total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 Q is faster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 P is driving up a hill</a:t>
            </a:r>
            <a:endParaRPr lang="en-US" sz="18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line on a distance–time graph rises from 0 km to 30 km between 2 pm and 3 pm. What is the speed in km/h?</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km/h</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flat line on a distance–time graph lasts for 20 minutes. What is the speed during this time, in km/h?</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km/h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Car P is faster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Two lines on a distance–time graph show two cars. Line P is steeper than line Q. What does this tell you?</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steeper line means more distance in the same time, which means a greater speed.</a:t>
            </a:r>
            <a:endParaRPr lang="en-US" sz="18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30 km/h</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line on a distance–time graph rises from 0 km to 30 km between 2 pm and 3 pm. What is the speed in km/h?</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time taken is 1 hour and the distance is 30 km, so the speed is 30 ÷ 1 = 30 km/h.</a:t>
            </a:r>
            <a:endParaRPr lang="en-US" sz="18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0 km/h</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flat line on a distance–time graph lasts for 20 minutes. What is the speed during this time, in km/h?</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flat line means the distance does not change. No distance in 20 minutes is a speed of 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649834"/>
          </a:xfrm>
          <a:prstGeom prst="roundRect">
            <a:avLst>
              <a:gd name="adj" fmla="val 8443"/>
            </a:avLst>
          </a:prstGeom>
          <a:solidFill>
            <a:srgbClr val="F5F6F9"/>
          </a:solidFill>
          <a:ln/>
        </p:spPr>
      </p:sp>
      <p:sp>
        <p:nvSpPr>
          <p:cNvPr id="12" name="kw-hex"/>
          <p:cNvSpPr/>
          <p:nvPr/>
        </p:nvSpPr>
        <p:spPr>
          <a:xfrm>
            <a:off x="658368" y="2066986"/>
            <a:ext cx="411480" cy="356342"/>
          </a:xfrm>
          <a:prstGeom prst="hexagon">
            <a:avLst/>
          </a:prstGeom>
          <a:solidFill>
            <a:srgbClr val="2E4A8C"/>
          </a:solidFill>
          <a:ln/>
        </p:spPr>
      </p:sp>
      <p:sp>
        <p:nvSpPr>
          <p:cNvPr id="13" name="kw-cell"/>
          <p:cNvSpPr txBox="1"/>
          <p:nvPr/>
        </p:nvSpPr>
        <p:spPr>
          <a:xfrm>
            <a:off x="1143000" y="1920240"/>
            <a:ext cx="2331720" cy="64983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plot</a:t>
            </a:r>
            <a:endParaRPr lang="en-US" sz="2000" dirty="0"/>
          </a:p>
        </p:txBody>
      </p:sp>
      <p:sp>
        <p:nvSpPr>
          <p:cNvPr id="14" name="kw-cell"/>
          <p:cNvSpPr txBox="1"/>
          <p:nvPr/>
        </p:nvSpPr>
        <p:spPr>
          <a:xfrm>
            <a:off x="3657600" y="1920240"/>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mark a point on a graph</a:t>
            </a:r>
            <a:endParaRPr lang="en-US" sz="1800" dirty="0"/>
          </a:p>
        </p:txBody>
      </p:sp>
      <p:sp>
        <p:nvSpPr>
          <p:cNvPr id="15" name="kw-cell"/>
          <p:cNvSpPr txBox="1"/>
          <p:nvPr/>
        </p:nvSpPr>
        <p:spPr>
          <a:xfrm>
            <a:off x="7315200" y="1920240"/>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Plot the point for 20 minutes and 2 km.</a:t>
            </a:r>
            <a:endParaRPr lang="en-US" sz="1800" dirty="0"/>
          </a:p>
        </p:txBody>
      </p:sp>
      <p:sp>
        <p:nvSpPr>
          <p:cNvPr id="16" name="kw-row"/>
          <p:cNvSpPr/>
          <p:nvPr/>
        </p:nvSpPr>
        <p:spPr>
          <a:xfrm>
            <a:off x="548640" y="2643226"/>
            <a:ext cx="11094415" cy="877418"/>
          </a:xfrm>
          <a:prstGeom prst="roundRect">
            <a:avLst>
              <a:gd name="adj" fmla="val 6253"/>
            </a:avLst>
          </a:prstGeom>
          <a:solidFill>
            <a:srgbClr val="F9F4EC"/>
          </a:solidFill>
          <a:ln/>
        </p:spPr>
      </p:sp>
      <p:sp>
        <p:nvSpPr>
          <p:cNvPr id="17" name="kw-hex"/>
          <p:cNvSpPr/>
          <p:nvPr/>
        </p:nvSpPr>
        <p:spPr>
          <a:xfrm>
            <a:off x="658368" y="2903764"/>
            <a:ext cx="411480" cy="356342"/>
          </a:xfrm>
          <a:prstGeom prst="hexagon">
            <a:avLst/>
          </a:prstGeom>
          <a:solidFill>
            <a:srgbClr val="B8862B"/>
          </a:solidFill>
          <a:ln/>
        </p:spPr>
      </p:sp>
      <p:sp>
        <p:nvSpPr>
          <p:cNvPr id="18" name="kw-cell"/>
          <p:cNvSpPr txBox="1"/>
          <p:nvPr/>
        </p:nvSpPr>
        <p:spPr>
          <a:xfrm>
            <a:off x="1143000" y="2643226"/>
            <a:ext cx="2331720" cy="87741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scale</a:t>
            </a:r>
            <a:endParaRPr lang="en-US" sz="2000" dirty="0"/>
          </a:p>
        </p:txBody>
      </p:sp>
      <p:sp>
        <p:nvSpPr>
          <p:cNvPr id="19" name="kw-cell"/>
          <p:cNvSpPr txBox="1"/>
          <p:nvPr/>
        </p:nvSpPr>
        <p:spPr>
          <a:xfrm>
            <a:off x="3657600" y="2643226"/>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each square on an axis is worth</a:t>
            </a:r>
            <a:endParaRPr lang="en-US" sz="1800" dirty="0"/>
          </a:p>
        </p:txBody>
      </p:sp>
      <p:sp>
        <p:nvSpPr>
          <p:cNvPr id="20" name="kw-cell"/>
          <p:cNvSpPr txBox="1"/>
          <p:nvPr/>
        </p:nvSpPr>
        <p:spPr>
          <a:xfrm>
            <a:off x="7315200" y="2643226"/>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On this scale, one square is 10 minutes.</a:t>
            </a:r>
            <a:endParaRPr lang="en-US" sz="1800" dirty="0"/>
          </a:p>
        </p:txBody>
      </p:sp>
      <p:sp>
        <p:nvSpPr>
          <p:cNvPr id="21" name="kw-row"/>
          <p:cNvSpPr/>
          <p:nvPr/>
        </p:nvSpPr>
        <p:spPr>
          <a:xfrm>
            <a:off x="548640" y="3593795"/>
            <a:ext cx="11094415" cy="649834"/>
          </a:xfrm>
          <a:prstGeom prst="roundRect">
            <a:avLst>
              <a:gd name="adj" fmla="val 8443"/>
            </a:avLst>
          </a:prstGeom>
          <a:solidFill>
            <a:srgbClr val="F5F6F9"/>
          </a:solidFill>
          <a:ln/>
        </p:spPr>
      </p:sp>
      <p:sp>
        <p:nvSpPr>
          <p:cNvPr id="22" name="kw-hex"/>
          <p:cNvSpPr/>
          <p:nvPr/>
        </p:nvSpPr>
        <p:spPr>
          <a:xfrm>
            <a:off x="658368" y="3740541"/>
            <a:ext cx="411480" cy="356342"/>
          </a:xfrm>
          <a:prstGeom prst="hexagon">
            <a:avLst/>
          </a:prstGeom>
          <a:solidFill>
            <a:srgbClr val="2E4A8C"/>
          </a:solidFill>
          <a:ln/>
        </p:spPr>
      </p:sp>
      <p:sp>
        <p:nvSpPr>
          <p:cNvPr id="23" name="kw-cell"/>
          <p:cNvSpPr txBox="1"/>
          <p:nvPr/>
        </p:nvSpPr>
        <p:spPr>
          <a:xfrm>
            <a:off x="1143000" y="3593795"/>
            <a:ext cx="2331720" cy="64983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steeper</a:t>
            </a:r>
            <a:endParaRPr lang="en-US" sz="2000" dirty="0"/>
          </a:p>
        </p:txBody>
      </p:sp>
      <p:sp>
        <p:nvSpPr>
          <p:cNvPr id="24" name="kw-cell"/>
          <p:cNvSpPr txBox="1"/>
          <p:nvPr/>
        </p:nvSpPr>
        <p:spPr>
          <a:xfrm>
            <a:off x="3657600" y="3593795"/>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rising more sharply</a:t>
            </a:r>
            <a:endParaRPr lang="en-US" sz="1800" dirty="0"/>
          </a:p>
        </p:txBody>
      </p:sp>
      <p:sp>
        <p:nvSpPr>
          <p:cNvPr id="25" name="kw-cell"/>
          <p:cNvSpPr txBox="1"/>
          <p:nvPr/>
        </p:nvSpPr>
        <p:spPr>
          <a:xfrm>
            <a:off x="7315200" y="3593795"/>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steeper line shows the faster runner.</a:t>
            </a:r>
            <a:endParaRPr lang="en-US" sz="1800" dirty="0"/>
          </a:p>
        </p:txBody>
      </p:sp>
      <p:sp>
        <p:nvSpPr>
          <p:cNvPr id="26" name="kw-row"/>
          <p:cNvSpPr/>
          <p:nvPr/>
        </p:nvSpPr>
        <p:spPr>
          <a:xfrm>
            <a:off x="548640" y="4316781"/>
            <a:ext cx="11094415" cy="877418"/>
          </a:xfrm>
          <a:prstGeom prst="roundRect">
            <a:avLst>
              <a:gd name="adj" fmla="val 6253"/>
            </a:avLst>
          </a:prstGeom>
          <a:solidFill>
            <a:srgbClr val="F9F4EC"/>
          </a:solidFill>
          <a:ln/>
        </p:spPr>
      </p:sp>
      <p:sp>
        <p:nvSpPr>
          <p:cNvPr id="27" name="kw-hex"/>
          <p:cNvSpPr/>
          <p:nvPr/>
        </p:nvSpPr>
        <p:spPr>
          <a:xfrm>
            <a:off x="658368" y="4577319"/>
            <a:ext cx="411480" cy="356342"/>
          </a:xfrm>
          <a:prstGeom prst="hexagon">
            <a:avLst/>
          </a:prstGeom>
          <a:solidFill>
            <a:srgbClr val="B8862B"/>
          </a:solidFill>
          <a:ln/>
        </p:spPr>
      </p:sp>
      <p:sp>
        <p:nvSpPr>
          <p:cNvPr id="28" name="kw-cell"/>
          <p:cNvSpPr txBox="1"/>
          <p:nvPr/>
        </p:nvSpPr>
        <p:spPr>
          <a:xfrm>
            <a:off x="1143000" y="4316781"/>
            <a:ext cx="2331720" cy="87741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section</a:t>
            </a:r>
            <a:endParaRPr lang="en-US" sz="2000" dirty="0"/>
          </a:p>
        </p:txBody>
      </p:sp>
      <p:sp>
        <p:nvSpPr>
          <p:cNvPr id="29" name="kw-cell"/>
          <p:cNvSpPr txBox="1"/>
          <p:nvPr/>
        </p:nvSpPr>
        <p:spPr>
          <a:xfrm>
            <a:off x="3657600" y="4316781"/>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part of the journey</a:t>
            </a:r>
            <a:endParaRPr lang="en-US" sz="1800" dirty="0"/>
          </a:p>
        </p:txBody>
      </p:sp>
      <p:sp>
        <p:nvSpPr>
          <p:cNvPr id="30" name="kw-cell"/>
          <p:cNvSpPr txBox="1"/>
          <p:nvPr/>
        </p:nvSpPr>
        <p:spPr>
          <a:xfrm>
            <a:off x="7315200" y="4316781"/>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Find the speed for each section of the graph.</a:t>
            </a:r>
            <a:endParaRPr lang="en-US" sz="1800" dirty="0"/>
          </a:p>
        </p:txBody>
      </p:sp>
      <p:sp>
        <p:nvSpPr>
          <p:cNvPr id="31" name="kw-row"/>
          <p:cNvSpPr/>
          <p:nvPr/>
        </p:nvSpPr>
        <p:spPr>
          <a:xfrm>
            <a:off x="548640" y="5267350"/>
            <a:ext cx="11094415" cy="877418"/>
          </a:xfrm>
          <a:prstGeom prst="roundRect">
            <a:avLst>
              <a:gd name="adj" fmla="val 6253"/>
            </a:avLst>
          </a:prstGeom>
          <a:solidFill>
            <a:srgbClr val="F5F6F9"/>
          </a:solidFill>
          <a:ln/>
        </p:spPr>
      </p:sp>
      <p:sp>
        <p:nvSpPr>
          <p:cNvPr id="32" name="kw-hex"/>
          <p:cNvSpPr/>
          <p:nvPr/>
        </p:nvSpPr>
        <p:spPr>
          <a:xfrm>
            <a:off x="658368" y="5527888"/>
            <a:ext cx="411480" cy="356342"/>
          </a:xfrm>
          <a:prstGeom prst="hexagon">
            <a:avLst/>
          </a:prstGeom>
          <a:solidFill>
            <a:srgbClr val="2E4A8C"/>
          </a:solidFill>
          <a:ln/>
        </p:spPr>
      </p:sp>
      <p:sp>
        <p:nvSpPr>
          <p:cNvPr id="33" name="kw-cell"/>
          <p:cNvSpPr txBox="1"/>
          <p:nvPr/>
        </p:nvSpPr>
        <p:spPr>
          <a:xfrm>
            <a:off x="1143000" y="5267350"/>
            <a:ext cx="2331720" cy="87741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average speed</a:t>
            </a:r>
            <a:endParaRPr lang="en-US" sz="2000" dirty="0"/>
          </a:p>
        </p:txBody>
      </p:sp>
      <p:sp>
        <p:nvSpPr>
          <p:cNvPr id="34" name="kw-cell"/>
          <p:cNvSpPr txBox="1"/>
          <p:nvPr/>
        </p:nvSpPr>
        <p:spPr>
          <a:xfrm>
            <a:off x="3657600" y="526735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total distance divided by total time</a:t>
            </a:r>
            <a:endParaRPr lang="en-US" sz="1800" dirty="0"/>
          </a:p>
        </p:txBody>
      </p:sp>
      <p:sp>
        <p:nvSpPr>
          <p:cNvPr id="35" name="kw-cell"/>
          <p:cNvSpPr txBox="1"/>
          <p:nvPr/>
        </p:nvSpPr>
        <p:spPr>
          <a:xfrm>
            <a:off x="7315200" y="526735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Her average speed for the whole race was 12 km/h.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You can draw a distance–time graph from a story.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Plot</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the time along the bottom and the distance up the side.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Join the points with straight lines.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rest is a flat line.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steeper</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the line, the faster the speed.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flat line has a speed of zero.</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find the speed of one part, read its distance and its time.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divide the distance by the time.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line that rises 20 km in half an hour shows 40 km/h.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For a whole journey, divide the total distance by the total time.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Include any stops in the total time.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Drawing the graph from a story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Each part of the story adds to the time. Only the moving parts add to the distance.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Amir runs 2 km in 12 minutes, rests for 4 minutes, then runs 3 km in 24 minutes. At what time, in minutes, does his graph finish?</a:t>
            </a:r>
            <a:endParaRPr lang="en-US" sz="1800" dirty="0"/>
          </a:p>
        </p:txBody>
      </p:sp>
      <p:sp>
        <p:nvSpPr>
          <p:cNvPr id="14" name="step-box"/>
          <p:cNvSpPr/>
          <p:nvPr/>
        </p:nvSpPr>
        <p:spPr>
          <a:xfrm>
            <a:off x="6126480" y="3167380"/>
            <a:ext cx="5379415" cy="566928"/>
          </a:xfrm>
          <a:prstGeom prst="roundRect">
            <a:avLst>
              <a:gd name="adj" fmla="val 16129"/>
            </a:avLst>
          </a:prstGeom>
          <a:solidFill>
            <a:srgbClr val="F0F2F7"/>
          </a:solidFill>
          <a:ln/>
        </p:spPr>
      </p:sp>
      <p:sp>
        <p:nvSpPr>
          <p:cNvPr id="15" name="step-hex"/>
          <p:cNvSpPr/>
          <p:nvPr/>
        </p:nvSpPr>
        <p:spPr>
          <a:xfrm>
            <a:off x="6217920" y="3268714"/>
            <a:ext cx="420624" cy="364260"/>
          </a:xfrm>
          <a:prstGeom prst="hexagon">
            <a:avLst/>
          </a:prstGeom>
          <a:solidFill>
            <a:srgbClr val="2E4A8C"/>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up the times: 12 + 4 + 24 = 40.</a:t>
            </a:r>
            <a:endParaRPr lang="en-US" sz="1800" dirty="0"/>
          </a:p>
        </p:txBody>
      </p:sp>
      <p:sp>
        <p:nvSpPr>
          <p:cNvPr id="18" name="step-box"/>
          <p:cNvSpPr/>
          <p:nvPr/>
        </p:nvSpPr>
        <p:spPr>
          <a:xfrm>
            <a:off x="6126480" y="3825748"/>
            <a:ext cx="5379415" cy="566928"/>
          </a:xfrm>
          <a:prstGeom prst="roundRect">
            <a:avLst>
              <a:gd name="adj" fmla="val 16129"/>
            </a:avLst>
          </a:prstGeom>
          <a:solidFill>
            <a:srgbClr val="F0F2F7"/>
          </a:solidFill>
          <a:ln/>
        </p:spPr>
      </p:sp>
      <p:sp>
        <p:nvSpPr>
          <p:cNvPr id="19" name="step-hex"/>
          <p:cNvSpPr/>
          <p:nvPr/>
        </p:nvSpPr>
        <p:spPr>
          <a:xfrm>
            <a:off x="6217920" y="3927082"/>
            <a:ext cx="420624" cy="364260"/>
          </a:xfrm>
          <a:prstGeom prst="hexagon">
            <a:avLst/>
          </a:prstGeom>
          <a:solidFill>
            <a:srgbClr val="2E4A8C"/>
          </a:solidFill>
          <a:ln/>
        </p:spPr>
      </p:sp>
      <p:sp>
        <p:nvSpPr>
          <p:cNvPr id="20" name="step-hex-label"/>
          <p:cNvSpPr txBox="1"/>
          <p:nvPr/>
        </p:nvSpPr>
        <p:spPr>
          <a:xfrm>
            <a:off x="6217920" y="39270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graph finishes at 40 minutes.</a:t>
            </a:r>
            <a:endParaRPr lang="en-US" sz="1800" dirty="0"/>
          </a:p>
        </p:txBody>
      </p:sp>
      <p:sp>
        <p:nvSpPr>
          <p:cNvPr id="22" name="step-box"/>
          <p:cNvSpPr/>
          <p:nvPr/>
        </p:nvSpPr>
        <p:spPr>
          <a:xfrm>
            <a:off x="6126480" y="4484116"/>
            <a:ext cx="5379415" cy="794512"/>
          </a:xfrm>
          <a:prstGeom prst="roundRect">
            <a:avLst>
              <a:gd name="adj" fmla="val 11509"/>
            </a:avLst>
          </a:prstGeom>
          <a:solidFill>
            <a:srgbClr val="F0F2F7"/>
          </a:solidFill>
          <a:ln/>
        </p:spPr>
      </p:sp>
      <p:sp>
        <p:nvSpPr>
          <p:cNvPr id="23" name="step-hex"/>
          <p:cNvSpPr/>
          <p:nvPr/>
        </p:nvSpPr>
        <p:spPr>
          <a:xfrm>
            <a:off x="6217920" y="4699242"/>
            <a:ext cx="420624" cy="364260"/>
          </a:xfrm>
          <a:prstGeom prst="hexagon">
            <a:avLst/>
          </a:prstGeom>
          <a:solidFill>
            <a:srgbClr val="2E4A8C"/>
          </a:solidFill>
          <a:ln/>
        </p:spPr>
      </p:sp>
      <p:sp>
        <p:nvSpPr>
          <p:cNvPr id="24" name="step-hex-label"/>
          <p:cNvSpPr txBox="1"/>
          <p:nvPr/>
        </p:nvSpPr>
        <p:spPr>
          <a:xfrm>
            <a:off x="6217920" y="46992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8411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distance: 2 + 3 = 5 km, so the last point is (40, 5).</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40 minutes</a:t>
            </a:r>
            <a:endParaRPr lang="en-US" sz="1800" dirty="0"/>
          </a:p>
        </p:txBody>
      </p:sp>
      <p:sp>
        <p:nvSpPr>
          <p:cNvPr id="27" name="bullet-card"/>
          <p:cNvSpPr/>
          <p:nvPr/>
        </p:nvSpPr>
        <p:spPr>
          <a:xfrm>
            <a:off x="548640" y="1389888"/>
            <a:ext cx="5074920" cy="1151805"/>
          </a:xfrm>
          <a:prstGeom prst="roundRect">
            <a:avLst>
              <a:gd name="adj" fmla="val 6351"/>
            </a:avLst>
          </a:prstGeom>
          <a:solidFill>
            <a:srgbClr val="F5F6F9"/>
          </a:solidFill>
          <a:ln/>
        </p:spPr>
      </p:sp>
      <p:sp>
        <p:nvSpPr>
          <p:cNvPr id="28" name="bullet-hex"/>
          <p:cNvSpPr/>
          <p:nvPr/>
        </p:nvSpPr>
        <p:spPr>
          <a:xfrm>
            <a:off x="676656" y="1799498"/>
            <a:ext cx="384048" cy="332586"/>
          </a:xfrm>
          <a:prstGeom prst="hexagon">
            <a:avLst/>
          </a:prstGeom>
          <a:solidFill>
            <a:srgbClr val="2E4A8C"/>
          </a:solidFill>
          <a:ln/>
        </p:spPr>
      </p:sp>
      <p:sp>
        <p:nvSpPr>
          <p:cNvPr id="29" name="bullet"/>
          <p:cNvSpPr txBox="1"/>
          <p:nvPr/>
        </p:nvSpPr>
        <p:spPr>
          <a:xfrm>
            <a:off x="1143000" y="1389888"/>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draw a distance–time graph, turn each part of the story into a point.</a:t>
            </a:r>
            <a:endParaRPr lang="en-US" sz="2200" dirty="0"/>
          </a:p>
        </p:txBody>
      </p:sp>
      <p:sp>
        <p:nvSpPr>
          <p:cNvPr id="30" name="bullet-card"/>
          <p:cNvSpPr/>
          <p:nvPr/>
        </p:nvSpPr>
        <p:spPr>
          <a:xfrm>
            <a:off x="548640" y="2687997"/>
            <a:ext cx="5074920" cy="1151805"/>
          </a:xfrm>
          <a:prstGeom prst="roundRect">
            <a:avLst>
              <a:gd name="adj" fmla="val 6351"/>
            </a:avLst>
          </a:prstGeom>
          <a:solidFill>
            <a:srgbClr val="F5F6F9"/>
          </a:solidFill>
          <a:ln/>
        </p:spPr>
      </p:sp>
      <p:sp>
        <p:nvSpPr>
          <p:cNvPr id="31" name="bullet-hex"/>
          <p:cNvSpPr/>
          <p:nvPr/>
        </p:nvSpPr>
        <p:spPr>
          <a:xfrm>
            <a:off x="676656" y="3097607"/>
            <a:ext cx="384048" cy="332586"/>
          </a:xfrm>
          <a:prstGeom prst="hexagon">
            <a:avLst/>
          </a:prstGeom>
          <a:solidFill>
            <a:srgbClr val="B8862B"/>
          </a:solidFill>
          <a:ln/>
        </p:spPr>
      </p:sp>
      <p:sp>
        <p:nvSpPr>
          <p:cNvPr id="32" name="bullet"/>
          <p:cNvSpPr txBox="1"/>
          <p:nvPr/>
        </p:nvSpPr>
        <p:spPr>
          <a:xfrm>
            <a:off x="1143000" y="2687997"/>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Amir runs 2 km in 12 minutes, rests for 4 minutes, then runs 3 km in 24 minutes.</a:t>
            </a:r>
            <a:endParaRPr lang="en-US" sz="2200" dirty="0"/>
          </a:p>
        </p:txBody>
      </p:sp>
      <p:sp>
        <p:nvSpPr>
          <p:cNvPr id="33" name="bullet-card"/>
          <p:cNvSpPr/>
          <p:nvPr/>
        </p:nvSpPr>
        <p:spPr>
          <a:xfrm>
            <a:off x="548640" y="3986107"/>
            <a:ext cx="5074920" cy="810937"/>
          </a:xfrm>
          <a:prstGeom prst="roundRect">
            <a:avLst>
              <a:gd name="adj" fmla="val 9021"/>
            </a:avLst>
          </a:prstGeom>
          <a:solidFill>
            <a:srgbClr val="F5F6F9"/>
          </a:solidFill>
          <a:ln/>
        </p:spPr>
      </p:sp>
      <p:sp>
        <p:nvSpPr>
          <p:cNvPr id="34" name="bullet-hex"/>
          <p:cNvSpPr/>
          <p:nvPr/>
        </p:nvSpPr>
        <p:spPr>
          <a:xfrm>
            <a:off x="676656" y="4225283"/>
            <a:ext cx="384048" cy="332586"/>
          </a:xfrm>
          <a:prstGeom prst="hexagon">
            <a:avLst/>
          </a:prstGeom>
          <a:solidFill>
            <a:srgbClr val="2E4A8C"/>
          </a:solidFill>
          <a:ln/>
        </p:spPr>
      </p:sp>
      <p:sp>
        <p:nvSpPr>
          <p:cNvPr id="35" name="bullet"/>
          <p:cNvSpPr txBox="1"/>
          <p:nvPr/>
        </p:nvSpPr>
        <p:spPr>
          <a:xfrm>
            <a:off x="1143000" y="3986107"/>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Ron drew a graph where the line went down during a stop.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Steeper means faster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Same distance, less time: steeper line, faster runner.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1242568"/>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Eva and Annie both run 100 m. Eva's line reaches 100 m at 16 seconds and Annie's reaches 100 m at 20 seconds. Who is faster, and what is Eva's average speed in m/s?</a:t>
            </a:r>
            <a:endParaRPr lang="en-US" sz="1800" dirty="0"/>
          </a:p>
        </p:txBody>
      </p:sp>
      <p:sp>
        <p:nvSpPr>
          <p:cNvPr id="14" name="step-box"/>
          <p:cNvSpPr/>
          <p:nvPr/>
        </p:nvSpPr>
        <p:spPr>
          <a:xfrm>
            <a:off x="6126480" y="3446272"/>
            <a:ext cx="5379415" cy="751332"/>
          </a:xfrm>
          <a:prstGeom prst="roundRect">
            <a:avLst>
              <a:gd name="adj" fmla="val 12170"/>
            </a:avLst>
          </a:prstGeom>
          <a:solidFill>
            <a:srgbClr val="F0F2F7"/>
          </a:solidFill>
          <a:ln/>
        </p:spPr>
      </p:sp>
      <p:sp>
        <p:nvSpPr>
          <p:cNvPr id="15" name="step-hex"/>
          <p:cNvSpPr/>
          <p:nvPr/>
        </p:nvSpPr>
        <p:spPr>
          <a:xfrm>
            <a:off x="6217920" y="3639808"/>
            <a:ext cx="420624" cy="364260"/>
          </a:xfrm>
          <a:prstGeom prst="hexagon">
            <a:avLst/>
          </a:prstGeom>
          <a:solidFill>
            <a:srgbClr val="2E4A8C"/>
          </a:solidFill>
          <a:ln/>
        </p:spPr>
      </p:sp>
      <p:sp>
        <p:nvSpPr>
          <p:cNvPr id="16" name="step-hex-label"/>
          <p:cNvSpPr txBox="1"/>
          <p:nvPr/>
        </p:nvSpPr>
        <p:spPr>
          <a:xfrm>
            <a:off x="6217920" y="363980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446272"/>
            <a:ext cx="4739335" cy="7513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Eva reaches 100 m first, so her line is steeper and she is faster.</a:t>
            </a:r>
            <a:endParaRPr lang="en-US" sz="1800" dirty="0"/>
          </a:p>
        </p:txBody>
      </p:sp>
      <p:sp>
        <p:nvSpPr>
          <p:cNvPr id="18" name="step-box"/>
          <p:cNvSpPr/>
          <p:nvPr/>
        </p:nvSpPr>
        <p:spPr>
          <a:xfrm>
            <a:off x="6126480" y="4289044"/>
            <a:ext cx="5379415" cy="523748"/>
          </a:xfrm>
          <a:prstGeom prst="roundRect">
            <a:avLst>
              <a:gd name="adj" fmla="val 17459"/>
            </a:avLst>
          </a:prstGeom>
          <a:solidFill>
            <a:srgbClr val="F0F2F7"/>
          </a:solidFill>
          <a:ln/>
        </p:spPr>
      </p:sp>
      <p:sp>
        <p:nvSpPr>
          <p:cNvPr id="19" name="step-hex"/>
          <p:cNvSpPr/>
          <p:nvPr/>
        </p:nvSpPr>
        <p:spPr>
          <a:xfrm>
            <a:off x="6217920" y="4368788"/>
            <a:ext cx="420624" cy="364260"/>
          </a:xfrm>
          <a:prstGeom prst="hexagon">
            <a:avLst/>
          </a:prstGeom>
          <a:solidFill>
            <a:srgbClr val="2E4A8C"/>
          </a:solidFill>
          <a:ln/>
        </p:spPr>
      </p:sp>
      <p:sp>
        <p:nvSpPr>
          <p:cNvPr id="20" name="step-hex-label"/>
          <p:cNvSpPr txBox="1"/>
          <p:nvPr/>
        </p:nvSpPr>
        <p:spPr>
          <a:xfrm>
            <a:off x="6217920" y="436878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289044"/>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 distance ÷ time = 100 ÷ 16.</a:t>
            </a:r>
            <a:endParaRPr lang="en-US" sz="1800" dirty="0"/>
          </a:p>
        </p:txBody>
      </p:sp>
      <p:sp>
        <p:nvSpPr>
          <p:cNvPr id="22" name="step-box"/>
          <p:cNvSpPr/>
          <p:nvPr/>
        </p:nvSpPr>
        <p:spPr>
          <a:xfrm>
            <a:off x="6126480" y="4904232"/>
            <a:ext cx="5379415" cy="523748"/>
          </a:xfrm>
          <a:prstGeom prst="roundRect">
            <a:avLst>
              <a:gd name="adj" fmla="val 17459"/>
            </a:avLst>
          </a:prstGeom>
          <a:solidFill>
            <a:srgbClr val="F0F2F7"/>
          </a:solidFill>
          <a:ln/>
        </p:spPr>
      </p:sp>
      <p:sp>
        <p:nvSpPr>
          <p:cNvPr id="23" name="step-hex"/>
          <p:cNvSpPr/>
          <p:nvPr/>
        </p:nvSpPr>
        <p:spPr>
          <a:xfrm>
            <a:off x="6217920" y="4983976"/>
            <a:ext cx="420624" cy="364260"/>
          </a:xfrm>
          <a:prstGeom prst="hexagon">
            <a:avLst/>
          </a:prstGeom>
          <a:solidFill>
            <a:srgbClr val="2E4A8C"/>
          </a:solidFill>
          <a:ln/>
        </p:spPr>
      </p:sp>
      <p:sp>
        <p:nvSpPr>
          <p:cNvPr id="24" name="step-hex-label"/>
          <p:cNvSpPr txBox="1"/>
          <p:nvPr/>
        </p:nvSpPr>
        <p:spPr>
          <a:xfrm>
            <a:off x="6217920" y="498397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904232"/>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100 ÷ 16 = 6.25.</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6.25 m/s</a:t>
            </a:r>
            <a:endParaRPr lang="en-US" sz="1800" dirty="0"/>
          </a:p>
        </p:txBody>
      </p:sp>
      <p:sp>
        <p:nvSpPr>
          <p:cNvPr id="27" name="bullet-card"/>
          <p:cNvSpPr/>
          <p:nvPr/>
        </p:nvSpPr>
        <p:spPr>
          <a:xfrm>
            <a:off x="548640" y="1389888"/>
            <a:ext cx="5074920" cy="1224111"/>
          </a:xfrm>
          <a:prstGeom prst="roundRect">
            <a:avLst>
              <a:gd name="adj" fmla="val 5976"/>
            </a:avLst>
          </a:prstGeom>
          <a:solidFill>
            <a:srgbClr val="F5F6F9"/>
          </a:solidFill>
          <a:ln/>
        </p:spPr>
      </p:sp>
      <p:sp>
        <p:nvSpPr>
          <p:cNvPr id="28" name="bullet-hex"/>
          <p:cNvSpPr/>
          <p:nvPr/>
        </p:nvSpPr>
        <p:spPr>
          <a:xfrm>
            <a:off x="676656" y="1835651"/>
            <a:ext cx="384048" cy="332586"/>
          </a:xfrm>
          <a:prstGeom prst="hexagon">
            <a:avLst/>
          </a:prstGeom>
          <a:solidFill>
            <a:srgbClr val="2E4A8C"/>
          </a:solidFill>
          <a:ln/>
        </p:spPr>
      </p:sp>
      <p:sp>
        <p:nvSpPr>
          <p:cNvPr id="29" name="bullet"/>
          <p:cNvSpPr txBox="1"/>
          <p:nvPr/>
        </p:nvSpPr>
        <p:spPr>
          <a:xfrm>
            <a:off x="1143000" y="1389888"/>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Compare two runners on the same graph. The one whose line is steeper covers more distance in the same time, so she is faster.</a:t>
            </a:r>
            <a:endParaRPr lang="en-US" sz="1800" dirty="0"/>
          </a:p>
        </p:txBody>
      </p:sp>
      <p:sp>
        <p:nvSpPr>
          <p:cNvPr id="30" name="bullet-card"/>
          <p:cNvSpPr/>
          <p:nvPr/>
        </p:nvSpPr>
        <p:spPr>
          <a:xfrm>
            <a:off x="548640" y="2760303"/>
            <a:ext cx="5074920" cy="1224111"/>
          </a:xfrm>
          <a:prstGeom prst="roundRect">
            <a:avLst>
              <a:gd name="adj" fmla="val 5976"/>
            </a:avLst>
          </a:prstGeom>
          <a:solidFill>
            <a:srgbClr val="F5F6F9"/>
          </a:solidFill>
          <a:ln/>
        </p:spPr>
      </p:sp>
      <p:sp>
        <p:nvSpPr>
          <p:cNvPr id="31" name="bullet-hex"/>
          <p:cNvSpPr/>
          <p:nvPr/>
        </p:nvSpPr>
        <p:spPr>
          <a:xfrm>
            <a:off x="676656" y="3206065"/>
            <a:ext cx="384048" cy="332586"/>
          </a:xfrm>
          <a:prstGeom prst="hexagon">
            <a:avLst/>
          </a:prstGeom>
          <a:solidFill>
            <a:srgbClr val="B8862B"/>
          </a:solidFill>
          <a:ln/>
        </p:spPr>
      </p:sp>
      <p:sp>
        <p:nvSpPr>
          <p:cNvPr id="32" name="bullet"/>
          <p:cNvSpPr txBox="1"/>
          <p:nvPr/>
        </p:nvSpPr>
        <p:spPr>
          <a:xfrm>
            <a:off x="1143000" y="2760303"/>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 a race, the first runner to reach the finishing distance has the line that reaches the top first.</a:t>
            </a:r>
            <a:endParaRPr lang="en-US" sz="1800" dirty="0"/>
          </a:p>
        </p:txBody>
      </p:sp>
      <p:sp>
        <p:nvSpPr>
          <p:cNvPr id="33" name="bullet-card"/>
          <p:cNvSpPr/>
          <p:nvPr/>
        </p:nvSpPr>
        <p:spPr>
          <a:xfrm>
            <a:off x="548640" y="4130717"/>
            <a:ext cx="5074920" cy="945219"/>
          </a:xfrm>
          <a:prstGeom prst="roundRect">
            <a:avLst>
              <a:gd name="adj" fmla="val 7739"/>
            </a:avLst>
          </a:prstGeom>
          <a:solidFill>
            <a:srgbClr val="F5F6F9"/>
          </a:solidFill>
          <a:ln/>
        </p:spPr>
      </p:sp>
      <p:sp>
        <p:nvSpPr>
          <p:cNvPr id="34" name="bullet-hex"/>
          <p:cNvSpPr/>
          <p:nvPr/>
        </p:nvSpPr>
        <p:spPr>
          <a:xfrm>
            <a:off x="676656" y="4437034"/>
            <a:ext cx="384048" cy="332586"/>
          </a:xfrm>
          <a:prstGeom prst="hexagon">
            <a:avLst/>
          </a:prstGeom>
          <a:solidFill>
            <a:srgbClr val="2E4A8C"/>
          </a:solidFill>
          <a:ln/>
        </p:spPr>
      </p:sp>
      <p:sp>
        <p:nvSpPr>
          <p:cNvPr id="35" name="bullet"/>
          <p:cNvSpPr txBox="1"/>
          <p:nvPr/>
        </p:nvSpPr>
        <p:spPr>
          <a:xfrm>
            <a:off x="1143000" y="4130717"/>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flat line is the least steep of all. Its speed is zero, because no distance is covered.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Speed from one section of the 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Speed of a section = rise in distance ÷ time taken, with the time in hours.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On a graph the line rises from 10 km to 40 km between 1 pm and 2:30 pm. What is the average speed for this section, in km/h?</a:t>
            </a:r>
            <a:endParaRPr lang="en-US" sz="1800" dirty="0"/>
          </a:p>
        </p:txBody>
      </p:sp>
      <p:sp>
        <p:nvSpPr>
          <p:cNvPr id="14" name="step-box"/>
          <p:cNvSpPr/>
          <p:nvPr/>
        </p:nvSpPr>
        <p:spPr>
          <a:xfrm>
            <a:off x="6126480" y="3167380"/>
            <a:ext cx="5379415" cy="566928"/>
          </a:xfrm>
          <a:prstGeom prst="roundRect">
            <a:avLst>
              <a:gd name="adj" fmla="val 16129"/>
            </a:avLst>
          </a:prstGeom>
          <a:solidFill>
            <a:srgbClr val="F0F2F7"/>
          </a:solidFill>
          <a:ln/>
        </p:spPr>
      </p:sp>
      <p:sp>
        <p:nvSpPr>
          <p:cNvPr id="15" name="step-hex"/>
          <p:cNvSpPr/>
          <p:nvPr/>
        </p:nvSpPr>
        <p:spPr>
          <a:xfrm>
            <a:off x="6217920" y="3268714"/>
            <a:ext cx="420624" cy="364260"/>
          </a:xfrm>
          <a:prstGeom prst="hexagon">
            <a:avLst/>
          </a:prstGeom>
          <a:solidFill>
            <a:srgbClr val="2E4A8C"/>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Distance: 40 − 10 = 30 km.</a:t>
            </a:r>
            <a:endParaRPr lang="en-US" sz="1800" dirty="0"/>
          </a:p>
        </p:txBody>
      </p:sp>
      <p:sp>
        <p:nvSpPr>
          <p:cNvPr id="18" name="step-box"/>
          <p:cNvSpPr/>
          <p:nvPr/>
        </p:nvSpPr>
        <p:spPr>
          <a:xfrm>
            <a:off x="6126480" y="3825748"/>
            <a:ext cx="5379415" cy="794512"/>
          </a:xfrm>
          <a:prstGeom prst="roundRect">
            <a:avLst>
              <a:gd name="adj" fmla="val 11509"/>
            </a:avLst>
          </a:prstGeom>
          <a:solidFill>
            <a:srgbClr val="F0F2F7"/>
          </a:solidFill>
          <a:ln/>
        </p:spPr>
      </p:sp>
      <p:sp>
        <p:nvSpPr>
          <p:cNvPr id="19" name="step-hex"/>
          <p:cNvSpPr/>
          <p:nvPr/>
        </p:nvSpPr>
        <p:spPr>
          <a:xfrm>
            <a:off x="6217920" y="4040874"/>
            <a:ext cx="420624" cy="364260"/>
          </a:xfrm>
          <a:prstGeom prst="hexagon">
            <a:avLst/>
          </a:prstGeom>
          <a:solidFill>
            <a:srgbClr val="2E4A8C"/>
          </a:solidFill>
          <a:ln/>
        </p:spPr>
      </p:sp>
      <p:sp>
        <p:nvSpPr>
          <p:cNvPr id="20" name="step-hex-label"/>
          <p:cNvSpPr txBox="1"/>
          <p:nvPr/>
        </p:nvSpPr>
        <p:spPr>
          <a:xfrm>
            <a:off x="6217920" y="40408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Time: from 1 pm to 2:30 pm is 1 hour 30 minutes, which is 1.5 hours.</a:t>
            </a:r>
            <a:endParaRPr lang="en-US" sz="1800" dirty="0"/>
          </a:p>
        </p:txBody>
      </p:sp>
      <p:sp>
        <p:nvSpPr>
          <p:cNvPr id="22" name="step-box"/>
          <p:cNvSpPr/>
          <p:nvPr/>
        </p:nvSpPr>
        <p:spPr>
          <a:xfrm>
            <a:off x="6126480" y="4711700"/>
            <a:ext cx="5379415" cy="566928"/>
          </a:xfrm>
          <a:prstGeom prst="roundRect">
            <a:avLst>
              <a:gd name="adj" fmla="val 16129"/>
            </a:avLst>
          </a:prstGeom>
          <a:solidFill>
            <a:srgbClr val="F0F2F7"/>
          </a:solidFill>
          <a:ln/>
        </p:spPr>
      </p:sp>
      <p:sp>
        <p:nvSpPr>
          <p:cNvPr id="23" name="step-hex"/>
          <p:cNvSpPr/>
          <p:nvPr/>
        </p:nvSpPr>
        <p:spPr>
          <a:xfrm>
            <a:off x="6217920" y="4813034"/>
            <a:ext cx="420624" cy="364260"/>
          </a:xfrm>
          <a:prstGeom prst="hexagon">
            <a:avLst/>
          </a:prstGeom>
          <a:solidFill>
            <a:srgbClr val="2E4A8C"/>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 30 ÷ 1.5 = 20.</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20 km/h</a:t>
            </a:r>
            <a:endParaRPr lang="en-US" sz="1800" dirty="0"/>
          </a:p>
        </p:txBody>
      </p:sp>
      <p:sp>
        <p:nvSpPr>
          <p:cNvPr id="27" name="bullet-card"/>
          <p:cNvSpPr/>
          <p:nvPr/>
        </p:nvSpPr>
        <p:spPr>
          <a:xfrm>
            <a:off x="548640" y="1389888"/>
            <a:ext cx="5074920" cy="1131147"/>
          </a:xfrm>
          <a:prstGeom prst="roundRect">
            <a:avLst>
              <a:gd name="adj" fmla="val 6467"/>
            </a:avLst>
          </a:prstGeom>
          <a:solidFill>
            <a:srgbClr val="F5F6F9"/>
          </a:solidFill>
          <a:ln/>
        </p:spPr>
      </p:sp>
      <p:sp>
        <p:nvSpPr>
          <p:cNvPr id="28" name="bullet-hex"/>
          <p:cNvSpPr/>
          <p:nvPr/>
        </p:nvSpPr>
        <p:spPr>
          <a:xfrm>
            <a:off x="676656" y="1789169"/>
            <a:ext cx="384048" cy="332586"/>
          </a:xfrm>
          <a:prstGeom prst="hexagon">
            <a:avLst/>
          </a:prstGeom>
          <a:solidFill>
            <a:srgbClr val="2E4A8C"/>
          </a:solidFill>
          <a:ln/>
        </p:spPr>
      </p:sp>
      <p:sp>
        <p:nvSpPr>
          <p:cNvPr id="29"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find the speed in one section, read how far the line rises and how long it takes.</a:t>
            </a:r>
            <a:endParaRPr lang="en-US" sz="2000" dirty="0"/>
          </a:p>
        </p:txBody>
      </p:sp>
      <p:sp>
        <p:nvSpPr>
          <p:cNvPr id="30" name="bullet-card"/>
          <p:cNvSpPr/>
          <p:nvPr/>
        </p:nvSpPr>
        <p:spPr>
          <a:xfrm>
            <a:off x="548640" y="2667339"/>
            <a:ext cx="5074920" cy="821267"/>
          </a:xfrm>
          <a:prstGeom prst="roundRect">
            <a:avLst>
              <a:gd name="adj" fmla="val 8907"/>
            </a:avLst>
          </a:prstGeom>
          <a:solidFill>
            <a:srgbClr val="F5F6F9"/>
          </a:solidFill>
          <a:ln/>
        </p:spPr>
      </p:sp>
      <p:sp>
        <p:nvSpPr>
          <p:cNvPr id="31" name="bullet-hex"/>
          <p:cNvSpPr/>
          <p:nvPr/>
        </p:nvSpPr>
        <p:spPr>
          <a:xfrm>
            <a:off x="676656" y="2911679"/>
            <a:ext cx="384048" cy="332586"/>
          </a:xfrm>
          <a:prstGeom prst="hexagon">
            <a:avLst/>
          </a:prstGeom>
          <a:solidFill>
            <a:srgbClr val="B8862B"/>
          </a:solidFill>
          <a:ln/>
        </p:spPr>
      </p:sp>
      <p:sp>
        <p:nvSpPr>
          <p:cNvPr id="32" name="bullet"/>
          <p:cNvSpPr txBox="1"/>
          <p:nvPr/>
        </p:nvSpPr>
        <p:spPr>
          <a:xfrm>
            <a:off x="1143000" y="266733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speed in that section is 30 ÷ 1.5 = 20 km/h.</a:t>
            </a:r>
            <a:endParaRPr lang="en-US" sz="2000" dirty="0"/>
          </a:p>
        </p:txBody>
      </p:sp>
      <p:sp>
        <p:nvSpPr>
          <p:cNvPr id="33" name="bullet-card"/>
          <p:cNvSpPr/>
          <p:nvPr/>
        </p:nvSpPr>
        <p:spPr>
          <a:xfrm>
            <a:off x="548640" y="3634909"/>
            <a:ext cx="5074920" cy="1441027"/>
          </a:xfrm>
          <a:prstGeom prst="roundRect">
            <a:avLst>
              <a:gd name="adj" fmla="val 5076"/>
            </a:avLst>
          </a:prstGeom>
          <a:solidFill>
            <a:srgbClr val="F5F6F9"/>
          </a:solidFill>
          <a:ln/>
        </p:spPr>
      </p:sp>
      <p:sp>
        <p:nvSpPr>
          <p:cNvPr id="34" name="bullet-hex"/>
          <p:cNvSpPr/>
          <p:nvPr/>
        </p:nvSpPr>
        <p:spPr>
          <a:xfrm>
            <a:off x="676656" y="4189130"/>
            <a:ext cx="384048" cy="332586"/>
          </a:xfrm>
          <a:prstGeom prst="hexagon">
            <a:avLst/>
          </a:prstGeom>
          <a:solidFill>
            <a:srgbClr val="2E4A8C"/>
          </a:solidFill>
          <a:ln/>
        </p:spPr>
      </p:sp>
      <p:sp>
        <p:nvSpPr>
          <p:cNvPr id="35" name="bullet"/>
          <p:cNvSpPr txBox="1"/>
          <p:nvPr/>
        </p:nvSpPr>
        <p:spPr>
          <a:xfrm>
            <a:off x="1143000" y="3634909"/>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 a drone's graph, if the line rises 2 km in 20 minutes, the speed is 2 km divided by one third of an hour, which is 6 km/h.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Average speed for the whole journey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Whole journey: total distance ÷ total time, stops included.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runner covers 12 km in 50 minutes, rests for 10 minutes, then runs 6 km in 30 minutes. What is her average speed for the whole race, in km/h?</a:t>
            </a:r>
            <a:endParaRPr lang="en-US" sz="1800" dirty="0"/>
          </a:p>
        </p:txBody>
      </p:sp>
      <p:sp>
        <p:nvSpPr>
          <p:cNvPr id="14" name="step-box"/>
          <p:cNvSpPr/>
          <p:nvPr/>
        </p:nvSpPr>
        <p:spPr>
          <a:xfrm>
            <a:off x="6126480" y="3167380"/>
            <a:ext cx="5379415" cy="566928"/>
          </a:xfrm>
          <a:prstGeom prst="roundRect">
            <a:avLst>
              <a:gd name="adj" fmla="val 16129"/>
            </a:avLst>
          </a:prstGeom>
          <a:solidFill>
            <a:srgbClr val="F0F2F7"/>
          </a:solidFill>
          <a:ln/>
        </p:spPr>
      </p:sp>
      <p:sp>
        <p:nvSpPr>
          <p:cNvPr id="15" name="step-hex"/>
          <p:cNvSpPr/>
          <p:nvPr/>
        </p:nvSpPr>
        <p:spPr>
          <a:xfrm>
            <a:off x="6217920" y="3268714"/>
            <a:ext cx="420624" cy="364260"/>
          </a:xfrm>
          <a:prstGeom prst="hexagon">
            <a:avLst/>
          </a:prstGeom>
          <a:solidFill>
            <a:srgbClr val="2E4A8C"/>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Total distance: 12 + 6 = 18 km.</a:t>
            </a:r>
            <a:endParaRPr lang="en-US" sz="1800" dirty="0"/>
          </a:p>
        </p:txBody>
      </p:sp>
      <p:sp>
        <p:nvSpPr>
          <p:cNvPr id="18" name="step-box"/>
          <p:cNvSpPr/>
          <p:nvPr/>
        </p:nvSpPr>
        <p:spPr>
          <a:xfrm>
            <a:off x="6126480" y="3825748"/>
            <a:ext cx="5379415" cy="794512"/>
          </a:xfrm>
          <a:prstGeom prst="roundRect">
            <a:avLst>
              <a:gd name="adj" fmla="val 11509"/>
            </a:avLst>
          </a:prstGeom>
          <a:solidFill>
            <a:srgbClr val="F0F2F7"/>
          </a:solidFill>
          <a:ln/>
        </p:spPr>
      </p:sp>
      <p:sp>
        <p:nvSpPr>
          <p:cNvPr id="19" name="step-hex"/>
          <p:cNvSpPr/>
          <p:nvPr/>
        </p:nvSpPr>
        <p:spPr>
          <a:xfrm>
            <a:off x="6217920" y="4040874"/>
            <a:ext cx="420624" cy="364260"/>
          </a:xfrm>
          <a:prstGeom prst="hexagon">
            <a:avLst/>
          </a:prstGeom>
          <a:solidFill>
            <a:srgbClr val="2E4A8C"/>
          </a:solidFill>
          <a:ln/>
        </p:spPr>
      </p:sp>
      <p:sp>
        <p:nvSpPr>
          <p:cNvPr id="20" name="step-hex-label"/>
          <p:cNvSpPr txBox="1"/>
          <p:nvPr/>
        </p:nvSpPr>
        <p:spPr>
          <a:xfrm>
            <a:off x="6217920" y="40408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Total time, including the rest: 50 + 10 + 30 = 90 minutes, which is 1.5 hours.</a:t>
            </a:r>
            <a:endParaRPr lang="en-US" sz="1800" dirty="0"/>
          </a:p>
        </p:txBody>
      </p:sp>
      <p:sp>
        <p:nvSpPr>
          <p:cNvPr id="22" name="step-box"/>
          <p:cNvSpPr/>
          <p:nvPr/>
        </p:nvSpPr>
        <p:spPr>
          <a:xfrm>
            <a:off x="6126480" y="4711700"/>
            <a:ext cx="5379415" cy="566928"/>
          </a:xfrm>
          <a:prstGeom prst="roundRect">
            <a:avLst>
              <a:gd name="adj" fmla="val 16129"/>
            </a:avLst>
          </a:prstGeom>
          <a:solidFill>
            <a:srgbClr val="F0F2F7"/>
          </a:solidFill>
          <a:ln/>
        </p:spPr>
      </p:sp>
      <p:sp>
        <p:nvSpPr>
          <p:cNvPr id="23" name="step-hex"/>
          <p:cNvSpPr/>
          <p:nvPr/>
        </p:nvSpPr>
        <p:spPr>
          <a:xfrm>
            <a:off x="6217920" y="4813034"/>
            <a:ext cx="420624" cy="364260"/>
          </a:xfrm>
          <a:prstGeom prst="hexagon">
            <a:avLst/>
          </a:prstGeom>
          <a:solidFill>
            <a:srgbClr val="2E4A8C"/>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Average speed = 18 ÷ 1.5 = 12.</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12 km/h</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the average speed of a whole journey, use the total distance and the total time.</a:t>
            </a:r>
            <a:endParaRPr lang="en-US" sz="2200" dirty="0"/>
          </a:p>
        </p:txBody>
      </p:sp>
      <p:sp>
        <p:nvSpPr>
          <p:cNvPr id="30" name="bullet-card"/>
          <p:cNvSpPr/>
          <p:nvPr/>
        </p:nvSpPr>
        <p:spPr>
          <a:xfrm>
            <a:off x="548640" y="2780961"/>
            <a:ext cx="5074920" cy="1244769"/>
          </a:xfrm>
          <a:prstGeom prst="roundRect">
            <a:avLst>
              <a:gd name="adj" fmla="val 5877"/>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780961"/>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runner covers 12 km in 50 minutes, rests for 10 minutes, then runs 6 km in 30 minutes.</a:t>
            </a:r>
            <a:endParaRPr lang="en-US" sz="2200" dirty="0"/>
          </a:p>
        </p:txBody>
      </p:sp>
      <p:sp>
        <p:nvSpPr>
          <p:cNvPr id="33" name="bullet-card"/>
          <p:cNvSpPr/>
          <p:nvPr/>
        </p:nvSpPr>
        <p:spPr>
          <a:xfrm>
            <a:off x="548640" y="4172035"/>
            <a:ext cx="5074920" cy="903901"/>
          </a:xfrm>
          <a:prstGeom prst="roundRect">
            <a:avLst>
              <a:gd name="adj" fmla="val 8093"/>
            </a:avLst>
          </a:prstGeom>
          <a:solidFill>
            <a:srgbClr val="F5F6F9"/>
          </a:solidFill>
          <a:ln/>
        </p:spPr>
      </p:sp>
      <p:sp>
        <p:nvSpPr>
          <p:cNvPr id="34" name="bullet-hex"/>
          <p:cNvSpPr/>
          <p:nvPr/>
        </p:nvSpPr>
        <p:spPr>
          <a:xfrm>
            <a:off x="676656" y="4457693"/>
            <a:ext cx="384048" cy="332586"/>
          </a:xfrm>
          <a:prstGeom prst="hexagon">
            <a:avLst/>
          </a:prstGeom>
          <a:solidFill>
            <a:srgbClr val="2E4A8C"/>
          </a:solidFill>
          <a:ln/>
        </p:spPr>
      </p:sp>
      <p:sp>
        <p:nvSpPr>
          <p:cNvPr id="35"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Sometimes a question asks for the average speed only while moving.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Speed from a section of the graph</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On Nijah's graph the line rises from 5 km to 35 km between 10:00 and 11:30. What is her average speed for this section, in km/h?</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km/h</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rise in distance: the end reading minus the start reading.</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time taken: from the start time to the end time, in hours.</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distance by the time.</a:t>
            </a:r>
            <a:endParaRPr lang="en-US" sz="1800" dirty="0"/>
          </a:p>
        </p:txBody>
      </p:sp>
      <p:sp>
        <p:nvSpPr>
          <p:cNvPr id="17" name="col-Core"/>
          <p:cNvSpPr/>
          <p:nvPr/>
        </p:nvSpPr>
        <p:spPr>
          <a:xfrm>
            <a:off x="5490762" y="2948940"/>
            <a:ext cx="2938987" cy="3195828"/>
          </a:xfrm>
          <a:prstGeom prst="roundRect">
            <a:avLst>
              <a:gd name="adj" fmla="val 1867"/>
            </a:avLst>
          </a:prstGeom>
          <a:solidFill>
            <a:srgbClr val="D7DDE9"/>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distance covered is 35 − 5. The time is from 10:00 to 11:30, in hours.</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E4A8C"/>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After 11:30 Nijah's line is flat until 12:00, then falls back to 5 km at 13:00. Work out the speed of the return section and explain why a falling line still has a positive speed.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task: Average speed for the whole journey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coach drives 90 miles in 1 hour 30 minutes, stops for 30 minutes, then drives 60 miles in 1 hour. What is its average speed for the whole journey, including the stop, in mph?</a:t>
            </a:r>
            <a:endParaRPr lang="en-US" sz="2600" dirty="0"/>
          </a:p>
          <a:p>
            <a:pPr algn="ctr" indent="0" marL="0">
              <a:buNone/>
            </a:pPr>
            <a:r>
              <a:rPr lang="en-US" sz="2400" b="1" dirty="0">
                <a:solidFill>
                  <a:srgbClr val="2E4A8C"/>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mph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Average speed for the whole journey</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coach drives 90 miles in 1 hour 30 minutes, stops for 30 minutes, then drives 60 miles in 1 hour. What is its average speed for the whole journey, including the stop, in mph?</a:t>
            </a:r>
            <a:endParaRPr lang="en-US" sz="2000" dirty="0"/>
          </a:p>
        </p:txBody>
      </p:sp>
      <p:sp>
        <p:nvSpPr>
          <p:cNvPr id="12" name="col-Support"/>
          <p:cNvSpPr/>
          <p:nvPr/>
        </p:nvSpPr>
        <p:spPr>
          <a:xfrm>
            <a:off x="548640" y="2903728"/>
            <a:ext cx="3515258" cy="3241040"/>
          </a:xfrm>
          <a:prstGeom prst="roundRect">
            <a:avLst>
              <a:gd name="adj" fmla="val 1693"/>
            </a:avLst>
          </a:prstGeom>
          <a:solidFill>
            <a:srgbClr val="F0F2F7"/>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3240938" cy="2491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Add the distances to find the total distance.</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Add all the times, including the stop, and write the total in hours.</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Divide the total distance by the total time.</a:t>
            </a:r>
            <a:endParaRPr lang="en-US" sz="2000" dirty="0"/>
          </a:p>
        </p:txBody>
      </p:sp>
      <p:sp>
        <p:nvSpPr>
          <p:cNvPr id="17" name="col-Core"/>
          <p:cNvSpPr/>
          <p:nvPr/>
        </p:nvSpPr>
        <p:spPr>
          <a:xfrm>
            <a:off x="4338218" y="2903728"/>
            <a:ext cx="3515258" cy="3241040"/>
          </a:xfrm>
          <a:prstGeom prst="roundRect">
            <a:avLst>
              <a:gd name="adj" fmla="val 1693"/>
            </a:avLst>
          </a:prstGeom>
          <a:solidFill>
            <a:srgbClr val="D7DDE9"/>
          </a:solidFill>
          <a:ln/>
        </p:spPr>
      </p:sp>
      <p:sp>
        <p:nvSpPr>
          <p:cNvPr id="18" name="col-hex"/>
          <p:cNvSpPr/>
          <p:nvPr/>
        </p:nvSpPr>
        <p:spPr>
          <a:xfrm>
            <a:off x="444794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43808"/>
            <a:ext cx="3240938" cy="2491232"/>
          </a:xfrm>
          <a:prstGeom prst="rect">
            <a:avLst/>
          </a:prstGeom>
          <a:noFill/>
          <a:ln/>
        </p:spPr>
        <p:txBody>
          <a:bodyPr wrap="square" lIns="63500" tIns="63500" rIns="63500" bIns="63500" rtlCol="0" anchor="t"/>
          <a:lstStyle/>
          <a:p>
            <a:pPr algn="l" indent="0" marL="0">
              <a:buNone/>
            </a:pPr>
            <a:r>
              <a:rPr lang="en-US" sz="2000" b="1" dirty="0">
                <a:solidFill>
                  <a:srgbClr val="253B70"/>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Total distance is 150 miles. The total time, with the stop, is 3 hours.</a:t>
            </a:r>
            <a:endParaRPr lang="en-US" sz="2000" dirty="0"/>
          </a:p>
        </p:txBody>
      </p:sp>
      <p:sp>
        <p:nvSpPr>
          <p:cNvPr id="22" name="col-Stretch"/>
          <p:cNvSpPr/>
          <p:nvPr/>
        </p:nvSpPr>
        <p:spPr>
          <a:xfrm>
            <a:off x="8127797" y="2903728"/>
            <a:ext cx="3515258" cy="3241040"/>
          </a:xfrm>
          <a:prstGeom prst="roundRect">
            <a:avLst>
              <a:gd name="adj" fmla="val 1693"/>
            </a:avLst>
          </a:prstGeom>
          <a:solidFill>
            <a:srgbClr val="2E4A8C"/>
          </a:solidFill>
          <a:ln/>
        </p:spPr>
      </p:sp>
      <p:sp>
        <p:nvSpPr>
          <p:cNvPr id="23" name="col-hex"/>
          <p:cNvSpPr/>
          <p:nvPr/>
        </p:nvSpPr>
        <p:spPr>
          <a:xfrm>
            <a:off x="8237525"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43808"/>
            <a:ext cx="3240938" cy="2491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The coach's speed was 60 mph in both driving sections. Explain why the average speed for the whole journey is not 60 mph, and sketch in words what the graph looks like.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7012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Amir walks 1 km in 15 minutes, rests for 5 minutes, then walks 2 km in 30 minutes. Put the points of his distance–time graph in the order they are plotted, as (minutes, km).</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(15, 1)</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(0, 0)</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(50, 3)</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(20, 1)</a:t>
            </a:r>
            <a:endParaRPr lang="en-US" sz="2200" dirty="0"/>
          </a:p>
        </p:txBody>
      </p:sp>
      <p:sp>
        <p:nvSpPr>
          <p:cNvPr id="11" name="exit-answer-box"/>
          <p:cNvSpPr/>
          <p:nvPr/>
        </p:nvSpPr>
        <p:spPr>
          <a:xfrm>
            <a:off x="2286000" y="5184648"/>
            <a:ext cx="7619695" cy="685800"/>
          </a:xfrm>
          <a:prstGeom prst="roundRect">
            <a:avLst>
              <a:gd name="adj" fmla="val 13333"/>
            </a:avLst>
          </a:prstGeom>
          <a:solidFill>
            <a:srgbClr val="F7F8FA"/>
          </a:solidFill>
          <a:ln w="12700">
            <a:solidFill>
              <a:srgbClr val="9DAAC9"/>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Speed from a section of the graph</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Nijah's graph the line rises from 5 km to 35 km between 10:00 and 11:30. What is her average speed for this section, in km/h?</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 km/h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Distance covered: 35 − 5 = 30 km. Time taken: 10:00 to 11:30 is 1.5 hours. Speed = 30 ÷ 1.5 = 20 km/h.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Average speed for the whole journey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coach drives 90 miles in 1 hour 30 minutes, stops for 30 minutes, then drives 60 miles in 1 hour. What is its average speed for the whole journey, including the stop, in mph?</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50 mph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Total distance 90 + 60 = 150 miles. Total time 1.5 + 0.5 + 1 = 3 hours. Average speed 150 ÷ 3 = 50 mph.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(0, 0)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(15, 1)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(20, 1)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(50, 3)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Start at (0, 0). After 15 minutes he has walked 1 km: (15, 1). The rest adds 5 minutes but no distance: (20, 1). The last walk adds 30 minutes and 2 km: (50, 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 Distance and Time · Chapter 6: Drawing graphs and finding speed</dc:title>
  <dc:subject>Mathematics · Year 7</dc:subject>
  <dc:creator>Dr Vitor Merissi de Carvalho</dc:creator>
  <cp:lastModifiedBy>Dr Vitor Merissi de Carvalho</cp:lastModifiedBy>
  <cp:revision>1</cp:revision>
  <dcterms:created xsi:type="dcterms:W3CDTF">2026-10-19T16:23:24Z</dcterms:created>
  <dcterms:modified xsi:type="dcterms:W3CDTF">2026-10-19T16:23:24Z</dcterms:modified>
</cp:coreProperties>
</file>