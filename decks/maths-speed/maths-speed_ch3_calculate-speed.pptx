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7c63c06-bd57-48da-d570-102d7d4422dd}">
          <p14:sldIdLst>
            <p14:sldId id="256"/>
          </p14:sldIdLst>
        </p14:section>
        <p14:section name="Gate" id="{f21ac356-e481-1382-eee5-54d22fc2bfe7}">
          <p14:sldIdLst>
            <p14:sldId id="257"/>
            <p14:sldId id="258"/>
          </p14:sldIdLst>
        </p14:section>
        <p14:section name="Pre-teach" id="{2ec1ebcf-b3a2-73db-de38-db9e90b1567e}">
          <p14:sldIdLst>
            <p14:sldId id="259"/>
          </p14:sldIdLst>
        </p14:section>
        <p14:section name="Read-along" id="{fc5ac0fb-834e-7765-f09a-2646f65df81a}">
          <p14:sldIdLst>
            <p14:sldId id="260"/>
            <p14:sldId id="261"/>
          </p14:sldIdLst>
        </p14:section>
        <p14:section name="Teach" id="{676857cb-501a-1932-c355-951c5f13da37}">
          <p14:sldIdLst>
            <p14:sldId id="262"/>
            <p14:sldId id="263"/>
            <p14:sldId id="264"/>
            <p14:sldId id="265"/>
          </p14:sldIdLst>
        </p14:section>
        <p14:section name="Routes" id="{016b44ea-48c1-7580-5448-b7024de24ddc}">
          <p14:sldIdLst>
            <p14:sldId id="266"/>
            <p14:sldId id="267"/>
          </p14:sldIdLst>
        </p14:section>
        <p14:section name="Close" id="{77074211-7bb7-2802-cc87-883ae044d92c}">
          <p14:sldIdLst>
            <p14:sldId id="268"/>
          </p14:sldIdLst>
        </p14:section>
        <p14:section name="Answers" id="{415c66fa-0ae0-825f-0b3c-3ed7b18b4018}">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Calculating speed. Understand what speed means, divide distance by time, and make the units match.
This deck covers the department's lesson: 5 (Calculate speed: What is speed, and how do we work it out from distance and time?).
Read the big question aloud: "How do we measure time and movement, and how do speed, distance and time fit together?"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A car travels 150 miles in 3 hours. What is its average speed in mph?  →  50 mph
2. Which of these is a unit of speed?  →  B   km/h
3. A cyclist rides 12 km in 30 minutes. What is her average speed in km/h?  →  24 km/h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50 mph. Speed = distance ÷ time = 150 ÷ 3 = 50 mph.
2. B   km/h. Speed is a distance per unit of time, so its units are distance ÷ time: km/h, mph or m/s.
3. 24 km/h. 30 minutes is 0.5 hours. Speed = 12 ÷ 0.5 = 24 km/h. Check: twice 12 km in twice the time, one hour.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speed: how fast something moves. Example: "The speed limit in town is 30 mph."
• average speed: total distance divided by total time. Example: "The train's average speed was 80 mph, even though it slowed down in places."
• distance: how far something travels. Example: "The distance from home to school is 2 km."
• mph: miles per hour. Example: "A car travelling at 60 mph covers 60 miles in an hour."
• metres per second: a speed unit, written m/s, for short distances and times. Example: "A sprinter runs at about 10 metres per second."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Speed tells you how fast something moves.
2. It is the distance travelled in one unit of time.
3. A car at 30 km/h goes 30 km in one hour.
4. To find speed, divide the distance by the time.
5. Speed = distance ÷ time.
6. A bus goes 90 miles in 3 hours.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90 ÷ 3 = 30, so its speed is 30 mph.
8. Over a journey the speed changes, so we find the average speed.
9. The units must match.
10. Metres and seconds give metres per second.
11. If the time is in minutes, change it into a fraction of an hour first.
12. 20 minutes is one third of an hour.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speed means. Say it in your own words, then check understanding with a quick question: ask a pupil from the pre-teach group first, since they met these words and ideas before the lesson. Pupils try to recall before you re-explain.
The speed of an object is a measure of how fast it is moving. A fast object travels a large distance each second; a slow one travels a small distance each second. Speed is always a distance per unit of time: miles per hour (mph), kilometres per hour (km/h) or metres per second (m/s).
If a car travels at 65 mph, it goes 65 miles in one hour. So if it travels 195 miles in 3 hours, its speed is 195 ÷ 3 = 65 mph: we share the distance equally between the hours.
This gives the average speed. Over a real journey a car speeds up and slows down, so the average speed is the steady speed that would cover the same distance in the same time. Mo says dividing distance by time gives the speed; Eva says it gives the average speed. Both are right: dividing distance by time gives the speed, but it is the average speed, not the speed at one moment.
Worked example — model it step by step, thinking aloud: A lorry travels 216 km in 4 hours. Work out its average speed in km/h. (1) Speed is distance divided by time. (2) The distance is in km and the time in hours, so the answer will be in km/h. (3) 216 ÷ 4 = 54. Answer: 54 km/h.
Tip: Speed = distance ÷ time. The unit of the answer comes from the units you divided.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Speed in metres per second. Say it in your own words, then check understanding with a quick question: ask a pupil from the pre-teach group first, since they met these words and ideas before the lesson. Pupils try to recall before you re-explain.
For short distances and times we use metres and seconds. A dog that runs 20 metres in 8 seconds covers 20 ÷ 8 = 2.5 metres every second, so its speed is 2.5 m/s.
If the time is given in minutes and seconds, change it all into seconds first. 1 minute 20 seconds is 60 + 20 = 80 seconds. A runner who covers 400 m in that time has a speed of 400 ÷ 80 = 5 m/s.
Always check the unit the question asks for before you divide. Metres divided by seconds give m/s, so the time must be in seconds, not minutes.
Worked example — model it step by step, thinking aloud: A runner covers 300 m in 1 minute 15 seconds. Work out her average speed in metres per second. (1) Change the time into seconds: 1 minute is 60 seconds, so 60 + 15 = 75 seconds. (2) Speed = distance ÷ time = 300 ÷ 75. (3) 300 ÷ 75 = 4. Answer: 4 m/s.
Tip: For m/s, the time must be in seconds. Change minutes into seconds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When the time is in minutes. Say it in your own words, then check understanding with a quick question: ask a pupil from the pre-teach group first, since they met these words and ideas before the lesson. Pupils try to recall before you re-explain.
Speeds like mph and km/h are per hour, so the time must be in hours. If a bird flies 4 miles in 10 minutes, do not divide 4 by 10. Ten minutes is one sixth of an hour, so the bird would fly 6 times as far in a whole hour: 4 × 6 = 24 mph.
Another way is to write the minutes as a fraction or decimal of an hour and divide. 30 minutes is 0.5 hours, so 12 km in 30 minutes is 12 ÷ 0.5 = 24 km/h. 15 minutes is 0.25 hours, so 6 miles in 15 minutes is 6 ÷ 0.25 = 24 mph.
Dividing miles by minutes gives miles per minute, which is not what the question asks. It is also a tiny number, which is a warning sign: 4 ÷ 10 = 0.4 is not a sensible speed for a bird in mph.
Worked example — model it step by step, thinking aloud: A bird flies 6 miles in 15 minutes. Work out its average speed in mph. (1) The speed is per hour, so change 15 minutes into hours: 15 ÷ 60 = 0.25 hours. (2) Speed = distance ÷ time = 6 ÷ 0.25. (3) 6 ÷ 0.25 = 24. Check: a quarter of an hour, so it flies 4 times as far in an hour, and 6 × 4 = 24. Answer: 24 mph.
Tip: Never divide miles by minutes. Turn the minutes into a fraction of an hour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Hours and minutes together. Say it in your own words, then check understanding with a quick question: ask a pupil from the pre-teach group first, since they met these words and ideas before the lesson. Pupils try to recall before you re-explain.
Many journeys take a mixture of hours and minutes, like 2 hours 45 minutes. Write the time as a decimal of an hour before you divide. 45 minutes is 45 ÷ 60 = 0.75 of an hour, so 2 hours 45 minutes is 2.75 hours.
A plane that flies 1100 km in 2 hours 45 minutes has an average speed of 1100 ÷ 2.75 = 400 km/h. If you divided by 2.45 instead, your answer would be wrong, because 2.45 hours is 2 hours 27 minutes, not 2 hours 45 minutes.
When the answer is not exact, round it as the question asks, usually to one decimal place. Write the units with your answer every time.
Worked example — model it step by step, thinking aloud: A train travels 210 km in 1 hour 45 minutes. Work out its average speed in km/h. (1) 45 minutes is 45 ÷ 60 = 0.75 of an hour, so the time is 1.75 hours. (2) Speed = distance ÷ time = 210 ÷ 1.75. (3) 210 ÷ 1.75 = 120. Answer: 120 km/h.
Tip: Write hours and minutes as a decimal of an hour: minutes ÷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Speed from distance and time.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coach travels 180 miles in 4 hours. Work out its average speed in mph.
Support — work through the steps with the group: (1) Write down the distance and the time. (2) Check the units: miles and hours give mph. (3) Divide the distance by the time.
Parallel worked example for Support (model it, do not give the task answer): A van travels 120 miles in 3 hours. Work out its average speed in mph. Distance 120 miles, time 3 hours.; Miles and hours, so the answer is in mph.; 120 ÷ 3 = 40.. Answer: 40 mph.
Core — reveal the hint only on request: Speed = distance ÷ time.
Stretch — no help; when finished: The coach kept to a 30 mph limit for the first hour. Explain why its speed for the rest of the journey must have been more than 45 mph, and work out what it 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Minutes into a fraction of an hour.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bus travels 9 km in 20 minutes. What is its average speed in km/h?
Support — work through the steps with the group: (1) Ask how many of these time chunks fit into one hour. (2) Multiply the distance by that number to find the distance in one hour. (3) That distance per hour is the speed in km/h.
Parallel worked example for Support (model it, do not give the task answer): A boat travels 5 km in 15 minutes. What is its average speed in km/h? 15 minutes fits into an hour 4 times.; 4 × 5 = 20 km in one hour.; The speed is 20 km/h.. Answer: 20 km/h.
Core — reveal the hint only on request: How many lots of 20 minutes make an hour?
Stretch — no help; when finished: A friend gets 0.45 km/h. Explain what the 0.45 actually measures, and explain how to tell straight away that it cannot be the speed of a bus in km/h.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 dog runs 150 m in 2 minutes 5 seconds. Work out its average speed in m/s.
Answer: 1.2 m/s. 2 minutes 5 seconds is 2 × 60 + 5 = 125 seconds. Speed = 150 ÷ 125 = 1.2 m/s.
Source of this question: module 3 task ("Speed in metres per second")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Speed from distance and time. Reveal the answer; pupils mark their own work in a different colour, then read the "why" together. Same destination for every lane, so one answer serves the whole class.
Answer: 45 mph
Why: Speed = distance ÷ time = 180 ÷ 4 = 45 mph.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Minutes into a fraction of an hour. Reveal the answer; pupils mark their own work in a different colour, then read the "why" together. Same destination for every lane, so one answer serves the whole class.
Answer: 27 km/h
Why: 20 minutes is one third of an hour, so the bus goes 3 × 9 = 27 km in an hour. Its speed is 27 km/h.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1.2 m/s
Why: 2 minutes 5 seconds is 2 × 60 + 5 = 125 seconds. Speed = 150 ÷ 125 = 1.2 m/s.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Speed, Distance and Time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Speed, Distance and Time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E4A8C"/>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0E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E4A8C"/>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E4A8C"/>
                </a:solidFill>
                <a:latin typeface="Calibri" pitchFamily="34" charset="0"/>
                <a:ea typeface="Calibri" pitchFamily="34" charset="-122"/>
                <a:cs typeface="Calibri" pitchFamily="34" charset="-120"/>
              </a:rPr>
              <a:t>Mathematics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Speed, Distance and Time · AQA KS3 → 8300</a:t>
            </a:r>
            <a:endParaRPr lang="en-US" sz="1800" dirty="0"/>
          </a:p>
        </p:txBody>
      </p:sp>
      <p:sp>
        <p:nvSpPr>
          <p:cNvPr id="10" name="deck-title"/>
          <p:cNvSpPr txBox="1"/>
          <p:nvPr/>
        </p:nvSpPr>
        <p:spPr>
          <a:xfrm>
            <a:off x="548640" y="2723388"/>
            <a:ext cx="5287975" cy="7874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Calculating speed</a:t>
            </a:r>
            <a:endParaRPr lang="en-US" sz="4000" dirty="0"/>
          </a:p>
        </p:txBody>
      </p:sp>
      <p:sp>
        <p:nvSpPr>
          <p:cNvPr id="11" name="lessons-card"/>
          <p:cNvSpPr/>
          <p:nvPr/>
        </p:nvSpPr>
        <p:spPr>
          <a:xfrm>
            <a:off x="548640" y="3739388"/>
            <a:ext cx="5287975" cy="980440"/>
          </a:xfrm>
          <a:prstGeom prst="roundRect">
            <a:avLst>
              <a:gd name="adj" fmla="val 7461"/>
            </a:avLst>
          </a:prstGeom>
          <a:solidFill>
            <a:srgbClr val="F0F2F7"/>
          </a:solidFill>
          <a:ln/>
        </p:spPr>
      </p:sp>
      <p:sp>
        <p:nvSpPr>
          <p:cNvPr id="12" name="lessons"/>
          <p:cNvSpPr txBox="1"/>
          <p:nvPr/>
        </p:nvSpPr>
        <p:spPr>
          <a:xfrm>
            <a:off x="685800" y="38308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E4A8C"/>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Calculate speed</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Mathematics,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0F2F7"/>
          </a:solidFill>
          <a:ln w="12700">
            <a:solidFill>
              <a:srgbClr val="B2BCD4"/>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E4A8C"/>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do we measure time and movement, and how do speed, distance and time fit together?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car travels 150 miles in 3 hours. What is its average speed in mph?</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mph</a:t>
            </a:r>
            <a:endParaRPr lang="en-US" sz="2400" dirty="0"/>
          </a:p>
        </p:txBody>
      </p:sp>
      <p:sp>
        <p:nvSpPr>
          <p:cNvPr id="12"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3" name="card-hex"/>
          <p:cNvSpPr/>
          <p:nvPr/>
        </p:nvSpPr>
        <p:spPr>
          <a:xfrm>
            <a:off x="4521098" y="1572768"/>
            <a:ext cx="640080" cy="554309"/>
          </a:xfrm>
          <a:prstGeom prst="hexagon">
            <a:avLst/>
          </a:prstGeom>
          <a:solidFill>
            <a:srgbClr val="2E4A8C"/>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of these is a unit of speed?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km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km/h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hours</a:t>
            </a:r>
            <a:endParaRPr lang="en-US" sz="2400" dirty="0"/>
          </a:p>
        </p:txBody>
      </p:sp>
      <p:sp>
        <p:nvSpPr>
          <p:cNvPr id="17"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18" name="card-hex"/>
          <p:cNvSpPr/>
          <p:nvPr/>
        </p:nvSpPr>
        <p:spPr>
          <a:xfrm>
            <a:off x="8310677" y="1572768"/>
            <a:ext cx="640080" cy="554309"/>
          </a:xfrm>
          <a:prstGeom prst="hexagon">
            <a:avLst/>
          </a:prstGeom>
          <a:solidFill>
            <a:srgbClr val="2E4A8C"/>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Work it out</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cyclist rides 12 km in 30 minutes. What is her average speed in km/h?</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km/h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50 mph</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A car travels 150 miles in 3 hours. What is its average speed in mph?</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Speed = distance ÷ time = 150 ÷ 3 = 50 mph.</a:t>
            </a:r>
            <a:endParaRPr lang="en-US" sz="2200" dirty="0"/>
          </a:p>
        </p:txBody>
      </p:sp>
      <p:sp>
        <p:nvSpPr>
          <p:cNvPr id="14"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5" name="card-hex"/>
          <p:cNvSpPr/>
          <p:nvPr/>
        </p:nvSpPr>
        <p:spPr>
          <a:xfrm>
            <a:off x="4521098" y="1572768"/>
            <a:ext cx="640080" cy="554309"/>
          </a:xfrm>
          <a:prstGeom prst="hexagon">
            <a:avLst/>
          </a:prstGeom>
          <a:solidFill>
            <a:srgbClr val="2E4A8C"/>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km/h</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Which of these is a unit of speed?</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Speed is a distance per unit of time, so its units are distance ÷ time: km/h, mph or m/s.</a:t>
            </a:r>
            <a:endParaRPr lang="en-US" sz="2200" dirty="0"/>
          </a:p>
        </p:txBody>
      </p:sp>
      <p:sp>
        <p:nvSpPr>
          <p:cNvPr id="21"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22" name="card-hex"/>
          <p:cNvSpPr/>
          <p:nvPr/>
        </p:nvSpPr>
        <p:spPr>
          <a:xfrm>
            <a:off x="8310677" y="1572768"/>
            <a:ext cx="640080" cy="554309"/>
          </a:xfrm>
          <a:prstGeom prst="hexagon">
            <a:avLst/>
          </a:prstGeom>
          <a:solidFill>
            <a:srgbClr val="2E4A8C"/>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24 km/h</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A cyclist rides 12 km in 30 minutes. What is her average speed in km/h?</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30 minutes is 0.5 hours. Speed = 12 ÷ 0.5 = 24 km/h. Check: twice 12 km in twice the time, one hour.</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2E4A8C"/>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649834"/>
          </a:xfrm>
          <a:prstGeom prst="roundRect">
            <a:avLst>
              <a:gd name="adj" fmla="val 8443"/>
            </a:avLst>
          </a:prstGeom>
          <a:solidFill>
            <a:srgbClr val="F5F6F9"/>
          </a:solidFill>
          <a:ln/>
        </p:spPr>
      </p:sp>
      <p:sp>
        <p:nvSpPr>
          <p:cNvPr id="12" name="kw-hex"/>
          <p:cNvSpPr/>
          <p:nvPr/>
        </p:nvSpPr>
        <p:spPr>
          <a:xfrm>
            <a:off x="658368" y="2066986"/>
            <a:ext cx="411480" cy="356342"/>
          </a:xfrm>
          <a:prstGeom prst="hexagon">
            <a:avLst/>
          </a:prstGeom>
          <a:solidFill>
            <a:srgbClr val="2E4A8C"/>
          </a:solidFill>
          <a:ln/>
        </p:spPr>
      </p:sp>
      <p:sp>
        <p:nvSpPr>
          <p:cNvPr id="13" name="kw-cell"/>
          <p:cNvSpPr txBox="1"/>
          <p:nvPr/>
        </p:nvSpPr>
        <p:spPr>
          <a:xfrm>
            <a:off x="1143000" y="1920240"/>
            <a:ext cx="2331720" cy="649834"/>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speed</a:t>
            </a:r>
            <a:endParaRPr lang="en-US" sz="2000" dirty="0"/>
          </a:p>
        </p:txBody>
      </p:sp>
      <p:sp>
        <p:nvSpPr>
          <p:cNvPr id="14" name="kw-cell"/>
          <p:cNvSpPr txBox="1"/>
          <p:nvPr/>
        </p:nvSpPr>
        <p:spPr>
          <a:xfrm>
            <a:off x="3657600" y="1920240"/>
            <a:ext cx="3474720" cy="64983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how fast something moves</a:t>
            </a:r>
            <a:endParaRPr lang="en-US" sz="1800" dirty="0"/>
          </a:p>
        </p:txBody>
      </p:sp>
      <p:sp>
        <p:nvSpPr>
          <p:cNvPr id="15" name="kw-cell"/>
          <p:cNvSpPr txBox="1"/>
          <p:nvPr/>
        </p:nvSpPr>
        <p:spPr>
          <a:xfrm>
            <a:off x="7315200" y="1920240"/>
            <a:ext cx="4236415" cy="64983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speed limit in town is 30 mph.</a:t>
            </a:r>
            <a:endParaRPr lang="en-US" sz="1800" dirty="0"/>
          </a:p>
        </p:txBody>
      </p:sp>
      <p:sp>
        <p:nvSpPr>
          <p:cNvPr id="16" name="kw-row"/>
          <p:cNvSpPr/>
          <p:nvPr/>
        </p:nvSpPr>
        <p:spPr>
          <a:xfrm>
            <a:off x="548640" y="2643226"/>
            <a:ext cx="11094415" cy="877418"/>
          </a:xfrm>
          <a:prstGeom prst="roundRect">
            <a:avLst>
              <a:gd name="adj" fmla="val 6253"/>
            </a:avLst>
          </a:prstGeom>
          <a:solidFill>
            <a:srgbClr val="F9F4EC"/>
          </a:solidFill>
          <a:ln/>
        </p:spPr>
      </p:sp>
      <p:sp>
        <p:nvSpPr>
          <p:cNvPr id="17" name="kw-hex"/>
          <p:cNvSpPr/>
          <p:nvPr/>
        </p:nvSpPr>
        <p:spPr>
          <a:xfrm>
            <a:off x="658368" y="2903764"/>
            <a:ext cx="411480" cy="356342"/>
          </a:xfrm>
          <a:prstGeom prst="hexagon">
            <a:avLst/>
          </a:prstGeom>
          <a:solidFill>
            <a:srgbClr val="B8862B"/>
          </a:solidFill>
          <a:ln/>
        </p:spPr>
      </p:sp>
      <p:sp>
        <p:nvSpPr>
          <p:cNvPr id="18" name="kw-cell"/>
          <p:cNvSpPr txBox="1"/>
          <p:nvPr/>
        </p:nvSpPr>
        <p:spPr>
          <a:xfrm>
            <a:off x="1143000" y="2643226"/>
            <a:ext cx="2331720" cy="877418"/>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average speed</a:t>
            </a:r>
            <a:endParaRPr lang="en-US" sz="2000" dirty="0"/>
          </a:p>
        </p:txBody>
      </p:sp>
      <p:sp>
        <p:nvSpPr>
          <p:cNvPr id="19" name="kw-cell"/>
          <p:cNvSpPr txBox="1"/>
          <p:nvPr/>
        </p:nvSpPr>
        <p:spPr>
          <a:xfrm>
            <a:off x="3657600" y="2643226"/>
            <a:ext cx="3474720" cy="87741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total distance divided by total time</a:t>
            </a:r>
            <a:endParaRPr lang="en-US" sz="1800" dirty="0"/>
          </a:p>
        </p:txBody>
      </p:sp>
      <p:sp>
        <p:nvSpPr>
          <p:cNvPr id="20" name="kw-cell"/>
          <p:cNvSpPr txBox="1"/>
          <p:nvPr/>
        </p:nvSpPr>
        <p:spPr>
          <a:xfrm>
            <a:off x="7315200" y="2643226"/>
            <a:ext cx="4236415" cy="877418"/>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train's average speed was 80 mph, even though it slowed down in places.</a:t>
            </a:r>
            <a:endParaRPr lang="en-US" sz="1800" dirty="0"/>
          </a:p>
        </p:txBody>
      </p:sp>
      <p:sp>
        <p:nvSpPr>
          <p:cNvPr id="21" name="kw-row"/>
          <p:cNvSpPr/>
          <p:nvPr/>
        </p:nvSpPr>
        <p:spPr>
          <a:xfrm>
            <a:off x="548640" y="3593795"/>
            <a:ext cx="11094415" cy="649834"/>
          </a:xfrm>
          <a:prstGeom prst="roundRect">
            <a:avLst>
              <a:gd name="adj" fmla="val 8443"/>
            </a:avLst>
          </a:prstGeom>
          <a:solidFill>
            <a:srgbClr val="F5F6F9"/>
          </a:solidFill>
          <a:ln/>
        </p:spPr>
      </p:sp>
      <p:sp>
        <p:nvSpPr>
          <p:cNvPr id="22" name="kw-hex"/>
          <p:cNvSpPr/>
          <p:nvPr/>
        </p:nvSpPr>
        <p:spPr>
          <a:xfrm>
            <a:off x="658368" y="3740541"/>
            <a:ext cx="411480" cy="356342"/>
          </a:xfrm>
          <a:prstGeom prst="hexagon">
            <a:avLst/>
          </a:prstGeom>
          <a:solidFill>
            <a:srgbClr val="2E4A8C"/>
          </a:solidFill>
          <a:ln/>
        </p:spPr>
      </p:sp>
      <p:sp>
        <p:nvSpPr>
          <p:cNvPr id="23" name="kw-cell"/>
          <p:cNvSpPr txBox="1"/>
          <p:nvPr/>
        </p:nvSpPr>
        <p:spPr>
          <a:xfrm>
            <a:off x="1143000" y="3593795"/>
            <a:ext cx="2331720" cy="649834"/>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distance</a:t>
            </a:r>
            <a:endParaRPr lang="en-US" sz="2000" dirty="0"/>
          </a:p>
        </p:txBody>
      </p:sp>
      <p:sp>
        <p:nvSpPr>
          <p:cNvPr id="24" name="kw-cell"/>
          <p:cNvSpPr txBox="1"/>
          <p:nvPr/>
        </p:nvSpPr>
        <p:spPr>
          <a:xfrm>
            <a:off x="3657600" y="3593795"/>
            <a:ext cx="3474720" cy="64983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how far something travels</a:t>
            </a:r>
            <a:endParaRPr lang="en-US" sz="1800" dirty="0"/>
          </a:p>
        </p:txBody>
      </p:sp>
      <p:sp>
        <p:nvSpPr>
          <p:cNvPr id="25" name="kw-cell"/>
          <p:cNvSpPr txBox="1"/>
          <p:nvPr/>
        </p:nvSpPr>
        <p:spPr>
          <a:xfrm>
            <a:off x="7315200" y="3593795"/>
            <a:ext cx="4236415" cy="64983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distance from home to school is 2 km.</a:t>
            </a:r>
            <a:endParaRPr lang="en-US" sz="1800" dirty="0"/>
          </a:p>
        </p:txBody>
      </p:sp>
      <p:sp>
        <p:nvSpPr>
          <p:cNvPr id="26" name="kw-row"/>
          <p:cNvSpPr/>
          <p:nvPr/>
        </p:nvSpPr>
        <p:spPr>
          <a:xfrm>
            <a:off x="548640" y="4316781"/>
            <a:ext cx="11094415" cy="877418"/>
          </a:xfrm>
          <a:prstGeom prst="roundRect">
            <a:avLst>
              <a:gd name="adj" fmla="val 6253"/>
            </a:avLst>
          </a:prstGeom>
          <a:solidFill>
            <a:srgbClr val="F9F4EC"/>
          </a:solidFill>
          <a:ln/>
        </p:spPr>
      </p:sp>
      <p:sp>
        <p:nvSpPr>
          <p:cNvPr id="27" name="kw-hex"/>
          <p:cNvSpPr/>
          <p:nvPr/>
        </p:nvSpPr>
        <p:spPr>
          <a:xfrm>
            <a:off x="658368" y="4577319"/>
            <a:ext cx="411480" cy="356342"/>
          </a:xfrm>
          <a:prstGeom prst="hexagon">
            <a:avLst/>
          </a:prstGeom>
          <a:solidFill>
            <a:srgbClr val="B8862B"/>
          </a:solidFill>
          <a:ln/>
        </p:spPr>
      </p:sp>
      <p:sp>
        <p:nvSpPr>
          <p:cNvPr id="28" name="kw-cell"/>
          <p:cNvSpPr txBox="1"/>
          <p:nvPr/>
        </p:nvSpPr>
        <p:spPr>
          <a:xfrm>
            <a:off x="1143000" y="4316781"/>
            <a:ext cx="2331720" cy="877418"/>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mph</a:t>
            </a:r>
            <a:endParaRPr lang="en-US" sz="2000" dirty="0"/>
          </a:p>
        </p:txBody>
      </p:sp>
      <p:sp>
        <p:nvSpPr>
          <p:cNvPr id="29" name="kw-cell"/>
          <p:cNvSpPr txBox="1"/>
          <p:nvPr/>
        </p:nvSpPr>
        <p:spPr>
          <a:xfrm>
            <a:off x="3657600" y="4316781"/>
            <a:ext cx="3474720" cy="87741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miles per hour</a:t>
            </a:r>
            <a:endParaRPr lang="en-US" sz="1800" dirty="0"/>
          </a:p>
        </p:txBody>
      </p:sp>
      <p:sp>
        <p:nvSpPr>
          <p:cNvPr id="30" name="kw-cell"/>
          <p:cNvSpPr txBox="1"/>
          <p:nvPr/>
        </p:nvSpPr>
        <p:spPr>
          <a:xfrm>
            <a:off x="7315200" y="4316781"/>
            <a:ext cx="4236415" cy="877418"/>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car travelling at 60 mph covers 60 miles in an hour.</a:t>
            </a:r>
            <a:endParaRPr lang="en-US" sz="1800" dirty="0"/>
          </a:p>
        </p:txBody>
      </p:sp>
      <p:sp>
        <p:nvSpPr>
          <p:cNvPr id="31" name="kw-row"/>
          <p:cNvSpPr/>
          <p:nvPr/>
        </p:nvSpPr>
        <p:spPr>
          <a:xfrm>
            <a:off x="548640" y="5267350"/>
            <a:ext cx="11094415" cy="877418"/>
          </a:xfrm>
          <a:prstGeom prst="roundRect">
            <a:avLst>
              <a:gd name="adj" fmla="val 6253"/>
            </a:avLst>
          </a:prstGeom>
          <a:solidFill>
            <a:srgbClr val="F5F6F9"/>
          </a:solidFill>
          <a:ln/>
        </p:spPr>
      </p:sp>
      <p:sp>
        <p:nvSpPr>
          <p:cNvPr id="32" name="kw-hex"/>
          <p:cNvSpPr/>
          <p:nvPr/>
        </p:nvSpPr>
        <p:spPr>
          <a:xfrm>
            <a:off x="658368" y="5527888"/>
            <a:ext cx="411480" cy="356342"/>
          </a:xfrm>
          <a:prstGeom prst="hexagon">
            <a:avLst/>
          </a:prstGeom>
          <a:solidFill>
            <a:srgbClr val="2E4A8C"/>
          </a:solidFill>
          <a:ln/>
        </p:spPr>
      </p:sp>
      <p:sp>
        <p:nvSpPr>
          <p:cNvPr id="33" name="kw-cell"/>
          <p:cNvSpPr txBox="1"/>
          <p:nvPr/>
        </p:nvSpPr>
        <p:spPr>
          <a:xfrm>
            <a:off x="1143000" y="5267350"/>
            <a:ext cx="2331720" cy="877418"/>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metres per second</a:t>
            </a:r>
            <a:endParaRPr lang="en-US" sz="2000" dirty="0"/>
          </a:p>
        </p:txBody>
      </p:sp>
      <p:sp>
        <p:nvSpPr>
          <p:cNvPr id="34" name="kw-cell"/>
          <p:cNvSpPr txBox="1"/>
          <p:nvPr/>
        </p:nvSpPr>
        <p:spPr>
          <a:xfrm>
            <a:off x="3657600" y="5267350"/>
            <a:ext cx="3474720" cy="87741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speed unit, written m/s, for short distances and times</a:t>
            </a:r>
            <a:endParaRPr lang="en-US" sz="1800" dirty="0"/>
          </a:p>
        </p:txBody>
      </p:sp>
      <p:sp>
        <p:nvSpPr>
          <p:cNvPr id="35" name="kw-cell"/>
          <p:cNvSpPr txBox="1"/>
          <p:nvPr/>
        </p:nvSpPr>
        <p:spPr>
          <a:xfrm>
            <a:off x="7315200" y="5267350"/>
            <a:ext cx="4236415" cy="877418"/>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sprinter runs at about 10 metres per second.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Speed</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tells you how fast something moves.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 is the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distance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travelled in one unit of time.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car at 30 km/h goes 30 km in one hour.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To find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speed</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divide the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distance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by the time.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Speed</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distance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 time.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bus goes 90 miles in 3 hours.</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90 ÷ 3 = 30, so its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speed</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30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mph</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Over a journey the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speed</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changes, so we find the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average speed</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units must match.</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Metres and seconds give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metres per second</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If the time is in minutes, change it into a fraction of an hour first.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20 minutes is one third of an hour.</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What speed means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6F0E6"/>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Speed = distance ÷ time. The unit of the answer comes from the units you divided.</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lorry travels 216 km in 4 hours. Work out its average speed in km/h.</a:t>
            </a:r>
            <a:endParaRPr lang="en-US" sz="1800" dirty="0"/>
          </a:p>
        </p:txBody>
      </p:sp>
      <p:sp>
        <p:nvSpPr>
          <p:cNvPr id="14" name="step-box"/>
          <p:cNvSpPr/>
          <p:nvPr/>
        </p:nvSpPr>
        <p:spPr>
          <a:xfrm>
            <a:off x="6126480" y="2888488"/>
            <a:ext cx="5379415" cy="566928"/>
          </a:xfrm>
          <a:prstGeom prst="roundRect">
            <a:avLst>
              <a:gd name="adj" fmla="val 16129"/>
            </a:avLst>
          </a:prstGeom>
          <a:solidFill>
            <a:srgbClr val="F0F2F7"/>
          </a:solidFill>
          <a:ln/>
        </p:spPr>
      </p:sp>
      <p:sp>
        <p:nvSpPr>
          <p:cNvPr id="15" name="step-hex"/>
          <p:cNvSpPr/>
          <p:nvPr/>
        </p:nvSpPr>
        <p:spPr>
          <a:xfrm>
            <a:off x="6217920" y="2989822"/>
            <a:ext cx="420624" cy="364260"/>
          </a:xfrm>
          <a:prstGeom prst="hexagon">
            <a:avLst/>
          </a:prstGeom>
          <a:solidFill>
            <a:srgbClr val="2E4A8C"/>
          </a:solidFill>
          <a:ln/>
        </p:spPr>
      </p:sp>
      <p:sp>
        <p:nvSpPr>
          <p:cNvPr id="16" name="step-hex-label"/>
          <p:cNvSpPr txBox="1"/>
          <p:nvPr/>
        </p:nvSpPr>
        <p:spPr>
          <a:xfrm>
            <a:off x="6217920" y="29898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Speed is distance divided by time.</a:t>
            </a:r>
            <a:endParaRPr lang="en-US" sz="1800" dirty="0"/>
          </a:p>
        </p:txBody>
      </p:sp>
      <p:sp>
        <p:nvSpPr>
          <p:cNvPr id="18" name="step-box"/>
          <p:cNvSpPr/>
          <p:nvPr/>
        </p:nvSpPr>
        <p:spPr>
          <a:xfrm>
            <a:off x="6126480" y="3546856"/>
            <a:ext cx="5379415" cy="794512"/>
          </a:xfrm>
          <a:prstGeom prst="roundRect">
            <a:avLst>
              <a:gd name="adj" fmla="val 11509"/>
            </a:avLst>
          </a:prstGeom>
          <a:solidFill>
            <a:srgbClr val="F0F2F7"/>
          </a:solidFill>
          <a:ln/>
        </p:spPr>
      </p:sp>
      <p:sp>
        <p:nvSpPr>
          <p:cNvPr id="19" name="step-hex"/>
          <p:cNvSpPr/>
          <p:nvPr/>
        </p:nvSpPr>
        <p:spPr>
          <a:xfrm>
            <a:off x="6217920" y="3761982"/>
            <a:ext cx="420624" cy="364260"/>
          </a:xfrm>
          <a:prstGeom prst="hexagon">
            <a:avLst/>
          </a:prstGeom>
          <a:solidFill>
            <a:srgbClr val="2E4A8C"/>
          </a:solidFill>
          <a:ln/>
        </p:spPr>
      </p:sp>
      <p:sp>
        <p:nvSpPr>
          <p:cNvPr id="20" name="step-hex-label"/>
          <p:cNvSpPr txBox="1"/>
          <p:nvPr/>
        </p:nvSpPr>
        <p:spPr>
          <a:xfrm>
            <a:off x="6217920" y="376198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546856"/>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distance is in km and the time in hours, so the answer will be in km/h.</a:t>
            </a:r>
            <a:endParaRPr lang="en-US" sz="1800" dirty="0"/>
          </a:p>
        </p:txBody>
      </p:sp>
      <p:sp>
        <p:nvSpPr>
          <p:cNvPr id="22" name="step-box"/>
          <p:cNvSpPr/>
          <p:nvPr/>
        </p:nvSpPr>
        <p:spPr>
          <a:xfrm>
            <a:off x="6126480" y="4432808"/>
            <a:ext cx="5379415" cy="566928"/>
          </a:xfrm>
          <a:prstGeom prst="roundRect">
            <a:avLst>
              <a:gd name="adj" fmla="val 16129"/>
            </a:avLst>
          </a:prstGeom>
          <a:solidFill>
            <a:srgbClr val="F0F2F7"/>
          </a:solidFill>
          <a:ln/>
        </p:spPr>
      </p:sp>
      <p:sp>
        <p:nvSpPr>
          <p:cNvPr id="23" name="step-hex"/>
          <p:cNvSpPr/>
          <p:nvPr/>
        </p:nvSpPr>
        <p:spPr>
          <a:xfrm>
            <a:off x="6217920" y="4534142"/>
            <a:ext cx="420624" cy="364260"/>
          </a:xfrm>
          <a:prstGeom prst="hexagon">
            <a:avLst/>
          </a:prstGeom>
          <a:solidFill>
            <a:srgbClr val="2E4A8C"/>
          </a:solidFill>
          <a:ln/>
        </p:spPr>
      </p:sp>
      <p:sp>
        <p:nvSpPr>
          <p:cNvPr id="24" name="step-hex-label"/>
          <p:cNvSpPr txBox="1"/>
          <p:nvPr/>
        </p:nvSpPr>
        <p:spPr>
          <a:xfrm>
            <a:off x="6217920" y="453414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43280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216 ÷ 4 = 54.</a:t>
            </a:r>
            <a:endParaRPr lang="en-US" sz="1800" dirty="0"/>
          </a:p>
        </p:txBody>
      </p:sp>
      <p:sp>
        <p:nvSpPr>
          <p:cNvPr id="26" name="worked-answer"/>
          <p:cNvSpPr/>
          <p:nvPr/>
        </p:nvSpPr>
        <p:spPr>
          <a:xfrm>
            <a:off x="6126480" y="5136896"/>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54 km/h</a:t>
            </a:r>
            <a:endParaRPr lang="en-US" sz="1800" dirty="0"/>
          </a:p>
        </p:txBody>
      </p:sp>
      <p:sp>
        <p:nvSpPr>
          <p:cNvPr id="27" name="bullet-card"/>
          <p:cNvSpPr/>
          <p:nvPr/>
        </p:nvSpPr>
        <p:spPr>
          <a:xfrm>
            <a:off x="548640" y="1389888"/>
            <a:ext cx="5074920" cy="759291"/>
          </a:xfrm>
          <a:prstGeom prst="roundRect">
            <a:avLst>
              <a:gd name="adj" fmla="val 9634"/>
            </a:avLst>
          </a:prstGeom>
          <a:solidFill>
            <a:srgbClr val="F5F6F9"/>
          </a:solidFill>
          <a:ln/>
        </p:spPr>
      </p:sp>
      <p:sp>
        <p:nvSpPr>
          <p:cNvPr id="28" name="bullet-hex"/>
          <p:cNvSpPr/>
          <p:nvPr/>
        </p:nvSpPr>
        <p:spPr>
          <a:xfrm>
            <a:off x="676656" y="1603241"/>
            <a:ext cx="384048" cy="332586"/>
          </a:xfrm>
          <a:prstGeom prst="hexagon">
            <a:avLst/>
          </a:prstGeom>
          <a:solidFill>
            <a:srgbClr val="2E4A8C"/>
          </a:solidFill>
          <a:ln/>
        </p:spPr>
      </p:sp>
      <p:sp>
        <p:nvSpPr>
          <p:cNvPr id="29" name="bullet"/>
          <p:cNvSpPr txBox="1"/>
          <p:nvPr/>
        </p:nvSpPr>
        <p:spPr>
          <a:xfrm>
            <a:off x="1143000" y="1389888"/>
            <a:ext cx="4389120" cy="75929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speed of an object is a measure of how fast it is moving.</a:t>
            </a:r>
            <a:endParaRPr lang="en-US" sz="1800" dirty="0"/>
          </a:p>
        </p:txBody>
      </p:sp>
      <p:sp>
        <p:nvSpPr>
          <p:cNvPr id="30" name="bullet-card"/>
          <p:cNvSpPr/>
          <p:nvPr/>
        </p:nvSpPr>
        <p:spPr>
          <a:xfrm>
            <a:off x="548640" y="2295483"/>
            <a:ext cx="5074920" cy="759291"/>
          </a:xfrm>
          <a:prstGeom prst="roundRect">
            <a:avLst>
              <a:gd name="adj" fmla="val 9634"/>
            </a:avLst>
          </a:prstGeom>
          <a:solidFill>
            <a:srgbClr val="F5F6F9"/>
          </a:solidFill>
          <a:ln/>
        </p:spPr>
      </p:sp>
      <p:sp>
        <p:nvSpPr>
          <p:cNvPr id="31" name="bullet-hex"/>
          <p:cNvSpPr/>
          <p:nvPr/>
        </p:nvSpPr>
        <p:spPr>
          <a:xfrm>
            <a:off x="676656" y="2508835"/>
            <a:ext cx="384048" cy="332586"/>
          </a:xfrm>
          <a:prstGeom prst="hexagon">
            <a:avLst/>
          </a:prstGeom>
          <a:solidFill>
            <a:srgbClr val="B8862B"/>
          </a:solidFill>
          <a:ln/>
        </p:spPr>
      </p:sp>
      <p:sp>
        <p:nvSpPr>
          <p:cNvPr id="32" name="bullet"/>
          <p:cNvSpPr txBox="1"/>
          <p:nvPr/>
        </p:nvSpPr>
        <p:spPr>
          <a:xfrm>
            <a:off x="1143000" y="2295483"/>
            <a:ext cx="4389120" cy="75929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If a car travels at 65 mph, it goes 65 miles in one hour.</a:t>
            </a:r>
            <a:endParaRPr lang="en-US" sz="1800" dirty="0"/>
          </a:p>
        </p:txBody>
      </p:sp>
      <p:sp>
        <p:nvSpPr>
          <p:cNvPr id="33" name="bullet-card"/>
          <p:cNvSpPr/>
          <p:nvPr/>
        </p:nvSpPr>
        <p:spPr>
          <a:xfrm>
            <a:off x="548640" y="3201077"/>
            <a:ext cx="5074920" cy="1595967"/>
          </a:xfrm>
          <a:prstGeom prst="roundRect">
            <a:avLst>
              <a:gd name="adj" fmla="val 4584"/>
            </a:avLst>
          </a:prstGeom>
          <a:solidFill>
            <a:srgbClr val="F5F6F9"/>
          </a:solidFill>
          <a:ln/>
        </p:spPr>
      </p:sp>
      <p:sp>
        <p:nvSpPr>
          <p:cNvPr id="34" name="bullet-hex"/>
          <p:cNvSpPr/>
          <p:nvPr/>
        </p:nvSpPr>
        <p:spPr>
          <a:xfrm>
            <a:off x="676656" y="3832768"/>
            <a:ext cx="384048" cy="332586"/>
          </a:xfrm>
          <a:prstGeom prst="hexagon">
            <a:avLst/>
          </a:prstGeom>
          <a:solidFill>
            <a:srgbClr val="2E4A8C"/>
          </a:solidFill>
          <a:ln/>
        </p:spPr>
      </p:sp>
      <p:sp>
        <p:nvSpPr>
          <p:cNvPr id="35" name="bullet"/>
          <p:cNvSpPr txBox="1"/>
          <p:nvPr/>
        </p:nvSpPr>
        <p:spPr>
          <a:xfrm>
            <a:off x="1143000" y="3201077"/>
            <a:ext cx="4389120" cy="159596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This gives the average speed. Over a real journey a car speeds up and slows down, so the average speed is the steady speed that would cover the same distance in the same time.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Speed in metres per second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For m/s, the time must be in seconds. Change minutes into seconds first.</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runner covers 300 m in 1 minute 15 seconds. Work out her average speed in metres per second.</a:t>
            </a:r>
            <a:endParaRPr lang="en-US" sz="1800" dirty="0"/>
          </a:p>
        </p:txBody>
      </p:sp>
      <p:sp>
        <p:nvSpPr>
          <p:cNvPr id="14" name="step-box"/>
          <p:cNvSpPr/>
          <p:nvPr/>
        </p:nvSpPr>
        <p:spPr>
          <a:xfrm>
            <a:off x="6126480" y="2888488"/>
            <a:ext cx="5379415" cy="794512"/>
          </a:xfrm>
          <a:prstGeom prst="roundRect">
            <a:avLst>
              <a:gd name="adj" fmla="val 11509"/>
            </a:avLst>
          </a:prstGeom>
          <a:solidFill>
            <a:srgbClr val="F0F2F7"/>
          </a:solidFill>
          <a:ln/>
        </p:spPr>
      </p:sp>
      <p:sp>
        <p:nvSpPr>
          <p:cNvPr id="15" name="step-hex"/>
          <p:cNvSpPr/>
          <p:nvPr/>
        </p:nvSpPr>
        <p:spPr>
          <a:xfrm>
            <a:off x="6217920" y="3103614"/>
            <a:ext cx="420624" cy="364260"/>
          </a:xfrm>
          <a:prstGeom prst="hexagon">
            <a:avLst/>
          </a:prstGeom>
          <a:solidFill>
            <a:srgbClr val="2E4A8C"/>
          </a:solidFill>
          <a:ln/>
        </p:spPr>
      </p:sp>
      <p:sp>
        <p:nvSpPr>
          <p:cNvPr id="16" name="step-hex-label"/>
          <p:cNvSpPr txBox="1"/>
          <p:nvPr/>
        </p:nvSpPr>
        <p:spPr>
          <a:xfrm>
            <a:off x="6217920" y="310361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Change the time into seconds: 1 minute is 60 seconds, so 60 + 15 = 75 seconds.</a:t>
            </a:r>
            <a:endParaRPr lang="en-US" sz="1800" dirty="0"/>
          </a:p>
        </p:txBody>
      </p:sp>
      <p:sp>
        <p:nvSpPr>
          <p:cNvPr id="18" name="step-box"/>
          <p:cNvSpPr/>
          <p:nvPr/>
        </p:nvSpPr>
        <p:spPr>
          <a:xfrm>
            <a:off x="6126480" y="3774440"/>
            <a:ext cx="5379415" cy="566928"/>
          </a:xfrm>
          <a:prstGeom prst="roundRect">
            <a:avLst>
              <a:gd name="adj" fmla="val 16129"/>
            </a:avLst>
          </a:prstGeom>
          <a:solidFill>
            <a:srgbClr val="F0F2F7"/>
          </a:solidFill>
          <a:ln/>
        </p:spPr>
      </p:sp>
      <p:sp>
        <p:nvSpPr>
          <p:cNvPr id="19" name="step-hex"/>
          <p:cNvSpPr/>
          <p:nvPr/>
        </p:nvSpPr>
        <p:spPr>
          <a:xfrm>
            <a:off x="6217920" y="3875774"/>
            <a:ext cx="420624" cy="364260"/>
          </a:xfrm>
          <a:prstGeom prst="hexagon">
            <a:avLst/>
          </a:prstGeom>
          <a:solidFill>
            <a:srgbClr val="2E4A8C"/>
          </a:solidFill>
          <a:ln/>
        </p:spPr>
      </p:sp>
      <p:sp>
        <p:nvSpPr>
          <p:cNvPr id="20" name="step-hex-label"/>
          <p:cNvSpPr txBox="1"/>
          <p:nvPr/>
        </p:nvSpPr>
        <p:spPr>
          <a:xfrm>
            <a:off x="6217920" y="387577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77444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Speed = distance ÷ time = 300 ÷ 75.</a:t>
            </a:r>
            <a:endParaRPr lang="en-US" sz="1800" dirty="0"/>
          </a:p>
        </p:txBody>
      </p:sp>
      <p:sp>
        <p:nvSpPr>
          <p:cNvPr id="22" name="step-box"/>
          <p:cNvSpPr/>
          <p:nvPr/>
        </p:nvSpPr>
        <p:spPr>
          <a:xfrm>
            <a:off x="6126480" y="4432808"/>
            <a:ext cx="5379415" cy="566928"/>
          </a:xfrm>
          <a:prstGeom prst="roundRect">
            <a:avLst>
              <a:gd name="adj" fmla="val 16129"/>
            </a:avLst>
          </a:prstGeom>
          <a:solidFill>
            <a:srgbClr val="F0F2F7"/>
          </a:solidFill>
          <a:ln/>
        </p:spPr>
      </p:sp>
      <p:sp>
        <p:nvSpPr>
          <p:cNvPr id="23" name="step-hex"/>
          <p:cNvSpPr/>
          <p:nvPr/>
        </p:nvSpPr>
        <p:spPr>
          <a:xfrm>
            <a:off x="6217920" y="4534142"/>
            <a:ext cx="420624" cy="364260"/>
          </a:xfrm>
          <a:prstGeom prst="hexagon">
            <a:avLst/>
          </a:prstGeom>
          <a:solidFill>
            <a:srgbClr val="2E4A8C"/>
          </a:solidFill>
          <a:ln/>
        </p:spPr>
      </p:sp>
      <p:sp>
        <p:nvSpPr>
          <p:cNvPr id="24" name="step-hex-label"/>
          <p:cNvSpPr txBox="1"/>
          <p:nvPr/>
        </p:nvSpPr>
        <p:spPr>
          <a:xfrm>
            <a:off x="6217920" y="453414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43280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300 ÷ 75 = 4.</a:t>
            </a:r>
            <a:endParaRPr lang="en-US" sz="1800" dirty="0"/>
          </a:p>
        </p:txBody>
      </p:sp>
      <p:sp>
        <p:nvSpPr>
          <p:cNvPr id="26" name="worked-answer"/>
          <p:cNvSpPr/>
          <p:nvPr/>
        </p:nvSpPr>
        <p:spPr>
          <a:xfrm>
            <a:off x="6126480" y="5136896"/>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4 m/s</a:t>
            </a:r>
            <a:endParaRPr lang="en-US" sz="1800" dirty="0"/>
          </a:p>
        </p:txBody>
      </p:sp>
      <p:sp>
        <p:nvSpPr>
          <p:cNvPr id="27" name="bullet-card"/>
          <p:cNvSpPr/>
          <p:nvPr/>
        </p:nvSpPr>
        <p:spPr>
          <a:xfrm>
            <a:off x="548640" y="1389888"/>
            <a:ext cx="5074920" cy="1017524"/>
          </a:xfrm>
          <a:prstGeom prst="roundRect">
            <a:avLst>
              <a:gd name="adj" fmla="val 7189"/>
            </a:avLst>
          </a:prstGeom>
          <a:solidFill>
            <a:srgbClr val="F5F6F9"/>
          </a:solidFill>
          <a:ln/>
        </p:spPr>
      </p:sp>
      <p:sp>
        <p:nvSpPr>
          <p:cNvPr id="28" name="bullet-hex"/>
          <p:cNvSpPr/>
          <p:nvPr/>
        </p:nvSpPr>
        <p:spPr>
          <a:xfrm>
            <a:off x="676656" y="1732357"/>
            <a:ext cx="384048" cy="332586"/>
          </a:xfrm>
          <a:prstGeom prst="hexagon">
            <a:avLst/>
          </a:prstGeom>
          <a:solidFill>
            <a:srgbClr val="2E4A8C"/>
          </a:solidFill>
          <a:ln/>
        </p:spPr>
      </p:sp>
      <p:sp>
        <p:nvSpPr>
          <p:cNvPr id="29" name="bullet"/>
          <p:cNvSpPr txBox="1"/>
          <p:nvPr/>
        </p:nvSpPr>
        <p:spPr>
          <a:xfrm>
            <a:off x="1143000" y="1389888"/>
            <a:ext cx="4389120" cy="10175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For short distances and times we use metres and seconds.</a:t>
            </a:r>
            <a:endParaRPr lang="en-US" sz="2200" dirty="0"/>
          </a:p>
        </p:txBody>
      </p:sp>
      <p:sp>
        <p:nvSpPr>
          <p:cNvPr id="30" name="bullet-card"/>
          <p:cNvSpPr/>
          <p:nvPr/>
        </p:nvSpPr>
        <p:spPr>
          <a:xfrm>
            <a:off x="548640" y="2553716"/>
            <a:ext cx="5074920" cy="1358392"/>
          </a:xfrm>
          <a:prstGeom prst="roundRect">
            <a:avLst>
              <a:gd name="adj" fmla="val 5385"/>
            </a:avLst>
          </a:prstGeom>
          <a:solidFill>
            <a:srgbClr val="F5F6F9"/>
          </a:solidFill>
          <a:ln/>
        </p:spPr>
      </p:sp>
      <p:sp>
        <p:nvSpPr>
          <p:cNvPr id="31" name="bullet-hex"/>
          <p:cNvSpPr/>
          <p:nvPr/>
        </p:nvSpPr>
        <p:spPr>
          <a:xfrm>
            <a:off x="676656" y="3066619"/>
            <a:ext cx="384048" cy="332586"/>
          </a:xfrm>
          <a:prstGeom prst="hexagon">
            <a:avLst/>
          </a:prstGeom>
          <a:solidFill>
            <a:srgbClr val="B8862B"/>
          </a:solidFill>
          <a:ln/>
        </p:spPr>
      </p:sp>
      <p:sp>
        <p:nvSpPr>
          <p:cNvPr id="32" name="bullet"/>
          <p:cNvSpPr txBox="1"/>
          <p:nvPr/>
        </p:nvSpPr>
        <p:spPr>
          <a:xfrm>
            <a:off x="1143000" y="2553716"/>
            <a:ext cx="4389120" cy="13583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If the time is given in minutes and seconds, change it all into seconds first.</a:t>
            </a:r>
            <a:endParaRPr lang="en-US" sz="2200" dirty="0"/>
          </a:p>
        </p:txBody>
      </p:sp>
      <p:sp>
        <p:nvSpPr>
          <p:cNvPr id="33" name="bullet-card"/>
          <p:cNvSpPr/>
          <p:nvPr/>
        </p:nvSpPr>
        <p:spPr>
          <a:xfrm>
            <a:off x="548640" y="4058412"/>
            <a:ext cx="5074920" cy="1017524"/>
          </a:xfrm>
          <a:prstGeom prst="roundRect">
            <a:avLst>
              <a:gd name="adj" fmla="val 7189"/>
            </a:avLst>
          </a:prstGeom>
          <a:solidFill>
            <a:srgbClr val="F5F6F9"/>
          </a:solidFill>
          <a:ln/>
        </p:spPr>
      </p:sp>
      <p:sp>
        <p:nvSpPr>
          <p:cNvPr id="34" name="bullet-hex"/>
          <p:cNvSpPr/>
          <p:nvPr/>
        </p:nvSpPr>
        <p:spPr>
          <a:xfrm>
            <a:off x="676656" y="4400881"/>
            <a:ext cx="384048" cy="332586"/>
          </a:xfrm>
          <a:prstGeom prst="hexagon">
            <a:avLst/>
          </a:prstGeom>
          <a:solidFill>
            <a:srgbClr val="2E4A8C"/>
          </a:solidFill>
          <a:ln/>
        </p:spPr>
      </p:sp>
      <p:sp>
        <p:nvSpPr>
          <p:cNvPr id="35" name="bullet"/>
          <p:cNvSpPr txBox="1"/>
          <p:nvPr/>
        </p:nvSpPr>
        <p:spPr>
          <a:xfrm>
            <a:off x="1143000" y="4058412"/>
            <a:ext cx="4389120" cy="10175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Always check the unit the question asks for before you divide.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When the time is in minutes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6F0E6"/>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Never divide miles by minutes. Turn the minutes into a fraction of an hour first.</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bird flies 6 miles in 15 minutes. Work out its average speed in mph.</a:t>
            </a:r>
            <a:endParaRPr lang="en-US" sz="1800" dirty="0"/>
          </a:p>
        </p:txBody>
      </p:sp>
      <p:sp>
        <p:nvSpPr>
          <p:cNvPr id="14" name="step-box"/>
          <p:cNvSpPr/>
          <p:nvPr/>
        </p:nvSpPr>
        <p:spPr>
          <a:xfrm>
            <a:off x="6126480" y="2888488"/>
            <a:ext cx="5379415" cy="794512"/>
          </a:xfrm>
          <a:prstGeom prst="roundRect">
            <a:avLst>
              <a:gd name="adj" fmla="val 11509"/>
            </a:avLst>
          </a:prstGeom>
          <a:solidFill>
            <a:srgbClr val="F0F2F7"/>
          </a:solidFill>
          <a:ln/>
        </p:spPr>
      </p:sp>
      <p:sp>
        <p:nvSpPr>
          <p:cNvPr id="15" name="step-hex"/>
          <p:cNvSpPr/>
          <p:nvPr/>
        </p:nvSpPr>
        <p:spPr>
          <a:xfrm>
            <a:off x="6217920" y="3103614"/>
            <a:ext cx="420624" cy="364260"/>
          </a:xfrm>
          <a:prstGeom prst="hexagon">
            <a:avLst/>
          </a:prstGeom>
          <a:solidFill>
            <a:srgbClr val="2E4A8C"/>
          </a:solidFill>
          <a:ln/>
        </p:spPr>
      </p:sp>
      <p:sp>
        <p:nvSpPr>
          <p:cNvPr id="16" name="step-hex-label"/>
          <p:cNvSpPr txBox="1"/>
          <p:nvPr/>
        </p:nvSpPr>
        <p:spPr>
          <a:xfrm>
            <a:off x="6217920" y="310361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speed is per hour, so change 15 minutes into hours: 15 ÷ 60 = 0.25 hours.</a:t>
            </a:r>
            <a:endParaRPr lang="en-US" sz="1800" dirty="0"/>
          </a:p>
        </p:txBody>
      </p:sp>
      <p:sp>
        <p:nvSpPr>
          <p:cNvPr id="18" name="step-box"/>
          <p:cNvSpPr/>
          <p:nvPr/>
        </p:nvSpPr>
        <p:spPr>
          <a:xfrm>
            <a:off x="6126480" y="3774440"/>
            <a:ext cx="5379415" cy="566928"/>
          </a:xfrm>
          <a:prstGeom prst="roundRect">
            <a:avLst>
              <a:gd name="adj" fmla="val 16129"/>
            </a:avLst>
          </a:prstGeom>
          <a:solidFill>
            <a:srgbClr val="F0F2F7"/>
          </a:solidFill>
          <a:ln/>
        </p:spPr>
      </p:sp>
      <p:sp>
        <p:nvSpPr>
          <p:cNvPr id="19" name="step-hex"/>
          <p:cNvSpPr/>
          <p:nvPr/>
        </p:nvSpPr>
        <p:spPr>
          <a:xfrm>
            <a:off x="6217920" y="3875774"/>
            <a:ext cx="420624" cy="364260"/>
          </a:xfrm>
          <a:prstGeom prst="hexagon">
            <a:avLst/>
          </a:prstGeom>
          <a:solidFill>
            <a:srgbClr val="2E4A8C"/>
          </a:solidFill>
          <a:ln/>
        </p:spPr>
      </p:sp>
      <p:sp>
        <p:nvSpPr>
          <p:cNvPr id="20" name="step-hex-label"/>
          <p:cNvSpPr txBox="1"/>
          <p:nvPr/>
        </p:nvSpPr>
        <p:spPr>
          <a:xfrm>
            <a:off x="6217920" y="387577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77444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Speed = distance ÷ time = 6 ÷ 0.25.</a:t>
            </a:r>
            <a:endParaRPr lang="en-US" sz="1800" dirty="0"/>
          </a:p>
        </p:txBody>
      </p:sp>
      <p:sp>
        <p:nvSpPr>
          <p:cNvPr id="22" name="step-box"/>
          <p:cNvSpPr/>
          <p:nvPr/>
        </p:nvSpPr>
        <p:spPr>
          <a:xfrm>
            <a:off x="6126480" y="4432808"/>
            <a:ext cx="5379415" cy="794512"/>
          </a:xfrm>
          <a:prstGeom prst="roundRect">
            <a:avLst>
              <a:gd name="adj" fmla="val 11509"/>
            </a:avLst>
          </a:prstGeom>
          <a:solidFill>
            <a:srgbClr val="F0F2F7"/>
          </a:solidFill>
          <a:ln/>
        </p:spPr>
      </p:sp>
      <p:sp>
        <p:nvSpPr>
          <p:cNvPr id="23" name="step-hex"/>
          <p:cNvSpPr/>
          <p:nvPr/>
        </p:nvSpPr>
        <p:spPr>
          <a:xfrm>
            <a:off x="6217920" y="4647934"/>
            <a:ext cx="420624" cy="364260"/>
          </a:xfrm>
          <a:prstGeom prst="hexagon">
            <a:avLst/>
          </a:prstGeom>
          <a:solidFill>
            <a:srgbClr val="2E4A8C"/>
          </a:solidFill>
          <a:ln/>
        </p:spPr>
      </p:sp>
      <p:sp>
        <p:nvSpPr>
          <p:cNvPr id="24" name="step-hex-label"/>
          <p:cNvSpPr txBox="1"/>
          <p:nvPr/>
        </p:nvSpPr>
        <p:spPr>
          <a:xfrm>
            <a:off x="6217920" y="464793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432808"/>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6 ÷ 0.25 = 24. Check: a quarter of an hour, so it flies 4 times as far in an hour, and 6 × 4 = 24.</a:t>
            </a:r>
            <a:endParaRPr lang="en-US" sz="1800" dirty="0"/>
          </a:p>
        </p:txBody>
      </p:sp>
      <p:sp>
        <p:nvSpPr>
          <p:cNvPr id="26" name="worked-answer"/>
          <p:cNvSpPr/>
          <p:nvPr/>
        </p:nvSpPr>
        <p:spPr>
          <a:xfrm>
            <a:off x="6126480" y="5364480"/>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24 mph</a:t>
            </a:r>
            <a:endParaRPr lang="en-US" sz="1800" dirty="0"/>
          </a:p>
        </p:txBody>
      </p:sp>
      <p:sp>
        <p:nvSpPr>
          <p:cNvPr id="27" name="bullet-card"/>
          <p:cNvSpPr/>
          <p:nvPr/>
        </p:nvSpPr>
        <p:spPr>
          <a:xfrm>
            <a:off x="548640" y="1389888"/>
            <a:ext cx="5074920" cy="810937"/>
          </a:xfrm>
          <a:prstGeom prst="roundRect">
            <a:avLst>
              <a:gd name="adj" fmla="val 9021"/>
            </a:avLst>
          </a:prstGeom>
          <a:solidFill>
            <a:srgbClr val="F5F6F9"/>
          </a:solidFill>
          <a:ln/>
        </p:spPr>
      </p:sp>
      <p:sp>
        <p:nvSpPr>
          <p:cNvPr id="28" name="bullet-hex"/>
          <p:cNvSpPr/>
          <p:nvPr/>
        </p:nvSpPr>
        <p:spPr>
          <a:xfrm>
            <a:off x="676656" y="1629064"/>
            <a:ext cx="384048" cy="332586"/>
          </a:xfrm>
          <a:prstGeom prst="hexagon">
            <a:avLst/>
          </a:prstGeom>
          <a:solidFill>
            <a:srgbClr val="2E4A8C"/>
          </a:solidFill>
          <a:ln/>
        </p:spPr>
      </p:sp>
      <p:sp>
        <p:nvSpPr>
          <p:cNvPr id="29" name="bullet"/>
          <p:cNvSpPr txBox="1"/>
          <p:nvPr/>
        </p:nvSpPr>
        <p:spPr>
          <a:xfrm>
            <a:off x="1143000" y="1389888"/>
            <a:ext cx="4389120" cy="81093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Speeds like mph and km/h are per hour, so the time must be in hours.</a:t>
            </a:r>
            <a:endParaRPr lang="en-US" sz="2200" dirty="0"/>
          </a:p>
        </p:txBody>
      </p:sp>
      <p:sp>
        <p:nvSpPr>
          <p:cNvPr id="30" name="bullet-card"/>
          <p:cNvSpPr/>
          <p:nvPr/>
        </p:nvSpPr>
        <p:spPr>
          <a:xfrm>
            <a:off x="548640" y="2347129"/>
            <a:ext cx="5074920" cy="1151805"/>
          </a:xfrm>
          <a:prstGeom prst="roundRect">
            <a:avLst>
              <a:gd name="adj" fmla="val 6351"/>
            </a:avLst>
          </a:prstGeom>
          <a:solidFill>
            <a:srgbClr val="F5F6F9"/>
          </a:solidFill>
          <a:ln/>
        </p:spPr>
      </p:sp>
      <p:sp>
        <p:nvSpPr>
          <p:cNvPr id="31" name="bullet-hex"/>
          <p:cNvSpPr/>
          <p:nvPr/>
        </p:nvSpPr>
        <p:spPr>
          <a:xfrm>
            <a:off x="676656" y="2756739"/>
            <a:ext cx="384048" cy="332586"/>
          </a:xfrm>
          <a:prstGeom prst="hexagon">
            <a:avLst/>
          </a:prstGeom>
          <a:solidFill>
            <a:srgbClr val="B8862B"/>
          </a:solidFill>
          <a:ln/>
        </p:spPr>
      </p:sp>
      <p:sp>
        <p:nvSpPr>
          <p:cNvPr id="32" name="bullet"/>
          <p:cNvSpPr txBox="1"/>
          <p:nvPr/>
        </p:nvSpPr>
        <p:spPr>
          <a:xfrm>
            <a:off x="1143000" y="2347129"/>
            <a:ext cx="4389120" cy="115180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Another way is to write the minutes as a fraction or decimal of an hour and divide.</a:t>
            </a:r>
            <a:endParaRPr lang="en-US" sz="2200" dirty="0"/>
          </a:p>
        </p:txBody>
      </p:sp>
      <p:sp>
        <p:nvSpPr>
          <p:cNvPr id="33" name="bullet-card"/>
          <p:cNvSpPr/>
          <p:nvPr/>
        </p:nvSpPr>
        <p:spPr>
          <a:xfrm>
            <a:off x="548640" y="3645239"/>
            <a:ext cx="5074920" cy="1151805"/>
          </a:xfrm>
          <a:prstGeom prst="roundRect">
            <a:avLst>
              <a:gd name="adj" fmla="val 6351"/>
            </a:avLst>
          </a:prstGeom>
          <a:solidFill>
            <a:srgbClr val="F5F6F9"/>
          </a:solidFill>
          <a:ln/>
        </p:spPr>
      </p:sp>
      <p:sp>
        <p:nvSpPr>
          <p:cNvPr id="34" name="bullet-hex"/>
          <p:cNvSpPr/>
          <p:nvPr/>
        </p:nvSpPr>
        <p:spPr>
          <a:xfrm>
            <a:off x="676656" y="4054849"/>
            <a:ext cx="384048" cy="332586"/>
          </a:xfrm>
          <a:prstGeom prst="hexagon">
            <a:avLst/>
          </a:prstGeom>
          <a:solidFill>
            <a:srgbClr val="2E4A8C"/>
          </a:solidFill>
          <a:ln/>
        </p:spPr>
      </p:sp>
      <p:sp>
        <p:nvSpPr>
          <p:cNvPr id="35" name="bullet"/>
          <p:cNvSpPr txBox="1"/>
          <p:nvPr/>
        </p:nvSpPr>
        <p:spPr>
          <a:xfrm>
            <a:off x="1143000" y="3645239"/>
            <a:ext cx="4389120" cy="115180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Dividing miles by minutes gives miles per minute, which is not what the question asks.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Hours and minutes together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Write hours and minutes as a decimal of an hour: minutes ÷ 60.</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train travels 210 km in 1 hour 45 minutes. Work out its average speed in km/h.</a:t>
            </a:r>
            <a:endParaRPr lang="en-US" sz="1800" dirty="0"/>
          </a:p>
        </p:txBody>
      </p:sp>
      <p:sp>
        <p:nvSpPr>
          <p:cNvPr id="14" name="step-box"/>
          <p:cNvSpPr/>
          <p:nvPr/>
        </p:nvSpPr>
        <p:spPr>
          <a:xfrm>
            <a:off x="6126480" y="2888488"/>
            <a:ext cx="5379415" cy="794512"/>
          </a:xfrm>
          <a:prstGeom prst="roundRect">
            <a:avLst>
              <a:gd name="adj" fmla="val 11509"/>
            </a:avLst>
          </a:prstGeom>
          <a:solidFill>
            <a:srgbClr val="F0F2F7"/>
          </a:solidFill>
          <a:ln/>
        </p:spPr>
      </p:sp>
      <p:sp>
        <p:nvSpPr>
          <p:cNvPr id="15" name="step-hex"/>
          <p:cNvSpPr/>
          <p:nvPr/>
        </p:nvSpPr>
        <p:spPr>
          <a:xfrm>
            <a:off x="6217920" y="3103614"/>
            <a:ext cx="420624" cy="364260"/>
          </a:xfrm>
          <a:prstGeom prst="hexagon">
            <a:avLst/>
          </a:prstGeom>
          <a:solidFill>
            <a:srgbClr val="2E4A8C"/>
          </a:solidFill>
          <a:ln/>
        </p:spPr>
      </p:sp>
      <p:sp>
        <p:nvSpPr>
          <p:cNvPr id="16" name="step-hex-label"/>
          <p:cNvSpPr txBox="1"/>
          <p:nvPr/>
        </p:nvSpPr>
        <p:spPr>
          <a:xfrm>
            <a:off x="6217920" y="310361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45 minutes is 45 ÷ 60 = 0.75 of an hour, so the time is 1.75 hours.</a:t>
            </a:r>
            <a:endParaRPr lang="en-US" sz="1800" dirty="0"/>
          </a:p>
        </p:txBody>
      </p:sp>
      <p:sp>
        <p:nvSpPr>
          <p:cNvPr id="18" name="step-box"/>
          <p:cNvSpPr/>
          <p:nvPr/>
        </p:nvSpPr>
        <p:spPr>
          <a:xfrm>
            <a:off x="6126480" y="3774440"/>
            <a:ext cx="5379415" cy="566928"/>
          </a:xfrm>
          <a:prstGeom prst="roundRect">
            <a:avLst>
              <a:gd name="adj" fmla="val 16129"/>
            </a:avLst>
          </a:prstGeom>
          <a:solidFill>
            <a:srgbClr val="F0F2F7"/>
          </a:solidFill>
          <a:ln/>
        </p:spPr>
      </p:sp>
      <p:sp>
        <p:nvSpPr>
          <p:cNvPr id="19" name="step-hex"/>
          <p:cNvSpPr/>
          <p:nvPr/>
        </p:nvSpPr>
        <p:spPr>
          <a:xfrm>
            <a:off x="6217920" y="3875774"/>
            <a:ext cx="420624" cy="364260"/>
          </a:xfrm>
          <a:prstGeom prst="hexagon">
            <a:avLst/>
          </a:prstGeom>
          <a:solidFill>
            <a:srgbClr val="2E4A8C"/>
          </a:solidFill>
          <a:ln/>
        </p:spPr>
      </p:sp>
      <p:sp>
        <p:nvSpPr>
          <p:cNvPr id="20" name="step-hex-label"/>
          <p:cNvSpPr txBox="1"/>
          <p:nvPr/>
        </p:nvSpPr>
        <p:spPr>
          <a:xfrm>
            <a:off x="6217920" y="387577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77444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Speed = distance ÷ time = 210 ÷ 1.75.</a:t>
            </a:r>
            <a:endParaRPr lang="en-US" sz="1800" dirty="0"/>
          </a:p>
        </p:txBody>
      </p:sp>
      <p:sp>
        <p:nvSpPr>
          <p:cNvPr id="22" name="step-box"/>
          <p:cNvSpPr/>
          <p:nvPr/>
        </p:nvSpPr>
        <p:spPr>
          <a:xfrm>
            <a:off x="6126480" y="4432808"/>
            <a:ext cx="5379415" cy="566928"/>
          </a:xfrm>
          <a:prstGeom prst="roundRect">
            <a:avLst>
              <a:gd name="adj" fmla="val 16129"/>
            </a:avLst>
          </a:prstGeom>
          <a:solidFill>
            <a:srgbClr val="F0F2F7"/>
          </a:solidFill>
          <a:ln/>
        </p:spPr>
      </p:sp>
      <p:sp>
        <p:nvSpPr>
          <p:cNvPr id="23" name="step-hex"/>
          <p:cNvSpPr/>
          <p:nvPr/>
        </p:nvSpPr>
        <p:spPr>
          <a:xfrm>
            <a:off x="6217920" y="4534142"/>
            <a:ext cx="420624" cy="364260"/>
          </a:xfrm>
          <a:prstGeom prst="hexagon">
            <a:avLst/>
          </a:prstGeom>
          <a:solidFill>
            <a:srgbClr val="2E4A8C"/>
          </a:solidFill>
          <a:ln/>
        </p:spPr>
      </p:sp>
      <p:sp>
        <p:nvSpPr>
          <p:cNvPr id="24" name="step-hex-label"/>
          <p:cNvSpPr txBox="1"/>
          <p:nvPr/>
        </p:nvSpPr>
        <p:spPr>
          <a:xfrm>
            <a:off x="6217920" y="453414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43280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210 ÷ 1.75 = 120.</a:t>
            </a:r>
            <a:endParaRPr lang="en-US" sz="1800" dirty="0"/>
          </a:p>
        </p:txBody>
      </p:sp>
      <p:sp>
        <p:nvSpPr>
          <p:cNvPr id="26" name="worked-answer"/>
          <p:cNvSpPr/>
          <p:nvPr/>
        </p:nvSpPr>
        <p:spPr>
          <a:xfrm>
            <a:off x="6126480" y="5136896"/>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120 km/h</a:t>
            </a:r>
            <a:endParaRPr lang="en-US" sz="1800" dirty="0"/>
          </a:p>
        </p:txBody>
      </p:sp>
      <p:sp>
        <p:nvSpPr>
          <p:cNvPr id="27" name="bullet-card"/>
          <p:cNvSpPr/>
          <p:nvPr/>
        </p:nvSpPr>
        <p:spPr>
          <a:xfrm>
            <a:off x="548640" y="1389888"/>
            <a:ext cx="5074920" cy="924560"/>
          </a:xfrm>
          <a:prstGeom prst="roundRect">
            <a:avLst>
              <a:gd name="adj" fmla="val 7912"/>
            </a:avLst>
          </a:prstGeom>
          <a:solidFill>
            <a:srgbClr val="F5F6F9"/>
          </a:solidFill>
          <a:ln/>
        </p:spPr>
      </p:sp>
      <p:sp>
        <p:nvSpPr>
          <p:cNvPr id="28" name="bullet-hex"/>
          <p:cNvSpPr/>
          <p:nvPr/>
        </p:nvSpPr>
        <p:spPr>
          <a:xfrm>
            <a:off x="676656" y="1685875"/>
            <a:ext cx="384048" cy="332586"/>
          </a:xfrm>
          <a:prstGeom prst="hexagon">
            <a:avLst/>
          </a:prstGeom>
          <a:solidFill>
            <a:srgbClr val="2E4A8C"/>
          </a:solidFill>
          <a:ln/>
        </p:spPr>
      </p:sp>
      <p:sp>
        <p:nvSpPr>
          <p:cNvPr id="29" name="bullet"/>
          <p:cNvSpPr txBox="1"/>
          <p:nvPr/>
        </p:nvSpPr>
        <p:spPr>
          <a:xfrm>
            <a:off x="1143000" y="1389888"/>
            <a:ext cx="4389120" cy="92456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Many journeys take a mixture of hours and minutes, like 2 hours 45 minutes.</a:t>
            </a:r>
            <a:endParaRPr lang="en-US" sz="2000" dirty="0"/>
          </a:p>
        </p:txBody>
      </p:sp>
      <p:sp>
        <p:nvSpPr>
          <p:cNvPr id="30" name="bullet-card"/>
          <p:cNvSpPr/>
          <p:nvPr/>
        </p:nvSpPr>
        <p:spPr>
          <a:xfrm>
            <a:off x="548640" y="2460752"/>
            <a:ext cx="5074920" cy="1234440"/>
          </a:xfrm>
          <a:prstGeom prst="roundRect">
            <a:avLst>
              <a:gd name="adj" fmla="val 5926"/>
            </a:avLst>
          </a:prstGeom>
          <a:solidFill>
            <a:srgbClr val="F5F6F9"/>
          </a:solidFill>
          <a:ln/>
        </p:spPr>
      </p:sp>
      <p:sp>
        <p:nvSpPr>
          <p:cNvPr id="31" name="bullet-hex"/>
          <p:cNvSpPr/>
          <p:nvPr/>
        </p:nvSpPr>
        <p:spPr>
          <a:xfrm>
            <a:off x="676656" y="2911679"/>
            <a:ext cx="384048" cy="332586"/>
          </a:xfrm>
          <a:prstGeom prst="hexagon">
            <a:avLst/>
          </a:prstGeom>
          <a:solidFill>
            <a:srgbClr val="B8862B"/>
          </a:solidFill>
          <a:ln/>
        </p:spPr>
      </p:sp>
      <p:sp>
        <p:nvSpPr>
          <p:cNvPr id="32" name="bullet"/>
          <p:cNvSpPr txBox="1"/>
          <p:nvPr/>
        </p:nvSpPr>
        <p:spPr>
          <a:xfrm>
            <a:off x="1143000" y="2460752"/>
            <a:ext cx="4389120" cy="123444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plane that flies 1100 km in 2 hours 45 minutes has an average speed of 1100 ÷ 2.75 = 400 km/h.</a:t>
            </a:r>
            <a:endParaRPr lang="en-US" sz="2000" dirty="0"/>
          </a:p>
        </p:txBody>
      </p:sp>
      <p:sp>
        <p:nvSpPr>
          <p:cNvPr id="33" name="bullet-card"/>
          <p:cNvSpPr/>
          <p:nvPr/>
        </p:nvSpPr>
        <p:spPr>
          <a:xfrm>
            <a:off x="548640" y="3841496"/>
            <a:ext cx="5074920" cy="1234440"/>
          </a:xfrm>
          <a:prstGeom prst="roundRect">
            <a:avLst>
              <a:gd name="adj" fmla="val 5926"/>
            </a:avLst>
          </a:prstGeom>
          <a:solidFill>
            <a:srgbClr val="F5F6F9"/>
          </a:solidFill>
          <a:ln/>
        </p:spPr>
      </p:sp>
      <p:sp>
        <p:nvSpPr>
          <p:cNvPr id="34" name="bullet-hex"/>
          <p:cNvSpPr/>
          <p:nvPr/>
        </p:nvSpPr>
        <p:spPr>
          <a:xfrm>
            <a:off x="676656" y="4292423"/>
            <a:ext cx="384048" cy="332586"/>
          </a:xfrm>
          <a:prstGeom prst="hexagon">
            <a:avLst/>
          </a:prstGeom>
          <a:solidFill>
            <a:srgbClr val="2E4A8C"/>
          </a:solidFill>
          <a:ln/>
        </p:spPr>
      </p:sp>
      <p:sp>
        <p:nvSpPr>
          <p:cNvPr id="35" name="bullet"/>
          <p:cNvSpPr txBox="1"/>
          <p:nvPr/>
        </p:nvSpPr>
        <p:spPr>
          <a:xfrm>
            <a:off x="1143000" y="3841496"/>
            <a:ext cx="4389120" cy="123444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When the answer is not exact, round it as the question asks, usually to one decimal place.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2E4A8C"/>
                </a:solidFill>
                <a:latin typeface="Cambria" pitchFamily="34" charset="0"/>
                <a:ea typeface="Cambria" pitchFamily="34" charset="-122"/>
                <a:cs typeface="Cambria" pitchFamily="34" charset="-120"/>
              </a:rPr>
              <a:t>Same task, three ways in: Speed from distance and time</a:t>
            </a:r>
            <a:endParaRPr lang="en-US" sz="26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74852"/>
          </a:xfrm>
          <a:prstGeom prst="roundRect">
            <a:avLst>
              <a:gd name="adj" fmla="val 9380"/>
            </a:avLst>
          </a:prstGeom>
          <a:solidFill>
            <a:srgbClr val="FFFFFF"/>
          </a:solidFill>
          <a:ln w="31750">
            <a:solidFill>
              <a:srgbClr val="B8862B"/>
            </a:solidFill>
            <a:prstDash val="solid"/>
          </a:ln>
        </p:spPr>
      </p:sp>
      <p:sp>
        <p:nvSpPr>
          <p:cNvPr id="8" name="task-hex"/>
          <p:cNvSpPr/>
          <p:nvPr/>
        </p:nvSpPr>
        <p:spPr>
          <a:xfrm>
            <a:off x="777240" y="1560566"/>
            <a:ext cx="731520" cy="633496"/>
          </a:xfrm>
          <a:prstGeom prst="hexagon">
            <a:avLst/>
          </a:prstGeom>
          <a:solidFill>
            <a:srgbClr val="B8862B"/>
          </a:solidFill>
          <a:ln/>
        </p:spPr>
      </p:sp>
      <p:sp>
        <p:nvSpPr>
          <p:cNvPr id="9" name="task-hex-label"/>
          <p:cNvSpPr txBox="1"/>
          <p:nvPr/>
        </p:nvSpPr>
        <p:spPr>
          <a:xfrm>
            <a:off x="777240" y="156056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60299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9197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coach travels 180 miles in 4 hours. Work out its average speed in mph.</a:t>
            </a:r>
            <a:endParaRPr lang="en-US" sz="2000" dirty="0"/>
          </a:p>
          <a:p>
            <a:pPr algn="ctr" indent="0" marL="0">
              <a:buNone/>
            </a:pPr>
            <a:r>
              <a:rPr lang="en-US" sz="1800" b="1" dirty="0">
                <a:solidFill>
                  <a:srgbClr val="2E4A8C"/>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mph</a:t>
            </a:r>
            <a:endParaRPr lang="en-US" sz="2000" dirty="0"/>
          </a:p>
        </p:txBody>
      </p:sp>
      <p:sp>
        <p:nvSpPr>
          <p:cNvPr id="12" name="col-Support"/>
          <p:cNvSpPr/>
          <p:nvPr/>
        </p:nvSpPr>
        <p:spPr>
          <a:xfrm>
            <a:off x="548640" y="2639060"/>
            <a:ext cx="3515258" cy="3505708"/>
          </a:xfrm>
          <a:prstGeom prst="roundRect">
            <a:avLst>
              <a:gd name="adj" fmla="val 1565"/>
            </a:avLst>
          </a:prstGeom>
          <a:solidFill>
            <a:srgbClr val="F0F2F7"/>
          </a:solidFill>
          <a:ln/>
        </p:spPr>
      </p:sp>
      <p:sp>
        <p:nvSpPr>
          <p:cNvPr id="13" name="col-hex"/>
          <p:cNvSpPr/>
          <p:nvPr/>
        </p:nvSpPr>
        <p:spPr>
          <a:xfrm>
            <a:off x="658368" y="271221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79140"/>
            <a:ext cx="3240938" cy="275590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Write down the distance and the time.</a:t>
            </a:r>
            <a:endParaRPr lang="en-US" sz="2200" dirty="0"/>
          </a:p>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Check the units: miles and hours give mph.</a:t>
            </a:r>
            <a:endParaRPr lang="en-US" sz="2200" dirty="0"/>
          </a:p>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Divide the distance by the time.</a:t>
            </a:r>
            <a:endParaRPr lang="en-US" sz="2200" dirty="0"/>
          </a:p>
        </p:txBody>
      </p:sp>
      <p:sp>
        <p:nvSpPr>
          <p:cNvPr id="17" name="col-Core"/>
          <p:cNvSpPr/>
          <p:nvPr/>
        </p:nvSpPr>
        <p:spPr>
          <a:xfrm>
            <a:off x="4338218" y="2639060"/>
            <a:ext cx="3515258" cy="3505708"/>
          </a:xfrm>
          <a:prstGeom prst="roundRect">
            <a:avLst>
              <a:gd name="adj" fmla="val 1565"/>
            </a:avLst>
          </a:prstGeom>
          <a:solidFill>
            <a:srgbClr val="D7DDE9"/>
          </a:solidFill>
          <a:ln/>
        </p:spPr>
      </p:sp>
      <p:sp>
        <p:nvSpPr>
          <p:cNvPr id="18" name="col-hex"/>
          <p:cNvSpPr/>
          <p:nvPr/>
        </p:nvSpPr>
        <p:spPr>
          <a:xfrm>
            <a:off x="4447946" y="271221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79140"/>
            <a:ext cx="3240938" cy="2755900"/>
          </a:xfrm>
          <a:prstGeom prst="rect">
            <a:avLst/>
          </a:prstGeom>
          <a:noFill/>
          <a:ln/>
        </p:spPr>
        <p:txBody>
          <a:bodyPr wrap="square" lIns="63500" tIns="63500" rIns="63500" bIns="63500" rtlCol="0" anchor="t"/>
          <a:lstStyle/>
          <a:p>
            <a:pPr algn="l" indent="0" marL="0">
              <a:buNone/>
            </a:pPr>
            <a:r>
              <a:rPr lang="en-US" sz="2200" b="1" dirty="0">
                <a:solidFill>
                  <a:srgbClr val="253B70"/>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Speed = distance ÷ time.</a:t>
            </a:r>
            <a:endParaRPr lang="en-US" sz="2200" dirty="0"/>
          </a:p>
        </p:txBody>
      </p:sp>
      <p:sp>
        <p:nvSpPr>
          <p:cNvPr id="22" name="col-Stretch"/>
          <p:cNvSpPr/>
          <p:nvPr/>
        </p:nvSpPr>
        <p:spPr>
          <a:xfrm>
            <a:off x="8127797" y="2639060"/>
            <a:ext cx="3515258" cy="3505708"/>
          </a:xfrm>
          <a:prstGeom prst="roundRect">
            <a:avLst>
              <a:gd name="adj" fmla="val 1565"/>
            </a:avLst>
          </a:prstGeom>
          <a:solidFill>
            <a:srgbClr val="2E4A8C"/>
          </a:solidFill>
          <a:ln/>
        </p:spPr>
      </p:sp>
      <p:sp>
        <p:nvSpPr>
          <p:cNvPr id="23" name="col-hex"/>
          <p:cNvSpPr/>
          <p:nvPr/>
        </p:nvSpPr>
        <p:spPr>
          <a:xfrm>
            <a:off x="8237525" y="271221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79140"/>
            <a:ext cx="3240938" cy="2755900"/>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The coach kept to a 30 mph limit for the first hour. Explain why its speed for the rest of the journey must have been more than 45 mph, and work out what it was.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2E4A8C"/>
                </a:solidFill>
                <a:latin typeface="Cambria" pitchFamily="34" charset="0"/>
                <a:ea typeface="Cambria" pitchFamily="34" charset="-122"/>
                <a:cs typeface="Cambria" pitchFamily="34" charset="-120"/>
              </a:rPr>
              <a:t>Same task, three ways in: Minutes into a fraction of an hour</a:t>
            </a:r>
            <a:endParaRPr lang="en-US" sz="24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74852"/>
          </a:xfrm>
          <a:prstGeom prst="roundRect">
            <a:avLst>
              <a:gd name="adj" fmla="val 9380"/>
            </a:avLst>
          </a:prstGeom>
          <a:solidFill>
            <a:srgbClr val="FFFFFF"/>
          </a:solidFill>
          <a:ln w="31750">
            <a:solidFill>
              <a:srgbClr val="B8862B"/>
            </a:solidFill>
            <a:prstDash val="solid"/>
          </a:ln>
        </p:spPr>
      </p:sp>
      <p:sp>
        <p:nvSpPr>
          <p:cNvPr id="8" name="task-hex"/>
          <p:cNvSpPr/>
          <p:nvPr/>
        </p:nvSpPr>
        <p:spPr>
          <a:xfrm>
            <a:off x="777240" y="1560566"/>
            <a:ext cx="731520" cy="633496"/>
          </a:xfrm>
          <a:prstGeom prst="hexagon">
            <a:avLst/>
          </a:prstGeom>
          <a:solidFill>
            <a:srgbClr val="B8862B"/>
          </a:solidFill>
          <a:ln/>
        </p:spPr>
      </p:sp>
      <p:sp>
        <p:nvSpPr>
          <p:cNvPr id="9" name="task-hex-label"/>
          <p:cNvSpPr txBox="1"/>
          <p:nvPr/>
        </p:nvSpPr>
        <p:spPr>
          <a:xfrm>
            <a:off x="777240" y="156056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60299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9197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bus travels 9 km in 20 minutes. What is its average speed in km/h?</a:t>
            </a:r>
            <a:endParaRPr lang="en-US" sz="2000" dirty="0"/>
          </a:p>
          <a:p>
            <a:pPr algn="ctr" indent="0" marL="0">
              <a:buNone/>
            </a:pPr>
            <a:r>
              <a:rPr lang="en-US" sz="1800" b="1" dirty="0">
                <a:solidFill>
                  <a:srgbClr val="2E4A8C"/>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km/h</a:t>
            </a:r>
            <a:endParaRPr lang="en-US" sz="2000" dirty="0"/>
          </a:p>
        </p:txBody>
      </p:sp>
      <p:sp>
        <p:nvSpPr>
          <p:cNvPr id="12" name="col-Support"/>
          <p:cNvSpPr/>
          <p:nvPr/>
        </p:nvSpPr>
        <p:spPr>
          <a:xfrm>
            <a:off x="548640" y="2639060"/>
            <a:ext cx="3515258" cy="3505708"/>
          </a:xfrm>
          <a:prstGeom prst="roundRect">
            <a:avLst>
              <a:gd name="adj" fmla="val 1565"/>
            </a:avLst>
          </a:prstGeom>
          <a:solidFill>
            <a:srgbClr val="F0F2F7"/>
          </a:solidFill>
          <a:ln/>
        </p:spPr>
      </p:sp>
      <p:sp>
        <p:nvSpPr>
          <p:cNvPr id="13" name="col-hex"/>
          <p:cNvSpPr/>
          <p:nvPr/>
        </p:nvSpPr>
        <p:spPr>
          <a:xfrm>
            <a:off x="658368" y="271221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79140"/>
            <a:ext cx="3240938" cy="275590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how many of these time chunks fit into one hour.</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Multiply the distance by that number to find the distance in one hour.</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That distance per hour is the speed in km/h.</a:t>
            </a:r>
            <a:endParaRPr lang="en-US" sz="1800" dirty="0"/>
          </a:p>
        </p:txBody>
      </p:sp>
      <p:sp>
        <p:nvSpPr>
          <p:cNvPr id="17" name="col-Core"/>
          <p:cNvSpPr/>
          <p:nvPr/>
        </p:nvSpPr>
        <p:spPr>
          <a:xfrm>
            <a:off x="4338218" y="2639060"/>
            <a:ext cx="3515258" cy="3505708"/>
          </a:xfrm>
          <a:prstGeom prst="roundRect">
            <a:avLst>
              <a:gd name="adj" fmla="val 1565"/>
            </a:avLst>
          </a:prstGeom>
          <a:solidFill>
            <a:srgbClr val="D7DDE9"/>
          </a:solidFill>
          <a:ln/>
        </p:spPr>
      </p:sp>
      <p:sp>
        <p:nvSpPr>
          <p:cNvPr id="18" name="col-hex"/>
          <p:cNvSpPr/>
          <p:nvPr/>
        </p:nvSpPr>
        <p:spPr>
          <a:xfrm>
            <a:off x="4447946" y="271221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79140"/>
            <a:ext cx="3240938" cy="2755900"/>
          </a:xfrm>
          <a:prstGeom prst="rect">
            <a:avLst/>
          </a:prstGeom>
          <a:noFill/>
          <a:ln/>
        </p:spPr>
        <p:txBody>
          <a:bodyPr wrap="square" lIns="63500" tIns="63500" rIns="63500" bIns="63500" rtlCol="0" anchor="t"/>
          <a:lstStyle/>
          <a:p>
            <a:pPr algn="l" indent="0" marL="0">
              <a:buNone/>
            </a:pPr>
            <a:r>
              <a:rPr lang="en-US" sz="1800" b="1" dirty="0">
                <a:solidFill>
                  <a:srgbClr val="253B70"/>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How many lots of 20 minutes make an hour?</a:t>
            </a:r>
            <a:endParaRPr lang="en-US" sz="1800" dirty="0"/>
          </a:p>
        </p:txBody>
      </p:sp>
      <p:sp>
        <p:nvSpPr>
          <p:cNvPr id="22" name="col-Stretch"/>
          <p:cNvSpPr/>
          <p:nvPr/>
        </p:nvSpPr>
        <p:spPr>
          <a:xfrm>
            <a:off x="8127797" y="2639060"/>
            <a:ext cx="3515258" cy="3505708"/>
          </a:xfrm>
          <a:prstGeom prst="roundRect">
            <a:avLst>
              <a:gd name="adj" fmla="val 1565"/>
            </a:avLst>
          </a:prstGeom>
          <a:solidFill>
            <a:srgbClr val="2E4A8C"/>
          </a:solidFill>
          <a:ln/>
        </p:spPr>
      </p:sp>
      <p:sp>
        <p:nvSpPr>
          <p:cNvPr id="23" name="col-hex"/>
          <p:cNvSpPr/>
          <p:nvPr/>
        </p:nvSpPr>
        <p:spPr>
          <a:xfrm>
            <a:off x="8237525" y="271221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79140"/>
            <a:ext cx="3240938" cy="275590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 friend gets 0.45 km/h. Explain what the 0.45 actually measures, and explain how to tell straight away that it cannot be the speed of a bus in km/h.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E4A8C"/>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E4A8C"/>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870712"/>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 dog runs 150 m in 2 minutes 5 seconds. Work out its average speed in m/s.</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8FA"/>
          </a:solidFill>
          <a:ln w="12700">
            <a:solidFill>
              <a:srgbClr val="9DAAC9"/>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My answer (m/s):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Speed from distance and time</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coach travels 180 miles in 4 hours. Work out its average speed in mph.</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45 mph</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Speed = distance ÷ time = 180 ÷ 4 = 45 mph.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Minutes into a fraction of an hour</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bus travels 9 km in 20 minutes. What is its average speed in km/h?</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27 km/h</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20 minutes is one third of an hour, so the bus goes 3 × 9 = 27 km in an hour. Its speed is 27 km/h.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dog runs 150 m in 2 minutes 5 seconds. Work out its average speed in m/s.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1.2 m/s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2 minutes 5 seconds is 2 × 60 + 5 = 125 seconds. Speed = 150 ÷ 125 = 1.2 m/s.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Ad Astra maths">
  <a:themeElements>
    <a:clrScheme name="Ad Astra maths">
      <a:dk1>
        <a:srgbClr val="1E2229"/>
      </a:dk1>
      <a:lt1>
        <a:srgbClr val="FFFFFF"/>
      </a:lt1>
      <a:dk2>
        <a:srgbClr val="253B70"/>
      </a:dk2>
      <a:lt2>
        <a:srgbClr val="F0F2F7"/>
      </a:lt2>
      <a:accent1>
        <a:srgbClr val="2E4A8C"/>
      </a:accent1>
      <a:accent2>
        <a:srgbClr val="B8862B"/>
      </a:accent2>
      <a:accent3>
        <a:srgbClr val="8292BA"/>
      </a:accent3>
      <a:accent4>
        <a:srgbClr val="815E1E"/>
      </a:accent4>
      <a:accent5>
        <a:srgbClr val="4A505C"/>
      </a:accent5>
      <a:accent6>
        <a:srgbClr val="DEC69B"/>
      </a:accent6>
      <a:hlink>
        <a:srgbClr val="2E4A8C"/>
      </a:hlink>
      <a:folHlink>
        <a:srgbClr val="203462"/>
      </a:folHlink>
    </a:clrScheme>
    <a:fontScheme name="Ad Astra math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Speed, Distance and Time · Chapter 3: Calculating speed</dc:title>
  <dc:subject>Mathematics · Year 7</dc:subject>
  <dc:creator>Dr Vitor Merissi de Carvalho</dc:creator>
  <cp:lastModifiedBy>Dr Vitor Merissi de Carvalho</cp:lastModifiedBy>
  <cp:revision>1</cp:revision>
  <dcterms:created xsi:type="dcterms:W3CDTF">2026-10-19T06:08:13Z</dcterms:created>
  <dcterms:modified xsi:type="dcterms:W3CDTF">2026-10-19T06:08:13Z</dcterms:modified>
</cp:coreProperties>
</file>