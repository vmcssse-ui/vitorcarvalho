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b3be789-12e7-0a71-5be5-c8e19783b33e}">
          <p14:sldIdLst>
            <p14:sldId id="256"/>
          </p14:sldIdLst>
        </p14:section>
        <p14:section name="Gate" id="{bce4468a-6dc1-38fe-06dc-4a00b355a0f1}">
          <p14:sldIdLst>
            <p14:sldId id="257"/>
            <p14:sldId id="258"/>
          </p14:sldIdLst>
        </p14:section>
        <p14:section name="Pre-teach" id="{20369a8f-3d99-447d-1048-3e48f80303f5}">
          <p14:sldIdLst>
            <p14:sldId id="259"/>
          </p14:sldIdLst>
        </p14:section>
        <p14:section name="Read-along" id="{30cd8d7b-da36-0e38-63f2-0880c7d49d38}">
          <p14:sldIdLst>
            <p14:sldId id="260"/>
            <p14:sldId id="261"/>
          </p14:sldIdLst>
        </p14:section>
        <p14:section name="Teach" id="{18e46bd0-fbc0-3636-1953-e96de42cfe43}">
          <p14:sldIdLst>
            <p14:sldId id="262"/>
            <p14:sldId id="263"/>
            <p14:sldId id="264"/>
            <p14:sldId id="265"/>
          </p14:sldIdLst>
        </p14:section>
        <p14:section name="Routes" id="{18dfe334-c87d-fe67-043d-8c04170b6413}">
          <p14:sldIdLst>
            <p14:sldId id="266"/>
            <p14:sldId id="267"/>
          </p14:sldIdLst>
        </p14:section>
        <p14:section name="Close" id="{e34f63e2-e762-6683-f26e-0771662577a4}">
          <p14:sldIdLst>
            <p14:sldId id="268"/>
          </p14:sldIdLst>
        </p14:section>
        <p14:section name="Answers" id="{9238a0bb-c675-3f26-abaf-f4c2410d6ddc}">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Converting units of time. Change between milliseconds, seconds, minutes, hours, days and years, and avoid the decimal trap.
This deck covers the department's lessons: 1 (Convert between milliseconds, seconds, minutes and hours: How do we change between milliseconds, seconds, minutes and hours?); 2 (Convert between hours, days and years: How many hours are in a day and days in a year, and how do we use that to convert?).
Read the big question aloud: "How do we measure time and movement, and how do speed, distance and time fit together?"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many minutes are there in 3.5 hours?  →  210 minutes
2. Which of these is the same length of time as 45 minutes?  →  B   ¾ of an hour
3. How many hours are there in 5 days?  →  120 hours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210 minutes. 1 hour is 60 minutes, so 3.5 hours is 3.5 × 60 = 210 minutes.
2. B   ¾ of an hour. An hour is 60 minutes, and 45 is three quarters of 60. So 45 minutes is ¾ of an hour.
3. 120 hours. Each day has 24 hours, so 5 days is 5 × 24 = 120 hours.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convert: to change into a different unit. Example: "Convert 3 hours into minutes."
• millisecond: one thousandth of a second. Example: "A camera flash lasts a few milliseconds."
• equivalent: worth the same amount. Example: "90 minutes is equivalent to 1.5 hours."
• fraction of an hour: a part of an hour, like a half or a quarter. Example: "15 minutes is a quarter of an hour."
• leap year: a year with 366 days. Example: "A leap year comes every four years."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Time has many units.
2. There are 60 seconds in a minute.
3. There are 60 minutes in an hour.
4. There are 24 hours in a day.
5. A year has 365 days, or 366 in a leap year.
6. To change hours into minutes, multiply by 60.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To change minutes into hours, divide by 60.
8. Half an hour is 30 minutes.
9. A quarter of an hour is 15 minutes.
10. Be careful with decimals.
11. 2.5 hours is 2 hours and 30 minutes, not 2 hours and 50 minutes.
12. A millisecond is one thousandth of a second.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Seconds, minutes and hours. Say it in your own words, then check understanding with a quick question: ask a pupil from the pre-teach group first, since they met these words and ideas before the lesson. Pupils try to recall before you re-explain.
The units of time do not go up in tens like metres and centimetres. There are 60 seconds in a minute and 60 minutes in an hour. So to change a bigger unit into a smaller one, you multiply by 60. To change a smaller unit into a bigger one, you divide by 60.
Think of the conversion chain: milliseconds, seconds, minutes, hours. Going right along the chain you divide: by 1000, then by 60, then by 60. Going left you multiply by the same numbers.
A sentence helps you check the direction. Minutes are smaller than hours, so there are more of them: 4 hours is 240 minutes, because 4 × 60 = 240. Going the other way, 180 minutes is 3 hours, because 180 ÷ 60 = 3.
Worked example — model it step by step, thinking aloud: Convert 4.5 hours into minutes. (1) Hours are bigger than minutes, so there will be more minutes than hours: multiply. (2) 1 hour is 60 minutes, so multiply by 60. (3) 4.5 × 60 = 270. Answer: 270 minutes.
Tip: Bigger unit to smaller unit: multiply. Smaller unit to bigger unit: divide.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Fractions and decimals of an hour. Say it in your own words, then check understanding with a quick question: ask a pupil from the pre-teach group first, since they met these words and ideas before the lesson. Pupils try to recall before you re-explain.
An hour splits into fractions neatly. Half an hour is 30 minutes. A quarter of an hour is 15 minutes, and three quarters is 45 minutes. A third of an hour is 20 minutes, because 60 ÷ 3 = 20.
Decimals are where mistakes happen. 3.25 hours does not mean 3 hours and 25 minutes. The 0.25 is a quarter of an hour, which is 15 minutes. So 3.25 hours is 3 hours and 15 minutes.
To turn minutes into a decimal of an hour, divide by 60. 36 minutes is 36 ÷ 60 = 0.6 of an hour. To turn a decimal of an hour into minutes, multiply by 60. 0.4 of an hour is 0.4 × 60 = 24 minutes.
Worked example — model it step by step, thinking aloud: Write 2.75 hours in hours and minutes. (1) The whole number part is 2, so there are 2 whole hours. (2) The decimal part is 0.75, which is three quarters of an hour. (3) 0.75 × 60 = 45, so that is 45 minutes. (4) 2.75 hours is 2 hours and 45 minutes. Answer: 2 hours 45 minutes.
Tip: The digits after the decimal point are not minutes. Multiply them by 60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Hours, days, months and years. Say it in your own words, then check understanding with a quick question: ask a pupil from the pre-teach group first, since they met these words and ideas before the lesson. Pupils try to recall before you re-explain.
There are 24 hours in a day, 7 days in a week and 12 months in a year. A year has 365 days. Every fourth year is a leap year with 366 days, because February gets an extra day.
To change days into hours, multiply by 24. 3 days is 72 hours, because 3 × 24 = 72. To change hours into days, divide by 24. 120 hours is 5 days, because 120 ÷ 24 = 5.
Sometimes the answer is not a whole number of days. Then give it in days and hours. 55 hours is 2 days and 7 hours, because two days use up 48 hours and 55 − 48 = 7.
Worked example — model it step by step, thinking aloud: Write 80 hours in days and hours. (1) How many whole days fit into 80 hours? 24 × 3 = 72, which fits. 24 × 4 = 96, which is too many. (2) So there are 3 whole days. (3) 80 − 72 = 8 hours are left over. (4) 80 hours is 3 days and 8 hours. Answer: 3 days 8 hours.
Tip: For days and hours, find how many 24s fit, then write down what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Milliseconds. Say it in your own words, then check understanding with a quick question: ask a pupil from the pre-teach group first, since they met these words and ideas before the lesson. Pupils try to recall before you re-explain.
The prefix milli- means one thousandth, just as in millimetre. So 1 second is 1000 milliseconds, and 1 millisecond is 0.001 seconds.
To change seconds into milliseconds, multiply by 1000. To change milliseconds into seconds, divide by 1000. 360 milliseconds is 360 ÷ 1000 = 0.36 seconds, not 3.6 seconds.
Milliseconds are used for very short times: a sprinter's reaction time, or how long a computer takes to respond.
Worked example — model it step by step, thinking aloud: Change 4500 milliseconds into seconds. (1) Milliseconds are smaller than seconds, so there will be fewer seconds: divide. (2) 1000 milliseconds make a second, so divide by 1000. (3) 4500 ÷ 1000 = 4.5. Answer: 4.5 seconds.
Tip: Milli- means thousandth: divide by 1000 to get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Hours and minutes as a decimal.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film lasts 2 hours 36 minutes. Write this time as a decimal number of hours.
Support — work through the steps with the group: (1) Keep the whole hours as the whole-number part. (2) Divide the minutes by 60 to get the decimal part. (3) Put the two parts together.
Parallel worked example for Support (model it, do not give the task answer): Write 1 hour 45 minutes as a decimal number of hours. The whole hours are 1.; 45 ÷ 60 = 0.75.; 1 hour 45 minutes is 1.75 hours.. Answer: 1.75 hours.
Core — reveal the hint only on request: Only the minutes need converting: divide them by 60.
Stretch — no help; when finished: Max writes 2 hours 36 minutes as 2.36 hours. Write a sentence that explains his mistake, then find a number of minutes that would make the decimal exactly 2.36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Days and hours.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is the same as 100 hours?
Support — work through the steps with the group: (1) Count how many lots of 24 fit into the hours: that is the number of days. (2) Multiply the days by 24 and subtract from the total to find the hours left over. (3) Write the answer as days and hours.
Parallel worked example for Support (model it, do not give the task answer): Write 60 hours in days and hours. 24 × 2 = 48 fits into 60, but 24 × 3 = 72 does not.; So there are 2 whole days.; 60 − 48 = 12 hours are left.; 60 hours is 2 days 12 hours.. Answer: 2 days 12 hours.
Core — reveal the hint only on request: How many 24s fit into 100? Then what is left over?
Stretch — no help; when finished: A friend writes 100 hours as 4.16 days, because 4 days and 16 hours were left over. Explain the mistake and write 100 hours as a decimal number of days, correct to two decimal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Nijah has had her bike for 3.5 years. For how many months has she had it?
Answer: 42 months. A year has 12 months, so 3.5 years is 3.5 × 12 = 42 months.
Source of this question: module 3 task ("Years and months")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Hours and minutes as a decimal. Reveal the answer; pupils mark their own work in a different colour, then read the "why" together. Same destination for every lane, so one answer serves the whole class.
Answer: 2.6 hours
Why: The 2 hours stay as 2. The 36 minutes are 36 ÷ 60 = 0.6 of an hour. So the film lasts 2.6 hours.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Days and hours. Reveal the answer; pupils mark their own work in a different colour, then read the "why" together. Same destination for every lane, so one answer serves the whole class.
Answer: B   4 days 4 hours
Why: 4 days is 4 × 24 = 96 hours. 100 − 96 = 4, so 100 hours is 4 days and 4 hours.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42 months
Why: A year has 12 months, so 3.5 years is 3.5 × 12 = 42 months.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Speed, Distance and Time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Speed, Distance and Time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Speed, Distance and Time · AQA KS3 → 8300</a:t>
            </a:r>
            <a:endParaRPr lang="en-US" sz="1800" dirty="0"/>
          </a:p>
        </p:txBody>
      </p:sp>
      <p:sp>
        <p:nvSpPr>
          <p:cNvPr id="10" name="deck-title"/>
          <p:cNvSpPr txBox="1"/>
          <p:nvPr/>
        </p:nvSpPr>
        <p:spPr>
          <a:xfrm>
            <a:off x="548640" y="206425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Converting units of time</a:t>
            </a:r>
            <a:endParaRPr lang="en-US" sz="4000" dirty="0"/>
          </a:p>
        </p:txBody>
      </p:sp>
      <p:sp>
        <p:nvSpPr>
          <p:cNvPr id="11" name="lessons-card"/>
          <p:cNvSpPr/>
          <p:nvPr/>
        </p:nvSpPr>
        <p:spPr>
          <a:xfrm>
            <a:off x="548640" y="3740658"/>
            <a:ext cx="5287975" cy="1638300"/>
          </a:xfrm>
          <a:prstGeom prst="roundRect">
            <a:avLst>
              <a:gd name="adj" fmla="val 4465"/>
            </a:avLst>
          </a:prstGeom>
          <a:solidFill>
            <a:srgbClr val="F0F2F7"/>
          </a:solidFill>
          <a:ln/>
        </p:spPr>
      </p:sp>
      <p:sp>
        <p:nvSpPr>
          <p:cNvPr id="12" name="lessons"/>
          <p:cNvSpPr txBox="1"/>
          <p:nvPr/>
        </p:nvSpPr>
        <p:spPr>
          <a:xfrm>
            <a:off x="685800" y="38320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Convert between milliseconds, seconds, minutes and hours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Convert between hours, days and years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do we measure time and movement, and how do speed, distance and time fit together?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minutes are there in 3.5 hours?</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minutes</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the same length of time as 45 minutes?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½ an hour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¾ of an hour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4.5 hours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0.45 hours</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hours are there in 5 days?</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hours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210 minutes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many minutes are there in 3.5 hours?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1 hour is 60 minutes, so 3.5 hours is 3.5 × 60 = 210 minutes.</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¾ of an hour</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of these is the same length of time as 45 minutes?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An hour is 60 minutes, and 45 is three quarters of 60. So 45 minutes is ¾ of an hour.</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120 hours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many hours are there in 5 days?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Each day has 24 hours, so 5 days is 5 × 24 = 120 hours.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E4A8C"/>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662432"/>
          </a:xfrm>
          <a:prstGeom prst="roundRect">
            <a:avLst>
              <a:gd name="adj" fmla="val 8282"/>
            </a:avLst>
          </a:prstGeom>
          <a:solidFill>
            <a:srgbClr val="F5F6F9"/>
          </a:solidFill>
          <a:ln/>
        </p:spPr>
      </p:sp>
      <p:sp>
        <p:nvSpPr>
          <p:cNvPr id="12" name="kw-hex"/>
          <p:cNvSpPr/>
          <p:nvPr/>
        </p:nvSpPr>
        <p:spPr>
          <a:xfrm>
            <a:off x="658368" y="2073285"/>
            <a:ext cx="411480" cy="356342"/>
          </a:xfrm>
          <a:prstGeom prst="hexagon">
            <a:avLst/>
          </a:prstGeom>
          <a:solidFill>
            <a:srgbClr val="2E4A8C"/>
          </a:solidFill>
          <a:ln/>
        </p:spPr>
      </p:sp>
      <p:sp>
        <p:nvSpPr>
          <p:cNvPr id="13" name="kw-cell"/>
          <p:cNvSpPr txBox="1"/>
          <p:nvPr/>
        </p:nvSpPr>
        <p:spPr>
          <a:xfrm>
            <a:off x="1143000" y="1920240"/>
            <a:ext cx="2331720" cy="662432"/>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convert</a:t>
            </a:r>
            <a:endParaRPr lang="en-US" sz="2200" dirty="0"/>
          </a:p>
        </p:txBody>
      </p:sp>
      <p:sp>
        <p:nvSpPr>
          <p:cNvPr id="14" name="kw-cell"/>
          <p:cNvSpPr txBox="1"/>
          <p:nvPr/>
        </p:nvSpPr>
        <p:spPr>
          <a:xfrm>
            <a:off x="3657600" y="1920240"/>
            <a:ext cx="3474720" cy="66243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to change into a different unit</a:t>
            </a:r>
            <a:endParaRPr lang="en-US" sz="2000" dirty="0"/>
          </a:p>
        </p:txBody>
      </p:sp>
      <p:sp>
        <p:nvSpPr>
          <p:cNvPr id="15" name="kw-cell"/>
          <p:cNvSpPr txBox="1"/>
          <p:nvPr/>
        </p:nvSpPr>
        <p:spPr>
          <a:xfrm>
            <a:off x="7315200" y="1920240"/>
            <a:ext cx="4236415" cy="66243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Convert 3 hours into minutes.</a:t>
            </a:r>
            <a:endParaRPr lang="en-US" sz="2000" dirty="0"/>
          </a:p>
        </p:txBody>
      </p:sp>
      <p:sp>
        <p:nvSpPr>
          <p:cNvPr id="16" name="kw-row"/>
          <p:cNvSpPr/>
          <p:nvPr/>
        </p:nvSpPr>
        <p:spPr>
          <a:xfrm>
            <a:off x="548640" y="2655824"/>
            <a:ext cx="11094415" cy="918972"/>
          </a:xfrm>
          <a:prstGeom prst="roundRect">
            <a:avLst>
              <a:gd name="adj" fmla="val 5970"/>
            </a:avLst>
          </a:prstGeom>
          <a:solidFill>
            <a:srgbClr val="F9F4EC"/>
          </a:solidFill>
          <a:ln/>
        </p:spPr>
      </p:sp>
      <p:sp>
        <p:nvSpPr>
          <p:cNvPr id="17" name="kw-hex"/>
          <p:cNvSpPr/>
          <p:nvPr/>
        </p:nvSpPr>
        <p:spPr>
          <a:xfrm>
            <a:off x="658368" y="2937139"/>
            <a:ext cx="411480" cy="356342"/>
          </a:xfrm>
          <a:prstGeom prst="hexagon">
            <a:avLst/>
          </a:prstGeom>
          <a:solidFill>
            <a:srgbClr val="B8862B"/>
          </a:solidFill>
          <a:ln/>
        </p:spPr>
      </p:sp>
      <p:sp>
        <p:nvSpPr>
          <p:cNvPr id="18" name="kw-cell"/>
          <p:cNvSpPr txBox="1"/>
          <p:nvPr/>
        </p:nvSpPr>
        <p:spPr>
          <a:xfrm>
            <a:off x="1143000" y="2655824"/>
            <a:ext cx="2331720" cy="918972"/>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millisecond</a:t>
            </a:r>
            <a:endParaRPr lang="en-US" sz="2200" dirty="0"/>
          </a:p>
        </p:txBody>
      </p:sp>
      <p:sp>
        <p:nvSpPr>
          <p:cNvPr id="19" name="kw-cell"/>
          <p:cNvSpPr txBox="1"/>
          <p:nvPr/>
        </p:nvSpPr>
        <p:spPr>
          <a:xfrm>
            <a:off x="3657600" y="2655824"/>
            <a:ext cx="3474720" cy="91897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one thousandth of a second</a:t>
            </a:r>
            <a:endParaRPr lang="en-US" sz="2000" dirty="0"/>
          </a:p>
        </p:txBody>
      </p:sp>
      <p:sp>
        <p:nvSpPr>
          <p:cNvPr id="20" name="kw-cell"/>
          <p:cNvSpPr txBox="1"/>
          <p:nvPr/>
        </p:nvSpPr>
        <p:spPr>
          <a:xfrm>
            <a:off x="7315200" y="2655824"/>
            <a:ext cx="4236415" cy="91897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A camera flash lasts a few milliseconds.</a:t>
            </a:r>
            <a:endParaRPr lang="en-US" sz="2000" dirty="0"/>
          </a:p>
        </p:txBody>
      </p:sp>
      <p:sp>
        <p:nvSpPr>
          <p:cNvPr id="21" name="kw-row"/>
          <p:cNvSpPr/>
          <p:nvPr/>
        </p:nvSpPr>
        <p:spPr>
          <a:xfrm>
            <a:off x="548640" y="3647948"/>
            <a:ext cx="11094415" cy="662432"/>
          </a:xfrm>
          <a:prstGeom prst="roundRect">
            <a:avLst>
              <a:gd name="adj" fmla="val 8282"/>
            </a:avLst>
          </a:prstGeom>
          <a:solidFill>
            <a:srgbClr val="F5F6F9"/>
          </a:solidFill>
          <a:ln/>
        </p:spPr>
      </p:sp>
      <p:sp>
        <p:nvSpPr>
          <p:cNvPr id="22" name="kw-hex"/>
          <p:cNvSpPr/>
          <p:nvPr/>
        </p:nvSpPr>
        <p:spPr>
          <a:xfrm>
            <a:off x="658368" y="3800993"/>
            <a:ext cx="411480" cy="356342"/>
          </a:xfrm>
          <a:prstGeom prst="hexagon">
            <a:avLst/>
          </a:prstGeom>
          <a:solidFill>
            <a:srgbClr val="2E4A8C"/>
          </a:solidFill>
          <a:ln/>
        </p:spPr>
      </p:sp>
      <p:sp>
        <p:nvSpPr>
          <p:cNvPr id="23" name="kw-cell"/>
          <p:cNvSpPr txBox="1"/>
          <p:nvPr/>
        </p:nvSpPr>
        <p:spPr>
          <a:xfrm>
            <a:off x="1143000" y="3647948"/>
            <a:ext cx="2331720" cy="662432"/>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equivalent</a:t>
            </a:r>
            <a:endParaRPr lang="en-US" sz="2200" dirty="0"/>
          </a:p>
        </p:txBody>
      </p:sp>
      <p:sp>
        <p:nvSpPr>
          <p:cNvPr id="24" name="kw-cell"/>
          <p:cNvSpPr txBox="1"/>
          <p:nvPr/>
        </p:nvSpPr>
        <p:spPr>
          <a:xfrm>
            <a:off x="3657600" y="3647948"/>
            <a:ext cx="3474720" cy="66243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worth the same amount</a:t>
            </a:r>
            <a:endParaRPr lang="en-US" sz="2000" dirty="0"/>
          </a:p>
        </p:txBody>
      </p:sp>
      <p:sp>
        <p:nvSpPr>
          <p:cNvPr id="25" name="kw-cell"/>
          <p:cNvSpPr txBox="1"/>
          <p:nvPr/>
        </p:nvSpPr>
        <p:spPr>
          <a:xfrm>
            <a:off x="7315200" y="3647948"/>
            <a:ext cx="4236415" cy="66243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90 minutes is equivalent to 1.5 hours.</a:t>
            </a:r>
            <a:endParaRPr lang="en-US" sz="2000" dirty="0"/>
          </a:p>
        </p:txBody>
      </p:sp>
      <p:sp>
        <p:nvSpPr>
          <p:cNvPr id="26" name="kw-row"/>
          <p:cNvSpPr/>
          <p:nvPr/>
        </p:nvSpPr>
        <p:spPr>
          <a:xfrm>
            <a:off x="548640" y="4383532"/>
            <a:ext cx="11094415" cy="1025652"/>
          </a:xfrm>
          <a:prstGeom prst="roundRect">
            <a:avLst>
              <a:gd name="adj" fmla="val 5349"/>
            </a:avLst>
          </a:prstGeom>
          <a:solidFill>
            <a:srgbClr val="F9F4EC"/>
          </a:solidFill>
          <a:ln/>
        </p:spPr>
      </p:sp>
      <p:sp>
        <p:nvSpPr>
          <p:cNvPr id="27" name="kw-hex"/>
          <p:cNvSpPr/>
          <p:nvPr/>
        </p:nvSpPr>
        <p:spPr>
          <a:xfrm>
            <a:off x="658368" y="4718187"/>
            <a:ext cx="411480" cy="356342"/>
          </a:xfrm>
          <a:prstGeom prst="hexagon">
            <a:avLst/>
          </a:prstGeom>
          <a:solidFill>
            <a:srgbClr val="B8862B"/>
          </a:solidFill>
          <a:ln/>
        </p:spPr>
      </p:sp>
      <p:sp>
        <p:nvSpPr>
          <p:cNvPr id="28" name="kw-cell"/>
          <p:cNvSpPr txBox="1"/>
          <p:nvPr/>
        </p:nvSpPr>
        <p:spPr>
          <a:xfrm>
            <a:off x="1143000" y="4383532"/>
            <a:ext cx="2331720" cy="1025652"/>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fraction of an hour</a:t>
            </a:r>
            <a:endParaRPr lang="en-US" sz="2200" dirty="0"/>
          </a:p>
        </p:txBody>
      </p:sp>
      <p:sp>
        <p:nvSpPr>
          <p:cNvPr id="29" name="kw-cell"/>
          <p:cNvSpPr txBox="1"/>
          <p:nvPr/>
        </p:nvSpPr>
        <p:spPr>
          <a:xfrm>
            <a:off x="3657600" y="4383532"/>
            <a:ext cx="3474720" cy="102565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part of an hour, like a half or a quarter</a:t>
            </a:r>
            <a:endParaRPr lang="en-US" sz="2000" dirty="0"/>
          </a:p>
        </p:txBody>
      </p:sp>
      <p:sp>
        <p:nvSpPr>
          <p:cNvPr id="30" name="kw-cell"/>
          <p:cNvSpPr txBox="1"/>
          <p:nvPr/>
        </p:nvSpPr>
        <p:spPr>
          <a:xfrm>
            <a:off x="7315200" y="4383532"/>
            <a:ext cx="4236415" cy="102565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15 minutes is a quarter of an hour.</a:t>
            </a:r>
            <a:endParaRPr lang="en-US" sz="2000" dirty="0"/>
          </a:p>
        </p:txBody>
      </p:sp>
      <p:sp>
        <p:nvSpPr>
          <p:cNvPr id="31" name="kw-row"/>
          <p:cNvSpPr/>
          <p:nvPr/>
        </p:nvSpPr>
        <p:spPr>
          <a:xfrm>
            <a:off x="548640" y="5482336"/>
            <a:ext cx="11094415" cy="662432"/>
          </a:xfrm>
          <a:prstGeom prst="roundRect">
            <a:avLst>
              <a:gd name="adj" fmla="val 8282"/>
            </a:avLst>
          </a:prstGeom>
          <a:solidFill>
            <a:srgbClr val="F5F6F9"/>
          </a:solidFill>
          <a:ln/>
        </p:spPr>
      </p:sp>
      <p:sp>
        <p:nvSpPr>
          <p:cNvPr id="32" name="kw-hex"/>
          <p:cNvSpPr/>
          <p:nvPr/>
        </p:nvSpPr>
        <p:spPr>
          <a:xfrm>
            <a:off x="658368" y="5635381"/>
            <a:ext cx="411480" cy="356342"/>
          </a:xfrm>
          <a:prstGeom prst="hexagon">
            <a:avLst/>
          </a:prstGeom>
          <a:solidFill>
            <a:srgbClr val="2E4A8C"/>
          </a:solidFill>
          <a:ln/>
        </p:spPr>
      </p:sp>
      <p:sp>
        <p:nvSpPr>
          <p:cNvPr id="33" name="kw-cell"/>
          <p:cNvSpPr txBox="1"/>
          <p:nvPr/>
        </p:nvSpPr>
        <p:spPr>
          <a:xfrm>
            <a:off x="1143000" y="5482336"/>
            <a:ext cx="2331720" cy="662432"/>
          </a:xfrm>
          <a:prstGeom prst="rect">
            <a:avLst/>
          </a:prstGeom>
          <a:noFill/>
          <a:ln/>
        </p:spPr>
        <p:txBody>
          <a:bodyPr wrap="square" lIns="63500" tIns="63500" rIns="63500" bIns="63500" rtlCol="0" anchor="ctr"/>
          <a:lstStyle/>
          <a:p>
            <a:pPr algn="l" indent="0" marL="0">
              <a:buNone/>
            </a:pPr>
            <a:r>
              <a:rPr lang="en-US" sz="2200" b="1" dirty="0">
                <a:solidFill>
                  <a:srgbClr val="2E4A8C"/>
                </a:solidFill>
                <a:latin typeface="Cambria" pitchFamily="34" charset="0"/>
                <a:ea typeface="Cambria" pitchFamily="34" charset="-122"/>
                <a:cs typeface="Cambria" pitchFamily="34" charset="-120"/>
              </a:rPr>
              <a:t>leap year</a:t>
            </a:r>
            <a:endParaRPr lang="en-US" sz="2200" dirty="0"/>
          </a:p>
        </p:txBody>
      </p:sp>
      <p:sp>
        <p:nvSpPr>
          <p:cNvPr id="34" name="kw-cell"/>
          <p:cNvSpPr txBox="1"/>
          <p:nvPr/>
        </p:nvSpPr>
        <p:spPr>
          <a:xfrm>
            <a:off x="3657600" y="5482336"/>
            <a:ext cx="3474720" cy="66243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year with 366 days</a:t>
            </a:r>
            <a:endParaRPr lang="en-US" sz="2000" dirty="0"/>
          </a:p>
        </p:txBody>
      </p:sp>
      <p:sp>
        <p:nvSpPr>
          <p:cNvPr id="35" name="kw-cell"/>
          <p:cNvSpPr txBox="1"/>
          <p:nvPr/>
        </p:nvSpPr>
        <p:spPr>
          <a:xfrm>
            <a:off x="7315200" y="5482336"/>
            <a:ext cx="4236415" cy="66243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A leap year comes every four years.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Time has many units.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There are 60 seconds in a minute.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There are 60 minutes in an hour.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There are 24 hours in a day.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year has 365 days, or 366 in 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leap year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To change hours into minutes, multiply by 60.</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To change minutes into hours, divide by 60.</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Half an hour is 30 minutes.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quarter of an hour is 15 minutes.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Be careful with decimals.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2.5 hours is 2 hours and 30 minutes, not 2 hours and 50 minutes.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millisecond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one thousandth of a second.</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Seconds, minutes and hours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Bigger unit to smaller unit: multiply. Smaller unit to bigger unit: divide.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Convert 4.5 hours into minutes.</a:t>
            </a:r>
            <a:endParaRPr lang="en-US" sz="1800" dirty="0"/>
          </a:p>
        </p:txBody>
      </p:sp>
      <p:sp>
        <p:nvSpPr>
          <p:cNvPr id="14" name="step-box"/>
          <p:cNvSpPr/>
          <p:nvPr/>
        </p:nvSpPr>
        <p:spPr>
          <a:xfrm>
            <a:off x="6126480" y="2609596"/>
            <a:ext cx="5379415" cy="794512"/>
          </a:xfrm>
          <a:prstGeom prst="roundRect">
            <a:avLst>
              <a:gd name="adj" fmla="val 11509"/>
            </a:avLst>
          </a:prstGeom>
          <a:solidFill>
            <a:srgbClr val="F0F2F7"/>
          </a:solidFill>
          <a:ln/>
        </p:spPr>
      </p:sp>
      <p:sp>
        <p:nvSpPr>
          <p:cNvPr id="15" name="step-hex"/>
          <p:cNvSpPr/>
          <p:nvPr/>
        </p:nvSpPr>
        <p:spPr>
          <a:xfrm>
            <a:off x="6217920" y="2824722"/>
            <a:ext cx="420624" cy="364260"/>
          </a:xfrm>
          <a:prstGeom prst="hexagon">
            <a:avLst/>
          </a:prstGeom>
          <a:solidFill>
            <a:srgbClr val="2E4A8C"/>
          </a:solidFill>
          <a:ln/>
        </p:spPr>
      </p:sp>
      <p:sp>
        <p:nvSpPr>
          <p:cNvPr id="16" name="step-hex-label"/>
          <p:cNvSpPr txBox="1"/>
          <p:nvPr/>
        </p:nvSpPr>
        <p:spPr>
          <a:xfrm>
            <a:off x="6217920" y="28247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Hours are bigger than minutes, so there will be more minutes than hours: multiply.</a:t>
            </a:r>
            <a:endParaRPr lang="en-US" sz="1800" dirty="0"/>
          </a:p>
        </p:txBody>
      </p:sp>
      <p:sp>
        <p:nvSpPr>
          <p:cNvPr id="18" name="step-box"/>
          <p:cNvSpPr/>
          <p:nvPr/>
        </p:nvSpPr>
        <p:spPr>
          <a:xfrm>
            <a:off x="6126480" y="3495548"/>
            <a:ext cx="5379415" cy="566928"/>
          </a:xfrm>
          <a:prstGeom prst="roundRect">
            <a:avLst>
              <a:gd name="adj" fmla="val 16129"/>
            </a:avLst>
          </a:prstGeom>
          <a:solidFill>
            <a:srgbClr val="F0F2F7"/>
          </a:solidFill>
          <a:ln/>
        </p:spPr>
      </p:sp>
      <p:sp>
        <p:nvSpPr>
          <p:cNvPr id="19" name="step-hex"/>
          <p:cNvSpPr/>
          <p:nvPr/>
        </p:nvSpPr>
        <p:spPr>
          <a:xfrm>
            <a:off x="6217920" y="3596882"/>
            <a:ext cx="420624" cy="364260"/>
          </a:xfrm>
          <a:prstGeom prst="hexagon">
            <a:avLst/>
          </a:prstGeom>
          <a:solidFill>
            <a:srgbClr val="2E4A8C"/>
          </a:solidFill>
          <a:ln/>
        </p:spPr>
      </p:sp>
      <p:sp>
        <p:nvSpPr>
          <p:cNvPr id="20" name="step-hex-label"/>
          <p:cNvSpPr txBox="1"/>
          <p:nvPr/>
        </p:nvSpPr>
        <p:spPr>
          <a:xfrm>
            <a:off x="6217920" y="35968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9554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 hour is 60 minutes, so multiply by 60.</a:t>
            </a:r>
            <a:endParaRPr lang="en-US" sz="1800" dirty="0"/>
          </a:p>
        </p:txBody>
      </p:sp>
      <p:sp>
        <p:nvSpPr>
          <p:cNvPr id="22" name="step-box"/>
          <p:cNvSpPr/>
          <p:nvPr/>
        </p:nvSpPr>
        <p:spPr>
          <a:xfrm>
            <a:off x="6126480" y="4153916"/>
            <a:ext cx="5379415" cy="566928"/>
          </a:xfrm>
          <a:prstGeom prst="roundRect">
            <a:avLst>
              <a:gd name="adj" fmla="val 16129"/>
            </a:avLst>
          </a:prstGeom>
          <a:solidFill>
            <a:srgbClr val="F0F2F7"/>
          </a:solidFill>
          <a:ln/>
        </p:spPr>
      </p:sp>
      <p:sp>
        <p:nvSpPr>
          <p:cNvPr id="23" name="step-hex"/>
          <p:cNvSpPr/>
          <p:nvPr/>
        </p:nvSpPr>
        <p:spPr>
          <a:xfrm>
            <a:off x="6217920" y="4255250"/>
            <a:ext cx="420624" cy="364260"/>
          </a:xfrm>
          <a:prstGeom prst="hexagon">
            <a:avLst/>
          </a:prstGeom>
          <a:solidFill>
            <a:srgbClr val="2E4A8C"/>
          </a:solidFill>
          <a:ln/>
        </p:spPr>
      </p:sp>
      <p:sp>
        <p:nvSpPr>
          <p:cNvPr id="24" name="step-hex-label"/>
          <p:cNvSpPr txBox="1"/>
          <p:nvPr/>
        </p:nvSpPr>
        <p:spPr>
          <a:xfrm>
            <a:off x="6217920" y="42552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15391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4.5 × 60 = 270.</a:t>
            </a:r>
            <a:endParaRPr lang="en-US" sz="1800" dirty="0"/>
          </a:p>
        </p:txBody>
      </p:sp>
      <p:sp>
        <p:nvSpPr>
          <p:cNvPr id="26" name="worked-answer"/>
          <p:cNvSpPr/>
          <p:nvPr/>
        </p:nvSpPr>
        <p:spPr>
          <a:xfrm>
            <a:off x="6126480" y="4858004"/>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270 minutes</a:t>
            </a:r>
            <a:endParaRPr lang="en-US" sz="1800" dirty="0"/>
          </a:p>
        </p:txBody>
      </p:sp>
      <p:sp>
        <p:nvSpPr>
          <p:cNvPr id="27" name="bullet-card"/>
          <p:cNvSpPr/>
          <p:nvPr/>
        </p:nvSpPr>
        <p:spPr>
          <a:xfrm>
            <a:off x="548640" y="1389888"/>
            <a:ext cx="5074920" cy="759291"/>
          </a:xfrm>
          <a:prstGeom prst="roundRect">
            <a:avLst>
              <a:gd name="adj" fmla="val 9634"/>
            </a:avLst>
          </a:prstGeom>
          <a:solidFill>
            <a:srgbClr val="F5F6F9"/>
          </a:solidFill>
          <a:ln/>
        </p:spPr>
      </p:sp>
      <p:sp>
        <p:nvSpPr>
          <p:cNvPr id="28" name="bullet-hex"/>
          <p:cNvSpPr/>
          <p:nvPr/>
        </p:nvSpPr>
        <p:spPr>
          <a:xfrm>
            <a:off x="676656" y="1603241"/>
            <a:ext cx="384048" cy="332586"/>
          </a:xfrm>
          <a:prstGeom prst="hexagon">
            <a:avLst/>
          </a:prstGeom>
          <a:solidFill>
            <a:srgbClr val="2E4A8C"/>
          </a:solidFill>
          <a:ln/>
        </p:spPr>
      </p:sp>
      <p:sp>
        <p:nvSpPr>
          <p:cNvPr id="29" name="bullet"/>
          <p:cNvSpPr txBox="1"/>
          <p:nvPr/>
        </p:nvSpPr>
        <p:spPr>
          <a:xfrm>
            <a:off x="1143000" y="1389888"/>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units of time do not go up in tens like metres and centimetres.</a:t>
            </a:r>
            <a:endParaRPr lang="en-US" sz="1800" dirty="0"/>
          </a:p>
        </p:txBody>
      </p:sp>
      <p:sp>
        <p:nvSpPr>
          <p:cNvPr id="30" name="bullet-card"/>
          <p:cNvSpPr/>
          <p:nvPr/>
        </p:nvSpPr>
        <p:spPr>
          <a:xfrm>
            <a:off x="548640" y="2295483"/>
            <a:ext cx="5074920" cy="1317075"/>
          </a:xfrm>
          <a:prstGeom prst="roundRect">
            <a:avLst>
              <a:gd name="adj" fmla="val 5554"/>
            </a:avLst>
          </a:prstGeom>
          <a:solidFill>
            <a:srgbClr val="F5F6F9"/>
          </a:solidFill>
          <a:ln/>
        </p:spPr>
      </p:sp>
      <p:sp>
        <p:nvSpPr>
          <p:cNvPr id="31" name="bullet-hex"/>
          <p:cNvSpPr/>
          <p:nvPr/>
        </p:nvSpPr>
        <p:spPr>
          <a:xfrm>
            <a:off x="676656" y="2787727"/>
            <a:ext cx="384048" cy="332586"/>
          </a:xfrm>
          <a:prstGeom prst="hexagon">
            <a:avLst/>
          </a:prstGeom>
          <a:solidFill>
            <a:srgbClr val="B8862B"/>
          </a:solidFill>
          <a:ln/>
        </p:spPr>
      </p:sp>
      <p:sp>
        <p:nvSpPr>
          <p:cNvPr id="32" name="bullet"/>
          <p:cNvSpPr txBox="1"/>
          <p:nvPr/>
        </p:nvSpPr>
        <p:spPr>
          <a:xfrm>
            <a:off x="1143000" y="2295483"/>
            <a:ext cx="4389120" cy="131707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Think of the conversion chain: milliseconds, seconds, minutes, hours. Going right along the chain you divide: by 1000, then by 60, then by 60.</a:t>
            </a:r>
            <a:endParaRPr lang="en-US" sz="1800" dirty="0"/>
          </a:p>
        </p:txBody>
      </p:sp>
      <p:sp>
        <p:nvSpPr>
          <p:cNvPr id="33" name="bullet-card"/>
          <p:cNvSpPr/>
          <p:nvPr/>
        </p:nvSpPr>
        <p:spPr>
          <a:xfrm>
            <a:off x="548640" y="3758861"/>
            <a:ext cx="5074920" cy="1317075"/>
          </a:xfrm>
          <a:prstGeom prst="roundRect">
            <a:avLst>
              <a:gd name="adj" fmla="val 5554"/>
            </a:avLst>
          </a:prstGeom>
          <a:solidFill>
            <a:srgbClr val="F5F6F9"/>
          </a:solidFill>
          <a:ln/>
        </p:spPr>
      </p:sp>
      <p:sp>
        <p:nvSpPr>
          <p:cNvPr id="34" name="bullet-hex"/>
          <p:cNvSpPr/>
          <p:nvPr/>
        </p:nvSpPr>
        <p:spPr>
          <a:xfrm>
            <a:off x="676656" y="4251106"/>
            <a:ext cx="384048" cy="332586"/>
          </a:xfrm>
          <a:prstGeom prst="hexagon">
            <a:avLst/>
          </a:prstGeom>
          <a:solidFill>
            <a:srgbClr val="2E4A8C"/>
          </a:solidFill>
          <a:ln/>
        </p:spPr>
      </p:sp>
      <p:sp>
        <p:nvSpPr>
          <p:cNvPr id="35" name="bullet"/>
          <p:cNvSpPr txBox="1"/>
          <p:nvPr/>
        </p:nvSpPr>
        <p:spPr>
          <a:xfrm>
            <a:off x="1143000" y="3758861"/>
            <a:ext cx="4389120" cy="131707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sentence helps you check the direction. Minutes are smaller than hours, so there are more of them: 4 hours is 240 minutes, because 4 × 60 = 240.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Fractions and decimals of an hour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digits after the decimal point are not minutes. Multiply them by 60 first.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Write 2.75 hours in hours and minutes.</a:t>
            </a:r>
            <a:endParaRPr lang="en-US" sz="1800" dirty="0"/>
          </a:p>
        </p:txBody>
      </p:sp>
      <p:sp>
        <p:nvSpPr>
          <p:cNvPr id="14" name="step-box"/>
          <p:cNvSpPr/>
          <p:nvPr/>
        </p:nvSpPr>
        <p:spPr>
          <a:xfrm>
            <a:off x="6126480" y="2609596"/>
            <a:ext cx="5379415" cy="749808"/>
          </a:xfrm>
          <a:prstGeom prst="roundRect">
            <a:avLst>
              <a:gd name="adj" fmla="val 12195"/>
            </a:avLst>
          </a:prstGeom>
          <a:solidFill>
            <a:srgbClr val="F0F2F7"/>
          </a:solidFill>
          <a:ln/>
        </p:spPr>
      </p:sp>
      <p:sp>
        <p:nvSpPr>
          <p:cNvPr id="15" name="step-hex"/>
          <p:cNvSpPr/>
          <p:nvPr/>
        </p:nvSpPr>
        <p:spPr>
          <a:xfrm>
            <a:off x="6217920" y="2802370"/>
            <a:ext cx="420624" cy="364260"/>
          </a:xfrm>
          <a:prstGeom prst="hexagon">
            <a:avLst/>
          </a:prstGeom>
          <a:solidFill>
            <a:srgbClr val="2E4A8C"/>
          </a:solidFill>
          <a:ln/>
        </p:spPr>
      </p:sp>
      <p:sp>
        <p:nvSpPr>
          <p:cNvPr id="16" name="step-hex-label"/>
          <p:cNvSpPr txBox="1"/>
          <p:nvPr/>
        </p:nvSpPr>
        <p:spPr>
          <a:xfrm>
            <a:off x="6217920" y="280237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7498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whole number part is 2, so there are 2 whole hours.</a:t>
            </a:r>
            <a:endParaRPr lang="en-US" sz="1800" dirty="0"/>
          </a:p>
        </p:txBody>
      </p:sp>
      <p:sp>
        <p:nvSpPr>
          <p:cNvPr id="18" name="step-box"/>
          <p:cNvSpPr/>
          <p:nvPr/>
        </p:nvSpPr>
        <p:spPr>
          <a:xfrm>
            <a:off x="6126480" y="3450844"/>
            <a:ext cx="5379415" cy="749808"/>
          </a:xfrm>
          <a:prstGeom prst="roundRect">
            <a:avLst>
              <a:gd name="adj" fmla="val 12195"/>
            </a:avLst>
          </a:prstGeom>
          <a:solidFill>
            <a:srgbClr val="F0F2F7"/>
          </a:solidFill>
          <a:ln/>
        </p:spPr>
      </p:sp>
      <p:sp>
        <p:nvSpPr>
          <p:cNvPr id="19" name="step-hex"/>
          <p:cNvSpPr/>
          <p:nvPr/>
        </p:nvSpPr>
        <p:spPr>
          <a:xfrm>
            <a:off x="6217920" y="3643618"/>
            <a:ext cx="420624" cy="364260"/>
          </a:xfrm>
          <a:prstGeom prst="hexagon">
            <a:avLst/>
          </a:prstGeom>
          <a:solidFill>
            <a:srgbClr val="2E4A8C"/>
          </a:solidFill>
          <a:ln/>
        </p:spPr>
      </p:sp>
      <p:sp>
        <p:nvSpPr>
          <p:cNvPr id="20" name="step-hex-label"/>
          <p:cNvSpPr txBox="1"/>
          <p:nvPr/>
        </p:nvSpPr>
        <p:spPr>
          <a:xfrm>
            <a:off x="6217920" y="364361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50844"/>
            <a:ext cx="4739335" cy="7498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decimal part is 0.75, which is three quarters of an hour.</a:t>
            </a:r>
            <a:endParaRPr lang="en-US" sz="1800" dirty="0"/>
          </a:p>
        </p:txBody>
      </p:sp>
      <p:sp>
        <p:nvSpPr>
          <p:cNvPr id="22" name="step-box"/>
          <p:cNvSpPr/>
          <p:nvPr/>
        </p:nvSpPr>
        <p:spPr>
          <a:xfrm>
            <a:off x="6126480" y="4292092"/>
            <a:ext cx="5379415" cy="522224"/>
          </a:xfrm>
          <a:prstGeom prst="roundRect">
            <a:avLst>
              <a:gd name="adj" fmla="val 17510"/>
            </a:avLst>
          </a:prstGeom>
          <a:solidFill>
            <a:srgbClr val="F0F2F7"/>
          </a:solidFill>
          <a:ln/>
        </p:spPr>
      </p:sp>
      <p:sp>
        <p:nvSpPr>
          <p:cNvPr id="23" name="step-hex"/>
          <p:cNvSpPr/>
          <p:nvPr/>
        </p:nvSpPr>
        <p:spPr>
          <a:xfrm>
            <a:off x="6217920" y="4371074"/>
            <a:ext cx="420624" cy="364260"/>
          </a:xfrm>
          <a:prstGeom prst="hexagon">
            <a:avLst/>
          </a:prstGeom>
          <a:solidFill>
            <a:srgbClr val="2E4A8C"/>
          </a:solidFill>
          <a:ln/>
        </p:spPr>
      </p:sp>
      <p:sp>
        <p:nvSpPr>
          <p:cNvPr id="24" name="step-hex-label"/>
          <p:cNvSpPr txBox="1"/>
          <p:nvPr/>
        </p:nvSpPr>
        <p:spPr>
          <a:xfrm>
            <a:off x="6217920" y="43710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92092"/>
            <a:ext cx="473933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0.75 × 60 = 45, so that is 45 minutes.</a:t>
            </a:r>
            <a:endParaRPr lang="en-US" sz="1800" dirty="0"/>
          </a:p>
        </p:txBody>
      </p:sp>
      <p:sp>
        <p:nvSpPr>
          <p:cNvPr id="26" name="step-box"/>
          <p:cNvSpPr/>
          <p:nvPr/>
        </p:nvSpPr>
        <p:spPr>
          <a:xfrm>
            <a:off x="6126480" y="4905756"/>
            <a:ext cx="5379415" cy="522224"/>
          </a:xfrm>
          <a:prstGeom prst="roundRect">
            <a:avLst>
              <a:gd name="adj" fmla="val 17510"/>
            </a:avLst>
          </a:prstGeom>
          <a:solidFill>
            <a:srgbClr val="F0F2F7"/>
          </a:solidFill>
          <a:ln/>
        </p:spPr>
      </p:sp>
      <p:sp>
        <p:nvSpPr>
          <p:cNvPr id="27" name="step-hex"/>
          <p:cNvSpPr/>
          <p:nvPr/>
        </p:nvSpPr>
        <p:spPr>
          <a:xfrm>
            <a:off x="6217920" y="4984738"/>
            <a:ext cx="420624" cy="364260"/>
          </a:xfrm>
          <a:prstGeom prst="hexagon">
            <a:avLst/>
          </a:prstGeom>
          <a:solidFill>
            <a:srgbClr val="2E4A8C"/>
          </a:solidFill>
          <a:ln/>
        </p:spPr>
      </p:sp>
      <p:sp>
        <p:nvSpPr>
          <p:cNvPr id="28" name="step-hex-label"/>
          <p:cNvSpPr txBox="1"/>
          <p:nvPr/>
        </p:nvSpPr>
        <p:spPr>
          <a:xfrm>
            <a:off x="6217920" y="498473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905756"/>
            <a:ext cx="473933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2.75 hours is 2 hours and 45 minutes.</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 hours 45 minutes</a:t>
            </a:r>
            <a:endParaRPr lang="en-US" sz="1800" dirty="0"/>
          </a:p>
        </p:txBody>
      </p:sp>
      <p:sp>
        <p:nvSpPr>
          <p:cNvPr id="31" name="bullet-card"/>
          <p:cNvSpPr/>
          <p:nvPr/>
        </p:nvSpPr>
        <p:spPr>
          <a:xfrm>
            <a:off x="548640" y="1389888"/>
            <a:ext cx="5074920" cy="1017524"/>
          </a:xfrm>
          <a:prstGeom prst="roundRect">
            <a:avLst>
              <a:gd name="adj" fmla="val 7189"/>
            </a:avLst>
          </a:prstGeom>
          <a:solidFill>
            <a:srgbClr val="F5F6F9"/>
          </a:solidFill>
          <a:ln/>
        </p:spPr>
      </p:sp>
      <p:sp>
        <p:nvSpPr>
          <p:cNvPr id="32" name="bullet-hex"/>
          <p:cNvSpPr/>
          <p:nvPr/>
        </p:nvSpPr>
        <p:spPr>
          <a:xfrm>
            <a:off x="676656" y="1732357"/>
            <a:ext cx="384048" cy="332586"/>
          </a:xfrm>
          <a:prstGeom prst="hexagon">
            <a:avLst/>
          </a:prstGeom>
          <a:solidFill>
            <a:srgbClr val="2E4A8C"/>
          </a:solidFill>
          <a:ln/>
        </p:spPr>
      </p:sp>
      <p:sp>
        <p:nvSpPr>
          <p:cNvPr id="33" name="bullet"/>
          <p:cNvSpPr txBox="1"/>
          <p:nvPr/>
        </p:nvSpPr>
        <p:spPr>
          <a:xfrm>
            <a:off x="1143000" y="1389888"/>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 hour splits into fractions neatly. Half an hour is 30 minutes.</a:t>
            </a:r>
            <a:endParaRPr lang="en-US" sz="2200" dirty="0"/>
          </a:p>
        </p:txBody>
      </p:sp>
      <p:sp>
        <p:nvSpPr>
          <p:cNvPr id="34" name="bullet-card"/>
          <p:cNvSpPr/>
          <p:nvPr/>
        </p:nvSpPr>
        <p:spPr>
          <a:xfrm>
            <a:off x="548640" y="2553716"/>
            <a:ext cx="5074920" cy="1358392"/>
          </a:xfrm>
          <a:prstGeom prst="roundRect">
            <a:avLst>
              <a:gd name="adj" fmla="val 5385"/>
            </a:avLst>
          </a:prstGeom>
          <a:solidFill>
            <a:srgbClr val="F5F6F9"/>
          </a:solidFill>
          <a:ln/>
        </p:spPr>
      </p:sp>
      <p:sp>
        <p:nvSpPr>
          <p:cNvPr id="35" name="bullet-hex"/>
          <p:cNvSpPr/>
          <p:nvPr/>
        </p:nvSpPr>
        <p:spPr>
          <a:xfrm>
            <a:off x="676656" y="3066619"/>
            <a:ext cx="384048" cy="332586"/>
          </a:xfrm>
          <a:prstGeom prst="hexagon">
            <a:avLst/>
          </a:prstGeom>
          <a:solidFill>
            <a:srgbClr val="B8862B"/>
          </a:solidFill>
          <a:ln/>
        </p:spPr>
      </p:sp>
      <p:sp>
        <p:nvSpPr>
          <p:cNvPr id="36" name="bullet"/>
          <p:cNvSpPr txBox="1"/>
          <p:nvPr/>
        </p:nvSpPr>
        <p:spPr>
          <a:xfrm>
            <a:off x="1143000" y="2553716"/>
            <a:ext cx="4389120"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Decimals are where mistakes happen. 3.25 hours does not mean 3 hours and 25 minutes.</a:t>
            </a:r>
            <a:endParaRPr lang="en-US" sz="2200" dirty="0"/>
          </a:p>
        </p:txBody>
      </p:sp>
      <p:sp>
        <p:nvSpPr>
          <p:cNvPr id="37" name="bullet-card"/>
          <p:cNvSpPr/>
          <p:nvPr/>
        </p:nvSpPr>
        <p:spPr>
          <a:xfrm>
            <a:off x="548640" y="4058412"/>
            <a:ext cx="5074920" cy="1017524"/>
          </a:xfrm>
          <a:prstGeom prst="roundRect">
            <a:avLst>
              <a:gd name="adj" fmla="val 7189"/>
            </a:avLst>
          </a:prstGeom>
          <a:solidFill>
            <a:srgbClr val="F5F6F9"/>
          </a:solidFill>
          <a:ln/>
        </p:spPr>
      </p:sp>
      <p:sp>
        <p:nvSpPr>
          <p:cNvPr id="38" name="bullet-hex"/>
          <p:cNvSpPr/>
          <p:nvPr/>
        </p:nvSpPr>
        <p:spPr>
          <a:xfrm>
            <a:off x="676656" y="4400881"/>
            <a:ext cx="384048" cy="332586"/>
          </a:xfrm>
          <a:prstGeom prst="hexagon">
            <a:avLst/>
          </a:prstGeom>
          <a:solidFill>
            <a:srgbClr val="2E4A8C"/>
          </a:solidFill>
          <a:ln/>
        </p:spPr>
      </p:sp>
      <p:sp>
        <p:nvSpPr>
          <p:cNvPr id="39" name="bullet"/>
          <p:cNvSpPr txBox="1"/>
          <p:nvPr/>
        </p:nvSpPr>
        <p:spPr>
          <a:xfrm>
            <a:off x="1143000" y="4058412"/>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turn minutes into a decimal of an hour, divide by 60.</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Hours, days, months and years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days and hours, find how many 24s fit, then write down what is left.</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Write 80 hours in days and hours.</a:t>
            </a:r>
            <a:endParaRPr lang="en-US" sz="1800" dirty="0"/>
          </a:p>
        </p:txBody>
      </p:sp>
      <p:sp>
        <p:nvSpPr>
          <p:cNvPr id="14" name="step-box"/>
          <p:cNvSpPr/>
          <p:nvPr/>
        </p:nvSpPr>
        <p:spPr>
          <a:xfrm>
            <a:off x="6126480" y="2609596"/>
            <a:ext cx="5379415" cy="794512"/>
          </a:xfrm>
          <a:prstGeom prst="roundRect">
            <a:avLst>
              <a:gd name="adj" fmla="val 11509"/>
            </a:avLst>
          </a:prstGeom>
          <a:solidFill>
            <a:srgbClr val="F0F2F7"/>
          </a:solidFill>
          <a:ln/>
        </p:spPr>
      </p:sp>
      <p:sp>
        <p:nvSpPr>
          <p:cNvPr id="15" name="step-hex"/>
          <p:cNvSpPr/>
          <p:nvPr/>
        </p:nvSpPr>
        <p:spPr>
          <a:xfrm>
            <a:off x="6217920" y="2824722"/>
            <a:ext cx="420624" cy="364260"/>
          </a:xfrm>
          <a:prstGeom prst="hexagon">
            <a:avLst/>
          </a:prstGeom>
          <a:solidFill>
            <a:srgbClr val="2E4A8C"/>
          </a:solidFill>
          <a:ln/>
        </p:spPr>
      </p:sp>
      <p:sp>
        <p:nvSpPr>
          <p:cNvPr id="16" name="step-hex-label"/>
          <p:cNvSpPr txBox="1"/>
          <p:nvPr/>
        </p:nvSpPr>
        <p:spPr>
          <a:xfrm>
            <a:off x="6217920" y="28247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many whole days fit into 80 hours? 24 × 3 = 72, which fits. 24 × 4 = 96, which is too many.</a:t>
            </a:r>
            <a:endParaRPr lang="en-US" sz="1800" dirty="0"/>
          </a:p>
        </p:txBody>
      </p:sp>
      <p:sp>
        <p:nvSpPr>
          <p:cNvPr id="18" name="step-box"/>
          <p:cNvSpPr/>
          <p:nvPr/>
        </p:nvSpPr>
        <p:spPr>
          <a:xfrm>
            <a:off x="6126480" y="3495548"/>
            <a:ext cx="5379415" cy="566928"/>
          </a:xfrm>
          <a:prstGeom prst="roundRect">
            <a:avLst>
              <a:gd name="adj" fmla="val 16129"/>
            </a:avLst>
          </a:prstGeom>
          <a:solidFill>
            <a:srgbClr val="F0F2F7"/>
          </a:solidFill>
          <a:ln/>
        </p:spPr>
      </p:sp>
      <p:sp>
        <p:nvSpPr>
          <p:cNvPr id="19" name="step-hex"/>
          <p:cNvSpPr/>
          <p:nvPr/>
        </p:nvSpPr>
        <p:spPr>
          <a:xfrm>
            <a:off x="6217920" y="3596882"/>
            <a:ext cx="420624" cy="364260"/>
          </a:xfrm>
          <a:prstGeom prst="hexagon">
            <a:avLst/>
          </a:prstGeom>
          <a:solidFill>
            <a:srgbClr val="2E4A8C"/>
          </a:solidFill>
          <a:ln/>
        </p:spPr>
      </p:sp>
      <p:sp>
        <p:nvSpPr>
          <p:cNvPr id="20" name="step-hex-label"/>
          <p:cNvSpPr txBox="1"/>
          <p:nvPr/>
        </p:nvSpPr>
        <p:spPr>
          <a:xfrm>
            <a:off x="6217920" y="359688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9554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 there are 3 whole days.</a:t>
            </a:r>
            <a:endParaRPr lang="en-US" sz="1800" dirty="0"/>
          </a:p>
        </p:txBody>
      </p:sp>
      <p:sp>
        <p:nvSpPr>
          <p:cNvPr id="22" name="step-box"/>
          <p:cNvSpPr/>
          <p:nvPr/>
        </p:nvSpPr>
        <p:spPr>
          <a:xfrm>
            <a:off x="6126480" y="4153916"/>
            <a:ext cx="5379415" cy="566928"/>
          </a:xfrm>
          <a:prstGeom prst="roundRect">
            <a:avLst>
              <a:gd name="adj" fmla="val 16129"/>
            </a:avLst>
          </a:prstGeom>
          <a:solidFill>
            <a:srgbClr val="F0F2F7"/>
          </a:solidFill>
          <a:ln/>
        </p:spPr>
      </p:sp>
      <p:sp>
        <p:nvSpPr>
          <p:cNvPr id="23" name="step-hex"/>
          <p:cNvSpPr/>
          <p:nvPr/>
        </p:nvSpPr>
        <p:spPr>
          <a:xfrm>
            <a:off x="6217920" y="4255250"/>
            <a:ext cx="420624" cy="364260"/>
          </a:xfrm>
          <a:prstGeom prst="hexagon">
            <a:avLst/>
          </a:prstGeom>
          <a:solidFill>
            <a:srgbClr val="2E4A8C"/>
          </a:solidFill>
          <a:ln/>
        </p:spPr>
      </p:sp>
      <p:sp>
        <p:nvSpPr>
          <p:cNvPr id="24" name="step-hex-label"/>
          <p:cNvSpPr txBox="1"/>
          <p:nvPr/>
        </p:nvSpPr>
        <p:spPr>
          <a:xfrm>
            <a:off x="6217920" y="42552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15391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80 − 72 = 8 hours are left over.</a:t>
            </a:r>
            <a:endParaRPr lang="en-US" sz="1800" dirty="0"/>
          </a:p>
        </p:txBody>
      </p:sp>
      <p:sp>
        <p:nvSpPr>
          <p:cNvPr id="26" name="step-box"/>
          <p:cNvSpPr/>
          <p:nvPr/>
        </p:nvSpPr>
        <p:spPr>
          <a:xfrm>
            <a:off x="6126480" y="4812284"/>
            <a:ext cx="5379415" cy="566928"/>
          </a:xfrm>
          <a:prstGeom prst="roundRect">
            <a:avLst>
              <a:gd name="adj" fmla="val 16129"/>
            </a:avLst>
          </a:prstGeom>
          <a:solidFill>
            <a:srgbClr val="F0F2F7"/>
          </a:solidFill>
          <a:ln/>
        </p:spPr>
      </p:sp>
      <p:sp>
        <p:nvSpPr>
          <p:cNvPr id="27" name="step-hex"/>
          <p:cNvSpPr/>
          <p:nvPr/>
        </p:nvSpPr>
        <p:spPr>
          <a:xfrm>
            <a:off x="6217920" y="4913618"/>
            <a:ext cx="420624" cy="364260"/>
          </a:xfrm>
          <a:prstGeom prst="hexagon">
            <a:avLst/>
          </a:prstGeom>
          <a:solidFill>
            <a:srgbClr val="2E4A8C"/>
          </a:solidFill>
          <a:ln/>
        </p:spPr>
      </p:sp>
      <p:sp>
        <p:nvSpPr>
          <p:cNvPr id="28" name="step-hex-label"/>
          <p:cNvSpPr txBox="1"/>
          <p:nvPr/>
        </p:nvSpPr>
        <p:spPr>
          <a:xfrm>
            <a:off x="6217920" y="491361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81228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80 hours is 3 days and 8 hours.</a:t>
            </a:r>
            <a:endParaRPr lang="en-US" sz="1800" dirty="0"/>
          </a:p>
        </p:txBody>
      </p:sp>
      <p:sp>
        <p:nvSpPr>
          <p:cNvPr id="30" name="worked-answer"/>
          <p:cNvSpPr/>
          <p:nvPr/>
        </p:nvSpPr>
        <p:spPr>
          <a:xfrm>
            <a:off x="6126480" y="5516372"/>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 days 8 hours</a:t>
            </a:r>
            <a:endParaRPr lang="en-US" sz="1800" dirty="0"/>
          </a:p>
        </p:txBody>
      </p:sp>
      <p:sp>
        <p:nvSpPr>
          <p:cNvPr id="31" name="bullet-card"/>
          <p:cNvSpPr/>
          <p:nvPr/>
        </p:nvSpPr>
        <p:spPr>
          <a:xfrm>
            <a:off x="548640" y="1389888"/>
            <a:ext cx="5074920" cy="1017524"/>
          </a:xfrm>
          <a:prstGeom prst="roundRect">
            <a:avLst>
              <a:gd name="adj" fmla="val 7189"/>
            </a:avLst>
          </a:prstGeom>
          <a:solidFill>
            <a:srgbClr val="F5F6F9"/>
          </a:solidFill>
          <a:ln/>
        </p:spPr>
      </p:sp>
      <p:sp>
        <p:nvSpPr>
          <p:cNvPr id="32" name="bullet-hex"/>
          <p:cNvSpPr/>
          <p:nvPr/>
        </p:nvSpPr>
        <p:spPr>
          <a:xfrm>
            <a:off x="676656" y="1732357"/>
            <a:ext cx="384048" cy="332586"/>
          </a:xfrm>
          <a:prstGeom prst="hexagon">
            <a:avLst/>
          </a:prstGeom>
          <a:solidFill>
            <a:srgbClr val="2E4A8C"/>
          </a:solidFill>
          <a:ln/>
        </p:spPr>
      </p:sp>
      <p:sp>
        <p:nvSpPr>
          <p:cNvPr id="33" name="bullet"/>
          <p:cNvSpPr txBox="1"/>
          <p:nvPr/>
        </p:nvSpPr>
        <p:spPr>
          <a:xfrm>
            <a:off x="1143000" y="1389888"/>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There are 24 hours in a day, 7 days in a week and 12 months in a year.</a:t>
            </a:r>
            <a:endParaRPr lang="en-US" sz="2200" dirty="0"/>
          </a:p>
        </p:txBody>
      </p:sp>
      <p:sp>
        <p:nvSpPr>
          <p:cNvPr id="34" name="bullet-card"/>
          <p:cNvSpPr/>
          <p:nvPr/>
        </p:nvSpPr>
        <p:spPr>
          <a:xfrm>
            <a:off x="548640" y="2553716"/>
            <a:ext cx="5074920" cy="1358392"/>
          </a:xfrm>
          <a:prstGeom prst="roundRect">
            <a:avLst>
              <a:gd name="adj" fmla="val 5385"/>
            </a:avLst>
          </a:prstGeom>
          <a:solidFill>
            <a:srgbClr val="F5F6F9"/>
          </a:solidFill>
          <a:ln/>
        </p:spPr>
      </p:sp>
      <p:sp>
        <p:nvSpPr>
          <p:cNvPr id="35" name="bullet-hex"/>
          <p:cNvSpPr/>
          <p:nvPr/>
        </p:nvSpPr>
        <p:spPr>
          <a:xfrm>
            <a:off x="676656" y="3066619"/>
            <a:ext cx="384048" cy="332586"/>
          </a:xfrm>
          <a:prstGeom prst="hexagon">
            <a:avLst/>
          </a:prstGeom>
          <a:solidFill>
            <a:srgbClr val="B8862B"/>
          </a:solidFill>
          <a:ln/>
        </p:spPr>
      </p:sp>
      <p:sp>
        <p:nvSpPr>
          <p:cNvPr id="36" name="bullet"/>
          <p:cNvSpPr txBox="1"/>
          <p:nvPr/>
        </p:nvSpPr>
        <p:spPr>
          <a:xfrm>
            <a:off x="1143000" y="2553716"/>
            <a:ext cx="4389120"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To change days into hours, multiply by 24. 3 days is 72 hours, because 3 × 24 = 72.</a:t>
            </a:r>
            <a:endParaRPr lang="en-US" sz="2200" dirty="0"/>
          </a:p>
        </p:txBody>
      </p:sp>
      <p:sp>
        <p:nvSpPr>
          <p:cNvPr id="37" name="bullet-card"/>
          <p:cNvSpPr/>
          <p:nvPr/>
        </p:nvSpPr>
        <p:spPr>
          <a:xfrm>
            <a:off x="548640" y="4058412"/>
            <a:ext cx="5074920" cy="1017524"/>
          </a:xfrm>
          <a:prstGeom prst="roundRect">
            <a:avLst>
              <a:gd name="adj" fmla="val 7189"/>
            </a:avLst>
          </a:prstGeom>
          <a:solidFill>
            <a:srgbClr val="F5F6F9"/>
          </a:solidFill>
          <a:ln/>
        </p:spPr>
      </p:sp>
      <p:sp>
        <p:nvSpPr>
          <p:cNvPr id="38" name="bullet-hex"/>
          <p:cNvSpPr/>
          <p:nvPr/>
        </p:nvSpPr>
        <p:spPr>
          <a:xfrm>
            <a:off x="676656" y="4400881"/>
            <a:ext cx="384048" cy="332586"/>
          </a:xfrm>
          <a:prstGeom prst="hexagon">
            <a:avLst/>
          </a:prstGeom>
          <a:solidFill>
            <a:srgbClr val="2E4A8C"/>
          </a:solidFill>
          <a:ln/>
        </p:spPr>
      </p:sp>
      <p:sp>
        <p:nvSpPr>
          <p:cNvPr id="39" name="bullet"/>
          <p:cNvSpPr txBox="1"/>
          <p:nvPr/>
        </p:nvSpPr>
        <p:spPr>
          <a:xfrm>
            <a:off x="1143000" y="4058412"/>
            <a:ext cx="4389120"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Sometimes the answer is not a whole number of days.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Milliseconds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Milli- means thousandth: divide by 1000 to get seconds.</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Change 4500 milliseconds into seconds.</a:t>
            </a:r>
            <a:endParaRPr lang="en-US" sz="1800" dirty="0"/>
          </a:p>
        </p:txBody>
      </p:sp>
      <p:sp>
        <p:nvSpPr>
          <p:cNvPr id="14" name="step-box"/>
          <p:cNvSpPr/>
          <p:nvPr/>
        </p:nvSpPr>
        <p:spPr>
          <a:xfrm>
            <a:off x="6126480" y="2609596"/>
            <a:ext cx="5379415" cy="794512"/>
          </a:xfrm>
          <a:prstGeom prst="roundRect">
            <a:avLst>
              <a:gd name="adj" fmla="val 11509"/>
            </a:avLst>
          </a:prstGeom>
          <a:solidFill>
            <a:srgbClr val="F0F2F7"/>
          </a:solidFill>
          <a:ln/>
        </p:spPr>
      </p:sp>
      <p:sp>
        <p:nvSpPr>
          <p:cNvPr id="15" name="step-hex"/>
          <p:cNvSpPr/>
          <p:nvPr/>
        </p:nvSpPr>
        <p:spPr>
          <a:xfrm>
            <a:off x="6217920" y="2824722"/>
            <a:ext cx="420624" cy="364260"/>
          </a:xfrm>
          <a:prstGeom prst="hexagon">
            <a:avLst/>
          </a:prstGeom>
          <a:solidFill>
            <a:srgbClr val="2E4A8C"/>
          </a:solidFill>
          <a:ln/>
        </p:spPr>
      </p:sp>
      <p:sp>
        <p:nvSpPr>
          <p:cNvPr id="16" name="step-hex-label"/>
          <p:cNvSpPr txBox="1"/>
          <p:nvPr/>
        </p:nvSpPr>
        <p:spPr>
          <a:xfrm>
            <a:off x="6217920" y="28247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609596"/>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Milliseconds are smaller than seconds, so there will be fewer seconds: divide.</a:t>
            </a:r>
            <a:endParaRPr lang="en-US" sz="1800" dirty="0"/>
          </a:p>
        </p:txBody>
      </p:sp>
      <p:sp>
        <p:nvSpPr>
          <p:cNvPr id="18" name="step-box"/>
          <p:cNvSpPr/>
          <p:nvPr/>
        </p:nvSpPr>
        <p:spPr>
          <a:xfrm>
            <a:off x="6126480" y="3495548"/>
            <a:ext cx="5379415" cy="794512"/>
          </a:xfrm>
          <a:prstGeom prst="roundRect">
            <a:avLst>
              <a:gd name="adj" fmla="val 11509"/>
            </a:avLst>
          </a:prstGeom>
          <a:solidFill>
            <a:srgbClr val="F0F2F7"/>
          </a:solidFill>
          <a:ln/>
        </p:spPr>
      </p:sp>
      <p:sp>
        <p:nvSpPr>
          <p:cNvPr id="19" name="step-hex"/>
          <p:cNvSpPr/>
          <p:nvPr/>
        </p:nvSpPr>
        <p:spPr>
          <a:xfrm>
            <a:off x="6217920" y="3710674"/>
            <a:ext cx="420624" cy="364260"/>
          </a:xfrm>
          <a:prstGeom prst="hexagon">
            <a:avLst/>
          </a:prstGeom>
          <a:solidFill>
            <a:srgbClr val="2E4A8C"/>
          </a:solidFill>
          <a:ln/>
        </p:spPr>
      </p:sp>
      <p:sp>
        <p:nvSpPr>
          <p:cNvPr id="20" name="step-hex-label"/>
          <p:cNvSpPr txBox="1"/>
          <p:nvPr/>
        </p:nvSpPr>
        <p:spPr>
          <a:xfrm>
            <a:off x="6217920" y="37106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9554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1000 milliseconds make a second, so divide by 1000.</a:t>
            </a:r>
            <a:endParaRPr lang="en-US" sz="1800" dirty="0"/>
          </a:p>
        </p:txBody>
      </p:sp>
      <p:sp>
        <p:nvSpPr>
          <p:cNvPr id="22" name="step-box"/>
          <p:cNvSpPr/>
          <p:nvPr/>
        </p:nvSpPr>
        <p:spPr>
          <a:xfrm>
            <a:off x="6126480" y="4381500"/>
            <a:ext cx="5379415" cy="566928"/>
          </a:xfrm>
          <a:prstGeom prst="roundRect">
            <a:avLst>
              <a:gd name="adj" fmla="val 16129"/>
            </a:avLst>
          </a:prstGeom>
          <a:solidFill>
            <a:srgbClr val="F0F2F7"/>
          </a:solidFill>
          <a:ln/>
        </p:spPr>
      </p:sp>
      <p:sp>
        <p:nvSpPr>
          <p:cNvPr id="23" name="step-hex"/>
          <p:cNvSpPr/>
          <p:nvPr/>
        </p:nvSpPr>
        <p:spPr>
          <a:xfrm>
            <a:off x="6217920" y="4482834"/>
            <a:ext cx="420624" cy="364260"/>
          </a:xfrm>
          <a:prstGeom prst="hexagon">
            <a:avLst/>
          </a:prstGeom>
          <a:solidFill>
            <a:srgbClr val="2E4A8C"/>
          </a:solidFill>
          <a:ln/>
        </p:spPr>
      </p:sp>
      <p:sp>
        <p:nvSpPr>
          <p:cNvPr id="24" name="step-hex-label"/>
          <p:cNvSpPr txBox="1"/>
          <p:nvPr/>
        </p:nvSpPr>
        <p:spPr>
          <a:xfrm>
            <a:off x="6217920" y="44828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815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4500 ÷ 1000 = 4.5.</a:t>
            </a:r>
            <a:endParaRPr lang="en-US" sz="1800" dirty="0"/>
          </a:p>
        </p:txBody>
      </p:sp>
      <p:sp>
        <p:nvSpPr>
          <p:cNvPr id="26" name="worked-answer"/>
          <p:cNvSpPr/>
          <p:nvPr/>
        </p:nvSpPr>
        <p:spPr>
          <a:xfrm>
            <a:off x="6126480" y="5085588"/>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4.5 seconds</a:t>
            </a:r>
            <a:endParaRPr lang="en-US" sz="1800" dirty="0"/>
          </a:p>
        </p:txBody>
      </p:sp>
      <p:sp>
        <p:nvSpPr>
          <p:cNvPr id="27" name="bullet-card"/>
          <p:cNvSpPr/>
          <p:nvPr/>
        </p:nvSpPr>
        <p:spPr>
          <a:xfrm>
            <a:off x="548640" y="1389888"/>
            <a:ext cx="5074920" cy="821267"/>
          </a:xfrm>
          <a:prstGeom prst="roundRect">
            <a:avLst>
              <a:gd name="adj" fmla="val 8907"/>
            </a:avLst>
          </a:prstGeom>
          <a:solidFill>
            <a:srgbClr val="F5F6F9"/>
          </a:solidFill>
          <a:ln/>
        </p:spPr>
      </p:sp>
      <p:sp>
        <p:nvSpPr>
          <p:cNvPr id="28" name="bullet-hex"/>
          <p:cNvSpPr/>
          <p:nvPr/>
        </p:nvSpPr>
        <p:spPr>
          <a:xfrm>
            <a:off x="676656" y="1634229"/>
            <a:ext cx="384048" cy="332586"/>
          </a:xfrm>
          <a:prstGeom prst="hexagon">
            <a:avLst/>
          </a:prstGeom>
          <a:solidFill>
            <a:srgbClr val="2E4A8C"/>
          </a:solidFill>
          <a:ln/>
        </p:spPr>
      </p:sp>
      <p:sp>
        <p:nvSpPr>
          <p:cNvPr id="29" name="bullet"/>
          <p:cNvSpPr txBox="1"/>
          <p:nvPr/>
        </p:nvSpPr>
        <p:spPr>
          <a:xfrm>
            <a:off x="1143000" y="1389888"/>
            <a:ext cx="4389120" cy="82126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prefix milli- means one thousandth, just as in millimetre.</a:t>
            </a:r>
            <a:endParaRPr lang="en-US" sz="2000" dirty="0"/>
          </a:p>
        </p:txBody>
      </p:sp>
      <p:sp>
        <p:nvSpPr>
          <p:cNvPr id="30" name="bullet-card"/>
          <p:cNvSpPr/>
          <p:nvPr/>
        </p:nvSpPr>
        <p:spPr>
          <a:xfrm>
            <a:off x="548640" y="2357459"/>
            <a:ext cx="5074920" cy="1441027"/>
          </a:xfrm>
          <a:prstGeom prst="roundRect">
            <a:avLst>
              <a:gd name="adj" fmla="val 5076"/>
            </a:avLst>
          </a:prstGeom>
          <a:solidFill>
            <a:srgbClr val="F5F6F9"/>
          </a:solidFill>
          <a:ln/>
        </p:spPr>
      </p:sp>
      <p:sp>
        <p:nvSpPr>
          <p:cNvPr id="31" name="bullet-hex"/>
          <p:cNvSpPr/>
          <p:nvPr/>
        </p:nvSpPr>
        <p:spPr>
          <a:xfrm>
            <a:off x="676656" y="2911679"/>
            <a:ext cx="384048" cy="332586"/>
          </a:xfrm>
          <a:prstGeom prst="hexagon">
            <a:avLst/>
          </a:prstGeom>
          <a:solidFill>
            <a:srgbClr val="B8862B"/>
          </a:solidFill>
          <a:ln/>
        </p:spPr>
      </p:sp>
      <p:sp>
        <p:nvSpPr>
          <p:cNvPr id="32" name="bullet"/>
          <p:cNvSpPr txBox="1"/>
          <p:nvPr/>
        </p:nvSpPr>
        <p:spPr>
          <a:xfrm>
            <a:off x="1143000" y="2357459"/>
            <a:ext cx="4389120" cy="144102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To change seconds into milliseconds, multiply by 1000. To change milliseconds into seconds, divide by 1000.</a:t>
            </a:r>
            <a:endParaRPr lang="en-US" sz="2000" dirty="0"/>
          </a:p>
        </p:txBody>
      </p:sp>
      <p:sp>
        <p:nvSpPr>
          <p:cNvPr id="33" name="bullet-card"/>
          <p:cNvSpPr/>
          <p:nvPr/>
        </p:nvSpPr>
        <p:spPr>
          <a:xfrm>
            <a:off x="548640" y="3944789"/>
            <a:ext cx="5074920" cy="1131147"/>
          </a:xfrm>
          <a:prstGeom prst="roundRect">
            <a:avLst>
              <a:gd name="adj" fmla="val 6467"/>
            </a:avLst>
          </a:prstGeom>
          <a:solidFill>
            <a:srgbClr val="F5F6F9"/>
          </a:solidFill>
          <a:ln/>
        </p:spPr>
      </p:sp>
      <p:sp>
        <p:nvSpPr>
          <p:cNvPr id="34" name="bullet-hex"/>
          <p:cNvSpPr/>
          <p:nvPr/>
        </p:nvSpPr>
        <p:spPr>
          <a:xfrm>
            <a:off x="676656" y="4344070"/>
            <a:ext cx="384048" cy="332586"/>
          </a:xfrm>
          <a:prstGeom prst="hexagon">
            <a:avLst/>
          </a:prstGeom>
          <a:solidFill>
            <a:srgbClr val="2E4A8C"/>
          </a:solidFill>
          <a:ln/>
        </p:spPr>
      </p:sp>
      <p:sp>
        <p:nvSpPr>
          <p:cNvPr id="35" name="bullet"/>
          <p:cNvSpPr txBox="1"/>
          <p:nvPr/>
        </p:nvSpPr>
        <p:spPr>
          <a:xfrm>
            <a:off x="1143000" y="3944789"/>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Milliseconds are used for very short times: a sprinter's reaction time, or how long a computer takes to respond.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Same task, three ways in: Hours and minutes as a decimal</a:t>
            </a:r>
            <a:endParaRPr lang="en-US" sz="26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film lasts 2 hours 36 minutes. Write this time as a decimal number of hours.</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hours</a:t>
            </a:r>
            <a:endParaRPr lang="en-US" sz="2000" dirty="0"/>
          </a:p>
        </p:txBody>
      </p:sp>
      <p:sp>
        <p:nvSpPr>
          <p:cNvPr id="12" name="col-Support"/>
          <p:cNvSpPr/>
          <p:nvPr/>
        </p:nvSpPr>
        <p:spPr>
          <a:xfrm>
            <a:off x="548640" y="2948940"/>
            <a:ext cx="3515258"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Keep the whole hours as the whole-number part.</a:t>
            </a:r>
            <a:endParaRPr lang="en-US" sz="2000" dirty="0"/>
          </a:p>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Divide the minutes by 60 to get the decimal part.</a:t>
            </a:r>
            <a:endParaRPr lang="en-US" sz="2000" dirty="0"/>
          </a:p>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Put the two parts together.</a:t>
            </a:r>
            <a:endParaRPr lang="en-US" sz="2000" dirty="0"/>
          </a:p>
        </p:txBody>
      </p:sp>
      <p:sp>
        <p:nvSpPr>
          <p:cNvPr id="17" name="col-Core"/>
          <p:cNvSpPr/>
          <p:nvPr/>
        </p:nvSpPr>
        <p:spPr>
          <a:xfrm>
            <a:off x="4338218" y="2948940"/>
            <a:ext cx="3515258" cy="3195828"/>
          </a:xfrm>
          <a:prstGeom prst="roundRect">
            <a:avLst>
              <a:gd name="adj" fmla="val 1717"/>
            </a:avLst>
          </a:prstGeom>
          <a:solidFill>
            <a:srgbClr val="D7DDE9"/>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253B70"/>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Only the minutes need converting: divide them by 60.</a:t>
            </a:r>
            <a:endParaRPr lang="en-US" sz="2000" dirty="0"/>
          </a:p>
        </p:txBody>
      </p:sp>
      <p:sp>
        <p:nvSpPr>
          <p:cNvPr id="22" name="col-Stretch"/>
          <p:cNvSpPr/>
          <p:nvPr/>
        </p:nvSpPr>
        <p:spPr>
          <a:xfrm>
            <a:off x="8127797" y="2948940"/>
            <a:ext cx="3515258" cy="3195828"/>
          </a:xfrm>
          <a:prstGeom prst="roundRect">
            <a:avLst>
              <a:gd name="adj" fmla="val 1717"/>
            </a:avLst>
          </a:prstGeom>
          <a:solidFill>
            <a:srgbClr val="2E4A8C"/>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Max writes 2 hours 36 minutes as 2.36 hours. Write a sentence that explains his mistake, then find a number of minutes that would make the decimal exactly 2.36 hours.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Days and hours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of these is the same as 100 hours?</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4 days 16 hours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4 days 4 hours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10 days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5 days 10 hours</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how many lots of 24 fit into the hours: that is the number of days.</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the days by 24 and subtract from the total to find the hours left over.</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answer as days and hours.</a:t>
            </a:r>
            <a:endParaRPr lang="en-US" sz="18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How many 24s fit into 100? Then what is left over?</a:t>
            </a:r>
            <a:endParaRPr lang="en-US" sz="18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friend writes 100 hours as 4.16 days, because 4 days and 16 hours were left over. Explain the mistake and write 100 hours as a decimal number of days, correct to two decimal places.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Nijah has had her bike for 3.5 years. For how many months has she had it?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 (months):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Hours and minutes as a decimal</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film lasts 2 hours 36 minutes. Write this time as a decimal number of hours.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2.6 hours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2 hours stay as 2. The 36 minutes are 36 ÷ 60 = 0.6 of an hour. So the film lasts 2.6 hours.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Days and hours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the same as 100 hours?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4 days 4 hours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4 days is 4 × 24 = 96 hours. 100 − 96 = 4, so 100 hours is 4 days and 4 hours.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Nijah has had her bike for 3.5 years. For how many months has she had it?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42 months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year has 12 months, so 3.5 years is 3.5 × 12 = 42 months.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Speed, Distance and Time · Chapter 1: Converting units of time</dc:title>
  <dc:subject>Mathematics · Year 7</dc:subject>
  <dc:creator>Dr Vitor Merissi de Carvalho</dc:creator>
  <cp:lastModifiedBy>Dr Vitor Merissi de Carvalho</cp:lastModifiedBy>
  <cp:revision>1</cp:revision>
  <dcterms:created xsi:type="dcterms:W3CDTF">2026-10-19T16:23:24Z</dcterms:created>
  <dcterms:modified xsi:type="dcterms:W3CDTF">2026-10-19T16:23:24Z</dcterms:modified>
</cp:coreProperties>
</file>