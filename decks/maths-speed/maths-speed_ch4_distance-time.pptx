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adfd3a-7975-2734-d273-ea53df8610b9}">
          <p14:sldIdLst>
            <p14:sldId id="256"/>
          </p14:sldIdLst>
        </p14:section>
        <p14:section name="Gate" id="{92d1e7fb-1aa0-ecc6-fd21-c2914712ed47}">
          <p14:sldIdLst>
            <p14:sldId id="257"/>
            <p14:sldId id="258"/>
          </p14:sldIdLst>
        </p14:section>
        <p14:section name="Pre-teach" id="{758336a6-13cc-764c-6945-857d4d399e50}">
          <p14:sldIdLst>
            <p14:sldId id="259"/>
          </p14:sldIdLst>
        </p14:section>
        <p14:section name="Read-along" id="{aaacd766-2833-c04f-cbb7-8229f5695129}">
          <p14:sldIdLst>
            <p14:sldId id="260"/>
            <p14:sldId id="261"/>
          </p14:sldIdLst>
        </p14:section>
        <p14:section name="Teach" id="{799d9cf0-cfae-f2f1-4ddf-083159235c54}">
          <p14:sldIdLst>
            <p14:sldId id="262"/>
            <p14:sldId id="263"/>
            <p14:sldId id="264"/>
            <p14:sldId id="265"/>
          </p14:sldIdLst>
        </p14:section>
        <p14:section name="Routes" id="{96c0e20d-e616-a69a-9888-6e6c131f3f8e}">
          <p14:sldIdLst>
            <p14:sldId id="266"/>
            <p14:sldId id="267"/>
          </p14:sldIdLst>
        </p14:section>
        <p14:section name="Close" id="{527a5113-aa93-2c13-3cb0-2abeda967440}">
          <p14:sldIdLst>
            <p14:sldId id="268"/>
          </p14:sldIdLst>
        </p14:section>
        <p14:section name="Answers" id="{b3e0f62e-91ca-7a02-49ca-480b9e4a635d}">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Finding distance and time. Use the speed to find how far something travels, or how long it takes, including journeys in more than one part.
This deck covers the department's lesson: 6 (Solve problems with speed, distance and time: How do we find a distance or a time when we know the speed?).
Read the big question aloud: "How do we measure time and movement, and how do speed, distance and time fit together?"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train travels at 90 km/h for 4 hours. How far does it travel, in km?  →  360 km
2. A bus travels 120 miles at 40 mph. How many hours does the journey take?  →  3 hours
3. Which formula gives the time taken for a journey?  →  B   time = distance ÷ speed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360 km. Distance = speed × time = 90 × 4 = 360 km.
2. 3 hours. Time = distance ÷ speed = 120 ÷ 40 = 3 hours.
3. B   time = distance ÷ speed. Speed = distance ÷ time, so time = distance ÷ speed. For example, 120 miles at 40 mph takes 120 ÷ 40 = 3 hours.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formula: a rule written in words or letters. Example: "The formula is distance = speed × time."
• rearrange: to change a formula round to find a different thing. Example: "Rearrange the formula to find the time."
• time taken: how long the journey lasts. Example: "The time taken was 3 hours."
• per: for each. Example: "40 km per hour means 40 km for each hour."
• total: everything added together. Example: "The total distance was 27 km."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Speed, distance and time are linked.
2. If you know two of them, you can find the third.
3. Speed = distance ÷ time.
4. Distance = speed × time.
5. Time = distance ÷ speed.
6. A car goes at 40 km/h for 3 hours.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40 × 3 = 120, so it travels 120 km.
8. A boat goes 100 km at 25 km/h.
9. 100 ÷ 25 = 4, so it takes 4 hours.
10. Check that the units match before you multiply or divide.
11. Half an hour is 0.5 hours, not 0.3 hours.
12. For a journey in parts, work out each part and then add.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distance. Say it in your own words, then check understanding with a quick question: ask a pupil from the pre-teach group first, since they met these words and ideas before the lesson. Pupils try to recall before you re-explain.
The units of speed tell you the formula. Kilometres per hour means kilometres for each hour, so a car at 45 km/h covers 45 km in every hour. In 3 hours it covers 3 × 45 = 135 km. So distance = speed × time.
If the time has minutes in it, change it to hours first. A cyclist riding at 20 km/h for 2 hours 30 minutes rides for 2.5 hours, so she covers 20 × 2.5 = 50 km.
A quick sense check: a car travelling at 65 km/h for 13 hours would cover far more than 65 km, because 13 hours is far more than one hour. If your answer is smaller than the speed and the time is more than an hour, something has gone wrong.
Worked example — model it step by step, thinking aloud: A cyclist rides at 18 km/h for 2 hours 30 minutes. How far does she ride? (1) Change the time to hours: 30 minutes is half an hour, so the time is 2.5 hours. (2) Distance = speed × time = 18 × 2.5. (3) 18 × 2.5 = 45. Answer: 45 km.
Tip: Distance = speed × time. Time in hours for km/h and mph; time in seconds for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time. Say it in your own words, then check understanding with a quick question: ask a pupil from the pre-teach group first, since they met these words and ideas before the lesson. Pupils try to recall before you re-explain.
If a car travels at 45 km/h, every 45 km takes one hour. So to find how long 225 km takes, ask how many lots of 45 fit into 225: 225 ÷ 45 = 5 hours. Time = distance ÷ speed.
The answer may not be a whole number of hours. 84 km at 24 km/h takes 84 ÷ 24 = 3.5 hours, which is 3 hours 30 minutes. Remember that the 0.5 means half an hour, not 50 minutes.
For speeds in m/s the time comes out in seconds. A helicopter at 58 m/s takes 232 ÷ 58 = 4 seconds to travel 232 m.
Worked example — model it step by step, thinking aloud: A ferry travels 84 km at 24 km/h. How long does the crossing take? (1) Time = distance ÷ speed = 84 ÷ 24. (2) 84 ÷ 24 = 3.5. (3) 3.5 hours is 3 hours 30 minutes. Answer: 3.5 hours.
Tip: Time = distance ÷ speed. Change a decimal answer back into hours and minutes to make sense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Let the units choose the formula. Say it in your own words, then check understanding with a quick question: ask a pupil from the pre-teach group first, since they met these words and ideas before the lesson. Pupils try to recall before you re-explain.
You do not need to memorise three separate formulas. Start from speed = distance ÷ time and read the units. If the speed is 9 metres per second, then every second adds 9 metres: 20 seconds adds 20 × 9 = 180 m. That is distance = speed × time.
To find the time, ask how many lots of the speed make up the distance. At 9 metres per second, 450 m takes 450 ÷ 9 = 50 seconds. That is time = distance ÷ speed.
Before you calculate, name what you are finding: distance, speed or time. Then write the formula, then put the numbers in. Writing it out stops you from multiplying when you should divide.
Worked example — model it step by step, thinking aloud: A cat runs at 6 m/s. How far does it run in 1 minute 10 seconds? (1) The speed is in metres per second, so the time must be in seconds: 60 + 10 = 70 seconds. (2) We are finding a distance, so distance = speed × time. (3) 6 × 70 = 420. Answer: 420 m.
Tip: Say what you are finding first: distance, speed 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Journeys in more than one part. Say it in your own words, then check understanding with a quick question: ask a pupil from the pre-teach group first, since they met these words and ideas before the lesson. Pupils try to recall before you re-explain.
Some journeys have two or more parts at different speeds. Work out the distance for each part separately, then add them to find the total distance.
Suppose Mo walks for 45 minutes at 4 mph, then runs for 30 minutes at 8 mph. Walking: 45 minutes is 0.75 of an hour, so 4 × 0.75 = 3 miles. Running: 30 minutes is 0.5 of an hour, so 8 × 0.5 = 4 miles. Total: 3 + 4 = 7 miles.
The total time is found the same way, by adding the parts. Then the average speed for the whole journey is the total distance divided by the total time: 7 miles in 1.25 hours is 7 ÷ 1.25 = 5.6 mph.
Worked example — model it step by step, thinking aloud: Mo walks for 45 minutes at 4 mph, then runs for 30 minutes at 8 mph. How far does he go in total? (1) Walking: 45 minutes is 0.75 of an hour, so 4 × 0.75 = 3 miles. (2) Running: 30 minutes is 0.5 of an hour, so 8 × 0.5 = 4 miles. (3) Add the parts: 3 + 4 = 7. Answer: 7 miles.
Tip: Work out each part of the journey on its own line, then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Distance when the time is in minutes.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car travels at 54 km/h for 40 minutes. How far does it travel, in km?
Support — work through the steps with the group: (1) Change the minutes into a fraction of an hour: minutes ÷ 60. (2) You are finding a distance, so multiply the speed by the time in hours. (3) Check: less than an hour should give less than the speed.
Parallel worked example for Support (model it, do not give the task answer): A bus travels at 42 km/h for 20 minutes. How far does it travel, in km? 20 minutes is 20 ÷ 60, which is one third of an hour.; Distance = speed × time: one third of 42.; 42 ÷ 3 = 14.. Answer: 14 km.
Core — reveal the hint only on request: 40 minutes is two thirds of an hour. What is two thirds of 54?
Stretch — no help; when finished: How many minutes would the car need to travel exactly 54 km, and how many to travel 81 km? Explain what happens to the distance when you double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Time when the speed is known.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plane flies 2400 km at an average speed of 800 km/h. How long does the flight take, in hours?
Support — work through the steps with the group: (1) Write down the distance and the speed. (2) You are finding a time, so divide the distance by the speed. (3) The speed is per hour, so the answer is in hours.
Parallel worked example for Support (model it, do not give the task answer): A ship sails 600 km at an average speed of 40 km/h. How long does it take, in hours? Distance 600 km, speed 40 km/h.; Time = distance ÷ speed = 600 ÷ 40.; 600 ÷ 40 = 15.. Answer: 15 hours.
Core — reveal the hint only on request: How many lots of 800 km make 2400 km?
Stretch — no help; when finished: The plane takes off at 09:40. A strong headwind cuts its average speed to 600 km/h. What time does it land? Explain why the flight is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Whitney cycles for 1 hour 30 minutes at 16 km/h, then walks for 30 minutes at 6 km/h. How far does she travel in total, in km?
Answer: 27 km. Cycling: 1.5 hours at 16 km/h is 16 × 1.5 = 24 km. Walking: 0.5 hours at 6 km/h is 6 × 0.5 = 3 km. Total 24 + 3 = 27 km.
Source of this question: module 3 task ("A journey in two parts")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Distance when the time is in minutes. Reveal the answer; pupils mark their own work in a different colour, then read the "why" together. Same destination for every lane, so one answer serves the whole class.
Answer: 36 km
Why: 40 minutes is 40 ÷ 60, which is two thirds of an hour. Distance = 54 × two thirds = 36 km.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Time when the speed is known. Reveal the answer; pupils mark their own work in a different colour, then read the "why" together. Same destination for every lane, so one answer serves the whole class.
Answer: 3 hours
Why: Time = distance ÷ speed = 2400 ÷ 800 = 3 hours.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27 km
Why: Cycling: 1.5 hours at 16 km/h is 16 × 1.5 = 24 km. Walking: 0.5 hours at 6 km/h is 6 × 0.5 = 3 km. Total 24 + 3 = 27 km.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Speed, Distance and Time · AQA KS3 → 8300</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Finding distance and time</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F0F2F7"/>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Solve problems with speed, distance and time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we measure time and movement, and how do speed, distance and time fit together?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train travels at 90 km/h for 4 hours. How far does it travel, in km?</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km</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bus travels 120 miles at 40 mph. How many hours does the journey take?</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hours</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formula gives the time taken for a journey?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time = speed ÷ distance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time = distance ÷ speed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time = speed × distance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time = distance × speed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360 km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train travels at 90 km/h for 4 hours. How far does it travel, in km?</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Distance = speed × time = 90 × 4 = 360 km.</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 hours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bus travels 120 miles at 40 mph. How many hours does the journey take?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Time = distance ÷ speed = 120 ÷ 40 = 3 hours.</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time = distance ÷ speed</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formula gives the time taken for a journey?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Speed = distance ÷ time, so time = distance ÷ speed. For example, 120 miles at 40 mph takes 120 ÷ 40 = 3 hours.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00582"/>
          </a:xfrm>
          <a:prstGeom prst="roundRect">
            <a:avLst>
              <a:gd name="adj" fmla="val 6092"/>
            </a:avLst>
          </a:prstGeom>
          <a:solidFill>
            <a:srgbClr val="F5F6F9"/>
          </a:solidFill>
          <a:ln/>
        </p:spPr>
      </p:sp>
      <p:sp>
        <p:nvSpPr>
          <p:cNvPr id="12" name="kw-hex"/>
          <p:cNvSpPr/>
          <p:nvPr/>
        </p:nvSpPr>
        <p:spPr>
          <a:xfrm>
            <a:off x="658368" y="2192360"/>
            <a:ext cx="411480" cy="356342"/>
          </a:xfrm>
          <a:prstGeom prst="hexagon">
            <a:avLst/>
          </a:prstGeom>
          <a:solidFill>
            <a:srgbClr val="2E4A8C"/>
          </a:solidFill>
          <a:ln/>
        </p:spPr>
      </p:sp>
      <p:sp>
        <p:nvSpPr>
          <p:cNvPr id="13" name="kw-cell"/>
          <p:cNvSpPr txBox="1"/>
          <p:nvPr/>
        </p:nvSpPr>
        <p:spPr>
          <a:xfrm>
            <a:off x="1143000" y="1920240"/>
            <a:ext cx="2331720" cy="900582"/>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formula</a:t>
            </a:r>
            <a:endParaRPr lang="en-US" sz="2400" dirty="0"/>
          </a:p>
        </p:txBody>
      </p:sp>
      <p:sp>
        <p:nvSpPr>
          <p:cNvPr id="14" name="kw-cell"/>
          <p:cNvSpPr txBox="1"/>
          <p:nvPr/>
        </p:nvSpPr>
        <p:spPr>
          <a:xfrm>
            <a:off x="3657600" y="1920240"/>
            <a:ext cx="3474720" cy="90058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rule written in words or letters</a:t>
            </a:r>
            <a:endParaRPr lang="en-US" sz="2200" dirty="0"/>
          </a:p>
        </p:txBody>
      </p:sp>
      <p:sp>
        <p:nvSpPr>
          <p:cNvPr id="15" name="kw-cell"/>
          <p:cNvSpPr txBox="1"/>
          <p:nvPr/>
        </p:nvSpPr>
        <p:spPr>
          <a:xfrm>
            <a:off x="7315200" y="1920240"/>
            <a:ext cx="4236415" cy="900582"/>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formula is distance = speed × time.</a:t>
            </a:r>
            <a:endParaRPr lang="en-US" sz="2200" dirty="0"/>
          </a:p>
        </p:txBody>
      </p:sp>
      <p:sp>
        <p:nvSpPr>
          <p:cNvPr id="16" name="kw-row"/>
          <p:cNvSpPr/>
          <p:nvPr/>
        </p:nvSpPr>
        <p:spPr>
          <a:xfrm>
            <a:off x="548640" y="2893974"/>
            <a:ext cx="11094415" cy="900582"/>
          </a:xfrm>
          <a:prstGeom prst="roundRect">
            <a:avLst>
              <a:gd name="adj" fmla="val 6092"/>
            </a:avLst>
          </a:prstGeom>
          <a:solidFill>
            <a:srgbClr val="F9F4EC"/>
          </a:solidFill>
          <a:ln/>
        </p:spPr>
      </p:sp>
      <p:sp>
        <p:nvSpPr>
          <p:cNvPr id="17" name="kw-hex"/>
          <p:cNvSpPr/>
          <p:nvPr/>
        </p:nvSpPr>
        <p:spPr>
          <a:xfrm>
            <a:off x="658368" y="3166095"/>
            <a:ext cx="411480" cy="356342"/>
          </a:xfrm>
          <a:prstGeom prst="hexagon">
            <a:avLst/>
          </a:prstGeom>
          <a:solidFill>
            <a:srgbClr val="B8862B"/>
          </a:solidFill>
          <a:ln/>
        </p:spPr>
      </p:sp>
      <p:sp>
        <p:nvSpPr>
          <p:cNvPr id="18" name="kw-cell"/>
          <p:cNvSpPr txBox="1"/>
          <p:nvPr/>
        </p:nvSpPr>
        <p:spPr>
          <a:xfrm>
            <a:off x="1143000" y="2893974"/>
            <a:ext cx="2331720" cy="900582"/>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rearrange</a:t>
            </a:r>
            <a:endParaRPr lang="en-US" sz="2400" dirty="0"/>
          </a:p>
        </p:txBody>
      </p:sp>
      <p:sp>
        <p:nvSpPr>
          <p:cNvPr id="19" name="kw-cell"/>
          <p:cNvSpPr txBox="1"/>
          <p:nvPr/>
        </p:nvSpPr>
        <p:spPr>
          <a:xfrm>
            <a:off x="3657600" y="2893974"/>
            <a:ext cx="3474720" cy="90058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change a formula round to find a different thing</a:t>
            </a:r>
            <a:endParaRPr lang="en-US" sz="2200" dirty="0"/>
          </a:p>
        </p:txBody>
      </p:sp>
      <p:sp>
        <p:nvSpPr>
          <p:cNvPr id="20" name="kw-cell"/>
          <p:cNvSpPr txBox="1"/>
          <p:nvPr/>
        </p:nvSpPr>
        <p:spPr>
          <a:xfrm>
            <a:off x="7315200" y="2893974"/>
            <a:ext cx="4236415" cy="900582"/>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Rearrange the formula to find the time.</a:t>
            </a:r>
            <a:endParaRPr lang="en-US" sz="2200" dirty="0"/>
          </a:p>
        </p:txBody>
      </p:sp>
      <p:sp>
        <p:nvSpPr>
          <p:cNvPr id="21" name="kw-row"/>
          <p:cNvSpPr/>
          <p:nvPr/>
        </p:nvSpPr>
        <p:spPr>
          <a:xfrm>
            <a:off x="548640" y="3867709"/>
            <a:ext cx="11094415" cy="615086"/>
          </a:xfrm>
          <a:prstGeom prst="roundRect">
            <a:avLst>
              <a:gd name="adj" fmla="val 8920"/>
            </a:avLst>
          </a:prstGeom>
          <a:solidFill>
            <a:srgbClr val="F5F6F9"/>
          </a:solidFill>
          <a:ln/>
        </p:spPr>
      </p:sp>
      <p:sp>
        <p:nvSpPr>
          <p:cNvPr id="22" name="kw-hex"/>
          <p:cNvSpPr/>
          <p:nvPr/>
        </p:nvSpPr>
        <p:spPr>
          <a:xfrm>
            <a:off x="658368" y="3997081"/>
            <a:ext cx="411480" cy="356342"/>
          </a:xfrm>
          <a:prstGeom prst="hexagon">
            <a:avLst/>
          </a:prstGeom>
          <a:solidFill>
            <a:srgbClr val="2E4A8C"/>
          </a:solidFill>
          <a:ln/>
        </p:spPr>
      </p:sp>
      <p:sp>
        <p:nvSpPr>
          <p:cNvPr id="23" name="kw-cell"/>
          <p:cNvSpPr txBox="1"/>
          <p:nvPr/>
        </p:nvSpPr>
        <p:spPr>
          <a:xfrm>
            <a:off x="1143000" y="3867709"/>
            <a:ext cx="2331720" cy="615086"/>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time taken</a:t>
            </a:r>
            <a:endParaRPr lang="en-US" sz="2400" dirty="0"/>
          </a:p>
        </p:txBody>
      </p:sp>
      <p:sp>
        <p:nvSpPr>
          <p:cNvPr id="24" name="kw-cell"/>
          <p:cNvSpPr txBox="1"/>
          <p:nvPr/>
        </p:nvSpPr>
        <p:spPr>
          <a:xfrm>
            <a:off x="3657600" y="3867709"/>
            <a:ext cx="3474720" cy="6150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long the journey lasts</a:t>
            </a:r>
            <a:endParaRPr lang="en-US" sz="2200" dirty="0"/>
          </a:p>
        </p:txBody>
      </p:sp>
      <p:sp>
        <p:nvSpPr>
          <p:cNvPr id="25" name="kw-cell"/>
          <p:cNvSpPr txBox="1"/>
          <p:nvPr/>
        </p:nvSpPr>
        <p:spPr>
          <a:xfrm>
            <a:off x="7315200" y="3867709"/>
            <a:ext cx="4236415" cy="615086"/>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time taken was 3 hours.</a:t>
            </a:r>
            <a:endParaRPr lang="en-US" sz="2200" dirty="0"/>
          </a:p>
        </p:txBody>
      </p:sp>
      <p:sp>
        <p:nvSpPr>
          <p:cNvPr id="26" name="kw-row"/>
          <p:cNvSpPr/>
          <p:nvPr/>
        </p:nvSpPr>
        <p:spPr>
          <a:xfrm>
            <a:off x="548640" y="4555947"/>
            <a:ext cx="11094415" cy="900582"/>
          </a:xfrm>
          <a:prstGeom prst="roundRect">
            <a:avLst>
              <a:gd name="adj" fmla="val 6092"/>
            </a:avLst>
          </a:prstGeom>
          <a:solidFill>
            <a:srgbClr val="F9F4EC"/>
          </a:solidFill>
          <a:ln/>
        </p:spPr>
      </p:sp>
      <p:sp>
        <p:nvSpPr>
          <p:cNvPr id="27" name="kw-hex"/>
          <p:cNvSpPr/>
          <p:nvPr/>
        </p:nvSpPr>
        <p:spPr>
          <a:xfrm>
            <a:off x="658368" y="4828068"/>
            <a:ext cx="411480" cy="356342"/>
          </a:xfrm>
          <a:prstGeom prst="hexagon">
            <a:avLst/>
          </a:prstGeom>
          <a:solidFill>
            <a:srgbClr val="B8862B"/>
          </a:solidFill>
          <a:ln/>
        </p:spPr>
      </p:sp>
      <p:sp>
        <p:nvSpPr>
          <p:cNvPr id="28" name="kw-cell"/>
          <p:cNvSpPr txBox="1"/>
          <p:nvPr/>
        </p:nvSpPr>
        <p:spPr>
          <a:xfrm>
            <a:off x="1143000" y="4555947"/>
            <a:ext cx="2331720" cy="900582"/>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per</a:t>
            </a:r>
            <a:endParaRPr lang="en-US" sz="2400" dirty="0"/>
          </a:p>
        </p:txBody>
      </p:sp>
      <p:sp>
        <p:nvSpPr>
          <p:cNvPr id="29" name="kw-cell"/>
          <p:cNvSpPr txBox="1"/>
          <p:nvPr/>
        </p:nvSpPr>
        <p:spPr>
          <a:xfrm>
            <a:off x="3657600" y="4555947"/>
            <a:ext cx="3474720" cy="90058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each</a:t>
            </a:r>
            <a:endParaRPr lang="en-US" sz="2200" dirty="0"/>
          </a:p>
        </p:txBody>
      </p:sp>
      <p:sp>
        <p:nvSpPr>
          <p:cNvPr id="30" name="kw-cell"/>
          <p:cNvSpPr txBox="1"/>
          <p:nvPr/>
        </p:nvSpPr>
        <p:spPr>
          <a:xfrm>
            <a:off x="7315200" y="4555947"/>
            <a:ext cx="4236415" cy="900582"/>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40 km per hour means 40 km for each hour.</a:t>
            </a:r>
            <a:endParaRPr lang="en-US" sz="2200" dirty="0"/>
          </a:p>
        </p:txBody>
      </p:sp>
      <p:sp>
        <p:nvSpPr>
          <p:cNvPr id="31" name="kw-row"/>
          <p:cNvSpPr/>
          <p:nvPr/>
        </p:nvSpPr>
        <p:spPr>
          <a:xfrm>
            <a:off x="548640" y="5529682"/>
            <a:ext cx="11094415" cy="615086"/>
          </a:xfrm>
          <a:prstGeom prst="roundRect">
            <a:avLst>
              <a:gd name="adj" fmla="val 8920"/>
            </a:avLst>
          </a:prstGeom>
          <a:solidFill>
            <a:srgbClr val="F5F6F9"/>
          </a:solidFill>
          <a:ln/>
        </p:spPr>
      </p:sp>
      <p:sp>
        <p:nvSpPr>
          <p:cNvPr id="32" name="kw-hex"/>
          <p:cNvSpPr/>
          <p:nvPr/>
        </p:nvSpPr>
        <p:spPr>
          <a:xfrm>
            <a:off x="658368" y="5659054"/>
            <a:ext cx="411480" cy="356342"/>
          </a:xfrm>
          <a:prstGeom prst="hexagon">
            <a:avLst/>
          </a:prstGeom>
          <a:solidFill>
            <a:srgbClr val="2E4A8C"/>
          </a:solidFill>
          <a:ln/>
        </p:spPr>
      </p:sp>
      <p:sp>
        <p:nvSpPr>
          <p:cNvPr id="33" name="kw-cell"/>
          <p:cNvSpPr txBox="1"/>
          <p:nvPr/>
        </p:nvSpPr>
        <p:spPr>
          <a:xfrm>
            <a:off x="1143000" y="5529682"/>
            <a:ext cx="2331720" cy="615086"/>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total</a:t>
            </a:r>
            <a:endParaRPr lang="en-US" sz="2400" dirty="0"/>
          </a:p>
        </p:txBody>
      </p:sp>
      <p:sp>
        <p:nvSpPr>
          <p:cNvPr id="34" name="kw-cell"/>
          <p:cNvSpPr txBox="1"/>
          <p:nvPr/>
        </p:nvSpPr>
        <p:spPr>
          <a:xfrm>
            <a:off x="3657600" y="5529682"/>
            <a:ext cx="3474720" cy="6150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everything added together</a:t>
            </a:r>
            <a:endParaRPr lang="en-US" sz="2200" dirty="0"/>
          </a:p>
        </p:txBody>
      </p:sp>
      <p:sp>
        <p:nvSpPr>
          <p:cNvPr id="35" name="kw-cell"/>
          <p:cNvSpPr txBox="1"/>
          <p:nvPr/>
        </p:nvSpPr>
        <p:spPr>
          <a:xfrm>
            <a:off x="7315200" y="5529682"/>
            <a:ext cx="4236415" cy="615086"/>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total distance was 27 km.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Speed, distance and time are linked.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you know two of them, you can find the third.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Speed = distance ÷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Distance = speed ×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Time = distance ÷ speed.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car goes at 40 km/h for 3 hours.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40 × 3 = 120, so it travels 120 km.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boat goes 100 km at 25 km/h.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100 ÷ 25 = 4, so it takes 4 hours.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Check that the units match before you multiply or divide.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Half an hour is 0.5 hours, not 0.3 hours.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For a journey in parts, work out each part and then add.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Finding the distance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Distance = speed × time. Time in hours for km/h and mph; time in seconds for m/s.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cyclist rides at 18 km/h for 2 hours 30 minutes. How far does she ride?</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Change the time to hours: 30 minutes is half an hour, so the time is 2.5 hours.</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Distance = speed × time = 18 × 2.5.</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18 × 2.5 = 45.</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45 km</a:t>
            </a:r>
            <a:endParaRPr lang="en-US" sz="1800" dirty="0"/>
          </a:p>
        </p:txBody>
      </p:sp>
      <p:sp>
        <p:nvSpPr>
          <p:cNvPr id="27" name="bullet-card"/>
          <p:cNvSpPr/>
          <p:nvPr/>
        </p:nvSpPr>
        <p:spPr>
          <a:xfrm>
            <a:off x="548640" y="1389888"/>
            <a:ext cx="5074920" cy="2141728"/>
          </a:xfrm>
          <a:prstGeom prst="roundRect">
            <a:avLst>
              <a:gd name="adj" fmla="val 3416"/>
            </a:avLst>
          </a:prstGeom>
          <a:solidFill>
            <a:srgbClr val="F5F6F9"/>
          </a:solidFill>
          <a:ln/>
        </p:spPr>
      </p:sp>
      <p:sp>
        <p:nvSpPr>
          <p:cNvPr id="28" name="bullet-hex"/>
          <p:cNvSpPr/>
          <p:nvPr/>
        </p:nvSpPr>
        <p:spPr>
          <a:xfrm>
            <a:off x="676656" y="2294459"/>
            <a:ext cx="384048" cy="332586"/>
          </a:xfrm>
          <a:prstGeom prst="hexagon">
            <a:avLst/>
          </a:prstGeom>
          <a:solidFill>
            <a:srgbClr val="2E4A8C"/>
          </a:solidFill>
          <a:ln/>
        </p:spPr>
      </p:sp>
      <p:sp>
        <p:nvSpPr>
          <p:cNvPr id="29" name="bullet"/>
          <p:cNvSpPr txBox="1"/>
          <p:nvPr/>
        </p:nvSpPr>
        <p:spPr>
          <a:xfrm>
            <a:off x="1143000" y="1389888"/>
            <a:ext cx="4389120" cy="214172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units of speed tell you the formula. Kilometres per hour means kilometres for each hour, so a car at 45 km/h covers 45 km in every hour.</a:t>
            </a:r>
            <a:endParaRPr lang="en-US" sz="2200" dirty="0"/>
          </a:p>
        </p:txBody>
      </p:sp>
      <p:sp>
        <p:nvSpPr>
          <p:cNvPr id="30" name="bullet-card"/>
          <p:cNvSpPr/>
          <p:nvPr/>
        </p:nvSpPr>
        <p:spPr>
          <a:xfrm>
            <a:off x="548640" y="3677920"/>
            <a:ext cx="5074920" cy="1119124"/>
          </a:xfrm>
          <a:prstGeom prst="roundRect">
            <a:avLst>
              <a:gd name="adj" fmla="val 6537"/>
            </a:avLst>
          </a:prstGeom>
          <a:solidFill>
            <a:srgbClr val="F5F6F9"/>
          </a:solidFill>
          <a:ln/>
        </p:spPr>
      </p:sp>
      <p:sp>
        <p:nvSpPr>
          <p:cNvPr id="31" name="bullet-hex"/>
          <p:cNvSpPr/>
          <p:nvPr/>
        </p:nvSpPr>
        <p:spPr>
          <a:xfrm>
            <a:off x="676656" y="4071189"/>
            <a:ext cx="384048" cy="332586"/>
          </a:xfrm>
          <a:prstGeom prst="hexagon">
            <a:avLst/>
          </a:prstGeom>
          <a:solidFill>
            <a:srgbClr val="B8862B"/>
          </a:solidFill>
          <a:ln/>
        </p:spPr>
      </p:sp>
      <p:sp>
        <p:nvSpPr>
          <p:cNvPr id="32" name="bullet"/>
          <p:cNvSpPr txBox="1"/>
          <p:nvPr/>
        </p:nvSpPr>
        <p:spPr>
          <a:xfrm>
            <a:off x="1143000" y="3677920"/>
            <a:ext cx="4389120" cy="11191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time has minutes in it, change it to hours first.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Finding the time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Time = distance ÷ speed. Change a decimal answer back into hours and minutes to make sense of it.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ferry travels 84 km at 24 km/h. How long does the crossing take?</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Time = distance ÷ speed = 84 ÷ 24.</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84 ÷ 24 = 3.5.</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3.5 hours is 3 hours 30 minutes.</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3.5 hours</a:t>
            </a:r>
            <a:endParaRPr lang="en-US" sz="1800" dirty="0"/>
          </a:p>
        </p:txBody>
      </p:sp>
      <p:sp>
        <p:nvSpPr>
          <p:cNvPr id="27" name="bullet-card"/>
          <p:cNvSpPr/>
          <p:nvPr/>
        </p:nvSpPr>
        <p:spPr>
          <a:xfrm>
            <a:off x="548640" y="1389888"/>
            <a:ext cx="5074920" cy="1038183"/>
          </a:xfrm>
          <a:prstGeom prst="roundRect">
            <a:avLst>
              <a:gd name="adj" fmla="val 7046"/>
            </a:avLst>
          </a:prstGeom>
          <a:solidFill>
            <a:srgbClr val="F5F6F9"/>
          </a:solidFill>
          <a:ln/>
        </p:spPr>
      </p:sp>
      <p:sp>
        <p:nvSpPr>
          <p:cNvPr id="28" name="bullet-hex"/>
          <p:cNvSpPr/>
          <p:nvPr/>
        </p:nvSpPr>
        <p:spPr>
          <a:xfrm>
            <a:off x="676656" y="1742687"/>
            <a:ext cx="384048" cy="332586"/>
          </a:xfrm>
          <a:prstGeom prst="hexagon">
            <a:avLst/>
          </a:prstGeom>
          <a:solidFill>
            <a:srgbClr val="2E4A8C"/>
          </a:solidFill>
          <a:ln/>
        </p:spPr>
      </p:sp>
      <p:sp>
        <p:nvSpPr>
          <p:cNvPr id="29" name="bullet"/>
          <p:cNvSpPr txBox="1"/>
          <p:nvPr/>
        </p:nvSpPr>
        <p:spPr>
          <a:xfrm>
            <a:off x="1143000" y="1389888"/>
            <a:ext cx="4389120" cy="103818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a car travels at 45 km/h, every 45 km takes one hour.</a:t>
            </a:r>
            <a:endParaRPr lang="en-US" sz="2200" dirty="0"/>
          </a:p>
        </p:txBody>
      </p:sp>
      <p:sp>
        <p:nvSpPr>
          <p:cNvPr id="30" name="bullet-card"/>
          <p:cNvSpPr/>
          <p:nvPr/>
        </p:nvSpPr>
        <p:spPr>
          <a:xfrm>
            <a:off x="548640" y="2574375"/>
            <a:ext cx="5074920" cy="1038183"/>
          </a:xfrm>
          <a:prstGeom prst="roundRect">
            <a:avLst>
              <a:gd name="adj" fmla="val 7046"/>
            </a:avLst>
          </a:prstGeom>
          <a:solidFill>
            <a:srgbClr val="F5F6F9"/>
          </a:solidFill>
          <a:ln/>
        </p:spPr>
      </p:sp>
      <p:sp>
        <p:nvSpPr>
          <p:cNvPr id="31" name="bullet-hex"/>
          <p:cNvSpPr/>
          <p:nvPr/>
        </p:nvSpPr>
        <p:spPr>
          <a:xfrm>
            <a:off x="676656" y="2927173"/>
            <a:ext cx="384048" cy="332586"/>
          </a:xfrm>
          <a:prstGeom prst="hexagon">
            <a:avLst/>
          </a:prstGeom>
          <a:solidFill>
            <a:srgbClr val="B8862B"/>
          </a:solidFill>
          <a:ln/>
        </p:spPr>
      </p:sp>
      <p:sp>
        <p:nvSpPr>
          <p:cNvPr id="32" name="bullet"/>
          <p:cNvSpPr txBox="1"/>
          <p:nvPr/>
        </p:nvSpPr>
        <p:spPr>
          <a:xfrm>
            <a:off x="1143000" y="2574375"/>
            <a:ext cx="4389120" cy="103818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answer may not be a whole number of hours.</a:t>
            </a:r>
            <a:endParaRPr lang="en-US" sz="2200" dirty="0"/>
          </a:p>
        </p:txBody>
      </p:sp>
      <p:sp>
        <p:nvSpPr>
          <p:cNvPr id="33" name="bullet-card"/>
          <p:cNvSpPr/>
          <p:nvPr/>
        </p:nvSpPr>
        <p:spPr>
          <a:xfrm>
            <a:off x="548640" y="3758861"/>
            <a:ext cx="5074920" cy="1038183"/>
          </a:xfrm>
          <a:prstGeom prst="roundRect">
            <a:avLst>
              <a:gd name="adj" fmla="val 7046"/>
            </a:avLst>
          </a:prstGeom>
          <a:solidFill>
            <a:srgbClr val="F5F6F9"/>
          </a:solidFill>
          <a:ln/>
        </p:spPr>
      </p:sp>
      <p:sp>
        <p:nvSpPr>
          <p:cNvPr id="34" name="bullet-hex"/>
          <p:cNvSpPr/>
          <p:nvPr/>
        </p:nvSpPr>
        <p:spPr>
          <a:xfrm>
            <a:off x="676656" y="4111660"/>
            <a:ext cx="384048" cy="332586"/>
          </a:xfrm>
          <a:prstGeom prst="hexagon">
            <a:avLst/>
          </a:prstGeom>
          <a:solidFill>
            <a:srgbClr val="2E4A8C"/>
          </a:solidFill>
          <a:ln/>
        </p:spPr>
      </p:sp>
      <p:sp>
        <p:nvSpPr>
          <p:cNvPr id="35" name="bullet"/>
          <p:cNvSpPr txBox="1"/>
          <p:nvPr/>
        </p:nvSpPr>
        <p:spPr>
          <a:xfrm>
            <a:off x="1143000" y="3758861"/>
            <a:ext cx="4389120" cy="103818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speeds in m/s the time comes out in seconds.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Let the units choose the formula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Say what you are finding first: distance, speed or time.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cat runs at 6 m/s. How far does it run in 1 minute 10 seconds?</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speed is in metres per second, so the time must be in seconds: 60 + 10 = 70 seconds.</a:t>
            </a:r>
            <a:endParaRPr lang="en-US" sz="1800" dirty="0"/>
          </a:p>
        </p:txBody>
      </p:sp>
      <p:sp>
        <p:nvSpPr>
          <p:cNvPr id="18" name="step-box"/>
          <p:cNvSpPr/>
          <p:nvPr/>
        </p:nvSpPr>
        <p:spPr>
          <a:xfrm>
            <a:off x="6126480" y="3774440"/>
            <a:ext cx="5379415" cy="794512"/>
          </a:xfrm>
          <a:prstGeom prst="roundRect">
            <a:avLst>
              <a:gd name="adj" fmla="val 11509"/>
            </a:avLst>
          </a:prstGeom>
          <a:solidFill>
            <a:srgbClr val="F0F2F7"/>
          </a:solidFill>
          <a:ln/>
        </p:spPr>
      </p:sp>
      <p:sp>
        <p:nvSpPr>
          <p:cNvPr id="19" name="step-hex"/>
          <p:cNvSpPr/>
          <p:nvPr/>
        </p:nvSpPr>
        <p:spPr>
          <a:xfrm>
            <a:off x="6217920" y="3989566"/>
            <a:ext cx="420624" cy="364260"/>
          </a:xfrm>
          <a:prstGeom prst="hexagon">
            <a:avLst/>
          </a:prstGeom>
          <a:solidFill>
            <a:srgbClr val="2E4A8C"/>
          </a:solidFill>
          <a:ln/>
        </p:spPr>
      </p:sp>
      <p:sp>
        <p:nvSpPr>
          <p:cNvPr id="20" name="step-hex-label"/>
          <p:cNvSpPr txBox="1"/>
          <p:nvPr/>
        </p:nvSpPr>
        <p:spPr>
          <a:xfrm>
            <a:off x="6217920" y="39895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We are finding a distance, so distance = speed × time.</a:t>
            </a:r>
            <a:endParaRPr lang="en-US" sz="1800" dirty="0"/>
          </a:p>
        </p:txBody>
      </p:sp>
      <p:sp>
        <p:nvSpPr>
          <p:cNvPr id="22" name="step-box"/>
          <p:cNvSpPr/>
          <p:nvPr/>
        </p:nvSpPr>
        <p:spPr>
          <a:xfrm>
            <a:off x="6126480" y="4660392"/>
            <a:ext cx="5379415" cy="566928"/>
          </a:xfrm>
          <a:prstGeom prst="roundRect">
            <a:avLst>
              <a:gd name="adj" fmla="val 16129"/>
            </a:avLst>
          </a:prstGeom>
          <a:solidFill>
            <a:srgbClr val="F0F2F7"/>
          </a:solidFill>
          <a:ln/>
        </p:spPr>
      </p:sp>
      <p:sp>
        <p:nvSpPr>
          <p:cNvPr id="23" name="step-hex"/>
          <p:cNvSpPr/>
          <p:nvPr/>
        </p:nvSpPr>
        <p:spPr>
          <a:xfrm>
            <a:off x="6217920" y="4761726"/>
            <a:ext cx="420624" cy="364260"/>
          </a:xfrm>
          <a:prstGeom prst="hexagon">
            <a:avLst/>
          </a:prstGeom>
          <a:solidFill>
            <a:srgbClr val="2E4A8C"/>
          </a:solidFill>
          <a:ln/>
        </p:spPr>
      </p:sp>
      <p:sp>
        <p:nvSpPr>
          <p:cNvPr id="24" name="step-hex-label"/>
          <p:cNvSpPr txBox="1"/>
          <p:nvPr/>
        </p:nvSpPr>
        <p:spPr>
          <a:xfrm>
            <a:off x="6217920" y="47617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6039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 × 70 = 420.</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420 m</a:t>
            </a:r>
            <a:endParaRPr lang="en-US" sz="1800" dirty="0"/>
          </a:p>
        </p:txBody>
      </p:sp>
      <p:sp>
        <p:nvSpPr>
          <p:cNvPr id="27" name="bullet-card"/>
          <p:cNvSpPr/>
          <p:nvPr/>
        </p:nvSpPr>
        <p:spPr>
          <a:xfrm>
            <a:off x="548640" y="1389888"/>
            <a:ext cx="5074920" cy="1337733"/>
          </a:xfrm>
          <a:prstGeom prst="roundRect">
            <a:avLst>
              <a:gd name="adj" fmla="val 5468"/>
            </a:avLst>
          </a:prstGeom>
          <a:solidFill>
            <a:srgbClr val="F5F6F9"/>
          </a:solidFill>
          <a:ln/>
        </p:spPr>
      </p:sp>
      <p:sp>
        <p:nvSpPr>
          <p:cNvPr id="28" name="bullet-hex"/>
          <p:cNvSpPr/>
          <p:nvPr/>
        </p:nvSpPr>
        <p:spPr>
          <a:xfrm>
            <a:off x="676656" y="1892462"/>
            <a:ext cx="384048" cy="332586"/>
          </a:xfrm>
          <a:prstGeom prst="hexagon">
            <a:avLst/>
          </a:prstGeom>
          <a:solidFill>
            <a:srgbClr val="2E4A8C"/>
          </a:solidFill>
          <a:ln/>
        </p:spPr>
      </p:sp>
      <p:sp>
        <p:nvSpPr>
          <p:cNvPr id="29" name="bullet"/>
          <p:cNvSpPr txBox="1"/>
          <p:nvPr/>
        </p:nvSpPr>
        <p:spPr>
          <a:xfrm>
            <a:off x="1143000" y="1389888"/>
            <a:ext cx="4389120" cy="133773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 do not need to memorise three separate formulas. Start from speed = distance ÷ time and read the units.</a:t>
            </a:r>
            <a:endParaRPr lang="en-US" sz="2000" dirty="0"/>
          </a:p>
        </p:txBody>
      </p:sp>
      <p:sp>
        <p:nvSpPr>
          <p:cNvPr id="30" name="bullet-card"/>
          <p:cNvSpPr/>
          <p:nvPr/>
        </p:nvSpPr>
        <p:spPr>
          <a:xfrm>
            <a:off x="548640" y="2873925"/>
            <a:ext cx="5074920" cy="1027853"/>
          </a:xfrm>
          <a:prstGeom prst="roundRect">
            <a:avLst>
              <a:gd name="adj" fmla="val 7117"/>
            </a:avLst>
          </a:prstGeom>
          <a:solidFill>
            <a:srgbClr val="F5F6F9"/>
          </a:solidFill>
          <a:ln/>
        </p:spPr>
      </p:sp>
      <p:sp>
        <p:nvSpPr>
          <p:cNvPr id="31" name="bullet-hex"/>
          <p:cNvSpPr/>
          <p:nvPr/>
        </p:nvSpPr>
        <p:spPr>
          <a:xfrm>
            <a:off x="676656" y="3221559"/>
            <a:ext cx="384048" cy="332586"/>
          </a:xfrm>
          <a:prstGeom prst="hexagon">
            <a:avLst/>
          </a:prstGeom>
          <a:solidFill>
            <a:srgbClr val="B8862B"/>
          </a:solidFill>
          <a:ln/>
        </p:spPr>
      </p:sp>
      <p:sp>
        <p:nvSpPr>
          <p:cNvPr id="32" name="bullet"/>
          <p:cNvSpPr txBox="1"/>
          <p:nvPr/>
        </p:nvSpPr>
        <p:spPr>
          <a:xfrm>
            <a:off x="1143000" y="2873925"/>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find the time, ask how many lots of the speed make up the distance.</a:t>
            </a:r>
            <a:endParaRPr lang="en-US" sz="2000" dirty="0"/>
          </a:p>
        </p:txBody>
      </p:sp>
      <p:sp>
        <p:nvSpPr>
          <p:cNvPr id="33" name="bullet-card"/>
          <p:cNvSpPr/>
          <p:nvPr/>
        </p:nvSpPr>
        <p:spPr>
          <a:xfrm>
            <a:off x="548640" y="4048083"/>
            <a:ext cx="5074920" cy="1027853"/>
          </a:xfrm>
          <a:prstGeom prst="roundRect">
            <a:avLst>
              <a:gd name="adj" fmla="val 7117"/>
            </a:avLst>
          </a:prstGeom>
          <a:solidFill>
            <a:srgbClr val="F5F6F9"/>
          </a:solidFill>
          <a:ln/>
        </p:spPr>
      </p:sp>
      <p:sp>
        <p:nvSpPr>
          <p:cNvPr id="34" name="bullet-hex"/>
          <p:cNvSpPr/>
          <p:nvPr/>
        </p:nvSpPr>
        <p:spPr>
          <a:xfrm>
            <a:off x="676656" y="4395717"/>
            <a:ext cx="384048" cy="332586"/>
          </a:xfrm>
          <a:prstGeom prst="hexagon">
            <a:avLst/>
          </a:prstGeom>
          <a:solidFill>
            <a:srgbClr val="2E4A8C"/>
          </a:solidFill>
          <a:ln/>
        </p:spPr>
      </p:sp>
      <p:sp>
        <p:nvSpPr>
          <p:cNvPr id="35" name="bullet"/>
          <p:cNvSpPr txBox="1"/>
          <p:nvPr/>
        </p:nvSpPr>
        <p:spPr>
          <a:xfrm>
            <a:off x="1143000" y="4048083"/>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Before you calculate, name what you are finding: distance, speed or time.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Journeys in more than one part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Work out each part of the journey on its own line, then add.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Mo walks for 45 minutes at 4 mph, then runs for 30 minutes at 8 mph. How far does he go in total?</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Walking: 45 minutes is 0.75 of an hour, so 4 × 0.75 = 3 miles.</a:t>
            </a:r>
            <a:endParaRPr lang="en-US" sz="1800" dirty="0"/>
          </a:p>
        </p:txBody>
      </p:sp>
      <p:sp>
        <p:nvSpPr>
          <p:cNvPr id="18" name="step-box"/>
          <p:cNvSpPr/>
          <p:nvPr/>
        </p:nvSpPr>
        <p:spPr>
          <a:xfrm>
            <a:off x="6126480" y="3774440"/>
            <a:ext cx="5379415" cy="794512"/>
          </a:xfrm>
          <a:prstGeom prst="roundRect">
            <a:avLst>
              <a:gd name="adj" fmla="val 11509"/>
            </a:avLst>
          </a:prstGeom>
          <a:solidFill>
            <a:srgbClr val="F0F2F7"/>
          </a:solidFill>
          <a:ln/>
        </p:spPr>
      </p:sp>
      <p:sp>
        <p:nvSpPr>
          <p:cNvPr id="19" name="step-hex"/>
          <p:cNvSpPr/>
          <p:nvPr/>
        </p:nvSpPr>
        <p:spPr>
          <a:xfrm>
            <a:off x="6217920" y="3989566"/>
            <a:ext cx="420624" cy="364260"/>
          </a:xfrm>
          <a:prstGeom prst="hexagon">
            <a:avLst/>
          </a:prstGeom>
          <a:solidFill>
            <a:srgbClr val="2E4A8C"/>
          </a:solidFill>
          <a:ln/>
        </p:spPr>
      </p:sp>
      <p:sp>
        <p:nvSpPr>
          <p:cNvPr id="20" name="step-hex-label"/>
          <p:cNvSpPr txBox="1"/>
          <p:nvPr/>
        </p:nvSpPr>
        <p:spPr>
          <a:xfrm>
            <a:off x="6217920" y="39895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Running: 30 minutes is 0.5 of an hour, so 8 × 0.5 = 4 miles.</a:t>
            </a:r>
            <a:endParaRPr lang="en-US" sz="1800" dirty="0"/>
          </a:p>
        </p:txBody>
      </p:sp>
      <p:sp>
        <p:nvSpPr>
          <p:cNvPr id="22" name="step-box"/>
          <p:cNvSpPr/>
          <p:nvPr/>
        </p:nvSpPr>
        <p:spPr>
          <a:xfrm>
            <a:off x="6126480" y="4660392"/>
            <a:ext cx="5379415" cy="566928"/>
          </a:xfrm>
          <a:prstGeom prst="roundRect">
            <a:avLst>
              <a:gd name="adj" fmla="val 16129"/>
            </a:avLst>
          </a:prstGeom>
          <a:solidFill>
            <a:srgbClr val="F0F2F7"/>
          </a:solidFill>
          <a:ln/>
        </p:spPr>
      </p:sp>
      <p:sp>
        <p:nvSpPr>
          <p:cNvPr id="23" name="step-hex"/>
          <p:cNvSpPr/>
          <p:nvPr/>
        </p:nvSpPr>
        <p:spPr>
          <a:xfrm>
            <a:off x="6217920" y="4761726"/>
            <a:ext cx="420624" cy="364260"/>
          </a:xfrm>
          <a:prstGeom prst="hexagon">
            <a:avLst/>
          </a:prstGeom>
          <a:solidFill>
            <a:srgbClr val="2E4A8C"/>
          </a:solidFill>
          <a:ln/>
        </p:spPr>
      </p:sp>
      <p:sp>
        <p:nvSpPr>
          <p:cNvPr id="24" name="step-hex-label"/>
          <p:cNvSpPr txBox="1"/>
          <p:nvPr/>
        </p:nvSpPr>
        <p:spPr>
          <a:xfrm>
            <a:off x="6217920" y="47617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6039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parts: 3 + 4 = 7.</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7 miles</a:t>
            </a:r>
            <a:endParaRPr lang="en-US" sz="1800" dirty="0"/>
          </a:p>
        </p:txBody>
      </p:sp>
      <p:sp>
        <p:nvSpPr>
          <p:cNvPr id="27" name="bullet-card"/>
          <p:cNvSpPr/>
          <p:nvPr/>
        </p:nvSpPr>
        <p:spPr>
          <a:xfrm>
            <a:off x="548640" y="1389888"/>
            <a:ext cx="5074920" cy="1017524"/>
          </a:xfrm>
          <a:prstGeom prst="roundRect">
            <a:avLst>
              <a:gd name="adj" fmla="val 7189"/>
            </a:avLst>
          </a:prstGeom>
          <a:solidFill>
            <a:srgbClr val="F5F6F9"/>
          </a:solidFill>
          <a:ln/>
        </p:spPr>
      </p:sp>
      <p:sp>
        <p:nvSpPr>
          <p:cNvPr id="28" name="bullet-hex"/>
          <p:cNvSpPr/>
          <p:nvPr/>
        </p:nvSpPr>
        <p:spPr>
          <a:xfrm>
            <a:off x="676656" y="1732357"/>
            <a:ext cx="384048" cy="332586"/>
          </a:xfrm>
          <a:prstGeom prst="hexagon">
            <a:avLst/>
          </a:prstGeom>
          <a:solidFill>
            <a:srgbClr val="2E4A8C"/>
          </a:solidFill>
          <a:ln/>
        </p:spPr>
      </p:sp>
      <p:sp>
        <p:nvSpPr>
          <p:cNvPr id="29" name="bullet"/>
          <p:cNvSpPr txBox="1"/>
          <p:nvPr/>
        </p:nvSpPr>
        <p:spPr>
          <a:xfrm>
            <a:off x="1143000" y="1389888"/>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 journeys have two or more parts at different speeds.</a:t>
            </a:r>
            <a:endParaRPr lang="en-US" sz="2200" dirty="0"/>
          </a:p>
        </p:txBody>
      </p:sp>
      <p:sp>
        <p:nvSpPr>
          <p:cNvPr id="30" name="bullet-card"/>
          <p:cNvSpPr/>
          <p:nvPr/>
        </p:nvSpPr>
        <p:spPr>
          <a:xfrm>
            <a:off x="548640" y="2553716"/>
            <a:ext cx="5074920" cy="1358392"/>
          </a:xfrm>
          <a:prstGeom prst="roundRect">
            <a:avLst>
              <a:gd name="adj" fmla="val 5385"/>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553716"/>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Suppose Mo walks for 45 minutes at 4 mph, then runs for 30 minutes at 8 mph.</a:t>
            </a:r>
            <a:endParaRPr lang="en-US" sz="2200" dirty="0"/>
          </a:p>
        </p:txBody>
      </p:sp>
      <p:sp>
        <p:nvSpPr>
          <p:cNvPr id="33" name="bullet-card"/>
          <p:cNvSpPr/>
          <p:nvPr/>
        </p:nvSpPr>
        <p:spPr>
          <a:xfrm>
            <a:off x="548640" y="4058412"/>
            <a:ext cx="5074920" cy="1017524"/>
          </a:xfrm>
          <a:prstGeom prst="roundRect">
            <a:avLst>
              <a:gd name="adj" fmla="val 7189"/>
            </a:avLst>
          </a:prstGeom>
          <a:solidFill>
            <a:srgbClr val="F5F6F9"/>
          </a:solidFill>
          <a:ln/>
        </p:spPr>
      </p:sp>
      <p:sp>
        <p:nvSpPr>
          <p:cNvPr id="34" name="bullet-hex"/>
          <p:cNvSpPr/>
          <p:nvPr/>
        </p:nvSpPr>
        <p:spPr>
          <a:xfrm>
            <a:off x="676656" y="4400881"/>
            <a:ext cx="384048" cy="332586"/>
          </a:xfrm>
          <a:prstGeom prst="hexagon">
            <a:avLst/>
          </a:prstGeom>
          <a:solidFill>
            <a:srgbClr val="2E4A8C"/>
          </a:solidFill>
          <a:ln/>
        </p:spPr>
      </p:sp>
      <p:sp>
        <p:nvSpPr>
          <p:cNvPr id="35"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total time is found the same way, by adding the parts.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Distance when the time is in minutes</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car travels at 54 km/h for 40 minutes. How far does it travel, in km?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km</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Change the minutes into a fraction of an hour: minutes ÷ 60.</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are finding a distance, so multiply the speed by the time in hours.</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less than an hour should give less than the speed.</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40 minutes is two thirds of an hour. What is two thirds of 54?</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How many minutes would the car need to travel exactly 54 km, and how many to travel 81 km? Explain what happens to the distance when you double the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Same task, three ways in: Time when the speed is known</a:t>
            </a:r>
            <a:endParaRPr lang="en-US" sz="26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plane flies 2400 km at an average speed of 800 km/h. How long does the flight take, in hours?</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hours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distance and the speed.</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are finding a time, so divide the distance by the speed.</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speed is per hour, so the answer is in hours.</a:t>
            </a:r>
            <a:endParaRPr lang="en-US" sz="18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lots of 800 km make 2400 km?</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plane takes off at 09:40. A strong headwind cuts its average speed to 600 km/h. What time does it land? Explain why the flight is longer.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Whitney cycles for 1 hour 30 minutes at 16 km/h, then walks for 30 minutes at 6 km/h. How far does she travel in total, in km?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 (km):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Distance when the time is in minutes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car travels at 54 km/h for 40 minutes. How far does it travel, in km?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36 km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40 minutes is 40 ÷ 60, which is two thirds of an hour. Distance = 54 × two thirds = 36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Time when the speed is known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plane flies 2400 km at an average speed of 800 km/h. How long does the flight take, in hours?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hours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Time = distance ÷ speed = 2400 ÷ 800 = 3 hours.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Whitney cycles for 1 hour 30 minutes at 16 km/h, then walks for 30 minutes at 6 km/h. How far does she travel in total, in km?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27 km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Cycling: 1.5 hours at 16 km/h is 16 × 1.5 = 24 km. Walking: 0.5 hours at 6 km/h is 6 × 0.5 = 3 km. Total 24 + 3 = 27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 Distance and Time · Chapter 4: Finding distance and time</dc:title>
  <dc:subject>Mathematics · Year 7</dc:subject>
  <dc:creator>Dr Vitor Merissi de Carvalho</dc:creator>
  <cp:lastModifiedBy>Dr Vitor Merissi de Carvalho</cp:lastModifiedBy>
  <cp:revision>1</cp:revision>
  <dcterms:created xsi:type="dcterms:W3CDTF">2026-10-19T06:08:13Z</dcterms:created>
  <dcterms:modified xsi:type="dcterms:W3CDTF">2026-10-19T06:08:13Z</dcterms:modified>
</cp:coreProperties>
</file>