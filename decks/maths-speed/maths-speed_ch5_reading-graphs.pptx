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2d1ecec-8d16-384e-c3be-d90d4e346240}">
          <p14:sldIdLst>
            <p14:sldId id="256"/>
          </p14:sldIdLst>
        </p14:section>
        <p14:section name="Gate" id="{3db10f87-1383-f57f-184b-c9d0cefd1d30}">
          <p14:sldIdLst>
            <p14:sldId id="257"/>
            <p14:sldId id="258"/>
          </p14:sldIdLst>
        </p14:section>
        <p14:section name="Pre-teach" id="{8349cb15-e6e1-b8ba-eb61-02a5e9651cc9}">
          <p14:sldIdLst>
            <p14:sldId id="259"/>
            <p14:sldId id="260"/>
          </p14:sldIdLst>
        </p14:section>
        <p14:section name="Read-along" id="{8785fa15-be4f-f56e-f454-78ebfdea8f70}">
          <p14:sldIdLst>
            <p14:sldId id="261"/>
          </p14:sldIdLst>
        </p14:section>
        <p14:section name="Teach" id="{386019b7-250f-54cc-781b-2ea37b2e3530}">
          <p14:sldIdLst>
            <p14:sldId id="262"/>
            <p14:sldId id="263"/>
            <p14:sldId id="264"/>
            <p14:sldId id="265"/>
            <p14:sldId id="266"/>
            <p14:sldId id="267"/>
          </p14:sldIdLst>
        </p14:section>
        <p14:section name="Routes" id="{76f93f2f-efc3-fc66-313b-4f636454db93}">
          <p14:sldIdLst>
            <p14:sldId id="268"/>
            <p14:sldId id="269"/>
            <p14:sldId id="270"/>
          </p14:sldIdLst>
        </p14:section>
        <p14:section name="Close" id="{ed605d84-97d6-7fd6-da48-1b28b079e50d}">
          <p14:sldIdLst>
            <p14:sldId id="271"/>
          </p14:sldIdLst>
        </p14:section>
        <p14:section name="Answers" id="{672ec177-771c-9dfa-45d9-a8d9166a5ce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Reading distance–time graphs. Tell the story of a journey from a distance–time graph: when someone moved, stopped and came home.
This deck covers the department's lesson: 7 (Interpret distance–time graphs: What does a distance–time graph tell us about a journey?).
Read the big question aloud: "How do we measure time and movement, and how do speed, distance and time fit together?"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On a distance–time graph, what does a horizontal line show?  →  B   stationary, not moving
2. Dora's graph rises from 0 m to 1200 m between 0 and 15 minutes, stays flat until 24 minutes, then rises to 2000 m at 40 minutes. For how many minutes was Dora stationary?  →  9 minutes
3. Which axis shows time on a distance–time graph?  →  A   the horizontal axis, along the bottom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stationary, not moving. On a horizontal line time passes but the distance stays the same, so the person is stationary.
2. 9 minutes. The flat part of the graph runs from 15 minutes to 24 minutes. 24 − 15 = 9 minutes.
3. A   the horizontal axis, along the bottom. Time runs along the horizontal axis, so the graph reads like a story from left to right.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distance–time graph: a graph that shows a journey, with time along the bottom and distance up the side. Example: "The distance–time graph shows Whitney's walk to school."
• axis: one of the two lines with numbers on a graph. Example: "The time axis runs along the bottom."
• horizontal: flat, going straight across. Example: "A horizontal line means the distance is not changing."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stationary: not moving. Example: "Ron was stationary while he waited for the bus."
• return journey: a journey there and back again. Example: "On a return journey the line comes back down to zero."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A distance–time graph tells the story of a journey.
2. Time goes along the bottom.
3. Distance goes up the side.
4. A sloping line means the person is moving.
5. A flat, horizontal line means they have stopped.
6. The distance is not changing, so they are stationary.
7. A line that comes back down to zero shows a return home.
8. The graph does not show hills.
9. Up on the graph means further away, not uphill.
10. Read the scale carefully on both axes.
11. One square might be 10 minutes or 5 km.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axes and the story. Say it in your own words, then check understanding with a quick question: ask a pupil from the pre-teach group first, since they met these words and ideas before the lesson. Pupils try to recall before you re-explain.
A distance–time graph has time along the horizontal axis and distance up the vertical axis. Each point on the line answers the question: at this time, how far from the start was the person? Reading the graph from left to right tells the journey in order.
Here is a graph described in words. Eva's walk to school starts at (0 minutes, 0 m). The line rises steadily to (12 minutes, 800 m). It then runs flat to (20 minutes, 800 m). Finally it rises again to (35 minutes, 1400 m).
So Eva walked 800 m in the first 12 minutes. From 12 minutes to 20 minutes her distance stayed at 800 m: she had stopped, perhaps waiting for a friend. Then she walked the last 600 m, because 1400 − 800 = 600, and reached school after 35 minutes.
Worked example — model it step by step, thinking aloud: Eva's graph rises to 800 m at 12 minutes, is flat until 20 minutes, then rises to 1400 m at 35 minutes. For how many minutes was she waiting, and how far did she walk in total? (1) The flat part runs from 12 minutes to 20 minutes. (2) 20 − 12 = 8, so she waited for 8 minutes. (3) The line finishes at 1400 m, and she never came back, so she walked 1400 m in total. Answer: 8 minutes, 1400 m.
Tip: Read the graph left to right and say what happened in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axes and the story. Say it in your own words, then check understanding with a quick question: ask a pupil from the pre-teach group first, since they met these words and ideas before the lesson. Pupils try to recall before you re-explain.
A distance–time graph has time along the horizontal axis and distance up the vertical axis. Each point on the line answers the question: at this time, how far from the start was the person? Reading the graph from left to right tells the journey in order.
Here is a graph described in words. Eva's walk to school starts at (0 minutes, 0 m). The line rises steadily to (12 minutes, 800 m). It then runs flat to (20 minutes, 800 m). Finally it rises again to (35 minutes, 1400 m).
So Eva walked 800 m in the first 12 minutes. From 12 minutes to 20 minutes her distance stayed at 800 m: she had stopped, perhaps waiting for a friend. Then she walked the last 600 m, because 1400 − 800 = 600, and reached school after 35 minutes.
Worked example — model it step by step, thinking aloud: Eva's graph rises to 800 m at 12 minutes, is flat until 20 minutes, then rises to 1400 m at 35 minutes. For how many minutes was she waiting, and how far did she walk in total? (1) The flat part runs from 12 minutes to 20 minutes. (2) 20 − 12 = 8, so she waited for 8 minutes. (3) The line finishes at 1400 m, and she never came back, so she walked 1400 m in total. Answer: 8 minutes, 1400 m.
Tip: Read the graph left to right and say what happened in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Stationary, moving and coming back. Say it in your own words, then check understanding with a quick question: ask a pupil from the pre-teach group first, since they met these words and ideas before the lesson. Pupils try to recall before you re-explain.
Ron says you can tell when someone is stationary because the graph is horizontal. He is right. A horizontal line means the distance is not changing while time passes, so the person is not moving. The longer the flat part, the longer the stop.
A line sloping upwards means the person is getting further from the start. A line sloping downwards means they are coming back towards the start. When the line reaches zero again, they are home.
Max thinks a graph that goes up and then down shows someone cycling uphill and then downhill. That is a common mistake. The graph shows distance from home, not height. Going up on the graph means getting further away; coming down means coming back.
Worked example — model it step by step, thinking aloud: Mo's graph: the line rises from 0 km to 3 km between 11:00 and 11:45, stays flat until 12:30, then falls back to 0 km at 13:15. How long did Mo stay at his friend's house? (1) The stay is the flat part of the graph, when the distance did not change. (2) The flat part runs from 11:45 to 12:30. (3) From 11:45 to 12:00 is 15 minutes, and from 12:00 to 12:30 is 30 minutes: 15 + 30 = 45. Answer: 45 minutes.
Tip: Flat means stopped. Sloping down means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Stationary, moving and coming back. Say it in your own words, then check understanding with a quick question: ask a pupil from the pre-teach group first, since they met these words and ideas before the lesson. Pupils try to recall before you re-explain.
Ron says you can tell when someone is stationary because the graph is horizontal. He is right. A horizontal line means the distance is not changing while time passes, so the person is not moving. The longer the flat part, the longer the stop.
A line sloping upwards means the person is getting further from the start. A line sloping downwards means they are coming back towards the start. When the line reaches zero again, they are home.
Max thinks a graph that goes up and then down shows someone cycling uphill and then downhill. That is a common mistake. The graph shows distance from home, not height. Going up on the graph means getting further away; coming down means coming back.
Worked example — model it step by step, thinking aloud: Mo's graph: the line rises from 0 km to 3 km between 11:00 and 11:45, stays flat until 12:30, then falls back to 0 km at 13:15. How long did Mo stay at his friend's house? (1) The stay is the flat part of the graph, when the distance did not change. (2) The flat part runs from 11:45 to 12:30. (3) From 11:45 to 12:00 is 15 minutes, and from 12:00 to 12:30 is 30 minutes: 15 + 30 = 45. Answer: 45 minutes.
Tip: Flat means stopped. Sloping down means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Distance from home and total distance. Say it in your own words, then check understanding with a quick question: ask a pupil from the pre-teach group first, since they met these words and ideas before the lesson. Pupils try to recall before you re-explain.
The vertical axis often says 'distance from home'. On a return journey the line goes up and comes back down, so the furthest point is the highest the line reaches, but the total distance travelled is more than that.
If a car drives 40 km away from home and then 40 km back, the graph rises to 40 km and falls to 0. The total distance driven is 40 + 40 = 80 km, not 40 km. The statement 'the car travels a total of 40 km' would be false.
To find the distance for one part of the journey, subtract the readings at the start and end of that part. If the line rises from 20 km to 40 km between C and D, the car travels 40 − 20 = 20 km in that part.
Worked example — model it step by step, thinking aloud: A graph shows a car driving from home to a town 40 km away and then back home. What is the total distance driven? (1) The line rises to 40 km: that is 40 km there. (2) The line falls back to 0: that is another 40 km back. (3) Total distance is 40 + 40 = 80 km. Answer: 80 km.
Tip: Distance from home is not the same as distance travelled. On a return journey, add there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scale. Say it in your own words, then check understanding with a quick question: ask a pupil from the pre-teach group first, since they met these words and ideas before the lesson. Pupils try to recall before you re-explain.
Before you read anything, work out what one square is worth on each axis. If the time axis is labelled 1 pm, 2 pm, 3 pm with one small mark between each, then each small mark is half an hour, so a mark after 3 pm is 3:30 pm.
If the distance axis goes up in steps of 10 km, a point halfway between 40 and 50 is 45 km. Check both axes separately: they often use different scales.
Then read the time at the start and end of each part. A flat part from 2 pm to 3:30 pm lasts 1 hour 30 minutes, not 1 hour 30 squares: always turn squares back into real units.
Worked example — model it step by step, thinking aloud: On a graph the line is flat from 2 pm to 3:30 pm. For how long is the person stationary? (1) From 2 pm to 3 pm is 1 hour. (2) From 3 pm to 3:30 pm is 30 minutes. (3) The stop lasts 1 hour 30 minutes. Answer: 1 hour 30 minutes.
Tip: Work out what one square is worth on each axis before you read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 the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Max's graph: the line rises from 0 km to 2 km between 09:00 and 09:30, is flat from 09:30 to 10:15, then falls from 2 km to 0 km between 10:15 and 10:45. How many minutes did Max spend at the shop?
Support — work through the steps with the group: (1) Find the flat part of the graph: that is when he was stationary. (2) Read the time at the start and the end of the flat part. (3) Count on from the start time to the end time.
Parallel worked example for Support (model it, do not give the task answer): Eva's graph: the line rises from 0 km to 1 km between 14:00 and 14:20, is flat from 14:20 to 14:50, then falls to 0 km at 15:10. How many minutes did Eva spend at the park? The flat part runs from 14:20 to 14:50.; From 14:20 to 14:50 is 30 minutes.; She spent 30 minutes at the park.. Answer: 30 minutes.
Core — reveal the hint only on request: The time at the shop is the flat part of the line. When does it start and end?
Stretch — no help; when finished: Max walked 2 km there in 30 minutes and 2 km back in 30 minutes. Was his speed the same both ways? Explain how the two sloping parts of the graph show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Total distance on a return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graph shows a bike ride. The line rises from 0 km to 12 km in the first hour, is flat for half an hour, then falls back to 0 km over the next hour. What is the total distance cycled, in km?
Support — work through the steps with the group: (1) Find how far the line rises: that is the distance there. (2) Find how far it falls back: that is the distance back. (3) Add the two distances. Ignore the flat part: no distance is covered while stationary.
Parallel worked example for Support (model it, do not give the task answer): A graph of a walk rises from 0 km to 3 km, is flat for 20 minutes, then falls back to 0 km. What is the total distance walked, in km? The walk out is 3 km.; The walk back is another 3 km.; 3 + 3 = 6 km.. Answer: 6 km.
Core — reveal the hint only on request: The rider went out and came back. How far is each part?
Stretch — no help; when finished: The rider took 1 hour to go out and 1 hour to come back. Explain how the graph would look different if the ride home had taken only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Total distance on a return journey.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graph shows a bike ride. The line rises from 0 km to 12 km in the first hour, is flat for half an hour, then falls back to 0 km over the next hour. What is the total distance cycled, in km?
Support — work through the steps with the group: (1) Find how far the line rises: that is the distance there. (2) Find how far it falls back: that is the distance back. (3) Add the two distances. Ignore the flat part: no distance is covered while stationary.
Parallel worked example for Support (model it, do not give the task answer): A graph of a walk rises from 0 km to 3 km, is flat for 20 minutes, then falls back to 0 km. What is the total distance walked, in km? The walk out is 3 km.; The walk back is another 3 km.; 3 + 3 = 6 km.. Answer: 6 km.
Core — reveal the hint only on request: The rider went out and came back. How far is each part?
Stretch — no help; when finished: The rider took 1 hour to go out and 1 hour to come back. Explain how the graph would look different if the ride home had taken only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graph of a car journey: the line slopes up from 0 km to 20 km between 0 and 1 hour, is flat from 1 hour to 1 hour 30 minutes, then slopes up more steeply to 50 km at 2 hours 30 minutes. Which statement is true?
Answer: B   The car travels 30 km in the final part. The final part rises from 20 km to 50 km, so the car travels 50 − 20 = 30 km. The stop lasts 30 minutes, the graph shows no hills, and the total is 50 km.
Source of this question: module 3 task ("True or false about a graph")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Read the journey. Reveal the answer; pupils mark their own work in a different colour, then read the "why" together. Same destination for every lane, so one answer serves the whole class.
Answer: 45 minutes
Why: The flat part runs from 09:30 to 10:15. From 09:30 to 10:00 is 30 minutes, then 15 more to 10:15: 45 minutes in total.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Total distance on a return journey. Reveal the answer; pupils mark their own work in a different colour, then read the "why" together. Same destination for every lane, so one answer serves the whole class.
Answer: 24 km
Why: The rider cycled 12 km away from home and 12 km back. Total distance 12 + 12 = 24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car travels 30 km in the final part
Why: The final part rises from 20 km to 50 km, so the car travels 50 − 20 = 30 km. The stop lasts 30 minutes, the graph shows no hills, and the total is 50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Speed, Distance and Time · AQA KS3 → 8300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Reading distance–time graphs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Interpret distance–time graphs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we measure time and movement, and how do speed, distance and time fit together?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On a distance–time graph, what does a horizontal line show?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moving at a steady speed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stationary, not moving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speeding up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travelling uphill</a:t>
            </a:r>
            <a:endParaRPr lang="en-US" sz="22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Dora's graph rises from 0 m to 1200 m between 0 and 15 minutes, stays flat until 24 minutes, then rises to 2000 m at 40 minutes. For how many minutes was Dora stationary?</a:t>
            </a:r>
            <a:endParaRPr lang="en-US" sz="2000" dirty="0"/>
          </a:p>
          <a:p>
            <a:pPr algn="l" indent="0" marL="0">
              <a:buNone/>
            </a:pPr>
            <a:r>
              <a:rPr lang="en-US" sz="2000" b="1" dirty="0">
                <a:solidFill>
                  <a:srgbClr val="2E4A8C"/>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minutes</a:t>
            </a:r>
            <a:endParaRPr lang="en-US" sz="20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axis shows time on a distance–time graph?</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horizontal axis, along the bottom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vertical axis, up the side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either axis, it does not matter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stationary, not moving</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On a distance–time graph, what does a horizontal line show?</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On a horizontal line time passes but the distance stays the same, so the person is stationary.</a:t>
            </a:r>
            <a:endParaRPr lang="en-US" sz="20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9 minutes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Dora's graph rises from 0 m to 1200 m between 0 and 15 minutes, stays flat until 24 minutes, then rises to 2000 m at 40 minutes. For how many minutes was Dora stationary?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flat part of the graph runs from 15 minutes to 24 minutes. 24 − 15 = 9 minutes.</a:t>
            </a:r>
            <a:endParaRPr lang="en-US" sz="18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horizontal axis, along the bottom</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axis shows time on a distance–time graph?</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Time runs along the horizontal axis, so the graph reads like a story from left to right.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6F9"/>
          </a:solidFill>
          <a:ln w="12700">
            <a:solidFill>
              <a:srgbClr val="B2BCD4"/>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distance–time graph</a:t>
            </a:r>
            <a:endParaRPr lang="en-US" sz="2600" dirty="0"/>
          </a:p>
        </p:txBody>
      </p:sp>
      <p:sp>
        <p:nvSpPr>
          <p:cNvPr id="11" name="word-rule"/>
          <p:cNvSpPr/>
          <p:nvPr/>
        </p:nvSpPr>
        <p:spPr>
          <a:xfrm>
            <a:off x="731520" y="2558288"/>
            <a:ext cx="3149498" cy="0"/>
          </a:xfrm>
          <a:prstGeom prst="line">
            <a:avLst/>
          </a:prstGeom>
          <a:ln w="12700">
            <a:solidFill>
              <a:srgbClr val="B2BCD4"/>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graph that shows a journey, with time along the bottom and distance up the side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distance–time graph shows Whitney's walk to school.</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6F9"/>
          </a:solidFill>
          <a:ln w="12700">
            <a:solidFill>
              <a:srgbClr val="B2BCD4"/>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axis</a:t>
            </a:r>
            <a:endParaRPr lang="en-US" sz="2600" dirty="0"/>
          </a:p>
        </p:txBody>
      </p:sp>
      <p:sp>
        <p:nvSpPr>
          <p:cNvPr id="17" name="word-rule"/>
          <p:cNvSpPr/>
          <p:nvPr/>
        </p:nvSpPr>
        <p:spPr>
          <a:xfrm>
            <a:off x="4521098" y="2129028"/>
            <a:ext cx="3149498" cy="0"/>
          </a:xfrm>
          <a:prstGeom prst="line">
            <a:avLst/>
          </a:prstGeom>
          <a:ln w="12700">
            <a:solidFill>
              <a:srgbClr val="B2BCD4"/>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the two lines with numbers on a graph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time axis runs along the bottom.</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6F9"/>
          </a:solidFill>
          <a:ln w="12700">
            <a:solidFill>
              <a:srgbClr val="B2BCD4"/>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horizontal</a:t>
            </a:r>
            <a:endParaRPr lang="en-US" sz="2600" dirty="0"/>
          </a:p>
        </p:txBody>
      </p:sp>
      <p:sp>
        <p:nvSpPr>
          <p:cNvPr id="23" name="word-rule"/>
          <p:cNvSpPr/>
          <p:nvPr/>
        </p:nvSpPr>
        <p:spPr>
          <a:xfrm>
            <a:off x="8310677" y="2129028"/>
            <a:ext cx="3149498" cy="0"/>
          </a:xfrm>
          <a:prstGeom prst="line">
            <a:avLst/>
          </a:prstGeom>
          <a:ln w="12700">
            <a:solidFill>
              <a:srgbClr val="B2BCD4"/>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flat, going straight across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horizontal line means the distance is not changing.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6F9"/>
          </a:solidFill>
          <a:ln w="12700">
            <a:solidFill>
              <a:srgbClr val="B2BCD4"/>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stationary</a:t>
            </a:r>
            <a:endParaRPr lang="en-US" sz="2600" dirty="0"/>
          </a:p>
        </p:txBody>
      </p:sp>
      <p:sp>
        <p:nvSpPr>
          <p:cNvPr id="11" name="word-rule"/>
          <p:cNvSpPr/>
          <p:nvPr/>
        </p:nvSpPr>
        <p:spPr>
          <a:xfrm>
            <a:off x="731520" y="2129028"/>
            <a:ext cx="5044288" cy="0"/>
          </a:xfrm>
          <a:prstGeom prst="line">
            <a:avLst/>
          </a:prstGeom>
          <a:ln w="12700">
            <a:solidFill>
              <a:srgbClr val="B2BCD4"/>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not moving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Ron was stationary while he waited for the bus.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6F9"/>
          </a:solidFill>
          <a:ln w="12700">
            <a:solidFill>
              <a:srgbClr val="B2BCD4"/>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return journey</a:t>
            </a:r>
            <a:endParaRPr lang="en-US" sz="2600" dirty="0"/>
          </a:p>
        </p:txBody>
      </p:sp>
      <p:sp>
        <p:nvSpPr>
          <p:cNvPr id="17" name="word-rule"/>
          <p:cNvSpPr/>
          <p:nvPr/>
        </p:nvSpPr>
        <p:spPr>
          <a:xfrm>
            <a:off x="6415888" y="2129028"/>
            <a:ext cx="5044288" cy="0"/>
          </a:xfrm>
          <a:prstGeom prst="line">
            <a:avLst/>
          </a:prstGeom>
          <a:ln w="12700">
            <a:solidFill>
              <a:srgbClr val="B2BCD4"/>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journey there and back again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 a return journey the line comes back down to zero.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distance–time graph</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tells the story of a journey.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Time goes along the bottom.</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Distance goes up the side.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sloping line means the person is moving.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flat,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horizontal</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line means they have stopped.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distance is not changing, so they are </a:t>
            </a:r>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stationary</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line that comes back down to zero shows a return home.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graph does not show hills.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Up on the graph means further away, not uphill.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 the scale carefully on both axes.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One square might be 10 minutes or 5 km.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axes and the story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Read the graph left to right and say what happened in each part.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F2F7"/>
          </a:solidFill>
          <a:ln/>
        </p:spPr>
      </p:sp>
      <p:sp>
        <p:nvSpPr>
          <p:cNvPr id="12" name="point-hex"/>
          <p:cNvSpPr/>
          <p:nvPr/>
        </p:nvSpPr>
        <p:spPr>
          <a:xfrm>
            <a:off x="731520" y="1572768"/>
            <a:ext cx="685800" cy="593903"/>
          </a:xfrm>
          <a:prstGeom prst="hexagon">
            <a:avLst/>
          </a:prstGeom>
          <a:solidFill>
            <a:srgbClr val="2E4A8C"/>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distance–time graph has time along the horizontal axis and distance up the vertical axis.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a graph described in words. Eva's walk to school starts at (0 minutes, 0 m).</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F2F7"/>
          </a:solidFill>
          <a:ln/>
        </p:spPr>
      </p:sp>
      <p:sp>
        <p:nvSpPr>
          <p:cNvPr id="20" name="point-hex"/>
          <p:cNvSpPr/>
          <p:nvPr/>
        </p:nvSpPr>
        <p:spPr>
          <a:xfrm>
            <a:off x="8310677" y="1572768"/>
            <a:ext cx="685800" cy="593903"/>
          </a:xfrm>
          <a:prstGeom prst="hexagon">
            <a:avLst/>
          </a:prstGeom>
          <a:solidFill>
            <a:srgbClr val="2E4A8C"/>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Eva walked 800 m in the first 12 minutes.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Worked example: The axes and the story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F2F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Eva's graph rises to 800 m at 12 minutes, is flat until 20 minutes, then rises to 1400 m at 35 minutes. For how many minutes was she waiting, and how far did she walk in total?</a:t>
            </a:r>
            <a:endParaRPr lang="en-US" sz="2200" dirty="0"/>
          </a:p>
        </p:txBody>
      </p:sp>
      <p:sp>
        <p:nvSpPr>
          <p:cNvPr id="9" name="step-box"/>
          <p:cNvSpPr/>
          <p:nvPr/>
        </p:nvSpPr>
        <p:spPr>
          <a:xfrm>
            <a:off x="548640" y="2655824"/>
            <a:ext cx="3423818" cy="1695196"/>
          </a:xfrm>
          <a:prstGeom prst="roundRect">
            <a:avLst>
              <a:gd name="adj" fmla="val 4315"/>
            </a:avLst>
          </a:prstGeom>
          <a:solidFill>
            <a:srgbClr val="FFFFFF"/>
          </a:solidFill>
          <a:ln w="15875">
            <a:solidFill>
              <a:srgbClr val="8C9BC0"/>
            </a:solidFill>
            <a:prstDash val="solid"/>
          </a:ln>
        </p:spPr>
      </p:sp>
      <p:sp>
        <p:nvSpPr>
          <p:cNvPr id="10" name="step-hex"/>
          <p:cNvSpPr/>
          <p:nvPr/>
        </p:nvSpPr>
        <p:spPr>
          <a:xfrm>
            <a:off x="685800" y="2765552"/>
            <a:ext cx="530352" cy="459285"/>
          </a:xfrm>
          <a:prstGeom prst="hexagon">
            <a:avLst/>
          </a:prstGeom>
          <a:solidFill>
            <a:srgbClr val="2E4A8C"/>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flat part runs from 12 minutes to 20 minutes.</a:t>
            </a:r>
            <a:endParaRPr lang="en-US" sz="1800" dirty="0"/>
          </a:p>
        </p:txBody>
      </p:sp>
      <p:sp>
        <p:nvSpPr>
          <p:cNvPr id="13" name="arrow"/>
          <p:cNvSpPr/>
          <p:nvPr/>
        </p:nvSpPr>
        <p:spPr>
          <a:xfrm>
            <a:off x="4045610" y="3366262"/>
            <a:ext cx="274320" cy="274320"/>
          </a:xfrm>
          <a:prstGeom prst="rightArrow">
            <a:avLst/>
          </a:prstGeom>
          <a:solidFill>
            <a:srgbClr val="B8862B"/>
          </a:solidFill>
          <a:ln/>
        </p:spPr>
      </p:sp>
      <p:sp>
        <p:nvSpPr>
          <p:cNvPr id="14" name="step-box"/>
          <p:cNvSpPr/>
          <p:nvPr/>
        </p:nvSpPr>
        <p:spPr>
          <a:xfrm>
            <a:off x="4383938" y="2655824"/>
            <a:ext cx="3423818" cy="1695196"/>
          </a:xfrm>
          <a:prstGeom prst="roundRect">
            <a:avLst>
              <a:gd name="adj" fmla="val 4315"/>
            </a:avLst>
          </a:prstGeom>
          <a:solidFill>
            <a:srgbClr val="FFFFFF"/>
          </a:solidFill>
          <a:ln w="15875">
            <a:solidFill>
              <a:srgbClr val="8C9BC0"/>
            </a:solidFill>
            <a:prstDash val="solid"/>
          </a:ln>
        </p:spPr>
      </p:sp>
      <p:sp>
        <p:nvSpPr>
          <p:cNvPr id="15" name="step-hex"/>
          <p:cNvSpPr/>
          <p:nvPr/>
        </p:nvSpPr>
        <p:spPr>
          <a:xfrm>
            <a:off x="4521098" y="2765552"/>
            <a:ext cx="530352" cy="459285"/>
          </a:xfrm>
          <a:prstGeom prst="hexagon">
            <a:avLst/>
          </a:prstGeom>
          <a:solidFill>
            <a:srgbClr val="2E4A8C"/>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20 − 12 = 8, so she waited for 8 minutes.</a:t>
            </a:r>
            <a:endParaRPr lang="en-US" sz="1800" dirty="0"/>
          </a:p>
        </p:txBody>
      </p:sp>
      <p:sp>
        <p:nvSpPr>
          <p:cNvPr id="18" name="arrow"/>
          <p:cNvSpPr/>
          <p:nvPr/>
        </p:nvSpPr>
        <p:spPr>
          <a:xfrm>
            <a:off x="7880909" y="3366262"/>
            <a:ext cx="274320" cy="274320"/>
          </a:xfrm>
          <a:prstGeom prst="rightArrow">
            <a:avLst/>
          </a:prstGeom>
          <a:solidFill>
            <a:srgbClr val="B8862B"/>
          </a:solidFill>
          <a:ln/>
        </p:spPr>
      </p:sp>
      <p:sp>
        <p:nvSpPr>
          <p:cNvPr id="19" name="step-box"/>
          <p:cNvSpPr/>
          <p:nvPr/>
        </p:nvSpPr>
        <p:spPr>
          <a:xfrm>
            <a:off x="8219237" y="2655824"/>
            <a:ext cx="3423818" cy="1695196"/>
          </a:xfrm>
          <a:prstGeom prst="roundRect">
            <a:avLst>
              <a:gd name="adj" fmla="val 4315"/>
            </a:avLst>
          </a:prstGeom>
          <a:solidFill>
            <a:srgbClr val="FFFFFF"/>
          </a:solidFill>
          <a:ln w="15875">
            <a:solidFill>
              <a:srgbClr val="8C9BC0"/>
            </a:solidFill>
            <a:prstDash val="solid"/>
          </a:ln>
        </p:spPr>
      </p:sp>
      <p:sp>
        <p:nvSpPr>
          <p:cNvPr id="20" name="step-hex"/>
          <p:cNvSpPr/>
          <p:nvPr/>
        </p:nvSpPr>
        <p:spPr>
          <a:xfrm>
            <a:off x="8356397" y="2765552"/>
            <a:ext cx="530352" cy="459285"/>
          </a:xfrm>
          <a:prstGeom prst="hexagon">
            <a:avLst/>
          </a:prstGeom>
          <a:solidFill>
            <a:srgbClr val="2E4A8C"/>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line finishes at 1400 m, and she never came back, so she walked 1400 m in total.</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8 minutes, 1400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Stationary, moving and coming back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Flat means stopped. Sloping down means coming back.</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F2F7"/>
          </a:solidFill>
          <a:ln/>
        </p:spPr>
      </p:sp>
      <p:sp>
        <p:nvSpPr>
          <p:cNvPr id="12" name="point-hex"/>
          <p:cNvSpPr/>
          <p:nvPr/>
        </p:nvSpPr>
        <p:spPr>
          <a:xfrm>
            <a:off x="731520" y="1572768"/>
            <a:ext cx="685800" cy="593903"/>
          </a:xfrm>
          <a:prstGeom prst="hexagon">
            <a:avLst/>
          </a:prstGeom>
          <a:solidFill>
            <a:srgbClr val="2E4A8C"/>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Ron says you can tell when someone is stationary because the graph is horizontal.</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line sloping upwards means the person is getting further from the start.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0F2F7"/>
          </a:solidFill>
          <a:ln/>
        </p:spPr>
      </p:sp>
      <p:sp>
        <p:nvSpPr>
          <p:cNvPr id="20" name="point-hex"/>
          <p:cNvSpPr/>
          <p:nvPr/>
        </p:nvSpPr>
        <p:spPr>
          <a:xfrm>
            <a:off x="8310677" y="1572768"/>
            <a:ext cx="685800" cy="593903"/>
          </a:xfrm>
          <a:prstGeom prst="hexagon">
            <a:avLst/>
          </a:prstGeom>
          <a:solidFill>
            <a:srgbClr val="2E4A8C"/>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Max thinks a graph that goes up and then down shows someone cycling uphill and then downhill.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Worked example: Stationary, moving and coming back</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F2F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Mo's graph: the line rises from 0 km to 3 km between 11:00 and 11:45, stays flat until 12:30, then falls back to 0 km at 13:15. How long did Mo stay at his friend's house?</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8C9BC0"/>
            </a:solidFill>
            <a:prstDash val="solid"/>
          </a:ln>
        </p:spPr>
      </p:sp>
      <p:sp>
        <p:nvSpPr>
          <p:cNvPr id="10" name="step-hex"/>
          <p:cNvSpPr/>
          <p:nvPr/>
        </p:nvSpPr>
        <p:spPr>
          <a:xfrm>
            <a:off x="685800" y="2765552"/>
            <a:ext cx="530352" cy="459285"/>
          </a:xfrm>
          <a:prstGeom prst="hexagon">
            <a:avLst/>
          </a:prstGeom>
          <a:solidFill>
            <a:srgbClr val="2E4A8C"/>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stay is the flat part of the graph, when the distance did not change.</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8C9BC0"/>
            </a:solidFill>
            <a:prstDash val="solid"/>
          </a:ln>
        </p:spPr>
      </p:sp>
      <p:sp>
        <p:nvSpPr>
          <p:cNvPr id="15" name="step-hex"/>
          <p:cNvSpPr/>
          <p:nvPr/>
        </p:nvSpPr>
        <p:spPr>
          <a:xfrm>
            <a:off x="4521098" y="2765552"/>
            <a:ext cx="530352" cy="459285"/>
          </a:xfrm>
          <a:prstGeom prst="hexagon">
            <a:avLst/>
          </a:prstGeom>
          <a:solidFill>
            <a:srgbClr val="2E4A8C"/>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flat part runs from 11:45 to 12:30.</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8C9BC0"/>
            </a:solidFill>
            <a:prstDash val="solid"/>
          </a:ln>
        </p:spPr>
      </p:sp>
      <p:sp>
        <p:nvSpPr>
          <p:cNvPr id="20" name="step-hex"/>
          <p:cNvSpPr/>
          <p:nvPr/>
        </p:nvSpPr>
        <p:spPr>
          <a:xfrm>
            <a:off x="8356397" y="2765552"/>
            <a:ext cx="530352" cy="459285"/>
          </a:xfrm>
          <a:prstGeom prst="hexagon">
            <a:avLst/>
          </a:prstGeom>
          <a:solidFill>
            <a:srgbClr val="2E4A8C"/>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From 11:45 to 12:00 is 15 minutes, and from 12:00 to 12:30 is 30 minutes: 15 + 30 = 45.</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45 minutes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Distance from home and total distance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Distance from home is not the same as distance travelled. On a return journey, add there and back.</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graph shows a car driving from home to a town 40 km away and then back home. What is the total distance driven?</a:t>
            </a:r>
            <a:endParaRPr lang="en-US" sz="1800" dirty="0"/>
          </a:p>
        </p:txBody>
      </p:sp>
      <p:sp>
        <p:nvSpPr>
          <p:cNvPr id="14" name="step-box"/>
          <p:cNvSpPr/>
          <p:nvPr/>
        </p:nvSpPr>
        <p:spPr>
          <a:xfrm>
            <a:off x="6126480" y="3167380"/>
            <a:ext cx="5379415" cy="566928"/>
          </a:xfrm>
          <a:prstGeom prst="roundRect">
            <a:avLst>
              <a:gd name="adj" fmla="val 16129"/>
            </a:avLst>
          </a:prstGeom>
          <a:solidFill>
            <a:srgbClr val="F0F2F7"/>
          </a:solidFill>
          <a:ln/>
        </p:spPr>
      </p:sp>
      <p:sp>
        <p:nvSpPr>
          <p:cNvPr id="15" name="step-hex"/>
          <p:cNvSpPr/>
          <p:nvPr/>
        </p:nvSpPr>
        <p:spPr>
          <a:xfrm>
            <a:off x="6217920" y="3268714"/>
            <a:ext cx="420624" cy="364260"/>
          </a:xfrm>
          <a:prstGeom prst="hexagon">
            <a:avLst/>
          </a:prstGeom>
          <a:solidFill>
            <a:srgbClr val="2E4A8C"/>
          </a:solidFill>
          <a:ln/>
        </p:spPr>
      </p:sp>
      <p:sp>
        <p:nvSpPr>
          <p:cNvPr id="16"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line rises to 40 km: that is 40 km there.</a:t>
            </a:r>
            <a:endParaRPr lang="en-US" sz="1800" dirty="0"/>
          </a:p>
        </p:txBody>
      </p:sp>
      <p:sp>
        <p:nvSpPr>
          <p:cNvPr id="18" name="step-box"/>
          <p:cNvSpPr/>
          <p:nvPr/>
        </p:nvSpPr>
        <p:spPr>
          <a:xfrm>
            <a:off x="6126480" y="3825748"/>
            <a:ext cx="5379415" cy="794512"/>
          </a:xfrm>
          <a:prstGeom prst="roundRect">
            <a:avLst>
              <a:gd name="adj" fmla="val 11509"/>
            </a:avLst>
          </a:prstGeom>
          <a:solidFill>
            <a:srgbClr val="F0F2F7"/>
          </a:solidFill>
          <a:ln/>
        </p:spPr>
      </p:sp>
      <p:sp>
        <p:nvSpPr>
          <p:cNvPr id="19" name="step-hex"/>
          <p:cNvSpPr/>
          <p:nvPr/>
        </p:nvSpPr>
        <p:spPr>
          <a:xfrm>
            <a:off x="6217920" y="4040874"/>
            <a:ext cx="420624" cy="364260"/>
          </a:xfrm>
          <a:prstGeom prst="hexagon">
            <a:avLst/>
          </a:prstGeom>
          <a:solidFill>
            <a:srgbClr val="2E4A8C"/>
          </a:solidFill>
          <a:ln/>
        </p:spPr>
      </p:sp>
      <p:sp>
        <p:nvSpPr>
          <p:cNvPr id="20" name="step-hex-label"/>
          <p:cNvSpPr txBox="1"/>
          <p:nvPr/>
        </p:nvSpPr>
        <p:spPr>
          <a:xfrm>
            <a:off x="6217920" y="40408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8257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line falls back to 0: that is another 40 km back.</a:t>
            </a:r>
            <a:endParaRPr lang="en-US" sz="1800" dirty="0"/>
          </a:p>
        </p:txBody>
      </p:sp>
      <p:sp>
        <p:nvSpPr>
          <p:cNvPr id="22" name="step-box"/>
          <p:cNvSpPr/>
          <p:nvPr/>
        </p:nvSpPr>
        <p:spPr>
          <a:xfrm>
            <a:off x="6126480" y="4711700"/>
            <a:ext cx="5379415" cy="566928"/>
          </a:xfrm>
          <a:prstGeom prst="roundRect">
            <a:avLst>
              <a:gd name="adj" fmla="val 16129"/>
            </a:avLst>
          </a:prstGeom>
          <a:solidFill>
            <a:srgbClr val="F0F2F7"/>
          </a:solidFill>
          <a:ln/>
        </p:spPr>
      </p:sp>
      <p:sp>
        <p:nvSpPr>
          <p:cNvPr id="23" name="step-hex"/>
          <p:cNvSpPr/>
          <p:nvPr/>
        </p:nvSpPr>
        <p:spPr>
          <a:xfrm>
            <a:off x="6217920" y="4813034"/>
            <a:ext cx="420624" cy="364260"/>
          </a:xfrm>
          <a:prstGeom prst="hexagon">
            <a:avLst/>
          </a:prstGeom>
          <a:solidFill>
            <a:srgbClr val="2E4A8C"/>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Total distance is 40 + 40 = 80 km.</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80 km</a:t>
            </a:r>
            <a:endParaRPr lang="en-US" sz="1800" dirty="0"/>
          </a:p>
        </p:txBody>
      </p:sp>
      <p:sp>
        <p:nvSpPr>
          <p:cNvPr id="27" name="bullet-card"/>
          <p:cNvSpPr/>
          <p:nvPr/>
        </p:nvSpPr>
        <p:spPr>
          <a:xfrm>
            <a:off x="548640" y="1389888"/>
            <a:ext cx="5074920" cy="2095246"/>
          </a:xfrm>
          <a:prstGeom prst="roundRect">
            <a:avLst>
              <a:gd name="adj" fmla="val 3491"/>
            </a:avLst>
          </a:prstGeom>
          <a:solidFill>
            <a:srgbClr val="F5F6F9"/>
          </a:solidFill>
          <a:ln/>
        </p:spPr>
      </p:sp>
      <p:sp>
        <p:nvSpPr>
          <p:cNvPr id="28" name="bullet-hex"/>
          <p:cNvSpPr/>
          <p:nvPr/>
        </p:nvSpPr>
        <p:spPr>
          <a:xfrm>
            <a:off x="676656" y="2271218"/>
            <a:ext cx="384048" cy="332586"/>
          </a:xfrm>
          <a:prstGeom prst="hexagon">
            <a:avLst/>
          </a:prstGeom>
          <a:solidFill>
            <a:srgbClr val="2E4A8C"/>
          </a:solidFill>
          <a:ln/>
        </p:spPr>
      </p:sp>
      <p:sp>
        <p:nvSpPr>
          <p:cNvPr id="29" name="bullet"/>
          <p:cNvSpPr txBox="1"/>
          <p:nvPr/>
        </p:nvSpPr>
        <p:spPr>
          <a:xfrm>
            <a:off x="1143000" y="1389888"/>
            <a:ext cx="4389120" cy="209524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vertical axis often says 'distance from home'. On a return journey the line goes up and comes back down, so the furthest point is the highest the line reaches, but the total distance travelled is more than that.</a:t>
            </a:r>
            <a:endParaRPr lang="en-US" sz="2000" dirty="0"/>
          </a:p>
        </p:txBody>
      </p:sp>
      <p:sp>
        <p:nvSpPr>
          <p:cNvPr id="30" name="bullet-card"/>
          <p:cNvSpPr/>
          <p:nvPr/>
        </p:nvSpPr>
        <p:spPr>
          <a:xfrm>
            <a:off x="548640" y="3631438"/>
            <a:ext cx="5074920" cy="1165606"/>
          </a:xfrm>
          <a:prstGeom prst="roundRect">
            <a:avLst>
              <a:gd name="adj" fmla="val 6276"/>
            </a:avLst>
          </a:prstGeom>
          <a:solidFill>
            <a:srgbClr val="F5F6F9"/>
          </a:solidFill>
          <a:ln/>
        </p:spPr>
      </p:sp>
      <p:sp>
        <p:nvSpPr>
          <p:cNvPr id="31" name="bullet-hex"/>
          <p:cNvSpPr/>
          <p:nvPr/>
        </p:nvSpPr>
        <p:spPr>
          <a:xfrm>
            <a:off x="676656" y="4047948"/>
            <a:ext cx="384048" cy="332586"/>
          </a:xfrm>
          <a:prstGeom prst="hexagon">
            <a:avLst/>
          </a:prstGeom>
          <a:solidFill>
            <a:srgbClr val="B8862B"/>
          </a:solidFill>
          <a:ln/>
        </p:spPr>
      </p:sp>
      <p:sp>
        <p:nvSpPr>
          <p:cNvPr id="32" name="bullet"/>
          <p:cNvSpPr txBox="1"/>
          <p:nvPr/>
        </p:nvSpPr>
        <p:spPr>
          <a:xfrm>
            <a:off x="1143000" y="3631438"/>
            <a:ext cx="4389120" cy="116560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If a car drives 40 km away from home and then 40 km back, the graph rises to 40 km and falls to 0.</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Reading the scale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Work out what one square is worth on each axis before you read anything.</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On a graph the line is flat from 2 pm to 3:30 pm. For how long is the person stationary?</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2 pm to 3 pm is 1 hour.</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3 pm to 3:30 pm is 30 minutes.</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stop lasts 1 hour 30 minutes.</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 hour 30 minutes</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Before you read anything, work out what one square is worth on each axis.</a:t>
            </a:r>
            <a:endParaRPr lang="en-US" sz="2200" dirty="0"/>
          </a:p>
        </p:txBody>
      </p:sp>
      <p:sp>
        <p:nvSpPr>
          <p:cNvPr id="30" name="bullet-card"/>
          <p:cNvSpPr/>
          <p:nvPr/>
        </p:nvSpPr>
        <p:spPr>
          <a:xfrm>
            <a:off x="548640" y="2780961"/>
            <a:ext cx="5074920" cy="1244769"/>
          </a:xfrm>
          <a:prstGeom prst="roundRect">
            <a:avLst>
              <a:gd name="adj" fmla="val 5877"/>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780961"/>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distance axis goes up in steps of 10 km, a point halfway between 40 and 50 is 45 km.</a:t>
            </a:r>
            <a:endParaRPr lang="en-US" sz="2200" dirty="0"/>
          </a:p>
        </p:txBody>
      </p:sp>
      <p:sp>
        <p:nvSpPr>
          <p:cNvPr id="33" name="bullet-card"/>
          <p:cNvSpPr/>
          <p:nvPr/>
        </p:nvSpPr>
        <p:spPr>
          <a:xfrm>
            <a:off x="548640" y="4172035"/>
            <a:ext cx="5074920" cy="903901"/>
          </a:xfrm>
          <a:prstGeom prst="roundRect">
            <a:avLst>
              <a:gd name="adj" fmla="val 8093"/>
            </a:avLst>
          </a:prstGeom>
          <a:solidFill>
            <a:srgbClr val="F5F6F9"/>
          </a:solidFill>
          <a:ln/>
        </p:spPr>
      </p:sp>
      <p:sp>
        <p:nvSpPr>
          <p:cNvPr id="34" name="bullet-hex"/>
          <p:cNvSpPr/>
          <p:nvPr/>
        </p:nvSpPr>
        <p:spPr>
          <a:xfrm>
            <a:off x="676656" y="4457693"/>
            <a:ext cx="384048" cy="332586"/>
          </a:xfrm>
          <a:prstGeom prst="hexagon">
            <a:avLst/>
          </a:prstGeom>
          <a:solidFill>
            <a:srgbClr val="2E4A8C"/>
          </a:solidFill>
          <a:ln/>
        </p:spPr>
      </p:sp>
      <p:sp>
        <p:nvSpPr>
          <p:cNvPr id="35"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Then read the time at the start and end of each part.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Read the journey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Max's graph: the line rises from 0 km to 2 km between 09:00 and 09:30, is flat from 09:30 to 10:15, then falls from 2 km to 0 km between 10:15 and 10:45. How many minutes did Max spend at the shop?</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minutes</a:t>
            </a:r>
            <a:endParaRPr lang="en-US" sz="2000" dirty="0"/>
          </a:p>
        </p:txBody>
      </p:sp>
      <p:sp>
        <p:nvSpPr>
          <p:cNvPr id="12" name="col-Support"/>
          <p:cNvSpPr/>
          <p:nvPr/>
        </p:nvSpPr>
        <p:spPr>
          <a:xfrm>
            <a:off x="548640" y="3258820"/>
            <a:ext cx="3515258" cy="2885948"/>
          </a:xfrm>
          <a:prstGeom prst="roundRect">
            <a:avLst>
              <a:gd name="adj" fmla="val 1901"/>
            </a:avLst>
          </a:prstGeom>
          <a:solidFill>
            <a:srgbClr val="F0F2F7"/>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3240938"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flat part of the graph: that is when he was stationary.</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time at the start and the end of the flat part.</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on from the start time to the end time.</a:t>
            </a:r>
            <a:endParaRPr lang="en-US" sz="1800" dirty="0"/>
          </a:p>
        </p:txBody>
      </p:sp>
      <p:sp>
        <p:nvSpPr>
          <p:cNvPr id="17" name="col-Core"/>
          <p:cNvSpPr/>
          <p:nvPr/>
        </p:nvSpPr>
        <p:spPr>
          <a:xfrm>
            <a:off x="4338218" y="3258820"/>
            <a:ext cx="3515258" cy="2885948"/>
          </a:xfrm>
          <a:prstGeom prst="roundRect">
            <a:avLst>
              <a:gd name="adj" fmla="val 1901"/>
            </a:avLst>
          </a:prstGeom>
          <a:solidFill>
            <a:srgbClr val="D7DDE9"/>
          </a:solidFill>
          <a:ln/>
        </p:spPr>
      </p:sp>
      <p:sp>
        <p:nvSpPr>
          <p:cNvPr id="18" name="col-hex"/>
          <p:cNvSpPr/>
          <p:nvPr/>
        </p:nvSpPr>
        <p:spPr>
          <a:xfrm>
            <a:off x="4447946"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898900"/>
            <a:ext cx="3240938" cy="213614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time at the shop is the flat part of the line. When does it start and end?</a:t>
            </a:r>
            <a:endParaRPr lang="en-US" sz="1800" dirty="0"/>
          </a:p>
        </p:txBody>
      </p:sp>
      <p:sp>
        <p:nvSpPr>
          <p:cNvPr id="22" name="col-Stretch"/>
          <p:cNvSpPr/>
          <p:nvPr/>
        </p:nvSpPr>
        <p:spPr>
          <a:xfrm>
            <a:off x="8127797" y="3258820"/>
            <a:ext cx="3515258" cy="2885948"/>
          </a:xfrm>
          <a:prstGeom prst="roundRect">
            <a:avLst>
              <a:gd name="adj" fmla="val 1901"/>
            </a:avLst>
          </a:prstGeom>
          <a:solidFill>
            <a:srgbClr val="2E4A8C"/>
          </a:solidFill>
          <a:ln/>
        </p:spPr>
      </p:sp>
      <p:sp>
        <p:nvSpPr>
          <p:cNvPr id="23" name="col-hex"/>
          <p:cNvSpPr/>
          <p:nvPr/>
        </p:nvSpPr>
        <p:spPr>
          <a:xfrm>
            <a:off x="8237525"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329539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898900"/>
            <a:ext cx="3240938"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Max walked 2 km there in 30 minutes and 2 km back in 30 minutes. Was his speed the same both ways? Explain how the two sloping parts of the graph show this.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task: Total distance on a return journey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graph shows a bike ride. The line rises from 0 km to 12 km in the first hour, is flat for half an hour, then falls back to 0 km over the next hour. What is the total distance cycled, in km?</a:t>
            </a:r>
            <a:endParaRPr lang="en-US" sz="2600" dirty="0"/>
          </a:p>
          <a:p>
            <a:pPr algn="ctr" indent="0" marL="0">
              <a:buNone/>
            </a:pPr>
            <a:r>
              <a:rPr lang="en-US" sz="2400" b="1" dirty="0">
                <a:solidFill>
                  <a:srgbClr val="2E4A8C"/>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km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Total distance on a return journey</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graph shows a bike ride. The line rises from 0 km to 12 km in the first hour, is flat for half an hour, then falls back to 0 km over the next hour. What is the total distance cycled, in km?</a:t>
            </a:r>
            <a:endParaRPr lang="en-US" sz="2000" dirty="0"/>
          </a:p>
        </p:txBody>
      </p:sp>
      <p:sp>
        <p:nvSpPr>
          <p:cNvPr id="12" name="col-Support"/>
          <p:cNvSpPr/>
          <p:nvPr/>
        </p:nvSpPr>
        <p:spPr>
          <a:xfrm>
            <a:off x="548640" y="2903728"/>
            <a:ext cx="3515258" cy="3241040"/>
          </a:xfrm>
          <a:prstGeom prst="roundRect">
            <a:avLst>
              <a:gd name="adj" fmla="val 1693"/>
            </a:avLst>
          </a:prstGeom>
          <a:solidFill>
            <a:srgbClr val="F0F2F7"/>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3240938"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how far the line rises: that is the distance there.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how far it falls back: that is the distance back.</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two distances. Ignore the flat part: no distance is covered while stationary.</a:t>
            </a:r>
            <a:endParaRPr lang="en-US" sz="1800" dirty="0"/>
          </a:p>
        </p:txBody>
      </p:sp>
      <p:sp>
        <p:nvSpPr>
          <p:cNvPr id="17" name="col-Core"/>
          <p:cNvSpPr/>
          <p:nvPr/>
        </p:nvSpPr>
        <p:spPr>
          <a:xfrm>
            <a:off x="4338218" y="2903728"/>
            <a:ext cx="3515258" cy="3241040"/>
          </a:xfrm>
          <a:prstGeom prst="roundRect">
            <a:avLst>
              <a:gd name="adj" fmla="val 1693"/>
            </a:avLst>
          </a:prstGeom>
          <a:solidFill>
            <a:srgbClr val="D7DDE9"/>
          </a:solidFill>
          <a:ln/>
        </p:spPr>
      </p:sp>
      <p:sp>
        <p:nvSpPr>
          <p:cNvPr id="18" name="col-hex"/>
          <p:cNvSpPr/>
          <p:nvPr/>
        </p:nvSpPr>
        <p:spPr>
          <a:xfrm>
            <a:off x="444794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rider went out and came back. How far is each part?</a:t>
            </a:r>
            <a:endParaRPr lang="en-US" sz="1800" dirty="0"/>
          </a:p>
        </p:txBody>
      </p:sp>
      <p:sp>
        <p:nvSpPr>
          <p:cNvPr id="22" name="col-Stretch"/>
          <p:cNvSpPr/>
          <p:nvPr/>
        </p:nvSpPr>
        <p:spPr>
          <a:xfrm>
            <a:off x="8127797" y="2903728"/>
            <a:ext cx="3515258" cy="3241040"/>
          </a:xfrm>
          <a:prstGeom prst="roundRect">
            <a:avLst>
              <a:gd name="adj" fmla="val 1693"/>
            </a:avLst>
          </a:prstGeom>
          <a:solidFill>
            <a:srgbClr val="2E4A8C"/>
          </a:solidFill>
          <a:ln/>
        </p:spPr>
      </p:sp>
      <p:sp>
        <p:nvSpPr>
          <p:cNvPr id="23" name="col-hex"/>
          <p:cNvSpPr/>
          <p:nvPr/>
        </p:nvSpPr>
        <p:spPr>
          <a:xfrm>
            <a:off x="8237525"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rider took 1 hour to go out and 1 hour to come back. Explain how the graph would look different if the ride home had taken only 30 minutes.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110992"/>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A graph of a car journey: the line slopes up from 0 km to 20 km between 0 and 1 hour, is flat from 1 hour to 1 hour 30 minutes, then slopes up more steeply to 50 km at 2 hours 30 minutes. Which statement is true?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car is stationary for 1 hour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car travels 30 km in the final part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car goes uphill in the final part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car travels 20 km in total</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Read the journey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Max's graph: the line rises from 0 km to 2 km between 09:00 and 09:30, is flat from 09:30 to 10:15, then falls from 2 km to 0 km between 10:15 and 10:45. How many minutes did Max spend at the shop?</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45 minutes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flat part runs from 09:30 to 10:15. From 09:30 to 10:00 is 30 minutes, then 15 more to 10:15: 45 minutes in total.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Total distance on a return journey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graph shows a bike ride. The line rises from 0 km to 12 km in the first hour, is flat for half an hour, then falls back to 0 km over the next hour. What is the total distance cycled, in km?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24 km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rider cycled 12 km away from home and 12 km back. Total distance 12 + 12 = 24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graph of a car journey: the line slopes up from 0 km to 20 km between 0 and 1 hour, is flat from 1 hour to 1 hour 30 minutes, then slopes up more steeply to 50 km at 2 hours 30 minutes. Which statement is true?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car travels 30 km in the final part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final part rises from 20 km to 50 km, so the car travels 50 − 20 = 30 km. The stop lasts 30 minutes, the graph shows no hills, and the total is 50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Distance and Time · Chapter 5: Reading distance–time graphs</dc:title>
  <dc:subject>Mathematics · Year 7</dc:subject>
  <dc:creator>Dr Vitor Merissi de Carvalho</dc:creator>
  <cp:lastModifiedBy>Dr Vitor Merissi de Carvalho</cp:lastModifiedBy>
  <cp:revision>1</cp:revision>
  <dcterms:created xsi:type="dcterms:W3CDTF">2026-10-18T17:47:14Z</dcterms:created>
  <dcterms:modified xsi:type="dcterms:W3CDTF">2026-10-18T17:47:14Z</dcterms:modified>
</cp:coreProperties>
</file>