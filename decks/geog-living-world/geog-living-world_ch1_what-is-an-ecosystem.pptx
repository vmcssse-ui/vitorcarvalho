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b6ab11c-9456-c0f6-2cfb-5a3448d1c069}">
          <p14:sldIdLst>
            <p14:sldId id="256"/>
          </p14:sldIdLst>
        </p14:section>
        <p14:section name="Gate" id="{59ac03a4-0d8c-60ff-f7be-664d558f3a07}">
          <p14:sldIdLst>
            <p14:sldId id="257"/>
            <p14:sldId id="258"/>
          </p14:sldIdLst>
        </p14:section>
        <p14:section name="Pre-teach" id="{c51e076c-390c-d963-a4da-9c400a49555e}">
          <p14:sldIdLst>
            <p14:sldId id="259"/>
            <p14:sldId id="260"/>
          </p14:sldIdLst>
        </p14:section>
        <p14:section name="Read-along" id="{a9d85dc3-5318-6a41-e379-0120f140e4c6}">
          <p14:sldIdLst>
            <p14:sldId id="261"/>
            <p14:sldId id="262"/>
          </p14:sldIdLst>
        </p14:section>
        <p14:section name="Teach" id="{d6c72621-e60f-9668-a8cc-5b95d41eb3cc}">
          <p14:sldIdLst>
            <p14:sldId id="263"/>
            <p14:sldId id="264"/>
            <p14:sldId id="265"/>
            <p14:sldId id="266"/>
          </p14:sldIdLst>
        </p14:section>
        <p14:section name="Routes" id="{c8c20660-f0f8-4ad5-b54f-8887d3d4a7c1}">
          <p14:sldIdLst>
            <p14:sldId id="267"/>
            <p14:sldId id="268"/>
            <p14:sldId id="269"/>
            <p14:sldId id="270"/>
          </p14:sldIdLst>
        </p14:section>
        <p14:section name="Close" id="{0d3570d4-2f5a-67e6-4a84-d37c9927a957}">
          <p14:sldIdLst>
            <p14:sldId id="271"/>
          </p14:sldIdLst>
        </p14:section>
        <p14:section name="Answers" id="{a6ad4b0f-e52a-eee8-8665-0390bba1bd08}">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Ecosystems: a community and its home. What an ecosystem is, how its living and non-living parts depend on each other, what lives in the layers of Epping Forest, and how energy passes along a food chain and around a food web.
This deck covers the department's lessons: 1 (Introducing a small-scale ecosystem in the UK: What is an ecosystem, what are its components, and how do they depend on each other at different scales?); 2 (Food chains and food webs in Epping Forest: How does energy pass from producers to consumers and decomposers in a woodland food web?).
Read the big question aloud: "How do ecosystems work, why are the world's great biomes where they are, and how can people use rainforests and deserts without destroying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does abiotic mean?  →  D   Non-living
2. How many species of fungi can be found in Epping Forest?  →  700 species
3. A large-scale ecosystem, such as a tropical rainforest, is called a ___.  →  biome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Non-living. Abiotic means non-living: the soil, water, air and sunlight in an ecosystem. Biotic means living.
2. 700 species. Your lesson gives 700 species of fungi, most of them on the forest floor where dead leaves and wood are decomposed.
3. biome. Global, large-scale ecosystems are called biomes. Small-scale ecosystems such as ponds and hedgerows are local.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ecosystem: a community of plants and animals and the place they live in, all linked together. Example: "A pond is a small ecosystem with plants, insects, fish and water."
• biotic: living. Example: "The trees, birds and fungi are the biotic parts of a forest."
• abiotic: non-living. Example: "Soil, water, sunlight and air are the abiotic parts of a forest."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interdependence: two or more things depending on each other. Example: "There is interdependence between plants and animals: each needs the other."
• producer: a plant that makes its own food from sunlight. Example: "An oak tree is a producer, so a food chain can start with it."
• decomposer: a living thing that breaks down dead material. Example: "An earthworm is a decomposer that feeds on dead leaves."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An ecosystem is a community of plants and animals and the place where they live.
2. The living parts are called biotic.
3. The non-living parts, such as soil, water and sunlight, are called abiotic.
4. All the parts depend on each other.
5. This is called interdependence.
6. Some ecosystems are small, like a pond or a hedgerow.
7. Others are huge, like a tropical rainforest or a desert.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A huge ecosystem is called a biome.
9. Epping Forest in East London is a small-scale ecosystem.
10. It has layers: the tree tops, a shrub layer and the forest floor.
11. A food chain shows who eats whom.
12. It starts with a plant, the producer, which gets its energy from the sun.
13. The arrows show which way the energy goes.
14. Many food chains joined together make a food web.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Ecosystems at every scale. Say it in your own words, then check understanding with a quick question: ask a pupil from the pre-teach group first, since they met these words and ideas before the lesson. Pupils try to recall before you re-explain.
An ecosystem is a community of plants and animals that interact with each other and with their physical surroundings. Your lessons split it into three components: plants, animals and the environment they live in. Geographers also sort the parts into biotic (living: plants, animals, fungi) and abiotic (non-living: soil, water, air, sunlight, temperature). None of these parts works alone. Plants need water, light and nutrients from the soil; animals need plants, or other animals, for food; dead plants and animals feed the fungi and worms that return nutrients to the soil. Depending on each other like this is called interdependence. Your lesson gave a simple example: we depend on plants for oxygen and food, and plants depend on us for the carbon dioxide we breathe out.
Ecosystems come at different scales. A local, small-scale ecosystem might be a pond, a hedgerow or a patch of woodland. A global, large-scale ecosystem is called a biome: a tropical rainforest, a deciduous woodland or a hot desert stretching across whole regions of the Earth. The same ideas (components, interdependence, food chains) work at both scales, which is why the unit starts small, in a forest on the edge of London, before going global.
When a question asks you to describe an ecosystem, name its scale, name its biotic and abiotic components, and give one link between them. That is the kit for the first marks.
Tip: Biotic has the letter b, like biology, the study of living things. Abiotic begins with a, which here means not: not living.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Case study: Epping Forest, East London. Say it in your own words, then check understanding with a quick question: ask a pupil from the pre-teach group first, since they met these words and ideas before the lesson. Pupils try to recall before you re-explain.
Epping Forest lies in East London. It is the surviving fragment of a far bigger woodland that spread back across England once the last Ice Age ended. Your class annotated a profile of the forest in three layers. In the tree foliage at the top grow the native trees: oak, elm, ash and beech. This layer supports 38 species of birds. Below it is a shrub layer of holly and hazel at about 5 m, and under that a field layer of grasses, brambles, bracken, ferns and flowering plants. The shrub layer is where you might find 20 species of dragonfly. The forest is also home to 177 species of moss and lichen.
On the forest floor, among the dead leaves and wood, live 700 species of fungi. Mammals, amphibians and reptiles live close to the floor and in the shrub layer. Each layer is a home for different living things, and each depends on the layer above and below: the trees shade the shrubs, the shrubs shelter the insects, and the fungi on the floor recycle everything that falls.
The forest is your named example of a small-scale UK ecosystem. For a describe question you need its location (East London), its layers, its named species and at least two of the numbers. Learn them; they are the detail that earns the top marks.
Tip: Learn the Epping Forest numbers as a ladder from the ground up: 700 fungi on the floor, 177 mosses and lichens, 20 dragonflies in the shrubs, 38 birds in the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Food chains and food webs. Say it in your own words, then check understanding with a quick question: ask a pupil from the pre-teach group first, since they met these words and ideas before the lesson. Pupils try to recall before you re-explain.
A food chain links plants and animals that rely on each other for food. It always starts with a producer: a plant, such as an oak tree or grass, that converts energy from the sun into sugars by photosynthesis. Everything else is a consumer, a living thing that gets its energy by eating plants or other animals. A herbivore eats plants; a carnivore eats other animals. Decomposers, such as fungi, earthworms and woodlice, break down dead plant and animal material and return the nutrients to the soil, where producers can use them again.
In your Epping Forest work, the chain was oak tree, then caterpillar, then sparrow, then fox. The arrows in a food chain point from the thing being eaten to the thing that eats it, because they show the direction the energy flows. Energy goes from the oak leaves into the caterpillar, from the caterpillar into the sparrow, and from the sparrow into the fox. Nothing in the forest eats the fox or the deer; your fact files note that they are killed only by humans.
A food web is many food chains joined together. The fact files you used showed that an oak tree is eaten by caterpillars, squirrels and woodpeckers; that mice and rabbits eat grass and are eaten by foxes and owls; that earthworms eat dead leaves and woodlice eat dead wood, and both are eaten by sparrows. One animal can be in many chains at once, and that is exactly why a change in one species spreads through the whole web (chapter 2).
Worked example — model it step by step, thinking aloud: Outline the difference between a food chain and a food web. (2 marks) (1) Say what a food chain is: a single line of links showing who eats whom, starting with a producer. (2) Say what a food web is: many food chains in the same ecosystem joined together. (3) Make the difference clear with a contrast word: a chain shows one route for energy, whereas a web shows all the routes at once. Answer: A food chain is a single line of links showing energy passing from a producer to one consumer after another, whereas a food web joins many food chains together to show all the feeding links in an ecosystem at once..
Tip: Arrows mean eaten by. Draw the arrow from the food to the eater, never the other way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Food chains and food webs. Say it in your own words, then check understanding with a quick question: ask a pupil from the pre-teach group first, since they met these words and ideas before the lesson. Pupils try to recall before you re-explain.
A food chain links plants and animals that rely on each other for food. It always starts with a producer: a plant, such as an oak tree or grass, that converts energy from the sun into sugars by photosynthesis. Everything else is a consumer, a living thing that gets its energy by eating plants or other animals. A herbivore eats plants; a carnivore eats other animals. Decomposers, such as fungi, earthworms and woodlice, break down dead plant and animal material and return the nutrients to the soil, where producers can use them again.
In your Epping Forest work, the chain was oak tree, then caterpillar, then sparrow, then fox. The arrows in a food chain point from the thing being eaten to the thing that eats it, because they show the direction the energy flows. Energy goes from the oak leaves into the caterpillar, from the caterpillar into the sparrow, and from the sparrow into the fox. Nothing in the forest eats the fox or the deer; your fact files note that they are killed only by humans.
A food web is many food chains joined together. The fact files you used showed that an oak tree is eaten by caterpillars, squirrels and woodpeckers; that mice and rabbits eat grass and are eaten by foxes and owls; that earthworms eat dead leaves and woodlice eat dead wood, and both are eaten by sparrows. One animal can be in many chains at once, and that is exactly why a change in one species spreads through the whole web (chapter 2).
Worked example — model it step by step, thinking aloud: Outline the difference between a food chain and a food web. (2 marks) (1) Say what a food chain is: a single line of links showing who eats whom, starting with a producer. (2) Say what a food web is: many food chains in the same ecosystem joined together. (3) Make the difference clear with a contrast word: a chain shows one route for energy, whereas a web shows all the routes at once. Answer: A food chain is a single line of links showing energy passing from a producer to one consumer after another, whereas a food web joins many food chains together to show all the feeding links in an ecosystem at once..
Tip: Arrows mean eaten by. Draw the arrow from the food to the eater, never the other way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An Epping Forest food chain.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living things in the order energy flows along the food chain, starting with the producer.
Support — work through the steps with the group: (1) Every food chain starts with a producer: the only living thing that makes its own food from sunlight. Which one is a plant? (2) Next comes the herbivore, the animal that eats the plant. (3) Then the animal that eats the herbivore. (4) Last is the animal that nothing else in the forest eats.
Parallel worked example for Support (model it, do not give the task answer): Put these in food-chain order: ladybird, greenfly, oak leaves, sparrow. The producer is the plant: oak leaves.; Greenfly eat leaves; ladybirds eat greenfly.; Sparrows eat ladybirds, so they come last.. Answer: Oak leaves, greenfly, ladybird, sparrow..
Core — reveal the hint only on request: Start with the only one that uses sunlight. Then ask of each animal: what does it eat?
Stretch — no help; when finished: Explain what would happen to the fox if a disease killed most of the caterpillars, and why the fox might be affected less than the sparrow.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An Epping Forest food chain.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living things in the order energy flows along the food chain, starting with the producer.
Support — work through the steps with the group: (1) Every food chain starts with a producer: the only living thing that makes its own food from sunlight. Which one is a plant? (2) Next comes the herbivore, the animal that eats the plant. (3) Then the animal that eats the herbivore. (4) Last is the animal that nothing else in the forest eats.
Parallel worked example for Support (model it, do not give the task answer): Put these in food-chain order: ladybird, greenfly, oak leaves, sparrow. The producer is the plant: oak leaves.; Greenfly eat leaves; ladybirds eat greenfly.; Sparrows eat ladybirds, so they come last.. Answer: Oak leaves, greenfly, ladybird, sparrow..
Core — reveal the hint only on request: Start with the only one that uses sunlight. Then ask of each animal: what does it eat?
Stretch — no help; when finished: Explain what would happen to the fox if a disease killed most of the caterpillars, and why the fox might be affected less than the sparrow.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Roles in a food web.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role in an ecosystem to its meaning.
Support — work through the steps with the group: (1) Only one of these is a plant. Producers produce their own food from sunlight. (2) Herb is the clue in herbivore: it eats plants (herbs). (3) Carn means flesh (think of carnival meat feasts): a carnivore eats other animals. (4) The one left deals with dead things and recycles them.
Parallel worked example for Support (model it, do not give the task answer): Match: consumer, food chain. Choices: a line of links showing who eats whom; a living thing that gets its energy by eating plants or animals. A consumer consumes, that is eats, plants or animals.; A food chain is the line of links.. Answer: Consumer: a living thing that gets its energy by eating plants or animals. Food chain: a line of links showing who eats whom..
Core — reveal the hint only on request: One makes food, two eat different kinds of food, and one cleans up after everything else.
Stretch — no help; when finished: Your fact file lists the woodpecker as eating both insects and acorns. Explain which role it plays, and why some ecologists would call it an omnivore.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Roles in a food web.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role in an ecosystem to its meaning.
Support — work through the steps with the group: (1) Only one of these is a plant. Producers produce their own food from sunlight. (2) Herb is the clue in herbivore: it eats plants (herbs). (3) Carn means flesh (think of carnival meat feasts): a carnivore eats other animals. (4) The one left deals with dead things and recycles them.
Parallel worked example for Support (model it, do not give the task answer): Match: consumer, food chain. Choices: a line of links showing who eats whom; a living thing that gets its energy by eating plants or animals. A consumer consumes, that is eats, plants or animals.; A food chain is the line of links.. Answer: Consumer: a living thing that gets its energy by eating plants or animals. Food chain: a line of links showing who eats whom..
Core — reveal the hint only on request: One makes food, two eat different kinds of food, and one cleans up after everything else.
Stretch — no help; when finished: Your fact file lists the woodpecker as eating both insects and acorns. Explain which role it plays, and why some ecologists would call it an omnivore.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does abiotic mean?
Answer: C   Non-living. Abiotic means non-living: the soil, water, air and sunlight in an ecosystem. Biotic means living.
Source of this question: gate item 1 re-asked (options rotated) — this chapter has no third quick-check module.
The ebook also holds task 3, "Describing Epping Forest",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An Epping Forest food chain. Reveal the answer; pupils mark their own work in a different colour, then read the "why" together. Same destination for every lane, so one answer serves the whole class.
Answer: Oak tree: the producer, making food from sunlight  (D); Caterpillar: eats the oak leaves  (A); Sparrow: eats the caterpillar  (C); Fox: eats the sparrow  (B)
Why: The oak tree is the producer, so it comes first. The caterpillar eats its leaves, the sparrow eats the caterpillar and the fox eats the sparrow. Each arrow shows energy passing from food to eater.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Roles in a food web. Reveal the answer; pupils mark their own work in a different colour, then read the "why" together. Same destination for every lane, so one answer serves the whole class.
Answer: Producer  →  D  A plant that uses sunlight to make its own food by photosynthesis; Herbivore  →  A  An animal that eats plants; Carnivore  →  C  An animal that eats other animals; Decomposer  →  B  An organism that breaks down dead plant and animal material
Why: Producers (plants) make food from sunlight; herbivores eat plants; carnivores eat animals; decomposers break down dead material and return the nutrients to the soil for producers to use again.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Non-living
Why: Abiotic means non-living: the soil, water, air and sunlight in an ecosystem. Biotic means living.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Living World: Ecosystems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Living World: Ecosystems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E1D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Living World: Ecosystems · AQA 8035</a:t>
            </a:r>
            <a:endParaRPr lang="en-US" sz="1800" dirty="0"/>
          </a:p>
        </p:txBody>
      </p:sp>
      <p:sp>
        <p:nvSpPr>
          <p:cNvPr id="10" name="deck-title"/>
          <p:cNvSpPr txBox="1"/>
          <p:nvPr/>
        </p:nvSpPr>
        <p:spPr>
          <a:xfrm>
            <a:off x="548640" y="204139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Ecosystems: a community and its home</a:t>
            </a:r>
            <a:endParaRPr lang="en-US" sz="3200" dirty="0"/>
          </a:p>
        </p:txBody>
      </p:sp>
      <p:sp>
        <p:nvSpPr>
          <p:cNvPr id="11" name="lessons-card"/>
          <p:cNvSpPr/>
          <p:nvPr/>
        </p:nvSpPr>
        <p:spPr>
          <a:xfrm>
            <a:off x="548640" y="3453638"/>
            <a:ext cx="5287975" cy="1948180"/>
          </a:xfrm>
          <a:prstGeom prst="roundRect">
            <a:avLst>
              <a:gd name="adj" fmla="val 3755"/>
            </a:avLst>
          </a:prstGeom>
          <a:solidFill>
            <a:srgbClr val="ECF0ED"/>
          </a:solidFill>
          <a:ln/>
        </p:spPr>
      </p:sp>
      <p:sp>
        <p:nvSpPr>
          <p:cNvPr id="12" name="lessons"/>
          <p:cNvSpPr txBox="1"/>
          <p:nvPr/>
        </p:nvSpPr>
        <p:spPr>
          <a:xfrm>
            <a:off x="685800" y="354507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Introducing a small-scale ecosystem in the UK</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Food chains and food webs in Epping Forest</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CF0ED"/>
          </a:solidFill>
          <a:ln w="12700">
            <a:solidFill>
              <a:srgbClr val="B2C4B7"/>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ecosystems work, why are the world's great biomes where they are, and how can people use rainforests and deserts without destroying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does abiotic mean?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Living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Eating other animals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large-scale ecosystem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Non-living</a:t>
            </a:r>
            <a:endParaRPr lang="en-US" sz="2400" dirty="0"/>
          </a:p>
        </p:txBody>
      </p:sp>
      <p:sp>
        <p:nvSpPr>
          <p:cNvPr id="12" name="card"/>
          <p:cNvSpPr/>
          <p:nvPr/>
        </p:nvSpPr>
        <p:spPr>
          <a:xfrm>
            <a:off x="4338218" y="1389888"/>
            <a:ext cx="3515258" cy="4754880"/>
          </a:xfrm>
          <a:prstGeom prst="roundRect">
            <a:avLst>
              <a:gd name="adj" fmla="val 1561"/>
            </a:avLst>
          </a:prstGeom>
          <a:solidFill>
            <a:srgbClr val="F2F5F2"/>
          </a:solidFill>
          <a:ln w="12700">
            <a:solidFill>
              <a:srgbClr val="BCCBC0"/>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How many species of fungi can be found in Epping Forest?</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species</a:t>
            </a:r>
            <a:endParaRPr lang="en-US" sz="2400" dirty="0"/>
          </a:p>
        </p:txBody>
      </p:sp>
      <p:sp>
        <p:nvSpPr>
          <p:cNvPr id="17" name="card"/>
          <p:cNvSpPr/>
          <p:nvPr/>
        </p:nvSpPr>
        <p:spPr>
          <a:xfrm>
            <a:off x="8127797" y="1389888"/>
            <a:ext cx="3515258" cy="4754880"/>
          </a:xfrm>
          <a:prstGeom prst="roundRect">
            <a:avLst>
              <a:gd name="adj" fmla="val 1561"/>
            </a:avLst>
          </a:prstGeom>
          <a:solidFill>
            <a:srgbClr val="F2F5F2"/>
          </a:solidFill>
          <a:ln w="12700">
            <a:solidFill>
              <a:srgbClr val="BCCBC0"/>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large-scale ecosystem, such as a tropical rainforest, is called a ___.</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biome  ·  habitat  ·  food web</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Non-living</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does abiotic mean?</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Abiotic means non-living: the soil, water, air and sunlight in an ecosystem. Biotic means living.</a:t>
            </a:r>
            <a:endParaRPr lang="en-US" sz="2200" dirty="0"/>
          </a:p>
        </p:txBody>
      </p:sp>
      <p:sp>
        <p:nvSpPr>
          <p:cNvPr id="14" name="card"/>
          <p:cNvSpPr/>
          <p:nvPr/>
        </p:nvSpPr>
        <p:spPr>
          <a:xfrm>
            <a:off x="4338218" y="1389888"/>
            <a:ext cx="3515258" cy="4754880"/>
          </a:xfrm>
          <a:prstGeom prst="roundRect">
            <a:avLst>
              <a:gd name="adj" fmla="val 1561"/>
            </a:avLst>
          </a:prstGeom>
          <a:solidFill>
            <a:srgbClr val="F2F5F2"/>
          </a:solidFill>
          <a:ln w="12700">
            <a:solidFill>
              <a:srgbClr val="BCCBC0"/>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700 species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How many species of fungi can be found in Epping Forest?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Your lesson gives 700 species of fungi, most of them on the forest floor where dead leaves and wood are decomposed.</a:t>
            </a:r>
            <a:endParaRPr lang="en-US" sz="2000" dirty="0"/>
          </a:p>
        </p:txBody>
      </p:sp>
      <p:sp>
        <p:nvSpPr>
          <p:cNvPr id="21" name="card"/>
          <p:cNvSpPr/>
          <p:nvPr/>
        </p:nvSpPr>
        <p:spPr>
          <a:xfrm>
            <a:off x="8127797" y="1389888"/>
            <a:ext cx="3515258" cy="4754880"/>
          </a:xfrm>
          <a:prstGeom prst="roundRect">
            <a:avLst>
              <a:gd name="adj" fmla="val 1561"/>
            </a:avLst>
          </a:prstGeom>
          <a:solidFill>
            <a:srgbClr val="F2F5F2"/>
          </a:solidFill>
          <a:ln w="12700">
            <a:solidFill>
              <a:srgbClr val="BCCBC0"/>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biome</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large-scale ecosystem, such as a tropical rainforest, is called a ___.</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Global, large-scale ecosystems are called biomes. Small-scale ecosystems such as ponds and hedgerows are local.</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ecosystem</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community of plants and animals and the place they live in, all linked together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pond is a small ecosystem with plants, insects, fish and water.</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biotic</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living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trees, birds and fungi are the biotic parts of a forest.</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abiotic</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non-living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Soil, water, sunlight and air are the abiotic parts of a forest.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interdependence</a:t>
            </a:r>
            <a:endParaRPr lang="en-US" sz="2600" dirty="0"/>
          </a:p>
        </p:txBody>
      </p:sp>
      <p:sp>
        <p:nvSpPr>
          <p:cNvPr id="11" name="word-rule"/>
          <p:cNvSpPr/>
          <p:nvPr/>
        </p:nvSpPr>
        <p:spPr>
          <a:xfrm>
            <a:off x="731520" y="2558288"/>
            <a:ext cx="3149498" cy="0"/>
          </a:xfrm>
          <a:prstGeom prst="line">
            <a:avLst/>
          </a:prstGeom>
          <a:ln w="12700">
            <a:solidFill>
              <a:srgbClr val="B2C4B7"/>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two or more things depending on each other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There is interdependence between plants and animals: each needs the other.</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producer</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plant that makes its own food from sunlight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An oak tree is a producer, so a food chain can start with it.</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decomposer</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living thing that breaks down dead material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An earthworm is a decomposer that feeds on dead leaves.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An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ecosystem</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a community of plants and animals and the place where they live.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living parts are called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biotic</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non-living parts, such as soil, water and sunlight, are called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abiotic</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All the parts depend on each other.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This is called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interdependence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Some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ecosystems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are small, like a pond or a hedgerow.</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Others are huge, like a tropical rainforest or a desert.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huge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ecosystem</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called a biome.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Epping Forest in East London is a small-scale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ecosystem</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has layers: the tree tops, a shrub layer and the forest floor.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food chain shows who eats whom.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starts with a plant, the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producer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which gets its energy from the sun.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arrows show which way the energy goes.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Many food chains joined together make a food web.</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Ecosystems at every scale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Biotic has the letter b, like biology, the study of living things. Abiotic begins with a, which here means not: not living.</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An ecosystem is a community of plants and animals that interact with each other and with their physical surroundings.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Ecosystems come at different scales. A local, small-scale ecosystem might be a pond, a hedgerow or a patch of woodland.</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When a question asks you to describe an ecosystem, name its scale, name its biotic and abiotic components, and give one link between them.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Case study: Epping Forest, East London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Epping Forest numbers as a ladder from the ground up: 700 fungi on the floor, 177 mosses and lichens, 20 dragonflies in the shrubs, 38 birds in the trees.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Epping Forest lies in East London. It is the surviving fragment of a far bigger woodland that spread back across England once the last Ice Age ended.</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On the forest floor, among the dead leaves and wood, live 700 species of fungi.</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forest is your named example of a small-scale UK ecosystem.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Food chains and food webs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4EDDF"/>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Arrows mean eaten by. Draw the arrow from the food to the eater, never the other way round.</a:t>
            </a:r>
            <a:endParaRPr lang="en-US" sz="1800" dirty="0"/>
          </a:p>
        </p:txBody>
      </p:sp>
      <p:sp>
        <p:nvSpPr>
          <p:cNvPr id="11" name="bullet-card"/>
          <p:cNvSpPr/>
          <p:nvPr/>
        </p:nvSpPr>
        <p:spPr>
          <a:xfrm>
            <a:off x="548640" y="1389888"/>
            <a:ext cx="11094415" cy="835660"/>
          </a:xfrm>
          <a:prstGeom prst="roundRect">
            <a:avLst>
              <a:gd name="adj" fmla="val 8754"/>
            </a:avLst>
          </a:prstGeom>
          <a:solidFill>
            <a:srgbClr val="F0F3F1"/>
          </a:solidFill>
          <a:ln/>
        </p:spPr>
      </p:sp>
      <p:sp>
        <p:nvSpPr>
          <p:cNvPr id="12" name="bullet-hex"/>
          <p:cNvSpPr/>
          <p:nvPr/>
        </p:nvSpPr>
        <p:spPr>
          <a:xfrm>
            <a:off x="676656" y="1641425"/>
            <a:ext cx="384048" cy="332586"/>
          </a:xfrm>
          <a:prstGeom prst="hexagon">
            <a:avLst/>
          </a:prstGeom>
          <a:solidFill>
            <a:srgbClr val="3F6B4A"/>
          </a:solidFill>
          <a:ln/>
        </p:spPr>
      </p:sp>
      <p:sp>
        <p:nvSpPr>
          <p:cNvPr id="13" name="bullet"/>
          <p:cNvSpPr txBox="1"/>
          <p:nvPr/>
        </p:nvSpPr>
        <p:spPr>
          <a:xfrm>
            <a:off x="1143000" y="1389888"/>
            <a:ext cx="10408615" cy="83566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food chain links plants and animals that rely on each other for food.</a:t>
            </a:r>
            <a:endParaRPr lang="en-US" sz="2200" dirty="0"/>
          </a:p>
        </p:txBody>
      </p:sp>
      <p:sp>
        <p:nvSpPr>
          <p:cNvPr id="14" name="bullet-card"/>
          <p:cNvSpPr/>
          <p:nvPr/>
        </p:nvSpPr>
        <p:spPr>
          <a:xfrm>
            <a:off x="548640" y="2371852"/>
            <a:ext cx="11094415" cy="1077468"/>
          </a:xfrm>
          <a:prstGeom prst="roundRect">
            <a:avLst>
              <a:gd name="adj" fmla="val 6789"/>
            </a:avLst>
          </a:prstGeom>
          <a:solidFill>
            <a:srgbClr val="F0F3F1"/>
          </a:solidFill>
          <a:ln/>
        </p:spPr>
      </p:sp>
      <p:sp>
        <p:nvSpPr>
          <p:cNvPr id="15" name="bullet-hex"/>
          <p:cNvSpPr/>
          <p:nvPr/>
        </p:nvSpPr>
        <p:spPr>
          <a:xfrm>
            <a:off x="676656" y="2744293"/>
            <a:ext cx="384048" cy="332586"/>
          </a:xfrm>
          <a:prstGeom prst="hexagon">
            <a:avLst/>
          </a:prstGeom>
          <a:solidFill>
            <a:srgbClr val="B8862B"/>
          </a:solidFill>
          <a:ln/>
        </p:spPr>
      </p:sp>
      <p:sp>
        <p:nvSpPr>
          <p:cNvPr id="16" name="bullet"/>
          <p:cNvSpPr txBox="1"/>
          <p:nvPr/>
        </p:nvSpPr>
        <p:spPr>
          <a:xfrm>
            <a:off x="1143000" y="2371852"/>
            <a:ext cx="10408615" cy="107746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 your Epping Forest work, the chain was oak tree, then caterpillar, then sparrow, then fox.</a:t>
            </a:r>
            <a:endParaRPr lang="en-US" sz="2200" dirty="0"/>
          </a:p>
        </p:txBody>
      </p:sp>
      <p:sp>
        <p:nvSpPr>
          <p:cNvPr id="17" name="bullet-card"/>
          <p:cNvSpPr/>
          <p:nvPr/>
        </p:nvSpPr>
        <p:spPr>
          <a:xfrm>
            <a:off x="548640" y="3595624"/>
            <a:ext cx="11094415" cy="1759204"/>
          </a:xfrm>
          <a:prstGeom prst="roundRect">
            <a:avLst>
              <a:gd name="adj" fmla="val 4158"/>
            </a:avLst>
          </a:prstGeom>
          <a:solidFill>
            <a:srgbClr val="F0F3F1"/>
          </a:solidFill>
          <a:ln/>
        </p:spPr>
      </p:sp>
      <p:sp>
        <p:nvSpPr>
          <p:cNvPr id="18" name="bullet-hex"/>
          <p:cNvSpPr/>
          <p:nvPr/>
        </p:nvSpPr>
        <p:spPr>
          <a:xfrm>
            <a:off x="676656" y="4308933"/>
            <a:ext cx="384048" cy="332586"/>
          </a:xfrm>
          <a:prstGeom prst="hexagon">
            <a:avLst/>
          </a:prstGeom>
          <a:solidFill>
            <a:srgbClr val="3F6B4A"/>
          </a:solidFill>
          <a:ln/>
        </p:spPr>
      </p:sp>
      <p:sp>
        <p:nvSpPr>
          <p:cNvPr id="19" name="bullet"/>
          <p:cNvSpPr txBox="1"/>
          <p:nvPr/>
        </p:nvSpPr>
        <p:spPr>
          <a:xfrm>
            <a:off x="1143000" y="3595624"/>
            <a:ext cx="10408615" cy="175920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food web is many food chains joined together. The fact files you used showed that an oak tree is eaten by caterpillars, squirrels and woodpeckers; that mice and rabbits eat grass and are eaten by foxes and owls; that earthworms eat dead leaves and woodlice eat dead wood, and both are eaten by sparrows.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Food chains and food webs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ECF0ED"/>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Outline the difference between a food chain and a food web. (2 marks)</a:t>
            </a:r>
            <a:endParaRPr lang="en-US" sz="2200" dirty="0"/>
          </a:p>
        </p:txBody>
      </p:sp>
      <p:sp>
        <p:nvSpPr>
          <p:cNvPr id="9" name="step-box"/>
          <p:cNvSpPr/>
          <p:nvPr/>
        </p:nvSpPr>
        <p:spPr>
          <a:xfrm>
            <a:off x="548640" y="2314956"/>
            <a:ext cx="3423818" cy="2252980"/>
          </a:xfrm>
          <a:prstGeom prst="roundRect">
            <a:avLst>
              <a:gd name="adj" fmla="val 3247"/>
            </a:avLst>
          </a:prstGeom>
          <a:solidFill>
            <a:srgbClr val="FFFFFF"/>
          </a:solidFill>
          <a:ln w="15875">
            <a:solidFill>
              <a:srgbClr val="95AE9B"/>
            </a:solidFill>
            <a:prstDash val="solid"/>
          </a:ln>
        </p:spPr>
      </p:sp>
      <p:sp>
        <p:nvSpPr>
          <p:cNvPr id="10" name="step-hex"/>
          <p:cNvSpPr/>
          <p:nvPr/>
        </p:nvSpPr>
        <p:spPr>
          <a:xfrm>
            <a:off x="685800" y="2424684"/>
            <a:ext cx="530352" cy="459285"/>
          </a:xfrm>
          <a:prstGeom prst="hexagon">
            <a:avLst/>
          </a:prstGeom>
          <a:solidFill>
            <a:srgbClr val="3F6B4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what a food chain is: a single line of links showing who eats whom, starting with a producer.</a:t>
            </a:r>
            <a:endParaRPr lang="en-US" sz="1800" dirty="0"/>
          </a:p>
        </p:txBody>
      </p:sp>
      <p:sp>
        <p:nvSpPr>
          <p:cNvPr id="13" name="arrow"/>
          <p:cNvSpPr/>
          <p:nvPr/>
        </p:nvSpPr>
        <p:spPr>
          <a:xfrm>
            <a:off x="4045610" y="3304286"/>
            <a:ext cx="274320" cy="274320"/>
          </a:xfrm>
          <a:prstGeom prst="rightArrow">
            <a:avLst/>
          </a:prstGeom>
          <a:solidFill>
            <a:srgbClr val="B8862B"/>
          </a:solidFill>
          <a:ln/>
        </p:spPr>
      </p:sp>
      <p:sp>
        <p:nvSpPr>
          <p:cNvPr id="14" name="step-box"/>
          <p:cNvSpPr/>
          <p:nvPr/>
        </p:nvSpPr>
        <p:spPr>
          <a:xfrm>
            <a:off x="4383938" y="2314956"/>
            <a:ext cx="3423818" cy="2252980"/>
          </a:xfrm>
          <a:prstGeom prst="roundRect">
            <a:avLst>
              <a:gd name="adj" fmla="val 3247"/>
            </a:avLst>
          </a:prstGeom>
          <a:solidFill>
            <a:srgbClr val="FFFFFF"/>
          </a:solidFill>
          <a:ln w="15875">
            <a:solidFill>
              <a:srgbClr val="95AE9B"/>
            </a:solidFill>
            <a:prstDash val="solid"/>
          </a:ln>
        </p:spPr>
      </p:sp>
      <p:sp>
        <p:nvSpPr>
          <p:cNvPr id="15" name="step-hex"/>
          <p:cNvSpPr/>
          <p:nvPr/>
        </p:nvSpPr>
        <p:spPr>
          <a:xfrm>
            <a:off x="4521098" y="2424684"/>
            <a:ext cx="530352" cy="459285"/>
          </a:xfrm>
          <a:prstGeom prst="hexagon">
            <a:avLst/>
          </a:prstGeom>
          <a:solidFill>
            <a:srgbClr val="3F6B4A"/>
          </a:solidFill>
          <a:ln/>
        </p:spPr>
      </p:sp>
      <p:sp>
        <p:nvSpPr>
          <p:cNvPr id="16" name="step-hex-label"/>
          <p:cNvSpPr txBox="1"/>
          <p:nvPr/>
        </p:nvSpPr>
        <p:spPr>
          <a:xfrm>
            <a:off x="452109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2909316"/>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what a food web is: many food chains in the same ecosystem joined together.</a:t>
            </a:r>
            <a:endParaRPr lang="en-US" sz="1800" dirty="0"/>
          </a:p>
        </p:txBody>
      </p:sp>
      <p:sp>
        <p:nvSpPr>
          <p:cNvPr id="18" name="arrow"/>
          <p:cNvSpPr/>
          <p:nvPr/>
        </p:nvSpPr>
        <p:spPr>
          <a:xfrm>
            <a:off x="7880909" y="3304286"/>
            <a:ext cx="274320" cy="274320"/>
          </a:xfrm>
          <a:prstGeom prst="rightArrow">
            <a:avLst/>
          </a:prstGeom>
          <a:solidFill>
            <a:srgbClr val="B8862B"/>
          </a:solidFill>
          <a:ln/>
        </p:spPr>
      </p:sp>
      <p:sp>
        <p:nvSpPr>
          <p:cNvPr id="19" name="step-box"/>
          <p:cNvSpPr/>
          <p:nvPr/>
        </p:nvSpPr>
        <p:spPr>
          <a:xfrm>
            <a:off x="8219237" y="2314956"/>
            <a:ext cx="3423818" cy="2252980"/>
          </a:xfrm>
          <a:prstGeom prst="roundRect">
            <a:avLst>
              <a:gd name="adj" fmla="val 3247"/>
            </a:avLst>
          </a:prstGeom>
          <a:solidFill>
            <a:srgbClr val="FFFFFF"/>
          </a:solidFill>
          <a:ln w="15875">
            <a:solidFill>
              <a:srgbClr val="95AE9B"/>
            </a:solidFill>
            <a:prstDash val="solid"/>
          </a:ln>
        </p:spPr>
      </p:sp>
      <p:sp>
        <p:nvSpPr>
          <p:cNvPr id="20" name="step-hex"/>
          <p:cNvSpPr/>
          <p:nvPr/>
        </p:nvSpPr>
        <p:spPr>
          <a:xfrm>
            <a:off x="8356397" y="2424684"/>
            <a:ext cx="530352" cy="459285"/>
          </a:xfrm>
          <a:prstGeom prst="hexagon">
            <a:avLst/>
          </a:prstGeom>
          <a:solidFill>
            <a:srgbClr val="3F6B4A"/>
          </a:solidFill>
          <a:ln/>
        </p:spPr>
      </p:sp>
      <p:sp>
        <p:nvSpPr>
          <p:cNvPr id="21" name="step-hex-label"/>
          <p:cNvSpPr txBox="1"/>
          <p:nvPr/>
        </p:nvSpPr>
        <p:spPr>
          <a:xfrm>
            <a:off x="8356397"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2909316"/>
            <a:ext cx="314949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Make the difference clear with a contrast word: a chain shows one route for energy, whereas a web shows all the routes at once.</a:t>
            </a:r>
            <a:endParaRPr lang="en-US" sz="1800" dirty="0"/>
          </a:p>
        </p:txBody>
      </p:sp>
      <p:sp>
        <p:nvSpPr>
          <p:cNvPr id="23" name="worked-answer"/>
          <p:cNvSpPr/>
          <p:nvPr/>
        </p:nvSpPr>
        <p:spPr>
          <a:xfrm>
            <a:off x="1463040" y="5034788"/>
            <a:ext cx="9265615" cy="1109980"/>
          </a:xfrm>
          <a:prstGeom prst="roundRect">
            <a:avLst>
              <a:gd name="adj" fmla="val 16476"/>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A food chain is a single line of links showing energy passing from a producer to one consumer after another, whereas a food web joins many food chains together to show all the feeding links in an ecosystem at once.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An Epping Forest food chain</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living things in the order energy flows along the food chain, starting with the producer.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Caterpillar: eats the oak leaves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Fox: eats the sparrow</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Sparrow: eats the caterpillar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Oak tree: the producer, making food from sunlight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An Epping Forest food chain</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these living things in the order energy flows along the food chain, starting with the producer.</a:t>
            </a:r>
            <a:endParaRPr lang="en-US" sz="2000" dirty="0"/>
          </a:p>
        </p:txBody>
      </p:sp>
      <p:sp>
        <p:nvSpPr>
          <p:cNvPr id="12" name="col-Support"/>
          <p:cNvSpPr/>
          <p:nvPr/>
        </p:nvSpPr>
        <p:spPr>
          <a:xfrm>
            <a:off x="548640" y="2593848"/>
            <a:ext cx="4667802" cy="3550920"/>
          </a:xfrm>
          <a:prstGeom prst="roundRect">
            <a:avLst>
              <a:gd name="adj" fmla="val 1545"/>
            </a:avLst>
          </a:prstGeom>
          <a:solidFill>
            <a:srgbClr val="ECF0ED"/>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Every food chain starts with a producer: the only living thing that makes its own food from sunlight. Which one is a plant?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Next comes the herbivore, the animal that eats the plant.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the animal that eats the herbivore.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Last is the animal that nothing else in the forest eats.</a:t>
            </a:r>
            <a:endParaRPr lang="en-US" sz="1800" dirty="0"/>
          </a:p>
        </p:txBody>
      </p:sp>
      <p:sp>
        <p:nvSpPr>
          <p:cNvPr id="17" name="col-Core"/>
          <p:cNvSpPr/>
          <p:nvPr/>
        </p:nvSpPr>
        <p:spPr>
          <a:xfrm>
            <a:off x="5490762" y="2593848"/>
            <a:ext cx="2938987" cy="3550920"/>
          </a:xfrm>
          <a:prstGeom prst="roundRect">
            <a:avLst>
              <a:gd name="adj" fmla="val 1867"/>
            </a:avLst>
          </a:prstGeom>
          <a:solidFill>
            <a:srgbClr val="D5DED7"/>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Start with the only one that uses sunlight. Then ask of each animal: what does it eat?</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3F6B4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what would happen to the fox if a disease killed most of the caterpillars, and why the fox might be affected less than the sparrow.</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Roles in a food web</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role in an ecosystem to its meaning.</a:t>
            </a:r>
            <a:endParaRPr lang="en-US" sz="2400" dirty="0"/>
          </a:p>
        </p:txBody>
      </p:sp>
      <p:sp>
        <p:nvSpPr>
          <p:cNvPr id="11" name="match-card"/>
          <p:cNvSpPr/>
          <p:nvPr/>
        </p:nvSpPr>
        <p:spPr>
          <a:xfrm>
            <a:off x="777240" y="2468331"/>
            <a:ext cx="3081437" cy="634375"/>
          </a:xfrm>
          <a:prstGeom prst="roundRect">
            <a:avLst>
              <a:gd name="adj" fmla="val 11531"/>
            </a:avLst>
          </a:prstGeom>
          <a:solidFill>
            <a:srgbClr val="F0F3F1"/>
          </a:solidFill>
          <a:ln/>
        </p:spPr>
      </p:sp>
      <p:sp>
        <p:nvSpPr>
          <p:cNvPr id="12" name="match-hex"/>
          <p:cNvSpPr/>
          <p:nvPr/>
        </p:nvSpPr>
        <p:spPr>
          <a:xfrm>
            <a:off x="850392" y="2619226"/>
            <a:ext cx="384048" cy="332586"/>
          </a:xfrm>
          <a:prstGeom prst="hexagon">
            <a:avLst/>
          </a:prstGeom>
          <a:solidFill>
            <a:srgbClr val="3F6B4A"/>
          </a:solidFill>
          <a:ln/>
        </p:spPr>
      </p:sp>
      <p:sp>
        <p:nvSpPr>
          <p:cNvPr id="13" name="match-hex-label"/>
          <p:cNvSpPr txBox="1"/>
          <p:nvPr/>
        </p:nvSpPr>
        <p:spPr>
          <a:xfrm>
            <a:off x="850392"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Producer</a:t>
            </a:r>
            <a:endParaRPr lang="en-US" sz="2200" dirty="0"/>
          </a:p>
        </p:txBody>
      </p:sp>
      <p:sp>
        <p:nvSpPr>
          <p:cNvPr id="15" name="match-card"/>
          <p:cNvSpPr/>
          <p:nvPr/>
        </p:nvSpPr>
        <p:spPr>
          <a:xfrm>
            <a:off x="4224437" y="2468331"/>
            <a:ext cx="7190019" cy="634375"/>
          </a:xfrm>
          <a:prstGeom prst="roundRect">
            <a:avLst>
              <a:gd name="adj" fmla="val 11531"/>
            </a:avLst>
          </a:prstGeom>
          <a:solidFill>
            <a:srgbClr val="F6F0E6"/>
          </a:solidFill>
          <a:ln/>
        </p:spPr>
      </p:sp>
      <p:sp>
        <p:nvSpPr>
          <p:cNvPr id="16" name="match-hex"/>
          <p:cNvSpPr/>
          <p:nvPr/>
        </p:nvSpPr>
        <p:spPr>
          <a:xfrm>
            <a:off x="4297589" y="2619226"/>
            <a:ext cx="384048" cy="332586"/>
          </a:xfrm>
          <a:prstGeom prst="hexagon">
            <a:avLst/>
          </a:prstGeom>
          <a:solidFill>
            <a:srgbClr val="B8862B"/>
          </a:solidFill>
          <a:ln/>
        </p:spPr>
      </p:sp>
      <p:sp>
        <p:nvSpPr>
          <p:cNvPr id="17" name="match-hex-label"/>
          <p:cNvSpPr txBox="1"/>
          <p:nvPr/>
        </p:nvSpPr>
        <p:spPr>
          <a:xfrm>
            <a:off x="4297589"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 animal that eats plants</a:t>
            </a:r>
            <a:endParaRPr lang="en-US" sz="2200" dirty="0"/>
          </a:p>
        </p:txBody>
      </p:sp>
      <p:sp>
        <p:nvSpPr>
          <p:cNvPr id="19" name="match-card"/>
          <p:cNvSpPr/>
          <p:nvPr/>
        </p:nvSpPr>
        <p:spPr>
          <a:xfrm>
            <a:off x="777240" y="3194147"/>
            <a:ext cx="3081437" cy="975243"/>
          </a:xfrm>
          <a:prstGeom prst="roundRect">
            <a:avLst>
              <a:gd name="adj" fmla="val 7501"/>
            </a:avLst>
          </a:prstGeom>
          <a:solidFill>
            <a:srgbClr val="F0F3F1"/>
          </a:solidFill>
          <a:ln/>
        </p:spPr>
      </p:sp>
      <p:sp>
        <p:nvSpPr>
          <p:cNvPr id="20" name="match-hex"/>
          <p:cNvSpPr/>
          <p:nvPr/>
        </p:nvSpPr>
        <p:spPr>
          <a:xfrm>
            <a:off x="850392" y="3515475"/>
            <a:ext cx="384048" cy="332586"/>
          </a:xfrm>
          <a:prstGeom prst="hexagon">
            <a:avLst/>
          </a:prstGeom>
          <a:solidFill>
            <a:srgbClr val="3F6B4A"/>
          </a:solidFill>
          <a:ln/>
        </p:spPr>
      </p:sp>
      <p:sp>
        <p:nvSpPr>
          <p:cNvPr id="21" name="match-hex-label"/>
          <p:cNvSpPr txBox="1"/>
          <p:nvPr/>
        </p:nvSpPr>
        <p:spPr>
          <a:xfrm>
            <a:off x="850392" y="35154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94147"/>
            <a:ext cx="2487077"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Herbivore</a:t>
            </a:r>
            <a:endParaRPr lang="en-US" sz="2200" dirty="0"/>
          </a:p>
        </p:txBody>
      </p:sp>
      <p:sp>
        <p:nvSpPr>
          <p:cNvPr id="23" name="match-card"/>
          <p:cNvSpPr/>
          <p:nvPr/>
        </p:nvSpPr>
        <p:spPr>
          <a:xfrm>
            <a:off x="4224437" y="3194147"/>
            <a:ext cx="7190019" cy="975243"/>
          </a:xfrm>
          <a:prstGeom prst="roundRect">
            <a:avLst>
              <a:gd name="adj" fmla="val 7501"/>
            </a:avLst>
          </a:prstGeom>
          <a:solidFill>
            <a:srgbClr val="F6F0E6"/>
          </a:solidFill>
          <a:ln/>
        </p:spPr>
      </p:sp>
      <p:sp>
        <p:nvSpPr>
          <p:cNvPr id="24" name="match-hex"/>
          <p:cNvSpPr/>
          <p:nvPr/>
        </p:nvSpPr>
        <p:spPr>
          <a:xfrm>
            <a:off x="4297589" y="3515475"/>
            <a:ext cx="384048" cy="332586"/>
          </a:xfrm>
          <a:prstGeom prst="hexagon">
            <a:avLst/>
          </a:prstGeom>
          <a:solidFill>
            <a:srgbClr val="B8862B"/>
          </a:solidFill>
          <a:ln/>
        </p:spPr>
      </p:sp>
      <p:sp>
        <p:nvSpPr>
          <p:cNvPr id="25" name="match-hex-label"/>
          <p:cNvSpPr txBox="1"/>
          <p:nvPr/>
        </p:nvSpPr>
        <p:spPr>
          <a:xfrm>
            <a:off x="4297589" y="35154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194147"/>
            <a:ext cx="6595659"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 organism that breaks down dead plant and animal material</a:t>
            </a:r>
            <a:endParaRPr lang="en-US" sz="2200" dirty="0"/>
          </a:p>
        </p:txBody>
      </p:sp>
      <p:sp>
        <p:nvSpPr>
          <p:cNvPr id="27" name="match-card"/>
          <p:cNvSpPr/>
          <p:nvPr/>
        </p:nvSpPr>
        <p:spPr>
          <a:xfrm>
            <a:off x="777240" y="4260830"/>
            <a:ext cx="3081437" cy="634375"/>
          </a:xfrm>
          <a:prstGeom prst="roundRect">
            <a:avLst>
              <a:gd name="adj" fmla="val 11531"/>
            </a:avLst>
          </a:prstGeom>
          <a:solidFill>
            <a:srgbClr val="F0F3F1"/>
          </a:solidFill>
          <a:ln/>
        </p:spPr>
      </p:sp>
      <p:sp>
        <p:nvSpPr>
          <p:cNvPr id="28" name="match-hex"/>
          <p:cNvSpPr/>
          <p:nvPr/>
        </p:nvSpPr>
        <p:spPr>
          <a:xfrm>
            <a:off x="850392" y="4411724"/>
            <a:ext cx="384048" cy="332586"/>
          </a:xfrm>
          <a:prstGeom prst="hexagon">
            <a:avLst/>
          </a:prstGeom>
          <a:solidFill>
            <a:srgbClr val="3F6B4A"/>
          </a:solidFill>
          <a:ln/>
        </p:spPr>
      </p:sp>
      <p:sp>
        <p:nvSpPr>
          <p:cNvPr id="29" name="match-hex-label"/>
          <p:cNvSpPr txBox="1"/>
          <p:nvPr/>
        </p:nvSpPr>
        <p:spPr>
          <a:xfrm>
            <a:off x="850392" y="441172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Carnivore</a:t>
            </a:r>
            <a:endParaRPr lang="en-US" sz="2200" dirty="0"/>
          </a:p>
        </p:txBody>
      </p:sp>
      <p:sp>
        <p:nvSpPr>
          <p:cNvPr id="31" name="match-card"/>
          <p:cNvSpPr/>
          <p:nvPr/>
        </p:nvSpPr>
        <p:spPr>
          <a:xfrm>
            <a:off x="4224437" y="4260830"/>
            <a:ext cx="7190019" cy="634375"/>
          </a:xfrm>
          <a:prstGeom prst="roundRect">
            <a:avLst>
              <a:gd name="adj" fmla="val 11531"/>
            </a:avLst>
          </a:prstGeom>
          <a:solidFill>
            <a:srgbClr val="F6F0E6"/>
          </a:solidFill>
          <a:ln/>
        </p:spPr>
      </p:sp>
      <p:sp>
        <p:nvSpPr>
          <p:cNvPr id="32" name="match-hex"/>
          <p:cNvSpPr/>
          <p:nvPr/>
        </p:nvSpPr>
        <p:spPr>
          <a:xfrm>
            <a:off x="4297589" y="4411724"/>
            <a:ext cx="384048" cy="332586"/>
          </a:xfrm>
          <a:prstGeom prst="hexagon">
            <a:avLst/>
          </a:prstGeom>
          <a:solidFill>
            <a:srgbClr val="B8862B"/>
          </a:solidFill>
          <a:ln/>
        </p:spPr>
      </p:sp>
      <p:sp>
        <p:nvSpPr>
          <p:cNvPr id="33" name="match-hex-label"/>
          <p:cNvSpPr txBox="1"/>
          <p:nvPr/>
        </p:nvSpPr>
        <p:spPr>
          <a:xfrm>
            <a:off x="4297589" y="441172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 animal that eats other animals</a:t>
            </a:r>
            <a:endParaRPr lang="en-US" sz="2200" dirty="0"/>
          </a:p>
        </p:txBody>
      </p:sp>
      <p:sp>
        <p:nvSpPr>
          <p:cNvPr id="35" name="match-card"/>
          <p:cNvSpPr/>
          <p:nvPr/>
        </p:nvSpPr>
        <p:spPr>
          <a:xfrm>
            <a:off x="777240" y="4986645"/>
            <a:ext cx="3081437" cy="975243"/>
          </a:xfrm>
          <a:prstGeom prst="roundRect">
            <a:avLst>
              <a:gd name="adj" fmla="val 7501"/>
            </a:avLst>
          </a:prstGeom>
          <a:solidFill>
            <a:srgbClr val="F0F3F1"/>
          </a:solidFill>
          <a:ln/>
        </p:spPr>
      </p:sp>
      <p:sp>
        <p:nvSpPr>
          <p:cNvPr id="36" name="match-hex"/>
          <p:cNvSpPr/>
          <p:nvPr/>
        </p:nvSpPr>
        <p:spPr>
          <a:xfrm>
            <a:off x="850392" y="5307974"/>
            <a:ext cx="384048" cy="332586"/>
          </a:xfrm>
          <a:prstGeom prst="hexagon">
            <a:avLst/>
          </a:prstGeom>
          <a:solidFill>
            <a:srgbClr val="3F6B4A"/>
          </a:solidFill>
          <a:ln/>
        </p:spPr>
      </p:sp>
      <p:sp>
        <p:nvSpPr>
          <p:cNvPr id="37" name="match-hex-label"/>
          <p:cNvSpPr txBox="1"/>
          <p:nvPr/>
        </p:nvSpPr>
        <p:spPr>
          <a:xfrm>
            <a:off x="850392" y="53079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986645"/>
            <a:ext cx="2487077"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Decomposer</a:t>
            </a:r>
            <a:endParaRPr lang="en-US" sz="2200" dirty="0"/>
          </a:p>
        </p:txBody>
      </p:sp>
      <p:sp>
        <p:nvSpPr>
          <p:cNvPr id="39" name="match-card"/>
          <p:cNvSpPr/>
          <p:nvPr/>
        </p:nvSpPr>
        <p:spPr>
          <a:xfrm>
            <a:off x="4224437" y="4986645"/>
            <a:ext cx="7190019" cy="975243"/>
          </a:xfrm>
          <a:prstGeom prst="roundRect">
            <a:avLst>
              <a:gd name="adj" fmla="val 7501"/>
            </a:avLst>
          </a:prstGeom>
          <a:solidFill>
            <a:srgbClr val="F6F0E6"/>
          </a:solidFill>
          <a:ln/>
        </p:spPr>
      </p:sp>
      <p:sp>
        <p:nvSpPr>
          <p:cNvPr id="40" name="match-hex"/>
          <p:cNvSpPr/>
          <p:nvPr/>
        </p:nvSpPr>
        <p:spPr>
          <a:xfrm>
            <a:off x="4297589" y="5307974"/>
            <a:ext cx="384048" cy="332586"/>
          </a:xfrm>
          <a:prstGeom prst="hexagon">
            <a:avLst/>
          </a:prstGeom>
          <a:solidFill>
            <a:srgbClr val="B8862B"/>
          </a:solidFill>
          <a:ln/>
        </p:spPr>
      </p:sp>
      <p:sp>
        <p:nvSpPr>
          <p:cNvPr id="41" name="match-hex-label"/>
          <p:cNvSpPr txBox="1"/>
          <p:nvPr/>
        </p:nvSpPr>
        <p:spPr>
          <a:xfrm>
            <a:off x="4297589" y="53079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986645"/>
            <a:ext cx="6595659"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plant that uses sunlight to make its own food by photosynthesis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Roles in a food web</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role in an ecosystem to its meaning.</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CF0ED"/>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Only one of these is a plant. Producers produce their own food from sunlight.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Herb is the clue in herbivore: it eats plants (herbs).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Carn means flesh (think of carnival meat feasts): a carnivore eats other animals.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one left deals with dead things and recycles them.</a:t>
            </a:r>
            <a:endParaRPr lang="en-US" sz="1800" dirty="0"/>
          </a:p>
        </p:txBody>
      </p:sp>
      <p:sp>
        <p:nvSpPr>
          <p:cNvPr id="17" name="col-Core"/>
          <p:cNvSpPr/>
          <p:nvPr/>
        </p:nvSpPr>
        <p:spPr>
          <a:xfrm>
            <a:off x="5490762" y="2578608"/>
            <a:ext cx="2938987" cy="3566160"/>
          </a:xfrm>
          <a:prstGeom prst="roundRect">
            <a:avLst>
              <a:gd name="adj" fmla="val 1867"/>
            </a:avLst>
          </a:prstGeom>
          <a:solidFill>
            <a:srgbClr val="D5DED7"/>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One makes food, two eat different kinds of food, and one cleans up after everything else.</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Your fact file lists the woodpecker as eating both insects and acorns. Explain which role it plays, and why some ecologists would call it an omnivore.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does abiotic mean?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Eating other animals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large-scale ecosystem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Non-living</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Living</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2F5F2"/>
          </a:solidFill>
          <a:ln w="12700">
            <a:solidFill>
              <a:srgbClr val="9FB5A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An Epping Forest food chain</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Oak tree: the producer, making food from sunlight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Caterpillar: eats the oak leaves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Sparrow: eats the caterpillar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Fox: eats the sparrow  (B)</a:t>
            </a:r>
            <a:endParaRPr lang="en-US" sz="24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oak tree is the producer, so it comes first. The caterpillar eats its leaves, the sparrow eats the caterpillar and the fox eats the sparrow. Each arrow shows energy passing from food to eater.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Roles in a food web</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Producer  →  D  A plant that uses sunlight to make its own food by photosynthesis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Herbivore  →  A  An animal that eats plants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Carnivore  →  C  An animal that eats other animals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Decomposer  →  B  An organism that breaks down dead plant and animal material</a:t>
            </a:r>
            <a:endParaRPr lang="en-US" sz="24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Producers (plants) make food from sunlight; herbivores eat plants; carnivores eat animals; decomposers break down dead material and return the nutrients to the soil for producers to use again.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does abiotic mean?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Non-living</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Abiotic means non-living: the soil, water, air and sunlight in an ecosystem. Biotic means living.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CF0ED"/>
      </a:lt2>
      <a:accent1>
        <a:srgbClr val="3F6B4A"/>
      </a:accent1>
      <a:accent2>
        <a:srgbClr val="B8862B"/>
      </a:accent2>
      <a:accent3>
        <a:srgbClr val="8CA692"/>
      </a:accent3>
      <a:accent4>
        <a:srgbClr val="815E1E"/>
      </a:accent4>
      <a:accent5>
        <a:srgbClr val="4A505C"/>
      </a:accent5>
      <a:accent6>
        <a:srgbClr val="DCC395"/>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Living World: Ecosystems · Chapter 1: Ecosystems: a community and its home</dc:title>
  <dc:subject>Geography · Year 9</dc:subject>
  <dc:creator>Dr Vitor Merissi de Carvalho</dc:creator>
  <cp:lastModifiedBy>Dr Vitor Merissi de Carvalho</cp:lastModifiedBy>
  <cp:revision>1</cp:revision>
  <dcterms:created xsi:type="dcterms:W3CDTF">2026-10-19T16:22:52Z</dcterms:created>
  <dcterms:modified xsi:type="dcterms:W3CDTF">2026-10-19T16:22:52Z</dcterms:modified>
</cp:coreProperties>
</file>