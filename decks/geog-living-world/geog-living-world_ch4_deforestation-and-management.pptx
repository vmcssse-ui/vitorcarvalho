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474b56c-04dd-b77b-8acb-53602b455ef6}">
          <p14:sldIdLst>
            <p14:sldId id="256"/>
          </p14:sldIdLst>
        </p14:section>
        <p14:section name="Gate" id="{ed3314bc-27bc-91c0-79af-19335d9164ec}">
          <p14:sldIdLst>
            <p14:sldId id="257"/>
            <p14:sldId id="258"/>
          </p14:sldIdLst>
        </p14:section>
        <p14:section name="Pre-teach" id="{72eedbd2-5777-8edb-7fc2-cf6e53c6a43b}">
          <p14:sldIdLst>
            <p14:sldId id="259"/>
            <p14:sldId id="260"/>
          </p14:sldIdLst>
        </p14:section>
        <p14:section name="Read-along" id="{4110bf34-a021-743c-29f3-9dcb4162afd6}">
          <p14:sldIdLst>
            <p14:sldId id="261"/>
            <p14:sldId id="262"/>
          </p14:sldIdLst>
        </p14:section>
        <p14:section name="Teach" id="{ef270de9-b0fb-899e-b283-d8a95b0abc52}">
          <p14:sldIdLst>
            <p14:sldId id="263"/>
            <p14:sldId id="264"/>
            <p14:sldId id="265"/>
            <p14:sldId id="266"/>
            <p14:sldId id="267"/>
            <p14:sldId id="268"/>
          </p14:sldIdLst>
        </p14:section>
        <p14:section name="Routes" id="{5e1007c4-c6d4-e700-b7e3-3aa6b919b9f0}">
          <p14:sldIdLst>
            <p14:sldId id="269"/>
            <p14:sldId id="270"/>
            <p14:sldId id="271"/>
            <p14:sldId id="272"/>
            <p14:sldId id="273"/>
            <p14:sldId id="274"/>
          </p14:sldIdLst>
        </p14:section>
        <p14:section name="Close" id="{90eb7462-3517-5e48-6df1-10ab49fffc19}">
          <p14:sldIdLst>
            <p14:sldId id="275"/>
          </p14:sldIdLst>
        </p14:section>
        <p14:section name="Answers" id="{6ed91bcd-e8c5-3dad-d48b-4bc08d2a8413}">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Malaysia's rainforest: why it is cut down, and how rainforests can be managed. Why a country that was almost all forest fifty years ago has lost two fifths of it, what the clearing does to soil, wildlife, climate and money, and five ways the Amazon is being managed so that the forest and the people who need it can both carry on.
This deck covers the department's lessons: 9 (Causes of deforestation in Malaysia: What is deforestation, and why is Malaysia's rainforest being cut down?); 10 (Impacts of deforestation in the Malaysian rainforest: How does deforestation cause soil erosion, loss of biodiversity and climate change, and what are the economic gains and losses?); 11 (Sustainable management of the Amazon rainforest: How can selective logging, agroforestry, forest reserves, afforestation and satellite monitoring make rainforest use sustainable?); 12 (The rainforest stakeholders debate: Who has a stake in the future of the rainforest, and how should its use be decided?).
Read the big question aloud: "How do ecosystems work, why are the world's great biomes where they are, and how can people use rainforests and deserts without destroying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Fifty years ago 99 % of Malaysia was covered in rainforest; today it is 60 %. By how many percentage points has the forest cover fallen?  →  39 percentage points
2. How is Malaysia best described?  →  D   A newly emerging economy (NEE) in South East Asia
3. Cutting down only the trees that have reached a certain height, and leaving the younger ones, is called ___ logging.  →  selective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39 percentage points. 99 − 60 = 39 percentage points. More than a third of the country has lost its forest cover in half a century.
2. D   A newly emerging economy (NEE) in South East Asia. Malaysia is a newly emerging economy in South East Asia. Your true-or-false task corrected the card that called it an HIC.
3. selective. Selective logging selects only mature trees, so the canopy survives and the forest regains maturity in 30 to 50 years.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deforestation: cutting down and clearing forests. Example: "Deforestation for palm oil has removed huge areas of Malaysia's forest."
• NEE: a newly emerging economy: a country growing richer fast. Example: "Malaysia is an NEE, so it needs money from its land and resources."
• selective logging: cutting only the trees that have reached a certain height. Example: "With selective logging, the young trees are left to grow."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agroforestry: growing crops under the shade of forest trees. Example: "Agroforestry lets farmers grow coffee without clearing the forest."
• afforestation: planting trees where they have been cut down. Example: "Afforestation in Brazil aims to plant a billion trees."
• sustainable: meeting our needs now without spoiling things for the future. Example: "Sustainable use of the forest leaves it standing for the next generation."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Malaysia is a country in South East Asia.
2. Fifty years ago, 99 % of it was covered in rainforest.
3. Today it is 60 %.
4. The forest is cut down for timber, for palm oil farms, for mines and for roads and dams.
5. Poor families also clear small plots to grow food.
6. Cutting the forest has local and global effects.
7. Without tree roots, rain washes the soil away.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Animals and plants lose their homes, so biodiversity falls.
9. Trees store carbon, so burning them adds to climate change.
10. But logging and farming also bring jobs and money to a growing country.
11. Sustainable management tries to use the forest without destroying it.
12. Loggers can take only the tall trees and leave the young ones.
13. Farmers can grow crops under the trees instead of clearing them.
14. Satellites can watch the forest and catch illegal loggers.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Malaysia: a rainforest country. Say it in your own words, then check understanding with a quick question: ask a pupil from the pre-teach group first, since they met these words and ideas before the lesson. Pupils try to recall before you re-explain.
Malaysia is a country in South East Asia with its capital at Kuala Lumpur. Its natural vegetation is tropical rainforest. It is an NEE, a newly emerging economy, not a high-income country, which matters: it is growing fast and under pressure to make money from its land. Your starter gave two environment facts. Fifty years ago, 99 % of the country was covered in rainforest. Today the figure is 60 %. That is a loss of 39 percentage points, more than a third of the country, in half a century.
The forest that remains is rich in biodiversity. Peninsular Malaysia, the mainland part of the country, is home to around 600 species of bird, among them the mountain peacock-pheasant and the Malayan whistling thrush, and to over 25 % of all the plant species found in Malaysia (not 55 %, as one of your true-or-false cards claimed). Malaysia has 850 species of orchid. Researchers believe many plants are still undiscovered and could have important medicinal value, perhaps providing cures for diseases. Lose the forest and those cures are lost before they are found.
In the exam, Malaysia is your named example for both causes and impacts of deforestation. Learn the two percentages, the 600 birds, the 25 % of plants and the 850 orchids: they are the specific facts that lift an answer into the top level.
Tip: 99 to 60 in fifty years. Say it with both numbers and the time span, and the examiner knows you know the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rainforests are cut down. Say it in your own words, then check understanding with a quick question: ask a pupil from the pre-teach group first, since they met these words and ideas before the lesson. Pupils try to recall before you re-explain.
Deforestation is the action or process of clearing forests. Your keyword list gives the main causes in Malaysia. Commercial logging removes valuable hardwood timber for export; enormous quantities of tropical hardwood are shipped from South East Asia to industrial countries such as Japan. Palm oil plantations replace forest with a single crop whose oil goes into food, soap and fuel. Mineral extraction (mining) clears forest and digs it up. Subsistence farming by poor families clears small plots, often by slash and burn: cutting the trees and burning them to release nutrients into the soil for a few years of crops. Transmigration is a government moving people from crowded areas into forest areas to farm. Roads, settlements and hydroelectric power (HEP) dams clear or flood more.
Your card sort added the wider reasons behind the clearing, using examples from South America as well as Asia. Cattle ranchers growing meat for home markets and for export (the beef burger market of North America) have cleared huge areas. Poor families, for example from the dry north east of Brazil, face a choice between moving to overcrowded cities, clearing forest for farmland, or going hungry. In 27 tropical countries, a quarter of all export earnings goes to repay debt to banks and governments in rich countries, so the forest is sold to pay the bills. Mineral wealth draws in more than 200 000 gold miners in the Brazilian Amazon, and the Carajas iron ore project, part-funded by the World Bank, threatens 16 % of the Amazonian rainforest. Huge HEP projects, funded from rich countries, have flooded large areas, drowning forest and poisoning rivers.
Notice that almost every cause is economic. Timber, oil palm, minerals, beef and electricity all earn money, and a country repaying debt needs money fast. That is why stopping deforestation is so hard, and why chapter 4 ends with ways of earning from the forest without destroying it.
Worked example — model it step by step, thinking aloud: An area of rainforest the size of a football pitch, about 0.7 hectares, is destroyed every second. How much is lost in a minute, an hour, a day and a year? (1) A minute has 60 seconds: 0.7 × 60 = 42 hectares a minute. (2) An hour has 60 minutes: 42 × 60 = 2520 hectares an hour. (3) A day has 24 hours: 2520 × 24 = 60 480 hectares a day. (4) A year has 365 days: 60 480 × 365 = 22 075 200 hectares a year. (5) Make sense of it: 100 hectares is 1 km², so that is 220 752 km² a year, nearly a quarter of a million square kilometres, which is about the area of the UK. Answer: 42 hectares a minute; 2520 an hour; 60 480 a day; about 22 million hectares (roughly 220 000 km², about the size of the UK) a year..
Tip: Keep multiplying by the number of smaller units in the bigger one: 60, 60, 24, 365. Write the units at every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rainforests are cut down. Say it in your own words, then check understanding with a quick question: ask a pupil from the pre-teach group first, since they met these words and ideas before the lesson. Pupils try to recall before you re-explain.
Deforestation is the action or process of clearing forests. Your keyword list gives the main causes in Malaysia. Commercial logging removes valuable hardwood timber for export; enormous quantities of tropical hardwood are shipped from South East Asia to industrial countries such as Japan. Palm oil plantations replace forest with a single crop whose oil goes into food, soap and fuel. Mineral extraction (mining) clears forest and digs it up. Subsistence farming by poor families clears small plots, often by slash and burn: cutting the trees and burning them to release nutrients into the soil for a few years of crops. Transmigration is a government moving people from crowded areas into forest areas to farm. Roads, settlements and hydroelectric power (HEP) dams clear or flood more.
Your card sort added the wider reasons behind the clearing, using examples from South America as well as Asia. Cattle ranchers growing meat for home markets and for export (the beef burger market of North America) have cleared huge areas. Poor families, for example from the dry north east of Brazil, face a choice between moving to overcrowded cities, clearing forest for farmland, or going hungry. In 27 tropical countries, a quarter of all export earnings goes to repay debt to banks and governments in rich countries, so the forest is sold to pay the bills. Mineral wealth draws in more than 200 000 gold miners in the Brazilian Amazon, and the Carajas iron ore project, part-funded by the World Bank, threatens 16 % of the Amazonian rainforest. Huge HEP projects, funded from rich countries, have flooded large areas, drowning forest and poisoning rivers.
Notice that almost every cause is economic. Timber, oil palm, minerals, beef and electricity all earn money, and a country repaying debt needs money fast. That is why stopping deforestation is so hard, and why chapter 4 ends with ways of earning from the forest without destroying it.
Worked example — model it step by step, thinking aloud: An area of rainforest the size of a football pitch, about 0.7 hectares, is destroyed every second. How much is lost in a minute, an hour, a day and a year? (1) A minute has 60 seconds: 0.7 × 60 = 42 hectares a minute. (2) An hour has 60 minutes: 42 × 60 = 2520 hectares an hour. (3) A day has 24 hours: 2520 × 24 = 60 480 hectares a day. (4) A year has 365 days: 60 480 × 365 = 22 075 200 hectares a year. (5) Make sense of it: 100 hectares is 1 km², so that is 220 752 km² a year, nearly a quarter of a million square kilometres, which is about the area of the UK. Answer: 42 hectares a minute; 2520 an hour; 60 480 a day; about 22 million hectares (roughly 220 000 km², about the size of the UK) a year..
Tip: Keep multiplying by the number of smaller units in the bigger one: 60, 60, 24, 365. Write the units at every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rainforests are cut down. Say it in your own words, then check understanding with a quick question: ask a pupil from the pre-teach group first, since they met these words and ideas before the lesson. Pupils try to recall before you re-explain.
Deforestation is the action or process of clearing forests. Your keyword list gives the main causes in Malaysia. Commercial logging removes valuable hardwood timber for export; enormous quantities of tropical hardwood are shipped from South East Asia to industrial countries such as Japan. Palm oil plantations replace forest with a single crop whose oil goes into food, soap and fuel. Mineral extraction (mining) clears forest and digs it up. Subsistence farming by poor families clears small plots, often by slash and burn: cutting the trees and burning them to release nutrients into the soil for a few years of crops. Transmigration is a government moving people from crowded areas into forest areas to farm. Roads, settlements and hydroelectric power (HEP) dams clear or flood more.
Your card sort added the wider reasons behind the clearing, using examples from South America as well as Asia. Cattle ranchers growing meat for home markets and for export (the beef burger market of North America) have cleared huge areas. Poor families, for example from the dry north east of Brazil, face a choice between moving to overcrowded cities, clearing forest for farmland, or going hungry. In 27 tropical countries, a quarter of all export earnings goes to repay debt to banks and governments in rich countries, so the forest is sold to pay the bills. Mineral wealth draws in more than 200 000 gold miners in the Brazilian Amazon, and the Carajas iron ore project, part-funded by the World Bank, threatens 16 % of the Amazonian rainforest. Huge HEP projects, funded from rich countries, have flooded large areas, drowning forest and poisoning rivers.
Notice that almost every cause is economic. Timber, oil palm, minerals, beef and electricity all earn money, and a country repaying debt needs money fast. That is why stopping deforestation is so hard, and why chapter 4 ends with ways of earning from the forest without destroying it.
Worked example — model it step by step, thinking aloud: An area of rainforest the size of a football pitch, about 0.7 hectares, is destroyed every second. How much is lost in a minute, an hour, a day and a year? (1) A minute has 60 seconds: 0.7 × 60 = 42 hectares a minute. (2) An hour has 60 minutes: 42 × 60 = 2520 hectares an hour. (3) A day has 24 hours: 2520 × 24 = 60 480 hectares a day. (4) A year has 365 days: 60 480 × 365 = 22 075 200 hectares a year. (5) Make sense of it: 100 hectares is 1 km², so that is 220 752 km² a year, nearly a quarter of a million square kilometres, which is about the area of the UK. Answer: 42 hectares a minute; 2520 an hour; 60 480 a day; about 22 million hectares (roughly 220 000 km², about the size of the UK) a year..
Tip: Keep multiplying by the number of smaller units in the bigger one: 60, 60, 24, 365. Write the units at every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Impacts: local and global. Say it in your own words, then check understanding with a quick question: ask a pupil from the pre-teach group first, since they met these words and ideas before the lesson. Pupils try to recall before you re-explain.
Your lesson set four objectives on the impacts of deforestation in Malaysia, and the first is soil erosion. Tree roots hold the soil together and the canopy breaks the force of the rain. Remove them and the heavy tropical rain hits bare ground, washes the soil into rivers and leaches out what nutrients remain. The land quickly becomes useless for farming, so farmers clear more forest, and the silt chokes the rivers. The second impact is on biodiversity. Clearing destroys habitats; species that live only in that forest have nowhere else to go, and plants that might have given us medicines are lost.
The third impact is global: climate change. Trees take in carbon dioxide as they grow and store the carbon in their wood. When forest is burned, that carbon goes straight back into the atmosphere as carbon dioxide, adding to global warming, and the lost trees can no longer absorb carbon in future. Forests also return moisture to the air, so large-scale clearing can make the regional climate drier.
The fourth objective is economic, and it has two sides. Deforestation brings gains: jobs in logging, mining and plantations, export income from timber and palm oil, electricity from HEP dams, and tax for an NEE that needs to develop. It also brings losses: soil that can no longer be farmed, flooding and silted rivers that cost money to repair, and the loss of future income from tourism and medicines. Your lesson asked you to sort impacts into social, environmental, economic and political, and into positive and negative. A top answer does both.
Tip: Local impacts: soil, water, wildlife, people nearby. Global impacts: carbon and climate. Name which is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Managing rainforests sustainably. Say it in your own words, then check understanding with a quick question: ask a pupil from the pre-teach group first, since they met these words and ideas before the lesson. Pupils try to recall before you re-explain.
Sustainable development means meeting the needs of the present without compromising the needs of the future. For a rainforest it means using its resources in a way that keeps the forest for the future, while still allowing economic development and protecting the health of the people who live there. Your Amazon lesson looked at five strategies. Selective logging cuts trees only when they reach a particular height, so younger trees are left with a guaranteed life span and the forest regains full maturity after around 30 to 50 years; the canopy is protected, parent trees drop seeds and the roots keep the topsoil healthy, yet money is still made from timber. Its weakness: illegal loggers do not follow the rules. Agroforestry grows valuable crops such as coffee and cacao under the canopy; nothing is cleared, leaf litter keeps the soil fertile so less fertiliser is needed, and fruit trees such as avocado and guava go on producing year after year. The main drawback is the risk from introduced non-native species.
Forest reserves, also called national parks, are large protected areas where no logging is allowed, preserving untouched forest for the future. In 2002 Brazil created the biggest one anywhere: Tumucumaque, in the northern state of Amapa, which protects nearly 4 million hectares and shelters jaguars, sloths and freshwater turtles. Critics worry that corruption and a lack of funding mean poaching and illegal logging continue; park staff on very low wages may be open to bribery, so the park seeks money from the World Wildlife Fund and the World Bank. Afforestation is the opposite of deforestation: replanting trees to restore the canopy. The Brazilian state of Para set a goal of replanting 1 billion trees to replace those lost to logging, funded by government and private companies, aiming to cut greenhouse gases by 5 %. But a tropical tree takes around 30 years to mature, so a rainforest ecosystem is slow to re-establish. Satellite monitoring uses satellite images, aerial photography and GIS to track changes in the forest, spot where deforestation is speeding up and send teams to challenge illegal logging. A non-profit organisation (Imazon) working with the Brazilian government used real-time images and a system of sanctions and rewards, and in 2013 the deforestation rate fell by 70 % compared with the previous year.
Why is sustainable management so hard in the Amazon? Your class listed the barriers: it covers nine South American countries, which must co-operate; poverty means the need to develop outweighs protection; illegal logging is hard to stop; people need education; patrolling a vast area costs money; and the growing demand for food, farmland and palm oil is difficult to resist. Your stakeholder debate (government, indigenous people, a meat company, an environmental campaigner) showed that each group values the forest differently, and that is why a conclusion must weigh the sides rather than pick one.
Tip: Five strategies, five examples: height limit (30 to 50 years), coffee under the canopy, Tumucumaque 2002, a billion trees in Para, satellites and a 70 % 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Forest lost every hour.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About 42 hectares of rainforest are cleared every minute. How many hectares are cleared in one hour?
Support — work through the steps with the group: (1) Ask: how many minutes are there in one hour? 60. (2) The 42 hectares happens once every minute, so it happens 60 times in an hour. (3) Multiply: 42 × 60. (4) Check with a simpler sum: 40 × 60 = 2400, then add 2 × 60 = 120.
Parallel worked example for Support (model it, do not give the task answer): About 0.7 hectares of forest are cleared every second. How many hectares are cleared in one minute? A minute has 60 seconds.; 0.7 × 60 = 42.. Answer: 42 hectares.
Core — reveal the hint only on request: Per minute to per hour means multiply by the number of minutes in an hour.
Stretch — no help; when finished: Carry the calculation on to a day and a year, convert to square kilometres (100 hectares = 1 km²) and compare the result with the area of the UK, which your lessons say is about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Forest lost every hour.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About 42 hectares of rainforest are cleared every minute. How many hectares are cleared in one hour?
Support — work through the steps with the group: (1) Ask: how many minutes are there in one hour? 60. (2) The 42 hectares happens once every minute, so it happens 60 times in an hour. (3) Multiply: 42 × 60. (4) Check with a simpler sum: 40 × 60 = 2400, then add 2 × 60 = 120.
Parallel worked example for Support (model it, do not give the task answer): About 0.7 hectares of forest are cleared every second. How many hectares are cleared in one minute? A minute has 60 seconds.; 0.7 × 60 = 42.. Answer: 42 hectares.
Core — reveal the hint only on request: Per minute to per hour means multiply by the number of minutes in an hour.
Stretch — no help; when finished: Carry the calculation on to a day and a year, convert to square kilometres (100 hectares = 1 km²) and compare the result with the area of the UK, which your lessons say is about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Five ways to manage a rainforest.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sustainable management strategy to its description.
Support — work through the steps with the group: (1) Two strategies are about trees being cut or planted: one cuts carefully, one plants. (2) One is about farming without clearing. (3) One is about protecting an area by law. (4) One is about watching from space.
Parallel worked example for Support (model it, do not give the task answer): Match: ecotourism, international agreements. Choices: countries agreeing together to protect forests or ban hardwood imports; small-scale tourism that earns money from the forest while leaving it standing. Tourism is the one about visitors.; Agreements are between countries.. Answer: Ecotourism: small-scale tourism that earns money from the forest while leaving it standing. International agreements: countries agreeing together to protect forests..
Core — reveal the hint only on request: Cut carefully, farm underneath, protect by law, plant again, watch from above.
Stretch — no help; when finished: Rank the five strategies for sustainability, as you did on your radar graph, and justify your top and bottom choices with an advantage and a disadvantage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Five ways to manage a rainforest.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sustainable management strategy to its description.
Support — work through the steps with the group: (1) Two strategies are about trees being cut or planted: one cuts carefully, one plants. (2) One is about farming without clearing. (3) One is about protecting an area by law. (4) One is about watching from space.
Parallel worked example for Support (model it, do not give the task answer): Match: ecotourism, international agreements. Choices: countries agreeing together to protect forests or ban hardwood imports; small-scale tourism that earns money from the forest while leaving it standing. Tourism is the one about visitors.; Agreements are between countries.. Answer: Ecotourism: small-scale tourism that earns money from the forest while leaving it standing. International agreements: countries agreeing together to protect forests..
Core — reveal the hint only on request: Cut carefully, farm underneath, protect by law, plant again, watch from above.
Stretch — no help; when finished: Rank the five strategies for sustainability, as you did on your radar graph, and justify your top and bottom choices with an advantage and a disadvantage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Five ways to manage a rainforest.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sustainable management strategy to its description.
Support — work through the steps with the group: (1) Two strategies are about trees being cut or planted: one cuts carefully, one plants. (2) One is about farming without clearing. (3) One is about protecting an area by law. (4) One is about watching from space.
Parallel worked example for Support (model it, do not give the task answer): Match: ecotourism, international agreements. Choices: countries agreeing together to protect forests or ban hardwood imports; small-scale tourism that earns money from the forest while leaving it standing. Tourism is the one about visitors.; Agreements are between countries.. Answer: Ecotourism: small-scale tourism that earns money from the forest while leaving it standing. International agreements: countries agreeing together to protect forests..
Core — reveal the hint only on request: Cut carefully, farm underneath, protect by law, plant again, watch from above.
Stretch — no help; when finished: Rank the five strategies for sustainability, as you did on your radar graph, and justify your top and bottom choices with an advantage and a disadvantage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Five ways to manage a rainforest.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sustainable management strategy to its description.
Support — work through the steps with the group: (1) Two strategies are about trees being cut or planted: one cuts carefully, one plants. (2) One is about farming without clearing. (3) One is about protecting an area by law. (4) One is about watching from space.
Parallel worked example for Support (model it, do not give the task answer): Match: ecotourism, international agreements. Choices: countries agreeing together to protect forests or ban hardwood imports; small-scale tourism that earns money from the forest while leaving it standing. Tourism is the one about visitors.; Agreements are between countries.. Answer: Ecotourism: small-scale tourism that earns money from the forest while leaving it standing. International agreements: countries agreeing together to protect forests..
Core — reveal the hint only on request: Cut carefully, farm underneath, protect by law, plant again, watch from above.
Stretch — no help; when finished: Rank the five strategies for sustainability, as you did on your radar graph, and justify your top and bottom choices with an advantage and a disadvantage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Fifty years ago 99 % of Malaysia was covered in rainforest; today it is 60 %. By how many percentage points has the forest cover fallen?
Answer: 39 percentage points. 99 − 60 = 39 percentage points. More than a third of the country has lost its forest cover in half a century.
Source of this question: gate item 1 re-asked (options rotated) — this chapter has no third quick-check module.
The ebook also holds task 3, "Worth more standing?",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Forest lost every hour. Reveal the answer; pupils mark their own work in a different colour, then read the "why" together. Same destination for every lane, so one answer serves the whole class.
Answer: 2520 hectares
Why: 42 hectares every minute, 60 minutes in an hour: 42 × 60 = 2520 hectares an hour. Over a day that becomes 60 480 hectares, and over a year about 22 million.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Five ways to manage a rainforest. Reveal the answer; pupils mark their own work in a different colour, then read the "why" together. Same destination for every lane, so one answer serves the whole class.
Answer: Selective logging  →  A  Only trees above a certain height are cut, so the forest regains maturity in 30 to 50 years; Agroforestry  →  C  Growing crops such as coffee and cacao under the shade of the existing trees; Forest reserves  →  B  Large protected areas, such as national parks, where no logging is allowed; Afforestation  →  E  Replanting trees to replace those that have been cut down; Satellite monitoring  →  D  Using satellite images and GIS to track forest loss and catch illegal logging
Why: Selective logging cuts only mature trees; agroforestry farms under the canopy; forest reserves protect areas by law; afforestation replants; satellite monitoring watches for illegal clearing. Each lets people use or protect the forest without destroying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39 percentage points
Why: 99 − 60 = 39 percentage points. More than a third of the country has lost its forest cover in half a century.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The Living World: Ecosystems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The Living World: Ecosystems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E1D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Living World: Ecosystems · AQA 8035</a:t>
            </a:r>
            <a:endParaRPr lang="en-US" sz="1800" dirty="0"/>
          </a:p>
        </p:txBody>
      </p:sp>
      <p:sp>
        <p:nvSpPr>
          <p:cNvPr id="10" name="deck-title"/>
          <p:cNvSpPr txBox="1"/>
          <p:nvPr/>
        </p:nvSpPr>
        <p:spPr>
          <a:xfrm>
            <a:off x="548640" y="1636776"/>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Malaysia's rainforest: why it is cut down, and how rainforests can be managed</a:t>
            </a:r>
            <a:endParaRPr lang="en-US" sz="2800" dirty="0"/>
          </a:p>
        </p:txBody>
      </p:sp>
      <p:sp>
        <p:nvSpPr>
          <p:cNvPr id="11" name="lessons-card"/>
          <p:cNvSpPr/>
          <p:nvPr/>
        </p:nvSpPr>
        <p:spPr>
          <a:xfrm>
            <a:off x="548640" y="3379216"/>
            <a:ext cx="5287975" cy="2427224"/>
          </a:xfrm>
          <a:prstGeom prst="roundRect">
            <a:avLst>
              <a:gd name="adj" fmla="val 3014"/>
            </a:avLst>
          </a:prstGeom>
          <a:solidFill>
            <a:srgbClr val="ECF0ED"/>
          </a:solidFill>
          <a:ln/>
        </p:spPr>
      </p:sp>
      <p:sp>
        <p:nvSpPr>
          <p:cNvPr id="12" name="lessons"/>
          <p:cNvSpPr txBox="1"/>
          <p:nvPr/>
        </p:nvSpPr>
        <p:spPr>
          <a:xfrm>
            <a:off x="685800" y="3470656"/>
            <a:ext cx="5013655" cy="2244344"/>
          </a:xfrm>
          <a:prstGeom prst="rect">
            <a:avLst/>
          </a:prstGeom>
          <a:noFill/>
          <a:ln/>
        </p:spPr>
        <p:txBody>
          <a:bodyPr wrap="square" lIns="63500" tIns="63500" rIns="63500" bIns="63500" rtlCol="0" anchor="t"/>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Lessons covered</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9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Causes of deforestation in Malaysia</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10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Impacts of deforestation in the Malaysian rainforest</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11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Sustainable management of the Amazon rainforest</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12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The rainforest stakeholders debate</a:t>
            </a:r>
            <a:endParaRPr lang="en-US" sz="18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CF0ED"/>
          </a:solidFill>
          <a:ln w="12700">
            <a:solidFill>
              <a:srgbClr val="B2C4B7"/>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ecosystems work, why are the world's great biomes where they are, and how can people use rainforests and deserts without destroying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Fifty years ago 99 % of Malaysia was covered in rainforest; today it is 60 %. By how many percentage points has the forest cover fallen?</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Answer:  </a:t>
            </a:r>
            <a:pPr algn="l" indent="0" marL="0">
              <a:buNone/>
            </a:pPr>
            <a:r>
              <a:rPr lang="en-US" sz="2200" dirty="0">
                <a:solidFill>
                  <a:srgbClr val="1E2229"/>
                </a:solidFill>
                <a:latin typeface="Calibri" pitchFamily="34" charset="0"/>
                <a:ea typeface="Calibri" pitchFamily="34" charset="-122"/>
                <a:cs typeface="Calibri" pitchFamily="34" charset="-120"/>
              </a:rPr>
              <a:t>________ percentage points</a:t>
            </a:r>
            <a:endParaRPr lang="en-US" sz="2200" dirty="0"/>
          </a:p>
        </p:txBody>
      </p:sp>
      <p:sp>
        <p:nvSpPr>
          <p:cNvPr id="12" name="card"/>
          <p:cNvSpPr/>
          <p:nvPr/>
        </p:nvSpPr>
        <p:spPr>
          <a:xfrm>
            <a:off x="4338218" y="1389888"/>
            <a:ext cx="3515258" cy="4754880"/>
          </a:xfrm>
          <a:prstGeom prst="roundRect">
            <a:avLst>
              <a:gd name="adj" fmla="val 1561"/>
            </a:avLst>
          </a:prstGeom>
          <a:solidFill>
            <a:srgbClr val="F2F5F2"/>
          </a:solidFill>
          <a:ln w="12700">
            <a:solidFill>
              <a:srgbClr val="BCCBC0"/>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How is Malaysia best described?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high-income country (HIC) in South East Asia</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low-income country (LIC) in South America</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An NEE in West Africa</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newly emerging economy (NEE) in South East Asia</a:t>
            </a:r>
            <a:endParaRPr lang="en-US" sz="1800" dirty="0"/>
          </a:p>
        </p:txBody>
      </p:sp>
      <p:sp>
        <p:nvSpPr>
          <p:cNvPr id="17" name="card"/>
          <p:cNvSpPr/>
          <p:nvPr/>
        </p:nvSpPr>
        <p:spPr>
          <a:xfrm>
            <a:off x="8127797" y="1389888"/>
            <a:ext cx="3515258" cy="4754880"/>
          </a:xfrm>
          <a:prstGeom prst="roundRect">
            <a:avLst>
              <a:gd name="adj" fmla="val 1561"/>
            </a:avLst>
          </a:prstGeom>
          <a:solidFill>
            <a:srgbClr val="F2F5F2"/>
          </a:solidFill>
          <a:ln w="12700">
            <a:solidFill>
              <a:srgbClr val="BCCBC0"/>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Cutting down only the trees that have reached a certain height, and leaving the younger ones, is called ___ logging.</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selective  ·  illegal  ·  clear-fell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39 percentage points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Fifty years ago 99 % of Malaysia was covered in rainforest; today it is 60 %. By how many percentage points has the forest cover fallen?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99 − 60 = 39 percentage points. More than a third of the country has lost its forest cover in half a century.</a:t>
            </a:r>
            <a:endParaRPr lang="en-US" sz="1800" dirty="0"/>
          </a:p>
        </p:txBody>
      </p:sp>
      <p:sp>
        <p:nvSpPr>
          <p:cNvPr id="14" name="card"/>
          <p:cNvSpPr/>
          <p:nvPr/>
        </p:nvSpPr>
        <p:spPr>
          <a:xfrm>
            <a:off x="4338218" y="1389888"/>
            <a:ext cx="3515258" cy="4754880"/>
          </a:xfrm>
          <a:prstGeom prst="roundRect">
            <a:avLst>
              <a:gd name="adj" fmla="val 1561"/>
            </a:avLst>
          </a:prstGeom>
          <a:solidFill>
            <a:srgbClr val="F2F5F2"/>
          </a:solidFill>
          <a:ln w="12700">
            <a:solidFill>
              <a:srgbClr val="BCCBC0"/>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1295908"/>
          </a:xfrm>
          <a:prstGeom prst="roundRect">
            <a:avLst>
              <a:gd name="adj" fmla="val 8467"/>
            </a:avLst>
          </a:prstGeom>
          <a:solidFill>
            <a:srgbClr val="EDE1CA"/>
          </a:solidFill>
          <a:ln w="19050">
            <a:solidFill>
              <a:srgbClr val="B8862B"/>
            </a:solidFill>
            <a:prstDash val="solid"/>
          </a:ln>
        </p:spPr>
      </p:sp>
      <p:sp>
        <p:nvSpPr>
          <p:cNvPr id="19" name="answer"/>
          <p:cNvSpPr txBox="1"/>
          <p:nvPr/>
        </p:nvSpPr>
        <p:spPr>
          <a:xfrm>
            <a:off x="4612538"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A newly emerging economy (NEE) in South East Asia</a:t>
            </a:r>
            <a:endParaRPr lang="en-US" sz="2200" dirty="0"/>
          </a:p>
        </p:txBody>
      </p:sp>
      <p:sp>
        <p:nvSpPr>
          <p:cNvPr id="20" name="card-body"/>
          <p:cNvSpPr txBox="1"/>
          <p:nvPr/>
        </p:nvSpPr>
        <p:spPr>
          <a:xfrm>
            <a:off x="4521098"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Malaysia is a newly emerging economy in South East Asia. Your true-or-false task corrected the card that called it an HIC.</a:t>
            </a:r>
            <a:endParaRPr lang="en-US" sz="1800" dirty="0"/>
          </a:p>
        </p:txBody>
      </p:sp>
      <p:sp>
        <p:nvSpPr>
          <p:cNvPr id="21" name="card"/>
          <p:cNvSpPr/>
          <p:nvPr/>
        </p:nvSpPr>
        <p:spPr>
          <a:xfrm>
            <a:off x="8127797" y="1389888"/>
            <a:ext cx="3515258" cy="4754880"/>
          </a:xfrm>
          <a:prstGeom prst="roundRect">
            <a:avLst>
              <a:gd name="adj" fmla="val 1561"/>
            </a:avLst>
          </a:prstGeom>
          <a:solidFill>
            <a:srgbClr val="F2F5F2"/>
          </a:solidFill>
          <a:ln w="12700">
            <a:solidFill>
              <a:srgbClr val="BCCBC0"/>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selective</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Cutting down only the trees that have reached a certain height, and leaving the younger ones, is called ___ logging.</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Selective logging selects only mature trees, so the canopy survives and the forest regains maturity in 30 to 50 years.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deforestation</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cutting down and clearing forests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Deforestation for palm oil has removed huge areas of Malaysia's forest.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NEE</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newly emerging economy: a country growing richer fast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Malaysia is an NEE, so it needs money from its land and resources.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selective logging</a:t>
            </a:r>
            <a:endParaRPr lang="en-US" sz="2600" dirty="0"/>
          </a:p>
        </p:txBody>
      </p:sp>
      <p:sp>
        <p:nvSpPr>
          <p:cNvPr id="23" name="word-rule"/>
          <p:cNvSpPr/>
          <p:nvPr/>
        </p:nvSpPr>
        <p:spPr>
          <a:xfrm>
            <a:off x="8310677" y="2558288"/>
            <a:ext cx="3149498" cy="0"/>
          </a:xfrm>
          <a:prstGeom prst="line">
            <a:avLst/>
          </a:prstGeom>
          <a:ln w="12700">
            <a:solidFill>
              <a:srgbClr val="B2C4B7"/>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cutting only the trees that have reached a certain height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With selective logging, the young trees are left to grow.</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agroforestry</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growing crops under the shade of forest trees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Agroforestry lets farmers grow coffee without clearing the forest.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afforestation</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planting trees where they have been cut down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Afforestation in Brazil aims to plant a billion trees.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sustainable</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meeting our needs now without spoiling things for the future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Sustainable use of the forest leaves it standing for the next generation.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Malaysia is a country in South East Asia.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Fifty years ago, 99 % of it was covered in rainforest.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Today it is 60 %.</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forest is cut down for timber, for palm oil farms, for mines and for roads and dams.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Poor families also clear small plots to grow food.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Cutting the forest has local and global effects.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Without tree roots, rain washes the soil away.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Animals and plants lose their homes, so biodiversity falls.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Trees store carbon, so burning them adds to climate change.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But logging and farming also bring jobs and money to a growing country.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Sustainable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management tries to use the forest without destroying it.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Loggers can take only the tall trees and leave the young ones.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Farmers can grow crops under the trees instead of clearing them.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Satellites can watch the forest and catch illegal loggers.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Malaysia: a rainforest country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99 to 60 in fifty years. Say it with both numbers and the time span, and the examiner knows you know the case study.</a:t>
            </a:r>
            <a:endParaRPr lang="en-US" sz="1800" dirty="0"/>
          </a:p>
        </p:txBody>
      </p:sp>
      <p:sp>
        <p:nvSpPr>
          <p:cNvPr id="11" name="bullet-card"/>
          <p:cNvSpPr/>
          <p:nvPr/>
        </p:nvSpPr>
        <p:spPr>
          <a:xfrm>
            <a:off x="548640" y="1389888"/>
            <a:ext cx="11094415" cy="742696"/>
          </a:xfrm>
          <a:prstGeom prst="roundRect">
            <a:avLst>
              <a:gd name="adj" fmla="val 9850"/>
            </a:avLst>
          </a:prstGeom>
          <a:solidFill>
            <a:srgbClr val="F0F3F1"/>
          </a:solidFill>
          <a:ln/>
        </p:spPr>
      </p:sp>
      <p:sp>
        <p:nvSpPr>
          <p:cNvPr id="12" name="bullet-hex"/>
          <p:cNvSpPr/>
          <p:nvPr/>
        </p:nvSpPr>
        <p:spPr>
          <a:xfrm>
            <a:off x="676656" y="1594943"/>
            <a:ext cx="384048" cy="332586"/>
          </a:xfrm>
          <a:prstGeom prst="hexagon">
            <a:avLst/>
          </a:prstGeom>
          <a:solidFill>
            <a:srgbClr val="3F6B4A"/>
          </a:solidFill>
          <a:ln/>
        </p:spPr>
      </p:sp>
      <p:sp>
        <p:nvSpPr>
          <p:cNvPr id="13" name="bullet"/>
          <p:cNvSpPr txBox="1"/>
          <p:nvPr/>
        </p:nvSpPr>
        <p:spPr>
          <a:xfrm>
            <a:off x="1143000" y="1389888"/>
            <a:ext cx="10408615" cy="74269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Malaysia is a country in South East Asia with its capital at Kuala Lumpur.</a:t>
            </a:r>
            <a:endParaRPr lang="en-US" sz="2200" dirty="0"/>
          </a:p>
        </p:txBody>
      </p:sp>
      <p:sp>
        <p:nvSpPr>
          <p:cNvPr id="14" name="bullet-card"/>
          <p:cNvSpPr/>
          <p:nvPr/>
        </p:nvSpPr>
        <p:spPr>
          <a:xfrm>
            <a:off x="548640" y="2278888"/>
            <a:ext cx="11094415" cy="1666240"/>
          </a:xfrm>
          <a:prstGeom prst="roundRect">
            <a:avLst>
              <a:gd name="adj" fmla="val 4390"/>
            </a:avLst>
          </a:prstGeom>
          <a:solidFill>
            <a:srgbClr val="F0F3F1"/>
          </a:solidFill>
          <a:ln/>
        </p:spPr>
      </p:sp>
      <p:sp>
        <p:nvSpPr>
          <p:cNvPr id="15" name="bullet-hex"/>
          <p:cNvSpPr/>
          <p:nvPr/>
        </p:nvSpPr>
        <p:spPr>
          <a:xfrm>
            <a:off x="676656" y="2945715"/>
            <a:ext cx="384048" cy="332586"/>
          </a:xfrm>
          <a:prstGeom prst="hexagon">
            <a:avLst/>
          </a:prstGeom>
          <a:solidFill>
            <a:srgbClr val="B8862B"/>
          </a:solidFill>
          <a:ln/>
        </p:spPr>
      </p:sp>
      <p:sp>
        <p:nvSpPr>
          <p:cNvPr id="16" name="bullet"/>
          <p:cNvSpPr txBox="1"/>
          <p:nvPr/>
        </p:nvSpPr>
        <p:spPr>
          <a:xfrm>
            <a:off x="1143000" y="2278888"/>
            <a:ext cx="10408615" cy="166624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forest that remains is rich in biodiversity. Peninsular Malaysia, the mainland part of the country, is home to around 600 species of bird, among them the mountain peacock-pheasant and the Malayan whistling thrush, and to over 25 % of all the plant species found in Malaysia (not 55 %, as one of your true-or-false cards claimed).</a:t>
            </a:r>
            <a:endParaRPr lang="en-US" sz="2200" dirty="0"/>
          </a:p>
        </p:txBody>
      </p:sp>
      <p:sp>
        <p:nvSpPr>
          <p:cNvPr id="17" name="bullet-card"/>
          <p:cNvSpPr/>
          <p:nvPr/>
        </p:nvSpPr>
        <p:spPr>
          <a:xfrm>
            <a:off x="548640" y="4091432"/>
            <a:ext cx="11094415" cy="984504"/>
          </a:xfrm>
          <a:prstGeom prst="roundRect">
            <a:avLst>
              <a:gd name="adj" fmla="val 7430"/>
            </a:avLst>
          </a:prstGeom>
          <a:solidFill>
            <a:srgbClr val="F0F3F1"/>
          </a:solidFill>
          <a:ln/>
        </p:spPr>
      </p:sp>
      <p:sp>
        <p:nvSpPr>
          <p:cNvPr id="18" name="bullet-hex"/>
          <p:cNvSpPr/>
          <p:nvPr/>
        </p:nvSpPr>
        <p:spPr>
          <a:xfrm>
            <a:off x="676656" y="4417391"/>
            <a:ext cx="384048" cy="332586"/>
          </a:xfrm>
          <a:prstGeom prst="hexagon">
            <a:avLst/>
          </a:prstGeom>
          <a:solidFill>
            <a:srgbClr val="3F6B4A"/>
          </a:solidFill>
          <a:ln/>
        </p:spPr>
      </p:sp>
      <p:sp>
        <p:nvSpPr>
          <p:cNvPr id="19" name="bullet"/>
          <p:cNvSpPr txBox="1"/>
          <p:nvPr/>
        </p:nvSpPr>
        <p:spPr>
          <a:xfrm>
            <a:off x="1143000" y="4091432"/>
            <a:ext cx="10408615" cy="98450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 the exam, Malaysia is your named example for both causes and impacts of deforestation.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Why rainforests are cut down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Keep multiplying by the number of smaller units in the bigger one: 60, 60, 24, 365. Write the units at every step.</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Deforestation is the action or process of clearing forests. Your keyword list gives the main causes in Malaysia.</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Your card sort added the wider reasons behind the clearing, using examples from South America as well as Asia.</a:t>
            </a:r>
            <a:endParaRPr lang="en-US" sz="20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Notice that almost every cause is economic. Timber, oil palm, minerals, beef and electricity all earn money, and a country repaying debt needs money fast.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Worked example (1 of 2): Why rainforests are cut down</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CF0ED"/>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An area of rainforest the size of a football pitch, about 0.7 hectares, is destroyed every second. How much is lost in a minute, an hour, a day and a year?</a:t>
            </a:r>
            <a:endParaRPr lang="en-US" sz="2200" dirty="0"/>
          </a:p>
        </p:txBody>
      </p:sp>
      <p:sp>
        <p:nvSpPr>
          <p:cNvPr id="9" name="step-box"/>
          <p:cNvSpPr/>
          <p:nvPr/>
        </p:nvSpPr>
        <p:spPr>
          <a:xfrm>
            <a:off x="548640" y="2655824"/>
            <a:ext cx="3423818" cy="1463040"/>
          </a:xfrm>
          <a:prstGeom prst="roundRect">
            <a:avLst>
              <a:gd name="adj" fmla="val 5000"/>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minute has 60 seconds: 0.7 × 60 = 42 hectares a minute.</a:t>
            </a:r>
            <a:endParaRPr lang="en-US" sz="1800" dirty="0"/>
          </a:p>
        </p:txBody>
      </p:sp>
      <p:sp>
        <p:nvSpPr>
          <p:cNvPr id="13" name="arrow"/>
          <p:cNvSpPr/>
          <p:nvPr/>
        </p:nvSpPr>
        <p:spPr>
          <a:xfrm>
            <a:off x="4045610" y="3250184"/>
            <a:ext cx="274320" cy="274320"/>
          </a:xfrm>
          <a:prstGeom prst="rightArrow">
            <a:avLst/>
          </a:prstGeom>
          <a:solidFill>
            <a:srgbClr val="B8862B"/>
          </a:solidFill>
          <a:ln/>
        </p:spPr>
      </p:sp>
      <p:sp>
        <p:nvSpPr>
          <p:cNvPr id="14" name="step-box"/>
          <p:cNvSpPr/>
          <p:nvPr/>
        </p:nvSpPr>
        <p:spPr>
          <a:xfrm>
            <a:off x="4383938" y="2655824"/>
            <a:ext cx="3423818" cy="1463040"/>
          </a:xfrm>
          <a:prstGeom prst="roundRect">
            <a:avLst>
              <a:gd name="adj" fmla="val 5000"/>
            </a:avLst>
          </a:prstGeom>
          <a:solidFill>
            <a:srgbClr val="FFFFFF"/>
          </a:solidFill>
          <a:ln w="15875">
            <a:solidFill>
              <a:srgbClr val="95AE9B"/>
            </a:solidFill>
            <a:prstDash val="solid"/>
          </a:ln>
        </p:spPr>
      </p:sp>
      <p:sp>
        <p:nvSpPr>
          <p:cNvPr id="15" name="step-hex"/>
          <p:cNvSpPr/>
          <p:nvPr/>
        </p:nvSpPr>
        <p:spPr>
          <a:xfrm>
            <a:off x="4521098" y="2765552"/>
            <a:ext cx="530352" cy="459285"/>
          </a:xfrm>
          <a:prstGeom prst="hexagon">
            <a:avLst/>
          </a:prstGeom>
          <a:solidFill>
            <a:srgbClr val="3F6B4A"/>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An hour has 60 minutes: 42 × 60 = 2520 hectares an hour.</a:t>
            </a:r>
            <a:endParaRPr lang="en-US" sz="1800" dirty="0"/>
          </a:p>
        </p:txBody>
      </p:sp>
      <p:sp>
        <p:nvSpPr>
          <p:cNvPr id="18" name="arrow"/>
          <p:cNvSpPr/>
          <p:nvPr/>
        </p:nvSpPr>
        <p:spPr>
          <a:xfrm>
            <a:off x="7880909" y="3250184"/>
            <a:ext cx="274320" cy="274320"/>
          </a:xfrm>
          <a:prstGeom prst="rightArrow">
            <a:avLst/>
          </a:prstGeom>
          <a:solidFill>
            <a:srgbClr val="B8862B"/>
          </a:solidFill>
          <a:ln/>
        </p:spPr>
      </p:sp>
      <p:sp>
        <p:nvSpPr>
          <p:cNvPr id="19" name="step-box"/>
          <p:cNvSpPr/>
          <p:nvPr/>
        </p:nvSpPr>
        <p:spPr>
          <a:xfrm>
            <a:off x="8219237" y="2655824"/>
            <a:ext cx="3423818" cy="1463040"/>
          </a:xfrm>
          <a:prstGeom prst="roundRect">
            <a:avLst>
              <a:gd name="adj" fmla="val 5000"/>
            </a:avLst>
          </a:prstGeom>
          <a:solidFill>
            <a:srgbClr val="FFFFFF"/>
          </a:solidFill>
          <a:ln w="15875">
            <a:solidFill>
              <a:srgbClr val="95AE9B"/>
            </a:solidFill>
            <a:prstDash val="solid"/>
          </a:ln>
        </p:spPr>
      </p:sp>
      <p:sp>
        <p:nvSpPr>
          <p:cNvPr id="20" name="step-hex"/>
          <p:cNvSpPr/>
          <p:nvPr/>
        </p:nvSpPr>
        <p:spPr>
          <a:xfrm>
            <a:off x="8356397" y="2765552"/>
            <a:ext cx="530352" cy="459285"/>
          </a:xfrm>
          <a:prstGeom prst="hexagon">
            <a:avLst/>
          </a:prstGeom>
          <a:solidFill>
            <a:srgbClr val="3F6B4A"/>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day has 24 hours: 2520 × 24 = 60 480 hectares a day.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Worked example (2 of 2): Why rainforests are cut down</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CF0ED"/>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An area of rainforest the size of a football pitch, about 0.7 hectares, is destroyed every second. How much is lost in a minute, an hour, a day and a year?</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year has 365 days: 60 480 × 365 = 22 075 200 hectares a year.</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6438748" y="2765552"/>
            <a:ext cx="530352" cy="459285"/>
          </a:xfrm>
          <a:prstGeom prst="hexagon">
            <a:avLst/>
          </a:prstGeom>
          <a:solidFill>
            <a:srgbClr val="3F6B4A"/>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Make sense of it: 100 hectares is 1 km², so that is 220 752 km² a year, nearly a quarter of a million square kilometres, which is about the area of the UK.</a:t>
            </a:r>
            <a:endParaRPr lang="en-US" sz="1800" dirty="0"/>
          </a:p>
        </p:txBody>
      </p:sp>
      <p:sp>
        <p:nvSpPr>
          <p:cNvPr id="18" name="worked-answer"/>
          <p:cNvSpPr/>
          <p:nvPr/>
        </p:nvSpPr>
        <p:spPr>
          <a:xfrm>
            <a:off x="1463040" y="5313680"/>
            <a:ext cx="9265615" cy="831088"/>
          </a:xfrm>
          <a:prstGeom prst="roundRect">
            <a:avLst>
              <a:gd name="adj" fmla="val 22005"/>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42 hectares a minute; 2520 an hour; 60 480 a day; about 22 million hectares (roughly 220 000 km², about the size of the UK) a year.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Impacts: local and global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Local impacts: soil, water, wildlife, people nearby. Global impacts: carbon and climate. Name which is which.</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set four objectives on the impacts of deforestation in Malaysia, and the first is soil erosion.</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third impact is global: climate change. Trees take in carbon dioxide as they grow and store the carbon in their wood.</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fourth objective is economic, and it has two sides.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Managing rainforests sustainably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Five strategies, five examples: height limit (30 to 50 years), coffee under the canopy, Tumucumaque 2002, a billion trees in Para, satellites and a 70 % fall.</a:t>
            </a:r>
            <a:endParaRPr lang="en-US" sz="1800" dirty="0"/>
          </a:p>
        </p:txBody>
      </p:sp>
      <p:sp>
        <p:nvSpPr>
          <p:cNvPr id="11" name="bullet-card"/>
          <p:cNvSpPr/>
          <p:nvPr/>
        </p:nvSpPr>
        <p:spPr>
          <a:xfrm>
            <a:off x="548640" y="1389888"/>
            <a:ext cx="11094415" cy="924560"/>
          </a:xfrm>
          <a:prstGeom prst="roundRect">
            <a:avLst>
              <a:gd name="adj" fmla="val 7912"/>
            </a:avLst>
          </a:prstGeom>
          <a:solidFill>
            <a:srgbClr val="F0F3F1"/>
          </a:solidFill>
          <a:ln/>
        </p:spPr>
      </p:sp>
      <p:sp>
        <p:nvSpPr>
          <p:cNvPr id="12" name="bullet-hex"/>
          <p:cNvSpPr/>
          <p:nvPr/>
        </p:nvSpPr>
        <p:spPr>
          <a:xfrm>
            <a:off x="676656" y="1685875"/>
            <a:ext cx="384048" cy="332586"/>
          </a:xfrm>
          <a:prstGeom prst="hexagon">
            <a:avLst/>
          </a:prstGeom>
          <a:solidFill>
            <a:srgbClr val="3F6B4A"/>
          </a:solidFill>
          <a:ln/>
        </p:spPr>
      </p:sp>
      <p:sp>
        <p:nvSpPr>
          <p:cNvPr id="13" name="bullet"/>
          <p:cNvSpPr txBox="1"/>
          <p:nvPr/>
        </p:nvSpPr>
        <p:spPr>
          <a:xfrm>
            <a:off x="1143000" y="1389888"/>
            <a:ext cx="10408615" cy="92456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Sustainable development means meeting the needs of the present without compromising the needs of the future.</a:t>
            </a:r>
            <a:endParaRPr lang="en-US" sz="2000" dirty="0"/>
          </a:p>
        </p:txBody>
      </p:sp>
      <p:sp>
        <p:nvSpPr>
          <p:cNvPr id="14" name="bullet-card"/>
          <p:cNvSpPr/>
          <p:nvPr/>
        </p:nvSpPr>
        <p:spPr>
          <a:xfrm>
            <a:off x="548640" y="2460752"/>
            <a:ext cx="11094415" cy="924560"/>
          </a:xfrm>
          <a:prstGeom prst="roundRect">
            <a:avLst>
              <a:gd name="adj" fmla="val 7912"/>
            </a:avLst>
          </a:prstGeom>
          <a:solidFill>
            <a:srgbClr val="F0F3F1"/>
          </a:solidFill>
          <a:ln/>
        </p:spPr>
      </p:sp>
      <p:sp>
        <p:nvSpPr>
          <p:cNvPr id="15" name="bullet-hex"/>
          <p:cNvSpPr/>
          <p:nvPr/>
        </p:nvSpPr>
        <p:spPr>
          <a:xfrm>
            <a:off x="676656" y="2756739"/>
            <a:ext cx="384048" cy="332586"/>
          </a:xfrm>
          <a:prstGeom prst="hexagon">
            <a:avLst/>
          </a:prstGeom>
          <a:solidFill>
            <a:srgbClr val="B8862B"/>
          </a:solidFill>
          <a:ln/>
        </p:spPr>
      </p:sp>
      <p:sp>
        <p:nvSpPr>
          <p:cNvPr id="16" name="bullet"/>
          <p:cNvSpPr txBox="1"/>
          <p:nvPr/>
        </p:nvSpPr>
        <p:spPr>
          <a:xfrm>
            <a:off x="1143000" y="2460752"/>
            <a:ext cx="10408615" cy="92456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Forest reserves, also called national parks, are large protected areas where no logging is allowed, preserving untouched forest for the future.</a:t>
            </a:r>
            <a:endParaRPr lang="en-US" sz="2000" dirty="0"/>
          </a:p>
        </p:txBody>
      </p:sp>
      <p:sp>
        <p:nvSpPr>
          <p:cNvPr id="17" name="bullet-card"/>
          <p:cNvSpPr/>
          <p:nvPr/>
        </p:nvSpPr>
        <p:spPr>
          <a:xfrm>
            <a:off x="548640" y="3531616"/>
            <a:ext cx="11094415" cy="1544320"/>
          </a:xfrm>
          <a:prstGeom prst="roundRect">
            <a:avLst>
              <a:gd name="adj" fmla="val 4737"/>
            </a:avLst>
          </a:prstGeom>
          <a:solidFill>
            <a:srgbClr val="F0F3F1"/>
          </a:solidFill>
          <a:ln/>
        </p:spPr>
      </p:sp>
      <p:sp>
        <p:nvSpPr>
          <p:cNvPr id="18" name="bullet-hex"/>
          <p:cNvSpPr/>
          <p:nvPr/>
        </p:nvSpPr>
        <p:spPr>
          <a:xfrm>
            <a:off x="676656" y="4137483"/>
            <a:ext cx="384048" cy="332586"/>
          </a:xfrm>
          <a:prstGeom prst="hexagon">
            <a:avLst/>
          </a:prstGeom>
          <a:solidFill>
            <a:srgbClr val="3F6B4A"/>
          </a:solidFill>
          <a:ln/>
        </p:spPr>
      </p:sp>
      <p:sp>
        <p:nvSpPr>
          <p:cNvPr id="19" name="bullet"/>
          <p:cNvSpPr txBox="1"/>
          <p:nvPr/>
        </p:nvSpPr>
        <p:spPr>
          <a:xfrm>
            <a:off x="1143000" y="3531616"/>
            <a:ext cx="10408615" cy="154432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Why is sustainable management so hard in the Amazon? Your class listed the barriers: it covers nine South American countries, which must co-operate; poverty means the need to develop outweighs protection; illegal logging is hard to stop; people need education; patrolling a vast area costs money; and the growing demand for food, farmland and palm oil is difficult to resist.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Forest lost every hour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About 42 hectares of rainforest are cleared every minute. How many hectares are cleared in one hour?</a:t>
            </a:r>
            <a:endParaRPr lang="en-US" sz="2600" dirty="0"/>
          </a:p>
          <a:p>
            <a:pPr algn="ctr" indent="0" marL="0">
              <a:buNone/>
            </a:pPr>
            <a:r>
              <a:rPr lang="en-US" sz="2400" b="1" dirty="0">
                <a:solidFill>
                  <a:srgbClr val="3F6B4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hectares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Forest lost every hour</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About 42 hectares of rainforest are cleared every minute. How many hectares are cleared in one hour?</a:t>
            </a:r>
            <a:endParaRPr lang="en-US" sz="2000" dirty="0"/>
          </a:p>
        </p:txBody>
      </p:sp>
      <p:sp>
        <p:nvSpPr>
          <p:cNvPr id="12" name="col-Support"/>
          <p:cNvSpPr/>
          <p:nvPr/>
        </p:nvSpPr>
        <p:spPr>
          <a:xfrm>
            <a:off x="548640" y="2593848"/>
            <a:ext cx="4667802" cy="3550920"/>
          </a:xfrm>
          <a:prstGeom prst="roundRect">
            <a:avLst>
              <a:gd name="adj" fmla="val 1545"/>
            </a:avLst>
          </a:prstGeom>
          <a:solidFill>
            <a:srgbClr val="ECF0ED"/>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how many minutes are there in one hour? 60.</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42 hectares happens once every minute, so it happens 60 times in an hour.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Multiply: 42 × 60.</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with a simpler sum: 40 × 60 = 2400, then add 2 × 60 = 120.</a:t>
            </a:r>
            <a:endParaRPr lang="en-US" sz="1800" dirty="0"/>
          </a:p>
        </p:txBody>
      </p:sp>
      <p:sp>
        <p:nvSpPr>
          <p:cNvPr id="17" name="col-Core"/>
          <p:cNvSpPr/>
          <p:nvPr/>
        </p:nvSpPr>
        <p:spPr>
          <a:xfrm>
            <a:off x="5490762" y="2593848"/>
            <a:ext cx="2938987" cy="3550920"/>
          </a:xfrm>
          <a:prstGeom prst="roundRect">
            <a:avLst>
              <a:gd name="adj" fmla="val 1867"/>
            </a:avLst>
          </a:prstGeom>
          <a:solidFill>
            <a:srgbClr val="D5DED7"/>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Per minute to per hour means multiply by the number of minutes in an hour.</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3F6B4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Carry the calculation on to a day and a year, convert to square kilometres (100 hectares = 1 km²) and compare the result with the area of the UK, which your lessons say is about the same.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Five ways to manage a rainforest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sustainable management strategy to its description.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The task (1 of 2): Five ways to manage a rainforest</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sustainable management strategy to its description.</a:t>
            </a:r>
            <a:endParaRPr lang="en-US" sz="2200" dirty="0"/>
          </a:p>
        </p:txBody>
      </p:sp>
      <p:sp>
        <p:nvSpPr>
          <p:cNvPr id="11" name="match-card"/>
          <p:cNvSpPr/>
          <p:nvPr/>
        </p:nvSpPr>
        <p:spPr>
          <a:xfrm>
            <a:off x="777240" y="2468331"/>
            <a:ext cx="3081437" cy="1103559"/>
          </a:xfrm>
          <a:prstGeom prst="roundRect">
            <a:avLst>
              <a:gd name="adj" fmla="val 6629"/>
            </a:avLst>
          </a:prstGeom>
          <a:solidFill>
            <a:srgbClr val="F0F3F1"/>
          </a:solidFill>
          <a:ln/>
        </p:spPr>
      </p:sp>
      <p:sp>
        <p:nvSpPr>
          <p:cNvPr id="12" name="match-hex"/>
          <p:cNvSpPr/>
          <p:nvPr/>
        </p:nvSpPr>
        <p:spPr>
          <a:xfrm>
            <a:off x="850392" y="2853818"/>
            <a:ext cx="384048" cy="332586"/>
          </a:xfrm>
          <a:prstGeom prst="hexagon">
            <a:avLst/>
          </a:prstGeom>
          <a:solidFill>
            <a:srgbClr val="3F6B4A"/>
          </a:solidFill>
          <a:ln/>
        </p:spPr>
      </p:sp>
      <p:sp>
        <p:nvSpPr>
          <p:cNvPr id="13" name="match-hex-label"/>
          <p:cNvSpPr txBox="1"/>
          <p:nvPr/>
        </p:nvSpPr>
        <p:spPr>
          <a:xfrm>
            <a:off x="850392"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Selective logging</a:t>
            </a:r>
            <a:endParaRPr lang="en-US" sz="2200" dirty="0"/>
          </a:p>
        </p:txBody>
      </p:sp>
      <p:sp>
        <p:nvSpPr>
          <p:cNvPr id="15" name="match-card"/>
          <p:cNvSpPr/>
          <p:nvPr/>
        </p:nvSpPr>
        <p:spPr>
          <a:xfrm>
            <a:off x="4224437" y="2468331"/>
            <a:ext cx="7190019" cy="1103559"/>
          </a:xfrm>
          <a:prstGeom prst="roundRect">
            <a:avLst>
              <a:gd name="adj" fmla="val 6629"/>
            </a:avLst>
          </a:prstGeom>
          <a:solidFill>
            <a:srgbClr val="F6F0E6"/>
          </a:solidFill>
          <a:ln/>
        </p:spPr>
      </p:sp>
      <p:sp>
        <p:nvSpPr>
          <p:cNvPr id="16" name="match-hex"/>
          <p:cNvSpPr/>
          <p:nvPr/>
        </p:nvSpPr>
        <p:spPr>
          <a:xfrm>
            <a:off x="4297589" y="2853818"/>
            <a:ext cx="384048" cy="332586"/>
          </a:xfrm>
          <a:prstGeom prst="hexagon">
            <a:avLst/>
          </a:prstGeom>
          <a:solidFill>
            <a:srgbClr val="B8862B"/>
          </a:solidFill>
          <a:ln/>
        </p:spPr>
      </p:sp>
      <p:sp>
        <p:nvSpPr>
          <p:cNvPr id="17" name="match-hex-label"/>
          <p:cNvSpPr txBox="1"/>
          <p:nvPr/>
        </p:nvSpPr>
        <p:spPr>
          <a:xfrm>
            <a:off x="4297589"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Only trees above a certain height are cut, so the forest regains maturity in 30 to 50 years</a:t>
            </a:r>
            <a:endParaRPr lang="en-US" sz="2200" dirty="0"/>
          </a:p>
        </p:txBody>
      </p:sp>
      <p:sp>
        <p:nvSpPr>
          <p:cNvPr id="19" name="match-card"/>
          <p:cNvSpPr/>
          <p:nvPr/>
        </p:nvSpPr>
        <p:spPr>
          <a:xfrm>
            <a:off x="777240" y="3663330"/>
            <a:ext cx="3081437" cy="1103559"/>
          </a:xfrm>
          <a:prstGeom prst="roundRect">
            <a:avLst>
              <a:gd name="adj" fmla="val 6629"/>
            </a:avLst>
          </a:prstGeom>
          <a:solidFill>
            <a:srgbClr val="F0F3F1"/>
          </a:solidFill>
          <a:ln/>
        </p:spPr>
      </p:sp>
      <p:sp>
        <p:nvSpPr>
          <p:cNvPr id="20" name="match-hex"/>
          <p:cNvSpPr/>
          <p:nvPr/>
        </p:nvSpPr>
        <p:spPr>
          <a:xfrm>
            <a:off x="850392" y="4048817"/>
            <a:ext cx="384048" cy="332586"/>
          </a:xfrm>
          <a:prstGeom prst="hexagon">
            <a:avLst/>
          </a:prstGeom>
          <a:solidFill>
            <a:srgbClr val="3F6B4A"/>
          </a:solidFill>
          <a:ln/>
        </p:spPr>
      </p:sp>
      <p:sp>
        <p:nvSpPr>
          <p:cNvPr id="21"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663330"/>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Agroforestry</a:t>
            </a:r>
            <a:endParaRPr lang="en-US" sz="2200" dirty="0"/>
          </a:p>
        </p:txBody>
      </p:sp>
      <p:sp>
        <p:nvSpPr>
          <p:cNvPr id="23" name="match-card"/>
          <p:cNvSpPr/>
          <p:nvPr/>
        </p:nvSpPr>
        <p:spPr>
          <a:xfrm>
            <a:off x="4224437" y="3663330"/>
            <a:ext cx="7190019" cy="1103559"/>
          </a:xfrm>
          <a:prstGeom prst="roundRect">
            <a:avLst>
              <a:gd name="adj" fmla="val 6629"/>
            </a:avLst>
          </a:prstGeom>
          <a:solidFill>
            <a:srgbClr val="F6F0E6"/>
          </a:solidFill>
          <a:ln/>
        </p:spPr>
      </p:sp>
      <p:sp>
        <p:nvSpPr>
          <p:cNvPr id="24" name="match-hex"/>
          <p:cNvSpPr/>
          <p:nvPr/>
        </p:nvSpPr>
        <p:spPr>
          <a:xfrm>
            <a:off x="4297589" y="4048817"/>
            <a:ext cx="384048" cy="332586"/>
          </a:xfrm>
          <a:prstGeom prst="hexagon">
            <a:avLst/>
          </a:prstGeom>
          <a:solidFill>
            <a:srgbClr val="B8862B"/>
          </a:solidFill>
          <a:ln/>
        </p:spPr>
      </p:sp>
      <p:sp>
        <p:nvSpPr>
          <p:cNvPr id="25" name="match-hex-label"/>
          <p:cNvSpPr txBox="1"/>
          <p:nvPr/>
        </p:nvSpPr>
        <p:spPr>
          <a:xfrm>
            <a:off x="4297589"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663330"/>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Large protected areas, such as national parks, where no logging is allowed</a:t>
            </a:r>
            <a:endParaRPr lang="en-US" sz="2200" dirty="0"/>
          </a:p>
        </p:txBody>
      </p:sp>
      <p:sp>
        <p:nvSpPr>
          <p:cNvPr id="27" name="match-card"/>
          <p:cNvSpPr/>
          <p:nvPr/>
        </p:nvSpPr>
        <p:spPr>
          <a:xfrm>
            <a:off x="777240" y="4858329"/>
            <a:ext cx="3081437" cy="1103559"/>
          </a:xfrm>
          <a:prstGeom prst="roundRect">
            <a:avLst>
              <a:gd name="adj" fmla="val 6629"/>
            </a:avLst>
          </a:prstGeom>
          <a:solidFill>
            <a:srgbClr val="F0F3F1"/>
          </a:solidFill>
          <a:ln/>
        </p:spPr>
      </p:sp>
      <p:sp>
        <p:nvSpPr>
          <p:cNvPr id="28" name="match-hex"/>
          <p:cNvSpPr/>
          <p:nvPr/>
        </p:nvSpPr>
        <p:spPr>
          <a:xfrm>
            <a:off x="850392" y="5243816"/>
            <a:ext cx="384048" cy="332586"/>
          </a:xfrm>
          <a:prstGeom prst="hexagon">
            <a:avLst/>
          </a:prstGeom>
          <a:solidFill>
            <a:srgbClr val="3F6B4A"/>
          </a:solidFill>
          <a:ln/>
        </p:spPr>
      </p:sp>
      <p:sp>
        <p:nvSpPr>
          <p:cNvPr id="29" name="match-hex-label"/>
          <p:cNvSpPr txBox="1"/>
          <p:nvPr/>
        </p:nvSpPr>
        <p:spPr>
          <a:xfrm>
            <a:off x="850392"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858329"/>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Forest reserves</a:t>
            </a:r>
            <a:endParaRPr lang="en-US" sz="2200" dirty="0"/>
          </a:p>
        </p:txBody>
      </p:sp>
      <p:sp>
        <p:nvSpPr>
          <p:cNvPr id="31" name="match-card"/>
          <p:cNvSpPr/>
          <p:nvPr/>
        </p:nvSpPr>
        <p:spPr>
          <a:xfrm>
            <a:off x="4224437" y="4858329"/>
            <a:ext cx="7190019" cy="1103559"/>
          </a:xfrm>
          <a:prstGeom prst="roundRect">
            <a:avLst>
              <a:gd name="adj" fmla="val 6629"/>
            </a:avLst>
          </a:prstGeom>
          <a:solidFill>
            <a:srgbClr val="F6F0E6"/>
          </a:solidFill>
          <a:ln/>
        </p:spPr>
      </p:sp>
      <p:sp>
        <p:nvSpPr>
          <p:cNvPr id="32" name="match-hex"/>
          <p:cNvSpPr/>
          <p:nvPr/>
        </p:nvSpPr>
        <p:spPr>
          <a:xfrm>
            <a:off x="4297589" y="5243816"/>
            <a:ext cx="384048" cy="332586"/>
          </a:xfrm>
          <a:prstGeom prst="hexagon">
            <a:avLst/>
          </a:prstGeom>
          <a:solidFill>
            <a:srgbClr val="B8862B"/>
          </a:solidFill>
          <a:ln/>
        </p:spPr>
      </p:sp>
      <p:sp>
        <p:nvSpPr>
          <p:cNvPr id="33" name="match-hex-label"/>
          <p:cNvSpPr txBox="1"/>
          <p:nvPr/>
        </p:nvSpPr>
        <p:spPr>
          <a:xfrm>
            <a:off x="4297589"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858329"/>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Growing crops such as coffee and cacao under the shade of the existing trees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The task (2 of 2): Five ways to manage a rainforest</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sustainable management strategy to its description.</a:t>
            </a:r>
            <a:endParaRPr lang="en-US" sz="2200" dirty="0"/>
          </a:p>
        </p:txBody>
      </p:sp>
      <p:sp>
        <p:nvSpPr>
          <p:cNvPr id="11" name="match-card"/>
          <p:cNvSpPr/>
          <p:nvPr/>
        </p:nvSpPr>
        <p:spPr>
          <a:xfrm>
            <a:off x="777240" y="2468331"/>
            <a:ext cx="3081437" cy="1165352"/>
          </a:xfrm>
          <a:prstGeom prst="roundRect">
            <a:avLst>
              <a:gd name="adj" fmla="val 6277"/>
            </a:avLst>
          </a:prstGeom>
          <a:solidFill>
            <a:srgbClr val="F0F3F1"/>
          </a:solidFill>
          <a:ln/>
        </p:spPr>
      </p:sp>
      <p:sp>
        <p:nvSpPr>
          <p:cNvPr id="12" name="match-hex"/>
          <p:cNvSpPr/>
          <p:nvPr/>
        </p:nvSpPr>
        <p:spPr>
          <a:xfrm>
            <a:off x="850392" y="2884715"/>
            <a:ext cx="384048" cy="332586"/>
          </a:xfrm>
          <a:prstGeom prst="hexagon">
            <a:avLst/>
          </a:prstGeom>
          <a:solidFill>
            <a:srgbClr val="3F6B4A"/>
          </a:solidFill>
          <a:ln/>
        </p:spPr>
      </p:sp>
      <p:sp>
        <p:nvSpPr>
          <p:cNvPr id="13" name="match-hex-label"/>
          <p:cNvSpPr txBox="1"/>
          <p:nvPr/>
        </p:nvSpPr>
        <p:spPr>
          <a:xfrm>
            <a:off x="850392"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Afforestation</a:t>
            </a:r>
            <a:endParaRPr lang="en-US" sz="2200" dirty="0"/>
          </a:p>
        </p:txBody>
      </p:sp>
      <p:sp>
        <p:nvSpPr>
          <p:cNvPr id="15" name="match-card"/>
          <p:cNvSpPr/>
          <p:nvPr/>
        </p:nvSpPr>
        <p:spPr>
          <a:xfrm>
            <a:off x="4224437" y="2468331"/>
            <a:ext cx="7190019" cy="1165352"/>
          </a:xfrm>
          <a:prstGeom prst="roundRect">
            <a:avLst>
              <a:gd name="adj" fmla="val 6277"/>
            </a:avLst>
          </a:prstGeom>
          <a:solidFill>
            <a:srgbClr val="F6F0E6"/>
          </a:solidFill>
          <a:ln/>
        </p:spPr>
      </p:sp>
      <p:sp>
        <p:nvSpPr>
          <p:cNvPr id="16" name="match-hex"/>
          <p:cNvSpPr/>
          <p:nvPr/>
        </p:nvSpPr>
        <p:spPr>
          <a:xfrm>
            <a:off x="4297589" y="2884715"/>
            <a:ext cx="384048" cy="332586"/>
          </a:xfrm>
          <a:prstGeom prst="hexagon">
            <a:avLst/>
          </a:prstGeom>
          <a:solidFill>
            <a:srgbClr val="B8862B"/>
          </a:solidFill>
          <a:ln/>
        </p:spPr>
      </p:sp>
      <p:sp>
        <p:nvSpPr>
          <p:cNvPr id="17" name="match-hex-label"/>
          <p:cNvSpPr txBox="1"/>
          <p:nvPr/>
        </p:nvSpPr>
        <p:spPr>
          <a:xfrm>
            <a:off x="4297589"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Using satellite images and GIS to track forest loss and catch illegal logging</a:t>
            </a:r>
            <a:endParaRPr lang="en-US" sz="2200" dirty="0"/>
          </a:p>
        </p:txBody>
      </p:sp>
      <p:sp>
        <p:nvSpPr>
          <p:cNvPr id="19" name="match-card"/>
          <p:cNvSpPr/>
          <p:nvPr/>
        </p:nvSpPr>
        <p:spPr>
          <a:xfrm>
            <a:off x="777240" y="3725123"/>
            <a:ext cx="3081437" cy="1165352"/>
          </a:xfrm>
          <a:prstGeom prst="roundRect">
            <a:avLst>
              <a:gd name="adj" fmla="val 6277"/>
            </a:avLst>
          </a:prstGeom>
          <a:solidFill>
            <a:srgbClr val="F0F3F1"/>
          </a:solidFill>
          <a:ln/>
        </p:spPr>
      </p:sp>
      <p:sp>
        <p:nvSpPr>
          <p:cNvPr id="20" name="match-hex"/>
          <p:cNvSpPr/>
          <p:nvPr/>
        </p:nvSpPr>
        <p:spPr>
          <a:xfrm>
            <a:off x="850392" y="4141507"/>
            <a:ext cx="384048" cy="332586"/>
          </a:xfrm>
          <a:prstGeom prst="hexagon">
            <a:avLst/>
          </a:prstGeom>
          <a:solidFill>
            <a:srgbClr val="3F6B4A"/>
          </a:solidFill>
          <a:ln/>
        </p:spPr>
      </p:sp>
      <p:sp>
        <p:nvSpPr>
          <p:cNvPr id="21" name="match-hex-label"/>
          <p:cNvSpPr txBox="1"/>
          <p:nvPr/>
        </p:nvSpPr>
        <p:spPr>
          <a:xfrm>
            <a:off x="850392"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25123"/>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Satellite monitoring</a:t>
            </a:r>
            <a:endParaRPr lang="en-US" sz="2200" dirty="0"/>
          </a:p>
        </p:txBody>
      </p:sp>
      <p:sp>
        <p:nvSpPr>
          <p:cNvPr id="23" name="match-card"/>
          <p:cNvSpPr/>
          <p:nvPr/>
        </p:nvSpPr>
        <p:spPr>
          <a:xfrm>
            <a:off x="4224437" y="3725123"/>
            <a:ext cx="7190019" cy="1165352"/>
          </a:xfrm>
          <a:prstGeom prst="roundRect">
            <a:avLst>
              <a:gd name="adj" fmla="val 6277"/>
            </a:avLst>
          </a:prstGeom>
          <a:solidFill>
            <a:srgbClr val="F6F0E6"/>
          </a:solidFill>
          <a:ln/>
        </p:spPr>
      </p:sp>
      <p:sp>
        <p:nvSpPr>
          <p:cNvPr id="24" name="match-hex"/>
          <p:cNvSpPr/>
          <p:nvPr/>
        </p:nvSpPr>
        <p:spPr>
          <a:xfrm>
            <a:off x="4297589" y="4141507"/>
            <a:ext cx="384048" cy="332586"/>
          </a:xfrm>
          <a:prstGeom prst="hexagon">
            <a:avLst/>
          </a:prstGeom>
          <a:solidFill>
            <a:srgbClr val="B8862B"/>
          </a:solidFill>
          <a:ln/>
        </p:spPr>
      </p:sp>
      <p:sp>
        <p:nvSpPr>
          <p:cNvPr id="25" name="match-hex-label"/>
          <p:cNvSpPr txBox="1"/>
          <p:nvPr/>
        </p:nvSpPr>
        <p:spPr>
          <a:xfrm>
            <a:off x="4297589"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725123"/>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Replanting trees to replace those that have been cut down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Five ways to manage a rainforest</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sustainable management strategy to its description.</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CF0ED"/>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strategies are about trees being cut or planted: one cuts carefully, one plants.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is about farming without clearing.</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is about protecting an area by law.</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is about watching from space.</a:t>
            </a:r>
            <a:endParaRPr lang="en-US" sz="1800" dirty="0"/>
          </a:p>
        </p:txBody>
      </p:sp>
      <p:sp>
        <p:nvSpPr>
          <p:cNvPr id="17" name="col-Core"/>
          <p:cNvSpPr/>
          <p:nvPr/>
        </p:nvSpPr>
        <p:spPr>
          <a:xfrm>
            <a:off x="5490762" y="2578608"/>
            <a:ext cx="2938987" cy="3566160"/>
          </a:xfrm>
          <a:prstGeom prst="roundRect">
            <a:avLst>
              <a:gd name="adj" fmla="val 1867"/>
            </a:avLst>
          </a:prstGeom>
          <a:solidFill>
            <a:srgbClr val="D5DED7"/>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Cut carefully, farm underneath, protect by law, plant again, watch from above.</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Rank the five strategies for sustainability, as you did on your radar graph, and justify your top and bottom choices with an advantage and a disadvantage of each.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24256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Fifty years ago 99 % of Malaysia was covered in rainforest; today it is 60 %. By how many percentage points has the forest cover fallen?</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2F5F2"/>
          </a:solidFill>
          <a:ln w="12700">
            <a:solidFill>
              <a:srgbClr val="9FB5A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 (percentage points):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Forest lost every hour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About 42 hectares of rainforest are cleared every minute. How many hectares are cleared in one hour?</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2520 hectares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42 hectares every minute, 60 minutes in an hour: 42 × 60 = 2520 hectares an hour. Over a day that becomes 60 480 hectares, and over a year about 22 million.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Five ways to manage a rainforest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Selective logging  →  A  Only trees above a certain height are cut, so the forest regains maturity in 30 to 50 years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Agroforestry  →  C  Growing crops such as coffee and cacao under the shade of the existing trees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Forest reserves  →  B  Large protected areas, such as national parks, where no logging is allowed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Afforestation  →  E  Replanting trees to replace those that have been cut down</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Satellite monitoring  →  D  Using satellite images and GIS to track forest loss and catch illegal logging</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Selective logging cuts only mature trees; agroforestry farms under the canopy; forest reserves protect areas by law; afforestation replants; satellite monitoring watches for illegal clearing. Each lets people use or protect the forest without destroying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Fifty years ago 99 % of Malaysia was covered in rainforest; today it is 60 %. By how many percentage points has the forest cover fallen?</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39 percentage points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99 − 60 = 39 percentage points. More than a third of the country has lost its forest cover in half a century.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CF0ED"/>
      </a:lt2>
      <a:accent1>
        <a:srgbClr val="3F6B4A"/>
      </a:accent1>
      <a:accent2>
        <a:srgbClr val="B8862B"/>
      </a:accent2>
      <a:accent3>
        <a:srgbClr val="8CA692"/>
      </a:accent3>
      <a:accent4>
        <a:srgbClr val="815E1E"/>
      </a:accent4>
      <a:accent5>
        <a:srgbClr val="4A505C"/>
      </a:accent5>
      <a:accent6>
        <a:srgbClr val="DCC395"/>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Living World: Ecosystems · Chapter 4: Malaysia's rainforest: why it is cut down, and how rainforests can be managed</dc:title>
  <dc:subject>Geography · Year 9</dc:subject>
  <dc:creator>Dr Vitor Merissi de Carvalho</dc:creator>
  <cp:lastModifiedBy>Dr Vitor Merissi de Carvalho</cp:lastModifiedBy>
  <cp:revision>1</cp:revision>
  <dcterms:created xsi:type="dcterms:W3CDTF">2026-10-19T16:22:53Z</dcterms:created>
  <dcterms:modified xsi:type="dcterms:W3CDTF">2026-10-19T16:22:53Z</dcterms:modified>
</cp:coreProperties>
</file>