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9b89b6f-df24-231c-f740-647bdb4d18e3}">
          <p14:sldIdLst>
            <p14:sldId id="256"/>
          </p14:sldIdLst>
        </p14:section>
        <p14:section name="Gate" id="{30c0f205-a35e-f050-6b07-404741993bed}">
          <p14:sldIdLst>
            <p14:sldId id="257"/>
            <p14:sldId id="258"/>
          </p14:sldIdLst>
        </p14:section>
        <p14:section name="Pre-teach" id="{3d6fe5b7-6ba7-b789-1492-0fb4f86ab6fb}">
          <p14:sldIdLst>
            <p14:sldId id="259"/>
            <p14:sldId id="260"/>
          </p14:sldIdLst>
        </p14:section>
        <p14:section name="Read-along" id="{9bffb0f3-79a9-574e-f86c-b0d45e286f97}">
          <p14:sldIdLst>
            <p14:sldId id="261"/>
            <p14:sldId id="262"/>
          </p14:sldIdLst>
        </p14:section>
        <p14:section name="Teach" id="{24dcc4fc-317c-b779-b898-b28779485d87}">
          <p14:sldIdLst>
            <p14:sldId id="263"/>
            <p14:sldId id="264"/>
            <p14:sldId id="265"/>
            <p14:sldId id="266"/>
            <p14:sldId id="267"/>
            <p14:sldId id="268"/>
          </p14:sldIdLst>
        </p14:section>
        <p14:section name="Routes" id="{e73d1388-8bf9-02f0-6412-592c80c59aa9}">
          <p14:sldIdLst>
            <p14:sldId id="269"/>
            <p14:sldId id="270"/>
            <p14:sldId id="271"/>
            <p14:sldId id="272"/>
            <p14:sldId id="273"/>
            <p14:sldId id="274"/>
          </p14:sldIdLst>
        </p14:section>
        <p14:section name="Close" id="{4aaf81ae-5770-be55-fdb9-7253b27f85e6}">
          <p14:sldIdLst>
            <p14:sldId id="275"/>
          </p14:sldIdLst>
        </p14:section>
        <p14:section name="Answers" id="{70d18809-2731-54de-1178-3da8a7e714a0}">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Developing the desert and holding back the sand. What the Sahara has to offer, what makes it so hard to develop, how the desert is spreading into the land around it, and the simple, local solutions that can hold it back.
This deck covers the department's lessons: 15 (The challenge of developing hot deserts: What physical and human challenges face anyone trying to develop a hot desert?); 16 (Opportunities and challenges in the Sahara Desert: What opportunities does the Sahara offer, and what barriers stand in the way of developing them?); 17 (Desertification: causes, effects and solutions: What is desertification, what causes it, and how can it be reduced sustainably?).
Read the big question aloud: "How do ecosystems work, why are the world's great biomes where they are, and how can people use rainforests and deserts without destroying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The Sahara is the world's largest hot desert. Roughly how many million square kilometres does it cover?  →  9 million km²
2. Which of these is a physical challenge to developing a hot desert?  →  A   Shifting sands
3. Feeding too many livestock on the land for too long, so that its vegetation cannot recover, is called ___.  →  overgrazing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9 million km². Your lessons give the Sahara as about 9 million square kilometres, covering much of the northern third of Africa.
2. A   Shifting sands. Shifting sands are set by the desert itself, so they are a physical challenge. Roads, population and costs are human challenges.
3. overgrazing. Overgrazing is the keyword your lessons give for too many animals eating the plants faster than they can regrow, a major cause of desertification.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aquifer: an underground store of water in rock. Example: "Huge aquifers lie under the Sahara, far below the sand."
• infrastructure: roads, pipes, power lines and other basic services. Example: "The desert has little infrastructure, so building anything costs a lot."
• inaccessible: hard to reach. Example: "Many parts of the Sahara are inaccessible, with no roads at all."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desertification: the spread of desert-like conditions into land at the desert edge. Example: "Desertification is turning farmland in the Sahel into dust."
• overgrazing: keeping too many animals on the land, so the plants cannot regrow. Example: "Overgrazing by goats strips the ground bare."
• salinisation: a build-up of salt in the soil, which makes it infertile. Example: "Salinisation ruined the irrigated fields."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The Sahara is not empty.
2. Under the sand lie huge stores of water called aquifers.
3. There are minerals, oil and gas, and strong sunshine.
4. Crops such as sorghum can grow, and trees can shade the fields.
5. But developing the desert is hard.
6. It is hot, dry and remote, with few roads.
7. Water costs a lot to supply, and salt builds up in watered soil.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People who move with their herds already live there.
9. On the edge of the desert, the land is turning to dust.
10. This is called desertification.
11. Too many animals, too many crops and too few trees wear the soil out.
12. The rains become less reliable too.
13. Simple ideas can help: low walls that trap soil and water, and ponds that store the rain.
14. These are called appropriate technology, because local people can build and mend them.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Opportunities: what the Sahara offers. Say it in your own words, then check understanding with a quick question: ask a pupil from the pre-teach group first, since they met these words and ideas before the lesson. Pupils try to recall before you re-explain.
Your Sahara case study asked what the desert offers for development. The keyword list points to its natural resources: water, minerals and fossil fuels. Beneath the Sahara lie huge underground reserves of water in aquifers, which your class mapped using a GIS website. The rocks hold minerals, and North Africa has large deposits of oil and gas that earn export income for the countries that own them. Desert agriculture farms crops well suited to arid conditions, such as sorghum. Agroforestry grows crops with the support of trees, which provide shade and keep the soil stable. The mark scheme also credits recreation and tourism, and the economic benefits that follow: jobs, spending in the local economy and improved infrastructure.
Each opportunity can solve a challenge, which is how your worksheet asked you to match them. Groundwater from aquifers answers the arid climate; agroforestry answers thin soils and wind erosion; income from fossil fuels pays for the roads and pipelines the desert lacks. The pattern is the same as in the rainforest: the resources are real, but using them costs money and risks damage.
For a six-mark discuss question on the Sahara, your lessons want three developed points, each describing an opportunity to exploit a natural resource and explaining the barrier or challenge to doing so. Balance is the key word: every opportunity has a catch.
Tip: Three resources (water, minerals, fossil fuels), two farming ideas (desert agriculture, agroforestry), one word for the catch: inaccessibility.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Challenges: physical and human. Say it in your own words, then check understanding with a quick question: ask a pupil from the pre-teach group first, since they met these words and ideas before the lesson. Pupils try to recall before you re-explain.
The challenges of developing hot deserts can be physical or human. Your recall list of physical challenges ran: an arid climate, extreme heat, floods (sudden downpours on hard, bare ground), a hostile ecosystem, salty soils, thin soils, shifting sands, wind erosion and dust storms, and thin vegetation. These are problems the desert itself sets.
The human challenges were the cards in your diamond nine: the high cost of providing water, salinisation, population growth, lack of roads, pollution threats, existing nomadic populations, the need for conservation, remoteness and desertification. The desert is inaccessible, so infrastructure (roads, pipes, power lines) must be built from scratch at great cost. Supplying water means pumping it from deep aquifers or piping it long distances, and irrigating with it brings its own problem: in the heat the water evaporates and leaves its salts behind, so the soil becomes saline and infertile. People already live there: nomadic herders move their camels and goats to find grazing in a land where plants are sparse, and development can take away their land and water.
Your six-mark model on how the desert climate affects people made three developed points: heat and dryness mean sparse vegetation, so herders must keep moving; long summer droughts mean people must store food and water for months; and sandy, infertile soil plus dust storms that flatten fields make crop farming hard and keep farmers poor. Each point goes from climate to plants or soil to people, which is what the examiner means by developed.
Worked example — model it step by step, thinking aloud: Plan a six-mark answer to the question: Discuss the extent of the opportunities available to develop the Sahara Desert. (1) Point 1: water. Opportunity: vast aquifers under the desert could irrigate farmland. Challenge: pumping and piping it is expensive, and irrigation causes salinisation. (2) Point 2: minerals and fossil fuels. Opportunity: oil, gas and minerals earn export income. Challenge: the desert is remote and inaccessible, so roads, pipelines and workers all cost extra. (3) Point 3: farming. Opportunity: desert agriculture (sorghum) and agroforestry. Challenge: thin, infertile soils, extreme heat and unreliable rain limit yields. (4) Finish with a judgement: the opportunities are real but each is limited by cost and inaccessibility, so development is possible only to a moderate extent. Answer: Three developed points, each pairing an opportunity with its barrier, ending with a judgement on the extent..
Tip: Discuss and to what extent both need a judgement at the end. Decide how far, then say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Challenges: physical and human. Say it in your own words, then check understanding with a quick question: ask a pupil from the pre-teach group first, since they met these words and ideas before the lesson. Pupils try to recall before you re-explain.
The challenges of developing hot deserts can be physical or human. Your recall list of physical challenges ran: an arid climate, extreme heat, floods (sudden downpours on hard, bare ground), a hostile ecosystem, salty soils, thin soils, shifting sands, wind erosion and dust storms, and thin vegetation. These are problems the desert itself sets.
The human challenges were the cards in your diamond nine: the high cost of providing water, salinisation, population growth, lack of roads, pollution threats, existing nomadic populations, the need for conservation, remoteness and desertification. The desert is inaccessible, so infrastructure (roads, pipes, power lines) must be built from scratch at great cost. Supplying water means pumping it from deep aquifers or piping it long distances, and irrigating with it brings its own problem: in the heat the water evaporates and leaves its salts behind, so the soil becomes saline and infertile. People already live there: nomadic herders move their camels and goats to find grazing in a land where plants are sparse, and development can take away their land and water.
Your six-mark model on how the desert climate affects people made three developed points: heat and dryness mean sparse vegetation, so herders must keep moving; long summer droughts mean people must store food and water for months; and sandy, infertile soil plus dust storms that flatten fields make crop farming hard and keep farmers poor. Each point goes from climate to plants or soil to people, which is what the examiner means by developed.
Worked example — model it step by step, thinking aloud: Plan a six-mark answer to the question: Discuss the extent of the opportunities available to develop the Sahara Desert. (1) Point 1: water. Opportunity: vast aquifers under the desert could irrigate farmland. Challenge: pumping and piping it is expensive, and irrigation causes salinisation. (2) Point 2: minerals and fossil fuels. Opportunity: oil, gas and minerals earn export income. Challenge: the desert is remote and inaccessible, so roads, pipelines and workers all cost extra. (3) Point 3: farming. Opportunity: desert agriculture (sorghum) and agroforestry. Challenge: thin, infertile soils, extreme heat and unreliable rain limit yields. (4) Finish with a judgement: the opportunities are real but each is limited by cost and inaccessibility, so development is possible only to a moderate extent. Answer: Three developed points, each pairing an opportunity with its barrier, ending with a judgement on the extent..
Tip: Discuss and to what extent both need a judgement at the end. Decide how far, then say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Challenges: physical and human. Say it in your own words, then check understanding with a quick question: ask a pupil from the pre-teach group first, since they met these words and ideas before the lesson. Pupils try to recall before you re-explain.
The challenges of developing hot deserts can be physical or human. Your recall list of physical challenges ran: an arid climate, extreme heat, floods (sudden downpours on hard, bare ground), a hostile ecosystem, salty soils, thin soils, shifting sands, wind erosion and dust storms, and thin vegetation. These are problems the desert itself sets.
The human challenges were the cards in your diamond nine: the high cost of providing water, salinisation, population growth, lack of roads, pollution threats, existing nomadic populations, the need for conservation, remoteness and desertification. The desert is inaccessible, so infrastructure (roads, pipes, power lines) must be built from scratch at great cost. Supplying water means pumping it from deep aquifers or piping it long distances, and irrigating with it brings its own problem: in the heat the water evaporates and leaves its salts behind, so the soil becomes saline and infertile. People already live there: nomadic herders move their camels and goats to find grazing in a land where plants are sparse, and development can take away their land and water.
Your six-mark model on how the desert climate affects people made three developed points: heat and dryness mean sparse vegetation, so herders must keep moving; long summer droughts mean people must store food and water for months; and sandy, infertile soil plus dust storms that flatten fields make crop farming hard and keep farmers poor. Each point goes from climate to plants or soil to people, which is what the examiner means by developed.
Worked example — model it step by step, thinking aloud: Plan a six-mark answer to the question: Discuss the extent of the opportunities available to develop the Sahara Desert. (1) Point 1: water. Opportunity: vast aquifers under the desert could irrigate farmland. Challenge: pumping and piping it is expensive, and irrigation causes salinisation. (2) Point 2: minerals and fossil fuels. Opportunity: oil, gas and minerals earn export income. Challenge: the desert is remote and inaccessible, so roads, pipelines and workers all cost extra. (3) Point 3: farming. Opportunity: desert agriculture (sorghum) and agroforestry. Challenge: thin, infertile soils, extreme heat and unreliable rain limit yields. (4) Finish with a judgement: the opportunities are real but each is limited by cost and inaccessibility, so development is possible only to a moderate extent. Answer: Three developed points, each pairing an opportunity with its barrier, ending with a judgement on the extent..
Tip: Discuss and to what extent both need a judgement at the end. Decide how far, then say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Desertification: causes and effects. Say it in your own words, then check understanding with a quick question: ask a pupil from the pre-teach group first, since they met these words and ideas before the lesson. Pupils try to recall before you re-explain.
Desertification is the spread of typical desert conditions, landscapes and processes into areas where they did not occur in the recent past. It happens in the arid zones bordering the deserts, places with an average annual rainfall of about 100 to 300 mm, such as the Sahel on the southern edge of the Sahara. The land does not become sand dunes overnight; it loses its plants and its topsoil until it can no longer grow crops or feed animals.
Your card sort separated causes, effects and solutions. The causes are partly natural and partly human. Rainfall at the desert edge is unreliable, and climate change is making droughts longer. Population growth puts more pressure on the land. Overgrazing, feeding too many livestock for too long on the land so that it cannot recover its vegetation, strips the ground bare. Over-cultivation, growing crops so intensively that the soil is exhausted, leaves it barren. Trees are cut for fuelwood, so there are no roots to hold the soil. Together these leave the soil exposed to sun, wind and the occasional downpour.
The effects follow. Soil erosion removes topsoil faster than it can be replaced, by wind and by water. Salinisation, a build-up of salt on the surface where irrigation water evaporates, makes the remaining soil infertile. Crops fail, animals die, and people face hunger and poverty; many leave the land and migrate to towns. Your lesson asked you to sort causes and effects into social, economic and environmental (SEE) and to rank them: which should be tackled first?
Tip: Desertification is not the desert advancing like a tide. It is land at the edge being worn out, mostly by people, until it looks like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Solutions that last. Say it in your own words, then check understanding with a quick question: ask a pupil from the pre-teach group first, since they met these words and ideas before the lesson. Pupils try to recall before you re-explain.
Sustainability means meeting the needs of the present without reducing the ability of future generations to meet theirs. For the desert edge, sustainable solutions tend to be small, cheap and local. Appropriate technology is technology suited to the needs, skills, knowledge and wealth of local people and their environment: things a village can build and mend itself. Contour traps are embankments built along the contours of slopes to stop soil being washed down during heavy rainfall; they hold the soil and the water where crops can use them. In the Thar Desert your lessons name johads, small man-made water stores, and tobas, natural depressions that fill with rain and provide drinking water.
Other solutions attack the causes directly: planting trees to shelter fields and hold the soil, managing the number of animals so grazing land can recover, and resting fields so they are not over-cultivated. Adaptation means adjusting to natural events such as climate change to reduce the damage, limit the impacts and cope with the consequences, rather than hoping the rains return.
To evaluate a solution, as your lesson asked, test it against SEE. Is it socially acceptable: can local people use it, and does it fit how they live? Is it economically possible: can a poor community afford to build and maintain it? Is it environmentally sound: does it restore soil and water rather than use them up? A contour trap built by villagers from local earth and stone passes all three, which is why it counts as appropriate technology.
Tip: Appropriate means right for the people: cheap, simple, local, and fixable without an engineer.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Spotting appropriate technology.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village on the edge of the Sahara wants to stop its soil washing away. Which solution is the best example of appropriate technology?
Support — work through the steps with the group: (1) Appropriate technology is suited to the needs, skills, knowledge and wealth of local people. (2) Cross out anything the village could not afford. (3) Cross out anything the village could not build or repair itself. (4) Of what is left, pick the one that actually solves the problem of soil washing downhill.
Parallel worked example for Support (model it, do not give the task answer): A village needs reliable drinking water. Which is appropriate technology: a hand-dug pond that collects the rains, or a computer-controlled pumping station? The pond is cheap, uses local labour and can be repaired by the village.; The pumping station needs electricity, spare parts and experts.. Answer: The hand-dug pond, because it matches what the village can build, afford and maintain..
Core — reveal the hint only on request: Cheap, simple, local, and it must deal with soil on a slope.
Stretch — no help; when finished: Evaluate contour traps using SEE: give one social, one economic and one environmental reason they are sustainable, and one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Spotting appropriate technology.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village on the edge of the Sahara wants to stop its soil washing away. Which solution is the best example of appropriate technology?
Support — work through the steps with the group: (1) Appropriate technology is suited to the needs, skills, knowledge and wealth of local people. (2) Cross out anything the village could not afford. (3) Cross out anything the village could not build or repair itself. (4) Of what is left, pick the one that actually solves the problem of soil washing downhill.
Parallel worked example for Support (model it, do not give the task answer): A village needs reliable drinking water. Which is appropriate technology: a hand-dug pond that collects the rains, or a computer-controlled pumping station? The pond is cheap, uses local labour and can be repaired by the village.; The pumping station needs electricity, spare parts and experts.. Answer: The hand-dug pond, because it matches what the village can build, afford and maintain..
Core — reveal the hint only on request: Cheap, simple, local, and it must deal with soil on a slope.
Stretch — no help; when finished: Evaluate contour traps using SEE: give one social, one economic and one environmental reason they are sustainable, and one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Desertification keywords.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keyword to its meaning.
Support — work through the steps with the group: (1) Two of these are causes, two are effects or problems, and one is a solution. Sort them first. (2) Cultivation means growing crops; over- means too much. (3) Saline means salty. (4) A trap along a contour holds something back on a slope. Aqua means water.
Parallel worked example for Support (model it, do not give the task answer): Match: overgrazing, arid. Choices: dry, with little or no rainfall; too many animals feeding on the land for too long. Grazing is animals eating grass.; Arid describes a dry climate.. Answer: Overgrazing: too many animals feeding on the land for too long. Arid: dry, with little or no rainfall..
Core — reveal the hint only on request: Crops, salt, lost topsoil, a wall on a slope, water underground.
Stretch — no help; when finished: Explain how over-cultivation leads to soil erosion, and how irrigation meant to solve one problem can cause salinisation.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Desertification keywords.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keyword to its meaning.
Support — work through the steps with the group: (1) Two of these are causes, two are effects or problems, and one is a solution. Sort them first. (2) Cultivation means growing crops; over- means too much. (3) Saline means salty. (4) A trap along a contour holds something back on a slope. Aqua means water.
Parallel worked example for Support (model it, do not give the task answer): Match: overgrazing, arid. Choices: dry, with little or no rainfall; too many animals feeding on the land for too long. Grazing is animals eating grass.; Arid describes a dry climate.. Answer: Overgrazing: too many animals feeding on the land for too long. Arid: dry, with little or no rainfall..
Core — reveal the hint only on request: Crops, salt, lost topsoil, a wall on a slope, water underground.
Stretch — no help; when finished: Explain how over-cultivation leads to soil erosion, and how irrigation meant to solve one problem can cause salinisation.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Desertification keywords.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keyword to its meaning.
Support — work through the steps with the group: (1) Two of these are causes, two are effects or problems, and one is a solution. Sort them first. (2) Cultivation means growing crops; over- means too much. (3) Saline means salty. (4) A trap along a contour holds something back on a slope. Aqua means water.
Parallel worked example for Support (model it, do not give the task answer): Match: overgrazing, arid. Choices: dry, with little or no rainfall; too many animals feeding on the land for too long. Grazing is animals eating grass.; Arid describes a dry climate.. Answer: Overgrazing: too many animals feeding on the land for too long. Arid: dry, with little or no rainfall..
Core — reveal the hint only on request: Crops, salt, lost topsoil, a wall on a slope, water underground.
Stretch — no help; when finished: Explain how over-cultivation leads to soil erosion, and how irrigation meant to solve one problem can cause salinisation.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Desertification keywords.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keyword to its meaning.
Support — work through the steps with the group: (1) Two of these are causes, two are effects or problems, and one is a solution. Sort them first. (2) Cultivation means growing crops; over- means too much. (3) Saline means salty. (4) A trap along a contour holds something back on a slope. Aqua means water.
Parallel worked example for Support (model it, do not give the task answer): Match: overgrazing, arid. Choices: dry, with little or no rainfall; too many animals feeding on the land for too long. Grazing is animals eating grass.; Arid describes a dry climate.. Answer: Overgrazing: too many animals feeding on the land for too long. Arid: dry, with little or no rainfall..
Core — reveal the hint only on request: Crops, salt, lost topsoil, a wall on a slope, water underground.
Stretch — no help; when finished: Explain how over-cultivation leads to soil erosion, and how irrigation meant to solve one problem can cause salinisation.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The Sahara is the world's largest hot desert. Roughly how many million square kilometres does it cover?
Answer: 9 million km². Your lessons give the Sahara as about 9 million square kilometres, covering much of the northern third of Africa.
Source of this question: gate item 1 re-asked (options rotated) — this chapter has no third quick-check module.
The ebook also holds task 3, "Opportunities or challenges?",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Spotting appropriate technology. Reveal the answer; pupils mark their own work in a different colour, then read the "why" together. Same destination for every lane, so one answer serves the whole class.
Answer: B   Low embankments of earth and stone built along the contours of the slope by the villagers themselves
Why: Contour traps are embankments built along the contours of a slope to stop soil being washed down. They are cheap, use local materials and skills, and can be maintained by the village, so they are appropriate technology.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Desertification keywords. Reveal the answer; pupils mark their own work in a different colour, then read the "why" together. Same destination for every lane, so one answer serves the whole class.
Answer: Over-cultivation  →  D  Growing crops so intensively that the soil is exhausted and left barren; Salinisation  →  A  A build-up of salt on the land surface, often where irrigation water evaporates; Soil erosion  →  B  Topsoil removed faster than it can be replaced, by wind, water, animals or people; Contour traps  →  C  Embankments built along the contours of slopes to stop soil washing down in heavy rain; Aquifer  →  E  An underground store of water
Why: Over-cultivation exhausts the soil; salinisation is salt left behind by evaporating irrigation water; soil erosion is topsoil lost faster than it forms; contour traps hold soil and water on slopes; an aquifer is water stored underground.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9 million km²
Why: Your lessons give the Sahara as about 9 million square kilometres, covering much of the northern third of Africa.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Living World: Ecosystems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Living World: Ecosystems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E1D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Living World: Ecosystems · AQA 8035</a:t>
            </a:r>
            <a:endParaRPr lang="en-US" sz="1800" dirty="0"/>
          </a:p>
        </p:txBody>
      </p:sp>
      <p:sp>
        <p:nvSpPr>
          <p:cNvPr id="10" name="deck-title"/>
          <p:cNvSpPr txBox="1"/>
          <p:nvPr/>
        </p:nvSpPr>
        <p:spPr>
          <a:xfrm>
            <a:off x="548640" y="186740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Developing the desert and holding back the sand</a:t>
            </a:r>
            <a:endParaRPr lang="en-US" sz="3200" dirty="0"/>
          </a:p>
        </p:txBody>
      </p:sp>
      <p:sp>
        <p:nvSpPr>
          <p:cNvPr id="11" name="lessons-card"/>
          <p:cNvSpPr/>
          <p:nvPr/>
        </p:nvSpPr>
        <p:spPr>
          <a:xfrm>
            <a:off x="548640" y="3279648"/>
            <a:ext cx="5287975" cy="2296160"/>
          </a:xfrm>
          <a:prstGeom prst="roundRect">
            <a:avLst>
              <a:gd name="adj" fmla="val 3186"/>
            </a:avLst>
          </a:prstGeom>
          <a:solidFill>
            <a:srgbClr val="ECF0ED"/>
          </a:solidFill>
          <a:ln/>
        </p:spPr>
      </p:sp>
      <p:sp>
        <p:nvSpPr>
          <p:cNvPr id="12" name="lessons"/>
          <p:cNvSpPr txBox="1"/>
          <p:nvPr/>
        </p:nvSpPr>
        <p:spPr>
          <a:xfrm>
            <a:off x="685800" y="3371088"/>
            <a:ext cx="5013655" cy="211328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challenge of developing hot deserts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Opportunities and challenges in the Sahara Desert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Desertification: causes, effects and solutions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CF0ED"/>
          </a:solidFill>
          <a:ln w="12700">
            <a:solidFill>
              <a:srgbClr val="B2C4B7"/>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ecosystems work, why are the world's great biomes where they are, and how can people use rainforests and deserts without destroying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Sahara is the world's largest hot desert. Roughly how many million square kilometres does it cover?</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million km²</a:t>
            </a:r>
            <a:endParaRPr lang="en-US" sz="2400" dirty="0"/>
          </a:p>
        </p:txBody>
      </p:sp>
      <p:sp>
        <p:nvSpPr>
          <p:cNvPr id="12"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of these is a physical challenge to developing a hot desert?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Shifting sands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high cost of providing water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lack of roads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Population growth</a:t>
            </a:r>
            <a:endParaRPr lang="en-US" sz="2200" dirty="0"/>
          </a:p>
        </p:txBody>
      </p:sp>
      <p:sp>
        <p:nvSpPr>
          <p:cNvPr id="17"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Feeding too many livestock on the land for too long, so that its vegetation cannot recover, is called ___.</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overgrazing  ·  over-cultivation  ·  salinisation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9 million km²</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Sahara is the world's largest hot desert. Roughly how many million square kilometres does it cover?</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Your lessons give the Sahara as about 9 million square kilometres, covering much of the northern third of Africa.</a:t>
            </a:r>
            <a:endParaRPr lang="en-US" sz="1800" dirty="0"/>
          </a:p>
        </p:txBody>
      </p:sp>
      <p:sp>
        <p:nvSpPr>
          <p:cNvPr id="14"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Shifting sands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 physical challenge to developing a hot desert?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Shifting sands are set by the desert itself, so they are a physical challenge. Roads, population and costs are human challenges.</a:t>
            </a:r>
            <a:endParaRPr lang="en-US" sz="2000" dirty="0"/>
          </a:p>
        </p:txBody>
      </p:sp>
      <p:sp>
        <p:nvSpPr>
          <p:cNvPr id="21"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overgrazing</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Feeding too many livestock on the land for too long, so that its vegetation cannot recover, is called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Overgrazing is the keyword your lessons give for too many animals eating the plants faster than they can regrow, a major cause of desertification.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aquifer</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underground store of water in rock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Huge aquifers lie under the Sahara, far below the sand.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infrastructure</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roads, pipes, power lines and other basic services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desert has little infrastructure, so building anything costs a lot.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inaccessible</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hard to reach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Many parts of the Sahara are inaccessible, with no roads at all.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desertification</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spread of desert-like conditions into land at the desert edge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Desertification is turning farmland in the Sahel into dust.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overgrazing</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keeping too many animals on the land, so the plants cannot regrow</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Overgrazing by goats strips the ground bare.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salinisation</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build-up of salt in the soil, which makes it infertile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Salinisation ruined the irrigated fields.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Sahara is not empty.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Under the sand lie huge stores of water called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aquifers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There are minerals, oil and gas, and strong sunshine.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Crops such as sorghum can grow, and trees can shade the fields.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But developing the desert is hard.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is hot, dry and remote, with few roads.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Water costs a lot to supply, and salt builds up in watered soil.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People who move with their herds already live there.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 the edge of the desert, the land is turning to dust.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is called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desertification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Too many animals, too many crops and too few trees wear the soil out.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rains become less reliable too.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Simple ideas can help: low walls that trap soil and water, and ponds that store the rain.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These are called appropriate technology, because local people can build and mend them.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Opportunities: what the Sahara offers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resources (water, minerals, fossil fuels), two farming ideas (desert agriculture, agroforestry), one word for the catch: inaccessibility.</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Sahara case study asked what the desert offers for development.</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Each opportunity can solve a challenge, which is how your worksheet asked you to match them.</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For a six-mark discuss question on the Sahara, your lessons want three developed points, each describing an opportunity to exploit a natural resource and explaining the barrier or challenge to doing so.</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Challenges: physical and human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Discuss and to what extent both need a judgement at the end. Decide how far, then say why.</a:t>
            </a:r>
            <a:endParaRPr lang="en-US" sz="1800" dirty="0"/>
          </a:p>
        </p:txBody>
      </p:sp>
      <p:sp>
        <p:nvSpPr>
          <p:cNvPr id="11" name="bullet-card"/>
          <p:cNvSpPr/>
          <p:nvPr/>
        </p:nvSpPr>
        <p:spPr>
          <a:xfrm>
            <a:off x="548640" y="1389888"/>
            <a:ext cx="11094415" cy="608415"/>
          </a:xfrm>
          <a:prstGeom prst="roundRect">
            <a:avLst>
              <a:gd name="adj" fmla="val 12023"/>
            </a:avLst>
          </a:prstGeom>
          <a:solidFill>
            <a:srgbClr val="F0F3F1"/>
          </a:solidFill>
          <a:ln/>
        </p:spPr>
      </p:sp>
      <p:sp>
        <p:nvSpPr>
          <p:cNvPr id="12" name="bullet-hex"/>
          <p:cNvSpPr/>
          <p:nvPr/>
        </p:nvSpPr>
        <p:spPr>
          <a:xfrm>
            <a:off x="676656" y="1527803"/>
            <a:ext cx="384048" cy="332586"/>
          </a:xfrm>
          <a:prstGeom prst="hexagon">
            <a:avLst/>
          </a:prstGeom>
          <a:solidFill>
            <a:srgbClr val="3F6B4A"/>
          </a:solidFill>
          <a:ln/>
        </p:spPr>
      </p:sp>
      <p:sp>
        <p:nvSpPr>
          <p:cNvPr id="13" name="bullet"/>
          <p:cNvSpPr txBox="1"/>
          <p:nvPr/>
        </p:nvSpPr>
        <p:spPr>
          <a:xfrm>
            <a:off x="1143000" y="1389888"/>
            <a:ext cx="10408615" cy="60841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challenges of developing hot deserts can be physical or human.</a:t>
            </a:r>
            <a:endParaRPr lang="en-US" sz="2200" dirty="0"/>
          </a:p>
        </p:txBody>
      </p:sp>
      <p:sp>
        <p:nvSpPr>
          <p:cNvPr id="14" name="bullet-card"/>
          <p:cNvSpPr/>
          <p:nvPr/>
        </p:nvSpPr>
        <p:spPr>
          <a:xfrm>
            <a:off x="548640" y="2144607"/>
            <a:ext cx="11094415" cy="1191091"/>
          </a:xfrm>
          <a:prstGeom prst="roundRect">
            <a:avLst>
              <a:gd name="adj" fmla="val 6142"/>
            </a:avLst>
          </a:prstGeom>
          <a:solidFill>
            <a:srgbClr val="F0F3F1"/>
          </a:solidFill>
          <a:ln/>
        </p:spPr>
      </p:sp>
      <p:sp>
        <p:nvSpPr>
          <p:cNvPr id="15" name="bullet-hex"/>
          <p:cNvSpPr/>
          <p:nvPr/>
        </p:nvSpPr>
        <p:spPr>
          <a:xfrm>
            <a:off x="676656" y="2573859"/>
            <a:ext cx="384048" cy="332586"/>
          </a:xfrm>
          <a:prstGeom prst="hexagon">
            <a:avLst/>
          </a:prstGeom>
          <a:solidFill>
            <a:srgbClr val="B8862B"/>
          </a:solidFill>
          <a:ln/>
        </p:spPr>
      </p:sp>
      <p:sp>
        <p:nvSpPr>
          <p:cNvPr id="16" name="bullet"/>
          <p:cNvSpPr txBox="1"/>
          <p:nvPr/>
        </p:nvSpPr>
        <p:spPr>
          <a:xfrm>
            <a:off x="1143000" y="2144607"/>
            <a:ext cx="10408615" cy="119109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human challenges were the cards in your diamond nine: the high cost of providing water, salinisation, population growth, lack of roads, pollution threats, existing nomadic populations, the need for conservation, remoteness and desertification.</a:t>
            </a:r>
            <a:endParaRPr lang="en-US" sz="2200" dirty="0"/>
          </a:p>
        </p:txBody>
      </p:sp>
      <p:sp>
        <p:nvSpPr>
          <p:cNvPr id="17" name="bullet-card"/>
          <p:cNvSpPr/>
          <p:nvPr/>
        </p:nvSpPr>
        <p:spPr>
          <a:xfrm>
            <a:off x="548640" y="3482001"/>
            <a:ext cx="11094415" cy="1872827"/>
          </a:xfrm>
          <a:prstGeom prst="roundRect">
            <a:avLst>
              <a:gd name="adj" fmla="val 3906"/>
            </a:avLst>
          </a:prstGeom>
          <a:solidFill>
            <a:srgbClr val="F0F3F1"/>
          </a:solidFill>
          <a:ln/>
        </p:spPr>
      </p:sp>
      <p:sp>
        <p:nvSpPr>
          <p:cNvPr id="18" name="bullet-hex"/>
          <p:cNvSpPr/>
          <p:nvPr/>
        </p:nvSpPr>
        <p:spPr>
          <a:xfrm>
            <a:off x="676656" y="4252122"/>
            <a:ext cx="384048" cy="332586"/>
          </a:xfrm>
          <a:prstGeom prst="hexagon">
            <a:avLst/>
          </a:prstGeom>
          <a:solidFill>
            <a:srgbClr val="3F6B4A"/>
          </a:solidFill>
          <a:ln/>
        </p:spPr>
      </p:sp>
      <p:sp>
        <p:nvSpPr>
          <p:cNvPr id="19" name="bullet"/>
          <p:cNvSpPr txBox="1"/>
          <p:nvPr/>
        </p:nvSpPr>
        <p:spPr>
          <a:xfrm>
            <a:off x="1143000" y="3482001"/>
            <a:ext cx="10408615" cy="187282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six-mark model on how the desert climate affects people made three developed points: heat and dryness mean sparse vegetation, so herders must keep moving; long summer droughts mean people must store food and water for months; and sandy, infertile soil plus dust storms that flatten fields make crop farming hard and keep farmers poor.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Worked example (1 of 2): Challenges: physical and human</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CF0ED"/>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Plan a six-mark answer to the question: Discuss the extent of the opportunities available to develop the Sahara Desert.</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1: water. Opportunity: vast aquifers under the desert could irrigate farmland. Challenge: pumping and piping it is expensive, and irrigation causes salinisation.</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6438748" y="2765552"/>
            <a:ext cx="530352" cy="459285"/>
          </a:xfrm>
          <a:prstGeom prst="hexagon">
            <a:avLst/>
          </a:prstGeom>
          <a:solidFill>
            <a:srgbClr val="3F6B4A"/>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2: minerals and fossil fuels. Opportunity: oil, gas and minerals earn export income. Challenge: the desert is remote and inaccessible, so roads, pipelines and workers all cost extra.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(2 of 2): Challenges: physical and human</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CF0ED"/>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Plan a six-mark answer to the question: Discuss the extent of the opportunities available to develop the Sahara Desert.</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3: farming. Opportunity: desert agriculture (sorghum) and agroforestry. Challenge: thin, infertile soils, extreme heat and unreliable rain limit yields.</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6438748" y="2765552"/>
            <a:ext cx="530352" cy="459285"/>
          </a:xfrm>
          <a:prstGeom prst="hexagon">
            <a:avLst/>
          </a:prstGeom>
          <a:solidFill>
            <a:srgbClr val="3F6B4A"/>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with a judgement: the opportunities are real but each is limited by cost and inaccessibility, so development is possible only to a moderate extent.</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Three developed points, each pairing an opportunity with its barrier, ending with a judgement on the extent.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Desertification: causes and effects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Desertification is not the desert advancing like a tide. It is land at the edge being worn out, mostly by people, until it looks like desert.</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Desertification is the spread of typical desert conditions, landscapes and processes into areas where they did not occur in the recent past.</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card sort separated causes, effects and solutions. The causes are partly natural and partly human.</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effects follow. Soil erosion removes topsoil faster than it can be replaced, by wind and by water.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Solutions that last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Appropriate means right for the people: cheap, simple, local, and fixable without an engineer.</a:t>
            </a:r>
            <a:endParaRPr lang="en-US" sz="1800" dirty="0"/>
          </a:p>
        </p:txBody>
      </p:sp>
      <p:sp>
        <p:nvSpPr>
          <p:cNvPr id="11" name="point-card"/>
          <p:cNvSpPr/>
          <p:nvPr/>
        </p:nvSpPr>
        <p:spPr>
          <a:xfrm>
            <a:off x="548640" y="1389888"/>
            <a:ext cx="3515258" cy="3964940"/>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Sustainability means meeting the needs of the present without reducing the ability of future generations to meet theirs.</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Other solutions attack the causes directly: planting trees to shelter fields and hold the soil, managing the number of animals so grazing land can recover, and resting fields so they are not over-cultivated.</a:t>
            </a:r>
            <a:endParaRPr lang="en-US" sz="2000" dirty="0"/>
          </a:p>
        </p:txBody>
      </p:sp>
      <p:sp>
        <p:nvSpPr>
          <p:cNvPr id="19" name="point-card"/>
          <p:cNvSpPr/>
          <p:nvPr/>
        </p:nvSpPr>
        <p:spPr>
          <a:xfrm>
            <a:off x="8127797" y="1389888"/>
            <a:ext cx="3515258" cy="3964940"/>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To evaluate a solution, as your lesson asked, test it against SEE.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Spotting appropriate technology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A village on the edge of the Sahara wants to stop its soil washing away. Which solution is the best example of appropriate technology?</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motorway built across the desert to bring in lorries of fertiliser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Low embankments of earth and stone built along the contours of the slope by the villagers themselves</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large concrete dam built and run by a foreign engineering company</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desalination plant on the coast pumping sea water hundreds of kilometres inland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Spotting appropriate technology</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Spotting appropriate technology</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CF0ED"/>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Appropriate technology is suited to the needs, skills, knowledge and wealth of local people.</a:t>
            </a:r>
            <a:endParaRPr lang="en-US" sz="2000" dirty="0"/>
          </a:p>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Cross out anything the village could not afford.</a:t>
            </a:r>
            <a:endParaRPr lang="en-US" sz="2000" dirty="0"/>
          </a:p>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Cross out anything the village could not build or repair itself.</a:t>
            </a:r>
            <a:endParaRPr lang="en-US" sz="2000" dirty="0"/>
          </a:p>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Of what is left, pick the one that actually solves the problem of soil washing downhill.</a:t>
            </a:r>
            <a:endParaRPr lang="en-US" sz="2000" dirty="0"/>
          </a:p>
        </p:txBody>
      </p:sp>
      <p:sp>
        <p:nvSpPr>
          <p:cNvPr id="17" name="col-Core"/>
          <p:cNvSpPr/>
          <p:nvPr/>
        </p:nvSpPr>
        <p:spPr>
          <a:xfrm>
            <a:off x="6425403" y="2395728"/>
            <a:ext cx="2471666" cy="3749040"/>
          </a:xfrm>
          <a:prstGeom prst="roundRect">
            <a:avLst>
              <a:gd name="adj" fmla="val 2220"/>
            </a:avLst>
          </a:prstGeom>
          <a:solidFill>
            <a:srgbClr val="D5DED7"/>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2000" b="1" dirty="0">
                <a:solidFill>
                  <a:srgbClr val="32563B"/>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Cheap, simple, local, and it must deal with soil on a slope.</a:t>
            </a:r>
            <a:endParaRPr lang="en-US" sz="20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Evaluate contour traps using SEE: give one social, one economic and one environmental reason they are sustainable, and one limitation.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Desertification keywords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keyword to its meaning.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(1 of 2): Desertification keywords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keyword to its meaning.</a:t>
            </a:r>
            <a:endParaRPr lang="en-US" sz="2400" dirty="0"/>
          </a:p>
        </p:txBody>
      </p:sp>
      <p:sp>
        <p:nvSpPr>
          <p:cNvPr id="11" name="match-card"/>
          <p:cNvSpPr/>
          <p:nvPr/>
        </p:nvSpPr>
        <p:spPr>
          <a:xfrm>
            <a:off x="777240" y="2468331"/>
            <a:ext cx="3081437" cy="1103559"/>
          </a:xfrm>
          <a:prstGeom prst="roundRect">
            <a:avLst>
              <a:gd name="adj" fmla="val 6629"/>
            </a:avLst>
          </a:prstGeom>
          <a:solidFill>
            <a:srgbClr val="F0F3F1"/>
          </a:solidFill>
          <a:ln/>
        </p:spPr>
      </p:sp>
      <p:sp>
        <p:nvSpPr>
          <p:cNvPr id="12" name="match-hex"/>
          <p:cNvSpPr/>
          <p:nvPr/>
        </p:nvSpPr>
        <p:spPr>
          <a:xfrm>
            <a:off x="850392" y="2853818"/>
            <a:ext cx="384048" cy="332586"/>
          </a:xfrm>
          <a:prstGeom prst="hexagon">
            <a:avLst/>
          </a:prstGeom>
          <a:solidFill>
            <a:srgbClr val="3F6B4A"/>
          </a:solidFill>
          <a:ln/>
        </p:spPr>
      </p:sp>
      <p:sp>
        <p:nvSpPr>
          <p:cNvPr id="13" name="match-hex-label"/>
          <p:cNvSpPr txBox="1"/>
          <p:nvPr/>
        </p:nvSpPr>
        <p:spPr>
          <a:xfrm>
            <a:off x="850392"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Over-cultivation</a:t>
            </a:r>
            <a:endParaRPr lang="en-US" sz="2200" dirty="0"/>
          </a:p>
        </p:txBody>
      </p:sp>
      <p:sp>
        <p:nvSpPr>
          <p:cNvPr id="15" name="match-card"/>
          <p:cNvSpPr/>
          <p:nvPr/>
        </p:nvSpPr>
        <p:spPr>
          <a:xfrm>
            <a:off x="4224437" y="2468331"/>
            <a:ext cx="7190019" cy="1103559"/>
          </a:xfrm>
          <a:prstGeom prst="roundRect">
            <a:avLst>
              <a:gd name="adj" fmla="val 6629"/>
            </a:avLst>
          </a:prstGeom>
          <a:solidFill>
            <a:srgbClr val="F6F0E6"/>
          </a:solidFill>
          <a:ln/>
        </p:spPr>
      </p:sp>
      <p:sp>
        <p:nvSpPr>
          <p:cNvPr id="16" name="match-hex"/>
          <p:cNvSpPr/>
          <p:nvPr/>
        </p:nvSpPr>
        <p:spPr>
          <a:xfrm>
            <a:off x="4297589" y="2853818"/>
            <a:ext cx="384048" cy="332586"/>
          </a:xfrm>
          <a:prstGeom prst="hexagon">
            <a:avLst/>
          </a:prstGeom>
          <a:solidFill>
            <a:srgbClr val="B8862B"/>
          </a:solidFill>
          <a:ln/>
        </p:spPr>
      </p:sp>
      <p:sp>
        <p:nvSpPr>
          <p:cNvPr id="17" name="match-hex-label"/>
          <p:cNvSpPr txBox="1"/>
          <p:nvPr/>
        </p:nvSpPr>
        <p:spPr>
          <a:xfrm>
            <a:off x="4297589"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Growing crops so intensively that the soil is exhausted and left barren</a:t>
            </a:r>
            <a:endParaRPr lang="en-US" sz="2200" dirty="0"/>
          </a:p>
        </p:txBody>
      </p:sp>
      <p:sp>
        <p:nvSpPr>
          <p:cNvPr id="19" name="match-card"/>
          <p:cNvSpPr/>
          <p:nvPr/>
        </p:nvSpPr>
        <p:spPr>
          <a:xfrm>
            <a:off x="777240" y="3663330"/>
            <a:ext cx="3081437" cy="1103559"/>
          </a:xfrm>
          <a:prstGeom prst="roundRect">
            <a:avLst>
              <a:gd name="adj" fmla="val 6629"/>
            </a:avLst>
          </a:prstGeom>
          <a:solidFill>
            <a:srgbClr val="F0F3F1"/>
          </a:solidFill>
          <a:ln/>
        </p:spPr>
      </p:sp>
      <p:sp>
        <p:nvSpPr>
          <p:cNvPr id="20" name="match-hex"/>
          <p:cNvSpPr/>
          <p:nvPr/>
        </p:nvSpPr>
        <p:spPr>
          <a:xfrm>
            <a:off x="850392" y="4048817"/>
            <a:ext cx="384048" cy="332586"/>
          </a:xfrm>
          <a:prstGeom prst="hexagon">
            <a:avLst/>
          </a:prstGeom>
          <a:solidFill>
            <a:srgbClr val="3F6B4A"/>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330"/>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Salinisation</a:t>
            </a:r>
            <a:endParaRPr lang="en-US" sz="2200" dirty="0"/>
          </a:p>
        </p:txBody>
      </p:sp>
      <p:sp>
        <p:nvSpPr>
          <p:cNvPr id="23" name="match-card"/>
          <p:cNvSpPr/>
          <p:nvPr/>
        </p:nvSpPr>
        <p:spPr>
          <a:xfrm>
            <a:off x="4224437" y="3663330"/>
            <a:ext cx="7190019" cy="1103559"/>
          </a:xfrm>
          <a:prstGeom prst="roundRect">
            <a:avLst>
              <a:gd name="adj" fmla="val 6629"/>
            </a:avLst>
          </a:prstGeom>
          <a:solidFill>
            <a:srgbClr val="F6F0E6"/>
          </a:solidFill>
          <a:ln/>
        </p:spPr>
      </p:sp>
      <p:sp>
        <p:nvSpPr>
          <p:cNvPr id="24" name="match-hex"/>
          <p:cNvSpPr/>
          <p:nvPr/>
        </p:nvSpPr>
        <p:spPr>
          <a:xfrm>
            <a:off x="4297589" y="4048817"/>
            <a:ext cx="384048" cy="332586"/>
          </a:xfrm>
          <a:prstGeom prst="hexagon">
            <a:avLst/>
          </a:prstGeom>
          <a:solidFill>
            <a:srgbClr val="B8862B"/>
          </a:solidFill>
          <a:ln/>
        </p:spPr>
      </p:sp>
      <p:sp>
        <p:nvSpPr>
          <p:cNvPr id="25"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663330"/>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Topsoil removed faster than it can be replaced, by wind, water, animals or people</a:t>
            </a:r>
            <a:endParaRPr lang="en-US" sz="2200" dirty="0"/>
          </a:p>
        </p:txBody>
      </p:sp>
      <p:sp>
        <p:nvSpPr>
          <p:cNvPr id="27" name="match-card"/>
          <p:cNvSpPr/>
          <p:nvPr/>
        </p:nvSpPr>
        <p:spPr>
          <a:xfrm>
            <a:off x="777240" y="4858329"/>
            <a:ext cx="3081437" cy="1103559"/>
          </a:xfrm>
          <a:prstGeom prst="roundRect">
            <a:avLst>
              <a:gd name="adj" fmla="val 6629"/>
            </a:avLst>
          </a:prstGeom>
          <a:solidFill>
            <a:srgbClr val="F0F3F1"/>
          </a:solidFill>
          <a:ln/>
        </p:spPr>
      </p:sp>
      <p:sp>
        <p:nvSpPr>
          <p:cNvPr id="28" name="match-hex"/>
          <p:cNvSpPr/>
          <p:nvPr/>
        </p:nvSpPr>
        <p:spPr>
          <a:xfrm>
            <a:off x="850392" y="5243816"/>
            <a:ext cx="384048" cy="332586"/>
          </a:xfrm>
          <a:prstGeom prst="hexagon">
            <a:avLst/>
          </a:prstGeom>
          <a:solidFill>
            <a:srgbClr val="3F6B4A"/>
          </a:solidFill>
          <a:ln/>
        </p:spPr>
      </p:sp>
      <p:sp>
        <p:nvSpPr>
          <p:cNvPr id="29" name="match-hex-label"/>
          <p:cNvSpPr txBox="1"/>
          <p:nvPr/>
        </p:nvSpPr>
        <p:spPr>
          <a:xfrm>
            <a:off x="850392"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58329"/>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Soil erosion</a:t>
            </a:r>
            <a:endParaRPr lang="en-US" sz="2200" dirty="0"/>
          </a:p>
        </p:txBody>
      </p:sp>
      <p:sp>
        <p:nvSpPr>
          <p:cNvPr id="31" name="match-card"/>
          <p:cNvSpPr/>
          <p:nvPr/>
        </p:nvSpPr>
        <p:spPr>
          <a:xfrm>
            <a:off x="4224437" y="4858329"/>
            <a:ext cx="7190019" cy="1103559"/>
          </a:xfrm>
          <a:prstGeom prst="roundRect">
            <a:avLst>
              <a:gd name="adj" fmla="val 6629"/>
            </a:avLst>
          </a:prstGeom>
          <a:solidFill>
            <a:srgbClr val="F6F0E6"/>
          </a:solidFill>
          <a:ln/>
        </p:spPr>
      </p:sp>
      <p:sp>
        <p:nvSpPr>
          <p:cNvPr id="32" name="match-hex"/>
          <p:cNvSpPr/>
          <p:nvPr/>
        </p:nvSpPr>
        <p:spPr>
          <a:xfrm>
            <a:off x="4297589" y="5243816"/>
            <a:ext cx="384048" cy="332586"/>
          </a:xfrm>
          <a:prstGeom prst="hexagon">
            <a:avLst/>
          </a:prstGeom>
          <a:solidFill>
            <a:srgbClr val="B8862B"/>
          </a:solidFill>
          <a:ln/>
        </p:spPr>
      </p:sp>
      <p:sp>
        <p:nvSpPr>
          <p:cNvPr id="33" name="match-hex-label"/>
          <p:cNvSpPr txBox="1"/>
          <p:nvPr/>
        </p:nvSpPr>
        <p:spPr>
          <a:xfrm>
            <a:off x="4297589"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858329"/>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build-up of salt on the land surface, often where irrigation water evaporates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(2 of 2): Desertification keywords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keyword to its meaning.</a:t>
            </a:r>
            <a:endParaRPr lang="en-US" sz="2400" dirty="0"/>
          </a:p>
        </p:txBody>
      </p:sp>
      <p:sp>
        <p:nvSpPr>
          <p:cNvPr id="11" name="match-card"/>
          <p:cNvSpPr/>
          <p:nvPr/>
        </p:nvSpPr>
        <p:spPr>
          <a:xfrm>
            <a:off x="777240" y="2468331"/>
            <a:ext cx="3081437" cy="824484"/>
          </a:xfrm>
          <a:prstGeom prst="roundRect">
            <a:avLst>
              <a:gd name="adj" fmla="val 8872"/>
            </a:avLst>
          </a:prstGeom>
          <a:solidFill>
            <a:srgbClr val="F0F3F1"/>
          </a:solidFill>
          <a:ln/>
        </p:spPr>
      </p:sp>
      <p:sp>
        <p:nvSpPr>
          <p:cNvPr id="12" name="match-hex"/>
          <p:cNvSpPr/>
          <p:nvPr/>
        </p:nvSpPr>
        <p:spPr>
          <a:xfrm>
            <a:off x="850392" y="2714281"/>
            <a:ext cx="384048" cy="332586"/>
          </a:xfrm>
          <a:prstGeom prst="hexagon">
            <a:avLst/>
          </a:prstGeom>
          <a:solidFill>
            <a:srgbClr val="3F6B4A"/>
          </a:solidFill>
          <a:ln/>
        </p:spPr>
      </p:sp>
      <p:sp>
        <p:nvSpPr>
          <p:cNvPr id="13" name="match-hex-label"/>
          <p:cNvSpPr txBox="1"/>
          <p:nvPr/>
        </p:nvSpPr>
        <p:spPr>
          <a:xfrm>
            <a:off x="850392" y="271428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Contour traps</a:t>
            </a:r>
            <a:endParaRPr lang="en-US" sz="2200" dirty="0"/>
          </a:p>
        </p:txBody>
      </p:sp>
      <p:sp>
        <p:nvSpPr>
          <p:cNvPr id="15" name="match-card"/>
          <p:cNvSpPr/>
          <p:nvPr/>
        </p:nvSpPr>
        <p:spPr>
          <a:xfrm>
            <a:off x="4224437" y="2468331"/>
            <a:ext cx="7190019" cy="824484"/>
          </a:xfrm>
          <a:prstGeom prst="roundRect">
            <a:avLst>
              <a:gd name="adj" fmla="val 8872"/>
            </a:avLst>
          </a:prstGeom>
          <a:solidFill>
            <a:srgbClr val="F6F0E6"/>
          </a:solidFill>
          <a:ln/>
        </p:spPr>
      </p:sp>
      <p:sp>
        <p:nvSpPr>
          <p:cNvPr id="16" name="match-hex"/>
          <p:cNvSpPr/>
          <p:nvPr/>
        </p:nvSpPr>
        <p:spPr>
          <a:xfrm>
            <a:off x="4297589" y="2714281"/>
            <a:ext cx="384048" cy="332586"/>
          </a:xfrm>
          <a:prstGeom prst="hexagon">
            <a:avLst/>
          </a:prstGeom>
          <a:solidFill>
            <a:srgbClr val="B8862B"/>
          </a:solidFill>
          <a:ln/>
        </p:spPr>
      </p:sp>
      <p:sp>
        <p:nvSpPr>
          <p:cNvPr id="17" name="match-hex-label"/>
          <p:cNvSpPr txBox="1"/>
          <p:nvPr/>
        </p:nvSpPr>
        <p:spPr>
          <a:xfrm>
            <a:off x="4297589" y="271428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 underground store of water</a:t>
            </a:r>
            <a:endParaRPr lang="en-US" sz="2200" dirty="0"/>
          </a:p>
        </p:txBody>
      </p:sp>
      <p:sp>
        <p:nvSpPr>
          <p:cNvPr id="19" name="match-card"/>
          <p:cNvSpPr/>
          <p:nvPr/>
        </p:nvSpPr>
        <p:spPr>
          <a:xfrm>
            <a:off x="777240" y="3384255"/>
            <a:ext cx="3081437" cy="1165352"/>
          </a:xfrm>
          <a:prstGeom prst="roundRect">
            <a:avLst>
              <a:gd name="adj" fmla="val 6277"/>
            </a:avLst>
          </a:prstGeom>
          <a:solidFill>
            <a:srgbClr val="F0F3F1"/>
          </a:solidFill>
          <a:ln/>
        </p:spPr>
      </p:sp>
      <p:sp>
        <p:nvSpPr>
          <p:cNvPr id="20" name="match-hex"/>
          <p:cNvSpPr/>
          <p:nvPr/>
        </p:nvSpPr>
        <p:spPr>
          <a:xfrm>
            <a:off x="850392" y="3800639"/>
            <a:ext cx="384048" cy="332586"/>
          </a:xfrm>
          <a:prstGeom prst="hexagon">
            <a:avLst/>
          </a:prstGeom>
          <a:solidFill>
            <a:srgbClr val="3F6B4A"/>
          </a:solidFill>
          <a:ln/>
        </p:spPr>
      </p:sp>
      <p:sp>
        <p:nvSpPr>
          <p:cNvPr id="21" name="match-hex-label"/>
          <p:cNvSpPr txBox="1"/>
          <p:nvPr/>
        </p:nvSpPr>
        <p:spPr>
          <a:xfrm>
            <a:off x="850392" y="380063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84255"/>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Aquifer</a:t>
            </a:r>
            <a:endParaRPr lang="en-US" sz="2200" dirty="0"/>
          </a:p>
        </p:txBody>
      </p:sp>
      <p:sp>
        <p:nvSpPr>
          <p:cNvPr id="23" name="match-card"/>
          <p:cNvSpPr/>
          <p:nvPr/>
        </p:nvSpPr>
        <p:spPr>
          <a:xfrm>
            <a:off x="4224437" y="3384255"/>
            <a:ext cx="7190019" cy="1165352"/>
          </a:xfrm>
          <a:prstGeom prst="roundRect">
            <a:avLst>
              <a:gd name="adj" fmla="val 6277"/>
            </a:avLst>
          </a:prstGeom>
          <a:solidFill>
            <a:srgbClr val="F6F0E6"/>
          </a:solidFill>
          <a:ln/>
        </p:spPr>
      </p:sp>
      <p:sp>
        <p:nvSpPr>
          <p:cNvPr id="24" name="match-hex"/>
          <p:cNvSpPr/>
          <p:nvPr/>
        </p:nvSpPr>
        <p:spPr>
          <a:xfrm>
            <a:off x="4297589" y="3800639"/>
            <a:ext cx="384048" cy="332586"/>
          </a:xfrm>
          <a:prstGeom prst="hexagon">
            <a:avLst/>
          </a:prstGeom>
          <a:solidFill>
            <a:srgbClr val="B8862B"/>
          </a:solidFill>
          <a:ln/>
        </p:spPr>
      </p:sp>
      <p:sp>
        <p:nvSpPr>
          <p:cNvPr id="25" name="match-hex-label"/>
          <p:cNvSpPr txBox="1"/>
          <p:nvPr/>
        </p:nvSpPr>
        <p:spPr>
          <a:xfrm>
            <a:off x="4297589" y="380063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84255"/>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Embankments built along the contours of slopes to stop soil washing down in heavy rain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Desertification keywords</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keyword to its meaning.</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CF0ED"/>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these are causes, two are effects or problems, and one is a solution. Sort them first.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Cultivation means growing crops; over- means too much.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Saline means salty.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trap along a contour holds something back on a slope. Aqua means water.</a:t>
            </a:r>
            <a:endParaRPr lang="en-US" sz="1800" dirty="0"/>
          </a:p>
        </p:txBody>
      </p:sp>
      <p:sp>
        <p:nvSpPr>
          <p:cNvPr id="17" name="col-Core"/>
          <p:cNvSpPr/>
          <p:nvPr/>
        </p:nvSpPr>
        <p:spPr>
          <a:xfrm>
            <a:off x="5490762" y="2578608"/>
            <a:ext cx="2938987" cy="3566160"/>
          </a:xfrm>
          <a:prstGeom prst="roundRect">
            <a:avLst>
              <a:gd name="adj" fmla="val 1867"/>
            </a:avLst>
          </a:prstGeom>
          <a:solidFill>
            <a:srgbClr val="D5DED7"/>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Crops, salt, lost topsoil, a wall on a slope, water underground.</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over-cultivation leads to soil erosion, and how irrigation meant to solve one problem can cause salinisation.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The Sahara is the world's largest hot desert. Roughly how many million square kilometres does it cover?</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2F5F2"/>
          </a:solidFill>
          <a:ln w="12700">
            <a:solidFill>
              <a:srgbClr val="9FB5A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(million km²):</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Spotting appropriate technology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village on the edge of the Sahara wants to stop its soil washing away. Which solution is the best example of appropriate technology?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Low embankments of earth and stone built along the contours of the slope by the villagers themselves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Contour traps are embankments built along the contours of a slope to stop soil being washed down. They are cheap, use local materials and skills, and can be maintained by the village, so they are appropriate technology.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Desertification keywords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Over-cultivation  →  D  Growing crops so intensively that the soil is exhausted and left barren</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Salinisation  →  A  A build-up of salt on the land surface, often where irrigation water evaporates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Soil erosion  →  B  Topsoil removed faster than it can be replaced, by wind, water, animals or people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Contour traps  →  C  Embankments built along the contours of slopes to stop soil washing down in heavy rain</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Aquifer  →  E  An underground store of water</a:t>
            </a:r>
            <a:endParaRPr lang="en-US" sz="20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Over-cultivation exhausts the soil; salinisation is salt left behind by evaporating irrigation water; soil erosion is topsoil lost faster than it forms; contour traps hold soil and water on slopes; an aquifer is water stored underground.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Sahara is the world's largest hot desert. Roughly how many million square kilometres does it cover?</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9 million km²</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lessons give the Sahara as about 9 million square kilometres, covering much of the northern third of Africa.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CF0ED"/>
      </a:lt2>
      <a:accent1>
        <a:srgbClr val="3F6B4A"/>
      </a:accent1>
      <a:accent2>
        <a:srgbClr val="B8862B"/>
      </a:accent2>
      <a:accent3>
        <a:srgbClr val="8CA692"/>
      </a:accent3>
      <a:accent4>
        <a:srgbClr val="815E1E"/>
      </a:accent4>
      <a:accent5>
        <a:srgbClr val="4A505C"/>
      </a:accent5>
      <a:accent6>
        <a:srgbClr val="DCC395"/>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Living World: Ecosystems · Chapter 6: Developing the desert and holding back the sand</dc:title>
  <dc:subject>Geography · Year 9</dc:subject>
  <dc:creator>Dr Vitor Merissi de Carvalho</dc:creator>
  <cp:lastModifiedBy>Dr Vitor Merissi de Carvalho</cp:lastModifiedBy>
  <cp:revision>1</cp:revision>
  <dcterms:created xsi:type="dcterms:W3CDTF">2026-10-19T06:07:41Z</dcterms:created>
  <dcterms:modified xsi:type="dcterms:W3CDTF">2026-10-19T06:07:41Z</dcterms:modified>
</cp:coreProperties>
</file>