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3544e8a-017a-e7ff-b675-7f076020c23f}">
          <p14:sldIdLst>
            <p14:sldId id="256"/>
          </p14:sldIdLst>
        </p14:section>
        <p14:section name="Gate" id="{3c87a674-d611-c8da-5019-2a1f44dcdc83}">
          <p14:sldIdLst>
            <p14:sldId id="257"/>
            <p14:sldId id="258"/>
          </p14:sldIdLst>
        </p14:section>
        <p14:section name="Pre-teach" id="{8171ae1d-bf6f-4b12-443a-f150c46739c9}">
          <p14:sldIdLst>
            <p14:sldId id="259"/>
            <p14:sldId id="260"/>
          </p14:sldIdLst>
        </p14:section>
        <p14:section name="Read-along" id="{77cd0cb5-c188-072d-cf7a-9cf12dbec554}">
          <p14:sldIdLst>
            <p14:sldId id="261"/>
            <p14:sldId id="262"/>
          </p14:sldIdLst>
        </p14:section>
        <p14:section name="Teach" id="{ae91d3da-4efe-3996-22d6-cf2a6b55a561}">
          <p14:sldIdLst>
            <p14:sldId id="263"/>
            <p14:sldId id="264"/>
            <p14:sldId id="265"/>
            <p14:sldId id="266"/>
            <p14:sldId id="267"/>
          </p14:sldIdLst>
        </p14:section>
        <p14:section name="Routes" id="{54093622-ff84-fc50-4442-ef0a69d21190}">
          <p14:sldIdLst>
            <p14:sldId id="268"/>
            <p14:sldId id="269"/>
            <p14:sldId id="270"/>
          </p14:sldIdLst>
        </p14:section>
        <p14:section name="Close" id="{69dfe4e4-5a7c-c29f-8e0e-7cf124f27b20}">
          <p14:sldIdLst>
            <p14:sldId id="271"/>
          </p14:sldIdLst>
        </p14:section>
        <p14:section name="Answers" id="{f4d1e449-3b22-3e11-9f92-ddaa082e61f9}">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Tropical rainforests: hot, wet and crowded with life. Where the rainforests are, the four layers of the forest, a climate with no seasons, a red soil that is rich and poor at the same time, and the clever ways plants and animals have adapted to it all.
This deck covers the department's lessons: 5 (The tropical rainforest: location and layers: Where are tropical rainforests found, and what are the four layers of the forest?); 6 (Climate and soils of the tropical rainforest: What is the rainforest climate like, and why are its soils so infertile?); 7 (Plant adaptations and biodiversity: How have rainforest plants adapted to heat, heavy rain and competition for light?); 8 (Animal adaptations in the tropical rainforest: How are the toucan, the anteater and the red-eyed tree frog adapted to life in the rainforest?).
Read the big question aloud: "How do ecosystems work, why are the world's great biomes where they are, and how can people use rainforests and deserts without destroying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the typical rainforest climate table, the warmest months were 28°C and the coolest month 26°C. What is the annual temperature range, in °C?  →  2 °C
2. Why are rainforest soils (latosols) so infertile?  →  C   Heavy rain leaches the nutrients out of the soil
3. The tallest rainforest trees poke out above the canopy to form the ___ layer.  →  emergent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 °C. Range is highest minus lowest: 28 − 26 = 2°C. The rainforest is hot all year with almost no seasonal change.
2. C   Heavy rain leaches the nutrients out of the soil. The heavy, year-round rain washes (leaches) nutrients down out of the soil. Only the surface layer, fed by rotting leaves, is fertile.
3. emergent. The emergent layer is the topmost layer, made of the tallest trees that emerge above the canopy.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equator: the imaginary line around the middle of the Earth. Example: "The equator passes through the middle of the world's rainforests."
• canopy: the thick, leafy layer formed by the tops of most of the trees. Example: "The canopy blocks most of the sunlight from the layers below."
• emergent: the tallest trees, which poke out above the canopy. Example: "An emergent tree can be taller than a block of flats."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latosol: the red rainforest soil, rich in iron and aluminium. Example: "Latosol is red because of the iron in it."
• leaching: rain washing nutrients down out of the soil. Example: "Heavy rain causes leaching, so the soil below the surface is poor."
• biodiversity: the range of different plants and animals in a place. Example: "The rainforest has the greatest biodiversity of any biome."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Tropical rainforests grow on and near the equator.
2. The biggest are in South America, Africa and South East Asia.
3. The forest has four layers.
4. The tallest trees poke out above the rest: the emergent layer.
5. Below them, the tree tops join to make the canopy, where most of the animals live.
6. Under the canopy is the understorey, where climbing plants reach for light.
7. The forest floor is dark, because only a little light gets through.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It is hot all year, about 27 degrees, and it rains every month.
9. The soil is red and deep, but the rain washes the goodness out of it.
10. Only the top layer, made of rotting leaves, is rich.
11. So the trees have shallow roots and wide buttress roots to hold them up.
12. Leaves have drip tips so the rain runs off.
13. Animals are adapted too: the tree frog has suction cups on its toes for climbing.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the rainforests are, and their four layers. Say it in your own words, then check understanding with a quick question: ask a pupil from the pre-teach group first, since they met these words and ideas before the lesson. Pupils try to recall before you re-explain.
The tropical rainforest is a hot, wet biome found on and near the equator, inside the tropics. The largest rainforests are in South America (for example Brazil, which has the biggest area of all), Africa (the Democratic Republic of the Congo) and South East Asia (Indonesia, and the case-study country Malaysia). Many areas of the world's rainforests are being cut down: that is deforestation, the subject of chapter 4.
The forest grows in four layers. At the top, the emergent layer is made of the tallest trees, which poke out above everything else; your lessons give heights of 50 m and even up to 75 m. Below them the crowns of most trees join to form the canopy, the densest layer, which blocks out the sunlight to the layers beneath and is home to eagles, butterflies and bats. Your lessons give a striking figure for the canopy: it is often said to hold about half of all the species on Earth. The understorey (also called the undercanopy) lies between the canopy and the ground; birds, insects and snakes are found there in abundance, and lianas climb up the trunks of larger trees to reach the light.
At the bottom is the forest floor, or shrub layer. It receives the least light, only about 5 % of what falls on the canopy, so few plants grow there. Fungi feed on the decaying leaves and branches that rain down from above, and larger animals such as deer move about on the floor. Each layer has its own light, moisture and food, and so its own community.
Tip: From the top down: emergent, canopy, understorey, forest floor. From the bottom up, the light increases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climate: hot and wet, every month. Say it in your own words, then check understanding with a quick question: ask a pupil from the pre-teach group first, since they met these words and ideas before the lesson. Pupils try to recall before you re-explain.
Your class drew a climate graph from a typical rainforest table. Temperature was 27°C in January, February and March, 28°C in April and May, 27°C in June and July, 26°C in August, 27°C in September, 28°C in October and 27°C in November and December. Rainfall, in mm, ran 225, 175, 180, 200, 165, 175, 185, 200, 185, 210, 230, 230 from January to December. Two things stand out. The temperature barely moves: the range is only 2°C, from 26 to 28°C. And rain falls heavily in every month: the driest month still has 165 mm, the wettest 230 mm, and the whole year adds up to 2360 mm, well inside the 2000 to 3000 mm your biome table gives.
There are no seasons as the UK knows them, because the equator receives strong sunshine all year. Hot air rises over the equator every day, cools, and drops its moisture as heavy afternoon rain. That is why the rainforest is hot and wet throughout the year.
To describe a climate graph, your lessons use TRASH: Trend (the overall pattern), Range (highest minus lowest), Anomaly (anything that breaks the pattern), Smallest and Highest (with the month and the figure). Always quote numbers and units: 230 mm, not just lots of rain.
Worked example — model it step by step, thinking aloud: Using the climate table, work out the total annual rainfall, the temperature range and the mean temperature of a typical tropical rainforest. (1) Total rainfall: add the twelve monthly figures. 225 + 175 + 180 + 200 + 165 + 175 + 185 + 200 + 185 + 210 + 230 + 230 = 2360 mm. (2) Temperature range: highest minus lowest. 28 − 26 = 2°C. (3) Mean temperature: add the twelve monthly temperatures (326) and divide by 12. 326 ÷ 12 = 27.2°C, to one decimal place. (4) Check the sense: 2360 mm sits inside the 2000 to 3000 mm the biome table gives, and 27°C sits inside its 25 to 30°C. Answer: Total rainfall 2360 mm; temperature range 2°C; mean temperature about 27°C..
Tip: Range always means highest minus lowest, and it always has units: 2°C, 65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climate: hot and wet, every month. Say it in your own words, then check understanding with a quick question: ask a pupil from the pre-teach group first, since they met these words and ideas before the lesson. Pupils try to recall before you re-explain.
Your class drew a climate graph from a typical rainforest table. Temperature was 27°C in January, February and March, 28°C in April and May, 27°C in June and July, 26°C in August, 27°C in September, 28°C in October and 27°C in November and December. Rainfall, in mm, ran 225, 175, 180, 200, 165, 175, 185, 200, 185, 210, 230, 230 from January to December. Two things stand out. The temperature barely moves: the range is only 2°C, from 26 to 28°C. And rain falls heavily in every month: the driest month still has 165 mm, the wettest 230 mm, and the whole year adds up to 2360 mm, well inside the 2000 to 3000 mm your biome table gives.
There are no seasons as the UK knows them, because the equator receives strong sunshine all year. Hot air rises over the equator every day, cools, and drops its moisture as heavy afternoon rain. That is why the rainforest is hot and wet throughout the year.
To describe a climate graph, your lessons use TRASH: Trend (the overall pattern), Range (highest minus lowest), Anomaly (anything that breaks the pattern), Smallest and Highest (with the month and the figure). Always quote numbers and units: 230 mm, not just lots of rain.
Worked example — model it step by step, thinking aloud: Using the climate table, work out the total annual rainfall, the temperature range and the mean temperature of a typical tropical rainforest. (1) Total rainfall: add the twelve monthly figures. 225 + 175 + 180 + 200 + 165 + 175 + 185 + 200 + 185 + 210 + 230 + 230 = 2360 mm. (2) Temperature range: highest minus lowest. 28 − 26 = 2°C. (3) Mean temperature: add the twelve monthly temperatures (326) and divide by 12. 326 ÷ 12 = 27.2°C, to one decimal place. (4) Check the sense: 2360 mm sits inside the 2000 to 3000 mm the biome table gives, and 27°C sits inside its 25 to 30°C. Answer: Total rainfall 2360 mm; temperature range 2°C; mean temperature about 27°C..
Tip: Range always means highest minus lowest, and it always has units: 2°C, 65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Soils: red, deep and poor. Say it in your own words, then check understanding with a quick question: ask a pupil from the pre-teach group first, since they met these words and ideas before the lesson. Pupils try to recall before you re-explain.
Rainforest soils are called latosols. They are rich in iron and aluminium, which is why they are red. Despite the lush forest growing on them, they are very infertile. The heavy rain leaches (washes) the nutrients down and out of the soil, so below the surface there is little for roots to feed on.
The most fertile part of the soil is right at the surface. There is a constant supply of dead leaves falling from the canopy, and in the heat and damp the decomposers break them down quickly into a thick layer of humus. Nutrients are released, taken up by roots and used by the trees before the rain can wash them away. That is the answer to your stretch question: the latosol is infertile, yet it grows an abundance of plants, because the nutrients are recycled so fast at the surface that the trees never need to rely on the poor soil beneath.
It also explains a plant adaptation. Because the nutrients are at the surface, trees have shallow roots to absorb them. Shallow roots cannot anchor a 50 m tree on their own, so the tree grows buttress roots as well.
Tip: Red because of iron; poor because of leaching; rich at the top because of humus. Three facts, three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Adaptations of plants and animals. Say it in your own words, then check understanding with a quick question: ask a pupil from the pre-teach group first, since they met these words and ideas before the lesson. Pupils try to recall before you re-explain.
Plants have adapted to heat, heavy rain and fierce competition for light. Buttress roots are massive ridges at the base of the trunk that support tall trees and stop them toppling, and increase the surface area through which the tree exchanges gases. Drip tip leaves let the heavy rain run off so the leaves do not snap. Lianas are woody creepers that root in the ground but climb other trees to be carried up to the canopy where there is more sunlight. Epiphytes live on branches; they do not root in the ground but take their nutrients from the air and rain. Fast-growing trees race upwards to compete for light, since so little reaches the floor; the winners become emergents. Thin, smooth bark lets water flow down the trunk easily, and many flexible leaves can turn to face the sun to maximise photosynthesis.
Animals are adapted too. The toucan nests in tree holes to hide from predators; its large, colourful bill helps to deter predators and its bright colours attract a mate, and strong claws grip the branches. The anteater has a long, sticky tongue to pull ants and termites out of their nests, huge clawed paws to break the nests open, and a long tail for climbing and balance. The red-eyed tree frog has suction cups on its toes so it can climb trees and cling to leaves; it feeds on smaller frogs, insects and crickets, and when it sleeps it hides its bright red eyes and blue and orange markings so it is harder to spot.
In an explain answer, always pair the feature with the problem it solves: drip tips because of heavy rain; buttress roots because of shallow soil and great height; suction toes because the frog must climb wet, smooth leaves.
Tip: Feature plus reason equals an explanation. A feature on its own is only a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Wettest and driest.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the typical rainforest climate table, the wettest month has 230 mm of rain and the driest month 165 mm. What is the difference between them, in mm?
Support — work through the steps with the group: (1) Difference, or range, means the larger figure minus the smaller. (2) Write the larger first: 230. (3) Take away the smaller: 230 − 165. (4) Do it in steps if it helps: 230 − 100 = 130, 130 − 60 = 70, 70 − 5 = 65.
Parallel worked example for Support (model it, do not give the task answer): A desert climate graph shows 35°C in the hottest month and 13°C in the coolest. What is the temperature range? Range is highest minus lowest.; 35 − 13 = 22.. Answer: 22°C.
Core — reveal the hint only on request: Range means the gap between highest and lowest, so subtract the smaller from the larger.
Stretch — no help; when finished: The temperature range is 2°C and the rainfall range is 65 mm. Explain what each range tells you about seasons in the rainforest.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Plant adaptations and what they are for.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rainforest plant adaptation to what it does.
Support — work through the steps with the group: (1) Two of these are parts of a tree (roots and leaves); two are whole plants that live on or up other trees. (2) Roots are about holding the tree up. Leaves are about water running off. (3) Of the two climbing or perching plants, one is rooted in the ground and climbs; one never touches the ground. (4) Check each pair: does the description solve a rainforest problem (height, heavy rain, lack of light)?
Parallel worked example for Support (model it, do not give the task answer): Match: thin smooth bark, fast-growing trees. Choices: race upwards to compete for the light; let water flow easily down the trunk. Smooth bark is about water running down.; Growing fast is about reaching light first.. Answer: Thin smooth bark: let water flow easily down the trunk. Fast-growing trees: race upwards to compete for the light..
Core — reveal the hint only on request: Roots hold, leaves drain, lianas climb, epiphytes perch.
Stretch — no help; when finished: Explain how the latosol soil and the buttress roots are linked.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Plant adaptations and what they are for.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rainforest plant adaptation to what it does.
Support — work through the steps with the group: (1) Two of these are parts of a tree (roots and leaves); two are whole plants that live on or up other trees. (2) Roots are about holding the tree up. Leaves are about water running off. (3) Of the two climbing or perching plants, one is rooted in the ground and climbs; one never touches the ground. (4) Check each pair: does the description solve a rainforest problem (height, heavy rain, lack of light)?
Parallel worked example for Support (model it, do not give the task answer): Match: thin smooth bark, fast-growing trees. Choices: race upwards to compete for the light; let water flow easily down the trunk. Smooth bark is about water running down.; Growing fast is about reaching light first.. Answer: Thin smooth bark: let water flow easily down the trunk. Fast-growing trees: race upwards to compete for the light..
Core — reveal the hint only on request: Roots hold, leaves drain, lianas climb, epiphytes perch.
Stretch — no help; when finished: Explain how the latosol soil and the buttress roots are linked.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the typical rainforest climate table, the warmest months were 28°C and the coolest month 26°C. What is the annual temperature range, in °C?
Answer: 2 °C. Range is highest minus lowest: 28 − 26 = 2°C. The rainforest is hot all year with almost no seasonal change.
Source of this question: gate item 1 re-asked (options rotated) — this chapter has no third quick-check module.
The ebook also holds task 3, "Adapted to the rainforest",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Wettest and driest. Reveal the answer; pupils mark their own work in a different colour, then read the "why" together. Same destination for every lane, so one answer serves the whole class.
Answer: 65 mm
Why: Range is highest minus lowest: 230 − 165 = 65 mm. A gap of 65 mm between the wettest and driest months, when the driest still has 165 mm, means it is wet all year.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Plant adaptations and what they are for. Reveal the answer; pupils mark their own work in a different colour, then read the "why" together. Same destination for every lane, so one answer serves the whole class.
Answer: Buttress roots  →  B  Wide ridges at the base of the trunk that support a very tall tree in shallow soil; Drip tips  →  D  Pointed leaf ends that let heavy rain run off so the leaves do not snap; Lianas  →  A  Woody creepers that root in the ground but climb other trees to reach the light; Epiphytes  →  C  Plants that live on branches and take their nutrients from the air instead of the soil
Why: Buttress roots support tall trees with shallow roots; drip tips shed heavy rain; lianas climb to the light; epiphytes live on branches and feed from the air.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 °C
Why: Range is highest minus lowest: 28 − 26 = 2°C. The rainforest is hot all year with almost no seasonal change.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Living World: Ecosystems · AQA 8035</a:t>
            </a:r>
            <a:endParaRPr lang="en-US" sz="1800" dirty="0"/>
          </a:p>
        </p:txBody>
      </p:sp>
      <p:sp>
        <p:nvSpPr>
          <p:cNvPr id="10" name="deck-title"/>
          <p:cNvSpPr txBox="1"/>
          <p:nvPr/>
        </p:nvSpPr>
        <p:spPr>
          <a:xfrm>
            <a:off x="548640" y="184835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Tropical rainforests: hot, wet and crowded with life</a:t>
            </a:r>
            <a:endParaRPr lang="en-US" sz="3200" dirty="0"/>
          </a:p>
        </p:txBody>
      </p:sp>
      <p:sp>
        <p:nvSpPr>
          <p:cNvPr id="11" name="lessons-card"/>
          <p:cNvSpPr/>
          <p:nvPr/>
        </p:nvSpPr>
        <p:spPr>
          <a:xfrm>
            <a:off x="548640" y="3260598"/>
            <a:ext cx="5287975" cy="2334260"/>
          </a:xfrm>
          <a:prstGeom prst="roundRect">
            <a:avLst>
              <a:gd name="adj" fmla="val 3134"/>
            </a:avLst>
          </a:prstGeom>
          <a:solidFill>
            <a:srgbClr val="ECF0ED"/>
          </a:solidFill>
          <a:ln/>
        </p:spPr>
      </p:sp>
      <p:sp>
        <p:nvSpPr>
          <p:cNvPr id="12" name="lessons"/>
          <p:cNvSpPr txBox="1"/>
          <p:nvPr/>
        </p:nvSpPr>
        <p:spPr>
          <a:xfrm>
            <a:off x="685800" y="3352038"/>
            <a:ext cx="5013655" cy="21513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tropical rainforest: location and layers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Climate and soils of the tropical rainforest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Plant adaptations and biodiversity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Animal adaptations in the tropical rainforest</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ecosystems work, why are the world's great biomes where they are, and how can people use rainforests and deserts without destroying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the typical rainforest climate table, the warmest months were 28°C and the coolest month 26°C. What is the annual temperature range, in °C?</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°C</a:t>
            </a:r>
            <a:endParaRPr lang="en-US" sz="22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are rainforest soils (latosols) so infertile?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There are no decomposers in the rainforest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red colour poisons the plants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Heavy rain leaches the nutrients out of the soil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soil is too cold for plants to grow</a:t>
            </a:r>
            <a:endParaRPr lang="en-US" sz="18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tallest rainforest trees poke out above the canopy to form the ___ layer.</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emergent  ·  understorey  ·  shrub</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 °C</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Range is highest minus lowest: 28 − 26 = 2°C. The rainforest is hot all year with almost no seasonal change.</a:t>
            </a:r>
            <a:endParaRPr lang="en-US" sz="18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295908"/>
          </a:xfrm>
          <a:prstGeom prst="roundRect">
            <a:avLst>
              <a:gd name="adj" fmla="val 8467"/>
            </a:avLst>
          </a:prstGeom>
          <a:solidFill>
            <a:srgbClr val="EDE1CA"/>
          </a:solidFill>
          <a:ln w="19050">
            <a:solidFill>
              <a:srgbClr val="B8862B"/>
            </a:solidFill>
            <a:prstDash val="solid"/>
          </a:ln>
        </p:spPr>
      </p:sp>
      <p:sp>
        <p:nvSpPr>
          <p:cNvPr id="19" name="answer"/>
          <p:cNvSpPr txBox="1"/>
          <p:nvPr/>
        </p:nvSpPr>
        <p:spPr>
          <a:xfrm>
            <a:off x="4612538"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Heavy rain leaches the nutrients out of the soil</a:t>
            </a:r>
            <a:endParaRPr lang="en-US" sz="2200" dirty="0"/>
          </a:p>
        </p:txBody>
      </p:sp>
      <p:sp>
        <p:nvSpPr>
          <p:cNvPr id="20" name="card-body"/>
          <p:cNvSpPr txBox="1"/>
          <p:nvPr/>
        </p:nvSpPr>
        <p:spPr>
          <a:xfrm>
            <a:off x="4521098"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heavy, year-round rain washes (leaches) nutrients down out of the soil. Only the surface layer, fed by rotting leaves, is fertile.</a:t>
            </a:r>
            <a:endParaRPr lang="en-US" sz="18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emergent</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tallest rainforest trees poke out above the canopy to form the ___ layer.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emergent layer is the topmost layer, made of the tallest trees that emerge above the canopy.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equator</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imaginary line around the middle of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equator passes through the middle of the world's rainforests.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canopy</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thick, leafy layer formed by the tops of most of the trees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canopy blocks most of the sunlight from the layers below.</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emergent</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tallest trees, which poke out above the canopy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emergent tree can be taller than a block of flats.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latosol</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red rainforest soil, rich in iron and aluminium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Latosol is red because of the iron in it.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leaching</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rain washing nutrients down out of the soil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Heavy rain causes leaching, so the soil below the surface is poor.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biodiversity</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range of different plants and animals in a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rainforest has the greatest biodiversity of any biome.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Tropical rainforests grow on and near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equator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biggest are in South America, Africa and South East Asia.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forest has four layers.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tallest trees poke out above the rest: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emergent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layer.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Below them, the tree tops join to make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canopy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where most of the animals live.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Under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canopy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understorey, where climbing plants reach for light.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forest floor is dark, because only a little light gets through.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is hot all year, about 27 degrees, and it rains every month.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soil is red and deep, but the rain washes the goodness out of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Only the top layer, made of rotting leaves, is rich.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the trees have shallow roots and wide buttress roots to hold them up.</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Leaves have drip tips so the rain runs off.</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Animals are adapted too: the tree frog has suction cups on its toes for climbing.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Where the rainforests are, and their four layers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From the top down: emergent, canopy, understorey, forest floor. From the bottom up, the light increases at every step.</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tropical rainforest is a hot, wet biome found on and near the equator, inside the tropics.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forest grows in four layers. At the top, the emergent layer is made of the tallest trees, which poke out above everything else; your lessons give heights of 50 m and even up to 75 m.</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At the bottom is the forest floor, or shrub layer.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climate: hot and wet, every month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Range always means highest minus lowest, and it always has units: 2°C, 65 mm.</a:t>
            </a:r>
            <a:endParaRPr lang="en-US" sz="1800" dirty="0"/>
          </a:p>
        </p:txBody>
      </p:sp>
      <p:sp>
        <p:nvSpPr>
          <p:cNvPr id="11" name="point-card"/>
          <p:cNvSpPr/>
          <p:nvPr/>
        </p:nvSpPr>
        <p:spPr>
          <a:xfrm>
            <a:off x="548640" y="1389888"/>
            <a:ext cx="3515258" cy="3964940"/>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class drew a climate graph from a typical rainforest table.</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There are no seasons as the UK knows them, because the equator receives strong sunshine all year.</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To describe a climate graph, your lessons use TRASH: Trend (the overall pattern), Range (highest minus lowest), Anomaly (anything that breaks the pattern), Smallest and Highest (with the month and the figure).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The climate: hot and wet, every month</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CF0ED"/>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Using the climate table, work out the total annual rainfall, the temperature range and the mean temperature of a typical tropical rainforest.</a:t>
            </a:r>
            <a:endParaRPr lang="en-US" sz="2000" dirty="0"/>
          </a:p>
        </p:txBody>
      </p:sp>
      <p:sp>
        <p:nvSpPr>
          <p:cNvPr id="9" name="step-box"/>
          <p:cNvSpPr/>
          <p:nvPr/>
        </p:nvSpPr>
        <p:spPr>
          <a:xfrm>
            <a:off x="548640" y="2502408"/>
            <a:ext cx="11094415" cy="727354"/>
          </a:xfrm>
          <a:prstGeom prst="roundRect">
            <a:avLst>
              <a:gd name="adj" fmla="val 10057"/>
            </a:avLst>
          </a:prstGeom>
          <a:solidFill>
            <a:srgbClr val="FFFFFF"/>
          </a:solidFill>
          <a:ln w="15875">
            <a:solidFill>
              <a:srgbClr val="95AE9B"/>
            </a:solidFill>
            <a:prstDash val="solid"/>
          </a:ln>
        </p:spPr>
      </p:sp>
      <p:sp>
        <p:nvSpPr>
          <p:cNvPr id="10" name="step-hex"/>
          <p:cNvSpPr/>
          <p:nvPr/>
        </p:nvSpPr>
        <p:spPr>
          <a:xfrm>
            <a:off x="685800" y="2668118"/>
            <a:ext cx="457200" cy="395935"/>
          </a:xfrm>
          <a:prstGeom prst="hexagon">
            <a:avLst/>
          </a:prstGeom>
          <a:solidFill>
            <a:srgbClr val="3F6B4A"/>
          </a:solidFill>
          <a:ln/>
        </p:spPr>
      </p:sp>
      <p:sp>
        <p:nvSpPr>
          <p:cNvPr id="11" name="step-hex-label"/>
          <p:cNvSpPr txBox="1"/>
          <p:nvPr/>
        </p:nvSpPr>
        <p:spPr>
          <a:xfrm>
            <a:off x="685800" y="266811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72735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Total rainfall: add the twelve monthly figures. 225 + 175 + 180 + 200 + 165 + 175 + 185 + 200 + 185 + 210 + 230 + 230 = 2360 mm.</a:t>
            </a:r>
            <a:endParaRPr lang="en-US" sz="1800" dirty="0"/>
          </a:p>
        </p:txBody>
      </p:sp>
      <p:sp>
        <p:nvSpPr>
          <p:cNvPr id="13" name="step-box"/>
          <p:cNvSpPr/>
          <p:nvPr/>
        </p:nvSpPr>
        <p:spPr>
          <a:xfrm>
            <a:off x="548640" y="3302914"/>
            <a:ext cx="11094415" cy="463194"/>
          </a:xfrm>
          <a:prstGeom prst="roundRect">
            <a:avLst>
              <a:gd name="adj" fmla="val 15793"/>
            </a:avLst>
          </a:prstGeom>
          <a:solidFill>
            <a:srgbClr val="FFFFFF"/>
          </a:solidFill>
          <a:ln w="15875">
            <a:solidFill>
              <a:srgbClr val="95AE9B"/>
            </a:solidFill>
            <a:prstDash val="solid"/>
          </a:ln>
        </p:spPr>
      </p:sp>
      <p:sp>
        <p:nvSpPr>
          <p:cNvPr id="14" name="step-hex"/>
          <p:cNvSpPr/>
          <p:nvPr/>
        </p:nvSpPr>
        <p:spPr>
          <a:xfrm>
            <a:off x="685800" y="3336544"/>
            <a:ext cx="457200" cy="395935"/>
          </a:xfrm>
          <a:prstGeom prst="hexagon">
            <a:avLst/>
          </a:prstGeom>
          <a:solidFill>
            <a:srgbClr val="3F6B4A"/>
          </a:solidFill>
          <a:ln/>
        </p:spPr>
      </p:sp>
      <p:sp>
        <p:nvSpPr>
          <p:cNvPr id="15" name="step-hex-label"/>
          <p:cNvSpPr txBox="1"/>
          <p:nvPr/>
        </p:nvSpPr>
        <p:spPr>
          <a:xfrm>
            <a:off x="685800" y="33365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302914"/>
            <a:ext cx="10180015" cy="46319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Temperature range: highest minus lowest. 28 − 26 = 2°C.</a:t>
            </a:r>
            <a:endParaRPr lang="en-US" sz="1800" dirty="0"/>
          </a:p>
        </p:txBody>
      </p:sp>
      <p:sp>
        <p:nvSpPr>
          <p:cNvPr id="17" name="step-box"/>
          <p:cNvSpPr/>
          <p:nvPr/>
        </p:nvSpPr>
        <p:spPr>
          <a:xfrm>
            <a:off x="548640" y="3839261"/>
            <a:ext cx="11094415" cy="727354"/>
          </a:xfrm>
          <a:prstGeom prst="roundRect">
            <a:avLst>
              <a:gd name="adj" fmla="val 10057"/>
            </a:avLst>
          </a:prstGeom>
          <a:solidFill>
            <a:srgbClr val="FFFFFF"/>
          </a:solidFill>
          <a:ln w="15875">
            <a:solidFill>
              <a:srgbClr val="95AE9B"/>
            </a:solidFill>
            <a:prstDash val="solid"/>
          </a:ln>
        </p:spPr>
      </p:sp>
      <p:sp>
        <p:nvSpPr>
          <p:cNvPr id="18" name="step-hex"/>
          <p:cNvSpPr/>
          <p:nvPr/>
        </p:nvSpPr>
        <p:spPr>
          <a:xfrm>
            <a:off x="685800" y="4004970"/>
            <a:ext cx="457200" cy="395935"/>
          </a:xfrm>
          <a:prstGeom prst="hexagon">
            <a:avLst/>
          </a:prstGeom>
          <a:solidFill>
            <a:srgbClr val="3F6B4A"/>
          </a:solidFill>
          <a:ln/>
        </p:spPr>
      </p:sp>
      <p:sp>
        <p:nvSpPr>
          <p:cNvPr id="19" name="step-hex-label"/>
          <p:cNvSpPr txBox="1"/>
          <p:nvPr/>
        </p:nvSpPr>
        <p:spPr>
          <a:xfrm>
            <a:off x="685800" y="40049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39261"/>
            <a:ext cx="10180015" cy="72735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Mean temperature: add the twelve monthly temperatures (326) and divide by 12. 326 ÷ 12 = 27.2°C, to one decimal place.</a:t>
            </a:r>
            <a:endParaRPr lang="en-US" sz="1800" dirty="0"/>
          </a:p>
        </p:txBody>
      </p:sp>
      <p:sp>
        <p:nvSpPr>
          <p:cNvPr id="21" name="step-box"/>
          <p:cNvSpPr/>
          <p:nvPr/>
        </p:nvSpPr>
        <p:spPr>
          <a:xfrm>
            <a:off x="548640" y="4639767"/>
            <a:ext cx="11094415" cy="727354"/>
          </a:xfrm>
          <a:prstGeom prst="roundRect">
            <a:avLst>
              <a:gd name="adj" fmla="val 10057"/>
            </a:avLst>
          </a:prstGeom>
          <a:solidFill>
            <a:srgbClr val="FFFFFF"/>
          </a:solidFill>
          <a:ln w="15875">
            <a:solidFill>
              <a:srgbClr val="95AE9B"/>
            </a:solidFill>
            <a:prstDash val="solid"/>
          </a:ln>
        </p:spPr>
      </p:sp>
      <p:sp>
        <p:nvSpPr>
          <p:cNvPr id="22" name="step-hex"/>
          <p:cNvSpPr/>
          <p:nvPr/>
        </p:nvSpPr>
        <p:spPr>
          <a:xfrm>
            <a:off x="685800" y="4805477"/>
            <a:ext cx="457200" cy="395935"/>
          </a:xfrm>
          <a:prstGeom prst="hexagon">
            <a:avLst/>
          </a:prstGeom>
          <a:solidFill>
            <a:srgbClr val="3F6B4A"/>
          </a:solidFill>
          <a:ln/>
        </p:spPr>
      </p:sp>
      <p:sp>
        <p:nvSpPr>
          <p:cNvPr id="23" name="step-hex-label"/>
          <p:cNvSpPr txBox="1"/>
          <p:nvPr/>
        </p:nvSpPr>
        <p:spPr>
          <a:xfrm>
            <a:off x="685800" y="480547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639767"/>
            <a:ext cx="10180015" cy="72735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2360 mm sits inside the 2000 to 3000 mm the biome table gives, and 27°C sits inside its 25 to 30°C.</a:t>
            </a:r>
            <a:endParaRPr lang="en-US" sz="1800" dirty="0"/>
          </a:p>
        </p:txBody>
      </p:sp>
      <p:sp>
        <p:nvSpPr>
          <p:cNvPr id="25" name="worked-answer"/>
          <p:cNvSpPr/>
          <p:nvPr/>
        </p:nvSpPr>
        <p:spPr>
          <a:xfrm>
            <a:off x="548640" y="5550002"/>
            <a:ext cx="11094415" cy="552196"/>
          </a:xfrm>
          <a:prstGeom prst="roundRect">
            <a:avLst>
              <a:gd name="adj" fmla="val 24839"/>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Total rainfall 2360 mm; temperature range 2°C; mean temperature about 27°C.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Soils: red, deep and poor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Red because of iron; poor because of leaching; rich at the top because of humus. Three facts, three reasons.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Rainforest soils are called latosols. They are rich in iron and aluminium, which is why they are red.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most fertile part of the soil is right at the surface.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It also explains a plant adaptation. Because the nutrients are at the surface, trees have shallow roots to absorb them.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Adaptations of plants and animals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Feature plus reason equals an explanation. A feature on its own is only a description.</a:t>
            </a:r>
            <a:endParaRPr lang="en-US" sz="1800" dirty="0"/>
          </a:p>
        </p:txBody>
      </p:sp>
      <p:sp>
        <p:nvSpPr>
          <p:cNvPr id="11" name="point-card"/>
          <p:cNvSpPr/>
          <p:nvPr/>
        </p:nvSpPr>
        <p:spPr>
          <a:xfrm>
            <a:off x="548640" y="1389888"/>
            <a:ext cx="3515258" cy="3964940"/>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Plants have adapted to heat, heavy rain and fierce competition for light.</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Animals are adapted too. The toucan nests in tree holes to hide from predators; its large, colourful bill helps to deter predators and its bright colours attract a mate, and strong claws grip the branches.</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an explain answer, always pair the feature with the problem it solves: drip tips because of heavy rain; buttress roots because of shallow soil and great height; suction toes because the frog must climb wet, smooth leaves.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Wettest and driest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In the typical rainforest climate table, the wettest month has 230 mm of rain and the driest month 165 mm. What is the difference between them, in mm?</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mm</a:t>
            </a:r>
            <a:endParaRPr lang="en-US" sz="2000" dirty="0"/>
          </a:p>
        </p:txBody>
      </p:sp>
      <p:sp>
        <p:nvSpPr>
          <p:cNvPr id="12" name="col-Support"/>
          <p:cNvSpPr/>
          <p:nvPr/>
        </p:nvSpPr>
        <p:spPr>
          <a:xfrm>
            <a:off x="548640" y="3258820"/>
            <a:ext cx="4667802" cy="2885948"/>
          </a:xfrm>
          <a:prstGeom prst="roundRect">
            <a:avLst>
              <a:gd name="adj" fmla="val 1901"/>
            </a:avLst>
          </a:prstGeom>
          <a:solidFill>
            <a:srgbClr val="ECF0ED"/>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4393482"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Difference, or range, means the larger figure minus the smaller.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larger first: 230.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Take away the smaller: 230 − 165.</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Do it in steps if it helps: 230 − 100 = 130, 130 − 60 = 70, 70 − 5 = 65.</a:t>
            </a:r>
            <a:endParaRPr lang="en-US" sz="1800" dirty="0"/>
          </a:p>
        </p:txBody>
      </p:sp>
      <p:sp>
        <p:nvSpPr>
          <p:cNvPr id="17" name="col-Core"/>
          <p:cNvSpPr/>
          <p:nvPr/>
        </p:nvSpPr>
        <p:spPr>
          <a:xfrm>
            <a:off x="5490762" y="3258820"/>
            <a:ext cx="2938987" cy="2885948"/>
          </a:xfrm>
          <a:prstGeom prst="roundRect">
            <a:avLst>
              <a:gd name="adj" fmla="val 1901"/>
            </a:avLst>
          </a:prstGeom>
          <a:solidFill>
            <a:srgbClr val="D5DED7"/>
          </a:solidFill>
          <a:ln/>
        </p:spPr>
      </p:sp>
      <p:sp>
        <p:nvSpPr>
          <p:cNvPr id="18" name="col-hex"/>
          <p:cNvSpPr/>
          <p:nvPr/>
        </p:nvSpPr>
        <p:spPr>
          <a:xfrm>
            <a:off x="5600490"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Range means the gap between highest and lowest, so subtract the smaller from the larger.</a:t>
            </a:r>
            <a:endParaRPr lang="en-US" sz="1800" dirty="0"/>
          </a:p>
        </p:txBody>
      </p:sp>
      <p:sp>
        <p:nvSpPr>
          <p:cNvPr id="22" name="col-Stretch"/>
          <p:cNvSpPr/>
          <p:nvPr/>
        </p:nvSpPr>
        <p:spPr>
          <a:xfrm>
            <a:off x="8704069" y="3258820"/>
            <a:ext cx="2938987" cy="2885948"/>
          </a:xfrm>
          <a:prstGeom prst="roundRect">
            <a:avLst>
              <a:gd name="adj" fmla="val 1901"/>
            </a:avLst>
          </a:prstGeom>
          <a:solidFill>
            <a:srgbClr val="3F6B4A"/>
          </a:solidFill>
          <a:ln/>
        </p:spPr>
      </p:sp>
      <p:sp>
        <p:nvSpPr>
          <p:cNvPr id="23" name="col-hex"/>
          <p:cNvSpPr/>
          <p:nvPr/>
        </p:nvSpPr>
        <p:spPr>
          <a:xfrm>
            <a:off x="8813797"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temperature range is 2°C and the rainfall range is 65 mm. Explain what each range tells you about seasons in the rainforest.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Plant adaptations and what they are for</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rainforest plant adaptation to what it does.</a:t>
            </a:r>
            <a:endParaRPr lang="en-US" sz="2400" dirty="0"/>
          </a:p>
        </p:txBody>
      </p:sp>
      <p:sp>
        <p:nvSpPr>
          <p:cNvPr id="11" name="match-card"/>
          <p:cNvSpPr/>
          <p:nvPr/>
        </p:nvSpPr>
        <p:spPr>
          <a:xfrm>
            <a:off x="777240" y="2468331"/>
            <a:ext cx="3081437" cy="804809"/>
          </a:xfrm>
          <a:prstGeom prst="roundRect">
            <a:avLst>
              <a:gd name="adj" fmla="val 9089"/>
            </a:avLst>
          </a:prstGeom>
          <a:solidFill>
            <a:srgbClr val="F0F3F1"/>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Buttress roots</a:t>
            </a:r>
            <a:endParaRPr lang="en-US" sz="2000" dirty="0"/>
          </a:p>
        </p:txBody>
      </p:sp>
      <p:sp>
        <p:nvSpPr>
          <p:cNvPr id="15" name="match-card"/>
          <p:cNvSpPr/>
          <p:nvPr/>
        </p:nvSpPr>
        <p:spPr>
          <a:xfrm>
            <a:off x="4224437" y="2468331"/>
            <a:ext cx="7190019" cy="804809"/>
          </a:xfrm>
          <a:prstGeom prst="roundRect">
            <a:avLst>
              <a:gd name="adj" fmla="val 9089"/>
            </a:avLst>
          </a:prstGeom>
          <a:solidFill>
            <a:srgbClr val="F6F0E6"/>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Woody creepers that root in the ground but climb other trees to reach the light</a:t>
            </a:r>
            <a:endParaRPr lang="en-US" sz="2000" dirty="0"/>
          </a:p>
        </p:txBody>
      </p:sp>
      <p:sp>
        <p:nvSpPr>
          <p:cNvPr id="19" name="match-card"/>
          <p:cNvSpPr/>
          <p:nvPr/>
        </p:nvSpPr>
        <p:spPr>
          <a:xfrm>
            <a:off x="777240" y="3364581"/>
            <a:ext cx="3081437" cy="804809"/>
          </a:xfrm>
          <a:prstGeom prst="roundRect">
            <a:avLst>
              <a:gd name="adj" fmla="val 9089"/>
            </a:avLst>
          </a:prstGeom>
          <a:solidFill>
            <a:srgbClr val="F0F3F1"/>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Drip tips</a:t>
            </a:r>
            <a:endParaRPr lang="en-US" sz="2000" dirty="0"/>
          </a:p>
        </p:txBody>
      </p:sp>
      <p:sp>
        <p:nvSpPr>
          <p:cNvPr id="23" name="match-card"/>
          <p:cNvSpPr/>
          <p:nvPr/>
        </p:nvSpPr>
        <p:spPr>
          <a:xfrm>
            <a:off x="4224437" y="3364581"/>
            <a:ext cx="7190019" cy="804809"/>
          </a:xfrm>
          <a:prstGeom prst="roundRect">
            <a:avLst>
              <a:gd name="adj" fmla="val 9089"/>
            </a:avLst>
          </a:prstGeom>
          <a:solidFill>
            <a:srgbClr val="F6F0E6"/>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Wide ridges at the base of the trunk that support a very tall tree in shallow soil</a:t>
            </a:r>
            <a:endParaRPr lang="en-US" sz="2000" dirty="0"/>
          </a:p>
        </p:txBody>
      </p:sp>
      <p:sp>
        <p:nvSpPr>
          <p:cNvPr id="27" name="match-card"/>
          <p:cNvSpPr/>
          <p:nvPr/>
        </p:nvSpPr>
        <p:spPr>
          <a:xfrm>
            <a:off x="777240" y="4260830"/>
            <a:ext cx="3081437" cy="804809"/>
          </a:xfrm>
          <a:prstGeom prst="roundRect">
            <a:avLst>
              <a:gd name="adj" fmla="val 9089"/>
            </a:avLst>
          </a:prstGeom>
          <a:solidFill>
            <a:srgbClr val="F0F3F1"/>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Lianas</a:t>
            </a:r>
            <a:endParaRPr lang="en-US" sz="2000" dirty="0"/>
          </a:p>
        </p:txBody>
      </p:sp>
      <p:sp>
        <p:nvSpPr>
          <p:cNvPr id="31" name="match-card"/>
          <p:cNvSpPr/>
          <p:nvPr/>
        </p:nvSpPr>
        <p:spPr>
          <a:xfrm>
            <a:off x="4224437" y="4260830"/>
            <a:ext cx="7190019" cy="804809"/>
          </a:xfrm>
          <a:prstGeom prst="roundRect">
            <a:avLst>
              <a:gd name="adj" fmla="val 9089"/>
            </a:avLst>
          </a:prstGeom>
          <a:solidFill>
            <a:srgbClr val="F6F0E6"/>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Plants that live on branches and take their nutrients from the air instead of the soil</a:t>
            </a:r>
            <a:endParaRPr lang="en-US" sz="2000" dirty="0"/>
          </a:p>
        </p:txBody>
      </p:sp>
      <p:sp>
        <p:nvSpPr>
          <p:cNvPr id="35" name="match-card"/>
          <p:cNvSpPr/>
          <p:nvPr/>
        </p:nvSpPr>
        <p:spPr>
          <a:xfrm>
            <a:off x="777240" y="5157079"/>
            <a:ext cx="3081437" cy="804809"/>
          </a:xfrm>
          <a:prstGeom prst="roundRect">
            <a:avLst>
              <a:gd name="adj" fmla="val 9089"/>
            </a:avLst>
          </a:prstGeom>
          <a:solidFill>
            <a:srgbClr val="F0F3F1"/>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Epiphytes</a:t>
            </a:r>
            <a:endParaRPr lang="en-US" sz="2000" dirty="0"/>
          </a:p>
        </p:txBody>
      </p:sp>
      <p:sp>
        <p:nvSpPr>
          <p:cNvPr id="39" name="match-card"/>
          <p:cNvSpPr/>
          <p:nvPr/>
        </p:nvSpPr>
        <p:spPr>
          <a:xfrm>
            <a:off x="4224437" y="5157079"/>
            <a:ext cx="7190019" cy="804809"/>
          </a:xfrm>
          <a:prstGeom prst="roundRect">
            <a:avLst>
              <a:gd name="adj" fmla="val 9089"/>
            </a:avLst>
          </a:prstGeom>
          <a:solidFill>
            <a:srgbClr val="F6F0E6"/>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Pointed leaf ends that let heavy rain run off so the leaves do not snap</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Plant adaptations and what they are for</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Plant adaptations and what they are for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these are parts of a tree (roots and leaves); two are whole plants that live on or up other trees.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Roots are about holding the tree up. Leaves are about water running off.</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climbing or perching plants, one is rooted in the ground and climbs; one never touches the ground.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each pair: does the description solve a rainforest problem (height, heavy rain, lack of light)?</a:t>
            </a:r>
            <a:endParaRPr lang="en-US" sz="1800" dirty="0"/>
          </a:p>
        </p:txBody>
      </p:sp>
      <p:sp>
        <p:nvSpPr>
          <p:cNvPr id="17" name="col-Core"/>
          <p:cNvSpPr/>
          <p:nvPr/>
        </p:nvSpPr>
        <p:spPr>
          <a:xfrm>
            <a:off x="6425403" y="2395728"/>
            <a:ext cx="2471666" cy="3749040"/>
          </a:xfrm>
          <a:prstGeom prst="roundRect">
            <a:avLst>
              <a:gd name="adj" fmla="val 2220"/>
            </a:avLst>
          </a:prstGeom>
          <a:solidFill>
            <a:srgbClr val="D5DED7"/>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Roots hold, leaves drain, lianas climb, epiphytes perch.</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latosol soil and the buttress roots are linked.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the typical rainforest climate table, the warmest months were 28°C and the coolest month 26°C. What is the annual temperature range, in °C?</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Wettest and driest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the typical rainforest climate table, the wettest month has 230 mm of rain and the driest month 165 mm. What is the difference between them, in mm?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65 mm</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Range is highest minus lowest: 230 − 165 = 65 mm. A gap of 65 mm between the wettest and driest months, when the driest still has 165 mm, means it is wet all year.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Answers: Plant adaptations and what they are for</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Buttress roots  →  B  Wide ridges at the base of the trunk that support a very tall tree in shallow soil</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Drip tips  →  D  Pointed leaf ends that let heavy rain run off so the leaves do not snap</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Lianas  →  A  Woody creepers that root in the ground but climb other trees to reach the light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Epiphytes  →  C  Plants that live on branches and take their nutrients from the air instead of the soil</a:t>
            </a:r>
            <a:endParaRPr lang="en-US" sz="20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Buttress roots support tall trees with shallow roots; drip tips shed heavy rain; lianas climb to the light; epiphytes live on branches and feed from the air.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the typical rainforest climate table, the warmest months were 28°C and the coolest month 26°C. What is the annual temperature range, in °C?</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 °C</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Range is highest minus lowest: 28 − 26 = 2°C. The rainforest is hot all year with almost no seasonal change.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Living World: Ecosystems · Chapter 3: Tropical rainforests: hot, wet and crowded with life</dc:title>
  <dc:subject>Geography · Year 9</dc:subject>
  <dc:creator>Dr Vitor Merissi de Carvalho</dc:creator>
  <cp:lastModifiedBy>Dr Vitor Merissi de Carvalho</cp:lastModifiedBy>
  <cp:revision>1</cp:revision>
  <dcterms:created xsi:type="dcterms:W3CDTF">2026-10-19T06:07:40Z</dcterms:created>
  <dcterms:modified xsi:type="dcterms:W3CDTF">2026-10-19T06:07:40Z</dcterms:modified>
</cp:coreProperties>
</file>