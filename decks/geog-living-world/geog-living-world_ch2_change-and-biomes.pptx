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a5b9d6-52a7-b5d7-5a93-54f8e4fb3976}">
          <p14:sldIdLst>
            <p14:sldId id="256"/>
          </p14:sldIdLst>
        </p14:section>
        <p14:section name="Gate" id="{3b74af51-1182-861f-76f8-5f26abfa9cd7}">
          <p14:sldIdLst>
            <p14:sldId id="257"/>
            <p14:sldId id="258"/>
          </p14:sldIdLst>
        </p14:section>
        <p14:section name="Pre-teach" id="{892c39ea-6a8d-4176-67f3-55a262db82ee}">
          <p14:sldIdLst>
            <p14:sldId id="259"/>
            <p14:sldId id="260"/>
          </p14:sldIdLst>
        </p14:section>
        <p14:section name="Read-along" id="{4509cd12-e66b-c6a3-0eb6-baf53e1229aa}">
          <p14:sldIdLst>
            <p14:sldId id="261"/>
            <p14:sldId id="262"/>
          </p14:sldIdLst>
        </p14:section>
        <p14:section name="Teach" id="{6ef333e2-4651-5e62-a3a1-ec15ae2c66d3}">
          <p14:sldIdLst>
            <p14:sldId id="263"/>
            <p14:sldId id="264"/>
            <p14:sldId id="265"/>
            <p14:sldId id="266"/>
            <p14:sldId id="267"/>
            <p14:sldId id="268"/>
          </p14:sldIdLst>
        </p14:section>
        <p14:section name="Routes" id="{7d89088d-687f-c319-34fe-9c7e159e4055}">
          <p14:sldIdLst>
            <p14:sldId id="269"/>
            <p14:sldId id="270"/>
            <p14:sldId id="271"/>
            <p14:sldId id="272"/>
          </p14:sldIdLst>
        </p14:section>
        <p14:section name="Close" id="{015c44c6-23c9-da20-b2e0-edacc9c6a267}">
          <p14:sldIdLst>
            <p14:sldId id="273"/>
          </p14:sldIdLst>
        </p14:section>
        <p14:section name="Answers" id="{738fa4db-de36-2adf-8398-9ee26c9d11c8}">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When ecosystems change, and the biomes of the world. How a drought, a storm or a chainsaw can unbalance a woodland and how it recovers, how a change to one species ripples through a food web, and why the Earth's great biomes lie in belts by latitude.
This deck covers the department's lessons: 3 (Change in ecosystems: How can natural events and human activities unbalance an ecosystem, and how can an ecosystem be restored?); 4 (Global ecosystems: distribution and characteristics: Where are the world's biomes, what are their climates like, and why do they form belts by latitude?).
Read the big question aloud: "How do ecosystems work, why are the world's great biomes where they are, and how can people use rainforests and deserts without destroying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great storm in 1987 felled a further how many million trees in England?  →  15 million
2. Which of these is a natural cause of change in a woodland ecosystem?  →  D   A drought
3. Hot deserts are found at roughly ___ north and south of the equator.  →  30 degrees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15 million. Your lesson says a further 15 million trees were felled by a great storm in 1987, after the drought of 1976 to 1977 had already killed many.
2. D   A drought. Drought is extreme weather, a natural cause. Deforestation, road building and overgrazing are human activities.
3. 30 degrees. The desert belt lies at about 30° north and south, where air that rose at the equator sinks and gives clear, dry skies.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resilience: the ability of an ecosystem to recover after it is damaged. Example: "The regrowth of English woodland after the 1987 storm shows resilience."
• drought: a long period with much less rain than normal. Example: "The drought of 1976 to 1977 killed many trees in England."
• deforestation: cutting down and clearing a forest. Example: "Deforestation leaves the soil bare, so rain can wash it away."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knock-on effect: a change that happens because of an earlier change. Example: "Fewer beetles had a knock-on effect on the woodpeckers that eat them."
• biome: a large-scale ecosystem, such as a desert or a rainforest. Example: "The tundra is the coldest biome on Earth."
• latitude: how far north or south of the equator a place is. Example: "Hot deserts lie at a latitude of about 30 degrees."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Ecosystems are balanced, but the balance can be upset.
2. Extreme weather can do it.
3. In 1976 and 1977 a drought in England killed many trees.
4. In 1987 a great storm blew down 15 million more.
5. Animals that fed on those trees lost their food, and their numbers fell.
6. But new trees grew, and the animals came back.
7. This recovery is called resilience.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People can upset the balance too, by cutting down forests.
9. Bare soil is washed away by rain, so the forest may never recover.
10. A change to one species spreads through the food web.
11. Fewer beetles means fewer meals for woodpeckers, so there are fewer woodpeckers.
12. Then the owls and hawks that eat woodpeckers go hungry too.
13. Across the world, the biggest ecosystems are called biomes.
14. They lie in belts by latitude, because latitude controls the climate.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Natural change: drought and storm. Say it in your own words, then check understanding with a quick question: ask a pupil from the pre-teach group first, since they met these words and ideas before the lesson. Pupils try to recall before you re-explain.
The UK's natural biome is deciduous forest, which is why your unit studied a woodland. A healthy woodland is in balance: the numbers of trees, insects, birds and mammals stay roughly steady from year to year. Periods of extreme weather, and climate change, can disturb that balance. In 1976 to 1977 England experienced a drought that killed many trees. Then, in 1987, a great storm felled a further 15 million trees.
Losing so many trees changed the species mix of the ecosystem, and population numbers declined for many of the food species in the food chain: fewer leaves and acorns meant fewer caterpillars and squirrels, and so on up the web. But woodlands can recover. Secondary forest growth took place as new trees grew up in the gaps, and the consumer species migrated back. Your lesson calls the recovery of the English woodlands an example of ecosystem resilience: the ability of an ecosystem to bounce back after a shock.
Resilience has limits. An ecosystem recovers from a one-off storm because the soil, the seeds and the neighbouring habitats are still there. Take those away and recovery may be impossible, which is where human change comes in.
Tip: Two dates and one number carry this story: drought 1976 to 1977, storm 1987, 15 million trees. Natural causes first, then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 change and knock-on effects. Say it in your own words, then check understanding with a quick question: ask a pupil from the pre-teach group first, since they met these words and ideas before the lesson. Pupils try to recall before you re-explain.
Ecosystems are sometimes damaged in permanent ways, especially when human forces such as deforestation are involved. Removing the forest leaves the soil bare under the rain, and once that soil has washed off the slope the ecosystem has nothing left to rebuild itself from. Climate change works more slowly but pushes the same way: if southern England grows warmer and its rainfall less dependable, a woodland such as Epping Forest may not be able to hold the mixture of species it holds today.
Because everything in a food web is linked, a change to one species has knock-on effects on others. Your lesson used an oak woodland web in which beetles are eaten by woodpeckers, and woodpeckers by owls and hawks. Suppose disease reduces the beetle population. The direct effect: woodpeckers have fewer meals, so their numbers may decline, while the oak trees may grow better because fewer beetles are feeding on them. The indirect effects: owl and hawk numbers may fall because they feed on woodpeckers; or the woodpeckers, which have several food sources, may simply eat more caterpillars, which would then cause problems for the blue tits that also depend on caterpillars.
Ecosystems can also be restored deliberately. In Epping Forest, cattle grazing has been reintroduced to encourage the growth of vegetation, including veteran trees such as oak, whose numbers fell between 1976 and 1988 because of drought and storm damage. Grazing animals keep the grass short and their hooves open up bare ground, which lets low-growing flowers such as bird's-foot trefoil thrive in a way that mowing would not. More oak means more food for the animals that depend on it, so the number of species is kept up or increased.
Worked example — model it step by step, thinking aloud: In an oak woodland, beetles are eaten by woodpeckers, and woodpeckers are eaten by owls. Explain one direct and one indirect effect of a disease that kills most of the beetles. (4 marks) (1) Find the species that eats the beetles directly: the woodpecker. Fewer beetles means fewer meals, so woodpecker numbers may fall. That is the direct effect. (2) Follow the chain one link further: owls eat woodpeckers. Fewer woodpeckers means less food for owls, so owl numbers may fall. That is the indirect effect. (3) Use the word because to link each effect to its cause, and the word may, since the web could adjust (woodpeckers might switch to other food). (4) Two effects, each explained with a reason, earns the four marks. Answer: Direct effect: woodpecker numbers may fall because they have fewer beetles to eat. Indirect effect: owl numbers may then fall because there are fewer woodpeckers for them to eat..
Tip: Direct means the next link in the chain; indirect means two or more links away. Say which is which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 change and knock-on effects. Say it in your own words, then check understanding with a quick question: ask a pupil from the pre-teach group first, since they met these words and ideas before the lesson. Pupils try to recall before you re-explain.
Ecosystems are sometimes damaged in permanent ways, especially when human forces such as deforestation are involved. Removing the forest leaves the soil bare under the rain, and once that soil has washed off the slope the ecosystem has nothing left to rebuild itself from. Climate change works more slowly but pushes the same way: if southern England grows warmer and its rainfall less dependable, a woodland such as Epping Forest may not be able to hold the mixture of species it holds today.
Because everything in a food web is linked, a change to one species has knock-on effects on others. Your lesson used an oak woodland web in which beetles are eaten by woodpeckers, and woodpeckers by owls and hawks. Suppose disease reduces the beetle population. The direct effect: woodpeckers have fewer meals, so their numbers may decline, while the oak trees may grow better because fewer beetles are feeding on them. The indirect effects: owl and hawk numbers may fall because they feed on woodpeckers; or the woodpeckers, which have several food sources, may simply eat more caterpillars, which would then cause problems for the blue tits that also depend on caterpillars.
Ecosystems can also be restored deliberately. In Epping Forest, cattle grazing has been reintroduced to encourage the growth of vegetation, including veteran trees such as oak, whose numbers fell between 1976 and 1988 because of drought and storm damage. Grazing animals keep the grass short and their hooves open up bare ground, which lets low-growing flowers such as bird's-foot trefoil thrive in a way that mowing would not. More oak means more food for the animals that depend on it, so the number of species is kept up or increased.
Worked example — model it step by step, thinking aloud: In an oak woodland, beetles are eaten by woodpeckers, and woodpeckers are eaten by owls. Explain one direct and one indirect effect of a disease that kills most of the beetles. (4 marks) (1) Find the species that eats the beetles directly: the woodpecker. Fewer beetles means fewer meals, so woodpecker numbers may fall. That is the direct effect. (2) Follow the chain one link further: owls eat woodpeckers. Fewer woodpeckers means less food for owls, so owl numbers may fall. That is the indirect effect. (3) Use the word because to link each effect to its cause, and the word may, since the web could adjust (woodpeckers might switch to other food). (4) Two effects, each explained with a reason, earns the four marks. Answer: Direct effect: woodpecker numbers may fall because they have fewer beetles to eat. Indirect effect: owl numbers may then fall because there are fewer woodpeckers for them to eat..
Tip: Direct means the next link in the chain; indirect means two or more links away. Say which is which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 change and knock-on effects. Say it in your own words, then check understanding with a quick question: ask a pupil from the pre-teach group first, since they met these words and ideas before the lesson. Pupils try to recall before you re-explain.
Ecosystems are sometimes damaged in permanent ways, especially when human forces such as deforestation are involved. Removing the forest leaves the soil bare under the rain, and once that soil has washed off the slope the ecosystem has nothing left to rebuild itself from. Climate change works more slowly but pushes the same way: if southern England grows warmer and its rainfall less dependable, a woodland such as Epping Forest may not be able to hold the mixture of species it holds today.
Because everything in a food web is linked, a change to one species has knock-on effects on others. Your lesson used an oak woodland web in which beetles are eaten by woodpeckers, and woodpeckers by owls and hawks. Suppose disease reduces the beetle population. The direct effect: woodpeckers have fewer meals, so their numbers may decline, while the oak trees may grow better because fewer beetles are feeding on them. The indirect effects: owl and hawk numbers may fall because they feed on woodpeckers; or the woodpeckers, which have several food sources, may simply eat more caterpillars, which would then cause problems for the blue tits that also depend on caterpillars.
Ecosystems can also be restored deliberately. In Epping Forest, cattle grazing has been reintroduced to encourage the growth of vegetation, including veteran trees such as oak, whose numbers fell between 1976 and 1988 because of drought and storm damage. Grazing animals keep the grass short and their hooves open up bare ground, which lets low-growing flowers such as bird's-foot trefoil thrive in a way that mowing would not. More oak means more food for the animals that depend on it, so the number of species is kept up or increased.
Worked example — model it step by step, thinking aloud: In an oak woodland, beetles are eaten by woodpeckers, and woodpeckers are eaten by owls. Explain one direct and one indirect effect of a disease that kills most of the beetles. (4 marks) (1) Find the species that eats the beetles directly: the woodpecker. Fewer beetles means fewer meals, so woodpecker numbers may fall. That is the direct effect. (2) Follow the chain one link further: owls eat woodpeckers. Fewer woodpeckers means less food for owls, so owl numbers may fall. That is the indirect effect. (3) Use the word because to link each effect to its cause, and the word may, since the web could adjust (woodpeckers might switch to other food). (4) Two effects, each explained with a reason, earns the four marks. Answer: Direct effect: woodpecker numbers may fall because they have fewer beetles to eat. Indirect effect: owl numbers may then fall because there are fewer woodpeckers for them to eat..
Tip: Direct means the next link in the chain; indirect means two or more links away. Say which is which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world's biomes. Say it in your own words, then check understanding with a quick question: ask a pupil from the pre-teach group first, since they met these words and ideas before the lesson. Pupils try to recall before you re-explain.
Global ecosystems, or biomes, are defined by their dominant vegetation: forest, grassland, scrub, desert or tundra. Each has its own climate. Your class built a table of them in your lessons. Tropical rainforest lies close to the equator and is hot (25 to 30°C) and wet (around 2000 to 3000 mm a year) all year round. Deserts lie at roughly 30° north and south of the equator, very hot throughout the year (over 30°C) with very little rain (less than about 300 mm). Mediterranean woodland and scrub lies at about 40 to 45° north and south, with hot summers (20 to 25°C), mild winters (10 to 15°C), dry summers and wet winters (about 800 mm).
Further north, at roughly 50 to 60°, come the temperate forests. Deciduous woodland, the UK's biome, has warm summers (15 to 20°C), reasonably cold winters (3 to 7°C) and precipitation throughout the year (about 1000 mm). Coniferous woodland has warm summers (12 to 18°C), very cold winters (below 0°C for up to half the year), low rainfall (about 500 mm, mainly in summer) and winter snow. Tundra stretches from the Arctic Circle to about 60 to 70° north, for example in Canada: Arctic winters, warmest months of only 0 to 10°C, and yearly precipitation, including melting snow, of just 15 to 25 cm.
Why do biomes form broad belts across the world? Because climate is controlled above all by latitude. The sun's energy is strongest at the equator and weakest at the poles, and the way air circulates around the globe (rising at the equator, sinking at about 30°, rising again further north) decides where it rains and where it does not. Match the climate belts to the vegetation belts and you have the map of the world's biomes. Mountains, ocean currents and distance from the sea tweak the pattern, which is why the belts are not perfectly straight.
Tip: Learn the table as a journey from the equator to the pole: rainforest, desert, Mediterranean, deciduous and coniferous woodland, tundra.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a distribution. Say it in your own words, then check understanding with a quick question: ask a pupil from the pre-teach group first, since they met these words and ideas before the lesson. Pupils try to recall before you re-explain.
Describe questions about distribution ask where, not why. A four-mark answer should give the hemisphere, the latitude belt, the continents and some named countries or regions, moving from the general to the specific. For the tundra, for example: it is found in the northern hemisphere, in a ring around the North Pole that extends south until it meets the coniferous forest; it covers the northern and western coasts of Alaska, northern Canada and its Arctic islands, coastal Greenland, northern Sweden and Finland, and the northern coast of Russia across Siberia.
The command word is describe, so an explanation (sinking cold air, low sunlight) earns nothing here. Save it for an explain question. A good habit is to picture the world map, start at one edge and travel round, naming places as you go.
Tip: Hemisphere, latitude belt, continents, named places. Four steps, four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Knock-on effects in a food web.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disease kills many beetles in an oak woodland. Put the knock-on effects in the order they would happen.
Support — work through the steps with the group: (1) Start with the cause: the thing that changed first. (2) Who eats the beetles? That animal feels the change next, as a shortage of food. (3) A shortage of food leads to a fall in numbers of that animal. (4) Finally, whatever eats that animal is affected: the indirect effect.
Parallel worked example for Support (model it, do not give the task answer): Put in order: rabbits are hunted until few are left; foxes have less to eat; fox numbers fall; grass grows longer because fewer rabbits graze it. The first change is the hunting of rabbits.; The direct effect on predators (foxes have less to eat, then fox numbers fall) and on the grass (it grows longer) follow.. Answer: Rabbits are hunted; foxes have less to eat; fox numbers fall; grass grows longer..
Core — reveal the hint only on request: Cause, then less food, then fewer animals, then the animals one link further up the web.
Stretch — no help; when finished: Explain why the woodpeckers might not decline at all, and what the consequence of that would be for blue tits.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Knock-on effects in a food web.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disease kills many beetles in an oak woodland. Put the knock-on effects in the order they would happen.
Support — work through the steps with the group: (1) Start with the cause: the thing that changed first. (2) Who eats the beetles? That animal feels the change next, as a shortage of food. (3) A shortage of food leads to a fall in numbers of that animal. (4) Finally, whatever eats that animal is affected: the indirect effect.
Parallel worked example for Support (model it, do not give the task answer): Put in order: rabbits are hunted until few are left; foxes have less to eat; fox numbers fall; grass grows longer because fewer rabbits graze it. The first change is the hunting of rabbits.; The direct effect on predators (foxes have less to eat, then fox numbers fall) and on the grass (it grows longer) follow.. Answer: Rabbits are hunted; foxes have less to eat; fox numbers fall; grass grows longer..
Core — reveal the hint only on request: Cause, then less food, then fewer animals, then the animals one link further up the web.
Stretch — no help; when finished: Explain why the woodpeckers might not decline at all, and what the consequence of that would be for blue tits.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biome has which climate?.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biome to its climate.
Support — work through the steps with the group: (1) Two biomes are hot. One is wet and one is dry: which is the forest and which the desert? (2) The coldest climate must belong to the biome nearest the pole. (3) The one with warm summers and cool winters is the UK's own biome. (4) Check the rainfall figures: forests need plenty, deserts very little.
Parallel worked example for Support (model it, do not give the task answer): Match: Mediterranean scrub, coniferous woodland. Choices: hot dry summers and mild wet winters, about 800 mm; warm summers, very cold snowy winters, about 500 mm. Mediterranean holidays are hot and dry in summer, so that is the first.; Coniferous forests are the snowy ones.. Answer: Mediterranean scrub: hot dry summers, mild wet winters, about 800 mm. Coniferous woodland: warm summers, very cold snowy winters, about 500 mm..
Core — reveal the hint only on request: Hot and wet, hot and dry, mild and damp, bitterly cold: which words go with which plants?
Stretch — no help; when finished: Explain why the hot desert and the tropical rainforest are both hot, yet one is wet and the other dry, using the movement of air between the equator and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biome has which climate?.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biome to its climate.
Support — work through the steps with the group: (1) Two biomes are hot. One is wet and one is dry: which is the forest and which the desert? (2) The coldest climate must belong to the biome nearest the pole. (3) The one with warm summers and cool winters is the UK's own biome. (4) Check the rainfall figures: forests need plenty, deserts very little.
Parallel worked example for Support (model it, do not give the task answer): Match: Mediterranean scrub, coniferous woodland. Choices: hot dry summers and mild wet winters, about 800 mm; warm summers, very cold snowy winters, about 500 mm. Mediterranean holidays are hot and dry in summer, so that is the first.; Coniferous forests are the snowy ones.. Answer: Mediterranean scrub: hot dry summers, mild wet winters, about 800 mm. Coniferous woodland: warm summers, very cold snowy winters, about 500 mm..
Core — reveal the hint only on request: Hot and wet, hot and dry, mild and damp, bitterly cold: which words go with which plants?
Stretch — no help; when finished: Explain why the hot desert and the tropical rainforest are both hot, yet one is wet and the other dry, using the movement of air between the equator and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great storm in 1987 felled a further how many million trees in England?
Answer: 15 million. Your lesson says a further 15 million trees were felled by a great storm in 1987, after the drought of 1976 to 1977 had already killed many.
Source of this question: gate item 1 re-asked (options rotated) — this chapter has no third quick-check module.
The ebook also holds task 3, "Where is the tundra?",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Knock-on effects in a food web. Reveal the answer; pupils mark their own work in a different colour, then read the "why" together. Same destination for every lane, so one answer serves the whole class.
Answer: Disease reduces the number of beetles  (D); Woodpeckers have fewer meals  (B); Woodpecker numbers decline  (C); Owls and hawks, which feed on woodpeckers, have less food and may decline  (A)
Why: The beetles change first; the woodpeckers that eat them have fewer meals and decline; the owls and hawks that eat woodpeckers then have less food. Direct effect, then indirect effect.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biome has which climate?. Reveal the answer; pupils mark their own work in a different colour, then read the "why" together. Same destination for every lane, so one answer serves the whole class.
Answer: Tropical rainforest  →  C  Hot all year (25 to 30°C) and wet all year (2000 to 3000 mm); Hot desert  →  B  Very hot (over 30°C) with very little rain (less than 300 mm); Tundra  →  A  Very cold: Arctic winters, warmest months only 0 to 10°C, 15 to 25 cm of precipitation; Deciduous woodland  →  D  Warm summers (15 to 20°C), cool winters (3 to 7°C), rain all year (about 1000 mm)
Why: Rainforest is hot and wet all year; hot desert is very hot and very dry; tundra is bitterly cold with little precipitation; deciduous woodland has warm summers, cool winters and rain all year.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15 million
Why: Your lesson says a further 15 million trees were felled by a great storm in 1987, after the drought of 1976 to 1977 had already killed many.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Living World: Ecosystems · AQA 8035</a:t>
            </a:r>
            <a:endParaRPr lang="en-US" sz="1800" dirty="0"/>
          </a:p>
        </p:txBody>
      </p:sp>
      <p:sp>
        <p:nvSpPr>
          <p:cNvPr id="10" name="deck-title"/>
          <p:cNvSpPr txBox="1"/>
          <p:nvPr/>
        </p:nvSpPr>
        <p:spPr>
          <a:xfrm>
            <a:off x="548640" y="226237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When ecosystems change, and the biomes of the world</a:t>
            </a:r>
            <a:endParaRPr lang="en-US" sz="2800" dirty="0"/>
          </a:p>
        </p:txBody>
      </p:sp>
      <p:sp>
        <p:nvSpPr>
          <p:cNvPr id="11" name="lessons-card"/>
          <p:cNvSpPr/>
          <p:nvPr/>
        </p:nvSpPr>
        <p:spPr>
          <a:xfrm>
            <a:off x="548640" y="3542538"/>
            <a:ext cx="5287975" cy="1638300"/>
          </a:xfrm>
          <a:prstGeom prst="roundRect">
            <a:avLst>
              <a:gd name="adj" fmla="val 4465"/>
            </a:avLst>
          </a:prstGeom>
          <a:solidFill>
            <a:srgbClr val="ECF0ED"/>
          </a:solidFill>
          <a:ln/>
        </p:spPr>
      </p:sp>
      <p:sp>
        <p:nvSpPr>
          <p:cNvPr id="12" name="lessons"/>
          <p:cNvSpPr txBox="1"/>
          <p:nvPr/>
        </p:nvSpPr>
        <p:spPr>
          <a:xfrm>
            <a:off x="685800" y="363397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Change in ecosystems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Global ecosystems: distribution and characteristics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ecosystems work, why are the world's great biomes where they are, and how can people use rainforests and deserts without destroying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great storm in 1987 felled a further how many million trees in England?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million</a:t>
            </a:r>
            <a:endParaRPr lang="en-US" sz="24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natural cause of change in a woodland ecosystem?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Building a road through the forest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Overgrazing by farm animals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Deforestation for farmland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drought</a:t>
            </a:r>
            <a:endParaRPr lang="en-US" sz="18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Hot deserts are found at roughly ___ north and south of the equator.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30 degrees  ·  60 degrees  ·  10 degrees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 million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great storm in 1987 felled a further how many million trees in England?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Your lesson says a further 15 million trees were felled by a great storm in 1987, after the drought of 1976 to 1977 had already killed many.</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drought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natural cause of change in a woodland ecosystem?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Drought is extreme weather, a natural cause. Deforestation, road building and overgrazing are human activities.</a:t>
            </a:r>
            <a:endParaRPr lang="en-US" sz="20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30 degrees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Hot deserts are found at roughly ___ north and south of the equator.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desert belt lies at about 30° north and south, where air that rose at the equator sinks and gives clear, dry skies.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resilience</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ability of an ecosystem to recover after it is damaged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regrowth of English woodland after the 1987 storm shows resilience.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drought</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period with much less rain than normal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drought of 1976 to 1977 killed many trees in England.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deforestation</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down and clearing a forest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Deforestation leaves the soil bare, so rain can wash it away.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knock-on effect</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change that happens because of an earlier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Fewer beetles had a knock-on effect on the woodpeckers that eat them.</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biome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large-scale ecosystem, such as a desert or a rainforest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tundra is the coldest biome on Earth.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latitude</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far north or south of the equator a place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Hot deserts lie at a latitude of about 30 degrees.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Ecosystems are balanced, but the balance can be upset.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Extreme weather can do it.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1976 and 1977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drought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in England killed many trees.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1987 a great storm blew down 15 million more.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Animals that fed on those trees lost their food, and their numbers fell.</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But new trees grew, and the animals came back.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This recovery is called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resilience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can upset the balance too, by cutting down forests.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Bare soil is washed away by rain, so the forest may never recover.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change to one species spreads through the food web.</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Fewer beetles means fewer meals for woodpeckers, so there are fewer woodpeckers.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the owls and hawks that eat woodpeckers go hungry too.</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Across the world, the biggest ecosystems are called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biomes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lie in belts by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because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controls the climate.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Natural change: drought and storm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dates and one number carry this story: drought 1976 to 1977, storm 1987, 15 million trees. Natural causes first, then human.</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F0F3F1"/>
          </a:solidFill>
          <a:ln/>
        </p:spPr>
      </p:sp>
      <p:sp>
        <p:nvSpPr>
          <p:cNvPr id="12" name="bullet-hex"/>
          <p:cNvSpPr/>
          <p:nvPr/>
        </p:nvSpPr>
        <p:spPr>
          <a:xfrm>
            <a:off x="676656" y="1732357"/>
            <a:ext cx="384048" cy="332586"/>
          </a:xfrm>
          <a:prstGeom prst="hexagon">
            <a:avLst/>
          </a:prstGeom>
          <a:solidFill>
            <a:srgbClr val="3F6B4A"/>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UK's natural biome is deciduous forest, which is why your unit studied a woodland.</a:t>
            </a:r>
            <a:endParaRPr lang="en-US" sz="2200" dirty="0"/>
          </a:p>
        </p:txBody>
      </p:sp>
      <p:sp>
        <p:nvSpPr>
          <p:cNvPr id="14" name="bullet-card"/>
          <p:cNvSpPr/>
          <p:nvPr/>
        </p:nvSpPr>
        <p:spPr>
          <a:xfrm>
            <a:off x="548640" y="2553716"/>
            <a:ext cx="11094415" cy="1358392"/>
          </a:xfrm>
          <a:prstGeom prst="roundRect">
            <a:avLst>
              <a:gd name="adj" fmla="val 5385"/>
            </a:avLst>
          </a:prstGeom>
          <a:solidFill>
            <a:srgbClr val="F0F3F1"/>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553716"/>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Losing so many trees changed the species mix of the ecosystem, and population numbers declined for many of the food species in the food chain: fewer leaves and acorns meant fewer caterpillars and squirrels, and so on up the web.</a:t>
            </a:r>
            <a:endParaRPr lang="en-US" sz="2200" dirty="0"/>
          </a:p>
        </p:txBody>
      </p:sp>
      <p:sp>
        <p:nvSpPr>
          <p:cNvPr id="17" name="bullet-card"/>
          <p:cNvSpPr/>
          <p:nvPr/>
        </p:nvSpPr>
        <p:spPr>
          <a:xfrm>
            <a:off x="548640" y="4058412"/>
            <a:ext cx="11094415" cy="1017524"/>
          </a:xfrm>
          <a:prstGeom prst="roundRect">
            <a:avLst>
              <a:gd name="adj" fmla="val 7189"/>
            </a:avLst>
          </a:prstGeom>
          <a:solidFill>
            <a:srgbClr val="F0F3F1"/>
          </a:solidFill>
          <a:ln/>
        </p:spPr>
      </p:sp>
      <p:sp>
        <p:nvSpPr>
          <p:cNvPr id="18" name="bullet-hex"/>
          <p:cNvSpPr/>
          <p:nvPr/>
        </p:nvSpPr>
        <p:spPr>
          <a:xfrm>
            <a:off x="676656" y="4400881"/>
            <a:ext cx="384048" cy="332586"/>
          </a:xfrm>
          <a:prstGeom prst="hexagon">
            <a:avLst/>
          </a:prstGeom>
          <a:solidFill>
            <a:srgbClr val="3F6B4A"/>
          </a:solidFill>
          <a:ln/>
        </p:spPr>
      </p:sp>
      <p:sp>
        <p:nvSpPr>
          <p:cNvPr id="19" name="bullet"/>
          <p:cNvSpPr txBox="1"/>
          <p:nvPr/>
        </p:nvSpPr>
        <p:spPr>
          <a:xfrm>
            <a:off x="1143000" y="4058412"/>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Resilience has limits. An ecosystem recovers from a one-off storm because the soil, the seeds and the neighbouring habitats are still there.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Human change and knock-on effects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Direct means the next link in the chain; indirect means two or more links away. Say which is which in your answer.</a:t>
            </a:r>
            <a:endParaRPr lang="en-US" sz="1800" dirty="0"/>
          </a:p>
        </p:txBody>
      </p:sp>
      <p:sp>
        <p:nvSpPr>
          <p:cNvPr id="11" name="bullet-card"/>
          <p:cNvSpPr/>
          <p:nvPr/>
        </p:nvSpPr>
        <p:spPr>
          <a:xfrm>
            <a:off x="548640" y="1389888"/>
            <a:ext cx="11094415" cy="903901"/>
          </a:xfrm>
          <a:prstGeom prst="roundRect">
            <a:avLst>
              <a:gd name="adj" fmla="val 8093"/>
            </a:avLst>
          </a:prstGeom>
          <a:solidFill>
            <a:srgbClr val="F0F3F1"/>
          </a:solidFill>
          <a:ln/>
        </p:spPr>
      </p:sp>
      <p:sp>
        <p:nvSpPr>
          <p:cNvPr id="12" name="bullet-hex"/>
          <p:cNvSpPr/>
          <p:nvPr/>
        </p:nvSpPr>
        <p:spPr>
          <a:xfrm>
            <a:off x="676656" y="1675546"/>
            <a:ext cx="384048" cy="332586"/>
          </a:xfrm>
          <a:prstGeom prst="hexagon">
            <a:avLst/>
          </a:prstGeom>
          <a:solidFill>
            <a:srgbClr val="3F6B4A"/>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Ecosystems are sometimes damaged in permanent ways, especially when human forces such as deforestation are involved.</a:t>
            </a:r>
            <a:endParaRPr lang="en-US" sz="2200" dirty="0"/>
          </a:p>
        </p:txBody>
      </p:sp>
      <p:sp>
        <p:nvSpPr>
          <p:cNvPr id="14" name="bullet-card"/>
          <p:cNvSpPr/>
          <p:nvPr/>
        </p:nvSpPr>
        <p:spPr>
          <a:xfrm>
            <a:off x="548640" y="2440093"/>
            <a:ext cx="11094415" cy="903901"/>
          </a:xfrm>
          <a:prstGeom prst="roundRect">
            <a:avLst>
              <a:gd name="adj" fmla="val 8093"/>
            </a:avLst>
          </a:prstGeom>
          <a:solidFill>
            <a:srgbClr val="F0F3F1"/>
          </a:solidFill>
          <a:ln/>
        </p:spPr>
      </p:sp>
      <p:sp>
        <p:nvSpPr>
          <p:cNvPr id="15" name="bullet-hex"/>
          <p:cNvSpPr/>
          <p:nvPr/>
        </p:nvSpPr>
        <p:spPr>
          <a:xfrm>
            <a:off x="676656" y="2725751"/>
            <a:ext cx="384048" cy="332586"/>
          </a:xfrm>
          <a:prstGeom prst="hexagon">
            <a:avLst/>
          </a:prstGeom>
          <a:solidFill>
            <a:srgbClr val="B8862B"/>
          </a:solidFill>
          <a:ln/>
        </p:spPr>
      </p:sp>
      <p:sp>
        <p:nvSpPr>
          <p:cNvPr id="16" name="bullet"/>
          <p:cNvSpPr txBox="1"/>
          <p:nvPr/>
        </p:nvSpPr>
        <p:spPr>
          <a:xfrm>
            <a:off x="1143000" y="2440093"/>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Because everything in a food web is linked, a change to one species has knock-on effects on others.</a:t>
            </a:r>
            <a:endParaRPr lang="en-US" sz="2200" dirty="0"/>
          </a:p>
        </p:txBody>
      </p:sp>
      <p:sp>
        <p:nvSpPr>
          <p:cNvPr id="17" name="bullet-card"/>
          <p:cNvSpPr/>
          <p:nvPr/>
        </p:nvSpPr>
        <p:spPr>
          <a:xfrm>
            <a:off x="548640" y="3490299"/>
            <a:ext cx="11094415" cy="1585637"/>
          </a:xfrm>
          <a:prstGeom prst="roundRect">
            <a:avLst>
              <a:gd name="adj" fmla="val 4613"/>
            </a:avLst>
          </a:prstGeom>
          <a:solidFill>
            <a:srgbClr val="F0F3F1"/>
          </a:solidFill>
          <a:ln/>
        </p:spPr>
      </p:sp>
      <p:sp>
        <p:nvSpPr>
          <p:cNvPr id="18" name="bullet-hex"/>
          <p:cNvSpPr/>
          <p:nvPr/>
        </p:nvSpPr>
        <p:spPr>
          <a:xfrm>
            <a:off x="676656" y="4116825"/>
            <a:ext cx="384048" cy="332586"/>
          </a:xfrm>
          <a:prstGeom prst="hexagon">
            <a:avLst/>
          </a:prstGeom>
          <a:solidFill>
            <a:srgbClr val="3F6B4A"/>
          </a:solidFill>
          <a:ln/>
        </p:spPr>
      </p:sp>
      <p:sp>
        <p:nvSpPr>
          <p:cNvPr id="19" name="bullet"/>
          <p:cNvSpPr txBox="1"/>
          <p:nvPr/>
        </p:nvSpPr>
        <p:spPr>
          <a:xfrm>
            <a:off x="1143000" y="3490299"/>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Ecosystems can also be restored deliberately. In Epping Forest, cattle grazing has been reintroduced to encourage the growth of vegetation, including veteran trees such as oak, whose numbers fell between 1976 and 1988 because of drought and storm damage.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(1 of 2): Human change and knock-on effects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CF0ED"/>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an oak woodland, beetles are eaten by woodpeckers, and woodpeckers are eaten by owls. Explain one direct and one indirect effect of a disease that kills most of the beetles. (4 marks)</a:t>
            </a:r>
            <a:endParaRPr lang="en-US" sz="2200" dirty="0"/>
          </a:p>
        </p:txBody>
      </p:sp>
      <p:sp>
        <p:nvSpPr>
          <p:cNvPr id="9" name="step-box"/>
          <p:cNvSpPr/>
          <p:nvPr/>
        </p:nvSpPr>
        <p:spPr>
          <a:xfrm>
            <a:off x="548640" y="2996692"/>
            <a:ext cx="534146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species that eats the beetles directly: the woodpecker. Fewer beetles means fewer meals, so woodpecker numbers may fall. That is the direct effect.</a:t>
            </a:r>
            <a:endParaRPr lang="en-US" sz="1800" dirty="0"/>
          </a:p>
        </p:txBody>
      </p:sp>
      <p:sp>
        <p:nvSpPr>
          <p:cNvPr id="13" name="arrow"/>
          <p:cNvSpPr/>
          <p:nvPr/>
        </p:nvSpPr>
        <p:spPr>
          <a:xfrm>
            <a:off x="5963260" y="3846576"/>
            <a:ext cx="274320" cy="274320"/>
          </a:xfrm>
          <a:prstGeom prst="rightArrow">
            <a:avLst/>
          </a:prstGeom>
          <a:solidFill>
            <a:srgbClr val="B8862B"/>
          </a:solidFill>
          <a:ln/>
        </p:spPr>
      </p:sp>
      <p:sp>
        <p:nvSpPr>
          <p:cNvPr id="14" name="step-box"/>
          <p:cNvSpPr/>
          <p:nvPr/>
        </p:nvSpPr>
        <p:spPr>
          <a:xfrm>
            <a:off x="6301588" y="2996692"/>
            <a:ext cx="534146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6438748" y="3106420"/>
            <a:ext cx="530352" cy="459285"/>
          </a:xfrm>
          <a:prstGeom prst="hexagon">
            <a:avLst/>
          </a:prstGeom>
          <a:solidFill>
            <a:srgbClr val="3F6B4A"/>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591052"/>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Follow the chain one link further: owls eat woodpeckers. Fewer woodpeckers means less food for owls, so owl numbers may fall. That is the indirect effect.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(2 of 2): Human change and knock-on effects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CF0ED"/>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an oak woodland, beetles are eaten by woodpeckers, and woodpeckers are eaten by owls. Explain one direct and one indirect effect of a disease that kills most of the beetles. (4 marks)</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the word because to link each effect to its cause, and the word may, since the web could adjust (woodpeckers might switch to other food).</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106420"/>
            <a:ext cx="530352" cy="459285"/>
          </a:xfrm>
          <a:prstGeom prst="hexagon">
            <a:avLst/>
          </a:prstGeom>
          <a:solidFill>
            <a:srgbClr val="3F6B4A"/>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effects, each explained with a reason, earns the four marks.</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Direct effect: woodpecker numbers may fall because they have fewer beetles to eat. Indirect effect: owl numbers may then fall because there are fewer woodpeckers for them to eat.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world's biomes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table as a journey from the equator to the pole: rainforest, desert, Mediterranean, deciduous and coniferous woodland, tundra.</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Global ecosystems, or biomes, are defined by their dominant vegetation: forest, grassland, scrub, desert or tundra.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Further north, at roughly 50 to 60°, come the temperate forests.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do biomes form broad belts across the world? Because climate is controlled above all by latitude.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Describing a distribution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Hemisphere, latitude belt, continents, named places. Four steps, four marks.</a:t>
            </a:r>
            <a:endParaRPr lang="en-US" sz="1800" dirty="0"/>
          </a:p>
        </p:txBody>
      </p:sp>
      <p:sp>
        <p:nvSpPr>
          <p:cNvPr id="11" name="point-card"/>
          <p:cNvSpPr/>
          <p:nvPr/>
        </p:nvSpPr>
        <p:spPr>
          <a:xfrm>
            <a:off x="548640" y="1389888"/>
            <a:ext cx="5410048" cy="3964940"/>
          </a:xfrm>
          <a:prstGeom prst="roundRect">
            <a:avLst>
              <a:gd name="adj" fmla="val 1384"/>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Describe questions about distribution ask where, not why. A four-mark answer should give the hemisphere, the latitude belt, the continents and some named countries or regions, moving from the general to the specific.</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command word is describe, so an explanation (sinking cold air, low sunlight) earns nothing 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Knock-on effects in a food web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disease kills many beetles in an oak woodland. Put the knock-on effects in the order they would happen.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Owls and hawks, which feed on woodpeckers, have less food and may decline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Woodpeckers have fewer meals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Woodpecker numbers decline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Disease reduces the number of beetles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Knock-on effects in a food web</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disease kills many beetles in an oak woodland. Put the knock-on effects in the order they would happen.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CF0ED"/>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cause: the thing that changed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 eats the beetles? That animal feels the change next, as a shortage of food.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shortage of food leads to a fall in numbers of that animal.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Finally, whatever eats that animal is affected: the indirect effect.</a:t>
            </a:r>
            <a:endParaRPr lang="en-US" sz="1800" dirty="0"/>
          </a:p>
        </p:txBody>
      </p:sp>
      <p:sp>
        <p:nvSpPr>
          <p:cNvPr id="17" name="col-Core"/>
          <p:cNvSpPr/>
          <p:nvPr/>
        </p:nvSpPr>
        <p:spPr>
          <a:xfrm>
            <a:off x="5490762" y="2593848"/>
            <a:ext cx="2938987" cy="3550920"/>
          </a:xfrm>
          <a:prstGeom prst="roundRect">
            <a:avLst>
              <a:gd name="adj" fmla="val 1867"/>
            </a:avLst>
          </a:prstGeom>
          <a:solidFill>
            <a:srgbClr val="D5DE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Cause, then less food, then fewer animals, then the animals one link further up the web.</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woodpeckers might not decline at all, and what the consequence of that would be for blue tits.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biome has which climate?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biome to its climate.</a:t>
            </a:r>
            <a:endParaRPr lang="en-US" sz="2400" dirty="0"/>
          </a:p>
        </p:txBody>
      </p:sp>
      <p:sp>
        <p:nvSpPr>
          <p:cNvPr id="11" name="match-card"/>
          <p:cNvSpPr/>
          <p:nvPr/>
        </p:nvSpPr>
        <p:spPr>
          <a:xfrm>
            <a:off x="777240" y="2468331"/>
            <a:ext cx="3081437" cy="949589"/>
          </a:xfrm>
          <a:prstGeom prst="roundRect">
            <a:avLst>
              <a:gd name="adj" fmla="val 7704"/>
            </a:avLst>
          </a:prstGeom>
          <a:solidFill>
            <a:srgbClr val="F0F3F1"/>
          </a:solidFill>
          <a:ln/>
        </p:spPr>
      </p:sp>
      <p:sp>
        <p:nvSpPr>
          <p:cNvPr id="12" name="match-hex"/>
          <p:cNvSpPr/>
          <p:nvPr/>
        </p:nvSpPr>
        <p:spPr>
          <a:xfrm>
            <a:off x="850392" y="2776833"/>
            <a:ext cx="384048" cy="332586"/>
          </a:xfrm>
          <a:prstGeom prst="hexagon">
            <a:avLst/>
          </a:prstGeom>
          <a:solidFill>
            <a:srgbClr val="3F6B4A"/>
          </a:solidFill>
          <a:ln/>
        </p:spPr>
      </p:sp>
      <p:sp>
        <p:nvSpPr>
          <p:cNvPr id="13" name="match-hex-label"/>
          <p:cNvSpPr txBox="1"/>
          <p:nvPr/>
        </p:nvSpPr>
        <p:spPr>
          <a:xfrm>
            <a:off x="850392" y="277683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Tropical rainforest</a:t>
            </a:r>
            <a:endParaRPr lang="en-US" sz="2000" dirty="0"/>
          </a:p>
        </p:txBody>
      </p:sp>
      <p:sp>
        <p:nvSpPr>
          <p:cNvPr id="15" name="match-card"/>
          <p:cNvSpPr/>
          <p:nvPr/>
        </p:nvSpPr>
        <p:spPr>
          <a:xfrm>
            <a:off x="4224437" y="2468331"/>
            <a:ext cx="7190019" cy="949589"/>
          </a:xfrm>
          <a:prstGeom prst="roundRect">
            <a:avLst>
              <a:gd name="adj" fmla="val 7704"/>
            </a:avLst>
          </a:prstGeom>
          <a:solidFill>
            <a:srgbClr val="F6F0E6"/>
          </a:solidFill>
          <a:ln/>
        </p:spPr>
      </p:sp>
      <p:sp>
        <p:nvSpPr>
          <p:cNvPr id="16" name="match-hex"/>
          <p:cNvSpPr/>
          <p:nvPr/>
        </p:nvSpPr>
        <p:spPr>
          <a:xfrm>
            <a:off x="4297589" y="2776833"/>
            <a:ext cx="384048" cy="332586"/>
          </a:xfrm>
          <a:prstGeom prst="hexagon">
            <a:avLst/>
          </a:prstGeom>
          <a:solidFill>
            <a:srgbClr val="B8862B"/>
          </a:solidFill>
          <a:ln/>
        </p:spPr>
      </p:sp>
      <p:sp>
        <p:nvSpPr>
          <p:cNvPr id="17" name="match-hex-label"/>
          <p:cNvSpPr txBox="1"/>
          <p:nvPr/>
        </p:nvSpPr>
        <p:spPr>
          <a:xfrm>
            <a:off x="4297589" y="277683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Very cold: Arctic winters, warmest months only 0 to 10°C, 15 to 25 cm of precipitation</a:t>
            </a:r>
            <a:endParaRPr lang="en-US" sz="2000" dirty="0"/>
          </a:p>
        </p:txBody>
      </p:sp>
      <p:sp>
        <p:nvSpPr>
          <p:cNvPr id="19" name="match-card"/>
          <p:cNvSpPr/>
          <p:nvPr/>
        </p:nvSpPr>
        <p:spPr>
          <a:xfrm>
            <a:off x="777240" y="3509361"/>
            <a:ext cx="3081437" cy="660029"/>
          </a:xfrm>
          <a:prstGeom prst="roundRect">
            <a:avLst>
              <a:gd name="adj" fmla="val 11083"/>
            </a:avLst>
          </a:prstGeom>
          <a:solidFill>
            <a:srgbClr val="F0F3F1"/>
          </a:solidFill>
          <a:ln/>
        </p:spPr>
      </p:sp>
      <p:sp>
        <p:nvSpPr>
          <p:cNvPr id="20" name="match-hex"/>
          <p:cNvSpPr/>
          <p:nvPr/>
        </p:nvSpPr>
        <p:spPr>
          <a:xfrm>
            <a:off x="850392" y="3673082"/>
            <a:ext cx="384048" cy="332586"/>
          </a:xfrm>
          <a:prstGeom prst="hexagon">
            <a:avLst/>
          </a:prstGeom>
          <a:solidFill>
            <a:srgbClr val="3F6B4A"/>
          </a:solidFill>
          <a:ln/>
        </p:spPr>
      </p:sp>
      <p:sp>
        <p:nvSpPr>
          <p:cNvPr id="21" name="match-hex-label"/>
          <p:cNvSpPr txBox="1"/>
          <p:nvPr/>
        </p:nvSpPr>
        <p:spPr>
          <a:xfrm>
            <a:off x="850392" y="36730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09361"/>
            <a:ext cx="2487077"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Hot desert</a:t>
            </a:r>
            <a:endParaRPr lang="en-US" sz="2000" dirty="0"/>
          </a:p>
        </p:txBody>
      </p:sp>
      <p:sp>
        <p:nvSpPr>
          <p:cNvPr id="23" name="match-card"/>
          <p:cNvSpPr/>
          <p:nvPr/>
        </p:nvSpPr>
        <p:spPr>
          <a:xfrm>
            <a:off x="4224437" y="3509361"/>
            <a:ext cx="7190019" cy="660029"/>
          </a:xfrm>
          <a:prstGeom prst="roundRect">
            <a:avLst>
              <a:gd name="adj" fmla="val 11083"/>
            </a:avLst>
          </a:prstGeom>
          <a:solidFill>
            <a:srgbClr val="F6F0E6"/>
          </a:solidFill>
          <a:ln/>
        </p:spPr>
      </p:sp>
      <p:sp>
        <p:nvSpPr>
          <p:cNvPr id="24" name="match-hex"/>
          <p:cNvSpPr/>
          <p:nvPr/>
        </p:nvSpPr>
        <p:spPr>
          <a:xfrm>
            <a:off x="4297589" y="3673082"/>
            <a:ext cx="384048" cy="332586"/>
          </a:xfrm>
          <a:prstGeom prst="hexagon">
            <a:avLst/>
          </a:prstGeom>
          <a:solidFill>
            <a:srgbClr val="B8862B"/>
          </a:solidFill>
          <a:ln/>
        </p:spPr>
      </p:sp>
      <p:sp>
        <p:nvSpPr>
          <p:cNvPr id="25" name="match-hex-label"/>
          <p:cNvSpPr txBox="1"/>
          <p:nvPr/>
        </p:nvSpPr>
        <p:spPr>
          <a:xfrm>
            <a:off x="4297589" y="36730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09361"/>
            <a:ext cx="6595659"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Very hot (over 30°C) with very little rain (less than 300 mm)</a:t>
            </a:r>
            <a:endParaRPr lang="en-US" sz="2000" dirty="0"/>
          </a:p>
        </p:txBody>
      </p:sp>
      <p:sp>
        <p:nvSpPr>
          <p:cNvPr id="27" name="match-card"/>
          <p:cNvSpPr/>
          <p:nvPr/>
        </p:nvSpPr>
        <p:spPr>
          <a:xfrm>
            <a:off x="777240" y="4260830"/>
            <a:ext cx="3081437" cy="660029"/>
          </a:xfrm>
          <a:prstGeom prst="roundRect">
            <a:avLst>
              <a:gd name="adj" fmla="val 11083"/>
            </a:avLst>
          </a:prstGeom>
          <a:solidFill>
            <a:srgbClr val="F0F3F1"/>
          </a:solidFill>
          <a:ln/>
        </p:spPr>
      </p:sp>
      <p:sp>
        <p:nvSpPr>
          <p:cNvPr id="28" name="match-hex"/>
          <p:cNvSpPr/>
          <p:nvPr/>
        </p:nvSpPr>
        <p:spPr>
          <a:xfrm>
            <a:off x="850392" y="4424551"/>
            <a:ext cx="384048" cy="332586"/>
          </a:xfrm>
          <a:prstGeom prst="hexagon">
            <a:avLst/>
          </a:prstGeom>
          <a:solidFill>
            <a:srgbClr val="3F6B4A"/>
          </a:solidFill>
          <a:ln/>
        </p:spPr>
      </p:sp>
      <p:sp>
        <p:nvSpPr>
          <p:cNvPr id="29" name="match-hex-label"/>
          <p:cNvSpPr txBox="1"/>
          <p:nvPr/>
        </p:nvSpPr>
        <p:spPr>
          <a:xfrm>
            <a:off x="850392" y="44245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Tundra</a:t>
            </a:r>
            <a:endParaRPr lang="en-US" sz="2000" dirty="0"/>
          </a:p>
        </p:txBody>
      </p:sp>
      <p:sp>
        <p:nvSpPr>
          <p:cNvPr id="31" name="match-card"/>
          <p:cNvSpPr/>
          <p:nvPr/>
        </p:nvSpPr>
        <p:spPr>
          <a:xfrm>
            <a:off x="4224437" y="4260830"/>
            <a:ext cx="7190019" cy="660029"/>
          </a:xfrm>
          <a:prstGeom prst="roundRect">
            <a:avLst>
              <a:gd name="adj" fmla="val 11083"/>
            </a:avLst>
          </a:prstGeom>
          <a:solidFill>
            <a:srgbClr val="F6F0E6"/>
          </a:solidFill>
          <a:ln/>
        </p:spPr>
      </p:sp>
      <p:sp>
        <p:nvSpPr>
          <p:cNvPr id="32" name="match-hex"/>
          <p:cNvSpPr/>
          <p:nvPr/>
        </p:nvSpPr>
        <p:spPr>
          <a:xfrm>
            <a:off x="4297589" y="4424551"/>
            <a:ext cx="384048" cy="332586"/>
          </a:xfrm>
          <a:prstGeom prst="hexagon">
            <a:avLst/>
          </a:prstGeom>
          <a:solidFill>
            <a:srgbClr val="B8862B"/>
          </a:solidFill>
          <a:ln/>
        </p:spPr>
      </p:sp>
      <p:sp>
        <p:nvSpPr>
          <p:cNvPr id="33" name="match-hex-label"/>
          <p:cNvSpPr txBox="1"/>
          <p:nvPr/>
        </p:nvSpPr>
        <p:spPr>
          <a:xfrm>
            <a:off x="4297589" y="44245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Hot all year (25 to 30°C) and wet all year (2000 to 3000 mm)</a:t>
            </a:r>
            <a:endParaRPr lang="en-US" sz="2000" dirty="0"/>
          </a:p>
        </p:txBody>
      </p:sp>
      <p:sp>
        <p:nvSpPr>
          <p:cNvPr id="35" name="match-card"/>
          <p:cNvSpPr/>
          <p:nvPr/>
        </p:nvSpPr>
        <p:spPr>
          <a:xfrm>
            <a:off x="777240" y="5012299"/>
            <a:ext cx="3081437" cy="949589"/>
          </a:xfrm>
          <a:prstGeom prst="roundRect">
            <a:avLst>
              <a:gd name="adj" fmla="val 7704"/>
            </a:avLst>
          </a:prstGeom>
          <a:solidFill>
            <a:srgbClr val="F0F3F1"/>
          </a:solidFill>
          <a:ln/>
        </p:spPr>
      </p:sp>
      <p:sp>
        <p:nvSpPr>
          <p:cNvPr id="36" name="match-hex"/>
          <p:cNvSpPr/>
          <p:nvPr/>
        </p:nvSpPr>
        <p:spPr>
          <a:xfrm>
            <a:off x="850392" y="5320801"/>
            <a:ext cx="384048" cy="332586"/>
          </a:xfrm>
          <a:prstGeom prst="hexagon">
            <a:avLst/>
          </a:prstGeom>
          <a:solidFill>
            <a:srgbClr val="3F6B4A"/>
          </a:solidFill>
          <a:ln/>
        </p:spPr>
      </p:sp>
      <p:sp>
        <p:nvSpPr>
          <p:cNvPr id="37" name="match-hex-label"/>
          <p:cNvSpPr txBox="1"/>
          <p:nvPr/>
        </p:nvSpPr>
        <p:spPr>
          <a:xfrm>
            <a:off x="850392" y="53208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12299"/>
            <a:ext cx="2487077"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Deciduous woodland</a:t>
            </a:r>
            <a:endParaRPr lang="en-US" sz="2000" dirty="0"/>
          </a:p>
        </p:txBody>
      </p:sp>
      <p:sp>
        <p:nvSpPr>
          <p:cNvPr id="39" name="match-card"/>
          <p:cNvSpPr/>
          <p:nvPr/>
        </p:nvSpPr>
        <p:spPr>
          <a:xfrm>
            <a:off x="4224437" y="5012299"/>
            <a:ext cx="7190019" cy="949589"/>
          </a:xfrm>
          <a:prstGeom prst="roundRect">
            <a:avLst>
              <a:gd name="adj" fmla="val 7704"/>
            </a:avLst>
          </a:prstGeom>
          <a:solidFill>
            <a:srgbClr val="F6F0E6"/>
          </a:solidFill>
          <a:ln/>
        </p:spPr>
      </p:sp>
      <p:sp>
        <p:nvSpPr>
          <p:cNvPr id="40" name="match-hex"/>
          <p:cNvSpPr/>
          <p:nvPr/>
        </p:nvSpPr>
        <p:spPr>
          <a:xfrm>
            <a:off x="4297589" y="5320801"/>
            <a:ext cx="384048" cy="332586"/>
          </a:xfrm>
          <a:prstGeom prst="hexagon">
            <a:avLst/>
          </a:prstGeom>
          <a:solidFill>
            <a:srgbClr val="B8862B"/>
          </a:solidFill>
          <a:ln/>
        </p:spPr>
      </p:sp>
      <p:sp>
        <p:nvSpPr>
          <p:cNvPr id="41" name="match-hex-label"/>
          <p:cNvSpPr txBox="1"/>
          <p:nvPr/>
        </p:nvSpPr>
        <p:spPr>
          <a:xfrm>
            <a:off x="4297589" y="53208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12299"/>
            <a:ext cx="6595659"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Warm summers (15 to 20°C), cool winters (3 to 7°C), rain all year (about 1000 mm)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Which biome has which climate?</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biome has which climate?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biomes are hot. One is wet and one is dry: which is the forest and which the desert?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coldest climate must belong to the biome nearest the pole.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with warm summers and cool winters is the UK's own biome.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rainfall figures: forests need plenty, deserts very little.</a:t>
            </a:r>
            <a:endParaRPr lang="en-US" sz="1800" dirty="0"/>
          </a:p>
        </p:txBody>
      </p:sp>
      <p:sp>
        <p:nvSpPr>
          <p:cNvPr id="17" name="col-Core"/>
          <p:cNvSpPr/>
          <p:nvPr/>
        </p:nvSpPr>
        <p:spPr>
          <a:xfrm>
            <a:off x="5490762" y="2395728"/>
            <a:ext cx="2938987" cy="3749040"/>
          </a:xfrm>
          <a:prstGeom prst="roundRect">
            <a:avLst>
              <a:gd name="adj" fmla="val 1867"/>
            </a:avLst>
          </a:prstGeom>
          <a:solidFill>
            <a:srgbClr val="D5DE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Hot and wet, hot and dry, mild and damp, bitterly cold: which words go with which plants?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hot desert and the tropical rainforest are both hot, yet one is wet and the other dry, using the movement of air between the equator and 30°.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great storm in 1987 felled a further how many million trees in England?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(million):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Knock-on effects in a food web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Disease reduces the number of beetles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Woodpeckers have fewer meals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Woodpecker numbers decline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Owls and hawks, which feed on woodpeckers, have less food and may decline  (A)</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beetles change first; the woodpeckers that eat them have fewer meals and decline; the owls and hawks that eat woodpeckers then have less food. Direct effect, then indirect effect.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biome has which climate?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Tropical rainforest  →  C  Hot all year (25 to 30°C) and wet all year (2000 to 3000 mm)</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Hot desert  →  B  Very hot (over 30°C) with very little rain (less than 300 mm)</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Tundra  →  A  Very cold: Arctic winters, warmest months only 0 to 10°C, 15 to 25 cm of precipitation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Deciduous woodland  →  D  Warm summers (15 to 20°C), cool winters (3 to 7°C), rain all year (about 1000 mm)</a:t>
            </a:r>
            <a:endParaRPr lang="en-US" sz="20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Rainforest is hot and wet all year; hot desert is very hot and very dry; tundra is bitterly cold with little precipitation; deciduous woodland has warm summers, cool winters and rain all year.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great storm in 1987 felled a further how many million trees in England?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 million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says a further 15 million trees were felled by a great storm in 1987, after the drought of 1976 to 1977 had already killed many.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World: Ecosystems · Chapter 2: When ecosystems change, and the biomes of the world</dc:title>
  <dc:subject>Geography · Year 9</dc:subject>
  <dc:creator>Dr Vitor Merissi de Carvalho</dc:creator>
  <cp:lastModifiedBy>Dr Vitor Merissi de Carvalho</cp:lastModifiedBy>
  <cp:revision>1</cp:revision>
  <dcterms:created xsi:type="dcterms:W3CDTF">2026-10-19T16:22:52Z</dcterms:created>
  <dcterms:modified xsi:type="dcterms:W3CDTF">2026-10-19T16:22:52Z</dcterms:modified>
</cp:coreProperties>
</file>