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3d9f90-47ae-f6a4-c574-9e8f8f3213f6}">
          <p14:sldIdLst>
            <p14:sldId id="256"/>
          </p14:sldIdLst>
        </p14:section>
        <p14:section name="Gate" id="{99011bc7-94b0-dbc3-c350-1a8ddec37c72}">
          <p14:sldIdLst>
            <p14:sldId id="257"/>
            <p14:sldId id="258"/>
          </p14:sldIdLst>
        </p14:section>
        <p14:section name="Pre-teach" id="{7c3fa7fe-5017-5bb7-be76-3b1f155682a9}">
          <p14:sldIdLst>
            <p14:sldId id="259"/>
            <p14:sldId id="260"/>
          </p14:sldIdLst>
        </p14:section>
        <p14:section name="Read-along" id="{ea4feff0-4da2-9002-b73b-8294c65d9aa6}">
          <p14:sldIdLst>
            <p14:sldId id="261"/>
            <p14:sldId id="262"/>
          </p14:sldIdLst>
        </p14:section>
        <p14:section name="Teach" id="{0188a333-b751-69d6-f062-2598274a33e9}">
          <p14:sldIdLst>
            <p14:sldId id="263"/>
            <p14:sldId id="264"/>
            <p14:sldId id="265"/>
            <p14:sldId id="266"/>
            <p14:sldId id="267"/>
          </p14:sldIdLst>
        </p14:section>
        <p14:section name="Routes" id="{bd6825e8-e59d-001b-3451-1ab3130c41b3}">
          <p14:sldIdLst>
            <p14:sldId id="268"/>
            <p14:sldId id="269"/>
            <p14:sldId id="270"/>
            <p14:sldId id="271"/>
          </p14:sldIdLst>
        </p14:section>
        <p14:section name="Close" id="{e52f93f7-f08e-0d3c-43ce-64a5d430f49c}">
          <p14:sldIdLst>
            <p14:sldId id="272"/>
          </p14:sldIdLst>
        </p14:section>
        <p14:section name="Answers" id="{dcdea04a-a911-1a2b-dedb-39951d5a3a40}">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Hot deserts: a land of extremes. Why the world's hot deserts sit in two belts around 30° north and south, what a climate of 50°C days and freezing nights does to soil and water, and how cacti, camels and foxes manage to live there.
This deck covers the department's lessons: 13 (Locations and distribution of hot deserts: Where are the world's hot deserts, why are they found around 30° north and south, and what is their climate like?); 14 (Characteristics of hot deserts and the adaptations of plants and animals: How do the climate, soil, plants and animals of a hot desert depend on each other, and how are living things adapted to survive there?).
Read the big question aloud: "How do ecosystems work, why are the world's great biomes where they are, and how can people use rainforests and deserts without destroying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Your hot deserts lesson defined a hot desert as receiving less than 25 cm of precipitation a year. How many millimetres is 25 cm?  →  250 mm
2. Why are most hot deserts found at about 30° north and south of the equator?  →  D   Air that rose at the equator sinks there, forming high pressure with little cloud or rain
3. A plant such as a cactus that stores water in its thick, fleshy stems or leaves is called a ___.  →  succulent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250 mm. There are 10 mm in 1 cm, so 25 cm = 250 mm. Climate graphs use mm, so you need both forms.
2. D   Air that rose at the equator sinks there, forming high pressure with little cloud or rain. Air heated at the equator rises, moves towards the poles and sinks at about 30°. Sinking air gives high pressure, clear skies and almost no rain.
3. succulent. Succulent is the keyword your lessons give for desert plants that store water in thick fleshy leaves or stems.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arid: very dry, with little or no rain. Example: "The Sahara has an arid climate: some months have no rain at all."
• high pressure: sinking air that gives clear skies and no rain. Example: "High pressure over the desert keeps the sky cloudless."
• succulent: a plant that stores water in thick, fleshy leaves or stems. Example: "A cactus is a succulent that swells up after rain."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endemic: found naturally in one place and nowhere else. Example: "The addax is an endemic desert antelope that is now at risk."
• biodiversity: the range of plants and animals living in a place. Example: "Desert biodiversity is clustered around rare sources of water."
• nocturnal: active at night. Example: "Many desert animals are nocturnal, to avoid the daytime heat."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hot desert is a place of extreme heat and extreme dryness.
2. It gets less than 250 mm of rain a year, and the rain is unreliable.
3. Days can reach 50 degrees, but nights can fall below freezing.
4. Most hot deserts lie about 30 degrees north and south of the equator.
5. Air that rose at the equator sinks there, so the skies stay clear and dry.
6. The Sahara in North Africa is the largest hot desert.
7. Desert soil is sandy or stony, with little goodness in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Even so, plants and animals live there.
9. A cactus stores water in its thick stem and has spines instead of leaves.
10. A camel has wide feet for the sand and a fatty hump for energy.
11. The fennec fox has big ears to lose heat.
12. Many desert animals come out only at night.
13. Desert wildlife is under threat from farming, water use and climate change.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hot deserts are, and why. Say it in your own words, then check understanding with a quick question: ask a pupil from the pre-teach group first, since they met these words and ideas before the lesson. Pupils try to recall before you re-explain.
Hot deserts are arid areas of land with poor, sandy soil, typically receiving less than 25 cm (250 mm) of precipitation a year. Summer daytime temperatures can reach or exceed 50°C, yet nights can be very cold. Most lie in two belts, roughly 30° north and 30° south of the equator, usually in dry continental interiors. Your lessons name the Sahara (North Africa), the Colorado Desert and the Great Basin Desert in the USA (an unusual one, because most of its precipitation falls as snow), the Mojave, the Thar Desert in India and Pakistan, and the Gobi in Asia.
Why 30°? Air that was heated at the equator rises, cools and spreads out towards the poles high in the atmosphere. At around 30° it sinks back towards the ground. Sinking air forms a persistent belt of high pressure, and sinking air does not make cloud or rain, so the skies stay clear and the ground bakes. The same lack of cloud lets the heat escape at night, which is why desert nights are so cold. Two other factors help to form deserts: mountain ranges create rain shadows, so only very dry air moves beyond them, and cold ocean currents offshore chill the air so that it carries little moisture inland.
The Sahara is the largest hot desert in the world. It blankets much of the northern third of Africa, about 9 million square kilometres, stretching some 3000 miles from the Atlantic Ocean to the Nile and the Red Sea and more than 1000 miles south from the Atlas Mountains to the Sahel. It is more than 16 times the size of France and covers all or part of countries including Mauritania, Algeria, Libya, Egypt, Niger, Tunisia, Mali, Chad and Sudan.
Tip: Explain the location in three moves: rising air at the equator, sinking air at 30°, high pressure with no cloud or rain. Then add rain shadows and cold currents for extra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Climate and soils. Say it in your own words, then check understanding with a quick question: ask a pupil from the pre-teach group first, since they met these words and ideas before the lesson. Pupils try to recall before you re-explain.
Desert climates swing further between day and night than any other climate you study. By mid-afternoon the air may be up at 50°C; by dawn it can have dropped below 0°C, because there is no cloud to keep the day's heat in. There is very little rainfall, less than 250 mm a year, and it is unreliable: months of arid conditions are broken by sudden stormy downpours. Winters are mild and summers very hot. Your Sahara climate graph showed a peak temperature of 35°C in July and August, a winter average of about 13°C from December to February, just 2 mm of rain in December, and no rain at all in June, July and September. The conclusion your class wrote: the lower the rainfall, the higher the temperature, and the higher the rainfall, the lower the temperature.
Desert soils are sandy or stony, with little organic matter because there is so little vegetation to rot into them. They are dry, but can soak up water rapidly after rain. As water evaporates it pulls dissolved salts up with it, and a pale crust is often left behind where it has gone. Put together, this means desert soils are not particularly fertile, and strong winds blow away layers of topsoil, leaving them thin.
The components of a desert ecosystem are tightly interdependent. The climate (abiotic) is dry, dries out the soil and decides which plants and animals can survive the heat. The soil (abiotic) is dry and thin because of the heat and wind. The vegetation (biotic) is sparse and low-growing because of the lack of rain and the infertile soil. The animals (biotic) have adapted to the harsh climate by storing water, and because the vegetation is so sparse they must roam large areas to find enough to eat.
Worked example — model it step by step, thinking aloud: On the Sahara climate graph the winter months of December, January and February have average temperatures of 14°C, 12°C and 14°C. What is the average winter temperature? (1) Add the three monthly figures: 14 + 12 + 14 = 40. (2) Divide by the number of months: 40 ÷ 3 = 13.333… (3) Round sensibly and give the unit: about 13.3°C. (4) Check the sense: the answer must sit between the lowest (12) and highest (14) of the three figures, and it does. Answer: About 13.3°C.
Tip: An average must land between the smallest and largest value you added. If it does not, you have slipped.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Climate and soils. Say it in your own words, then check understanding with a quick question: ask a pupil from the pre-teach group first, since they met these words and ideas before the lesson. Pupils try to recall before you re-explain.
Desert climates swing further between day and night than any other climate you study. By mid-afternoon the air may be up at 50°C; by dawn it can have dropped below 0°C, because there is no cloud to keep the day's heat in. There is very little rainfall, less than 250 mm a year, and it is unreliable: months of arid conditions are broken by sudden stormy downpours. Winters are mild and summers very hot. Your Sahara climate graph showed a peak temperature of 35°C in July and August, a winter average of about 13°C from December to February, just 2 mm of rain in December, and no rain at all in June, July and September. The conclusion your class wrote: the lower the rainfall, the higher the temperature, and the higher the rainfall, the lower the temperature.
Desert soils are sandy or stony, with little organic matter because there is so little vegetation to rot into them. They are dry, but can soak up water rapidly after rain. As water evaporates it pulls dissolved salts up with it, and a pale crust is often left behind where it has gone. Put together, this means desert soils are not particularly fertile, and strong winds blow away layers of topsoil, leaving them thin.
The components of a desert ecosystem are tightly interdependent. The climate (abiotic) is dry, dries out the soil and decides which plants and animals can survive the heat. The soil (abiotic) is dry and thin because of the heat and wind. The vegetation (biotic) is sparse and low-growing because of the lack of rain and the infertile soil. The animals (biotic) have adapted to the harsh climate by storing water, and because the vegetation is so sparse they must roam large areas to find enough to eat.
Worked example — model it step by step, thinking aloud: On the Sahara climate graph the winter months of December, January and February have average temperatures of 14°C, 12°C and 14°C. What is the average winter temperature? (1) Add the three monthly figures: 14 + 12 + 14 = 40. (2) Divide by the number of months: 40 ÷ 3 = 13.333… (3) Round sensibly and give the unit: about 13.3°C. (4) Check the sense: the answer must sit between the lowest (12) and highest (14) of the three figures, and it does. Answer: About 13.3°C.
Tip: An average must land between the smallest and largest value you added. If it does not, you have slipped.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Biodiversity and its threats. Say it in your own words, then check understanding with a quick question: ask a pupil from the pre-teach group first, since they met these words and ideas before the lesson. Pupils try to recall before you re-explain.
A desert looks empty until you learn where to look. Many deserts hold a long list of endemic species: plants and animals that live naturally in that one place and nowhere else on Earth. What they all need is water, so they gather into small pockets around oases and around the seasonal rivers and lakes that fill and dry again. Biodiversity, the range of plant and animal life in a place, is therefore low across the desert as a whole but concentrated where there is water.
That makes it fragile. Human activities such as farming, irrigation and pumping out groundwater threaten those water sources. Climate change is reducing the snowpack and melting the glaciers that feed water to desert communities and wildlife, and longer droughts dry up supplies faster still. The result is habitat loss, and deserts are losing their biodiversity. In the Sahara, animals such as the addax, the cheetah and the dama gazelle are at risk of extinction. The African wild dog is one of the most endangered mammals in the world, with only about 6600 left, most of them in southern Africa and the southern Sahara in Niger; its threats are habitat loss and being killed to protect farm livestock, because when its prey disappears it turns to goats and sheep.
What is being done? Protected areas are being created, including wildlife corridors that link them, and game reserves protect animals from hunting. But there is still conflict with farmers whose animals are attacked, and protection costs money in some of the poorest regions on Earth.
Tip: Endemic means found only here. Lose the habitat and the species has nowhere else on Earth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Adaptations: surviving heat and drought. Say it in your own words, then check understanding with a quick question: ask a pupil from the pre-teach group first, since they met these words and ideas before the lesson. Pupils try to recall before you re-explain.
Plants have adapted to overcome extreme heat and the lack of water. Cacti such as the saguaro have large stems that store water, collected by their roots, for the long summer drought; the stem swells after rain. They have spines instead of leaves, which lose far less water and protect the plant from herbivores, and a waxy coating on the stem; their pores close in the heat of the day and open at night. Many desert plants, like the desert holly, have small waxy leaves or needles, and some shrubs simply drop their leaves and go dormant in summer. Flowering plants bloom and set seed quickly after any rain. A succulent is any plant that stores water in thick, fleshy leaves or stems.
Animals are adapted too. The camel has thick fur on top of its body for shade and thin fur elsewhere to lose heat; large, flat feet that spread its weight on sand; a fatty hump that provides energy when food is short; slit-like nostrils and two rows of eyelashes to keep out wind-blown sand; and it loses very little water through urine or sweat, so it can go a long time without drinking. The fennec fox has large ears that give off heat. The cottontail rabbit avoids the heat by being nocturnal, active only at night. Other desert animals in your worksheet include the addax, the jerboa and the thorny devil lizard.
As with the rainforest, an explain answer pairs each feature with the problem it solves: wide feet because of soft sand; big ears because of heat; night-time activity because of the daytime sun; stored water because rain is rare.
Tip: Heat, drought, sand. Sort every adaptation under one of those three headings and you will never run out of things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desert nights are cold.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does the temperature in a hot desert fall so far at night, sometimes below 0°C?
Support — work through the steps with the group: (1) Think of cloud as a blanket. On a cloudy night in the UK it stays mild; on a clear night it gets frosty. (2) Hot deserts sit under high pressure with sinking air, so there is almost never any cloud. (3) By day the sun heats the ground with nothing in the way; by night the heat escapes with nothing in the way. (4) Pick the option that mentions the missing cloud.
Parallel worked example for Support (model it, do not give the task answer): Why is a clear, still night in the UK more likely to bring frost than a cloudy one? Cloud traps heat near the ground like a blanket.; With no cloud, the heat radiates away and the ground cools fast.. Answer: Without cloud to trap it, the heat of the day escapes into space and the ground cools enough for frost to form..
Core — reveal the hint only on request: What is missing from the desert sky, both day and night, and what does that do to heat?
Stretch — no help; when finished: Explain how a large daily temperature range affects desert soils and the plants that grow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desert nights are cold.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does the temperature in a hot desert fall so far at night, sometimes below 0°C?
Support — work through the steps with the group: (1) Think of cloud as a blanket. On a cloudy night in the UK it stays mild; on a clear night it gets frosty. (2) Hot deserts sit under high pressure with sinking air, so there is almost never any cloud. (3) By day the sun heats the ground with nothing in the way; by night the heat escapes with nothing in the way. (4) Pick the option that mentions the missing cloud.
Parallel worked example for Support (model it, do not give the task answer): Why is a clear, still night in the UK more likely to bring frost than a cloudy one? Cloud traps heat near the ground like a blanket.; With no cloud, the heat radiates away and the ground cools fast.. Answer: Without cloud to trap it, the heat of the day escapes into space and the ground cools enough for frost to form..
Core — reveal the hint only on request: What is missing from the desert sky, both day and night, and what does that do to heat?
Stretch — no help; when finished: Explain how a large daily temperature range affects desert soils and the plants that grow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Adaptations and their jobs.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desert adaptation to the job it does.
Support — work through the steps with the group: (1) Sort the problems first: heat, drought, sand, being eaten. (2) Feet are about the ground: sand. (3) Ears are thin and full of blood vessels: heat. (4) A hump is a store, but of what? Not water. Spines replace leaves, so think about what leaves lose.
Parallel worked example for Support (model it, do not give the task answer): Match: two rows of eyelashes, thick fur on top of the body. Choices: shade from the fierce sun; keep wind-blown sand out of the eyes. Eyelashes protect the eyes from sand.; Fur on top acts as a sunshade.. Answer: Two rows of eyelashes: keep wind-blown sand out of the eyes. Thick fur on top of the body: shade from the fierce sun..
Core — reveal the hint only on request: Energy, sand, heat, water. Which word belongs with each body part?
Stretch — no help; when finished: A camel's hump stores fat, not water. Explain why storing fat is still a good adaptation to a place with very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Adaptations and their jobs.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desert adaptation to the job it does.
Support — work through the steps with the group: (1) Sort the problems first: heat, drought, sand, being eaten. (2) Feet are about the ground: sand. (3) Ears are thin and full of blood vessels: heat. (4) A hump is a store, but of what? Not water. Spines replace leaves, so think about what leaves lose.
Parallel worked example for Support (model it, do not give the task answer): Match: two rows of eyelashes, thick fur on top of the body. Choices: shade from the fierce sun; keep wind-blown sand out of the eyes. Eyelashes protect the eyes from sand.; Fur on top acts as a sunshade.. Answer: Two rows of eyelashes: keep wind-blown sand out of the eyes. Thick fur on top of the body: shade from the fierce sun..
Core — reveal the hint only on request: Energy, sand, heat, water. Which word belongs with each body part?
Stretch — no help; when finished: A camel's hump stores fat, not water. Explain why storing fat is still a good adaptation to a place with very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Your hot deserts lesson defined a hot desert as receiving less than 25 cm of precipitation a year. How many millimetres is 25 cm?
Answer: 250 mm. There are 10 mm in 1 cm, so 25 cm = 250 mm. Climate graphs use mm, so you need both forms.
Source of this question: gate item 1 re-asked (options rotated) — this chapter has no third quick-check module.
The ebook also holds task 3, "Explaining the desert belts",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Why desert nights are cold. Reveal the answer; pupils mark their own work in a different colour, then read the "why" together. Same destination for every lane, so one answer serves the whole class.
Answer: C   There is almost no cloud, so the heat of the day escapes quickly into space
Why: Hot deserts lie under high pressure, so the sky is almost always clear. By day the sun heats the ground fiercely; by night, with no cloud to trap it, that heat escapes quickly into space and the temperature plunges.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Adaptations and their jobs. Reveal the answer; pupils mark their own work in a different colour, then read the "why" together. Same destination for every lane, so one answer serves the whole class.
Answer: Fatty hump (camel)  →  B  Stores energy for times when food is short; Large flat feet (camel)  →  A  Spread the animal's weight so it does not sink into the sand; Large ears (fennec fox)  →  C  Give off heat to keep the animal cool; Spines instead of leaves (cactus)  →  D  Lose less water than leaves and protect the plant from herbivores
Why: The hump stores energy as fat; wide feet spread weight on sand; the fennec fox's large ears radiate heat; cactus spines lose little water and deter herbivores.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250 mm
Why: There are 10 mm in 1 cm, so 25 cm = 250 mm. Climate graphs use mm, so you need both forms.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Living World: Ecosystems · AQA 8035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Hot deserts: a land of extremes</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ECF0ED"/>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Locations and distribution of hot deserts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Characteristics of hot deserts and the adaptations of plants and animals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ecosystems work, why are the world's great biomes where they are, and how can people use rainforests and deserts without destroying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Your hot deserts lesson defined a hot desert as receiving less than 25 cm of precipitation a year. How many millimetres is 25 cm?</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mm</a:t>
            </a:r>
            <a:endParaRPr lang="en-US" sz="1800" dirty="0"/>
          </a:p>
        </p:txBody>
      </p:sp>
      <p:sp>
        <p:nvSpPr>
          <p:cNvPr id="12"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3" name="card-hex"/>
          <p:cNvSpPr/>
          <p:nvPr/>
        </p:nvSpPr>
        <p:spPr>
          <a:xfrm>
            <a:off x="3642284" y="1572768"/>
            <a:ext cx="640080" cy="554309"/>
          </a:xfrm>
          <a:prstGeom prst="hexagon">
            <a:avLst/>
          </a:prstGeom>
          <a:solidFill>
            <a:srgbClr val="3F6B4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Why are most hot deserts found at about 30° north and south of the equator?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sun is directly overhead at 30° all year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equator is too cold for deserts to form</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Warm ocean currents dry out the coasts at 30°</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Air that rose at the equator sinks there, forming high pressure with little cloud or rain</a:t>
            </a:r>
            <a:endParaRPr lang="en-US" sz="2000" dirty="0"/>
          </a:p>
        </p:txBody>
      </p:sp>
      <p:sp>
        <p:nvSpPr>
          <p:cNvPr id="17"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 plant such as a cactus that stores water in its thick, fleshy stems or leaves is called a ___.</a:t>
            </a:r>
            <a:endParaRPr lang="en-US" sz="2000" dirty="0"/>
          </a:p>
          <a:p>
            <a:pPr algn="l" indent="0" marL="0">
              <a:buNone/>
            </a:pPr>
            <a:r>
              <a:rPr lang="en-US" sz="2000" b="1" dirty="0">
                <a:solidFill>
                  <a:srgbClr val="3F6B4A"/>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succulent  ·  epiphyte  ·  decomposer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250 mm</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There are 10 mm in 1 cm, so 25 cm = 250 mm. Climate graphs use mm, so you need both forms.</a:t>
            </a:r>
            <a:endParaRPr lang="en-US" sz="1800" dirty="0"/>
          </a:p>
        </p:txBody>
      </p:sp>
      <p:sp>
        <p:nvSpPr>
          <p:cNvPr id="14"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5" name="card-hex"/>
          <p:cNvSpPr/>
          <p:nvPr/>
        </p:nvSpPr>
        <p:spPr>
          <a:xfrm>
            <a:off x="3642284" y="1572768"/>
            <a:ext cx="640080" cy="554309"/>
          </a:xfrm>
          <a:prstGeom prst="hexagon">
            <a:avLst/>
          </a:prstGeom>
          <a:solidFill>
            <a:srgbClr val="3F6B4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1295908"/>
          </a:xfrm>
          <a:prstGeom prst="roundRect">
            <a:avLst>
              <a:gd name="adj" fmla="val 8467"/>
            </a:avLst>
          </a:prstGeom>
          <a:solidFill>
            <a:srgbClr val="EDE1CA"/>
          </a:solidFill>
          <a:ln w="19050">
            <a:solidFill>
              <a:srgbClr val="B8862B"/>
            </a:solidFill>
            <a:prstDash val="solid"/>
          </a:ln>
        </p:spPr>
      </p:sp>
      <p:sp>
        <p:nvSpPr>
          <p:cNvPr id="19" name="answer"/>
          <p:cNvSpPr txBox="1"/>
          <p:nvPr/>
        </p:nvSpPr>
        <p:spPr>
          <a:xfrm>
            <a:off x="3733724"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Air that rose at the equator sinks there, forming high pressure with little cloud or rain</a:t>
            </a:r>
            <a:endParaRPr lang="en-US" sz="2200" dirty="0"/>
          </a:p>
        </p:txBody>
      </p:sp>
      <p:sp>
        <p:nvSpPr>
          <p:cNvPr id="20" name="card-body"/>
          <p:cNvSpPr txBox="1"/>
          <p:nvPr/>
        </p:nvSpPr>
        <p:spPr>
          <a:xfrm>
            <a:off x="3642284"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are most hot deserts found at about 30° north and south of the equator?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Air heated at the equator rises, moves towards the poles and sinks at about 30°. Sinking air gives high pressure, clear skies and almost no rain.</a:t>
            </a:r>
            <a:endParaRPr lang="en-US" sz="2000" dirty="0"/>
          </a:p>
        </p:txBody>
      </p:sp>
      <p:sp>
        <p:nvSpPr>
          <p:cNvPr id="21"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succulent</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Succulent is the keyword your lessons give for desert plants that store water in thick fleshy leaves or stems.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arid</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very dry, with little or no rain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Sahara has an arid climate: some months have no rain at all.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high pressure</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sinking air that gives clear skies and no rain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High pressure over the desert keeps the sky cloudless.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succulent</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plant that stores water in thick, fleshy leaves or stems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cactus is a succulent that swells up after rain.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endemic</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found naturally in one place and nowhere else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addax is an endemic desert antelope that is now at risk.</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biodiversity</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range of plants and animals living in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Desert biodiversity is clustered around rare sources of water.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nocturnal</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active at night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desert animals are nocturnal, to avoid the daytime heat.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hot desert is a place of extreme heat and extreme dryness.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gets less than 250 mm of rain a year, and the rain is unreliable.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Days can reach 50 degrees, but nights can fall below freezing.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hot deserts lie about 30 degrees north and south of the equator.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Air that rose at the equator sinks there, so the skies stay clear and dry.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Sahara in North Africa is the largest hot desert.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Desert soil is sandy or stony, with little goodness in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Even so, plants and animals live there.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cactus stores water in its thick stem and has spines instead of leaves.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camel has wide feet for the sand and a fatty hump for energy.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fennec fox has big ears to lose heat.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desert animals come out only at night.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Desert wildlife is under threat from farming, water use and climate change.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hot deserts are, and why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Explain the location in three moves: rising air at the equator, sinking air at 30°, high pressure with no cloud or rain. Then add rain shadows and cold currents for extra depth.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Hot deserts are arid areas of land with poor, sandy soil, typically receiving less than 25 cm (250 mm) of precipitation a year.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30°? Air that was heated at the equator rises, cools and spreads out towards the poles high in the atmosphere.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Sahara is the largest hot desert in the world.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Climate and soils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average must land between the smallest and largest value you added. If it does not, you have slipped.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Desert climates swing further between day and night than any other climate you study.</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Desert soils are sandy or stony, with little organic matter because there is so little vegetation to rot into them.</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components of a desert ecosystem are tightly interdependent. The climate (abiotic) is dry, dries out the soil and decides which plants and animals can survive the heat.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Climate and soils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CF0ED"/>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On the Sahara climate graph the winter months of December, January and February have average temperatures of 14°C, 12°C and 14°C. What is the average winter temperature?</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95AE9B"/>
            </a:solidFill>
            <a:prstDash val="solid"/>
          </a:ln>
        </p:spPr>
      </p:sp>
      <p:sp>
        <p:nvSpPr>
          <p:cNvPr id="10" name="step-hex"/>
          <p:cNvSpPr/>
          <p:nvPr/>
        </p:nvSpPr>
        <p:spPr>
          <a:xfrm>
            <a:off x="685800" y="2588870"/>
            <a:ext cx="457200" cy="395935"/>
          </a:xfrm>
          <a:prstGeom prst="hexagon">
            <a:avLst/>
          </a:prstGeom>
          <a:solidFill>
            <a:srgbClr val="3F6B4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three monthly figures: 14 + 12 + 14 = 40.</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95AE9B"/>
            </a:solidFill>
            <a:prstDash val="solid"/>
          </a:ln>
        </p:spPr>
      </p:sp>
      <p:sp>
        <p:nvSpPr>
          <p:cNvPr id="14" name="step-hex"/>
          <p:cNvSpPr/>
          <p:nvPr/>
        </p:nvSpPr>
        <p:spPr>
          <a:xfrm>
            <a:off x="685800" y="3230880"/>
            <a:ext cx="457200" cy="395935"/>
          </a:xfrm>
          <a:prstGeom prst="hexagon">
            <a:avLst/>
          </a:prstGeom>
          <a:solidFill>
            <a:srgbClr val="3F6B4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Divide by the number of months: 40 ÷ 3 = 13.333…</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95AE9B"/>
            </a:solidFill>
            <a:prstDash val="solid"/>
          </a:ln>
        </p:spPr>
      </p:sp>
      <p:sp>
        <p:nvSpPr>
          <p:cNvPr id="18" name="step-hex"/>
          <p:cNvSpPr/>
          <p:nvPr/>
        </p:nvSpPr>
        <p:spPr>
          <a:xfrm>
            <a:off x="685800" y="3872890"/>
            <a:ext cx="457200" cy="395935"/>
          </a:xfrm>
          <a:prstGeom prst="hexagon">
            <a:avLst/>
          </a:prstGeom>
          <a:solidFill>
            <a:srgbClr val="3F6B4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Round sensibly and give the unit: about 13.3°C.</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95AE9B"/>
            </a:solidFill>
            <a:prstDash val="solid"/>
          </a:ln>
        </p:spPr>
      </p:sp>
      <p:sp>
        <p:nvSpPr>
          <p:cNvPr id="22" name="step-hex"/>
          <p:cNvSpPr/>
          <p:nvPr/>
        </p:nvSpPr>
        <p:spPr>
          <a:xfrm>
            <a:off x="685800" y="4646981"/>
            <a:ext cx="457200" cy="395935"/>
          </a:xfrm>
          <a:prstGeom prst="hexagon">
            <a:avLst/>
          </a:prstGeom>
          <a:solidFill>
            <a:srgbClr val="3F6B4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the answer must sit between the lowest (12) and highest (14) of the three figures, and it does.</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About 13.3°C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Biodiversity and its threats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Endemic means found only here. Lose the habitat and the species has nowhere else on Earth to go.</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desert looks empty until you learn where to look.</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makes it fragile. Human activities such as farming, irrigation and pumping out groundwater threaten those water sources.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What is being done? Protected areas are being created, including wildlife corridors that link them, and game reserves protect animals from hunting.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Adaptations: surviving heat and drought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Heat, drought, sand. Sort every adaptation under one of those three headings and you will never run out of things to explain.</a:t>
            </a:r>
            <a:endParaRPr lang="en-US" sz="1800" dirty="0"/>
          </a:p>
        </p:txBody>
      </p:sp>
      <p:sp>
        <p:nvSpPr>
          <p:cNvPr id="11" name="bullet-card"/>
          <p:cNvSpPr/>
          <p:nvPr/>
        </p:nvSpPr>
        <p:spPr>
          <a:xfrm>
            <a:off x="548640" y="1389888"/>
            <a:ext cx="11094415" cy="598085"/>
          </a:xfrm>
          <a:prstGeom prst="roundRect">
            <a:avLst>
              <a:gd name="adj" fmla="val 12231"/>
            </a:avLst>
          </a:prstGeom>
          <a:solidFill>
            <a:srgbClr val="F0F3F1"/>
          </a:solidFill>
          <a:ln/>
        </p:spPr>
      </p:sp>
      <p:sp>
        <p:nvSpPr>
          <p:cNvPr id="12" name="bullet-hex"/>
          <p:cNvSpPr/>
          <p:nvPr/>
        </p:nvSpPr>
        <p:spPr>
          <a:xfrm>
            <a:off x="676656" y="1522638"/>
            <a:ext cx="384048" cy="332586"/>
          </a:xfrm>
          <a:prstGeom prst="hexagon">
            <a:avLst/>
          </a:prstGeom>
          <a:solidFill>
            <a:srgbClr val="3F6B4A"/>
          </a:solidFill>
          <a:ln/>
        </p:spPr>
      </p:sp>
      <p:sp>
        <p:nvSpPr>
          <p:cNvPr id="13" name="bullet"/>
          <p:cNvSpPr txBox="1"/>
          <p:nvPr/>
        </p:nvSpPr>
        <p:spPr>
          <a:xfrm>
            <a:off x="1143000" y="1389888"/>
            <a:ext cx="10408615" cy="59808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Plants have adapted to overcome extreme heat and the lack of water.</a:t>
            </a:r>
            <a:endParaRPr lang="en-US" sz="2000" dirty="0"/>
          </a:p>
        </p:txBody>
      </p:sp>
      <p:sp>
        <p:nvSpPr>
          <p:cNvPr id="14" name="bullet-card"/>
          <p:cNvSpPr/>
          <p:nvPr/>
        </p:nvSpPr>
        <p:spPr>
          <a:xfrm>
            <a:off x="548640" y="2134277"/>
            <a:ext cx="11094415" cy="1707557"/>
          </a:xfrm>
          <a:prstGeom prst="roundRect">
            <a:avLst>
              <a:gd name="adj" fmla="val 4284"/>
            </a:avLst>
          </a:prstGeom>
          <a:solidFill>
            <a:srgbClr val="F0F3F1"/>
          </a:solidFill>
          <a:ln/>
        </p:spPr>
      </p:sp>
      <p:sp>
        <p:nvSpPr>
          <p:cNvPr id="15" name="bullet-hex"/>
          <p:cNvSpPr/>
          <p:nvPr/>
        </p:nvSpPr>
        <p:spPr>
          <a:xfrm>
            <a:off x="676656" y="2821763"/>
            <a:ext cx="384048" cy="332586"/>
          </a:xfrm>
          <a:prstGeom prst="hexagon">
            <a:avLst/>
          </a:prstGeom>
          <a:solidFill>
            <a:srgbClr val="B8862B"/>
          </a:solidFill>
          <a:ln/>
        </p:spPr>
      </p:sp>
      <p:sp>
        <p:nvSpPr>
          <p:cNvPr id="16" name="bullet"/>
          <p:cNvSpPr txBox="1"/>
          <p:nvPr/>
        </p:nvSpPr>
        <p:spPr>
          <a:xfrm>
            <a:off x="1143000" y="2134277"/>
            <a:ext cx="10408615" cy="170755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Animals are adapted too. The camel has thick fur on top of its body for shade and thin fur elsewhere to lose heat; large, flat feet that spread its weight on sand; a fatty hump that provides energy when food is short; slit-like nostrils and two rows of eyelashes to keep out wind-blown sand; and it loses very little water through urine or sweat, so it can go a long time without drinking.</a:t>
            </a:r>
            <a:endParaRPr lang="en-US" sz="2000" dirty="0"/>
          </a:p>
        </p:txBody>
      </p:sp>
      <p:sp>
        <p:nvSpPr>
          <p:cNvPr id="17" name="bullet-card"/>
          <p:cNvSpPr/>
          <p:nvPr/>
        </p:nvSpPr>
        <p:spPr>
          <a:xfrm>
            <a:off x="548640" y="3988139"/>
            <a:ext cx="11094415" cy="1087797"/>
          </a:xfrm>
          <a:prstGeom prst="roundRect">
            <a:avLst>
              <a:gd name="adj" fmla="val 6725"/>
            </a:avLst>
          </a:prstGeom>
          <a:solidFill>
            <a:srgbClr val="F0F3F1"/>
          </a:solidFill>
          <a:ln/>
        </p:spPr>
      </p:sp>
      <p:sp>
        <p:nvSpPr>
          <p:cNvPr id="18" name="bullet-hex"/>
          <p:cNvSpPr/>
          <p:nvPr/>
        </p:nvSpPr>
        <p:spPr>
          <a:xfrm>
            <a:off x="676656" y="4365745"/>
            <a:ext cx="384048" cy="332586"/>
          </a:xfrm>
          <a:prstGeom prst="hexagon">
            <a:avLst/>
          </a:prstGeom>
          <a:solidFill>
            <a:srgbClr val="3F6B4A"/>
          </a:solidFill>
          <a:ln/>
        </p:spPr>
      </p:sp>
      <p:sp>
        <p:nvSpPr>
          <p:cNvPr id="19" name="bullet"/>
          <p:cNvSpPr txBox="1"/>
          <p:nvPr/>
        </p:nvSpPr>
        <p:spPr>
          <a:xfrm>
            <a:off x="1143000" y="3988139"/>
            <a:ext cx="10408615" cy="108779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 with the rainforest, an explain answer pairs each feature with the problem it solves: wide feet because of soft sand; big ears because of heat; night-time activity because of the daytime sun; stored water because rain is rare.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Why desert nights are cold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Why does the temperature in a hot desert fall so far at night, sometimes below 0°C?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Cold air sinks down from the mountains every night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high pressure disappears at night and lets rain 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There is almost no cloud, so the heat of the day escapes quickly into space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sand freezes because it holds so much water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Why desert nights are cold</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Why desert nights are cold</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of cloud as a blanket. On a cloudy night in the UK it stays mild; on a clear night it gets frosty.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Hot deserts sit under high pressure with sinking air, so there is almost never any cloud.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By day the sun heats the ground with nothing in the way; by night the heat escapes with nothing in the way.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that mentions the missing cloud.</a:t>
            </a:r>
            <a:endParaRPr lang="en-US" sz="1800" dirty="0"/>
          </a:p>
        </p:txBody>
      </p:sp>
      <p:sp>
        <p:nvSpPr>
          <p:cNvPr id="17" name="col-Core"/>
          <p:cNvSpPr/>
          <p:nvPr/>
        </p:nvSpPr>
        <p:spPr>
          <a:xfrm>
            <a:off x="6425403" y="2395728"/>
            <a:ext cx="2471666" cy="3749040"/>
          </a:xfrm>
          <a:prstGeom prst="roundRect">
            <a:avLst>
              <a:gd name="adj" fmla="val 2220"/>
            </a:avLst>
          </a:prstGeom>
          <a:solidFill>
            <a:srgbClr val="D5DE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What is missing from the desert sky, both day and night, and what does that do to heat?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large daily temperature range affects desert soils and the plants that grow 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Adaptations and their jobs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desert adaptation to the job it does.</a:t>
            </a:r>
            <a:endParaRPr lang="en-US" sz="2400" dirty="0"/>
          </a:p>
        </p:txBody>
      </p:sp>
      <p:sp>
        <p:nvSpPr>
          <p:cNvPr id="11" name="match-card"/>
          <p:cNvSpPr/>
          <p:nvPr/>
        </p:nvSpPr>
        <p:spPr>
          <a:xfrm>
            <a:off x="777240" y="2468331"/>
            <a:ext cx="3694120" cy="975243"/>
          </a:xfrm>
          <a:prstGeom prst="roundRect">
            <a:avLst>
              <a:gd name="adj" fmla="val 7501"/>
            </a:avLst>
          </a:prstGeom>
          <a:solidFill>
            <a:srgbClr val="F0F3F1"/>
          </a:solidFill>
          <a:ln/>
        </p:spPr>
      </p:sp>
      <p:sp>
        <p:nvSpPr>
          <p:cNvPr id="12" name="match-hex"/>
          <p:cNvSpPr/>
          <p:nvPr/>
        </p:nvSpPr>
        <p:spPr>
          <a:xfrm>
            <a:off x="850392" y="2789660"/>
            <a:ext cx="384048" cy="332586"/>
          </a:xfrm>
          <a:prstGeom prst="hexagon">
            <a:avLst/>
          </a:prstGeom>
          <a:solidFill>
            <a:srgbClr val="3F6B4A"/>
          </a:solidFill>
          <a:ln/>
        </p:spPr>
      </p:sp>
      <p:sp>
        <p:nvSpPr>
          <p:cNvPr id="13" name="match-hex-label"/>
          <p:cNvSpPr txBox="1"/>
          <p:nvPr/>
        </p:nvSpPr>
        <p:spPr>
          <a:xfrm>
            <a:off x="850392"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099760"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Fatty hump (camel)</a:t>
            </a:r>
            <a:endParaRPr lang="en-US" sz="2200" dirty="0"/>
          </a:p>
        </p:txBody>
      </p:sp>
      <p:sp>
        <p:nvSpPr>
          <p:cNvPr id="15" name="match-card"/>
          <p:cNvSpPr/>
          <p:nvPr/>
        </p:nvSpPr>
        <p:spPr>
          <a:xfrm>
            <a:off x="4837120" y="2468331"/>
            <a:ext cx="6577335" cy="975243"/>
          </a:xfrm>
          <a:prstGeom prst="roundRect">
            <a:avLst>
              <a:gd name="adj" fmla="val 7501"/>
            </a:avLst>
          </a:prstGeom>
          <a:solidFill>
            <a:srgbClr val="F6F0E6"/>
          </a:solidFill>
          <a:ln/>
        </p:spPr>
      </p:sp>
      <p:sp>
        <p:nvSpPr>
          <p:cNvPr id="16" name="match-hex"/>
          <p:cNvSpPr/>
          <p:nvPr/>
        </p:nvSpPr>
        <p:spPr>
          <a:xfrm>
            <a:off x="4910272" y="2789660"/>
            <a:ext cx="384048" cy="332586"/>
          </a:xfrm>
          <a:prstGeom prst="hexagon">
            <a:avLst/>
          </a:prstGeom>
          <a:solidFill>
            <a:srgbClr val="B8862B"/>
          </a:solidFill>
          <a:ln/>
        </p:spPr>
      </p:sp>
      <p:sp>
        <p:nvSpPr>
          <p:cNvPr id="17" name="match-hex-label"/>
          <p:cNvSpPr txBox="1"/>
          <p:nvPr/>
        </p:nvSpPr>
        <p:spPr>
          <a:xfrm>
            <a:off x="4910272"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358328" y="2468331"/>
            <a:ext cx="5982975"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Spread the animal's weight so it does not sink into the sand</a:t>
            </a:r>
            <a:endParaRPr lang="en-US" sz="2200" dirty="0"/>
          </a:p>
        </p:txBody>
      </p:sp>
      <p:sp>
        <p:nvSpPr>
          <p:cNvPr id="19" name="match-card"/>
          <p:cNvSpPr/>
          <p:nvPr/>
        </p:nvSpPr>
        <p:spPr>
          <a:xfrm>
            <a:off x="777240" y="3535015"/>
            <a:ext cx="3694120" cy="634375"/>
          </a:xfrm>
          <a:prstGeom prst="roundRect">
            <a:avLst>
              <a:gd name="adj" fmla="val 11531"/>
            </a:avLst>
          </a:prstGeom>
          <a:solidFill>
            <a:srgbClr val="F0F3F1"/>
          </a:solidFill>
          <a:ln/>
        </p:spPr>
      </p:sp>
      <p:sp>
        <p:nvSpPr>
          <p:cNvPr id="20" name="match-hex"/>
          <p:cNvSpPr/>
          <p:nvPr/>
        </p:nvSpPr>
        <p:spPr>
          <a:xfrm>
            <a:off x="850392" y="3685909"/>
            <a:ext cx="384048" cy="332586"/>
          </a:xfrm>
          <a:prstGeom prst="hexagon">
            <a:avLst/>
          </a:prstGeom>
          <a:solidFill>
            <a:srgbClr val="3F6B4A"/>
          </a:solidFill>
          <a:ln/>
        </p:spPr>
      </p:sp>
      <p:sp>
        <p:nvSpPr>
          <p:cNvPr id="21" name="match-hex-label"/>
          <p:cNvSpPr txBox="1"/>
          <p:nvPr/>
        </p:nvSpPr>
        <p:spPr>
          <a:xfrm>
            <a:off x="850392" y="36859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35015"/>
            <a:ext cx="3099760"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Large flat feet (camel)</a:t>
            </a:r>
            <a:endParaRPr lang="en-US" sz="2200" dirty="0"/>
          </a:p>
        </p:txBody>
      </p:sp>
      <p:sp>
        <p:nvSpPr>
          <p:cNvPr id="23" name="match-card"/>
          <p:cNvSpPr/>
          <p:nvPr/>
        </p:nvSpPr>
        <p:spPr>
          <a:xfrm>
            <a:off x="4837120" y="3535015"/>
            <a:ext cx="6577335" cy="634375"/>
          </a:xfrm>
          <a:prstGeom prst="roundRect">
            <a:avLst>
              <a:gd name="adj" fmla="val 11531"/>
            </a:avLst>
          </a:prstGeom>
          <a:solidFill>
            <a:srgbClr val="F6F0E6"/>
          </a:solidFill>
          <a:ln/>
        </p:spPr>
      </p:sp>
      <p:sp>
        <p:nvSpPr>
          <p:cNvPr id="24" name="match-hex"/>
          <p:cNvSpPr/>
          <p:nvPr/>
        </p:nvSpPr>
        <p:spPr>
          <a:xfrm>
            <a:off x="4910272" y="3685909"/>
            <a:ext cx="384048" cy="332586"/>
          </a:xfrm>
          <a:prstGeom prst="hexagon">
            <a:avLst/>
          </a:prstGeom>
          <a:solidFill>
            <a:srgbClr val="B8862B"/>
          </a:solidFill>
          <a:ln/>
        </p:spPr>
      </p:sp>
      <p:sp>
        <p:nvSpPr>
          <p:cNvPr id="25" name="match-hex-label"/>
          <p:cNvSpPr txBox="1"/>
          <p:nvPr/>
        </p:nvSpPr>
        <p:spPr>
          <a:xfrm>
            <a:off x="4910272" y="36859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358328" y="3535015"/>
            <a:ext cx="5982975"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Stores energy for times when food is short</a:t>
            </a:r>
            <a:endParaRPr lang="en-US" sz="2200" dirty="0"/>
          </a:p>
        </p:txBody>
      </p:sp>
      <p:sp>
        <p:nvSpPr>
          <p:cNvPr id="27" name="match-card"/>
          <p:cNvSpPr/>
          <p:nvPr/>
        </p:nvSpPr>
        <p:spPr>
          <a:xfrm>
            <a:off x="777240" y="4260830"/>
            <a:ext cx="3694120" cy="634375"/>
          </a:xfrm>
          <a:prstGeom prst="roundRect">
            <a:avLst>
              <a:gd name="adj" fmla="val 11531"/>
            </a:avLst>
          </a:prstGeom>
          <a:solidFill>
            <a:srgbClr val="F0F3F1"/>
          </a:solidFill>
          <a:ln/>
        </p:spPr>
      </p:sp>
      <p:sp>
        <p:nvSpPr>
          <p:cNvPr id="28" name="match-hex"/>
          <p:cNvSpPr/>
          <p:nvPr/>
        </p:nvSpPr>
        <p:spPr>
          <a:xfrm>
            <a:off x="850392" y="4411724"/>
            <a:ext cx="384048" cy="332586"/>
          </a:xfrm>
          <a:prstGeom prst="hexagon">
            <a:avLst/>
          </a:prstGeom>
          <a:solidFill>
            <a:srgbClr val="3F6B4A"/>
          </a:solidFill>
          <a:ln/>
        </p:spPr>
      </p:sp>
      <p:sp>
        <p:nvSpPr>
          <p:cNvPr id="29" name="match-hex-label"/>
          <p:cNvSpPr txBox="1"/>
          <p:nvPr/>
        </p:nvSpPr>
        <p:spPr>
          <a:xfrm>
            <a:off x="850392"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3099760"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Large ears (fennec fox)</a:t>
            </a:r>
            <a:endParaRPr lang="en-US" sz="2200" dirty="0"/>
          </a:p>
        </p:txBody>
      </p:sp>
      <p:sp>
        <p:nvSpPr>
          <p:cNvPr id="31" name="match-card"/>
          <p:cNvSpPr/>
          <p:nvPr/>
        </p:nvSpPr>
        <p:spPr>
          <a:xfrm>
            <a:off x="4837120" y="4260830"/>
            <a:ext cx="6577335" cy="634375"/>
          </a:xfrm>
          <a:prstGeom prst="roundRect">
            <a:avLst>
              <a:gd name="adj" fmla="val 11531"/>
            </a:avLst>
          </a:prstGeom>
          <a:solidFill>
            <a:srgbClr val="F6F0E6"/>
          </a:solidFill>
          <a:ln/>
        </p:spPr>
      </p:sp>
      <p:sp>
        <p:nvSpPr>
          <p:cNvPr id="32" name="match-hex"/>
          <p:cNvSpPr/>
          <p:nvPr/>
        </p:nvSpPr>
        <p:spPr>
          <a:xfrm>
            <a:off x="4910272" y="4411724"/>
            <a:ext cx="384048" cy="332586"/>
          </a:xfrm>
          <a:prstGeom prst="hexagon">
            <a:avLst/>
          </a:prstGeom>
          <a:solidFill>
            <a:srgbClr val="B8862B"/>
          </a:solidFill>
          <a:ln/>
        </p:spPr>
      </p:sp>
      <p:sp>
        <p:nvSpPr>
          <p:cNvPr id="33" name="match-hex-label"/>
          <p:cNvSpPr txBox="1"/>
          <p:nvPr/>
        </p:nvSpPr>
        <p:spPr>
          <a:xfrm>
            <a:off x="4910272"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358328" y="4260830"/>
            <a:ext cx="5982975"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Give off heat to keep the animal cool</a:t>
            </a:r>
            <a:endParaRPr lang="en-US" sz="2200" dirty="0"/>
          </a:p>
        </p:txBody>
      </p:sp>
      <p:sp>
        <p:nvSpPr>
          <p:cNvPr id="35" name="match-card"/>
          <p:cNvSpPr/>
          <p:nvPr/>
        </p:nvSpPr>
        <p:spPr>
          <a:xfrm>
            <a:off x="777240" y="4986645"/>
            <a:ext cx="3694120" cy="975243"/>
          </a:xfrm>
          <a:prstGeom prst="roundRect">
            <a:avLst>
              <a:gd name="adj" fmla="val 7501"/>
            </a:avLst>
          </a:prstGeom>
          <a:solidFill>
            <a:srgbClr val="F0F3F1"/>
          </a:solidFill>
          <a:ln/>
        </p:spPr>
      </p:sp>
      <p:sp>
        <p:nvSpPr>
          <p:cNvPr id="36" name="match-hex"/>
          <p:cNvSpPr/>
          <p:nvPr/>
        </p:nvSpPr>
        <p:spPr>
          <a:xfrm>
            <a:off x="850392" y="5307974"/>
            <a:ext cx="384048" cy="332586"/>
          </a:xfrm>
          <a:prstGeom prst="hexagon">
            <a:avLst/>
          </a:prstGeom>
          <a:solidFill>
            <a:srgbClr val="3F6B4A"/>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3099760"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Spines instead of leaves (cactus)</a:t>
            </a:r>
            <a:endParaRPr lang="en-US" sz="2200" dirty="0"/>
          </a:p>
        </p:txBody>
      </p:sp>
      <p:sp>
        <p:nvSpPr>
          <p:cNvPr id="39" name="match-card"/>
          <p:cNvSpPr/>
          <p:nvPr/>
        </p:nvSpPr>
        <p:spPr>
          <a:xfrm>
            <a:off x="4837120" y="4986645"/>
            <a:ext cx="6577335" cy="975243"/>
          </a:xfrm>
          <a:prstGeom prst="roundRect">
            <a:avLst>
              <a:gd name="adj" fmla="val 7501"/>
            </a:avLst>
          </a:prstGeom>
          <a:solidFill>
            <a:srgbClr val="F6F0E6"/>
          </a:solidFill>
          <a:ln/>
        </p:spPr>
      </p:sp>
      <p:sp>
        <p:nvSpPr>
          <p:cNvPr id="40" name="match-hex"/>
          <p:cNvSpPr/>
          <p:nvPr/>
        </p:nvSpPr>
        <p:spPr>
          <a:xfrm>
            <a:off x="4910272" y="5307974"/>
            <a:ext cx="384048" cy="332586"/>
          </a:xfrm>
          <a:prstGeom prst="hexagon">
            <a:avLst/>
          </a:prstGeom>
          <a:solidFill>
            <a:srgbClr val="B8862B"/>
          </a:solidFill>
          <a:ln/>
        </p:spPr>
      </p:sp>
      <p:sp>
        <p:nvSpPr>
          <p:cNvPr id="41" name="match-hex-label"/>
          <p:cNvSpPr txBox="1"/>
          <p:nvPr/>
        </p:nvSpPr>
        <p:spPr>
          <a:xfrm>
            <a:off x="491027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358328" y="4986645"/>
            <a:ext cx="5982975"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Lose less water than leaves and protect the plant from herbivores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Adaptations and their jobs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desert adaptation to the job it does.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problems first: heat, drought, sand, being eaten.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Feet are about the ground: sand.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Ears are thin and full of blood vessels: heat.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hump is a store, but of what? Not water. Spines replace leaves, so think about what leaves lose.</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Energy, sand, heat, water. Which word belongs with each body part?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camel's hump stores fat, not water. Explain why storing fat is still a good adaptation to a place with very little water.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Your hot deserts lesson defined a hot desert as receiving less than 25 cm of precipitation a year. How many millimetres is 25 cm?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Why desert nights are cold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does the temperature in a hot desert fall so far at night, sometimes below 0°C?</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There is almost no cloud, so the heat of the day escapes quickly into space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Hot deserts lie under high pressure, so the sky is almost always clear. By day the sun heats the ground fiercely; by night, with no cloud to trap it, that heat escapes quickly into space and the temperature plunges.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Adaptations and their jobs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Fatty hump (camel)  →  B  Stores energy for times when food is short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Large flat feet (camel)  →  A  Spread the animal's weight so it does not sink into the sand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Large ears (fennec fox)  →  C  Give off heat to keep the animal cool</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Spines instead of leaves (cactus)  →  D  Lose less water than leaves and protect the plant from herbivores</a:t>
            </a:r>
            <a:endParaRPr lang="en-US" sz="22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hump stores energy as fat; wide feet spread weight on sand; the fennec fox's large ears radiate heat; cactus spines lose little water and deter herbivores.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Your hot deserts lesson defined a hot desert as receiving less than 25 cm of precipitation a year. How many millimetres is 25 cm?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250 mm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10 mm in 1 cm, so 25 cm = 250 mm. Climate graphs use mm, so you need both forms.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Living World: Ecosystems · Chapter 5: Hot deserts: a land of extremes</dc:title>
  <dc:subject>Geography · Year 9</dc:subject>
  <dc:creator>Dr Vitor Merissi de Carvalho</dc:creator>
  <cp:lastModifiedBy>Dr Vitor Merissi de Carvalho</cp:lastModifiedBy>
  <cp:revision>1</cp:revision>
  <dcterms:created xsi:type="dcterms:W3CDTF">2026-10-19T16:22:53Z</dcterms:created>
  <dcterms:modified xsi:type="dcterms:W3CDTF">2026-10-19T16:22:53Z</dcterms:modified>
</cp:coreProperties>
</file>