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9d6f2c-5a34-af30-2982-d8582891e8a4}">
          <p14:sldIdLst>
            <p14:sldId id="256"/>
          </p14:sldIdLst>
        </p14:section>
        <p14:section name="Gate" id="{57a58df6-c941-cfaf-141d-1fec33d5435b}">
          <p14:sldIdLst>
            <p14:sldId id="257"/>
            <p14:sldId id="258"/>
          </p14:sldIdLst>
        </p14:section>
        <p14:section name="Pre-teach" id="{94b68a87-2b77-772d-5e8f-34abbcecefce}">
          <p14:sldIdLst>
            <p14:sldId id="259"/>
            <p14:sldId id="260"/>
          </p14:sldIdLst>
        </p14:section>
        <p14:section name="Read-along" id="{e1421300-3416-d678-c1e0-a0e30daf63a2}">
          <p14:sldIdLst>
            <p14:sldId id="261"/>
            <p14:sldId id="262"/>
          </p14:sldIdLst>
        </p14:section>
        <p14:section name="Teach" id="{df985d09-8ad2-aba1-a818-e4add47dd80c}">
          <p14:sldIdLst>
            <p14:sldId id="263"/>
            <p14:sldId id="264"/>
            <p14:sldId id="265"/>
            <p14:sldId id="266"/>
            <p14:sldId id="267"/>
          </p14:sldIdLst>
        </p14:section>
        <p14:section name="Routes" id="{3577cb44-c9a2-f879-ac6b-ab28c90aeae1}">
          <p14:sldIdLst>
            <p14:sldId id="268"/>
            <p14:sldId id="269"/>
            <p14:sldId id="270"/>
            <p14:sldId id="271"/>
          </p14:sldIdLst>
        </p14:section>
        <p14:section name="Close" id="{c407c9ba-7b34-913d-8c1c-e7272003072f}">
          <p14:sldIdLst>
            <p14:sldId id="272"/>
          </p14:sldIdLst>
        </p14:section>
        <p14:section name="Answers" id="{28ed352b-bfe0-2e7b-0b5e-d92271a8894f}">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Effects, responses and reducing the risk. How to sort a storm's effects into primary and secondary, how the Saffir-Simpson scale grades a storm, what Hurricane Katrina shows about a storm in a HIC, and how monitoring, prediction, protection and planning cut the damage.
This deck covers the department's lessons: 5 (Hurricane Katrina: a HIC tropical storm case study: How did Hurricane Katrina form and strengthen as it crossed the Gulf of Mexico in August 2005?); 6 (Effects of tropical storms and the Saffir-Simpson scale: What are the primary and secondary effects of a tropical storm, and how does the Saffir-Simpson scale measure its strength?); 9 (Reducing the effects of tropical storms: How do monitoring, prediction, protection and planning reduce the effects of tropical storms?).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bridge is swept away by the storm surge during a tropical storm. Which kind of effect is this?  →  D   A primary effect
2. A tropical storm's sustained winds rise from 150 km/h to 210 km/h. By how many categories does it rise on the Saffir-Simpson scale?  →  3 categories
3. Cyclone shelters in Bangladesh and houses built on stilts are examples of ___.  →  protection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primary effect. The storm surge is part of the hazard itself, and the bridge was destroyed at once, so this is a primary effect.
2. 3 categories. 150 km/h is category 1 (119 to 153); 210 km/h is category 4 (209 to 251). From 1 to 4 is a rise of 3 categories.
3. protection. Protection means building structures that keep people safe when the storm arrives. Shelters and stilts are protection.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primary effect: something that happens straight away because of the hazard itself. Example: "A roof torn off by the wind is a primary effect."
• secondary effect: something that happens later because of a primary effect. Example: "Disease spreading from dirty flood water is a secondary effect."
• immediate response: help given straight after the hazard. Example: "Search and rescue is an immediate response."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long-term response: help given over the months and years after the hazard. Example: "Rebuilding schools and roads is a long-term response."
• Saffir-Simpson scale: the scale from 1 to 5 that grades a tropical storm by its wind speed. Example: "A category 5 storm on the Saffir-Simpson scale causes catastrophic damage."
• storm surge: a rise in sea level pushed onto the coast by a storm. Example: "The storm surge flooded the streets of the town."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tropical storm does damage in two stages.
2. Primary effects happen at once, caused by the wind, rain and storm surge.
3. Secondary effects come later, caused by the primary effects.
4. A flooded road is primary; the shop that closes because no one can reach it is secondary.
5. The Saffir-Simpson scale grades a storm from category 1 to category 5.
6. It uses the speed of the wind.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Category 1 starts at 119 kilometres per hour.
8. Category 5 is above 252 kilometres per hour.
9. After a storm, people respond.
10. Immediate responses save lives in the first hours and days.
11. Long-term responses rebuild homes and roads over months and years.
12. Before a storm, monitoring, prediction, protection and planning can reduce the damage.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Primary and secondary effects. Say it in your own words, then check understanding with a quick question: ask a pupil from the pre-teach group first, since they met these words and ideas before the lesson. Pupils try to recall before you re-explain.
The effects of a tropical storm can be primary or secondary. Primary effects happen immediately, when the hazard occurs: they are caused directly by the wind, the torrential rain and the storm surge. Buildings lose their roofs or collapse, trees are uprooted, power cables come down, people and livestock are injured or killed by flying debris, and low-lying coasts are flooded by the surge. Secondary effects happen afterwards and are caused by the primary effects. Flooded, contaminated water spreads disease; destroyed crops lead to food shortages and higher prices; blocked roads stop aid arriving; power cuts shut factories and shops so people lose their jobs and income.
The test is always the same: did the storm itself do this, or did something the storm did cause it? A fallen power line is primary. The food that rots in a fridge with no electricity is secondary. In an exam you are expected to classify effects and, in a nine-mark answer, to weigh up which mattered more for people and for the environment.
Geographers also sort effects into social (on people and their lives), economic (on money, jobs and property) and environmental (on land, water and wildlife). An effect can be both primary and economic, or both secondary and social: the two ways of sorting cut across each other.
Tip: Primary or secondary asks WHEN and WHY an effect happened. Social, economic or environmental asks WHO or WHAT it happened to. Use both in a nine-mark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Saffir-Simpson scale. Say it in your own words, then check understanding with a quick question: ask a pupil from the pre-teach group first, since they met these words and ideas before the lesson. Pupils try to recall before you re-explain.
The Saffir-Simpson scale measures the strength of a tropical storm from its sustained wind speed and places it in one of five categories. Category 1, with winds of 119 to 153 km/h, does low damage: roof coverings partly removed, mobile homes and carports destroyed, branches broken, power cables damaged. Category 2, 154 to 177 km/h, does moderate damage: flimsy structures destroyed and roofs ripped from poorly built houses. Category 3, 178 to 208 km/h, does extensive damage: older buildings collapse, windows are blown out, trees are uprooted.
Category 4, 209 to 251 km/h, does extreme damage: well-built homes damaged and poorly built ones destroyed, signs and fences ripped out, significant power cuts and water shortages. Category 5, with winds above 252 km/h, is catastrophic: complete devastation, total destruction of homes whatever their age or type, and people at risk even indoors. Typhoon Haiyan, which you meet in the next chapter, was a category 5.
The scale measures the storm, not the disaster. A category 3 storm hitting a crowded, low-lying, poor coast can kill far more people than a category 5 that stays at sea. That is why the next chapter asks what makes a place vulnerable.
Worked example — model it step by step, thinking aloud: A storm's sustained wind speed increases from 150 km/h to 210 km/h as it crosses warm water. By how many categories does it rise on the Saffir-Simpson scale? (1) Find the category for 150 km/h: it lies in 119 to 153, so category 1. (2) Find the category for 210 km/h: it lies in 209 to 251, so category 4. (3) Subtract: 4 − 1 = 3 categories. (4) Check the sense: the damage description moves from low (roof coverings, branches) to extreme (well-built homes damaged). Answer: 3 categories (from category 1 to category 4).
Tip: Learn the lower limit of each category: 119, 154, 178, 209, 252 km/h. Everything else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Saffir-Simpson scale. Say it in your own words, then check understanding with a quick question: ask a pupil from the pre-teach group first, since they met these words and ideas before the lesson. Pupils try to recall before you re-explain.
The Saffir-Simpson scale measures the strength of a tropical storm from its sustained wind speed and places it in one of five categories. Category 1, with winds of 119 to 153 km/h, does low damage: roof coverings partly removed, mobile homes and carports destroyed, branches broken, power cables damaged. Category 2, 154 to 177 km/h, does moderate damage: flimsy structures destroyed and roofs ripped from poorly built houses. Category 3, 178 to 208 km/h, does extensive damage: older buildings collapse, windows are blown out, trees are uprooted.
Category 4, 209 to 251 km/h, does extreme damage: well-built homes damaged and poorly built ones destroyed, signs and fences ripped out, significant power cuts and water shortages. Category 5, with winds above 252 km/h, is catastrophic: complete devastation, total destruction of homes whatever their age or type, and people at risk even indoors. Typhoon Haiyan, which you meet in the next chapter, was a category 5.
The scale measures the storm, not the disaster. A category 3 storm hitting a crowded, low-lying, poor coast can kill far more people than a category 5 that stays at sea. That is why the next chapter asks what makes a place vulnerable.
Worked example — model it step by step, thinking aloud: A storm's sustained wind speed increases from 150 km/h to 210 km/h as it crosses warm water. By how many categories does it rise on the Saffir-Simpson scale? (1) Find the category for 150 km/h: it lies in 119 to 153, so category 1. (2) Find the category for 210 km/h: it lies in 209 to 251, so category 4. (3) Subtract: 4 − 1 = 3 categories. (4) Check the sense: the damage description moves from low (roof coverings, branches) to extreme (well-built homes damaged). Answer: 3 categories (from category 1 to category 4).
Tip: Learn the lower limit of each category: 119, 154, 178, 209, 252 km/h. Everything else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Responses, and Hurricane Katrina. Say it in your own words, then check understanding with a quick question: ask a pupil from the pre-teach group first, since they met these words and ideas before the lesson. Pupils try to recall before you re-explain.
Responses are the help available after a hazard to reduce its effects. Immediate (short-term) responses come in the first hours and days and deal mainly with the primary effects: search and rescue, temporary shelters, medical supplies, food and clean water. Long-term responses come over weeks, months and years and deal mainly with the secondary effects: rebuilding damaged homes, factories, roads and schools, and restoring electricity and water supplies.
Hurricane Katrina is your HIC (high income country) case study. The deck follows its formation on satellite images: warm, humid air rose over the Gulf of Mexico, cooled and condensed into cloud, and more air spiralled in to fill the gap left by the rising air; the Coriolis effect gave it the anticlockwise spiral that every northern-hemisphere tropical storm has; air sank in the calm eye, ringed by bands of heavy rain and very high winds. Katrina travelled westwards across the Gulf of Mexico, gaining moisture and speed, and the satellite image you labelled shows it approaching New Orleans on 29 August 2005.
In class you sorted statements about Katrina into cause, effect and response, and you built a mind-map of a tropical storm case study: when and where, the causes, the primary and secondary effects (social, economic and environmental), and the immediate and long-term responses. Use your own notes and the textbook for Katrina's effects and responses; the statements themselves are not reproduced here. Then ask the comparison question the two case studies set up: how did a wealthy country's experience differ from a poorer country's?
Tip: Immediate responses answer the question: what is needed right now to keep people alive? Long-term responses answer: what is needed to get life back to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Reducing the effects: the three Ps and M. Say it in your own words, then check understanding with a quick question: ask a pupil from the pre-teach group first, since they met these words and ideas before the lesson. Pupils try to recall before you re-explain.
The effects of tropical storms can be reduced by four kinds of management, which the deck calls the three Ps and M: prediction, protection, planning and monitoring. Monitoring means tracking a storm as it develops, using the satellites, aircraft and weather stations that modern technology provides. Prediction uses that monitoring to forecast where and when the storm will strike. Because tropical storms can now be predicted and monitored accurately, warnings can be issued in good time: in the North Atlantic, for example, America's national hurricane centre in Miami issues two levels of warning as a storm approaches.
Protection means building to withstand the storm: shutters over windows, houses built on stilts or on raised ground, roofs of strong concrete, and cyclone shelters, strong raised buildings where whole communities can take refuge, as in Bangladesh. Planning means getting people ready before the storm comes: communities are educated about the dangers and how to respond, as in the USA's annual National Hurricane Preparedness Week, and evacuation routes and emergency supplies are organised in advance.
The four work together. Monitoring feeds prediction; prediction gives time for the plans to be put into action; protection means that when the storm arrives there is somewhere safe to be. The deck notes that monitoring and prediction overlap so much for tropical storms that its table simply says one is the same as the other; keep them separate in your answer, with monitoring as the watching and prediction as the forecasting.
Tip: For a six-mark management question give all four: one sentence each, with an example (Miami warnings, Bangladesh shelters, Preparedness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categories.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Saffir-Simpson category to its range of sustained wind speeds.
Support — work through the steps with the group: (1) The categories go up as the wind speed goes up, so the lowest speeds belong to category 1. (2) Put the five ranges in order from slowest to fastest. (3) Match them to categories 1 to 5 in that order. (4) Check that category 5 is the one with no upper limit: above 252 km/h.
Parallel worked example for Support (model it, do not give the task answer): Match these three levels of damage to categories 1, 3 and 5: catastrophic; low; extensive. Low damage goes with the weakest storm.; Catastrophic goes with the strongest.; Extensive sits in between.. Answer: Category 1: low. Category 3: extensive. Category 5: catastrophic..
Core — reveal the hint only on request: Order the speed ranges from slowest to fastest; the categories follow in the same order.
Stretch — no help; when finished: Explain why the Saffir-Simpson category alone is a poor guide to how many people a storm will 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categories.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Saffir-Simpson category to its range of sustained wind speeds.
Support — work through the steps with the group: (1) The categories go up as the wind speed goes up, so the lowest speeds belong to category 1. (2) Put the five ranges in order from slowest to fastest. (3) Match them to categories 1 to 5 in that order. (4) Check that category 5 is the one with no upper limit: above 252 km/h.
Parallel worked example for Support (model it, do not give the task answer): Match these three levels of damage to categories 1, 3 and 5: catastrophic; low; extensive. Low damage goes with the weakest storm.; Catastrophic goes with the strongest.; Extensive sits in between.. Answer: Category 1: low. Category 3: extensive. Category 5: catastrophic..
Core — reveal the hint only on request: Order the speed ranges from slowest to fastest; the categories follow in the same order.
Stretch — no help; when finished: Explain why the Saffir-Simpson category alone is a poor guide to how many people a storm will 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Primary or secondary?.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After a tropical storm, flood water contaminated with sewage stands in the streets for days and people begin to fall ill with disease. Which kind of effect is the disease?
Support — work through the steps with the group: (1) Ask: did the wind, rain or surge do this directly, at the moment of the storm? (2) If yes, it is a primary effect. If it happened later because of something the storm did, it is a secondary effect. (3) Responses are help given to people, so if the sentence describes harm it is an effect, not a response. (4) Name the primary effect that led to this secondary one: flooding, power cut, destroyed crops.
Parallel worked example for Support (model it, do not give the task answer): A tropical storm uproots trees across a town. Which kind of effect is this? The wind did it directly, at the moment of the storm.; So it is primary.. Answer: A primary effect: the wind uprooted the trees directly..
Core — reveal the hint only on request: Harm done later because of earlier damage is secondary. Harm done by the storm itself at the time is primary.
Stretch — no help; when finished: Explain why secondary effects are often worse in a low income country than in a high income country, using responses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Primary or secondary?.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After a tropical storm, flood water contaminated with sewage stands in the streets for days and people begin to fall ill with disease. Which kind of effect is the disease?
Support — work through the steps with the group: (1) Ask: did the wind, rain or surge do this directly, at the moment of the storm? (2) If yes, it is a primary effect. If it happened later because of something the storm did, it is a secondary effect. (3) Responses are help given to people, so if the sentence describes harm it is an effect, not a response. (4) Name the primary effect that led to this secondary one: flooding, power cut, destroyed crops.
Parallel worked example for Support (model it, do not give the task answer): A tropical storm uproots trees across a town. Which kind of effect is this? The wind did it directly, at the moment of the storm.; So it is primary.. Answer: A primary effect: the wind uprooted the trees directly..
Core — reveal the hint only on request: Harm done later because of earlier damage is secondary. Harm done by the storm itself at the time is primary.
Stretch — no help; when finished: Explain why secondary effects are often worse in a low income country than in a high income country, using responses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bridge is swept away by the storm surge during a tropical storm. Which kind of effect is this?
Answer: C   A primary effect. The storm surge is part of the hazard itself, and the bridge was destroyed at once, so this is a primary effect.
Source of this question: gate item 1 re-asked (options rotated) — this chapter has no third quick-check module.
The ebook also holds task 3, "Three Ps and M",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Five categories. Reveal the answer; pupils mark their own work in a different colour, then read the "why" together. Same destination for every lane, so one answer serves the whole class.
Answer: Category 1  →  A  119 to 153 km/h; Category 2  →  D  154 to 177 km/h; Category 3  →  C  178 to 208 km/h; Category 4  →  B  209 to 251 km/h; Category 5  →  E  Above 252 km/h
Why: Category 1 is 119 to 153 km/h, category 2 is 154 to 177, category 3 is 178 to 208, category 4 is 209 to 251 and category 5 is above 252 km/h. The scale grades the wind, not the damage done to a particular place.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Primary or secondary?. Reveal the answer; pupils mark their own work in a different colour, then read the "why" together. Same destination for every lane, so one answer serves the whole class.
Answer: D   A secondary effect, caused by a primary effect
Why: Disease, rotting food, higher prices and lost wages all happen after the storm because of something the storm did first (flooding, power cuts, destroyed crops, a wrecked factory). Effects caused by other effects are secondary.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 primary effect
Why: The storm surge is part of the hazard itself, and the bridge was destroyed at once, so this is a primary effect.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173532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Effects, responses and reducing the risk</a:t>
            </a:r>
            <a:endParaRPr lang="en-US" sz="4000" dirty="0"/>
          </a:p>
        </p:txBody>
      </p:sp>
      <p:sp>
        <p:nvSpPr>
          <p:cNvPr id="11" name="lessons-card"/>
          <p:cNvSpPr/>
          <p:nvPr/>
        </p:nvSpPr>
        <p:spPr>
          <a:xfrm>
            <a:off x="548640" y="3411728"/>
            <a:ext cx="5287975" cy="2296160"/>
          </a:xfrm>
          <a:prstGeom prst="roundRect">
            <a:avLst>
              <a:gd name="adj" fmla="val 3186"/>
            </a:avLst>
          </a:prstGeom>
          <a:solidFill>
            <a:srgbClr val="E6ECE7"/>
          </a:solidFill>
          <a:ln/>
        </p:spPr>
      </p:sp>
      <p:sp>
        <p:nvSpPr>
          <p:cNvPr id="12" name="lessons"/>
          <p:cNvSpPr txBox="1"/>
          <p:nvPr/>
        </p:nvSpPr>
        <p:spPr>
          <a:xfrm>
            <a:off x="685800" y="350316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Hurricane Katrina: a HIC tropical storm case study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Effects of tropical storms and the Saffir-Simpson scale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Reducing the effects of tropical storms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bridge is swept away by the storm surge during a tropical storm. Which kind of effect is this?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long-term response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immediate response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secondary effect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primary effect</a:t>
            </a:r>
            <a:endParaRPr lang="en-US" sz="20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tropical storm's sustained winds rise from 150 km/h to 210 km/h. By how many categories does it rise on the Saffir-Simpson scale?</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categories</a:t>
            </a:r>
            <a:endParaRPr lang="en-US" sz="22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Cyclone shelters in Bangladesh and houses built on stilts are examples of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protection  ·  prediction  ·  monitoring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primary effect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bridge is swept away by the storm surge during a tropical storm. Which kind of effect is this?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storm surge is part of the hazard itself, and the bridge was destroyed at once, so this is a primary effect.</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 categories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tropical storm's sustained winds rise from 150 km/h to 210 km/h. By how many categories does it rise on the Saffir-Simpson scale?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150 km/h is category 1 (119 to 153); 210 km/h is category 4 (209 to 251). From 1 to 4 is a rise of 3 categories.</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protection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Cyclone shelters in Bangladesh and houses built on stilts are examples of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Protection means building structures that keep people safe when the storm arrives. Shelters and stilts are protection.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primary effect</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straight away because of the hazard itself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roof torn off by the wind is a primary effect.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secondary effect</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later because of a primary effect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Disease spreading from dirty flood water is a secondary effect.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immediate response</a:t>
            </a:r>
            <a:endParaRPr lang="en-US" sz="2600" dirty="0"/>
          </a:p>
        </p:txBody>
      </p:sp>
      <p:sp>
        <p:nvSpPr>
          <p:cNvPr id="23" name="word-rule"/>
          <p:cNvSpPr/>
          <p:nvPr/>
        </p:nvSpPr>
        <p:spPr>
          <a:xfrm>
            <a:off x="8310677" y="2558288"/>
            <a:ext cx="3149498" cy="0"/>
          </a:xfrm>
          <a:prstGeom prst="line">
            <a:avLst/>
          </a:prstGeom>
          <a:ln w="12700">
            <a:solidFill>
              <a:srgbClr val="ACBFB1"/>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help given straight after the hazard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Search and rescue is an immediate response.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long-term response</a:t>
            </a:r>
            <a:endParaRPr lang="en-US" sz="2600" dirty="0"/>
          </a:p>
        </p:txBody>
      </p:sp>
      <p:sp>
        <p:nvSpPr>
          <p:cNvPr id="11" name="word-rule"/>
          <p:cNvSpPr/>
          <p:nvPr/>
        </p:nvSpPr>
        <p:spPr>
          <a:xfrm>
            <a:off x="731520" y="2558288"/>
            <a:ext cx="3149498" cy="0"/>
          </a:xfrm>
          <a:prstGeom prst="line">
            <a:avLst/>
          </a:prstGeom>
          <a:ln w="12700">
            <a:solidFill>
              <a:srgbClr val="ACBFB1"/>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help given over the months and years after the hazard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Rebuilding schools and roads is a long-term response.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Saffir-Simpson scale</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scale from 1 to 5 that grades a tropical storm by its wind speed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category 5 storm on the Saffir-Simpson scale causes catastrophic damage.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storm surge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rise in sea level pushed onto the coast by a storm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storm surge flooded the streets of the town.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tropical storm does damage in two stages.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Primary 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happen at once, caused by the wind, rain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storm surge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Secondary 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come later, caused by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primary 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flooded road is primary; the shop that closes because no one can reach it is secondary.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Saffir-Simpson scale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grades a storm from category 1 to category 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uses the speed of the wind.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Category 1 starts at 119 kilometres per hour.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Category 5 is above 252 kilometres per hour.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a storm, people respond.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Immediate responses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save lives in the first hours and days.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Long-term responses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rebuild homes and roads over months and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a storm, monitoring, prediction, protection and planning can reduce the damage.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Primary and secondary effects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Primary or secondary asks WHEN and WHY an effect happened. Social, economic or environmental asks WHO or WHAT it happened to. Use both in a nine-mark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effects of a tropical storm can be primary or secondary.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test is always the same: did the storm itself do this, or did something the storm did cause it?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also sort effects into social (on people and their lives), economic (on money, jobs and property) and environmental (on land, water and wildlife).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Saffir-Simpson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lower limit of each category: 119, 154, 178, 209, 252 km/h. Everything else follows.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Saffir-Simpson scale measures the strength of a tropical storm from its sustained wind speed and places it in one of five categories.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Category 4, 209 to 251 km/h, does extreme damage: well-built homes damaged and poorly built ones destroyed, signs and fences ripped out, significant power cuts and water shortages.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scale measures the storm, not the disaster. A category 3 storm hitting a crowded, low-lying, poor coast can kill far more people than a category 5 that stays at sea.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Saffir-Simpson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6ECE7"/>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storm's sustained wind speed increases from 150 km/h to 210 km/h as it crosses warm water. By how many categories does it rise on the Saffir-Simpson scale?</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category for 150 km/h: it lies in 119 to 153, so category 1.</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category for 210 km/h: it lies in 209 to 251, so category 4.</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4 − 1 = 3 categories.</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the damage description moves from low (roof coverings, branches) to extreme (well-built homes damaged).</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categories (from category 1 to category 4)</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Responses, and Hurricane Katrina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Immediate responses answer the question: what is needed right now to keep people alive? Long-term responses answer: what is needed to get life back to normal?</a:t>
            </a:r>
            <a:endParaRPr lang="en-US" sz="1800" dirty="0"/>
          </a:p>
        </p:txBody>
      </p:sp>
      <p:sp>
        <p:nvSpPr>
          <p:cNvPr id="11" name="bullet-card"/>
          <p:cNvSpPr/>
          <p:nvPr/>
        </p:nvSpPr>
        <p:spPr>
          <a:xfrm>
            <a:off x="548640" y="1389888"/>
            <a:ext cx="11094415" cy="823299"/>
          </a:xfrm>
          <a:prstGeom prst="roundRect">
            <a:avLst>
              <a:gd name="adj" fmla="val 8885"/>
            </a:avLst>
          </a:prstGeom>
          <a:solidFill>
            <a:srgbClr val="EAEFEB"/>
          </a:solidFill>
          <a:ln/>
        </p:spPr>
      </p:sp>
      <p:sp>
        <p:nvSpPr>
          <p:cNvPr id="12" name="bullet-hex"/>
          <p:cNvSpPr/>
          <p:nvPr/>
        </p:nvSpPr>
        <p:spPr>
          <a:xfrm>
            <a:off x="676656" y="1635245"/>
            <a:ext cx="384048" cy="332586"/>
          </a:xfrm>
          <a:prstGeom prst="hexagon">
            <a:avLst/>
          </a:prstGeom>
          <a:solidFill>
            <a:srgbClr val="3F6B4A"/>
          </a:solidFill>
          <a:ln/>
        </p:spPr>
      </p:sp>
      <p:sp>
        <p:nvSpPr>
          <p:cNvPr id="13" name="bullet"/>
          <p:cNvSpPr txBox="1"/>
          <p:nvPr/>
        </p:nvSpPr>
        <p:spPr>
          <a:xfrm>
            <a:off x="1143000" y="1389888"/>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Responses are the help available after a hazard to reduce its effects.</a:t>
            </a:r>
            <a:endParaRPr lang="en-US" sz="2200" dirty="0"/>
          </a:p>
        </p:txBody>
      </p:sp>
      <p:sp>
        <p:nvSpPr>
          <p:cNvPr id="14" name="bullet-card"/>
          <p:cNvSpPr/>
          <p:nvPr/>
        </p:nvSpPr>
        <p:spPr>
          <a:xfrm>
            <a:off x="548640" y="2359491"/>
            <a:ext cx="11094415" cy="823299"/>
          </a:xfrm>
          <a:prstGeom prst="roundRect">
            <a:avLst>
              <a:gd name="adj" fmla="val 8885"/>
            </a:avLst>
          </a:prstGeom>
          <a:solidFill>
            <a:srgbClr val="EAEFEB"/>
          </a:solidFill>
          <a:ln/>
        </p:spPr>
      </p:sp>
      <p:sp>
        <p:nvSpPr>
          <p:cNvPr id="15" name="bullet-hex"/>
          <p:cNvSpPr/>
          <p:nvPr/>
        </p:nvSpPr>
        <p:spPr>
          <a:xfrm>
            <a:off x="676656" y="2604847"/>
            <a:ext cx="384048" cy="332586"/>
          </a:xfrm>
          <a:prstGeom prst="hexagon">
            <a:avLst/>
          </a:prstGeom>
          <a:solidFill>
            <a:srgbClr val="B8862B"/>
          </a:solidFill>
          <a:ln/>
        </p:spPr>
      </p:sp>
      <p:sp>
        <p:nvSpPr>
          <p:cNvPr id="16" name="bullet"/>
          <p:cNvSpPr txBox="1"/>
          <p:nvPr/>
        </p:nvSpPr>
        <p:spPr>
          <a:xfrm>
            <a:off x="1143000" y="2359491"/>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Hurricane Katrina is your HIC (high income country) case study.</a:t>
            </a:r>
            <a:endParaRPr lang="en-US" sz="2200" dirty="0"/>
          </a:p>
        </p:txBody>
      </p:sp>
      <p:sp>
        <p:nvSpPr>
          <p:cNvPr id="17" name="bullet-card"/>
          <p:cNvSpPr/>
          <p:nvPr/>
        </p:nvSpPr>
        <p:spPr>
          <a:xfrm>
            <a:off x="548640" y="3329093"/>
            <a:ext cx="11094415" cy="1746843"/>
          </a:xfrm>
          <a:prstGeom prst="roundRect">
            <a:avLst>
              <a:gd name="adj" fmla="val 4188"/>
            </a:avLst>
          </a:prstGeom>
          <a:solidFill>
            <a:srgbClr val="EAEFEB"/>
          </a:solidFill>
          <a:ln/>
        </p:spPr>
      </p:sp>
      <p:sp>
        <p:nvSpPr>
          <p:cNvPr id="18" name="bullet-hex"/>
          <p:cNvSpPr/>
          <p:nvPr/>
        </p:nvSpPr>
        <p:spPr>
          <a:xfrm>
            <a:off x="676656" y="4036222"/>
            <a:ext cx="384048" cy="332586"/>
          </a:xfrm>
          <a:prstGeom prst="hexagon">
            <a:avLst/>
          </a:prstGeom>
          <a:solidFill>
            <a:srgbClr val="3F6B4A"/>
          </a:solidFill>
          <a:ln/>
        </p:spPr>
      </p:sp>
      <p:sp>
        <p:nvSpPr>
          <p:cNvPr id="19" name="bullet"/>
          <p:cNvSpPr txBox="1"/>
          <p:nvPr/>
        </p:nvSpPr>
        <p:spPr>
          <a:xfrm>
            <a:off x="1143000" y="3329093"/>
            <a:ext cx="10408615" cy="17468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class you sorted statements about Katrina into cause, effect and response, and you built a mind-map of a tropical storm case study: when and where, the causes, the primary and secondary effects (social, economic and environmental), and the immediate and long-term responses.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Reducing the effects: the three Ps and 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six-mark management question give all four: one sentence each, with an example (Miami warnings, Bangladesh shelters, Preparedness Week).</a:t>
            </a:r>
            <a:endParaRPr lang="en-US" sz="1800" dirty="0"/>
          </a:p>
        </p:txBody>
      </p:sp>
      <p:sp>
        <p:nvSpPr>
          <p:cNvPr id="11" name="bullet-card"/>
          <p:cNvSpPr/>
          <p:nvPr/>
        </p:nvSpPr>
        <p:spPr>
          <a:xfrm>
            <a:off x="548640" y="1389888"/>
            <a:ext cx="11094415" cy="903901"/>
          </a:xfrm>
          <a:prstGeom prst="roundRect">
            <a:avLst>
              <a:gd name="adj" fmla="val 8093"/>
            </a:avLst>
          </a:prstGeom>
          <a:solidFill>
            <a:srgbClr val="EAEFEB"/>
          </a:solidFill>
          <a:ln/>
        </p:spPr>
      </p:sp>
      <p:sp>
        <p:nvSpPr>
          <p:cNvPr id="12" name="bullet-hex"/>
          <p:cNvSpPr/>
          <p:nvPr/>
        </p:nvSpPr>
        <p:spPr>
          <a:xfrm>
            <a:off x="676656" y="1675546"/>
            <a:ext cx="384048" cy="332586"/>
          </a:xfrm>
          <a:prstGeom prst="hexagon">
            <a:avLst/>
          </a:prstGeom>
          <a:solidFill>
            <a:srgbClr val="3F6B4A"/>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effects of tropical storms can be reduced by four kinds of management, which the deck calls the three Ps and M: prediction, protection, planning and monitoring.</a:t>
            </a:r>
            <a:endParaRPr lang="en-US" sz="2200" dirty="0"/>
          </a:p>
        </p:txBody>
      </p:sp>
      <p:sp>
        <p:nvSpPr>
          <p:cNvPr id="14" name="bullet-card"/>
          <p:cNvSpPr/>
          <p:nvPr/>
        </p:nvSpPr>
        <p:spPr>
          <a:xfrm>
            <a:off x="548640" y="2440093"/>
            <a:ext cx="11094415" cy="1244769"/>
          </a:xfrm>
          <a:prstGeom prst="roundRect">
            <a:avLst>
              <a:gd name="adj" fmla="val 5877"/>
            </a:avLst>
          </a:prstGeom>
          <a:solidFill>
            <a:srgbClr val="EAEFEB"/>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440093"/>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Protection means building to withstand the storm: shutters over windows, houses built on stilts or on raised ground, roofs of strong concrete, and cyclone shelters, strong raised buildings where whole communities can take refuge, as in Bangladesh.</a:t>
            </a:r>
            <a:endParaRPr lang="en-US" sz="2200" dirty="0"/>
          </a:p>
        </p:txBody>
      </p:sp>
      <p:sp>
        <p:nvSpPr>
          <p:cNvPr id="17" name="bullet-card"/>
          <p:cNvSpPr/>
          <p:nvPr/>
        </p:nvSpPr>
        <p:spPr>
          <a:xfrm>
            <a:off x="548640" y="3831167"/>
            <a:ext cx="11094415" cy="1244769"/>
          </a:xfrm>
          <a:prstGeom prst="roundRect">
            <a:avLst>
              <a:gd name="adj" fmla="val 5877"/>
            </a:avLst>
          </a:prstGeom>
          <a:solidFill>
            <a:srgbClr val="EAEFEB"/>
          </a:solidFill>
          <a:ln/>
        </p:spPr>
      </p:sp>
      <p:sp>
        <p:nvSpPr>
          <p:cNvPr id="18" name="bullet-hex"/>
          <p:cNvSpPr/>
          <p:nvPr/>
        </p:nvSpPr>
        <p:spPr>
          <a:xfrm>
            <a:off x="676656" y="4287259"/>
            <a:ext cx="384048" cy="332586"/>
          </a:xfrm>
          <a:prstGeom prst="hexagon">
            <a:avLst/>
          </a:prstGeom>
          <a:solidFill>
            <a:srgbClr val="3F6B4A"/>
          </a:solidFill>
          <a:ln/>
        </p:spPr>
      </p:sp>
      <p:sp>
        <p:nvSpPr>
          <p:cNvPr id="19" name="bullet"/>
          <p:cNvSpPr txBox="1"/>
          <p:nvPr/>
        </p:nvSpPr>
        <p:spPr>
          <a:xfrm>
            <a:off x="1143000" y="3831167"/>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four work together. Monitoring feeds prediction; prediction gives time for the plans to be put into action; protection means that when the storm arrives there is somewhere safe to be.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Five categories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Saffir-Simpson category to its range of sustained wind speeds.</a:t>
            </a:r>
            <a:endParaRPr lang="en-US" sz="2000" dirty="0"/>
          </a:p>
        </p:txBody>
      </p:sp>
      <p:sp>
        <p:nvSpPr>
          <p:cNvPr id="11" name="match-card"/>
          <p:cNvSpPr/>
          <p:nvPr/>
        </p:nvSpPr>
        <p:spPr>
          <a:xfrm>
            <a:off x="777240" y="2468331"/>
            <a:ext cx="4509419" cy="625559"/>
          </a:xfrm>
          <a:prstGeom prst="roundRect">
            <a:avLst>
              <a:gd name="adj" fmla="val 11694"/>
            </a:avLst>
          </a:prstGeom>
          <a:solidFill>
            <a:srgbClr val="EAEFEB"/>
          </a:solidFill>
          <a:ln/>
        </p:spPr>
      </p:sp>
      <p:sp>
        <p:nvSpPr>
          <p:cNvPr id="12" name="match-hex"/>
          <p:cNvSpPr/>
          <p:nvPr/>
        </p:nvSpPr>
        <p:spPr>
          <a:xfrm>
            <a:off x="850392" y="2614818"/>
            <a:ext cx="384048" cy="332586"/>
          </a:xfrm>
          <a:prstGeom prst="hexagon">
            <a:avLst/>
          </a:prstGeom>
          <a:solidFill>
            <a:srgbClr val="3F6B4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9150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Category 1</a:t>
            </a:r>
            <a:endParaRPr lang="en-US" sz="2200" dirty="0"/>
          </a:p>
        </p:txBody>
      </p:sp>
      <p:sp>
        <p:nvSpPr>
          <p:cNvPr id="15" name="match-card"/>
          <p:cNvSpPr/>
          <p:nvPr/>
        </p:nvSpPr>
        <p:spPr>
          <a:xfrm>
            <a:off x="5652419" y="2468331"/>
            <a:ext cx="5762036" cy="625559"/>
          </a:xfrm>
          <a:prstGeom prst="roundRect">
            <a:avLst>
              <a:gd name="adj" fmla="val 11694"/>
            </a:avLst>
          </a:prstGeom>
          <a:solidFill>
            <a:srgbClr val="F4EDDF"/>
          </a:solidFill>
          <a:ln/>
        </p:spPr>
      </p:sp>
      <p:sp>
        <p:nvSpPr>
          <p:cNvPr id="16" name="match-hex"/>
          <p:cNvSpPr/>
          <p:nvPr/>
        </p:nvSpPr>
        <p:spPr>
          <a:xfrm>
            <a:off x="5725571" y="2614818"/>
            <a:ext cx="384048" cy="332586"/>
          </a:xfrm>
          <a:prstGeom prst="hexagon">
            <a:avLst/>
          </a:prstGeom>
          <a:solidFill>
            <a:srgbClr val="B8862B"/>
          </a:solidFill>
          <a:ln/>
        </p:spPr>
      </p:sp>
      <p:sp>
        <p:nvSpPr>
          <p:cNvPr id="17" name="match-hex-label"/>
          <p:cNvSpPr txBox="1"/>
          <p:nvPr/>
        </p:nvSpPr>
        <p:spPr>
          <a:xfrm>
            <a:off x="5725571"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173627" y="2468331"/>
            <a:ext cx="5167676"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119 to 153 km/h</a:t>
            </a:r>
            <a:endParaRPr lang="en-US" sz="2200" dirty="0"/>
          </a:p>
        </p:txBody>
      </p:sp>
      <p:sp>
        <p:nvSpPr>
          <p:cNvPr id="19" name="match-card"/>
          <p:cNvSpPr/>
          <p:nvPr/>
        </p:nvSpPr>
        <p:spPr>
          <a:xfrm>
            <a:off x="777240" y="3185331"/>
            <a:ext cx="4509419" cy="625559"/>
          </a:xfrm>
          <a:prstGeom prst="roundRect">
            <a:avLst>
              <a:gd name="adj" fmla="val 11694"/>
            </a:avLst>
          </a:prstGeom>
          <a:solidFill>
            <a:srgbClr val="EAEFEB"/>
          </a:solidFill>
          <a:ln/>
        </p:spPr>
      </p:sp>
      <p:sp>
        <p:nvSpPr>
          <p:cNvPr id="20" name="match-hex"/>
          <p:cNvSpPr/>
          <p:nvPr/>
        </p:nvSpPr>
        <p:spPr>
          <a:xfrm>
            <a:off x="850392" y="3331818"/>
            <a:ext cx="384048" cy="332586"/>
          </a:xfrm>
          <a:prstGeom prst="hexagon">
            <a:avLst/>
          </a:prstGeom>
          <a:solidFill>
            <a:srgbClr val="3F6B4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39150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Category 2</a:t>
            </a:r>
            <a:endParaRPr lang="en-US" sz="2200" dirty="0"/>
          </a:p>
        </p:txBody>
      </p:sp>
      <p:sp>
        <p:nvSpPr>
          <p:cNvPr id="23" name="match-card"/>
          <p:cNvSpPr/>
          <p:nvPr/>
        </p:nvSpPr>
        <p:spPr>
          <a:xfrm>
            <a:off x="5652419" y="3185331"/>
            <a:ext cx="5762036" cy="625559"/>
          </a:xfrm>
          <a:prstGeom prst="roundRect">
            <a:avLst>
              <a:gd name="adj" fmla="val 11694"/>
            </a:avLst>
          </a:prstGeom>
          <a:solidFill>
            <a:srgbClr val="F4EDDF"/>
          </a:solidFill>
          <a:ln/>
        </p:spPr>
      </p:sp>
      <p:sp>
        <p:nvSpPr>
          <p:cNvPr id="24" name="match-hex"/>
          <p:cNvSpPr/>
          <p:nvPr/>
        </p:nvSpPr>
        <p:spPr>
          <a:xfrm>
            <a:off x="5725571" y="3331818"/>
            <a:ext cx="384048" cy="332586"/>
          </a:xfrm>
          <a:prstGeom prst="hexagon">
            <a:avLst/>
          </a:prstGeom>
          <a:solidFill>
            <a:srgbClr val="B8862B"/>
          </a:solidFill>
          <a:ln/>
        </p:spPr>
      </p:sp>
      <p:sp>
        <p:nvSpPr>
          <p:cNvPr id="25" name="match-hex-label"/>
          <p:cNvSpPr txBox="1"/>
          <p:nvPr/>
        </p:nvSpPr>
        <p:spPr>
          <a:xfrm>
            <a:off x="5725571"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173627" y="3185331"/>
            <a:ext cx="5167676"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209 to 251 km/h</a:t>
            </a:r>
            <a:endParaRPr lang="en-US" sz="2200" dirty="0"/>
          </a:p>
        </p:txBody>
      </p:sp>
      <p:sp>
        <p:nvSpPr>
          <p:cNvPr id="27" name="match-card"/>
          <p:cNvSpPr/>
          <p:nvPr/>
        </p:nvSpPr>
        <p:spPr>
          <a:xfrm>
            <a:off x="777240" y="3902330"/>
            <a:ext cx="4509419" cy="625559"/>
          </a:xfrm>
          <a:prstGeom prst="roundRect">
            <a:avLst>
              <a:gd name="adj" fmla="val 11694"/>
            </a:avLst>
          </a:prstGeom>
          <a:solidFill>
            <a:srgbClr val="EAEFEB"/>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39150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Category 3</a:t>
            </a:r>
            <a:endParaRPr lang="en-US" sz="2200" dirty="0"/>
          </a:p>
        </p:txBody>
      </p:sp>
      <p:sp>
        <p:nvSpPr>
          <p:cNvPr id="31" name="match-card"/>
          <p:cNvSpPr/>
          <p:nvPr/>
        </p:nvSpPr>
        <p:spPr>
          <a:xfrm>
            <a:off x="5652419" y="3902330"/>
            <a:ext cx="5762036" cy="625559"/>
          </a:xfrm>
          <a:prstGeom prst="roundRect">
            <a:avLst>
              <a:gd name="adj" fmla="val 11694"/>
            </a:avLst>
          </a:prstGeom>
          <a:solidFill>
            <a:srgbClr val="F4EDDF"/>
          </a:solidFill>
          <a:ln/>
        </p:spPr>
      </p:sp>
      <p:sp>
        <p:nvSpPr>
          <p:cNvPr id="32" name="match-hex"/>
          <p:cNvSpPr/>
          <p:nvPr/>
        </p:nvSpPr>
        <p:spPr>
          <a:xfrm>
            <a:off x="5725571" y="4048817"/>
            <a:ext cx="384048" cy="332586"/>
          </a:xfrm>
          <a:prstGeom prst="hexagon">
            <a:avLst/>
          </a:prstGeom>
          <a:solidFill>
            <a:srgbClr val="B8862B"/>
          </a:solidFill>
          <a:ln/>
        </p:spPr>
      </p:sp>
      <p:sp>
        <p:nvSpPr>
          <p:cNvPr id="33" name="match-hex-label"/>
          <p:cNvSpPr txBox="1"/>
          <p:nvPr/>
        </p:nvSpPr>
        <p:spPr>
          <a:xfrm>
            <a:off x="5725571"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173627" y="3902330"/>
            <a:ext cx="5167676"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178 to 208 km/h</a:t>
            </a:r>
            <a:endParaRPr lang="en-US" sz="2200" dirty="0"/>
          </a:p>
        </p:txBody>
      </p:sp>
      <p:sp>
        <p:nvSpPr>
          <p:cNvPr id="35" name="match-card"/>
          <p:cNvSpPr/>
          <p:nvPr/>
        </p:nvSpPr>
        <p:spPr>
          <a:xfrm>
            <a:off x="777240" y="4619329"/>
            <a:ext cx="4509419" cy="625559"/>
          </a:xfrm>
          <a:prstGeom prst="roundRect">
            <a:avLst>
              <a:gd name="adj" fmla="val 11694"/>
            </a:avLst>
          </a:prstGeom>
          <a:solidFill>
            <a:srgbClr val="EAEFEB"/>
          </a:solidFill>
          <a:ln/>
        </p:spPr>
      </p:sp>
      <p:sp>
        <p:nvSpPr>
          <p:cNvPr id="36" name="match-hex"/>
          <p:cNvSpPr/>
          <p:nvPr/>
        </p:nvSpPr>
        <p:spPr>
          <a:xfrm>
            <a:off x="850392" y="4765816"/>
            <a:ext cx="384048" cy="332586"/>
          </a:xfrm>
          <a:prstGeom prst="hexagon">
            <a:avLst/>
          </a:prstGeom>
          <a:solidFill>
            <a:srgbClr val="3F6B4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39150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Category 4</a:t>
            </a:r>
            <a:endParaRPr lang="en-US" sz="2200" dirty="0"/>
          </a:p>
        </p:txBody>
      </p:sp>
      <p:sp>
        <p:nvSpPr>
          <p:cNvPr id="39" name="match-card"/>
          <p:cNvSpPr/>
          <p:nvPr/>
        </p:nvSpPr>
        <p:spPr>
          <a:xfrm>
            <a:off x="5652419" y="4619329"/>
            <a:ext cx="5762036" cy="625559"/>
          </a:xfrm>
          <a:prstGeom prst="roundRect">
            <a:avLst>
              <a:gd name="adj" fmla="val 11694"/>
            </a:avLst>
          </a:prstGeom>
          <a:solidFill>
            <a:srgbClr val="F4EDDF"/>
          </a:solidFill>
          <a:ln/>
        </p:spPr>
      </p:sp>
      <p:sp>
        <p:nvSpPr>
          <p:cNvPr id="40" name="match-hex"/>
          <p:cNvSpPr/>
          <p:nvPr/>
        </p:nvSpPr>
        <p:spPr>
          <a:xfrm>
            <a:off x="5725571" y="4765816"/>
            <a:ext cx="384048" cy="332586"/>
          </a:xfrm>
          <a:prstGeom prst="hexagon">
            <a:avLst/>
          </a:prstGeom>
          <a:solidFill>
            <a:srgbClr val="B8862B"/>
          </a:solidFill>
          <a:ln/>
        </p:spPr>
      </p:sp>
      <p:sp>
        <p:nvSpPr>
          <p:cNvPr id="41" name="match-hex-label"/>
          <p:cNvSpPr txBox="1"/>
          <p:nvPr/>
        </p:nvSpPr>
        <p:spPr>
          <a:xfrm>
            <a:off x="5725571"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173627" y="4619329"/>
            <a:ext cx="5167676"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154 to 177 km/h</a:t>
            </a:r>
            <a:endParaRPr lang="en-US" sz="2200" dirty="0"/>
          </a:p>
        </p:txBody>
      </p:sp>
      <p:sp>
        <p:nvSpPr>
          <p:cNvPr id="43" name="match-card"/>
          <p:cNvSpPr/>
          <p:nvPr/>
        </p:nvSpPr>
        <p:spPr>
          <a:xfrm>
            <a:off x="777240" y="5336329"/>
            <a:ext cx="4509419" cy="625559"/>
          </a:xfrm>
          <a:prstGeom prst="roundRect">
            <a:avLst>
              <a:gd name="adj" fmla="val 11694"/>
            </a:avLst>
          </a:prstGeom>
          <a:solidFill>
            <a:srgbClr val="EAEFEB"/>
          </a:solidFill>
          <a:ln/>
        </p:spPr>
      </p:sp>
      <p:sp>
        <p:nvSpPr>
          <p:cNvPr id="44" name="match-hex"/>
          <p:cNvSpPr/>
          <p:nvPr/>
        </p:nvSpPr>
        <p:spPr>
          <a:xfrm>
            <a:off x="850392" y="5482816"/>
            <a:ext cx="384048" cy="332586"/>
          </a:xfrm>
          <a:prstGeom prst="hexagon">
            <a:avLst/>
          </a:prstGeom>
          <a:solidFill>
            <a:srgbClr val="3F6B4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39150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Category 5</a:t>
            </a:r>
            <a:endParaRPr lang="en-US" sz="2200" dirty="0"/>
          </a:p>
        </p:txBody>
      </p:sp>
      <p:sp>
        <p:nvSpPr>
          <p:cNvPr id="47" name="match-card"/>
          <p:cNvSpPr/>
          <p:nvPr/>
        </p:nvSpPr>
        <p:spPr>
          <a:xfrm>
            <a:off x="5652419" y="5336329"/>
            <a:ext cx="5762036" cy="625559"/>
          </a:xfrm>
          <a:prstGeom prst="roundRect">
            <a:avLst>
              <a:gd name="adj" fmla="val 11694"/>
            </a:avLst>
          </a:prstGeom>
          <a:solidFill>
            <a:srgbClr val="F4EDDF"/>
          </a:solidFill>
          <a:ln/>
        </p:spPr>
      </p:sp>
      <p:sp>
        <p:nvSpPr>
          <p:cNvPr id="48" name="match-hex"/>
          <p:cNvSpPr/>
          <p:nvPr/>
        </p:nvSpPr>
        <p:spPr>
          <a:xfrm>
            <a:off x="5725571" y="5482816"/>
            <a:ext cx="384048" cy="332586"/>
          </a:xfrm>
          <a:prstGeom prst="hexagon">
            <a:avLst/>
          </a:prstGeom>
          <a:solidFill>
            <a:srgbClr val="B8862B"/>
          </a:solidFill>
          <a:ln/>
        </p:spPr>
      </p:sp>
      <p:sp>
        <p:nvSpPr>
          <p:cNvPr id="49" name="match-hex-label"/>
          <p:cNvSpPr txBox="1"/>
          <p:nvPr/>
        </p:nvSpPr>
        <p:spPr>
          <a:xfrm>
            <a:off x="5725571"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173627" y="5336329"/>
            <a:ext cx="5167676"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Above 252 km/h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Five categories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Five categories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categories go up as the wind speed goes up, so the lowest speeds belong to category 1.</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five ranges in order from slowest to fastest.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them to categories 1 to 5 in that order.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category 5 is the one with no upper limit: above 252 km/h.</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Order the speed ranges from slowest to fastest; the categories follow in the same order.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Saffir-Simpson category alone is a poor guide to how many people a storm will kill.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Primary or secondary?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After a tropical storm, flood water contaminated with sewage stands in the streets for days and people begin to fall ill with disease. Which kind of effect is the disease?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primary effect, caused directly by the storm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long-term response to the storm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immediate response to the storm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secondary effect, caused by a primary effect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Primary or secondary?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Primary or secondary?</a:t>
            </a:r>
            <a:endParaRPr lang="en-US" sz="2000" dirty="0"/>
          </a:p>
        </p:txBody>
      </p:sp>
      <p:sp>
        <p:nvSpPr>
          <p:cNvPr id="12" name="col-Support"/>
          <p:cNvSpPr/>
          <p:nvPr/>
        </p:nvSpPr>
        <p:spPr>
          <a:xfrm>
            <a:off x="548640" y="2395728"/>
            <a:ext cx="6327465"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did the wind, rain or surge do this directly, at the moment of the storm?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yes, it is a primary effect. If it happened later because of something the storm did, it is a secondary effect.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Responses are help given to people, so if the sentence describes harm it is an effect, not a response.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 the primary effect that led to this secondary one: flooding, power cut, destroyed crops.</a:t>
            </a:r>
            <a:endParaRPr lang="en-US" sz="1800" dirty="0"/>
          </a:p>
        </p:txBody>
      </p:sp>
      <p:sp>
        <p:nvSpPr>
          <p:cNvPr id="17" name="col-Core"/>
          <p:cNvSpPr/>
          <p:nvPr/>
        </p:nvSpPr>
        <p:spPr>
          <a:xfrm>
            <a:off x="7150425" y="2395728"/>
            <a:ext cx="2109155" cy="3749040"/>
          </a:xfrm>
          <a:prstGeom prst="roundRect">
            <a:avLst>
              <a:gd name="adj" fmla="val 2601"/>
            </a:avLst>
          </a:prstGeom>
          <a:solidFill>
            <a:srgbClr val="CFDAD2"/>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Harm done later because of earlier damage is secondary. Harm done by the storm itself at the time is primary.</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3F6B4A"/>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secondary effects are often worse in a low income country than in a high income country, using responses in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bridge is swept away by the storm surge during a tropical storm. Which kind of effect is this?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immediate response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secondary effect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primary effect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long-term response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Five categories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Category 1  →  A  119 to 153 km/h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Category 2  →  D  154 to 177 km/h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Category 3  →  C  178 to 208 km/h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Category 4  →  B  209 to 251 km/h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Category 5  →  E  Above 252 km/h</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Category 1 is 119 to 153 km/h, category 2 is 154 to 177, category 3 is 178 to 208, category 4 is 209 to 251 and category 5 is above 252 km/h. The scale grades the wind, not the damage done to a particular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Primary or secondary?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After a tropical storm, flood water contaminated with sewage stands in the streets for days and people begin to fall ill with disease. Which kind of effect is the disease?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secondary effect, caused by a primary effect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Disease, rotting food, higher prices and lost wages all happen after the storm because of something the storm did first (flooding, power cuts, destroyed crops, a wrecked factory). Effects caused by other effects are secondary.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bridge is swept away by the storm surge during a tropical storm. Which kind of effect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primary effect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storm surge is part of the hazard itself, and the bridge was destroyed at once, so this is a primary effect.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3: Effects, responses and reducing the risk</dc:title>
  <dc:subject>Geography · Year 10</dc:subject>
  <dc:creator>Dr Vitor Merissi de Carvalho</dc:creator>
  <cp:lastModifiedBy>Dr Vitor Merissi de Carvalho</cp:lastModifiedBy>
  <cp:revision>1</cp:revision>
  <dcterms:created xsi:type="dcterms:W3CDTF">2026-10-19T16:23:01Z</dcterms:created>
  <dcterms:modified xsi:type="dcterms:W3CDTF">2026-10-19T16:23:01Z</dcterms:modified>
</cp:coreProperties>
</file>