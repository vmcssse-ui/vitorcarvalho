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f95b789-3283-4984-28e4-1360d307ca87}">
          <p14:sldIdLst>
            <p14:sldId id="256"/>
          </p14:sldIdLst>
        </p14:section>
        <p14:section name="Gate" id="{3f38aa01-1071-c033-5be5-a36938a4ce06}">
          <p14:sldIdLst>
            <p14:sldId id="257"/>
            <p14:sldId id="258"/>
          </p14:sldIdLst>
        </p14:section>
        <p14:section name="Pre-teach" id="{c6bd744c-8cac-3fb4-cc4a-9fe4ab271beb}">
          <p14:sldIdLst>
            <p14:sldId id="259"/>
            <p14:sldId id="260"/>
          </p14:sldIdLst>
        </p14:section>
        <p14:section name="Read-along" id="{32cbc1e5-c35a-cbf3-38e6-d1a669739662}">
          <p14:sldIdLst>
            <p14:sldId id="261"/>
            <p14:sldId id="262"/>
          </p14:sldIdLst>
        </p14:section>
        <p14:section name="Teach" id="{067b4bb5-87c2-1e4e-2add-7850f864b1b4}">
          <p14:sldIdLst>
            <p14:sldId id="263"/>
            <p14:sldId id="264"/>
            <p14:sldId id="265"/>
            <p14:sldId id="266"/>
            <p14:sldId id="267"/>
          </p14:sldIdLst>
        </p14:section>
        <p14:section name="Routes" id="{bdc0d1b6-9fea-6f44-0a68-6d491f97f6cf}">
          <p14:sldIdLst>
            <p14:sldId id="268"/>
            <p14:sldId id="269"/>
            <p14:sldId id="270"/>
            <p14:sldId id="271"/>
          </p14:sldIdLst>
        </p14:section>
        <p14:section name="Close" id="{af301b00-654b-242d-645d-7f386e164eb6}">
          <p14:sldIdLst>
            <p14:sldId id="272"/>
          </p14:sldIdLst>
        </p14:section>
        <p14:section name="Answers" id="{9308b37c-cc5b-1dd7-dbdd-55d73460e87f}">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Typhoon Haiyan: a storm in a low income country. The facts and timeline of Typhoon Haiyan, its effects on the Philippines and the responses to it, why some places were hit so much harder than others, and how a choropleth map shows the pattern.
This deck covers the department's lessons: 7 (Typhoon Haiyan: a LIC tropical storm case study: Where, when and how hard did Typhoon Haiyan strike the Philippines?); 8 (Effects of and responses to Typhoon Haiyan; factors affecting vulnerability: What were the effects of and responses to Typhoon Haiyan, and why do some places suffer more than others?).
Read the big question aloud: "Why do tropical storms form where they do, why do they hurt some places more than others, and is the UK's own weather becoming more extreme?"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category was Typhoon Haiyan on the Saffir-Simpson scale?  →  C   Category 5
2. Typhoon Haiyan formed as an area of low pressure on 2 November 2013 and made landfall in the Philippines on 8 November. How many days did it take to reach the Philippines?  →  6 days
3. The Philippines is a ___, which is the main reason Typhoon Haiyan did so much harm.  →  low income country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Category 5. Haiyan was one of the strongest tropical storms on record, the equivalent of a category 5, with winds above 275 km/h.
2. 6 days. From 2 November to 8 November is 8 − 2 = 6 days.
3. low income country. The deck classes the Philippines as a LIC. Level of development is the most important factor deciding how badly a storm hurts a place.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typhoon: the name for a tropical storm in the north-west Pacific. Example: "Typhoon Haiyan struck the Philippines in November 2013."
• province: a region of a country, like a county. Example: "The full force of the storm hit the province of Leyte."
• homeless: left without a home to live in. Example: "In Tacloban, 220 000 people were left homeless."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evacuation: moving people away from danger to a safe place. Example: "Vietnam ordered the evacuation of more than 600 000 people as the storm approached."
• vulnerability: how easily a place and its people are harmed by a hazard. Example: "Poverty and weak buildings increase a place's vulnerability."
• choropleth map: a map that uses darker and lighter shades to show how much of something each area has. Example: "The choropleth map showed the Visayas in the darkest shade."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Typhoon Haiyan was one of the strongest tropical storms ever recorded.
2. In the Philippines it is known as Typhoon Yolanda.
3. It began as an area of low pressure near Micronesia on 2 November 2013.
4. It grew into a category 5 storm on the Saffir-Simpson scale.
5. On 8 November it made landfall in the Philippines, in the province of Leyte.
6. Its winds reached more than 275 kilometres per hour.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 storm surge about 5 metres high swept into the city of Tacloban.
8. About 220 000 people in Tacloban were left homeless.
9. The storm then moved on towards Vietnam and China.
10. The Philippines is a low income country, so recovery was hard.
11. Poor people in weak houses on low ground were hit hardest.
12. Good warnings and strong buildings would have saved many lives.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storm in numbers. Say it in your own words, then check understanding with a quick question: ask a pupil from the pre-teach group first, since they met these words and ideas before the lesson. Pupils try to recall before you re-explain.
Typhoon Haiyan is your LIC (low income country) case study: a tropical storm hitting a country with far less money to prepare and to recover than the USA had for Katrina. In the Philippines the storm is called Typhoon Yolanda, because each country in the region gives storms its own local name. Haiyan was one of the strongest tropical storms on record, the equivalent of a category 5 on the Saffir-Simpson scale.
The storm formed on 2 November 2013 over the warm western Pacific Ocean, well east of the Philippines. Its wind speeds reached more than 275 kilometres per hour. The full force of the storm hit the province of Leyte in the central Philippines. One of the worst-affected places was the coastal city of Tacloban, where about 220 000 inhabitants were left homeless. Much of the destruction was caused not by the wind but by a storm surge about 5 metres high, a wall of sea water pushed onto the land by the storm.
Why did the storm form where it did? Go back to chapter 1: the western Pacific near Micronesia lies in the tropical band, about 5 to 20 degrees north of the equator, over some of the warmest sea water on Earth. It is exactly where typhoons are expected. The Philippines is used to them: on average eight or nine tropical storms make landfall there every year.
Tip: Learn six Haiyan facts: category 5; 2 November 2013; winds over 275 km/h; Leyte; Tacloban, 220 000 homeless; a 5 metre storm surge.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timeline of Typhoon Haiyan. Say it in your own words, then check understanding with a quick question: ask a pupil from the pre-teach group first, since they met these words and ideas before the lesson. Pupils try to recall before you re-explain.
On 2 November a low pressure area developed east of the Pacific islands of Micronesia. On 4 November the system was upgraded to a tropical storm and named Haiyan, as it intensified and headed towards Palau; forecasters warned that it would then travel towards the Philippines. On 7 November the storm entered the Philippines area of responsibility and was given its local name, Yolanda. On 8 November Typhoon Haiyan made landfall in the Philippines at 4.40 am local time, with sustained winds of up to 306 kilometres per hour. On 9 November it left the Philippines and headed towards Vietnam, where more than 600 000 people were evacuated.
The storm then travelled north-westwards and made landfall in southern China, where it died away: over land it had lost its supply of warm, moist air. A map of its track shows the storm's position at six-hour intervals, so you can work out how much warning each country had. Counting the dots is a maths skill the exam can test, and the worked example shows how.
Notice how the timeline shows prediction working. From 4 November, forecasters knew where the storm was heading, which gave the Philippines four days of warning and Vietnam time to evacuate more than 600 000 people. What the warning could not do was make the buildings of Tacloban strong enough or lift the city above a five-metre surge.
Worked example — model it step by step, thinking aloud: A map shows the track of Typhoon Haiyan from where it formed to where it reached China as 33 dots, one every six hours. For how many days could the authorities in China watch the storm approaching? (1) 33 dots mark the positions, but the time is in the gaps between them: 33 dots have 32 gaps. (2) Each gap is six hours: 32 × 6 = 192 hours. (3) Convert to days: 192 ÷ 24 = 8 days. (4) Check the sense: the timeline runs from 2 November to about 10 November, which is eight days. The arithmetic agrees with the dates. Answer: 8 days.
Tip: Dots mark moments; time lives in the gaps. Count the gaps (one fewer than the dots) before you multiply.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timeline of Typhoon Haiyan. Say it in your own words, then check understanding with a quick question: ask a pupil from the pre-teach group first, since they met these words and ideas before the lesson. Pupils try to recall before you re-explain.
On 2 November a low pressure area developed east of the Pacific islands of Micronesia. On 4 November the system was upgraded to a tropical storm and named Haiyan, as it intensified and headed towards Palau; forecasters warned that it would then travel towards the Philippines. On 7 November the storm entered the Philippines area of responsibility and was given its local name, Yolanda. On 8 November Typhoon Haiyan made landfall in the Philippines at 4.40 am local time, with sustained winds of up to 306 kilometres per hour. On 9 November it left the Philippines and headed towards Vietnam, where more than 600 000 people were evacuated.
The storm then travelled north-westwards and made landfall in southern China, where it died away: over land it had lost its supply of warm, moist air. A map of its track shows the storm's position at six-hour intervals, so you can work out how much warning each country had. Counting the dots is a maths skill the exam can test, and the worked example shows how.
Notice how the timeline shows prediction working. From 4 November, forecasters knew where the storm was heading, which gave the Philippines four days of warning and Vietnam time to evacuate more than 600 000 people. What the warning could not do was make the buildings of Tacloban strong enough or lift the city above a five-metre surge.
Worked example — model it step by step, thinking aloud: A map shows the track of Typhoon Haiyan from where it formed to where it reached China as 33 dots, one every six hours. For how many days could the authorities in China watch the storm approaching? (1) 33 dots mark the positions, but the time is in the gaps between them: 33 dots have 32 gaps. (2) Each gap is six hours: 32 × 6 = 192 hours. (3) Convert to days: 192 ÷ 24 = 8 days. (4) Check the sense: the timeline runs from 2 November to about 10 November, which is eight days. The arithmetic agrees with the dates. Answer: 8 days.
Tip: Dots mark moments; time lives in the gaps. Count the gaps (one fewer than the dots) before you multiply.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Effects, responses and the choropleth map. Say it in your own words, then check understanding with a quick question: ask a pupil from the pre-teach group first, since they met these words and ideas before the lesson. Pupils try to recall before you re-explain.
The primary effects you have from the deck are the ones the storm did itself: winds above 275 kilometres per hour wrecked buildings across Leyte, and the five-metre storm surge swept through Tacloban, leaving 220 000 people homeless. The deck sends you to the textbook for the full list of effects and for the responses; in class you picked out the two primary effects and the two secondary effects that mattered most, then the two responses in the first days and the two over the years that mattered most. Use your own notes for those: the point of the exercise was to judge which mattered most, and to be able to explain why.
Responses follow the pattern from chapter 3. Immediate responses deal with the primary effects in the first days: search and rescue, shelter, medical supplies, food and clean water. Long-term responses deal with the secondary effects over months and years: rebuilding homes, roads and schools, restoring power and water, and helping farmers and fishermen earn a living again. In a LIC, much of both kinds of help comes from other countries and from aid agencies.
A choropleth map shows how many people were affected in each region of the Philippines. You chose a scale of colours from lightest (fewest people) to darkest (most), leaving No data areas white, and shaded each region. Eastern Visayas and Central Visayas, the regions the storm crossed, had more than 500 001 people affected and took the darkest shade; Western Visayas had 100 001 to 500 000; Northern Mindanao 10 001 to 100 000; and regions far from the track, such as Central Luzon, under 1000. The map's strength is that the pattern jumps out: the darkest band follows the storm track. Its limits are that a region is coloured as if everyone in it was affected equally, that the ranges hide big differences within a band, and that one region had no data at all.
Tip: On a choropleth map the colour shows an amount for the whole area. Describe the pattern (where the darkest areas are), then suggest reasons (the storm track, population, low-lying coasts).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were so many people affected?. Say it in your own words, then check understanding with a quick question: ask a pupil from the pre-teach group first, since they met these words and ideas before the lesson. Pupils try to recall before you re-explain.
The most important factor deciding how badly a tropical storm hurts a place is its level of development: a country's wealth decides the quality of its buildings, warnings, roads and emergency services. But the deck lists many other factors, and you sorted them into those that mean more people will be affected and those that mean fewer. More people are affected where there is a lack of communications and warnings, where buildings are lightweight, where the coast is low-lying with no cliffs, where there is a lack of aid, where population density is high, where wind speeds and the storm surge are high, and where the storm's path was not as predicted.
Fewer people are affected where communications and warnings are good, where buildings are sturdy, where there are cliffs or higher land, where short- and long-term aid is available, where population density is low, where the storm is weak or cold air joins it and reduces its energy, where roads stay open and electricity is restored quickly, where the economy is strong, where people have transport to move inland, and where the storm's path was as predicted.
Match these to Haiyan and the pattern makes sense. Tacloban is a crowded, low-lying coastal city in a low income country, hit by a category 5 storm with a five-metre surge: almost every factor on the more side was present. The warning was accurate, which is why so many people in Vietnam could be evacuated, but a warning cannot move a city.
Tip: Group the factors in threes for the exam: physical (land height, cliffs, storm strength), human (buildings, population density, wealth) and management (warnings, aid,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Haiyan day by day.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Typhoon Haiyan in the order they happened.
Support — work through the steps with the group: (1) A storm has to exist before it can be named: low pressure area first, then named storm. (2) It has to reach the Philippines area before it can be given its Philippine name. (3) Landfall comes after the storm arrives in the area, and leaving comes after landfall. (4) Check with the dates in brackets: they should run 2, 4, 7, 8, 9.
Parallel worked example for Support (model it, do not give the task answer): Put in order these three stages of a storm's life: it is named; it dies out over land; a low pressure area forms over the sea. The low pressure area must form first.; Naming happens once it is a storm.; Dying out is the end.. Answer: A low pressure area forms over the sea; it is named; it dies out over land..
Core — reveal the hint only on request: Form, name, arrive, strike, leave. The dates run 2, 4, 7, 8, 9 November.
Stretch — no help; when finished: Explain what the gap between 4 November and 8 November shows about the value of prediction, and what it could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Haiyan day by day.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Typhoon Haiyan in the order they happened.
Support — work through the steps with the group: (1) A storm has to exist before it can be named: low pressure area first, then named storm. (2) It has to reach the Philippines area before it can be given its Philippine name. (3) Landfall comes after the storm arrives in the area, and leaving comes after landfall. (4) Check with the dates in brackets: they should run 2, 4, 7, 8, 9.
Parallel worked example for Support (model it, do not give the task answer): Put in order these three stages of a storm's life: it is named; it dies out over land; a low pressure area forms over the sea. The low pressure area must form first.; Naming happens once it is a storm.; Dying out is the end.. Answer: A low pressure area forms over the sea; it is named; it dies out over land..
Core — reveal the hint only on request: Form, name, arrive, strike, leave. The dates run 2, 4, 7, 8, 9 November.
Stretch — no help; when finished: Explain what the gap between 4 November and 8 November shows about the value of prediction, and what it could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Counting the warning.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map of Typhoon Haiyan's track shows its position as 33 dots at six-hour intervals, from where it formed to where it reached China. How many days of warning does the map give the authorities in China? Give your answer in days.
Support — work through the steps with the group: (1) Count the gaps, not the dots: 33 dots have 32 gaps. (2) Each gap is six hours, so multiply: 32 × 6. (3) That gives hours. A day is 24 hours, so divide by 24. (4) Check the sense against the timeline: 2 November to about 10 November is eight days.
Parallel worked example for Support (model it, do not give the task answer): A storm's track is shown as 13 dots at six-hour intervals. How many days does it cover? 13 dots have 12 gaps.; 12 × 6 = 72 hours.; 72 ÷ 24 = 3 days.. Answer: 3 days.
Core — reveal the hint only on request: Gaps are one fewer than dots. Multiply the gaps by six hours, then divide by 24.
Stretch — no help; when finished: Explain why eight days of warning helped China far more than it could help Tacloban, which was struck on day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Counting the warning.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map of Typhoon Haiyan's track shows its position as 33 dots at six-hour intervals, from where it formed to where it reached China. How many days of warning does the map give the authorities in China? Give your answer in days.
Support — work through the steps with the group: (1) Count the gaps, not the dots: 33 dots have 32 gaps. (2) Each gap is six hours, so multiply: 32 × 6. (3) That gives hours. A day is 24 hours, so divide by 24. (4) Check the sense against the timeline: 2 November to about 10 November is eight days.
Parallel worked example for Support (model it, do not give the task answer): A storm's track is shown as 13 dots at six-hour intervals. How many days does it cover? 13 dots have 12 gaps.; 12 × 6 = 72 hours.; 72 ÷ 24 = 3 days.. Answer: 3 days.
Core — reveal the hint only on request: Gaps are one fewer than dots. Multiply the gaps by six hours, then divide by 24.
Stretch — no help; when finished: Explain why eight days of warning helped China far more than it could help Tacloban, which was struck on day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category was Typhoon Haiyan on the Saffir-Simpson scale?
Answer: B   Category 5. Haiyan was one of the strongest tropical storms on record, the equivalent of a category 5, with winds above 275 km/h.
Source of this question: gate item 1 re-asked (options rotated) — this chapter has no third quick-check module.
The ebook also holds task 3, "The nine-mark case study",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Haiyan day by day. Reveal the answer; pupils mark their own work in a different colour, then read the "why" together. Same destination for every lane, so one answer serves the whole class.
Answer: A low pressure area develops east of the Pacific islands of Micronesia (2 November)  (E); The system is upgraded to a tropical storm, named Haiyan, and heads towards Palau (4 November)  (D); The storm enters the Philippines area of responsibility and is given the local name Yolanda (7 November)  (C); Haiyan makes landfall in the Philippines at 4.40 am with winds of up to 306 km/h (8 November)  (B); Haiyan leaves the Philippines for Vietnam, where more than 600 000 people are evacuated (9 November)  (A)
Why: The low pressure area formed on 2 November, became the named storm Haiyan on 4 November, entered the Philippines area of responsibility as Yolanda on 7 November, made landfall on 8 November and left for Vietnam on 9 November.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Counting the warning. Reveal the answer; pupils mark their own work in a different colour, then read the "why" together. Same destination for every lane, so one answer serves the whole class.
Answer: 8 days
Why: 33 dots have 32 six-hour gaps between them: 32 × 6 = 192 hours, which is 192 ÷ 24 = 8 days. The common slip is to multiply by 33 or to forget to convert hours to days.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Category 5
Why: Haiyan was one of the strongest tropical storms on record, the equivalent of a category 5, with winds above 275 km/h.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Weather Hazards · AQA 8035</a:t>
            </a:r>
            <a:endParaRPr lang="en-US" sz="1800" dirty="0"/>
          </a:p>
        </p:txBody>
      </p:sp>
      <p:sp>
        <p:nvSpPr>
          <p:cNvPr id="10" name="deck-title"/>
          <p:cNvSpPr txBox="1"/>
          <p:nvPr/>
        </p:nvSpPr>
        <p:spPr>
          <a:xfrm>
            <a:off x="548640" y="204139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Typhoon Haiyan: a storm in a low income country</a:t>
            </a:r>
            <a:endParaRPr lang="en-US" sz="3200" dirty="0"/>
          </a:p>
        </p:txBody>
      </p:sp>
      <p:sp>
        <p:nvSpPr>
          <p:cNvPr id="11" name="lessons-card"/>
          <p:cNvSpPr/>
          <p:nvPr/>
        </p:nvSpPr>
        <p:spPr>
          <a:xfrm>
            <a:off x="548640" y="3453638"/>
            <a:ext cx="5287975" cy="1948180"/>
          </a:xfrm>
          <a:prstGeom prst="roundRect">
            <a:avLst>
              <a:gd name="adj" fmla="val 3755"/>
            </a:avLst>
          </a:prstGeom>
          <a:solidFill>
            <a:srgbClr val="E6ECE7"/>
          </a:solidFill>
          <a:ln/>
        </p:spPr>
      </p:sp>
      <p:sp>
        <p:nvSpPr>
          <p:cNvPr id="12" name="lessons"/>
          <p:cNvSpPr txBox="1"/>
          <p:nvPr/>
        </p:nvSpPr>
        <p:spPr>
          <a:xfrm>
            <a:off x="685800" y="354507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Typhoon Haiyan: a LIC tropical storm case study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Effects of and responses to Typhoon Haiyan; factors affecting vulnerability</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do tropical storms form where they do, why do they hurt some places more than others, and is the UK's own weather becoming more extreme?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category was Typhoon Haiyan on the Saffir-Simpson scale?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Category 4</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Category 3</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Category 5</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Category 1</a:t>
            </a:r>
            <a:endParaRPr lang="en-US" sz="24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Typhoon Haiyan formed as an area of low pressure on 2 November 2013 and made landfall in the Philippines on 8 November. How many days did it take to reach the Philippines?</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days</a:t>
            </a:r>
            <a:endParaRPr lang="en-US" sz="22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Philippines is a ___, which is the main reason Typhoon Haiyan did so much harm.</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low income country  ·  high income country  ·  country with no coastline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Category 5</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category was Typhoon Haiyan on the Saffir-Simpson scale?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Haiyan was one of the strongest tropical storms on record, the equivalent of a category 5, with winds above 275 km/h.</a:t>
            </a:r>
            <a:endParaRPr lang="en-US" sz="20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6 days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Typhoon Haiyan formed as an area of low pressure on 2 November 2013 and made landfall in the Philippines on 8 November. How many days did it take to reach the Philippines?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From 2 November to 8 November is 8 − 2 = 6 days.</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low income country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Philippines is a ___, which is the main reason Typhoon Haiyan did so much harm.</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deck classes the Philippines as a LIC. Level of development is the most important factor deciding how badly a storm hurts a place.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typhoon</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name for a tropical storm in the north-west Pacific</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Typhoon Haiyan struck the Philippines in November 2013.</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province</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region of a country, like a county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full force of the storm hit the province of Leyte.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homeless</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left without a home to live 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Tacloban, 220 000 people were left homeless.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evacuation</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moving people away from danger to a safe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Vietnam ordered the evacuation of more than 600 000 people as the storm approached.</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vulnerability</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easily a place and its people are harmed by a hazard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Poverty and weak buildings increase a place's vulnerability.</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choropleth map</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map that uses darker and lighter shades to show how much of something each area has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choropleth map showed the Visayas in the darkest shade.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Typhoon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Haiyan was one of the strongest tropical storms ever recorded.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Philippines it is known as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Typhoon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Yolanda.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began as an area of low pressure near Micronesia on 2 November 2013.</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grew into a category 5 storm on the Saffir-Simpson scale.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8 November it made landfall in the Philippines, in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province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Leyte.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Its winds reached more than 275 kilometres per hour.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storm surge about 5 metres high swept into the city of Tacloban.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220 000 people in Tacloban were left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homeless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storm then moved on towards Vietnam and China.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Philippines is a low income country, so recovery was hard.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Poor people in weak houses on low ground were hit hardest.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Good warnings and strong buildings would have saved many lives.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storm in numbers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six Haiyan facts: category 5; 2 November 2013; winds over 275 km/h; Leyte; Tacloban, 220 000 homeless; a 5 metre storm surge.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Typhoon Haiyan is your LIC (low income country) case study: a tropical storm hitting a country with far less money to prepare and to recover than the USA had for Katrina.</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storm formed on 2 November 2013 over the warm western Pacific Ocean, well east of the Philippines.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Why did the storm form where it did? Go back to chapter 1: the western Pacific near Micronesia lies in the tropical band, about 5 to 20 degrees north of the equator, over some of the warmest sea water on Earth.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 timeline of Typhoon Haiyan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Dots mark moments; time lives in the gaps. Count the gaps (one fewer than the dots) before you multiply.</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 2 November a low pressure area developed east of the Pacific islands of Micronesia.</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storm then travelled north-westwards and made landfall in southern China, where it died away: over land it had lost its supply of warm, moist air.</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Notice how the timeline shows prediction working. From 4 November, forecasters knew where the storm was heading, which gave the Philippines four days of warning and Vietnam time to evacuate more than 600 000 people.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A timeline of Typhoon Haiyan</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239520"/>
          </a:xfrm>
          <a:prstGeom prst="roundRect">
            <a:avLst>
              <a:gd name="adj" fmla="val 7377"/>
            </a:avLst>
          </a:prstGeom>
          <a:solidFill>
            <a:srgbClr val="E6ECE7"/>
          </a:solidFill>
          <a:ln/>
        </p:spPr>
      </p:sp>
      <p:sp>
        <p:nvSpPr>
          <p:cNvPr id="8" name="worked-q"/>
          <p:cNvSpPr txBox="1"/>
          <p:nvPr/>
        </p:nvSpPr>
        <p:spPr>
          <a:xfrm>
            <a:off x="731520" y="1481328"/>
            <a:ext cx="10728655" cy="105664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map shows the track of Typhoon Haiyan from where it formed to where it reached China as 33 dots, one every six hours. For how many days could the authorities in China watch the storm approaching?</a:t>
            </a:r>
            <a:endParaRPr lang="en-US" sz="2000" dirty="0"/>
          </a:p>
        </p:txBody>
      </p:sp>
      <p:sp>
        <p:nvSpPr>
          <p:cNvPr id="9" name="step-box"/>
          <p:cNvSpPr/>
          <p:nvPr/>
        </p:nvSpPr>
        <p:spPr>
          <a:xfrm>
            <a:off x="548640" y="2812288"/>
            <a:ext cx="11094415" cy="506882"/>
          </a:xfrm>
          <a:prstGeom prst="roundRect">
            <a:avLst>
              <a:gd name="adj" fmla="val 14432"/>
            </a:avLst>
          </a:prstGeom>
          <a:solidFill>
            <a:srgbClr val="FFFFFF"/>
          </a:solidFill>
          <a:ln w="15875">
            <a:solidFill>
              <a:srgbClr val="95AE9B"/>
            </a:solidFill>
            <a:prstDash val="solid"/>
          </a:ln>
        </p:spPr>
      </p:sp>
      <p:sp>
        <p:nvSpPr>
          <p:cNvPr id="10" name="step-hex"/>
          <p:cNvSpPr/>
          <p:nvPr/>
        </p:nvSpPr>
        <p:spPr>
          <a:xfrm>
            <a:off x="685800" y="2867762"/>
            <a:ext cx="457200" cy="395935"/>
          </a:xfrm>
          <a:prstGeom prst="hexagon">
            <a:avLst/>
          </a:prstGeom>
          <a:solidFill>
            <a:srgbClr val="3F6B4A"/>
          </a:solidFill>
          <a:ln/>
        </p:spPr>
      </p:sp>
      <p:sp>
        <p:nvSpPr>
          <p:cNvPr id="11" name="step-hex-label"/>
          <p:cNvSpPr txBox="1"/>
          <p:nvPr/>
        </p:nvSpPr>
        <p:spPr>
          <a:xfrm>
            <a:off x="685800" y="286776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812288"/>
            <a:ext cx="10180015" cy="50688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33 dots mark the positions, but the time is in the gaps between them: 33 dots have 32 gaps.</a:t>
            </a:r>
            <a:endParaRPr lang="en-US" sz="1800" dirty="0"/>
          </a:p>
        </p:txBody>
      </p:sp>
      <p:sp>
        <p:nvSpPr>
          <p:cNvPr id="13" name="step-box"/>
          <p:cNvSpPr/>
          <p:nvPr/>
        </p:nvSpPr>
        <p:spPr>
          <a:xfrm>
            <a:off x="548640" y="3392322"/>
            <a:ext cx="11094415" cy="506882"/>
          </a:xfrm>
          <a:prstGeom prst="roundRect">
            <a:avLst>
              <a:gd name="adj" fmla="val 14432"/>
            </a:avLst>
          </a:prstGeom>
          <a:solidFill>
            <a:srgbClr val="FFFFFF"/>
          </a:solidFill>
          <a:ln w="15875">
            <a:solidFill>
              <a:srgbClr val="95AE9B"/>
            </a:solidFill>
            <a:prstDash val="solid"/>
          </a:ln>
        </p:spPr>
      </p:sp>
      <p:sp>
        <p:nvSpPr>
          <p:cNvPr id="14" name="step-hex"/>
          <p:cNvSpPr/>
          <p:nvPr/>
        </p:nvSpPr>
        <p:spPr>
          <a:xfrm>
            <a:off x="685800" y="3447796"/>
            <a:ext cx="457200" cy="395935"/>
          </a:xfrm>
          <a:prstGeom prst="hexagon">
            <a:avLst/>
          </a:prstGeom>
          <a:solidFill>
            <a:srgbClr val="3F6B4A"/>
          </a:solidFill>
          <a:ln/>
        </p:spPr>
      </p:sp>
      <p:sp>
        <p:nvSpPr>
          <p:cNvPr id="15" name="step-hex-label"/>
          <p:cNvSpPr txBox="1"/>
          <p:nvPr/>
        </p:nvSpPr>
        <p:spPr>
          <a:xfrm>
            <a:off x="685800" y="344779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392322"/>
            <a:ext cx="10180015" cy="50688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Each gap is six hours: 32 × 6 = 192 hours.</a:t>
            </a:r>
            <a:endParaRPr lang="en-US" sz="1800" dirty="0"/>
          </a:p>
        </p:txBody>
      </p:sp>
      <p:sp>
        <p:nvSpPr>
          <p:cNvPr id="17" name="step-box"/>
          <p:cNvSpPr/>
          <p:nvPr/>
        </p:nvSpPr>
        <p:spPr>
          <a:xfrm>
            <a:off x="548640" y="3972357"/>
            <a:ext cx="11094415" cy="506882"/>
          </a:xfrm>
          <a:prstGeom prst="roundRect">
            <a:avLst>
              <a:gd name="adj" fmla="val 14432"/>
            </a:avLst>
          </a:prstGeom>
          <a:solidFill>
            <a:srgbClr val="FFFFFF"/>
          </a:solidFill>
          <a:ln w="15875">
            <a:solidFill>
              <a:srgbClr val="95AE9B"/>
            </a:solidFill>
            <a:prstDash val="solid"/>
          </a:ln>
        </p:spPr>
      </p:sp>
      <p:sp>
        <p:nvSpPr>
          <p:cNvPr id="18" name="step-hex"/>
          <p:cNvSpPr/>
          <p:nvPr/>
        </p:nvSpPr>
        <p:spPr>
          <a:xfrm>
            <a:off x="685800" y="4027830"/>
            <a:ext cx="457200" cy="395935"/>
          </a:xfrm>
          <a:prstGeom prst="hexagon">
            <a:avLst/>
          </a:prstGeom>
          <a:solidFill>
            <a:srgbClr val="3F6B4A"/>
          </a:solidFill>
          <a:ln/>
        </p:spPr>
      </p:sp>
      <p:sp>
        <p:nvSpPr>
          <p:cNvPr id="19" name="step-hex-label"/>
          <p:cNvSpPr txBox="1"/>
          <p:nvPr/>
        </p:nvSpPr>
        <p:spPr>
          <a:xfrm>
            <a:off x="685800" y="402783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972357"/>
            <a:ext cx="10180015" cy="50688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Convert to days: 192 ÷ 24 = 8 days.</a:t>
            </a:r>
            <a:endParaRPr lang="en-US" sz="1800" dirty="0"/>
          </a:p>
        </p:txBody>
      </p:sp>
      <p:sp>
        <p:nvSpPr>
          <p:cNvPr id="21" name="step-box"/>
          <p:cNvSpPr/>
          <p:nvPr/>
        </p:nvSpPr>
        <p:spPr>
          <a:xfrm>
            <a:off x="548640" y="4552391"/>
            <a:ext cx="11094415" cy="771042"/>
          </a:xfrm>
          <a:prstGeom prst="roundRect">
            <a:avLst>
              <a:gd name="adj" fmla="val 9487"/>
            </a:avLst>
          </a:prstGeom>
          <a:solidFill>
            <a:srgbClr val="FFFFFF"/>
          </a:solidFill>
          <a:ln w="15875">
            <a:solidFill>
              <a:srgbClr val="95AE9B"/>
            </a:solidFill>
            <a:prstDash val="solid"/>
          </a:ln>
        </p:spPr>
      </p:sp>
      <p:sp>
        <p:nvSpPr>
          <p:cNvPr id="22" name="step-hex"/>
          <p:cNvSpPr/>
          <p:nvPr/>
        </p:nvSpPr>
        <p:spPr>
          <a:xfrm>
            <a:off x="685800" y="4739945"/>
            <a:ext cx="457200" cy="395935"/>
          </a:xfrm>
          <a:prstGeom prst="hexagon">
            <a:avLst/>
          </a:prstGeom>
          <a:solidFill>
            <a:srgbClr val="3F6B4A"/>
          </a:solidFill>
          <a:ln/>
        </p:spPr>
      </p:sp>
      <p:sp>
        <p:nvSpPr>
          <p:cNvPr id="23" name="step-hex-label"/>
          <p:cNvSpPr txBox="1"/>
          <p:nvPr/>
        </p:nvSpPr>
        <p:spPr>
          <a:xfrm>
            <a:off x="685800" y="4739945"/>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52391"/>
            <a:ext cx="10180015" cy="77104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the timeline runs from 2 November to about 10 November, which is eight days. The arithmetic agrees with the dates.</a:t>
            </a:r>
            <a:endParaRPr lang="en-US" sz="1800" dirty="0"/>
          </a:p>
        </p:txBody>
      </p:sp>
      <p:sp>
        <p:nvSpPr>
          <p:cNvPr id="25" name="worked-answer"/>
          <p:cNvSpPr/>
          <p:nvPr/>
        </p:nvSpPr>
        <p:spPr>
          <a:xfrm>
            <a:off x="548640" y="5506314"/>
            <a:ext cx="11094415" cy="552196"/>
          </a:xfrm>
          <a:prstGeom prst="roundRect">
            <a:avLst>
              <a:gd name="adj" fmla="val 2483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8 days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Effects, responses and the choropleth map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 a choropleth map the colour shows an amount for the whole area. Describe the pattern (where the darkest areas are), then suggest reasons (the storm track, population, low-lying coasts).</a:t>
            </a:r>
            <a:endParaRPr lang="en-US" sz="1800" dirty="0"/>
          </a:p>
        </p:txBody>
      </p:sp>
      <p:sp>
        <p:nvSpPr>
          <p:cNvPr id="11" name="bullet-card"/>
          <p:cNvSpPr/>
          <p:nvPr/>
        </p:nvSpPr>
        <p:spPr>
          <a:xfrm>
            <a:off x="548640" y="1389888"/>
            <a:ext cx="11094415" cy="1244769"/>
          </a:xfrm>
          <a:prstGeom prst="roundRect">
            <a:avLst>
              <a:gd name="adj" fmla="val 5877"/>
            </a:avLst>
          </a:prstGeom>
          <a:solidFill>
            <a:srgbClr val="EAEFEB"/>
          </a:solidFill>
          <a:ln/>
        </p:spPr>
      </p:sp>
      <p:sp>
        <p:nvSpPr>
          <p:cNvPr id="12" name="bullet-hex"/>
          <p:cNvSpPr/>
          <p:nvPr/>
        </p:nvSpPr>
        <p:spPr>
          <a:xfrm>
            <a:off x="676656" y="1845980"/>
            <a:ext cx="384048" cy="332586"/>
          </a:xfrm>
          <a:prstGeom prst="hexagon">
            <a:avLst/>
          </a:prstGeom>
          <a:solidFill>
            <a:srgbClr val="3F6B4A"/>
          </a:solidFill>
          <a:ln/>
        </p:spPr>
      </p:sp>
      <p:sp>
        <p:nvSpPr>
          <p:cNvPr id="13" name="bullet"/>
          <p:cNvSpPr txBox="1"/>
          <p:nvPr/>
        </p:nvSpPr>
        <p:spPr>
          <a:xfrm>
            <a:off x="1143000" y="1389888"/>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primary effects you have from the deck are the ones the storm did itself: winds above 275 kilometres per hour wrecked buildings across Leyte, and the five-metre storm surge swept through Tacloban, leaving 220 000 people homeless.</a:t>
            </a:r>
            <a:endParaRPr lang="en-US" sz="2200" dirty="0"/>
          </a:p>
        </p:txBody>
      </p:sp>
      <p:sp>
        <p:nvSpPr>
          <p:cNvPr id="14" name="bullet-card"/>
          <p:cNvSpPr/>
          <p:nvPr/>
        </p:nvSpPr>
        <p:spPr>
          <a:xfrm>
            <a:off x="548640" y="2780961"/>
            <a:ext cx="11094415" cy="1244769"/>
          </a:xfrm>
          <a:prstGeom prst="roundRect">
            <a:avLst>
              <a:gd name="adj" fmla="val 5877"/>
            </a:avLst>
          </a:prstGeom>
          <a:solidFill>
            <a:srgbClr val="EAEFEB"/>
          </a:solidFill>
          <a:ln/>
        </p:spPr>
      </p:sp>
      <p:sp>
        <p:nvSpPr>
          <p:cNvPr id="15" name="bullet-hex"/>
          <p:cNvSpPr/>
          <p:nvPr/>
        </p:nvSpPr>
        <p:spPr>
          <a:xfrm>
            <a:off x="676656" y="3237053"/>
            <a:ext cx="384048" cy="332586"/>
          </a:xfrm>
          <a:prstGeom prst="hexagon">
            <a:avLst/>
          </a:prstGeom>
          <a:solidFill>
            <a:srgbClr val="B8862B"/>
          </a:solidFill>
          <a:ln/>
        </p:spPr>
      </p:sp>
      <p:sp>
        <p:nvSpPr>
          <p:cNvPr id="16" name="bullet"/>
          <p:cNvSpPr txBox="1"/>
          <p:nvPr/>
        </p:nvSpPr>
        <p:spPr>
          <a:xfrm>
            <a:off x="1143000" y="2780961"/>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Responses follow the pattern from chapter 3. Immediate responses deal with the primary effects in the first days: search and rescue, shelter, medical supplies, food and clean water.</a:t>
            </a:r>
            <a:endParaRPr lang="en-US" sz="2200" dirty="0"/>
          </a:p>
        </p:txBody>
      </p:sp>
      <p:sp>
        <p:nvSpPr>
          <p:cNvPr id="17" name="bullet-card"/>
          <p:cNvSpPr/>
          <p:nvPr/>
        </p:nvSpPr>
        <p:spPr>
          <a:xfrm>
            <a:off x="548640" y="4172035"/>
            <a:ext cx="11094415" cy="903901"/>
          </a:xfrm>
          <a:prstGeom prst="roundRect">
            <a:avLst>
              <a:gd name="adj" fmla="val 8093"/>
            </a:avLst>
          </a:prstGeom>
          <a:solidFill>
            <a:srgbClr val="EAEFEB"/>
          </a:solidFill>
          <a:ln/>
        </p:spPr>
      </p:sp>
      <p:sp>
        <p:nvSpPr>
          <p:cNvPr id="18" name="bullet-hex"/>
          <p:cNvSpPr/>
          <p:nvPr/>
        </p:nvSpPr>
        <p:spPr>
          <a:xfrm>
            <a:off x="676656" y="4457693"/>
            <a:ext cx="384048" cy="332586"/>
          </a:xfrm>
          <a:prstGeom prst="hexagon">
            <a:avLst/>
          </a:prstGeom>
          <a:solidFill>
            <a:srgbClr val="3F6B4A"/>
          </a:solidFill>
          <a:ln/>
        </p:spPr>
      </p:sp>
      <p:sp>
        <p:nvSpPr>
          <p:cNvPr id="19" name="bullet"/>
          <p:cNvSpPr txBox="1"/>
          <p:nvPr/>
        </p:nvSpPr>
        <p:spPr>
          <a:xfrm>
            <a:off x="1143000" y="4172035"/>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choropleth map shows how many people were affected in each region of the Philippines.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Why were so many people affected?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Group the factors in threes for the exam: physical (land height, cliffs, storm strength), human (buildings, population density, wealth) and management (warnings, aid, transport).</a:t>
            </a:r>
            <a:endParaRPr lang="en-US" sz="1800" dirty="0"/>
          </a:p>
        </p:txBody>
      </p:sp>
      <p:sp>
        <p:nvSpPr>
          <p:cNvPr id="11" name="bullet-card"/>
          <p:cNvSpPr/>
          <p:nvPr/>
        </p:nvSpPr>
        <p:spPr>
          <a:xfrm>
            <a:off x="548640" y="1389888"/>
            <a:ext cx="11094415" cy="759291"/>
          </a:xfrm>
          <a:prstGeom prst="roundRect">
            <a:avLst>
              <a:gd name="adj" fmla="val 9634"/>
            </a:avLst>
          </a:prstGeom>
          <a:solidFill>
            <a:srgbClr val="EAEFEB"/>
          </a:solidFill>
          <a:ln/>
        </p:spPr>
      </p:sp>
      <p:sp>
        <p:nvSpPr>
          <p:cNvPr id="12" name="bullet-hex"/>
          <p:cNvSpPr/>
          <p:nvPr/>
        </p:nvSpPr>
        <p:spPr>
          <a:xfrm>
            <a:off x="676656" y="1603241"/>
            <a:ext cx="384048" cy="332586"/>
          </a:xfrm>
          <a:prstGeom prst="hexagon">
            <a:avLst/>
          </a:prstGeom>
          <a:solidFill>
            <a:srgbClr val="3F6B4A"/>
          </a:solidFill>
          <a:ln/>
        </p:spPr>
      </p:sp>
      <p:sp>
        <p:nvSpPr>
          <p:cNvPr id="13" name="bullet"/>
          <p:cNvSpPr txBox="1"/>
          <p:nvPr/>
        </p:nvSpPr>
        <p:spPr>
          <a:xfrm>
            <a:off x="1143000" y="1389888"/>
            <a:ext cx="10408615"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most important factor deciding how badly a tropical storm hurts a place is its level of development: a country's wealth decides the quality of its buildings, warnings, roads and emergency services.</a:t>
            </a:r>
            <a:endParaRPr lang="en-US" sz="1800" dirty="0"/>
          </a:p>
        </p:txBody>
      </p:sp>
      <p:sp>
        <p:nvSpPr>
          <p:cNvPr id="14" name="bullet-card"/>
          <p:cNvSpPr/>
          <p:nvPr/>
        </p:nvSpPr>
        <p:spPr>
          <a:xfrm>
            <a:off x="548640" y="2295483"/>
            <a:ext cx="11094415" cy="1595967"/>
          </a:xfrm>
          <a:prstGeom prst="roundRect">
            <a:avLst>
              <a:gd name="adj" fmla="val 4584"/>
            </a:avLst>
          </a:prstGeom>
          <a:solidFill>
            <a:srgbClr val="EAEFEB"/>
          </a:solidFill>
          <a:ln/>
        </p:spPr>
      </p:sp>
      <p:sp>
        <p:nvSpPr>
          <p:cNvPr id="15" name="bullet-hex"/>
          <p:cNvSpPr/>
          <p:nvPr/>
        </p:nvSpPr>
        <p:spPr>
          <a:xfrm>
            <a:off x="676656" y="2927173"/>
            <a:ext cx="384048" cy="332586"/>
          </a:xfrm>
          <a:prstGeom prst="hexagon">
            <a:avLst/>
          </a:prstGeom>
          <a:solidFill>
            <a:srgbClr val="B8862B"/>
          </a:solidFill>
          <a:ln/>
        </p:spPr>
      </p:sp>
      <p:sp>
        <p:nvSpPr>
          <p:cNvPr id="16" name="bullet"/>
          <p:cNvSpPr txBox="1"/>
          <p:nvPr/>
        </p:nvSpPr>
        <p:spPr>
          <a:xfrm>
            <a:off x="1143000" y="2295483"/>
            <a:ext cx="10408615" cy="159596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Fewer people are affected where communications and warnings are good, where buildings are sturdy, where there are cliffs or higher land, where short- and long-term aid is available, where population density is low, where the storm is weak or cold air joins it and reduces its energy, where roads stay open and electricity is restored quickly, where the economy is strong, where people have transport to move inland, and where the storm's path was as predicted.</a:t>
            </a:r>
            <a:endParaRPr lang="en-US" sz="1800" dirty="0"/>
          </a:p>
        </p:txBody>
      </p:sp>
      <p:sp>
        <p:nvSpPr>
          <p:cNvPr id="17" name="bullet-card"/>
          <p:cNvSpPr/>
          <p:nvPr/>
        </p:nvSpPr>
        <p:spPr>
          <a:xfrm>
            <a:off x="548640" y="4037753"/>
            <a:ext cx="11094415" cy="1038183"/>
          </a:xfrm>
          <a:prstGeom prst="roundRect">
            <a:avLst>
              <a:gd name="adj" fmla="val 7046"/>
            </a:avLst>
          </a:prstGeom>
          <a:solidFill>
            <a:srgbClr val="EAEFEB"/>
          </a:solidFill>
          <a:ln/>
        </p:spPr>
      </p:sp>
      <p:sp>
        <p:nvSpPr>
          <p:cNvPr id="18" name="bullet-hex"/>
          <p:cNvSpPr/>
          <p:nvPr/>
        </p:nvSpPr>
        <p:spPr>
          <a:xfrm>
            <a:off x="676656" y="4390552"/>
            <a:ext cx="384048" cy="332586"/>
          </a:xfrm>
          <a:prstGeom prst="hexagon">
            <a:avLst/>
          </a:prstGeom>
          <a:solidFill>
            <a:srgbClr val="3F6B4A"/>
          </a:solidFill>
          <a:ln/>
        </p:spPr>
      </p:sp>
      <p:sp>
        <p:nvSpPr>
          <p:cNvPr id="19" name="bullet"/>
          <p:cNvSpPr txBox="1"/>
          <p:nvPr/>
        </p:nvSpPr>
        <p:spPr>
          <a:xfrm>
            <a:off x="1143000" y="4037753"/>
            <a:ext cx="10408615"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Match these to Haiyan and the pattern makes sense. Tacloban is a crowded, low-lying coastal city in a low income country, hit by a category 5 storm with a five-metre surge: almost every factor on the more side was present.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Haiyan day by day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events of Typhoon Haiyan in the order they happened.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Haiyan leaves the Philippines for Vietnam, where more than 600 000 people are evacuated (9 November)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Haiyan makes landfall in the Philippines at 4.40 am with winds of up to 306 km/h (8 November)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storm enters the Philippines area of responsibility and is given the local name Yolanda (7 November)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system is upgraded to a tropical storm, named Haiyan, and heads towards Palau (4 November)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low pressure area develops east of the Pacific islands of Micronesia (2 November)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Haiyan day by day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Haiyan day by day</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storm has to exist before it can be named: low pressure area first, then named storm.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has to reach the Philippines area before it can be given its Philippine name.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Landfall comes after the storm arrives in the area, and leaving comes after landfall.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with the dates in brackets: they should run 2, 4, 7, 8, 9.</a:t>
            </a:r>
            <a:endParaRPr lang="en-US" sz="1800" dirty="0"/>
          </a:p>
        </p:txBody>
      </p:sp>
      <p:sp>
        <p:nvSpPr>
          <p:cNvPr id="17" name="col-Core"/>
          <p:cNvSpPr/>
          <p:nvPr/>
        </p:nvSpPr>
        <p:spPr>
          <a:xfrm>
            <a:off x="5490762" y="2395728"/>
            <a:ext cx="2938987" cy="3749040"/>
          </a:xfrm>
          <a:prstGeom prst="roundRect">
            <a:avLst>
              <a:gd name="adj" fmla="val 1867"/>
            </a:avLst>
          </a:prstGeom>
          <a:solidFill>
            <a:srgbClr val="CFDAD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Form, name, arrive, strike, leave. The dates run 2, 4, 7, 8, 9 November.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the gap between 4 November and 8 November shows about the value of prediction, and what it could not change.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Counting the warning</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map of Typhoon Haiyan's track shows its position as 33 dots at six-hour intervals, from where it formed to where it reached China. How many days of warning does the map give the authorities in China? Give your answer in days.</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days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Counting the warning</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Counting the warning</a:t>
            </a:r>
            <a:endParaRPr lang="en-US" sz="2000" dirty="0"/>
          </a:p>
        </p:txBody>
      </p:sp>
      <p:sp>
        <p:nvSpPr>
          <p:cNvPr id="12" name="col-Support"/>
          <p:cNvSpPr/>
          <p:nvPr/>
        </p:nvSpPr>
        <p:spPr>
          <a:xfrm>
            <a:off x="548640" y="2395728"/>
            <a:ext cx="3515258" cy="3749040"/>
          </a:xfrm>
          <a:prstGeom prst="roundRect">
            <a:avLst>
              <a:gd name="adj" fmla="val 1561"/>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the gaps, not the dots: 33 dots have 32 gaps.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gap is six hours, so multiply: 32 × 6.</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gives hours. A day is 24 hours, so divide by 24.</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sense against the timeline: 2 November to about 10 November is eight days.</a:t>
            </a:r>
            <a:endParaRPr lang="en-US" sz="1800" dirty="0"/>
          </a:p>
        </p:txBody>
      </p:sp>
      <p:sp>
        <p:nvSpPr>
          <p:cNvPr id="17" name="col-Core"/>
          <p:cNvSpPr/>
          <p:nvPr/>
        </p:nvSpPr>
        <p:spPr>
          <a:xfrm>
            <a:off x="4338218" y="2395728"/>
            <a:ext cx="3515258" cy="3749040"/>
          </a:xfrm>
          <a:prstGeom prst="roundRect">
            <a:avLst>
              <a:gd name="adj" fmla="val 1561"/>
            </a:avLst>
          </a:prstGeom>
          <a:solidFill>
            <a:srgbClr val="CFDAD2"/>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Gaps are one fewer than dots. Multiply the gaps by six hours, then divide by 24.</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3F6B4A"/>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eight days of warning helped China far more than it could help Tacloban, which was struck on day six.</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category was Typhoon Haiyan on the Saffir-Simpson scale?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Category 3</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Category 5</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Category 1</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Category 4</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Haiyan day by day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low pressure area develops east of the Pacific islands of Micronesia (2 November)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system is upgraded to a tropical storm, named Haiyan, and heads towards Palau (4 November)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storm enters the Philippines area of responsibility and is given the local name Yolanda (7 November)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Haiyan makes landfall in the Philippines at 4.40 am with winds of up to 306 km/h (8 November)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Haiyan leaves the Philippines for Vietnam, where more than 600 000 people are evacuated (9 November)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low pressure area formed on 2 November, became the named storm Haiyan on 4 November, entered the Philippines area of responsibility as Yolanda on 7 November, made landfall on 8 November and left for Vietnam on 9 November.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Counting the warning</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map of Typhoon Haiyan's track shows its position as 33 dots at six-hour intervals, from where it formed to where it reached China. How many days of warning does the map give the authorities in China? Give your answer in days.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8 days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33 dots have 32 six-hour gaps between them: 32 × 6 = 192 hours, which is 192 ÷ 24 = 8 days. The common slip is to multiply by 33 or to forget to convert hours to days.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category was Typhoon Haiyan on the Saffir-Simpson scale?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Category 5</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Haiyan was one of the strongest tropical storms on record, the equivalent of a category 5, with winds above 275 km/h.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Weather Hazards · Chapter 4: Typhoon Haiyan: a storm in a low income country</dc:title>
  <dc:subject>Geography · Year 10</dc:subject>
  <dc:creator>Dr Vitor Merissi de Carvalho</dc:creator>
  <cp:lastModifiedBy>Dr Vitor Merissi de Carvalho</cp:lastModifiedBy>
  <cp:revision>1</cp:revision>
  <dcterms:created xsi:type="dcterms:W3CDTF">2026-10-19T16:23:01Z</dcterms:created>
  <dcterms:modified xsi:type="dcterms:W3CDTF">2026-10-19T16:23:01Z</dcterms:modified>
</cp:coreProperties>
</file>